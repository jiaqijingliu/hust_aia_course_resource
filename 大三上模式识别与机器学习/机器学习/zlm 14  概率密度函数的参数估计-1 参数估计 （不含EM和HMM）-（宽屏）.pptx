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8"/>
  </p:notesMasterIdLst>
  <p:handoutMasterIdLst>
    <p:handoutMasterId r:id="rId66"/>
  </p:handoutMasterIdLst>
  <p:sldIdLst>
    <p:sldId id="279" r:id="rId3"/>
    <p:sldId id="354" r:id="rId4"/>
    <p:sldId id="356" r:id="rId5"/>
    <p:sldId id="357" r:id="rId6"/>
    <p:sldId id="394" r:id="rId7"/>
    <p:sldId id="343" r:id="rId9"/>
    <p:sldId id="358" r:id="rId10"/>
    <p:sldId id="359" r:id="rId11"/>
    <p:sldId id="360" r:id="rId12"/>
    <p:sldId id="361" r:id="rId13"/>
    <p:sldId id="362" r:id="rId14"/>
    <p:sldId id="363" r:id="rId15"/>
    <p:sldId id="395" r:id="rId16"/>
    <p:sldId id="364" r:id="rId17"/>
    <p:sldId id="365" r:id="rId18"/>
    <p:sldId id="344" r:id="rId19"/>
    <p:sldId id="341" r:id="rId20"/>
    <p:sldId id="345" r:id="rId21"/>
    <p:sldId id="366" r:id="rId22"/>
    <p:sldId id="367" r:id="rId23"/>
    <p:sldId id="368" r:id="rId24"/>
    <p:sldId id="396" r:id="rId25"/>
    <p:sldId id="369" r:id="rId26"/>
    <p:sldId id="346" r:id="rId27"/>
    <p:sldId id="370" r:id="rId28"/>
    <p:sldId id="371" r:id="rId29"/>
    <p:sldId id="372" r:id="rId30"/>
    <p:sldId id="373" r:id="rId31"/>
    <p:sldId id="374" r:id="rId32"/>
    <p:sldId id="375" r:id="rId33"/>
    <p:sldId id="376" r:id="rId34"/>
    <p:sldId id="377" r:id="rId35"/>
    <p:sldId id="378" r:id="rId36"/>
    <p:sldId id="379" r:id="rId37"/>
    <p:sldId id="399" r:id="rId38"/>
    <p:sldId id="400" r:id="rId39"/>
    <p:sldId id="401" r:id="rId40"/>
    <p:sldId id="402" r:id="rId41"/>
    <p:sldId id="403" r:id="rId42"/>
    <p:sldId id="404" r:id="rId43"/>
    <p:sldId id="405" r:id="rId44"/>
    <p:sldId id="406" r:id="rId45"/>
    <p:sldId id="407" r:id="rId46"/>
    <p:sldId id="408" r:id="rId47"/>
    <p:sldId id="409" r:id="rId48"/>
    <p:sldId id="410" r:id="rId49"/>
    <p:sldId id="411" r:id="rId50"/>
    <p:sldId id="397" r:id="rId51"/>
    <p:sldId id="380" r:id="rId52"/>
    <p:sldId id="381" r:id="rId53"/>
    <p:sldId id="398" r:id="rId54"/>
    <p:sldId id="384" r:id="rId55"/>
    <p:sldId id="385" r:id="rId56"/>
    <p:sldId id="386" r:id="rId57"/>
    <p:sldId id="387" r:id="rId58"/>
    <p:sldId id="388" r:id="rId59"/>
    <p:sldId id="389" r:id="rId60"/>
    <p:sldId id="393" r:id="rId61"/>
    <p:sldId id="390" r:id="rId62"/>
    <p:sldId id="391" r:id="rId63"/>
    <p:sldId id="392" r:id="rId64"/>
    <p:sldId id="308" r:id="rId65"/>
  </p:sldIdLst>
  <p:sldSz cx="12192000" cy="6858000"/>
  <p:notesSz cx="7099300" cy="1023429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BE7D5"/>
    <a:srgbClr val="FF33CC"/>
    <a:srgbClr val="FF6600"/>
    <a:srgbClr val="BB853D"/>
    <a:srgbClr val="FDF4EB"/>
    <a:srgbClr val="B7ADA4"/>
    <a:srgbClr val="CDA56F"/>
    <a:srgbClr val="EFA28F"/>
    <a:srgbClr val="EA81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7" autoAdjust="0"/>
    <p:restoredTop sz="72378" autoAdjust="0"/>
  </p:normalViewPr>
  <p:slideViewPr>
    <p:cSldViewPr>
      <p:cViewPr varScale="1">
        <p:scale>
          <a:sx n="66" d="100"/>
          <a:sy n="66" d="100"/>
        </p:scale>
        <p:origin x="72" y="28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2" d="100"/>
          <a:sy n="62" d="100"/>
        </p:scale>
        <p:origin x="-3187" y="-106"/>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handoutMaster" Target="handoutMasters/handoutMaster1.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3.vml.rels><?xml version="1.0" encoding="UTF-8" standalone="yes"?>
<Relationships xmlns="http://schemas.openxmlformats.org/package/2006/relationships"><Relationship Id="rId7" Type="http://schemas.openxmlformats.org/officeDocument/2006/relationships/image" Target="../media/image16.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9" Type="http://schemas.openxmlformats.org/officeDocument/2006/relationships/image" Target="../media/image27.wmf"/><Relationship Id="rId8" Type="http://schemas.openxmlformats.org/officeDocument/2006/relationships/image" Target="../media/image26.wmf"/><Relationship Id="rId7" Type="http://schemas.openxmlformats.org/officeDocument/2006/relationships/image" Target="../media/image25.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0" Type="http://schemas.openxmlformats.org/officeDocument/2006/relationships/image" Target="../media/image28.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37.wmf"/><Relationship Id="rId8" Type="http://schemas.openxmlformats.org/officeDocument/2006/relationships/image" Target="../media/image36.wmf"/><Relationship Id="rId7" Type="http://schemas.openxmlformats.org/officeDocument/2006/relationships/image" Target="../media/image35.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39.wmf"/><Relationship Id="rId8" Type="http://schemas.openxmlformats.org/officeDocument/2006/relationships/image" Target="../media/image38.wmf"/><Relationship Id="rId7" Type="http://schemas.openxmlformats.org/officeDocument/2006/relationships/image" Target="../media/image36.wmf"/><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31.wmf"/><Relationship Id="rId12" Type="http://schemas.openxmlformats.org/officeDocument/2006/relationships/image" Target="../media/image42.wmf"/><Relationship Id="rId11" Type="http://schemas.openxmlformats.org/officeDocument/2006/relationships/image" Target="../media/image41.wmf"/><Relationship Id="rId10" Type="http://schemas.openxmlformats.org/officeDocument/2006/relationships/image" Target="../media/image40.wmf"/><Relationship Id="rId1"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48.wmf"/></Relationships>
</file>

<file path=ppt/drawings/_rels/vmlDrawing10.vml.rels><?xml version="1.0" encoding="UTF-8" standalone="yes"?>
<Relationships xmlns="http://schemas.openxmlformats.org/package/2006/relationships"><Relationship Id="rId9" Type="http://schemas.openxmlformats.org/officeDocument/2006/relationships/image" Target="../media/image56.wmf"/><Relationship Id="rId8" Type="http://schemas.openxmlformats.org/officeDocument/2006/relationships/image" Target="../media/image55.wmf"/><Relationship Id="rId7" Type="http://schemas.openxmlformats.org/officeDocument/2006/relationships/image" Target="../media/image54.wmf"/><Relationship Id="rId6" Type="http://schemas.openxmlformats.org/officeDocument/2006/relationships/image" Target="../media/image53.wmf"/><Relationship Id="rId5" Type="http://schemas.openxmlformats.org/officeDocument/2006/relationships/image" Target="../media/image29.wmf"/><Relationship Id="rId4" Type="http://schemas.openxmlformats.org/officeDocument/2006/relationships/image" Target="../media/image52.wmf"/><Relationship Id="rId3" Type="http://schemas.openxmlformats.org/officeDocument/2006/relationships/image" Target="../media/image51.wmf"/><Relationship Id="rId2" Type="http://schemas.openxmlformats.org/officeDocument/2006/relationships/image" Target="../media/image50.wmf"/><Relationship Id="rId10" Type="http://schemas.openxmlformats.org/officeDocument/2006/relationships/image" Target="../media/image57.wmf"/><Relationship Id="rId1" Type="http://schemas.openxmlformats.org/officeDocument/2006/relationships/image" Target="../media/image49.wmf"/></Relationships>
</file>

<file path=ppt/drawings/_rels/vmlDrawing11.vml.rels><?xml version="1.0" encoding="UTF-8" standalone="yes"?>
<Relationships xmlns="http://schemas.openxmlformats.org/package/2006/relationships"><Relationship Id="rId5" Type="http://schemas.openxmlformats.org/officeDocument/2006/relationships/image" Target="../media/image61.wmf"/><Relationship Id="rId4" Type="http://schemas.openxmlformats.org/officeDocument/2006/relationships/image" Target="../media/image60.wmf"/><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6.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61.wmf"/><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drawings/_rels/vmlDrawing14.vml.rels><?xml version="1.0" encoding="UTF-8" standalone="yes"?>
<Relationships xmlns="http://schemas.openxmlformats.org/package/2006/relationships"><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wmf"/><Relationship Id="rId3" Type="http://schemas.openxmlformats.org/officeDocument/2006/relationships/image" Target="../media/image32.wmf"/><Relationship Id="rId2" Type="http://schemas.openxmlformats.org/officeDocument/2006/relationships/image" Target="../media/image68.wmf"/><Relationship Id="rId1" Type="http://schemas.openxmlformats.org/officeDocument/2006/relationships/image" Target="../media/image21.wmf"/></Relationships>
</file>

<file path=ppt/drawings/_rels/vmlDrawing15.vml.rels><?xml version="1.0" encoding="UTF-8" standalone="yes"?>
<Relationships xmlns="http://schemas.openxmlformats.org/package/2006/relationships"><Relationship Id="rId9" Type="http://schemas.openxmlformats.org/officeDocument/2006/relationships/image" Target="../media/image80.wmf"/><Relationship Id="rId8" Type="http://schemas.openxmlformats.org/officeDocument/2006/relationships/image" Target="../media/image79.wmf"/><Relationship Id="rId7" Type="http://schemas.openxmlformats.org/officeDocument/2006/relationships/image" Target="../media/image78.wmf"/><Relationship Id="rId6" Type="http://schemas.openxmlformats.org/officeDocument/2006/relationships/image" Target="../media/image77.wmf"/><Relationship Id="rId5" Type="http://schemas.openxmlformats.org/officeDocument/2006/relationships/image" Target="../media/image76.wmf"/><Relationship Id="rId4" Type="http://schemas.openxmlformats.org/officeDocument/2006/relationships/image" Target="../media/image75.wmf"/><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drawings/_rels/vmlDrawing16.vml.rels><?xml version="1.0" encoding="UTF-8" standalone="yes"?>
<Relationships xmlns="http://schemas.openxmlformats.org/package/2006/relationships"><Relationship Id="rId9" Type="http://schemas.openxmlformats.org/officeDocument/2006/relationships/image" Target="../media/image87.wmf"/><Relationship Id="rId8" Type="http://schemas.openxmlformats.org/officeDocument/2006/relationships/image" Target="../media/image86.wmf"/><Relationship Id="rId7" Type="http://schemas.openxmlformats.org/officeDocument/2006/relationships/image" Target="../media/image85.wmf"/><Relationship Id="rId6" Type="http://schemas.openxmlformats.org/officeDocument/2006/relationships/image" Target="../media/image84.wmf"/><Relationship Id="rId5" Type="http://schemas.openxmlformats.org/officeDocument/2006/relationships/image" Target="../media/image21.wmf"/><Relationship Id="rId4" Type="http://schemas.openxmlformats.org/officeDocument/2006/relationships/image" Target="../media/image83.wmf"/><Relationship Id="rId3" Type="http://schemas.openxmlformats.org/officeDocument/2006/relationships/image" Target="../media/image82.wmf"/><Relationship Id="rId2" Type="http://schemas.openxmlformats.org/officeDocument/2006/relationships/image" Target="../media/image81.wmf"/><Relationship Id="rId10" Type="http://schemas.openxmlformats.org/officeDocument/2006/relationships/image" Target="../media/image88.wmf"/><Relationship Id="rId1" Type="http://schemas.openxmlformats.org/officeDocument/2006/relationships/image" Target="../media/image32.w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97.wmf"/><Relationship Id="rId8" Type="http://schemas.openxmlformats.org/officeDocument/2006/relationships/image" Target="../media/image96.wmf"/><Relationship Id="rId7" Type="http://schemas.openxmlformats.org/officeDocument/2006/relationships/image" Target="../media/image95.wmf"/><Relationship Id="rId6" Type="http://schemas.openxmlformats.org/officeDocument/2006/relationships/image" Target="../media/image94.wmf"/><Relationship Id="rId5" Type="http://schemas.openxmlformats.org/officeDocument/2006/relationships/image" Target="../media/image93.wmf"/><Relationship Id="rId4" Type="http://schemas.openxmlformats.org/officeDocument/2006/relationships/image" Target="../media/image92.wmf"/><Relationship Id="rId3" Type="http://schemas.openxmlformats.org/officeDocument/2006/relationships/image" Target="../media/image91.wmf"/><Relationship Id="rId2" Type="http://schemas.openxmlformats.org/officeDocument/2006/relationships/image" Target="../media/image90.wmf"/><Relationship Id="rId10" Type="http://schemas.openxmlformats.org/officeDocument/2006/relationships/image" Target="../media/image98.wmf"/><Relationship Id="rId1" Type="http://schemas.openxmlformats.org/officeDocument/2006/relationships/image" Target="../media/image89.wmf"/></Relationships>
</file>

<file path=ppt/drawings/_rels/vmlDrawing18.vml.rels><?xml version="1.0" encoding="UTF-8" standalone="yes"?>
<Relationships xmlns="http://schemas.openxmlformats.org/package/2006/relationships"><Relationship Id="rId6" Type="http://schemas.openxmlformats.org/officeDocument/2006/relationships/image" Target="../media/image82.wmf"/><Relationship Id="rId5" Type="http://schemas.openxmlformats.org/officeDocument/2006/relationships/image" Target="../media/image21.wmf"/><Relationship Id="rId4" Type="http://schemas.openxmlformats.org/officeDocument/2006/relationships/image" Target="../media/image102.wmf"/><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82.wmf"/><Relationship Id="rId1" Type="http://schemas.openxmlformats.org/officeDocument/2006/relationships/image" Target="../media/image100.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82.wmf"/><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107.wmf"/><Relationship Id="rId1" Type="http://schemas.openxmlformats.org/officeDocument/2006/relationships/image" Target="../media/image106.wmf"/></Relationships>
</file>

<file path=ppt/drawings/_rels/vmlDrawing22.vml.rels><?xml version="1.0" encoding="UTF-8" standalone="yes"?>
<Relationships xmlns="http://schemas.openxmlformats.org/package/2006/relationships"><Relationship Id="rId4" Type="http://schemas.openxmlformats.org/officeDocument/2006/relationships/image" Target="../media/image100.wmf"/><Relationship Id="rId3" Type="http://schemas.openxmlformats.org/officeDocument/2006/relationships/image" Target="../media/image109.wmf"/><Relationship Id="rId2" Type="http://schemas.openxmlformats.org/officeDocument/2006/relationships/image" Target="../media/image82.wmf"/><Relationship Id="rId1" Type="http://schemas.openxmlformats.org/officeDocument/2006/relationships/image" Target="../media/image108.wmf"/></Relationships>
</file>

<file path=ppt/drawings/_rels/vmlDrawing23.vml.rels><?xml version="1.0" encoding="UTF-8" standalone="yes"?>
<Relationships xmlns="http://schemas.openxmlformats.org/package/2006/relationships"><Relationship Id="rId4" Type="http://schemas.openxmlformats.org/officeDocument/2006/relationships/image" Target="../media/image114.wmf"/><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25.vml.rels><?xml version="1.0" encoding="UTF-8" standalone="yes"?>
<Relationships xmlns="http://schemas.openxmlformats.org/package/2006/relationships"><Relationship Id="rId4" Type="http://schemas.openxmlformats.org/officeDocument/2006/relationships/image" Target="../media/image118.wmf"/><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19.wmf"/></Relationships>
</file>

<file path=ppt/drawings/_rels/vmlDrawing27.vml.rels><?xml version="1.0" encoding="UTF-8" standalone="yes"?>
<Relationships xmlns="http://schemas.openxmlformats.org/package/2006/relationships"><Relationship Id="rId6" Type="http://schemas.openxmlformats.org/officeDocument/2006/relationships/image" Target="../media/image125.wmf"/><Relationship Id="rId5" Type="http://schemas.openxmlformats.org/officeDocument/2006/relationships/image" Target="../media/image124.wmf"/><Relationship Id="rId4" Type="http://schemas.openxmlformats.org/officeDocument/2006/relationships/image" Target="../media/image123.wmf"/><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28.vml.rels><?xml version="1.0" encoding="UTF-8" standalone="yes"?>
<Relationships xmlns="http://schemas.openxmlformats.org/package/2006/relationships"><Relationship Id="rId6" Type="http://schemas.openxmlformats.org/officeDocument/2006/relationships/image" Target="../media/image125.wmf"/><Relationship Id="rId5" Type="http://schemas.openxmlformats.org/officeDocument/2006/relationships/image" Target="../media/image124.wmf"/><Relationship Id="rId4" Type="http://schemas.openxmlformats.org/officeDocument/2006/relationships/image" Target="../media/image126.wmf"/><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27.wmf"/><Relationship Id="rId1" Type="http://schemas.openxmlformats.org/officeDocument/2006/relationships/image" Target="../media/image121.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01.wmf"/><Relationship Id="rId1" Type="http://schemas.openxmlformats.org/officeDocument/2006/relationships/image" Target="../media/image128.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29.wmf"/><Relationship Id="rId1" Type="http://schemas.openxmlformats.org/officeDocument/2006/relationships/image" Target="../media/image128.wmf"/></Relationships>
</file>

<file path=ppt/drawings/_rels/vmlDrawing32.vml.rels><?xml version="1.0" encoding="UTF-8" standalone="yes"?>
<Relationships xmlns="http://schemas.openxmlformats.org/package/2006/relationships"><Relationship Id="rId5" Type="http://schemas.openxmlformats.org/officeDocument/2006/relationships/image" Target="../media/image101.wmf"/><Relationship Id="rId4" Type="http://schemas.openxmlformats.org/officeDocument/2006/relationships/image" Target="../media/image131.wmf"/><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33.vml.rels><?xml version="1.0" encoding="UTF-8" standalone="yes"?>
<Relationships xmlns="http://schemas.openxmlformats.org/package/2006/relationships"><Relationship Id="rId6" Type="http://schemas.openxmlformats.org/officeDocument/2006/relationships/image" Target="../media/image101.wmf"/><Relationship Id="rId5" Type="http://schemas.openxmlformats.org/officeDocument/2006/relationships/image" Target="../media/image132.wmf"/><Relationship Id="rId4" Type="http://schemas.openxmlformats.org/officeDocument/2006/relationships/image" Target="../media/image131.wmf"/><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34.vml.rels><?xml version="1.0" encoding="UTF-8" standalone="yes"?>
<Relationships xmlns="http://schemas.openxmlformats.org/package/2006/relationships"><Relationship Id="rId7" Type="http://schemas.openxmlformats.org/officeDocument/2006/relationships/image" Target="../media/image101.wmf"/><Relationship Id="rId6" Type="http://schemas.openxmlformats.org/officeDocument/2006/relationships/image" Target="../media/image132.wmf"/><Relationship Id="rId5" Type="http://schemas.openxmlformats.org/officeDocument/2006/relationships/image" Target="../media/image133.wmf"/><Relationship Id="rId4" Type="http://schemas.openxmlformats.org/officeDocument/2006/relationships/image" Target="../media/image131.wmf"/><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35.wmf"/><Relationship Id="rId1" Type="http://schemas.openxmlformats.org/officeDocument/2006/relationships/image" Target="../media/image134.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37.wmf"/><Relationship Id="rId1" Type="http://schemas.openxmlformats.org/officeDocument/2006/relationships/image" Target="../media/image136.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145.wmf"/><Relationship Id="rId7" Type="http://schemas.openxmlformats.org/officeDocument/2006/relationships/image" Target="../media/image101.wmf"/><Relationship Id="rId6" Type="http://schemas.openxmlformats.org/officeDocument/2006/relationships/image" Target="../media/image144.wmf"/><Relationship Id="rId5" Type="http://schemas.openxmlformats.org/officeDocument/2006/relationships/image" Target="../media/image143.wmf"/><Relationship Id="rId4" Type="http://schemas.openxmlformats.org/officeDocument/2006/relationships/image" Target="../media/image142.wmf"/><Relationship Id="rId3" Type="http://schemas.openxmlformats.org/officeDocument/2006/relationships/image" Target="../media/image141.wmf"/><Relationship Id="rId2" Type="http://schemas.openxmlformats.org/officeDocument/2006/relationships/image" Target="../media/image140.wmf"/><Relationship Id="rId1" Type="http://schemas.openxmlformats.org/officeDocument/2006/relationships/image" Target="../media/image139.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44.wmf"/><Relationship Id="rId1" Type="http://schemas.openxmlformats.org/officeDocument/2006/relationships/image" Target="../media/image146.wmf"/></Relationships>
</file>

<file path=ppt/drawings/_rels/vmlDrawing39.vml.rels><?xml version="1.0" encoding="UTF-8" standalone="yes"?>
<Relationships xmlns="http://schemas.openxmlformats.org/package/2006/relationships"><Relationship Id="rId9" Type="http://schemas.openxmlformats.org/officeDocument/2006/relationships/image" Target="../media/image155.wmf"/><Relationship Id="rId8" Type="http://schemas.openxmlformats.org/officeDocument/2006/relationships/image" Target="../media/image154.wmf"/><Relationship Id="rId7" Type="http://schemas.openxmlformats.org/officeDocument/2006/relationships/image" Target="../media/image153.wmf"/><Relationship Id="rId6" Type="http://schemas.openxmlformats.org/officeDocument/2006/relationships/image" Target="../media/image152.wmf"/><Relationship Id="rId5" Type="http://schemas.openxmlformats.org/officeDocument/2006/relationships/image" Target="../media/image151.wmf"/><Relationship Id="rId4" Type="http://schemas.openxmlformats.org/officeDocument/2006/relationships/image" Target="../media/image150.wmf"/><Relationship Id="rId3" Type="http://schemas.openxmlformats.org/officeDocument/2006/relationships/image" Target="../media/image149.wmf"/><Relationship Id="rId2" Type="http://schemas.openxmlformats.org/officeDocument/2006/relationships/image" Target="../media/image148.wmf"/><Relationship Id="rId11" Type="http://schemas.openxmlformats.org/officeDocument/2006/relationships/image" Target="../media/image157.wmf"/><Relationship Id="rId10" Type="http://schemas.openxmlformats.org/officeDocument/2006/relationships/image" Target="../media/image156.wmf"/><Relationship Id="rId1" Type="http://schemas.openxmlformats.org/officeDocument/2006/relationships/image" Target="../media/image147.w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161.wmf"/><Relationship Id="rId7" Type="http://schemas.openxmlformats.org/officeDocument/2006/relationships/image" Target="../media/image160.wmf"/><Relationship Id="rId6" Type="http://schemas.openxmlformats.org/officeDocument/2006/relationships/image" Target="../media/image159.wmf"/><Relationship Id="rId5" Type="http://schemas.openxmlformats.org/officeDocument/2006/relationships/image" Target="../media/image158.wmf"/><Relationship Id="rId4" Type="http://schemas.openxmlformats.org/officeDocument/2006/relationships/image" Target="../media/image150.wmf"/><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s>
</file>

<file path=ppt/drawings/_rels/vmlDrawing41.vml.rels><?xml version="1.0" encoding="UTF-8" standalone="yes"?>
<Relationships xmlns="http://schemas.openxmlformats.org/package/2006/relationships"><Relationship Id="rId6" Type="http://schemas.openxmlformats.org/officeDocument/2006/relationships/image" Target="../media/image163.wmf"/><Relationship Id="rId5" Type="http://schemas.openxmlformats.org/officeDocument/2006/relationships/image" Target="../media/image162.wmf"/><Relationship Id="rId4" Type="http://schemas.openxmlformats.org/officeDocument/2006/relationships/image" Target="../media/image150.wmf"/><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s>
</file>

<file path=ppt/drawings/_rels/vmlDrawing42.vml.rels><?xml version="1.0" encoding="UTF-8" standalone="yes"?>
<Relationships xmlns="http://schemas.openxmlformats.org/package/2006/relationships"><Relationship Id="rId8" Type="http://schemas.openxmlformats.org/officeDocument/2006/relationships/image" Target="../media/image167.wmf"/><Relationship Id="rId7" Type="http://schemas.openxmlformats.org/officeDocument/2006/relationships/image" Target="../media/image166.wmf"/><Relationship Id="rId6" Type="http://schemas.openxmlformats.org/officeDocument/2006/relationships/image" Target="../media/image165.wmf"/><Relationship Id="rId5" Type="http://schemas.openxmlformats.org/officeDocument/2006/relationships/image" Target="../media/image164.wmf"/><Relationship Id="rId4" Type="http://schemas.openxmlformats.org/officeDocument/2006/relationships/image" Target="../media/image150.wmf"/><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s>
</file>

<file path=ppt/drawings/_rels/vmlDrawing43.vml.rels><?xml version="1.0" encoding="UTF-8" standalone="yes"?>
<Relationships xmlns="http://schemas.openxmlformats.org/package/2006/relationships"><Relationship Id="rId9" Type="http://schemas.openxmlformats.org/officeDocument/2006/relationships/image" Target="../media/image172.wmf"/><Relationship Id="rId8" Type="http://schemas.openxmlformats.org/officeDocument/2006/relationships/image" Target="../media/image171.wmf"/><Relationship Id="rId7" Type="http://schemas.openxmlformats.org/officeDocument/2006/relationships/image" Target="../media/image170.wmf"/><Relationship Id="rId6" Type="http://schemas.openxmlformats.org/officeDocument/2006/relationships/image" Target="../media/image169.wmf"/><Relationship Id="rId5" Type="http://schemas.openxmlformats.org/officeDocument/2006/relationships/image" Target="../media/image168.wmf"/><Relationship Id="rId4" Type="http://schemas.openxmlformats.org/officeDocument/2006/relationships/image" Target="../media/image150.wmf"/><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152.wmf"/><Relationship Id="rId7" Type="http://schemas.openxmlformats.org/officeDocument/2006/relationships/image" Target="../media/image174.wmf"/><Relationship Id="rId6" Type="http://schemas.openxmlformats.org/officeDocument/2006/relationships/image" Target="../media/image173.wmf"/><Relationship Id="rId5" Type="http://schemas.openxmlformats.org/officeDocument/2006/relationships/image" Target="../media/image171.wmf"/><Relationship Id="rId4" Type="http://schemas.openxmlformats.org/officeDocument/2006/relationships/image" Target="../media/image150.wmf"/><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s>
</file>

<file path=ppt/drawings/_rels/vmlDrawing45.vml.rels><?xml version="1.0" encoding="UTF-8" standalone="yes"?>
<Relationships xmlns="http://schemas.openxmlformats.org/package/2006/relationships"><Relationship Id="rId9" Type="http://schemas.openxmlformats.org/officeDocument/2006/relationships/image" Target="../media/image179.wmf"/><Relationship Id="rId8" Type="http://schemas.openxmlformats.org/officeDocument/2006/relationships/image" Target="../media/image178.wmf"/><Relationship Id="rId7" Type="http://schemas.openxmlformats.org/officeDocument/2006/relationships/image" Target="../media/image177.wmf"/><Relationship Id="rId6" Type="http://schemas.openxmlformats.org/officeDocument/2006/relationships/image" Target="../media/image176.wmf"/><Relationship Id="rId5" Type="http://schemas.openxmlformats.org/officeDocument/2006/relationships/image" Target="../media/image175.wmf"/><Relationship Id="rId4" Type="http://schemas.openxmlformats.org/officeDocument/2006/relationships/image" Target="../media/image150.wmf"/><Relationship Id="rId3" Type="http://schemas.openxmlformats.org/officeDocument/2006/relationships/image" Target="../media/image149.wmf"/><Relationship Id="rId2" Type="http://schemas.openxmlformats.org/officeDocument/2006/relationships/image" Target="../media/image148.wmf"/><Relationship Id="rId15" Type="http://schemas.openxmlformats.org/officeDocument/2006/relationships/image" Target="../media/image185.wmf"/><Relationship Id="rId14" Type="http://schemas.openxmlformats.org/officeDocument/2006/relationships/image" Target="../media/image184.wmf"/><Relationship Id="rId13" Type="http://schemas.openxmlformats.org/officeDocument/2006/relationships/image" Target="../media/image183.wmf"/><Relationship Id="rId12" Type="http://schemas.openxmlformats.org/officeDocument/2006/relationships/image" Target="../media/image182.wmf"/><Relationship Id="rId11" Type="http://schemas.openxmlformats.org/officeDocument/2006/relationships/image" Target="../media/image181.wmf"/><Relationship Id="rId10" Type="http://schemas.openxmlformats.org/officeDocument/2006/relationships/image" Target="../media/image180.wmf"/><Relationship Id="rId1" Type="http://schemas.openxmlformats.org/officeDocument/2006/relationships/image" Target="../media/image147.wmf"/></Relationships>
</file>

<file path=ppt/drawings/_rels/vmlDrawing46.vml.rels><?xml version="1.0" encoding="UTF-8" standalone="yes"?>
<Relationships xmlns="http://schemas.openxmlformats.org/package/2006/relationships"><Relationship Id="rId9" Type="http://schemas.openxmlformats.org/officeDocument/2006/relationships/image" Target="../media/image108.wmf"/><Relationship Id="rId8" Type="http://schemas.openxmlformats.org/officeDocument/2006/relationships/image" Target="../media/image189.wmf"/><Relationship Id="rId7" Type="http://schemas.openxmlformats.org/officeDocument/2006/relationships/image" Target="../media/image188.wmf"/><Relationship Id="rId6" Type="http://schemas.openxmlformats.org/officeDocument/2006/relationships/image" Target="../media/image187.wmf"/><Relationship Id="rId5" Type="http://schemas.openxmlformats.org/officeDocument/2006/relationships/image" Target="../media/image186.wmf"/><Relationship Id="rId4" Type="http://schemas.openxmlformats.org/officeDocument/2006/relationships/image" Target="../media/image150.wmf"/><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7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672" cy="511054"/>
          </a:xfrm>
          <a:prstGeom prst="rect">
            <a:avLst/>
          </a:prstGeom>
        </p:spPr>
        <p:txBody>
          <a:bodyPr vert="horz" lIns="91440" tIns="45720" rIns="91440" bIns="45720" rtlCol="0"/>
          <a:lstStyle>
            <a:lvl1pPr algn="l">
              <a:defRPr sz="1200">
                <a:latin typeface="Arial" panose="020B0604020202020204" pitchFamily="34" charset="0"/>
              </a:defRPr>
            </a:lvl1pPr>
          </a:lstStyle>
          <a:p>
            <a:pPr>
              <a:defRPr/>
            </a:pPr>
            <a:endParaRPr lang="zh-CN" altLang="en-US"/>
          </a:p>
        </p:txBody>
      </p:sp>
      <p:sp>
        <p:nvSpPr>
          <p:cNvPr id="3" name="日期占位符 2"/>
          <p:cNvSpPr>
            <a:spLocks noGrp="1"/>
          </p:cNvSpPr>
          <p:nvPr>
            <p:ph type="dt" sz="quarter" idx="1"/>
          </p:nvPr>
        </p:nvSpPr>
        <p:spPr>
          <a:xfrm>
            <a:off x="4021088" y="0"/>
            <a:ext cx="3076672" cy="511054"/>
          </a:xfrm>
          <a:prstGeom prst="rect">
            <a:avLst/>
          </a:prstGeom>
        </p:spPr>
        <p:txBody>
          <a:bodyPr vert="horz" lIns="91440" tIns="45720" rIns="91440" bIns="45720" rtlCol="0"/>
          <a:lstStyle>
            <a:lvl1pPr algn="r">
              <a:defRPr sz="1200">
                <a:latin typeface="Arial" panose="020B0604020202020204" pitchFamily="34" charset="0"/>
              </a:defRPr>
            </a:lvl1pPr>
          </a:lstStyle>
          <a:p>
            <a:pPr>
              <a:defRPr/>
            </a:pPr>
            <a:fld id="{CB6546D7-55A0-4F6B-B749-794C1FA7637D}" type="datetimeFigureOut">
              <a:rPr lang="zh-CN" altLang="en-US"/>
            </a:fld>
            <a:endParaRPr lang="zh-CN" altLang="en-US"/>
          </a:p>
        </p:txBody>
      </p:sp>
      <p:sp>
        <p:nvSpPr>
          <p:cNvPr id="4" name="页脚占位符 3"/>
          <p:cNvSpPr>
            <a:spLocks noGrp="1"/>
          </p:cNvSpPr>
          <p:nvPr>
            <p:ph type="ftr" sz="quarter" idx="2"/>
          </p:nvPr>
        </p:nvSpPr>
        <p:spPr>
          <a:xfrm>
            <a:off x="0" y="9721868"/>
            <a:ext cx="3076672" cy="511054"/>
          </a:xfrm>
          <a:prstGeom prst="rect">
            <a:avLst/>
          </a:prstGeom>
        </p:spPr>
        <p:txBody>
          <a:bodyPr vert="horz" lIns="91440" tIns="45720" rIns="91440" bIns="45720" rtlCol="0" anchor="b"/>
          <a:lstStyle>
            <a:lvl1pPr algn="l">
              <a:defRPr sz="1200">
                <a:latin typeface="Arial" panose="020B0604020202020204" pitchFamily="34" charset="0"/>
              </a:defRPr>
            </a:lvl1pPr>
          </a:lstStyle>
          <a:p>
            <a:pPr>
              <a:defRPr/>
            </a:pPr>
            <a:endParaRPr lang="zh-CN" altLang="en-US"/>
          </a:p>
        </p:txBody>
      </p:sp>
      <p:sp>
        <p:nvSpPr>
          <p:cNvPr id="5" name="灯片编号占位符 4"/>
          <p:cNvSpPr>
            <a:spLocks noGrp="1"/>
          </p:cNvSpPr>
          <p:nvPr>
            <p:ph type="sldNum" sz="quarter" idx="3"/>
          </p:nvPr>
        </p:nvSpPr>
        <p:spPr>
          <a:xfrm>
            <a:off x="4021088" y="9721868"/>
            <a:ext cx="3076672" cy="511054"/>
          </a:xfrm>
          <a:prstGeom prst="rect">
            <a:avLst/>
          </a:prstGeom>
        </p:spPr>
        <p:txBody>
          <a:bodyPr vert="horz" lIns="91440" tIns="45720" rIns="91440" bIns="45720" rtlCol="0" anchor="b"/>
          <a:lstStyle>
            <a:lvl1pPr algn="r">
              <a:defRPr sz="1200">
                <a:latin typeface="Arial" panose="020B0604020202020204" pitchFamily="34" charset="0"/>
              </a:defRPr>
            </a:lvl1pPr>
          </a:lstStyle>
          <a:p>
            <a:pPr>
              <a:defRPr/>
            </a:pPr>
            <a:fld id="{6B24D7E3-83D9-45BB-8074-07FABBCF58D9}" type="slidenum">
              <a:rPr lang="zh-CN" altLang="en-US"/>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672" cy="511054"/>
          </a:xfrm>
          <a:prstGeom prst="rect">
            <a:avLst/>
          </a:prstGeom>
        </p:spPr>
        <p:txBody>
          <a:bodyPr vert="horz" lIns="91440" tIns="45720" rIns="91440" bIns="45720" rtlCol="0"/>
          <a:lstStyle>
            <a:lvl1pPr algn="l">
              <a:defRPr sz="1200">
                <a:latin typeface="Arial" panose="020B0604020202020204" pitchFamily="34" charset="0"/>
              </a:defRPr>
            </a:lvl1pPr>
          </a:lstStyle>
          <a:p>
            <a:pPr>
              <a:defRPr/>
            </a:pPr>
            <a:endParaRPr lang="zh-CN" altLang="en-US"/>
          </a:p>
        </p:txBody>
      </p:sp>
      <p:sp>
        <p:nvSpPr>
          <p:cNvPr id="3" name="日期占位符 2"/>
          <p:cNvSpPr>
            <a:spLocks noGrp="1"/>
          </p:cNvSpPr>
          <p:nvPr>
            <p:ph type="dt" idx="1"/>
          </p:nvPr>
        </p:nvSpPr>
        <p:spPr>
          <a:xfrm>
            <a:off x="4021088" y="0"/>
            <a:ext cx="3076672" cy="511054"/>
          </a:xfrm>
          <a:prstGeom prst="rect">
            <a:avLst/>
          </a:prstGeom>
        </p:spPr>
        <p:txBody>
          <a:bodyPr vert="horz" lIns="91440" tIns="45720" rIns="91440" bIns="45720" rtlCol="0"/>
          <a:lstStyle>
            <a:lvl1pPr algn="r">
              <a:defRPr sz="1200">
                <a:latin typeface="Arial" panose="020B0604020202020204" pitchFamily="34" charset="0"/>
              </a:defRPr>
            </a:lvl1pPr>
          </a:lstStyle>
          <a:p>
            <a:pPr>
              <a:defRPr/>
            </a:pPr>
            <a:fld id="{E21E670D-491D-4C99-822F-11ABADEE1618}" type="datetimeFigureOut">
              <a:rPr lang="zh-CN" altLang="en-US"/>
            </a:fld>
            <a:endParaRPr lang="zh-CN" altLang="en-US"/>
          </a:p>
        </p:txBody>
      </p:sp>
      <p:sp>
        <p:nvSpPr>
          <p:cNvPr id="4" name="幻灯片图像占位符 3"/>
          <p:cNvSpPr>
            <a:spLocks noGrp="1" noRot="1" noChangeAspect="1"/>
          </p:cNvSpPr>
          <p:nvPr>
            <p:ph type="sldImg" idx="2"/>
          </p:nvPr>
        </p:nvSpPr>
        <p:spPr>
          <a:xfrm>
            <a:off x="138113" y="768350"/>
            <a:ext cx="6823075" cy="383857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710239" y="4861781"/>
            <a:ext cx="5678824" cy="4604560"/>
          </a:xfrm>
          <a:prstGeom prst="rect">
            <a:avLst/>
          </a:prstGeom>
        </p:spPr>
        <p:txBody>
          <a:bodyPr vert="horz" lIns="91440" tIns="45720" rIns="91440" bIns="45720" rtlCol="0">
            <a:normAutofit/>
          </a:body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9721868"/>
            <a:ext cx="3076672" cy="511054"/>
          </a:xfrm>
          <a:prstGeom prst="rect">
            <a:avLst/>
          </a:prstGeom>
        </p:spPr>
        <p:txBody>
          <a:bodyPr vert="horz" lIns="91440" tIns="45720" rIns="91440" bIns="45720" rtlCol="0" anchor="b"/>
          <a:lstStyle>
            <a:lvl1pPr algn="l">
              <a:defRPr sz="1200">
                <a:latin typeface="Arial" panose="020B0604020202020204" pitchFamily="34" charset="0"/>
              </a:defRPr>
            </a:lvl1pPr>
          </a:lstStyle>
          <a:p>
            <a:pPr>
              <a:defRPr/>
            </a:pPr>
            <a:endParaRPr lang="zh-CN" altLang="en-US"/>
          </a:p>
        </p:txBody>
      </p:sp>
      <p:sp>
        <p:nvSpPr>
          <p:cNvPr id="7" name="灯片编号占位符 6"/>
          <p:cNvSpPr>
            <a:spLocks noGrp="1"/>
          </p:cNvSpPr>
          <p:nvPr>
            <p:ph type="sldNum" sz="quarter" idx="5"/>
          </p:nvPr>
        </p:nvSpPr>
        <p:spPr>
          <a:xfrm>
            <a:off x="4021088" y="9721868"/>
            <a:ext cx="3076672" cy="511054"/>
          </a:xfrm>
          <a:prstGeom prst="rect">
            <a:avLst/>
          </a:prstGeom>
        </p:spPr>
        <p:txBody>
          <a:bodyPr vert="horz" lIns="91440" tIns="45720" rIns="91440" bIns="45720" rtlCol="0" anchor="b"/>
          <a:lstStyle>
            <a:lvl1pPr algn="r">
              <a:defRPr sz="1200">
                <a:latin typeface="Arial" panose="020B0604020202020204" pitchFamily="34" charset="0"/>
              </a:defRPr>
            </a:lvl1pPr>
          </a:lstStyle>
          <a:p>
            <a:pPr>
              <a:defRPr/>
            </a:pPr>
            <a:fld id="{064F8E74-9C04-43EC-B268-D3C0C73A25C8}" type="slidenum">
              <a:rPr lang="zh-CN" altLang="en-US"/>
            </a:fld>
            <a:endParaRPr lang="zh-CN"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ct val="0"/>
              </a:spcBef>
            </a:pPr>
            <a:r>
              <a:rPr lang="zh-CN" altLang="en-US" dirty="0">
                <a:ea typeface="宋体" panose="02010600030101010101" pitchFamily="2" charset="-122"/>
              </a:rPr>
              <a:t>这个公式告诉我们，我们需要用已有的数据确定类条件概率密度</a:t>
            </a:r>
            <a:r>
              <a:rPr lang="en-US" altLang="zh-CN" i="1" dirty="0">
                <a:ea typeface="宋体" panose="02010600030101010101" pitchFamily="2" charset="-122"/>
              </a:rPr>
              <a:t>p</a:t>
            </a:r>
            <a:r>
              <a:rPr lang="en-US" altLang="zh-CN" dirty="0">
                <a:ea typeface="宋体" panose="02010600030101010101" pitchFamily="2" charset="-122"/>
              </a:rPr>
              <a:t>(</a:t>
            </a:r>
            <a:r>
              <a:rPr lang="en-US" altLang="zh-CN" i="1" dirty="0">
                <a:ea typeface="宋体" panose="02010600030101010101" pitchFamily="2" charset="-122"/>
              </a:rPr>
              <a:t>x</a:t>
            </a:r>
            <a:r>
              <a:rPr lang="zh-CN" altLang="en-US" dirty="0">
                <a:ea typeface="宋体" panose="02010600030101010101" pitchFamily="2" charset="-122"/>
              </a:rPr>
              <a:t>⃗</a:t>
            </a:r>
            <a:r>
              <a:rPr lang="en-US" altLang="zh-CN" dirty="0">
                <a:ea typeface="宋体" panose="02010600030101010101" pitchFamily="2" charset="-122"/>
              </a:rPr>
              <a:t>|</a:t>
            </a:r>
            <a:r>
              <a:rPr lang="en-US" altLang="zh-CN" i="1" dirty="0" err="1">
                <a:ea typeface="宋体" panose="02010600030101010101" pitchFamily="2" charset="-122"/>
              </a:rPr>
              <a:t>wi</a:t>
            </a:r>
            <a:r>
              <a:rPr lang="en-US" altLang="zh-CN" dirty="0" err="1">
                <a:ea typeface="宋体" panose="02010600030101010101" pitchFamily="2" charset="-122"/>
              </a:rPr>
              <a:t>,</a:t>
            </a:r>
            <a:r>
              <a:rPr lang="en-US" altLang="zh-CN" i="1" dirty="0" err="1">
                <a:ea typeface="宋体" panose="02010600030101010101" pitchFamily="2" charset="-122"/>
              </a:rPr>
              <a:t>D</a:t>
            </a:r>
            <a:r>
              <a:rPr lang="en-US" altLang="zh-CN" dirty="0">
                <a:ea typeface="宋体" panose="02010600030101010101" pitchFamily="2" charset="-122"/>
              </a:rPr>
              <a:t>)</a:t>
            </a:r>
            <a:r>
              <a:rPr lang="zh-CN" altLang="en-US" dirty="0">
                <a:ea typeface="宋体" panose="02010600030101010101" pitchFamily="2" charset="-122"/>
              </a:rPr>
              <a:t>和先验概率</a:t>
            </a:r>
            <a:r>
              <a:rPr lang="en-US" altLang="zh-CN" i="1" dirty="0">
                <a:ea typeface="宋体" panose="02010600030101010101" pitchFamily="2" charset="-122"/>
              </a:rPr>
              <a:t>P</a:t>
            </a:r>
            <a:r>
              <a:rPr lang="en-US" altLang="zh-CN" dirty="0">
                <a:ea typeface="宋体" panose="02010600030101010101" pitchFamily="2" charset="-122"/>
              </a:rPr>
              <a:t>(</a:t>
            </a:r>
            <a:r>
              <a:rPr lang="en-US" altLang="zh-CN" i="1" dirty="0" err="1">
                <a:ea typeface="宋体" panose="02010600030101010101" pitchFamily="2" charset="-122"/>
              </a:rPr>
              <a:t>wi</a:t>
            </a:r>
            <a:r>
              <a:rPr lang="en-US" altLang="zh-CN" dirty="0" err="1">
                <a:ea typeface="宋体" panose="02010600030101010101" pitchFamily="2" charset="-122"/>
              </a:rPr>
              <a:t>|</a:t>
            </a:r>
            <a:r>
              <a:rPr lang="en-US" altLang="zh-CN" i="1" dirty="0" err="1">
                <a:ea typeface="宋体" panose="02010600030101010101" pitchFamily="2" charset="-122"/>
              </a:rPr>
              <a:t>D</a:t>
            </a:r>
            <a:r>
              <a:rPr lang="en-US" altLang="zh-CN" dirty="0">
                <a:ea typeface="宋体" panose="02010600030101010101" pitchFamily="2" charset="-122"/>
              </a:rPr>
              <a:t>)</a:t>
            </a:r>
            <a:r>
              <a:rPr lang="zh-CN" altLang="en-US" dirty="0">
                <a:ea typeface="宋体" panose="02010600030101010101" pitchFamily="2" charset="-122"/>
              </a:rPr>
              <a:t>，通常计算</a:t>
            </a:r>
            <a:r>
              <a:rPr lang="en-US" altLang="zh-CN" i="1" dirty="0">
                <a:ea typeface="宋体" panose="02010600030101010101" pitchFamily="2" charset="-122"/>
              </a:rPr>
              <a:t>P</a:t>
            </a:r>
            <a:r>
              <a:rPr lang="en-US" altLang="zh-CN" dirty="0">
                <a:ea typeface="宋体" panose="02010600030101010101" pitchFamily="2" charset="-122"/>
              </a:rPr>
              <a:t>(</a:t>
            </a:r>
            <a:r>
              <a:rPr lang="en-US" altLang="zh-CN" i="1" dirty="0" err="1">
                <a:ea typeface="宋体" panose="02010600030101010101" pitchFamily="2" charset="-122"/>
              </a:rPr>
              <a:t>wi</a:t>
            </a:r>
            <a:r>
              <a:rPr lang="en-US" altLang="zh-CN" dirty="0" err="1">
                <a:ea typeface="宋体" panose="02010600030101010101" pitchFamily="2" charset="-122"/>
              </a:rPr>
              <a:t>|</a:t>
            </a:r>
            <a:r>
              <a:rPr lang="en-US" altLang="zh-CN" i="1" dirty="0" err="1">
                <a:ea typeface="宋体" panose="02010600030101010101" pitchFamily="2" charset="-122"/>
              </a:rPr>
              <a:t>D</a:t>
            </a:r>
            <a:r>
              <a:rPr lang="en-US" altLang="zh-CN" dirty="0">
                <a:ea typeface="宋体" panose="02010600030101010101" pitchFamily="2" charset="-122"/>
              </a:rPr>
              <a:t>)</a:t>
            </a:r>
            <a:r>
              <a:rPr lang="zh-CN" altLang="en-US" dirty="0">
                <a:ea typeface="宋体" panose="02010600030101010101" pitchFamily="2" charset="-122"/>
              </a:rPr>
              <a:t>是很容易的，即频率等于概率</a:t>
            </a:r>
            <a:r>
              <a:rPr lang="en-US" altLang="zh-CN" dirty="0" err="1">
                <a:ea typeface="宋体" panose="02010600030101010101" pitchFamily="2" charset="-122"/>
              </a:rPr>
              <a:t>balabala</a:t>
            </a:r>
            <a:r>
              <a:rPr lang="zh-CN" altLang="en-US" dirty="0">
                <a:ea typeface="宋体" panose="02010600030101010101" pitchFamily="2" charset="-122"/>
              </a:rPr>
              <a:t>就可以算出这个概率值来，但是类条件概率密度并不是那么容易的，实际上，对于每个样本，仅仅只有同一类别的样本对于该类别的类条件密度是有意义的</a:t>
            </a:r>
            <a:endParaRPr lang="en-US" altLang="zh-CN" dirty="0">
              <a:ea typeface="宋体" panose="02010600030101010101" pitchFamily="2" charset="-122"/>
            </a:endParaRPr>
          </a:p>
          <a:p>
            <a:pPr>
              <a:spcBef>
                <a:spcPct val="0"/>
              </a:spcBef>
            </a:pPr>
            <a:endParaRPr lang="en-US" altLang="zh-CN" dirty="0">
              <a:ea typeface="宋体" panose="02010600030101010101" pitchFamily="2" charset="-122"/>
            </a:endParaRPr>
          </a:p>
          <a:p>
            <a:pPr>
              <a:spcBef>
                <a:spcPct val="0"/>
              </a:spcBef>
            </a:pPr>
            <a:r>
              <a:rPr lang="zh-CN" altLang="en-US" dirty="0">
                <a:ea typeface="宋体" panose="02010600030101010101" pitchFamily="2" charset="-122"/>
              </a:rPr>
              <a:t>因此，我们处理的核心问题，实际上是根据一组训练样本</a:t>
            </a:r>
            <a:r>
              <a:rPr lang="en-US" altLang="zh-CN" i="1" dirty="0">
                <a:ea typeface="宋体" panose="02010600030101010101" pitchFamily="2" charset="-122"/>
              </a:rPr>
              <a:t>Di</a:t>
            </a:r>
            <a:r>
              <a:rPr lang="zh-CN" altLang="en-US" dirty="0">
                <a:ea typeface="宋体" panose="02010600030101010101" pitchFamily="2" charset="-122"/>
              </a:rPr>
              <a:t>，估计分布</a:t>
            </a:r>
            <a:r>
              <a:rPr lang="en-US" altLang="zh-CN" i="1" dirty="0">
                <a:ea typeface="宋体" panose="02010600030101010101" pitchFamily="2" charset="-122"/>
              </a:rPr>
              <a:t>p</a:t>
            </a:r>
            <a:r>
              <a:rPr lang="en-US" altLang="zh-CN" dirty="0">
                <a:ea typeface="宋体" panose="02010600030101010101" pitchFamily="2" charset="-122"/>
              </a:rPr>
              <a:t>(</a:t>
            </a:r>
            <a:r>
              <a:rPr lang="en-US" altLang="zh-CN" i="1" dirty="0">
                <a:ea typeface="宋体" panose="02010600030101010101" pitchFamily="2" charset="-122"/>
              </a:rPr>
              <a:t>x</a:t>
            </a:r>
            <a:r>
              <a:rPr lang="zh-CN" altLang="en-US" dirty="0">
                <a:ea typeface="宋体" panose="02010600030101010101" pitchFamily="2" charset="-122"/>
              </a:rPr>
              <a:t>⃗</a:t>
            </a:r>
            <a:r>
              <a:rPr lang="en-US" altLang="zh-CN" dirty="0">
                <a:ea typeface="宋体" panose="02010600030101010101" pitchFamily="2" charset="-122"/>
              </a:rPr>
              <a:t>|</a:t>
            </a:r>
            <a:r>
              <a:rPr lang="en-US" altLang="zh-CN" i="1" dirty="0">
                <a:ea typeface="宋体" panose="02010600030101010101" pitchFamily="2" charset="-122"/>
              </a:rPr>
              <a:t>Di</a:t>
            </a:r>
            <a:r>
              <a:rPr lang="en-US" altLang="zh-CN" dirty="0">
                <a:ea typeface="宋体" panose="02010600030101010101" pitchFamily="2" charset="-122"/>
              </a:rPr>
              <a:t>)</a:t>
            </a:r>
            <a:r>
              <a:rPr lang="zh-CN" altLang="en-US" dirty="0">
                <a:ea typeface="宋体" panose="02010600030101010101" pitchFamily="2" charset="-122"/>
              </a:rPr>
              <a:t>，简单记</a:t>
            </a:r>
            <a:r>
              <a:rPr lang="en-US" altLang="zh-CN" i="1" dirty="0">
                <a:ea typeface="宋体" panose="02010600030101010101" pitchFamily="2" charset="-122"/>
              </a:rPr>
              <a:t>Di</a:t>
            </a:r>
            <a:r>
              <a:rPr lang="zh-CN" altLang="en-US" dirty="0">
                <a:ea typeface="宋体" panose="02010600030101010101" pitchFamily="2" charset="-122"/>
              </a:rPr>
              <a:t>为</a:t>
            </a:r>
            <a:r>
              <a:rPr lang="en-US" altLang="zh-CN" i="1" dirty="0" err="1">
                <a:ea typeface="宋体" panose="02010600030101010101" pitchFamily="2" charset="-122"/>
              </a:rPr>
              <a:t>D</a:t>
            </a:r>
            <a:r>
              <a:rPr lang="en-US" altLang="zh-CN" dirty="0" err="1">
                <a:ea typeface="宋体" panose="02010600030101010101" pitchFamily="2" charset="-122"/>
              </a:rPr>
              <a:t>,</a:t>
            </a:r>
            <a:r>
              <a:rPr lang="en-US" altLang="zh-CN" i="1" dirty="0" err="1">
                <a:ea typeface="宋体" panose="02010600030101010101" pitchFamily="2" charset="-122"/>
              </a:rPr>
              <a:t>p</a:t>
            </a:r>
            <a:r>
              <a:rPr lang="en-US" altLang="zh-CN" dirty="0">
                <a:ea typeface="宋体" panose="02010600030101010101" pitchFamily="2" charset="-122"/>
              </a:rPr>
              <a:t>(</a:t>
            </a:r>
            <a:r>
              <a:rPr lang="en-US" altLang="zh-CN" i="1" dirty="0">
                <a:ea typeface="宋体" panose="02010600030101010101" pitchFamily="2" charset="-122"/>
              </a:rPr>
              <a:t>x</a:t>
            </a:r>
            <a:r>
              <a:rPr lang="zh-CN" altLang="en-US" dirty="0">
                <a:ea typeface="宋体" panose="02010600030101010101" pitchFamily="2" charset="-122"/>
              </a:rPr>
              <a:t>⃗</a:t>
            </a:r>
            <a:r>
              <a:rPr lang="en-US" altLang="zh-CN" dirty="0">
                <a:ea typeface="宋体" panose="02010600030101010101" pitchFamily="2" charset="-122"/>
              </a:rPr>
              <a:t>|</a:t>
            </a:r>
            <a:r>
              <a:rPr lang="en-US" altLang="zh-CN" i="1" dirty="0">
                <a:ea typeface="宋体" panose="02010600030101010101" pitchFamily="2" charset="-122"/>
              </a:rPr>
              <a:t>Di</a:t>
            </a:r>
            <a:r>
              <a:rPr lang="en-US" altLang="zh-CN" dirty="0">
                <a:ea typeface="宋体" panose="02010600030101010101" pitchFamily="2" charset="-122"/>
              </a:rPr>
              <a:t>)</a:t>
            </a:r>
            <a:r>
              <a:rPr lang="zh-CN" altLang="en-US" dirty="0">
                <a:ea typeface="宋体" panose="02010600030101010101" pitchFamily="2" charset="-122"/>
              </a:rPr>
              <a:t>为</a:t>
            </a:r>
            <a:r>
              <a:rPr lang="en-US" altLang="zh-CN" i="1" dirty="0">
                <a:ea typeface="宋体" panose="02010600030101010101" pitchFamily="2" charset="-122"/>
              </a:rPr>
              <a:t>p</a:t>
            </a:r>
            <a:r>
              <a:rPr lang="en-US" altLang="zh-CN" dirty="0">
                <a:ea typeface="宋体" panose="02010600030101010101" pitchFamily="2" charset="-122"/>
              </a:rPr>
              <a:t>(</a:t>
            </a:r>
            <a:r>
              <a:rPr lang="en-US" altLang="zh-CN" i="1" dirty="0">
                <a:ea typeface="宋体" panose="02010600030101010101" pitchFamily="2" charset="-122"/>
              </a:rPr>
              <a:t>x</a:t>
            </a:r>
            <a:r>
              <a:rPr lang="zh-CN" altLang="en-US" dirty="0">
                <a:ea typeface="宋体" panose="02010600030101010101" pitchFamily="2" charset="-122"/>
              </a:rPr>
              <a:t>⃗</a:t>
            </a:r>
            <a:r>
              <a:rPr lang="en-US" altLang="zh-CN" dirty="0">
                <a:ea typeface="宋体" panose="02010600030101010101" pitchFamily="2" charset="-122"/>
              </a:rPr>
              <a:t>|</a:t>
            </a:r>
            <a:r>
              <a:rPr lang="en-US" altLang="zh-CN" i="1" dirty="0">
                <a:ea typeface="宋体" panose="02010600030101010101" pitchFamily="2" charset="-122"/>
              </a:rPr>
              <a:t>D</a:t>
            </a:r>
            <a:r>
              <a:rPr lang="en-US" altLang="zh-CN" dirty="0">
                <a:ea typeface="宋体" panose="02010600030101010101" pitchFamily="2" charset="-122"/>
              </a:rPr>
              <a:t>)</a:t>
            </a:r>
            <a:endParaRPr lang="en-US" altLang="zh-CN" dirty="0">
              <a:ea typeface="宋体" panose="02010600030101010101" pitchFamily="2" charset="-122"/>
            </a:endParaRPr>
          </a:p>
          <a:p>
            <a:pPr>
              <a:spcBef>
                <a:spcPct val="0"/>
              </a:spcBef>
            </a:pPr>
            <a:endParaRPr lang="en-US" altLang="zh-CN" dirty="0">
              <a:ea typeface="宋体" panose="02010600030101010101" pitchFamily="2" charset="-122"/>
            </a:endParaRPr>
          </a:p>
          <a:p>
            <a:pPr>
              <a:spcBef>
                <a:spcPct val="0"/>
              </a:spcBef>
            </a:pPr>
            <a:endParaRPr lang="en-US" altLang="zh-CN" dirty="0">
              <a:ea typeface="宋体" panose="02010600030101010101" pitchFamily="2" charset="-122"/>
            </a:endParaRPr>
          </a:p>
          <a:p>
            <a:pPr>
              <a:spcBef>
                <a:spcPct val="0"/>
              </a:spcBef>
            </a:pPr>
            <a:r>
              <a:rPr lang="en-US" altLang="zh-CN">
                <a:ea typeface="宋体" panose="02010600030101010101" pitchFamily="2" charset="-122"/>
              </a:rPr>
              <a:t>jihao1</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a typeface="宋体" panose="02010600030101010101" pitchFamily="2" charset="-122"/>
              </a:rPr>
              <a:t>我们总是认为分布</a:t>
            </a:r>
            <a:r>
              <a:rPr lang="en-US" altLang="zh-CN" i="1" dirty="0">
                <a:ea typeface="宋体" panose="02010600030101010101" pitchFamily="2" charset="-122"/>
              </a:rPr>
              <a:t>p</a:t>
            </a:r>
            <a:r>
              <a:rPr lang="en-US" altLang="zh-CN" dirty="0">
                <a:ea typeface="宋体" panose="02010600030101010101" pitchFamily="2" charset="-122"/>
              </a:rPr>
              <a:t>(</a:t>
            </a:r>
            <a:r>
              <a:rPr lang="en-US" altLang="zh-CN" i="1" dirty="0">
                <a:ea typeface="宋体" panose="02010600030101010101" pitchFamily="2" charset="-122"/>
              </a:rPr>
              <a:t>x</a:t>
            </a:r>
            <a:r>
              <a:rPr lang="zh-CN" altLang="en-US" dirty="0">
                <a:ea typeface="宋体" panose="02010600030101010101" pitchFamily="2" charset="-122"/>
              </a:rPr>
              <a:t>⃗ </a:t>
            </a:r>
            <a:r>
              <a:rPr lang="en-US" altLang="zh-CN" dirty="0">
                <a:ea typeface="宋体" panose="02010600030101010101" pitchFamily="2" charset="-122"/>
              </a:rPr>
              <a:t>)</a:t>
            </a:r>
            <a:r>
              <a:rPr lang="zh-CN" altLang="en-US" dirty="0">
                <a:ea typeface="宋体" panose="02010600030101010101" pitchFamily="2" charset="-122"/>
              </a:rPr>
              <a:t>的形式是已知的，但是参数</a:t>
            </a:r>
            <a:r>
              <a:rPr lang="en-US" altLang="zh-CN" i="1" dirty="0">
                <a:ea typeface="宋体" panose="02010600030101010101" pitchFamily="2" charset="-122"/>
              </a:rPr>
              <a:t>θ</a:t>
            </a:r>
            <a:r>
              <a:rPr lang="zh-CN" altLang="en-US" dirty="0">
                <a:ea typeface="宋体" panose="02010600030101010101" pitchFamily="2" charset="-122"/>
              </a:rPr>
              <a:t>⃗ 并不知道，实际上我们需要做的事，是根据数据的到最好的</a:t>
            </a:r>
            <a:r>
              <a:rPr lang="en-US" altLang="zh-CN" i="1" dirty="0">
                <a:ea typeface="宋体" panose="02010600030101010101" pitchFamily="2" charset="-122"/>
              </a:rPr>
              <a:t>θ</a:t>
            </a:r>
            <a:r>
              <a:rPr lang="zh-CN" altLang="en-US" dirty="0">
                <a:ea typeface="宋体" panose="02010600030101010101" pitchFamily="2" charset="-122"/>
              </a:rPr>
              <a:t>⃗ 。</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ea typeface="宋体" panose="02010600030101010101" pitchFamily="2" charset="-122"/>
              </a:rPr>
              <a:t>假如我们有一些先验知识，比如你对</a:t>
            </a:r>
            <a:r>
              <a:rPr lang="en-US" altLang="zh-CN" i="1" dirty="0">
                <a:ea typeface="宋体" panose="02010600030101010101" pitchFamily="2" charset="-122"/>
              </a:rPr>
              <a:t>θ</a:t>
            </a:r>
            <a:r>
              <a:rPr lang="zh-CN" altLang="en-US" dirty="0">
                <a:ea typeface="宋体" panose="02010600030101010101" pitchFamily="2" charset="-122"/>
              </a:rPr>
              <a:t>⃗ 有点感觉，他大概等于多少，或者可能是多少（这个感觉可以很模糊，也可以基本不确定，这都不会造成问题），那么这个问题我们可以等价为</a:t>
            </a:r>
            <a:r>
              <a:rPr lang="en-US" altLang="zh-CN" i="1" dirty="0">
                <a:ea typeface="宋体" panose="02010600030101010101" pitchFamily="2" charset="-122"/>
              </a:rPr>
              <a:t>p</a:t>
            </a:r>
            <a:r>
              <a:rPr lang="en-US" altLang="zh-CN" dirty="0">
                <a:ea typeface="宋体" panose="02010600030101010101" pitchFamily="2" charset="-122"/>
              </a:rPr>
              <a:t>(</a:t>
            </a:r>
            <a:r>
              <a:rPr lang="en-US" altLang="zh-CN" i="1" dirty="0">
                <a:ea typeface="宋体" panose="02010600030101010101" pitchFamily="2" charset="-122"/>
              </a:rPr>
              <a:t>x</a:t>
            </a:r>
            <a:r>
              <a:rPr lang="zh-CN" altLang="en-US" dirty="0">
                <a:ea typeface="宋体" panose="02010600030101010101" pitchFamily="2" charset="-122"/>
              </a:rPr>
              <a:t>⃗ </a:t>
            </a:r>
            <a:r>
              <a:rPr lang="en-US" altLang="zh-CN" dirty="0">
                <a:ea typeface="宋体" panose="02010600030101010101" pitchFamily="2" charset="-122"/>
              </a:rPr>
              <a:t>|</a:t>
            </a:r>
            <a:r>
              <a:rPr lang="en-US" altLang="zh-CN" i="1" dirty="0">
                <a:ea typeface="宋体" panose="02010600030101010101" pitchFamily="2" charset="-122"/>
              </a:rPr>
              <a:t>θ</a:t>
            </a:r>
            <a:r>
              <a:rPr lang="zh-CN" altLang="en-US" dirty="0">
                <a:ea typeface="宋体" panose="02010600030101010101" pitchFamily="2" charset="-122"/>
              </a:rPr>
              <a:t>⃗ </a:t>
            </a:r>
            <a:r>
              <a:rPr lang="en-US" altLang="zh-CN" dirty="0">
                <a:ea typeface="宋体" panose="02010600030101010101" pitchFamily="2" charset="-122"/>
              </a:rPr>
              <a:t>)</a:t>
            </a:r>
            <a:r>
              <a:rPr lang="zh-CN" altLang="en-US" dirty="0">
                <a:ea typeface="宋体" panose="02010600030101010101" pitchFamily="2" charset="-122"/>
              </a:rPr>
              <a:t>是已知的，并且确定的，而</a:t>
            </a:r>
            <a:r>
              <a:rPr lang="en-US" altLang="zh-CN" i="1" dirty="0">
                <a:ea typeface="宋体" panose="02010600030101010101" pitchFamily="2" charset="-122"/>
              </a:rPr>
              <a:t>θ</a:t>
            </a:r>
            <a:r>
              <a:rPr lang="zh-CN" altLang="en-US" dirty="0">
                <a:ea typeface="宋体" panose="02010600030101010101" pitchFamily="2" charset="-122"/>
              </a:rPr>
              <a:t>⃗ 的不确定问题（或者说你的先验的感觉），可以归纳成一个概率分布</a:t>
            </a:r>
            <a:r>
              <a:rPr lang="en-US" altLang="zh-CN" i="1" dirty="0">
                <a:ea typeface="宋体" panose="02010600030101010101" pitchFamily="2" charset="-122"/>
              </a:rPr>
              <a:t>p</a:t>
            </a:r>
            <a:r>
              <a:rPr lang="en-US" altLang="zh-CN" dirty="0">
                <a:ea typeface="宋体" panose="02010600030101010101" pitchFamily="2" charset="-122"/>
              </a:rPr>
              <a:t>(</a:t>
            </a:r>
            <a:r>
              <a:rPr lang="en-US" altLang="zh-CN" i="1" dirty="0">
                <a:ea typeface="宋体" panose="02010600030101010101" pitchFamily="2" charset="-122"/>
              </a:rPr>
              <a:t>θ</a:t>
            </a:r>
            <a:r>
              <a:rPr lang="zh-CN" altLang="en-US" dirty="0">
                <a:ea typeface="宋体" panose="02010600030101010101" pitchFamily="2" charset="-122"/>
              </a:rPr>
              <a:t>⃗ </a:t>
            </a:r>
            <a:r>
              <a:rPr lang="en-US" altLang="zh-CN" dirty="0">
                <a:ea typeface="宋体" panose="02010600030101010101" pitchFamily="2" charset="-122"/>
              </a:rPr>
              <a:t>)</a:t>
            </a:r>
            <a:r>
              <a:rPr lang="zh-CN" altLang="en-US" dirty="0">
                <a:ea typeface="宋体" panose="02010600030101010101" pitchFamily="2" charset="-122"/>
              </a:rPr>
              <a:t>，整个概率便可以重新写成</a:t>
            </a:r>
            <a:r>
              <a:rPr lang="en-US" altLang="zh-CN" dirty="0">
                <a:ea typeface="宋体" panose="02010600030101010101" pitchFamily="2" charset="-122"/>
              </a:rPr>
              <a:t>: </a:t>
            </a:r>
            <a:endParaRPr lang="en-US" altLang="zh-CN" dirty="0">
              <a:ea typeface="宋体" panose="02010600030101010101" pitchFamily="2" charset="-122"/>
            </a:endParaRP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a typeface="宋体" panose="02010600030101010101" pitchFamily="2" charset="-122"/>
              </a:rPr>
              <a:t>我们总是认为分布</a:t>
            </a:r>
            <a:r>
              <a:rPr lang="en-US" altLang="zh-CN" i="1" dirty="0">
                <a:ea typeface="宋体" panose="02010600030101010101" pitchFamily="2" charset="-122"/>
              </a:rPr>
              <a:t>p</a:t>
            </a:r>
            <a:r>
              <a:rPr lang="en-US" altLang="zh-CN" dirty="0">
                <a:ea typeface="宋体" panose="02010600030101010101" pitchFamily="2" charset="-122"/>
              </a:rPr>
              <a:t>(</a:t>
            </a:r>
            <a:r>
              <a:rPr lang="en-US" altLang="zh-CN" i="1" dirty="0">
                <a:ea typeface="宋体" panose="02010600030101010101" pitchFamily="2" charset="-122"/>
              </a:rPr>
              <a:t>x</a:t>
            </a:r>
            <a:r>
              <a:rPr lang="zh-CN" altLang="en-US" dirty="0">
                <a:ea typeface="宋体" panose="02010600030101010101" pitchFamily="2" charset="-122"/>
              </a:rPr>
              <a:t>⃗ </a:t>
            </a:r>
            <a:r>
              <a:rPr lang="en-US" altLang="zh-CN" dirty="0">
                <a:ea typeface="宋体" panose="02010600030101010101" pitchFamily="2" charset="-122"/>
              </a:rPr>
              <a:t>)</a:t>
            </a:r>
            <a:r>
              <a:rPr lang="zh-CN" altLang="en-US" dirty="0">
                <a:ea typeface="宋体" panose="02010600030101010101" pitchFamily="2" charset="-122"/>
              </a:rPr>
              <a:t>的形式是已知的，但是参数</a:t>
            </a:r>
            <a:r>
              <a:rPr lang="en-US" altLang="zh-CN" i="1" dirty="0">
                <a:ea typeface="宋体" panose="02010600030101010101" pitchFamily="2" charset="-122"/>
              </a:rPr>
              <a:t>θ</a:t>
            </a:r>
            <a:r>
              <a:rPr lang="zh-CN" altLang="en-US" dirty="0">
                <a:ea typeface="宋体" panose="02010600030101010101" pitchFamily="2" charset="-122"/>
              </a:rPr>
              <a:t>⃗ 并不知道，实际上我们需要做的事，是根据数据的到最好的</a:t>
            </a:r>
            <a:r>
              <a:rPr lang="en-US" altLang="zh-CN" i="1" dirty="0">
                <a:ea typeface="宋体" panose="02010600030101010101" pitchFamily="2" charset="-122"/>
              </a:rPr>
              <a:t>θ</a:t>
            </a:r>
            <a:r>
              <a:rPr lang="zh-CN" altLang="en-US" dirty="0">
                <a:ea typeface="宋体" panose="02010600030101010101" pitchFamily="2" charset="-122"/>
              </a:rPr>
              <a:t>⃗ 。</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ea typeface="宋体" panose="02010600030101010101" pitchFamily="2" charset="-122"/>
              </a:rPr>
              <a:t>假如我们有一些先验知识，比如你对</a:t>
            </a:r>
            <a:r>
              <a:rPr lang="en-US" altLang="zh-CN" i="1" dirty="0">
                <a:ea typeface="宋体" panose="02010600030101010101" pitchFamily="2" charset="-122"/>
              </a:rPr>
              <a:t>θ</a:t>
            </a:r>
            <a:r>
              <a:rPr lang="zh-CN" altLang="en-US" dirty="0">
                <a:ea typeface="宋体" panose="02010600030101010101" pitchFamily="2" charset="-122"/>
              </a:rPr>
              <a:t>⃗ 有点感觉，他大概等于多少，或者可能是多少（这个感觉可以很模糊，也可以基本不确定，这都不会造成问题），那么这个问题我们可以等价为</a:t>
            </a:r>
            <a:r>
              <a:rPr lang="en-US" altLang="zh-CN" i="1" dirty="0">
                <a:ea typeface="宋体" panose="02010600030101010101" pitchFamily="2" charset="-122"/>
              </a:rPr>
              <a:t>p</a:t>
            </a:r>
            <a:r>
              <a:rPr lang="en-US" altLang="zh-CN" dirty="0">
                <a:ea typeface="宋体" panose="02010600030101010101" pitchFamily="2" charset="-122"/>
              </a:rPr>
              <a:t>(</a:t>
            </a:r>
            <a:r>
              <a:rPr lang="en-US" altLang="zh-CN" i="1" dirty="0">
                <a:ea typeface="宋体" panose="02010600030101010101" pitchFamily="2" charset="-122"/>
              </a:rPr>
              <a:t>x</a:t>
            </a:r>
            <a:r>
              <a:rPr lang="zh-CN" altLang="en-US" dirty="0">
                <a:ea typeface="宋体" panose="02010600030101010101" pitchFamily="2" charset="-122"/>
              </a:rPr>
              <a:t>⃗ </a:t>
            </a:r>
            <a:r>
              <a:rPr lang="en-US" altLang="zh-CN" dirty="0">
                <a:ea typeface="宋体" panose="02010600030101010101" pitchFamily="2" charset="-122"/>
              </a:rPr>
              <a:t>|</a:t>
            </a:r>
            <a:r>
              <a:rPr lang="en-US" altLang="zh-CN" i="1" dirty="0">
                <a:ea typeface="宋体" panose="02010600030101010101" pitchFamily="2" charset="-122"/>
              </a:rPr>
              <a:t>θ</a:t>
            </a:r>
            <a:r>
              <a:rPr lang="zh-CN" altLang="en-US" dirty="0">
                <a:ea typeface="宋体" panose="02010600030101010101" pitchFamily="2" charset="-122"/>
              </a:rPr>
              <a:t>⃗ </a:t>
            </a:r>
            <a:r>
              <a:rPr lang="en-US" altLang="zh-CN" dirty="0">
                <a:ea typeface="宋体" panose="02010600030101010101" pitchFamily="2" charset="-122"/>
              </a:rPr>
              <a:t>)</a:t>
            </a:r>
            <a:r>
              <a:rPr lang="zh-CN" altLang="en-US" dirty="0">
                <a:ea typeface="宋体" panose="02010600030101010101" pitchFamily="2" charset="-122"/>
              </a:rPr>
              <a:t>是已知的，并且确定的，而</a:t>
            </a:r>
            <a:r>
              <a:rPr lang="en-US" altLang="zh-CN" i="1" dirty="0">
                <a:ea typeface="宋体" panose="02010600030101010101" pitchFamily="2" charset="-122"/>
              </a:rPr>
              <a:t>θ</a:t>
            </a:r>
            <a:r>
              <a:rPr lang="zh-CN" altLang="en-US" dirty="0">
                <a:ea typeface="宋体" panose="02010600030101010101" pitchFamily="2" charset="-122"/>
              </a:rPr>
              <a:t>⃗ 的不确定问题（或者说你的先验的感觉），可以归纳成一个概率分布</a:t>
            </a:r>
            <a:r>
              <a:rPr lang="en-US" altLang="zh-CN" i="1" dirty="0">
                <a:ea typeface="宋体" panose="02010600030101010101" pitchFamily="2" charset="-122"/>
              </a:rPr>
              <a:t>p</a:t>
            </a:r>
            <a:r>
              <a:rPr lang="en-US" altLang="zh-CN" dirty="0">
                <a:ea typeface="宋体" panose="02010600030101010101" pitchFamily="2" charset="-122"/>
              </a:rPr>
              <a:t>(</a:t>
            </a:r>
            <a:r>
              <a:rPr lang="en-US" altLang="zh-CN" i="1" dirty="0">
                <a:ea typeface="宋体" panose="02010600030101010101" pitchFamily="2" charset="-122"/>
              </a:rPr>
              <a:t>θ</a:t>
            </a:r>
            <a:r>
              <a:rPr lang="zh-CN" altLang="en-US" dirty="0">
                <a:ea typeface="宋体" panose="02010600030101010101" pitchFamily="2" charset="-122"/>
              </a:rPr>
              <a:t>⃗ </a:t>
            </a:r>
            <a:r>
              <a:rPr lang="en-US" altLang="zh-CN" dirty="0">
                <a:ea typeface="宋体" panose="02010600030101010101" pitchFamily="2" charset="-122"/>
              </a:rPr>
              <a:t>)</a:t>
            </a:r>
            <a:r>
              <a:rPr lang="zh-CN" altLang="en-US" dirty="0">
                <a:ea typeface="宋体" panose="02010600030101010101" pitchFamily="2" charset="-122"/>
              </a:rPr>
              <a:t>，整个概率便可以重新写成</a:t>
            </a:r>
            <a:r>
              <a:rPr lang="en-US" altLang="zh-CN" dirty="0">
                <a:ea typeface="宋体" panose="02010600030101010101" pitchFamily="2" charset="-122"/>
              </a:rPr>
              <a:t>: </a:t>
            </a:r>
            <a:endParaRPr lang="en-US" altLang="zh-CN" dirty="0">
              <a:ea typeface="宋体" panose="02010600030101010101" pitchFamily="2" charset="-122"/>
            </a:endParaRP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a typeface="宋体" panose="02010600030101010101" pitchFamily="2" charset="-122"/>
              </a:rPr>
              <a:t>我们总是认为分布</a:t>
            </a:r>
            <a:r>
              <a:rPr lang="en-US" altLang="zh-CN" i="1" dirty="0">
                <a:ea typeface="宋体" panose="02010600030101010101" pitchFamily="2" charset="-122"/>
              </a:rPr>
              <a:t>p</a:t>
            </a:r>
            <a:r>
              <a:rPr lang="en-US" altLang="zh-CN" dirty="0">
                <a:ea typeface="宋体" panose="02010600030101010101" pitchFamily="2" charset="-122"/>
              </a:rPr>
              <a:t>(</a:t>
            </a:r>
            <a:r>
              <a:rPr lang="en-US" altLang="zh-CN" i="1" dirty="0">
                <a:ea typeface="宋体" panose="02010600030101010101" pitchFamily="2" charset="-122"/>
              </a:rPr>
              <a:t>x</a:t>
            </a:r>
            <a:r>
              <a:rPr lang="zh-CN" altLang="en-US" dirty="0">
                <a:ea typeface="宋体" panose="02010600030101010101" pitchFamily="2" charset="-122"/>
              </a:rPr>
              <a:t>⃗ </a:t>
            </a:r>
            <a:r>
              <a:rPr lang="en-US" altLang="zh-CN" dirty="0">
                <a:ea typeface="宋体" panose="02010600030101010101" pitchFamily="2" charset="-122"/>
              </a:rPr>
              <a:t>)</a:t>
            </a:r>
            <a:r>
              <a:rPr lang="zh-CN" altLang="en-US" dirty="0">
                <a:ea typeface="宋体" panose="02010600030101010101" pitchFamily="2" charset="-122"/>
              </a:rPr>
              <a:t>的形式是已知的，但是参数</a:t>
            </a:r>
            <a:r>
              <a:rPr lang="en-US" altLang="zh-CN" i="1" dirty="0">
                <a:ea typeface="宋体" panose="02010600030101010101" pitchFamily="2" charset="-122"/>
              </a:rPr>
              <a:t>θ</a:t>
            </a:r>
            <a:r>
              <a:rPr lang="zh-CN" altLang="en-US" dirty="0">
                <a:ea typeface="宋体" panose="02010600030101010101" pitchFamily="2" charset="-122"/>
              </a:rPr>
              <a:t>⃗ 并不知道，实际上我们需要做的事，是根据数据的到最好的</a:t>
            </a:r>
            <a:r>
              <a:rPr lang="en-US" altLang="zh-CN" i="1" dirty="0">
                <a:ea typeface="宋体" panose="02010600030101010101" pitchFamily="2" charset="-122"/>
              </a:rPr>
              <a:t>θ</a:t>
            </a:r>
            <a:r>
              <a:rPr lang="zh-CN" altLang="en-US" dirty="0">
                <a:ea typeface="宋体" panose="02010600030101010101" pitchFamily="2" charset="-122"/>
              </a:rPr>
              <a:t>⃗ 。</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ea typeface="宋体" panose="02010600030101010101" pitchFamily="2" charset="-122"/>
              </a:rPr>
              <a:t>假如我们有一些先验知识，比如你对</a:t>
            </a:r>
            <a:r>
              <a:rPr lang="en-US" altLang="zh-CN" i="1" dirty="0">
                <a:ea typeface="宋体" panose="02010600030101010101" pitchFamily="2" charset="-122"/>
              </a:rPr>
              <a:t>θ</a:t>
            </a:r>
            <a:r>
              <a:rPr lang="zh-CN" altLang="en-US" dirty="0">
                <a:ea typeface="宋体" panose="02010600030101010101" pitchFamily="2" charset="-122"/>
              </a:rPr>
              <a:t>⃗ 有点感觉，他大概等于多少，或者可能是多少（这个感觉可以很模糊，也可以基本不确定，这都不会造成问题），那么这个问题我们可以等价为</a:t>
            </a:r>
            <a:r>
              <a:rPr lang="en-US" altLang="zh-CN" i="1" dirty="0">
                <a:ea typeface="宋体" panose="02010600030101010101" pitchFamily="2" charset="-122"/>
              </a:rPr>
              <a:t>p</a:t>
            </a:r>
            <a:r>
              <a:rPr lang="en-US" altLang="zh-CN" dirty="0">
                <a:ea typeface="宋体" panose="02010600030101010101" pitchFamily="2" charset="-122"/>
              </a:rPr>
              <a:t>(</a:t>
            </a:r>
            <a:r>
              <a:rPr lang="en-US" altLang="zh-CN" i="1" dirty="0">
                <a:ea typeface="宋体" panose="02010600030101010101" pitchFamily="2" charset="-122"/>
              </a:rPr>
              <a:t>x</a:t>
            </a:r>
            <a:r>
              <a:rPr lang="zh-CN" altLang="en-US" dirty="0">
                <a:ea typeface="宋体" panose="02010600030101010101" pitchFamily="2" charset="-122"/>
              </a:rPr>
              <a:t>⃗ </a:t>
            </a:r>
            <a:r>
              <a:rPr lang="en-US" altLang="zh-CN" dirty="0">
                <a:ea typeface="宋体" panose="02010600030101010101" pitchFamily="2" charset="-122"/>
              </a:rPr>
              <a:t>|</a:t>
            </a:r>
            <a:r>
              <a:rPr lang="en-US" altLang="zh-CN" i="1" dirty="0">
                <a:ea typeface="宋体" panose="02010600030101010101" pitchFamily="2" charset="-122"/>
              </a:rPr>
              <a:t>θ</a:t>
            </a:r>
            <a:r>
              <a:rPr lang="zh-CN" altLang="en-US" dirty="0">
                <a:ea typeface="宋体" panose="02010600030101010101" pitchFamily="2" charset="-122"/>
              </a:rPr>
              <a:t>⃗ </a:t>
            </a:r>
            <a:r>
              <a:rPr lang="en-US" altLang="zh-CN" dirty="0">
                <a:ea typeface="宋体" panose="02010600030101010101" pitchFamily="2" charset="-122"/>
              </a:rPr>
              <a:t>)</a:t>
            </a:r>
            <a:r>
              <a:rPr lang="zh-CN" altLang="en-US" dirty="0">
                <a:ea typeface="宋体" panose="02010600030101010101" pitchFamily="2" charset="-122"/>
              </a:rPr>
              <a:t>是已知的，并且确定的，而</a:t>
            </a:r>
            <a:r>
              <a:rPr lang="en-US" altLang="zh-CN" i="1" dirty="0">
                <a:ea typeface="宋体" panose="02010600030101010101" pitchFamily="2" charset="-122"/>
              </a:rPr>
              <a:t>θ</a:t>
            </a:r>
            <a:r>
              <a:rPr lang="zh-CN" altLang="en-US" dirty="0">
                <a:ea typeface="宋体" panose="02010600030101010101" pitchFamily="2" charset="-122"/>
              </a:rPr>
              <a:t>⃗ 的不确定问题（或者说你的先验的感觉），可以归纳成一个概率分布</a:t>
            </a:r>
            <a:r>
              <a:rPr lang="en-US" altLang="zh-CN" i="1" dirty="0">
                <a:ea typeface="宋体" panose="02010600030101010101" pitchFamily="2" charset="-122"/>
              </a:rPr>
              <a:t>p</a:t>
            </a:r>
            <a:r>
              <a:rPr lang="en-US" altLang="zh-CN" dirty="0">
                <a:ea typeface="宋体" panose="02010600030101010101" pitchFamily="2" charset="-122"/>
              </a:rPr>
              <a:t>(</a:t>
            </a:r>
            <a:r>
              <a:rPr lang="en-US" altLang="zh-CN" i="1" dirty="0">
                <a:ea typeface="宋体" panose="02010600030101010101" pitchFamily="2" charset="-122"/>
              </a:rPr>
              <a:t>θ</a:t>
            </a:r>
            <a:r>
              <a:rPr lang="zh-CN" altLang="en-US" dirty="0">
                <a:ea typeface="宋体" panose="02010600030101010101" pitchFamily="2" charset="-122"/>
              </a:rPr>
              <a:t>⃗ </a:t>
            </a:r>
            <a:r>
              <a:rPr lang="en-US" altLang="zh-CN" dirty="0">
                <a:ea typeface="宋体" panose="02010600030101010101" pitchFamily="2" charset="-122"/>
              </a:rPr>
              <a:t>)</a:t>
            </a:r>
            <a:r>
              <a:rPr lang="zh-CN" altLang="en-US" dirty="0">
                <a:ea typeface="宋体" panose="02010600030101010101" pitchFamily="2" charset="-122"/>
              </a:rPr>
              <a:t>，整个概率便可以重新写成</a:t>
            </a:r>
            <a:r>
              <a:rPr lang="en-US" altLang="zh-CN" dirty="0">
                <a:ea typeface="宋体" panose="02010600030101010101" pitchFamily="2" charset="-122"/>
              </a:rPr>
              <a:t>: </a:t>
            </a:r>
            <a:endParaRPr lang="en-US" altLang="zh-CN" dirty="0">
              <a:ea typeface="宋体" panose="02010600030101010101" pitchFamily="2" charset="-122"/>
            </a:endParaRP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64F8E74-9C04-43EC-B268-D3C0C73A25C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dirty="0"/>
              <a:t>在实际应用中，这个先验可以用来描述人们已经知道或者接受的普遍规律。例如在扔硬币的试验中，每次抛出正面发生的概率应该服从一个概率分布，这个概率在</a:t>
            </a:r>
            <a:r>
              <a:rPr lang="en-US" sz="1200" dirty="0"/>
              <a:t>0.5</a:t>
            </a:r>
            <a:r>
              <a:rPr lang="zh-CN" altLang="en-US" sz="1200" dirty="0"/>
              <a:t>处取得最大值，这个分布就是先验分布。</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21212"/>
                </a:solidFill>
                <a:effectLst/>
                <a:latin typeface="-apple-system"/>
              </a:rPr>
              <a:t>二项式和</a:t>
            </a:r>
            <a:r>
              <a:rPr lang="en-US" altLang="zh-CN" b="0" i="0" dirty="0">
                <a:solidFill>
                  <a:srgbClr val="121212"/>
                </a:solidFill>
                <a:effectLst/>
                <a:latin typeface="-apple-system"/>
              </a:rPr>
              <a:t>beta</a:t>
            </a:r>
            <a:r>
              <a:rPr lang="zh-CN" altLang="en-US" b="0" i="0" dirty="0">
                <a:solidFill>
                  <a:srgbClr val="121212"/>
                </a:solidFill>
                <a:effectLst/>
                <a:latin typeface="-apple-system"/>
              </a:rPr>
              <a:t>之间的区别在于，前者对成功次数</a:t>
            </a:r>
            <a:r>
              <a:rPr lang="en-US" altLang="zh-CN" b="0" i="0" dirty="0">
                <a:solidFill>
                  <a:srgbClr val="121212"/>
                </a:solidFill>
                <a:effectLst/>
                <a:latin typeface="-apple-system"/>
              </a:rPr>
              <a:t>(N)</a:t>
            </a:r>
            <a:r>
              <a:rPr lang="zh-CN" altLang="en-US" b="0" i="0" dirty="0">
                <a:solidFill>
                  <a:srgbClr val="121212"/>
                </a:solidFill>
                <a:effectLst/>
                <a:latin typeface="-apple-system"/>
              </a:rPr>
              <a:t>进行建模，而后者对成功概率</a:t>
            </a:r>
            <a:r>
              <a:rPr lang="en-US" altLang="zh-CN" b="0" i="0" dirty="0">
                <a:solidFill>
                  <a:srgbClr val="121212"/>
                </a:solidFill>
                <a:effectLst/>
                <a:latin typeface="-apple-system"/>
              </a:rPr>
              <a:t>(p)</a:t>
            </a:r>
            <a:r>
              <a:rPr lang="zh-CN" altLang="en-US" b="0" i="0" dirty="0">
                <a:solidFill>
                  <a:srgbClr val="121212"/>
                </a:solidFill>
                <a:effectLst/>
                <a:latin typeface="-apple-system"/>
              </a:rPr>
              <a:t>进行建模。 换句话说，概率是二项式的参数；在</a:t>
            </a:r>
            <a:r>
              <a:rPr lang="en-US" altLang="zh-CN" b="0" i="0" dirty="0">
                <a:solidFill>
                  <a:srgbClr val="121212"/>
                </a:solidFill>
                <a:effectLst/>
                <a:latin typeface="-apple-system"/>
              </a:rPr>
              <a:t>Beta</a:t>
            </a:r>
            <a:r>
              <a:rPr lang="zh-CN" altLang="en-US" b="0" i="0" dirty="0">
                <a:solidFill>
                  <a:srgbClr val="121212"/>
                </a:solidFill>
                <a:effectLst/>
                <a:latin typeface="-apple-system"/>
              </a:rPr>
              <a:t>中，概率是一个随机变量。</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biaoji2</a:t>
            </a:r>
            <a:endParaRPr lang="zh-CN" altLang="en-US"/>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hyperlink" Target="http://pic.hust.edu.cn/single/index/_class/3/1394?c=&#21326;&#20013;&#22823;&#19968;&#26223;" TargetMode="External"/><Relationship Id="rId8" Type="http://schemas.openxmlformats.org/officeDocument/2006/relationships/image" Target="../media/image4.jpeg"/><Relationship Id="rId7" Type="http://schemas.openxmlformats.org/officeDocument/2006/relationships/hyperlink" Target="http://pic.hust.edu.cn/single/index/_class/3/1376?c=&#21326;&#20013;&#22823;&#19968;&#26223;" TargetMode="External"/><Relationship Id="rId6" Type="http://schemas.openxmlformats.org/officeDocument/2006/relationships/image" Target="../media/image3.jpeg"/><Relationship Id="rId5" Type="http://schemas.openxmlformats.org/officeDocument/2006/relationships/hyperlink" Target="http://pic.hust.edu.cn/single/index/_class/2/1296?c=&#21326;&#20013;&#22823;&#19968;&#26223;" TargetMode="External"/><Relationship Id="rId4" Type="http://schemas.openxmlformats.org/officeDocument/2006/relationships/image" Target="../media/image2.jpeg"/><Relationship Id="rId3" Type="http://schemas.openxmlformats.org/officeDocument/2006/relationships/hyperlink" Target="http://pic.hust.edu.cn/single/index/_class/0/803?c=&#21326;&#20013;&#22823;&#19968;&#26223;" TargetMode="External"/><Relationship Id="rId2" Type="http://schemas.openxmlformats.org/officeDocument/2006/relationships/image" Target="../media/image1.png"/><Relationship Id="rId17" Type="http://schemas.openxmlformats.org/officeDocument/2006/relationships/vmlDrawing" Target="../drawings/vmlDrawing1.vml"/><Relationship Id="rId16" Type="http://schemas.openxmlformats.org/officeDocument/2006/relationships/image" Target="../media/image8.png"/><Relationship Id="rId15" Type="http://schemas.openxmlformats.org/officeDocument/2006/relationships/oleObject" Target="../embeddings/oleObject1.bin"/><Relationship Id="rId14" Type="http://schemas.openxmlformats.org/officeDocument/2006/relationships/image" Target="../media/image7.jpeg"/><Relationship Id="rId13" Type="http://schemas.openxmlformats.org/officeDocument/2006/relationships/hyperlink" Target="http://pic.hust.edu.cn/single/index/_class/4/1428?c=&#21326;&#20013;&#22823;&#19968;&#26223;" TargetMode="External"/><Relationship Id="rId12" Type="http://schemas.openxmlformats.org/officeDocument/2006/relationships/image" Target="../media/image6.jpeg"/><Relationship Id="rId11" Type="http://schemas.openxmlformats.org/officeDocument/2006/relationships/hyperlink" Target="http://pic.hust.edu.cn/single/index/_class/4/1421?c=&#21326;&#20013;&#22823;&#19968;&#26223;" TargetMode="External"/><Relationship Id="rId10" Type="http://schemas.openxmlformats.org/officeDocument/2006/relationships/image" Target="../media/image5.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bwMode="gray">
      <p:bgPr>
        <a:solidFill>
          <a:schemeClr val="bg1"/>
        </a:solidFill>
        <a:effectLst/>
      </p:bgPr>
    </p:bg>
    <p:spTree>
      <p:nvGrpSpPr>
        <p:cNvPr id="1" name=""/>
        <p:cNvGrpSpPr/>
        <p:nvPr/>
      </p:nvGrpSpPr>
      <p:grpSpPr>
        <a:xfrm>
          <a:off x="0" y="0"/>
          <a:ext cx="0" cy="0"/>
          <a:chOff x="0" y="0"/>
          <a:chExt cx="0" cy="0"/>
        </a:xfrm>
      </p:grpSpPr>
      <p:grpSp>
        <p:nvGrpSpPr>
          <p:cNvPr id="3" name="Group 372"/>
          <p:cNvGrpSpPr/>
          <p:nvPr/>
        </p:nvGrpSpPr>
        <p:grpSpPr bwMode="auto">
          <a:xfrm>
            <a:off x="762001" y="2786063"/>
            <a:ext cx="11010900" cy="119062"/>
            <a:chOff x="288" y="1248"/>
            <a:chExt cx="5229" cy="96"/>
          </a:xfrm>
        </p:grpSpPr>
        <p:grpSp>
          <p:nvGrpSpPr>
            <p:cNvPr id="4" name="Group 368"/>
            <p:cNvGrpSpPr/>
            <p:nvPr userDrawn="1"/>
          </p:nvGrpSpPr>
          <p:grpSpPr bwMode="auto">
            <a:xfrm>
              <a:off x="288" y="1248"/>
              <a:ext cx="5228" cy="96"/>
              <a:chOff x="192" y="498"/>
              <a:chExt cx="5376" cy="78"/>
            </a:xfrm>
          </p:grpSpPr>
          <p:sp>
            <p:nvSpPr>
              <p:cNvPr id="6" name="Rectangle 369"/>
              <p:cNvSpPr>
                <a:spLocks noChangeArrowheads="1"/>
              </p:cNvSpPr>
              <p:nvPr userDrawn="1"/>
            </p:nvSpPr>
            <p:spPr bwMode="gray">
              <a:xfrm>
                <a:off x="192" y="498"/>
                <a:ext cx="1488" cy="78"/>
              </a:xfrm>
              <a:prstGeom prst="rect">
                <a:avLst/>
              </a:prstGeom>
              <a:solidFill>
                <a:schemeClr val="tx2"/>
              </a:solidFill>
              <a:ln w="9525">
                <a:noFill/>
                <a:miter lim="800000"/>
              </a:ln>
              <a:effectLst/>
            </p:spPr>
            <p:txBody>
              <a:bodyPr wrap="none" anchor="ctr"/>
              <a:lstStyle/>
              <a:p>
                <a:pPr>
                  <a:defRPr/>
                </a:pPr>
                <a:endParaRPr lang="zh-CN" altLang="en-US">
                  <a:ea typeface="宋体" panose="02010600030101010101" pitchFamily="2" charset="-122"/>
                </a:endParaRPr>
              </a:p>
            </p:txBody>
          </p:sp>
          <p:sp>
            <p:nvSpPr>
              <p:cNvPr id="7" name="Line 370"/>
              <p:cNvSpPr>
                <a:spLocks noChangeShapeType="1"/>
              </p:cNvSpPr>
              <p:nvPr userDrawn="1"/>
            </p:nvSpPr>
            <p:spPr bwMode="gray">
              <a:xfrm>
                <a:off x="192" y="576"/>
                <a:ext cx="5376" cy="0"/>
              </a:xfrm>
              <a:prstGeom prst="line">
                <a:avLst/>
              </a:prstGeom>
              <a:noFill/>
              <a:ln w="19050">
                <a:solidFill>
                  <a:schemeClr val="tx2"/>
                </a:solidFill>
                <a:round/>
              </a:ln>
              <a:effectLst/>
            </p:spPr>
            <p:txBody>
              <a:bodyPr/>
              <a:lstStyle/>
              <a:p>
                <a:pPr>
                  <a:defRPr/>
                </a:pPr>
                <a:endParaRPr lang="zh-CN" altLang="en-US"/>
              </a:p>
            </p:txBody>
          </p:sp>
        </p:grpSp>
        <p:pic>
          <p:nvPicPr>
            <p:cNvPr id="5" name="Picture 371" descr="Untitled-4 copy"/>
            <p:cNvPicPr>
              <a:picLocks noChangeAspect="1" noChangeArrowheads="1"/>
            </p:cNvPicPr>
            <p:nvPr userDrawn="1"/>
          </p:nvPicPr>
          <p:blipFill>
            <a:blip r:embed="rId2"/>
            <a:srcRect/>
            <a:stretch>
              <a:fillRect/>
            </a:stretch>
          </p:blipFill>
          <p:spPr bwMode="gray">
            <a:xfrm>
              <a:off x="346" y="1254"/>
              <a:ext cx="71" cy="77"/>
            </a:xfrm>
            <a:prstGeom prst="rect">
              <a:avLst/>
            </a:prstGeom>
            <a:noFill/>
            <a:ln w="9525">
              <a:noFill/>
              <a:miter lim="800000"/>
              <a:headEnd/>
              <a:tailEnd/>
            </a:ln>
          </p:spPr>
        </p:pic>
      </p:grpSp>
      <p:pic>
        <p:nvPicPr>
          <p:cNvPr id="8" name="Picture 429" descr="http://pic.hust.edu.cn/pic/nav/803.jpg">
            <a:hlinkClick r:id="rId3"/>
          </p:cNvPr>
          <p:cNvPicPr>
            <a:picLocks noChangeAspect="1" noChangeArrowheads="1"/>
          </p:cNvPicPr>
          <p:nvPr userDrawn="1"/>
        </p:nvPicPr>
        <p:blipFill>
          <a:blip r:embed="rId4"/>
          <a:srcRect/>
          <a:stretch>
            <a:fillRect/>
          </a:stretch>
        </p:blipFill>
        <p:spPr bwMode="auto">
          <a:xfrm>
            <a:off x="7177618" y="6143625"/>
            <a:ext cx="1680633" cy="757238"/>
          </a:xfrm>
          <a:prstGeom prst="rect">
            <a:avLst/>
          </a:prstGeom>
          <a:noFill/>
          <a:ln w="9525">
            <a:noFill/>
            <a:miter lim="800000"/>
            <a:headEnd/>
            <a:tailEnd/>
          </a:ln>
        </p:spPr>
      </p:pic>
      <p:pic>
        <p:nvPicPr>
          <p:cNvPr id="9" name="Picture 433" descr="http://pic.hust.edu.cn/pic/nav/1296.jpg">
            <a:hlinkClick r:id="rId5"/>
          </p:cNvPr>
          <p:cNvPicPr>
            <a:picLocks noChangeAspect="1" noChangeArrowheads="1"/>
          </p:cNvPicPr>
          <p:nvPr userDrawn="1"/>
        </p:nvPicPr>
        <p:blipFill>
          <a:blip r:embed="rId6"/>
          <a:srcRect/>
          <a:stretch>
            <a:fillRect/>
          </a:stretch>
        </p:blipFill>
        <p:spPr bwMode="auto">
          <a:xfrm>
            <a:off x="10511368" y="4598989"/>
            <a:ext cx="1680633" cy="758825"/>
          </a:xfrm>
          <a:prstGeom prst="rect">
            <a:avLst/>
          </a:prstGeom>
          <a:noFill/>
          <a:ln w="9525">
            <a:noFill/>
            <a:miter lim="800000"/>
            <a:headEnd/>
            <a:tailEnd/>
          </a:ln>
        </p:spPr>
      </p:pic>
      <p:pic>
        <p:nvPicPr>
          <p:cNvPr id="10" name="Picture 435" descr="http://pic.hust.edu.cn/pic/nav/1376.jpg">
            <a:hlinkClick r:id="rId7"/>
          </p:cNvPr>
          <p:cNvPicPr>
            <a:picLocks noChangeAspect="1" noChangeArrowheads="1"/>
          </p:cNvPicPr>
          <p:nvPr userDrawn="1"/>
        </p:nvPicPr>
        <p:blipFill>
          <a:blip r:embed="rId8"/>
          <a:srcRect/>
          <a:stretch>
            <a:fillRect/>
          </a:stretch>
        </p:blipFill>
        <p:spPr bwMode="auto">
          <a:xfrm>
            <a:off x="10511368" y="6100764"/>
            <a:ext cx="1680633" cy="757237"/>
          </a:xfrm>
          <a:prstGeom prst="rect">
            <a:avLst/>
          </a:prstGeom>
          <a:noFill/>
          <a:ln w="9525">
            <a:noFill/>
            <a:miter lim="800000"/>
            <a:headEnd/>
            <a:tailEnd/>
          </a:ln>
        </p:spPr>
      </p:pic>
      <p:pic>
        <p:nvPicPr>
          <p:cNvPr id="11" name="Picture 437" descr="http://pic.hust.edu.cn/pic/nav/1394.jpg">
            <a:hlinkClick r:id="rId9"/>
          </p:cNvPr>
          <p:cNvPicPr>
            <a:picLocks noChangeAspect="1" noChangeArrowheads="1"/>
          </p:cNvPicPr>
          <p:nvPr userDrawn="1"/>
        </p:nvPicPr>
        <p:blipFill>
          <a:blip r:embed="rId10"/>
          <a:srcRect/>
          <a:stretch>
            <a:fillRect/>
          </a:stretch>
        </p:blipFill>
        <p:spPr bwMode="auto">
          <a:xfrm>
            <a:off x="8858252" y="5386389"/>
            <a:ext cx="1680633" cy="757237"/>
          </a:xfrm>
          <a:prstGeom prst="rect">
            <a:avLst/>
          </a:prstGeom>
          <a:noFill/>
          <a:ln w="9525">
            <a:noFill/>
            <a:miter lim="800000"/>
            <a:headEnd/>
            <a:tailEnd/>
          </a:ln>
        </p:spPr>
      </p:pic>
      <p:pic>
        <p:nvPicPr>
          <p:cNvPr id="12" name="Picture 439" descr="http://pic.hust.edu.cn/pic/nav/1421.jpg">
            <a:hlinkClick r:id="rId11"/>
          </p:cNvPr>
          <p:cNvPicPr>
            <a:picLocks noChangeAspect="1" noChangeArrowheads="1"/>
          </p:cNvPicPr>
          <p:nvPr userDrawn="1"/>
        </p:nvPicPr>
        <p:blipFill>
          <a:blip r:embed="rId12"/>
          <a:srcRect/>
          <a:stretch>
            <a:fillRect/>
          </a:stretch>
        </p:blipFill>
        <p:spPr bwMode="auto">
          <a:xfrm>
            <a:off x="8858252" y="6127751"/>
            <a:ext cx="1680633" cy="758825"/>
          </a:xfrm>
          <a:prstGeom prst="rect">
            <a:avLst/>
          </a:prstGeom>
          <a:noFill/>
          <a:ln w="9525">
            <a:noFill/>
            <a:miter lim="800000"/>
            <a:headEnd/>
            <a:tailEnd/>
          </a:ln>
        </p:spPr>
      </p:pic>
      <p:pic>
        <p:nvPicPr>
          <p:cNvPr id="13" name="Picture 441" descr="http://pic.hust.edu.cn/pic/nav/1428.jpg">
            <a:hlinkClick r:id="rId13"/>
          </p:cNvPr>
          <p:cNvPicPr>
            <a:picLocks noChangeAspect="1" noChangeArrowheads="1"/>
          </p:cNvPicPr>
          <p:nvPr userDrawn="1"/>
        </p:nvPicPr>
        <p:blipFill>
          <a:blip r:embed="rId14"/>
          <a:srcRect/>
          <a:stretch>
            <a:fillRect/>
          </a:stretch>
        </p:blipFill>
        <p:spPr bwMode="auto">
          <a:xfrm>
            <a:off x="10511368" y="5357814"/>
            <a:ext cx="1680633" cy="757237"/>
          </a:xfrm>
          <a:prstGeom prst="rect">
            <a:avLst/>
          </a:prstGeom>
          <a:noFill/>
          <a:ln w="9525">
            <a:noFill/>
            <a:miter lim="800000"/>
            <a:headEnd/>
            <a:tailEnd/>
          </a:ln>
        </p:spPr>
      </p:pic>
      <p:graphicFrame>
        <p:nvGraphicFramePr>
          <p:cNvPr id="14" name="Object 442"/>
          <p:cNvGraphicFramePr>
            <a:graphicFrameLocks noChangeAspect="1"/>
          </p:cNvGraphicFramePr>
          <p:nvPr/>
        </p:nvGraphicFramePr>
        <p:xfrm>
          <a:off x="95251" y="34925"/>
          <a:ext cx="2063749" cy="1162050"/>
        </p:xfrm>
        <a:graphic>
          <a:graphicData uri="http://schemas.openxmlformats.org/presentationml/2006/ole">
            <mc:AlternateContent xmlns:mc="http://schemas.openxmlformats.org/markup-compatibility/2006">
              <mc:Choice xmlns:v="urn:schemas-microsoft-com:vml" Requires="v">
                <p:oleObj spid="_x0000_s2307" name="位图图像" r:id="rId15" imgW="2247900" imgH="1685925" progId="PBrush">
                  <p:embed/>
                </p:oleObj>
              </mc:Choice>
              <mc:Fallback>
                <p:oleObj name="位图图像" r:id="rId15" imgW="2247900" imgH="1685925" progId="PBrush">
                  <p:embed/>
                  <p:pic>
                    <p:nvPicPr>
                      <p:cNvPr id="0" name="Picture 25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5251" y="34925"/>
                        <a:ext cx="2063749"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4" name="Rectangle 2"/>
          <p:cNvSpPr>
            <a:spLocks noGrp="1" noChangeArrowheads="1"/>
          </p:cNvSpPr>
          <p:nvPr>
            <p:ph type="ctrTitle"/>
          </p:nvPr>
        </p:nvSpPr>
        <p:spPr bwMode="gray">
          <a:xfrm>
            <a:off x="857213" y="2285992"/>
            <a:ext cx="10668000" cy="533400"/>
          </a:xfrm>
        </p:spPr>
        <p:txBody>
          <a:bodyPr/>
          <a:lstStyle>
            <a:lvl1pPr algn="r">
              <a:defRPr sz="4800" b="1">
                <a:solidFill>
                  <a:schemeClr val="tx1"/>
                </a:solidFill>
              </a:defRPr>
            </a:lvl1pPr>
          </a:lstStyle>
          <a:p>
            <a:r>
              <a:rPr lang="zh-CN" altLang="en-US" dirty="0"/>
              <a:t>单击此处编辑母版标题样式</a:t>
            </a:r>
            <a:endParaRPr lang="en-US" altLang="zh-CN" dirty="0"/>
          </a:p>
        </p:txBody>
      </p:sp>
      <p:sp>
        <p:nvSpPr>
          <p:cNvPr id="15" name="Rectangle 5"/>
          <p:cNvSpPr>
            <a:spLocks noGrp="1" noChangeArrowheads="1"/>
          </p:cNvSpPr>
          <p:nvPr>
            <p:ph type="ftr" sz="quarter" idx="10"/>
          </p:nvPr>
        </p:nvSpPr>
        <p:spPr>
          <a:xfrm>
            <a:off x="2743201" y="6596064"/>
            <a:ext cx="1191684" cy="244475"/>
          </a:xfrm>
        </p:spPr>
        <p:txBody>
          <a:bodyPr/>
          <a:lstStyle>
            <a:lvl1pPr algn="ctr">
              <a:defRPr sz="1200">
                <a:solidFill>
                  <a:srgbClr val="000000"/>
                </a:solidFill>
              </a:defRPr>
            </a:lvl1pPr>
          </a:lstStyle>
          <a:p>
            <a:pPr>
              <a:defRPr/>
            </a:pPr>
            <a:r>
              <a:rPr lang="en-US" altLang="zh-CN"/>
              <a:t>1</a:t>
            </a:r>
            <a:endParaRPr lang="zh-CN" altLang="zh-CN"/>
          </a:p>
        </p:txBody>
      </p:sp>
      <p:sp>
        <p:nvSpPr>
          <p:cNvPr id="16" name="Rectangle 373"/>
          <p:cNvSpPr>
            <a:spLocks noGrp="1" noChangeArrowheads="1"/>
          </p:cNvSpPr>
          <p:nvPr>
            <p:ph type="sldNum" sz="quarter" idx="11"/>
          </p:nvPr>
        </p:nvSpPr>
        <p:spPr>
          <a:xfrm>
            <a:off x="4064000" y="6596064"/>
            <a:ext cx="1117600" cy="261937"/>
          </a:xfrm>
        </p:spPr>
        <p:txBody>
          <a:bodyPr/>
          <a:lstStyle>
            <a:lvl1pPr>
              <a:defRPr/>
            </a:lvl1pPr>
          </a:lstStyle>
          <a:p>
            <a:pPr>
              <a:defRPr/>
            </a:pPr>
            <a:fld id="{A6901B15-51C5-4543-8646-27AED7159C2B}" type="slidenum">
              <a:rPr lang="en-US" altLang="zh-CN"/>
            </a:fld>
            <a:endParaRPr lang="en-US" altLang="zh-CN"/>
          </a:p>
        </p:txBody>
      </p:sp>
      <p:sp>
        <p:nvSpPr>
          <p:cNvPr id="17" name="Rectangle 374"/>
          <p:cNvSpPr>
            <a:spLocks noGrp="1" noChangeArrowheads="1"/>
          </p:cNvSpPr>
          <p:nvPr>
            <p:ph type="dt" sz="half" idx="12"/>
          </p:nvPr>
        </p:nvSpPr>
        <p:spPr>
          <a:xfrm>
            <a:off x="0" y="6596064"/>
            <a:ext cx="2540000" cy="261937"/>
          </a:xfrm>
        </p:spPr>
        <p:txBody>
          <a:bodyPr/>
          <a:lstStyle>
            <a:lvl1pPr>
              <a:defRPr/>
            </a:lvl1pPr>
          </a:lstStyle>
          <a:p>
            <a:pPr>
              <a:defRPr/>
            </a:pPr>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TextBox 6"/>
          <p:cNvSpPr txBox="1"/>
          <p:nvPr userDrawn="1"/>
        </p:nvSpPr>
        <p:spPr>
          <a:xfrm>
            <a:off x="0" y="6457914"/>
            <a:ext cx="12192000" cy="400110"/>
          </a:xfrm>
          <a:prstGeom prst="rect">
            <a:avLst/>
          </a:prstGeom>
          <a:solidFill>
            <a:schemeClr val="tx2">
              <a:alpha val="32000"/>
            </a:schemeClr>
          </a:solidFill>
        </p:spPr>
        <p:txBody>
          <a:bodyPr wrap="square" rtlCol="0">
            <a:spAutoFit/>
          </a:bodyPr>
          <a:lstStyle/>
          <a:p>
            <a:r>
              <a:rPr lang="zh-CN" altLang="en-US" sz="2000" b="1" dirty="0">
                <a:solidFill>
                  <a:srgbClr val="7030A0"/>
                </a:solidFill>
              </a:rPr>
              <a:t>自动化学院</a:t>
            </a:r>
            <a:endParaRPr lang="zh-CN" altLang="en-US" sz="2000" b="1" dirty="0">
              <a:solidFill>
                <a:srgbClr val="7030A0"/>
              </a:solidFill>
            </a:endParaRPr>
          </a:p>
        </p:txBody>
      </p:sp>
      <p:sp>
        <p:nvSpPr>
          <p:cNvPr id="2" name="标题 1"/>
          <p:cNvSpPr>
            <a:spLocks noGrp="1"/>
          </p:cNvSpPr>
          <p:nvPr>
            <p:ph type="title"/>
          </p:nvPr>
        </p:nvSpPr>
        <p:spPr/>
        <p:txBody>
          <a:bodyPr/>
          <a:lstStyle>
            <a:lvl1pPr>
              <a:defRPr b="1">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r>
              <a:rPr lang="en-US" altLang="zh-CN"/>
              <a:t>1</a:t>
            </a:r>
            <a:endParaRPr lang="zh-CN" altLang="zh-CN"/>
          </a:p>
        </p:txBody>
      </p:sp>
      <p:sp>
        <p:nvSpPr>
          <p:cNvPr id="5" name="Rectangle 6"/>
          <p:cNvSpPr>
            <a:spLocks noGrp="1" noChangeArrowheads="1"/>
          </p:cNvSpPr>
          <p:nvPr>
            <p:ph type="sldNum" sz="quarter" idx="11"/>
          </p:nvPr>
        </p:nvSpPr>
        <p:spPr>
          <a:xfrm>
            <a:off x="11074400" y="6429396"/>
            <a:ext cx="1117600" cy="357166"/>
          </a:xfrm>
        </p:spPr>
        <p:txBody>
          <a:bodyPr/>
          <a:lstStyle>
            <a:lvl1pPr>
              <a:defRPr sz="2000" b="1">
                <a:solidFill>
                  <a:srgbClr val="7030A0"/>
                </a:solidFill>
                <a:latin typeface="Times New Roman" panose="02020603050405020304" pitchFamily="18" charset="0"/>
                <a:cs typeface="Times New Roman" panose="02020603050405020304" pitchFamily="18" charset="0"/>
              </a:defRPr>
            </a:lvl1pPr>
          </a:lstStyle>
          <a:p>
            <a:pPr>
              <a:defRPr/>
            </a:pPr>
            <a:fld id="{31E287EE-1289-4991-82CE-EFE584F53F4F}" type="slidenum">
              <a:rPr lang="en-US" altLang="zh-CN" smtClean="0"/>
            </a:fld>
            <a:endParaRPr lang="en-US" altLang="zh-CN" dirty="0"/>
          </a:p>
        </p:txBody>
      </p:sp>
      <p:sp>
        <p:nvSpPr>
          <p:cNvPr id="6" name="Rectangle 4"/>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r>
              <a:rPr lang="en-US" altLang="zh-CN"/>
              <a:t>1</a:t>
            </a:r>
            <a:endParaRPr lang="zh-CN" altLang="zh-CN"/>
          </a:p>
        </p:txBody>
      </p:sp>
      <p:sp>
        <p:nvSpPr>
          <p:cNvPr id="5" name="Rectangle 6"/>
          <p:cNvSpPr>
            <a:spLocks noGrp="1" noChangeArrowheads="1"/>
          </p:cNvSpPr>
          <p:nvPr>
            <p:ph type="sldNum" sz="quarter" idx="11"/>
          </p:nvPr>
        </p:nvSpPr>
        <p:spPr/>
        <p:txBody>
          <a:bodyPr/>
          <a:lstStyle>
            <a:lvl1pPr>
              <a:defRPr/>
            </a:lvl1pPr>
          </a:lstStyle>
          <a:p>
            <a:pPr>
              <a:defRPr/>
            </a:pPr>
            <a:fld id="{89531B8F-3516-42C3-83A0-0BE91B683E0A}" type="slidenum">
              <a:rPr lang="en-US" altLang="zh-CN"/>
            </a:fld>
            <a:endParaRPr lang="en-US" altLang="zh-CN"/>
          </a:p>
        </p:txBody>
      </p:sp>
      <p:sp>
        <p:nvSpPr>
          <p:cNvPr id="6" name="Rectangle 4"/>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064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468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1</a:t>
            </a:r>
            <a:endParaRPr lang="zh-CN" altLang="zh-CN"/>
          </a:p>
        </p:txBody>
      </p:sp>
      <p:sp>
        <p:nvSpPr>
          <p:cNvPr id="6" name="Rectangle 6"/>
          <p:cNvSpPr>
            <a:spLocks noGrp="1" noChangeArrowheads="1"/>
          </p:cNvSpPr>
          <p:nvPr>
            <p:ph type="sldNum" sz="quarter" idx="11"/>
          </p:nvPr>
        </p:nvSpPr>
        <p:spPr/>
        <p:txBody>
          <a:bodyPr/>
          <a:lstStyle>
            <a:lvl1pPr>
              <a:defRPr/>
            </a:lvl1pPr>
          </a:lstStyle>
          <a:p>
            <a:pPr>
              <a:defRPr/>
            </a:pPr>
            <a:fld id="{CA6EEC58-89F5-441E-A838-5B7BA2476FEC}" type="slidenum">
              <a:rPr lang="en-US" altLang="zh-CN"/>
            </a:fld>
            <a:endParaRPr lang="en-US" altLang="zh-CN"/>
          </a:p>
        </p:txBody>
      </p:sp>
      <p:sp>
        <p:nvSpPr>
          <p:cNvPr id="7" name="Rectangle 4"/>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5"/>
          <p:cNvSpPr>
            <a:spLocks noGrp="1" noChangeArrowheads="1"/>
          </p:cNvSpPr>
          <p:nvPr>
            <p:ph type="ftr" sz="quarter" idx="10"/>
          </p:nvPr>
        </p:nvSpPr>
        <p:spPr/>
        <p:txBody>
          <a:bodyPr/>
          <a:lstStyle>
            <a:lvl1pPr>
              <a:defRPr/>
            </a:lvl1pPr>
          </a:lstStyle>
          <a:p>
            <a:pPr>
              <a:defRPr/>
            </a:pPr>
            <a:r>
              <a:rPr lang="en-US" altLang="zh-CN"/>
              <a:t>1</a:t>
            </a:r>
            <a:endParaRPr lang="zh-CN" altLang="zh-CN"/>
          </a:p>
        </p:txBody>
      </p:sp>
      <p:sp>
        <p:nvSpPr>
          <p:cNvPr id="8" name="Rectangle 6"/>
          <p:cNvSpPr>
            <a:spLocks noGrp="1" noChangeArrowheads="1"/>
          </p:cNvSpPr>
          <p:nvPr>
            <p:ph type="sldNum" sz="quarter" idx="11"/>
          </p:nvPr>
        </p:nvSpPr>
        <p:spPr/>
        <p:txBody>
          <a:bodyPr/>
          <a:lstStyle>
            <a:lvl1pPr>
              <a:defRPr/>
            </a:lvl1pPr>
          </a:lstStyle>
          <a:p>
            <a:pPr>
              <a:defRPr/>
            </a:pPr>
            <a:fld id="{6AD9BBF3-2E5D-4C72-85D8-0F814F1E616B}" type="slidenum">
              <a:rPr lang="en-US" altLang="zh-CN"/>
            </a:fld>
            <a:endParaRPr lang="en-US" altLang="zh-CN"/>
          </a:p>
        </p:txBody>
      </p:sp>
      <p:sp>
        <p:nvSpPr>
          <p:cNvPr id="9" name="Rectangle 4"/>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r>
              <a:rPr lang="en-US" altLang="zh-CN"/>
              <a:t>1</a:t>
            </a:r>
            <a:endParaRPr lang="zh-CN" altLang="zh-CN"/>
          </a:p>
        </p:txBody>
      </p:sp>
      <p:sp>
        <p:nvSpPr>
          <p:cNvPr id="4" name="Rectangle 6"/>
          <p:cNvSpPr>
            <a:spLocks noGrp="1" noChangeArrowheads="1"/>
          </p:cNvSpPr>
          <p:nvPr>
            <p:ph type="sldNum" sz="quarter" idx="11"/>
          </p:nvPr>
        </p:nvSpPr>
        <p:spPr/>
        <p:txBody>
          <a:bodyPr/>
          <a:lstStyle>
            <a:lvl1pPr>
              <a:defRPr/>
            </a:lvl1pPr>
          </a:lstStyle>
          <a:p>
            <a:pPr>
              <a:defRPr/>
            </a:pPr>
            <a:fld id="{8916E4C9-78BD-4F77-9C38-0D0B943F93F0}" type="slidenum">
              <a:rPr lang="en-US" altLang="zh-CN"/>
            </a:fld>
            <a:endParaRPr lang="en-US" altLang="zh-CN"/>
          </a:p>
        </p:txBody>
      </p:sp>
      <p:sp>
        <p:nvSpPr>
          <p:cNvPr id="5" name="Rectangle 4"/>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1</a:t>
            </a:r>
            <a:endParaRPr lang="zh-CN" altLang="zh-CN"/>
          </a:p>
        </p:txBody>
      </p:sp>
      <p:sp>
        <p:nvSpPr>
          <p:cNvPr id="3" name="Rectangle 6"/>
          <p:cNvSpPr>
            <a:spLocks noGrp="1" noChangeArrowheads="1"/>
          </p:cNvSpPr>
          <p:nvPr>
            <p:ph type="sldNum" sz="quarter" idx="11"/>
          </p:nvPr>
        </p:nvSpPr>
        <p:spPr/>
        <p:txBody>
          <a:bodyPr/>
          <a:lstStyle>
            <a:lvl1pPr>
              <a:defRPr/>
            </a:lvl1pPr>
          </a:lstStyle>
          <a:p>
            <a:pPr>
              <a:defRPr/>
            </a:pPr>
            <a:fld id="{8EDB171D-A1F9-42E8-BD2B-16AA89E5910B}" type="slidenum">
              <a:rPr lang="en-US" altLang="zh-CN"/>
            </a:fld>
            <a:endParaRPr lang="en-US" altLang="zh-CN"/>
          </a:p>
        </p:txBody>
      </p:sp>
      <p:sp>
        <p:nvSpPr>
          <p:cNvPr id="4" name="Rectangle 4"/>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1</a:t>
            </a:r>
            <a:endParaRPr lang="zh-CN" altLang="zh-CN"/>
          </a:p>
        </p:txBody>
      </p:sp>
      <p:sp>
        <p:nvSpPr>
          <p:cNvPr id="6" name="Rectangle 6"/>
          <p:cNvSpPr>
            <a:spLocks noGrp="1" noChangeArrowheads="1"/>
          </p:cNvSpPr>
          <p:nvPr>
            <p:ph type="sldNum" sz="quarter" idx="11"/>
          </p:nvPr>
        </p:nvSpPr>
        <p:spPr/>
        <p:txBody>
          <a:bodyPr/>
          <a:lstStyle>
            <a:lvl1pPr>
              <a:defRPr/>
            </a:lvl1pPr>
          </a:lstStyle>
          <a:p>
            <a:pPr>
              <a:defRPr/>
            </a:pPr>
            <a:fld id="{C13011E7-3EAE-47CA-A409-CC810C5F1C95}" type="slidenum">
              <a:rPr lang="en-US" altLang="zh-CN"/>
            </a:fld>
            <a:endParaRPr lang="en-US" altLang="zh-CN"/>
          </a:p>
        </p:txBody>
      </p:sp>
      <p:sp>
        <p:nvSpPr>
          <p:cNvPr id="7" name="Rectangle 4"/>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1</a:t>
            </a:r>
            <a:endParaRPr lang="zh-CN" altLang="zh-CN"/>
          </a:p>
        </p:txBody>
      </p:sp>
      <p:sp>
        <p:nvSpPr>
          <p:cNvPr id="6" name="Rectangle 6"/>
          <p:cNvSpPr>
            <a:spLocks noGrp="1" noChangeArrowheads="1"/>
          </p:cNvSpPr>
          <p:nvPr>
            <p:ph type="sldNum" sz="quarter" idx="11"/>
          </p:nvPr>
        </p:nvSpPr>
        <p:spPr/>
        <p:txBody>
          <a:bodyPr/>
          <a:lstStyle>
            <a:lvl1pPr>
              <a:defRPr/>
            </a:lvl1pPr>
          </a:lstStyle>
          <a:p>
            <a:pPr>
              <a:defRPr/>
            </a:pPr>
            <a:fld id="{85E88B96-F116-4CAD-A388-A6B52ED373EE}" type="slidenum">
              <a:rPr lang="en-US" altLang="zh-CN"/>
            </a:fld>
            <a:endParaRPr lang="en-US" altLang="zh-CN"/>
          </a:p>
        </p:txBody>
      </p:sp>
      <p:sp>
        <p:nvSpPr>
          <p:cNvPr id="7" name="Rectangle 4"/>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r>
              <a:rPr lang="en-US" altLang="zh-CN"/>
              <a:t>1</a:t>
            </a:r>
            <a:endParaRPr lang="zh-CN" altLang="zh-CN"/>
          </a:p>
        </p:txBody>
      </p:sp>
      <p:sp>
        <p:nvSpPr>
          <p:cNvPr id="5" name="Rectangle 6"/>
          <p:cNvSpPr>
            <a:spLocks noGrp="1" noChangeArrowheads="1"/>
          </p:cNvSpPr>
          <p:nvPr>
            <p:ph type="sldNum" sz="quarter" idx="11"/>
          </p:nvPr>
        </p:nvSpPr>
        <p:spPr/>
        <p:txBody>
          <a:bodyPr/>
          <a:lstStyle>
            <a:lvl1pPr>
              <a:defRPr/>
            </a:lvl1pPr>
          </a:lstStyle>
          <a:p>
            <a:pPr>
              <a:defRPr/>
            </a:pPr>
            <a:fld id="{6B664153-0567-4266-A1CF-C85856699692}" type="slidenum">
              <a:rPr lang="en-US" altLang="zh-CN"/>
            </a:fld>
            <a:endParaRPr lang="en-US" altLang="zh-CN"/>
          </a:p>
        </p:txBody>
      </p:sp>
      <p:sp>
        <p:nvSpPr>
          <p:cNvPr id="6" name="Rectangle 4"/>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64600" y="152400"/>
            <a:ext cx="2819400" cy="6248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06400" y="152400"/>
            <a:ext cx="8255000" cy="62484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r>
              <a:rPr lang="en-US" altLang="zh-CN"/>
              <a:t>1</a:t>
            </a:r>
            <a:endParaRPr lang="zh-CN" altLang="zh-CN"/>
          </a:p>
        </p:txBody>
      </p:sp>
      <p:sp>
        <p:nvSpPr>
          <p:cNvPr id="5" name="Rectangle 6"/>
          <p:cNvSpPr>
            <a:spLocks noGrp="1" noChangeArrowheads="1"/>
          </p:cNvSpPr>
          <p:nvPr>
            <p:ph type="sldNum" sz="quarter" idx="11"/>
          </p:nvPr>
        </p:nvSpPr>
        <p:spPr/>
        <p:txBody>
          <a:bodyPr/>
          <a:lstStyle>
            <a:lvl1pPr>
              <a:defRPr/>
            </a:lvl1pPr>
          </a:lstStyle>
          <a:p>
            <a:pPr>
              <a:defRPr/>
            </a:pPr>
            <a:fld id="{6D014B58-9775-4ADF-8599-FCF19B567336}" type="slidenum">
              <a:rPr lang="en-US" altLang="zh-CN"/>
            </a:fld>
            <a:endParaRPr lang="en-US" altLang="zh-CN"/>
          </a:p>
        </p:txBody>
      </p:sp>
      <p:sp>
        <p:nvSpPr>
          <p:cNvPr id="6" name="Rectangle 4"/>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vmlDrawing" Target="../drawings/vmlDrawing2.vml"/><Relationship Id="rId14" Type="http://schemas.openxmlformats.org/officeDocument/2006/relationships/image" Target="../media/image8.png"/><Relationship Id="rId13" Type="http://schemas.openxmlformats.org/officeDocument/2006/relationships/oleObject" Target="../embeddings/oleObject2.bin"/><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50" name="Freeform 126"/>
          <p:cNvSpPr/>
          <p:nvPr/>
        </p:nvSpPr>
        <p:spPr bwMode="gray">
          <a:xfrm>
            <a:off x="-16933" y="342900"/>
            <a:ext cx="8043333" cy="679450"/>
          </a:xfrm>
          <a:custGeom>
            <a:avLst/>
            <a:gdLst/>
            <a:ahLst/>
            <a:cxnLst>
              <a:cxn ang="0">
                <a:pos x="0" y="0"/>
              </a:cxn>
              <a:cxn ang="0">
                <a:pos x="3800" y="0"/>
              </a:cxn>
              <a:cxn ang="0">
                <a:pos x="3456" y="428"/>
              </a:cxn>
            </a:cxnLst>
            <a:rect l="0" t="0" r="r" b="b"/>
            <a:pathLst>
              <a:path w="3800" h="428">
                <a:moveTo>
                  <a:pt x="0" y="0"/>
                </a:moveTo>
                <a:lnTo>
                  <a:pt x="3800" y="0"/>
                </a:lnTo>
                <a:lnTo>
                  <a:pt x="3456" y="428"/>
                </a:lnTo>
              </a:path>
            </a:pathLst>
          </a:custGeom>
          <a:noFill/>
          <a:ln w="9525">
            <a:noFill/>
            <a:round/>
          </a:ln>
          <a:effectLst/>
        </p:spPr>
        <p:txBody>
          <a:bodyPr wrap="none" anchor="ctr"/>
          <a:lstStyle/>
          <a:p>
            <a:pPr>
              <a:defRPr/>
            </a:pPr>
            <a:endParaRPr lang="zh-CN" altLang="en-US">
              <a:ea typeface="宋体" panose="02010600030101010101" pitchFamily="2" charset="-122"/>
            </a:endParaRPr>
          </a:p>
        </p:txBody>
      </p:sp>
      <p:sp>
        <p:nvSpPr>
          <p:cNvPr id="1029" name="Rectangle 5"/>
          <p:cNvSpPr>
            <a:spLocks noGrp="1" noChangeArrowheads="1"/>
          </p:cNvSpPr>
          <p:nvPr>
            <p:ph type="ftr" sz="quarter" idx="3"/>
          </p:nvPr>
        </p:nvSpPr>
        <p:spPr bwMode="gray">
          <a:xfrm>
            <a:off x="7620000" y="6483351"/>
            <a:ext cx="2844800" cy="244475"/>
          </a:xfrm>
          <a:prstGeom prst="rect">
            <a:avLst/>
          </a:prstGeom>
          <a:noFill/>
          <a:ln w="9525">
            <a:noFill/>
            <a:miter lim="800000"/>
          </a:ln>
          <a:effectLst/>
        </p:spPr>
        <p:txBody>
          <a:bodyPr vert="horz" wrap="square" lIns="91440" tIns="45720" rIns="91440" bIns="45720" numCol="1" anchor="t" anchorCtr="0" compatLnSpc="1"/>
          <a:lstStyle>
            <a:lvl1pPr algn="r">
              <a:defRPr sz="1000" b="1">
                <a:latin typeface="Arial" panose="020B0604020202020204" pitchFamily="34" charset="0"/>
                <a:ea typeface="宋体" panose="02010600030101010101" pitchFamily="2" charset="-122"/>
              </a:defRPr>
            </a:lvl1pPr>
          </a:lstStyle>
          <a:p>
            <a:pPr>
              <a:defRPr/>
            </a:pPr>
            <a:r>
              <a:rPr lang="en-US" altLang="zh-CN"/>
              <a:t>1</a:t>
            </a:r>
            <a:endParaRPr lang="zh-CN" altLang="zh-CN"/>
          </a:p>
        </p:txBody>
      </p:sp>
      <p:sp>
        <p:nvSpPr>
          <p:cNvPr id="1030" name="Rectangle 6"/>
          <p:cNvSpPr>
            <a:spLocks noGrp="1" noChangeArrowheads="1"/>
          </p:cNvSpPr>
          <p:nvPr>
            <p:ph type="sldNum" sz="quarter" idx="4"/>
          </p:nvPr>
        </p:nvSpPr>
        <p:spPr bwMode="gray">
          <a:xfrm>
            <a:off x="10566400" y="6477000"/>
            <a:ext cx="1117600" cy="261938"/>
          </a:xfrm>
          <a:prstGeom prst="rect">
            <a:avLst/>
          </a:prstGeom>
          <a:noFill/>
          <a:ln w="9525">
            <a:noFill/>
            <a:miter lim="800000"/>
          </a:ln>
          <a:effectLst/>
        </p:spPr>
        <p:txBody>
          <a:bodyPr vert="horz" wrap="square" lIns="91440" tIns="45720" rIns="91440" bIns="45720" numCol="1" anchor="t" anchorCtr="0" compatLnSpc="1"/>
          <a:lstStyle>
            <a:lvl1pPr algn="ctr">
              <a:defRPr sz="1000">
                <a:latin typeface="Arial" panose="020B0604020202020204" pitchFamily="34" charset="0"/>
                <a:ea typeface="宋体" panose="02010600030101010101" pitchFamily="2" charset="-122"/>
              </a:defRPr>
            </a:lvl1pPr>
          </a:lstStyle>
          <a:p>
            <a:pPr>
              <a:defRPr/>
            </a:pPr>
            <a:fld id="{063D80F8-DC27-48CA-A22D-C490E6572308}" type="slidenum">
              <a:rPr lang="en-US" altLang="zh-CN"/>
            </a:fld>
            <a:endParaRPr lang="en-US" altLang="zh-CN"/>
          </a:p>
        </p:txBody>
      </p:sp>
      <p:sp>
        <p:nvSpPr>
          <p:cNvPr id="1028" name="Rectangle 4"/>
          <p:cNvSpPr>
            <a:spLocks noGrp="1" noChangeArrowheads="1"/>
          </p:cNvSpPr>
          <p:nvPr>
            <p:ph type="dt" sz="half" idx="2"/>
          </p:nvPr>
        </p:nvSpPr>
        <p:spPr bwMode="gray">
          <a:xfrm>
            <a:off x="4978400" y="6477000"/>
            <a:ext cx="2540000" cy="261938"/>
          </a:xfrm>
          <a:prstGeom prst="rect">
            <a:avLst/>
          </a:prstGeom>
          <a:noFill/>
          <a:ln w="9525">
            <a:noFill/>
            <a:miter lim="800000"/>
          </a:ln>
          <a:effectLst/>
        </p:spPr>
        <p:txBody>
          <a:bodyPr vert="horz" wrap="square" lIns="91440" tIns="45720" rIns="91440" bIns="45720" numCol="1" anchor="t" anchorCtr="0" compatLnSpc="1"/>
          <a:lstStyle>
            <a:lvl1pPr>
              <a:defRPr sz="1000">
                <a:latin typeface="Arial" panose="020B0604020202020204" pitchFamily="34" charset="0"/>
                <a:ea typeface="宋体" panose="02010600030101010101" pitchFamily="2" charset="-122"/>
              </a:defRPr>
            </a:lvl1pPr>
          </a:lstStyle>
          <a:p>
            <a:pPr>
              <a:defRPr/>
            </a:pPr>
            <a:endParaRPr lang="en-US" altLang="zh-CN"/>
          </a:p>
        </p:txBody>
      </p:sp>
      <p:sp>
        <p:nvSpPr>
          <p:cNvPr id="1032" name="Rectangle 3"/>
          <p:cNvSpPr>
            <a:spLocks noGrp="1" noChangeArrowheads="1"/>
          </p:cNvSpPr>
          <p:nvPr>
            <p:ph type="body" idx="1"/>
          </p:nvPr>
        </p:nvSpPr>
        <p:spPr bwMode="gray">
          <a:xfrm>
            <a:off x="406400" y="1066800"/>
            <a:ext cx="11277600" cy="533400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grpSp>
        <p:nvGrpSpPr>
          <p:cNvPr id="1033" name="Group 191"/>
          <p:cNvGrpSpPr/>
          <p:nvPr/>
        </p:nvGrpSpPr>
        <p:grpSpPr bwMode="auto">
          <a:xfrm>
            <a:off x="406400" y="800101"/>
            <a:ext cx="11169651" cy="131763"/>
            <a:chOff x="192" y="498"/>
            <a:chExt cx="5376" cy="78"/>
          </a:xfrm>
        </p:grpSpPr>
        <p:grpSp>
          <p:nvGrpSpPr>
            <p:cNvPr id="1035" name="Group 192"/>
            <p:cNvGrpSpPr/>
            <p:nvPr userDrawn="1"/>
          </p:nvGrpSpPr>
          <p:grpSpPr bwMode="auto">
            <a:xfrm>
              <a:off x="192" y="498"/>
              <a:ext cx="5376" cy="78"/>
              <a:chOff x="192" y="498"/>
              <a:chExt cx="5376" cy="78"/>
            </a:xfrm>
          </p:grpSpPr>
          <p:sp>
            <p:nvSpPr>
              <p:cNvPr id="1217" name="Rectangle 193"/>
              <p:cNvSpPr>
                <a:spLocks noChangeArrowheads="1"/>
              </p:cNvSpPr>
              <p:nvPr userDrawn="1"/>
            </p:nvSpPr>
            <p:spPr bwMode="gray">
              <a:xfrm>
                <a:off x="192" y="498"/>
                <a:ext cx="1488" cy="78"/>
              </a:xfrm>
              <a:prstGeom prst="rect">
                <a:avLst/>
              </a:prstGeom>
              <a:solidFill>
                <a:schemeClr val="tx2"/>
              </a:solidFill>
              <a:ln w="9525">
                <a:noFill/>
                <a:miter lim="800000"/>
              </a:ln>
              <a:effectLst/>
            </p:spPr>
            <p:txBody>
              <a:bodyPr wrap="none" anchor="ctr"/>
              <a:lstStyle/>
              <a:p>
                <a:pPr>
                  <a:defRPr/>
                </a:pPr>
                <a:endParaRPr lang="zh-CN" altLang="en-US">
                  <a:ea typeface="宋体" panose="02010600030101010101" pitchFamily="2" charset="-122"/>
                </a:endParaRPr>
              </a:p>
            </p:txBody>
          </p:sp>
          <p:sp>
            <p:nvSpPr>
              <p:cNvPr id="1218" name="Line 194"/>
              <p:cNvSpPr>
                <a:spLocks noChangeShapeType="1"/>
              </p:cNvSpPr>
              <p:nvPr userDrawn="1"/>
            </p:nvSpPr>
            <p:spPr bwMode="gray">
              <a:xfrm>
                <a:off x="192" y="576"/>
                <a:ext cx="5376" cy="0"/>
              </a:xfrm>
              <a:prstGeom prst="line">
                <a:avLst/>
              </a:prstGeom>
              <a:noFill/>
              <a:ln w="19050">
                <a:solidFill>
                  <a:schemeClr val="tx2"/>
                </a:solidFill>
                <a:round/>
              </a:ln>
              <a:effectLst/>
            </p:spPr>
            <p:txBody>
              <a:bodyPr/>
              <a:lstStyle/>
              <a:p>
                <a:pPr>
                  <a:defRPr/>
                </a:pPr>
                <a:endParaRPr lang="zh-CN" altLang="en-US"/>
              </a:p>
            </p:txBody>
          </p:sp>
        </p:grpSp>
        <p:pic>
          <p:nvPicPr>
            <p:cNvPr id="1036" name="Picture 195" descr="Untitled-4 copy"/>
            <p:cNvPicPr>
              <a:picLocks noChangeAspect="1" noChangeArrowheads="1"/>
            </p:cNvPicPr>
            <p:nvPr userDrawn="1"/>
          </p:nvPicPr>
          <p:blipFill>
            <a:blip r:embed="rId12"/>
            <a:srcRect/>
            <a:stretch>
              <a:fillRect/>
            </a:stretch>
          </p:blipFill>
          <p:spPr bwMode="gray">
            <a:xfrm>
              <a:off x="300" y="504"/>
              <a:ext cx="72" cy="72"/>
            </a:xfrm>
            <a:prstGeom prst="rect">
              <a:avLst/>
            </a:prstGeom>
            <a:noFill/>
            <a:ln w="9525">
              <a:noFill/>
              <a:miter lim="800000"/>
              <a:headEnd/>
              <a:tailEnd/>
            </a:ln>
          </p:spPr>
        </p:pic>
      </p:grpSp>
      <p:sp>
        <p:nvSpPr>
          <p:cNvPr id="1034" name="Rectangle 2"/>
          <p:cNvSpPr>
            <a:spLocks noGrp="1" noChangeArrowheads="1"/>
          </p:cNvSpPr>
          <p:nvPr>
            <p:ph type="title"/>
          </p:nvPr>
        </p:nvSpPr>
        <p:spPr bwMode="black">
          <a:xfrm>
            <a:off x="406400" y="152401"/>
            <a:ext cx="8229600" cy="563563"/>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endParaRPr lang="en-US" altLang="zh-CN"/>
          </a:p>
        </p:txBody>
      </p:sp>
      <p:graphicFrame>
        <p:nvGraphicFramePr>
          <p:cNvPr id="1026" name="Object 267"/>
          <p:cNvGraphicFramePr>
            <a:graphicFrameLocks noChangeAspect="1"/>
          </p:cNvGraphicFramePr>
          <p:nvPr/>
        </p:nvGraphicFramePr>
        <p:xfrm>
          <a:off x="10621433" y="42864"/>
          <a:ext cx="1524000" cy="858837"/>
        </p:xfrm>
        <a:graphic>
          <a:graphicData uri="http://schemas.openxmlformats.org/presentationml/2006/ole">
            <mc:AlternateContent xmlns:mc="http://schemas.openxmlformats.org/markup-compatibility/2006">
              <mc:Choice xmlns:v="urn:schemas-microsoft-com:vml" Requires="v">
                <p:oleObj spid="_x0000_s1283" name="位图图像" r:id="rId13" imgW="2247900" imgH="1685925" progId="PBrush">
                  <p:embed/>
                </p:oleObj>
              </mc:Choice>
              <mc:Fallback>
                <p:oleObj name="位图图像" r:id="rId13" imgW="2247900" imgH="1685925" progId="PBrush">
                  <p:embed/>
                  <p:pic>
                    <p:nvPicPr>
                      <p:cNvPr id="0" name="Picture 25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621433" y="42864"/>
                        <a:ext cx="1524000" cy="858837"/>
                      </a:xfrm>
                      <a:prstGeom prst="rect">
                        <a:avLst/>
                      </a:prstGeom>
                      <a:noFill/>
                      <a:ln>
                        <a:noFill/>
                      </a:ln>
                      <a:effectLst/>
                      <a:extLst>
                        <a:ext uri="{909E8E84-426E-40DD-AFC4-6F175D3DCCD1}">
                          <a14:hiddenFill xmlns:a14="http://schemas.microsoft.com/office/drawing/2010/main">
                            <a:solidFill>
                              <a:srgbClr val="9FD56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DED9CC"/>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image" Target="../media/image13.wmf"/><Relationship Id="rId8" Type="http://schemas.openxmlformats.org/officeDocument/2006/relationships/oleObject" Target="../embeddings/oleObject6.bin"/><Relationship Id="rId7" Type="http://schemas.openxmlformats.org/officeDocument/2006/relationships/image" Target="../media/image12.wmf"/><Relationship Id="rId6" Type="http://schemas.openxmlformats.org/officeDocument/2006/relationships/oleObject" Target="../embeddings/oleObject5.bin"/><Relationship Id="rId5" Type="http://schemas.openxmlformats.org/officeDocument/2006/relationships/image" Target="../media/image11.wmf"/><Relationship Id="rId4" Type="http://schemas.openxmlformats.org/officeDocument/2006/relationships/oleObject" Target="../embeddings/oleObject4.bin"/><Relationship Id="rId3" Type="http://schemas.openxmlformats.org/officeDocument/2006/relationships/image" Target="../media/image10.wmf"/><Relationship Id="rId2" Type="http://schemas.openxmlformats.org/officeDocument/2006/relationships/oleObject" Target="../embeddings/oleObject3.bin"/><Relationship Id="rId19" Type="http://schemas.openxmlformats.org/officeDocument/2006/relationships/vmlDrawing" Target="../drawings/vmlDrawing3.vml"/><Relationship Id="rId18" Type="http://schemas.openxmlformats.org/officeDocument/2006/relationships/slideLayout" Target="../slideLayouts/slideLayout2.xml"/><Relationship Id="rId17" Type="http://schemas.openxmlformats.org/officeDocument/2006/relationships/image" Target="../media/image16.wmf"/><Relationship Id="rId16" Type="http://schemas.openxmlformats.org/officeDocument/2006/relationships/oleObject" Target="../embeddings/oleObject11.bin"/><Relationship Id="rId15" Type="http://schemas.openxmlformats.org/officeDocument/2006/relationships/image" Target="../media/image15.wmf"/><Relationship Id="rId14" Type="http://schemas.openxmlformats.org/officeDocument/2006/relationships/oleObject" Target="../embeddings/oleObject10.bin"/><Relationship Id="rId13" Type="http://schemas.openxmlformats.org/officeDocument/2006/relationships/image" Target="../media/image14.wmf"/><Relationship Id="rId12" Type="http://schemas.openxmlformats.org/officeDocument/2006/relationships/oleObject" Target="../embeddings/oleObject9.bin"/><Relationship Id="rId11" Type="http://schemas.openxmlformats.org/officeDocument/2006/relationships/oleObject" Target="../embeddings/oleObject8.bin"/><Relationship Id="rId10" Type="http://schemas.openxmlformats.org/officeDocument/2006/relationships/oleObject" Target="../embeddings/oleObject7.bin"/><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2.xml"/><Relationship Id="rId5" Type="http://schemas.openxmlformats.org/officeDocument/2006/relationships/image" Target="../media/image18.wmf"/><Relationship Id="rId4" Type="http://schemas.openxmlformats.org/officeDocument/2006/relationships/oleObject" Target="../embeddings/oleObject13.bin"/><Relationship Id="rId3" Type="http://schemas.openxmlformats.org/officeDocument/2006/relationships/image" Target="../media/image17.wmf"/><Relationship Id="rId2" Type="http://schemas.openxmlformats.org/officeDocument/2006/relationships/oleObject" Target="../embeddings/oleObject12.bin"/><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9" Type="http://schemas.openxmlformats.org/officeDocument/2006/relationships/image" Target="../media/image22.wmf"/><Relationship Id="rId8" Type="http://schemas.openxmlformats.org/officeDocument/2006/relationships/oleObject" Target="../embeddings/oleObject17.bin"/><Relationship Id="rId7" Type="http://schemas.openxmlformats.org/officeDocument/2006/relationships/image" Target="../media/image21.wmf"/><Relationship Id="rId6" Type="http://schemas.openxmlformats.org/officeDocument/2006/relationships/oleObject" Target="../embeddings/oleObject16.bin"/><Relationship Id="rId5" Type="http://schemas.openxmlformats.org/officeDocument/2006/relationships/image" Target="../media/image20.wmf"/><Relationship Id="rId4" Type="http://schemas.openxmlformats.org/officeDocument/2006/relationships/oleObject" Target="../embeddings/oleObject15.bin"/><Relationship Id="rId3" Type="http://schemas.openxmlformats.org/officeDocument/2006/relationships/image" Target="../media/image19.wmf"/><Relationship Id="rId27" Type="http://schemas.openxmlformats.org/officeDocument/2006/relationships/vmlDrawing" Target="../drawings/vmlDrawing5.vml"/><Relationship Id="rId26" Type="http://schemas.openxmlformats.org/officeDocument/2006/relationships/slideLayout" Target="../slideLayouts/slideLayout2.xml"/><Relationship Id="rId25" Type="http://schemas.openxmlformats.org/officeDocument/2006/relationships/oleObject" Target="../embeddings/oleObject27.bin"/><Relationship Id="rId24" Type="http://schemas.openxmlformats.org/officeDocument/2006/relationships/oleObject" Target="../embeddings/oleObject26.bin"/><Relationship Id="rId23" Type="http://schemas.openxmlformats.org/officeDocument/2006/relationships/image" Target="../media/image28.wmf"/><Relationship Id="rId22" Type="http://schemas.openxmlformats.org/officeDocument/2006/relationships/oleObject" Target="../embeddings/oleObject25.bin"/><Relationship Id="rId21" Type="http://schemas.openxmlformats.org/officeDocument/2006/relationships/image" Target="../media/image27.wmf"/><Relationship Id="rId20" Type="http://schemas.openxmlformats.org/officeDocument/2006/relationships/oleObject" Target="../embeddings/oleObject24.bin"/><Relationship Id="rId2" Type="http://schemas.openxmlformats.org/officeDocument/2006/relationships/oleObject" Target="../embeddings/oleObject14.bin"/><Relationship Id="rId19" Type="http://schemas.openxmlformats.org/officeDocument/2006/relationships/oleObject" Target="../embeddings/oleObject23.bin"/><Relationship Id="rId18" Type="http://schemas.openxmlformats.org/officeDocument/2006/relationships/image" Target="../media/image26.wmf"/><Relationship Id="rId17" Type="http://schemas.openxmlformats.org/officeDocument/2006/relationships/oleObject" Target="../embeddings/oleObject22.bin"/><Relationship Id="rId16" Type="http://schemas.openxmlformats.org/officeDocument/2006/relationships/image" Target="../media/image25.wmf"/><Relationship Id="rId15" Type="http://schemas.openxmlformats.org/officeDocument/2006/relationships/oleObject" Target="../embeddings/oleObject21.bin"/><Relationship Id="rId14" Type="http://schemas.openxmlformats.org/officeDocument/2006/relationships/oleObject" Target="../embeddings/oleObject20.bin"/><Relationship Id="rId13" Type="http://schemas.openxmlformats.org/officeDocument/2006/relationships/image" Target="../media/image24.wmf"/><Relationship Id="rId12" Type="http://schemas.openxmlformats.org/officeDocument/2006/relationships/oleObject" Target="../embeddings/oleObject19.bin"/><Relationship Id="rId11" Type="http://schemas.openxmlformats.org/officeDocument/2006/relationships/image" Target="../media/image23.wmf"/><Relationship Id="rId10" Type="http://schemas.openxmlformats.org/officeDocument/2006/relationships/oleObject" Target="../embeddings/oleObject18.bin"/><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9" Type="http://schemas.openxmlformats.org/officeDocument/2006/relationships/image" Target="../media/image32.wmf"/><Relationship Id="rId8" Type="http://schemas.openxmlformats.org/officeDocument/2006/relationships/oleObject" Target="../embeddings/oleObject31.bin"/><Relationship Id="rId7" Type="http://schemas.openxmlformats.org/officeDocument/2006/relationships/image" Target="../media/image31.wmf"/><Relationship Id="rId6" Type="http://schemas.openxmlformats.org/officeDocument/2006/relationships/oleObject" Target="../embeddings/oleObject30.bin"/><Relationship Id="rId5" Type="http://schemas.openxmlformats.org/officeDocument/2006/relationships/image" Target="../media/image30.wmf"/><Relationship Id="rId4" Type="http://schemas.openxmlformats.org/officeDocument/2006/relationships/oleObject" Target="../embeddings/oleObject29.bin"/><Relationship Id="rId3" Type="http://schemas.openxmlformats.org/officeDocument/2006/relationships/image" Target="../media/image29.wmf"/><Relationship Id="rId21" Type="http://schemas.openxmlformats.org/officeDocument/2006/relationships/vmlDrawing" Target="../drawings/vmlDrawing6.vml"/><Relationship Id="rId20" Type="http://schemas.openxmlformats.org/officeDocument/2006/relationships/slideLayout" Target="../slideLayouts/slideLayout2.xml"/><Relationship Id="rId2" Type="http://schemas.openxmlformats.org/officeDocument/2006/relationships/oleObject" Target="../embeddings/oleObject28.bin"/><Relationship Id="rId19" Type="http://schemas.openxmlformats.org/officeDocument/2006/relationships/image" Target="../media/image37.wmf"/><Relationship Id="rId18" Type="http://schemas.openxmlformats.org/officeDocument/2006/relationships/oleObject" Target="../embeddings/oleObject36.bin"/><Relationship Id="rId17" Type="http://schemas.openxmlformats.org/officeDocument/2006/relationships/image" Target="../media/image36.wmf"/><Relationship Id="rId16" Type="http://schemas.openxmlformats.org/officeDocument/2006/relationships/oleObject" Target="../embeddings/oleObject35.bin"/><Relationship Id="rId15" Type="http://schemas.openxmlformats.org/officeDocument/2006/relationships/image" Target="../media/image35.wmf"/><Relationship Id="rId14" Type="http://schemas.openxmlformats.org/officeDocument/2006/relationships/oleObject" Target="../embeddings/oleObject34.bin"/><Relationship Id="rId13" Type="http://schemas.openxmlformats.org/officeDocument/2006/relationships/image" Target="../media/image34.wmf"/><Relationship Id="rId12" Type="http://schemas.openxmlformats.org/officeDocument/2006/relationships/oleObject" Target="../embeddings/oleObject33.bin"/><Relationship Id="rId11" Type="http://schemas.openxmlformats.org/officeDocument/2006/relationships/image" Target="../media/image33.wmf"/><Relationship Id="rId10" Type="http://schemas.openxmlformats.org/officeDocument/2006/relationships/oleObject" Target="../embeddings/oleObject32.bin"/><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9" Type="http://schemas.openxmlformats.org/officeDocument/2006/relationships/image" Target="../media/image33.wmf"/><Relationship Id="rId8" Type="http://schemas.openxmlformats.org/officeDocument/2006/relationships/oleObject" Target="../embeddings/oleObject40.bin"/><Relationship Id="rId7" Type="http://schemas.openxmlformats.org/officeDocument/2006/relationships/image" Target="../media/image32.wmf"/><Relationship Id="rId6" Type="http://schemas.openxmlformats.org/officeDocument/2006/relationships/oleObject" Target="../embeddings/oleObject39.bin"/><Relationship Id="rId5" Type="http://schemas.openxmlformats.org/officeDocument/2006/relationships/image" Target="../media/image31.wmf"/><Relationship Id="rId4" Type="http://schemas.openxmlformats.org/officeDocument/2006/relationships/oleObject" Target="../embeddings/oleObject38.bin"/><Relationship Id="rId3" Type="http://schemas.openxmlformats.org/officeDocument/2006/relationships/image" Target="../media/image30.wmf"/><Relationship Id="rId27" Type="http://schemas.openxmlformats.org/officeDocument/2006/relationships/vmlDrawing" Target="../drawings/vmlDrawing7.vml"/><Relationship Id="rId26" Type="http://schemas.openxmlformats.org/officeDocument/2006/relationships/slideLayout" Target="../slideLayouts/slideLayout2.xml"/><Relationship Id="rId25" Type="http://schemas.openxmlformats.org/officeDocument/2006/relationships/image" Target="../media/image42.wmf"/><Relationship Id="rId24" Type="http://schemas.openxmlformats.org/officeDocument/2006/relationships/oleObject" Target="../embeddings/oleObject48.bin"/><Relationship Id="rId23" Type="http://schemas.openxmlformats.org/officeDocument/2006/relationships/image" Target="../media/image41.wmf"/><Relationship Id="rId22" Type="http://schemas.openxmlformats.org/officeDocument/2006/relationships/oleObject" Target="../embeddings/oleObject47.bin"/><Relationship Id="rId21" Type="http://schemas.openxmlformats.org/officeDocument/2006/relationships/image" Target="../media/image40.wmf"/><Relationship Id="rId20" Type="http://schemas.openxmlformats.org/officeDocument/2006/relationships/oleObject" Target="../embeddings/oleObject46.bin"/><Relationship Id="rId2" Type="http://schemas.openxmlformats.org/officeDocument/2006/relationships/oleObject" Target="../embeddings/oleObject37.bin"/><Relationship Id="rId19" Type="http://schemas.openxmlformats.org/officeDocument/2006/relationships/image" Target="../media/image39.wmf"/><Relationship Id="rId18" Type="http://schemas.openxmlformats.org/officeDocument/2006/relationships/oleObject" Target="../embeddings/oleObject45.bin"/><Relationship Id="rId17" Type="http://schemas.openxmlformats.org/officeDocument/2006/relationships/image" Target="../media/image38.wmf"/><Relationship Id="rId16" Type="http://schemas.openxmlformats.org/officeDocument/2006/relationships/oleObject" Target="../embeddings/oleObject44.bin"/><Relationship Id="rId15" Type="http://schemas.openxmlformats.org/officeDocument/2006/relationships/image" Target="../media/image36.wmf"/><Relationship Id="rId14" Type="http://schemas.openxmlformats.org/officeDocument/2006/relationships/oleObject" Target="../embeddings/oleObject43.bin"/><Relationship Id="rId13" Type="http://schemas.openxmlformats.org/officeDocument/2006/relationships/image" Target="../media/image35.wmf"/><Relationship Id="rId12" Type="http://schemas.openxmlformats.org/officeDocument/2006/relationships/oleObject" Target="../embeddings/oleObject42.bin"/><Relationship Id="rId11" Type="http://schemas.openxmlformats.org/officeDocument/2006/relationships/image" Target="../media/image34.wmf"/><Relationship Id="rId10" Type="http://schemas.openxmlformats.org/officeDocument/2006/relationships/oleObject" Target="../embeddings/oleObject41.bin"/><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52.bin"/><Relationship Id="rId8" Type="http://schemas.openxmlformats.org/officeDocument/2006/relationships/image" Target="../media/image46.wmf"/><Relationship Id="rId7" Type="http://schemas.openxmlformats.org/officeDocument/2006/relationships/oleObject" Target="../embeddings/oleObject51.bin"/><Relationship Id="rId6" Type="http://schemas.openxmlformats.org/officeDocument/2006/relationships/image" Target="../media/image45.wmf"/><Relationship Id="rId5" Type="http://schemas.openxmlformats.org/officeDocument/2006/relationships/oleObject" Target="../embeddings/oleObject50.bin"/><Relationship Id="rId4" Type="http://schemas.openxmlformats.org/officeDocument/2006/relationships/image" Target="../media/image44.wmf"/><Relationship Id="rId3" Type="http://schemas.openxmlformats.org/officeDocument/2006/relationships/oleObject" Target="../embeddings/oleObject49.bin"/><Relationship Id="rId2" Type="http://schemas.openxmlformats.org/officeDocument/2006/relationships/image" Target="../media/image43.png"/><Relationship Id="rId13" Type="http://schemas.openxmlformats.org/officeDocument/2006/relationships/vmlDrawing" Target="../drawings/vmlDrawing8.vml"/><Relationship Id="rId12" Type="http://schemas.openxmlformats.org/officeDocument/2006/relationships/slideLayout" Target="../slideLayouts/slideLayout2.xml"/><Relationship Id="rId11" Type="http://schemas.openxmlformats.org/officeDocument/2006/relationships/oleObject" Target="../embeddings/oleObject53.bin"/><Relationship Id="rId10" Type="http://schemas.openxmlformats.org/officeDocument/2006/relationships/image" Target="../media/image47.wmf"/><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vmlDrawing" Target="../drawings/vmlDrawing9.vml"/><Relationship Id="rId6" Type="http://schemas.openxmlformats.org/officeDocument/2006/relationships/slideLayout" Target="../slideLayouts/slideLayout2.xml"/><Relationship Id="rId5" Type="http://schemas.openxmlformats.org/officeDocument/2006/relationships/image" Target="../media/image30.wmf"/><Relationship Id="rId4" Type="http://schemas.openxmlformats.org/officeDocument/2006/relationships/oleObject" Target="../embeddings/oleObject55.bin"/><Relationship Id="rId3" Type="http://schemas.openxmlformats.org/officeDocument/2006/relationships/image" Target="../media/image48.wmf"/><Relationship Id="rId2" Type="http://schemas.openxmlformats.org/officeDocument/2006/relationships/oleObject" Target="../embeddings/oleObject54.bin"/><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9" Type="http://schemas.openxmlformats.org/officeDocument/2006/relationships/image" Target="../media/image52.wmf"/><Relationship Id="rId8" Type="http://schemas.openxmlformats.org/officeDocument/2006/relationships/oleObject" Target="../embeddings/oleObject59.bin"/><Relationship Id="rId7" Type="http://schemas.openxmlformats.org/officeDocument/2006/relationships/image" Target="../media/image51.wmf"/><Relationship Id="rId6" Type="http://schemas.openxmlformats.org/officeDocument/2006/relationships/oleObject" Target="../embeddings/oleObject58.bin"/><Relationship Id="rId5" Type="http://schemas.openxmlformats.org/officeDocument/2006/relationships/image" Target="../media/image50.wmf"/><Relationship Id="rId4" Type="http://schemas.openxmlformats.org/officeDocument/2006/relationships/oleObject" Target="../embeddings/oleObject57.bin"/><Relationship Id="rId3" Type="http://schemas.openxmlformats.org/officeDocument/2006/relationships/image" Target="../media/image49.wmf"/><Relationship Id="rId23" Type="http://schemas.openxmlformats.org/officeDocument/2006/relationships/vmlDrawing" Target="../drawings/vmlDrawing10.vml"/><Relationship Id="rId22" Type="http://schemas.openxmlformats.org/officeDocument/2006/relationships/slideLayout" Target="../slideLayouts/slideLayout2.xml"/><Relationship Id="rId21" Type="http://schemas.openxmlformats.org/officeDocument/2006/relationships/image" Target="../media/image57.wmf"/><Relationship Id="rId20" Type="http://schemas.openxmlformats.org/officeDocument/2006/relationships/oleObject" Target="../embeddings/oleObject65.bin"/><Relationship Id="rId2" Type="http://schemas.openxmlformats.org/officeDocument/2006/relationships/oleObject" Target="../embeddings/oleObject56.bin"/><Relationship Id="rId19" Type="http://schemas.openxmlformats.org/officeDocument/2006/relationships/image" Target="../media/image56.wmf"/><Relationship Id="rId18" Type="http://schemas.openxmlformats.org/officeDocument/2006/relationships/oleObject" Target="../embeddings/oleObject64.bin"/><Relationship Id="rId17" Type="http://schemas.openxmlformats.org/officeDocument/2006/relationships/image" Target="../media/image55.wmf"/><Relationship Id="rId16" Type="http://schemas.openxmlformats.org/officeDocument/2006/relationships/oleObject" Target="../embeddings/oleObject63.bin"/><Relationship Id="rId15" Type="http://schemas.openxmlformats.org/officeDocument/2006/relationships/image" Target="../media/image54.wmf"/><Relationship Id="rId14" Type="http://schemas.openxmlformats.org/officeDocument/2006/relationships/oleObject" Target="../embeddings/oleObject62.bin"/><Relationship Id="rId13" Type="http://schemas.openxmlformats.org/officeDocument/2006/relationships/image" Target="../media/image53.wmf"/><Relationship Id="rId12" Type="http://schemas.openxmlformats.org/officeDocument/2006/relationships/oleObject" Target="../embeddings/oleObject61.bin"/><Relationship Id="rId11" Type="http://schemas.openxmlformats.org/officeDocument/2006/relationships/image" Target="../media/image29.wmf"/><Relationship Id="rId10" Type="http://schemas.openxmlformats.org/officeDocument/2006/relationships/oleObject" Target="../embeddings/oleObject60.bin"/><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9" Type="http://schemas.openxmlformats.org/officeDocument/2006/relationships/image" Target="../media/image60.wmf"/><Relationship Id="rId8" Type="http://schemas.openxmlformats.org/officeDocument/2006/relationships/oleObject" Target="../embeddings/oleObject69.bin"/><Relationship Id="rId7" Type="http://schemas.openxmlformats.org/officeDocument/2006/relationships/image" Target="../media/image59.wmf"/><Relationship Id="rId6" Type="http://schemas.openxmlformats.org/officeDocument/2006/relationships/oleObject" Target="../embeddings/oleObject68.bin"/><Relationship Id="rId5" Type="http://schemas.openxmlformats.org/officeDocument/2006/relationships/image" Target="../media/image58.wmf"/><Relationship Id="rId4" Type="http://schemas.openxmlformats.org/officeDocument/2006/relationships/oleObject" Target="../embeddings/oleObject67.bin"/><Relationship Id="rId3" Type="http://schemas.openxmlformats.org/officeDocument/2006/relationships/image" Target="../media/image56.wmf"/><Relationship Id="rId2" Type="http://schemas.openxmlformats.org/officeDocument/2006/relationships/oleObject" Target="../embeddings/oleObject66.bin"/><Relationship Id="rId13" Type="http://schemas.openxmlformats.org/officeDocument/2006/relationships/vmlDrawing" Target="../drawings/vmlDrawing11.vml"/><Relationship Id="rId12" Type="http://schemas.openxmlformats.org/officeDocument/2006/relationships/slideLayout" Target="../slideLayouts/slideLayout2.xml"/><Relationship Id="rId11" Type="http://schemas.openxmlformats.org/officeDocument/2006/relationships/image" Target="../media/image61.wmf"/><Relationship Id="rId10" Type="http://schemas.openxmlformats.org/officeDocument/2006/relationships/oleObject" Target="../embeddings/oleObject70.bin"/><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9" Type="http://schemas.openxmlformats.org/officeDocument/2006/relationships/vmlDrawing" Target="../drawings/vmlDrawing12.vml"/><Relationship Id="rId8" Type="http://schemas.openxmlformats.org/officeDocument/2006/relationships/slideLayout" Target="../slideLayouts/slideLayout2.xml"/><Relationship Id="rId7" Type="http://schemas.openxmlformats.org/officeDocument/2006/relationships/image" Target="../media/image64.wmf"/><Relationship Id="rId6" Type="http://schemas.openxmlformats.org/officeDocument/2006/relationships/oleObject" Target="../embeddings/oleObject73.bin"/><Relationship Id="rId5" Type="http://schemas.openxmlformats.org/officeDocument/2006/relationships/image" Target="../media/image63.wmf"/><Relationship Id="rId4" Type="http://schemas.openxmlformats.org/officeDocument/2006/relationships/oleObject" Target="../embeddings/oleObject72.bin"/><Relationship Id="rId3" Type="http://schemas.openxmlformats.org/officeDocument/2006/relationships/image" Target="../media/image62.wmf"/><Relationship Id="rId2" Type="http://schemas.openxmlformats.org/officeDocument/2006/relationships/oleObject" Target="../embeddings/oleObject71.bin"/><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9" Type="http://schemas.openxmlformats.org/officeDocument/2006/relationships/image" Target="../media/image61.wmf"/><Relationship Id="rId8" Type="http://schemas.openxmlformats.org/officeDocument/2006/relationships/oleObject" Target="../embeddings/oleObject77.bin"/><Relationship Id="rId7" Type="http://schemas.openxmlformats.org/officeDocument/2006/relationships/image" Target="../media/image67.wmf"/><Relationship Id="rId6" Type="http://schemas.openxmlformats.org/officeDocument/2006/relationships/oleObject" Target="../embeddings/oleObject76.bin"/><Relationship Id="rId5" Type="http://schemas.openxmlformats.org/officeDocument/2006/relationships/image" Target="../media/image66.wmf"/><Relationship Id="rId4" Type="http://schemas.openxmlformats.org/officeDocument/2006/relationships/oleObject" Target="../embeddings/oleObject75.bin"/><Relationship Id="rId3" Type="http://schemas.openxmlformats.org/officeDocument/2006/relationships/image" Target="../media/image65.wmf"/><Relationship Id="rId2" Type="http://schemas.openxmlformats.org/officeDocument/2006/relationships/oleObject" Target="../embeddings/oleObject74.bin"/><Relationship Id="rId11" Type="http://schemas.openxmlformats.org/officeDocument/2006/relationships/vmlDrawing" Target="../drawings/vmlDrawing13.vml"/><Relationship Id="rId10" Type="http://schemas.openxmlformats.org/officeDocument/2006/relationships/slideLayout" Target="../slideLayouts/slideLayout2.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9" Type="http://schemas.openxmlformats.org/officeDocument/2006/relationships/image" Target="../media/image69.wmf"/><Relationship Id="rId8" Type="http://schemas.openxmlformats.org/officeDocument/2006/relationships/oleObject" Target="../embeddings/oleObject81.bin"/><Relationship Id="rId7" Type="http://schemas.openxmlformats.org/officeDocument/2006/relationships/image" Target="../media/image32.wmf"/><Relationship Id="rId6" Type="http://schemas.openxmlformats.org/officeDocument/2006/relationships/oleObject" Target="../embeddings/oleObject80.bin"/><Relationship Id="rId5" Type="http://schemas.openxmlformats.org/officeDocument/2006/relationships/image" Target="../media/image68.wmf"/><Relationship Id="rId4" Type="http://schemas.openxmlformats.org/officeDocument/2006/relationships/oleObject" Target="../embeddings/oleObject79.bin"/><Relationship Id="rId3" Type="http://schemas.openxmlformats.org/officeDocument/2006/relationships/image" Target="../media/image21.wmf"/><Relationship Id="rId2" Type="http://schemas.openxmlformats.org/officeDocument/2006/relationships/oleObject" Target="../embeddings/oleObject78.bin"/><Relationship Id="rId17" Type="http://schemas.openxmlformats.org/officeDocument/2006/relationships/vmlDrawing" Target="../drawings/vmlDrawing14.vml"/><Relationship Id="rId16" Type="http://schemas.openxmlformats.org/officeDocument/2006/relationships/slideLayout" Target="../slideLayouts/slideLayout2.xml"/><Relationship Id="rId15" Type="http://schemas.openxmlformats.org/officeDocument/2006/relationships/image" Target="../media/image71.wmf"/><Relationship Id="rId14" Type="http://schemas.openxmlformats.org/officeDocument/2006/relationships/oleObject" Target="../embeddings/oleObject85.bin"/><Relationship Id="rId13" Type="http://schemas.openxmlformats.org/officeDocument/2006/relationships/image" Target="../media/image70.wmf"/><Relationship Id="rId12" Type="http://schemas.openxmlformats.org/officeDocument/2006/relationships/oleObject" Target="../embeddings/oleObject84.bin"/><Relationship Id="rId11" Type="http://schemas.openxmlformats.org/officeDocument/2006/relationships/oleObject" Target="../embeddings/oleObject83.bin"/><Relationship Id="rId10" Type="http://schemas.openxmlformats.org/officeDocument/2006/relationships/oleObject" Target="../embeddings/oleObject82.bin"/><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9" Type="http://schemas.openxmlformats.org/officeDocument/2006/relationships/image" Target="../media/image75.wmf"/><Relationship Id="rId8" Type="http://schemas.openxmlformats.org/officeDocument/2006/relationships/oleObject" Target="../embeddings/oleObject89.bin"/><Relationship Id="rId7" Type="http://schemas.openxmlformats.org/officeDocument/2006/relationships/image" Target="../media/image74.wmf"/><Relationship Id="rId6" Type="http://schemas.openxmlformats.org/officeDocument/2006/relationships/oleObject" Target="../embeddings/oleObject88.bin"/><Relationship Id="rId5" Type="http://schemas.openxmlformats.org/officeDocument/2006/relationships/image" Target="../media/image73.wmf"/><Relationship Id="rId4" Type="http://schemas.openxmlformats.org/officeDocument/2006/relationships/oleObject" Target="../embeddings/oleObject87.bin"/><Relationship Id="rId3" Type="http://schemas.openxmlformats.org/officeDocument/2006/relationships/image" Target="../media/image72.wmf"/><Relationship Id="rId21" Type="http://schemas.openxmlformats.org/officeDocument/2006/relationships/vmlDrawing" Target="../drawings/vmlDrawing15.vml"/><Relationship Id="rId20" Type="http://schemas.openxmlformats.org/officeDocument/2006/relationships/slideLayout" Target="../slideLayouts/slideLayout2.xml"/><Relationship Id="rId2" Type="http://schemas.openxmlformats.org/officeDocument/2006/relationships/oleObject" Target="../embeddings/oleObject86.bin"/><Relationship Id="rId19" Type="http://schemas.openxmlformats.org/officeDocument/2006/relationships/image" Target="../media/image80.wmf"/><Relationship Id="rId18" Type="http://schemas.openxmlformats.org/officeDocument/2006/relationships/oleObject" Target="../embeddings/oleObject94.bin"/><Relationship Id="rId17" Type="http://schemas.openxmlformats.org/officeDocument/2006/relationships/image" Target="../media/image79.wmf"/><Relationship Id="rId16" Type="http://schemas.openxmlformats.org/officeDocument/2006/relationships/oleObject" Target="../embeddings/oleObject93.bin"/><Relationship Id="rId15" Type="http://schemas.openxmlformats.org/officeDocument/2006/relationships/image" Target="../media/image78.wmf"/><Relationship Id="rId14" Type="http://schemas.openxmlformats.org/officeDocument/2006/relationships/oleObject" Target="../embeddings/oleObject92.bin"/><Relationship Id="rId13" Type="http://schemas.openxmlformats.org/officeDocument/2006/relationships/image" Target="../media/image77.wmf"/><Relationship Id="rId12" Type="http://schemas.openxmlformats.org/officeDocument/2006/relationships/oleObject" Target="../embeddings/oleObject91.bin"/><Relationship Id="rId11" Type="http://schemas.openxmlformats.org/officeDocument/2006/relationships/image" Target="../media/image76.wmf"/><Relationship Id="rId10" Type="http://schemas.openxmlformats.org/officeDocument/2006/relationships/oleObject" Target="../embeddings/oleObject90.bin"/><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9" Type="http://schemas.openxmlformats.org/officeDocument/2006/relationships/image" Target="../media/image83.wmf"/><Relationship Id="rId8" Type="http://schemas.openxmlformats.org/officeDocument/2006/relationships/oleObject" Target="../embeddings/oleObject98.bin"/><Relationship Id="rId7" Type="http://schemas.openxmlformats.org/officeDocument/2006/relationships/image" Target="../media/image82.wmf"/><Relationship Id="rId6" Type="http://schemas.openxmlformats.org/officeDocument/2006/relationships/oleObject" Target="../embeddings/oleObject97.bin"/><Relationship Id="rId5" Type="http://schemas.openxmlformats.org/officeDocument/2006/relationships/image" Target="../media/image81.wmf"/><Relationship Id="rId4" Type="http://schemas.openxmlformats.org/officeDocument/2006/relationships/oleObject" Target="../embeddings/oleObject96.bin"/><Relationship Id="rId3" Type="http://schemas.openxmlformats.org/officeDocument/2006/relationships/image" Target="../media/image32.wmf"/><Relationship Id="rId25" Type="http://schemas.openxmlformats.org/officeDocument/2006/relationships/vmlDrawing" Target="../drawings/vmlDrawing16.vml"/><Relationship Id="rId24" Type="http://schemas.openxmlformats.org/officeDocument/2006/relationships/slideLayout" Target="../slideLayouts/slideLayout2.xml"/><Relationship Id="rId23" Type="http://schemas.openxmlformats.org/officeDocument/2006/relationships/image" Target="../media/image88.wmf"/><Relationship Id="rId22" Type="http://schemas.openxmlformats.org/officeDocument/2006/relationships/oleObject" Target="../embeddings/oleObject106.bin"/><Relationship Id="rId21" Type="http://schemas.openxmlformats.org/officeDocument/2006/relationships/oleObject" Target="../embeddings/oleObject105.bin"/><Relationship Id="rId20" Type="http://schemas.openxmlformats.org/officeDocument/2006/relationships/image" Target="../media/image87.wmf"/><Relationship Id="rId2" Type="http://schemas.openxmlformats.org/officeDocument/2006/relationships/oleObject" Target="../embeddings/oleObject95.bin"/><Relationship Id="rId19" Type="http://schemas.openxmlformats.org/officeDocument/2006/relationships/oleObject" Target="../embeddings/oleObject104.bin"/><Relationship Id="rId18" Type="http://schemas.openxmlformats.org/officeDocument/2006/relationships/image" Target="../media/image86.wmf"/><Relationship Id="rId17" Type="http://schemas.openxmlformats.org/officeDocument/2006/relationships/oleObject" Target="../embeddings/oleObject103.bin"/><Relationship Id="rId16" Type="http://schemas.openxmlformats.org/officeDocument/2006/relationships/oleObject" Target="../embeddings/oleObject102.bin"/><Relationship Id="rId15" Type="http://schemas.openxmlformats.org/officeDocument/2006/relationships/image" Target="../media/image85.wmf"/><Relationship Id="rId14" Type="http://schemas.openxmlformats.org/officeDocument/2006/relationships/oleObject" Target="../embeddings/oleObject101.bin"/><Relationship Id="rId13" Type="http://schemas.openxmlformats.org/officeDocument/2006/relationships/image" Target="../media/image84.wmf"/><Relationship Id="rId12" Type="http://schemas.openxmlformats.org/officeDocument/2006/relationships/oleObject" Target="../embeddings/oleObject100.bin"/><Relationship Id="rId11" Type="http://schemas.openxmlformats.org/officeDocument/2006/relationships/image" Target="../media/image21.wmf"/><Relationship Id="rId10" Type="http://schemas.openxmlformats.org/officeDocument/2006/relationships/oleObject" Target="../embeddings/oleObject99.bin"/><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9" Type="http://schemas.openxmlformats.org/officeDocument/2006/relationships/image" Target="../media/image92.wmf"/><Relationship Id="rId8" Type="http://schemas.openxmlformats.org/officeDocument/2006/relationships/oleObject" Target="../embeddings/oleObject110.bin"/><Relationship Id="rId7" Type="http://schemas.openxmlformats.org/officeDocument/2006/relationships/image" Target="../media/image91.wmf"/><Relationship Id="rId6" Type="http://schemas.openxmlformats.org/officeDocument/2006/relationships/oleObject" Target="../embeddings/oleObject109.bin"/><Relationship Id="rId5" Type="http://schemas.openxmlformats.org/officeDocument/2006/relationships/image" Target="../media/image90.wmf"/><Relationship Id="rId4" Type="http://schemas.openxmlformats.org/officeDocument/2006/relationships/oleObject" Target="../embeddings/oleObject108.bin"/><Relationship Id="rId3" Type="http://schemas.openxmlformats.org/officeDocument/2006/relationships/image" Target="../media/image89.wmf"/><Relationship Id="rId23" Type="http://schemas.openxmlformats.org/officeDocument/2006/relationships/vmlDrawing" Target="../drawings/vmlDrawing17.vml"/><Relationship Id="rId22" Type="http://schemas.openxmlformats.org/officeDocument/2006/relationships/slideLayout" Target="../slideLayouts/slideLayout2.xml"/><Relationship Id="rId21" Type="http://schemas.openxmlformats.org/officeDocument/2006/relationships/image" Target="../media/image98.wmf"/><Relationship Id="rId20" Type="http://schemas.openxmlformats.org/officeDocument/2006/relationships/oleObject" Target="../embeddings/oleObject116.bin"/><Relationship Id="rId2" Type="http://schemas.openxmlformats.org/officeDocument/2006/relationships/oleObject" Target="../embeddings/oleObject107.bin"/><Relationship Id="rId19" Type="http://schemas.openxmlformats.org/officeDocument/2006/relationships/image" Target="../media/image97.wmf"/><Relationship Id="rId18" Type="http://schemas.openxmlformats.org/officeDocument/2006/relationships/oleObject" Target="../embeddings/oleObject115.bin"/><Relationship Id="rId17" Type="http://schemas.openxmlformats.org/officeDocument/2006/relationships/image" Target="../media/image96.wmf"/><Relationship Id="rId16" Type="http://schemas.openxmlformats.org/officeDocument/2006/relationships/oleObject" Target="../embeddings/oleObject114.bin"/><Relationship Id="rId15" Type="http://schemas.openxmlformats.org/officeDocument/2006/relationships/image" Target="../media/image95.wmf"/><Relationship Id="rId14" Type="http://schemas.openxmlformats.org/officeDocument/2006/relationships/oleObject" Target="../embeddings/oleObject113.bin"/><Relationship Id="rId13" Type="http://schemas.openxmlformats.org/officeDocument/2006/relationships/image" Target="../media/image94.wmf"/><Relationship Id="rId12" Type="http://schemas.openxmlformats.org/officeDocument/2006/relationships/oleObject" Target="../embeddings/oleObject112.bin"/><Relationship Id="rId11" Type="http://schemas.openxmlformats.org/officeDocument/2006/relationships/image" Target="../media/image93.wmf"/><Relationship Id="rId10" Type="http://schemas.openxmlformats.org/officeDocument/2006/relationships/oleObject" Target="../embeddings/oleObject111.bin"/><Relationship Id="rId1" Type="http://schemas.openxmlformats.org/officeDocument/2006/relationships/image" Target="../media/image9.png"/></Relationships>
</file>

<file path=ppt/slides/_rels/slide28.xml.rels><?xml version="1.0" encoding="UTF-8" standalone="yes"?>
<Relationships xmlns="http://schemas.openxmlformats.org/package/2006/relationships"><Relationship Id="rId9" Type="http://schemas.openxmlformats.org/officeDocument/2006/relationships/image" Target="../media/image102.wmf"/><Relationship Id="rId8" Type="http://schemas.openxmlformats.org/officeDocument/2006/relationships/oleObject" Target="../embeddings/oleObject120.bin"/><Relationship Id="rId7" Type="http://schemas.openxmlformats.org/officeDocument/2006/relationships/image" Target="../media/image101.wmf"/><Relationship Id="rId6" Type="http://schemas.openxmlformats.org/officeDocument/2006/relationships/oleObject" Target="../embeddings/oleObject119.bin"/><Relationship Id="rId5" Type="http://schemas.openxmlformats.org/officeDocument/2006/relationships/image" Target="../media/image100.wmf"/><Relationship Id="rId4" Type="http://schemas.openxmlformats.org/officeDocument/2006/relationships/oleObject" Target="../embeddings/oleObject118.bin"/><Relationship Id="rId3" Type="http://schemas.openxmlformats.org/officeDocument/2006/relationships/image" Target="../media/image99.wmf"/><Relationship Id="rId2" Type="http://schemas.openxmlformats.org/officeDocument/2006/relationships/oleObject" Target="../embeddings/oleObject117.bin"/><Relationship Id="rId17" Type="http://schemas.openxmlformats.org/officeDocument/2006/relationships/vmlDrawing" Target="../drawings/vmlDrawing18.vml"/><Relationship Id="rId16" Type="http://schemas.openxmlformats.org/officeDocument/2006/relationships/slideLayout" Target="../slideLayouts/slideLayout2.xml"/><Relationship Id="rId15" Type="http://schemas.openxmlformats.org/officeDocument/2006/relationships/oleObject" Target="../embeddings/oleObject124.bin"/><Relationship Id="rId14" Type="http://schemas.openxmlformats.org/officeDocument/2006/relationships/oleObject" Target="../embeddings/oleObject123.bin"/><Relationship Id="rId13" Type="http://schemas.openxmlformats.org/officeDocument/2006/relationships/image" Target="../media/image82.wmf"/><Relationship Id="rId12" Type="http://schemas.openxmlformats.org/officeDocument/2006/relationships/oleObject" Target="../embeddings/oleObject122.bin"/><Relationship Id="rId11" Type="http://schemas.openxmlformats.org/officeDocument/2006/relationships/image" Target="../media/image21.wmf"/><Relationship Id="rId10" Type="http://schemas.openxmlformats.org/officeDocument/2006/relationships/oleObject" Target="../embeddings/oleObject121.bin"/><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7" Type="http://schemas.openxmlformats.org/officeDocument/2006/relationships/vmlDrawing" Target="../drawings/vmlDrawing19.vml"/><Relationship Id="rId6" Type="http://schemas.openxmlformats.org/officeDocument/2006/relationships/slideLayout" Target="../slideLayouts/slideLayout2.xml"/><Relationship Id="rId5" Type="http://schemas.openxmlformats.org/officeDocument/2006/relationships/image" Target="../media/image82.wmf"/><Relationship Id="rId4" Type="http://schemas.openxmlformats.org/officeDocument/2006/relationships/oleObject" Target="../embeddings/oleObject126.bin"/><Relationship Id="rId3" Type="http://schemas.openxmlformats.org/officeDocument/2006/relationships/image" Target="../media/image100.wmf"/><Relationship Id="rId2" Type="http://schemas.openxmlformats.org/officeDocument/2006/relationships/oleObject" Target="../embeddings/oleObject125.bin"/><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9" Type="http://schemas.openxmlformats.org/officeDocument/2006/relationships/image" Target="../media/image82.wmf"/><Relationship Id="rId8" Type="http://schemas.openxmlformats.org/officeDocument/2006/relationships/oleObject" Target="../embeddings/oleObject130.bin"/><Relationship Id="rId7" Type="http://schemas.openxmlformats.org/officeDocument/2006/relationships/image" Target="../media/image105.wmf"/><Relationship Id="rId6" Type="http://schemas.openxmlformats.org/officeDocument/2006/relationships/oleObject" Target="../embeddings/oleObject129.bin"/><Relationship Id="rId5" Type="http://schemas.openxmlformats.org/officeDocument/2006/relationships/image" Target="../media/image104.wmf"/><Relationship Id="rId4" Type="http://schemas.openxmlformats.org/officeDocument/2006/relationships/oleObject" Target="../embeddings/oleObject128.bin"/><Relationship Id="rId3" Type="http://schemas.openxmlformats.org/officeDocument/2006/relationships/image" Target="../media/image103.wmf"/><Relationship Id="rId2" Type="http://schemas.openxmlformats.org/officeDocument/2006/relationships/oleObject" Target="../embeddings/oleObject127.bin"/><Relationship Id="rId11" Type="http://schemas.openxmlformats.org/officeDocument/2006/relationships/vmlDrawing" Target="../drawings/vmlDrawing20.vml"/><Relationship Id="rId10" Type="http://schemas.openxmlformats.org/officeDocument/2006/relationships/slideLayout" Target="../slideLayouts/slideLayout2.xml"/><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9" Type="http://schemas.openxmlformats.org/officeDocument/2006/relationships/vmlDrawing" Target="../drawings/vmlDrawing21.vml"/><Relationship Id="rId8" Type="http://schemas.openxmlformats.org/officeDocument/2006/relationships/slideLayout" Target="../slideLayouts/slideLayout2.xml"/><Relationship Id="rId7" Type="http://schemas.openxmlformats.org/officeDocument/2006/relationships/image" Target="../media/image82.wmf"/><Relationship Id="rId6" Type="http://schemas.openxmlformats.org/officeDocument/2006/relationships/oleObject" Target="../embeddings/oleObject133.bin"/><Relationship Id="rId5" Type="http://schemas.openxmlformats.org/officeDocument/2006/relationships/image" Target="../media/image107.wmf"/><Relationship Id="rId4" Type="http://schemas.openxmlformats.org/officeDocument/2006/relationships/oleObject" Target="../embeddings/oleObject132.bin"/><Relationship Id="rId3" Type="http://schemas.openxmlformats.org/officeDocument/2006/relationships/image" Target="../media/image106.wmf"/><Relationship Id="rId2" Type="http://schemas.openxmlformats.org/officeDocument/2006/relationships/oleObject" Target="../embeddings/oleObject131.bin"/><Relationship Id="rId10" Type="http://schemas.openxmlformats.org/officeDocument/2006/relationships/notesSlide" Target="../notesSlides/notesSlide6.xml"/><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9" Type="http://schemas.openxmlformats.org/officeDocument/2006/relationships/image" Target="../media/image100.wmf"/><Relationship Id="rId8" Type="http://schemas.openxmlformats.org/officeDocument/2006/relationships/oleObject" Target="../embeddings/oleObject137.bin"/><Relationship Id="rId7" Type="http://schemas.openxmlformats.org/officeDocument/2006/relationships/image" Target="../media/image109.wmf"/><Relationship Id="rId6" Type="http://schemas.openxmlformats.org/officeDocument/2006/relationships/oleObject" Target="../embeddings/oleObject136.bin"/><Relationship Id="rId5" Type="http://schemas.openxmlformats.org/officeDocument/2006/relationships/image" Target="../media/image82.wmf"/><Relationship Id="rId4" Type="http://schemas.openxmlformats.org/officeDocument/2006/relationships/oleObject" Target="../embeddings/oleObject135.bin"/><Relationship Id="rId3" Type="http://schemas.openxmlformats.org/officeDocument/2006/relationships/image" Target="../media/image9.png"/><Relationship Id="rId2" Type="http://schemas.openxmlformats.org/officeDocument/2006/relationships/image" Target="../media/image108.wmf"/><Relationship Id="rId12" Type="http://schemas.openxmlformats.org/officeDocument/2006/relationships/notesSlide" Target="../notesSlides/notesSlide7.xml"/><Relationship Id="rId11" Type="http://schemas.openxmlformats.org/officeDocument/2006/relationships/vmlDrawing" Target="../drawings/vmlDrawing22.vml"/><Relationship Id="rId10" Type="http://schemas.openxmlformats.org/officeDocument/2006/relationships/slideLayout" Target="../slideLayouts/slideLayout2.xml"/><Relationship Id="rId1" Type="http://schemas.openxmlformats.org/officeDocument/2006/relationships/oleObject" Target="../embeddings/oleObject134.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141.bin"/><Relationship Id="rId8" Type="http://schemas.openxmlformats.org/officeDocument/2006/relationships/image" Target="../media/image113.wmf"/><Relationship Id="rId7" Type="http://schemas.openxmlformats.org/officeDocument/2006/relationships/oleObject" Target="../embeddings/oleObject140.bin"/><Relationship Id="rId6" Type="http://schemas.openxmlformats.org/officeDocument/2006/relationships/image" Target="../media/image112.wmf"/><Relationship Id="rId5" Type="http://schemas.openxmlformats.org/officeDocument/2006/relationships/oleObject" Target="../embeddings/oleObject139.bin"/><Relationship Id="rId4" Type="http://schemas.openxmlformats.org/officeDocument/2006/relationships/image" Target="../media/image9.png"/><Relationship Id="rId3" Type="http://schemas.openxmlformats.org/officeDocument/2006/relationships/image" Target="../media/image111.wmf"/><Relationship Id="rId2" Type="http://schemas.openxmlformats.org/officeDocument/2006/relationships/oleObject" Target="../embeddings/oleObject138.bin"/><Relationship Id="rId14" Type="http://schemas.openxmlformats.org/officeDocument/2006/relationships/notesSlide" Target="../notesSlides/notesSlide8.xml"/><Relationship Id="rId13" Type="http://schemas.openxmlformats.org/officeDocument/2006/relationships/vmlDrawing" Target="../drawings/vmlDrawing23.vml"/><Relationship Id="rId12" Type="http://schemas.openxmlformats.org/officeDocument/2006/relationships/slideLayout" Target="../slideLayouts/slideLayout2.xml"/><Relationship Id="rId11" Type="http://schemas.openxmlformats.org/officeDocument/2006/relationships/oleObject" Target="../embeddings/oleObject142.bin"/><Relationship Id="rId10" Type="http://schemas.openxmlformats.org/officeDocument/2006/relationships/image" Target="../media/image114.wmf"/><Relationship Id="rId1" Type="http://schemas.openxmlformats.org/officeDocument/2006/relationships/image" Target="../media/image110.pn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vmlDrawing" Target="../drawings/vmlDrawing24.vml"/><Relationship Id="rId4" Type="http://schemas.openxmlformats.org/officeDocument/2006/relationships/slideLayout" Target="../slideLayouts/slideLayout2.xml"/><Relationship Id="rId3" Type="http://schemas.openxmlformats.org/officeDocument/2006/relationships/image" Target="../media/image102.wmf"/><Relationship Id="rId2" Type="http://schemas.openxmlformats.org/officeDocument/2006/relationships/oleObject" Target="../embeddings/oleObject143.bin"/><Relationship Id="rId1" Type="http://schemas.openxmlformats.org/officeDocument/2006/relationships/image" Target="../media/image9.png"/></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18.wmf"/><Relationship Id="rId7" Type="http://schemas.openxmlformats.org/officeDocument/2006/relationships/oleObject" Target="../embeddings/oleObject147.bin"/><Relationship Id="rId6" Type="http://schemas.openxmlformats.org/officeDocument/2006/relationships/image" Target="../media/image117.wmf"/><Relationship Id="rId5" Type="http://schemas.openxmlformats.org/officeDocument/2006/relationships/oleObject" Target="../embeddings/oleObject146.bin"/><Relationship Id="rId4" Type="http://schemas.openxmlformats.org/officeDocument/2006/relationships/image" Target="../media/image116.wmf"/><Relationship Id="rId3" Type="http://schemas.openxmlformats.org/officeDocument/2006/relationships/oleObject" Target="../embeddings/oleObject145.bin"/><Relationship Id="rId2" Type="http://schemas.openxmlformats.org/officeDocument/2006/relationships/image" Target="../media/image115.wmf"/><Relationship Id="rId11" Type="http://schemas.openxmlformats.org/officeDocument/2006/relationships/notesSlide" Target="../notesSlides/notesSlide10.xml"/><Relationship Id="rId10" Type="http://schemas.openxmlformats.org/officeDocument/2006/relationships/vmlDrawing" Target="../drawings/vmlDrawing25.vml"/><Relationship Id="rId1" Type="http://schemas.openxmlformats.org/officeDocument/2006/relationships/oleObject" Target="../embeddings/oleObject144.bin"/></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vmlDrawing" Target="../drawings/vmlDrawing26.vml"/><Relationship Id="rId3" Type="http://schemas.openxmlformats.org/officeDocument/2006/relationships/slideLayout" Target="../slideLayouts/slideLayout2.xml"/><Relationship Id="rId2" Type="http://schemas.openxmlformats.org/officeDocument/2006/relationships/image" Target="../media/image119.wmf"/><Relationship Id="rId1" Type="http://schemas.openxmlformats.org/officeDocument/2006/relationships/oleObject" Target="../embeddings/oleObject148.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153.bin"/><Relationship Id="rId8" Type="http://schemas.openxmlformats.org/officeDocument/2006/relationships/image" Target="../media/image123.wmf"/><Relationship Id="rId7" Type="http://schemas.openxmlformats.org/officeDocument/2006/relationships/oleObject" Target="../embeddings/oleObject152.bin"/><Relationship Id="rId6" Type="http://schemas.openxmlformats.org/officeDocument/2006/relationships/image" Target="../media/image122.wmf"/><Relationship Id="rId5" Type="http://schemas.openxmlformats.org/officeDocument/2006/relationships/oleObject" Target="../embeddings/oleObject151.bin"/><Relationship Id="rId4" Type="http://schemas.openxmlformats.org/officeDocument/2006/relationships/image" Target="../media/image121.wmf"/><Relationship Id="rId3" Type="http://schemas.openxmlformats.org/officeDocument/2006/relationships/oleObject" Target="../embeddings/oleObject150.bin"/><Relationship Id="rId2" Type="http://schemas.openxmlformats.org/officeDocument/2006/relationships/image" Target="../media/image120.wmf"/><Relationship Id="rId15" Type="http://schemas.openxmlformats.org/officeDocument/2006/relationships/notesSlide" Target="../notesSlides/notesSlide12.xml"/><Relationship Id="rId14" Type="http://schemas.openxmlformats.org/officeDocument/2006/relationships/vmlDrawing" Target="../drawings/vmlDrawing27.vml"/><Relationship Id="rId13" Type="http://schemas.openxmlformats.org/officeDocument/2006/relationships/slideLayout" Target="../slideLayouts/slideLayout2.xml"/><Relationship Id="rId12" Type="http://schemas.openxmlformats.org/officeDocument/2006/relationships/image" Target="../media/image125.wmf"/><Relationship Id="rId11" Type="http://schemas.openxmlformats.org/officeDocument/2006/relationships/oleObject" Target="../embeddings/oleObject154.bin"/><Relationship Id="rId10" Type="http://schemas.openxmlformats.org/officeDocument/2006/relationships/image" Target="../media/image124.wmf"/><Relationship Id="rId1" Type="http://schemas.openxmlformats.org/officeDocument/2006/relationships/oleObject" Target="../embeddings/oleObject149.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159.bin"/><Relationship Id="rId8" Type="http://schemas.openxmlformats.org/officeDocument/2006/relationships/image" Target="../media/image126.wmf"/><Relationship Id="rId7" Type="http://schemas.openxmlformats.org/officeDocument/2006/relationships/oleObject" Target="../embeddings/oleObject158.bin"/><Relationship Id="rId6" Type="http://schemas.openxmlformats.org/officeDocument/2006/relationships/image" Target="../media/image122.wmf"/><Relationship Id="rId5" Type="http://schemas.openxmlformats.org/officeDocument/2006/relationships/oleObject" Target="../embeddings/oleObject157.bin"/><Relationship Id="rId4" Type="http://schemas.openxmlformats.org/officeDocument/2006/relationships/image" Target="../media/image121.wmf"/><Relationship Id="rId3" Type="http://schemas.openxmlformats.org/officeDocument/2006/relationships/oleObject" Target="../embeddings/oleObject156.bin"/><Relationship Id="rId2" Type="http://schemas.openxmlformats.org/officeDocument/2006/relationships/image" Target="../media/image120.wmf"/><Relationship Id="rId14" Type="http://schemas.openxmlformats.org/officeDocument/2006/relationships/vmlDrawing" Target="../drawings/vmlDrawing28.vml"/><Relationship Id="rId13" Type="http://schemas.openxmlformats.org/officeDocument/2006/relationships/slideLayout" Target="../slideLayouts/slideLayout2.xml"/><Relationship Id="rId12" Type="http://schemas.openxmlformats.org/officeDocument/2006/relationships/image" Target="../media/image125.wmf"/><Relationship Id="rId11" Type="http://schemas.openxmlformats.org/officeDocument/2006/relationships/oleObject" Target="../embeddings/oleObject160.bin"/><Relationship Id="rId10" Type="http://schemas.openxmlformats.org/officeDocument/2006/relationships/image" Target="../media/image124.wmf"/><Relationship Id="rId1" Type="http://schemas.openxmlformats.org/officeDocument/2006/relationships/oleObject" Target="../embeddings/oleObject155.bin"/></Relationships>
</file>

<file path=ppt/slides/_rels/slide39.xml.rels><?xml version="1.0" encoding="UTF-8" standalone="yes"?>
<Relationships xmlns="http://schemas.openxmlformats.org/package/2006/relationships"><Relationship Id="rId8" Type="http://schemas.openxmlformats.org/officeDocument/2006/relationships/vmlDrawing" Target="../drawings/vmlDrawing29.vml"/><Relationship Id="rId7" Type="http://schemas.openxmlformats.org/officeDocument/2006/relationships/slideLayout" Target="../slideLayouts/slideLayout2.xml"/><Relationship Id="rId6" Type="http://schemas.openxmlformats.org/officeDocument/2006/relationships/image" Target="../media/image101.wmf"/><Relationship Id="rId5" Type="http://schemas.openxmlformats.org/officeDocument/2006/relationships/oleObject" Target="../embeddings/oleObject163.bin"/><Relationship Id="rId4" Type="http://schemas.openxmlformats.org/officeDocument/2006/relationships/image" Target="../media/image127.wmf"/><Relationship Id="rId3" Type="http://schemas.openxmlformats.org/officeDocument/2006/relationships/oleObject" Target="../embeddings/oleObject162.bin"/><Relationship Id="rId2" Type="http://schemas.openxmlformats.org/officeDocument/2006/relationships/image" Target="../media/image121.wmf"/><Relationship Id="rId1" Type="http://schemas.openxmlformats.org/officeDocument/2006/relationships/oleObject" Target="../embeddings/oleObject161.bin"/></Relationships>
</file>

<file path=ppt/slides/_rels/slide40.xml.rels><?xml version="1.0" encoding="UTF-8" standalone="yes"?>
<Relationships xmlns="http://schemas.openxmlformats.org/package/2006/relationships"><Relationship Id="rId6" Type="http://schemas.openxmlformats.org/officeDocument/2006/relationships/vmlDrawing" Target="../drawings/vmlDrawing30.vml"/><Relationship Id="rId5" Type="http://schemas.openxmlformats.org/officeDocument/2006/relationships/slideLayout" Target="../slideLayouts/slideLayout2.xml"/><Relationship Id="rId4" Type="http://schemas.openxmlformats.org/officeDocument/2006/relationships/image" Target="../media/image101.wmf"/><Relationship Id="rId3" Type="http://schemas.openxmlformats.org/officeDocument/2006/relationships/oleObject" Target="../embeddings/oleObject165.bin"/><Relationship Id="rId2" Type="http://schemas.openxmlformats.org/officeDocument/2006/relationships/image" Target="../media/image128.wmf"/><Relationship Id="rId1" Type="http://schemas.openxmlformats.org/officeDocument/2006/relationships/oleObject" Target="../embeddings/oleObject164.bin"/></Relationships>
</file>

<file path=ppt/slides/_rels/slide41.xml.rels><?xml version="1.0" encoding="UTF-8" standalone="yes"?>
<Relationships xmlns="http://schemas.openxmlformats.org/package/2006/relationships"><Relationship Id="rId8" Type="http://schemas.openxmlformats.org/officeDocument/2006/relationships/vmlDrawing" Target="../drawings/vmlDrawing31.vml"/><Relationship Id="rId7" Type="http://schemas.openxmlformats.org/officeDocument/2006/relationships/slideLayout" Target="../slideLayouts/slideLayout2.xml"/><Relationship Id="rId6" Type="http://schemas.openxmlformats.org/officeDocument/2006/relationships/image" Target="../media/image101.wmf"/><Relationship Id="rId5" Type="http://schemas.openxmlformats.org/officeDocument/2006/relationships/oleObject" Target="../embeddings/oleObject168.bin"/><Relationship Id="rId4" Type="http://schemas.openxmlformats.org/officeDocument/2006/relationships/image" Target="../media/image129.wmf"/><Relationship Id="rId3" Type="http://schemas.openxmlformats.org/officeDocument/2006/relationships/oleObject" Target="../embeddings/oleObject167.bin"/><Relationship Id="rId2" Type="http://schemas.openxmlformats.org/officeDocument/2006/relationships/image" Target="../media/image128.wmf"/><Relationship Id="rId1" Type="http://schemas.openxmlformats.org/officeDocument/2006/relationships/oleObject" Target="../embeddings/oleObject166.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173.bin"/><Relationship Id="rId8" Type="http://schemas.openxmlformats.org/officeDocument/2006/relationships/image" Target="../media/image131.wmf"/><Relationship Id="rId7" Type="http://schemas.openxmlformats.org/officeDocument/2006/relationships/oleObject" Target="../embeddings/oleObject172.bin"/><Relationship Id="rId6" Type="http://schemas.openxmlformats.org/officeDocument/2006/relationships/image" Target="../media/image130.wmf"/><Relationship Id="rId5" Type="http://schemas.openxmlformats.org/officeDocument/2006/relationships/oleObject" Target="../embeddings/oleObject171.bin"/><Relationship Id="rId4" Type="http://schemas.openxmlformats.org/officeDocument/2006/relationships/image" Target="../media/image129.wmf"/><Relationship Id="rId3" Type="http://schemas.openxmlformats.org/officeDocument/2006/relationships/oleObject" Target="../embeddings/oleObject170.bin"/><Relationship Id="rId2" Type="http://schemas.openxmlformats.org/officeDocument/2006/relationships/image" Target="../media/image128.wmf"/><Relationship Id="rId12" Type="http://schemas.openxmlformats.org/officeDocument/2006/relationships/vmlDrawing" Target="../drawings/vmlDrawing32.vml"/><Relationship Id="rId11" Type="http://schemas.openxmlformats.org/officeDocument/2006/relationships/slideLayout" Target="../slideLayouts/slideLayout2.xml"/><Relationship Id="rId10" Type="http://schemas.openxmlformats.org/officeDocument/2006/relationships/image" Target="../media/image101.wmf"/><Relationship Id="rId1" Type="http://schemas.openxmlformats.org/officeDocument/2006/relationships/oleObject" Target="../embeddings/oleObject169.bin"/></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178.bin"/><Relationship Id="rId8" Type="http://schemas.openxmlformats.org/officeDocument/2006/relationships/image" Target="../media/image131.wmf"/><Relationship Id="rId7" Type="http://schemas.openxmlformats.org/officeDocument/2006/relationships/oleObject" Target="../embeddings/oleObject177.bin"/><Relationship Id="rId6" Type="http://schemas.openxmlformats.org/officeDocument/2006/relationships/image" Target="../media/image130.wmf"/><Relationship Id="rId5" Type="http://schemas.openxmlformats.org/officeDocument/2006/relationships/oleObject" Target="../embeddings/oleObject176.bin"/><Relationship Id="rId4" Type="http://schemas.openxmlformats.org/officeDocument/2006/relationships/image" Target="../media/image129.wmf"/><Relationship Id="rId3" Type="http://schemas.openxmlformats.org/officeDocument/2006/relationships/oleObject" Target="../embeddings/oleObject175.bin"/><Relationship Id="rId2" Type="http://schemas.openxmlformats.org/officeDocument/2006/relationships/image" Target="../media/image128.wmf"/><Relationship Id="rId14" Type="http://schemas.openxmlformats.org/officeDocument/2006/relationships/vmlDrawing" Target="../drawings/vmlDrawing33.vml"/><Relationship Id="rId13" Type="http://schemas.openxmlformats.org/officeDocument/2006/relationships/slideLayout" Target="../slideLayouts/slideLayout2.xml"/><Relationship Id="rId12" Type="http://schemas.openxmlformats.org/officeDocument/2006/relationships/image" Target="../media/image101.wmf"/><Relationship Id="rId11" Type="http://schemas.openxmlformats.org/officeDocument/2006/relationships/oleObject" Target="../embeddings/oleObject179.bin"/><Relationship Id="rId10" Type="http://schemas.openxmlformats.org/officeDocument/2006/relationships/image" Target="../media/image132.wmf"/><Relationship Id="rId1" Type="http://schemas.openxmlformats.org/officeDocument/2006/relationships/oleObject" Target="../embeddings/oleObject174.bin"/></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184.bin"/><Relationship Id="rId8" Type="http://schemas.openxmlformats.org/officeDocument/2006/relationships/image" Target="../media/image131.wmf"/><Relationship Id="rId7" Type="http://schemas.openxmlformats.org/officeDocument/2006/relationships/oleObject" Target="../embeddings/oleObject183.bin"/><Relationship Id="rId6" Type="http://schemas.openxmlformats.org/officeDocument/2006/relationships/image" Target="../media/image130.wmf"/><Relationship Id="rId5" Type="http://schemas.openxmlformats.org/officeDocument/2006/relationships/oleObject" Target="../embeddings/oleObject182.bin"/><Relationship Id="rId4" Type="http://schemas.openxmlformats.org/officeDocument/2006/relationships/image" Target="../media/image129.wmf"/><Relationship Id="rId3" Type="http://schemas.openxmlformats.org/officeDocument/2006/relationships/oleObject" Target="../embeddings/oleObject181.bin"/><Relationship Id="rId2" Type="http://schemas.openxmlformats.org/officeDocument/2006/relationships/image" Target="../media/image128.wmf"/><Relationship Id="rId16" Type="http://schemas.openxmlformats.org/officeDocument/2006/relationships/vmlDrawing" Target="../drawings/vmlDrawing34.vml"/><Relationship Id="rId15" Type="http://schemas.openxmlformats.org/officeDocument/2006/relationships/slideLayout" Target="../slideLayouts/slideLayout2.xml"/><Relationship Id="rId14" Type="http://schemas.openxmlformats.org/officeDocument/2006/relationships/image" Target="../media/image101.wmf"/><Relationship Id="rId13" Type="http://schemas.openxmlformats.org/officeDocument/2006/relationships/oleObject" Target="../embeddings/oleObject186.bin"/><Relationship Id="rId12" Type="http://schemas.openxmlformats.org/officeDocument/2006/relationships/image" Target="../media/image132.wmf"/><Relationship Id="rId11" Type="http://schemas.openxmlformats.org/officeDocument/2006/relationships/oleObject" Target="../embeddings/oleObject185.bin"/><Relationship Id="rId10" Type="http://schemas.openxmlformats.org/officeDocument/2006/relationships/image" Target="../media/image133.wmf"/><Relationship Id="rId1" Type="http://schemas.openxmlformats.org/officeDocument/2006/relationships/oleObject" Target="../embeddings/oleObject180.bin"/></Relationships>
</file>

<file path=ppt/slides/_rels/slide45.xml.rels><?xml version="1.0" encoding="UTF-8" standalone="yes"?>
<Relationships xmlns="http://schemas.openxmlformats.org/package/2006/relationships"><Relationship Id="rId8" Type="http://schemas.openxmlformats.org/officeDocument/2006/relationships/vmlDrawing" Target="../drawings/vmlDrawing35.vml"/><Relationship Id="rId7" Type="http://schemas.openxmlformats.org/officeDocument/2006/relationships/slideLayout" Target="../slideLayouts/slideLayout2.xml"/><Relationship Id="rId6" Type="http://schemas.openxmlformats.org/officeDocument/2006/relationships/image" Target="../media/image101.wmf"/><Relationship Id="rId5" Type="http://schemas.openxmlformats.org/officeDocument/2006/relationships/oleObject" Target="../embeddings/oleObject189.bin"/><Relationship Id="rId4" Type="http://schemas.openxmlformats.org/officeDocument/2006/relationships/image" Target="../media/image135.wmf"/><Relationship Id="rId3" Type="http://schemas.openxmlformats.org/officeDocument/2006/relationships/oleObject" Target="../embeddings/oleObject188.bin"/><Relationship Id="rId2" Type="http://schemas.openxmlformats.org/officeDocument/2006/relationships/image" Target="../media/image134.wmf"/><Relationship Id="rId1" Type="http://schemas.openxmlformats.org/officeDocument/2006/relationships/oleObject" Target="../embeddings/oleObject187.bin"/></Relationships>
</file>

<file path=ppt/slides/_rels/slide46.xml.rels><?xml version="1.0" encoding="UTF-8" standalone="yes"?>
<Relationships xmlns="http://schemas.openxmlformats.org/package/2006/relationships"><Relationship Id="rId8" Type="http://schemas.openxmlformats.org/officeDocument/2006/relationships/vmlDrawing" Target="../drawings/vmlDrawing36.vml"/><Relationship Id="rId7" Type="http://schemas.openxmlformats.org/officeDocument/2006/relationships/slideLayout" Target="../slideLayouts/slideLayout2.xml"/><Relationship Id="rId6" Type="http://schemas.openxmlformats.org/officeDocument/2006/relationships/image" Target="../media/image101.wmf"/><Relationship Id="rId5" Type="http://schemas.openxmlformats.org/officeDocument/2006/relationships/oleObject" Target="../embeddings/oleObject192.bin"/><Relationship Id="rId4" Type="http://schemas.openxmlformats.org/officeDocument/2006/relationships/image" Target="../media/image137.wmf"/><Relationship Id="rId3" Type="http://schemas.openxmlformats.org/officeDocument/2006/relationships/oleObject" Target="../embeddings/oleObject191.bin"/><Relationship Id="rId2" Type="http://schemas.openxmlformats.org/officeDocument/2006/relationships/image" Target="../media/image136.wmf"/><Relationship Id="rId1" Type="http://schemas.openxmlformats.org/officeDocument/2006/relationships/oleObject" Target="../embeddings/oleObject190.bin"/></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8.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9.xml.rels><?xml version="1.0" encoding="UTF-8" standalone="yes"?>
<Relationships xmlns="http://schemas.openxmlformats.org/package/2006/relationships"><Relationship Id="rId9" Type="http://schemas.openxmlformats.org/officeDocument/2006/relationships/image" Target="../media/image142.wmf"/><Relationship Id="rId8" Type="http://schemas.openxmlformats.org/officeDocument/2006/relationships/oleObject" Target="../embeddings/oleObject196.bin"/><Relationship Id="rId7" Type="http://schemas.openxmlformats.org/officeDocument/2006/relationships/image" Target="../media/image141.wmf"/><Relationship Id="rId6" Type="http://schemas.openxmlformats.org/officeDocument/2006/relationships/oleObject" Target="../embeddings/oleObject195.bin"/><Relationship Id="rId5" Type="http://schemas.openxmlformats.org/officeDocument/2006/relationships/image" Target="../media/image140.wmf"/><Relationship Id="rId4" Type="http://schemas.openxmlformats.org/officeDocument/2006/relationships/oleObject" Target="../embeddings/oleObject194.bin"/><Relationship Id="rId3" Type="http://schemas.openxmlformats.org/officeDocument/2006/relationships/image" Target="../media/image139.wmf"/><Relationship Id="rId20" Type="http://schemas.openxmlformats.org/officeDocument/2006/relationships/notesSlide" Target="../notesSlides/notesSlide14.xml"/><Relationship Id="rId2" Type="http://schemas.openxmlformats.org/officeDocument/2006/relationships/oleObject" Target="../embeddings/oleObject193.bin"/><Relationship Id="rId19" Type="http://schemas.openxmlformats.org/officeDocument/2006/relationships/vmlDrawing" Target="../drawings/vmlDrawing37.vml"/><Relationship Id="rId18" Type="http://schemas.openxmlformats.org/officeDocument/2006/relationships/slideLayout" Target="../slideLayouts/slideLayout2.xml"/><Relationship Id="rId17" Type="http://schemas.openxmlformats.org/officeDocument/2006/relationships/image" Target="../media/image145.wmf"/><Relationship Id="rId16" Type="http://schemas.openxmlformats.org/officeDocument/2006/relationships/oleObject" Target="../embeddings/oleObject200.bin"/><Relationship Id="rId15" Type="http://schemas.openxmlformats.org/officeDocument/2006/relationships/image" Target="../media/image101.wmf"/><Relationship Id="rId14" Type="http://schemas.openxmlformats.org/officeDocument/2006/relationships/oleObject" Target="../embeddings/oleObject199.bin"/><Relationship Id="rId13" Type="http://schemas.openxmlformats.org/officeDocument/2006/relationships/image" Target="../media/image144.wmf"/><Relationship Id="rId12" Type="http://schemas.openxmlformats.org/officeDocument/2006/relationships/oleObject" Target="../embeddings/oleObject198.bin"/><Relationship Id="rId11" Type="http://schemas.openxmlformats.org/officeDocument/2006/relationships/image" Target="../media/image143.wmf"/><Relationship Id="rId10" Type="http://schemas.openxmlformats.org/officeDocument/2006/relationships/oleObject" Target="../embeddings/oleObject197.bin"/><Relationship Id="rId1" Type="http://schemas.openxmlformats.org/officeDocument/2006/relationships/image" Target="../media/image9.png"/></Relationships>
</file>

<file path=ppt/slides/_rels/slide50.xml.rels><?xml version="1.0" encoding="UTF-8" standalone="yes"?>
<Relationships xmlns="http://schemas.openxmlformats.org/package/2006/relationships"><Relationship Id="rId7" Type="http://schemas.openxmlformats.org/officeDocument/2006/relationships/vmlDrawing" Target="../drawings/vmlDrawing38.vml"/><Relationship Id="rId6" Type="http://schemas.openxmlformats.org/officeDocument/2006/relationships/slideLayout" Target="../slideLayouts/slideLayout2.xml"/><Relationship Id="rId5" Type="http://schemas.openxmlformats.org/officeDocument/2006/relationships/image" Target="../media/image144.wmf"/><Relationship Id="rId4" Type="http://schemas.openxmlformats.org/officeDocument/2006/relationships/oleObject" Target="../embeddings/oleObject202.bin"/><Relationship Id="rId3" Type="http://schemas.openxmlformats.org/officeDocument/2006/relationships/image" Target="../media/image146.wmf"/><Relationship Id="rId2" Type="http://schemas.openxmlformats.org/officeDocument/2006/relationships/oleObject" Target="../embeddings/oleObject201.bin"/><Relationship Id="rId1" Type="http://schemas.openxmlformats.org/officeDocument/2006/relationships/image" Target="../media/image9.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2.xml.rels><?xml version="1.0" encoding="UTF-8" standalone="yes"?>
<Relationships xmlns="http://schemas.openxmlformats.org/package/2006/relationships"><Relationship Id="rId9" Type="http://schemas.openxmlformats.org/officeDocument/2006/relationships/image" Target="../media/image150.wmf"/><Relationship Id="rId8" Type="http://schemas.openxmlformats.org/officeDocument/2006/relationships/oleObject" Target="../embeddings/oleObject206.bin"/><Relationship Id="rId7" Type="http://schemas.openxmlformats.org/officeDocument/2006/relationships/image" Target="../media/image149.wmf"/><Relationship Id="rId6" Type="http://schemas.openxmlformats.org/officeDocument/2006/relationships/oleObject" Target="../embeddings/oleObject205.bin"/><Relationship Id="rId5" Type="http://schemas.openxmlformats.org/officeDocument/2006/relationships/image" Target="../media/image148.wmf"/><Relationship Id="rId4" Type="http://schemas.openxmlformats.org/officeDocument/2006/relationships/oleObject" Target="../embeddings/oleObject204.bin"/><Relationship Id="rId3" Type="http://schemas.openxmlformats.org/officeDocument/2006/relationships/image" Target="../media/image147.wmf"/><Relationship Id="rId26" Type="http://schemas.openxmlformats.org/officeDocument/2006/relationships/vmlDrawing" Target="../drawings/vmlDrawing39.vml"/><Relationship Id="rId25" Type="http://schemas.openxmlformats.org/officeDocument/2006/relationships/slideLayout" Target="../slideLayouts/slideLayout2.xml"/><Relationship Id="rId24" Type="http://schemas.openxmlformats.org/officeDocument/2006/relationships/oleObject" Target="../embeddings/oleObject214.bin"/><Relationship Id="rId23" Type="http://schemas.openxmlformats.org/officeDocument/2006/relationships/image" Target="../media/image157.wmf"/><Relationship Id="rId22" Type="http://schemas.openxmlformats.org/officeDocument/2006/relationships/oleObject" Target="../embeddings/oleObject213.bin"/><Relationship Id="rId21" Type="http://schemas.openxmlformats.org/officeDocument/2006/relationships/image" Target="../media/image156.wmf"/><Relationship Id="rId20" Type="http://schemas.openxmlformats.org/officeDocument/2006/relationships/oleObject" Target="../embeddings/oleObject212.bin"/><Relationship Id="rId2" Type="http://schemas.openxmlformats.org/officeDocument/2006/relationships/oleObject" Target="../embeddings/oleObject203.bin"/><Relationship Id="rId19" Type="http://schemas.openxmlformats.org/officeDocument/2006/relationships/image" Target="../media/image155.wmf"/><Relationship Id="rId18" Type="http://schemas.openxmlformats.org/officeDocument/2006/relationships/oleObject" Target="../embeddings/oleObject211.bin"/><Relationship Id="rId17" Type="http://schemas.openxmlformats.org/officeDocument/2006/relationships/image" Target="../media/image154.wmf"/><Relationship Id="rId16" Type="http://schemas.openxmlformats.org/officeDocument/2006/relationships/oleObject" Target="../embeddings/oleObject210.bin"/><Relationship Id="rId15" Type="http://schemas.openxmlformats.org/officeDocument/2006/relationships/image" Target="../media/image153.wmf"/><Relationship Id="rId14" Type="http://schemas.openxmlformats.org/officeDocument/2006/relationships/oleObject" Target="../embeddings/oleObject209.bin"/><Relationship Id="rId13" Type="http://schemas.openxmlformats.org/officeDocument/2006/relationships/image" Target="../media/image152.wmf"/><Relationship Id="rId12" Type="http://schemas.openxmlformats.org/officeDocument/2006/relationships/oleObject" Target="../embeddings/oleObject208.bin"/><Relationship Id="rId11" Type="http://schemas.openxmlformats.org/officeDocument/2006/relationships/image" Target="../media/image151.wmf"/><Relationship Id="rId10" Type="http://schemas.openxmlformats.org/officeDocument/2006/relationships/oleObject" Target="../embeddings/oleObject207.bin"/><Relationship Id="rId1" Type="http://schemas.openxmlformats.org/officeDocument/2006/relationships/image" Target="../media/image9.png"/></Relationships>
</file>

<file path=ppt/slides/_rels/slide53.xml.rels><?xml version="1.0" encoding="UTF-8" standalone="yes"?>
<Relationships xmlns="http://schemas.openxmlformats.org/package/2006/relationships"><Relationship Id="rId9" Type="http://schemas.openxmlformats.org/officeDocument/2006/relationships/image" Target="../media/image150.wmf"/><Relationship Id="rId8" Type="http://schemas.openxmlformats.org/officeDocument/2006/relationships/oleObject" Target="../embeddings/oleObject218.bin"/><Relationship Id="rId7" Type="http://schemas.openxmlformats.org/officeDocument/2006/relationships/image" Target="../media/image149.wmf"/><Relationship Id="rId6" Type="http://schemas.openxmlformats.org/officeDocument/2006/relationships/oleObject" Target="../embeddings/oleObject217.bin"/><Relationship Id="rId5" Type="http://schemas.openxmlformats.org/officeDocument/2006/relationships/image" Target="../media/image148.wmf"/><Relationship Id="rId4" Type="http://schemas.openxmlformats.org/officeDocument/2006/relationships/oleObject" Target="../embeddings/oleObject216.bin"/><Relationship Id="rId3" Type="http://schemas.openxmlformats.org/officeDocument/2006/relationships/image" Target="../media/image147.wmf"/><Relationship Id="rId2" Type="http://schemas.openxmlformats.org/officeDocument/2006/relationships/oleObject" Target="../embeddings/oleObject215.bin"/><Relationship Id="rId19" Type="http://schemas.openxmlformats.org/officeDocument/2006/relationships/vmlDrawing" Target="../drawings/vmlDrawing40.vml"/><Relationship Id="rId18" Type="http://schemas.openxmlformats.org/officeDocument/2006/relationships/slideLayout" Target="../slideLayouts/slideLayout2.xml"/><Relationship Id="rId17" Type="http://schemas.openxmlformats.org/officeDocument/2006/relationships/image" Target="../media/image161.wmf"/><Relationship Id="rId16" Type="http://schemas.openxmlformats.org/officeDocument/2006/relationships/oleObject" Target="../embeddings/oleObject222.bin"/><Relationship Id="rId15" Type="http://schemas.openxmlformats.org/officeDocument/2006/relationships/image" Target="../media/image160.wmf"/><Relationship Id="rId14" Type="http://schemas.openxmlformats.org/officeDocument/2006/relationships/oleObject" Target="../embeddings/oleObject221.bin"/><Relationship Id="rId13" Type="http://schemas.openxmlformats.org/officeDocument/2006/relationships/image" Target="../media/image159.wmf"/><Relationship Id="rId12" Type="http://schemas.openxmlformats.org/officeDocument/2006/relationships/oleObject" Target="../embeddings/oleObject220.bin"/><Relationship Id="rId11" Type="http://schemas.openxmlformats.org/officeDocument/2006/relationships/image" Target="../media/image158.wmf"/><Relationship Id="rId10" Type="http://schemas.openxmlformats.org/officeDocument/2006/relationships/oleObject" Target="../embeddings/oleObject219.bin"/><Relationship Id="rId1" Type="http://schemas.openxmlformats.org/officeDocument/2006/relationships/image" Target="../media/image9.png"/></Relationships>
</file>

<file path=ppt/slides/_rels/slide54.xml.rels><?xml version="1.0" encoding="UTF-8" standalone="yes"?>
<Relationships xmlns="http://schemas.openxmlformats.org/package/2006/relationships"><Relationship Id="rId9" Type="http://schemas.openxmlformats.org/officeDocument/2006/relationships/image" Target="../media/image150.wmf"/><Relationship Id="rId8" Type="http://schemas.openxmlformats.org/officeDocument/2006/relationships/oleObject" Target="../embeddings/oleObject226.bin"/><Relationship Id="rId7" Type="http://schemas.openxmlformats.org/officeDocument/2006/relationships/image" Target="../media/image149.wmf"/><Relationship Id="rId6" Type="http://schemas.openxmlformats.org/officeDocument/2006/relationships/oleObject" Target="../embeddings/oleObject225.bin"/><Relationship Id="rId5" Type="http://schemas.openxmlformats.org/officeDocument/2006/relationships/image" Target="../media/image148.wmf"/><Relationship Id="rId4" Type="http://schemas.openxmlformats.org/officeDocument/2006/relationships/oleObject" Target="../embeddings/oleObject224.bin"/><Relationship Id="rId3" Type="http://schemas.openxmlformats.org/officeDocument/2006/relationships/image" Target="../media/image147.wmf"/><Relationship Id="rId2" Type="http://schemas.openxmlformats.org/officeDocument/2006/relationships/oleObject" Target="../embeddings/oleObject223.bin"/><Relationship Id="rId15" Type="http://schemas.openxmlformats.org/officeDocument/2006/relationships/vmlDrawing" Target="../drawings/vmlDrawing41.vml"/><Relationship Id="rId14" Type="http://schemas.openxmlformats.org/officeDocument/2006/relationships/slideLayout" Target="../slideLayouts/slideLayout2.xml"/><Relationship Id="rId13" Type="http://schemas.openxmlformats.org/officeDocument/2006/relationships/image" Target="../media/image163.wmf"/><Relationship Id="rId12" Type="http://schemas.openxmlformats.org/officeDocument/2006/relationships/oleObject" Target="../embeddings/oleObject228.bin"/><Relationship Id="rId11" Type="http://schemas.openxmlformats.org/officeDocument/2006/relationships/image" Target="../media/image162.wmf"/><Relationship Id="rId10" Type="http://schemas.openxmlformats.org/officeDocument/2006/relationships/oleObject" Target="../embeddings/oleObject227.bin"/><Relationship Id="rId1" Type="http://schemas.openxmlformats.org/officeDocument/2006/relationships/image" Target="../media/image9.png"/></Relationships>
</file>

<file path=ppt/slides/_rels/slide55.xml.rels><?xml version="1.0" encoding="UTF-8" standalone="yes"?>
<Relationships xmlns="http://schemas.openxmlformats.org/package/2006/relationships"><Relationship Id="rId9" Type="http://schemas.openxmlformats.org/officeDocument/2006/relationships/image" Target="../media/image150.wmf"/><Relationship Id="rId8" Type="http://schemas.openxmlformats.org/officeDocument/2006/relationships/oleObject" Target="../embeddings/oleObject232.bin"/><Relationship Id="rId7" Type="http://schemas.openxmlformats.org/officeDocument/2006/relationships/image" Target="../media/image149.wmf"/><Relationship Id="rId6" Type="http://schemas.openxmlformats.org/officeDocument/2006/relationships/oleObject" Target="../embeddings/oleObject231.bin"/><Relationship Id="rId5" Type="http://schemas.openxmlformats.org/officeDocument/2006/relationships/image" Target="../media/image148.wmf"/><Relationship Id="rId4" Type="http://schemas.openxmlformats.org/officeDocument/2006/relationships/oleObject" Target="../embeddings/oleObject230.bin"/><Relationship Id="rId3" Type="http://schemas.openxmlformats.org/officeDocument/2006/relationships/image" Target="../media/image147.wmf"/><Relationship Id="rId2" Type="http://schemas.openxmlformats.org/officeDocument/2006/relationships/oleObject" Target="../embeddings/oleObject229.bin"/><Relationship Id="rId19" Type="http://schemas.openxmlformats.org/officeDocument/2006/relationships/vmlDrawing" Target="../drawings/vmlDrawing42.vml"/><Relationship Id="rId18" Type="http://schemas.openxmlformats.org/officeDocument/2006/relationships/slideLayout" Target="../slideLayouts/slideLayout2.xml"/><Relationship Id="rId17" Type="http://schemas.openxmlformats.org/officeDocument/2006/relationships/image" Target="../media/image167.wmf"/><Relationship Id="rId16" Type="http://schemas.openxmlformats.org/officeDocument/2006/relationships/oleObject" Target="../embeddings/oleObject236.bin"/><Relationship Id="rId15" Type="http://schemas.openxmlformats.org/officeDocument/2006/relationships/image" Target="../media/image166.wmf"/><Relationship Id="rId14" Type="http://schemas.openxmlformats.org/officeDocument/2006/relationships/oleObject" Target="../embeddings/oleObject235.bin"/><Relationship Id="rId13" Type="http://schemas.openxmlformats.org/officeDocument/2006/relationships/image" Target="../media/image165.wmf"/><Relationship Id="rId12" Type="http://schemas.openxmlformats.org/officeDocument/2006/relationships/oleObject" Target="../embeddings/oleObject234.bin"/><Relationship Id="rId11" Type="http://schemas.openxmlformats.org/officeDocument/2006/relationships/image" Target="../media/image164.wmf"/><Relationship Id="rId10" Type="http://schemas.openxmlformats.org/officeDocument/2006/relationships/oleObject" Target="../embeddings/oleObject233.bin"/><Relationship Id="rId1" Type="http://schemas.openxmlformats.org/officeDocument/2006/relationships/image" Target="../media/image9.png"/></Relationships>
</file>

<file path=ppt/slides/_rels/slide56.xml.rels><?xml version="1.0" encoding="UTF-8" standalone="yes"?>
<Relationships xmlns="http://schemas.openxmlformats.org/package/2006/relationships"><Relationship Id="rId9" Type="http://schemas.openxmlformats.org/officeDocument/2006/relationships/image" Target="../media/image150.wmf"/><Relationship Id="rId8" Type="http://schemas.openxmlformats.org/officeDocument/2006/relationships/oleObject" Target="../embeddings/oleObject240.bin"/><Relationship Id="rId7" Type="http://schemas.openxmlformats.org/officeDocument/2006/relationships/image" Target="../media/image149.wmf"/><Relationship Id="rId6" Type="http://schemas.openxmlformats.org/officeDocument/2006/relationships/oleObject" Target="../embeddings/oleObject239.bin"/><Relationship Id="rId5" Type="http://schemas.openxmlformats.org/officeDocument/2006/relationships/image" Target="../media/image148.wmf"/><Relationship Id="rId4" Type="http://schemas.openxmlformats.org/officeDocument/2006/relationships/oleObject" Target="../embeddings/oleObject238.bin"/><Relationship Id="rId3" Type="http://schemas.openxmlformats.org/officeDocument/2006/relationships/image" Target="../media/image147.wmf"/><Relationship Id="rId21" Type="http://schemas.openxmlformats.org/officeDocument/2006/relationships/vmlDrawing" Target="../drawings/vmlDrawing43.vml"/><Relationship Id="rId20" Type="http://schemas.openxmlformats.org/officeDocument/2006/relationships/slideLayout" Target="../slideLayouts/slideLayout2.xml"/><Relationship Id="rId2" Type="http://schemas.openxmlformats.org/officeDocument/2006/relationships/oleObject" Target="../embeddings/oleObject237.bin"/><Relationship Id="rId19" Type="http://schemas.openxmlformats.org/officeDocument/2006/relationships/image" Target="../media/image172.wmf"/><Relationship Id="rId18" Type="http://schemas.openxmlformats.org/officeDocument/2006/relationships/oleObject" Target="../embeddings/oleObject245.bin"/><Relationship Id="rId17" Type="http://schemas.openxmlformats.org/officeDocument/2006/relationships/image" Target="../media/image171.wmf"/><Relationship Id="rId16" Type="http://schemas.openxmlformats.org/officeDocument/2006/relationships/oleObject" Target="../embeddings/oleObject244.bin"/><Relationship Id="rId15" Type="http://schemas.openxmlformats.org/officeDocument/2006/relationships/image" Target="../media/image170.wmf"/><Relationship Id="rId14" Type="http://schemas.openxmlformats.org/officeDocument/2006/relationships/oleObject" Target="../embeddings/oleObject243.bin"/><Relationship Id="rId13" Type="http://schemas.openxmlformats.org/officeDocument/2006/relationships/image" Target="../media/image169.wmf"/><Relationship Id="rId12" Type="http://schemas.openxmlformats.org/officeDocument/2006/relationships/oleObject" Target="../embeddings/oleObject242.bin"/><Relationship Id="rId11" Type="http://schemas.openxmlformats.org/officeDocument/2006/relationships/image" Target="../media/image168.wmf"/><Relationship Id="rId10" Type="http://schemas.openxmlformats.org/officeDocument/2006/relationships/oleObject" Target="../embeddings/oleObject241.bin"/><Relationship Id="rId1" Type="http://schemas.openxmlformats.org/officeDocument/2006/relationships/image" Target="../media/image9.png"/></Relationships>
</file>

<file path=ppt/slides/_rels/slide57.xml.rels><?xml version="1.0" encoding="UTF-8" standalone="yes"?>
<Relationships xmlns="http://schemas.openxmlformats.org/package/2006/relationships"><Relationship Id="rId9" Type="http://schemas.openxmlformats.org/officeDocument/2006/relationships/image" Target="../media/image150.wmf"/><Relationship Id="rId8" Type="http://schemas.openxmlformats.org/officeDocument/2006/relationships/oleObject" Target="../embeddings/oleObject249.bin"/><Relationship Id="rId7" Type="http://schemas.openxmlformats.org/officeDocument/2006/relationships/image" Target="../media/image149.wmf"/><Relationship Id="rId6" Type="http://schemas.openxmlformats.org/officeDocument/2006/relationships/oleObject" Target="../embeddings/oleObject248.bin"/><Relationship Id="rId5" Type="http://schemas.openxmlformats.org/officeDocument/2006/relationships/image" Target="../media/image148.wmf"/><Relationship Id="rId4" Type="http://schemas.openxmlformats.org/officeDocument/2006/relationships/oleObject" Target="../embeddings/oleObject247.bin"/><Relationship Id="rId3" Type="http://schemas.openxmlformats.org/officeDocument/2006/relationships/image" Target="../media/image147.wmf"/><Relationship Id="rId2" Type="http://schemas.openxmlformats.org/officeDocument/2006/relationships/oleObject" Target="../embeddings/oleObject246.bin"/><Relationship Id="rId19" Type="http://schemas.openxmlformats.org/officeDocument/2006/relationships/vmlDrawing" Target="../drawings/vmlDrawing44.vml"/><Relationship Id="rId18" Type="http://schemas.openxmlformats.org/officeDocument/2006/relationships/slideLayout" Target="../slideLayouts/slideLayout2.xml"/><Relationship Id="rId17" Type="http://schemas.openxmlformats.org/officeDocument/2006/relationships/image" Target="../media/image152.wmf"/><Relationship Id="rId16" Type="http://schemas.openxmlformats.org/officeDocument/2006/relationships/oleObject" Target="../embeddings/oleObject253.bin"/><Relationship Id="rId15" Type="http://schemas.openxmlformats.org/officeDocument/2006/relationships/image" Target="../media/image174.wmf"/><Relationship Id="rId14" Type="http://schemas.openxmlformats.org/officeDocument/2006/relationships/oleObject" Target="../embeddings/oleObject252.bin"/><Relationship Id="rId13" Type="http://schemas.openxmlformats.org/officeDocument/2006/relationships/image" Target="../media/image173.wmf"/><Relationship Id="rId12" Type="http://schemas.openxmlformats.org/officeDocument/2006/relationships/oleObject" Target="../embeddings/oleObject251.bin"/><Relationship Id="rId11" Type="http://schemas.openxmlformats.org/officeDocument/2006/relationships/image" Target="../media/image171.wmf"/><Relationship Id="rId10" Type="http://schemas.openxmlformats.org/officeDocument/2006/relationships/oleObject" Target="../embeddings/oleObject250.bin"/><Relationship Id="rId1" Type="http://schemas.openxmlformats.org/officeDocument/2006/relationships/image" Target="../media/image9.png"/></Relationships>
</file>

<file path=ppt/slides/_rels/slide58.xml.rels><?xml version="1.0" encoding="UTF-8" standalone="yes"?>
<Relationships xmlns="http://schemas.openxmlformats.org/package/2006/relationships"><Relationship Id="rId9" Type="http://schemas.openxmlformats.org/officeDocument/2006/relationships/image" Target="../media/image150.wmf"/><Relationship Id="rId8" Type="http://schemas.openxmlformats.org/officeDocument/2006/relationships/oleObject" Target="../embeddings/oleObject257.bin"/><Relationship Id="rId7" Type="http://schemas.openxmlformats.org/officeDocument/2006/relationships/image" Target="../media/image149.wmf"/><Relationship Id="rId6" Type="http://schemas.openxmlformats.org/officeDocument/2006/relationships/oleObject" Target="../embeddings/oleObject256.bin"/><Relationship Id="rId5" Type="http://schemas.openxmlformats.org/officeDocument/2006/relationships/image" Target="../media/image148.wmf"/><Relationship Id="rId4" Type="http://schemas.openxmlformats.org/officeDocument/2006/relationships/oleObject" Target="../embeddings/oleObject255.bin"/><Relationship Id="rId33" Type="http://schemas.openxmlformats.org/officeDocument/2006/relationships/vmlDrawing" Target="../drawings/vmlDrawing45.vml"/><Relationship Id="rId32" Type="http://schemas.openxmlformats.org/officeDocument/2006/relationships/slideLayout" Target="../slideLayouts/slideLayout2.xml"/><Relationship Id="rId31" Type="http://schemas.openxmlformats.org/officeDocument/2006/relationships/image" Target="../media/image185.wmf"/><Relationship Id="rId30" Type="http://schemas.openxmlformats.org/officeDocument/2006/relationships/oleObject" Target="../embeddings/oleObject268.bin"/><Relationship Id="rId3" Type="http://schemas.openxmlformats.org/officeDocument/2006/relationships/image" Target="../media/image147.wmf"/><Relationship Id="rId29" Type="http://schemas.openxmlformats.org/officeDocument/2006/relationships/image" Target="../media/image184.wmf"/><Relationship Id="rId28" Type="http://schemas.openxmlformats.org/officeDocument/2006/relationships/oleObject" Target="../embeddings/oleObject267.bin"/><Relationship Id="rId27" Type="http://schemas.openxmlformats.org/officeDocument/2006/relationships/image" Target="../media/image183.wmf"/><Relationship Id="rId26" Type="http://schemas.openxmlformats.org/officeDocument/2006/relationships/oleObject" Target="../embeddings/oleObject266.bin"/><Relationship Id="rId25" Type="http://schemas.openxmlformats.org/officeDocument/2006/relationships/image" Target="../media/image182.wmf"/><Relationship Id="rId24" Type="http://schemas.openxmlformats.org/officeDocument/2006/relationships/oleObject" Target="../embeddings/oleObject265.bin"/><Relationship Id="rId23" Type="http://schemas.openxmlformats.org/officeDocument/2006/relationships/image" Target="../media/image181.wmf"/><Relationship Id="rId22" Type="http://schemas.openxmlformats.org/officeDocument/2006/relationships/oleObject" Target="../embeddings/oleObject264.bin"/><Relationship Id="rId21" Type="http://schemas.openxmlformats.org/officeDocument/2006/relationships/image" Target="../media/image180.wmf"/><Relationship Id="rId20" Type="http://schemas.openxmlformats.org/officeDocument/2006/relationships/oleObject" Target="../embeddings/oleObject263.bin"/><Relationship Id="rId2" Type="http://schemas.openxmlformats.org/officeDocument/2006/relationships/oleObject" Target="../embeddings/oleObject254.bin"/><Relationship Id="rId19" Type="http://schemas.openxmlformats.org/officeDocument/2006/relationships/image" Target="../media/image179.wmf"/><Relationship Id="rId18" Type="http://schemas.openxmlformats.org/officeDocument/2006/relationships/oleObject" Target="../embeddings/oleObject262.bin"/><Relationship Id="rId17" Type="http://schemas.openxmlformats.org/officeDocument/2006/relationships/image" Target="../media/image178.wmf"/><Relationship Id="rId16" Type="http://schemas.openxmlformats.org/officeDocument/2006/relationships/oleObject" Target="../embeddings/oleObject261.bin"/><Relationship Id="rId15" Type="http://schemas.openxmlformats.org/officeDocument/2006/relationships/image" Target="../media/image177.wmf"/><Relationship Id="rId14" Type="http://schemas.openxmlformats.org/officeDocument/2006/relationships/oleObject" Target="../embeddings/oleObject260.bin"/><Relationship Id="rId13" Type="http://schemas.openxmlformats.org/officeDocument/2006/relationships/image" Target="../media/image176.wmf"/><Relationship Id="rId12" Type="http://schemas.openxmlformats.org/officeDocument/2006/relationships/oleObject" Target="../embeddings/oleObject259.bin"/><Relationship Id="rId11" Type="http://schemas.openxmlformats.org/officeDocument/2006/relationships/image" Target="../media/image175.wmf"/><Relationship Id="rId10" Type="http://schemas.openxmlformats.org/officeDocument/2006/relationships/oleObject" Target="../embeddings/oleObject258.bin"/><Relationship Id="rId1" Type="http://schemas.openxmlformats.org/officeDocument/2006/relationships/image" Target="../media/image9.png"/></Relationships>
</file>

<file path=ppt/slides/_rels/slide59.xml.rels><?xml version="1.0" encoding="UTF-8" standalone="yes"?>
<Relationships xmlns="http://schemas.openxmlformats.org/package/2006/relationships"><Relationship Id="rId9" Type="http://schemas.openxmlformats.org/officeDocument/2006/relationships/image" Target="../media/image150.wmf"/><Relationship Id="rId8" Type="http://schemas.openxmlformats.org/officeDocument/2006/relationships/oleObject" Target="../embeddings/oleObject272.bin"/><Relationship Id="rId7" Type="http://schemas.openxmlformats.org/officeDocument/2006/relationships/image" Target="../media/image149.wmf"/><Relationship Id="rId6" Type="http://schemas.openxmlformats.org/officeDocument/2006/relationships/oleObject" Target="../embeddings/oleObject271.bin"/><Relationship Id="rId5" Type="http://schemas.openxmlformats.org/officeDocument/2006/relationships/image" Target="../media/image148.wmf"/><Relationship Id="rId4" Type="http://schemas.openxmlformats.org/officeDocument/2006/relationships/oleObject" Target="../embeddings/oleObject270.bin"/><Relationship Id="rId3" Type="http://schemas.openxmlformats.org/officeDocument/2006/relationships/image" Target="../media/image147.wmf"/><Relationship Id="rId22" Type="http://schemas.openxmlformats.org/officeDocument/2006/relationships/vmlDrawing" Target="../drawings/vmlDrawing46.vml"/><Relationship Id="rId21" Type="http://schemas.openxmlformats.org/officeDocument/2006/relationships/slideLayout" Target="../slideLayouts/slideLayout2.xml"/><Relationship Id="rId20" Type="http://schemas.openxmlformats.org/officeDocument/2006/relationships/image" Target="../media/image108.wmf"/><Relationship Id="rId2" Type="http://schemas.openxmlformats.org/officeDocument/2006/relationships/oleObject" Target="../embeddings/oleObject269.bin"/><Relationship Id="rId19" Type="http://schemas.openxmlformats.org/officeDocument/2006/relationships/oleObject" Target="../embeddings/oleObject278.bin"/><Relationship Id="rId18" Type="http://schemas.openxmlformats.org/officeDocument/2006/relationships/image" Target="../media/image189.wmf"/><Relationship Id="rId17" Type="http://schemas.openxmlformats.org/officeDocument/2006/relationships/oleObject" Target="../embeddings/oleObject277.bin"/><Relationship Id="rId16" Type="http://schemas.openxmlformats.org/officeDocument/2006/relationships/image" Target="../media/image188.wmf"/><Relationship Id="rId15" Type="http://schemas.openxmlformats.org/officeDocument/2006/relationships/oleObject" Target="../embeddings/oleObject276.bin"/><Relationship Id="rId14" Type="http://schemas.openxmlformats.org/officeDocument/2006/relationships/oleObject" Target="../embeddings/oleObject275.bin"/><Relationship Id="rId13" Type="http://schemas.openxmlformats.org/officeDocument/2006/relationships/image" Target="../media/image187.wmf"/><Relationship Id="rId12" Type="http://schemas.openxmlformats.org/officeDocument/2006/relationships/oleObject" Target="../embeddings/oleObject274.bin"/><Relationship Id="rId11" Type="http://schemas.openxmlformats.org/officeDocument/2006/relationships/image" Target="../media/image186.wmf"/><Relationship Id="rId10" Type="http://schemas.openxmlformats.org/officeDocument/2006/relationships/oleObject" Target="../embeddings/oleObject273.bin"/><Relationship Id="rId1" Type="http://schemas.openxmlformats.org/officeDocument/2006/relationships/image" Target="../media/image9.png"/></Relationships>
</file>

<file path=ppt/slides/_rels/slide60.xml.rels><?xml version="1.0" encoding="UTF-8" standalone="yes"?>
<Relationships xmlns="http://schemas.openxmlformats.org/package/2006/relationships"><Relationship Id="rId5" Type="http://schemas.openxmlformats.org/officeDocument/2006/relationships/vmlDrawing" Target="../drawings/vmlDrawing47.vml"/><Relationship Id="rId4" Type="http://schemas.openxmlformats.org/officeDocument/2006/relationships/slideLayout" Target="../slideLayouts/slideLayout2.xml"/><Relationship Id="rId3" Type="http://schemas.openxmlformats.org/officeDocument/2006/relationships/image" Target="../media/image173.wmf"/><Relationship Id="rId2" Type="http://schemas.openxmlformats.org/officeDocument/2006/relationships/oleObject" Target="../embeddings/oleObject279.bin"/><Relationship Id="rId1" Type="http://schemas.openxmlformats.org/officeDocument/2006/relationships/image" Target="../media/image9.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19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6" name="Rectangle 4"/>
          <p:cNvSpPr>
            <a:spLocks noGrp="1" noChangeArrowheads="1"/>
          </p:cNvSpPr>
          <p:nvPr>
            <p:ph type="ctrTitle"/>
          </p:nvPr>
        </p:nvSpPr>
        <p:spPr>
          <a:xfrm>
            <a:off x="2452662" y="2038135"/>
            <a:ext cx="7786742" cy="747712"/>
          </a:xfrm>
        </p:spPr>
        <p:txBody>
          <a:bodyPr/>
          <a:lstStyle/>
          <a:p>
            <a:pPr>
              <a:lnSpc>
                <a:spcPct val="65000"/>
              </a:lnSpc>
              <a:spcBef>
                <a:spcPct val="50000"/>
              </a:spcBef>
              <a:defRPr/>
            </a:pPr>
            <a:r>
              <a:rPr lang="zh-CN" altLang="en-US" sz="6000" dirty="0">
                <a:solidFill>
                  <a:srgbClr val="0000FF"/>
                </a:solidFill>
                <a:latin typeface="方正姚体" panose="02010601030101010101" pitchFamily="2" charset="-122"/>
                <a:ea typeface="方正姚体" panose="02010601030101010101" pitchFamily="2" charset="-122"/>
                <a:cs typeface="+mn-cs"/>
              </a:rPr>
              <a:t>模式识别与机器学习</a:t>
            </a:r>
            <a:endParaRPr lang="zh-CN" altLang="en-GB" sz="6000" dirty="0">
              <a:solidFill>
                <a:srgbClr val="0000FF"/>
              </a:solidFill>
              <a:latin typeface="方正姚体" panose="02010601030101010101" pitchFamily="2" charset="-122"/>
              <a:ea typeface="方正姚体" panose="02010601030101010101" pitchFamily="2" charset="-122"/>
              <a:cs typeface="+mn-cs"/>
            </a:endParaRPr>
          </a:p>
        </p:txBody>
      </p:sp>
      <p:sp>
        <p:nvSpPr>
          <p:cNvPr id="4100" name="TextBox 6"/>
          <p:cNvSpPr txBox="1">
            <a:spLocks noChangeArrowheads="1"/>
          </p:cNvSpPr>
          <p:nvPr/>
        </p:nvSpPr>
        <p:spPr bwMode="auto">
          <a:xfrm>
            <a:off x="6672064" y="281925"/>
            <a:ext cx="5369223" cy="646331"/>
          </a:xfrm>
          <a:prstGeom prst="rect">
            <a:avLst/>
          </a:prstGeom>
          <a:noFill/>
          <a:ln w="9525">
            <a:noFill/>
            <a:miter lim="800000"/>
          </a:ln>
        </p:spPr>
        <p:txBody>
          <a:bodyPr wrap="square">
            <a:spAutoFit/>
          </a:bodyPr>
          <a:lstStyle/>
          <a:p>
            <a:pPr algn="r"/>
            <a:r>
              <a:rPr lang="zh-CN" altLang="en-US" sz="3600" b="1" dirty="0">
                <a:solidFill>
                  <a:srgbClr val="418D91"/>
                </a:solidFill>
                <a:latin typeface="黑体" panose="02010609060101010101" pitchFamily="49" charset="-122"/>
                <a:ea typeface="黑体" panose="02010609060101010101" pitchFamily="49" charset="-122"/>
              </a:rPr>
              <a:t>人工智能与自动化学院</a:t>
            </a:r>
            <a:endParaRPr lang="zh-CN" altLang="en-US" sz="3600" b="1" dirty="0">
              <a:solidFill>
                <a:srgbClr val="418D91"/>
              </a:solidFill>
              <a:latin typeface="黑体" panose="02010609060101010101" pitchFamily="49" charset="-122"/>
              <a:ea typeface="黑体" panose="02010609060101010101" pitchFamily="49" charset="-122"/>
            </a:endParaRPr>
          </a:p>
        </p:txBody>
      </p:sp>
      <p:sp>
        <p:nvSpPr>
          <p:cNvPr id="5" name="矩形 4"/>
          <p:cNvSpPr/>
          <p:nvPr/>
        </p:nvSpPr>
        <p:spPr>
          <a:xfrm>
            <a:off x="2051720" y="3212976"/>
            <a:ext cx="5989140" cy="1754326"/>
          </a:xfrm>
          <a:prstGeom prst="rect">
            <a:avLst/>
          </a:prstGeom>
        </p:spPr>
        <p:txBody>
          <a:bodyPr wrap="none">
            <a:spAutoFit/>
          </a:bodyPr>
          <a:lstStyle/>
          <a:p>
            <a:r>
              <a:rPr lang="zh-CN" altLang="zh-CN" sz="3600" b="1" dirty="0">
                <a:latin typeface="黑体" panose="02010609060101010101" pitchFamily="49" charset="-122"/>
                <a:ea typeface="黑体" panose="02010609060101010101" pitchFamily="49" charset="-122"/>
              </a:rPr>
              <a:t>概率密度函数的估计</a:t>
            </a:r>
            <a:endParaRPr lang="en-US" altLang="zh-CN" sz="3600" b="1" dirty="0">
              <a:latin typeface="黑体" panose="02010609060101010101" pitchFamily="49" charset="-122"/>
              <a:ea typeface="黑体" panose="02010609060101010101" pitchFamily="49" charset="-122"/>
            </a:endParaRPr>
          </a:p>
          <a:p>
            <a:pPr lvl="0"/>
            <a:r>
              <a:rPr lang="zh-CN" altLang="en-US" sz="3600" b="1" kern="0" dirty="0">
                <a:latin typeface="黑体" panose="02010609060101010101" pitchFamily="49" charset="-122"/>
                <a:ea typeface="黑体" panose="02010609060101010101" pitchFamily="49" charset="-122"/>
              </a:rPr>
              <a:t>                </a:t>
            </a:r>
            <a:r>
              <a:rPr lang="en-US" altLang="zh-CN" sz="3600" b="1" kern="0" dirty="0">
                <a:latin typeface="黑体" panose="02010609060101010101" pitchFamily="49" charset="-122"/>
                <a:ea typeface="黑体" panose="02010609060101010101" pitchFamily="49" charset="-122"/>
              </a:rPr>
              <a:t>-</a:t>
            </a:r>
            <a:r>
              <a:rPr lang="zh-CN" altLang="en-US" sz="3600" b="1" kern="0" dirty="0">
                <a:latin typeface="黑体" panose="02010609060101010101" pitchFamily="49" charset="-122"/>
                <a:ea typeface="黑体" panose="02010609060101010101" pitchFamily="49" charset="-122"/>
              </a:rPr>
              <a:t>参数估计</a:t>
            </a:r>
            <a:endParaRPr lang="zh-CN" altLang="en-GB" sz="3600" b="1" kern="0" dirty="0">
              <a:latin typeface="黑体" panose="02010609060101010101" pitchFamily="49" charset="-122"/>
              <a:ea typeface="黑体" panose="02010609060101010101" pitchFamily="49" charset="-122"/>
            </a:endParaRPr>
          </a:p>
          <a:p>
            <a:endParaRPr lang="zh-CN" altLang="en-US" sz="3600" b="1" dirty="0">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2" name="矩形 11"/>
          <p:cNvSpPr/>
          <p:nvPr/>
        </p:nvSpPr>
        <p:spPr>
          <a:xfrm>
            <a:off x="407368" y="2743337"/>
            <a:ext cx="8208912" cy="768295"/>
          </a:xfrm>
          <a:prstGeom prst="rect">
            <a:avLst/>
          </a:prstGeom>
          <a:solidFill>
            <a:schemeClr val="bg1">
              <a:lumMod val="95000"/>
            </a:schemeClr>
          </a:solidFill>
        </p:spPr>
        <p:txBody>
          <a:bodyPr wrap="none" rtlCol="0" anchor="ctr">
            <a:spAutoFit/>
          </a:bodyPr>
          <a:lstStyle/>
          <a:p>
            <a:pPr algn="ctr"/>
            <a:endParaRPr lang="zh-CN" altLang="en-US" sz="2400" kern="100" dirty="0">
              <a:ea typeface="宋体" panose="02010600030101010101" pitchFamily="2" charset="-122"/>
              <a:cs typeface="Times New Roman" panose="02020603050405020304"/>
            </a:endParaRPr>
          </a:p>
        </p:txBody>
      </p:sp>
      <p:sp>
        <p:nvSpPr>
          <p:cNvPr id="13" name="矩形 12"/>
          <p:cNvSpPr/>
          <p:nvPr/>
        </p:nvSpPr>
        <p:spPr>
          <a:xfrm>
            <a:off x="407368" y="1658003"/>
            <a:ext cx="8208912" cy="485477"/>
          </a:xfrm>
          <a:prstGeom prst="rect">
            <a:avLst/>
          </a:prstGeom>
          <a:solidFill>
            <a:schemeClr val="accent6">
              <a:lumMod val="20000"/>
              <a:lumOff val="80000"/>
            </a:schemeClr>
          </a:solidFill>
        </p:spPr>
        <p:txBody>
          <a:bodyPr wrap="none" rtlCol="0" anchor="ctr">
            <a:spAutoFit/>
          </a:bodyPr>
          <a:lstStyle/>
          <a:p>
            <a:pPr algn="ctr"/>
            <a:endParaRPr lang="zh-CN" altLang="en-US" sz="2400" kern="100" dirty="0">
              <a:ea typeface="宋体" panose="02010600030101010101" pitchFamily="2" charset="-122"/>
              <a:cs typeface="Times New Roman" panose="02020603050405020304"/>
            </a:endParaRPr>
          </a:p>
        </p:txBody>
      </p:sp>
      <p:sp>
        <p:nvSpPr>
          <p:cNvPr id="18" name="标题 1"/>
          <p:cNvSpPr txBox="1"/>
          <p:nvPr/>
        </p:nvSpPr>
        <p:spPr bwMode="black">
          <a:xfrm>
            <a:off x="407368" y="188640"/>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zh-CN" altLang="en-US" kern="0" dirty="0"/>
              <a:t>第</a:t>
            </a:r>
            <a:r>
              <a:rPr lang="en-US" altLang="zh-CN" kern="0" dirty="0"/>
              <a:t>14</a:t>
            </a:r>
            <a:r>
              <a:rPr lang="zh-CN" altLang="en-US" kern="0" dirty="0"/>
              <a:t>讲 </a:t>
            </a:r>
            <a:r>
              <a:rPr lang="zh-CN" altLang="zh-CN" dirty="0"/>
              <a:t>概率密度函数的参数估计</a:t>
            </a:r>
            <a:endParaRPr lang="zh-CN" altLang="zh-CN" dirty="0"/>
          </a:p>
        </p:txBody>
      </p:sp>
      <p:sp>
        <p:nvSpPr>
          <p:cNvPr id="20" name="内容占位符 2"/>
          <p:cNvSpPr>
            <a:spLocks noGrp="1"/>
          </p:cNvSpPr>
          <p:nvPr>
            <p:ph idx="1"/>
          </p:nvPr>
        </p:nvSpPr>
        <p:spPr>
          <a:xfrm>
            <a:off x="407368" y="1135369"/>
            <a:ext cx="8784976" cy="2326136"/>
          </a:xfrm>
        </p:spPr>
        <p:txBody>
          <a:bodyPr/>
          <a:lstStyle/>
          <a:p>
            <a:pPr marL="0" indent="0">
              <a:lnSpc>
                <a:spcPct val="120000"/>
              </a:lnSpc>
              <a:spcBef>
                <a:spcPts val="0"/>
              </a:spcBef>
              <a:buNone/>
            </a:pPr>
            <a:r>
              <a:rPr lang="zh-CN" altLang="zh-CN" sz="2200" dirty="0">
                <a:solidFill>
                  <a:srgbClr val="FF0000"/>
                </a:solidFill>
                <a:latin typeface="Times New Roman" panose="02020603050405020304" pitchFamily="18" charset="0"/>
                <a:ea typeface="黑体" panose="02010609060101010101" pitchFamily="49" charset="-122"/>
              </a:rPr>
              <a:t>贝叶斯决策</a:t>
            </a:r>
            <a:r>
              <a:rPr lang="zh-CN" altLang="zh-CN" sz="2200" dirty="0">
                <a:latin typeface="Times New Roman" panose="02020603050405020304" pitchFamily="18" charset="0"/>
                <a:ea typeface="黑体" panose="02010609060101010101" pitchFamily="49" charset="-122"/>
              </a:rPr>
              <a:t>：已知</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和</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a:t>
            </a:r>
            <a:r>
              <a:rPr lang="zh-CN" altLang="zh-CN" sz="2200" dirty="0">
                <a:latin typeface="Times New Roman" panose="02020603050405020304" pitchFamily="18" charset="0"/>
                <a:ea typeface="黑体" panose="02010609060101010101" pitchFamily="49" charset="-122"/>
              </a:rPr>
              <a:t>对未知样本分类（设计分类器）</a:t>
            </a:r>
            <a:r>
              <a:rPr lang="zh-CN" altLang="en-US" sz="2200" dirty="0">
                <a:latin typeface="Times New Roman" panose="02020603050405020304" pitchFamily="18" charset="0"/>
                <a:ea typeface="黑体" panose="02010609060101010101" pitchFamily="49" charset="-122"/>
              </a:rPr>
              <a:t>。</a:t>
            </a:r>
            <a:endParaRPr lang="zh-CN" altLang="zh-CN" sz="2200" dirty="0">
              <a:latin typeface="Times New Roman" panose="02020603050405020304" pitchFamily="18" charset="0"/>
              <a:ea typeface="黑体" panose="02010609060101010101" pitchFamily="49" charset="-122"/>
            </a:endParaRPr>
          </a:p>
          <a:p>
            <a:pPr marL="0" indent="0">
              <a:lnSpc>
                <a:spcPct val="120000"/>
              </a:lnSpc>
              <a:spcBef>
                <a:spcPts val="600"/>
              </a:spcBef>
              <a:buNone/>
            </a:pPr>
            <a:r>
              <a:rPr lang="zh-CN" altLang="zh-CN" sz="2200" dirty="0">
                <a:latin typeface="Times New Roman" panose="02020603050405020304" pitchFamily="18" charset="0"/>
                <a:ea typeface="黑体" panose="02010609060101010101" pitchFamily="49" charset="-122"/>
              </a:rPr>
              <a:t>实际问题：已知一定数目的样本，对未知样本分类（设计分类器）</a:t>
            </a:r>
            <a:endParaRPr lang="zh-CN" altLang="zh-CN" sz="2200" dirty="0">
              <a:latin typeface="Times New Roman" panose="02020603050405020304" pitchFamily="18" charset="0"/>
              <a:ea typeface="黑体" panose="02010609060101010101" pitchFamily="49" charset="-122"/>
            </a:endParaRPr>
          </a:p>
          <a:p>
            <a:pPr marL="0" indent="0">
              <a:lnSpc>
                <a:spcPct val="120000"/>
              </a:lnSpc>
              <a:spcBef>
                <a:spcPts val="1200"/>
              </a:spcBef>
              <a:buNone/>
            </a:pPr>
            <a:r>
              <a:rPr lang="zh-CN" altLang="zh-CN" sz="2200" dirty="0">
                <a:solidFill>
                  <a:srgbClr val="0000FF"/>
                </a:solidFill>
                <a:latin typeface="Times New Roman" panose="02020603050405020304" pitchFamily="18" charset="0"/>
                <a:ea typeface="黑体" panose="02010609060101010101" pitchFamily="49" charset="-122"/>
              </a:rPr>
              <a:t>怎么办？</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一种很自然的想法：</a:t>
            </a:r>
            <a:endParaRPr lang="en-US" altLang="zh-CN" sz="2200" dirty="0">
              <a:latin typeface="Times New Roman" panose="02020603050405020304" pitchFamily="18" charset="0"/>
              <a:ea typeface="黑体" panose="02010609060101010101" pitchFamily="49" charset="-122"/>
            </a:endParaRPr>
          </a:p>
          <a:p>
            <a:pPr marL="0" indent="0">
              <a:lnSpc>
                <a:spcPct val="120000"/>
              </a:lnSpc>
              <a:spcBef>
                <a:spcPts val="600"/>
              </a:spcBef>
              <a:buNone/>
            </a:pPr>
            <a:r>
              <a:rPr lang="zh-CN" altLang="zh-CN" sz="2200" dirty="0">
                <a:latin typeface="Times New Roman" panose="02020603050405020304" pitchFamily="18" charset="0"/>
                <a:ea typeface="黑体" panose="02010609060101010101" pitchFamily="49" charset="-122"/>
              </a:rPr>
              <a:t>首先</a:t>
            </a:r>
            <a:r>
              <a:rPr lang="zh-CN" altLang="en-US" sz="2200" dirty="0">
                <a:latin typeface="Times New Roman" panose="02020603050405020304" pitchFamily="18" charset="0"/>
                <a:ea typeface="黑体" panose="02010609060101010101" pitchFamily="49" charset="-122"/>
              </a:rPr>
              <a:t>，</a:t>
            </a:r>
            <a:r>
              <a:rPr lang="zh-CN" altLang="zh-CN" sz="2200" dirty="0">
                <a:latin typeface="Times New Roman" panose="02020603050405020304" pitchFamily="18" charset="0"/>
                <a:ea typeface="黑体" panose="02010609060101010101" pitchFamily="49" charset="-122"/>
              </a:rPr>
              <a:t>根据样本估计</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和</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，记</a:t>
            </a:r>
            <a:r>
              <a:rPr lang="zh-CN" altLang="en-US" sz="2200" dirty="0">
                <a:latin typeface="Times New Roman" panose="02020603050405020304" pitchFamily="18" charset="0"/>
                <a:ea typeface="黑体" panose="02010609060101010101" pitchFamily="49" charset="-122"/>
              </a:rPr>
              <a:t>为</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和</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a:t>
            </a:r>
            <a:endParaRPr lang="en-US" altLang="zh-CN" sz="2200" dirty="0">
              <a:latin typeface="Times New Roman" panose="02020603050405020304" pitchFamily="18" charset="0"/>
              <a:ea typeface="黑体" panose="02010609060101010101" pitchFamily="49" charset="-122"/>
            </a:endParaRPr>
          </a:p>
          <a:p>
            <a:pPr marL="0" indent="0">
              <a:lnSpc>
                <a:spcPct val="120000"/>
              </a:lnSpc>
              <a:spcBef>
                <a:spcPts val="0"/>
              </a:spcBef>
              <a:buNone/>
            </a:pPr>
            <a:r>
              <a:rPr lang="zh-CN" altLang="zh-CN" sz="2200" dirty="0">
                <a:latin typeface="Times New Roman" panose="02020603050405020304" pitchFamily="18" charset="0"/>
                <a:ea typeface="黑体" panose="02010609060101010101" pitchFamily="49" charset="-122"/>
              </a:rPr>
              <a:t>然后</a:t>
            </a:r>
            <a:r>
              <a:rPr lang="zh-CN" altLang="en-US" sz="2200" dirty="0">
                <a:latin typeface="Times New Roman" panose="02020603050405020304" pitchFamily="18" charset="0"/>
                <a:ea typeface="黑体" panose="02010609060101010101" pitchFamily="49" charset="-122"/>
              </a:rPr>
              <a:t>，</a:t>
            </a:r>
            <a:r>
              <a:rPr lang="zh-CN" altLang="zh-CN" sz="2200" dirty="0">
                <a:latin typeface="Times New Roman" panose="02020603050405020304" pitchFamily="18" charset="0"/>
                <a:ea typeface="黑体" panose="02010609060101010101" pitchFamily="49" charset="-122"/>
              </a:rPr>
              <a:t>用估计的概率密度设计贝叶斯分类器。</a:t>
            </a:r>
            <a:endParaRPr lang="zh-CN" altLang="zh-CN" sz="2200" dirty="0">
              <a:latin typeface="Times New Roman" panose="02020603050405020304" pitchFamily="18" charset="0"/>
              <a:ea typeface="黑体" panose="02010609060101010101" pitchFamily="49" charset="-122"/>
            </a:endParaRPr>
          </a:p>
        </p:txBody>
      </p:sp>
      <p:graphicFrame>
        <p:nvGraphicFramePr>
          <p:cNvPr id="22" name="对象 21"/>
          <p:cNvGraphicFramePr>
            <a:graphicFrameLocks noChangeAspect="1"/>
          </p:cNvGraphicFramePr>
          <p:nvPr/>
        </p:nvGraphicFramePr>
        <p:xfrm>
          <a:off x="2745914" y="1211558"/>
          <a:ext cx="685790" cy="397036"/>
        </p:xfrm>
        <a:graphic>
          <a:graphicData uri="http://schemas.openxmlformats.org/presentationml/2006/ole">
            <mc:AlternateContent xmlns:mc="http://schemas.openxmlformats.org/markup-compatibility/2006">
              <mc:Choice xmlns:v="urn:schemas-microsoft-com:vml" Requires="v">
                <p:oleObj spid="_x0000_s172463" name="Equation" r:id="rId2" imgW="406400" imgH="228600" progId="Equation.DSMT4">
                  <p:embed/>
                </p:oleObj>
              </mc:Choice>
              <mc:Fallback>
                <p:oleObj name="Equation" r:id="rId2" imgW="406400" imgH="228600" progId="Equation.DSMT4">
                  <p:embed/>
                  <p:pic>
                    <p:nvPicPr>
                      <p:cNvPr id="0" name="Picture 138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5914" y="1211558"/>
                        <a:ext cx="685790" cy="3970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nvGraphicFramePr>
        <p:xfrm>
          <a:off x="3735388" y="1179594"/>
          <a:ext cx="793750" cy="437626"/>
        </p:xfrm>
        <a:graphic>
          <a:graphicData uri="http://schemas.openxmlformats.org/presentationml/2006/ole">
            <mc:AlternateContent xmlns:mc="http://schemas.openxmlformats.org/markup-compatibility/2006">
              <mc:Choice xmlns:v="urn:schemas-microsoft-com:vml" Requires="v">
                <p:oleObj spid="_x0000_s172464" name="Equation" r:id="rId4" imgW="571500" imgH="228600" progId="Equation.DSMT4">
                  <p:embed/>
                </p:oleObj>
              </mc:Choice>
              <mc:Fallback>
                <p:oleObj name="Equation" r:id="rId4" imgW="571500" imgH="228600" progId="Equation.DSMT4">
                  <p:embed/>
                  <p:pic>
                    <p:nvPicPr>
                      <p:cNvPr id="0" name="Picture 138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5388" y="1179594"/>
                        <a:ext cx="793750" cy="4376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nvGraphicFramePr>
        <p:xfrm>
          <a:off x="6963906" y="2743337"/>
          <a:ext cx="1076310" cy="422349"/>
        </p:xfrm>
        <a:graphic>
          <a:graphicData uri="http://schemas.openxmlformats.org/presentationml/2006/ole">
            <mc:AlternateContent xmlns:mc="http://schemas.openxmlformats.org/markup-compatibility/2006">
              <mc:Choice xmlns:v="urn:schemas-microsoft-com:vml" Requires="v">
                <p:oleObj spid="_x0000_s172465" name="Equation" r:id="rId6" imgW="596900" imgH="228600" progId="Equation.DSMT4">
                  <p:embed/>
                </p:oleObj>
              </mc:Choice>
              <mc:Fallback>
                <p:oleObj name="Equation" r:id="rId6" imgW="596900" imgH="228600" progId="Equation.DSMT4">
                  <p:embed/>
                  <p:pic>
                    <p:nvPicPr>
                      <p:cNvPr id="0" name="Picture 138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63906" y="2743337"/>
                        <a:ext cx="1076310" cy="4223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对象 24"/>
          <p:cNvGraphicFramePr>
            <a:graphicFrameLocks noChangeAspect="1"/>
          </p:cNvGraphicFramePr>
          <p:nvPr/>
        </p:nvGraphicFramePr>
        <p:xfrm>
          <a:off x="5811308" y="2749184"/>
          <a:ext cx="731912" cy="451346"/>
        </p:xfrm>
        <a:graphic>
          <a:graphicData uri="http://schemas.openxmlformats.org/presentationml/2006/ole">
            <mc:AlternateContent xmlns:mc="http://schemas.openxmlformats.org/markup-compatibility/2006">
              <mc:Choice xmlns:v="urn:schemas-microsoft-com:vml" Requires="v">
                <p:oleObj spid="_x0000_s172466" name="Equation" r:id="rId8" imgW="405765" imgH="254000" progId="Equation.DSMT4">
                  <p:embed/>
                </p:oleObj>
              </mc:Choice>
              <mc:Fallback>
                <p:oleObj name="Equation" r:id="rId8" imgW="405765" imgH="254000" progId="Equation.DSMT4">
                  <p:embed/>
                  <p:pic>
                    <p:nvPicPr>
                      <p:cNvPr id="0" name="Picture 138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11308" y="2749184"/>
                        <a:ext cx="731912" cy="4513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对象 25"/>
          <p:cNvGraphicFramePr>
            <a:graphicFrameLocks noChangeAspect="1"/>
          </p:cNvGraphicFramePr>
          <p:nvPr/>
        </p:nvGraphicFramePr>
        <p:xfrm>
          <a:off x="3027174" y="2776961"/>
          <a:ext cx="753230" cy="436080"/>
        </p:xfrm>
        <a:graphic>
          <a:graphicData uri="http://schemas.openxmlformats.org/presentationml/2006/ole">
            <mc:AlternateContent xmlns:mc="http://schemas.openxmlformats.org/markup-compatibility/2006">
              <mc:Choice xmlns:v="urn:schemas-microsoft-com:vml" Requires="v">
                <p:oleObj spid="_x0000_s172467" name="Equation" r:id="rId10" imgW="406400" imgH="228600" progId="Equation.DSMT4">
                  <p:embed/>
                </p:oleObj>
              </mc:Choice>
              <mc:Fallback>
                <p:oleObj name="Equation" r:id="rId10" imgW="406400" imgH="228600" progId="Equation.DSMT4">
                  <p:embed/>
                  <p:pic>
                    <p:nvPicPr>
                      <p:cNvPr id="0" name="Picture 138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7174" y="2776961"/>
                        <a:ext cx="753230" cy="4360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对象 26"/>
          <p:cNvGraphicFramePr>
            <a:graphicFrameLocks noChangeAspect="1"/>
          </p:cNvGraphicFramePr>
          <p:nvPr/>
        </p:nvGraphicFramePr>
        <p:xfrm>
          <a:off x="4059512" y="2759285"/>
          <a:ext cx="783208" cy="431814"/>
        </p:xfrm>
        <a:graphic>
          <a:graphicData uri="http://schemas.openxmlformats.org/presentationml/2006/ole">
            <mc:AlternateContent xmlns:mc="http://schemas.openxmlformats.org/markup-compatibility/2006">
              <mc:Choice xmlns:v="urn:schemas-microsoft-com:vml" Requires="v">
                <p:oleObj spid="_x0000_s172468" name="Equation" r:id="rId11" imgW="571500" imgH="228600" progId="Equation.DSMT4">
                  <p:embed/>
                </p:oleObj>
              </mc:Choice>
              <mc:Fallback>
                <p:oleObj name="Equation" r:id="rId11" imgW="571500" imgH="228600" progId="Equation.DSMT4">
                  <p:embed/>
                  <p:pic>
                    <p:nvPicPr>
                      <p:cNvPr id="0" name="Picture 138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59512" y="2759285"/>
                        <a:ext cx="783208" cy="4318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内容占位符 2"/>
          <p:cNvSpPr txBox="1"/>
          <p:nvPr/>
        </p:nvSpPr>
        <p:spPr bwMode="gray">
          <a:xfrm>
            <a:off x="360040" y="4122285"/>
            <a:ext cx="11784632" cy="2259043"/>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20000"/>
              </a:lnSpc>
              <a:spcBef>
                <a:spcPts val="0"/>
              </a:spcBef>
              <a:buFont typeface="Wingdings" panose="05000000000000000000" pitchFamily="2" charset="2"/>
              <a:buNone/>
            </a:pPr>
            <a:r>
              <a:rPr lang="zh-CN" altLang="zh-CN" sz="2200" kern="0" dirty="0">
                <a:solidFill>
                  <a:srgbClr val="FF33CC"/>
                </a:solidFill>
                <a:latin typeface="Times New Roman" panose="02020603050405020304" pitchFamily="18" charset="0"/>
                <a:ea typeface="黑体" panose="02010609060101010101" pitchFamily="49" charset="-122"/>
              </a:rPr>
              <a:t>希望：</a:t>
            </a:r>
            <a:r>
              <a:rPr lang="zh-CN" altLang="zh-CN" sz="2200" kern="0" dirty="0">
                <a:latin typeface="Times New Roman" panose="02020603050405020304" pitchFamily="18" charset="0"/>
                <a:ea typeface="黑体" panose="02010609060101010101" pitchFamily="49" charset="-122"/>
              </a:rPr>
              <a:t>当样本数</a:t>
            </a: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时，如此得到的分类器收敛于理论上的最优解。</a:t>
            </a:r>
            <a:endParaRPr lang="zh-CN" altLang="zh-CN" sz="2200" kern="0" dirty="0">
              <a:latin typeface="Times New Roman" panose="02020603050405020304" pitchFamily="18" charset="0"/>
              <a:ea typeface="黑体" panose="02010609060101010101" pitchFamily="49" charset="-122"/>
            </a:endParaRPr>
          </a:p>
          <a:p>
            <a:pPr marL="0" indent="0">
              <a:lnSpc>
                <a:spcPct val="120000"/>
              </a:lnSpc>
              <a:spcBef>
                <a:spcPts val="600"/>
              </a:spcBef>
              <a:buFont typeface="Wingdings" panose="05000000000000000000" pitchFamily="2" charset="2"/>
              <a:buNone/>
            </a:pP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为此， 需</a:t>
            </a:r>
            <a:r>
              <a:rPr lang="en-US" altLang="zh-CN" sz="2200" kern="0" dirty="0">
                <a:latin typeface="Times New Roman" panose="02020603050405020304" pitchFamily="18" charset="0"/>
                <a:ea typeface="黑体" panose="02010609060101010101" pitchFamily="49" charset="-122"/>
              </a:rPr>
              <a:t>   		                 </a:t>
            </a:r>
            <a:endParaRPr lang="zh-CN" altLang="zh-CN" sz="2200" kern="0" dirty="0">
              <a:latin typeface="Times New Roman" panose="02020603050405020304" pitchFamily="18" charset="0"/>
              <a:ea typeface="黑体" panose="02010609060101010101" pitchFamily="49" charset="-122"/>
            </a:endParaRPr>
          </a:p>
          <a:p>
            <a:pPr marL="0" indent="0">
              <a:lnSpc>
                <a:spcPct val="120000"/>
              </a:lnSpc>
              <a:spcBef>
                <a:spcPts val="0"/>
              </a:spcBef>
              <a:buFont typeface="Wingdings" panose="05000000000000000000" pitchFamily="2" charset="2"/>
              <a:buNone/>
            </a:pPr>
            <a:r>
              <a:rPr lang="zh-CN" altLang="zh-CN" sz="2200" kern="0" dirty="0">
                <a:solidFill>
                  <a:srgbClr val="FF0000"/>
                </a:solidFill>
                <a:latin typeface="Times New Roman" panose="02020603050405020304" pitchFamily="18" charset="0"/>
                <a:ea typeface="黑体" panose="02010609060101010101" pitchFamily="49" charset="-122"/>
              </a:rPr>
              <a:t>重要前提：</a:t>
            </a:r>
            <a:endParaRPr lang="en-US" altLang="zh-CN" sz="2200" kern="0" dirty="0">
              <a:solidFill>
                <a:srgbClr val="FF0000"/>
              </a:solidFill>
              <a:latin typeface="Times New Roman" panose="02020603050405020304" pitchFamily="18" charset="0"/>
              <a:ea typeface="黑体" panose="02010609060101010101" pitchFamily="49" charset="-122"/>
            </a:endParaRPr>
          </a:p>
          <a:p>
            <a:pPr>
              <a:lnSpc>
                <a:spcPct val="120000"/>
              </a:lnSpc>
              <a:spcBef>
                <a:spcPts val="0"/>
              </a:spcBef>
              <a:buClr>
                <a:schemeClr val="tx1"/>
              </a:buClr>
              <a:buFont typeface="Arial" panose="020B0604020202020204" pitchFamily="34" charset="0"/>
              <a:buChar char="•"/>
            </a:pPr>
            <a:r>
              <a:rPr lang="zh-CN" altLang="zh-CN" sz="2200" kern="0" dirty="0">
                <a:latin typeface="Times New Roman" panose="02020603050405020304" pitchFamily="18" charset="0"/>
                <a:ea typeface="黑体" panose="02010609060101010101" pitchFamily="49" charset="-122"/>
              </a:rPr>
              <a:t>训练样本的分布能代表样本的真实分布，所谓</a:t>
            </a:r>
            <a:r>
              <a:rPr lang="en-US" altLang="zh-CN" sz="2200" kern="0" dirty="0" err="1">
                <a:latin typeface="Times New Roman" panose="02020603050405020304" pitchFamily="18" charset="0"/>
                <a:ea typeface="黑体" panose="02010609060101010101" pitchFamily="49" charset="-122"/>
                <a:cs typeface="Times New Roman" panose="02020603050405020304" pitchFamily="18" charset="0"/>
              </a:rPr>
              <a:t>i.i.d</a:t>
            </a:r>
            <a:r>
              <a:rPr lang="zh-CN" altLang="zh-CN" sz="2200" kern="0" dirty="0">
                <a:latin typeface="Times New Roman" panose="02020603050405020304" pitchFamily="18" charset="0"/>
                <a:ea typeface="黑体" panose="02010609060101010101" pitchFamily="49" charset="-122"/>
              </a:rPr>
              <a:t>条件</a:t>
            </a:r>
            <a:endParaRPr lang="en-US" altLang="zh-CN" sz="2200" kern="0" dirty="0">
              <a:latin typeface="Times New Roman" panose="02020603050405020304" pitchFamily="18" charset="0"/>
              <a:ea typeface="黑体" panose="02010609060101010101" pitchFamily="49" charset="-122"/>
            </a:endParaRPr>
          </a:p>
          <a:p>
            <a:pPr>
              <a:lnSpc>
                <a:spcPct val="120000"/>
              </a:lnSpc>
              <a:spcBef>
                <a:spcPts val="0"/>
              </a:spcBef>
              <a:buClr>
                <a:schemeClr val="tx1"/>
              </a:buClr>
              <a:buFont typeface="Arial" panose="020B0604020202020204" pitchFamily="34" charset="0"/>
              <a:buChar char="•"/>
            </a:pPr>
            <a:r>
              <a:rPr lang="zh-CN" altLang="zh-CN" sz="2200" kern="0" dirty="0">
                <a:latin typeface="Times New Roman" panose="02020603050405020304" pitchFamily="18" charset="0"/>
                <a:ea typeface="黑体" panose="02010609060101010101" pitchFamily="49" charset="-122"/>
              </a:rPr>
              <a:t>有充分的训练样本</a:t>
            </a:r>
            <a:endParaRPr lang="zh-CN" altLang="zh-CN" sz="2200" kern="0" dirty="0">
              <a:latin typeface="Times New Roman" panose="02020603050405020304" pitchFamily="18" charset="0"/>
              <a:ea typeface="黑体" panose="02010609060101010101" pitchFamily="49" charset="-122"/>
            </a:endParaRPr>
          </a:p>
        </p:txBody>
      </p:sp>
      <p:graphicFrame>
        <p:nvGraphicFramePr>
          <p:cNvPr id="29" name="对象 28"/>
          <p:cNvGraphicFramePr>
            <a:graphicFrameLocks noChangeAspect="1"/>
          </p:cNvGraphicFramePr>
          <p:nvPr/>
        </p:nvGraphicFramePr>
        <p:xfrm>
          <a:off x="2438582" y="4226123"/>
          <a:ext cx="849106" cy="290201"/>
        </p:xfrm>
        <a:graphic>
          <a:graphicData uri="http://schemas.openxmlformats.org/presentationml/2006/ole">
            <mc:AlternateContent xmlns:mc="http://schemas.openxmlformats.org/markup-compatibility/2006">
              <mc:Choice xmlns:v="urn:schemas-microsoft-com:vml" Requires="v">
                <p:oleObj spid="_x0000_s172469" name="Equation" r:id="rId12" imgW="508000" imgH="177800" progId="Equation.DSMT4">
                  <p:embed/>
                </p:oleObj>
              </mc:Choice>
              <mc:Fallback>
                <p:oleObj name="Equation" r:id="rId12" imgW="508000" imgH="177800" progId="Equation.DSMT4">
                  <p:embed/>
                  <p:pic>
                    <p:nvPicPr>
                      <p:cNvPr id="0" name="Picture 138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38582" y="4226123"/>
                        <a:ext cx="849106" cy="2902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对象 29"/>
          <p:cNvGraphicFramePr>
            <a:graphicFrameLocks noChangeAspect="1"/>
          </p:cNvGraphicFramePr>
          <p:nvPr/>
        </p:nvGraphicFramePr>
        <p:xfrm>
          <a:off x="5466870" y="4622836"/>
          <a:ext cx="3237299" cy="457176"/>
        </p:xfrm>
        <a:graphic>
          <a:graphicData uri="http://schemas.openxmlformats.org/presentationml/2006/ole">
            <mc:AlternateContent xmlns:mc="http://schemas.openxmlformats.org/markup-compatibility/2006">
              <mc:Choice xmlns:v="urn:schemas-microsoft-com:vml" Requires="v">
                <p:oleObj spid="_x0000_s172470" name="Equation" r:id="rId14" imgW="1727200" imgH="241300" progId="Equation.DSMT4">
                  <p:embed/>
                </p:oleObj>
              </mc:Choice>
              <mc:Fallback>
                <p:oleObj name="Equation" r:id="rId14" imgW="1727200" imgH="241300" progId="Equation.DSMT4">
                  <p:embed/>
                  <p:pic>
                    <p:nvPicPr>
                      <p:cNvPr id="0" name="Picture 139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66870" y="4622836"/>
                        <a:ext cx="3237299" cy="4571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对象 30"/>
          <p:cNvGraphicFramePr>
            <a:graphicFrameLocks noChangeAspect="1"/>
          </p:cNvGraphicFramePr>
          <p:nvPr/>
        </p:nvGraphicFramePr>
        <p:xfrm>
          <a:off x="2688288" y="4621316"/>
          <a:ext cx="2393862" cy="445916"/>
        </p:xfrm>
        <a:graphic>
          <a:graphicData uri="http://schemas.openxmlformats.org/presentationml/2006/ole">
            <mc:AlternateContent xmlns:mc="http://schemas.openxmlformats.org/markup-compatibility/2006">
              <mc:Choice xmlns:v="urn:schemas-microsoft-com:vml" Requires="v">
                <p:oleObj spid="_x0000_s172471" name="Equation" r:id="rId16" imgW="1358265" imgH="254000" progId="Equation.DSMT4">
                  <p:embed/>
                </p:oleObj>
              </mc:Choice>
              <mc:Fallback>
                <p:oleObj name="Equation" r:id="rId16" imgW="1358265" imgH="254000" progId="Equation.DSMT4">
                  <p:embed/>
                  <p:pic>
                    <p:nvPicPr>
                      <p:cNvPr id="0" name="Picture 139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88288" y="4621316"/>
                        <a:ext cx="2393862" cy="4459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矩形 31"/>
          <p:cNvSpPr/>
          <p:nvPr/>
        </p:nvSpPr>
        <p:spPr>
          <a:xfrm>
            <a:off x="3171858" y="5884637"/>
            <a:ext cx="1281120" cy="369332"/>
          </a:xfrm>
          <a:prstGeom prst="rect">
            <a:avLst/>
          </a:prstGeom>
        </p:spPr>
        <p:txBody>
          <a:bodyPr wrap="none">
            <a:spAutoFit/>
          </a:bodyPr>
          <a:lstStyle/>
          <a:p>
            <a:r>
              <a:rPr lang="en-US" altLang="zh-CN" b="1" dirty="0">
                <a:solidFill>
                  <a:srgbClr val="FF0000"/>
                </a:solidFill>
              </a:rPr>
              <a:t>N</a:t>
            </a:r>
            <a:r>
              <a:rPr lang="zh-CN" altLang="en-US" b="1" dirty="0">
                <a:solidFill>
                  <a:srgbClr val="FF0000"/>
                </a:solidFill>
              </a:rPr>
              <a:t>要足够大</a:t>
            </a:r>
            <a:endParaRPr lang="zh-CN" altLang="en-US" b="1" dirty="0">
              <a:solidFill>
                <a:srgbClr val="FF0000"/>
              </a:solidFill>
            </a:endParaRPr>
          </a:p>
        </p:txBody>
      </p:sp>
      <p:sp>
        <p:nvSpPr>
          <p:cNvPr id="33" name="矩形 32"/>
          <p:cNvSpPr/>
          <p:nvPr/>
        </p:nvSpPr>
        <p:spPr>
          <a:xfrm>
            <a:off x="7502061" y="5437804"/>
            <a:ext cx="1338828" cy="369332"/>
          </a:xfrm>
          <a:prstGeom prst="rect">
            <a:avLst/>
          </a:prstGeom>
        </p:spPr>
        <p:txBody>
          <a:bodyPr wrap="none">
            <a:spAutoFit/>
          </a:bodyPr>
          <a:lstStyle/>
          <a:p>
            <a:r>
              <a:rPr lang="zh-CN" altLang="en-US" b="1" dirty="0">
                <a:solidFill>
                  <a:srgbClr val="FF0000"/>
                </a:solidFill>
              </a:rPr>
              <a:t>独立同分布</a:t>
            </a:r>
            <a:endParaRPr lang="zh-CN" altLang="en-US" b="1" dirty="0">
              <a:solidFill>
                <a:srgbClr val="FF0000"/>
              </a:solidFill>
            </a:endParaRPr>
          </a:p>
        </p:txBody>
      </p:sp>
      <p:sp>
        <p:nvSpPr>
          <p:cNvPr id="34" name="矩形 33"/>
          <p:cNvSpPr/>
          <p:nvPr/>
        </p:nvSpPr>
        <p:spPr>
          <a:xfrm>
            <a:off x="7344741" y="3574177"/>
            <a:ext cx="4791696" cy="430887"/>
          </a:xfrm>
          <a:prstGeom prst="rect">
            <a:avLst/>
          </a:prstGeom>
        </p:spPr>
        <p:txBody>
          <a:bodyPr wrap="none">
            <a:spAutoFit/>
          </a:bodyPr>
          <a:lstStyle/>
          <a:p>
            <a:r>
              <a:rPr lang="en-US" altLang="zh-CN" sz="2200" b="1" dirty="0">
                <a:solidFill>
                  <a:schemeClr val="accent6">
                    <a:lumMod val="50000"/>
                  </a:schemeClr>
                </a:solidFill>
                <a:latin typeface="Times New Roman" panose="02020603050405020304" pitchFamily="18" charset="0"/>
                <a:ea typeface="黑体" panose="02010609060101010101" pitchFamily="49" charset="-122"/>
              </a:rPr>
              <a:t>——</a:t>
            </a:r>
            <a:r>
              <a:rPr lang="zh-CN" altLang="zh-CN" sz="2200" b="1" dirty="0">
                <a:solidFill>
                  <a:schemeClr val="accent6">
                    <a:lumMod val="50000"/>
                  </a:schemeClr>
                </a:solidFill>
                <a:latin typeface="Times New Roman" panose="02020603050405020304" pitchFamily="18" charset="0"/>
                <a:ea typeface="黑体" panose="02010609060101010101" pitchFamily="49" charset="-122"/>
              </a:rPr>
              <a:t>（基于样本的）两步贝叶斯决策 </a:t>
            </a:r>
            <a:endParaRPr lang="zh-CN" alt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8" name="标题 1"/>
          <p:cNvSpPr txBox="1"/>
          <p:nvPr/>
        </p:nvSpPr>
        <p:spPr bwMode="black">
          <a:xfrm>
            <a:off x="407368" y="188640"/>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zh-CN" altLang="en-US" kern="0" dirty="0"/>
              <a:t>第</a:t>
            </a:r>
            <a:r>
              <a:rPr lang="en-US" altLang="zh-CN" kern="0" dirty="0"/>
              <a:t>14</a:t>
            </a:r>
            <a:r>
              <a:rPr lang="zh-CN" altLang="en-US" kern="0" dirty="0"/>
              <a:t>讲 </a:t>
            </a:r>
            <a:r>
              <a:rPr lang="zh-CN" altLang="zh-CN" dirty="0"/>
              <a:t>概率密度函数的参数估计</a:t>
            </a:r>
            <a:endParaRPr lang="zh-CN" altLang="zh-CN" dirty="0"/>
          </a:p>
        </p:txBody>
      </p:sp>
      <p:sp>
        <p:nvSpPr>
          <p:cNvPr id="35" name="内容占位符 2"/>
          <p:cNvSpPr>
            <a:spLocks noGrp="1"/>
          </p:cNvSpPr>
          <p:nvPr>
            <p:ph idx="1"/>
          </p:nvPr>
        </p:nvSpPr>
        <p:spPr>
          <a:xfrm>
            <a:off x="304800" y="1066800"/>
            <a:ext cx="11551840" cy="5334000"/>
          </a:xfrm>
        </p:spPr>
        <p:txBody>
          <a:bodyPr/>
          <a:lstStyle/>
          <a:p>
            <a:pPr marL="0" indent="0">
              <a:lnSpc>
                <a:spcPct val="130000"/>
              </a:lnSpc>
              <a:spcBef>
                <a:spcPts val="0"/>
              </a:spcBef>
              <a:buNone/>
            </a:pPr>
            <a:r>
              <a:rPr lang="zh-CN" altLang="zh-CN" sz="2200" b="1" dirty="0">
                <a:solidFill>
                  <a:srgbClr val="FF0000"/>
                </a:solidFill>
                <a:latin typeface="Times New Roman" panose="02020603050405020304" pitchFamily="18" charset="0"/>
                <a:ea typeface="黑体" panose="02010609060101010101" pitchFamily="49" charset="-122"/>
              </a:rPr>
              <a:t>如何利用样本集估计概率密度函数？</a:t>
            </a:r>
            <a:endParaRPr lang="zh-CN" altLang="zh-CN" sz="2200" b="1" dirty="0">
              <a:solidFill>
                <a:srgbClr val="FF0000"/>
              </a:solidFill>
              <a:latin typeface="Times New Roman" panose="02020603050405020304" pitchFamily="18" charset="0"/>
              <a:ea typeface="黑体" panose="02010609060101010101" pitchFamily="49" charset="-122"/>
            </a:endParaRPr>
          </a:p>
          <a:p>
            <a:pPr marL="0" indent="0">
              <a:lnSpc>
                <a:spcPct val="130000"/>
              </a:lnSpc>
              <a:spcBef>
                <a:spcPts val="1200"/>
              </a:spcBef>
              <a:buNone/>
            </a:pPr>
            <a:r>
              <a:rPr lang="zh-CN" altLang="zh-CN" sz="2200" dirty="0">
                <a:latin typeface="Times New Roman" panose="02020603050405020304" pitchFamily="18" charset="0"/>
                <a:ea typeface="黑体" panose="02010609060101010101" pitchFamily="49" charset="-122"/>
              </a:rPr>
              <a:t>估计概率密度的两种基本方法：</a:t>
            </a:r>
            <a:endParaRPr lang="en-US" altLang="zh-CN" sz="2200" dirty="0">
              <a:latin typeface="Times New Roman" panose="02020603050405020304" pitchFamily="18" charset="0"/>
              <a:ea typeface="黑体" panose="02010609060101010101" pitchFamily="49" charset="-122"/>
            </a:endParaRPr>
          </a:p>
          <a:p>
            <a:pPr>
              <a:lnSpc>
                <a:spcPct val="130000"/>
              </a:lnSpc>
              <a:spcBef>
                <a:spcPts val="600"/>
              </a:spcBef>
              <a:buClrTx/>
              <a:buFont typeface="Arial" panose="020B0604020202020204" pitchFamily="34" charset="0"/>
              <a:buChar char="•"/>
            </a:pP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参数方法</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 (Parametric Methods)</a:t>
            </a: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30000"/>
              </a:lnSpc>
              <a:spcBef>
                <a:spcPts val="1200"/>
              </a:spcBef>
              <a:buNone/>
            </a:pP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30000"/>
              </a:lnSpc>
              <a:spcBef>
                <a:spcPts val="1200"/>
              </a:spcBef>
              <a:buNone/>
            </a:pP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30000"/>
              </a:lnSpc>
              <a:spcBef>
                <a:spcPts val="1200"/>
              </a:spcBef>
              <a:buNone/>
            </a:pP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30000"/>
              </a:lnSpc>
              <a:spcBef>
                <a:spcPts val="600"/>
              </a:spcBef>
              <a:buClrTx/>
              <a:buFont typeface="Arial" panose="020B0604020202020204" pitchFamily="34" charset="0"/>
              <a:buChar char="•"/>
            </a:pP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非参数方法</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 (Nonparametric Methods)</a:t>
            </a:r>
            <a:endParaRPr lang="zh-CN" altLang="en-US" sz="2200" dirty="0">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30000"/>
              </a:lnSpc>
              <a:spcBef>
                <a:spcPts val="0"/>
              </a:spcBef>
              <a:buNone/>
            </a:pPr>
            <a:endParaRPr lang="zh-CN" altLang="en-US" sz="2200" dirty="0">
              <a:latin typeface="Times New Roman" panose="02020603050405020304" pitchFamily="18" charset="0"/>
              <a:ea typeface="黑体" panose="02010609060101010101" pitchFamily="49" charset="-122"/>
            </a:endParaRPr>
          </a:p>
        </p:txBody>
      </p:sp>
      <p:sp>
        <p:nvSpPr>
          <p:cNvPr id="36" name="矩形 35"/>
          <p:cNvSpPr/>
          <p:nvPr/>
        </p:nvSpPr>
        <p:spPr>
          <a:xfrm>
            <a:off x="313778" y="2602297"/>
            <a:ext cx="11542861" cy="972574"/>
          </a:xfrm>
          <a:prstGeom prst="rect">
            <a:avLst/>
          </a:prstGeom>
        </p:spPr>
        <p:txBody>
          <a:bodyPr wrap="square">
            <a:spAutoFit/>
          </a:bodyPr>
          <a:lstStyle/>
          <a:p>
            <a:pPr>
              <a:lnSpc>
                <a:spcPct val="130000"/>
              </a:lnSpc>
              <a:spcBef>
                <a:spcPts val="0"/>
              </a:spcBef>
            </a:pPr>
            <a:r>
              <a:rPr lang="zh-CN" altLang="en-US" sz="2200" dirty="0">
                <a:solidFill>
                  <a:srgbClr val="0070C0"/>
                </a:solidFill>
                <a:latin typeface="Times New Roman" panose="02020603050405020304" pitchFamily="18" charset="0"/>
                <a:ea typeface="黑体" panose="02010609060101010101" pitchFamily="49" charset="-122"/>
              </a:rPr>
              <a:t>根据对问题的一般性认识，假设随机变量服从某种分布，其概率密度函数形式已知，只是表征函数的参数未知，通过训练数据来估计</a:t>
            </a:r>
            <a:endParaRPr lang="zh-CN" altLang="en-US" sz="2200" dirty="0">
              <a:solidFill>
                <a:srgbClr val="0070C0"/>
              </a:solidFill>
              <a:latin typeface="Times New Roman" panose="02020603050405020304" pitchFamily="18" charset="0"/>
              <a:ea typeface="黑体" panose="02010609060101010101" pitchFamily="49" charset="-122"/>
            </a:endParaRPr>
          </a:p>
        </p:txBody>
      </p:sp>
      <p:sp>
        <p:nvSpPr>
          <p:cNvPr id="37" name="矩形 36"/>
          <p:cNvSpPr/>
          <p:nvPr/>
        </p:nvSpPr>
        <p:spPr>
          <a:xfrm>
            <a:off x="335360" y="3501008"/>
            <a:ext cx="9146120" cy="925253"/>
          </a:xfrm>
          <a:prstGeom prst="rect">
            <a:avLst/>
          </a:prstGeom>
        </p:spPr>
        <p:txBody>
          <a:bodyPr wrap="square">
            <a:spAutoFit/>
          </a:bodyPr>
          <a:lstStyle/>
          <a:p>
            <a:pPr marL="0" lvl="1">
              <a:lnSpc>
                <a:spcPct val="130000"/>
              </a:lnSpc>
              <a:spcBef>
                <a:spcPts val="0"/>
              </a:spcBef>
            </a:pPr>
            <a:r>
              <a:rPr lang="zh-CN" altLang="en-US" sz="2200" dirty="0">
                <a:solidFill>
                  <a:srgbClr val="7030A0"/>
                </a:solidFill>
                <a:latin typeface="Times New Roman" panose="02020603050405020304" pitchFamily="18" charset="0"/>
                <a:ea typeface="黑体" panose="02010609060101010101" pitchFamily="49" charset="-122"/>
              </a:rPr>
              <a:t>训练样本：监督和非监督</a:t>
            </a:r>
            <a:endParaRPr lang="zh-CN" altLang="en-US" sz="2200" dirty="0">
              <a:solidFill>
                <a:srgbClr val="7030A0"/>
              </a:solidFill>
              <a:latin typeface="Times New Roman" panose="02020603050405020304" pitchFamily="18" charset="0"/>
              <a:ea typeface="黑体" panose="02010609060101010101" pitchFamily="49" charset="-122"/>
            </a:endParaRPr>
          </a:p>
          <a:p>
            <a:pPr marL="0" lvl="1">
              <a:lnSpc>
                <a:spcPct val="130000"/>
              </a:lnSpc>
              <a:spcBef>
                <a:spcPts val="0"/>
              </a:spcBef>
            </a:pPr>
            <a:r>
              <a:rPr lang="zh-CN" altLang="en-US" sz="2200" dirty="0">
                <a:solidFill>
                  <a:srgbClr val="7030A0"/>
                </a:solidFill>
                <a:latin typeface="Times New Roman" panose="02020603050405020304" pitchFamily="18" charset="0"/>
                <a:ea typeface="黑体" panose="02010609060101010101" pitchFamily="49" charset="-122"/>
              </a:rPr>
              <a:t>估计方法：最大似然估计、</a:t>
            </a:r>
            <a:r>
              <a:rPr lang="en-US" altLang="zh-CN" sz="2200" dirty="0" err="1">
                <a:solidFill>
                  <a:srgbClr val="7030A0"/>
                </a:solidFill>
                <a:latin typeface="Times New Roman" panose="02020603050405020304" pitchFamily="18" charset="0"/>
                <a:ea typeface="黑体" panose="02010609060101010101" pitchFamily="49" charset="-122"/>
              </a:rPr>
              <a:t>Bayes</a:t>
            </a:r>
            <a:r>
              <a:rPr lang="zh-CN" altLang="en-US" sz="2200" dirty="0">
                <a:solidFill>
                  <a:srgbClr val="7030A0"/>
                </a:solidFill>
                <a:latin typeface="Times New Roman" panose="02020603050405020304" pitchFamily="18" charset="0"/>
                <a:ea typeface="黑体" panose="02010609060101010101" pitchFamily="49" charset="-122"/>
              </a:rPr>
              <a:t>估计</a:t>
            </a:r>
            <a:endParaRPr lang="zh-CN" altLang="en-US" sz="2200" dirty="0">
              <a:solidFill>
                <a:srgbClr val="7030A0"/>
              </a:solidFill>
              <a:latin typeface="Times New Roman" panose="02020603050405020304" pitchFamily="18" charset="0"/>
              <a:ea typeface="黑体" panose="02010609060101010101" pitchFamily="49" charset="-122"/>
            </a:endParaRPr>
          </a:p>
        </p:txBody>
      </p:sp>
      <p:sp>
        <p:nvSpPr>
          <p:cNvPr id="38" name="矩形 37"/>
          <p:cNvSpPr/>
          <p:nvPr/>
        </p:nvSpPr>
        <p:spPr>
          <a:xfrm>
            <a:off x="313779" y="4917656"/>
            <a:ext cx="11542860" cy="532453"/>
          </a:xfrm>
          <a:prstGeom prst="rect">
            <a:avLst/>
          </a:prstGeom>
        </p:spPr>
        <p:txBody>
          <a:bodyPr wrap="square">
            <a:spAutoFit/>
          </a:bodyPr>
          <a:lstStyle/>
          <a:p>
            <a:pPr>
              <a:lnSpc>
                <a:spcPct val="130000"/>
              </a:lnSpc>
              <a:spcBef>
                <a:spcPts val="0"/>
              </a:spcBef>
            </a:pPr>
            <a:r>
              <a:rPr lang="zh-CN" altLang="en-US" sz="2200" dirty="0">
                <a:solidFill>
                  <a:srgbClr val="0070C0"/>
                </a:solidFill>
                <a:latin typeface="Times New Roman" panose="02020603050405020304" pitchFamily="18" charset="0"/>
                <a:ea typeface="黑体" panose="02010609060101010101" pitchFamily="49" charset="-122"/>
              </a:rPr>
              <a:t>密度函数的形式未知，也不作假设，利用训练数据直接对概率密度进行估计</a:t>
            </a:r>
            <a:endParaRPr lang="zh-CN" altLang="en-US" sz="2200" dirty="0">
              <a:solidFill>
                <a:srgbClr val="0070C0"/>
              </a:solidFill>
              <a:latin typeface="Times New Roman" panose="02020603050405020304" pitchFamily="18" charset="0"/>
              <a:ea typeface="黑体" panose="02010609060101010101" pitchFamily="49" charset="-122"/>
            </a:endParaRPr>
          </a:p>
        </p:txBody>
      </p:sp>
      <p:sp>
        <p:nvSpPr>
          <p:cNvPr id="39" name="矩形 38"/>
          <p:cNvSpPr/>
          <p:nvPr/>
        </p:nvSpPr>
        <p:spPr>
          <a:xfrm>
            <a:off x="335360" y="5402789"/>
            <a:ext cx="8949430" cy="925253"/>
          </a:xfrm>
          <a:prstGeom prst="rect">
            <a:avLst/>
          </a:prstGeom>
        </p:spPr>
        <p:txBody>
          <a:bodyPr wrap="square">
            <a:spAutoFit/>
          </a:bodyPr>
          <a:lstStyle/>
          <a:p>
            <a:pPr marL="0" lvl="1">
              <a:lnSpc>
                <a:spcPct val="130000"/>
              </a:lnSpc>
              <a:spcBef>
                <a:spcPts val="0"/>
              </a:spcBef>
            </a:pPr>
            <a:r>
              <a:rPr lang="zh-CN" altLang="en-US" sz="2200" dirty="0">
                <a:solidFill>
                  <a:srgbClr val="7030A0"/>
                </a:solidFill>
                <a:latin typeface="Times New Roman" panose="02020603050405020304" pitchFamily="18" charset="0"/>
                <a:ea typeface="黑体" panose="02010609060101010101" pitchFamily="49" charset="-122"/>
              </a:rPr>
              <a:t>训练样本：监督</a:t>
            </a:r>
            <a:endParaRPr lang="zh-CN" altLang="en-US" sz="2200" dirty="0">
              <a:solidFill>
                <a:srgbClr val="7030A0"/>
              </a:solidFill>
              <a:latin typeface="Times New Roman" panose="02020603050405020304" pitchFamily="18" charset="0"/>
              <a:ea typeface="黑体" panose="02010609060101010101" pitchFamily="49" charset="-122"/>
            </a:endParaRPr>
          </a:p>
          <a:p>
            <a:pPr marL="0" lvl="1">
              <a:lnSpc>
                <a:spcPct val="130000"/>
              </a:lnSpc>
              <a:spcBef>
                <a:spcPts val="0"/>
              </a:spcBef>
            </a:pPr>
            <a:r>
              <a:rPr lang="zh-CN" altLang="en-US" sz="2200" dirty="0">
                <a:solidFill>
                  <a:srgbClr val="7030A0"/>
                </a:solidFill>
                <a:latin typeface="Times New Roman" panose="02020603050405020304" pitchFamily="18" charset="0"/>
                <a:ea typeface="黑体" panose="02010609060101010101" pitchFamily="49" charset="-122"/>
              </a:rPr>
              <a:t>估计方法：</a:t>
            </a:r>
            <a:r>
              <a:rPr lang="en-US" altLang="zh-CN" sz="2200" dirty="0" err="1">
                <a:solidFill>
                  <a:srgbClr val="7030A0"/>
                </a:solidFill>
                <a:latin typeface="Times New Roman" panose="02020603050405020304" pitchFamily="18" charset="0"/>
                <a:ea typeface="黑体" panose="02010609060101010101" pitchFamily="49" charset="-122"/>
              </a:rPr>
              <a:t>Parzen</a:t>
            </a:r>
            <a:r>
              <a:rPr lang="zh-CN" altLang="en-US" sz="2200" dirty="0">
                <a:solidFill>
                  <a:srgbClr val="7030A0"/>
                </a:solidFill>
                <a:latin typeface="Times New Roman" panose="02020603050405020304" pitchFamily="18" charset="0"/>
                <a:ea typeface="黑体" panose="02010609060101010101" pitchFamily="49" charset="-122"/>
              </a:rPr>
              <a:t>窗法、</a:t>
            </a:r>
            <a:r>
              <a:rPr lang="en-US" altLang="zh-CN" sz="2200" i="1" dirty="0" err="1">
                <a:solidFill>
                  <a:srgbClr val="7030A0"/>
                </a:solidFill>
                <a:latin typeface="Times New Roman" panose="02020603050405020304" pitchFamily="18" charset="0"/>
                <a:ea typeface="黑体" panose="02010609060101010101" pitchFamily="49" charset="-122"/>
              </a:rPr>
              <a:t>k</a:t>
            </a:r>
            <a:r>
              <a:rPr lang="en-US" altLang="zh-CN" sz="2200" baseline="-25000" dirty="0" err="1">
                <a:solidFill>
                  <a:srgbClr val="7030A0"/>
                </a:solidFill>
                <a:latin typeface="Times New Roman" panose="02020603050405020304" pitchFamily="18" charset="0"/>
                <a:ea typeface="黑体" panose="02010609060101010101" pitchFamily="49" charset="-122"/>
              </a:rPr>
              <a:t>n</a:t>
            </a:r>
            <a:r>
              <a:rPr lang="en-US" altLang="zh-CN" sz="2200" dirty="0">
                <a:solidFill>
                  <a:srgbClr val="7030A0"/>
                </a:solidFill>
                <a:latin typeface="Times New Roman" panose="02020603050405020304" pitchFamily="18" charset="0"/>
                <a:ea typeface="黑体" panose="02010609060101010101" pitchFamily="49" charset="-122"/>
              </a:rPr>
              <a:t>-</a:t>
            </a:r>
            <a:r>
              <a:rPr lang="zh-CN" altLang="en-US" sz="2200" dirty="0">
                <a:solidFill>
                  <a:srgbClr val="7030A0"/>
                </a:solidFill>
                <a:latin typeface="Times New Roman" panose="02020603050405020304" pitchFamily="18" charset="0"/>
                <a:ea typeface="黑体" panose="02010609060101010101" pitchFamily="49" charset="-122"/>
              </a:rPr>
              <a:t>近邻法</a:t>
            </a:r>
            <a:endParaRPr lang="zh-CN" altLang="en-US" sz="2200" dirty="0">
              <a:solidFill>
                <a:srgbClr val="7030A0"/>
              </a:solidFill>
              <a:latin typeface="Times New Roman" panose="02020603050405020304" pitchFamily="18" charset="0"/>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8" name="标题 1"/>
          <p:cNvSpPr txBox="1"/>
          <p:nvPr/>
        </p:nvSpPr>
        <p:spPr bwMode="black">
          <a:xfrm>
            <a:off x="407368" y="188640"/>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zh-CN" altLang="en-US" kern="0" dirty="0"/>
              <a:t>第</a:t>
            </a:r>
            <a:r>
              <a:rPr lang="en-US" altLang="zh-CN" kern="0" dirty="0"/>
              <a:t>14</a:t>
            </a:r>
            <a:r>
              <a:rPr lang="zh-CN" altLang="en-US" kern="0" dirty="0"/>
              <a:t>讲 </a:t>
            </a:r>
            <a:r>
              <a:rPr lang="zh-CN" altLang="zh-CN" dirty="0"/>
              <a:t>概率密度函数的参数估计</a:t>
            </a:r>
            <a:endParaRPr lang="zh-CN" altLang="zh-CN" dirty="0"/>
          </a:p>
        </p:txBody>
      </p:sp>
      <p:sp>
        <p:nvSpPr>
          <p:cNvPr id="12" name="内容占位符 2"/>
          <p:cNvSpPr>
            <a:spLocks noGrp="1"/>
          </p:cNvSpPr>
          <p:nvPr>
            <p:ph idx="1"/>
          </p:nvPr>
        </p:nvSpPr>
        <p:spPr>
          <a:xfrm>
            <a:off x="342900" y="1052736"/>
            <a:ext cx="11513740" cy="5334000"/>
          </a:xfrm>
        </p:spPr>
        <p:txBody>
          <a:bodyPr/>
          <a:lstStyle/>
          <a:p>
            <a:pPr marL="0" indent="0">
              <a:lnSpc>
                <a:spcPct val="150000"/>
              </a:lnSpc>
              <a:spcBef>
                <a:spcPts val="0"/>
              </a:spcBef>
              <a:buNone/>
            </a:pPr>
            <a:r>
              <a:rPr lang="zh-CN" altLang="zh-CN" sz="2200" dirty="0">
                <a:solidFill>
                  <a:srgbClr val="FF0000"/>
                </a:solidFill>
                <a:latin typeface="Times New Roman" panose="02020603050405020304" pitchFamily="18" charset="0"/>
                <a:ea typeface="黑体" panose="02010609060101010101" pitchFamily="49" charset="-122"/>
              </a:rPr>
              <a:t>基本概念</a:t>
            </a:r>
            <a:endParaRPr lang="zh-CN" altLang="zh-CN" sz="2200" dirty="0">
              <a:solidFill>
                <a:srgbClr val="FF0000"/>
              </a:solidFill>
              <a:latin typeface="Times New Roman" panose="02020603050405020304" pitchFamily="18" charset="0"/>
              <a:ea typeface="黑体" panose="02010609060101010101" pitchFamily="49" charset="-122"/>
            </a:endParaRPr>
          </a:p>
          <a:p>
            <a:pPr marL="0" indent="0">
              <a:lnSpc>
                <a:spcPct val="150000"/>
              </a:lnSpc>
              <a:spcBef>
                <a:spcPts val="0"/>
              </a:spcBef>
              <a:buNone/>
            </a:pPr>
            <a:r>
              <a:rPr lang="zh-CN" altLang="zh-CN" sz="2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参数估计</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(Parametric Estimation)</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lvl="0">
              <a:lnSpc>
                <a:spcPct val="150000"/>
              </a:lnSpc>
              <a:spcBef>
                <a:spcPts val="0"/>
              </a:spcBef>
              <a:buClrTx/>
              <a:buFont typeface="Arial" panose="020B0604020202020204" pitchFamily="34" charset="0"/>
              <a:buChar char="•"/>
            </a:pPr>
            <a:r>
              <a:rPr lang="zh-CN" altLang="zh-CN" sz="2200" dirty="0">
                <a:latin typeface="Times New Roman" panose="02020603050405020304" pitchFamily="18" charset="0"/>
                <a:ea typeface="黑体" panose="02010609060101010101" pitchFamily="49" charset="-122"/>
              </a:rPr>
              <a:t>已知概率密度函数的形式，只是其中几个参数未知，目标是根据样本估计这些参数的值。</a:t>
            </a:r>
            <a:endParaRPr lang="zh-CN" altLang="zh-CN" sz="2200" dirty="0">
              <a:latin typeface="Times New Roman" panose="02020603050405020304" pitchFamily="18" charset="0"/>
              <a:ea typeface="黑体" panose="02010609060101010101" pitchFamily="49" charset="-122"/>
            </a:endParaRPr>
          </a:p>
          <a:p>
            <a:pPr marL="0" indent="0">
              <a:lnSpc>
                <a:spcPct val="150000"/>
              </a:lnSpc>
              <a:spcBef>
                <a:spcPts val="1200"/>
              </a:spcBef>
              <a:buNone/>
            </a:pPr>
            <a:r>
              <a:rPr lang="zh-CN" altLang="zh-CN" sz="2200" dirty="0">
                <a:solidFill>
                  <a:srgbClr val="FF0000"/>
                </a:solidFill>
                <a:latin typeface="Times New Roman" panose="02020603050405020304" pitchFamily="18" charset="0"/>
                <a:ea typeface="黑体" panose="02010609060101010101" pitchFamily="49" charset="-122"/>
              </a:rPr>
              <a:t>几个名词</a:t>
            </a:r>
            <a:r>
              <a:rPr lang="zh-CN" altLang="zh-CN" sz="2200" dirty="0">
                <a:latin typeface="Times New Roman" panose="02020603050405020304" pitchFamily="18" charset="0"/>
                <a:ea typeface="黑体" panose="02010609060101010101" pitchFamily="49" charset="-122"/>
              </a:rPr>
              <a:t>：</a:t>
            </a:r>
            <a:endParaRPr lang="zh-CN" altLang="zh-CN" sz="2200" dirty="0">
              <a:latin typeface="Times New Roman" panose="02020603050405020304" pitchFamily="18" charset="0"/>
              <a:ea typeface="黑体" panose="02010609060101010101" pitchFamily="49" charset="-122"/>
            </a:endParaRPr>
          </a:p>
          <a:p>
            <a:pPr>
              <a:lnSpc>
                <a:spcPct val="150000"/>
              </a:lnSpc>
              <a:spcBef>
                <a:spcPts val="0"/>
              </a:spcBef>
              <a:buClrTx/>
              <a:buFont typeface="Arial" panose="020B0604020202020204" pitchFamily="34" charset="0"/>
              <a:buChar char="•"/>
            </a:pPr>
            <a:r>
              <a:rPr lang="zh-CN" altLang="zh-CN" sz="2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统计量</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(Statistics)</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：样本</a:t>
            </a:r>
            <a:r>
              <a:rPr lang="zh-CN" altLang="zh-CN" sz="2200" dirty="0">
                <a:latin typeface="Times New Roman" panose="02020603050405020304" pitchFamily="18" charset="0"/>
                <a:ea typeface="黑体" panose="02010609060101010101" pitchFamily="49" charset="-122"/>
              </a:rPr>
              <a:t>的某种函数，用来作为对某参数的估计</a:t>
            </a:r>
            <a:endParaRPr lang="zh-CN" altLang="zh-CN" sz="2200" dirty="0">
              <a:latin typeface="Times New Roman" panose="02020603050405020304" pitchFamily="18" charset="0"/>
              <a:ea typeface="黑体" panose="02010609060101010101" pitchFamily="49" charset="-122"/>
            </a:endParaRPr>
          </a:p>
          <a:p>
            <a:pPr>
              <a:lnSpc>
                <a:spcPct val="150000"/>
              </a:lnSpc>
              <a:spcBef>
                <a:spcPts val="0"/>
              </a:spcBef>
              <a:buClrTx/>
              <a:buFont typeface="Arial" panose="020B0604020202020204" pitchFamily="34" charset="0"/>
              <a:buChar char="•"/>
            </a:pPr>
            <a:r>
              <a:rPr lang="zh-CN" altLang="zh-CN" sz="2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参数空间</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(Parametric Space)</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：待估计</a:t>
            </a:r>
            <a:r>
              <a:rPr lang="zh-CN" altLang="zh-CN" sz="2200" dirty="0">
                <a:latin typeface="Times New Roman" panose="02020603050405020304" pitchFamily="18" charset="0"/>
                <a:ea typeface="黑体" panose="02010609060101010101" pitchFamily="49" charset="-122"/>
              </a:rPr>
              <a:t>参数的取值空间</a:t>
            </a:r>
            <a:r>
              <a:rPr lang="en-US" altLang="zh-CN" sz="2200" dirty="0">
                <a:latin typeface="Times New Roman" panose="02020603050405020304" pitchFamily="18" charset="0"/>
                <a:ea typeface="黑体" panose="02010609060101010101" pitchFamily="49" charset="-122"/>
              </a:rPr>
              <a:t> </a:t>
            </a:r>
            <a:endParaRPr lang="zh-CN" altLang="zh-CN" sz="2200" dirty="0">
              <a:latin typeface="Times New Roman" panose="02020603050405020304" pitchFamily="18" charset="0"/>
              <a:ea typeface="黑体" panose="02010609060101010101" pitchFamily="49" charset="-122"/>
            </a:endParaRPr>
          </a:p>
          <a:p>
            <a:pPr>
              <a:lnSpc>
                <a:spcPct val="150000"/>
              </a:lnSpc>
              <a:spcBef>
                <a:spcPts val="0"/>
              </a:spcBef>
              <a:buClrTx/>
              <a:buFont typeface="Arial" panose="020B0604020202020204" pitchFamily="34" charset="0"/>
              <a:buChar char="•"/>
            </a:pPr>
            <a:r>
              <a:rPr lang="zh-CN" altLang="zh-CN" sz="2200" dirty="0">
                <a:solidFill>
                  <a:srgbClr val="0000FF"/>
                </a:solidFill>
                <a:latin typeface="Times New Roman" panose="02020603050405020304" pitchFamily="18" charset="0"/>
                <a:ea typeface="黑体" panose="02010609060101010101" pitchFamily="49" charset="-122"/>
              </a:rPr>
              <a:t>估计量</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(Estimation)</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marL="0" indent="0">
              <a:buNone/>
            </a:pPr>
            <a:endParaRPr lang="zh-CN" altLang="en-US" sz="2200" dirty="0">
              <a:latin typeface="Times New Roman" panose="02020603050405020304" pitchFamily="18" charset="0"/>
              <a:ea typeface="黑体" panose="02010609060101010101" pitchFamily="49" charset="-122"/>
            </a:endParaRPr>
          </a:p>
        </p:txBody>
      </p:sp>
      <p:graphicFrame>
        <p:nvGraphicFramePr>
          <p:cNvPr id="13" name="对象 12"/>
          <p:cNvGraphicFramePr>
            <a:graphicFrameLocks noChangeAspect="1"/>
          </p:cNvGraphicFramePr>
          <p:nvPr/>
        </p:nvGraphicFramePr>
        <p:xfrm>
          <a:off x="7248128" y="3861079"/>
          <a:ext cx="864096" cy="370327"/>
        </p:xfrm>
        <a:graphic>
          <a:graphicData uri="http://schemas.openxmlformats.org/presentationml/2006/ole">
            <mc:AlternateContent xmlns:mc="http://schemas.openxmlformats.org/markup-compatibility/2006">
              <mc:Choice xmlns:v="urn:schemas-microsoft-com:vml" Requires="v">
                <p:oleObj spid="_x0000_s121154" name="Equation" r:id="rId2" imgW="405765" imgH="177800" progId="Equation.DSMT4">
                  <p:embed/>
                </p:oleObj>
              </mc:Choice>
              <mc:Fallback>
                <p:oleObj name="Equation" r:id="rId2" imgW="405765" imgH="177800" progId="Equation.DSMT4">
                  <p:embed/>
                  <p:pic>
                    <p:nvPicPr>
                      <p:cNvPr id="0" name="Picture 3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8128" y="3861079"/>
                        <a:ext cx="864096" cy="370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nvGraphicFramePr>
        <p:xfrm>
          <a:off x="3287688" y="4321672"/>
          <a:ext cx="1893284" cy="504056"/>
        </p:xfrm>
        <a:graphic>
          <a:graphicData uri="http://schemas.openxmlformats.org/presentationml/2006/ole">
            <mc:AlternateContent xmlns:mc="http://schemas.openxmlformats.org/markup-compatibility/2006">
              <mc:Choice xmlns:v="urn:schemas-microsoft-com:vml" Requires="v">
                <p:oleObj spid="_x0000_s121155" name="Equation" r:id="rId4" imgW="965200" imgH="254000" progId="Equation.DSMT4">
                  <p:embed/>
                </p:oleObj>
              </mc:Choice>
              <mc:Fallback>
                <p:oleObj name="Equation" r:id="rId4" imgW="965200" imgH="254000" progId="Equation.DSMT4">
                  <p:embed/>
                  <p:pic>
                    <p:nvPicPr>
                      <p:cNvPr id="0" name="Picture 30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7688" y="4321672"/>
                        <a:ext cx="1893284"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15680" y="1149255"/>
            <a:ext cx="6768752" cy="3101362"/>
          </a:xfrm>
          <a:prstGeom prst="rect">
            <a:avLst/>
          </a:prstGeom>
          <a:noFill/>
        </p:spPr>
        <p:txBody>
          <a:bodyPr wrap="square" rtlCol="0">
            <a:spAutoFit/>
          </a:bodyPr>
          <a:lstStyle/>
          <a:p>
            <a:pPr>
              <a:lnSpc>
                <a:spcPct val="130000"/>
              </a:lnSpc>
              <a:spcBef>
                <a:spcPts val="200"/>
              </a:spcBef>
            </a:pPr>
            <a:r>
              <a:rPr lang="en-US" altLang="zh-CN" sz="2400" b="1" dirty="0">
                <a:solidFill>
                  <a:srgbClr val="0000FF"/>
                </a:solidFill>
                <a:latin typeface="宋体" panose="02010600030101010101" pitchFamily="2" charset="-122"/>
                <a:ea typeface="宋体" panose="02010600030101010101" pitchFamily="2" charset="-122"/>
              </a:rPr>
              <a:t>14.1 </a:t>
            </a:r>
            <a:r>
              <a:rPr lang="zh-CN" altLang="zh-CN" sz="2400" b="1" dirty="0">
                <a:solidFill>
                  <a:srgbClr val="0000FF"/>
                </a:solidFill>
                <a:latin typeface="宋体" panose="02010600030101010101" pitchFamily="2" charset="-122"/>
                <a:ea typeface="宋体" panose="02010600030101010101" pitchFamily="2" charset="-122"/>
              </a:rPr>
              <a:t>最大似然估计基本原理</a:t>
            </a:r>
            <a:endParaRPr lang="zh-CN" altLang="zh-CN" sz="2400" b="1" dirty="0">
              <a:solidFill>
                <a:srgbClr val="0000FF"/>
              </a:solidFill>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14.2 </a:t>
            </a:r>
            <a:r>
              <a:rPr lang="zh-CN" altLang="zh-CN" sz="2400" b="1" dirty="0">
                <a:latin typeface="宋体" panose="02010600030101010101" pitchFamily="2" charset="-122"/>
                <a:ea typeface="宋体" panose="02010600030101010101" pitchFamily="2" charset="-122"/>
              </a:rPr>
              <a:t>最大似然估计的求解</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14.3 </a:t>
            </a:r>
            <a:r>
              <a:rPr lang="zh-CN" altLang="zh-CN" sz="2400" b="1" dirty="0">
                <a:latin typeface="宋体" panose="02010600030101010101" pitchFamily="2" charset="-122"/>
                <a:ea typeface="宋体" panose="02010600030101010101" pitchFamily="2" charset="-122"/>
              </a:rPr>
              <a:t>正态分布下的最大似然估计</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14.4 </a:t>
            </a:r>
            <a:r>
              <a:rPr lang="zh-CN" altLang="zh-CN" sz="2400" b="1" dirty="0">
                <a:latin typeface="宋体" panose="02010600030101010101" pitchFamily="2" charset="-122"/>
                <a:ea typeface="宋体" panose="02010600030101010101" pitchFamily="2" charset="-122"/>
              </a:rPr>
              <a:t>贝叶斯估计</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14.5 </a:t>
            </a:r>
            <a:r>
              <a:rPr lang="zh-CN" altLang="zh-CN" sz="2400" b="1" dirty="0">
                <a:latin typeface="宋体" panose="02010600030101010101" pitchFamily="2" charset="-122"/>
                <a:ea typeface="宋体" panose="02010600030101010101" pitchFamily="2" charset="-122"/>
              </a:rPr>
              <a:t>贝叶斯学习</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14.6 </a:t>
            </a:r>
            <a:r>
              <a:rPr lang="zh-CN" altLang="zh-CN" sz="2400" b="1" dirty="0">
                <a:latin typeface="宋体" panose="02010600030101010101" pitchFamily="2" charset="-122"/>
                <a:ea typeface="宋体" panose="02010600030101010101" pitchFamily="2" charset="-122"/>
              </a:rPr>
              <a:t>正态分布下的贝叶斯估计</a:t>
            </a:r>
            <a:endParaRPr lang="zh-CN" altLang="zh-CN" sz="2400" b="1" dirty="0">
              <a:latin typeface="宋体" panose="02010600030101010101" pitchFamily="2" charset="-122"/>
              <a:ea typeface="宋体" panose="02010600030101010101" pitchFamily="2" charset="-122"/>
            </a:endParaRPr>
          </a:p>
        </p:txBody>
      </p:sp>
      <p:sp>
        <p:nvSpPr>
          <p:cNvPr id="8" name="Freeform 6"/>
          <p:cNvSpPr/>
          <p:nvPr/>
        </p:nvSpPr>
        <p:spPr bwMode="auto">
          <a:xfrm>
            <a:off x="0" y="5589240"/>
            <a:ext cx="12192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ln>
        </p:spPr>
        <p:txBody>
          <a:bodyPr vert="horz" wrap="square" lIns="128580" tIns="64290" rIns="128580" bIns="64290" numCol="1" anchor="t" anchorCtr="0" compatLnSpc="1"/>
          <a:lstStyle/>
          <a:p>
            <a:endParaRPr lang="zh-CN" altLang="en-US"/>
          </a:p>
        </p:txBody>
      </p:sp>
      <p:sp>
        <p:nvSpPr>
          <p:cNvPr id="9" name="Freeform 7"/>
          <p:cNvSpPr/>
          <p:nvPr/>
        </p:nvSpPr>
        <p:spPr bwMode="auto">
          <a:xfrm>
            <a:off x="-24680" y="5425669"/>
            <a:ext cx="12216680" cy="357166"/>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ln>
        </p:spPr>
        <p:txBody>
          <a:bodyPr vert="horz" wrap="square" lIns="128580" tIns="64290" rIns="128580" bIns="64290" numCol="1" anchor="t" anchorCtr="0" compatLnSpc="1"/>
          <a:lstStyle/>
          <a:p>
            <a:endParaRPr lang="zh-CN" altLang="en-US">
              <a:solidFill>
                <a:schemeClr val="tx2">
                  <a:lumMod val="20000"/>
                  <a:lumOff val="80000"/>
                </a:schemeClr>
              </a:solidFill>
            </a:endParaRPr>
          </a:p>
        </p:txBody>
      </p:sp>
      <p:pic>
        <p:nvPicPr>
          <p:cNvPr id="3" name="图片 2"/>
          <p:cNvPicPr>
            <a:picLocks noChangeAspect="1"/>
          </p:cNvPicPr>
          <p:nvPr/>
        </p:nvPicPr>
        <p:blipFill>
          <a:blip r:embed="rId1"/>
          <a:stretch>
            <a:fillRect/>
          </a:stretch>
        </p:blipFill>
        <p:spPr>
          <a:xfrm>
            <a:off x="0" y="6468398"/>
            <a:ext cx="1349719" cy="404664"/>
          </a:xfrm>
          <a:prstGeom prst="rect">
            <a:avLst/>
          </a:prstGeom>
        </p:spPr>
      </p:pic>
      <p:sp>
        <p:nvSpPr>
          <p:cNvPr id="6" name="文本框 5"/>
          <p:cNvSpPr txBox="1"/>
          <p:nvPr/>
        </p:nvSpPr>
        <p:spPr>
          <a:xfrm>
            <a:off x="-24680" y="6436962"/>
            <a:ext cx="5472608" cy="461665"/>
          </a:xfrm>
          <a:prstGeom prst="rect">
            <a:avLst/>
          </a:prstGeom>
          <a:noFill/>
        </p:spPr>
        <p:txBody>
          <a:bodyPr wrap="square" rtlCol="0">
            <a:spAutoFit/>
          </a:bodyPr>
          <a:lstStyle/>
          <a:p>
            <a:r>
              <a:rPr lang="zh-CN" altLang="en-US" sz="2400" b="1" dirty="0">
                <a:solidFill>
                  <a:srgbClr val="0000FF"/>
                </a:solidFill>
              </a:rPr>
              <a:t>人工智能与自动化学院        </a:t>
            </a:r>
            <a:endParaRPr lang="zh-CN" altLang="en-US" sz="2400" b="1" dirty="0">
              <a:solidFill>
                <a:srgbClr val="0000FF"/>
              </a:solidFill>
            </a:endParaRPr>
          </a:p>
        </p:txBody>
      </p:sp>
      <p:sp>
        <p:nvSpPr>
          <p:cNvPr id="12" name="标题 1"/>
          <p:cNvSpPr txBox="1"/>
          <p:nvPr/>
        </p:nvSpPr>
        <p:spPr bwMode="black">
          <a:xfrm>
            <a:off x="407368" y="188640"/>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zh-CN" altLang="en-US" kern="0" dirty="0"/>
              <a:t>第</a:t>
            </a:r>
            <a:r>
              <a:rPr lang="en-US" altLang="zh-CN" kern="0" dirty="0"/>
              <a:t>14</a:t>
            </a:r>
            <a:r>
              <a:rPr lang="zh-CN" altLang="en-US" kern="0" dirty="0"/>
              <a:t>讲 </a:t>
            </a:r>
            <a:r>
              <a:rPr lang="zh-CN" altLang="zh-CN" dirty="0"/>
              <a:t>概率密度函数的参数估计</a:t>
            </a:r>
            <a:endParaRPr lang="zh-CN" altLang="zh-CN" dirty="0"/>
          </a:p>
        </p:txBody>
      </p:sp>
      <p:sp>
        <p:nvSpPr>
          <p:cNvPr id="7" name="灯片编号占位符 6"/>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14.1 </a:t>
            </a:r>
            <a:r>
              <a:rPr lang="zh-CN" altLang="zh-CN" dirty="0"/>
              <a:t>最大似然估计基本原理</a:t>
            </a:r>
            <a:endParaRPr lang="zh-CN" altLang="zh-CN" dirty="0"/>
          </a:p>
        </p:txBody>
      </p:sp>
      <p:sp>
        <p:nvSpPr>
          <p:cNvPr id="42" name="矩形 41"/>
          <p:cNvSpPr/>
          <p:nvPr/>
        </p:nvSpPr>
        <p:spPr>
          <a:xfrm>
            <a:off x="304132" y="1076139"/>
            <a:ext cx="5554726" cy="954107"/>
          </a:xfrm>
          <a:prstGeom prst="rect">
            <a:avLst/>
          </a:prstGeom>
        </p:spPr>
        <p:txBody>
          <a:bodyPr wrap="none">
            <a:spAutoFit/>
          </a:bodyPr>
          <a:lstStyle/>
          <a:p>
            <a:r>
              <a:rPr lang="zh-CN" altLang="en-US" sz="2800" b="1" dirty="0">
                <a:solidFill>
                  <a:srgbClr val="0000FF"/>
                </a:solidFill>
                <a:latin typeface="Arial" panose="020B0604020202020204" pitchFamily="34" charset="0"/>
              </a:rPr>
              <a:t>最大似然估计和</a:t>
            </a:r>
            <a:r>
              <a:rPr lang="en-US" altLang="zh-CN" sz="2800" b="1" dirty="0">
                <a:solidFill>
                  <a:srgbClr val="0000FF"/>
                </a:solidFill>
                <a:latin typeface="Arial" panose="020B0604020202020204" pitchFamily="34" charset="0"/>
              </a:rPr>
              <a:t>Bayes</a:t>
            </a:r>
            <a:r>
              <a:rPr lang="zh-CN" altLang="en-US" sz="2800" b="1" dirty="0">
                <a:solidFill>
                  <a:srgbClr val="0000FF"/>
                </a:solidFill>
                <a:latin typeface="Arial" panose="020B0604020202020204" pitchFamily="34" charset="0"/>
              </a:rPr>
              <a:t>估计的区别</a:t>
            </a:r>
            <a:endParaRPr lang="zh-CN" altLang="en-US" sz="2800" b="1" dirty="0">
              <a:solidFill>
                <a:srgbClr val="0000FF"/>
              </a:solidFill>
              <a:latin typeface="Arial" panose="020B0604020202020204" pitchFamily="34" charset="0"/>
            </a:endParaRPr>
          </a:p>
          <a:p>
            <a:endParaRPr lang="zh-CN" altLang="en-US" sz="2800" b="1" dirty="0">
              <a:solidFill>
                <a:srgbClr val="FF0000"/>
              </a:solidFill>
              <a:ea typeface="黑体" panose="02010609060101010101" pitchFamily="49" charset="-122"/>
            </a:endParaRPr>
          </a:p>
        </p:txBody>
      </p:sp>
      <p:sp>
        <p:nvSpPr>
          <p:cNvPr id="13" name="Rectangle 2"/>
          <p:cNvSpPr>
            <a:spLocks noGrp="1" noChangeArrowheads="1"/>
          </p:cNvSpPr>
          <p:nvPr>
            <p:ph idx="1"/>
          </p:nvPr>
        </p:nvSpPr>
        <p:spPr>
          <a:xfrm>
            <a:off x="335360" y="1779901"/>
            <a:ext cx="11521280" cy="2644314"/>
          </a:xfrm>
        </p:spPr>
        <p:txBody>
          <a:bodyPr wrap="square" lIns="90488" tIns="44450" rIns="90488" bIns="44450">
            <a:spAutoFit/>
          </a:bodyPr>
          <a:lstStyle/>
          <a:p>
            <a:pPr marL="0" indent="0">
              <a:lnSpc>
                <a:spcPct val="130000"/>
              </a:lnSpc>
              <a:spcBef>
                <a:spcPts val="0"/>
              </a:spcBef>
              <a:buNone/>
            </a:pPr>
            <a:r>
              <a:rPr lang="zh-CN" altLang="en-US" sz="2400" dirty="0">
                <a:ea typeface="黑体" panose="02010609060101010101" pitchFamily="49" charset="-122"/>
              </a:rPr>
              <a:t>两种方法估计的参数的结果接近，但过程有区别：</a:t>
            </a:r>
            <a:endParaRPr lang="en-US" altLang="zh-CN" sz="2400" dirty="0">
              <a:ea typeface="黑体" panose="02010609060101010101" pitchFamily="49" charset="-122"/>
            </a:endParaRPr>
          </a:p>
          <a:p>
            <a:pPr>
              <a:lnSpc>
                <a:spcPct val="130000"/>
              </a:lnSpc>
              <a:spcBef>
                <a:spcPts val="600"/>
              </a:spcBef>
              <a:buFont typeface="Arial" panose="020B0604020202020204" pitchFamily="34" charset="0"/>
              <a:buChar char="•"/>
              <a:tabLst>
                <a:tab pos="95250" algn="l"/>
              </a:tabLst>
            </a:pPr>
            <a:r>
              <a:rPr lang="zh-CN" altLang="en-US" sz="2400" dirty="0">
                <a:solidFill>
                  <a:srgbClr val="0070C0"/>
                </a:solidFill>
                <a:ea typeface="黑体" panose="02010609060101010101" pitchFamily="49" charset="-122"/>
              </a:rPr>
              <a:t>前者将未知参数看成是确定变量，在实际样本观察的概率最大的条件下，获得未知参数的最好的估计；</a:t>
            </a:r>
            <a:endParaRPr lang="en-US" altLang="zh-CN" sz="2400" dirty="0">
              <a:solidFill>
                <a:srgbClr val="0070C0"/>
              </a:solidFill>
              <a:ea typeface="黑体" panose="02010609060101010101" pitchFamily="49" charset="-122"/>
            </a:endParaRPr>
          </a:p>
          <a:p>
            <a:pPr>
              <a:lnSpc>
                <a:spcPct val="130000"/>
              </a:lnSpc>
              <a:spcBef>
                <a:spcPts val="600"/>
              </a:spcBef>
              <a:buFont typeface="Arial" panose="020B0604020202020204" pitchFamily="34" charset="0"/>
              <a:buChar char="•"/>
              <a:tabLst>
                <a:tab pos="95250" algn="l"/>
              </a:tabLst>
            </a:pPr>
            <a:r>
              <a:rPr lang="zh-CN" altLang="en-US" sz="2400" dirty="0">
                <a:solidFill>
                  <a:srgbClr val="0070C0"/>
                </a:solidFill>
                <a:ea typeface="黑体" panose="02010609060101010101" pitchFamily="49" charset="-122"/>
              </a:rPr>
              <a:t>后者将未知参数看成是按某种分布的随机变量，样本的观察结果由先验分布转化为后验分布，再由后验分布修正参数的估计值。</a:t>
            </a:r>
            <a:endParaRPr lang="zh-CN" altLang="en-US" sz="2400" dirty="0">
              <a:solidFill>
                <a:srgbClr val="0070C0"/>
              </a:solidFill>
              <a:ea typeface="黑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14.1 </a:t>
            </a:r>
            <a:r>
              <a:rPr lang="zh-CN" altLang="zh-CN" dirty="0"/>
              <a:t>最大似然估计基本原理</a:t>
            </a:r>
            <a:endParaRPr lang="zh-CN" altLang="zh-CN" dirty="0"/>
          </a:p>
        </p:txBody>
      </p:sp>
      <p:sp>
        <p:nvSpPr>
          <p:cNvPr id="42" name="矩形 41"/>
          <p:cNvSpPr/>
          <p:nvPr/>
        </p:nvSpPr>
        <p:spPr>
          <a:xfrm>
            <a:off x="304132" y="1076139"/>
            <a:ext cx="3416320"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最大似然估计的思路</a:t>
            </a:r>
            <a:endParaRPr lang="zh-CN" altLang="en-US" sz="2800" b="1" dirty="0">
              <a:solidFill>
                <a:srgbClr val="FF0000"/>
              </a:solidFill>
              <a:ea typeface="黑体" panose="02010609060101010101" pitchFamily="49" charset="-122"/>
            </a:endParaRPr>
          </a:p>
        </p:txBody>
      </p:sp>
      <p:sp>
        <p:nvSpPr>
          <p:cNvPr id="11" name="Rectangle 3"/>
          <p:cNvSpPr>
            <a:spLocks noGrp="1" noChangeArrowheads="1"/>
          </p:cNvSpPr>
          <p:nvPr>
            <p:ph idx="1"/>
          </p:nvPr>
        </p:nvSpPr>
        <p:spPr>
          <a:xfrm>
            <a:off x="304800" y="1700808"/>
            <a:ext cx="11695856" cy="2376264"/>
          </a:xfrm>
        </p:spPr>
        <p:txBody>
          <a:bodyPr/>
          <a:lstStyle/>
          <a:p>
            <a:pPr marL="342900" lvl="1" indent="-342900">
              <a:lnSpc>
                <a:spcPct val="130000"/>
              </a:lnSpc>
              <a:spcBef>
                <a:spcPts val="0"/>
              </a:spcBef>
              <a:buClrTx/>
              <a:buFont typeface="Arial" panose="020B0604020202020204" pitchFamily="34" charset="0"/>
              <a:buChar char="•"/>
            </a:pPr>
            <a:r>
              <a:rPr lang="zh-CN" altLang="en-US" sz="2200" dirty="0">
                <a:latin typeface="Times New Roman" panose="02020603050405020304" pitchFamily="18" charset="0"/>
                <a:ea typeface="黑体" panose="02010609060101010101" pitchFamily="49" charset="-122"/>
              </a:rPr>
              <a:t>样本集可按类别分开，不同类别密度函数的参数分别用各类的样本集来估计。</a:t>
            </a:r>
            <a:endParaRPr lang="zh-CN" altLang="en-US" sz="2200" dirty="0">
              <a:latin typeface="Times New Roman" panose="02020603050405020304" pitchFamily="18" charset="0"/>
              <a:ea typeface="黑体" panose="02010609060101010101" pitchFamily="49" charset="-122"/>
            </a:endParaRPr>
          </a:p>
          <a:p>
            <a:pPr marL="342900" lvl="1" indent="-342900">
              <a:lnSpc>
                <a:spcPct val="130000"/>
              </a:lnSpc>
              <a:spcBef>
                <a:spcPts val="0"/>
              </a:spcBef>
              <a:buClrTx/>
              <a:buFont typeface="Arial" panose="020B0604020202020204" pitchFamily="34" charset="0"/>
              <a:buChar char="•"/>
            </a:pPr>
            <a:r>
              <a:rPr lang="zh-CN" altLang="en-US" sz="2200" dirty="0">
                <a:latin typeface="Times New Roman" panose="02020603050405020304" pitchFamily="18" charset="0"/>
                <a:ea typeface="黑体" panose="02010609060101010101" pitchFamily="49" charset="-122"/>
              </a:rPr>
              <a:t>概率密度函数的形式已知、参数未知，为了描述概率密度函数 </a:t>
            </a:r>
            <a:r>
              <a:rPr lang="en-US" altLang="zh-CN" sz="2200" i="1" dirty="0">
                <a:latin typeface="Times New Roman" panose="02020603050405020304" pitchFamily="18" charset="0"/>
                <a:ea typeface="黑体" panose="02010609060101010101" pitchFamily="49" charset="-122"/>
              </a:rPr>
              <a:t>p</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x|</a:t>
            </a:r>
            <a:r>
              <a:rPr lang="el-GR" altLang="zh-CN" sz="2200" i="1" dirty="0">
                <a:latin typeface="Times New Roman" panose="02020603050405020304" pitchFamily="18" charset="0"/>
                <a:ea typeface="黑体" panose="02010609060101010101" pitchFamily="49" charset="-122"/>
              </a:rPr>
              <a:t>ω</a:t>
            </a:r>
            <a:r>
              <a:rPr lang="el-GR" altLang="zh-CN" sz="2200" i="1" baseline="-25000" dirty="0">
                <a:latin typeface="Times New Roman" panose="02020603050405020304" pitchFamily="18" charset="0"/>
                <a:ea typeface="黑体" panose="02010609060101010101" pitchFamily="49" charset="-122"/>
              </a:rPr>
              <a:t>i</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与参数 </a:t>
            </a:r>
            <a:r>
              <a:rPr lang="el-GR" altLang="zh-CN" sz="2200" i="1" dirty="0">
                <a:latin typeface="Times New Roman" panose="02020603050405020304" pitchFamily="18" charset="0"/>
                <a:ea typeface="黑体" panose="02010609060101010101" pitchFamily="49" charset="-122"/>
              </a:rPr>
              <a:t>θ</a:t>
            </a:r>
            <a:r>
              <a:rPr lang="en-US" altLang="zh-CN" sz="2200" i="1"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的依赖关系，我们用 </a:t>
            </a:r>
            <a:r>
              <a:rPr lang="en-US" altLang="zh-CN" sz="2200" i="1" dirty="0">
                <a:latin typeface="Times New Roman" panose="02020603050405020304" pitchFamily="18" charset="0"/>
                <a:ea typeface="黑体" panose="02010609060101010101" pitchFamily="49" charset="-122"/>
              </a:rPr>
              <a:t>p</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x|</a:t>
            </a:r>
            <a:r>
              <a:rPr lang="el-GR" altLang="zh-CN" sz="2200" i="1" dirty="0">
                <a:latin typeface="Times New Roman" panose="02020603050405020304" pitchFamily="18" charset="0"/>
                <a:ea typeface="黑体" panose="02010609060101010101" pitchFamily="49" charset="-122"/>
              </a:rPr>
              <a:t>ω</a:t>
            </a:r>
            <a:r>
              <a:rPr lang="el-GR" altLang="zh-CN" sz="2200" i="1" baseline="-25000" dirty="0">
                <a:latin typeface="Times New Roman" panose="02020603050405020304" pitchFamily="18" charset="0"/>
                <a:ea typeface="黑体" panose="02010609060101010101" pitchFamily="49" charset="-122"/>
              </a:rPr>
              <a:t>i</a:t>
            </a:r>
            <a:r>
              <a:rPr lang="en-US" altLang="zh-CN" sz="2200" i="1" baseline="-25000" dirty="0">
                <a:latin typeface="Times New Roman" panose="02020603050405020304" pitchFamily="18" charset="0"/>
                <a:ea typeface="黑体" panose="02010609060101010101" pitchFamily="49" charset="-122"/>
              </a:rPr>
              <a:t> </a:t>
            </a:r>
            <a:r>
              <a:rPr lang="en-US" altLang="zh-CN" sz="2200" i="1" dirty="0">
                <a:latin typeface="Times New Roman" panose="02020603050405020304" pitchFamily="18" charset="0"/>
                <a:ea typeface="黑体" panose="02010609060101010101" pitchFamily="49" charset="-122"/>
              </a:rPr>
              <a:t>,</a:t>
            </a:r>
            <a:r>
              <a:rPr lang="el-GR" altLang="zh-CN" sz="2200" i="1" dirty="0">
                <a:latin typeface="Times New Roman" panose="02020603050405020304" pitchFamily="18" charset="0"/>
                <a:ea typeface="黑体" panose="02010609060101010101" pitchFamily="49" charset="-122"/>
              </a:rPr>
              <a:t>θ</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表示概率密度函数。</a:t>
            </a:r>
            <a:endParaRPr lang="zh-CN" altLang="en-US" sz="2200" dirty="0">
              <a:latin typeface="Times New Roman" panose="02020603050405020304" pitchFamily="18" charset="0"/>
              <a:ea typeface="黑体" panose="02010609060101010101" pitchFamily="49" charset="-122"/>
            </a:endParaRPr>
          </a:p>
          <a:p>
            <a:pPr marL="342900" lvl="1" indent="-342900">
              <a:lnSpc>
                <a:spcPct val="130000"/>
              </a:lnSpc>
              <a:spcBef>
                <a:spcPts val="0"/>
              </a:spcBef>
              <a:buClrTx/>
              <a:buFont typeface="Arial" panose="020B0604020202020204" pitchFamily="34" charset="0"/>
              <a:buChar char="•"/>
            </a:pPr>
            <a:r>
              <a:rPr lang="zh-CN" altLang="en-US" sz="2200" dirty="0">
                <a:solidFill>
                  <a:srgbClr val="0070C0"/>
                </a:solidFill>
                <a:latin typeface="Times New Roman" panose="02020603050405020304" pitchFamily="18" charset="0"/>
                <a:ea typeface="黑体" panose="02010609060101010101" pitchFamily="49" charset="-122"/>
              </a:rPr>
              <a:t>最大似然估计</a:t>
            </a:r>
            <a:r>
              <a:rPr lang="zh-CN" altLang="en-US" sz="2200" dirty="0">
                <a:latin typeface="Times New Roman" panose="02020603050405020304" pitchFamily="18" charset="0"/>
                <a:ea typeface="黑体" panose="02010609060101010101" pitchFamily="49" charset="-122"/>
              </a:rPr>
              <a:t>中待估计参数 </a:t>
            </a:r>
            <a:r>
              <a:rPr lang="el-GR" altLang="zh-CN" sz="2200" i="1" dirty="0">
                <a:latin typeface="Times New Roman" panose="02020603050405020304" pitchFamily="18" charset="0"/>
                <a:ea typeface="黑体" panose="02010609060101010101" pitchFamily="49" charset="-122"/>
              </a:rPr>
              <a:t>θ</a:t>
            </a:r>
            <a:r>
              <a:rPr lang="zh-CN" altLang="el-GR" sz="2200" dirty="0">
                <a:latin typeface="Times New Roman" panose="02020603050405020304" pitchFamily="18" charset="0"/>
                <a:ea typeface="黑体" panose="02010609060101010101" pitchFamily="49" charset="-122"/>
              </a:rPr>
              <a:t>是</a:t>
            </a:r>
            <a:r>
              <a:rPr lang="en-US" altLang="zh-CN" sz="2200" dirty="0">
                <a:latin typeface="Times New Roman" panose="02020603050405020304" pitchFamily="18" charset="0"/>
                <a:ea typeface="黑体" panose="02010609060101010101" pitchFamily="49" charset="-122"/>
              </a:rPr>
              <a:t> </a:t>
            </a:r>
            <a:r>
              <a:rPr lang="zh-CN" altLang="el-GR" sz="2200" dirty="0">
                <a:latin typeface="Times New Roman" panose="02020603050405020304" pitchFamily="18" charset="0"/>
                <a:ea typeface="黑体" panose="02010609060101010101" pitchFamily="49" charset="-122"/>
              </a:rPr>
              <a:t>确定而未知的</a:t>
            </a:r>
            <a:r>
              <a:rPr lang="zh-CN" altLang="en-US" sz="2200" dirty="0">
                <a:latin typeface="Times New Roman" panose="02020603050405020304" pitchFamily="18" charset="0"/>
                <a:ea typeface="黑体" panose="02010609060101010101" pitchFamily="49" charset="-122"/>
              </a:rPr>
              <a:t>“数”，</a:t>
            </a:r>
            <a:r>
              <a:rPr lang="en-US" altLang="zh-CN" sz="2200" dirty="0">
                <a:latin typeface="Times New Roman" panose="02020603050405020304" pitchFamily="18" charset="0"/>
                <a:ea typeface="黑体" panose="02010609060101010101" pitchFamily="49" charset="-122"/>
              </a:rPr>
              <a:t>Bayes</a:t>
            </a:r>
            <a:r>
              <a:rPr lang="zh-CN" altLang="en-US" sz="2200" dirty="0">
                <a:latin typeface="Times New Roman" panose="02020603050405020304" pitchFamily="18" charset="0"/>
                <a:ea typeface="黑体" panose="02010609060101010101" pitchFamily="49" charset="-122"/>
              </a:rPr>
              <a:t>估计方法则视 </a:t>
            </a:r>
            <a:r>
              <a:rPr lang="el-GR" altLang="zh-CN" sz="2200" i="1" dirty="0">
                <a:latin typeface="Times New Roman" panose="02020603050405020304" pitchFamily="18" charset="0"/>
                <a:ea typeface="黑体" panose="02010609060101010101" pitchFamily="49" charset="-122"/>
              </a:rPr>
              <a:t>θ</a:t>
            </a:r>
            <a:r>
              <a:rPr lang="en-US" altLang="zh-CN" sz="2200" i="1"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为随机变量。</a:t>
            </a:r>
            <a:endParaRPr lang="en-US" altLang="zh-CN" sz="2200" dirty="0">
              <a:latin typeface="Times New Roman" panose="02020603050405020304" pitchFamily="18" charset="0"/>
              <a:ea typeface="黑体" panose="02010609060101010101" pitchFamily="49" charset="-122"/>
            </a:endParaRPr>
          </a:p>
          <a:p>
            <a:pPr marL="342900" lvl="1" indent="-342900">
              <a:lnSpc>
                <a:spcPct val="130000"/>
              </a:lnSpc>
              <a:spcBef>
                <a:spcPts val="0"/>
              </a:spcBef>
              <a:buClrTx/>
              <a:buFont typeface="Arial" panose="020B0604020202020204" pitchFamily="34" charset="0"/>
              <a:buChar char="•"/>
            </a:pPr>
            <a:r>
              <a:rPr lang="zh-CN" altLang="en-US" sz="2200" dirty="0">
                <a:latin typeface="Times New Roman" panose="02020603050405020304" pitchFamily="18" charset="0"/>
                <a:ea typeface="黑体" panose="02010609060101010101" pitchFamily="49" charset="-122"/>
              </a:rPr>
              <a:t>独立地按概率密度函数 </a:t>
            </a:r>
            <a:r>
              <a:rPr lang="en-US" altLang="zh-CN" sz="2200" i="1" dirty="0">
                <a:latin typeface="Times New Roman" panose="02020603050405020304" pitchFamily="18" charset="0"/>
                <a:ea typeface="黑体" panose="02010609060101010101" pitchFamily="49" charset="-122"/>
              </a:rPr>
              <a:t>p</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x|</a:t>
            </a:r>
            <a:r>
              <a:rPr lang="el-GR" altLang="zh-CN" sz="2200" i="1" dirty="0">
                <a:latin typeface="Times New Roman" panose="02020603050405020304" pitchFamily="18" charset="0"/>
                <a:ea typeface="黑体" panose="02010609060101010101" pitchFamily="49" charset="-122"/>
              </a:rPr>
              <a:t>θ</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抽取样本获得样本集 </a:t>
            </a:r>
            <a:r>
              <a:rPr lang="el-GR" altLang="zh-CN" sz="2200" i="1" dirty="0">
                <a:latin typeface="Times New Roman" panose="02020603050405020304" pitchFamily="18" charset="0"/>
                <a:ea typeface="黑体" panose="02010609060101010101" pitchFamily="49" charset="-122"/>
              </a:rPr>
              <a:t>χ</a:t>
            </a:r>
            <a:r>
              <a:rPr lang="en-US" altLang="zh-CN" sz="2200" i="1"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x</a:t>
            </a:r>
            <a:r>
              <a:rPr lang="en-US" altLang="zh-CN" sz="2200" baseline="-25000" dirty="0">
                <a:latin typeface="Times New Roman" panose="02020603050405020304" pitchFamily="18" charset="0"/>
                <a:ea typeface="黑体" panose="02010609060101010101" pitchFamily="49" charset="-122"/>
              </a:rPr>
              <a:t>1</a:t>
            </a:r>
            <a:r>
              <a:rPr lang="en-US" altLang="zh-CN" sz="2200" dirty="0">
                <a:latin typeface="Times New Roman" panose="02020603050405020304" pitchFamily="18" charset="0"/>
                <a:ea typeface="黑体" panose="02010609060101010101" pitchFamily="49" charset="-122"/>
              </a:rPr>
              <a:t>, </a:t>
            </a:r>
            <a:r>
              <a:rPr lang="en-US" altLang="zh-CN" sz="2200" i="1" dirty="0">
                <a:latin typeface="Times New Roman" panose="02020603050405020304" pitchFamily="18" charset="0"/>
                <a:ea typeface="黑体" panose="02010609060101010101" pitchFamily="49" charset="-122"/>
              </a:rPr>
              <a:t>x</a:t>
            </a:r>
            <a:r>
              <a:rPr lang="en-US" altLang="zh-CN" sz="2200" baseline="-25000" dirty="0">
                <a:latin typeface="Times New Roman" panose="02020603050405020304" pitchFamily="18" charset="0"/>
                <a:ea typeface="黑体" panose="02010609060101010101" pitchFamily="49" charset="-122"/>
              </a:rPr>
              <a:t>2 </a:t>
            </a:r>
            <a:r>
              <a:rPr lang="en-US" altLang="zh-CN" sz="2200" dirty="0">
                <a:latin typeface="Times New Roman" panose="02020603050405020304" pitchFamily="18" charset="0"/>
                <a:ea typeface="黑体" panose="02010609060101010101" pitchFamily="49" charset="-122"/>
              </a:rPr>
              <a:t>,…, </a:t>
            </a:r>
            <a:r>
              <a:rPr lang="en-US" altLang="zh-CN" sz="2200" i="1" dirty="0" err="1">
                <a:latin typeface="Times New Roman" panose="02020603050405020304" pitchFamily="18" charset="0"/>
                <a:ea typeface="黑体" panose="02010609060101010101" pitchFamily="49" charset="-122"/>
              </a:rPr>
              <a:t>x</a:t>
            </a:r>
            <a:r>
              <a:rPr lang="en-US" altLang="zh-CN" sz="2200" i="1" baseline="-25000" dirty="0" err="1">
                <a:latin typeface="Times New Roman" panose="02020603050405020304" pitchFamily="18" charset="0"/>
                <a:ea typeface="黑体" panose="02010609060101010101" pitchFamily="49" charset="-122"/>
              </a:rPr>
              <a:t>N</a:t>
            </a:r>
            <a:r>
              <a:rPr lang="en-US" altLang="zh-CN" sz="2200" dirty="0">
                <a:latin typeface="Times New Roman" panose="02020603050405020304" pitchFamily="18" charset="0"/>
                <a:ea typeface="黑体" panose="02010609060101010101" pitchFamily="49" charset="-122"/>
              </a:rPr>
              <a:t>}</a:t>
            </a:r>
            <a:r>
              <a:rPr lang="zh-CN" altLang="en-US" sz="2200" dirty="0">
                <a:latin typeface="Times New Roman" panose="02020603050405020304" pitchFamily="18" charset="0"/>
                <a:ea typeface="黑体" panose="02010609060101010101" pitchFamily="49" charset="-122"/>
              </a:rPr>
              <a:t>，用 </a:t>
            </a:r>
            <a:r>
              <a:rPr lang="el-GR" altLang="zh-CN" sz="2200" i="1" dirty="0">
                <a:latin typeface="Times New Roman" panose="02020603050405020304" pitchFamily="18" charset="0"/>
                <a:ea typeface="黑体" panose="02010609060101010101" pitchFamily="49" charset="-122"/>
              </a:rPr>
              <a:t>χ</a:t>
            </a:r>
            <a:r>
              <a:rPr lang="en-US" altLang="zh-CN" sz="2200" i="1"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估计未知参数 </a:t>
            </a:r>
            <a:r>
              <a:rPr lang="el-GR" altLang="zh-CN" sz="2200" i="1" dirty="0">
                <a:latin typeface="Times New Roman" panose="02020603050405020304" pitchFamily="18" charset="0"/>
                <a:ea typeface="黑体" panose="02010609060101010101" pitchFamily="49" charset="-122"/>
              </a:rPr>
              <a:t>θ</a:t>
            </a:r>
            <a:r>
              <a:rPr lang="zh-CN" altLang="en-US" sz="2200" i="1" dirty="0">
                <a:latin typeface="Times New Roman" panose="02020603050405020304" pitchFamily="18" charset="0"/>
                <a:ea typeface="黑体" panose="02010609060101010101" pitchFamily="49" charset="-122"/>
              </a:rPr>
              <a:t>。</a:t>
            </a:r>
            <a:endParaRPr lang="en-US" altLang="zh-CN" sz="2200" i="1" dirty="0">
              <a:latin typeface="Times New Roman" panose="02020603050405020304" pitchFamily="18" charset="0"/>
              <a:ea typeface="黑体"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14.1 </a:t>
            </a:r>
            <a:r>
              <a:rPr lang="zh-CN" altLang="zh-CN" dirty="0"/>
              <a:t>最大似然估计基本原理</a:t>
            </a:r>
            <a:endParaRPr lang="zh-CN" altLang="zh-CN" dirty="0"/>
          </a:p>
        </p:txBody>
      </p:sp>
      <p:sp>
        <p:nvSpPr>
          <p:cNvPr id="42" name="矩形 41"/>
          <p:cNvSpPr/>
          <p:nvPr/>
        </p:nvSpPr>
        <p:spPr>
          <a:xfrm>
            <a:off x="304132" y="1033572"/>
            <a:ext cx="5466561"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似然函数</a:t>
            </a:r>
            <a:r>
              <a:rPr lang="zh-CN" altLang="en-US" sz="2800" b="1" dirty="0">
                <a:solidFill>
                  <a:srgbClr val="0000FF"/>
                </a:solidFill>
                <a:latin typeface="Times New Roman" panose="02020603050405020304" pitchFamily="18" charset="0"/>
                <a:ea typeface="黑体" panose="02010609060101010101" pitchFamily="49" charset="-122"/>
              </a:rPr>
              <a:t>（</a:t>
            </a:r>
            <a:r>
              <a:rPr lang="en-US" altLang="zh-CN" sz="2800" b="1" dirty="0">
                <a:solidFill>
                  <a:srgbClr val="0000FF"/>
                </a:solidFill>
                <a:latin typeface="Times New Roman" panose="02020603050405020304" pitchFamily="18" charset="0"/>
                <a:ea typeface="黑体" panose="02010609060101010101" pitchFamily="49" charset="-122"/>
              </a:rPr>
              <a:t>Likelihood Function</a:t>
            </a:r>
            <a:r>
              <a:rPr lang="zh-CN" altLang="en-US" sz="2800" b="1" dirty="0">
                <a:solidFill>
                  <a:srgbClr val="0000FF"/>
                </a:solidFill>
                <a:latin typeface="Times New Roman" panose="02020603050405020304" pitchFamily="18" charset="0"/>
                <a:ea typeface="黑体" panose="02010609060101010101" pitchFamily="49" charset="-122"/>
              </a:rPr>
              <a:t>）</a:t>
            </a:r>
            <a:endParaRPr lang="zh-CN" altLang="en-US" sz="2800" b="1" dirty="0">
              <a:solidFill>
                <a:srgbClr val="0000FF"/>
              </a:solidFill>
              <a:ea typeface="黑体" panose="02010609060101010101" pitchFamily="49" charset="-122"/>
            </a:endParaRPr>
          </a:p>
        </p:txBody>
      </p:sp>
      <p:sp>
        <p:nvSpPr>
          <p:cNvPr id="12" name="矩形 11"/>
          <p:cNvSpPr/>
          <p:nvPr/>
        </p:nvSpPr>
        <p:spPr>
          <a:xfrm>
            <a:off x="304132" y="1500174"/>
            <a:ext cx="11624516" cy="2200602"/>
          </a:xfrm>
          <a:prstGeom prst="rect">
            <a:avLst/>
          </a:prstGeom>
        </p:spPr>
        <p:txBody>
          <a:bodyPr wrap="square">
            <a:spAutoFit/>
          </a:bodyPr>
          <a:lstStyle/>
          <a:p>
            <a:pPr>
              <a:lnSpc>
                <a:spcPct val="120000"/>
              </a:lnSpc>
            </a:pPr>
            <a:r>
              <a:rPr lang="zh-CN" altLang="en-US" sz="2200" dirty="0">
                <a:solidFill>
                  <a:srgbClr val="FF0000"/>
                </a:solidFill>
                <a:latin typeface="Times New Roman" panose="02020603050405020304" pitchFamily="18" charset="0"/>
                <a:ea typeface="黑体" panose="02010609060101010101" pitchFamily="49" charset="-122"/>
              </a:rPr>
              <a:t>似然函数</a:t>
            </a:r>
            <a:r>
              <a:rPr lang="zh-CN" altLang="en-US" sz="2200" dirty="0">
                <a:latin typeface="Times New Roman" panose="02020603050405020304" pitchFamily="18" charset="0"/>
                <a:ea typeface="黑体" panose="02010609060101010101" pitchFamily="49" charset="-122"/>
              </a:rPr>
              <a:t>：是</a:t>
            </a:r>
            <a:r>
              <a:rPr lang="zh-CN" altLang="en-US" sz="2200" dirty="0">
                <a:solidFill>
                  <a:srgbClr val="FF0000"/>
                </a:solidFill>
                <a:latin typeface="Times New Roman" panose="02020603050405020304" pitchFamily="18" charset="0"/>
                <a:ea typeface="黑体" panose="02010609060101010101" pitchFamily="49" charset="-122"/>
              </a:rPr>
              <a:t>关于统计模型参数 </a:t>
            </a:r>
            <a:r>
              <a:rPr lang="en-US" altLang="zh-CN" sz="2200" i="1" dirty="0">
                <a:latin typeface="Times New Roman" panose="02020603050405020304" pitchFamily="18" charset="0"/>
                <a:ea typeface="黑体" panose="02010609060101010101" pitchFamily="49" charset="-122"/>
              </a:rPr>
              <a:t>θ</a:t>
            </a:r>
            <a:r>
              <a:rPr lang="en-US" altLang="zh-CN" sz="2200" dirty="0">
                <a:latin typeface="Times New Roman" panose="02020603050405020304" pitchFamily="18" charset="0"/>
                <a:ea typeface="黑体" panose="02010609060101010101" pitchFamily="49" charset="-122"/>
              </a:rPr>
              <a:t> </a:t>
            </a:r>
            <a:r>
              <a:rPr lang="zh-CN" altLang="en-US" sz="2200" dirty="0">
                <a:solidFill>
                  <a:srgbClr val="FF0000"/>
                </a:solidFill>
                <a:latin typeface="Times New Roman" panose="02020603050405020304" pitchFamily="18" charset="0"/>
                <a:ea typeface="黑体" panose="02010609060101010101" pitchFamily="49" charset="-122"/>
              </a:rPr>
              <a:t>的函数</a:t>
            </a:r>
            <a:r>
              <a:rPr lang="zh-CN" altLang="en-US" sz="2200" dirty="0">
                <a:latin typeface="Times New Roman" panose="02020603050405020304" pitchFamily="18" charset="0"/>
                <a:ea typeface="黑体" panose="02010609060101010101" pitchFamily="49" charset="-122"/>
              </a:rPr>
              <a:t>，写做 </a:t>
            </a:r>
            <a:r>
              <a:rPr lang="en-US" altLang="zh-CN" sz="2200" dirty="0">
                <a:latin typeface="Times New Roman" panose="02020603050405020304" pitchFamily="18" charset="0"/>
                <a:ea typeface="黑体" panose="02010609060101010101" pitchFamily="49" charset="-122"/>
              </a:rPr>
              <a:t>L(</a:t>
            </a:r>
            <a:r>
              <a:rPr lang="en-US" altLang="zh-CN" sz="2200" i="1" dirty="0">
                <a:latin typeface="Times New Roman" panose="02020603050405020304" pitchFamily="18" charset="0"/>
                <a:ea typeface="黑体" panose="02010609060101010101" pitchFamily="49" charset="-122"/>
              </a:rPr>
              <a:t>θ</a:t>
            </a:r>
            <a:r>
              <a:rPr lang="en-US" altLang="zh-CN" sz="2200" dirty="0">
                <a:latin typeface="Times New Roman" panose="02020603050405020304" pitchFamily="18" charset="0"/>
                <a:ea typeface="黑体" panose="02010609060101010101" pitchFamily="49" charset="-122"/>
              </a:rPr>
              <a:t>|</a:t>
            </a:r>
            <a:r>
              <a:rPr lang="el-GR" altLang="zh-CN" sz="2200" i="1" dirty="0">
                <a:latin typeface="Times New Roman" panose="02020603050405020304" pitchFamily="18" charset="0"/>
                <a:ea typeface="黑体" panose="02010609060101010101" pitchFamily="49" charset="-122"/>
              </a:rPr>
              <a:t>χ</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。观测结果 </a:t>
            </a:r>
            <a:r>
              <a:rPr lang="el-GR" altLang="zh-CN" sz="2200" i="1" dirty="0">
                <a:latin typeface="Times New Roman" panose="02020603050405020304" pitchFamily="18" charset="0"/>
                <a:ea typeface="黑体" panose="02010609060101010101" pitchFamily="49" charset="-122"/>
              </a:rPr>
              <a:t>χ</a:t>
            </a:r>
            <a:r>
              <a:rPr lang="en-US" altLang="zh-CN" sz="2200" i="1"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在参数集合 </a:t>
            </a:r>
            <a:r>
              <a:rPr lang="en-US" altLang="zh-CN" sz="2200" i="1" dirty="0">
                <a:latin typeface="Times New Roman" panose="02020603050405020304" pitchFamily="18" charset="0"/>
                <a:ea typeface="黑体" panose="02010609060101010101" pitchFamily="49" charset="-122"/>
              </a:rPr>
              <a:t>θ </a:t>
            </a:r>
            <a:r>
              <a:rPr lang="zh-CN" altLang="en-US" sz="2200" dirty="0">
                <a:latin typeface="Times New Roman" panose="02020603050405020304" pitchFamily="18" charset="0"/>
                <a:ea typeface="黑体" panose="02010609060101010101" pitchFamily="49" charset="-122"/>
              </a:rPr>
              <a:t>上的似然函数就是在给定参数值 </a:t>
            </a:r>
            <a:r>
              <a:rPr lang="en-US" altLang="zh-CN" sz="2200" i="1" dirty="0">
                <a:latin typeface="Times New Roman" panose="02020603050405020304" pitchFamily="18" charset="0"/>
                <a:ea typeface="黑体" panose="02010609060101010101" pitchFamily="49" charset="-122"/>
              </a:rPr>
              <a:t>θ </a:t>
            </a:r>
            <a:r>
              <a:rPr lang="zh-CN" altLang="en-US" sz="2200" dirty="0">
                <a:latin typeface="Times New Roman" panose="02020603050405020304" pitchFamily="18" charset="0"/>
                <a:ea typeface="黑体" panose="02010609060101010101" pitchFamily="49" charset="-122"/>
              </a:rPr>
              <a:t>的基础上观察到结果 </a:t>
            </a:r>
            <a:r>
              <a:rPr lang="el-GR" altLang="zh-CN" sz="2200" i="1" dirty="0">
                <a:latin typeface="Times New Roman" panose="02020603050405020304" pitchFamily="18" charset="0"/>
                <a:ea typeface="黑体" panose="02010609060101010101" pitchFamily="49" charset="-122"/>
              </a:rPr>
              <a:t>χ</a:t>
            </a:r>
            <a:r>
              <a:rPr lang="zh-CN" altLang="en-US" sz="2200" dirty="0">
                <a:latin typeface="Times New Roman" panose="02020603050405020304" pitchFamily="18" charset="0"/>
                <a:ea typeface="黑体" panose="02010609060101010101" pitchFamily="49" charset="-122"/>
              </a:rPr>
              <a:t>的概率，故有 </a:t>
            </a:r>
            <a:r>
              <a:rPr lang="en-US" altLang="zh-CN" sz="2200" dirty="0">
                <a:solidFill>
                  <a:srgbClr val="FF0000"/>
                </a:solidFill>
                <a:latin typeface="Times New Roman" panose="02020603050405020304" pitchFamily="18" charset="0"/>
                <a:ea typeface="黑体" panose="02010609060101010101" pitchFamily="49" charset="-122"/>
              </a:rPr>
              <a:t>L(</a:t>
            </a:r>
            <a:r>
              <a:rPr lang="en-US" altLang="zh-CN" sz="2200" i="1" dirty="0">
                <a:solidFill>
                  <a:srgbClr val="FF0000"/>
                </a:solidFill>
                <a:latin typeface="Times New Roman" panose="02020603050405020304" pitchFamily="18" charset="0"/>
                <a:ea typeface="黑体" panose="02010609060101010101" pitchFamily="49" charset="-122"/>
              </a:rPr>
              <a:t>θ</a:t>
            </a:r>
            <a:r>
              <a:rPr lang="en-US" altLang="zh-CN" sz="2200" dirty="0">
                <a:solidFill>
                  <a:srgbClr val="FF0000"/>
                </a:solidFill>
                <a:latin typeface="Times New Roman" panose="02020603050405020304" pitchFamily="18" charset="0"/>
                <a:ea typeface="黑体" panose="02010609060101010101" pitchFamily="49" charset="-122"/>
              </a:rPr>
              <a:t>|</a:t>
            </a:r>
            <a:r>
              <a:rPr lang="el-GR" altLang="zh-CN" sz="2200" i="1" dirty="0">
                <a:latin typeface="Times New Roman" panose="02020603050405020304" pitchFamily="18" charset="0"/>
                <a:ea typeface="黑体" panose="02010609060101010101" pitchFamily="49" charset="-122"/>
              </a:rPr>
              <a:t> χ</a:t>
            </a:r>
            <a:r>
              <a:rPr lang="en-US" altLang="zh-CN" sz="2200" dirty="0">
                <a:solidFill>
                  <a:srgbClr val="FF0000"/>
                </a:solidFill>
                <a:latin typeface="Times New Roman" panose="02020603050405020304" pitchFamily="18" charset="0"/>
                <a:ea typeface="黑体" panose="02010609060101010101" pitchFamily="49" charset="-122"/>
              </a:rPr>
              <a:t>) = P(</a:t>
            </a:r>
            <a:r>
              <a:rPr lang="el-GR" altLang="zh-CN" sz="2200" i="1" dirty="0">
                <a:latin typeface="Times New Roman" panose="02020603050405020304" pitchFamily="18" charset="0"/>
                <a:ea typeface="黑体" panose="02010609060101010101" pitchFamily="49" charset="-122"/>
              </a:rPr>
              <a:t>χ </a:t>
            </a:r>
            <a:r>
              <a:rPr lang="en-US" altLang="zh-CN" sz="2200" dirty="0">
                <a:solidFill>
                  <a:srgbClr val="FF0000"/>
                </a:solidFill>
                <a:latin typeface="Times New Roman" panose="02020603050405020304" pitchFamily="18" charset="0"/>
                <a:ea typeface="黑体" panose="02010609060101010101" pitchFamily="49" charset="-122"/>
              </a:rPr>
              <a:t>|</a:t>
            </a:r>
            <a:r>
              <a:rPr lang="en-US" altLang="zh-CN" sz="2200" i="1" dirty="0">
                <a:solidFill>
                  <a:srgbClr val="FF0000"/>
                </a:solidFill>
                <a:latin typeface="Times New Roman" panose="02020603050405020304" pitchFamily="18" charset="0"/>
                <a:ea typeface="黑体" panose="02010609060101010101" pitchFamily="49" charset="-122"/>
              </a:rPr>
              <a:t>θ</a:t>
            </a:r>
            <a:r>
              <a:rPr lang="en-US" altLang="zh-CN" sz="2200" dirty="0">
                <a:solidFill>
                  <a:srgbClr val="FF0000"/>
                </a:solidFill>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a:t>
            </a:r>
            <a:endParaRPr lang="en-US" altLang="zh-CN" sz="2200" dirty="0">
              <a:latin typeface="Times New Roman" panose="02020603050405020304" pitchFamily="18" charset="0"/>
              <a:ea typeface="黑体" panose="02010609060101010101" pitchFamily="49" charset="-122"/>
            </a:endParaRPr>
          </a:p>
          <a:p>
            <a:pPr marL="342900" indent="-342900" algn="just">
              <a:lnSpc>
                <a:spcPct val="120000"/>
              </a:lnSpc>
              <a:spcBef>
                <a:spcPts val="600"/>
              </a:spcBef>
              <a:buFont typeface="Arial" panose="020B0604020202020204" pitchFamily="34" charset="0"/>
              <a:buChar char="•"/>
            </a:pPr>
            <a:r>
              <a:rPr lang="zh-CN" altLang="en-US" sz="2200" dirty="0">
                <a:solidFill>
                  <a:srgbClr val="BB853D"/>
                </a:solidFill>
                <a:latin typeface="Times New Roman" panose="02020603050405020304" pitchFamily="18" charset="0"/>
                <a:ea typeface="黑体" panose="02010609060101010101" pitchFamily="49" charset="-122"/>
              </a:rPr>
              <a:t>似然函数在统计推测中发挥重要的作用，因其是关于统计参数的函数，故可用来评估一组统计的参数，也就是说在一组统计参数中，可以用似然函数做筛选。</a:t>
            </a:r>
            <a:endParaRPr lang="en-US" altLang="zh-CN" sz="2200" dirty="0">
              <a:solidFill>
                <a:srgbClr val="BB853D"/>
              </a:solidFill>
              <a:latin typeface="Times New Roman" panose="02020603050405020304" pitchFamily="18" charset="0"/>
              <a:ea typeface="黑体" panose="02010609060101010101" pitchFamily="49" charset="-122"/>
            </a:endParaRPr>
          </a:p>
          <a:p>
            <a:pPr marL="342900" indent="-342900">
              <a:lnSpc>
                <a:spcPct val="120000"/>
              </a:lnSpc>
              <a:buFont typeface="Arial" panose="020B0604020202020204" pitchFamily="34" charset="0"/>
              <a:buChar char="•"/>
            </a:pPr>
            <a:r>
              <a:rPr lang="zh-CN" altLang="en-US" sz="2200" dirty="0">
                <a:solidFill>
                  <a:schemeClr val="accent5">
                    <a:lumMod val="50000"/>
                  </a:schemeClr>
                </a:solidFill>
                <a:latin typeface="Times New Roman" panose="02020603050405020304" pitchFamily="18" charset="0"/>
                <a:ea typeface="黑体" panose="02010609060101010101" pitchFamily="49" charset="-122"/>
              </a:rPr>
              <a:t>在非正式语境，“似然”会和“概率”混用；但严格区分的话，在统计上，二者是有不同。</a:t>
            </a:r>
            <a:endParaRPr lang="zh-CN" altLang="en-US" sz="2200" dirty="0">
              <a:solidFill>
                <a:schemeClr val="accent5">
                  <a:lumMod val="50000"/>
                </a:schemeClr>
              </a:solidFill>
              <a:latin typeface="Times New Roman" panose="02020603050405020304" pitchFamily="18" charset="0"/>
              <a:ea typeface="黑体" panose="02010609060101010101" pitchFamily="49" charset="-122"/>
            </a:endParaRPr>
          </a:p>
        </p:txBody>
      </p:sp>
      <p:sp>
        <p:nvSpPr>
          <p:cNvPr id="13" name="矩形 12"/>
          <p:cNvSpPr/>
          <p:nvPr/>
        </p:nvSpPr>
        <p:spPr>
          <a:xfrm>
            <a:off x="304132" y="3717032"/>
            <a:ext cx="11571490" cy="2714589"/>
          </a:xfrm>
          <a:prstGeom prst="rect">
            <a:avLst/>
          </a:prstGeom>
          <a:solidFill>
            <a:schemeClr val="accent6">
              <a:lumMod val="20000"/>
              <a:lumOff val="80000"/>
            </a:schemeClr>
          </a:solidFill>
        </p:spPr>
        <p:txBody>
          <a:bodyPr wrap="square">
            <a:spAutoFit/>
          </a:bodyPr>
          <a:lstStyle/>
          <a:p>
            <a:pPr>
              <a:lnSpc>
                <a:spcPct val="120000"/>
              </a:lnSpc>
            </a:pPr>
            <a:r>
              <a:rPr lang="zh-CN" altLang="en-US" sz="2000" dirty="0">
                <a:latin typeface="Times New Roman" panose="02020603050405020304" pitchFamily="18" charset="0"/>
                <a:ea typeface="黑体" panose="02010609060101010101" pitchFamily="49" charset="-122"/>
              </a:rPr>
              <a:t>不同就在于，观察值 </a:t>
            </a:r>
            <a:r>
              <a:rPr lang="el-GR" altLang="zh-CN" sz="2000" i="1" dirty="0">
                <a:latin typeface="Times New Roman" panose="02020603050405020304" pitchFamily="18" charset="0"/>
                <a:ea typeface="黑体" panose="02010609060101010101" pitchFamily="49" charset="-122"/>
              </a:rPr>
              <a:t>χ</a:t>
            </a:r>
            <a:r>
              <a:rPr lang="zh-CN" altLang="en-US" sz="2000" dirty="0">
                <a:latin typeface="Times New Roman" panose="02020603050405020304" pitchFamily="18" charset="0"/>
                <a:ea typeface="黑体" panose="02010609060101010101" pitchFamily="49" charset="-122"/>
              </a:rPr>
              <a:t>与参数 </a:t>
            </a:r>
            <a:r>
              <a:rPr lang="en-US" altLang="zh-CN" sz="2000" i="1" dirty="0">
                <a:latin typeface="Times New Roman" panose="02020603050405020304" pitchFamily="18" charset="0"/>
                <a:ea typeface="黑体" panose="02010609060101010101" pitchFamily="49" charset="-122"/>
              </a:rPr>
              <a:t>θ</a:t>
            </a:r>
            <a:r>
              <a:rPr lang="en-US" altLang="zh-CN" sz="2000" dirty="0">
                <a:latin typeface="Times New Roman" panose="02020603050405020304" pitchFamily="18" charset="0"/>
                <a:ea typeface="黑体" panose="02010609060101010101" pitchFamily="49" charset="-122"/>
              </a:rPr>
              <a:t> </a:t>
            </a:r>
            <a:r>
              <a:rPr lang="zh-CN" altLang="en-US" sz="2000" dirty="0">
                <a:latin typeface="Times New Roman" panose="02020603050405020304" pitchFamily="18" charset="0"/>
                <a:ea typeface="黑体" panose="02010609060101010101" pitchFamily="49" charset="-122"/>
              </a:rPr>
              <a:t>的不同角色：</a:t>
            </a:r>
            <a:endParaRPr lang="en-US" altLang="zh-CN" sz="2000" dirty="0">
              <a:latin typeface="Times New Roman" panose="02020603050405020304" pitchFamily="18" charset="0"/>
              <a:ea typeface="黑体" panose="02010609060101010101" pitchFamily="49" charset="-122"/>
            </a:endParaRPr>
          </a:p>
          <a:p>
            <a:pPr>
              <a:lnSpc>
                <a:spcPct val="120000"/>
              </a:lnSpc>
            </a:pPr>
            <a:r>
              <a:rPr lang="zh-CN" altLang="en-US" sz="2000" b="1" dirty="0">
                <a:solidFill>
                  <a:srgbClr val="FF33CC"/>
                </a:solidFill>
                <a:latin typeface="Times New Roman" panose="02020603050405020304" pitchFamily="18" charset="0"/>
                <a:ea typeface="黑体" panose="02010609060101010101" pitchFamily="49" charset="-122"/>
              </a:rPr>
              <a:t>概率</a:t>
            </a:r>
            <a:r>
              <a:rPr lang="zh-CN" altLang="en-US" sz="2000" dirty="0">
                <a:latin typeface="Times New Roman" panose="02020603050405020304" pitchFamily="18" charset="0"/>
                <a:ea typeface="黑体" panose="02010609060101010101" pitchFamily="49" charset="-122"/>
              </a:rPr>
              <a:t>是用于描述在给定参数值</a:t>
            </a:r>
            <a:r>
              <a:rPr lang="en-US" altLang="zh-CN" sz="2000" dirty="0">
                <a:latin typeface="Times New Roman" panose="02020603050405020304" pitchFamily="18" charset="0"/>
                <a:ea typeface="黑体" panose="02010609060101010101" pitchFamily="49" charset="-122"/>
              </a:rPr>
              <a:t>θ</a:t>
            </a:r>
            <a:r>
              <a:rPr lang="zh-CN" altLang="en-US" sz="2000" dirty="0">
                <a:latin typeface="Times New Roman" panose="02020603050405020304" pitchFamily="18" charset="0"/>
                <a:ea typeface="黑体" panose="02010609060101010101" pitchFamily="49" charset="-122"/>
              </a:rPr>
              <a:t>的情况下关于观察值 </a:t>
            </a:r>
            <a:r>
              <a:rPr lang="el-GR" altLang="zh-CN" sz="2000" i="1" dirty="0">
                <a:latin typeface="Times New Roman" panose="02020603050405020304" pitchFamily="18" charset="0"/>
                <a:ea typeface="黑体" panose="02010609060101010101" pitchFamily="49" charset="-122"/>
              </a:rPr>
              <a:t>χ</a:t>
            </a:r>
            <a:r>
              <a:rPr lang="en-US" altLang="zh-CN" sz="2000" dirty="0">
                <a:latin typeface="Times New Roman" panose="02020603050405020304" pitchFamily="18" charset="0"/>
                <a:ea typeface="黑体" panose="02010609060101010101" pitchFamily="49" charset="-122"/>
              </a:rPr>
              <a:t> </a:t>
            </a:r>
            <a:r>
              <a:rPr lang="zh-CN" altLang="en-US" sz="2000" dirty="0">
                <a:latin typeface="Times New Roman" panose="02020603050405020304" pitchFamily="18" charset="0"/>
                <a:ea typeface="黑体" panose="02010609060101010101" pitchFamily="49" charset="-122"/>
              </a:rPr>
              <a:t>的函数。</a:t>
            </a:r>
            <a:endParaRPr lang="en-US" altLang="zh-CN" sz="2000" dirty="0">
              <a:latin typeface="Times New Roman" panose="02020603050405020304" pitchFamily="18" charset="0"/>
              <a:ea typeface="黑体" panose="02010609060101010101" pitchFamily="49" charset="-122"/>
            </a:endParaRPr>
          </a:p>
          <a:p>
            <a:pPr algn="l">
              <a:lnSpc>
                <a:spcPct val="120000"/>
              </a:lnSpc>
            </a:pPr>
            <a:r>
              <a:rPr lang="zh-CN" altLang="en-US" sz="2000" dirty="0">
                <a:latin typeface="Times New Roman" panose="02020603050405020304" pitchFamily="18" charset="0"/>
                <a:ea typeface="黑体" panose="02010609060101010101" pitchFamily="49" charset="-122"/>
              </a:rPr>
              <a:t>例如，已知一个硬币是均匀的（</a:t>
            </a:r>
            <a:r>
              <a:rPr lang="en-US" altLang="zh-CN" sz="2000" dirty="0">
                <a:latin typeface="Times New Roman" panose="02020603050405020304" pitchFamily="18" charset="0"/>
                <a:ea typeface="黑体" panose="02010609060101010101" pitchFamily="49" charset="-122"/>
              </a:rPr>
              <a:t> </a:t>
            </a:r>
            <a:r>
              <a:rPr lang="zh-CN" altLang="en-US" sz="2000" dirty="0">
                <a:latin typeface="Times New Roman" panose="02020603050405020304" pitchFamily="18" charset="0"/>
                <a:ea typeface="黑体" panose="02010609060101010101" pitchFamily="49" charset="-122"/>
              </a:rPr>
              <a:t>抛落中正反面的概率相等，</a:t>
            </a:r>
            <a:r>
              <a:rPr lang="en-US" altLang="zh-CN" sz="2000" dirty="0">
                <a:latin typeface="Times New Roman" panose="02020603050405020304" pitchFamily="18" charset="0"/>
                <a:ea typeface="黑体" panose="02010609060101010101" pitchFamily="49" charset="-122"/>
              </a:rPr>
              <a:t> </a:t>
            </a:r>
            <a:r>
              <a:rPr lang="en-US" altLang="zh-CN" sz="2000" i="1" dirty="0" err="1">
                <a:latin typeface="Times New Roman" panose="02020603050405020304" pitchFamily="18" charset="0"/>
                <a:ea typeface="黑体" panose="02010609060101010101" pitchFamily="49" charset="-122"/>
              </a:rPr>
              <a:t>θ</a:t>
            </a:r>
            <a:r>
              <a:rPr lang="en-US" altLang="zh-CN" sz="1600" i="1" dirty="0" err="1">
                <a:latin typeface="Times New Roman" panose="02020603050405020304" pitchFamily="18" charset="0"/>
                <a:ea typeface="黑体" panose="02010609060101010101" pitchFamily="49" charset="-122"/>
              </a:rPr>
              <a:t>u</a:t>
            </a:r>
            <a:r>
              <a:rPr lang="en-US" altLang="zh-CN" sz="2000" dirty="0">
                <a:latin typeface="Times New Roman" panose="02020603050405020304" pitchFamily="18" charset="0"/>
                <a:ea typeface="黑体" panose="02010609060101010101" pitchFamily="49" charset="-122"/>
              </a:rPr>
              <a:t>=0.5</a:t>
            </a:r>
            <a:r>
              <a:rPr lang="zh-CN" altLang="en-US" sz="2000" dirty="0">
                <a:latin typeface="Times New Roman" panose="02020603050405020304" pitchFamily="18" charset="0"/>
                <a:ea typeface="黑体" panose="02010609060101010101" pitchFamily="49" charset="-122"/>
              </a:rPr>
              <a:t>，</a:t>
            </a:r>
            <a:r>
              <a:rPr lang="en-US" altLang="zh-CN" sz="2000" dirty="0">
                <a:latin typeface="Times New Roman" panose="02020603050405020304" pitchFamily="18" charset="0"/>
                <a:ea typeface="黑体" panose="02010609060101010101" pitchFamily="49" charset="-122"/>
              </a:rPr>
              <a:t> </a:t>
            </a:r>
            <a:r>
              <a:rPr lang="en-US" altLang="zh-CN" sz="2000" i="1" dirty="0" err="1">
                <a:latin typeface="Times New Roman" panose="02020603050405020304" pitchFamily="18" charset="0"/>
                <a:ea typeface="黑体" panose="02010609060101010101" pitchFamily="49" charset="-122"/>
              </a:rPr>
              <a:t>θ</a:t>
            </a:r>
            <a:r>
              <a:rPr lang="en-US" altLang="zh-CN" sz="1400" i="1" dirty="0" err="1">
                <a:latin typeface="Times New Roman" panose="02020603050405020304" pitchFamily="18" charset="0"/>
                <a:ea typeface="黑体" panose="02010609060101010101" pitchFamily="49" charset="-122"/>
              </a:rPr>
              <a:t>d</a:t>
            </a:r>
            <a:r>
              <a:rPr lang="en-US" altLang="zh-CN" sz="2000" dirty="0">
                <a:latin typeface="Times New Roman" panose="02020603050405020304" pitchFamily="18" charset="0"/>
                <a:ea typeface="黑体" panose="02010609060101010101" pitchFamily="49" charset="-122"/>
              </a:rPr>
              <a:t>=0.5 </a:t>
            </a:r>
            <a:r>
              <a:rPr lang="zh-CN" altLang="en-US" sz="2000" dirty="0">
                <a:latin typeface="Times New Roman" panose="02020603050405020304" pitchFamily="18" charset="0"/>
                <a:ea typeface="黑体" panose="02010609060101010101" pitchFamily="49" charset="-122"/>
              </a:rPr>
              <a:t>），那连续</a:t>
            </a:r>
            <a:r>
              <a:rPr lang="en-US" altLang="zh-CN" sz="2000" dirty="0">
                <a:latin typeface="Times New Roman" panose="02020603050405020304" pitchFamily="18" charset="0"/>
                <a:ea typeface="黑体" panose="02010609060101010101" pitchFamily="49" charset="-122"/>
              </a:rPr>
              <a:t>10</a:t>
            </a:r>
            <a:r>
              <a:rPr lang="zh-CN" altLang="en-US" sz="2000" dirty="0">
                <a:latin typeface="Times New Roman" panose="02020603050405020304" pitchFamily="18" charset="0"/>
                <a:ea typeface="黑体" panose="02010609060101010101" pitchFamily="49" charset="-122"/>
              </a:rPr>
              <a:t>次正面朝上的概率是多少？  </a:t>
            </a:r>
            <a:r>
              <a:rPr lang="en-US" altLang="zh-CN" sz="2000" dirty="0">
                <a:latin typeface="Times New Roman" panose="02020603050405020304" pitchFamily="18" charset="0"/>
                <a:ea typeface="黑体" panose="02010609060101010101" pitchFamily="49" charset="-122"/>
              </a:rPr>
              <a:t>P(</a:t>
            </a:r>
            <a:r>
              <a:rPr lang="en-US" altLang="zh-CN" sz="2000" i="1" dirty="0">
                <a:latin typeface="Times New Roman" panose="02020603050405020304" pitchFamily="18" charset="0"/>
                <a:ea typeface="黑体" panose="02010609060101010101" pitchFamily="49" charset="-122"/>
              </a:rPr>
              <a:t>x</a:t>
            </a:r>
            <a:r>
              <a:rPr lang="en-US" altLang="zh-CN" sz="1200" dirty="0">
                <a:latin typeface="Times New Roman" panose="02020603050405020304" pitchFamily="18" charset="0"/>
                <a:ea typeface="黑体" panose="02010609060101010101" pitchFamily="49" charset="-122"/>
              </a:rPr>
              <a:t>1</a:t>
            </a:r>
            <a:r>
              <a:rPr lang="en-US" altLang="zh-CN" sz="2000" dirty="0">
                <a:latin typeface="Times New Roman" panose="02020603050405020304" pitchFamily="18" charset="0"/>
                <a:ea typeface="黑体" panose="02010609060101010101" pitchFamily="49" charset="-122"/>
              </a:rPr>
              <a:t>=</a:t>
            </a:r>
            <a:r>
              <a:rPr lang="en-US" altLang="zh-CN" sz="2000" i="1" dirty="0">
                <a:latin typeface="Times New Roman" panose="02020603050405020304" pitchFamily="18" charset="0"/>
                <a:ea typeface="黑体" panose="02010609060101010101" pitchFamily="49" charset="-122"/>
              </a:rPr>
              <a:t>u</a:t>
            </a:r>
            <a:r>
              <a:rPr lang="en-US" altLang="zh-CN" sz="2000" dirty="0">
                <a:latin typeface="Times New Roman" panose="02020603050405020304" pitchFamily="18" charset="0"/>
                <a:ea typeface="黑体" panose="02010609060101010101" pitchFamily="49" charset="-122"/>
              </a:rPr>
              <a:t>, </a:t>
            </a:r>
            <a:r>
              <a:rPr lang="en-US" altLang="zh-CN" sz="2000" i="1" dirty="0">
                <a:latin typeface="Times New Roman" panose="02020603050405020304" pitchFamily="18" charset="0"/>
                <a:ea typeface="黑体" panose="02010609060101010101" pitchFamily="49" charset="-122"/>
              </a:rPr>
              <a:t>x</a:t>
            </a:r>
            <a:r>
              <a:rPr lang="en-US" altLang="zh-CN" sz="1200" dirty="0">
                <a:latin typeface="Times New Roman" panose="02020603050405020304" pitchFamily="18" charset="0"/>
                <a:ea typeface="黑体" panose="02010609060101010101" pitchFamily="49" charset="-122"/>
              </a:rPr>
              <a:t>2</a:t>
            </a:r>
            <a:r>
              <a:rPr lang="en-US" altLang="zh-CN" sz="2000" dirty="0">
                <a:latin typeface="Times New Roman" panose="02020603050405020304" pitchFamily="18" charset="0"/>
                <a:ea typeface="黑体" panose="02010609060101010101" pitchFamily="49" charset="-122"/>
              </a:rPr>
              <a:t>=</a:t>
            </a:r>
            <a:r>
              <a:rPr lang="en-US" altLang="zh-CN" sz="2000" i="1" dirty="0">
                <a:latin typeface="Times New Roman" panose="02020603050405020304" pitchFamily="18" charset="0"/>
                <a:ea typeface="黑体" panose="02010609060101010101" pitchFamily="49" charset="-122"/>
              </a:rPr>
              <a:t>u</a:t>
            </a:r>
            <a:r>
              <a:rPr lang="en-US" altLang="zh-CN" sz="20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 </a:t>
            </a:r>
            <a:r>
              <a:rPr lang="en-US" altLang="zh-CN" sz="2000" dirty="0">
                <a:latin typeface="Times New Roman" panose="02020603050405020304" pitchFamily="18" charset="0"/>
                <a:ea typeface="黑体" panose="02010609060101010101" pitchFamily="49" charset="-122"/>
              </a:rPr>
              <a:t>… </a:t>
            </a:r>
            <a:r>
              <a:rPr lang="en-US" altLang="zh-CN" sz="2000" i="1" dirty="0">
                <a:latin typeface="Times New Roman" panose="02020603050405020304" pitchFamily="18" charset="0"/>
                <a:ea typeface="黑体" panose="02010609060101010101" pitchFamily="49" charset="-122"/>
              </a:rPr>
              <a:t>x</a:t>
            </a:r>
            <a:r>
              <a:rPr lang="en-US" altLang="zh-CN" sz="1200" dirty="0">
                <a:latin typeface="Times New Roman" panose="02020603050405020304" pitchFamily="18" charset="0"/>
                <a:ea typeface="黑体" panose="02010609060101010101" pitchFamily="49" charset="-122"/>
              </a:rPr>
              <a:t>10</a:t>
            </a:r>
            <a:r>
              <a:rPr lang="en-US" altLang="zh-CN" sz="2000" dirty="0">
                <a:latin typeface="Times New Roman" panose="02020603050405020304" pitchFamily="18" charset="0"/>
                <a:ea typeface="黑体" panose="02010609060101010101" pitchFamily="49" charset="-122"/>
              </a:rPr>
              <a:t>=</a:t>
            </a:r>
            <a:r>
              <a:rPr lang="en-US" altLang="zh-CN" sz="2000" i="1" dirty="0">
                <a:latin typeface="Times New Roman" panose="02020603050405020304" pitchFamily="18" charset="0"/>
                <a:ea typeface="黑体" panose="02010609060101010101" pitchFamily="49" charset="-122"/>
              </a:rPr>
              <a:t>u</a:t>
            </a:r>
            <a:r>
              <a:rPr lang="en-US" altLang="zh-CN" sz="2000" dirty="0">
                <a:latin typeface="Times New Roman" panose="02020603050405020304" pitchFamily="18" charset="0"/>
                <a:ea typeface="黑体" panose="02010609060101010101" pitchFamily="49" charset="-122"/>
              </a:rPr>
              <a:t> | </a:t>
            </a:r>
            <a:r>
              <a:rPr lang="en-US" altLang="zh-CN" sz="2000" i="1" dirty="0" err="1">
                <a:latin typeface="Times New Roman" panose="02020603050405020304" pitchFamily="18" charset="0"/>
                <a:ea typeface="黑体" panose="02010609060101010101" pitchFamily="49" charset="-122"/>
              </a:rPr>
              <a:t>θ</a:t>
            </a:r>
            <a:r>
              <a:rPr lang="en-US" altLang="zh-CN" i="1" dirty="0" err="1">
                <a:latin typeface="Times New Roman" panose="02020603050405020304" pitchFamily="18" charset="0"/>
                <a:ea typeface="黑体" panose="02010609060101010101" pitchFamily="49" charset="-122"/>
              </a:rPr>
              <a:t>u</a:t>
            </a:r>
            <a:r>
              <a:rPr lang="en-US" altLang="zh-CN" sz="2000" dirty="0">
                <a:latin typeface="Times New Roman" panose="02020603050405020304" pitchFamily="18" charset="0"/>
                <a:ea typeface="黑体" panose="02010609060101010101" pitchFamily="49" charset="-122"/>
              </a:rPr>
              <a:t>=0.5)</a:t>
            </a:r>
            <a:r>
              <a:rPr lang="zh-CN" altLang="en-US" sz="2000" dirty="0">
                <a:latin typeface="Times New Roman" panose="02020603050405020304" pitchFamily="18" charset="0"/>
                <a:ea typeface="黑体" panose="02010609060101010101" pitchFamily="49" charset="-122"/>
              </a:rPr>
              <a:t>，这是概率。</a:t>
            </a:r>
            <a:br>
              <a:rPr lang="zh-CN" altLang="en-US" sz="2000" dirty="0">
                <a:latin typeface="Times New Roman" panose="02020603050405020304" pitchFamily="18" charset="0"/>
                <a:ea typeface="黑体" panose="02010609060101010101" pitchFamily="49" charset="-122"/>
              </a:rPr>
            </a:br>
            <a:r>
              <a:rPr lang="zh-CN" altLang="en-US" sz="2000" b="1" dirty="0">
                <a:solidFill>
                  <a:srgbClr val="FF33CC"/>
                </a:solidFill>
                <a:latin typeface="Times New Roman" panose="02020603050405020304" pitchFamily="18" charset="0"/>
                <a:ea typeface="黑体" panose="02010609060101010101" pitchFamily="49" charset="-122"/>
              </a:rPr>
              <a:t>似然</a:t>
            </a:r>
            <a:r>
              <a:rPr lang="zh-CN" altLang="en-US" sz="2000" dirty="0">
                <a:latin typeface="Times New Roman" panose="02020603050405020304" pitchFamily="18" charset="0"/>
                <a:ea typeface="黑体" panose="02010609060101010101" pitchFamily="49" charset="-122"/>
              </a:rPr>
              <a:t>是用于在给定一个观察值时描述参数的情况。</a:t>
            </a:r>
            <a:endParaRPr lang="en-US" altLang="zh-CN" sz="2000" dirty="0">
              <a:latin typeface="Times New Roman" panose="02020603050405020304" pitchFamily="18" charset="0"/>
              <a:ea typeface="黑体" panose="02010609060101010101" pitchFamily="49" charset="-122"/>
            </a:endParaRPr>
          </a:p>
          <a:p>
            <a:pPr>
              <a:lnSpc>
                <a:spcPct val="120000"/>
              </a:lnSpc>
            </a:pPr>
            <a:r>
              <a:rPr lang="zh-CN" altLang="en-US" sz="2000" dirty="0">
                <a:latin typeface="Times New Roman" panose="02020603050405020304" pitchFamily="18" charset="0"/>
                <a:ea typeface="黑体" panose="02010609060101010101" pitchFamily="49" charset="-122"/>
              </a:rPr>
              <a:t>例如，如果一个硬币在</a:t>
            </a:r>
            <a:r>
              <a:rPr lang="en-US" altLang="zh-CN" sz="2000" dirty="0">
                <a:latin typeface="Times New Roman" panose="02020603050405020304" pitchFamily="18" charset="0"/>
                <a:ea typeface="黑体" panose="02010609060101010101" pitchFamily="49" charset="-122"/>
              </a:rPr>
              <a:t>10</a:t>
            </a:r>
            <a:r>
              <a:rPr lang="zh-CN" altLang="en-US" sz="2000" dirty="0">
                <a:latin typeface="Times New Roman" panose="02020603050405020304" pitchFamily="18" charset="0"/>
                <a:ea typeface="黑体" panose="02010609060101010101" pitchFamily="49" charset="-122"/>
              </a:rPr>
              <a:t>次抛落中正面均朝上，那硬币是均匀的（在抛落中，正反面的概率相等）概率是多少？ 这里用了概率这个词，但实质是“可能性”，即似然了。</a:t>
            </a:r>
            <a:r>
              <a:rPr lang="en-US" altLang="zh-CN" sz="2000" dirty="0">
                <a:latin typeface="Times New Roman" panose="02020603050405020304" pitchFamily="18" charset="0"/>
                <a:ea typeface="黑体" panose="02010609060101010101" pitchFamily="49" charset="-122"/>
              </a:rPr>
              <a:t>L(</a:t>
            </a:r>
            <a:r>
              <a:rPr lang="en-US" altLang="zh-CN" sz="2000" i="1" dirty="0" err="1">
                <a:latin typeface="Times New Roman" panose="02020603050405020304" pitchFamily="18" charset="0"/>
                <a:ea typeface="黑体" panose="02010609060101010101" pitchFamily="49" charset="-122"/>
              </a:rPr>
              <a:t>θu</a:t>
            </a:r>
            <a:r>
              <a:rPr lang="en-US" altLang="zh-CN" sz="2000" dirty="0">
                <a:latin typeface="Times New Roman" panose="02020603050405020304" pitchFamily="18" charset="0"/>
                <a:ea typeface="黑体" panose="02010609060101010101" pitchFamily="49" charset="-122"/>
              </a:rPr>
              <a:t>=0.5 |</a:t>
            </a:r>
            <a:r>
              <a:rPr lang="en-US" altLang="zh-CN" sz="2000" i="1" dirty="0">
                <a:latin typeface="Times New Roman" panose="02020603050405020304" pitchFamily="18" charset="0"/>
                <a:ea typeface="黑体" panose="02010609060101010101" pitchFamily="49" charset="-122"/>
              </a:rPr>
              <a:t>x</a:t>
            </a:r>
            <a:r>
              <a:rPr lang="en-US" altLang="zh-CN" sz="1200" dirty="0">
                <a:latin typeface="Times New Roman" panose="02020603050405020304" pitchFamily="18" charset="0"/>
                <a:ea typeface="黑体" panose="02010609060101010101" pitchFamily="49" charset="-122"/>
              </a:rPr>
              <a:t>1</a:t>
            </a:r>
            <a:r>
              <a:rPr lang="en-US" altLang="zh-CN" sz="2000" dirty="0">
                <a:latin typeface="Times New Roman" panose="02020603050405020304" pitchFamily="18" charset="0"/>
                <a:ea typeface="黑体" panose="02010609060101010101" pitchFamily="49" charset="-122"/>
              </a:rPr>
              <a:t>=</a:t>
            </a:r>
            <a:r>
              <a:rPr lang="en-US" altLang="zh-CN" sz="2000" i="1" dirty="0">
                <a:latin typeface="Times New Roman" panose="02020603050405020304" pitchFamily="18" charset="0"/>
                <a:ea typeface="黑体" panose="02010609060101010101" pitchFamily="49" charset="-122"/>
              </a:rPr>
              <a:t>u</a:t>
            </a:r>
            <a:r>
              <a:rPr lang="en-US" altLang="zh-CN" sz="2000" dirty="0">
                <a:latin typeface="Times New Roman" panose="02020603050405020304" pitchFamily="18" charset="0"/>
                <a:ea typeface="黑体" panose="02010609060101010101" pitchFamily="49" charset="-122"/>
              </a:rPr>
              <a:t>, </a:t>
            </a:r>
            <a:r>
              <a:rPr lang="en-US" altLang="zh-CN" sz="2000" i="1" dirty="0">
                <a:latin typeface="Times New Roman" panose="02020603050405020304" pitchFamily="18" charset="0"/>
                <a:ea typeface="黑体" panose="02010609060101010101" pitchFamily="49" charset="-122"/>
              </a:rPr>
              <a:t>x</a:t>
            </a:r>
            <a:r>
              <a:rPr lang="en-US" altLang="zh-CN" sz="1200" dirty="0">
                <a:latin typeface="Times New Roman" panose="02020603050405020304" pitchFamily="18" charset="0"/>
                <a:ea typeface="黑体" panose="02010609060101010101" pitchFamily="49" charset="-122"/>
              </a:rPr>
              <a:t>2</a:t>
            </a:r>
            <a:r>
              <a:rPr lang="en-US" altLang="zh-CN" sz="2000" dirty="0">
                <a:latin typeface="Times New Roman" panose="02020603050405020304" pitchFamily="18" charset="0"/>
                <a:ea typeface="黑体" panose="02010609060101010101" pitchFamily="49" charset="-122"/>
              </a:rPr>
              <a:t>=</a:t>
            </a:r>
            <a:r>
              <a:rPr lang="en-US" altLang="zh-CN" sz="2000" i="1" dirty="0">
                <a:latin typeface="Times New Roman" panose="02020603050405020304" pitchFamily="18" charset="0"/>
                <a:ea typeface="黑体" panose="02010609060101010101" pitchFamily="49" charset="-122"/>
              </a:rPr>
              <a:t>u</a:t>
            </a:r>
            <a:r>
              <a:rPr lang="en-US" altLang="zh-CN" sz="20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 </a:t>
            </a:r>
            <a:r>
              <a:rPr lang="en-US" altLang="zh-CN" sz="20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 </a:t>
            </a:r>
            <a:r>
              <a:rPr lang="en-US" altLang="zh-CN" sz="2000" dirty="0">
                <a:latin typeface="Times New Roman" panose="02020603050405020304" pitchFamily="18" charset="0"/>
                <a:ea typeface="黑体" panose="02010609060101010101" pitchFamily="49" charset="-122"/>
              </a:rPr>
              <a:t>… </a:t>
            </a:r>
            <a:r>
              <a:rPr lang="en-US" altLang="zh-CN" sz="2000" i="1" dirty="0">
                <a:latin typeface="Times New Roman" panose="02020603050405020304" pitchFamily="18" charset="0"/>
                <a:ea typeface="黑体" panose="02010609060101010101" pitchFamily="49" charset="-122"/>
              </a:rPr>
              <a:t>x</a:t>
            </a:r>
            <a:r>
              <a:rPr lang="en-US" altLang="zh-CN" sz="1200" dirty="0">
                <a:latin typeface="Times New Roman" panose="02020603050405020304" pitchFamily="18" charset="0"/>
                <a:ea typeface="黑体" panose="02010609060101010101" pitchFamily="49" charset="-122"/>
              </a:rPr>
              <a:t>10</a:t>
            </a:r>
            <a:r>
              <a:rPr lang="en-US" altLang="zh-CN" sz="2000" dirty="0">
                <a:latin typeface="Times New Roman" panose="02020603050405020304" pitchFamily="18" charset="0"/>
                <a:ea typeface="黑体" panose="02010609060101010101" pitchFamily="49" charset="-122"/>
              </a:rPr>
              <a:t>=</a:t>
            </a:r>
            <a:r>
              <a:rPr lang="en-US" altLang="zh-CN" sz="2000" i="1" dirty="0">
                <a:latin typeface="Times New Roman" panose="02020603050405020304" pitchFamily="18" charset="0"/>
                <a:ea typeface="黑体" panose="02010609060101010101" pitchFamily="49" charset="-122"/>
              </a:rPr>
              <a:t>u</a:t>
            </a:r>
            <a:r>
              <a:rPr lang="en-US" altLang="zh-CN" sz="20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a:t>
            </a:r>
            <a:endParaRPr lang="zh-CN" altLang="en-US" sz="2000" dirty="0">
              <a:latin typeface="Times New Roman" panose="02020603050405020304" pitchFamily="18" charset="0"/>
              <a:ea typeface="黑体" panose="02010609060101010101"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14.1 </a:t>
            </a:r>
            <a:r>
              <a:rPr lang="zh-CN" altLang="zh-CN" dirty="0"/>
              <a:t>最大似然估计基本原理</a:t>
            </a:r>
            <a:endParaRPr lang="zh-CN" altLang="zh-CN" dirty="0"/>
          </a:p>
        </p:txBody>
      </p:sp>
      <p:sp>
        <p:nvSpPr>
          <p:cNvPr id="42" name="矩形 41"/>
          <p:cNvSpPr/>
          <p:nvPr/>
        </p:nvSpPr>
        <p:spPr>
          <a:xfrm>
            <a:off x="304132" y="1033572"/>
            <a:ext cx="5466561"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似然函数</a:t>
            </a:r>
            <a:r>
              <a:rPr lang="zh-CN" altLang="en-US" sz="2800" b="1" dirty="0">
                <a:solidFill>
                  <a:srgbClr val="0000FF"/>
                </a:solidFill>
                <a:latin typeface="Times New Roman" panose="02020603050405020304" pitchFamily="18" charset="0"/>
                <a:ea typeface="黑体" panose="02010609060101010101" pitchFamily="49" charset="-122"/>
              </a:rPr>
              <a:t>（</a:t>
            </a:r>
            <a:r>
              <a:rPr lang="en-US" altLang="zh-CN" sz="2800" b="1" dirty="0">
                <a:solidFill>
                  <a:srgbClr val="0000FF"/>
                </a:solidFill>
                <a:latin typeface="Times New Roman" panose="02020603050405020304" pitchFamily="18" charset="0"/>
                <a:ea typeface="黑体" panose="02010609060101010101" pitchFamily="49" charset="-122"/>
              </a:rPr>
              <a:t>Likelihood Function</a:t>
            </a:r>
            <a:r>
              <a:rPr lang="zh-CN" altLang="en-US" sz="2800" b="1" dirty="0">
                <a:solidFill>
                  <a:srgbClr val="0000FF"/>
                </a:solidFill>
                <a:latin typeface="Times New Roman" panose="02020603050405020304" pitchFamily="18" charset="0"/>
                <a:ea typeface="黑体" panose="02010609060101010101" pitchFamily="49" charset="-122"/>
              </a:rPr>
              <a:t>）</a:t>
            </a:r>
            <a:endParaRPr lang="zh-CN" altLang="en-US" sz="2800" b="1" dirty="0">
              <a:solidFill>
                <a:srgbClr val="0000FF"/>
              </a:solidFill>
              <a:ea typeface="黑体" panose="02010609060101010101" pitchFamily="49" charset="-122"/>
            </a:endParaRPr>
          </a:p>
        </p:txBody>
      </p:sp>
      <p:sp>
        <p:nvSpPr>
          <p:cNvPr id="12" name="矩形 11"/>
          <p:cNvSpPr/>
          <p:nvPr/>
        </p:nvSpPr>
        <p:spPr>
          <a:xfrm>
            <a:off x="304132" y="1500174"/>
            <a:ext cx="11624516" cy="2606867"/>
          </a:xfrm>
          <a:prstGeom prst="rect">
            <a:avLst/>
          </a:prstGeom>
        </p:spPr>
        <p:txBody>
          <a:bodyPr wrap="square">
            <a:spAutoFit/>
          </a:bodyPr>
          <a:lstStyle/>
          <a:p>
            <a:pPr>
              <a:lnSpc>
                <a:spcPct val="120000"/>
              </a:lnSpc>
            </a:pPr>
            <a:r>
              <a:rPr lang="zh-CN" altLang="en-US" sz="2200" dirty="0">
                <a:solidFill>
                  <a:srgbClr val="FF0000"/>
                </a:solidFill>
                <a:latin typeface="Times New Roman" panose="02020603050405020304" pitchFamily="18" charset="0"/>
                <a:ea typeface="黑体" panose="02010609060101010101" pitchFamily="49" charset="-122"/>
              </a:rPr>
              <a:t>似然函数</a:t>
            </a:r>
            <a:r>
              <a:rPr lang="zh-CN" altLang="en-US" sz="2200" dirty="0">
                <a:latin typeface="Times New Roman" panose="02020603050405020304" pitchFamily="18" charset="0"/>
                <a:ea typeface="黑体" panose="02010609060101010101" pitchFamily="49" charset="-122"/>
              </a:rPr>
              <a:t>：是</a:t>
            </a:r>
            <a:r>
              <a:rPr lang="zh-CN" altLang="en-US" sz="2200" dirty="0">
                <a:solidFill>
                  <a:srgbClr val="FF0000"/>
                </a:solidFill>
                <a:latin typeface="Times New Roman" panose="02020603050405020304" pitchFamily="18" charset="0"/>
                <a:ea typeface="黑体" panose="02010609060101010101" pitchFamily="49" charset="-122"/>
              </a:rPr>
              <a:t>关于统计模型参数 </a:t>
            </a:r>
            <a:r>
              <a:rPr lang="en-US" altLang="zh-CN" sz="2200" i="1" dirty="0">
                <a:latin typeface="Times New Roman" panose="02020603050405020304" pitchFamily="18" charset="0"/>
                <a:ea typeface="黑体" panose="02010609060101010101" pitchFamily="49" charset="-122"/>
              </a:rPr>
              <a:t>θ</a:t>
            </a:r>
            <a:r>
              <a:rPr lang="en-US" altLang="zh-CN" sz="2200" dirty="0">
                <a:latin typeface="Times New Roman" panose="02020603050405020304" pitchFamily="18" charset="0"/>
                <a:ea typeface="黑体" panose="02010609060101010101" pitchFamily="49" charset="-122"/>
              </a:rPr>
              <a:t> </a:t>
            </a:r>
            <a:r>
              <a:rPr lang="zh-CN" altLang="en-US" sz="2200" dirty="0">
                <a:solidFill>
                  <a:srgbClr val="FF0000"/>
                </a:solidFill>
                <a:latin typeface="Times New Roman" panose="02020603050405020304" pitchFamily="18" charset="0"/>
                <a:ea typeface="黑体" panose="02010609060101010101" pitchFamily="49" charset="-122"/>
              </a:rPr>
              <a:t>的函数</a:t>
            </a:r>
            <a:r>
              <a:rPr lang="zh-CN" altLang="en-US" sz="2200" dirty="0">
                <a:latin typeface="Times New Roman" panose="02020603050405020304" pitchFamily="18" charset="0"/>
                <a:ea typeface="黑体" panose="02010609060101010101" pitchFamily="49" charset="-122"/>
              </a:rPr>
              <a:t>，写做 </a:t>
            </a:r>
            <a:r>
              <a:rPr lang="en-US" altLang="zh-CN" sz="2200" dirty="0">
                <a:latin typeface="Times New Roman" panose="02020603050405020304" pitchFamily="18" charset="0"/>
                <a:ea typeface="黑体" panose="02010609060101010101" pitchFamily="49" charset="-122"/>
              </a:rPr>
              <a:t>L(</a:t>
            </a:r>
            <a:r>
              <a:rPr lang="en-US" altLang="zh-CN" sz="2200" i="1" dirty="0">
                <a:latin typeface="Times New Roman" panose="02020603050405020304" pitchFamily="18" charset="0"/>
                <a:ea typeface="黑体" panose="02010609060101010101" pitchFamily="49" charset="-122"/>
              </a:rPr>
              <a:t>θ</a:t>
            </a:r>
            <a:r>
              <a:rPr lang="en-US" altLang="zh-CN" sz="2200" dirty="0">
                <a:latin typeface="Times New Roman" panose="02020603050405020304" pitchFamily="18" charset="0"/>
                <a:ea typeface="黑体" panose="02010609060101010101" pitchFamily="49" charset="-122"/>
              </a:rPr>
              <a:t>|</a:t>
            </a:r>
            <a:r>
              <a:rPr lang="el-GR" altLang="zh-CN" sz="2200" i="1" dirty="0">
                <a:latin typeface="Times New Roman" panose="02020603050405020304" pitchFamily="18" charset="0"/>
                <a:ea typeface="黑体" panose="02010609060101010101" pitchFamily="49" charset="-122"/>
              </a:rPr>
              <a:t> χ</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。观测结果 </a:t>
            </a:r>
            <a:r>
              <a:rPr lang="el-GR" altLang="zh-CN" sz="2200" i="1" dirty="0">
                <a:latin typeface="Times New Roman" panose="02020603050405020304" pitchFamily="18" charset="0"/>
                <a:ea typeface="黑体" panose="02010609060101010101" pitchFamily="49" charset="-122"/>
              </a:rPr>
              <a:t>χ</a:t>
            </a:r>
            <a:r>
              <a:rPr lang="zh-CN" altLang="en-US" sz="2200" dirty="0">
                <a:latin typeface="Times New Roman" panose="02020603050405020304" pitchFamily="18" charset="0"/>
                <a:ea typeface="黑体" panose="02010609060101010101" pitchFamily="49" charset="-122"/>
              </a:rPr>
              <a:t>在参数集合 </a:t>
            </a:r>
            <a:r>
              <a:rPr lang="en-US" altLang="zh-CN" sz="2200" i="1" dirty="0">
                <a:latin typeface="Times New Roman" panose="02020603050405020304" pitchFamily="18" charset="0"/>
                <a:ea typeface="黑体" panose="02010609060101010101" pitchFamily="49" charset="-122"/>
              </a:rPr>
              <a:t>θ </a:t>
            </a:r>
            <a:r>
              <a:rPr lang="zh-CN" altLang="en-US" sz="2200" dirty="0">
                <a:latin typeface="Times New Roman" panose="02020603050405020304" pitchFamily="18" charset="0"/>
                <a:ea typeface="黑体" panose="02010609060101010101" pitchFamily="49" charset="-122"/>
              </a:rPr>
              <a:t>上的似然函数就是在给定参数值 </a:t>
            </a:r>
            <a:r>
              <a:rPr lang="en-US" altLang="zh-CN" sz="2200" i="1" dirty="0">
                <a:latin typeface="Times New Roman" panose="02020603050405020304" pitchFamily="18" charset="0"/>
                <a:ea typeface="黑体" panose="02010609060101010101" pitchFamily="49" charset="-122"/>
              </a:rPr>
              <a:t>θ </a:t>
            </a:r>
            <a:r>
              <a:rPr lang="zh-CN" altLang="en-US" sz="2200" dirty="0">
                <a:latin typeface="Times New Roman" panose="02020603050405020304" pitchFamily="18" charset="0"/>
                <a:ea typeface="黑体" panose="02010609060101010101" pitchFamily="49" charset="-122"/>
              </a:rPr>
              <a:t>的基础上观察到结果 </a:t>
            </a:r>
            <a:r>
              <a:rPr lang="el-GR" altLang="zh-CN" sz="2200" i="1" dirty="0">
                <a:latin typeface="Times New Roman" panose="02020603050405020304" pitchFamily="18" charset="0"/>
                <a:ea typeface="黑体" panose="02010609060101010101" pitchFamily="49" charset="-122"/>
              </a:rPr>
              <a:t>χ</a:t>
            </a:r>
            <a:r>
              <a:rPr lang="en-US" altLang="zh-CN" sz="2200" i="1"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的概率，故有 </a:t>
            </a:r>
            <a:r>
              <a:rPr lang="en-US" altLang="zh-CN" sz="2200" dirty="0">
                <a:solidFill>
                  <a:srgbClr val="FF0000"/>
                </a:solidFill>
                <a:latin typeface="Times New Roman" panose="02020603050405020304" pitchFamily="18" charset="0"/>
                <a:ea typeface="黑体" panose="02010609060101010101" pitchFamily="49" charset="-122"/>
              </a:rPr>
              <a:t>L(</a:t>
            </a:r>
            <a:r>
              <a:rPr lang="en-US" altLang="zh-CN" sz="2200" i="1" dirty="0">
                <a:solidFill>
                  <a:srgbClr val="FF0000"/>
                </a:solidFill>
                <a:latin typeface="Times New Roman" panose="02020603050405020304" pitchFamily="18" charset="0"/>
                <a:ea typeface="黑体" panose="02010609060101010101" pitchFamily="49" charset="-122"/>
              </a:rPr>
              <a:t>θ</a:t>
            </a:r>
            <a:r>
              <a:rPr lang="en-US" altLang="zh-CN" sz="2200" dirty="0">
                <a:solidFill>
                  <a:srgbClr val="FF0000"/>
                </a:solidFill>
                <a:latin typeface="Times New Roman" panose="02020603050405020304" pitchFamily="18" charset="0"/>
                <a:ea typeface="黑体" panose="02010609060101010101" pitchFamily="49" charset="-122"/>
              </a:rPr>
              <a:t>|</a:t>
            </a:r>
            <a:r>
              <a:rPr lang="el-GR" altLang="zh-CN" sz="2200" i="1" dirty="0">
                <a:latin typeface="Times New Roman" panose="02020603050405020304" pitchFamily="18" charset="0"/>
                <a:ea typeface="黑体" panose="02010609060101010101" pitchFamily="49" charset="-122"/>
              </a:rPr>
              <a:t> χ</a:t>
            </a:r>
            <a:r>
              <a:rPr lang="en-US" altLang="zh-CN" sz="2200" dirty="0">
                <a:solidFill>
                  <a:srgbClr val="FF0000"/>
                </a:solidFill>
                <a:latin typeface="Times New Roman" panose="02020603050405020304" pitchFamily="18" charset="0"/>
                <a:ea typeface="黑体" panose="02010609060101010101" pitchFamily="49" charset="-122"/>
              </a:rPr>
              <a:t>) = P(</a:t>
            </a:r>
            <a:r>
              <a:rPr lang="el-GR" altLang="zh-CN" sz="2200" i="1" dirty="0">
                <a:latin typeface="Times New Roman" panose="02020603050405020304" pitchFamily="18" charset="0"/>
                <a:ea typeface="黑体" panose="02010609060101010101" pitchFamily="49" charset="-122"/>
              </a:rPr>
              <a:t>χ </a:t>
            </a:r>
            <a:r>
              <a:rPr lang="en-US" altLang="zh-CN" sz="2200" dirty="0">
                <a:solidFill>
                  <a:srgbClr val="FF0000"/>
                </a:solidFill>
                <a:latin typeface="Times New Roman" panose="02020603050405020304" pitchFamily="18" charset="0"/>
                <a:ea typeface="黑体" panose="02010609060101010101" pitchFamily="49" charset="-122"/>
              </a:rPr>
              <a:t>|</a:t>
            </a:r>
            <a:r>
              <a:rPr lang="en-US" altLang="zh-CN" sz="2200" i="1" dirty="0">
                <a:solidFill>
                  <a:srgbClr val="FF0000"/>
                </a:solidFill>
                <a:latin typeface="Times New Roman" panose="02020603050405020304" pitchFamily="18" charset="0"/>
                <a:ea typeface="黑体" panose="02010609060101010101" pitchFamily="49" charset="-122"/>
              </a:rPr>
              <a:t>θ</a:t>
            </a:r>
            <a:r>
              <a:rPr lang="en-US" altLang="zh-CN" sz="2200" dirty="0">
                <a:solidFill>
                  <a:srgbClr val="FF0000"/>
                </a:solidFill>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a:t>
            </a:r>
            <a:endParaRPr lang="en-US" altLang="zh-CN" sz="2200" dirty="0">
              <a:latin typeface="Times New Roman" panose="02020603050405020304" pitchFamily="18" charset="0"/>
              <a:ea typeface="黑体" panose="02010609060101010101" pitchFamily="49" charset="-122"/>
            </a:endParaRPr>
          </a:p>
          <a:p>
            <a:pPr marL="342900" indent="-342900" algn="just">
              <a:lnSpc>
                <a:spcPct val="120000"/>
              </a:lnSpc>
              <a:spcBef>
                <a:spcPts val="600"/>
              </a:spcBef>
              <a:buFont typeface="Arial" panose="020B0604020202020204" pitchFamily="34" charset="0"/>
              <a:buChar char="•"/>
            </a:pPr>
            <a:r>
              <a:rPr lang="zh-CN" altLang="en-US" sz="2200" dirty="0">
                <a:solidFill>
                  <a:srgbClr val="BB853D"/>
                </a:solidFill>
                <a:latin typeface="Times New Roman" panose="02020603050405020304" pitchFamily="18" charset="0"/>
                <a:ea typeface="黑体" panose="02010609060101010101" pitchFamily="49" charset="-122"/>
              </a:rPr>
              <a:t>似然函数在统计推测中发挥重要的作用，因其是关于统计参数的函数，故可用来评估一组统计的参数，也就是说在一组统计参数中，可以用似然函数做筛选。</a:t>
            </a:r>
            <a:endParaRPr lang="en-US" altLang="zh-CN" sz="2200" dirty="0">
              <a:solidFill>
                <a:srgbClr val="BB853D"/>
              </a:solidFill>
              <a:latin typeface="Times New Roman" panose="02020603050405020304" pitchFamily="18" charset="0"/>
              <a:ea typeface="黑体" panose="02010609060101010101" pitchFamily="49" charset="-122"/>
            </a:endParaRPr>
          </a:p>
          <a:p>
            <a:pPr marL="342900" indent="-342900">
              <a:lnSpc>
                <a:spcPct val="120000"/>
              </a:lnSpc>
              <a:buFont typeface="Arial" panose="020B0604020202020204" pitchFamily="34" charset="0"/>
              <a:buChar char="•"/>
            </a:pPr>
            <a:r>
              <a:rPr lang="zh-CN" altLang="en-US" sz="2200" dirty="0">
                <a:solidFill>
                  <a:schemeClr val="accent5">
                    <a:lumMod val="50000"/>
                  </a:schemeClr>
                </a:solidFill>
                <a:latin typeface="Times New Roman" panose="02020603050405020304" pitchFamily="18" charset="0"/>
                <a:ea typeface="黑体" panose="02010609060101010101" pitchFamily="49" charset="-122"/>
              </a:rPr>
              <a:t>在非正式语境，“似然”会和“概率”混用；但严格区分的话，在统计上，二者是有不同。</a:t>
            </a:r>
            <a:endParaRPr lang="en-US" altLang="zh-CN" sz="2200" dirty="0">
              <a:solidFill>
                <a:schemeClr val="accent5">
                  <a:lumMod val="50000"/>
                </a:schemeClr>
              </a:solidFill>
              <a:latin typeface="Times New Roman" panose="02020603050405020304" pitchFamily="18" charset="0"/>
              <a:ea typeface="黑体" panose="02010609060101010101" pitchFamily="49" charset="-122"/>
            </a:endParaRPr>
          </a:p>
          <a:p>
            <a:pPr marL="342900" indent="-342900">
              <a:lnSpc>
                <a:spcPct val="120000"/>
              </a:lnSpc>
              <a:buFont typeface="Arial" panose="020B0604020202020204" pitchFamily="34" charset="0"/>
              <a:buChar char="•"/>
            </a:pPr>
            <a:r>
              <a:rPr lang="zh-CN" altLang="en-US" sz="2200" dirty="0">
                <a:solidFill>
                  <a:srgbClr val="BB853D"/>
                </a:solidFill>
                <a:latin typeface="Times New Roman" panose="02020603050405020304" pitchFamily="18" charset="0"/>
                <a:ea typeface="黑体" panose="02010609060101010101" pitchFamily="49" charset="-122"/>
              </a:rPr>
              <a:t>似然函数的主要用法在于比较它相对取值，虽然这个数值本身不具备任何含义。</a:t>
            </a:r>
            <a:endParaRPr lang="zh-CN" altLang="en-US" sz="2200" dirty="0">
              <a:solidFill>
                <a:srgbClr val="BB853D"/>
              </a:solidFill>
              <a:latin typeface="Times New Roman" panose="02020603050405020304" pitchFamily="18" charset="0"/>
              <a:ea typeface="黑体" panose="02010609060101010101" pitchFamily="49" charset="-122"/>
            </a:endParaRPr>
          </a:p>
        </p:txBody>
      </p:sp>
      <p:sp>
        <p:nvSpPr>
          <p:cNvPr id="11" name="矩形 10"/>
          <p:cNvSpPr/>
          <p:nvPr/>
        </p:nvSpPr>
        <p:spPr>
          <a:xfrm>
            <a:off x="304132" y="4084349"/>
            <a:ext cx="11674726" cy="849528"/>
          </a:xfrm>
          <a:prstGeom prst="rect">
            <a:avLst/>
          </a:prstGeom>
          <a:solidFill>
            <a:schemeClr val="accent6">
              <a:lumMod val="20000"/>
              <a:lumOff val="80000"/>
            </a:schemeClr>
          </a:solidFill>
        </p:spPr>
        <p:txBody>
          <a:bodyPr wrap="square">
            <a:spAutoFit/>
          </a:bodyPr>
          <a:lstStyle/>
          <a:p>
            <a:pPr algn="l">
              <a:lnSpc>
                <a:spcPct val="130000"/>
              </a:lnSpc>
            </a:pPr>
            <a:r>
              <a:rPr lang="zh-CN" altLang="en-US" sz="2000" dirty="0">
                <a:latin typeface="Times New Roman" panose="02020603050405020304" pitchFamily="18" charset="0"/>
                <a:ea typeface="黑体" panose="02010609060101010101" pitchFamily="49" charset="-122"/>
              </a:rPr>
              <a:t>例如，考虑一组样本，当其输出固定时，这组样本的某个未知参数往往会倾向于等于某个特定值，而不是随便的其他数，此时，似然函数是最大化的。</a:t>
            </a:r>
            <a:endParaRPr lang="zh-CN" altLang="en-US" sz="2000" dirty="0">
              <a:latin typeface="Times New Roman" panose="02020603050405020304" pitchFamily="18" charset="0"/>
              <a:ea typeface="黑体" panose="02010609060101010101"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14.1 </a:t>
            </a:r>
            <a:r>
              <a:rPr lang="zh-CN" altLang="zh-CN" dirty="0"/>
              <a:t>最大似然估计基本原理</a:t>
            </a:r>
            <a:endParaRPr lang="zh-CN" altLang="zh-CN" dirty="0"/>
          </a:p>
        </p:txBody>
      </p:sp>
      <p:sp>
        <p:nvSpPr>
          <p:cNvPr id="42" name="矩形 41"/>
          <p:cNvSpPr/>
          <p:nvPr/>
        </p:nvSpPr>
        <p:spPr>
          <a:xfrm>
            <a:off x="304132" y="1033572"/>
            <a:ext cx="5466561"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似然函数</a:t>
            </a:r>
            <a:r>
              <a:rPr lang="zh-CN" altLang="en-US" sz="2800" b="1" dirty="0">
                <a:solidFill>
                  <a:srgbClr val="0000FF"/>
                </a:solidFill>
                <a:latin typeface="Times New Roman" panose="02020603050405020304" pitchFamily="18" charset="0"/>
                <a:ea typeface="黑体" panose="02010609060101010101" pitchFamily="49" charset="-122"/>
              </a:rPr>
              <a:t>（</a:t>
            </a:r>
            <a:r>
              <a:rPr lang="en-US" altLang="zh-CN" sz="2800" b="1" dirty="0">
                <a:solidFill>
                  <a:srgbClr val="0000FF"/>
                </a:solidFill>
                <a:latin typeface="Times New Roman" panose="02020603050405020304" pitchFamily="18" charset="0"/>
                <a:ea typeface="黑体" panose="02010609060101010101" pitchFamily="49" charset="-122"/>
              </a:rPr>
              <a:t>Likelihood Function</a:t>
            </a:r>
            <a:r>
              <a:rPr lang="zh-CN" altLang="en-US" sz="2800" b="1" dirty="0">
                <a:solidFill>
                  <a:srgbClr val="0000FF"/>
                </a:solidFill>
                <a:latin typeface="Times New Roman" panose="02020603050405020304" pitchFamily="18" charset="0"/>
                <a:ea typeface="黑体" panose="02010609060101010101" pitchFamily="49" charset="-122"/>
              </a:rPr>
              <a:t>）</a:t>
            </a:r>
            <a:endParaRPr lang="zh-CN" altLang="en-US" sz="2800" b="1" dirty="0">
              <a:solidFill>
                <a:srgbClr val="0000FF"/>
              </a:solidFill>
              <a:ea typeface="黑体" panose="02010609060101010101" pitchFamily="49" charset="-122"/>
            </a:endParaRPr>
          </a:p>
        </p:txBody>
      </p:sp>
      <p:sp>
        <p:nvSpPr>
          <p:cNvPr id="12" name="矩形 11"/>
          <p:cNvSpPr/>
          <p:nvPr/>
        </p:nvSpPr>
        <p:spPr>
          <a:xfrm>
            <a:off x="304132" y="1500174"/>
            <a:ext cx="11624516" cy="3456331"/>
          </a:xfrm>
          <a:prstGeom prst="rect">
            <a:avLst/>
          </a:prstGeom>
        </p:spPr>
        <p:txBody>
          <a:bodyPr wrap="square">
            <a:spAutoFit/>
          </a:bodyPr>
          <a:lstStyle/>
          <a:p>
            <a:pPr>
              <a:lnSpc>
                <a:spcPct val="120000"/>
              </a:lnSpc>
            </a:pPr>
            <a:r>
              <a:rPr lang="zh-CN" altLang="en-US" sz="2200" dirty="0">
                <a:solidFill>
                  <a:srgbClr val="FF0000"/>
                </a:solidFill>
                <a:latin typeface="Times New Roman" panose="02020603050405020304" pitchFamily="18" charset="0"/>
                <a:ea typeface="黑体" panose="02010609060101010101" pitchFamily="49" charset="-122"/>
              </a:rPr>
              <a:t>似然函数</a:t>
            </a:r>
            <a:r>
              <a:rPr lang="zh-CN" altLang="en-US" sz="2200" dirty="0">
                <a:latin typeface="Times New Roman" panose="02020603050405020304" pitchFamily="18" charset="0"/>
                <a:ea typeface="黑体" panose="02010609060101010101" pitchFamily="49" charset="-122"/>
              </a:rPr>
              <a:t>：是</a:t>
            </a:r>
            <a:r>
              <a:rPr lang="zh-CN" altLang="en-US" sz="2200" dirty="0">
                <a:solidFill>
                  <a:srgbClr val="FF0000"/>
                </a:solidFill>
                <a:latin typeface="Times New Roman" panose="02020603050405020304" pitchFamily="18" charset="0"/>
                <a:ea typeface="黑体" panose="02010609060101010101" pitchFamily="49" charset="-122"/>
              </a:rPr>
              <a:t>关于统计模型参数 </a:t>
            </a:r>
            <a:r>
              <a:rPr lang="en-US" altLang="zh-CN" sz="2200" i="1" dirty="0">
                <a:latin typeface="Times New Roman" panose="02020603050405020304" pitchFamily="18" charset="0"/>
                <a:ea typeface="黑体" panose="02010609060101010101" pitchFamily="49" charset="-122"/>
              </a:rPr>
              <a:t>θ</a:t>
            </a:r>
            <a:r>
              <a:rPr lang="en-US" altLang="zh-CN" sz="2200" dirty="0">
                <a:latin typeface="Times New Roman" panose="02020603050405020304" pitchFamily="18" charset="0"/>
                <a:ea typeface="黑体" panose="02010609060101010101" pitchFamily="49" charset="-122"/>
              </a:rPr>
              <a:t> </a:t>
            </a:r>
            <a:r>
              <a:rPr lang="zh-CN" altLang="en-US" sz="2200" dirty="0">
                <a:solidFill>
                  <a:srgbClr val="FF0000"/>
                </a:solidFill>
                <a:latin typeface="Times New Roman" panose="02020603050405020304" pitchFamily="18" charset="0"/>
                <a:ea typeface="黑体" panose="02010609060101010101" pitchFamily="49" charset="-122"/>
              </a:rPr>
              <a:t>的函数</a:t>
            </a:r>
            <a:r>
              <a:rPr lang="zh-CN" altLang="en-US" sz="2200" dirty="0">
                <a:latin typeface="Times New Roman" panose="02020603050405020304" pitchFamily="18" charset="0"/>
                <a:ea typeface="黑体" panose="02010609060101010101" pitchFamily="49" charset="-122"/>
              </a:rPr>
              <a:t>，写做 </a:t>
            </a:r>
            <a:r>
              <a:rPr lang="en-US" altLang="zh-CN" sz="2200" dirty="0">
                <a:latin typeface="Times New Roman" panose="02020603050405020304" pitchFamily="18" charset="0"/>
                <a:ea typeface="黑体" panose="02010609060101010101" pitchFamily="49" charset="-122"/>
              </a:rPr>
              <a:t>L(</a:t>
            </a:r>
            <a:r>
              <a:rPr lang="en-US" altLang="zh-CN" sz="2200" i="1" dirty="0">
                <a:latin typeface="Times New Roman" panose="02020603050405020304" pitchFamily="18" charset="0"/>
                <a:ea typeface="黑体" panose="02010609060101010101" pitchFamily="49" charset="-122"/>
              </a:rPr>
              <a:t>θ</a:t>
            </a:r>
            <a:r>
              <a:rPr lang="en-US" altLang="zh-CN" sz="2200" dirty="0">
                <a:latin typeface="Times New Roman" panose="02020603050405020304" pitchFamily="18" charset="0"/>
                <a:ea typeface="黑体" panose="02010609060101010101" pitchFamily="49" charset="-122"/>
              </a:rPr>
              <a:t>|</a:t>
            </a:r>
            <a:r>
              <a:rPr lang="el-GR" altLang="zh-CN" sz="2200" i="1" dirty="0">
                <a:latin typeface="Times New Roman" panose="02020603050405020304" pitchFamily="18" charset="0"/>
                <a:ea typeface="黑体" panose="02010609060101010101" pitchFamily="49" charset="-122"/>
              </a:rPr>
              <a:t> χ</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。观测结果 </a:t>
            </a:r>
            <a:r>
              <a:rPr lang="el-GR" altLang="zh-CN" sz="2200" i="1" dirty="0">
                <a:latin typeface="Times New Roman" panose="02020603050405020304" pitchFamily="18" charset="0"/>
                <a:ea typeface="黑体" panose="02010609060101010101" pitchFamily="49" charset="-122"/>
              </a:rPr>
              <a:t>χ</a:t>
            </a:r>
            <a:r>
              <a:rPr lang="zh-CN" altLang="en-US" sz="2200" dirty="0">
                <a:latin typeface="Times New Roman" panose="02020603050405020304" pitchFamily="18" charset="0"/>
                <a:ea typeface="黑体" panose="02010609060101010101" pitchFamily="49" charset="-122"/>
              </a:rPr>
              <a:t>在参数集合 </a:t>
            </a:r>
            <a:r>
              <a:rPr lang="en-US" altLang="zh-CN" sz="2200" i="1" dirty="0">
                <a:latin typeface="Times New Roman" panose="02020603050405020304" pitchFamily="18" charset="0"/>
                <a:ea typeface="黑体" panose="02010609060101010101" pitchFamily="49" charset="-122"/>
              </a:rPr>
              <a:t>θ </a:t>
            </a:r>
            <a:r>
              <a:rPr lang="zh-CN" altLang="en-US" sz="2200" dirty="0">
                <a:latin typeface="Times New Roman" panose="02020603050405020304" pitchFamily="18" charset="0"/>
                <a:ea typeface="黑体" panose="02010609060101010101" pitchFamily="49" charset="-122"/>
              </a:rPr>
              <a:t>上的似然函数就是在给定参数值 </a:t>
            </a:r>
            <a:r>
              <a:rPr lang="en-US" altLang="zh-CN" sz="2200" i="1" dirty="0">
                <a:latin typeface="Times New Roman" panose="02020603050405020304" pitchFamily="18" charset="0"/>
                <a:ea typeface="黑体" panose="02010609060101010101" pitchFamily="49" charset="-122"/>
              </a:rPr>
              <a:t>θ </a:t>
            </a:r>
            <a:r>
              <a:rPr lang="zh-CN" altLang="en-US" sz="2200" dirty="0">
                <a:latin typeface="Times New Roman" panose="02020603050405020304" pitchFamily="18" charset="0"/>
                <a:ea typeface="黑体" panose="02010609060101010101" pitchFamily="49" charset="-122"/>
              </a:rPr>
              <a:t>的基础上观察到结果 </a:t>
            </a:r>
            <a:r>
              <a:rPr lang="el-GR" altLang="zh-CN" sz="2200" i="1" dirty="0">
                <a:latin typeface="Times New Roman" panose="02020603050405020304" pitchFamily="18" charset="0"/>
                <a:ea typeface="黑体" panose="02010609060101010101" pitchFamily="49" charset="-122"/>
              </a:rPr>
              <a:t>χ</a:t>
            </a:r>
            <a:r>
              <a:rPr lang="en-US" altLang="zh-CN" sz="2200" i="1"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的概率，故有 </a:t>
            </a:r>
            <a:r>
              <a:rPr lang="en-US" altLang="zh-CN" sz="2200" dirty="0">
                <a:solidFill>
                  <a:srgbClr val="FF0000"/>
                </a:solidFill>
                <a:latin typeface="Times New Roman" panose="02020603050405020304" pitchFamily="18" charset="0"/>
                <a:ea typeface="黑体" panose="02010609060101010101" pitchFamily="49" charset="-122"/>
              </a:rPr>
              <a:t>L(</a:t>
            </a:r>
            <a:r>
              <a:rPr lang="en-US" altLang="zh-CN" sz="2200" i="1" dirty="0">
                <a:solidFill>
                  <a:srgbClr val="FF0000"/>
                </a:solidFill>
                <a:latin typeface="Times New Roman" panose="02020603050405020304" pitchFamily="18" charset="0"/>
                <a:ea typeface="黑体" panose="02010609060101010101" pitchFamily="49" charset="-122"/>
              </a:rPr>
              <a:t>θ</a:t>
            </a:r>
            <a:r>
              <a:rPr lang="en-US" altLang="zh-CN" sz="2200" dirty="0">
                <a:solidFill>
                  <a:srgbClr val="FF0000"/>
                </a:solidFill>
                <a:latin typeface="Times New Roman" panose="02020603050405020304" pitchFamily="18" charset="0"/>
                <a:ea typeface="黑体" panose="02010609060101010101" pitchFamily="49" charset="-122"/>
              </a:rPr>
              <a:t>|</a:t>
            </a:r>
            <a:r>
              <a:rPr lang="el-GR" altLang="zh-CN" sz="2200" i="1" dirty="0">
                <a:latin typeface="Times New Roman" panose="02020603050405020304" pitchFamily="18" charset="0"/>
                <a:ea typeface="黑体" panose="02010609060101010101" pitchFamily="49" charset="-122"/>
              </a:rPr>
              <a:t> χ</a:t>
            </a:r>
            <a:r>
              <a:rPr lang="en-US" altLang="zh-CN" sz="2200" dirty="0">
                <a:solidFill>
                  <a:srgbClr val="FF0000"/>
                </a:solidFill>
                <a:latin typeface="Times New Roman" panose="02020603050405020304" pitchFamily="18" charset="0"/>
                <a:ea typeface="黑体" panose="02010609060101010101" pitchFamily="49" charset="-122"/>
              </a:rPr>
              <a:t>) = P(</a:t>
            </a:r>
            <a:r>
              <a:rPr lang="el-GR" altLang="zh-CN" sz="2200" i="1" dirty="0">
                <a:latin typeface="Times New Roman" panose="02020603050405020304" pitchFamily="18" charset="0"/>
                <a:ea typeface="黑体" panose="02010609060101010101" pitchFamily="49" charset="-122"/>
              </a:rPr>
              <a:t>χ </a:t>
            </a:r>
            <a:r>
              <a:rPr lang="en-US" altLang="zh-CN" sz="2200" dirty="0">
                <a:solidFill>
                  <a:srgbClr val="FF0000"/>
                </a:solidFill>
                <a:latin typeface="Times New Roman" panose="02020603050405020304" pitchFamily="18" charset="0"/>
                <a:ea typeface="黑体" panose="02010609060101010101" pitchFamily="49" charset="-122"/>
              </a:rPr>
              <a:t>|</a:t>
            </a:r>
            <a:r>
              <a:rPr lang="en-US" altLang="zh-CN" sz="2200" i="1" dirty="0">
                <a:solidFill>
                  <a:srgbClr val="FF0000"/>
                </a:solidFill>
                <a:latin typeface="Times New Roman" panose="02020603050405020304" pitchFamily="18" charset="0"/>
                <a:ea typeface="黑体" panose="02010609060101010101" pitchFamily="49" charset="-122"/>
              </a:rPr>
              <a:t>θ</a:t>
            </a:r>
            <a:r>
              <a:rPr lang="en-US" altLang="zh-CN" sz="2200" dirty="0">
                <a:solidFill>
                  <a:srgbClr val="FF0000"/>
                </a:solidFill>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a:t>
            </a:r>
            <a:endParaRPr lang="en-US" altLang="zh-CN" sz="2200" dirty="0">
              <a:latin typeface="Times New Roman" panose="02020603050405020304" pitchFamily="18" charset="0"/>
              <a:ea typeface="黑体" panose="02010609060101010101" pitchFamily="49" charset="-122"/>
            </a:endParaRPr>
          </a:p>
          <a:p>
            <a:pPr marL="342900" indent="-342900" algn="just">
              <a:lnSpc>
                <a:spcPct val="120000"/>
              </a:lnSpc>
              <a:spcBef>
                <a:spcPts val="600"/>
              </a:spcBef>
              <a:buFont typeface="Arial" panose="020B0604020202020204" pitchFamily="34" charset="0"/>
              <a:buChar char="•"/>
            </a:pPr>
            <a:r>
              <a:rPr lang="zh-CN" altLang="en-US" sz="2200" dirty="0">
                <a:solidFill>
                  <a:srgbClr val="BB853D"/>
                </a:solidFill>
                <a:latin typeface="Times New Roman" panose="02020603050405020304" pitchFamily="18" charset="0"/>
                <a:ea typeface="黑体" panose="02010609060101010101" pitchFamily="49" charset="-122"/>
              </a:rPr>
              <a:t>似然函数在统计推测中发挥重要的作用，因其是关于统计参数的函数，故可用来评估一组统计的参数，也就是说在一组统计参数中，可以用似然函数做筛选。</a:t>
            </a:r>
            <a:endParaRPr lang="en-US" altLang="zh-CN" sz="2200" dirty="0">
              <a:solidFill>
                <a:srgbClr val="BB853D"/>
              </a:solidFill>
              <a:latin typeface="Times New Roman" panose="02020603050405020304" pitchFamily="18" charset="0"/>
              <a:ea typeface="黑体" panose="02010609060101010101" pitchFamily="49" charset="-122"/>
            </a:endParaRPr>
          </a:p>
          <a:p>
            <a:pPr marL="342900" indent="-342900">
              <a:lnSpc>
                <a:spcPct val="120000"/>
              </a:lnSpc>
              <a:buFont typeface="Arial" panose="020B0604020202020204" pitchFamily="34" charset="0"/>
              <a:buChar char="•"/>
            </a:pPr>
            <a:r>
              <a:rPr lang="zh-CN" altLang="en-US" sz="2200" dirty="0">
                <a:solidFill>
                  <a:schemeClr val="accent5">
                    <a:lumMod val="50000"/>
                  </a:schemeClr>
                </a:solidFill>
                <a:latin typeface="Times New Roman" panose="02020603050405020304" pitchFamily="18" charset="0"/>
                <a:ea typeface="黑体" panose="02010609060101010101" pitchFamily="49" charset="-122"/>
              </a:rPr>
              <a:t>在非正式语境，“似然”会和“概率”混用；但严格区分的话，在统计上，二者是有不同。</a:t>
            </a:r>
            <a:endParaRPr lang="en-US" altLang="zh-CN" sz="2200" dirty="0">
              <a:solidFill>
                <a:schemeClr val="accent5">
                  <a:lumMod val="50000"/>
                </a:schemeClr>
              </a:solidFill>
              <a:latin typeface="Times New Roman" panose="02020603050405020304" pitchFamily="18" charset="0"/>
              <a:ea typeface="黑体" panose="02010609060101010101" pitchFamily="49" charset="-122"/>
            </a:endParaRPr>
          </a:p>
          <a:p>
            <a:pPr marL="342900" indent="-342900">
              <a:lnSpc>
                <a:spcPct val="120000"/>
              </a:lnSpc>
              <a:buFont typeface="Arial" panose="020B0604020202020204" pitchFamily="34" charset="0"/>
              <a:buChar char="•"/>
            </a:pPr>
            <a:r>
              <a:rPr lang="zh-CN" altLang="en-US" sz="2200" dirty="0">
                <a:solidFill>
                  <a:srgbClr val="BB853D"/>
                </a:solidFill>
                <a:latin typeface="Times New Roman" panose="02020603050405020304" pitchFamily="18" charset="0"/>
                <a:ea typeface="黑体" panose="02010609060101010101" pitchFamily="49" charset="-122"/>
              </a:rPr>
              <a:t>似然函数的主要用法在于比较它相对取值，虽然这个数值本身不具备任何含义。</a:t>
            </a:r>
            <a:endParaRPr lang="en-US" altLang="zh-CN" sz="2200" dirty="0">
              <a:solidFill>
                <a:srgbClr val="BB853D"/>
              </a:solidFill>
              <a:latin typeface="Times New Roman" panose="02020603050405020304" pitchFamily="18" charset="0"/>
              <a:ea typeface="黑体" panose="02010609060101010101" pitchFamily="49" charset="-122"/>
            </a:endParaRPr>
          </a:p>
          <a:p>
            <a:pPr marL="342900" indent="-342900">
              <a:lnSpc>
                <a:spcPct val="120000"/>
              </a:lnSpc>
              <a:buFont typeface="Arial" panose="020B0604020202020204" pitchFamily="34" charset="0"/>
              <a:buChar char="•"/>
            </a:pPr>
            <a:r>
              <a:rPr lang="zh-CN" altLang="en-US" sz="2200" dirty="0">
                <a:solidFill>
                  <a:schemeClr val="accent5">
                    <a:lumMod val="50000"/>
                  </a:schemeClr>
                </a:solidFill>
                <a:latin typeface="Times New Roman" panose="02020603050405020304" pitchFamily="18" charset="0"/>
                <a:ea typeface="黑体" panose="02010609060101010101" pitchFamily="49" charset="-122"/>
              </a:rPr>
              <a:t>似然函数乘以一个正的常数之后仍然是似然函数，其取值并不需要满足归一化条件。</a:t>
            </a:r>
            <a:endParaRPr lang="en-US" altLang="zh-CN" sz="2200" dirty="0">
              <a:solidFill>
                <a:schemeClr val="accent5">
                  <a:lumMod val="50000"/>
                </a:schemeClr>
              </a:solidFill>
              <a:latin typeface="Times New Roman" panose="02020603050405020304" pitchFamily="18" charset="0"/>
              <a:ea typeface="黑体" panose="02010609060101010101" pitchFamily="49" charset="-122"/>
            </a:endParaRPr>
          </a:p>
          <a:p>
            <a:pPr marL="342900" indent="-342900">
              <a:lnSpc>
                <a:spcPct val="120000"/>
              </a:lnSpc>
              <a:buFont typeface="Arial" panose="020B0604020202020204" pitchFamily="34" charset="0"/>
              <a:buChar char="•"/>
            </a:pPr>
            <a:endParaRPr lang="zh-CN" altLang="en-US" sz="2200" dirty="0">
              <a:solidFill>
                <a:srgbClr val="BB853D"/>
              </a:solidFill>
              <a:latin typeface="Times New Roman" panose="02020603050405020304" pitchFamily="18" charset="0"/>
              <a:ea typeface="黑体" panose="02010609060101010101" pitchFamily="49" charset="-122"/>
            </a:endParaRPr>
          </a:p>
        </p:txBody>
      </p:sp>
      <p:sp>
        <p:nvSpPr>
          <p:cNvPr id="11" name="矩形 10"/>
          <p:cNvSpPr/>
          <p:nvPr/>
        </p:nvSpPr>
        <p:spPr>
          <a:xfrm>
            <a:off x="276549" y="4509120"/>
            <a:ext cx="11674726" cy="449418"/>
          </a:xfrm>
          <a:prstGeom prst="rect">
            <a:avLst/>
          </a:prstGeom>
          <a:solidFill>
            <a:schemeClr val="accent6">
              <a:lumMod val="20000"/>
              <a:lumOff val="80000"/>
            </a:schemeClr>
          </a:solidFill>
        </p:spPr>
        <p:txBody>
          <a:bodyPr wrap="square">
            <a:spAutoFit/>
          </a:bodyPr>
          <a:lstStyle/>
          <a:p>
            <a:pPr algn="l">
              <a:lnSpc>
                <a:spcPct val="130000"/>
              </a:lnSpc>
            </a:pPr>
            <a:r>
              <a:rPr lang="zh-CN" altLang="en-US" sz="2000" dirty="0">
                <a:latin typeface="Times New Roman" panose="02020603050405020304" pitchFamily="18" charset="0"/>
                <a:ea typeface="黑体" panose="02010609060101010101" pitchFamily="49" charset="-122"/>
              </a:rPr>
              <a:t>似然函数的这种特性还允许我们叠加计算一组具备相同含义的参数的独立同分布样本的似然函数。</a:t>
            </a:r>
            <a:endParaRPr lang="zh-CN" altLang="en-US" sz="2000" dirty="0">
              <a:latin typeface="Times New Roman" panose="02020603050405020304" pitchFamily="18" charset="0"/>
              <a:ea typeface="黑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4132" y="5588736"/>
            <a:ext cx="11768532" cy="860982"/>
          </a:xfrm>
          <a:prstGeom prst="rect">
            <a:avLst/>
          </a:prstGeom>
          <a:solidFill>
            <a:schemeClr val="accent6">
              <a:lumMod val="20000"/>
              <a:lumOff val="80000"/>
            </a:schemeClr>
          </a:solidFill>
        </p:spPr>
        <p:txBody>
          <a:bodyPr wrap="square" rtlCol="0" anchor="ctr">
            <a:spAutoFit/>
          </a:bodyPr>
          <a:lstStyle/>
          <a:p>
            <a:pPr algn="ctr"/>
            <a:endParaRPr lang="zh-CN" altLang="en-US" sz="2400" kern="100" dirty="0">
              <a:ea typeface="宋体" panose="02010600030101010101" pitchFamily="2" charset="-122"/>
              <a:cs typeface="Times New Roman" panose="02020603050405020304"/>
            </a:endParaRPr>
          </a:p>
        </p:txBody>
      </p:sp>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14.1 </a:t>
            </a:r>
            <a:r>
              <a:rPr lang="zh-CN" altLang="zh-CN" dirty="0"/>
              <a:t>最大似然估计基本原理</a:t>
            </a:r>
            <a:endParaRPr lang="zh-CN" altLang="zh-CN" dirty="0"/>
          </a:p>
        </p:txBody>
      </p:sp>
      <p:sp>
        <p:nvSpPr>
          <p:cNvPr id="42" name="矩形 41"/>
          <p:cNvSpPr/>
          <p:nvPr/>
        </p:nvSpPr>
        <p:spPr>
          <a:xfrm>
            <a:off x="304132" y="1033572"/>
            <a:ext cx="3057247"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最大似然估计原理</a:t>
            </a:r>
            <a:endParaRPr lang="zh-CN" altLang="en-US" sz="2800" b="1" dirty="0">
              <a:solidFill>
                <a:srgbClr val="0000FF"/>
              </a:solidFill>
              <a:ea typeface="黑体" panose="02010609060101010101" pitchFamily="49" charset="-122"/>
            </a:endParaRPr>
          </a:p>
        </p:txBody>
      </p:sp>
      <p:sp>
        <p:nvSpPr>
          <p:cNvPr id="13" name="Rectangle 3"/>
          <p:cNvSpPr>
            <a:spLocks noGrp="1" noChangeArrowheads="1"/>
          </p:cNvSpPr>
          <p:nvPr>
            <p:ph idx="1"/>
          </p:nvPr>
        </p:nvSpPr>
        <p:spPr>
          <a:xfrm>
            <a:off x="321719" y="1697831"/>
            <a:ext cx="1741833" cy="411665"/>
          </a:xfrm>
        </p:spPr>
        <p:txBody>
          <a:bodyPr/>
          <a:lstStyle/>
          <a:p>
            <a:pPr marL="0" indent="0">
              <a:buNone/>
            </a:pPr>
            <a:r>
              <a:rPr lang="zh-CN" altLang="en-US" sz="2200" dirty="0">
                <a:solidFill>
                  <a:srgbClr val="FF0000"/>
                </a:solidFill>
                <a:latin typeface="黑体" panose="02010609060101010101" pitchFamily="49" charset="-122"/>
                <a:ea typeface="黑体" panose="02010609060101010101" pitchFamily="49" charset="-122"/>
              </a:rPr>
              <a:t>似然函数</a:t>
            </a:r>
            <a:r>
              <a:rPr lang="zh-CN" altLang="en-US" sz="2200" dirty="0">
                <a:solidFill>
                  <a:srgbClr val="FF0000"/>
                </a:solidFill>
              </a:rPr>
              <a:t>：</a:t>
            </a:r>
            <a:endParaRPr lang="zh-CN" altLang="en-US" sz="2200" dirty="0">
              <a:solidFill>
                <a:srgbClr val="FF0000"/>
              </a:solidFill>
            </a:endParaRPr>
          </a:p>
        </p:txBody>
      </p:sp>
      <p:graphicFrame>
        <p:nvGraphicFramePr>
          <p:cNvPr id="14" name="Object 4"/>
          <p:cNvGraphicFramePr>
            <a:graphicFrameLocks noChangeAspect="1"/>
          </p:cNvGraphicFramePr>
          <p:nvPr/>
        </p:nvGraphicFramePr>
        <p:xfrm>
          <a:off x="3032125" y="1493838"/>
          <a:ext cx="5734050" cy="835025"/>
        </p:xfrm>
        <a:graphic>
          <a:graphicData uri="http://schemas.openxmlformats.org/presentationml/2006/ole">
            <mc:AlternateContent xmlns:mc="http://schemas.openxmlformats.org/markup-compatibility/2006">
              <mc:Choice xmlns:v="urn:schemas-microsoft-com:vml" Requires="v">
                <p:oleObj spid="_x0000_s179338" name="Equation" r:id="rId2" imgW="2971800" imgH="431800" progId="Equation.DSMT4">
                  <p:embed/>
                </p:oleObj>
              </mc:Choice>
              <mc:Fallback>
                <p:oleObj name="Equation" r:id="rId2" imgW="2971800" imgH="431800" progId="Equation.DSMT4">
                  <p:embed/>
                  <p:pic>
                    <p:nvPicPr>
                      <p:cNvPr id="0" name="Picture 207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2125" y="1493838"/>
                        <a:ext cx="5734050"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5"/>
          <p:cNvSpPr>
            <a:spLocks noChangeArrowheads="1"/>
          </p:cNvSpPr>
          <p:nvPr/>
        </p:nvSpPr>
        <p:spPr bwMode="auto">
          <a:xfrm>
            <a:off x="343875" y="2365944"/>
            <a:ext cx="2232051" cy="563286"/>
          </a:xfrm>
          <a:prstGeom prst="rect">
            <a:avLst/>
          </a:prstGeom>
          <a:noFill/>
          <a:ln w="9525">
            <a:noFill/>
            <a:miter lim="800000"/>
          </a:ln>
          <a:effectLst/>
        </p:spPr>
        <p:txBody>
          <a:bodyPr/>
          <a:lstStyle/>
          <a:p>
            <a:pPr algn="l">
              <a:spcBef>
                <a:spcPct val="20000"/>
              </a:spcBef>
              <a:buClr>
                <a:schemeClr val="folHlink"/>
              </a:buClr>
              <a:buSzPct val="60000"/>
            </a:pPr>
            <a:r>
              <a:rPr lang="zh-CN" altLang="en-US" sz="2200" dirty="0">
                <a:solidFill>
                  <a:srgbClr val="FF0000"/>
                </a:solidFill>
                <a:latin typeface="黑体" panose="02010609060101010101" pitchFamily="49" charset="-122"/>
                <a:ea typeface="黑体" panose="02010609060101010101" pitchFamily="49" charset="-122"/>
              </a:rPr>
              <a:t>对数似然函数：</a:t>
            </a:r>
            <a:endParaRPr lang="zh-CN" altLang="en-US" sz="2200" dirty="0">
              <a:solidFill>
                <a:srgbClr val="FF0000"/>
              </a:solidFill>
              <a:latin typeface="黑体" panose="02010609060101010101" pitchFamily="49" charset="-122"/>
              <a:ea typeface="黑体" panose="02010609060101010101" pitchFamily="49" charset="-122"/>
            </a:endParaRPr>
          </a:p>
        </p:txBody>
      </p:sp>
      <p:graphicFrame>
        <p:nvGraphicFramePr>
          <p:cNvPr id="17" name="Object 6"/>
          <p:cNvGraphicFramePr>
            <a:graphicFrameLocks noChangeAspect="1"/>
          </p:cNvGraphicFramePr>
          <p:nvPr/>
        </p:nvGraphicFramePr>
        <p:xfrm>
          <a:off x="3006725" y="2233613"/>
          <a:ext cx="2579688" cy="828675"/>
        </p:xfrm>
        <a:graphic>
          <a:graphicData uri="http://schemas.openxmlformats.org/presentationml/2006/ole">
            <mc:AlternateContent xmlns:mc="http://schemas.openxmlformats.org/markup-compatibility/2006">
              <mc:Choice xmlns:v="urn:schemas-microsoft-com:vml" Requires="v">
                <p:oleObj spid="_x0000_s179339" name="Equation" r:id="rId4" imgW="1346200" imgH="431800" progId="Equation.DSMT4">
                  <p:embed/>
                </p:oleObj>
              </mc:Choice>
              <mc:Fallback>
                <p:oleObj name="Equation" r:id="rId4" imgW="1346200" imgH="431800" progId="Equation.DSMT4">
                  <p:embed/>
                  <p:pic>
                    <p:nvPicPr>
                      <p:cNvPr id="0" name="Picture 207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6725" y="2233613"/>
                        <a:ext cx="2579688"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内容占位符 2"/>
          <p:cNvSpPr txBox="1"/>
          <p:nvPr/>
        </p:nvSpPr>
        <p:spPr bwMode="gray">
          <a:xfrm>
            <a:off x="304132" y="2852233"/>
            <a:ext cx="11696524" cy="3717164"/>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30000"/>
              </a:lnSpc>
              <a:spcBef>
                <a:spcPts val="0"/>
              </a:spcBef>
              <a:buFont typeface="Wingdings" panose="05000000000000000000" pitchFamily="2" charset="2"/>
              <a:buNone/>
            </a:pPr>
            <a:r>
              <a:rPr lang="zh-CN" altLang="zh-CN" sz="2200" kern="0" dirty="0">
                <a:solidFill>
                  <a:srgbClr val="0000FF"/>
                </a:solidFill>
                <a:latin typeface="Times New Roman" panose="02020603050405020304" pitchFamily="18" charset="0"/>
                <a:ea typeface="黑体" panose="02010609060101010101" pitchFamily="49" charset="-122"/>
              </a:rPr>
              <a:t>假设条件：</a:t>
            </a:r>
            <a:endParaRPr lang="zh-CN" altLang="zh-CN" sz="2200" kern="0" dirty="0">
              <a:solidFill>
                <a:srgbClr val="0000FF"/>
              </a:solidFill>
              <a:latin typeface="Times New Roman" panose="02020603050405020304" pitchFamily="18" charset="0"/>
              <a:ea typeface="黑体" panose="02010609060101010101" pitchFamily="49" charset="-122"/>
            </a:endParaRPr>
          </a:p>
          <a:p>
            <a:pPr marL="0" indent="0">
              <a:lnSpc>
                <a:spcPct val="130000"/>
              </a:lnSpc>
              <a:spcBef>
                <a:spcPts val="600"/>
              </a:spcBef>
              <a:buFont typeface="Wingdings" panose="05000000000000000000" pitchFamily="2" charset="2"/>
              <a:buNone/>
            </a:pPr>
            <a:r>
              <a:rPr lang="zh-CN" altLang="zh-CN" sz="2200" kern="0" dirty="0">
                <a:latin typeface="Times New Roman" panose="02020603050405020304" pitchFamily="18" charset="0"/>
                <a:ea typeface="黑体" panose="02010609060101010101" pitchFamily="49" charset="-122"/>
              </a:rPr>
              <a:t>① 参数</a:t>
            </a: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是确定的未知量</a:t>
            </a:r>
            <a:r>
              <a:rPr lang="zh-CN" altLang="en-US" sz="2200" kern="0" dirty="0">
                <a:latin typeface="Times New Roman" panose="02020603050405020304" pitchFamily="18" charset="0"/>
                <a:ea typeface="黑体" panose="02010609060101010101" pitchFamily="49" charset="-122"/>
              </a:rPr>
              <a:t>（</a:t>
            </a:r>
            <a:r>
              <a:rPr lang="zh-CN" altLang="zh-CN" sz="2200" kern="0" dirty="0">
                <a:latin typeface="Times New Roman" panose="02020603050405020304" pitchFamily="18" charset="0"/>
                <a:ea typeface="黑体" panose="02010609060101010101" pitchFamily="49" charset="-122"/>
              </a:rPr>
              <a:t>不是随机量）</a:t>
            </a:r>
            <a:endParaRPr lang="zh-CN" altLang="zh-CN" sz="2200" kern="0" dirty="0">
              <a:latin typeface="Times New Roman" panose="02020603050405020304" pitchFamily="18" charset="0"/>
              <a:ea typeface="黑体" panose="02010609060101010101" pitchFamily="49" charset="-122"/>
            </a:endParaRPr>
          </a:p>
          <a:p>
            <a:pPr marL="0" indent="0">
              <a:lnSpc>
                <a:spcPct val="130000"/>
              </a:lnSpc>
              <a:spcBef>
                <a:spcPts val="0"/>
              </a:spcBef>
              <a:buFont typeface="Wingdings" panose="05000000000000000000" pitchFamily="2" charset="2"/>
              <a:buNone/>
            </a:pPr>
            <a:r>
              <a:rPr lang="zh-CN" altLang="zh-CN" sz="2200" kern="0" dirty="0">
                <a:latin typeface="Times New Roman" panose="02020603050405020304" pitchFamily="18" charset="0"/>
                <a:ea typeface="黑体" panose="02010609060101010101" pitchFamily="49" charset="-122"/>
              </a:rPr>
              <a:t>② 各类样本集</a:t>
            </a:r>
            <a:r>
              <a:rPr lang="en-US" altLang="zh-CN" sz="2200" kern="0" dirty="0">
                <a:latin typeface="Times New Roman" panose="02020603050405020304" pitchFamily="18" charset="0"/>
                <a:ea typeface="黑体" panose="02010609060101010101" pitchFamily="49" charset="-122"/>
              </a:rPr>
              <a:t>      (                  ) </a:t>
            </a:r>
            <a:r>
              <a:rPr lang="zh-CN" altLang="zh-CN" sz="2200" kern="0" dirty="0">
                <a:latin typeface="Times New Roman" panose="02020603050405020304" pitchFamily="18" charset="0"/>
                <a:ea typeface="黑体" panose="02010609060101010101" pitchFamily="49" charset="-122"/>
              </a:rPr>
              <a:t>中的样本都是从密度为</a:t>
            </a: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的总体中独立抽取出来的（独立同分布，</a:t>
            </a:r>
            <a:r>
              <a:rPr lang="en-US" altLang="zh-CN" sz="2200" i="1" kern="0" dirty="0" err="1">
                <a:latin typeface="Times New Roman" panose="02020603050405020304" pitchFamily="18" charset="0"/>
                <a:ea typeface="黑体" panose="02010609060101010101" pitchFamily="49" charset="-122"/>
                <a:cs typeface="Times New Roman" panose="02020603050405020304" pitchFamily="18" charset="0"/>
              </a:rPr>
              <a:t>i.i.d</a:t>
            </a:r>
            <a:r>
              <a:rPr lang="en-US" altLang="zh-CN" sz="2200" kern="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2200" kern="0" dirty="0">
                <a:latin typeface="Times New Roman" panose="02020603050405020304" pitchFamily="18" charset="0"/>
                <a:ea typeface="黑体" panose="02010609060101010101" pitchFamily="49" charset="-122"/>
              </a:rPr>
              <a:t>）</a:t>
            </a:r>
            <a:endParaRPr lang="zh-CN" altLang="zh-CN" sz="2200" kern="0" dirty="0">
              <a:latin typeface="Times New Roman" panose="02020603050405020304" pitchFamily="18" charset="0"/>
              <a:ea typeface="黑体" panose="02010609060101010101" pitchFamily="49" charset="-122"/>
            </a:endParaRPr>
          </a:p>
          <a:p>
            <a:pPr marL="0" indent="0">
              <a:lnSpc>
                <a:spcPct val="130000"/>
              </a:lnSpc>
              <a:spcBef>
                <a:spcPts val="0"/>
              </a:spcBef>
              <a:buFont typeface="Wingdings" panose="05000000000000000000" pitchFamily="2" charset="2"/>
              <a:buNone/>
            </a:pPr>
            <a:r>
              <a:rPr lang="zh-CN" altLang="zh-CN" sz="2200" kern="0" dirty="0">
                <a:latin typeface="Times New Roman" panose="02020603050405020304" pitchFamily="18" charset="0"/>
                <a:ea typeface="黑体" panose="02010609060101010101" pitchFamily="49" charset="-122"/>
              </a:rPr>
              <a:t>③</a:t>
            </a: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 </a:t>
            </a: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具有某种确定的函数形式，只其参数</a:t>
            </a: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未知</a:t>
            </a:r>
            <a:endParaRPr lang="zh-CN" altLang="zh-CN" sz="2200" kern="0" dirty="0">
              <a:latin typeface="Times New Roman" panose="02020603050405020304" pitchFamily="18" charset="0"/>
              <a:ea typeface="黑体" panose="02010609060101010101" pitchFamily="49" charset="-122"/>
            </a:endParaRPr>
          </a:p>
          <a:p>
            <a:pPr marL="0" indent="0">
              <a:lnSpc>
                <a:spcPct val="130000"/>
              </a:lnSpc>
              <a:spcBef>
                <a:spcPts val="0"/>
              </a:spcBef>
              <a:buFont typeface="Wingdings" panose="05000000000000000000" pitchFamily="2" charset="2"/>
              <a:buNone/>
            </a:pPr>
            <a:r>
              <a:rPr lang="zh-CN" altLang="zh-CN" sz="2200" kern="0" dirty="0">
                <a:latin typeface="Times New Roman" panose="02020603050405020304" pitchFamily="18" charset="0"/>
                <a:ea typeface="黑体" panose="02010609060101010101" pitchFamily="49" charset="-122"/>
              </a:rPr>
              <a:t>④ 各类样本只包含本类分布的信息</a:t>
            </a:r>
            <a:endParaRPr lang="zh-CN" altLang="zh-CN" sz="2200" kern="0" dirty="0">
              <a:latin typeface="Times New Roman" panose="02020603050405020304" pitchFamily="18" charset="0"/>
              <a:ea typeface="黑体" panose="02010609060101010101" pitchFamily="49" charset="-122"/>
            </a:endParaRPr>
          </a:p>
          <a:p>
            <a:pPr marL="0" indent="0">
              <a:lnSpc>
                <a:spcPct val="130000"/>
              </a:lnSpc>
              <a:spcBef>
                <a:spcPts val="0"/>
              </a:spcBef>
              <a:buFont typeface="Wingdings" panose="05000000000000000000" pitchFamily="2" charset="2"/>
              <a:buNone/>
            </a:pPr>
            <a:r>
              <a:rPr lang="zh-CN" altLang="en-US" sz="2200" b="1" kern="0" dirty="0">
                <a:solidFill>
                  <a:schemeClr val="accent6">
                    <a:lumMod val="75000"/>
                  </a:schemeClr>
                </a:solidFill>
                <a:latin typeface="Times New Roman" panose="02020603050405020304" pitchFamily="18" charset="0"/>
                <a:ea typeface="黑体" panose="02010609060101010101" pitchFamily="49" charset="-122"/>
              </a:rPr>
              <a:t>注意：</a:t>
            </a:r>
            <a:r>
              <a:rPr lang="zh-CN" altLang="zh-CN" sz="2200" kern="0" dirty="0">
                <a:latin typeface="Times New Roman" panose="02020603050405020304" pitchFamily="18" charset="0"/>
                <a:ea typeface="黑体" panose="02010609060101010101" pitchFamily="49" charset="-122"/>
              </a:rPr>
              <a:t>参数</a:t>
            </a: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通常是向量，比如一维正态分布</a:t>
            </a:r>
            <a:r>
              <a:rPr lang="en-US" altLang="zh-CN" sz="2200" kern="0" dirty="0">
                <a:latin typeface="Times New Roman" panose="02020603050405020304" pitchFamily="18" charset="0"/>
                <a:ea typeface="黑体" panose="02010609060101010101" pitchFamily="49" charset="-122"/>
              </a:rPr>
              <a:t>                  </a:t>
            </a:r>
            <a:r>
              <a:rPr lang="zh-CN" altLang="en-US" sz="2200" kern="0" dirty="0">
                <a:latin typeface="Times New Roman" panose="02020603050405020304" pitchFamily="18" charset="0"/>
                <a:ea typeface="黑体" panose="02010609060101010101" pitchFamily="49" charset="-122"/>
              </a:rPr>
              <a:t>，</a:t>
            </a: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未知参数可能是</a:t>
            </a: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，此时</a:t>
            </a:r>
            <a:r>
              <a:rPr lang="zh-CN" altLang="en-US" sz="2200" kern="0" dirty="0">
                <a:latin typeface="Times New Roman" panose="02020603050405020304" pitchFamily="18" charset="0"/>
                <a:ea typeface="黑体" panose="02010609060101010101" pitchFamily="49" charset="-122"/>
              </a:rPr>
              <a:t>，   </a:t>
            </a: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可写成</a:t>
            </a: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或</a:t>
            </a: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a:t>
            </a:r>
            <a:endParaRPr lang="zh-CN" altLang="zh-CN" sz="2200" kern="0" dirty="0">
              <a:latin typeface="Times New Roman" panose="02020603050405020304" pitchFamily="18" charset="0"/>
              <a:ea typeface="黑体" panose="02010609060101010101" pitchFamily="49" charset="-122"/>
            </a:endParaRPr>
          </a:p>
        </p:txBody>
      </p:sp>
      <p:graphicFrame>
        <p:nvGraphicFramePr>
          <p:cNvPr id="20" name="对象 19"/>
          <p:cNvGraphicFramePr>
            <a:graphicFrameLocks noChangeAspect="1"/>
          </p:cNvGraphicFramePr>
          <p:nvPr/>
        </p:nvGraphicFramePr>
        <p:xfrm>
          <a:off x="1313094" y="3476447"/>
          <a:ext cx="304122" cy="328451"/>
        </p:xfrm>
        <a:graphic>
          <a:graphicData uri="http://schemas.openxmlformats.org/presentationml/2006/ole">
            <mc:AlternateContent xmlns:mc="http://schemas.openxmlformats.org/markup-compatibility/2006">
              <mc:Choice xmlns:v="urn:schemas-microsoft-com:vml" Requires="v">
                <p:oleObj spid="_x0000_s179340" name="Equation" r:id="rId6" imgW="127000" imgH="177165" progId="Equation.DSMT4">
                  <p:embed/>
                </p:oleObj>
              </mc:Choice>
              <mc:Fallback>
                <p:oleObj name="Equation" r:id="rId6" imgW="127000" imgH="177165" progId="Equation.DSMT4">
                  <p:embed/>
                  <p:pic>
                    <p:nvPicPr>
                      <p:cNvPr id="0" name="Picture 207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13094" y="3476447"/>
                        <a:ext cx="304122" cy="3284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p:cNvGraphicFramePr>
            <a:graphicFrameLocks noChangeAspect="1"/>
          </p:cNvGraphicFramePr>
          <p:nvPr/>
        </p:nvGraphicFramePr>
        <p:xfrm>
          <a:off x="2143290" y="3909508"/>
          <a:ext cx="344346" cy="398151"/>
        </p:xfrm>
        <a:graphic>
          <a:graphicData uri="http://schemas.openxmlformats.org/presentationml/2006/ole">
            <mc:AlternateContent xmlns:mc="http://schemas.openxmlformats.org/markup-compatibility/2006">
              <mc:Choice xmlns:v="urn:schemas-microsoft-com:vml" Requires="v">
                <p:oleObj spid="_x0000_s179341" name="Equation" r:id="rId8" imgW="203200" imgH="228600" progId="Equation.DSMT4">
                  <p:embed/>
                </p:oleObj>
              </mc:Choice>
              <mc:Fallback>
                <p:oleObj name="Equation" r:id="rId8" imgW="203200" imgH="228600" progId="Equation.DSMT4">
                  <p:embed/>
                  <p:pic>
                    <p:nvPicPr>
                      <p:cNvPr id="0" name="Picture 207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43290" y="3909508"/>
                        <a:ext cx="344346" cy="3981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nvGraphicFramePr>
        <p:xfrm>
          <a:off x="2680233" y="3904634"/>
          <a:ext cx="1238929" cy="403025"/>
        </p:xfrm>
        <a:graphic>
          <a:graphicData uri="http://schemas.openxmlformats.org/presentationml/2006/ole">
            <mc:AlternateContent xmlns:mc="http://schemas.openxmlformats.org/markup-compatibility/2006">
              <mc:Choice xmlns:v="urn:schemas-microsoft-com:vml" Requires="v">
                <p:oleObj spid="_x0000_s179342" name="Equation" r:id="rId10" imgW="622300" imgH="203200" progId="Equation.DSMT4">
                  <p:embed/>
                </p:oleObj>
              </mc:Choice>
              <mc:Fallback>
                <p:oleObj name="Equation" r:id="rId10" imgW="622300" imgH="203200" progId="Equation.DSMT4">
                  <p:embed/>
                  <p:pic>
                    <p:nvPicPr>
                      <p:cNvPr id="0" name="Picture 207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80233" y="3904634"/>
                        <a:ext cx="1238929" cy="403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nvGraphicFramePr>
        <p:xfrm>
          <a:off x="6882119" y="3881431"/>
          <a:ext cx="1020049" cy="400272"/>
        </p:xfrm>
        <a:graphic>
          <a:graphicData uri="http://schemas.openxmlformats.org/presentationml/2006/ole">
            <mc:AlternateContent xmlns:mc="http://schemas.openxmlformats.org/markup-compatibility/2006">
              <mc:Choice xmlns:v="urn:schemas-microsoft-com:vml" Requires="v">
                <p:oleObj spid="_x0000_s179343" name="Equation" r:id="rId12" imgW="596900" imgH="228600" progId="Equation.DSMT4">
                  <p:embed/>
                </p:oleObj>
              </mc:Choice>
              <mc:Fallback>
                <p:oleObj name="Equation" r:id="rId12" imgW="596900" imgH="228600" progId="Equation.DSMT4">
                  <p:embed/>
                  <p:pic>
                    <p:nvPicPr>
                      <p:cNvPr id="0" name="Picture 207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82119" y="3881431"/>
                        <a:ext cx="1020049" cy="400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nvGraphicFramePr>
        <p:xfrm>
          <a:off x="765157" y="4750842"/>
          <a:ext cx="1015565" cy="394278"/>
        </p:xfrm>
        <a:graphic>
          <a:graphicData uri="http://schemas.openxmlformats.org/presentationml/2006/ole">
            <mc:AlternateContent xmlns:mc="http://schemas.openxmlformats.org/markup-compatibility/2006">
              <mc:Choice xmlns:v="urn:schemas-microsoft-com:vml" Requires="v">
                <p:oleObj spid="_x0000_s179344" name="Equation" r:id="rId14" imgW="596900" imgH="228600" progId="Equation.DSMT4">
                  <p:embed/>
                </p:oleObj>
              </mc:Choice>
              <mc:Fallback>
                <p:oleObj name="Equation" r:id="rId14" imgW="596900" imgH="228600" progId="Equation.DSMT4">
                  <p:embed/>
                  <p:pic>
                    <p:nvPicPr>
                      <p:cNvPr id="0" name="Picture 208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5157" y="4750842"/>
                        <a:ext cx="1015565" cy="3942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对象 26"/>
          <p:cNvGraphicFramePr>
            <a:graphicFrameLocks noChangeAspect="1"/>
          </p:cNvGraphicFramePr>
          <p:nvPr/>
        </p:nvGraphicFramePr>
        <p:xfrm>
          <a:off x="6126982" y="5588736"/>
          <a:ext cx="1172572" cy="427644"/>
        </p:xfrm>
        <a:graphic>
          <a:graphicData uri="http://schemas.openxmlformats.org/presentationml/2006/ole">
            <mc:AlternateContent xmlns:mc="http://schemas.openxmlformats.org/markup-compatibility/2006">
              <mc:Choice xmlns:v="urn:schemas-microsoft-com:vml" Requires="v">
                <p:oleObj spid="_x0000_s179345" name="Equation" r:id="rId15" imgW="673100" imgH="241300" progId="Equation.DSMT4">
                  <p:embed/>
                </p:oleObj>
              </mc:Choice>
              <mc:Fallback>
                <p:oleObj name="Equation" r:id="rId15" imgW="673100" imgH="241300" progId="Equation.DSMT4">
                  <p:embed/>
                  <p:pic>
                    <p:nvPicPr>
                      <p:cNvPr id="0" name="Picture 208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26982" y="5588736"/>
                        <a:ext cx="1172572" cy="4276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对象 27"/>
          <p:cNvGraphicFramePr>
            <a:graphicFrameLocks noChangeAspect="1"/>
          </p:cNvGraphicFramePr>
          <p:nvPr/>
        </p:nvGraphicFramePr>
        <p:xfrm>
          <a:off x="9736509" y="5395185"/>
          <a:ext cx="1049124" cy="814745"/>
        </p:xfrm>
        <a:graphic>
          <a:graphicData uri="http://schemas.openxmlformats.org/presentationml/2006/ole">
            <mc:AlternateContent xmlns:mc="http://schemas.openxmlformats.org/markup-compatibility/2006">
              <mc:Choice xmlns:v="urn:schemas-microsoft-com:vml" Requires="v">
                <p:oleObj spid="_x0000_s179346" name="Equation" r:id="rId17" imgW="647700" imgH="508000" progId="Equation.DSMT4">
                  <p:embed/>
                </p:oleObj>
              </mc:Choice>
              <mc:Fallback>
                <p:oleObj name="Equation" r:id="rId17" imgW="647700" imgH="508000" progId="Equation.DSMT4">
                  <p:embed/>
                  <p:pic>
                    <p:nvPicPr>
                      <p:cNvPr id="0" name="Picture 208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736509" y="5395185"/>
                        <a:ext cx="1049124" cy="8147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对象 28"/>
          <p:cNvGraphicFramePr>
            <a:graphicFrameLocks noChangeAspect="1"/>
          </p:cNvGraphicFramePr>
          <p:nvPr/>
        </p:nvGraphicFramePr>
        <p:xfrm>
          <a:off x="633920" y="6044155"/>
          <a:ext cx="1117429" cy="439439"/>
        </p:xfrm>
        <a:graphic>
          <a:graphicData uri="http://schemas.openxmlformats.org/presentationml/2006/ole">
            <mc:AlternateContent xmlns:mc="http://schemas.openxmlformats.org/markup-compatibility/2006">
              <mc:Choice xmlns:v="urn:schemas-microsoft-com:vml" Requires="v">
                <p:oleObj spid="_x0000_s179347" name="Equation" r:id="rId19" imgW="596900" imgH="228600" progId="Equation.DSMT4">
                  <p:embed/>
                </p:oleObj>
              </mc:Choice>
              <mc:Fallback>
                <p:oleObj name="Equation" r:id="rId19" imgW="596900" imgH="228600" progId="Equation.DSMT4">
                  <p:embed/>
                  <p:pic>
                    <p:nvPicPr>
                      <p:cNvPr id="0" name="Picture 208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3920" y="6044155"/>
                        <a:ext cx="1117429" cy="4394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对象 29"/>
          <p:cNvGraphicFramePr>
            <a:graphicFrameLocks noChangeAspect="1"/>
          </p:cNvGraphicFramePr>
          <p:nvPr/>
        </p:nvGraphicFramePr>
        <p:xfrm>
          <a:off x="4165593" y="6044155"/>
          <a:ext cx="1359942" cy="410328"/>
        </p:xfrm>
        <a:graphic>
          <a:graphicData uri="http://schemas.openxmlformats.org/presentationml/2006/ole">
            <mc:AlternateContent xmlns:mc="http://schemas.openxmlformats.org/markup-compatibility/2006">
              <mc:Choice xmlns:v="urn:schemas-microsoft-com:vml" Requires="v">
                <p:oleObj spid="_x0000_s179348" name="Equation" r:id="rId20" imgW="774065" imgH="228600" progId="Equation.DSMT4">
                  <p:embed/>
                </p:oleObj>
              </mc:Choice>
              <mc:Fallback>
                <p:oleObj name="Equation" r:id="rId20" imgW="774065" imgH="228600" progId="Equation.DSMT4">
                  <p:embed/>
                  <p:pic>
                    <p:nvPicPr>
                      <p:cNvPr id="0" name="Picture 208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65593" y="6044155"/>
                        <a:ext cx="1359942" cy="4103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对象 30"/>
          <p:cNvGraphicFramePr>
            <a:graphicFrameLocks noChangeAspect="1"/>
          </p:cNvGraphicFramePr>
          <p:nvPr/>
        </p:nvGraphicFramePr>
        <p:xfrm>
          <a:off x="2783631" y="6044155"/>
          <a:ext cx="1008113" cy="405563"/>
        </p:xfrm>
        <a:graphic>
          <a:graphicData uri="http://schemas.openxmlformats.org/presentationml/2006/ole">
            <mc:AlternateContent xmlns:mc="http://schemas.openxmlformats.org/markup-compatibility/2006">
              <mc:Choice xmlns:v="urn:schemas-microsoft-com:vml" Requires="v">
                <p:oleObj spid="_x0000_s179349" name="Equation" r:id="rId22" imgW="571500" imgH="228600" progId="Equation.DSMT4">
                  <p:embed/>
                </p:oleObj>
              </mc:Choice>
              <mc:Fallback>
                <p:oleObj name="Equation" r:id="rId22" imgW="571500" imgH="228600" progId="Equation.DSMT4">
                  <p:embed/>
                  <p:pic>
                    <p:nvPicPr>
                      <p:cNvPr id="0" name="Picture 208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83631" y="6044155"/>
                        <a:ext cx="1008113" cy="405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对象 31"/>
          <p:cNvGraphicFramePr>
            <a:graphicFrameLocks noChangeAspect="1"/>
          </p:cNvGraphicFramePr>
          <p:nvPr/>
        </p:nvGraphicFramePr>
        <p:xfrm>
          <a:off x="6399963" y="4773996"/>
          <a:ext cx="304122" cy="328451"/>
        </p:xfrm>
        <a:graphic>
          <a:graphicData uri="http://schemas.openxmlformats.org/presentationml/2006/ole">
            <mc:AlternateContent xmlns:mc="http://schemas.openxmlformats.org/markup-compatibility/2006">
              <mc:Choice xmlns:v="urn:schemas-microsoft-com:vml" Requires="v">
                <p:oleObj spid="_x0000_s179350" name="Equation" r:id="rId24" imgW="127000" imgH="177165" progId="Equation.DSMT4">
                  <p:embed/>
                </p:oleObj>
              </mc:Choice>
              <mc:Fallback>
                <p:oleObj name="Equation" r:id="rId24" imgW="127000" imgH="177165" progId="Equation.DSMT4">
                  <p:embed/>
                  <p:pic>
                    <p:nvPicPr>
                      <p:cNvPr id="0" name="Picture 208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99963" y="4773996"/>
                        <a:ext cx="304122" cy="3284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对象 32"/>
          <p:cNvGraphicFramePr>
            <a:graphicFrameLocks noChangeAspect="1"/>
          </p:cNvGraphicFramePr>
          <p:nvPr/>
        </p:nvGraphicFramePr>
        <p:xfrm>
          <a:off x="1839168" y="5643655"/>
          <a:ext cx="304122" cy="328451"/>
        </p:xfrm>
        <a:graphic>
          <a:graphicData uri="http://schemas.openxmlformats.org/presentationml/2006/ole">
            <mc:AlternateContent xmlns:mc="http://schemas.openxmlformats.org/markup-compatibility/2006">
              <mc:Choice xmlns:v="urn:schemas-microsoft-com:vml" Requires="v">
                <p:oleObj spid="_x0000_s179351" name="Equation" r:id="rId25" imgW="127000" imgH="177165" progId="Equation.DSMT4">
                  <p:embed/>
                </p:oleObj>
              </mc:Choice>
              <mc:Fallback>
                <p:oleObj name="Equation" r:id="rId25" imgW="127000" imgH="177165" progId="Equation.DSMT4">
                  <p:embed/>
                  <p:pic>
                    <p:nvPicPr>
                      <p:cNvPr id="0" name="Picture 208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9168" y="5643655"/>
                        <a:ext cx="304122" cy="3284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4131" y="3707139"/>
            <a:ext cx="11624515" cy="1012187"/>
          </a:xfrm>
          <a:prstGeom prst="rect">
            <a:avLst/>
          </a:prstGeom>
          <a:solidFill>
            <a:schemeClr val="accent6">
              <a:lumMod val="20000"/>
              <a:lumOff val="80000"/>
            </a:schemeClr>
          </a:solidFill>
        </p:spPr>
        <p:txBody>
          <a:bodyPr wrap="square" rtlCol="0" anchor="ctr">
            <a:spAutoFit/>
          </a:bodyPr>
          <a:lstStyle/>
          <a:p>
            <a:pPr algn="ctr"/>
            <a:endParaRPr lang="zh-CN" altLang="en-US" sz="2400" kern="100" dirty="0">
              <a:ea typeface="宋体" panose="02010600030101010101" pitchFamily="2" charset="-122"/>
              <a:cs typeface="Times New Roman" panose="02020603050405020304"/>
            </a:endParaRPr>
          </a:p>
        </p:txBody>
      </p:sp>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14.1 </a:t>
            </a:r>
            <a:r>
              <a:rPr lang="zh-CN" altLang="zh-CN" dirty="0"/>
              <a:t>最大似然估计基本原理</a:t>
            </a:r>
            <a:endParaRPr lang="zh-CN" altLang="zh-CN" dirty="0"/>
          </a:p>
        </p:txBody>
      </p:sp>
      <p:sp>
        <p:nvSpPr>
          <p:cNvPr id="42" name="矩形 41"/>
          <p:cNvSpPr/>
          <p:nvPr/>
        </p:nvSpPr>
        <p:spPr>
          <a:xfrm>
            <a:off x="304132" y="1033572"/>
            <a:ext cx="3057247"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最大似然估计原理</a:t>
            </a:r>
            <a:endParaRPr lang="zh-CN" altLang="en-US" sz="2800" b="1" dirty="0">
              <a:solidFill>
                <a:srgbClr val="0000FF"/>
              </a:solidFill>
              <a:ea typeface="黑体" panose="02010609060101010101" pitchFamily="49" charset="-122"/>
            </a:endParaRPr>
          </a:p>
        </p:txBody>
      </p:sp>
      <p:sp>
        <p:nvSpPr>
          <p:cNvPr id="26" name="内容占位符 2"/>
          <p:cNvSpPr>
            <a:spLocks noGrp="1"/>
          </p:cNvSpPr>
          <p:nvPr>
            <p:ph idx="1"/>
          </p:nvPr>
        </p:nvSpPr>
        <p:spPr>
          <a:xfrm>
            <a:off x="304800" y="1628800"/>
            <a:ext cx="11623846" cy="3024336"/>
          </a:xfrm>
        </p:spPr>
        <p:txBody>
          <a:bodyPr/>
          <a:lstStyle/>
          <a:p>
            <a:pPr marL="0" indent="0">
              <a:lnSpc>
                <a:spcPct val="130000"/>
              </a:lnSpc>
              <a:spcBef>
                <a:spcPts val="0"/>
              </a:spcBef>
              <a:buNone/>
            </a:pPr>
            <a:r>
              <a:rPr lang="zh-CN" altLang="zh-CN" sz="2200" dirty="0">
                <a:latin typeface="Times New Roman" panose="02020603050405020304" pitchFamily="18" charset="0"/>
                <a:ea typeface="黑体" panose="02010609060101010101" pitchFamily="49" charset="-122"/>
              </a:rPr>
              <a:t>鉴于上述假设，我们可以只考虑一类样本，记已知样本为</a:t>
            </a:r>
            <a:endParaRPr lang="zh-CN" altLang="zh-CN" sz="2200" dirty="0">
              <a:latin typeface="Times New Roman" panose="02020603050405020304" pitchFamily="18" charset="0"/>
              <a:ea typeface="黑体" panose="02010609060101010101" pitchFamily="49" charset="-122"/>
            </a:endParaRPr>
          </a:p>
          <a:p>
            <a:pPr marL="0" indent="0">
              <a:lnSpc>
                <a:spcPct val="130000"/>
              </a:lnSpc>
              <a:spcBef>
                <a:spcPts val="1200"/>
              </a:spcBef>
              <a:buNone/>
            </a:pPr>
            <a:r>
              <a:rPr lang="zh-CN" altLang="zh-CN" sz="2200" dirty="0">
                <a:solidFill>
                  <a:srgbClr val="FF0000"/>
                </a:solidFill>
                <a:latin typeface="Times New Roman" panose="02020603050405020304" pitchFamily="18" charset="0"/>
                <a:ea typeface="黑体" panose="02010609060101010101" pitchFamily="49" charset="-122"/>
              </a:rPr>
              <a:t>似然函数</a:t>
            </a:r>
            <a:endParaRPr lang="zh-CN" altLang="zh-CN" sz="2200" dirty="0">
              <a:solidFill>
                <a:srgbClr val="FF0000"/>
              </a:solidFill>
              <a:latin typeface="Times New Roman" panose="02020603050405020304" pitchFamily="18" charset="0"/>
              <a:ea typeface="黑体" panose="02010609060101010101" pitchFamily="49" charset="-122"/>
            </a:endParaRPr>
          </a:p>
          <a:p>
            <a:pPr marL="0" indent="0" latinLnBrk="1">
              <a:lnSpc>
                <a:spcPct val="130000"/>
              </a:lnSpc>
              <a:spcBef>
                <a:spcPts val="1200"/>
              </a:spcBef>
              <a:buNone/>
            </a:pPr>
            <a:r>
              <a:rPr lang="en-US" altLang="zh-CN" sz="2200" dirty="0">
                <a:latin typeface="Times New Roman" panose="02020603050405020304" pitchFamily="18" charset="0"/>
                <a:ea typeface="黑体" panose="02010609060101010101" pitchFamily="49" charset="-122"/>
              </a:rPr>
              <a:t>                                                    —— </a:t>
            </a:r>
            <a:r>
              <a:rPr lang="zh-CN" altLang="zh-CN" sz="2200" dirty="0">
                <a:latin typeface="Times New Roman" panose="02020603050405020304" pitchFamily="18" charset="0"/>
                <a:ea typeface="黑体" panose="02010609060101010101" pitchFamily="49" charset="-122"/>
              </a:rPr>
              <a:t>在参数</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下观测到样本集</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的概</a:t>
            </a:r>
            <a:r>
              <a:rPr lang="zh-CN" altLang="zh-CN" sz="2200" dirty="0">
                <a:latin typeface="Times New Roman" panose="02020603050405020304" pitchFamily="18" charset="0"/>
                <a:ea typeface="黑体" panose="02010609060101010101" pitchFamily="49" charset="-122"/>
              </a:rPr>
              <a:t>率</a:t>
            </a:r>
            <a:r>
              <a:rPr lang="zh-CN" altLang="en-US" sz="2200" dirty="0">
                <a:latin typeface="Times New Roman" panose="02020603050405020304" pitchFamily="18" charset="0"/>
                <a:ea typeface="黑体" panose="02010609060101010101" pitchFamily="49" charset="-122"/>
              </a:rPr>
              <a:t>（</a:t>
            </a:r>
            <a:r>
              <a:rPr lang="zh-CN" altLang="zh-CN" sz="2200" dirty="0">
                <a:latin typeface="Times New Roman" panose="02020603050405020304" pitchFamily="18" charset="0"/>
                <a:ea typeface="黑体" panose="02010609060101010101" pitchFamily="49" charset="-122"/>
              </a:rPr>
              <a:t>联合分布）密度</a:t>
            </a:r>
            <a:r>
              <a:rPr lang="zh-CN" altLang="en-US" sz="2200" dirty="0">
                <a:latin typeface="Times New Roman" panose="02020603050405020304" pitchFamily="18" charset="0"/>
                <a:ea typeface="黑体" panose="02010609060101010101" pitchFamily="49" charset="-122"/>
              </a:rPr>
              <a:t>函数</a:t>
            </a:r>
            <a:endParaRPr lang="zh-CN" altLang="zh-CN" sz="2200" dirty="0">
              <a:latin typeface="Times New Roman" panose="02020603050405020304" pitchFamily="18" charset="0"/>
              <a:ea typeface="黑体" panose="02010609060101010101" pitchFamily="49" charset="-122"/>
            </a:endParaRPr>
          </a:p>
          <a:p>
            <a:pPr marL="0" indent="0">
              <a:lnSpc>
                <a:spcPct val="130000"/>
              </a:lnSpc>
              <a:spcBef>
                <a:spcPts val="600"/>
              </a:spcBef>
              <a:buNone/>
            </a:pPr>
            <a:r>
              <a:rPr lang="zh-CN" altLang="zh-CN" sz="2200" dirty="0">
                <a:solidFill>
                  <a:srgbClr val="FF0000"/>
                </a:solidFill>
                <a:latin typeface="Times New Roman" panose="02020603050405020304" pitchFamily="18" charset="0"/>
                <a:ea typeface="黑体" panose="02010609060101010101" pitchFamily="49" charset="-122"/>
              </a:rPr>
              <a:t>基本思想：</a:t>
            </a:r>
            <a:endParaRPr lang="en-US" altLang="zh-CN" sz="2200" dirty="0">
              <a:solidFill>
                <a:srgbClr val="FF0000"/>
              </a:solidFill>
              <a:latin typeface="Times New Roman" panose="02020603050405020304" pitchFamily="18" charset="0"/>
              <a:ea typeface="黑体" panose="02010609060101010101" pitchFamily="49" charset="-122"/>
            </a:endParaRPr>
          </a:p>
          <a:p>
            <a:pPr marL="0" indent="0" algn="just">
              <a:lnSpc>
                <a:spcPct val="130000"/>
              </a:lnSpc>
              <a:spcBef>
                <a:spcPts val="0"/>
              </a:spcBef>
              <a:buNone/>
            </a:pPr>
            <a:r>
              <a:rPr lang="zh-CN" altLang="zh-CN" sz="2200" dirty="0">
                <a:latin typeface="Times New Roman" panose="02020603050405020304" pitchFamily="18" charset="0"/>
                <a:ea typeface="黑体" panose="02010609060101010101" pitchFamily="49" charset="-122"/>
              </a:rPr>
              <a:t>如果在参数</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下</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最大，则</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应是“最可能”的参数值，</a:t>
            </a:r>
            <a:r>
              <a:rPr lang="zh-CN" altLang="en-US" sz="2200" dirty="0">
                <a:latin typeface="Times New Roman" panose="02020603050405020304" pitchFamily="18" charset="0"/>
                <a:ea typeface="黑体" panose="02010609060101010101" pitchFamily="49" charset="-122"/>
              </a:rPr>
              <a:t>其</a:t>
            </a:r>
            <a:r>
              <a:rPr lang="zh-CN" altLang="zh-CN" sz="2200" dirty="0">
                <a:latin typeface="Times New Roman" panose="02020603050405020304" pitchFamily="18" charset="0"/>
                <a:ea typeface="黑体" panose="02010609060101010101" pitchFamily="49" charset="-122"/>
              </a:rPr>
              <a:t>是样本集的函数，称作最大似然估计量</a:t>
            </a:r>
            <a:r>
              <a:rPr lang="zh-CN" altLang="en-US" sz="2200" dirty="0">
                <a:latin typeface="Times New Roman" panose="02020603050405020304" pitchFamily="18" charset="0"/>
                <a:ea typeface="黑体" panose="02010609060101010101" pitchFamily="49" charset="-122"/>
              </a:rPr>
              <a:t>，</a:t>
            </a:r>
            <a:r>
              <a:rPr lang="zh-CN" altLang="zh-CN" sz="2200" dirty="0">
                <a:latin typeface="Times New Roman" panose="02020603050405020304" pitchFamily="18" charset="0"/>
                <a:ea typeface="黑体" panose="02010609060101010101" pitchFamily="49" charset="-122"/>
              </a:rPr>
              <a:t>记</a:t>
            </a:r>
            <a:r>
              <a:rPr lang="zh-CN" altLang="en-US" sz="2200" dirty="0">
                <a:latin typeface="Times New Roman" panose="02020603050405020304" pitchFamily="18" charset="0"/>
                <a:ea typeface="黑体" panose="02010609060101010101" pitchFamily="49" charset="-122"/>
              </a:rPr>
              <a:t>为                                              。</a:t>
            </a:r>
            <a:endParaRPr lang="zh-CN" altLang="zh-CN" sz="2200" dirty="0">
              <a:latin typeface="Times New Roman" panose="02020603050405020304" pitchFamily="18" charset="0"/>
              <a:ea typeface="黑体" panose="02010609060101010101" pitchFamily="49" charset="-122"/>
            </a:endParaRPr>
          </a:p>
        </p:txBody>
      </p:sp>
      <p:graphicFrame>
        <p:nvGraphicFramePr>
          <p:cNvPr id="34" name="对象 33"/>
          <p:cNvGraphicFramePr>
            <a:graphicFrameLocks noChangeAspect="1"/>
          </p:cNvGraphicFramePr>
          <p:nvPr/>
        </p:nvGraphicFramePr>
        <p:xfrm>
          <a:off x="7507361" y="1699943"/>
          <a:ext cx="2155455" cy="424559"/>
        </p:xfrm>
        <a:graphic>
          <a:graphicData uri="http://schemas.openxmlformats.org/presentationml/2006/ole">
            <mc:AlternateContent xmlns:mc="http://schemas.openxmlformats.org/markup-compatibility/2006">
              <mc:Choice xmlns:v="urn:schemas-microsoft-com:vml" Requires="v">
                <p:oleObj spid="_x0000_s173408" name="Equation" r:id="rId2" imgW="1193800" imgH="228600" progId="Equation.DSMT4">
                  <p:embed/>
                </p:oleObj>
              </mc:Choice>
              <mc:Fallback>
                <p:oleObj name="Equation" r:id="rId2" imgW="1193800" imgH="228600" progId="Equation.DSMT4">
                  <p:embed/>
                  <p:pic>
                    <p:nvPicPr>
                      <p:cNvPr id="0" name="Picture 13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7361" y="1699943"/>
                        <a:ext cx="2155455" cy="4245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对象 34"/>
          <p:cNvGraphicFramePr>
            <a:graphicFrameLocks noChangeAspect="1"/>
          </p:cNvGraphicFramePr>
          <p:nvPr/>
        </p:nvGraphicFramePr>
        <p:xfrm>
          <a:off x="2094927" y="2104280"/>
          <a:ext cx="5985922" cy="792088"/>
        </p:xfrm>
        <a:graphic>
          <a:graphicData uri="http://schemas.openxmlformats.org/presentationml/2006/ole">
            <mc:AlternateContent xmlns:mc="http://schemas.openxmlformats.org/markup-compatibility/2006">
              <mc:Choice xmlns:v="urn:schemas-microsoft-com:vml" Requires="v">
                <p:oleObj spid="_x0000_s173409" name="Equation" r:id="rId4" imgW="3213100" imgH="431800" progId="Equation.DSMT4">
                  <p:embed/>
                </p:oleObj>
              </mc:Choice>
              <mc:Fallback>
                <p:oleObj name="Equation" r:id="rId4" imgW="3213100" imgH="431800" progId="Equation.DSMT4">
                  <p:embed/>
                  <p:pic>
                    <p:nvPicPr>
                      <p:cNvPr id="0" name="Picture 130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4927" y="2104280"/>
                        <a:ext cx="5985922" cy="792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p:cNvGraphicFramePr>
            <a:graphicFrameLocks noChangeAspect="1"/>
          </p:cNvGraphicFramePr>
          <p:nvPr/>
        </p:nvGraphicFramePr>
        <p:xfrm>
          <a:off x="5513982" y="2891426"/>
          <a:ext cx="256711" cy="364799"/>
        </p:xfrm>
        <a:graphic>
          <a:graphicData uri="http://schemas.openxmlformats.org/presentationml/2006/ole">
            <mc:AlternateContent xmlns:mc="http://schemas.openxmlformats.org/markup-compatibility/2006">
              <mc:Choice xmlns:v="urn:schemas-microsoft-com:vml" Requires="v">
                <p:oleObj spid="_x0000_s173410" name="Equation" r:id="rId6" imgW="127000" imgH="177165" progId="Equation.DSMT4">
                  <p:embed/>
                </p:oleObj>
              </mc:Choice>
              <mc:Fallback>
                <p:oleObj name="Equation" r:id="rId6" imgW="127000" imgH="177165" progId="Equation.DSMT4">
                  <p:embed/>
                  <p:pic>
                    <p:nvPicPr>
                      <p:cNvPr id="0" name="Picture 130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13982" y="2891426"/>
                        <a:ext cx="256711" cy="3647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对象 36"/>
          <p:cNvGraphicFramePr>
            <a:graphicFrameLocks noChangeAspect="1"/>
          </p:cNvGraphicFramePr>
          <p:nvPr/>
        </p:nvGraphicFramePr>
        <p:xfrm>
          <a:off x="7766552" y="2907725"/>
          <a:ext cx="314297" cy="321550"/>
        </p:xfrm>
        <a:graphic>
          <a:graphicData uri="http://schemas.openxmlformats.org/presentationml/2006/ole">
            <mc:AlternateContent xmlns:mc="http://schemas.openxmlformats.org/markup-compatibility/2006">
              <mc:Choice xmlns:v="urn:schemas-microsoft-com:vml" Requires="v">
                <p:oleObj spid="_x0000_s173411" name="Equation" r:id="rId8" imgW="177800" imgH="165100" progId="Equation.DSMT4">
                  <p:embed/>
                </p:oleObj>
              </mc:Choice>
              <mc:Fallback>
                <p:oleObj name="Equation" r:id="rId8" imgW="177800" imgH="165100" progId="Equation.DSMT4">
                  <p:embed/>
                  <p:pic>
                    <p:nvPicPr>
                      <p:cNvPr id="0" name="Picture 130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66552" y="2907725"/>
                        <a:ext cx="314297" cy="32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对象 37"/>
          <p:cNvGraphicFramePr>
            <a:graphicFrameLocks noChangeAspect="1"/>
          </p:cNvGraphicFramePr>
          <p:nvPr/>
        </p:nvGraphicFramePr>
        <p:xfrm>
          <a:off x="1906435" y="3795375"/>
          <a:ext cx="720080" cy="409700"/>
        </p:xfrm>
        <a:graphic>
          <a:graphicData uri="http://schemas.openxmlformats.org/presentationml/2006/ole">
            <mc:AlternateContent xmlns:mc="http://schemas.openxmlformats.org/markup-compatibility/2006">
              <mc:Choice xmlns:v="urn:schemas-microsoft-com:vml" Requires="v">
                <p:oleObj spid="_x0000_s173412" name="Equation" r:id="rId10" imgW="381000" imgH="215900" progId="Equation.DSMT4">
                  <p:embed/>
                </p:oleObj>
              </mc:Choice>
              <mc:Fallback>
                <p:oleObj name="Equation" r:id="rId10" imgW="381000" imgH="215900" progId="Equation.DSMT4">
                  <p:embed/>
                  <p:pic>
                    <p:nvPicPr>
                      <p:cNvPr id="0" name="Picture 130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06435" y="3795375"/>
                        <a:ext cx="720080" cy="40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对象 38"/>
          <p:cNvGraphicFramePr>
            <a:graphicFrameLocks noChangeAspect="1"/>
          </p:cNvGraphicFramePr>
          <p:nvPr/>
        </p:nvGraphicFramePr>
        <p:xfrm>
          <a:off x="3149000" y="3849602"/>
          <a:ext cx="570736" cy="404271"/>
        </p:xfrm>
        <a:graphic>
          <a:graphicData uri="http://schemas.openxmlformats.org/presentationml/2006/ole">
            <mc:AlternateContent xmlns:mc="http://schemas.openxmlformats.org/markup-compatibility/2006">
              <mc:Choice xmlns:v="urn:schemas-microsoft-com:vml" Requires="v">
                <p:oleObj spid="_x0000_s173413" name="Equation" r:id="rId12" imgW="292100" imgH="203200" progId="Equation.DSMT4">
                  <p:embed/>
                </p:oleObj>
              </mc:Choice>
              <mc:Fallback>
                <p:oleObj name="Equation" r:id="rId12" imgW="292100" imgH="203200" progId="Equation.DSMT4">
                  <p:embed/>
                  <p:pic>
                    <p:nvPicPr>
                      <p:cNvPr id="0" name="Picture 130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49000" y="3849602"/>
                        <a:ext cx="570736" cy="4042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对象 39"/>
          <p:cNvGraphicFramePr>
            <a:graphicFrameLocks noChangeAspect="1"/>
          </p:cNvGraphicFramePr>
          <p:nvPr/>
        </p:nvGraphicFramePr>
        <p:xfrm>
          <a:off x="5040288" y="3784201"/>
          <a:ext cx="407640" cy="432048"/>
        </p:xfrm>
        <a:graphic>
          <a:graphicData uri="http://schemas.openxmlformats.org/presentationml/2006/ole">
            <mc:AlternateContent xmlns:mc="http://schemas.openxmlformats.org/markup-compatibility/2006">
              <mc:Choice xmlns:v="urn:schemas-microsoft-com:vml" Requires="v">
                <p:oleObj spid="_x0000_s173414" name="Equation" r:id="rId14" imgW="127000" imgH="215265" progId="Equation.DSMT4">
                  <p:embed/>
                </p:oleObj>
              </mc:Choice>
              <mc:Fallback>
                <p:oleObj name="Equation" r:id="rId14" imgW="127000" imgH="215265" progId="Equation.DSMT4">
                  <p:embed/>
                  <p:pic>
                    <p:nvPicPr>
                      <p:cNvPr id="0" name="Picture 13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40288" y="3784201"/>
                        <a:ext cx="407640"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对象 40"/>
          <p:cNvGraphicFramePr>
            <a:graphicFrameLocks noChangeAspect="1"/>
          </p:cNvGraphicFramePr>
          <p:nvPr/>
        </p:nvGraphicFramePr>
        <p:xfrm>
          <a:off x="3300752" y="4212939"/>
          <a:ext cx="3073228" cy="512205"/>
        </p:xfrm>
        <a:graphic>
          <a:graphicData uri="http://schemas.openxmlformats.org/presentationml/2006/ole">
            <mc:AlternateContent xmlns:mc="http://schemas.openxmlformats.org/markup-compatibility/2006">
              <mc:Choice xmlns:v="urn:schemas-microsoft-com:vml" Requires="v">
                <p:oleObj spid="_x0000_s173415" name="Equation" r:id="rId16" imgW="1752600" imgH="254000" progId="Equation.DSMT4">
                  <p:embed/>
                </p:oleObj>
              </mc:Choice>
              <mc:Fallback>
                <p:oleObj name="Equation" r:id="rId16" imgW="1752600" imgH="254000" progId="Equation.DSMT4">
                  <p:embed/>
                  <p:pic>
                    <p:nvPicPr>
                      <p:cNvPr id="0" name="Picture 13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300752" y="4212939"/>
                        <a:ext cx="3073228" cy="512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内容占位符 2"/>
          <p:cNvSpPr txBox="1"/>
          <p:nvPr/>
        </p:nvSpPr>
        <p:spPr bwMode="gray">
          <a:xfrm>
            <a:off x="304132" y="4856936"/>
            <a:ext cx="11624515" cy="588288"/>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20000"/>
              </a:lnSpc>
              <a:spcBef>
                <a:spcPts val="0"/>
              </a:spcBef>
              <a:buFont typeface="Wingdings" panose="05000000000000000000" pitchFamily="2" charset="2"/>
              <a:buNone/>
            </a:pPr>
            <a:r>
              <a:rPr lang="zh-CN" altLang="zh-CN" sz="2200" kern="0" dirty="0">
                <a:latin typeface="Times New Roman" panose="02020603050405020304" pitchFamily="18" charset="0"/>
                <a:ea typeface="黑体" panose="02010609060101010101" pitchFamily="49" charset="-122"/>
              </a:rPr>
              <a:t>为了便于分析，还可以定义对数似然函数</a:t>
            </a:r>
            <a:r>
              <a:rPr lang="en-US" altLang="zh-CN" sz="2200" kern="0" dirty="0">
                <a:latin typeface="Times New Roman" panose="02020603050405020304" pitchFamily="18" charset="0"/>
                <a:ea typeface="黑体" panose="02010609060101010101" pitchFamily="49" charset="-122"/>
              </a:rPr>
              <a:t>                           </a:t>
            </a:r>
            <a:r>
              <a:rPr lang="zh-CN" altLang="en-US" sz="2200" kern="0" dirty="0">
                <a:latin typeface="Times New Roman" panose="02020603050405020304" pitchFamily="18" charset="0"/>
                <a:ea typeface="黑体" panose="02010609060101010101" pitchFamily="49" charset="-122"/>
              </a:rPr>
              <a:t>。</a:t>
            </a:r>
            <a:r>
              <a:rPr lang="en-US" altLang="zh-CN" sz="2200" kern="0" dirty="0">
                <a:latin typeface="Times New Roman" panose="02020603050405020304" pitchFamily="18" charset="0"/>
                <a:ea typeface="黑体" panose="02010609060101010101" pitchFamily="49" charset="-122"/>
              </a:rPr>
              <a:t> </a:t>
            </a:r>
            <a:endParaRPr lang="en-US" altLang="zh-CN" sz="2200" kern="0" dirty="0">
              <a:latin typeface="Times New Roman" panose="02020603050405020304" pitchFamily="18" charset="0"/>
              <a:ea typeface="黑体" panose="02010609060101010101" pitchFamily="49" charset="-122"/>
            </a:endParaRPr>
          </a:p>
        </p:txBody>
      </p:sp>
      <p:graphicFrame>
        <p:nvGraphicFramePr>
          <p:cNvPr id="44" name="对象 43"/>
          <p:cNvGraphicFramePr>
            <a:graphicFrameLocks noChangeAspect="1"/>
          </p:cNvGraphicFramePr>
          <p:nvPr/>
        </p:nvGraphicFramePr>
        <p:xfrm>
          <a:off x="5519936" y="4933524"/>
          <a:ext cx="1765202" cy="396828"/>
        </p:xfrm>
        <a:graphic>
          <a:graphicData uri="http://schemas.openxmlformats.org/presentationml/2006/ole">
            <mc:AlternateContent xmlns:mc="http://schemas.openxmlformats.org/markup-compatibility/2006">
              <mc:Choice xmlns:v="urn:schemas-microsoft-com:vml" Requires="v">
                <p:oleObj spid="_x0000_s173416" name="Equation" r:id="rId18" imgW="914400" imgH="203200" progId="Equation.DSMT4">
                  <p:embed/>
                </p:oleObj>
              </mc:Choice>
              <mc:Fallback>
                <p:oleObj name="Equation" r:id="rId18" imgW="914400" imgH="203200" progId="Equation.DSMT4">
                  <p:embed/>
                  <p:pic>
                    <p:nvPicPr>
                      <p:cNvPr id="0" name="Picture 131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519936" y="4933524"/>
                        <a:ext cx="1765202" cy="3968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15680" y="1149255"/>
            <a:ext cx="6768752" cy="3101362"/>
          </a:xfrm>
          <a:prstGeom prst="rect">
            <a:avLst/>
          </a:prstGeom>
          <a:noFill/>
        </p:spPr>
        <p:txBody>
          <a:bodyPr wrap="square" rtlCol="0">
            <a:spAutoFit/>
          </a:bodyPr>
          <a:lstStyle/>
          <a:p>
            <a:pPr>
              <a:lnSpc>
                <a:spcPct val="130000"/>
              </a:lnSpc>
              <a:spcBef>
                <a:spcPts val="200"/>
              </a:spcBef>
            </a:pPr>
            <a:r>
              <a:rPr lang="en-US" altLang="zh-CN" sz="2400" b="1" dirty="0">
                <a:latin typeface="宋体" panose="02010600030101010101" pitchFamily="2" charset="-122"/>
                <a:ea typeface="宋体" panose="02010600030101010101" pitchFamily="2" charset="-122"/>
              </a:rPr>
              <a:t>14.1 </a:t>
            </a:r>
            <a:r>
              <a:rPr lang="zh-CN" altLang="zh-CN" sz="2400" b="1" dirty="0">
                <a:latin typeface="宋体" panose="02010600030101010101" pitchFamily="2" charset="-122"/>
                <a:ea typeface="宋体" panose="02010600030101010101" pitchFamily="2" charset="-122"/>
              </a:rPr>
              <a:t>最大似然估计基本原理</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solidFill>
                  <a:srgbClr val="0000FF"/>
                </a:solidFill>
                <a:latin typeface="宋体" panose="02010600030101010101" pitchFamily="2" charset="-122"/>
                <a:ea typeface="宋体" panose="02010600030101010101" pitchFamily="2" charset="-122"/>
              </a:rPr>
              <a:t>14.2 </a:t>
            </a:r>
            <a:r>
              <a:rPr lang="zh-CN" altLang="zh-CN" sz="2400" b="1" dirty="0">
                <a:solidFill>
                  <a:srgbClr val="0000FF"/>
                </a:solidFill>
                <a:latin typeface="宋体" panose="02010600030101010101" pitchFamily="2" charset="-122"/>
                <a:ea typeface="宋体" panose="02010600030101010101" pitchFamily="2" charset="-122"/>
              </a:rPr>
              <a:t>最大似然估计的求解</a:t>
            </a:r>
            <a:endParaRPr lang="zh-CN" altLang="zh-CN" sz="2400" b="1" dirty="0">
              <a:solidFill>
                <a:srgbClr val="0000FF"/>
              </a:solidFill>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14.3 </a:t>
            </a:r>
            <a:r>
              <a:rPr lang="zh-CN" altLang="zh-CN" sz="2400" b="1" dirty="0">
                <a:latin typeface="宋体" panose="02010600030101010101" pitchFamily="2" charset="-122"/>
                <a:ea typeface="宋体" panose="02010600030101010101" pitchFamily="2" charset="-122"/>
              </a:rPr>
              <a:t>正态分布下的最大似然估计</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14.4 </a:t>
            </a:r>
            <a:r>
              <a:rPr lang="zh-CN" altLang="zh-CN" sz="2400" b="1" dirty="0">
                <a:latin typeface="宋体" panose="02010600030101010101" pitchFamily="2" charset="-122"/>
                <a:ea typeface="宋体" panose="02010600030101010101" pitchFamily="2" charset="-122"/>
              </a:rPr>
              <a:t>贝叶斯估计</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14.5 </a:t>
            </a:r>
            <a:r>
              <a:rPr lang="zh-CN" altLang="zh-CN" sz="2400" b="1" dirty="0">
                <a:latin typeface="宋体" panose="02010600030101010101" pitchFamily="2" charset="-122"/>
                <a:ea typeface="宋体" panose="02010600030101010101" pitchFamily="2" charset="-122"/>
              </a:rPr>
              <a:t>贝叶斯学习</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14.6 </a:t>
            </a:r>
            <a:r>
              <a:rPr lang="zh-CN" altLang="zh-CN" sz="2400" b="1" dirty="0">
                <a:latin typeface="宋体" panose="02010600030101010101" pitchFamily="2" charset="-122"/>
                <a:ea typeface="宋体" panose="02010600030101010101" pitchFamily="2" charset="-122"/>
              </a:rPr>
              <a:t>正态分布下的贝叶斯估计</a:t>
            </a:r>
            <a:endParaRPr lang="zh-CN" altLang="zh-CN" sz="2400" b="1" dirty="0">
              <a:latin typeface="宋体" panose="02010600030101010101" pitchFamily="2" charset="-122"/>
              <a:ea typeface="宋体" panose="02010600030101010101" pitchFamily="2" charset="-122"/>
            </a:endParaRPr>
          </a:p>
        </p:txBody>
      </p:sp>
      <p:sp>
        <p:nvSpPr>
          <p:cNvPr id="8" name="Freeform 6"/>
          <p:cNvSpPr/>
          <p:nvPr/>
        </p:nvSpPr>
        <p:spPr bwMode="auto">
          <a:xfrm>
            <a:off x="0" y="5589240"/>
            <a:ext cx="12192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ln>
        </p:spPr>
        <p:txBody>
          <a:bodyPr vert="horz" wrap="square" lIns="128580" tIns="64290" rIns="128580" bIns="64290" numCol="1" anchor="t" anchorCtr="0" compatLnSpc="1"/>
          <a:lstStyle/>
          <a:p>
            <a:endParaRPr lang="zh-CN" altLang="en-US"/>
          </a:p>
        </p:txBody>
      </p:sp>
      <p:sp>
        <p:nvSpPr>
          <p:cNvPr id="9" name="Freeform 7"/>
          <p:cNvSpPr/>
          <p:nvPr/>
        </p:nvSpPr>
        <p:spPr bwMode="auto">
          <a:xfrm>
            <a:off x="-24680" y="5425669"/>
            <a:ext cx="12216680" cy="357166"/>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ln>
        </p:spPr>
        <p:txBody>
          <a:bodyPr vert="horz" wrap="square" lIns="128580" tIns="64290" rIns="128580" bIns="64290" numCol="1" anchor="t" anchorCtr="0" compatLnSpc="1"/>
          <a:lstStyle/>
          <a:p>
            <a:endParaRPr lang="zh-CN" altLang="en-US">
              <a:solidFill>
                <a:schemeClr val="tx2">
                  <a:lumMod val="20000"/>
                  <a:lumOff val="80000"/>
                </a:schemeClr>
              </a:solidFill>
            </a:endParaRPr>
          </a:p>
        </p:txBody>
      </p:sp>
      <p:pic>
        <p:nvPicPr>
          <p:cNvPr id="3" name="图片 2"/>
          <p:cNvPicPr>
            <a:picLocks noChangeAspect="1"/>
          </p:cNvPicPr>
          <p:nvPr/>
        </p:nvPicPr>
        <p:blipFill>
          <a:blip r:embed="rId1"/>
          <a:stretch>
            <a:fillRect/>
          </a:stretch>
        </p:blipFill>
        <p:spPr>
          <a:xfrm>
            <a:off x="0" y="6468398"/>
            <a:ext cx="1349719" cy="404664"/>
          </a:xfrm>
          <a:prstGeom prst="rect">
            <a:avLst/>
          </a:prstGeom>
        </p:spPr>
      </p:pic>
      <p:sp>
        <p:nvSpPr>
          <p:cNvPr id="6" name="文本框 5"/>
          <p:cNvSpPr txBox="1"/>
          <p:nvPr/>
        </p:nvSpPr>
        <p:spPr>
          <a:xfrm>
            <a:off x="-24680" y="6436962"/>
            <a:ext cx="5472608" cy="461665"/>
          </a:xfrm>
          <a:prstGeom prst="rect">
            <a:avLst/>
          </a:prstGeom>
          <a:noFill/>
        </p:spPr>
        <p:txBody>
          <a:bodyPr wrap="square" rtlCol="0">
            <a:spAutoFit/>
          </a:bodyPr>
          <a:lstStyle/>
          <a:p>
            <a:r>
              <a:rPr lang="zh-CN" altLang="en-US" sz="2400" b="1" dirty="0">
                <a:solidFill>
                  <a:srgbClr val="0000FF"/>
                </a:solidFill>
              </a:rPr>
              <a:t>人工智能与自动化学院        </a:t>
            </a:r>
            <a:endParaRPr lang="zh-CN" altLang="en-US" sz="2400" b="1" dirty="0">
              <a:solidFill>
                <a:srgbClr val="0000FF"/>
              </a:solidFill>
            </a:endParaRPr>
          </a:p>
        </p:txBody>
      </p:sp>
      <p:sp>
        <p:nvSpPr>
          <p:cNvPr id="12" name="标题 1"/>
          <p:cNvSpPr txBox="1"/>
          <p:nvPr/>
        </p:nvSpPr>
        <p:spPr bwMode="black">
          <a:xfrm>
            <a:off x="407368" y="188640"/>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zh-CN" altLang="en-US" kern="0" dirty="0"/>
              <a:t>第</a:t>
            </a:r>
            <a:r>
              <a:rPr lang="en-US" altLang="zh-CN" kern="0" dirty="0"/>
              <a:t>14</a:t>
            </a:r>
            <a:r>
              <a:rPr lang="zh-CN" altLang="en-US" kern="0" dirty="0"/>
              <a:t>讲 </a:t>
            </a:r>
            <a:r>
              <a:rPr lang="zh-CN" altLang="zh-CN" dirty="0"/>
              <a:t>概率密度函数的参数估计</a:t>
            </a:r>
            <a:endParaRPr lang="zh-CN" altLang="zh-CN" dirty="0"/>
          </a:p>
        </p:txBody>
      </p:sp>
      <p:sp>
        <p:nvSpPr>
          <p:cNvPr id="7" name="灯片编号占位符 6"/>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4954" y="3687463"/>
            <a:ext cx="11877046" cy="2597917"/>
          </a:xfrm>
          <a:prstGeom prst="rect">
            <a:avLst/>
          </a:prstGeom>
          <a:solidFill>
            <a:schemeClr val="accent6">
              <a:lumMod val="20000"/>
              <a:lumOff val="80000"/>
            </a:schemeClr>
          </a:solidFill>
        </p:spPr>
        <p:txBody>
          <a:bodyPr wrap="none" rtlCol="0" anchor="ctr">
            <a:spAutoFit/>
          </a:bodyPr>
          <a:lstStyle/>
          <a:p>
            <a:pPr algn="ctr"/>
            <a:endParaRPr lang="zh-CN" altLang="en-US" sz="2400" kern="100" dirty="0">
              <a:ea typeface="宋体" panose="02010600030101010101" pitchFamily="2" charset="-122"/>
              <a:cs typeface="Times New Roman" panose="02020603050405020304"/>
            </a:endParaRPr>
          </a:p>
        </p:txBody>
      </p:sp>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14.2 </a:t>
            </a:r>
            <a:r>
              <a:rPr lang="zh-CN" altLang="zh-CN" dirty="0"/>
              <a:t>最大似然估计的求解</a:t>
            </a:r>
            <a:endParaRPr lang="zh-CN" altLang="zh-CN" dirty="0"/>
          </a:p>
        </p:txBody>
      </p:sp>
      <p:sp>
        <p:nvSpPr>
          <p:cNvPr id="26" name="内容占位符 2"/>
          <p:cNvSpPr>
            <a:spLocks noGrp="1"/>
          </p:cNvSpPr>
          <p:nvPr>
            <p:ph idx="1"/>
          </p:nvPr>
        </p:nvSpPr>
        <p:spPr>
          <a:xfrm>
            <a:off x="304800" y="1412776"/>
            <a:ext cx="11551840" cy="2456421"/>
          </a:xfrm>
        </p:spPr>
        <p:txBody>
          <a:bodyPr/>
          <a:lstStyle/>
          <a:p>
            <a:pPr marL="0" indent="0">
              <a:lnSpc>
                <a:spcPct val="120000"/>
              </a:lnSpc>
              <a:spcBef>
                <a:spcPts val="1200"/>
              </a:spcBef>
              <a:buNone/>
            </a:pPr>
            <a:r>
              <a:rPr lang="zh-CN" altLang="zh-CN" sz="2200" dirty="0">
                <a:solidFill>
                  <a:srgbClr val="FF0000"/>
                </a:solidFill>
                <a:latin typeface="Times New Roman" panose="02020603050405020304" pitchFamily="18" charset="0"/>
                <a:ea typeface="黑体" panose="02010609060101010101" pitchFamily="49" charset="-122"/>
              </a:rPr>
              <a:t>似然函数</a:t>
            </a:r>
            <a:endParaRPr lang="zh-CN" altLang="zh-CN" sz="2200" dirty="0">
              <a:solidFill>
                <a:srgbClr val="FF0000"/>
              </a:solidFill>
              <a:latin typeface="Times New Roman" panose="02020603050405020304" pitchFamily="18" charset="0"/>
              <a:ea typeface="黑体" panose="02010609060101010101" pitchFamily="49" charset="-122"/>
            </a:endParaRPr>
          </a:p>
          <a:p>
            <a:pPr marL="0" indent="0" latinLnBrk="1">
              <a:lnSpc>
                <a:spcPct val="120000"/>
              </a:lnSpc>
              <a:spcBef>
                <a:spcPts val="1200"/>
              </a:spcBef>
              <a:buNone/>
            </a:pPr>
            <a:r>
              <a:rPr lang="en-US" altLang="zh-CN" sz="2200" dirty="0">
                <a:latin typeface="Times New Roman" panose="02020603050405020304" pitchFamily="18" charset="0"/>
                <a:ea typeface="黑体" panose="02010609060101010101" pitchFamily="49" charset="-122"/>
              </a:rPr>
              <a:t>                                                    —— </a:t>
            </a:r>
            <a:r>
              <a:rPr lang="zh-CN" altLang="zh-CN" sz="2200" dirty="0">
                <a:latin typeface="Times New Roman" panose="02020603050405020304" pitchFamily="18" charset="0"/>
                <a:ea typeface="黑体" panose="02010609060101010101" pitchFamily="49" charset="-122"/>
              </a:rPr>
              <a:t>在参数</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下观测到样本集</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的概</a:t>
            </a:r>
            <a:r>
              <a:rPr lang="zh-CN" altLang="zh-CN" sz="2200" dirty="0">
                <a:latin typeface="Times New Roman" panose="02020603050405020304" pitchFamily="18" charset="0"/>
                <a:ea typeface="黑体" panose="02010609060101010101" pitchFamily="49" charset="-122"/>
              </a:rPr>
              <a:t>率</a:t>
            </a:r>
            <a:r>
              <a:rPr lang="zh-CN" altLang="en-US" sz="2200" dirty="0">
                <a:latin typeface="Times New Roman" panose="02020603050405020304" pitchFamily="18" charset="0"/>
                <a:ea typeface="黑体" panose="02010609060101010101" pitchFamily="49" charset="-122"/>
              </a:rPr>
              <a:t>（</a:t>
            </a:r>
            <a:r>
              <a:rPr lang="zh-CN" altLang="zh-CN" sz="2200" dirty="0">
                <a:latin typeface="Times New Roman" panose="02020603050405020304" pitchFamily="18" charset="0"/>
                <a:ea typeface="黑体" panose="02010609060101010101" pitchFamily="49" charset="-122"/>
              </a:rPr>
              <a:t>联合分布）密度</a:t>
            </a:r>
            <a:r>
              <a:rPr lang="zh-CN" altLang="en-US" sz="2200" dirty="0">
                <a:latin typeface="Times New Roman" panose="02020603050405020304" pitchFamily="18" charset="0"/>
                <a:ea typeface="黑体" panose="02010609060101010101" pitchFamily="49" charset="-122"/>
              </a:rPr>
              <a:t>函数</a:t>
            </a:r>
            <a:endParaRPr lang="zh-CN" altLang="zh-CN" sz="2200" dirty="0">
              <a:latin typeface="Times New Roman" panose="02020603050405020304" pitchFamily="18" charset="0"/>
              <a:ea typeface="黑体" panose="02010609060101010101" pitchFamily="49" charset="-122"/>
            </a:endParaRPr>
          </a:p>
          <a:p>
            <a:pPr marL="0" indent="0">
              <a:lnSpc>
                <a:spcPct val="120000"/>
              </a:lnSpc>
              <a:spcBef>
                <a:spcPts val="0"/>
              </a:spcBef>
              <a:buNone/>
            </a:pPr>
            <a:r>
              <a:rPr lang="zh-CN" altLang="zh-CN" sz="2200" dirty="0">
                <a:solidFill>
                  <a:srgbClr val="FF0000"/>
                </a:solidFill>
                <a:latin typeface="Times New Roman" panose="02020603050405020304" pitchFamily="18" charset="0"/>
                <a:ea typeface="黑体" panose="02010609060101010101" pitchFamily="49" charset="-122"/>
              </a:rPr>
              <a:t>基本思想：</a:t>
            </a:r>
            <a:endParaRPr lang="en-US" altLang="zh-CN" sz="2200" dirty="0">
              <a:solidFill>
                <a:srgbClr val="FF0000"/>
              </a:solidFill>
              <a:latin typeface="Times New Roman" panose="02020603050405020304" pitchFamily="18" charset="0"/>
              <a:ea typeface="黑体" panose="02010609060101010101" pitchFamily="49" charset="-122"/>
            </a:endParaRPr>
          </a:p>
          <a:p>
            <a:pPr marL="0" indent="0">
              <a:lnSpc>
                <a:spcPct val="120000"/>
              </a:lnSpc>
              <a:spcBef>
                <a:spcPts val="0"/>
              </a:spcBef>
              <a:buNone/>
            </a:pPr>
            <a:r>
              <a:rPr lang="zh-CN" altLang="zh-CN" sz="2200" dirty="0">
                <a:latin typeface="Times New Roman" panose="02020603050405020304" pitchFamily="18" charset="0"/>
                <a:ea typeface="黑体" panose="02010609060101010101" pitchFamily="49" charset="-122"/>
              </a:rPr>
              <a:t>如果在参数</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下</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最大，则</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应是“最可能”的参数值，</a:t>
            </a:r>
            <a:r>
              <a:rPr lang="zh-CN" altLang="en-US" sz="2200" dirty="0">
                <a:latin typeface="Times New Roman" panose="02020603050405020304" pitchFamily="18" charset="0"/>
                <a:ea typeface="黑体" panose="02010609060101010101" pitchFamily="49" charset="-122"/>
              </a:rPr>
              <a:t>其</a:t>
            </a:r>
            <a:r>
              <a:rPr lang="zh-CN" altLang="zh-CN" sz="2200" dirty="0">
                <a:latin typeface="Times New Roman" panose="02020603050405020304" pitchFamily="18" charset="0"/>
                <a:ea typeface="黑体" panose="02010609060101010101" pitchFamily="49" charset="-122"/>
              </a:rPr>
              <a:t>是样本集的函数，称作最大似然估计量</a:t>
            </a:r>
            <a:r>
              <a:rPr lang="zh-CN" altLang="en-US" sz="2200" dirty="0">
                <a:latin typeface="Times New Roman" panose="02020603050405020304" pitchFamily="18" charset="0"/>
                <a:ea typeface="黑体" panose="02010609060101010101" pitchFamily="49" charset="-122"/>
              </a:rPr>
              <a:t>，</a:t>
            </a:r>
            <a:r>
              <a:rPr lang="zh-CN" altLang="zh-CN" sz="2200" dirty="0">
                <a:latin typeface="Times New Roman" panose="02020603050405020304" pitchFamily="18" charset="0"/>
                <a:ea typeface="黑体" panose="02010609060101010101" pitchFamily="49" charset="-122"/>
              </a:rPr>
              <a:t>记</a:t>
            </a:r>
            <a:r>
              <a:rPr lang="zh-CN" altLang="en-US" sz="2200" dirty="0">
                <a:latin typeface="Times New Roman" panose="02020603050405020304" pitchFamily="18" charset="0"/>
                <a:ea typeface="黑体" panose="02010609060101010101" pitchFamily="49" charset="-122"/>
              </a:rPr>
              <a:t>为                                              。</a:t>
            </a:r>
            <a:endParaRPr lang="zh-CN" altLang="zh-CN" sz="2200" dirty="0">
              <a:latin typeface="Times New Roman" panose="02020603050405020304" pitchFamily="18" charset="0"/>
              <a:ea typeface="黑体" panose="02010609060101010101" pitchFamily="49" charset="-122"/>
            </a:endParaRPr>
          </a:p>
        </p:txBody>
      </p:sp>
      <p:graphicFrame>
        <p:nvGraphicFramePr>
          <p:cNvPr id="35" name="对象 34"/>
          <p:cNvGraphicFramePr>
            <a:graphicFrameLocks noChangeAspect="1"/>
          </p:cNvGraphicFramePr>
          <p:nvPr/>
        </p:nvGraphicFramePr>
        <p:xfrm>
          <a:off x="2094927" y="1268760"/>
          <a:ext cx="5985922" cy="792088"/>
        </p:xfrm>
        <a:graphic>
          <a:graphicData uri="http://schemas.openxmlformats.org/presentationml/2006/ole">
            <mc:AlternateContent xmlns:mc="http://schemas.openxmlformats.org/markup-compatibility/2006">
              <mc:Choice xmlns:v="urn:schemas-microsoft-com:vml" Requires="v">
                <p:oleObj spid="_x0000_s169690" name="Equation" r:id="rId2" imgW="3213100" imgH="431800" progId="Equation.DSMT4">
                  <p:embed/>
                </p:oleObj>
              </mc:Choice>
              <mc:Fallback>
                <p:oleObj name="Equation" r:id="rId2" imgW="3213100" imgH="431800" progId="Equation.DSMT4">
                  <p:embed/>
                  <p:pic>
                    <p:nvPicPr>
                      <p:cNvPr id="0" name="Picture 16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4927" y="1268760"/>
                        <a:ext cx="5985922" cy="792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p:cNvGraphicFramePr>
            <a:graphicFrameLocks noChangeAspect="1"/>
          </p:cNvGraphicFramePr>
          <p:nvPr/>
        </p:nvGraphicFramePr>
        <p:xfrm>
          <a:off x="5513982" y="2055906"/>
          <a:ext cx="256711" cy="364799"/>
        </p:xfrm>
        <a:graphic>
          <a:graphicData uri="http://schemas.openxmlformats.org/presentationml/2006/ole">
            <mc:AlternateContent xmlns:mc="http://schemas.openxmlformats.org/markup-compatibility/2006">
              <mc:Choice xmlns:v="urn:schemas-microsoft-com:vml" Requires="v">
                <p:oleObj spid="_x0000_s169691" name="Equation" r:id="rId4" imgW="127000" imgH="177165" progId="Equation.DSMT4">
                  <p:embed/>
                </p:oleObj>
              </mc:Choice>
              <mc:Fallback>
                <p:oleObj name="Equation" r:id="rId4" imgW="127000" imgH="177165" progId="Equation.DSMT4">
                  <p:embed/>
                  <p:pic>
                    <p:nvPicPr>
                      <p:cNvPr id="0" name="Picture 16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13982" y="2055906"/>
                        <a:ext cx="256711" cy="3647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对象 36"/>
          <p:cNvGraphicFramePr>
            <a:graphicFrameLocks noChangeAspect="1"/>
          </p:cNvGraphicFramePr>
          <p:nvPr/>
        </p:nvGraphicFramePr>
        <p:xfrm>
          <a:off x="7766552" y="2072205"/>
          <a:ext cx="314297" cy="321550"/>
        </p:xfrm>
        <a:graphic>
          <a:graphicData uri="http://schemas.openxmlformats.org/presentationml/2006/ole">
            <mc:AlternateContent xmlns:mc="http://schemas.openxmlformats.org/markup-compatibility/2006">
              <mc:Choice xmlns:v="urn:schemas-microsoft-com:vml" Requires="v">
                <p:oleObj spid="_x0000_s169692" name="Equation" r:id="rId6" imgW="177800" imgH="165100" progId="Equation.DSMT4">
                  <p:embed/>
                </p:oleObj>
              </mc:Choice>
              <mc:Fallback>
                <p:oleObj name="Equation" r:id="rId6" imgW="177800" imgH="165100" progId="Equation.DSMT4">
                  <p:embed/>
                  <p:pic>
                    <p:nvPicPr>
                      <p:cNvPr id="0" name="Picture 16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66552" y="2072205"/>
                        <a:ext cx="314297" cy="32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对象 37"/>
          <p:cNvGraphicFramePr>
            <a:graphicFrameLocks noChangeAspect="1"/>
          </p:cNvGraphicFramePr>
          <p:nvPr/>
        </p:nvGraphicFramePr>
        <p:xfrm>
          <a:off x="1847529" y="2769242"/>
          <a:ext cx="720080" cy="409700"/>
        </p:xfrm>
        <a:graphic>
          <a:graphicData uri="http://schemas.openxmlformats.org/presentationml/2006/ole">
            <mc:AlternateContent xmlns:mc="http://schemas.openxmlformats.org/markup-compatibility/2006">
              <mc:Choice xmlns:v="urn:schemas-microsoft-com:vml" Requires="v">
                <p:oleObj spid="_x0000_s169693" name="Equation" r:id="rId8" imgW="381000" imgH="215900" progId="Equation.DSMT4">
                  <p:embed/>
                </p:oleObj>
              </mc:Choice>
              <mc:Fallback>
                <p:oleObj name="Equation" r:id="rId8" imgW="381000" imgH="215900" progId="Equation.DSMT4">
                  <p:embed/>
                  <p:pic>
                    <p:nvPicPr>
                      <p:cNvPr id="0" name="Picture 166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47529" y="2769242"/>
                        <a:ext cx="720080" cy="40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对象 38"/>
          <p:cNvGraphicFramePr>
            <a:graphicFrameLocks noChangeAspect="1"/>
          </p:cNvGraphicFramePr>
          <p:nvPr/>
        </p:nvGraphicFramePr>
        <p:xfrm>
          <a:off x="3017246" y="2823469"/>
          <a:ext cx="570736" cy="404271"/>
        </p:xfrm>
        <a:graphic>
          <a:graphicData uri="http://schemas.openxmlformats.org/presentationml/2006/ole">
            <mc:AlternateContent xmlns:mc="http://schemas.openxmlformats.org/markup-compatibility/2006">
              <mc:Choice xmlns:v="urn:schemas-microsoft-com:vml" Requires="v">
                <p:oleObj spid="_x0000_s169694" name="Equation" r:id="rId10" imgW="292100" imgH="203200" progId="Equation.DSMT4">
                  <p:embed/>
                </p:oleObj>
              </mc:Choice>
              <mc:Fallback>
                <p:oleObj name="Equation" r:id="rId10" imgW="292100" imgH="203200" progId="Equation.DSMT4">
                  <p:embed/>
                  <p:pic>
                    <p:nvPicPr>
                      <p:cNvPr id="0" name="Picture 166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17246" y="2823469"/>
                        <a:ext cx="570736" cy="4042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对象 39"/>
          <p:cNvGraphicFramePr>
            <a:graphicFrameLocks noChangeAspect="1"/>
          </p:cNvGraphicFramePr>
          <p:nvPr/>
        </p:nvGraphicFramePr>
        <p:xfrm>
          <a:off x="4837366" y="2758068"/>
          <a:ext cx="407640" cy="432048"/>
        </p:xfrm>
        <a:graphic>
          <a:graphicData uri="http://schemas.openxmlformats.org/presentationml/2006/ole">
            <mc:AlternateContent xmlns:mc="http://schemas.openxmlformats.org/markup-compatibility/2006">
              <mc:Choice xmlns:v="urn:schemas-microsoft-com:vml" Requires="v">
                <p:oleObj spid="_x0000_s169695" name="Equation" r:id="rId12" imgW="127000" imgH="215265" progId="Equation.DSMT4">
                  <p:embed/>
                </p:oleObj>
              </mc:Choice>
              <mc:Fallback>
                <p:oleObj name="Equation" r:id="rId12" imgW="127000" imgH="215265" progId="Equation.DSMT4">
                  <p:embed/>
                  <p:pic>
                    <p:nvPicPr>
                      <p:cNvPr id="0" name="Picture 166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37366" y="2758068"/>
                        <a:ext cx="407640"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对象 40"/>
          <p:cNvGraphicFramePr>
            <a:graphicFrameLocks noChangeAspect="1"/>
          </p:cNvGraphicFramePr>
          <p:nvPr/>
        </p:nvGraphicFramePr>
        <p:xfrm>
          <a:off x="3300752" y="3175258"/>
          <a:ext cx="3073228" cy="512205"/>
        </p:xfrm>
        <a:graphic>
          <a:graphicData uri="http://schemas.openxmlformats.org/presentationml/2006/ole">
            <mc:AlternateContent xmlns:mc="http://schemas.openxmlformats.org/markup-compatibility/2006">
              <mc:Choice xmlns:v="urn:schemas-microsoft-com:vml" Requires="v">
                <p:oleObj spid="_x0000_s169696" name="Equation" r:id="rId14" imgW="1752600" imgH="254000" progId="Equation.DSMT4">
                  <p:embed/>
                </p:oleObj>
              </mc:Choice>
              <mc:Fallback>
                <p:oleObj name="Equation" r:id="rId14" imgW="1752600" imgH="254000" progId="Equation.DSMT4">
                  <p:embed/>
                  <p:pic>
                    <p:nvPicPr>
                      <p:cNvPr id="0" name="Picture 166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00752" y="3175258"/>
                        <a:ext cx="3073228" cy="512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内容占位符 2"/>
          <p:cNvSpPr txBox="1"/>
          <p:nvPr/>
        </p:nvSpPr>
        <p:spPr bwMode="gray">
          <a:xfrm>
            <a:off x="314954" y="3705774"/>
            <a:ext cx="11624515" cy="2053494"/>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20000"/>
              </a:lnSpc>
              <a:spcBef>
                <a:spcPts val="0"/>
              </a:spcBef>
              <a:buFont typeface="Wingdings" panose="05000000000000000000" pitchFamily="2" charset="2"/>
              <a:buNone/>
            </a:pPr>
            <a:r>
              <a:rPr lang="zh-CN" altLang="zh-CN" sz="2200" kern="0" dirty="0">
                <a:latin typeface="Times New Roman" panose="02020603050405020304" pitchFamily="18" charset="0"/>
                <a:ea typeface="黑体" panose="02010609060101010101" pitchFamily="49" charset="-122"/>
              </a:rPr>
              <a:t>求解：</a:t>
            </a:r>
            <a:endParaRPr lang="zh-CN" altLang="zh-CN" sz="2200" kern="0" dirty="0">
              <a:latin typeface="Times New Roman" panose="02020603050405020304" pitchFamily="18" charset="0"/>
              <a:ea typeface="黑体" panose="02010609060101010101" pitchFamily="49" charset="-122"/>
            </a:endParaRPr>
          </a:p>
          <a:p>
            <a:pPr>
              <a:lnSpc>
                <a:spcPct val="120000"/>
              </a:lnSpc>
              <a:spcBef>
                <a:spcPts val="0"/>
              </a:spcBef>
              <a:buClrTx/>
              <a:buFont typeface="Arial" panose="020B0604020202020204" pitchFamily="34" charset="0"/>
              <a:buChar char="•"/>
            </a:pPr>
            <a:r>
              <a:rPr lang="zh-CN" altLang="zh-CN" sz="2200" kern="0" dirty="0">
                <a:latin typeface="Times New Roman" panose="02020603050405020304" pitchFamily="18" charset="0"/>
                <a:ea typeface="黑体" panose="02010609060101010101" pitchFamily="49" charset="-122"/>
              </a:rPr>
              <a:t>若似然函数满足连续、可微的条件，则最大似然估计量就是方程</a:t>
            </a: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或</a:t>
            </a: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的解（必要条件）。</a:t>
            </a:r>
            <a:endParaRPr lang="en-US" altLang="zh-CN" sz="2200" kern="0" dirty="0">
              <a:latin typeface="Times New Roman" panose="02020603050405020304" pitchFamily="18" charset="0"/>
              <a:ea typeface="黑体" panose="02010609060101010101" pitchFamily="49" charset="-122"/>
            </a:endParaRPr>
          </a:p>
          <a:p>
            <a:pPr>
              <a:lnSpc>
                <a:spcPct val="120000"/>
              </a:lnSpc>
              <a:spcBef>
                <a:spcPts val="0"/>
              </a:spcBef>
              <a:buClrTx/>
              <a:buFont typeface="Arial" panose="020B0604020202020204" pitchFamily="34" charset="0"/>
              <a:buChar char="•"/>
            </a:pPr>
            <a:r>
              <a:rPr lang="zh-CN" altLang="zh-CN" sz="2200" kern="0" dirty="0">
                <a:latin typeface="Times New Roman" panose="02020603050405020304" pitchFamily="18" charset="0"/>
                <a:ea typeface="黑体" panose="02010609060101010101" pitchFamily="49" charset="-122"/>
              </a:rPr>
              <a:t>若未知参数不止一个，即</a:t>
            </a:r>
            <a:r>
              <a:rPr lang="en-US" altLang="zh-CN" sz="2200" kern="0" dirty="0">
                <a:latin typeface="Times New Roman" panose="02020603050405020304" pitchFamily="18" charset="0"/>
                <a:ea typeface="黑体" panose="02010609060101010101" pitchFamily="49" charset="-122"/>
              </a:rPr>
              <a:t>                             </a:t>
            </a:r>
            <a:r>
              <a:rPr lang="zh-CN" altLang="zh-CN" sz="2200" kern="0" dirty="0">
                <a:latin typeface="Times New Roman" panose="02020603050405020304" pitchFamily="18" charset="0"/>
                <a:ea typeface="黑体" panose="02010609060101010101" pitchFamily="49" charset="-122"/>
              </a:rPr>
              <a:t>，记梯度算子</a:t>
            </a:r>
            <a:r>
              <a:rPr lang="en-US" altLang="zh-CN" sz="2200" kern="0" dirty="0">
                <a:latin typeface="Times New Roman" panose="02020603050405020304" pitchFamily="18" charset="0"/>
                <a:ea typeface="黑体" panose="02010609060101010101" pitchFamily="49" charset="-122"/>
              </a:rPr>
              <a:t>                                          </a:t>
            </a:r>
            <a:r>
              <a:rPr lang="zh-CN" altLang="en-US" sz="2200" kern="0" dirty="0">
                <a:latin typeface="Times New Roman" panose="02020603050405020304" pitchFamily="18" charset="0"/>
                <a:ea typeface="黑体" panose="02010609060101010101" pitchFamily="49" charset="-122"/>
              </a:rPr>
              <a:t>，</a:t>
            </a:r>
            <a:r>
              <a:rPr lang="zh-CN" altLang="zh-CN" sz="2200" kern="0" dirty="0">
                <a:latin typeface="Times New Roman" panose="02020603050405020304" pitchFamily="18" charset="0"/>
                <a:ea typeface="黑体" panose="02010609060101010101" pitchFamily="49" charset="-122"/>
              </a:rPr>
              <a:t>则最大似然估计量的必要条件由</a:t>
            </a:r>
            <a:r>
              <a:rPr lang="en-US" altLang="zh-CN" sz="2200" kern="0" dirty="0">
                <a:latin typeface="Times New Roman" panose="02020603050405020304" pitchFamily="18" charset="0"/>
                <a:ea typeface="黑体" panose="02010609060101010101" pitchFamily="49" charset="-122"/>
              </a:rPr>
              <a:t>S</a:t>
            </a:r>
            <a:r>
              <a:rPr lang="zh-CN" altLang="zh-CN" sz="2200" kern="0" dirty="0">
                <a:latin typeface="Times New Roman" panose="02020603050405020304" pitchFamily="18" charset="0"/>
                <a:ea typeface="黑体" panose="02010609060101010101" pitchFamily="49" charset="-122"/>
              </a:rPr>
              <a:t>个方程组成：</a:t>
            </a:r>
            <a:endParaRPr lang="zh-CN" altLang="zh-CN" sz="2200" kern="0" dirty="0">
              <a:latin typeface="Times New Roman" panose="02020603050405020304" pitchFamily="18" charset="0"/>
              <a:ea typeface="黑体" panose="02010609060101010101" pitchFamily="49" charset="-122"/>
            </a:endParaRPr>
          </a:p>
        </p:txBody>
      </p:sp>
      <p:graphicFrame>
        <p:nvGraphicFramePr>
          <p:cNvPr id="21" name="对象 20"/>
          <p:cNvGraphicFramePr>
            <a:graphicFrameLocks noChangeAspect="1"/>
          </p:cNvGraphicFramePr>
          <p:nvPr/>
        </p:nvGraphicFramePr>
        <p:xfrm>
          <a:off x="8595875" y="4198716"/>
          <a:ext cx="1584175" cy="366526"/>
        </p:xfrm>
        <a:graphic>
          <a:graphicData uri="http://schemas.openxmlformats.org/presentationml/2006/ole">
            <mc:AlternateContent xmlns:mc="http://schemas.openxmlformats.org/markup-compatibility/2006">
              <mc:Choice xmlns:v="urn:schemas-microsoft-com:vml" Requires="v">
                <p:oleObj spid="_x0000_s169697" name="Equation" r:id="rId16" imgW="876300" imgH="203200" progId="Equation.DSMT4">
                  <p:embed/>
                </p:oleObj>
              </mc:Choice>
              <mc:Fallback>
                <p:oleObj name="Equation" r:id="rId16" imgW="876300" imgH="203200" progId="Equation.DSMT4">
                  <p:embed/>
                  <p:pic>
                    <p:nvPicPr>
                      <p:cNvPr id="0" name="Picture 166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595875" y="4198716"/>
                        <a:ext cx="1584175" cy="3665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nvGraphicFramePr>
        <p:xfrm>
          <a:off x="3919550" y="4968886"/>
          <a:ext cx="1916805" cy="421480"/>
        </p:xfrm>
        <a:graphic>
          <a:graphicData uri="http://schemas.openxmlformats.org/presentationml/2006/ole">
            <mc:AlternateContent xmlns:mc="http://schemas.openxmlformats.org/markup-compatibility/2006">
              <mc:Choice xmlns:v="urn:schemas-microsoft-com:vml" Requires="v">
                <p:oleObj spid="_x0000_s169698" name="Equation" r:id="rId18" imgW="1117600" imgH="241300" progId="Equation.DSMT4">
                  <p:embed/>
                </p:oleObj>
              </mc:Choice>
              <mc:Fallback>
                <p:oleObj name="Equation" r:id="rId18" imgW="1117600" imgH="241300" progId="Equation.DSMT4">
                  <p:embed/>
                  <p:pic>
                    <p:nvPicPr>
                      <p:cNvPr id="0" name="Picture 166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19550" y="4968886"/>
                        <a:ext cx="1916805" cy="42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nvGraphicFramePr>
        <p:xfrm>
          <a:off x="7612612" y="4729344"/>
          <a:ext cx="2854025" cy="842961"/>
        </p:xfrm>
        <a:graphic>
          <a:graphicData uri="http://schemas.openxmlformats.org/presentationml/2006/ole">
            <mc:AlternateContent xmlns:mc="http://schemas.openxmlformats.org/markup-compatibility/2006">
              <mc:Choice xmlns:v="urn:schemas-microsoft-com:vml" Requires="v">
                <p:oleObj spid="_x0000_s169699" name="Equation" r:id="rId20" imgW="1701800" imgH="508000" progId="Equation.DSMT4">
                  <p:embed/>
                </p:oleObj>
              </mc:Choice>
              <mc:Fallback>
                <p:oleObj name="Equation" r:id="rId20" imgW="1701800" imgH="508000" progId="Equation.DSMT4">
                  <p:embed/>
                  <p:pic>
                    <p:nvPicPr>
                      <p:cNvPr id="0" name="Picture 166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612612" y="4729344"/>
                        <a:ext cx="2854025" cy="8429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nvGraphicFramePr>
        <p:xfrm>
          <a:off x="4510756" y="5755874"/>
          <a:ext cx="3098800" cy="422275"/>
        </p:xfrm>
        <a:graphic>
          <a:graphicData uri="http://schemas.openxmlformats.org/presentationml/2006/ole">
            <mc:AlternateContent xmlns:mc="http://schemas.openxmlformats.org/markup-compatibility/2006">
              <mc:Choice xmlns:v="urn:schemas-microsoft-com:vml" Requires="v">
                <p:oleObj spid="_x0000_s169700" name="Equation" r:id="rId22" imgW="1701800" imgH="228600" progId="Equation.DSMT4">
                  <p:embed/>
                </p:oleObj>
              </mc:Choice>
              <mc:Fallback>
                <p:oleObj name="Equation" r:id="rId22" imgW="1701800" imgH="228600" progId="Equation.DSMT4">
                  <p:embed/>
                  <p:pic>
                    <p:nvPicPr>
                      <p:cNvPr id="0" name="Picture 166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510756" y="5755874"/>
                        <a:ext cx="3098800"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127"/>
          <p:cNvGraphicFramePr>
            <a:graphicFrameLocks noChangeAspect="1"/>
          </p:cNvGraphicFramePr>
          <p:nvPr/>
        </p:nvGraphicFramePr>
        <p:xfrm>
          <a:off x="10466798" y="4209873"/>
          <a:ext cx="1677874" cy="361061"/>
        </p:xfrm>
        <a:graphic>
          <a:graphicData uri="http://schemas.openxmlformats.org/presentationml/2006/ole">
            <mc:AlternateContent xmlns:mc="http://schemas.openxmlformats.org/markup-compatibility/2006">
              <mc:Choice xmlns:v="urn:schemas-microsoft-com:vml" Requires="v">
                <p:oleObj spid="_x0000_s169701" name="Equation" r:id="rId24" imgW="951865" imgH="203200" progId="Equation.DSMT4">
                  <p:embed/>
                </p:oleObj>
              </mc:Choice>
              <mc:Fallback>
                <p:oleObj name="Equation" r:id="rId24" imgW="951865" imgH="203200" progId="Equation.DSMT4">
                  <p:embed/>
                  <p:pic>
                    <p:nvPicPr>
                      <p:cNvPr id="0" name="Picture 166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0466798" y="4209873"/>
                        <a:ext cx="1677874" cy="3610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943872" y="1268760"/>
            <a:ext cx="1800200" cy="1466810"/>
          </a:xfrm>
          <a:prstGeom prst="rect">
            <a:avLst/>
          </a:prstGeom>
          <a:solidFill>
            <a:schemeClr val="accent6">
              <a:lumMod val="20000"/>
              <a:lumOff val="80000"/>
            </a:schemeClr>
          </a:solidFill>
        </p:spPr>
        <p:txBody>
          <a:bodyPr wrap="none" rtlCol="0" anchor="ctr">
            <a:spAutoFit/>
          </a:bodyPr>
          <a:lstStyle/>
          <a:p>
            <a:pPr algn="ctr"/>
            <a:endParaRPr lang="zh-CN" altLang="en-US" sz="2400" kern="100" dirty="0">
              <a:ea typeface="宋体" panose="02010600030101010101" pitchFamily="2" charset="-122"/>
              <a:cs typeface="Times New Roman" panose="02020603050405020304"/>
            </a:endParaRPr>
          </a:p>
        </p:txBody>
      </p:sp>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14.2 </a:t>
            </a:r>
            <a:r>
              <a:rPr lang="zh-CN" altLang="zh-CN" dirty="0"/>
              <a:t>最大似然估计的求解</a:t>
            </a:r>
            <a:endParaRPr lang="zh-CN" altLang="zh-CN" dirty="0"/>
          </a:p>
        </p:txBody>
      </p:sp>
      <p:pic>
        <p:nvPicPr>
          <p:cNvPr id="27" name="Picture 4"/>
          <p:cNvPicPr>
            <a:picLocks noChangeAspect="1" noChangeArrowheads="1"/>
          </p:cNvPicPr>
          <p:nvPr/>
        </p:nvPicPr>
        <p:blipFill>
          <a:blip r:embed="rId2" cstate="print"/>
          <a:srcRect l="15306" r="14285" b="35556"/>
          <a:stretch>
            <a:fillRect/>
          </a:stretch>
        </p:blipFill>
        <p:spPr bwMode="auto">
          <a:xfrm>
            <a:off x="48295" y="1325893"/>
            <a:ext cx="5094001" cy="4282208"/>
          </a:xfrm>
          <a:prstGeom prst="rect">
            <a:avLst/>
          </a:prstGeom>
          <a:noFill/>
          <a:ln w="12700">
            <a:noFill/>
            <a:miter lim="800000"/>
            <a:headEnd/>
            <a:tailEnd/>
          </a:ln>
        </p:spPr>
      </p:pic>
      <p:sp>
        <p:nvSpPr>
          <p:cNvPr id="28" name="Rectangle 4"/>
          <p:cNvSpPr>
            <a:spLocks noGrp="1" noChangeArrowheads="1"/>
          </p:cNvSpPr>
          <p:nvPr>
            <p:ph type="title"/>
          </p:nvPr>
        </p:nvSpPr>
        <p:spPr>
          <a:xfrm>
            <a:off x="1631504" y="5833950"/>
            <a:ext cx="2652758" cy="188370"/>
          </a:xfrm>
          <a:solidFill>
            <a:schemeClr val="bg1"/>
          </a:solidFill>
        </p:spPr>
        <p:txBody>
          <a:bodyPr/>
          <a:lstStyle/>
          <a:p>
            <a:pPr algn="ctr"/>
            <a:r>
              <a:rPr lang="zh-CN" altLang="en-US" sz="1800" b="0" dirty="0"/>
              <a:t>最大似然估计示意图</a:t>
            </a:r>
            <a:endParaRPr lang="zh-CN" altLang="en-US" sz="1800" b="0" dirty="0"/>
          </a:p>
        </p:txBody>
      </p:sp>
      <p:graphicFrame>
        <p:nvGraphicFramePr>
          <p:cNvPr id="29" name="Object 5"/>
          <p:cNvGraphicFramePr>
            <a:graphicFrameLocks noChangeAspect="1"/>
          </p:cNvGraphicFramePr>
          <p:nvPr/>
        </p:nvGraphicFramePr>
        <p:xfrm>
          <a:off x="5597452" y="1348564"/>
          <a:ext cx="637057" cy="331953"/>
        </p:xfrm>
        <a:graphic>
          <a:graphicData uri="http://schemas.openxmlformats.org/presentationml/2006/ole">
            <mc:AlternateContent xmlns:mc="http://schemas.openxmlformats.org/markup-compatibility/2006">
              <mc:Choice xmlns:v="urn:schemas-microsoft-com:vml" Requires="v">
                <p:oleObj spid="_x0000_s127570" name="Equation" r:id="rId3" imgW="393700" imgH="203200" progId="Equation.DSMT4">
                  <p:embed/>
                </p:oleObj>
              </mc:Choice>
              <mc:Fallback>
                <p:oleObj name="Equation" r:id="rId3" imgW="393700" imgH="203200" progId="Equation.DSMT4">
                  <p:embed/>
                  <p:pic>
                    <p:nvPicPr>
                      <p:cNvPr id="0" name="Picture 5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7452" y="1348564"/>
                        <a:ext cx="637057" cy="3319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矩形 29"/>
          <p:cNvSpPr/>
          <p:nvPr/>
        </p:nvSpPr>
        <p:spPr>
          <a:xfrm>
            <a:off x="5015881" y="1680517"/>
            <a:ext cx="1800200" cy="1000274"/>
          </a:xfrm>
          <a:prstGeom prst="rect">
            <a:avLst/>
          </a:prstGeom>
        </p:spPr>
        <p:txBody>
          <a:bodyPr wrap="square">
            <a:spAutoFit/>
          </a:bodyPr>
          <a:lstStyle/>
          <a:p>
            <a:r>
              <a:rPr lang="zh-CN" altLang="en-US" dirty="0"/>
              <a:t>横坐标为均值时</a:t>
            </a:r>
            <a:endParaRPr lang="en-US" altLang="zh-CN" dirty="0"/>
          </a:p>
          <a:p>
            <a:r>
              <a:rPr lang="zh-CN" altLang="en-US" dirty="0"/>
              <a:t>虚线为每个可能</a:t>
            </a:r>
            <a:endParaRPr lang="en-US" altLang="zh-CN" dirty="0"/>
          </a:p>
          <a:p>
            <a:pPr>
              <a:spcBef>
                <a:spcPts val="600"/>
              </a:spcBef>
            </a:pPr>
            <a:r>
              <a:rPr lang="zh-CN" altLang="en-US" dirty="0"/>
              <a:t>的</a:t>
            </a:r>
            <a:endParaRPr lang="zh-CN" altLang="en-US" dirty="0"/>
          </a:p>
        </p:txBody>
      </p:sp>
      <p:graphicFrame>
        <p:nvGraphicFramePr>
          <p:cNvPr id="31" name="Object 6"/>
          <p:cNvGraphicFramePr>
            <a:graphicFrameLocks noChangeAspect="1"/>
          </p:cNvGraphicFramePr>
          <p:nvPr/>
        </p:nvGraphicFramePr>
        <p:xfrm>
          <a:off x="5318249" y="2264866"/>
          <a:ext cx="993775" cy="415925"/>
        </p:xfrm>
        <a:graphic>
          <a:graphicData uri="http://schemas.openxmlformats.org/presentationml/2006/ole">
            <mc:AlternateContent xmlns:mc="http://schemas.openxmlformats.org/markup-compatibility/2006">
              <mc:Choice xmlns:v="urn:schemas-microsoft-com:vml" Requires="v">
                <p:oleObj spid="_x0000_s127571" name="Equation" r:id="rId5" imgW="533400" imgH="228600" progId="Equation.DSMT4">
                  <p:embed/>
                </p:oleObj>
              </mc:Choice>
              <mc:Fallback>
                <p:oleObj name="Equation" r:id="rId5" imgW="533400" imgH="228600" progId="Equation.DSMT4">
                  <p:embed/>
                  <p:pic>
                    <p:nvPicPr>
                      <p:cNvPr id="0" name="Picture 5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18249" y="2264866"/>
                        <a:ext cx="993775" cy="415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内容占位符 2"/>
          <p:cNvSpPr>
            <a:spLocks noGrp="1"/>
          </p:cNvSpPr>
          <p:nvPr>
            <p:ph idx="1"/>
          </p:nvPr>
        </p:nvSpPr>
        <p:spPr>
          <a:xfrm>
            <a:off x="6992034" y="1756802"/>
            <a:ext cx="4783088" cy="4375201"/>
          </a:xfrm>
        </p:spPr>
        <p:txBody>
          <a:bodyPr/>
          <a:lstStyle/>
          <a:p>
            <a:pPr marL="0" indent="0">
              <a:lnSpc>
                <a:spcPct val="135000"/>
              </a:lnSpc>
              <a:spcBef>
                <a:spcPts val="600"/>
              </a:spcBef>
              <a:buNone/>
            </a:pPr>
            <a:r>
              <a:rPr lang="zh-CN" altLang="zh-CN" sz="2200" dirty="0">
                <a:solidFill>
                  <a:srgbClr val="FF0000"/>
                </a:solidFill>
                <a:latin typeface="黑体" panose="02010609060101010101" pitchFamily="49" charset="-122"/>
                <a:ea typeface="黑体" panose="02010609060101010101" pitchFamily="49" charset="-122"/>
              </a:rPr>
              <a:t>讨论：</a:t>
            </a:r>
            <a:endParaRPr lang="zh-CN" altLang="zh-CN" sz="2200" dirty="0">
              <a:solidFill>
                <a:srgbClr val="FF0000"/>
              </a:solidFill>
              <a:latin typeface="黑体" panose="02010609060101010101" pitchFamily="49" charset="-122"/>
              <a:ea typeface="黑体" panose="02010609060101010101" pitchFamily="49" charset="-122"/>
            </a:endParaRPr>
          </a:p>
          <a:p>
            <a:pPr lvl="0" algn="just">
              <a:lnSpc>
                <a:spcPct val="135000"/>
              </a:lnSpc>
              <a:spcBef>
                <a:spcPts val="600"/>
              </a:spcBef>
              <a:buClrTx/>
              <a:buFont typeface="Arial" panose="020B0604020202020204" pitchFamily="34" charset="0"/>
              <a:buChar char="•"/>
            </a:pPr>
            <a:r>
              <a:rPr lang="zh-CN" altLang="zh-CN" sz="2200" dirty="0">
                <a:latin typeface="黑体" panose="02010609060101010101" pitchFamily="49" charset="-122"/>
                <a:ea typeface="黑体" panose="02010609060101010101" pitchFamily="49" charset="-122"/>
              </a:rPr>
              <a:t>如果</a:t>
            </a:r>
            <a:r>
              <a:rPr lang="en-US" altLang="zh-CN" sz="2200" dirty="0">
                <a:latin typeface="黑体" panose="02010609060101010101" pitchFamily="49" charset="-122"/>
                <a:ea typeface="黑体" panose="02010609060101010101" pitchFamily="49" charset="-122"/>
              </a:rPr>
              <a:t>      </a:t>
            </a:r>
            <a:r>
              <a:rPr lang="zh-CN" altLang="zh-CN" sz="2200" dirty="0">
                <a:latin typeface="黑体" panose="02010609060101010101" pitchFamily="49" charset="-122"/>
                <a:ea typeface="黑体" panose="02010609060101010101" pitchFamily="49" charset="-122"/>
              </a:rPr>
              <a:t>或</a:t>
            </a:r>
            <a:r>
              <a:rPr lang="en-US" altLang="zh-CN" sz="2200" dirty="0">
                <a:latin typeface="黑体" panose="02010609060101010101" pitchFamily="49" charset="-122"/>
                <a:ea typeface="黑体" panose="02010609060101010101" pitchFamily="49" charset="-122"/>
              </a:rPr>
              <a:t>      </a:t>
            </a:r>
            <a:r>
              <a:rPr lang="zh-CN" altLang="zh-CN" sz="2200" dirty="0">
                <a:latin typeface="黑体" panose="02010609060101010101" pitchFamily="49" charset="-122"/>
                <a:ea typeface="黑体" panose="02010609060101010101" pitchFamily="49" charset="-122"/>
              </a:rPr>
              <a:t>连续、可微，存在最大值，且上述必要条件方程组有唯一解，则其解就是最大似然估计量。（比如多元正态分布）。</a:t>
            </a:r>
            <a:endParaRPr lang="zh-CN" altLang="zh-CN" sz="2200" dirty="0">
              <a:latin typeface="黑体" panose="02010609060101010101" pitchFamily="49" charset="-122"/>
              <a:ea typeface="黑体" panose="02010609060101010101" pitchFamily="49" charset="-122"/>
            </a:endParaRPr>
          </a:p>
          <a:p>
            <a:pPr lvl="0" algn="just">
              <a:lnSpc>
                <a:spcPct val="135000"/>
              </a:lnSpc>
              <a:spcBef>
                <a:spcPts val="600"/>
              </a:spcBef>
              <a:buClrTx/>
              <a:buFont typeface="Arial" panose="020B0604020202020204" pitchFamily="34" charset="0"/>
              <a:buChar char="•"/>
            </a:pPr>
            <a:r>
              <a:rPr lang="zh-CN" altLang="zh-CN" sz="2200" dirty="0">
                <a:latin typeface="黑体" panose="02010609060101010101" pitchFamily="49" charset="-122"/>
                <a:ea typeface="黑体" panose="02010609060101010101" pitchFamily="49" charset="-122"/>
              </a:rPr>
              <a:t>如果必要条件有多解，则需从中求似然函数最大者</a:t>
            </a:r>
            <a:r>
              <a:rPr lang="zh-CN" altLang="en-US" sz="2200" dirty="0">
                <a:latin typeface="黑体" panose="02010609060101010101" pitchFamily="49" charset="-122"/>
                <a:ea typeface="黑体" panose="02010609060101010101" pitchFamily="49" charset="-122"/>
              </a:rPr>
              <a:t>。</a:t>
            </a:r>
            <a:endParaRPr lang="zh-CN" altLang="zh-CN" sz="2200" dirty="0">
              <a:latin typeface="黑体" panose="02010609060101010101" pitchFamily="49" charset="-122"/>
              <a:ea typeface="黑体" panose="02010609060101010101" pitchFamily="49" charset="-122"/>
            </a:endParaRPr>
          </a:p>
          <a:p>
            <a:pPr lvl="0" algn="just">
              <a:lnSpc>
                <a:spcPct val="135000"/>
              </a:lnSpc>
              <a:spcBef>
                <a:spcPts val="600"/>
              </a:spcBef>
              <a:buClrTx/>
              <a:buFont typeface="Arial" panose="020B0604020202020204" pitchFamily="34" charset="0"/>
              <a:buChar char="•"/>
            </a:pPr>
            <a:r>
              <a:rPr lang="zh-CN" altLang="zh-CN" sz="2200" dirty="0">
                <a:latin typeface="黑体" panose="02010609060101010101" pitchFamily="49" charset="-122"/>
                <a:ea typeface="黑体" panose="02010609060101010101" pitchFamily="49" charset="-122"/>
              </a:rPr>
              <a:t>若不满足条件，则无一般性方法，用其它方法求最大</a:t>
            </a:r>
            <a:r>
              <a:rPr lang="zh-CN" altLang="en-US" sz="2200" dirty="0">
                <a:latin typeface="黑体" panose="02010609060101010101" pitchFamily="49" charset="-122"/>
                <a:ea typeface="黑体" panose="02010609060101010101" pitchFamily="49" charset="-122"/>
              </a:rPr>
              <a:t>。</a:t>
            </a:r>
            <a:endParaRPr lang="zh-CN" altLang="zh-CN" sz="2200" dirty="0">
              <a:latin typeface="黑体" panose="02010609060101010101" pitchFamily="49" charset="-122"/>
              <a:ea typeface="黑体" panose="02010609060101010101" pitchFamily="49" charset="-122"/>
            </a:endParaRPr>
          </a:p>
          <a:p>
            <a:pPr marL="0" indent="0">
              <a:lnSpc>
                <a:spcPct val="135000"/>
              </a:lnSpc>
              <a:spcBef>
                <a:spcPts val="600"/>
              </a:spcBef>
              <a:buNone/>
            </a:pPr>
            <a:endParaRPr lang="zh-CN" altLang="en-US" sz="2200" dirty="0">
              <a:latin typeface="黑体" panose="02010609060101010101" pitchFamily="49" charset="-122"/>
              <a:ea typeface="黑体" panose="02010609060101010101" pitchFamily="49" charset="-122"/>
            </a:endParaRPr>
          </a:p>
        </p:txBody>
      </p:sp>
      <p:graphicFrame>
        <p:nvGraphicFramePr>
          <p:cNvPr id="33" name="对象 32"/>
          <p:cNvGraphicFramePr>
            <a:graphicFrameLocks noChangeAspect="1"/>
          </p:cNvGraphicFramePr>
          <p:nvPr/>
        </p:nvGraphicFramePr>
        <p:xfrm>
          <a:off x="8119192" y="2389185"/>
          <a:ext cx="565370" cy="381010"/>
        </p:xfrm>
        <a:graphic>
          <a:graphicData uri="http://schemas.openxmlformats.org/presentationml/2006/ole">
            <mc:AlternateContent xmlns:mc="http://schemas.openxmlformats.org/markup-compatibility/2006">
              <mc:Choice xmlns:v="urn:schemas-microsoft-com:vml" Requires="v">
                <p:oleObj spid="_x0000_s127572" name="Equation" r:id="rId7" imgW="292100" imgH="203200" progId="Equation.DSMT4">
                  <p:embed/>
                </p:oleObj>
              </mc:Choice>
              <mc:Fallback>
                <p:oleObj name="Equation" r:id="rId7" imgW="292100" imgH="203200" progId="Equation.DSMT4">
                  <p:embed/>
                  <p:pic>
                    <p:nvPicPr>
                      <p:cNvPr id="0" name="Picture 5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19192" y="2389185"/>
                        <a:ext cx="565370" cy="3810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对象 33"/>
          <p:cNvGraphicFramePr>
            <a:graphicFrameLocks noChangeAspect="1"/>
          </p:cNvGraphicFramePr>
          <p:nvPr/>
        </p:nvGraphicFramePr>
        <p:xfrm>
          <a:off x="9120336" y="2394723"/>
          <a:ext cx="698518" cy="376125"/>
        </p:xfrm>
        <a:graphic>
          <a:graphicData uri="http://schemas.openxmlformats.org/presentationml/2006/ole">
            <mc:AlternateContent xmlns:mc="http://schemas.openxmlformats.org/markup-compatibility/2006">
              <mc:Choice xmlns:v="urn:schemas-microsoft-com:vml" Requires="v">
                <p:oleObj spid="_x0000_s127573" name="Equation" r:id="rId9" imgW="381000" imgH="203200" progId="Equation.DSMT4">
                  <p:embed/>
                </p:oleObj>
              </mc:Choice>
              <mc:Fallback>
                <p:oleObj name="Equation" r:id="rId9" imgW="381000" imgH="203200" progId="Equation.DSMT4">
                  <p:embed/>
                  <p:pic>
                    <p:nvPicPr>
                      <p:cNvPr id="0" name="Picture 5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20336" y="2394723"/>
                        <a:ext cx="698518" cy="37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7" name="直接连接符 6"/>
          <p:cNvCxnSpPr/>
          <p:nvPr/>
        </p:nvCxnSpPr>
        <p:spPr>
          <a:xfrm>
            <a:off x="6948602" y="2389185"/>
            <a:ext cx="83502" cy="3633135"/>
          </a:xfrm>
          <a:prstGeom prst="line">
            <a:avLst/>
          </a:prstGeom>
          <a:ln w="31750">
            <a:solidFill>
              <a:schemeClr val="accent6">
                <a:lumMod val="50000"/>
              </a:schemeClr>
            </a:solidFill>
            <a:tailEnd type="none"/>
          </a:ln>
        </p:spPr>
        <p:style>
          <a:lnRef idx="1">
            <a:schemeClr val="accent1"/>
          </a:lnRef>
          <a:fillRef idx="0">
            <a:schemeClr val="accent1"/>
          </a:fillRef>
          <a:effectRef idx="0">
            <a:schemeClr val="accent1"/>
          </a:effectRef>
          <a:fontRef idx="minor">
            <a:schemeClr val="tx1"/>
          </a:fontRef>
        </p:style>
      </p:cxnSp>
      <p:graphicFrame>
        <p:nvGraphicFramePr>
          <p:cNvPr id="16" name="Object 6"/>
          <p:cNvGraphicFramePr>
            <a:graphicFrameLocks noChangeAspect="1"/>
          </p:cNvGraphicFramePr>
          <p:nvPr/>
        </p:nvGraphicFramePr>
        <p:xfrm>
          <a:off x="101395" y="1148714"/>
          <a:ext cx="666013" cy="278747"/>
        </p:xfrm>
        <a:graphic>
          <a:graphicData uri="http://schemas.openxmlformats.org/presentationml/2006/ole">
            <mc:AlternateContent xmlns:mc="http://schemas.openxmlformats.org/markup-compatibility/2006">
              <mc:Choice xmlns:v="urn:schemas-microsoft-com:vml" Requires="v">
                <p:oleObj spid="_x0000_s127574" name="Equation" r:id="rId11" imgW="533400" imgH="228600" progId="Equation.DSMT4">
                  <p:embed/>
                </p:oleObj>
              </mc:Choice>
              <mc:Fallback>
                <p:oleObj name="Equation" r:id="rId11" imgW="533400" imgH="228600" progId="Equation.DSMT4">
                  <p:embed/>
                  <p:pic>
                    <p:nvPicPr>
                      <p:cNvPr id="0" name="Picture 5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395" y="1148714"/>
                        <a:ext cx="666013" cy="2787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7" name="直接箭头连接符 16"/>
          <p:cNvCxnSpPr/>
          <p:nvPr/>
        </p:nvCxnSpPr>
        <p:spPr>
          <a:xfrm flipV="1">
            <a:off x="839416" y="1145386"/>
            <a:ext cx="0" cy="124379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20272" y="1076139"/>
            <a:ext cx="4980384" cy="564691"/>
          </a:xfrm>
          <a:prstGeom prst="rect">
            <a:avLst/>
          </a:prstGeom>
          <a:solidFill>
            <a:schemeClr val="accent6">
              <a:lumMod val="20000"/>
              <a:lumOff val="80000"/>
            </a:schemeClr>
          </a:solidFill>
        </p:spPr>
        <p:txBody>
          <a:bodyPr wrap="none" rtlCol="0" anchor="ctr">
            <a:spAutoFit/>
          </a:bodyPr>
          <a:lstStyle/>
          <a:p>
            <a:pPr algn="ctr"/>
            <a:endParaRPr lang="zh-CN" altLang="en-US" sz="2400" kern="100" dirty="0">
              <a:ea typeface="宋体" panose="02010600030101010101" pitchFamily="2" charset="-122"/>
              <a:cs typeface="Times New Roman" panose="02020603050405020304"/>
            </a:endParaRPr>
          </a:p>
        </p:txBody>
      </p:sp>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14.2 </a:t>
            </a:r>
            <a:r>
              <a:rPr lang="zh-CN" altLang="zh-CN" dirty="0"/>
              <a:t>最大似然估计的求解</a:t>
            </a:r>
            <a:endParaRPr lang="zh-CN" altLang="zh-CN" dirty="0"/>
          </a:p>
        </p:txBody>
      </p:sp>
      <p:sp>
        <p:nvSpPr>
          <p:cNvPr id="42" name="矩形 41"/>
          <p:cNvSpPr/>
          <p:nvPr/>
        </p:nvSpPr>
        <p:spPr>
          <a:xfrm>
            <a:off x="304132" y="1076139"/>
            <a:ext cx="3416320"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均匀分布的参数估计</a:t>
            </a:r>
            <a:endParaRPr lang="zh-CN" altLang="en-US" sz="2800" b="1" dirty="0">
              <a:solidFill>
                <a:srgbClr val="0000FF"/>
              </a:solidFill>
              <a:latin typeface="Arial" panose="020B0604020202020204" pitchFamily="34" charset="0"/>
            </a:endParaRPr>
          </a:p>
        </p:txBody>
      </p:sp>
      <p:graphicFrame>
        <p:nvGraphicFramePr>
          <p:cNvPr id="12" name="Object 7"/>
          <p:cNvGraphicFramePr>
            <a:graphicFrameLocks noGrp="1" noChangeAspect="1"/>
          </p:cNvGraphicFramePr>
          <p:nvPr>
            <p:ph sz="quarter" idx="4294967295"/>
          </p:nvPr>
        </p:nvGraphicFramePr>
        <p:xfrm>
          <a:off x="282428" y="1707240"/>
          <a:ext cx="9627350" cy="3882796"/>
        </p:xfrm>
        <a:graphic>
          <a:graphicData uri="http://schemas.openxmlformats.org/presentationml/2006/ole">
            <mc:AlternateContent xmlns:mc="http://schemas.openxmlformats.org/markup-compatibility/2006">
              <mc:Choice xmlns:v="urn:schemas-microsoft-com:vml" Requires="v">
                <p:oleObj spid="_x0000_s109936" name="Equation" r:id="rId2" imgW="5321300" imgH="2146300" progId="Equation.DSMT4">
                  <p:embed/>
                </p:oleObj>
              </mc:Choice>
              <mc:Fallback>
                <p:oleObj name="Equation" r:id="rId2" imgW="5321300" imgH="2146300" progId="Equation.DSMT4">
                  <p:embed/>
                  <p:pic>
                    <p:nvPicPr>
                      <p:cNvPr id="0" name="Picture 35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428" y="1707240"/>
                        <a:ext cx="9627350" cy="38827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矩形 12"/>
          <p:cNvSpPr/>
          <p:nvPr/>
        </p:nvSpPr>
        <p:spPr>
          <a:xfrm>
            <a:off x="3475923" y="4181541"/>
            <a:ext cx="3240360" cy="1200329"/>
          </a:xfrm>
          <a:prstGeom prst="rect">
            <a:avLst/>
          </a:prstGeom>
        </p:spPr>
        <p:txBody>
          <a:bodyPr wrap="square">
            <a:spAutoFit/>
          </a:bodyPr>
          <a:lstStyle/>
          <a:p>
            <a:r>
              <a:rPr lang="zh-CN" altLang="en-US" b="1" dirty="0">
                <a:solidFill>
                  <a:srgbClr val="FF0000"/>
                </a:solidFill>
              </a:rPr>
              <a:t>直接求解，解出的参数至少有一个为无穷大。无意义！</a:t>
            </a:r>
            <a:endParaRPr lang="en-US" altLang="zh-CN" b="1" dirty="0">
              <a:solidFill>
                <a:srgbClr val="FF0000"/>
              </a:solidFill>
            </a:endParaRPr>
          </a:p>
          <a:p>
            <a:r>
              <a:rPr lang="zh-CN" altLang="en-US" b="1" dirty="0">
                <a:solidFill>
                  <a:srgbClr val="FF33CC"/>
                </a:solidFill>
              </a:rPr>
              <a:t>原因：似然函数在最大值没有零斜率，需要用其他方法</a:t>
            </a:r>
            <a:endParaRPr lang="zh-CN" altLang="en-US" b="1" dirty="0">
              <a:solidFill>
                <a:srgbClr val="FF33CC"/>
              </a:solidFill>
            </a:endParaRPr>
          </a:p>
        </p:txBody>
      </p:sp>
      <p:sp>
        <p:nvSpPr>
          <p:cNvPr id="18" name="矩形 17"/>
          <p:cNvSpPr/>
          <p:nvPr/>
        </p:nvSpPr>
        <p:spPr>
          <a:xfrm>
            <a:off x="3489261" y="5788611"/>
            <a:ext cx="8511395" cy="430887"/>
          </a:xfrm>
          <a:prstGeom prst="rect">
            <a:avLst/>
          </a:prstGeom>
        </p:spPr>
        <p:txBody>
          <a:bodyPr wrap="square">
            <a:spAutoFit/>
          </a:bodyPr>
          <a:lstStyle/>
          <a:p>
            <a:r>
              <a:rPr lang="zh-CN" altLang="en-US" sz="2200" dirty="0">
                <a:latin typeface="Times New Roman" panose="02020603050405020304" pitchFamily="18" charset="0"/>
                <a:ea typeface="黑体" panose="02010609060101010101" pitchFamily="49" charset="-122"/>
              </a:rPr>
              <a:t>观察，</a:t>
            </a:r>
            <a:r>
              <a:rPr lang="el-GR" altLang="zh-CN" sz="2200" i="1" dirty="0">
                <a:latin typeface="Times New Roman" panose="02020603050405020304" pitchFamily="18" charset="0"/>
                <a:ea typeface="黑体" panose="02010609060101010101" pitchFamily="49" charset="-122"/>
              </a:rPr>
              <a:t>θ</a:t>
            </a:r>
            <a:r>
              <a:rPr lang="en-US" altLang="zh-CN" sz="2200" baseline="-25000" dirty="0">
                <a:latin typeface="Times New Roman" panose="02020603050405020304" pitchFamily="18" charset="0"/>
                <a:ea typeface="黑体" panose="02010609060101010101" pitchFamily="49" charset="-122"/>
              </a:rPr>
              <a:t>2</a:t>
            </a:r>
            <a:r>
              <a:rPr lang="en-US" altLang="zh-CN" sz="2200" dirty="0">
                <a:latin typeface="Times New Roman" panose="02020603050405020304" pitchFamily="18" charset="0"/>
                <a:ea typeface="黑体" panose="02010609060101010101" pitchFamily="49" charset="-122"/>
              </a:rPr>
              <a:t>-</a:t>
            </a:r>
            <a:r>
              <a:rPr lang="el-GR" altLang="zh-CN" sz="2200" i="1" dirty="0">
                <a:latin typeface="Times New Roman" panose="02020603050405020304" pitchFamily="18" charset="0"/>
                <a:ea typeface="黑体" panose="02010609060101010101" pitchFamily="49" charset="-122"/>
              </a:rPr>
              <a:t>θ</a:t>
            </a:r>
            <a:r>
              <a:rPr lang="en-US" altLang="zh-CN" sz="2200" baseline="-25000" dirty="0">
                <a:latin typeface="Times New Roman" panose="02020603050405020304" pitchFamily="18" charset="0"/>
                <a:ea typeface="黑体" panose="02010609060101010101" pitchFamily="49" charset="-122"/>
              </a:rPr>
              <a:t>1</a:t>
            </a:r>
            <a:r>
              <a:rPr lang="zh-CN" altLang="en-US" sz="2200" dirty="0">
                <a:latin typeface="Times New Roman" panose="02020603050405020304" pitchFamily="18" charset="0"/>
                <a:ea typeface="黑体" panose="02010609060101010101" pitchFamily="49" charset="-122"/>
              </a:rPr>
              <a:t>越小，对数似然函数越大   </a:t>
            </a:r>
            <a:r>
              <a:rPr lang="en-US" altLang="zh-CN" sz="2200" dirty="0">
                <a:latin typeface="Times New Roman" panose="02020603050405020304" pitchFamily="18" charset="0"/>
                <a:ea typeface="黑体" panose="02010609060101010101" pitchFamily="49" charset="-122"/>
              </a:rPr>
              <a:t>=&gt;</a:t>
            </a:r>
            <a:r>
              <a:rPr lang="zh-CN" altLang="en-US" sz="2200" dirty="0">
                <a:latin typeface="Times New Roman" panose="02020603050405020304" pitchFamily="18" charset="0"/>
                <a:ea typeface="黑体" panose="02010609060101010101" pitchFamily="49" charset="-122"/>
              </a:rPr>
              <a:t>   </a:t>
            </a:r>
            <a:r>
              <a:rPr lang="el-GR" altLang="zh-CN" sz="2200" i="1" dirty="0">
                <a:latin typeface="Times New Roman" panose="02020603050405020304" pitchFamily="18" charset="0"/>
                <a:ea typeface="黑体" panose="02010609060101010101" pitchFamily="49" charset="-122"/>
              </a:rPr>
              <a:t>θ</a:t>
            </a:r>
            <a:r>
              <a:rPr lang="en-US" altLang="zh-CN" sz="2200" baseline="-25000" dirty="0">
                <a:latin typeface="Times New Roman" panose="02020603050405020304" pitchFamily="18" charset="0"/>
                <a:ea typeface="黑体" panose="02010609060101010101" pitchFamily="49" charset="-122"/>
              </a:rPr>
              <a:t>2</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max</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X</a:t>
            </a:r>
            <a:r>
              <a:rPr lang="en-US" altLang="zh-CN" sz="2200" i="1" baseline="-25000" dirty="0">
                <a:latin typeface="Times New Roman" panose="02020603050405020304" pitchFamily="18" charset="0"/>
                <a:ea typeface="黑体" panose="02010609060101010101" pitchFamily="49" charset="-122"/>
              </a:rPr>
              <a:t>i</a:t>
            </a:r>
            <a:r>
              <a:rPr lang="en-US" altLang="zh-CN" sz="2200" dirty="0">
                <a:latin typeface="Times New Roman" panose="02020603050405020304" pitchFamily="18" charset="0"/>
                <a:ea typeface="黑体" panose="02010609060101010101" pitchFamily="49" charset="-122"/>
              </a:rPr>
              <a:t>}</a:t>
            </a:r>
            <a:r>
              <a:rPr lang="zh-CN" altLang="en-US" sz="2200" dirty="0">
                <a:latin typeface="Times New Roman" panose="02020603050405020304" pitchFamily="18" charset="0"/>
                <a:ea typeface="黑体" panose="02010609060101010101" pitchFamily="49" charset="-122"/>
              </a:rPr>
              <a:t>，</a:t>
            </a:r>
            <a:r>
              <a:rPr lang="el-GR" altLang="zh-CN" sz="2200" i="1" dirty="0">
                <a:latin typeface="Times New Roman" panose="02020603050405020304" pitchFamily="18" charset="0"/>
                <a:ea typeface="黑体" panose="02010609060101010101" pitchFamily="49" charset="-122"/>
              </a:rPr>
              <a:t>θ</a:t>
            </a:r>
            <a:r>
              <a:rPr lang="en-US" altLang="zh-CN" sz="2200" baseline="-25000" dirty="0">
                <a:latin typeface="Times New Roman" panose="02020603050405020304" pitchFamily="18" charset="0"/>
                <a:ea typeface="黑体" panose="02010609060101010101" pitchFamily="49" charset="-122"/>
              </a:rPr>
              <a:t>1</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min</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X</a:t>
            </a:r>
            <a:r>
              <a:rPr lang="en-US" altLang="zh-CN" sz="2200" i="1" baseline="-25000" dirty="0">
                <a:latin typeface="Times New Roman" panose="02020603050405020304" pitchFamily="18" charset="0"/>
                <a:ea typeface="黑体" panose="02010609060101010101" pitchFamily="49" charset="-122"/>
              </a:rPr>
              <a:t>i</a:t>
            </a:r>
            <a:r>
              <a:rPr lang="en-US" altLang="zh-CN" sz="2200" dirty="0">
                <a:latin typeface="Times New Roman" panose="02020603050405020304" pitchFamily="18" charset="0"/>
                <a:ea typeface="黑体" panose="02010609060101010101" pitchFamily="49" charset="-122"/>
              </a:rPr>
              <a:t>}</a:t>
            </a:r>
            <a:endParaRPr lang="zh-CN" altLang="en-US" sz="2200" dirty="0">
              <a:latin typeface="Times New Roman" panose="02020603050405020304" pitchFamily="18" charset="0"/>
              <a:ea typeface="黑体" panose="02010609060101010101" pitchFamily="49" charset="-122"/>
            </a:endParaRPr>
          </a:p>
        </p:txBody>
      </p:sp>
      <p:cxnSp>
        <p:nvCxnSpPr>
          <p:cNvPr id="20" name="直接箭头连接符 19"/>
          <p:cNvCxnSpPr/>
          <p:nvPr/>
        </p:nvCxnSpPr>
        <p:spPr>
          <a:xfrm flipV="1">
            <a:off x="7020271" y="4005064"/>
            <a:ext cx="1" cy="181591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2" name="对象 21"/>
          <p:cNvGraphicFramePr>
            <a:graphicFrameLocks noChangeAspect="1"/>
          </p:cNvGraphicFramePr>
          <p:nvPr/>
        </p:nvGraphicFramePr>
        <p:xfrm>
          <a:off x="7020272" y="1077778"/>
          <a:ext cx="4896544" cy="647936"/>
        </p:xfrm>
        <a:graphic>
          <a:graphicData uri="http://schemas.openxmlformats.org/presentationml/2006/ole">
            <mc:AlternateContent xmlns:mc="http://schemas.openxmlformats.org/markup-compatibility/2006">
              <mc:Choice xmlns:v="urn:schemas-microsoft-com:vml" Requires="v">
                <p:oleObj spid="_x0000_s109937" name="Equation" r:id="rId4" imgW="3213100" imgH="431800" progId="Equation.DSMT4">
                  <p:embed/>
                </p:oleObj>
              </mc:Choice>
              <mc:Fallback>
                <p:oleObj name="Equation" r:id="rId4" imgW="3213100" imgH="431800" progId="Equation.DSMT4">
                  <p:embed/>
                  <p:pic>
                    <p:nvPicPr>
                      <p:cNvPr id="0" name="Picture 35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20272" y="1077778"/>
                        <a:ext cx="4896544" cy="6479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15680" y="1149255"/>
            <a:ext cx="6768752" cy="3101362"/>
          </a:xfrm>
          <a:prstGeom prst="rect">
            <a:avLst/>
          </a:prstGeom>
          <a:noFill/>
        </p:spPr>
        <p:txBody>
          <a:bodyPr wrap="square" rtlCol="0">
            <a:spAutoFit/>
          </a:bodyPr>
          <a:lstStyle/>
          <a:p>
            <a:pPr>
              <a:lnSpc>
                <a:spcPct val="130000"/>
              </a:lnSpc>
              <a:spcBef>
                <a:spcPts val="200"/>
              </a:spcBef>
            </a:pPr>
            <a:r>
              <a:rPr lang="en-US" altLang="zh-CN" sz="2400" b="1" dirty="0">
                <a:latin typeface="宋体" panose="02010600030101010101" pitchFamily="2" charset="-122"/>
                <a:ea typeface="宋体" panose="02010600030101010101" pitchFamily="2" charset="-122"/>
              </a:rPr>
              <a:t>14.1 </a:t>
            </a:r>
            <a:r>
              <a:rPr lang="zh-CN" altLang="zh-CN" sz="2400" b="1" dirty="0">
                <a:latin typeface="宋体" panose="02010600030101010101" pitchFamily="2" charset="-122"/>
                <a:ea typeface="宋体" panose="02010600030101010101" pitchFamily="2" charset="-122"/>
              </a:rPr>
              <a:t>最大似然估计基本原理</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14.2 </a:t>
            </a:r>
            <a:r>
              <a:rPr lang="zh-CN" altLang="zh-CN" sz="2400" b="1" dirty="0">
                <a:latin typeface="宋体" panose="02010600030101010101" pitchFamily="2" charset="-122"/>
                <a:ea typeface="宋体" panose="02010600030101010101" pitchFamily="2" charset="-122"/>
              </a:rPr>
              <a:t>最大似然估计的求解</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solidFill>
                  <a:srgbClr val="0000FF"/>
                </a:solidFill>
                <a:latin typeface="宋体" panose="02010600030101010101" pitchFamily="2" charset="-122"/>
                <a:ea typeface="宋体" panose="02010600030101010101" pitchFamily="2" charset="-122"/>
              </a:rPr>
              <a:t>14.3 </a:t>
            </a:r>
            <a:r>
              <a:rPr lang="zh-CN" altLang="zh-CN" sz="2400" b="1" dirty="0">
                <a:solidFill>
                  <a:srgbClr val="0000FF"/>
                </a:solidFill>
                <a:latin typeface="宋体" panose="02010600030101010101" pitchFamily="2" charset="-122"/>
                <a:ea typeface="宋体" panose="02010600030101010101" pitchFamily="2" charset="-122"/>
              </a:rPr>
              <a:t>正态分布下的最大似然估计</a:t>
            </a:r>
            <a:endParaRPr lang="zh-CN" altLang="zh-CN" sz="2400" b="1" dirty="0">
              <a:solidFill>
                <a:srgbClr val="0000FF"/>
              </a:solidFill>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14.4 </a:t>
            </a:r>
            <a:r>
              <a:rPr lang="zh-CN" altLang="zh-CN" sz="2400" b="1" dirty="0">
                <a:latin typeface="宋体" panose="02010600030101010101" pitchFamily="2" charset="-122"/>
                <a:ea typeface="宋体" panose="02010600030101010101" pitchFamily="2" charset="-122"/>
              </a:rPr>
              <a:t>贝叶斯估计</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14.5 </a:t>
            </a:r>
            <a:r>
              <a:rPr lang="zh-CN" altLang="zh-CN" sz="2400" b="1" dirty="0">
                <a:latin typeface="宋体" panose="02010600030101010101" pitchFamily="2" charset="-122"/>
                <a:ea typeface="宋体" panose="02010600030101010101" pitchFamily="2" charset="-122"/>
              </a:rPr>
              <a:t>贝叶斯学习</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14.6 </a:t>
            </a:r>
            <a:r>
              <a:rPr lang="zh-CN" altLang="zh-CN" sz="2400" b="1" dirty="0">
                <a:latin typeface="宋体" panose="02010600030101010101" pitchFamily="2" charset="-122"/>
                <a:ea typeface="宋体" panose="02010600030101010101" pitchFamily="2" charset="-122"/>
              </a:rPr>
              <a:t>正态分布下的贝叶斯估计</a:t>
            </a:r>
            <a:endParaRPr lang="zh-CN" altLang="zh-CN" sz="2400" b="1" dirty="0">
              <a:latin typeface="宋体" panose="02010600030101010101" pitchFamily="2" charset="-122"/>
              <a:ea typeface="宋体" panose="02010600030101010101" pitchFamily="2" charset="-122"/>
            </a:endParaRPr>
          </a:p>
        </p:txBody>
      </p:sp>
      <p:sp>
        <p:nvSpPr>
          <p:cNvPr id="8" name="Freeform 6"/>
          <p:cNvSpPr/>
          <p:nvPr/>
        </p:nvSpPr>
        <p:spPr bwMode="auto">
          <a:xfrm>
            <a:off x="0" y="5589240"/>
            <a:ext cx="12192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ln>
        </p:spPr>
        <p:txBody>
          <a:bodyPr vert="horz" wrap="square" lIns="128580" tIns="64290" rIns="128580" bIns="64290" numCol="1" anchor="t" anchorCtr="0" compatLnSpc="1"/>
          <a:lstStyle/>
          <a:p>
            <a:endParaRPr lang="zh-CN" altLang="en-US"/>
          </a:p>
        </p:txBody>
      </p:sp>
      <p:sp>
        <p:nvSpPr>
          <p:cNvPr id="9" name="Freeform 7"/>
          <p:cNvSpPr/>
          <p:nvPr/>
        </p:nvSpPr>
        <p:spPr bwMode="auto">
          <a:xfrm>
            <a:off x="-24680" y="5425669"/>
            <a:ext cx="12216680" cy="357166"/>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ln>
        </p:spPr>
        <p:txBody>
          <a:bodyPr vert="horz" wrap="square" lIns="128580" tIns="64290" rIns="128580" bIns="64290" numCol="1" anchor="t" anchorCtr="0" compatLnSpc="1"/>
          <a:lstStyle/>
          <a:p>
            <a:endParaRPr lang="zh-CN" altLang="en-US">
              <a:solidFill>
                <a:schemeClr val="tx2">
                  <a:lumMod val="20000"/>
                  <a:lumOff val="80000"/>
                </a:schemeClr>
              </a:solidFill>
            </a:endParaRPr>
          </a:p>
        </p:txBody>
      </p:sp>
      <p:pic>
        <p:nvPicPr>
          <p:cNvPr id="3" name="图片 2"/>
          <p:cNvPicPr>
            <a:picLocks noChangeAspect="1"/>
          </p:cNvPicPr>
          <p:nvPr/>
        </p:nvPicPr>
        <p:blipFill>
          <a:blip r:embed="rId1"/>
          <a:stretch>
            <a:fillRect/>
          </a:stretch>
        </p:blipFill>
        <p:spPr>
          <a:xfrm>
            <a:off x="0" y="6468398"/>
            <a:ext cx="1349719" cy="404664"/>
          </a:xfrm>
          <a:prstGeom prst="rect">
            <a:avLst/>
          </a:prstGeom>
        </p:spPr>
      </p:pic>
      <p:sp>
        <p:nvSpPr>
          <p:cNvPr id="6" name="文本框 5"/>
          <p:cNvSpPr txBox="1"/>
          <p:nvPr/>
        </p:nvSpPr>
        <p:spPr>
          <a:xfrm>
            <a:off x="-24680" y="6436962"/>
            <a:ext cx="5472608" cy="461665"/>
          </a:xfrm>
          <a:prstGeom prst="rect">
            <a:avLst/>
          </a:prstGeom>
          <a:noFill/>
        </p:spPr>
        <p:txBody>
          <a:bodyPr wrap="square" rtlCol="0">
            <a:spAutoFit/>
          </a:bodyPr>
          <a:lstStyle/>
          <a:p>
            <a:r>
              <a:rPr lang="zh-CN" altLang="en-US" sz="2400" b="1" dirty="0">
                <a:solidFill>
                  <a:srgbClr val="0000FF"/>
                </a:solidFill>
              </a:rPr>
              <a:t>人工智能与自动化学院        </a:t>
            </a:r>
            <a:endParaRPr lang="zh-CN" altLang="en-US" sz="2400" b="1" dirty="0">
              <a:solidFill>
                <a:srgbClr val="0000FF"/>
              </a:solidFill>
            </a:endParaRPr>
          </a:p>
        </p:txBody>
      </p:sp>
      <p:sp>
        <p:nvSpPr>
          <p:cNvPr id="12" name="标题 1"/>
          <p:cNvSpPr txBox="1"/>
          <p:nvPr/>
        </p:nvSpPr>
        <p:spPr bwMode="black">
          <a:xfrm>
            <a:off x="407368" y="188640"/>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zh-CN" altLang="en-US" kern="0" dirty="0"/>
              <a:t>第</a:t>
            </a:r>
            <a:r>
              <a:rPr lang="en-US" altLang="zh-CN" kern="0" dirty="0"/>
              <a:t>14</a:t>
            </a:r>
            <a:r>
              <a:rPr lang="zh-CN" altLang="en-US" kern="0" dirty="0"/>
              <a:t>讲 </a:t>
            </a:r>
            <a:r>
              <a:rPr lang="zh-CN" altLang="zh-CN" dirty="0"/>
              <a:t>概率密度函数的参数估计</a:t>
            </a:r>
            <a:endParaRPr lang="zh-CN" altLang="zh-CN" dirty="0"/>
          </a:p>
        </p:txBody>
      </p:sp>
      <p:sp>
        <p:nvSpPr>
          <p:cNvPr id="7" name="灯片编号占位符 6"/>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内容占位符 2"/>
          <p:cNvSpPr>
            <a:spLocks noGrp="1"/>
          </p:cNvSpPr>
          <p:nvPr>
            <p:ph idx="1"/>
          </p:nvPr>
        </p:nvSpPr>
        <p:spPr>
          <a:xfrm>
            <a:off x="320099" y="2766362"/>
            <a:ext cx="1357322" cy="611357"/>
          </a:xfrm>
        </p:spPr>
        <p:txBody>
          <a:bodyPr/>
          <a:lstStyle/>
          <a:p>
            <a:pPr marL="0" indent="0">
              <a:lnSpc>
                <a:spcPct val="150000"/>
              </a:lnSpc>
              <a:spcBef>
                <a:spcPts val="0"/>
              </a:spcBef>
              <a:buNone/>
            </a:pPr>
            <a:r>
              <a:rPr lang="zh-CN" altLang="zh-CN" sz="2200" dirty="0">
                <a:latin typeface="Times New Roman" panose="02020603050405020304" pitchFamily="18" charset="0"/>
                <a:ea typeface="黑体" panose="02010609060101010101" pitchFamily="49" charset="-122"/>
              </a:rPr>
              <a:t>似然函数</a:t>
            </a:r>
            <a:r>
              <a:rPr lang="en-US" altLang="zh-CN" sz="2200" dirty="0">
                <a:latin typeface="Times New Roman" panose="02020603050405020304" pitchFamily="18" charset="0"/>
                <a:ea typeface="黑体" panose="02010609060101010101" pitchFamily="49" charset="-122"/>
              </a:rPr>
              <a:t>   </a:t>
            </a:r>
            <a:endParaRPr lang="zh-CN" altLang="zh-CN" sz="2200" dirty="0">
              <a:latin typeface="Times New Roman" panose="02020603050405020304" pitchFamily="18" charset="0"/>
              <a:ea typeface="黑体" panose="02010609060101010101" pitchFamily="49" charset="-122"/>
            </a:endParaRPr>
          </a:p>
          <a:p>
            <a:pPr marL="0" indent="0">
              <a:lnSpc>
                <a:spcPct val="150000"/>
              </a:lnSpc>
              <a:spcBef>
                <a:spcPts val="0"/>
              </a:spcBef>
              <a:buNone/>
            </a:pPr>
            <a:endParaRPr lang="zh-CN" altLang="en-US" sz="2200"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14.3 </a:t>
            </a:r>
            <a:r>
              <a:rPr lang="zh-CN" altLang="zh-CN" dirty="0"/>
              <a:t>正态分布下的最大似然估计</a:t>
            </a:r>
            <a:endParaRPr lang="zh-CN" altLang="zh-CN" dirty="0"/>
          </a:p>
        </p:txBody>
      </p:sp>
      <p:sp>
        <p:nvSpPr>
          <p:cNvPr id="42" name="矩形 41"/>
          <p:cNvSpPr/>
          <p:nvPr/>
        </p:nvSpPr>
        <p:spPr>
          <a:xfrm>
            <a:off x="304132" y="1076139"/>
            <a:ext cx="2698175" cy="523220"/>
          </a:xfrm>
          <a:prstGeom prst="rect">
            <a:avLst/>
          </a:prstGeom>
        </p:spPr>
        <p:txBody>
          <a:bodyPr wrap="none">
            <a:spAutoFit/>
          </a:bodyPr>
          <a:lstStyle/>
          <a:p>
            <a:r>
              <a:rPr lang="zh-CN" altLang="zh-CN" sz="2800" b="1" dirty="0">
                <a:solidFill>
                  <a:srgbClr val="0000FF"/>
                </a:solidFill>
                <a:latin typeface="Arial" panose="020B0604020202020204" pitchFamily="34" charset="0"/>
              </a:rPr>
              <a:t>单变量正态分布</a:t>
            </a:r>
            <a:endParaRPr lang="zh-CN" altLang="en-US" sz="2800" b="1" dirty="0">
              <a:solidFill>
                <a:srgbClr val="0000FF"/>
              </a:solidFill>
              <a:latin typeface="Arial" panose="020B0604020202020204" pitchFamily="34" charset="0"/>
            </a:endParaRPr>
          </a:p>
        </p:txBody>
      </p:sp>
      <p:graphicFrame>
        <p:nvGraphicFramePr>
          <p:cNvPr id="12" name="对象 11"/>
          <p:cNvGraphicFramePr>
            <a:graphicFrameLocks noChangeAspect="1"/>
          </p:cNvGraphicFramePr>
          <p:nvPr/>
        </p:nvGraphicFramePr>
        <p:xfrm>
          <a:off x="5285403" y="1765985"/>
          <a:ext cx="1530677" cy="457895"/>
        </p:xfrm>
        <a:graphic>
          <a:graphicData uri="http://schemas.openxmlformats.org/presentationml/2006/ole">
            <mc:AlternateContent xmlns:mc="http://schemas.openxmlformats.org/markup-compatibility/2006">
              <mc:Choice xmlns:v="urn:schemas-microsoft-com:vml" Requires="v">
                <p:oleObj spid="_x0000_s170509" name="Equation" r:id="rId2" imgW="787400" imgH="228600" progId="Equation.DSMT4">
                  <p:embed/>
                </p:oleObj>
              </mc:Choice>
              <mc:Fallback>
                <p:oleObj name="Equation" r:id="rId2" imgW="787400" imgH="228600" progId="Equation.DSMT4">
                  <p:embed/>
                  <p:pic>
                    <p:nvPicPr>
                      <p:cNvPr id="0" name="Picture 146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5403" y="1765985"/>
                        <a:ext cx="1530677" cy="4578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nvGraphicFramePr>
        <p:xfrm>
          <a:off x="7176120" y="1545134"/>
          <a:ext cx="1128359" cy="434199"/>
        </p:xfrm>
        <a:graphic>
          <a:graphicData uri="http://schemas.openxmlformats.org/presentationml/2006/ole">
            <mc:AlternateContent xmlns:mc="http://schemas.openxmlformats.org/markup-compatibility/2006">
              <mc:Choice xmlns:v="urn:schemas-microsoft-com:vml" Requires="v">
                <p:oleObj spid="_x0000_s170510" name="Equation" r:id="rId4" imgW="443865" imgH="215900" progId="Equation.DSMT4">
                  <p:embed/>
                </p:oleObj>
              </mc:Choice>
              <mc:Fallback>
                <p:oleObj name="Equation" r:id="rId4" imgW="443865" imgH="215900" progId="Equation.DSMT4">
                  <p:embed/>
                  <p:pic>
                    <p:nvPicPr>
                      <p:cNvPr id="0" name="Picture 147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76120" y="1545134"/>
                        <a:ext cx="1128359" cy="4341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nvGraphicFramePr>
        <p:xfrm>
          <a:off x="7176120" y="1965806"/>
          <a:ext cx="1073443" cy="425975"/>
        </p:xfrm>
        <a:graphic>
          <a:graphicData uri="http://schemas.openxmlformats.org/presentationml/2006/ole">
            <mc:AlternateContent xmlns:mc="http://schemas.openxmlformats.org/markup-compatibility/2006">
              <mc:Choice xmlns:v="urn:schemas-microsoft-com:vml" Requires="v">
                <p:oleObj spid="_x0000_s170511" name="Equation" r:id="rId6" imgW="520700" imgH="228600" progId="Equation.DSMT4">
                  <p:embed/>
                </p:oleObj>
              </mc:Choice>
              <mc:Fallback>
                <p:oleObj name="Equation" r:id="rId6" imgW="520700" imgH="228600" progId="Equation.DSMT4">
                  <p:embed/>
                  <p:pic>
                    <p:nvPicPr>
                      <p:cNvPr id="0" name="Picture 147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76120" y="1965806"/>
                        <a:ext cx="1073443" cy="425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nvGraphicFramePr>
        <p:xfrm>
          <a:off x="407368" y="1545134"/>
          <a:ext cx="4392488" cy="1034242"/>
        </p:xfrm>
        <a:graphic>
          <a:graphicData uri="http://schemas.openxmlformats.org/presentationml/2006/ole">
            <mc:AlternateContent xmlns:mc="http://schemas.openxmlformats.org/markup-compatibility/2006">
              <mc:Choice xmlns:v="urn:schemas-microsoft-com:vml" Requires="v">
                <p:oleObj spid="_x0000_s170512" name="Equation" r:id="rId8" imgW="2260600" imgH="533400" progId="Equation.DSMT4">
                  <p:embed/>
                </p:oleObj>
              </mc:Choice>
              <mc:Fallback>
                <p:oleObj name="Equation" r:id="rId8" imgW="2260600" imgH="533400" progId="Equation.DSMT4">
                  <p:embed/>
                  <p:pic>
                    <p:nvPicPr>
                      <p:cNvPr id="0" name="Picture 147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7368" y="1545134"/>
                        <a:ext cx="4392488" cy="1034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nvGraphicFramePr>
        <p:xfrm>
          <a:off x="9552384" y="1737984"/>
          <a:ext cx="2304256" cy="455644"/>
        </p:xfrm>
        <a:graphic>
          <a:graphicData uri="http://schemas.openxmlformats.org/presentationml/2006/ole">
            <mc:AlternateContent xmlns:mc="http://schemas.openxmlformats.org/markup-compatibility/2006">
              <mc:Choice xmlns:v="urn:schemas-microsoft-com:vml" Requires="v">
                <p:oleObj spid="_x0000_s170513" name="Equation" r:id="rId10" imgW="1193800" imgH="228600" progId="Equation.DSMT4">
                  <p:embed/>
                </p:oleObj>
              </mc:Choice>
              <mc:Fallback>
                <p:oleObj name="Equation" r:id="rId10" imgW="1193800" imgH="228600" progId="Equation.DSMT4">
                  <p:embed/>
                  <p:pic>
                    <p:nvPicPr>
                      <p:cNvPr id="0" name="Picture 147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552384" y="1737984"/>
                        <a:ext cx="2304256" cy="4556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nvGraphicFramePr>
        <p:xfrm>
          <a:off x="2152390" y="2679415"/>
          <a:ext cx="3568988" cy="821593"/>
        </p:xfrm>
        <a:graphic>
          <a:graphicData uri="http://schemas.openxmlformats.org/presentationml/2006/ole">
            <mc:AlternateContent xmlns:mc="http://schemas.openxmlformats.org/markup-compatibility/2006">
              <mc:Choice xmlns:v="urn:schemas-microsoft-com:vml" Requires="v">
                <p:oleObj spid="_x0000_s170514" name="Equation" r:id="rId12" imgW="1866900" imgH="431800" progId="Equation.DSMT4">
                  <p:embed/>
                </p:oleObj>
              </mc:Choice>
              <mc:Fallback>
                <p:oleObj name="Equation" r:id="rId12" imgW="1866900" imgH="431800" progId="Equation.DSMT4">
                  <p:embed/>
                  <p:pic>
                    <p:nvPicPr>
                      <p:cNvPr id="0" name="Picture 147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52390" y="2679415"/>
                        <a:ext cx="3568988" cy="8215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8472264" y="1642877"/>
            <a:ext cx="1242648" cy="535916"/>
          </a:xfrm>
          <a:prstGeom prst="rect">
            <a:avLst/>
          </a:prstGeom>
        </p:spPr>
        <p:txBody>
          <a:bodyPr wrap="none">
            <a:spAutoFit/>
          </a:bodyPr>
          <a:lstStyle/>
          <a:p>
            <a:pPr marL="0" indent="0">
              <a:lnSpc>
                <a:spcPct val="150000"/>
              </a:lnSpc>
              <a:spcBef>
                <a:spcPts val="0"/>
              </a:spcBef>
              <a:buNone/>
            </a:pPr>
            <a:r>
              <a:rPr lang="zh-CN" altLang="zh-CN" sz="2200" dirty="0">
                <a:latin typeface="Times New Roman" panose="02020603050405020304" pitchFamily="18" charset="0"/>
                <a:ea typeface="黑体" panose="02010609060101010101" pitchFamily="49" charset="-122"/>
              </a:rPr>
              <a:t>样本集</a:t>
            </a:r>
            <a:r>
              <a:rPr lang="en-US" altLang="zh-CN" sz="2200" dirty="0">
                <a:latin typeface="Times New Roman" panose="02020603050405020304" pitchFamily="18" charset="0"/>
                <a:ea typeface="黑体" panose="02010609060101010101" pitchFamily="49" charset="-122"/>
              </a:rPr>
              <a:t>   </a:t>
            </a:r>
            <a:endParaRPr lang="en-US" altLang="zh-CN" sz="2200" dirty="0">
              <a:latin typeface="Times New Roman" panose="02020603050405020304" pitchFamily="18" charset="0"/>
              <a:ea typeface="黑体" panose="02010609060101010101" pitchFamily="49" charset="-122"/>
            </a:endParaRPr>
          </a:p>
        </p:txBody>
      </p:sp>
      <p:sp>
        <p:nvSpPr>
          <p:cNvPr id="33" name="内容占位符 2"/>
          <p:cNvSpPr txBox="1"/>
          <p:nvPr/>
        </p:nvSpPr>
        <p:spPr bwMode="gray">
          <a:xfrm>
            <a:off x="383778" y="4572954"/>
            <a:ext cx="3688581" cy="437588"/>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zh-CN" altLang="zh-CN" sz="2000" b="1" dirty="0">
                <a:latin typeface="宋体" panose="02010600030101010101" pitchFamily="2" charset="-122"/>
                <a:ea typeface="宋体" panose="02010600030101010101" pitchFamily="2" charset="-122"/>
              </a:rPr>
              <a:t>最大似然估计量</a:t>
            </a:r>
            <a:r>
              <a:rPr lang="en-US" altLang="zh-CN" sz="2000" b="1" dirty="0">
                <a:latin typeface="宋体" panose="02010600030101010101" pitchFamily="2" charset="-122"/>
                <a:ea typeface="宋体" panose="02010600030101010101" pitchFamily="2" charset="-122"/>
              </a:rPr>
              <a:t>    </a:t>
            </a:r>
            <a:r>
              <a:rPr lang="zh-CN" altLang="zh-CN" sz="2200" dirty="0">
                <a:latin typeface="Times New Roman" panose="02020603050405020304" pitchFamily="18" charset="0"/>
                <a:ea typeface="黑体" panose="02010609060101010101" pitchFamily="49" charset="-122"/>
              </a:rPr>
              <a:t>满足方程</a:t>
            </a:r>
            <a:endParaRPr lang="zh-CN" altLang="zh-CN" sz="2200" dirty="0">
              <a:latin typeface="Times New Roman" panose="02020603050405020304" pitchFamily="18" charset="0"/>
              <a:ea typeface="黑体" panose="02010609060101010101" pitchFamily="49" charset="-122"/>
            </a:endParaRPr>
          </a:p>
        </p:txBody>
      </p:sp>
      <p:graphicFrame>
        <p:nvGraphicFramePr>
          <p:cNvPr id="34" name="对象 33"/>
          <p:cNvGraphicFramePr>
            <a:graphicFrameLocks noChangeAspect="1"/>
          </p:cNvGraphicFramePr>
          <p:nvPr/>
        </p:nvGraphicFramePr>
        <p:xfrm>
          <a:off x="2531604" y="3511029"/>
          <a:ext cx="4005263" cy="854075"/>
        </p:xfrm>
        <a:graphic>
          <a:graphicData uri="http://schemas.openxmlformats.org/presentationml/2006/ole">
            <mc:AlternateContent xmlns:mc="http://schemas.openxmlformats.org/markup-compatibility/2006">
              <mc:Choice xmlns:v="urn:schemas-microsoft-com:vml" Requires="v">
                <p:oleObj spid="_x0000_s170515" name="Equation" r:id="rId14" imgW="1981200" imgH="431800" progId="Equation.DSMT4">
                  <p:embed/>
                </p:oleObj>
              </mc:Choice>
              <mc:Fallback>
                <p:oleObj name="Equation" r:id="rId14" imgW="1981200" imgH="431800" progId="Equation.DSMT4">
                  <p:embed/>
                  <p:pic>
                    <p:nvPicPr>
                      <p:cNvPr id="0" name="Picture 147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31604" y="3511029"/>
                        <a:ext cx="4005263" cy="854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对象 34"/>
          <p:cNvGraphicFramePr>
            <a:graphicFrameLocks noChangeAspect="1"/>
          </p:cNvGraphicFramePr>
          <p:nvPr/>
        </p:nvGraphicFramePr>
        <p:xfrm>
          <a:off x="2383352" y="4500656"/>
          <a:ext cx="296504" cy="504056"/>
        </p:xfrm>
        <a:graphic>
          <a:graphicData uri="http://schemas.openxmlformats.org/presentationml/2006/ole">
            <mc:AlternateContent xmlns:mc="http://schemas.openxmlformats.org/markup-compatibility/2006">
              <mc:Choice xmlns:v="urn:schemas-microsoft-com:vml" Requires="v">
                <p:oleObj spid="_x0000_s170516" name="Equation" r:id="rId16" imgW="127000" imgH="215265" progId="Equation.DSMT4">
                  <p:embed/>
                </p:oleObj>
              </mc:Choice>
              <mc:Fallback>
                <p:oleObj name="Equation" r:id="rId16" imgW="127000" imgH="215265" progId="Equation.DSMT4">
                  <p:embed/>
                  <p:pic>
                    <p:nvPicPr>
                      <p:cNvPr id="0" name="Picture 147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83352" y="4500656"/>
                        <a:ext cx="296504"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p:cNvGraphicFramePr>
            <a:graphicFrameLocks noChangeAspect="1"/>
          </p:cNvGraphicFramePr>
          <p:nvPr/>
        </p:nvGraphicFramePr>
        <p:xfrm>
          <a:off x="4360391" y="4358726"/>
          <a:ext cx="4183881" cy="858861"/>
        </p:xfrm>
        <a:graphic>
          <a:graphicData uri="http://schemas.openxmlformats.org/presentationml/2006/ole">
            <mc:AlternateContent xmlns:mc="http://schemas.openxmlformats.org/markup-compatibility/2006">
              <mc:Choice xmlns:v="urn:schemas-microsoft-com:vml" Requires="v">
                <p:oleObj spid="_x0000_s170517" name="Equation" r:id="rId18" imgW="2082800" imgH="431800" progId="Equation.DSMT4">
                  <p:embed/>
                </p:oleObj>
              </mc:Choice>
              <mc:Fallback>
                <p:oleObj name="Equation" r:id="rId18" imgW="2082800" imgH="431800" progId="Equation.DSMT4">
                  <p:embed/>
                  <p:pic>
                    <p:nvPicPr>
                      <p:cNvPr id="0" name="Picture 147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60391" y="4358726"/>
                        <a:ext cx="4183881" cy="8588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对象 36"/>
          <p:cNvGraphicFramePr>
            <a:graphicFrameLocks noChangeAspect="1"/>
          </p:cNvGraphicFramePr>
          <p:nvPr/>
        </p:nvGraphicFramePr>
        <p:xfrm>
          <a:off x="1415480" y="5271640"/>
          <a:ext cx="4853957" cy="848816"/>
        </p:xfrm>
        <a:graphic>
          <a:graphicData uri="http://schemas.openxmlformats.org/presentationml/2006/ole">
            <mc:AlternateContent xmlns:mc="http://schemas.openxmlformats.org/markup-compatibility/2006">
              <mc:Choice xmlns:v="urn:schemas-microsoft-com:vml" Requires="v">
                <p:oleObj spid="_x0000_s170518" name="Equation" r:id="rId20" imgW="2451100" imgH="431800" progId="Equation.DSMT4">
                  <p:embed/>
                </p:oleObj>
              </mc:Choice>
              <mc:Fallback>
                <p:oleObj name="Equation" r:id="rId20" imgW="2451100" imgH="431800" progId="Equation.DSMT4">
                  <p:embed/>
                  <p:pic>
                    <p:nvPicPr>
                      <p:cNvPr id="0" name="Picture 147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15480" y="5271640"/>
                        <a:ext cx="4853957" cy="8488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320099" y="3722624"/>
            <a:ext cx="1947969" cy="430887"/>
          </a:xfrm>
          <a:prstGeom prst="rect">
            <a:avLst/>
          </a:prstGeom>
        </p:spPr>
        <p:txBody>
          <a:bodyPr wrap="none">
            <a:spAutoFit/>
          </a:bodyPr>
          <a:lstStyle/>
          <a:p>
            <a:pPr marL="0" indent="0">
              <a:buNone/>
            </a:pPr>
            <a:r>
              <a:rPr lang="zh-CN" altLang="zh-CN" sz="2200" dirty="0">
                <a:latin typeface="Times New Roman" panose="02020603050405020304" pitchFamily="18" charset="0"/>
                <a:ea typeface="黑体" panose="02010609060101010101" pitchFamily="49" charset="-122"/>
              </a:rPr>
              <a:t>对数似然函数</a:t>
            </a:r>
            <a:r>
              <a:rPr lang="en-US" altLang="zh-CN" sz="2200" dirty="0">
                <a:latin typeface="Times New Roman" panose="02020603050405020304" pitchFamily="18" charset="0"/>
                <a:ea typeface="黑体" panose="02010609060101010101" pitchFamily="49" charset="-122"/>
              </a:rPr>
              <a:t> </a:t>
            </a:r>
            <a:endParaRPr lang="en-US" altLang="zh-CN" sz="2200" dirty="0">
              <a:latin typeface="Times New Roman" panose="02020603050405020304" pitchFamily="18" charset="0"/>
              <a:ea typeface="黑体" panose="02010609060101010101" pitchFamily="49" charset="-122"/>
            </a:endParaRPr>
          </a:p>
        </p:txBody>
      </p:sp>
      <p:sp>
        <p:nvSpPr>
          <p:cNvPr id="44" name="内容占位符 2"/>
          <p:cNvSpPr txBox="1"/>
          <p:nvPr/>
        </p:nvSpPr>
        <p:spPr bwMode="gray">
          <a:xfrm>
            <a:off x="407368" y="5332518"/>
            <a:ext cx="504056" cy="611357"/>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50000"/>
              </a:lnSpc>
              <a:spcBef>
                <a:spcPts val="0"/>
              </a:spcBef>
              <a:buFont typeface="Wingdings" panose="05000000000000000000" pitchFamily="2" charset="2"/>
              <a:buNone/>
            </a:pPr>
            <a:r>
              <a:rPr lang="zh-CN" altLang="en-US" sz="2200" kern="0" dirty="0">
                <a:latin typeface="Times New Roman" panose="02020603050405020304" pitchFamily="18" charset="0"/>
                <a:ea typeface="黑体" panose="02010609060101010101" pitchFamily="49" charset="-122"/>
              </a:rPr>
              <a:t>而</a:t>
            </a:r>
            <a:endParaRPr lang="zh-CN" altLang="en-US" sz="2200" kern="0" dirty="0">
              <a:latin typeface="Times New Roman" panose="02020603050405020304" pitchFamily="18" charset="0"/>
              <a:ea typeface="黑体"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14.3 </a:t>
            </a:r>
            <a:r>
              <a:rPr lang="zh-CN" altLang="zh-CN" dirty="0"/>
              <a:t>正态分布下的最大似然估计</a:t>
            </a:r>
            <a:endParaRPr lang="zh-CN" altLang="zh-CN" dirty="0"/>
          </a:p>
        </p:txBody>
      </p:sp>
      <p:sp>
        <p:nvSpPr>
          <p:cNvPr id="42" name="矩形 41"/>
          <p:cNvSpPr/>
          <p:nvPr/>
        </p:nvSpPr>
        <p:spPr>
          <a:xfrm>
            <a:off x="304132" y="1076139"/>
            <a:ext cx="2698175" cy="523220"/>
          </a:xfrm>
          <a:prstGeom prst="rect">
            <a:avLst/>
          </a:prstGeom>
        </p:spPr>
        <p:txBody>
          <a:bodyPr wrap="none">
            <a:spAutoFit/>
          </a:bodyPr>
          <a:lstStyle/>
          <a:p>
            <a:r>
              <a:rPr lang="zh-CN" altLang="zh-CN" sz="2800" b="1" dirty="0">
                <a:solidFill>
                  <a:srgbClr val="0000FF"/>
                </a:solidFill>
                <a:latin typeface="Arial" panose="020B0604020202020204" pitchFamily="34" charset="0"/>
              </a:rPr>
              <a:t>单变量正态分布</a:t>
            </a:r>
            <a:endParaRPr lang="zh-CN" altLang="en-US" sz="2800" b="1" dirty="0">
              <a:solidFill>
                <a:srgbClr val="0000FF"/>
              </a:solidFill>
              <a:latin typeface="Arial" panose="020B0604020202020204" pitchFamily="34" charset="0"/>
            </a:endParaRPr>
          </a:p>
        </p:txBody>
      </p:sp>
      <p:graphicFrame>
        <p:nvGraphicFramePr>
          <p:cNvPr id="36" name="对象 35"/>
          <p:cNvGraphicFramePr>
            <a:graphicFrameLocks noChangeAspect="1"/>
          </p:cNvGraphicFramePr>
          <p:nvPr/>
        </p:nvGraphicFramePr>
        <p:xfrm>
          <a:off x="3719736" y="1484784"/>
          <a:ext cx="4210323" cy="864289"/>
        </p:xfrm>
        <a:graphic>
          <a:graphicData uri="http://schemas.openxmlformats.org/presentationml/2006/ole">
            <mc:AlternateContent xmlns:mc="http://schemas.openxmlformats.org/markup-compatibility/2006">
              <mc:Choice xmlns:v="urn:schemas-microsoft-com:vml" Requires="v">
                <p:oleObj spid="_x0000_s128734" name="Equation" r:id="rId2" imgW="2082800" imgH="431800" progId="Equation.DSMT4">
                  <p:embed/>
                </p:oleObj>
              </mc:Choice>
              <mc:Fallback>
                <p:oleObj name="Equation" r:id="rId2" imgW="2082800" imgH="431800" progId="Equation.DSMT4">
                  <p:embed/>
                  <p:pic>
                    <p:nvPicPr>
                      <p:cNvPr id="0" name="Picture 69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9736" y="1484784"/>
                        <a:ext cx="4210323" cy="8642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对象 36"/>
          <p:cNvGraphicFramePr>
            <a:graphicFrameLocks noChangeAspect="1"/>
          </p:cNvGraphicFramePr>
          <p:nvPr/>
        </p:nvGraphicFramePr>
        <p:xfrm>
          <a:off x="450644" y="2780928"/>
          <a:ext cx="5141300" cy="858844"/>
        </p:xfrm>
        <a:graphic>
          <a:graphicData uri="http://schemas.openxmlformats.org/presentationml/2006/ole">
            <mc:AlternateContent xmlns:mc="http://schemas.openxmlformats.org/markup-compatibility/2006">
              <mc:Choice xmlns:v="urn:schemas-microsoft-com:vml" Requires="v">
                <p:oleObj spid="_x0000_s128735" name="Equation" r:id="rId4" imgW="2565400" imgH="431800" progId="Equation.DSMT4">
                  <p:embed/>
                </p:oleObj>
              </mc:Choice>
              <mc:Fallback>
                <p:oleObj name="Equation" r:id="rId4" imgW="2565400" imgH="431800" progId="Equation.DSMT4">
                  <p:embed/>
                  <p:pic>
                    <p:nvPicPr>
                      <p:cNvPr id="0" name="Picture 69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644" y="2780928"/>
                        <a:ext cx="5141300" cy="8588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对象 38"/>
          <p:cNvGraphicFramePr>
            <a:graphicFrameLocks noChangeAspect="1"/>
          </p:cNvGraphicFramePr>
          <p:nvPr/>
        </p:nvGraphicFramePr>
        <p:xfrm>
          <a:off x="450643" y="3972757"/>
          <a:ext cx="5141301" cy="1793806"/>
        </p:xfrm>
        <a:graphic>
          <a:graphicData uri="http://schemas.openxmlformats.org/presentationml/2006/ole">
            <mc:AlternateContent xmlns:mc="http://schemas.openxmlformats.org/markup-compatibility/2006">
              <mc:Choice xmlns:v="urn:schemas-microsoft-com:vml" Requires="v">
                <p:oleObj spid="_x0000_s128736" name="Equation" r:id="rId6" imgW="2628900" imgH="914400" progId="Equation.DSMT4">
                  <p:embed/>
                </p:oleObj>
              </mc:Choice>
              <mc:Fallback>
                <p:oleObj name="Equation" r:id="rId6" imgW="2628900" imgH="914400" progId="Equation.DSMT4">
                  <p:embed/>
                  <p:pic>
                    <p:nvPicPr>
                      <p:cNvPr id="0" name="Picture 69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643" y="3972757"/>
                        <a:ext cx="5141301" cy="17938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对象 39"/>
          <p:cNvGraphicFramePr>
            <a:graphicFrameLocks noChangeAspect="1"/>
          </p:cNvGraphicFramePr>
          <p:nvPr/>
        </p:nvGraphicFramePr>
        <p:xfrm>
          <a:off x="7104112" y="2317674"/>
          <a:ext cx="3787333" cy="1915104"/>
        </p:xfrm>
        <a:graphic>
          <a:graphicData uri="http://schemas.openxmlformats.org/presentationml/2006/ole">
            <mc:AlternateContent xmlns:mc="http://schemas.openxmlformats.org/markup-compatibility/2006">
              <mc:Choice xmlns:v="urn:schemas-microsoft-com:vml" Requires="v">
                <p:oleObj spid="_x0000_s128737" name="Equation" r:id="rId8" imgW="1955800" imgH="990600" progId="Equation.DSMT4">
                  <p:embed/>
                </p:oleObj>
              </mc:Choice>
              <mc:Fallback>
                <p:oleObj name="Equation" r:id="rId8" imgW="1955800" imgH="990600" progId="Equation.DSMT4">
                  <p:embed/>
                  <p:pic>
                    <p:nvPicPr>
                      <p:cNvPr id="0" name="Picture 69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04112" y="2317674"/>
                        <a:ext cx="3787333" cy="1915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对象 40"/>
          <p:cNvGraphicFramePr>
            <a:graphicFrameLocks noChangeAspect="1"/>
          </p:cNvGraphicFramePr>
          <p:nvPr/>
        </p:nvGraphicFramePr>
        <p:xfrm>
          <a:off x="7104112" y="4514875"/>
          <a:ext cx="3365500" cy="1722437"/>
        </p:xfrm>
        <a:graphic>
          <a:graphicData uri="http://schemas.openxmlformats.org/presentationml/2006/ole">
            <mc:AlternateContent xmlns:mc="http://schemas.openxmlformats.org/markup-compatibility/2006">
              <mc:Choice xmlns:v="urn:schemas-microsoft-com:vml" Requires="v">
                <p:oleObj spid="_x0000_s128738" name="Equation" r:id="rId10" imgW="1701800" imgH="889000" progId="Equation.DSMT4">
                  <p:embed/>
                </p:oleObj>
              </mc:Choice>
              <mc:Fallback>
                <p:oleObj name="Equation" r:id="rId10" imgW="1701800" imgH="889000" progId="Equation.DSMT4">
                  <p:embed/>
                  <p:pic>
                    <p:nvPicPr>
                      <p:cNvPr id="0" name="Picture 69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04112" y="4514875"/>
                        <a:ext cx="3365500" cy="1722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7" name="直接连接符 6"/>
          <p:cNvCxnSpPr/>
          <p:nvPr/>
        </p:nvCxnSpPr>
        <p:spPr>
          <a:xfrm>
            <a:off x="6312024" y="2480251"/>
            <a:ext cx="0" cy="3757061"/>
          </a:xfrm>
          <a:prstGeom prst="line">
            <a:avLst/>
          </a:prstGeom>
          <a:ln w="31750">
            <a:solidFill>
              <a:srgbClr val="FF0000"/>
            </a:solidFill>
            <a:prstDash val="dash"/>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14.3 </a:t>
            </a:r>
            <a:r>
              <a:rPr lang="zh-CN" altLang="zh-CN" dirty="0"/>
              <a:t>正态分布下的最大似然估计</a:t>
            </a:r>
            <a:endParaRPr lang="zh-CN" altLang="zh-CN" dirty="0"/>
          </a:p>
        </p:txBody>
      </p:sp>
      <p:sp>
        <p:nvSpPr>
          <p:cNvPr id="42" name="矩形 41"/>
          <p:cNvSpPr/>
          <p:nvPr/>
        </p:nvSpPr>
        <p:spPr>
          <a:xfrm>
            <a:off x="304132" y="1076139"/>
            <a:ext cx="6288901" cy="523220"/>
          </a:xfrm>
          <a:prstGeom prst="rect">
            <a:avLst/>
          </a:prstGeom>
        </p:spPr>
        <p:txBody>
          <a:bodyPr wrap="none">
            <a:spAutoFit/>
          </a:bodyPr>
          <a:lstStyle/>
          <a:p>
            <a:r>
              <a:rPr lang="zh-CN" altLang="zh-CN" sz="2800" b="1" dirty="0">
                <a:solidFill>
                  <a:srgbClr val="0000FF"/>
                </a:solidFill>
                <a:latin typeface="Arial" panose="020B0604020202020204" pitchFamily="34" charset="0"/>
              </a:rPr>
              <a:t>单变量正态分布</a:t>
            </a:r>
            <a:r>
              <a:rPr lang="zh-CN" altLang="en-US" sz="2800" b="1" dirty="0">
                <a:solidFill>
                  <a:srgbClr val="0000FF"/>
                </a:solidFill>
                <a:latin typeface="Arial" panose="020B0604020202020204" pitchFamily="34" charset="0"/>
              </a:rPr>
              <a:t>均值估计的期望和方差</a:t>
            </a:r>
            <a:endParaRPr lang="zh-CN" altLang="en-US" sz="2800" b="1" dirty="0">
              <a:solidFill>
                <a:srgbClr val="0000FF"/>
              </a:solidFill>
              <a:latin typeface="Arial" panose="020B0604020202020204" pitchFamily="34" charset="0"/>
            </a:endParaRPr>
          </a:p>
        </p:txBody>
      </p:sp>
      <p:graphicFrame>
        <p:nvGraphicFramePr>
          <p:cNvPr id="41" name="对象 40"/>
          <p:cNvGraphicFramePr>
            <a:graphicFrameLocks noChangeAspect="1"/>
          </p:cNvGraphicFramePr>
          <p:nvPr/>
        </p:nvGraphicFramePr>
        <p:xfrm>
          <a:off x="3575720" y="1707545"/>
          <a:ext cx="5400600" cy="785351"/>
        </p:xfrm>
        <a:graphic>
          <a:graphicData uri="http://schemas.openxmlformats.org/presentationml/2006/ole">
            <mc:AlternateContent xmlns:mc="http://schemas.openxmlformats.org/markup-compatibility/2006">
              <mc:Choice xmlns:v="urn:schemas-microsoft-com:vml" Requires="v">
                <p:oleObj spid="_x0000_s129461" name="Equation" r:id="rId2" imgW="2908300" imgH="431800" progId="Equation.DSMT4">
                  <p:embed/>
                </p:oleObj>
              </mc:Choice>
              <mc:Fallback>
                <p:oleObj name="Equation" r:id="rId2" imgW="2908300" imgH="431800" progId="Equation.DSMT4">
                  <p:embed/>
                  <p:pic>
                    <p:nvPicPr>
                      <p:cNvPr id="0" name="Picture 4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5720" y="1707545"/>
                        <a:ext cx="5400600" cy="785351"/>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5"/>
          <p:cNvGraphicFramePr>
            <a:graphicFrameLocks noChangeAspect="1"/>
          </p:cNvGraphicFramePr>
          <p:nvPr/>
        </p:nvGraphicFramePr>
        <p:xfrm>
          <a:off x="270794" y="3365970"/>
          <a:ext cx="10940061" cy="2520353"/>
        </p:xfrm>
        <a:graphic>
          <a:graphicData uri="http://schemas.openxmlformats.org/presentationml/2006/ole">
            <mc:AlternateContent xmlns:mc="http://schemas.openxmlformats.org/markup-compatibility/2006">
              <mc:Choice xmlns:v="urn:schemas-microsoft-com:vml" Requires="v">
                <p:oleObj spid="_x0000_s129462" name="Equation" r:id="rId4" imgW="5791200" imgH="1333500" progId="Equation.DSMT4">
                  <p:embed/>
                </p:oleObj>
              </mc:Choice>
              <mc:Fallback>
                <p:oleObj name="Equation" r:id="rId4" imgW="5791200" imgH="1333500" progId="Equation.DSMT4">
                  <p:embed/>
                  <p:pic>
                    <p:nvPicPr>
                      <p:cNvPr id="0" name="Picture 4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794" y="3365970"/>
                        <a:ext cx="10940061" cy="25203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4"/>
          <p:cNvGraphicFramePr>
            <a:graphicFrameLocks noChangeAspect="1"/>
          </p:cNvGraphicFramePr>
          <p:nvPr/>
        </p:nvGraphicFramePr>
        <p:xfrm>
          <a:off x="304132" y="2646988"/>
          <a:ext cx="5185497" cy="826718"/>
        </p:xfrm>
        <a:graphic>
          <a:graphicData uri="http://schemas.openxmlformats.org/presentationml/2006/ole">
            <mc:AlternateContent xmlns:mc="http://schemas.openxmlformats.org/markup-compatibility/2006">
              <mc:Choice xmlns:v="urn:schemas-microsoft-com:vml" Requires="v">
                <p:oleObj spid="_x0000_s129463" name="公式" r:id="rId6" imgW="2705100" imgH="431800" progId="Equation.3">
                  <p:embed/>
                </p:oleObj>
              </mc:Choice>
              <mc:Fallback>
                <p:oleObj name="公式" r:id="rId6" imgW="2705100" imgH="431800" progId="Equation.3">
                  <p:embed/>
                  <p:pic>
                    <p:nvPicPr>
                      <p:cNvPr id="0" name="Picture 4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132" y="2646988"/>
                        <a:ext cx="5185497" cy="8267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5"/>
          <p:cNvSpPr>
            <a:spLocks noChangeArrowheads="1"/>
          </p:cNvSpPr>
          <p:nvPr/>
        </p:nvSpPr>
        <p:spPr bwMode="auto">
          <a:xfrm>
            <a:off x="270794" y="6021288"/>
            <a:ext cx="9286907" cy="598936"/>
          </a:xfrm>
          <a:prstGeom prst="rect">
            <a:avLst/>
          </a:prstGeom>
          <a:noFill/>
          <a:ln w="9525">
            <a:noFill/>
            <a:miter lim="800000"/>
          </a:ln>
          <a:effectLst/>
        </p:spPr>
        <p:txBody>
          <a:bodyPr lIns="0" tIns="0" rIns="0" bIns="0"/>
          <a:lstStyle/>
          <a:p>
            <a:pPr marL="228600" indent="-228600" algn="l">
              <a:buClr>
                <a:schemeClr val="tx2"/>
              </a:buClr>
              <a:buSzPct val="70000"/>
              <a:buFont typeface="Wingdings" panose="05000000000000000000" pitchFamily="2" charset="2"/>
              <a:buNone/>
            </a:pPr>
            <a:r>
              <a:rPr lang="zh-CN" altLang="en-US" sz="2400" dirty="0">
                <a:latin typeface="Times New Roman" panose="02020603050405020304" pitchFamily="18" charset="0"/>
                <a:ea typeface="黑体" panose="02010609060101010101" pitchFamily="49" charset="-122"/>
              </a:rPr>
              <a:t>当</a:t>
            </a:r>
            <a:r>
              <a:rPr lang="en-US" altLang="zh-CN" sz="2400" dirty="0">
                <a:latin typeface="Times New Roman" panose="02020603050405020304" pitchFamily="18" charset="0"/>
                <a:ea typeface="黑体" panose="02010609060101010101" pitchFamily="49" charset="-122"/>
              </a:rPr>
              <a:t>n→∞</a:t>
            </a:r>
            <a:r>
              <a:rPr lang="zh-CN" altLang="en-US" sz="2400" dirty="0">
                <a:latin typeface="Times New Roman" panose="02020603050405020304" pitchFamily="18" charset="0"/>
                <a:ea typeface="黑体" panose="02010609060101010101" pitchFamily="49" charset="-122"/>
              </a:rPr>
              <a:t>时，估计值的方差趋于</a:t>
            </a:r>
            <a:r>
              <a:rPr lang="en-US" altLang="zh-CN" sz="2400" dirty="0">
                <a:latin typeface="Times New Roman" panose="02020603050405020304" pitchFamily="18" charset="0"/>
                <a:ea typeface="黑体" panose="02010609060101010101" pitchFamily="49" charset="-122"/>
              </a:rPr>
              <a:t>0</a:t>
            </a:r>
            <a:r>
              <a:rPr lang="zh-CN" altLang="en-US" sz="2400" dirty="0">
                <a:latin typeface="Times New Roman" panose="02020603050405020304" pitchFamily="18" charset="0"/>
                <a:ea typeface="黑体" panose="02010609060101010101" pitchFamily="49" charset="-122"/>
              </a:rPr>
              <a:t>，估计值收敛于真值。</a:t>
            </a:r>
            <a:endParaRPr lang="zh-CN" altLang="en-US" sz="2400" dirty="0">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321476" y="1076139"/>
            <a:ext cx="3365500" cy="1848805"/>
          </a:xfrm>
          <a:prstGeom prst="rect">
            <a:avLst/>
          </a:prstGeom>
          <a:solidFill>
            <a:schemeClr val="accent6">
              <a:lumMod val="20000"/>
              <a:lumOff val="80000"/>
            </a:schemeClr>
          </a:solidFill>
        </p:spPr>
        <p:txBody>
          <a:bodyPr wrap="none" rtlCol="0" anchor="ctr">
            <a:spAutoFit/>
          </a:bodyPr>
          <a:lstStyle/>
          <a:p>
            <a:pPr algn="ctr"/>
            <a:endParaRPr lang="zh-CN" altLang="en-US" sz="2400" kern="100" dirty="0">
              <a:ea typeface="宋体" panose="02010600030101010101" pitchFamily="2" charset="-122"/>
              <a:cs typeface="Times New Roman" panose="02020603050405020304"/>
            </a:endParaRPr>
          </a:p>
        </p:txBody>
      </p:sp>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14.3 </a:t>
            </a:r>
            <a:r>
              <a:rPr lang="zh-CN" altLang="zh-CN" dirty="0"/>
              <a:t>正态分布下的最大似然估计</a:t>
            </a:r>
            <a:endParaRPr lang="zh-CN" altLang="zh-CN" dirty="0"/>
          </a:p>
        </p:txBody>
      </p:sp>
      <p:sp>
        <p:nvSpPr>
          <p:cNvPr id="42" name="矩形 41"/>
          <p:cNvSpPr/>
          <p:nvPr/>
        </p:nvSpPr>
        <p:spPr>
          <a:xfrm>
            <a:off x="304132" y="1076139"/>
            <a:ext cx="2698175"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多</a:t>
            </a:r>
            <a:r>
              <a:rPr lang="zh-CN" altLang="zh-CN" sz="2800" b="1" dirty="0">
                <a:solidFill>
                  <a:srgbClr val="0000FF"/>
                </a:solidFill>
                <a:latin typeface="Arial" panose="020B0604020202020204" pitchFamily="34" charset="0"/>
              </a:rPr>
              <a:t>变量正态分布</a:t>
            </a:r>
            <a:endParaRPr lang="zh-CN" altLang="en-US" sz="2800" b="1" dirty="0">
              <a:solidFill>
                <a:srgbClr val="0000FF"/>
              </a:solidFill>
              <a:latin typeface="Arial" panose="020B0604020202020204" pitchFamily="34" charset="0"/>
            </a:endParaRPr>
          </a:p>
        </p:txBody>
      </p:sp>
      <p:graphicFrame>
        <p:nvGraphicFramePr>
          <p:cNvPr id="25" name="Object 3"/>
          <p:cNvGraphicFramePr>
            <a:graphicFrameLocks noChangeAspect="1"/>
          </p:cNvGraphicFramePr>
          <p:nvPr/>
        </p:nvGraphicFramePr>
        <p:xfrm>
          <a:off x="2541575" y="2441935"/>
          <a:ext cx="4240213" cy="1778000"/>
        </p:xfrm>
        <a:graphic>
          <a:graphicData uri="http://schemas.openxmlformats.org/presentationml/2006/ole">
            <mc:AlternateContent xmlns:mc="http://schemas.openxmlformats.org/markup-compatibility/2006">
              <mc:Choice xmlns:v="urn:schemas-microsoft-com:vml" Requires="v">
                <p:oleObj spid="_x0000_s130619" name="Equation" r:id="rId2" imgW="1778000" imgH="889000" progId="Equation.DSMT4">
                  <p:embed/>
                </p:oleObj>
              </mc:Choice>
              <mc:Fallback>
                <p:oleObj name="Equation" r:id="rId2" imgW="1778000" imgH="889000" progId="Equation.DSMT4">
                  <p:embed/>
                  <p:pic>
                    <p:nvPicPr>
                      <p:cNvPr id="0" name="Picture 5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1575" y="2441935"/>
                        <a:ext cx="4240213" cy="177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4"/>
          <p:cNvGraphicFramePr>
            <a:graphicFrameLocks noChangeAspect="1"/>
          </p:cNvGraphicFramePr>
          <p:nvPr/>
        </p:nvGraphicFramePr>
        <p:xfrm>
          <a:off x="7326837" y="4311012"/>
          <a:ext cx="4305964" cy="944532"/>
        </p:xfrm>
        <a:graphic>
          <a:graphicData uri="http://schemas.openxmlformats.org/presentationml/2006/ole">
            <mc:AlternateContent xmlns:mc="http://schemas.openxmlformats.org/markup-compatibility/2006">
              <mc:Choice xmlns:v="urn:schemas-microsoft-com:vml" Requires="v">
                <p:oleObj spid="_x0000_s130620" name="Equation" r:id="rId4" imgW="1651000" imgH="431800" progId="Equation.DSMT4">
                  <p:embed/>
                </p:oleObj>
              </mc:Choice>
              <mc:Fallback>
                <p:oleObj name="Equation" r:id="rId4" imgW="1651000" imgH="431800" progId="Equation.DSMT4">
                  <p:embed/>
                  <p:pic>
                    <p:nvPicPr>
                      <p:cNvPr id="0" name="Picture 5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26837" y="4311012"/>
                        <a:ext cx="4305964" cy="9445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5"/>
          <p:cNvSpPr>
            <a:spLocks noChangeArrowheads="1"/>
          </p:cNvSpPr>
          <p:nvPr/>
        </p:nvSpPr>
        <p:spPr bwMode="auto">
          <a:xfrm>
            <a:off x="401439" y="4497940"/>
            <a:ext cx="7920037" cy="936625"/>
          </a:xfrm>
          <a:prstGeom prst="rect">
            <a:avLst/>
          </a:prstGeom>
          <a:noFill/>
          <a:ln w="9525">
            <a:noFill/>
            <a:miter lim="800000"/>
          </a:ln>
          <a:effectLst/>
        </p:spPr>
        <p:txBody>
          <a:bodyPr/>
          <a:lstStyle/>
          <a:p>
            <a:pPr marL="342900" indent="-342900" algn="l">
              <a:lnSpc>
                <a:spcPct val="135000"/>
              </a:lnSpc>
              <a:spcBef>
                <a:spcPts val="0"/>
              </a:spcBef>
              <a:buSzPct val="100000"/>
              <a:buFont typeface="Arial" panose="020B0604020202020204" pitchFamily="34" charset="0"/>
              <a:buChar char="•"/>
            </a:pPr>
            <a:r>
              <a:rPr lang="zh-CN" altLang="en-US" sz="2200" dirty="0">
                <a:latin typeface="Times New Roman" panose="02020603050405020304" pitchFamily="18" charset="0"/>
                <a:ea typeface="黑体" panose="02010609060101010101" pitchFamily="49" charset="-122"/>
              </a:rPr>
              <a:t>均值估计是无偏的，协方差矩阵估计是有偏的。</a:t>
            </a:r>
            <a:endParaRPr lang="zh-CN" altLang="en-US" sz="2200" dirty="0">
              <a:latin typeface="Times New Roman" panose="02020603050405020304" pitchFamily="18" charset="0"/>
              <a:ea typeface="黑体" panose="02010609060101010101" pitchFamily="49" charset="-122"/>
            </a:endParaRPr>
          </a:p>
          <a:p>
            <a:pPr marL="342900" indent="-342900" algn="l">
              <a:lnSpc>
                <a:spcPct val="135000"/>
              </a:lnSpc>
              <a:spcBef>
                <a:spcPts val="0"/>
              </a:spcBef>
              <a:buSzPct val="100000"/>
              <a:buFont typeface="Arial" panose="020B0604020202020204" pitchFamily="34" charset="0"/>
              <a:buChar char="•"/>
            </a:pPr>
            <a:r>
              <a:rPr lang="zh-CN" altLang="en-US" sz="2200" dirty="0">
                <a:latin typeface="Times New Roman" panose="02020603050405020304" pitchFamily="18" charset="0"/>
                <a:ea typeface="黑体" panose="02010609060101010101" pitchFamily="49" charset="-122"/>
              </a:rPr>
              <a:t>协方差矩阵的无偏估计是：</a:t>
            </a:r>
            <a:endParaRPr lang="zh-CN" altLang="en-US" sz="2200" dirty="0">
              <a:latin typeface="Times New Roman" panose="02020603050405020304" pitchFamily="18" charset="0"/>
              <a:ea typeface="黑体" panose="02010609060101010101" pitchFamily="49" charset="-122"/>
            </a:endParaRPr>
          </a:p>
        </p:txBody>
      </p:sp>
      <p:graphicFrame>
        <p:nvGraphicFramePr>
          <p:cNvPr id="28" name="Object 6"/>
          <p:cNvGraphicFramePr>
            <a:graphicFrameLocks noChangeAspect="1"/>
          </p:cNvGraphicFramePr>
          <p:nvPr/>
        </p:nvGraphicFramePr>
        <p:xfrm>
          <a:off x="3236593" y="5371067"/>
          <a:ext cx="4864423" cy="898402"/>
        </p:xfrm>
        <a:graphic>
          <a:graphicData uri="http://schemas.openxmlformats.org/presentationml/2006/ole">
            <mc:AlternateContent xmlns:mc="http://schemas.openxmlformats.org/markup-compatibility/2006">
              <mc:Choice xmlns:v="urn:schemas-microsoft-com:vml" Requires="v">
                <p:oleObj spid="_x0000_s130621" name="Equation" r:id="rId6" imgW="1841500" imgH="431800" progId="Equation.DSMT4">
                  <p:embed/>
                </p:oleObj>
              </mc:Choice>
              <mc:Fallback>
                <p:oleObj name="Equation" r:id="rId6" imgW="1841500" imgH="431800" progId="Equation.DSMT4">
                  <p:embed/>
                  <p:pic>
                    <p:nvPicPr>
                      <p:cNvPr id="0" name="Picture 5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6593" y="5371067"/>
                        <a:ext cx="4864423" cy="8984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Rectangle 8"/>
          <p:cNvSpPr>
            <a:spLocks noChangeArrowheads="1"/>
          </p:cNvSpPr>
          <p:nvPr/>
        </p:nvSpPr>
        <p:spPr bwMode="auto">
          <a:xfrm>
            <a:off x="304132" y="1733043"/>
            <a:ext cx="6673622" cy="430887"/>
          </a:xfrm>
          <a:prstGeom prst="rect">
            <a:avLst/>
          </a:prstGeom>
          <a:noFill/>
          <a:ln w="9525">
            <a:noFill/>
            <a:miter lim="800000"/>
          </a:ln>
          <a:effectLst/>
        </p:spPr>
        <p:txBody>
          <a:bodyPr wrap="none">
            <a:spAutoFit/>
          </a:bodyPr>
          <a:lstStyle/>
          <a:p>
            <a:r>
              <a:rPr lang="zh-CN" altLang="en-US" sz="2200" dirty="0">
                <a:latin typeface="Times New Roman" panose="02020603050405020304" pitchFamily="18" charset="0"/>
                <a:ea typeface="黑体" panose="02010609060101010101" pitchFamily="49" charset="-122"/>
              </a:rPr>
              <a:t>对于一般的多元正态分布，计算方法完全类似，且有</a:t>
            </a:r>
            <a:endParaRPr lang="zh-CN" altLang="en-US" sz="2200" dirty="0">
              <a:latin typeface="Times New Roman" panose="02020603050405020304" pitchFamily="18" charset="0"/>
              <a:ea typeface="黑体" panose="02010609060101010101" pitchFamily="49" charset="-122"/>
            </a:endParaRPr>
          </a:p>
        </p:txBody>
      </p:sp>
      <p:graphicFrame>
        <p:nvGraphicFramePr>
          <p:cNvPr id="30" name="对象 29"/>
          <p:cNvGraphicFramePr>
            <a:graphicFrameLocks noChangeAspect="1"/>
          </p:cNvGraphicFramePr>
          <p:nvPr/>
        </p:nvGraphicFramePr>
        <p:xfrm>
          <a:off x="8580192" y="1384834"/>
          <a:ext cx="3077390" cy="1574985"/>
        </p:xfrm>
        <a:graphic>
          <a:graphicData uri="http://schemas.openxmlformats.org/presentationml/2006/ole">
            <mc:AlternateContent xmlns:mc="http://schemas.openxmlformats.org/markup-compatibility/2006">
              <mc:Choice xmlns:v="urn:schemas-microsoft-com:vml" Requires="v">
                <p:oleObj spid="_x0000_s130622" name="Equation" r:id="rId8" imgW="1701800" imgH="889000" progId="Equation.DSMT4">
                  <p:embed/>
                </p:oleObj>
              </mc:Choice>
              <mc:Fallback>
                <p:oleObj name="Equation" r:id="rId8" imgW="1701800" imgH="889000" progId="Equation.DSMT4">
                  <p:embed/>
                  <p:pic>
                    <p:nvPicPr>
                      <p:cNvPr id="0" name="Picture 54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80192" y="1384834"/>
                        <a:ext cx="3077390" cy="1574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矩形 30"/>
          <p:cNvSpPr/>
          <p:nvPr/>
        </p:nvSpPr>
        <p:spPr>
          <a:xfrm>
            <a:off x="9103979" y="1043444"/>
            <a:ext cx="1800493" cy="369332"/>
          </a:xfrm>
          <a:prstGeom prst="rect">
            <a:avLst/>
          </a:prstGeom>
        </p:spPr>
        <p:txBody>
          <a:bodyPr wrap="none">
            <a:spAutoFit/>
          </a:bodyPr>
          <a:lstStyle/>
          <a:p>
            <a:r>
              <a:rPr lang="zh-CN" altLang="en-US" dirty="0">
                <a:solidFill>
                  <a:srgbClr val="FF0000"/>
                </a:solidFill>
                <a:latin typeface="黑体" panose="02010609060101010101" pitchFamily="49" charset="-122"/>
                <a:ea typeface="黑体" panose="02010609060101010101" pitchFamily="49" charset="-122"/>
              </a:rPr>
              <a:t>单</a:t>
            </a:r>
            <a:r>
              <a:rPr lang="zh-CN" altLang="zh-CN" dirty="0">
                <a:solidFill>
                  <a:srgbClr val="FF0000"/>
                </a:solidFill>
                <a:latin typeface="黑体" panose="02010609060101010101" pitchFamily="49" charset="-122"/>
                <a:ea typeface="黑体" panose="02010609060101010101" pitchFamily="49" charset="-122"/>
              </a:rPr>
              <a:t>变量正态分布</a:t>
            </a:r>
            <a:endParaRPr lang="zh-CN" altLang="en-US" dirty="0">
              <a:solidFill>
                <a:srgbClr val="FF0000"/>
              </a:solidFill>
              <a:latin typeface="黑体" panose="02010609060101010101" pitchFamily="49" charset="-122"/>
              <a:ea typeface="黑体"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15680" y="1149255"/>
            <a:ext cx="6768752" cy="3101362"/>
          </a:xfrm>
          <a:prstGeom prst="rect">
            <a:avLst/>
          </a:prstGeom>
          <a:noFill/>
        </p:spPr>
        <p:txBody>
          <a:bodyPr wrap="square" rtlCol="0">
            <a:spAutoFit/>
          </a:bodyPr>
          <a:lstStyle/>
          <a:p>
            <a:pPr>
              <a:lnSpc>
                <a:spcPct val="130000"/>
              </a:lnSpc>
              <a:spcBef>
                <a:spcPts val="200"/>
              </a:spcBef>
            </a:pPr>
            <a:r>
              <a:rPr lang="en-US" altLang="zh-CN" sz="2400" b="1" dirty="0">
                <a:latin typeface="宋体" panose="02010600030101010101" pitchFamily="2" charset="-122"/>
                <a:ea typeface="宋体" panose="02010600030101010101" pitchFamily="2" charset="-122"/>
              </a:rPr>
              <a:t>14.1 </a:t>
            </a:r>
            <a:r>
              <a:rPr lang="zh-CN" altLang="zh-CN" sz="2400" b="1" dirty="0">
                <a:latin typeface="宋体" panose="02010600030101010101" pitchFamily="2" charset="-122"/>
                <a:ea typeface="宋体" panose="02010600030101010101" pitchFamily="2" charset="-122"/>
              </a:rPr>
              <a:t>最大似然估计基本原理</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14.2 </a:t>
            </a:r>
            <a:r>
              <a:rPr lang="zh-CN" altLang="zh-CN" sz="2400" b="1" dirty="0">
                <a:latin typeface="宋体" panose="02010600030101010101" pitchFamily="2" charset="-122"/>
                <a:ea typeface="宋体" panose="02010600030101010101" pitchFamily="2" charset="-122"/>
              </a:rPr>
              <a:t>最大似然估计的求解</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14.3 </a:t>
            </a:r>
            <a:r>
              <a:rPr lang="zh-CN" altLang="zh-CN" sz="2400" b="1" dirty="0">
                <a:latin typeface="宋体" panose="02010600030101010101" pitchFamily="2" charset="-122"/>
                <a:ea typeface="宋体" panose="02010600030101010101" pitchFamily="2" charset="-122"/>
              </a:rPr>
              <a:t>正态分布下的最大似然估计</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solidFill>
                  <a:srgbClr val="0000FF"/>
                </a:solidFill>
                <a:latin typeface="宋体" panose="02010600030101010101" pitchFamily="2" charset="-122"/>
                <a:ea typeface="宋体" panose="02010600030101010101" pitchFamily="2" charset="-122"/>
              </a:rPr>
              <a:t>14.4 </a:t>
            </a:r>
            <a:r>
              <a:rPr lang="zh-CN" altLang="zh-CN" sz="2400" b="1" dirty="0">
                <a:solidFill>
                  <a:srgbClr val="0000FF"/>
                </a:solidFill>
                <a:latin typeface="宋体" panose="02010600030101010101" pitchFamily="2" charset="-122"/>
                <a:ea typeface="宋体" panose="02010600030101010101" pitchFamily="2" charset="-122"/>
              </a:rPr>
              <a:t>贝叶斯估计</a:t>
            </a:r>
            <a:endParaRPr lang="zh-CN" altLang="zh-CN" sz="2400" b="1" dirty="0">
              <a:solidFill>
                <a:srgbClr val="0000FF"/>
              </a:solidFill>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14.5 </a:t>
            </a:r>
            <a:r>
              <a:rPr lang="zh-CN" altLang="zh-CN" sz="2400" b="1" dirty="0">
                <a:latin typeface="宋体" panose="02010600030101010101" pitchFamily="2" charset="-122"/>
                <a:ea typeface="宋体" panose="02010600030101010101" pitchFamily="2" charset="-122"/>
              </a:rPr>
              <a:t>贝叶斯学习</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14.6 </a:t>
            </a:r>
            <a:r>
              <a:rPr lang="zh-CN" altLang="zh-CN" sz="2400" b="1" dirty="0">
                <a:latin typeface="宋体" panose="02010600030101010101" pitchFamily="2" charset="-122"/>
                <a:ea typeface="宋体" panose="02010600030101010101" pitchFamily="2" charset="-122"/>
              </a:rPr>
              <a:t>正态分布下的贝叶斯估计</a:t>
            </a:r>
            <a:endParaRPr lang="zh-CN" altLang="zh-CN" sz="2400" b="1" dirty="0">
              <a:latin typeface="宋体" panose="02010600030101010101" pitchFamily="2" charset="-122"/>
              <a:ea typeface="宋体" panose="02010600030101010101" pitchFamily="2" charset="-122"/>
            </a:endParaRPr>
          </a:p>
        </p:txBody>
      </p:sp>
      <p:sp>
        <p:nvSpPr>
          <p:cNvPr id="8" name="Freeform 6"/>
          <p:cNvSpPr/>
          <p:nvPr/>
        </p:nvSpPr>
        <p:spPr bwMode="auto">
          <a:xfrm>
            <a:off x="0" y="5589240"/>
            <a:ext cx="12192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ln>
        </p:spPr>
        <p:txBody>
          <a:bodyPr vert="horz" wrap="square" lIns="128580" tIns="64290" rIns="128580" bIns="64290" numCol="1" anchor="t" anchorCtr="0" compatLnSpc="1"/>
          <a:lstStyle/>
          <a:p>
            <a:endParaRPr lang="zh-CN" altLang="en-US"/>
          </a:p>
        </p:txBody>
      </p:sp>
      <p:sp>
        <p:nvSpPr>
          <p:cNvPr id="9" name="Freeform 7"/>
          <p:cNvSpPr/>
          <p:nvPr/>
        </p:nvSpPr>
        <p:spPr bwMode="auto">
          <a:xfrm>
            <a:off x="-24680" y="5425669"/>
            <a:ext cx="12216680" cy="357166"/>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ln>
        </p:spPr>
        <p:txBody>
          <a:bodyPr vert="horz" wrap="square" lIns="128580" tIns="64290" rIns="128580" bIns="64290" numCol="1" anchor="t" anchorCtr="0" compatLnSpc="1"/>
          <a:lstStyle/>
          <a:p>
            <a:endParaRPr lang="zh-CN" altLang="en-US">
              <a:solidFill>
                <a:schemeClr val="tx2">
                  <a:lumMod val="20000"/>
                  <a:lumOff val="80000"/>
                </a:schemeClr>
              </a:solidFill>
            </a:endParaRPr>
          </a:p>
        </p:txBody>
      </p:sp>
      <p:pic>
        <p:nvPicPr>
          <p:cNvPr id="3" name="图片 2"/>
          <p:cNvPicPr>
            <a:picLocks noChangeAspect="1"/>
          </p:cNvPicPr>
          <p:nvPr/>
        </p:nvPicPr>
        <p:blipFill>
          <a:blip r:embed="rId1"/>
          <a:stretch>
            <a:fillRect/>
          </a:stretch>
        </p:blipFill>
        <p:spPr>
          <a:xfrm>
            <a:off x="0" y="6468398"/>
            <a:ext cx="1349719" cy="404664"/>
          </a:xfrm>
          <a:prstGeom prst="rect">
            <a:avLst/>
          </a:prstGeom>
        </p:spPr>
      </p:pic>
      <p:sp>
        <p:nvSpPr>
          <p:cNvPr id="6" name="文本框 5"/>
          <p:cNvSpPr txBox="1"/>
          <p:nvPr/>
        </p:nvSpPr>
        <p:spPr>
          <a:xfrm>
            <a:off x="-24680" y="6436962"/>
            <a:ext cx="5472608" cy="461665"/>
          </a:xfrm>
          <a:prstGeom prst="rect">
            <a:avLst/>
          </a:prstGeom>
          <a:noFill/>
        </p:spPr>
        <p:txBody>
          <a:bodyPr wrap="square" rtlCol="0">
            <a:spAutoFit/>
          </a:bodyPr>
          <a:lstStyle/>
          <a:p>
            <a:r>
              <a:rPr lang="zh-CN" altLang="en-US" sz="2400" b="1" dirty="0">
                <a:solidFill>
                  <a:srgbClr val="0000FF"/>
                </a:solidFill>
              </a:rPr>
              <a:t>人工智能与自动化学院        </a:t>
            </a:r>
            <a:endParaRPr lang="zh-CN" altLang="en-US" sz="2400" b="1" dirty="0">
              <a:solidFill>
                <a:srgbClr val="0000FF"/>
              </a:solidFill>
            </a:endParaRPr>
          </a:p>
        </p:txBody>
      </p:sp>
      <p:sp>
        <p:nvSpPr>
          <p:cNvPr id="12" name="标题 1"/>
          <p:cNvSpPr txBox="1"/>
          <p:nvPr/>
        </p:nvSpPr>
        <p:spPr bwMode="black">
          <a:xfrm>
            <a:off x="407368" y="188640"/>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zh-CN" altLang="en-US" kern="0" dirty="0"/>
              <a:t>第</a:t>
            </a:r>
            <a:r>
              <a:rPr lang="en-US" altLang="zh-CN" kern="0" dirty="0"/>
              <a:t>14</a:t>
            </a:r>
            <a:r>
              <a:rPr lang="zh-CN" altLang="en-US" kern="0" dirty="0"/>
              <a:t>讲 </a:t>
            </a:r>
            <a:r>
              <a:rPr lang="zh-CN" altLang="zh-CN" dirty="0"/>
              <a:t>概率密度函数的参数估计</a:t>
            </a:r>
            <a:endParaRPr lang="zh-CN" altLang="zh-CN" dirty="0"/>
          </a:p>
        </p:txBody>
      </p:sp>
      <p:sp>
        <p:nvSpPr>
          <p:cNvPr id="7" name="灯片编号占位符 6"/>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14.4 </a:t>
            </a:r>
            <a:r>
              <a:rPr lang="zh-CN" altLang="zh-CN" dirty="0"/>
              <a:t>贝叶斯估计</a:t>
            </a:r>
            <a:endParaRPr lang="zh-CN" altLang="zh-CN" dirty="0"/>
          </a:p>
        </p:txBody>
      </p:sp>
      <p:sp>
        <p:nvSpPr>
          <p:cNvPr id="42" name="矩形 41"/>
          <p:cNvSpPr/>
          <p:nvPr/>
        </p:nvSpPr>
        <p:spPr>
          <a:xfrm>
            <a:off x="304132" y="1076139"/>
            <a:ext cx="5554726" cy="954107"/>
          </a:xfrm>
          <a:prstGeom prst="rect">
            <a:avLst/>
          </a:prstGeom>
        </p:spPr>
        <p:txBody>
          <a:bodyPr wrap="none">
            <a:spAutoFit/>
          </a:bodyPr>
          <a:lstStyle/>
          <a:p>
            <a:r>
              <a:rPr lang="zh-CN" altLang="en-US" sz="2800" b="1" dirty="0">
                <a:solidFill>
                  <a:srgbClr val="0000FF"/>
                </a:solidFill>
                <a:latin typeface="Arial" panose="020B0604020202020204" pitchFamily="34" charset="0"/>
              </a:rPr>
              <a:t>最大似然估计和</a:t>
            </a:r>
            <a:r>
              <a:rPr lang="en-US" altLang="zh-CN" sz="2800" b="1" dirty="0">
                <a:solidFill>
                  <a:srgbClr val="0000FF"/>
                </a:solidFill>
                <a:latin typeface="Arial" panose="020B0604020202020204" pitchFamily="34" charset="0"/>
              </a:rPr>
              <a:t>Bayes</a:t>
            </a:r>
            <a:r>
              <a:rPr lang="zh-CN" altLang="en-US" sz="2800" b="1" dirty="0">
                <a:solidFill>
                  <a:srgbClr val="0000FF"/>
                </a:solidFill>
                <a:latin typeface="Arial" panose="020B0604020202020204" pitchFamily="34" charset="0"/>
              </a:rPr>
              <a:t>估计的区别</a:t>
            </a:r>
            <a:endParaRPr lang="zh-CN" altLang="en-US" sz="2800" b="1" dirty="0">
              <a:solidFill>
                <a:srgbClr val="0000FF"/>
              </a:solidFill>
              <a:latin typeface="Arial" panose="020B0604020202020204" pitchFamily="34" charset="0"/>
            </a:endParaRPr>
          </a:p>
          <a:p>
            <a:endParaRPr lang="zh-CN" altLang="en-US" sz="2800" b="1" dirty="0">
              <a:solidFill>
                <a:srgbClr val="FF0000"/>
              </a:solidFill>
              <a:ea typeface="黑体" panose="02010609060101010101" pitchFamily="49" charset="-122"/>
            </a:endParaRPr>
          </a:p>
        </p:txBody>
      </p:sp>
      <p:sp>
        <p:nvSpPr>
          <p:cNvPr id="13" name="Rectangle 2"/>
          <p:cNvSpPr>
            <a:spLocks noGrp="1" noChangeArrowheads="1"/>
          </p:cNvSpPr>
          <p:nvPr>
            <p:ph idx="1"/>
          </p:nvPr>
        </p:nvSpPr>
        <p:spPr>
          <a:xfrm>
            <a:off x="335360" y="1779901"/>
            <a:ext cx="11521280" cy="2644314"/>
          </a:xfrm>
        </p:spPr>
        <p:txBody>
          <a:bodyPr wrap="square" lIns="90488" tIns="44450" rIns="90488" bIns="44450">
            <a:spAutoFit/>
          </a:bodyPr>
          <a:lstStyle/>
          <a:p>
            <a:pPr marL="0" indent="0">
              <a:lnSpc>
                <a:spcPct val="130000"/>
              </a:lnSpc>
              <a:spcBef>
                <a:spcPts val="0"/>
              </a:spcBef>
              <a:buNone/>
            </a:pPr>
            <a:r>
              <a:rPr lang="zh-CN" altLang="en-US" sz="2400" dirty="0">
                <a:ea typeface="黑体" panose="02010609060101010101" pitchFamily="49" charset="-122"/>
              </a:rPr>
              <a:t>两种方法估计的参数的结果接近，但过程有区别：</a:t>
            </a:r>
            <a:endParaRPr lang="en-US" altLang="zh-CN" sz="2400" dirty="0">
              <a:ea typeface="黑体" panose="02010609060101010101" pitchFamily="49" charset="-122"/>
            </a:endParaRPr>
          </a:p>
          <a:p>
            <a:pPr>
              <a:lnSpc>
                <a:spcPct val="130000"/>
              </a:lnSpc>
              <a:spcBef>
                <a:spcPts val="600"/>
              </a:spcBef>
              <a:buFont typeface="Arial" panose="020B0604020202020204" pitchFamily="34" charset="0"/>
              <a:buChar char="•"/>
              <a:tabLst>
                <a:tab pos="95250" algn="l"/>
              </a:tabLst>
            </a:pPr>
            <a:r>
              <a:rPr lang="zh-CN" altLang="en-US" sz="2400" dirty="0">
                <a:solidFill>
                  <a:srgbClr val="0070C0"/>
                </a:solidFill>
                <a:ea typeface="黑体" panose="02010609060101010101" pitchFamily="49" charset="-122"/>
              </a:rPr>
              <a:t>前者将未知参数看成是确定变量，在实际样本观察的概率最大的条件下，获得未知参数的最好的估计；</a:t>
            </a:r>
            <a:endParaRPr lang="en-US" altLang="zh-CN" sz="2400" dirty="0">
              <a:solidFill>
                <a:srgbClr val="0070C0"/>
              </a:solidFill>
              <a:ea typeface="黑体" panose="02010609060101010101" pitchFamily="49" charset="-122"/>
            </a:endParaRPr>
          </a:p>
          <a:p>
            <a:pPr>
              <a:lnSpc>
                <a:spcPct val="130000"/>
              </a:lnSpc>
              <a:spcBef>
                <a:spcPts val="600"/>
              </a:spcBef>
              <a:buFont typeface="Arial" panose="020B0604020202020204" pitchFamily="34" charset="0"/>
              <a:buChar char="•"/>
              <a:tabLst>
                <a:tab pos="95250" algn="l"/>
              </a:tabLst>
            </a:pPr>
            <a:r>
              <a:rPr lang="zh-CN" altLang="en-US" sz="2400" dirty="0">
                <a:solidFill>
                  <a:srgbClr val="0070C0"/>
                </a:solidFill>
                <a:ea typeface="黑体" panose="02010609060101010101" pitchFamily="49" charset="-122"/>
              </a:rPr>
              <a:t>后者将未知参数看成是按某种分布的随机变量，样本的观察结果由先验分布转化为后验分布，再由后验分布修正参数的估计值。</a:t>
            </a:r>
            <a:endParaRPr lang="zh-CN" altLang="en-US" sz="2400" dirty="0">
              <a:solidFill>
                <a:srgbClr val="0070C0"/>
              </a:solidFill>
              <a:ea typeface="黑体" panose="0201060906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63352" y="1752432"/>
            <a:ext cx="11737304" cy="1604228"/>
          </a:xfrm>
          <a:prstGeom prst="rect">
            <a:avLst/>
          </a:prstGeom>
          <a:solidFill>
            <a:schemeClr val="accent6">
              <a:lumMod val="20000"/>
              <a:lumOff val="80000"/>
            </a:schemeClr>
          </a:solidFill>
        </p:spPr>
        <p:txBody>
          <a:bodyPr wrap="none" rtlCol="0" anchor="ctr">
            <a:spAutoFit/>
          </a:bodyPr>
          <a:lstStyle/>
          <a:p>
            <a:pPr algn="ctr"/>
            <a:endParaRPr lang="zh-CN" altLang="en-US" sz="2400" kern="100" dirty="0">
              <a:ea typeface="宋体" panose="02010600030101010101" pitchFamily="2" charset="-122"/>
              <a:cs typeface="Times New Roman" panose="02020603050405020304"/>
            </a:endParaRPr>
          </a:p>
        </p:txBody>
      </p:sp>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14.4 </a:t>
            </a:r>
            <a:r>
              <a:rPr lang="zh-CN" altLang="zh-CN" dirty="0"/>
              <a:t>贝叶斯估计</a:t>
            </a:r>
            <a:endParaRPr lang="zh-CN" altLang="zh-CN" dirty="0"/>
          </a:p>
        </p:txBody>
      </p:sp>
      <p:sp>
        <p:nvSpPr>
          <p:cNvPr id="12" name="内容占位符 2"/>
          <p:cNvSpPr>
            <a:spLocks noGrp="1"/>
          </p:cNvSpPr>
          <p:nvPr>
            <p:ph idx="1"/>
          </p:nvPr>
        </p:nvSpPr>
        <p:spPr>
          <a:xfrm>
            <a:off x="388368" y="1196752"/>
            <a:ext cx="11552508" cy="2871219"/>
          </a:xfrm>
        </p:spPr>
        <p:txBody>
          <a:bodyPr/>
          <a:lstStyle/>
          <a:p>
            <a:pPr marL="0" indent="0">
              <a:lnSpc>
                <a:spcPct val="130000"/>
              </a:lnSpc>
              <a:spcBef>
                <a:spcPts val="0"/>
              </a:spcBef>
              <a:buNone/>
            </a:pPr>
            <a:r>
              <a:rPr lang="zh-CN" altLang="zh-CN" sz="2200" dirty="0">
                <a:solidFill>
                  <a:srgbClr val="FF0000"/>
                </a:solidFill>
                <a:latin typeface="Times New Roman" panose="02020603050405020304" pitchFamily="18" charset="0"/>
                <a:ea typeface="黑体" panose="02010609060101010101" pitchFamily="49" charset="-122"/>
              </a:rPr>
              <a:t>贝叶斯估计</a:t>
            </a:r>
            <a:r>
              <a:rPr lang="zh-CN" altLang="zh-CN" sz="2200" dirty="0">
                <a:latin typeface="Times New Roman" panose="02020603050405020304" pitchFamily="18" charset="0"/>
                <a:ea typeface="黑体" panose="02010609060101010101" pitchFamily="49" charset="-122"/>
              </a:rPr>
              <a:t>思路与贝叶斯决策类似，只是离散的决策状态变成了连续的估计。</a:t>
            </a:r>
            <a:endParaRPr lang="en-US" altLang="zh-CN" sz="2200" dirty="0">
              <a:latin typeface="Times New Roman" panose="02020603050405020304" pitchFamily="18" charset="0"/>
              <a:ea typeface="黑体" panose="02010609060101010101" pitchFamily="49" charset="-122"/>
            </a:endParaRPr>
          </a:p>
          <a:p>
            <a:pPr marL="0" indent="0">
              <a:lnSpc>
                <a:spcPct val="130000"/>
              </a:lnSpc>
              <a:spcBef>
                <a:spcPts val="1200"/>
              </a:spcBef>
              <a:buNone/>
            </a:pPr>
            <a:r>
              <a:rPr lang="zh-CN" altLang="zh-CN" sz="2200" dirty="0">
                <a:solidFill>
                  <a:srgbClr val="0000FF"/>
                </a:solidFill>
                <a:latin typeface="Times New Roman" panose="02020603050405020304" pitchFamily="18" charset="0"/>
                <a:ea typeface="黑体" panose="02010609060101010101" pitchFamily="49" charset="-122"/>
              </a:rPr>
              <a:t>基本思想：</a:t>
            </a:r>
            <a:endParaRPr lang="en-US" altLang="zh-CN" sz="2200" dirty="0">
              <a:solidFill>
                <a:srgbClr val="0000FF"/>
              </a:solidFill>
              <a:latin typeface="Times New Roman" panose="02020603050405020304" pitchFamily="18" charset="0"/>
              <a:ea typeface="黑体" panose="02010609060101010101" pitchFamily="49" charset="-122"/>
            </a:endParaRPr>
          </a:p>
          <a:p>
            <a:pPr marL="0" indent="0">
              <a:lnSpc>
                <a:spcPct val="130000"/>
              </a:lnSpc>
              <a:spcBef>
                <a:spcPts val="600"/>
              </a:spcBef>
              <a:buNone/>
            </a:pPr>
            <a:r>
              <a:rPr lang="zh-CN" altLang="zh-CN" sz="2200" dirty="0">
                <a:latin typeface="Times New Roman" panose="02020603050405020304" pitchFamily="18" charset="0"/>
                <a:ea typeface="黑体" panose="02010609060101010101" pitchFamily="49" charset="-122"/>
              </a:rPr>
              <a:t>把待估计参数</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看作具有先验</a:t>
            </a:r>
            <a:r>
              <a:rPr lang="zh-CN" altLang="en-US" sz="2200" dirty="0">
                <a:latin typeface="Times New Roman" panose="02020603050405020304" pitchFamily="18" charset="0"/>
                <a:ea typeface="黑体" panose="02010609060101010101" pitchFamily="49" charset="-122"/>
              </a:rPr>
              <a:t>概率密度函数</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的随机变量，其取值与样本集</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有关，根据样本集</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估</a:t>
            </a:r>
            <a:r>
              <a:rPr lang="zh-CN" altLang="en-US" sz="2200" dirty="0">
                <a:latin typeface="Times New Roman" panose="02020603050405020304" pitchFamily="18" charset="0"/>
                <a:ea typeface="黑体" panose="02010609060101010101" pitchFamily="49" charset="-122"/>
              </a:rPr>
              <a:t>计      。         </a:t>
            </a:r>
            <a:endParaRPr lang="en-US" altLang="zh-CN" sz="2200" dirty="0">
              <a:latin typeface="Times New Roman" panose="02020603050405020304" pitchFamily="18" charset="0"/>
              <a:ea typeface="黑体" panose="02010609060101010101" pitchFamily="49" charset="-122"/>
            </a:endParaRPr>
          </a:p>
          <a:p>
            <a:pPr marL="0" indent="0">
              <a:lnSpc>
                <a:spcPct val="130000"/>
              </a:lnSpc>
              <a:spcBef>
                <a:spcPts val="2400"/>
              </a:spcBef>
              <a:buNone/>
            </a:pPr>
            <a:r>
              <a:rPr lang="zh-CN" altLang="zh-CN" sz="2200" dirty="0">
                <a:solidFill>
                  <a:schemeClr val="accent6">
                    <a:lumMod val="50000"/>
                  </a:schemeClr>
                </a:solidFill>
                <a:latin typeface="Times New Roman" panose="02020603050405020304" pitchFamily="18" charset="0"/>
                <a:ea typeface="黑体" panose="02010609060101010101" pitchFamily="49" charset="-122"/>
              </a:rPr>
              <a:t>损失函数：</a:t>
            </a:r>
            <a:r>
              <a:rPr lang="zh-CN" altLang="zh-CN" sz="2200" dirty="0">
                <a:latin typeface="Times New Roman" panose="02020603050405020304" pitchFamily="18" charset="0"/>
                <a:ea typeface="黑体" panose="02010609060101010101" pitchFamily="49" charset="-122"/>
              </a:rPr>
              <a:t>把</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估计为</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所造成的损失，记为</a:t>
            </a:r>
            <a:r>
              <a:rPr lang="en-US" altLang="zh-CN" sz="2200" dirty="0">
                <a:latin typeface="Times New Roman" panose="02020603050405020304" pitchFamily="18" charset="0"/>
                <a:ea typeface="黑体" panose="02010609060101010101" pitchFamily="49" charset="-122"/>
              </a:rPr>
              <a:t> </a:t>
            </a:r>
            <a:endParaRPr lang="zh-CN" altLang="zh-CN" sz="2200" dirty="0">
              <a:latin typeface="Times New Roman" panose="02020603050405020304" pitchFamily="18" charset="0"/>
              <a:ea typeface="黑体" panose="02010609060101010101" pitchFamily="49" charset="-122"/>
            </a:endParaRPr>
          </a:p>
          <a:p>
            <a:pPr marL="0" indent="0">
              <a:lnSpc>
                <a:spcPct val="130000"/>
              </a:lnSpc>
              <a:spcBef>
                <a:spcPts val="0"/>
              </a:spcBef>
              <a:buNone/>
            </a:pPr>
            <a:endParaRPr lang="zh-CN" altLang="en-US" sz="2200" dirty="0">
              <a:latin typeface="Times New Roman" panose="02020603050405020304" pitchFamily="18" charset="0"/>
              <a:ea typeface="黑体" panose="02010609060101010101" pitchFamily="49" charset="-122"/>
            </a:endParaRPr>
          </a:p>
        </p:txBody>
      </p:sp>
      <p:graphicFrame>
        <p:nvGraphicFramePr>
          <p:cNvPr id="13" name="对象 12"/>
          <p:cNvGraphicFramePr>
            <a:graphicFrameLocks noChangeAspect="1"/>
          </p:cNvGraphicFramePr>
          <p:nvPr/>
        </p:nvGraphicFramePr>
        <p:xfrm>
          <a:off x="2243572" y="2371645"/>
          <a:ext cx="288032" cy="394149"/>
        </p:xfrm>
        <a:graphic>
          <a:graphicData uri="http://schemas.openxmlformats.org/presentationml/2006/ole">
            <mc:AlternateContent xmlns:mc="http://schemas.openxmlformats.org/markup-compatibility/2006">
              <mc:Choice xmlns:v="urn:schemas-microsoft-com:vml" Requires="v">
                <p:oleObj spid="_x0000_s177346" name="Equation" r:id="rId2" imgW="127000" imgH="177165" progId="Equation.DSMT4">
                  <p:embed/>
                </p:oleObj>
              </mc:Choice>
              <mc:Fallback>
                <p:oleObj name="Equation" r:id="rId2" imgW="127000" imgH="177165" progId="Equation.DSMT4">
                  <p:embed/>
                  <p:pic>
                    <p:nvPicPr>
                      <p:cNvPr id="0" name="Picture 11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3572" y="2371645"/>
                        <a:ext cx="288032" cy="3941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nvGraphicFramePr>
        <p:xfrm>
          <a:off x="5894832" y="2348314"/>
          <a:ext cx="728609" cy="431768"/>
        </p:xfrm>
        <a:graphic>
          <a:graphicData uri="http://schemas.openxmlformats.org/presentationml/2006/ole">
            <mc:AlternateContent xmlns:mc="http://schemas.openxmlformats.org/markup-compatibility/2006">
              <mc:Choice xmlns:v="urn:schemas-microsoft-com:vml" Requires="v">
                <p:oleObj spid="_x0000_s177347" name="Equation" r:id="rId4" imgW="342900" imgH="203200" progId="Equation.DSMT4">
                  <p:embed/>
                </p:oleObj>
              </mc:Choice>
              <mc:Fallback>
                <p:oleObj name="Equation" r:id="rId4" imgW="342900" imgH="203200" progId="Equation.DSMT4">
                  <p:embed/>
                  <p:pic>
                    <p:nvPicPr>
                      <p:cNvPr id="0" name="Picture 11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94832" y="2348314"/>
                        <a:ext cx="728609" cy="4317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nvGraphicFramePr>
        <p:xfrm>
          <a:off x="10339503" y="2379044"/>
          <a:ext cx="356281" cy="335922"/>
        </p:xfrm>
        <a:graphic>
          <a:graphicData uri="http://schemas.openxmlformats.org/presentationml/2006/ole">
            <mc:AlternateContent xmlns:mc="http://schemas.openxmlformats.org/markup-compatibility/2006">
              <mc:Choice xmlns:v="urn:schemas-microsoft-com:vml" Requires="v">
                <p:oleObj spid="_x0000_s177348" name="Equation" r:id="rId6" imgW="177800" imgH="165100" progId="Equation.DSMT4">
                  <p:embed/>
                </p:oleObj>
              </mc:Choice>
              <mc:Fallback>
                <p:oleObj name="Equation" r:id="rId6" imgW="177800" imgH="165100" progId="Equation.DSMT4">
                  <p:embed/>
                  <p:pic>
                    <p:nvPicPr>
                      <p:cNvPr id="0" name="Picture 11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39503" y="2379044"/>
                        <a:ext cx="356281" cy="3359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nvGraphicFramePr>
        <p:xfrm>
          <a:off x="2087724" y="2781505"/>
          <a:ext cx="2379120" cy="451732"/>
        </p:xfrm>
        <a:graphic>
          <a:graphicData uri="http://schemas.openxmlformats.org/presentationml/2006/ole">
            <mc:AlternateContent xmlns:mc="http://schemas.openxmlformats.org/markup-compatibility/2006">
              <mc:Choice xmlns:v="urn:schemas-microsoft-com:vml" Requires="v">
                <p:oleObj spid="_x0000_s177349" name="Equation" r:id="rId8" imgW="1244600" imgH="228600" progId="Equation.DSMT4">
                  <p:embed/>
                </p:oleObj>
              </mc:Choice>
              <mc:Fallback>
                <p:oleObj name="Equation" r:id="rId8" imgW="1244600" imgH="228600" progId="Equation.DSMT4">
                  <p:embed/>
                  <p:pic>
                    <p:nvPicPr>
                      <p:cNvPr id="0" name="Picture 115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87724" y="2781505"/>
                        <a:ext cx="2379120" cy="4517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nvGraphicFramePr>
        <p:xfrm>
          <a:off x="5294889" y="2824954"/>
          <a:ext cx="360040" cy="360040"/>
        </p:xfrm>
        <a:graphic>
          <a:graphicData uri="http://schemas.openxmlformats.org/presentationml/2006/ole">
            <mc:AlternateContent xmlns:mc="http://schemas.openxmlformats.org/markup-compatibility/2006">
              <mc:Choice xmlns:v="urn:schemas-microsoft-com:vml" Requires="v">
                <p:oleObj spid="_x0000_s177350" name="Equation" r:id="rId10" imgW="127000" imgH="177165" progId="Equation.DSMT4">
                  <p:embed/>
                </p:oleObj>
              </mc:Choice>
              <mc:Fallback>
                <p:oleObj name="Equation" r:id="rId10" imgW="127000" imgH="177165" progId="Equation.DSMT4">
                  <p:embed/>
                  <p:pic>
                    <p:nvPicPr>
                      <p:cNvPr id="0" name="Picture 11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4889" y="2824954"/>
                        <a:ext cx="360040"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nvGraphicFramePr>
        <p:xfrm>
          <a:off x="2243572" y="3523893"/>
          <a:ext cx="360363" cy="360363"/>
        </p:xfrm>
        <a:graphic>
          <a:graphicData uri="http://schemas.openxmlformats.org/presentationml/2006/ole">
            <mc:AlternateContent xmlns:mc="http://schemas.openxmlformats.org/markup-compatibility/2006">
              <mc:Choice xmlns:v="urn:schemas-microsoft-com:vml" Requires="v">
                <p:oleObj spid="_x0000_s177351" name="Equation" r:id="rId11" imgW="127000" imgH="177165" progId="Equation.DSMT4">
                  <p:embed/>
                </p:oleObj>
              </mc:Choice>
              <mc:Fallback>
                <p:oleObj name="Equation" r:id="rId11" imgW="127000" imgH="177165" progId="Equation.DSMT4">
                  <p:embed/>
                  <p:pic>
                    <p:nvPicPr>
                      <p:cNvPr id="0" name="Picture 11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3572" y="3523893"/>
                        <a:ext cx="360363"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对象 24"/>
          <p:cNvGraphicFramePr>
            <a:graphicFrameLocks noChangeAspect="1"/>
          </p:cNvGraphicFramePr>
          <p:nvPr/>
        </p:nvGraphicFramePr>
        <p:xfrm>
          <a:off x="3539716" y="3465004"/>
          <a:ext cx="360040" cy="432048"/>
        </p:xfrm>
        <a:graphic>
          <a:graphicData uri="http://schemas.openxmlformats.org/presentationml/2006/ole">
            <mc:AlternateContent xmlns:mc="http://schemas.openxmlformats.org/markup-compatibility/2006">
              <mc:Choice xmlns:v="urn:schemas-microsoft-com:vml" Requires="v">
                <p:oleObj spid="_x0000_s177352" name="Equation" r:id="rId12" imgW="127000" imgH="215265" progId="Equation.DSMT4">
                  <p:embed/>
                </p:oleObj>
              </mc:Choice>
              <mc:Fallback>
                <p:oleObj name="Equation" r:id="rId12" imgW="127000" imgH="215265" progId="Equation.DSMT4">
                  <p:embed/>
                  <p:pic>
                    <p:nvPicPr>
                      <p:cNvPr id="0" name="Picture 116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39716" y="3465004"/>
                        <a:ext cx="360040"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对象 25"/>
          <p:cNvGraphicFramePr>
            <a:graphicFrameLocks noChangeAspect="1"/>
          </p:cNvGraphicFramePr>
          <p:nvPr/>
        </p:nvGraphicFramePr>
        <p:xfrm>
          <a:off x="6616942" y="3429000"/>
          <a:ext cx="979309" cy="504056"/>
        </p:xfrm>
        <a:graphic>
          <a:graphicData uri="http://schemas.openxmlformats.org/presentationml/2006/ole">
            <mc:AlternateContent xmlns:mc="http://schemas.openxmlformats.org/markup-compatibility/2006">
              <mc:Choice xmlns:v="urn:schemas-microsoft-com:vml" Requires="v">
                <p:oleObj spid="_x0000_s177353" name="Equation" r:id="rId14" imgW="469900" imgH="241300" progId="Equation.DSMT4">
                  <p:embed/>
                </p:oleObj>
              </mc:Choice>
              <mc:Fallback>
                <p:oleObj name="Equation" r:id="rId14" imgW="469900" imgH="241300" progId="Equation.DSMT4">
                  <p:embed/>
                  <p:pic>
                    <p:nvPicPr>
                      <p:cNvPr id="0" name="Picture 116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16942" y="3429000"/>
                        <a:ext cx="979309"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矩形 26"/>
          <p:cNvSpPr/>
          <p:nvPr/>
        </p:nvSpPr>
        <p:spPr>
          <a:xfrm>
            <a:off x="6452908" y="1752432"/>
            <a:ext cx="1812117" cy="452432"/>
          </a:xfrm>
          <a:prstGeom prst="rect">
            <a:avLst/>
          </a:prstGeom>
        </p:spPr>
        <p:txBody>
          <a:bodyPr wrap="square">
            <a:spAutoFit/>
          </a:bodyPr>
          <a:lstStyle/>
          <a:p>
            <a:pPr>
              <a:lnSpc>
                <a:spcPct val="130000"/>
              </a:lnSpc>
              <a:spcBef>
                <a:spcPts val="0"/>
              </a:spcBef>
            </a:pPr>
            <a:r>
              <a:rPr lang="zh-CN" altLang="en-US" dirty="0">
                <a:solidFill>
                  <a:srgbClr val="FF0000"/>
                </a:solidFill>
                <a:latin typeface="Times New Roman" panose="02020603050405020304" pitchFamily="18" charset="0"/>
                <a:ea typeface="黑体" panose="02010609060101010101" pitchFamily="49" charset="-122"/>
              </a:rPr>
              <a:t>是变量就有分布</a:t>
            </a:r>
            <a:endParaRPr lang="zh-CN" altLang="en-US" dirty="0">
              <a:solidFill>
                <a:srgbClr val="FF0000"/>
              </a:solidFill>
              <a:latin typeface="Times New Roman" panose="02020603050405020304" pitchFamily="18" charset="0"/>
              <a:ea typeface="黑体" panose="02010609060101010101" pitchFamily="49" charset="-122"/>
            </a:endParaRPr>
          </a:p>
        </p:txBody>
      </p:sp>
      <p:cxnSp>
        <p:nvCxnSpPr>
          <p:cNvPr id="28" name="直接箭头连接符 27"/>
          <p:cNvCxnSpPr/>
          <p:nvPr/>
        </p:nvCxnSpPr>
        <p:spPr>
          <a:xfrm flipH="1">
            <a:off x="6479425" y="2204864"/>
            <a:ext cx="336655" cy="17283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423592" y="5114635"/>
            <a:ext cx="7092788" cy="404599"/>
          </a:xfrm>
          <a:prstGeom prst="rect">
            <a:avLst/>
          </a:prstGeom>
          <a:solidFill>
            <a:schemeClr val="accent6">
              <a:lumMod val="20000"/>
              <a:lumOff val="80000"/>
            </a:schemeClr>
          </a:solidFill>
        </p:spPr>
        <p:txBody>
          <a:bodyPr wrap="none" rtlCol="0" anchor="ctr">
            <a:spAutoFit/>
          </a:bodyPr>
          <a:lstStyle/>
          <a:p>
            <a:pPr algn="ctr"/>
            <a:endParaRPr lang="zh-CN" altLang="en-US" sz="2400" kern="100" dirty="0">
              <a:ea typeface="宋体" panose="02010600030101010101" pitchFamily="2" charset="-122"/>
              <a:cs typeface="Times New Roman" panose="02020603050405020304"/>
            </a:endParaRPr>
          </a:p>
        </p:txBody>
      </p:sp>
      <p:sp>
        <p:nvSpPr>
          <p:cNvPr id="2" name="矩形 1"/>
          <p:cNvSpPr/>
          <p:nvPr/>
        </p:nvSpPr>
        <p:spPr>
          <a:xfrm>
            <a:off x="4007768" y="3861792"/>
            <a:ext cx="3052346" cy="445939"/>
          </a:xfrm>
          <a:prstGeom prst="rect">
            <a:avLst/>
          </a:prstGeom>
          <a:solidFill>
            <a:schemeClr val="accent6">
              <a:lumMod val="20000"/>
              <a:lumOff val="80000"/>
            </a:schemeClr>
          </a:solidFill>
        </p:spPr>
        <p:txBody>
          <a:bodyPr wrap="none" rtlCol="0" anchor="ctr">
            <a:spAutoFit/>
          </a:bodyPr>
          <a:lstStyle/>
          <a:p>
            <a:pPr algn="ctr"/>
            <a:endParaRPr lang="zh-CN" altLang="en-US" sz="2400" kern="100" dirty="0">
              <a:ea typeface="宋体" panose="02010600030101010101" pitchFamily="2" charset="-122"/>
              <a:cs typeface="Times New Roman" panose="02020603050405020304"/>
            </a:endParaRPr>
          </a:p>
        </p:txBody>
      </p:sp>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14.4 </a:t>
            </a:r>
            <a:r>
              <a:rPr lang="zh-CN" altLang="zh-CN" dirty="0"/>
              <a:t>贝叶斯估计</a:t>
            </a:r>
            <a:endParaRPr lang="zh-CN" altLang="zh-CN" dirty="0"/>
          </a:p>
        </p:txBody>
      </p:sp>
      <p:sp>
        <p:nvSpPr>
          <p:cNvPr id="37" name="内容占位符 2"/>
          <p:cNvSpPr>
            <a:spLocks noGrp="1"/>
          </p:cNvSpPr>
          <p:nvPr>
            <p:ph idx="1"/>
          </p:nvPr>
        </p:nvSpPr>
        <p:spPr>
          <a:xfrm>
            <a:off x="436938" y="1508960"/>
            <a:ext cx="11491710" cy="4429674"/>
          </a:xfrm>
        </p:spPr>
        <p:txBody>
          <a:bodyPr/>
          <a:lstStyle/>
          <a:p>
            <a:pPr marL="0" indent="0">
              <a:lnSpc>
                <a:spcPct val="130000"/>
              </a:lnSpc>
              <a:spcBef>
                <a:spcPts val="0"/>
              </a:spcBef>
              <a:buNone/>
            </a:pPr>
            <a:r>
              <a:rPr lang="zh-CN" altLang="zh-CN" sz="2200" dirty="0">
                <a:latin typeface="Times New Roman" panose="02020603050405020304" pitchFamily="18" charset="0"/>
                <a:ea typeface="黑体" panose="02010609060101010101" pitchFamily="49" charset="-122"/>
              </a:rPr>
              <a:t>期望风险：</a:t>
            </a:r>
            <a:r>
              <a:rPr lang="en-US" altLang="zh-CN" sz="2200" dirty="0">
                <a:latin typeface="Times New Roman" panose="02020603050405020304" pitchFamily="18" charset="0"/>
                <a:ea typeface="黑体" panose="02010609060101010101" pitchFamily="49" charset="-122"/>
              </a:rPr>
              <a:t> 			  </a:t>
            </a:r>
            <a:endParaRPr lang="zh-CN" altLang="zh-CN" sz="2200" dirty="0">
              <a:latin typeface="Times New Roman" panose="02020603050405020304" pitchFamily="18" charset="0"/>
              <a:ea typeface="黑体" panose="02010609060101010101" pitchFamily="49" charset="-122"/>
            </a:endParaRPr>
          </a:p>
          <a:p>
            <a:pPr marL="0" indent="0">
              <a:lnSpc>
                <a:spcPct val="130000"/>
              </a:lnSpc>
              <a:spcBef>
                <a:spcPts val="0"/>
              </a:spcBef>
              <a:buNone/>
            </a:pPr>
            <a:endParaRPr lang="en-US" altLang="zh-CN" sz="2200" dirty="0">
              <a:latin typeface="Times New Roman" panose="02020603050405020304" pitchFamily="18" charset="0"/>
              <a:ea typeface="黑体" panose="02010609060101010101" pitchFamily="49" charset="-122"/>
            </a:endParaRPr>
          </a:p>
          <a:p>
            <a:pPr marL="0" indent="0">
              <a:lnSpc>
                <a:spcPct val="130000"/>
              </a:lnSpc>
              <a:spcBef>
                <a:spcPts val="0"/>
              </a:spcBef>
              <a:buNone/>
            </a:pPr>
            <a:endParaRPr lang="en-US" altLang="zh-CN" sz="2200" dirty="0">
              <a:latin typeface="Times New Roman" panose="02020603050405020304" pitchFamily="18" charset="0"/>
              <a:ea typeface="黑体" panose="02010609060101010101" pitchFamily="49" charset="-122"/>
            </a:endParaRPr>
          </a:p>
          <a:p>
            <a:pPr marL="0" indent="0">
              <a:lnSpc>
                <a:spcPct val="130000"/>
              </a:lnSpc>
              <a:spcBef>
                <a:spcPts val="0"/>
              </a:spcBef>
              <a:buNone/>
            </a:pPr>
            <a:endParaRPr lang="en-US" altLang="zh-CN" sz="2200" dirty="0">
              <a:latin typeface="Times New Roman" panose="02020603050405020304" pitchFamily="18" charset="0"/>
              <a:ea typeface="黑体" panose="02010609060101010101" pitchFamily="49" charset="-122"/>
            </a:endParaRPr>
          </a:p>
          <a:p>
            <a:pPr marL="0" indent="0">
              <a:lnSpc>
                <a:spcPct val="130000"/>
              </a:lnSpc>
              <a:spcBef>
                <a:spcPts val="0"/>
              </a:spcBef>
              <a:buNone/>
            </a:pPr>
            <a:r>
              <a:rPr lang="zh-CN" altLang="zh-CN" sz="2200" dirty="0">
                <a:latin typeface="Times New Roman" panose="02020603050405020304" pitchFamily="18" charset="0"/>
                <a:ea typeface="黑体" panose="02010609060101010101" pitchFamily="49" charset="-122"/>
              </a:rPr>
              <a:t>条件风险：</a:t>
            </a:r>
            <a:r>
              <a:rPr lang="en-US" altLang="zh-CN" sz="2200" dirty="0">
                <a:latin typeface="Times New Roman" panose="02020603050405020304" pitchFamily="18" charset="0"/>
                <a:ea typeface="黑体" panose="02010609060101010101" pitchFamily="49" charset="-122"/>
              </a:rPr>
              <a:t> 			 </a:t>
            </a:r>
            <a:endParaRPr lang="zh-CN" altLang="zh-CN" sz="2200" dirty="0">
              <a:latin typeface="Times New Roman" panose="02020603050405020304" pitchFamily="18" charset="0"/>
              <a:ea typeface="黑体" panose="02010609060101010101" pitchFamily="49" charset="-122"/>
            </a:endParaRPr>
          </a:p>
          <a:p>
            <a:pPr marL="0" indent="0">
              <a:lnSpc>
                <a:spcPct val="130000"/>
              </a:lnSpc>
              <a:spcBef>
                <a:spcPts val="1200"/>
              </a:spcBef>
              <a:buNone/>
            </a:pPr>
            <a:r>
              <a:rPr lang="zh-CN" altLang="en-US" sz="2200" dirty="0">
                <a:latin typeface="Times New Roman" panose="02020603050405020304" pitchFamily="18" charset="0"/>
                <a:ea typeface="黑体" panose="02010609060101010101" pitchFamily="49" charset="-122"/>
              </a:rPr>
              <a:t>                                                   </a:t>
            </a:r>
            <a:r>
              <a:rPr lang="zh-CN" altLang="en-US" sz="2200" dirty="0">
                <a:solidFill>
                  <a:srgbClr val="FF0000"/>
                </a:solidFill>
                <a:latin typeface="Times New Roman" panose="02020603050405020304" pitchFamily="18" charset="0"/>
                <a:ea typeface="黑体" panose="02010609060101010101" pitchFamily="49" charset="-122"/>
              </a:rPr>
              <a:t>目标：</a:t>
            </a:r>
            <a:r>
              <a:rPr lang="zh-CN" altLang="zh-CN" sz="2200" dirty="0">
                <a:solidFill>
                  <a:srgbClr val="FF0000"/>
                </a:solidFill>
                <a:latin typeface="Times New Roman" panose="02020603050405020304" pitchFamily="18" charset="0"/>
                <a:ea typeface="黑体" panose="02010609060101010101" pitchFamily="49" charset="-122"/>
              </a:rPr>
              <a:t>最小化期望风险 </a:t>
            </a:r>
            <a:endParaRPr lang="en-US" altLang="zh-CN" sz="2200" dirty="0">
              <a:solidFill>
                <a:srgbClr val="FF0000"/>
              </a:solidFill>
              <a:latin typeface="Times New Roman" panose="02020603050405020304" pitchFamily="18" charset="0"/>
              <a:ea typeface="黑体" panose="02010609060101010101" pitchFamily="49" charset="-122"/>
            </a:endParaRPr>
          </a:p>
          <a:p>
            <a:pPr>
              <a:lnSpc>
                <a:spcPct val="130000"/>
              </a:lnSpc>
              <a:spcBef>
                <a:spcPts val="0"/>
              </a:spcBef>
              <a:buClrTx/>
              <a:buFont typeface="Arial" panose="020B0604020202020204" pitchFamily="34" charset="0"/>
              <a:buChar char="•"/>
            </a:pPr>
            <a:r>
              <a:rPr lang="zh-CN" altLang="en-US" sz="2000" dirty="0">
                <a:solidFill>
                  <a:schemeClr val="accent6">
                    <a:lumMod val="50000"/>
                  </a:schemeClr>
                </a:solidFill>
                <a:latin typeface="Times New Roman" panose="02020603050405020304" pitchFamily="18" charset="0"/>
                <a:ea typeface="黑体" panose="02010609060101010101" pitchFamily="49" charset="-122"/>
                <a:sym typeface="Symbol" panose="05050102010706020507"/>
              </a:rPr>
              <a:t>期望风险是在所有可能的</a:t>
            </a:r>
            <a:r>
              <a:rPr lang="en-US" altLang="zh-CN" sz="2000" dirty="0">
                <a:solidFill>
                  <a:schemeClr val="accent6">
                    <a:lumMod val="50000"/>
                  </a:schemeClr>
                </a:solidFill>
                <a:latin typeface="Times New Roman" panose="02020603050405020304" pitchFamily="18" charset="0"/>
                <a:ea typeface="黑体" panose="02010609060101010101" pitchFamily="49" charset="-122"/>
                <a:sym typeface="Symbol" panose="05050102010706020507"/>
              </a:rPr>
              <a:t>x</a:t>
            </a:r>
            <a:r>
              <a:rPr lang="zh-CN" altLang="en-US" sz="2000" dirty="0">
                <a:solidFill>
                  <a:schemeClr val="accent6">
                    <a:lumMod val="50000"/>
                  </a:schemeClr>
                </a:solidFill>
                <a:latin typeface="Times New Roman" panose="02020603050405020304" pitchFamily="18" charset="0"/>
                <a:ea typeface="黑体" panose="02010609060101010101" pitchFamily="49" charset="-122"/>
                <a:sym typeface="Symbol" panose="05050102010706020507"/>
              </a:rPr>
              <a:t>情况下条件风险的积分</a:t>
            </a:r>
            <a:endParaRPr lang="en-US" altLang="zh-CN" sz="2000" dirty="0">
              <a:solidFill>
                <a:schemeClr val="accent6">
                  <a:lumMod val="50000"/>
                </a:schemeClr>
              </a:solidFill>
              <a:latin typeface="Times New Roman" panose="02020603050405020304" pitchFamily="18" charset="0"/>
              <a:ea typeface="黑体" panose="02010609060101010101" pitchFamily="49" charset="-122"/>
              <a:sym typeface="Symbol" panose="05050102010706020507"/>
            </a:endParaRPr>
          </a:p>
          <a:p>
            <a:pPr>
              <a:lnSpc>
                <a:spcPct val="130000"/>
              </a:lnSpc>
              <a:spcBef>
                <a:spcPts val="0"/>
              </a:spcBef>
              <a:buClrTx/>
              <a:buFont typeface="Arial" panose="020B0604020202020204" pitchFamily="34" charset="0"/>
              <a:buChar char="•"/>
            </a:pPr>
            <a:r>
              <a:rPr lang="zh-CN" altLang="en-US" sz="2000" dirty="0">
                <a:solidFill>
                  <a:schemeClr val="accent6">
                    <a:lumMod val="50000"/>
                  </a:schemeClr>
                </a:solidFill>
                <a:latin typeface="Times New Roman" panose="02020603050405020304" pitchFamily="18" charset="0"/>
                <a:ea typeface="黑体" panose="02010609060101010101" pitchFamily="49" charset="-122"/>
                <a:sym typeface="Symbol" panose="05050102010706020507"/>
              </a:rPr>
              <a:t>条件风险都是非负</a:t>
            </a:r>
            <a:endParaRPr lang="en-US" altLang="zh-CN" sz="2000" dirty="0">
              <a:solidFill>
                <a:schemeClr val="accent6">
                  <a:lumMod val="50000"/>
                </a:schemeClr>
              </a:solidFill>
              <a:latin typeface="Times New Roman" panose="02020603050405020304" pitchFamily="18" charset="0"/>
              <a:ea typeface="黑体" panose="02010609060101010101" pitchFamily="49" charset="-122"/>
              <a:sym typeface="Symbol" panose="05050102010706020507"/>
            </a:endParaRPr>
          </a:p>
          <a:p>
            <a:pPr marL="0" indent="0">
              <a:lnSpc>
                <a:spcPct val="130000"/>
              </a:lnSpc>
              <a:spcBef>
                <a:spcPts val="0"/>
              </a:spcBef>
              <a:buNone/>
            </a:pPr>
            <a:r>
              <a:rPr lang="zh-CN" altLang="en-US" sz="2200" dirty="0">
                <a:latin typeface="Times New Roman" panose="02020603050405020304" pitchFamily="18" charset="0"/>
                <a:ea typeface="黑体" panose="02010609060101010101" pitchFamily="49" charset="-122"/>
                <a:sym typeface="Symbol" panose="05050102010706020507"/>
              </a:rPr>
              <a:t>                              </a:t>
            </a:r>
            <a:r>
              <a:rPr lang="zh-CN" altLang="en-US" sz="2200" dirty="0">
                <a:solidFill>
                  <a:srgbClr val="FF0000"/>
                </a:solidFill>
                <a:latin typeface="Times New Roman" panose="02020603050405020304" pitchFamily="18" charset="0"/>
                <a:ea typeface="黑体" panose="02010609060101010101" pitchFamily="49" charset="-122"/>
                <a:sym typeface="Symbol" panose="05050102010706020507"/>
              </a:rPr>
              <a:t>最小化期望风险</a:t>
            </a:r>
            <a:r>
              <a:rPr lang="en-US" altLang="zh-CN" sz="2200" dirty="0">
                <a:solidFill>
                  <a:srgbClr val="FF0000"/>
                </a:solidFill>
                <a:latin typeface="Times New Roman" panose="02020603050405020304" pitchFamily="18" charset="0"/>
                <a:ea typeface="黑体" panose="02010609060101010101" pitchFamily="49" charset="-122"/>
                <a:sym typeface="Symbol" panose="05050102010706020507"/>
              </a:rPr>
              <a:t></a:t>
            </a:r>
            <a:r>
              <a:rPr lang="en-US" altLang="zh-CN" sz="2200" dirty="0">
                <a:solidFill>
                  <a:srgbClr val="FF0000"/>
                </a:solidFill>
                <a:latin typeface="Times New Roman" panose="02020603050405020304" pitchFamily="18" charset="0"/>
                <a:ea typeface="黑体" panose="02010609060101010101" pitchFamily="49" charset="-122"/>
              </a:rPr>
              <a:t> </a:t>
            </a:r>
            <a:r>
              <a:rPr lang="zh-CN" altLang="zh-CN" sz="2200" dirty="0">
                <a:solidFill>
                  <a:srgbClr val="FF0000"/>
                </a:solidFill>
                <a:latin typeface="Times New Roman" panose="02020603050405020304" pitchFamily="18" charset="0"/>
                <a:ea typeface="黑体" panose="02010609060101010101" pitchFamily="49" charset="-122"/>
              </a:rPr>
              <a:t>最小化条件风险</a:t>
            </a:r>
            <a:r>
              <a:rPr lang="en-US" altLang="zh-CN" sz="2200" dirty="0">
                <a:solidFill>
                  <a:srgbClr val="FF0000"/>
                </a:solidFill>
                <a:latin typeface="Times New Roman" panose="02020603050405020304" pitchFamily="18" charset="0"/>
                <a:ea typeface="黑体" panose="02010609060101010101" pitchFamily="49" charset="-122"/>
              </a:rPr>
              <a:t> </a:t>
            </a:r>
            <a:r>
              <a:rPr lang="zh-CN" altLang="zh-CN" sz="2200" dirty="0">
                <a:solidFill>
                  <a:srgbClr val="FF0000"/>
                </a:solidFill>
                <a:latin typeface="Times New Roman" panose="02020603050405020304" pitchFamily="18" charset="0"/>
                <a:ea typeface="黑体" panose="02010609060101010101" pitchFamily="49" charset="-122"/>
              </a:rPr>
              <a:t>（对所有可能的</a:t>
            </a:r>
            <a:r>
              <a:rPr lang="en-US" altLang="zh-CN" sz="2200" dirty="0">
                <a:solidFill>
                  <a:srgbClr val="FF0000"/>
                </a:solidFill>
                <a:latin typeface="Times New Roman" panose="02020603050405020304" pitchFamily="18" charset="0"/>
                <a:ea typeface="黑体" panose="02010609060101010101" pitchFamily="49" charset="-122"/>
              </a:rPr>
              <a:t>    </a:t>
            </a:r>
            <a:r>
              <a:rPr lang="zh-CN" altLang="zh-CN" sz="2200" dirty="0">
                <a:solidFill>
                  <a:srgbClr val="FF0000"/>
                </a:solidFill>
                <a:latin typeface="Times New Roman" panose="02020603050405020304" pitchFamily="18" charset="0"/>
                <a:ea typeface="黑体" panose="02010609060101010101" pitchFamily="49" charset="-122"/>
              </a:rPr>
              <a:t>）</a:t>
            </a:r>
            <a:endParaRPr lang="zh-CN" altLang="zh-CN" sz="2200" dirty="0">
              <a:solidFill>
                <a:srgbClr val="FF0000"/>
              </a:solidFill>
              <a:latin typeface="Times New Roman" panose="02020603050405020304" pitchFamily="18" charset="0"/>
              <a:ea typeface="黑体" panose="02010609060101010101" pitchFamily="49" charset="-122"/>
            </a:endParaRPr>
          </a:p>
          <a:p>
            <a:pPr marL="0" indent="0">
              <a:lnSpc>
                <a:spcPct val="130000"/>
              </a:lnSpc>
              <a:spcBef>
                <a:spcPts val="0"/>
              </a:spcBef>
              <a:buNone/>
            </a:pPr>
            <a:r>
              <a:rPr lang="zh-CN" altLang="zh-CN" sz="2200" dirty="0">
                <a:latin typeface="Times New Roman" panose="02020603050405020304" pitchFamily="18" charset="0"/>
                <a:ea typeface="黑体" panose="02010609060101010101" pitchFamily="49" charset="-122"/>
              </a:rPr>
              <a:t>有限样本集下，最小化</a:t>
            </a:r>
            <a:r>
              <a:rPr lang="zh-CN" altLang="en-US" sz="2200" dirty="0">
                <a:latin typeface="Times New Roman" panose="02020603050405020304" pitchFamily="18" charset="0"/>
                <a:ea typeface="黑体" panose="02010609060101010101" pitchFamily="49" charset="-122"/>
              </a:rPr>
              <a:t>条件</a:t>
            </a:r>
            <a:r>
              <a:rPr lang="zh-CN" altLang="zh-CN" sz="2200" dirty="0">
                <a:latin typeface="Times New Roman" panose="02020603050405020304" pitchFamily="18" charset="0"/>
                <a:ea typeface="黑体" panose="02010609060101010101" pitchFamily="49" charset="-122"/>
              </a:rPr>
              <a:t>风险：</a:t>
            </a:r>
            <a:r>
              <a:rPr lang="en-US" altLang="zh-CN" sz="2200" dirty="0">
                <a:latin typeface="Times New Roman" panose="02020603050405020304" pitchFamily="18" charset="0"/>
                <a:ea typeface="黑体" panose="02010609060101010101" pitchFamily="49" charset="-122"/>
              </a:rPr>
              <a:t> </a:t>
            </a:r>
            <a:endParaRPr lang="zh-CN" altLang="zh-CN" sz="2200" dirty="0">
              <a:latin typeface="Times New Roman" panose="02020603050405020304" pitchFamily="18" charset="0"/>
              <a:ea typeface="黑体" panose="02010609060101010101" pitchFamily="49" charset="-122"/>
            </a:endParaRPr>
          </a:p>
          <a:p>
            <a:pPr marL="0" indent="0">
              <a:lnSpc>
                <a:spcPct val="130000"/>
              </a:lnSpc>
              <a:buNone/>
            </a:pPr>
            <a:endParaRPr lang="zh-CN" altLang="en-US" sz="2200" dirty="0">
              <a:latin typeface="Times New Roman" panose="02020603050405020304" pitchFamily="18" charset="0"/>
              <a:ea typeface="黑体" panose="02010609060101010101" pitchFamily="49" charset="-122"/>
            </a:endParaRPr>
          </a:p>
        </p:txBody>
      </p:sp>
      <p:graphicFrame>
        <p:nvGraphicFramePr>
          <p:cNvPr id="38" name="对象 37"/>
          <p:cNvGraphicFramePr>
            <a:graphicFrameLocks noChangeAspect="1"/>
          </p:cNvGraphicFramePr>
          <p:nvPr/>
        </p:nvGraphicFramePr>
        <p:xfrm>
          <a:off x="1918624" y="1556792"/>
          <a:ext cx="4059970" cy="1650034"/>
        </p:xfrm>
        <a:graphic>
          <a:graphicData uri="http://schemas.openxmlformats.org/presentationml/2006/ole">
            <mc:AlternateContent xmlns:mc="http://schemas.openxmlformats.org/markup-compatibility/2006">
              <mc:Choice xmlns:v="urn:schemas-microsoft-com:vml" Requires="v">
                <p:oleObj spid="_x0000_s175378" name="Equation" r:id="rId2" imgW="2298700" imgH="927100" progId="Equation.DSMT4">
                  <p:embed/>
                </p:oleObj>
              </mc:Choice>
              <mc:Fallback>
                <p:oleObj name="Equation" r:id="rId2" imgW="2298700" imgH="927100" progId="Equation.DSMT4">
                  <p:embed/>
                  <p:pic>
                    <p:nvPicPr>
                      <p:cNvPr id="0" name="Picture 12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8624" y="1556792"/>
                        <a:ext cx="4059970" cy="16500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对象 40"/>
          <p:cNvGraphicFramePr>
            <a:graphicFrameLocks noChangeAspect="1"/>
          </p:cNvGraphicFramePr>
          <p:nvPr/>
        </p:nvGraphicFramePr>
        <p:xfrm>
          <a:off x="486024" y="1086282"/>
          <a:ext cx="1792466" cy="417423"/>
        </p:xfrm>
        <a:graphic>
          <a:graphicData uri="http://schemas.openxmlformats.org/presentationml/2006/ole">
            <mc:AlternateContent xmlns:mc="http://schemas.openxmlformats.org/markup-compatibility/2006">
              <mc:Choice xmlns:v="urn:schemas-microsoft-com:vml" Requires="v">
                <p:oleObj spid="_x0000_s175379" name="Equation" r:id="rId4" imgW="977900" imgH="228600" progId="Equation.DSMT4">
                  <p:embed/>
                </p:oleObj>
              </mc:Choice>
              <mc:Fallback>
                <p:oleObj name="Equation" r:id="rId4" imgW="977900" imgH="228600" progId="Equation.DSMT4">
                  <p:embed/>
                  <p:pic>
                    <p:nvPicPr>
                      <p:cNvPr id="0" name="Picture 12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024" y="1086282"/>
                        <a:ext cx="1792466" cy="4174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对象 43"/>
          <p:cNvGraphicFramePr>
            <a:graphicFrameLocks noChangeAspect="1"/>
          </p:cNvGraphicFramePr>
          <p:nvPr/>
        </p:nvGraphicFramePr>
        <p:xfrm>
          <a:off x="1932639" y="3269437"/>
          <a:ext cx="3533921" cy="523996"/>
        </p:xfrm>
        <a:graphic>
          <a:graphicData uri="http://schemas.openxmlformats.org/presentationml/2006/ole">
            <mc:AlternateContent xmlns:mc="http://schemas.openxmlformats.org/markup-compatibility/2006">
              <mc:Choice xmlns:v="urn:schemas-microsoft-com:vml" Requires="v">
                <p:oleObj spid="_x0000_s175380" name="Equation" r:id="rId6" imgW="1981200" imgH="292100" progId="Equation.DSMT4">
                  <p:embed/>
                </p:oleObj>
              </mc:Choice>
              <mc:Fallback>
                <p:oleObj name="Equation" r:id="rId6" imgW="1981200" imgH="292100" progId="Equation.DSMT4">
                  <p:embed/>
                  <p:pic>
                    <p:nvPicPr>
                      <p:cNvPr id="0" name="Picture 12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32639" y="3269437"/>
                        <a:ext cx="3533921" cy="5239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 name="对象 45"/>
          <p:cNvGraphicFramePr>
            <a:graphicFrameLocks noChangeAspect="1"/>
          </p:cNvGraphicFramePr>
          <p:nvPr/>
        </p:nvGraphicFramePr>
        <p:xfrm>
          <a:off x="8913258" y="5214344"/>
          <a:ext cx="277260" cy="277260"/>
        </p:xfrm>
        <a:graphic>
          <a:graphicData uri="http://schemas.openxmlformats.org/presentationml/2006/ole">
            <mc:AlternateContent xmlns:mc="http://schemas.openxmlformats.org/markup-compatibility/2006">
              <mc:Choice xmlns:v="urn:schemas-microsoft-com:vml" Requires="v">
                <p:oleObj spid="_x0000_s175381" name="Equation" r:id="rId8" imgW="139700" imgH="139700" progId="Equation.DSMT4">
                  <p:embed/>
                </p:oleObj>
              </mc:Choice>
              <mc:Fallback>
                <p:oleObj name="Equation" r:id="rId8" imgW="139700" imgH="139700" progId="Equation.DSMT4">
                  <p:embed/>
                  <p:pic>
                    <p:nvPicPr>
                      <p:cNvPr id="0" name="Picture 12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13258" y="5214344"/>
                        <a:ext cx="277260" cy="2772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 name="Object 199"/>
          <p:cNvGraphicFramePr>
            <a:graphicFrameLocks noChangeAspect="1"/>
          </p:cNvGraphicFramePr>
          <p:nvPr/>
        </p:nvGraphicFramePr>
        <p:xfrm>
          <a:off x="6989745" y="2423486"/>
          <a:ext cx="5204883" cy="622880"/>
        </p:xfrm>
        <a:graphic>
          <a:graphicData uri="http://schemas.openxmlformats.org/presentationml/2006/ole">
            <mc:AlternateContent xmlns:mc="http://schemas.openxmlformats.org/markup-compatibility/2006">
              <mc:Choice xmlns:v="urn:schemas-microsoft-com:vml" Requires="v">
                <p:oleObj spid="_x0000_s175382" name="Equation" r:id="rId10" imgW="3670300" imgH="444500" progId="Equation.DSMT4">
                  <p:embed/>
                </p:oleObj>
              </mc:Choice>
              <mc:Fallback>
                <p:oleObj name="Equation" r:id="rId10" imgW="3670300" imgH="444500" progId="Equation.DSMT4">
                  <p:embed/>
                  <p:pic>
                    <p:nvPicPr>
                      <p:cNvPr id="0" name="Picture 12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89745" y="2423486"/>
                        <a:ext cx="5204883" cy="62288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 name="Object 200"/>
          <p:cNvGraphicFramePr>
            <a:graphicFrameLocks noChangeAspect="1"/>
          </p:cNvGraphicFramePr>
          <p:nvPr/>
        </p:nvGraphicFramePr>
        <p:xfrm>
          <a:off x="7761773" y="1291305"/>
          <a:ext cx="3240360" cy="515981"/>
        </p:xfrm>
        <a:graphic>
          <a:graphicData uri="http://schemas.openxmlformats.org/presentationml/2006/ole">
            <mc:AlternateContent xmlns:mc="http://schemas.openxmlformats.org/markup-compatibility/2006">
              <mc:Choice xmlns:v="urn:schemas-microsoft-com:vml" Requires="v">
                <p:oleObj spid="_x0000_s175383" name="Equation" r:id="rId12" imgW="1765300" imgH="279400" progId="Equation.DSMT4">
                  <p:embed/>
                </p:oleObj>
              </mc:Choice>
              <mc:Fallback>
                <p:oleObj name="Equation" r:id="rId12" imgW="1765300" imgH="279400" progId="Equation.DSMT4">
                  <p:embed/>
                  <p:pic>
                    <p:nvPicPr>
                      <p:cNvPr id="0" name="Picture 123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61773" y="1291305"/>
                        <a:ext cx="3240360" cy="51598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50" name="直接箭头连接符 49"/>
          <p:cNvCxnSpPr/>
          <p:nvPr/>
        </p:nvCxnSpPr>
        <p:spPr>
          <a:xfrm flipH="1">
            <a:off x="4583392" y="1309428"/>
            <a:ext cx="504496" cy="28803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flipH="1">
            <a:off x="5774129" y="2778225"/>
            <a:ext cx="970326" cy="67231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52" name="组合 51"/>
          <p:cNvGrpSpPr/>
          <p:nvPr/>
        </p:nvGrpSpPr>
        <p:grpSpPr>
          <a:xfrm>
            <a:off x="436938" y="5942493"/>
            <a:ext cx="8436925" cy="532453"/>
            <a:chOff x="-3149120" y="8367921"/>
            <a:chExt cx="8436925" cy="557486"/>
          </a:xfrm>
        </p:grpSpPr>
        <p:sp>
          <p:nvSpPr>
            <p:cNvPr id="53" name="矩形 52"/>
            <p:cNvSpPr/>
            <p:nvPr/>
          </p:nvSpPr>
          <p:spPr>
            <a:xfrm>
              <a:off x="-3149120" y="8367921"/>
              <a:ext cx="8436925" cy="557486"/>
            </a:xfrm>
            <a:prstGeom prst="rect">
              <a:avLst/>
            </a:prstGeom>
          </p:spPr>
          <p:txBody>
            <a:bodyPr wrap="none">
              <a:spAutoFit/>
            </a:bodyPr>
            <a:lstStyle/>
            <a:p>
              <a:pPr>
                <a:lnSpc>
                  <a:spcPct val="130000"/>
                </a:lnSpc>
              </a:pPr>
              <a:r>
                <a:rPr kumimoji="1" lang="zh-CN" altLang="en-US" sz="2200" dirty="0">
                  <a:latin typeface="Times New Roman" panose="02020603050405020304" pitchFamily="18" charset="0"/>
                  <a:ea typeface="黑体" panose="02010609060101010101" pitchFamily="49" charset="-122"/>
                </a:rPr>
                <a:t>应求               在状态空间       中的期望，其中                                   。</a:t>
              </a:r>
              <a:endParaRPr lang="zh-CN" altLang="en-US" sz="2200" dirty="0">
                <a:latin typeface="Times New Roman" panose="02020603050405020304" pitchFamily="18" charset="0"/>
                <a:ea typeface="黑体" panose="02010609060101010101" pitchFamily="49" charset="-122"/>
              </a:endParaRPr>
            </a:p>
          </p:txBody>
        </p:sp>
        <p:graphicFrame>
          <p:nvGraphicFramePr>
            <p:cNvPr id="54" name="Object 13"/>
            <p:cNvGraphicFramePr>
              <a:graphicFrameLocks noChangeAspect="1"/>
            </p:cNvGraphicFramePr>
            <p:nvPr/>
          </p:nvGraphicFramePr>
          <p:xfrm>
            <a:off x="-2442402" y="8369892"/>
            <a:ext cx="898712" cy="499618"/>
          </p:xfrm>
          <a:graphic>
            <a:graphicData uri="http://schemas.openxmlformats.org/presentationml/2006/ole">
              <mc:AlternateContent xmlns:mc="http://schemas.openxmlformats.org/markup-compatibility/2006">
                <mc:Choice xmlns:v="urn:schemas-microsoft-com:vml" Requires="v">
                  <p:oleObj spid="_x0000_s175384" name="Equation" r:id="rId14" imgW="431800" imgH="241300" progId="Equation.DSMT4">
                    <p:embed/>
                  </p:oleObj>
                </mc:Choice>
                <mc:Fallback>
                  <p:oleObj name="Equation" r:id="rId14" imgW="431800" imgH="241300" progId="Equation.DSMT4">
                    <p:embed/>
                    <p:pic>
                      <p:nvPicPr>
                        <p:cNvPr id="0" name="Picture 123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42402" y="8369892"/>
                          <a:ext cx="898712" cy="4996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 name="Object 14"/>
            <p:cNvGraphicFramePr>
              <a:graphicFrameLocks noChangeAspect="1"/>
            </p:cNvGraphicFramePr>
            <p:nvPr/>
          </p:nvGraphicFramePr>
          <p:xfrm>
            <a:off x="-61907" y="8439494"/>
            <a:ext cx="483617" cy="360640"/>
          </p:xfrm>
          <a:graphic>
            <a:graphicData uri="http://schemas.openxmlformats.org/presentationml/2006/ole">
              <mc:AlternateContent xmlns:mc="http://schemas.openxmlformats.org/markup-compatibility/2006">
                <mc:Choice xmlns:v="urn:schemas-microsoft-com:vml" Requires="v">
                  <p:oleObj spid="_x0000_s175385" name="Equation" r:id="rId16" imgW="254000" imgH="190500" progId="Equation.DSMT4">
                    <p:embed/>
                  </p:oleObj>
                </mc:Choice>
                <mc:Fallback>
                  <p:oleObj name="Equation" r:id="rId16" imgW="254000" imgH="190500" progId="Equation.DSMT4">
                    <p:embed/>
                    <p:pic>
                      <p:nvPicPr>
                        <p:cNvPr id="0" name="Picture 123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1907" y="8439494"/>
                          <a:ext cx="483617" cy="3606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 name="Object 15"/>
            <p:cNvGraphicFramePr>
              <a:graphicFrameLocks noChangeAspect="1"/>
            </p:cNvGraphicFramePr>
            <p:nvPr/>
          </p:nvGraphicFramePr>
          <p:xfrm>
            <a:off x="2437934" y="8396160"/>
            <a:ext cx="2447925" cy="390526"/>
          </p:xfrm>
          <a:graphic>
            <a:graphicData uri="http://schemas.openxmlformats.org/presentationml/2006/ole">
              <mc:AlternateContent xmlns:mc="http://schemas.openxmlformats.org/markup-compatibility/2006">
                <mc:Choice xmlns:v="urn:schemas-microsoft-com:vml" Requires="v">
                  <p:oleObj spid="_x0000_s175386" name="Equation" r:id="rId18" imgW="1193800" imgH="190500" progId="Equation.DSMT4">
                    <p:embed/>
                  </p:oleObj>
                </mc:Choice>
                <mc:Fallback>
                  <p:oleObj name="Equation" r:id="rId18" imgW="1193800" imgH="190500" progId="Equation.DSMT4">
                    <p:embed/>
                    <p:pic>
                      <p:nvPicPr>
                        <p:cNvPr id="0" name="Picture 123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37934" y="8396160"/>
                          <a:ext cx="2447925" cy="390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7" name="矩形 56"/>
          <p:cNvSpPr/>
          <p:nvPr/>
        </p:nvSpPr>
        <p:spPr>
          <a:xfrm>
            <a:off x="5179509" y="902968"/>
            <a:ext cx="1620957" cy="377989"/>
          </a:xfrm>
          <a:prstGeom prst="rect">
            <a:avLst/>
          </a:prstGeom>
        </p:spPr>
        <p:txBody>
          <a:bodyPr wrap="none">
            <a:spAutoFit/>
          </a:bodyPr>
          <a:lstStyle/>
          <a:p>
            <a:pPr>
              <a:lnSpc>
                <a:spcPct val="130000"/>
              </a:lnSpc>
            </a:pPr>
            <a:r>
              <a:rPr lang="zh-CN" altLang="en-US" sz="1600" dirty="0">
                <a:solidFill>
                  <a:srgbClr val="FF0000"/>
                </a:solidFill>
                <a:latin typeface="Times New Roman" panose="02020603050405020304" pitchFamily="18" charset="0"/>
                <a:ea typeface="黑体" panose="02010609060101010101" pitchFamily="49" charset="-122"/>
              </a:rPr>
              <a:t>是变量就有分布</a:t>
            </a:r>
            <a:endParaRPr lang="zh-CN" altLang="en-US" sz="1600" dirty="0">
              <a:solidFill>
                <a:srgbClr val="FF0000"/>
              </a:solidFill>
              <a:latin typeface="Times New Roman" panose="02020603050405020304" pitchFamily="18" charset="0"/>
              <a:ea typeface="黑体" panose="02010609060101010101" pitchFamily="49" charset="-122"/>
            </a:endParaRPr>
          </a:p>
        </p:txBody>
      </p:sp>
      <p:cxnSp>
        <p:nvCxnSpPr>
          <p:cNvPr id="58" name="直接箭头连接符 57"/>
          <p:cNvCxnSpPr/>
          <p:nvPr/>
        </p:nvCxnSpPr>
        <p:spPr>
          <a:xfrm flipH="1">
            <a:off x="6744455" y="1508960"/>
            <a:ext cx="899939" cy="5603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7"/>
                                        </p:tgtEl>
                                        <p:attrNameLst>
                                          <p:attrName>style.visibility</p:attrName>
                                        </p:attrNameLst>
                                      </p:cBhvr>
                                      <p:to>
                                        <p:strVal val="visible"/>
                                      </p:to>
                                    </p:set>
                                    <p:animEffect transition="in" filter="fade">
                                      <p:cBhvr>
                                        <p:cTn id="13" dur="500"/>
                                        <p:tgtEl>
                                          <p:spTgt spid="57"/>
                                        </p:tgtEl>
                                      </p:cBhvr>
                                    </p:animEffect>
                                  </p:childTnLst>
                                </p:cTn>
                              </p:par>
                              <p:par>
                                <p:cTn id="14" presetID="10" presetClass="entr" presetSubtype="0" fill="hold" nodeType="with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fade">
                                      <p:cBhvr>
                                        <p:cTn id="16" dur="500"/>
                                        <p:tgtEl>
                                          <p:spTgt spid="5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1"/>
                                        </p:tgtEl>
                                        <p:attrNameLst>
                                          <p:attrName>style.visibility</p:attrName>
                                        </p:attrNameLst>
                                      </p:cBhvr>
                                      <p:to>
                                        <p:strVal val="visible"/>
                                      </p:to>
                                    </p:set>
                                    <p:animEffect transition="in" filter="fade">
                                      <p:cBhvr>
                                        <p:cTn id="21" dur="500"/>
                                        <p:tgtEl>
                                          <p:spTgt spid="51"/>
                                        </p:tgtEl>
                                      </p:cBhvr>
                                    </p:animEffect>
                                  </p:childTnLst>
                                </p:cTn>
                              </p:par>
                              <p:par>
                                <p:cTn id="22" presetID="10" presetClass="entr" presetSubtype="0" fill="hold" nodeType="withEffect">
                                  <p:stCondLst>
                                    <p:cond delay="0"/>
                                  </p:stCondLst>
                                  <p:childTnLst>
                                    <p:set>
                                      <p:cBhvr>
                                        <p:cTn id="23" dur="1" fill="hold">
                                          <p:stCondLst>
                                            <p:cond delay="0"/>
                                          </p:stCondLst>
                                        </p:cTn>
                                        <p:tgtEl>
                                          <p:spTgt spid="48"/>
                                        </p:tgtEl>
                                        <p:attrNameLst>
                                          <p:attrName>style.visibility</p:attrName>
                                        </p:attrNameLst>
                                      </p:cBhvr>
                                      <p:to>
                                        <p:strVal val="visible"/>
                                      </p:to>
                                    </p:set>
                                    <p:animEffect transition="in" filter="fade">
                                      <p:cBhvr>
                                        <p:cTn id="24" dur="500"/>
                                        <p:tgtEl>
                                          <p:spTgt spid="4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2"/>
                                        </p:tgtEl>
                                        <p:attrNameLst>
                                          <p:attrName>style.visibility</p:attrName>
                                        </p:attrNameLst>
                                      </p:cBhvr>
                                      <p:to>
                                        <p:strVal val="visible"/>
                                      </p:to>
                                    </p:set>
                                    <p:animEffect transition="in" filter="fade">
                                      <p:cBhvr>
                                        <p:cTn id="29"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11424" y="4586173"/>
            <a:ext cx="11260239" cy="1065420"/>
          </a:xfrm>
          <a:prstGeom prst="rect">
            <a:avLst/>
          </a:prstGeom>
          <a:solidFill>
            <a:schemeClr val="accent6">
              <a:lumMod val="20000"/>
              <a:lumOff val="80000"/>
            </a:schemeClr>
          </a:solidFill>
        </p:spPr>
        <p:txBody>
          <a:bodyPr wrap="none" rtlCol="0" anchor="ctr">
            <a:spAutoFit/>
          </a:bodyPr>
          <a:lstStyle/>
          <a:p>
            <a:pPr algn="ctr"/>
            <a:endParaRPr lang="zh-CN" altLang="en-US" sz="2400" kern="100" dirty="0">
              <a:ea typeface="宋体" panose="02010600030101010101" pitchFamily="2" charset="-122"/>
              <a:cs typeface="Times New Roman" panose="02020603050405020304"/>
            </a:endParaRPr>
          </a:p>
        </p:txBody>
      </p:sp>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14.4 </a:t>
            </a:r>
            <a:r>
              <a:rPr lang="zh-CN" altLang="zh-CN" dirty="0"/>
              <a:t>贝叶斯估计</a:t>
            </a:r>
            <a:endParaRPr lang="zh-CN" altLang="zh-CN" dirty="0"/>
          </a:p>
        </p:txBody>
      </p:sp>
      <p:sp>
        <p:nvSpPr>
          <p:cNvPr id="19" name="内容占位符 2"/>
          <p:cNvSpPr>
            <a:spLocks noGrp="1"/>
          </p:cNvSpPr>
          <p:nvPr>
            <p:ph idx="1"/>
          </p:nvPr>
        </p:nvSpPr>
        <p:spPr>
          <a:xfrm>
            <a:off x="263352" y="1129351"/>
            <a:ext cx="11665296" cy="5334000"/>
          </a:xfrm>
        </p:spPr>
        <p:txBody>
          <a:bodyPr/>
          <a:lstStyle/>
          <a:p>
            <a:pPr marL="0" indent="0">
              <a:lnSpc>
                <a:spcPct val="130000"/>
              </a:lnSpc>
              <a:spcBef>
                <a:spcPts val="0"/>
              </a:spcBef>
              <a:buNone/>
            </a:pPr>
            <a:r>
              <a:rPr lang="zh-CN" altLang="zh-CN" sz="2400" b="1" dirty="0">
                <a:solidFill>
                  <a:srgbClr val="FF0000"/>
                </a:solidFill>
                <a:latin typeface="Times New Roman" panose="02020603050405020304" pitchFamily="18" charset="0"/>
                <a:ea typeface="黑体" panose="02010609060101010101" pitchFamily="49" charset="-122"/>
              </a:rPr>
              <a:t>贝叶斯估计</a:t>
            </a:r>
            <a:r>
              <a:rPr lang="zh-CN" altLang="zh-CN" sz="2200" dirty="0">
                <a:latin typeface="Times New Roman" panose="02020603050405020304" pitchFamily="18" charset="0"/>
                <a:ea typeface="黑体" panose="02010609060101010101" pitchFamily="49" charset="-122"/>
              </a:rPr>
              <a:t>：（在样本集</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下）使条件风险</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最小的估计量</a:t>
            </a:r>
            <a:endParaRPr lang="zh-CN" altLang="zh-CN" sz="2200" dirty="0">
              <a:latin typeface="Times New Roman" panose="02020603050405020304" pitchFamily="18" charset="0"/>
              <a:ea typeface="黑体" panose="02010609060101010101" pitchFamily="49" charset="-122"/>
            </a:endParaRPr>
          </a:p>
          <a:p>
            <a:pPr marL="0" indent="0">
              <a:lnSpc>
                <a:spcPct val="130000"/>
              </a:lnSpc>
              <a:spcBef>
                <a:spcPts val="600"/>
              </a:spcBef>
              <a:buNone/>
            </a:pPr>
            <a:r>
              <a:rPr lang="zh-CN" altLang="zh-CN" sz="2200" dirty="0">
                <a:latin typeface="Times New Roman" panose="02020603050405020304" pitchFamily="18" charset="0"/>
                <a:ea typeface="黑体" panose="02010609060101010101" pitchFamily="49" charset="-122"/>
              </a:rPr>
              <a:t>损失</a:t>
            </a:r>
            <a:r>
              <a:rPr lang="zh-CN" altLang="en-US" sz="2200" dirty="0">
                <a:latin typeface="Times New Roman" panose="02020603050405020304" pitchFamily="18" charset="0"/>
                <a:ea typeface="黑体" panose="02010609060101010101" pitchFamily="49" charset="-122"/>
              </a:rPr>
              <a:t>：   </a:t>
            </a:r>
            <a:endParaRPr lang="en-US" altLang="zh-CN" sz="2200" dirty="0">
              <a:latin typeface="Times New Roman" panose="02020603050405020304" pitchFamily="18" charset="0"/>
              <a:ea typeface="黑体" panose="02010609060101010101" pitchFamily="49" charset="-122"/>
            </a:endParaRPr>
          </a:p>
          <a:p>
            <a:pPr>
              <a:lnSpc>
                <a:spcPct val="130000"/>
              </a:lnSpc>
              <a:spcBef>
                <a:spcPts val="0"/>
              </a:spcBef>
              <a:buClrTx/>
              <a:buFont typeface="Arial" panose="020B0604020202020204" pitchFamily="34" charset="0"/>
              <a:buChar char="•"/>
            </a:pPr>
            <a:r>
              <a:rPr lang="zh-CN" altLang="zh-CN" sz="2000" dirty="0">
                <a:solidFill>
                  <a:schemeClr val="accent6">
                    <a:lumMod val="50000"/>
                  </a:schemeClr>
                </a:solidFill>
                <a:latin typeface="Times New Roman" panose="02020603050405020304" pitchFamily="18" charset="0"/>
                <a:ea typeface="黑体" panose="02010609060101010101" pitchFamily="49" charset="-122"/>
              </a:rPr>
              <a:t>离散情况：损失函数表（决策表）</a:t>
            </a:r>
            <a:r>
              <a:rPr lang="zh-CN" altLang="en-US" sz="2000" dirty="0">
                <a:solidFill>
                  <a:schemeClr val="accent6">
                    <a:lumMod val="50000"/>
                  </a:schemeClr>
                </a:solidFill>
                <a:latin typeface="Times New Roman" panose="02020603050405020304" pitchFamily="18" charset="0"/>
                <a:ea typeface="黑体" panose="02010609060101010101" pitchFamily="49" charset="-122"/>
              </a:rPr>
              <a:t>   </a:t>
            </a:r>
            <a:endParaRPr lang="en-US" altLang="zh-CN" sz="2000" dirty="0">
              <a:solidFill>
                <a:schemeClr val="accent6">
                  <a:lumMod val="50000"/>
                </a:schemeClr>
              </a:solidFill>
              <a:latin typeface="Times New Roman" panose="02020603050405020304" pitchFamily="18" charset="0"/>
              <a:ea typeface="黑体" panose="02010609060101010101" pitchFamily="49" charset="-122"/>
            </a:endParaRPr>
          </a:p>
          <a:p>
            <a:pPr>
              <a:lnSpc>
                <a:spcPct val="130000"/>
              </a:lnSpc>
              <a:spcBef>
                <a:spcPts val="0"/>
              </a:spcBef>
              <a:buClrTx/>
              <a:buFont typeface="Arial" panose="020B0604020202020204" pitchFamily="34" charset="0"/>
              <a:buChar char="•"/>
            </a:pPr>
            <a:r>
              <a:rPr lang="zh-CN" altLang="zh-CN" sz="2000" dirty="0">
                <a:solidFill>
                  <a:schemeClr val="accent6">
                    <a:lumMod val="50000"/>
                  </a:schemeClr>
                </a:solidFill>
                <a:latin typeface="Times New Roman" panose="02020603050405020304" pitchFamily="18" charset="0"/>
                <a:ea typeface="黑体" panose="02010609060101010101" pitchFamily="49" charset="-122"/>
              </a:rPr>
              <a:t>连续情况：损失函数</a:t>
            </a:r>
            <a:endParaRPr lang="zh-CN" altLang="zh-CN" sz="2000" dirty="0">
              <a:solidFill>
                <a:schemeClr val="accent6">
                  <a:lumMod val="50000"/>
                </a:schemeClr>
              </a:solidFill>
              <a:latin typeface="Times New Roman" panose="02020603050405020304" pitchFamily="18" charset="0"/>
              <a:ea typeface="黑体" panose="02010609060101010101" pitchFamily="49" charset="-122"/>
            </a:endParaRPr>
          </a:p>
          <a:p>
            <a:pPr marL="0" indent="0">
              <a:lnSpc>
                <a:spcPct val="130000"/>
              </a:lnSpc>
              <a:spcBef>
                <a:spcPts val="600"/>
              </a:spcBef>
              <a:buNone/>
            </a:pPr>
            <a:r>
              <a:rPr lang="zh-CN" altLang="zh-CN" sz="2200" dirty="0">
                <a:solidFill>
                  <a:srgbClr val="0000FF"/>
                </a:solidFill>
                <a:latin typeface="Times New Roman" panose="02020603050405020304" pitchFamily="18" charset="0"/>
                <a:ea typeface="黑体" panose="02010609060101010101" pitchFamily="49" charset="-122"/>
              </a:rPr>
              <a:t>常用的损失函数：</a:t>
            </a:r>
            <a:r>
              <a:rPr lang="en-US" altLang="zh-CN" sz="2200" dirty="0">
                <a:solidFill>
                  <a:srgbClr val="0000FF"/>
                </a:solidFill>
                <a:latin typeface="Times New Roman" panose="02020603050405020304" pitchFamily="18" charset="0"/>
                <a:ea typeface="黑体" panose="02010609060101010101" pitchFamily="49" charset="-122"/>
              </a:rPr>
              <a:t>  	                       </a:t>
            </a:r>
            <a:r>
              <a:rPr lang="zh-CN" altLang="zh-CN" sz="2200" dirty="0">
                <a:solidFill>
                  <a:srgbClr val="0000FF"/>
                </a:solidFill>
                <a:latin typeface="Times New Roman" panose="02020603050405020304" pitchFamily="18" charset="0"/>
                <a:ea typeface="黑体" panose="02010609060101010101" pitchFamily="49" charset="-122"/>
              </a:rPr>
              <a:t>（平方误差损失函数）</a:t>
            </a:r>
            <a:endParaRPr lang="zh-CN" altLang="zh-CN" sz="2200" dirty="0">
              <a:solidFill>
                <a:srgbClr val="0000FF"/>
              </a:solidFill>
              <a:latin typeface="Times New Roman" panose="02020603050405020304" pitchFamily="18" charset="0"/>
              <a:ea typeface="黑体" panose="02010609060101010101" pitchFamily="49" charset="-122"/>
            </a:endParaRPr>
          </a:p>
        </p:txBody>
      </p:sp>
      <p:graphicFrame>
        <p:nvGraphicFramePr>
          <p:cNvPr id="21" name="对象 20"/>
          <p:cNvGraphicFramePr>
            <a:graphicFrameLocks noChangeAspect="1"/>
          </p:cNvGraphicFramePr>
          <p:nvPr/>
        </p:nvGraphicFramePr>
        <p:xfrm>
          <a:off x="3545216" y="1250529"/>
          <a:ext cx="382542" cy="360039"/>
        </p:xfrm>
        <a:graphic>
          <a:graphicData uri="http://schemas.openxmlformats.org/presentationml/2006/ole">
            <mc:AlternateContent xmlns:mc="http://schemas.openxmlformats.org/markup-compatibility/2006">
              <mc:Choice xmlns:v="urn:schemas-microsoft-com:vml" Requires="v">
                <p:oleObj spid="_x0000_s171606" name="Equation" r:id="rId2" imgW="177800" imgH="165100" progId="Equation.DSMT4">
                  <p:embed/>
                </p:oleObj>
              </mc:Choice>
              <mc:Fallback>
                <p:oleObj name="Equation" r:id="rId2" imgW="177800" imgH="165100" progId="Equation.DSMT4">
                  <p:embed/>
                  <p:pic>
                    <p:nvPicPr>
                      <p:cNvPr id="0" name="Picture 15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5216" y="1250529"/>
                        <a:ext cx="382542" cy="3600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对象 28"/>
          <p:cNvGraphicFramePr>
            <a:graphicFrameLocks noChangeAspect="1"/>
          </p:cNvGraphicFramePr>
          <p:nvPr/>
        </p:nvGraphicFramePr>
        <p:xfrm>
          <a:off x="11432594" y="1162526"/>
          <a:ext cx="280030" cy="462050"/>
        </p:xfrm>
        <a:graphic>
          <a:graphicData uri="http://schemas.openxmlformats.org/presentationml/2006/ole">
            <mc:AlternateContent xmlns:mc="http://schemas.openxmlformats.org/markup-compatibility/2006">
              <mc:Choice xmlns:v="urn:schemas-microsoft-com:vml" Requires="v">
                <p:oleObj spid="_x0000_s171607" name="Equation" r:id="rId4" imgW="127000" imgH="215265" progId="Equation.DSMT4">
                  <p:embed/>
                </p:oleObj>
              </mc:Choice>
              <mc:Fallback>
                <p:oleObj name="Equation" r:id="rId4" imgW="127000" imgH="215265" progId="Equation.DSMT4">
                  <p:embed/>
                  <p:pic>
                    <p:nvPicPr>
                      <p:cNvPr id="0" name="Picture 15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2594" y="1162526"/>
                        <a:ext cx="280030" cy="462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对象 29"/>
          <p:cNvGraphicFramePr>
            <a:graphicFrameLocks noChangeAspect="1"/>
          </p:cNvGraphicFramePr>
          <p:nvPr/>
        </p:nvGraphicFramePr>
        <p:xfrm>
          <a:off x="2544950" y="3004002"/>
          <a:ext cx="2212681" cy="474146"/>
        </p:xfrm>
        <a:graphic>
          <a:graphicData uri="http://schemas.openxmlformats.org/presentationml/2006/ole">
            <mc:AlternateContent xmlns:mc="http://schemas.openxmlformats.org/markup-compatibility/2006">
              <mc:Choice xmlns:v="urn:schemas-microsoft-com:vml" Requires="v">
                <p:oleObj spid="_x0000_s171608" name="Equation" r:id="rId6" imgW="1117600" imgH="241300" progId="Equation.DSMT4">
                  <p:embed/>
                </p:oleObj>
              </mc:Choice>
              <mc:Fallback>
                <p:oleObj name="Equation" r:id="rId6" imgW="1117600" imgH="241300" progId="Equation.DSMT4">
                  <p:embed/>
                  <p:pic>
                    <p:nvPicPr>
                      <p:cNvPr id="0" name="Picture 15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44950" y="3004002"/>
                        <a:ext cx="2212681" cy="4741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255"/>
          <p:cNvGraphicFramePr>
            <a:graphicFrameLocks noChangeAspect="1"/>
          </p:cNvGraphicFramePr>
          <p:nvPr/>
        </p:nvGraphicFramePr>
        <p:xfrm>
          <a:off x="5879976" y="1187384"/>
          <a:ext cx="3744416" cy="535126"/>
        </p:xfrm>
        <a:graphic>
          <a:graphicData uri="http://schemas.openxmlformats.org/presentationml/2006/ole">
            <mc:AlternateContent xmlns:mc="http://schemas.openxmlformats.org/markup-compatibility/2006">
              <mc:Choice xmlns:v="urn:schemas-microsoft-com:vml" Requires="v">
                <p:oleObj spid="_x0000_s171609" name="Equation" r:id="rId8" imgW="2044700" imgH="292100" progId="Equation.DSMT4">
                  <p:embed/>
                </p:oleObj>
              </mc:Choice>
              <mc:Fallback>
                <p:oleObj name="Equation" r:id="rId8" imgW="2044700" imgH="292100" progId="Equation.DSMT4">
                  <p:embed/>
                  <p:pic>
                    <p:nvPicPr>
                      <p:cNvPr id="0" name="Picture 15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79976" y="1187384"/>
                        <a:ext cx="3744416" cy="5351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矩形 31"/>
          <p:cNvSpPr/>
          <p:nvPr/>
        </p:nvSpPr>
        <p:spPr>
          <a:xfrm>
            <a:off x="263352" y="3501008"/>
            <a:ext cx="11593288" cy="1769715"/>
          </a:xfrm>
          <a:prstGeom prst="rect">
            <a:avLst/>
          </a:prstGeom>
        </p:spPr>
        <p:txBody>
          <a:bodyPr wrap="square">
            <a:spAutoFit/>
          </a:bodyPr>
          <a:lstStyle/>
          <a:p>
            <a:pPr marL="0" indent="0">
              <a:lnSpc>
                <a:spcPct val="130000"/>
              </a:lnSpc>
              <a:spcBef>
                <a:spcPts val="0"/>
              </a:spcBef>
              <a:buNone/>
            </a:pPr>
            <a:r>
              <a:rPr lang="zh-CN" altLang="zh-CN" sz="2200" dirty="0">
                <a:latin typeface="Times New Roman" panose="02020603050405020304" pitchFamily="18" charset="0"/>
                <a:ea typeface="黑体" panose="02010609060101010101" pitchFamily="49" charset="-122"/>
              </a:rPr>
              <a:t>定理</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　如果采用平方误差损失函数，则</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的贝叶斯估计量</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是在给定</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时</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的条件期望，</a:t>
            </a:r>
            <a:endParaRPr lang="en-US" altLang="zh-CN" sz="2200" dirty="0">
              <a:latin typeface="Times New Roman" panose="02020603050405020304" pitchFamily="18" charset="0"/>
              <a:ea typeface="黑体" panose="02010609060101010101" pitchFamily="49" charset="-122"/>
            </a:endParaRPr>
          </a:p>
          <a:p>
            <a:pPr marL="0" indent="0">
              <a:lnSpc>
                <a:spcPct val="130000"/>
              </a:lnSpc>
              <a:spcBef>
                <a:spcPts val="600"/>
              </a:spcBef>
              <a:buNone/>
            </a:pP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即</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   </a:t>
            </a:r>
            <a:endParaRPr lang="zh-CN" altLang="zh-CN" sz="2200" dirty="0">
              <a:latin typeface="Times New Roman" panose="02020603050405020304" pitchFamily="18" charset="0"/>
              <a:ea typeface="黑体" panose="02010609060101010101" pitchFamily="49" charset="-122"/>
            </a:endParaRPr>
          </a:p>
          <a:p>
            <a:pPr marL="0" indent="0">
              <a:lnSpc>
                <a:spcPct val="130000"/>
              </a:lnSpc>
              <a:spcBef>
                <a:spcPts val="0"/>
              </a:spcBef>
              <a:buNone/>
            </a:pPr>
            <a:r>
              <a:rPr lang="en-US" altLang="zh-CN" sz="3600" dirty="0">
                <a:solidFill>
                  <a:srgbClr val="FF0000"/>
                </a:solidFill>
                <a:latin typeface="Times New Roman" panose="02020603050405020304" pitchFamily="18" charset="0"/>
                <a:ea typeface="黑体" panose="02010609060101010101" pitchFamily="49" charset="-122"/>
                <a:sym typeface="Symbol" panose="05050102010706020507"/>
              </a:rPr>
              <a:t></a:t>
            </a:r>
            <a:r>
              <a:rPr lang="en-US" altLang="zh-CN" sz="2200" dirty="0">
                <a:solidFill>
                  <a:srgbClr val="FF0000"/>
                </a:solidFill>
                <a:latin typeface="Times New Roman" panose="02020603050405020304" pitchFamily="18" charset="0"/>
                <a:ea typeface="黑体" panose="02010609060101010101" pitchFamily="49" charset="-122"/>
                <a:sym typeface="Symbol" panose="05050102010706020507"/>
              </a:rPr>
              <a:t>  </a:t>
            </a:r>
            <a:r>
              <a:rPr lang="zh-CN" altLang="zh-CN" sz="2200" dirty="0">
                <a:latin typeface="Times New Roman" panose="02020603050405020304" pitchFamily="18" charset="0"/>
                <a:ea typeface="黑体" panose="02010609060101010101" pitchFamily="49" charset="-122"/>
              </a:rPr>
              <a:t>在给定样本集</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下，</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的贝叶斯估计是</a:t>
            </a:r>
            <a:endParaRPr lang="en-US" altLang="zh-CN" sz="2200" dirty="0">
              <a:latin typeface="Times New Roman" panose="02020603050405020304" pitchFamily="18" charset="0"/>
              <a:ea typeface="黑体" panose="02010609060101010101" pitchFamily="49" charset="-122"/>
            </a:endParaRPr>
          </a:p>
        </p:txBody>
      </p:sp>
      <p:graphicFrame>
        <p:nvGraphicFramePr>
          <p:cNvPr id="33" name="Object 256"/>
          <p:cNvGraphicFramePr>
            <a:graphicFrameLocks noChangeAspect="1"/>
          </p:cNvGraphicFramePr>
          <p:nvPr/>
        </p:nvGraphicFramePr>
        <p:xfrm>
          <a:off x="5482218" y="3618551"/>
          <a:ext cx="279400" cy="355600"/>
        </p:xfrm>
        <a:graphic>
          <a:graphicData uri="http://schemas.openxmlformats.org/presentationml/2006/ole">
            <mc:AlternateContent xmlns:mc="http://schemas.openxmlformats.org/markup-compatibility/2006">
              <mc:Choice xmlns:v="urn:schemas-microsoft-com:vml" Requires="v">
                <p:oleObj spid="_x0000_s171610" name="Equation" r:id="rId10" imgW="127000" imgH="177165" progId="Equation.DSMT4">
                  <p:embed/>
                </p:oleObj>
              </mc:Choice>
              <mc:Fallback>
                <p:oleObj name="Equation" r:id="rId10" imgW="127000" imgH="177165" progId="Equation.DSMT4">
                  <p:embed/>
                  <p:pic>
                    <p:nvPicPr>
                      <p:cNvPr id="0" name="Picture 15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82218" y="3618551"/>
                        <a:ext cx="2794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Object 257"/>
          <p:cNvGraphicFramePr>
            <a:graphicFrameLocks noChangeAspect="1"/>
          </p:cNvGraphicFramePr>
          <p:nvPr/>
        </p:nvGraphicFramePr>
        <p:xfrm>
          <a:off x="7850480" y="3571612"/>
          <a:ext cx="279400" cy="431800"/>
        </p:xfrm>
        <a:graphic>
          <a:graphicData uri="http://schemas.openxmlformats.org/presentationml/2006/ole">
            <mc:AlternateContent xmlns:mc="http://schemas.openxmlformats.org/markup-compatibility/2006">
              <mc:Choice xmlns:v="urn:schemas-microsoft-com:vml" Requires="v">
                <p:oleObj spid="_x0000_s171611" name="Equation" r:id="rId12" imgW="127000" imgH="215265" progId="Equation.DSMT4">
                  <p:embed/>
                </p:oleObj>
              </mc:Choice>
              <mc:Fallback>
                <p:oleObj name="Equation" r:id="rId12" imgW="127000" imgH="215265" progId="Equation.DSMT4">
                  <p:embed/>
                  <p:pic>
                    <p:nvPicPr>
                      <p:cNvPr id="0" name="Picture 153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50480" y="3571612"/>
                        <a:ext cx="2794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258"/>
          <p:cNvGraphicFramePr>
            <a:graphicFrameLocks noChangeAspect="1"/>
          </p:cNvGraphicFramePr>
          <p:nvPr/>
        </p:nvGraphicFramePr>
        <p:xfrm>
          <a:off x="9280222" y="3660347"/>
          <a:ext cx="283592" cy="283592"/>
        </p:xfrm>
        <a:graphic>
          <a:graphicData uri="http://schemas.openxmlformats.org/presentationml/2006/ole">
            <mc:AlternateContent xmlns:mc="http://schemas.openxmlformats.org/markup-compatibility/2006">
              <mc:Choice xmlns:v="urn:schemas-microsoft-com:vml" Requires="v">
                <p:oleObj spid="_x0000_s171612" name="Equation" r:id="rId14" imgW="139700" imgH="139700" progId="Equation.DSMT4">
                  <p:embed/>
                </p:oleObj>
              </mc:Choice>
              <mc:Fallback>
                <p:oleObj name="Equation" r:id="rId14" imgW="139700" imgH="139700" progId="Equation.DSMT4">
                  <p:embed/>
                  <p:pic>
                    <p:nvPicPr>
                      <p:cNvPr id="0" name="Picture 153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280222" y="3660347"/>
                        <a:ext cx="283592" cy="2835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Object 259"/>
          <p:cNvGraphicFramePr>
            <a:graphicFrameLocks noChangeAspect="1"/>
          </p:cNvGraphicFramePr>
          <p:nvPr/>
        </p:nvGraphicFramePr>
        <p:xfrm>
          <a:off x="9869418" y="3618551"/>
          <a:ext cx="279400" cy="355600"/>
        </p:xfrm>
        <a:graphic>
          <a:graphicData uri="http://schemas.openxmlformats.org/presentationml/2006/ole">
            <mc:AlternateContent xmlns:mc="http://schemas.openxmlformats.org/markup-compatibility/2006">
              <mc:Choice xmlns:v="urn:schemas-microsoft-com:vml" Requires="v">
                <p:oleObj spid="_x0000_s171613" name="Equation" r:id="rId16" imgW="127000" imgH="177165" progId="Equation.DSMT4">
                  <p:embed/>
                </p:oleObj>
              </mc:Choice>
              <mc:Fallback>
                <p:oleObj name="Equation" r:id="rId16" imgW="127000" imgH="177165" progId="Equation.DSMT4">
                  <p:embed/>
                  <p:pic>
                    <p:nvPicPr>
                      <p:cNvPr id="0" name="Picture 15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869418" y="3618551"/>
                        <a:ext cx="2794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Object 260"/>
          <p:cNvGraphicFramePr>
            <a:graphicFrameLocks noChangeAspect="1"/>
          </p:cNvGraphicFramePr>
          <p:nvPr/>
        </p:nvGraphicFramePr>
        <p:xfrm>
          <a:off x="1935164" y="4022482"/>
          <a:ext cx="3432252" cy="563691"/>
        </p:xfrm>
        <a:graphic>
          <a:graphicData uri="http://schemas.openxmlformats.org/presentationml/2006/ole">
            <mc:AlternateContent xmlns:mc="http://schemas.openxmlformats.org/markup-compatibility/2006">
              <mc:Choice xmlns:v="urn:schemas-microsoft-com:vml" Requires="v">
                <p:oleObj spid="_x0000_s171614" name="Equation" r:id="rId17" imgW="1765300" imgH="292100" progId="Equation.DSMT4">
                  <p:embed/>
                </p:oleObj>
              </mc:Choice>
              <mc:Fallback>
                <p:oleObj name="Equation" r:id="rId17" imgW="1765300" imgH="292100" progId="Equation.DSMT4">
                  <p:embed/>
                  <p:pic>
                    <p:nvPicPr>
                      <p:cNvPr id="0" name="Picture 153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35164" y="4022482"/>
                        <a:ext cx="3432252" cy="5636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Object 261"/>
          <p:cNvGraphicFramePr>
            <a:graphicFrameLocks noChangeAspect="1"/>
          </p:cNvGraphicFramePr>
          <p:nvPr/>
        </p:nvGraphicFramePr>
        <p:xfrm>
          <a:off x="6294730" y="4647347"/>
          <a:ext cx="3670300" cy="609600"/>
        </p:xfrm>
        <a:graphic>
          <a:graphicData uri="http://schemas.openxmlformats.org/presentationml/2006/ole">
            <mc:AlternateContent xmlns:mc="http://schemas.openxmlformats.org/markup-compatibility/2006">
              <mc:Choice xmlns:v="urn:schemas-microsoft-com:vml" Requires="v">
                <p:oleObj spid="_x0000_s171615" name="Equation" r:id="rId19" imgW="1790700" imgH="292100" progId="Equation.DSMT4">
                  <p:embed/>
                </p:oleObj>
              </mc:Choice>
              <mc:Fallback>
                <p:oleObj name="Equation" r:id="rId19" imgW="1790700" imgH="292100" progId="Equation.DSMT4">
                  <p:embed/>
                  <p:pic>
                    <p:nvPicPr>
                      <p:cNvPr id="0" name="Picture 153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294730" y="4647347"/>
                        <a:ext cx="3670300" cy="609600"/>
                      </a:xfrm>
                      <a:prstGeom prst="rect">
                        <a:avLst/>
                      </a:prstGeom>
                      <a:solidFill>
                        <a:schemeClr val="bg1"/>
                      </a:solidFill>
                    </p:spPr>
                  </p:pic>
                </p:oleObj>
              </mc:Fallback>
            </mc:AlternateContent>
          </a:graphicData>
        </a:graphic>
      </p:graphicFrame>
      <p:graphicFrame>
        <p:nvGraphicFramePr>
          <p:cNvPr id="39" name="Object 262"/>
          <p:cNvGraphicFramePr>
            <a:graphicFrameLocks noChangeAspect="1"/>
          </p:cNvGraphicFramePr>
          <p:nvPr/>
        </p:nvGraphicFramePr>
        <p:xfrm>
          <a:off x="3707708" y="4689395"/>
          <a:ext cx="342900" cy="431800"/>
        </p:xfrm>
        <a:graphic>
          <a:graphicData uri="http://schemas.openxmlformats.org/presentationml/2006/ole">
            <mc:AlternateContent xmlns:mc="http://schemas.openxmlformats.org/markup-compatibility/2006">
              <mc:Choice xmlns:v="urn:schemas-microsoft-com:vml" Requires="v">
                <p:oleObj spid="_x0000_s171616" name="Equation" r:id="rId21" imgW="127000" imgH="177165" progId="Equation.DSMT4">
                  <p:embed/>
                </p:oleObj>
              </mc:Choice>
              <mc:Fallback>
                <p:oleObj name="Equation" r:id="rId21" imgW="127000" imgH="177165" progId="Equation.DSMT4">
                  <p:embed/>
                  <p:pic>
                    <p:nvPicPr>
                      <p:cNvPr id="0" name="Picture 153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07708" y="4689395"/>
                        <a:ext cx="3429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Object 263"/>
          <p:cNvGraphicFramePr>
            <a:graphicFrameLocks noChangeAspect="1"/>
          </p:cNvGraphicFramePr>
          <p:nvPr/>
        </p:nvGraphicFramePr>
        <p:xfrm>
          <a:off x="2711624" y="4788748"/>
          <a:ext cx="304800" cy="279400"/>
        </p:xfrm>
        <a:graphic>
          <a:graphicData uri="http://schemas.openxmlformats.org/presentationml/2006/ole">
            <mc:AlternateContent xmlns:mc="http://schemas.openxmlformats.org/markup-compatibility/2006">
              <mc:Choice xmlns:v="urn:schemas-microsoft-com:vml" Requires="v">
                <p:oleObj spid="_x0000_s171617" name="Equation" r:id="rId22" imgW="177800" imgH="165100" progId="Equation.DSMT4">
                  <p:embed/>
                </p:oleObj>
              </mc:Choice>
              <mc:Fallback>
                <p:oleObj name="Equation" r:id="rId22" imgW="177800" imgH="165100" progId="Equation.DSMT4">
                  <p:embed/>
                  <p:pic>
                    <p:nvPicPr>
                      <p:cNvPr id="0" name="Picture 153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11624" y="4788748"/>
                        <a:ext cx="3048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 name="矩形 40"/>
          <p:cNvSpPr/>
          <p:nvPr/>
        </p:nvSpPr>
        <p:spPr>
          <a:xfrm>
            <a:off x="9317156" y="5114524"/>
            <a:ext cx="2723823" cy="430887"/>
          </a:xfrm>
          <a:prstGeom prst="rect">
            <a:avLst/>
          </a:prstGeom>
        </p:spPr>
        <p:txBody>
          <a:bodyPr wrap="none">
            <a:spAutoFit/>
          </a:bodyPr>
          <a:lstStyle/>
          <a:p>
            <a:r>
              <a:rPr lang="zh-CN" altLang="en-US" sz="2200" dirty="0">
                <a:solidFill>
                  <a:srgbClr val="FF0000"/>
                </a:solidFill>
                <a:latin typeface="Times New Roman" panose="02020603050405020304" pitchFamily="18" charset="0"/>
                <a:ea typeface="黑体" panose="02010609060101010101" pitchFamily="49" charset="-122"/>
              </a:rPr>
              <a:t>最小风险贝叶斯估计</a:t>
            </a:r>
            <a:endParaRPr lang="zh-CN" altLang="en-US" sz="2200" dirty="0">
              <a:solidFill>
                <a:srgbClr val="FF0000"/>
              </a:solidFill>
              <a:latin typeface="Times New Roman" panose="02020603050405020304" pitchFamily="18" charset="0"/>
              <a:ea typeface="黑体" panose="02010609060101010101"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14.4 </a:t>
            </a:r>
            <a:r>
              <a:rPr lang="zh-CN" altLang="zh-CN" dirty="0"/>
              <a:t>贝叶斯估计</a:t>
            </a:r>
            <a:endParaRPr lang="zh-CN" altLang="zh-CN" dirty="0"/>
          </a:p>
        </p:txBody>
      </p:sp>
      <p:graphicFrame>
        <p:nvGraphicFramePr>
          <p:cNvPr id="50" name="Object 3"/>
          <p:cNvGraphicFramePr>
            <a:graphicFrameLocks noChangeAspect="1"/>
          </p:cNvGraphicFramePr>
          <p:nvPr/>
        </p:nvGraphicFramePr>
        <p:xfrm>
          <a:off x="352648" y="2857286"/>
          <a:ext cx="4640315" cy="2136435"/>
        </p:xfrm>
        <a:graphic>
          <a:graphicData uri="http://schemas.openxmlformats.org/presentationml/2006/ole">
            <mc:AlternateContent xmlns:mc="http://schemas.openxmlformats.org/markup-compatibility/2006">
              <mc:Choice xmlns:v="urn:schemas-microsoft-com:vml" Requires="v">
                <p:oleObj spid="_x0000_s176421" name="Equation" r:id="rId2" imgW="2336800" imgH="1079500" progId="Equation.DSMT4">
                  <p:embed/>
                </p:oleObj>
              </mc:Choice>
              <mc:Fallback>
                <p:oleObj name="Equation" r:id="rId2" imgW="2336800" imgH="1079500" progId="Equation.DSMT4">
                  <p:embed/>
                  <p:pic>
                    <p:nvPicPr>
                      <p:cNvPr id="0" name="Picture 12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648" y="2857286"/>
                        <a:ext cx="4640315" cy="21364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 name="Object 4"/>
          <p:cNvGraphicFramePr>
            <a:graphicFrameLocks noChangeAspect="1"/>
          </p:cNvGraphicFramePr>
          <p:nvPr/>
        </p:nvGraphicFramePr>
        <p:xfrm>
          <a:off x="340494" y="5003551"/>
          <a:ext cx="4201090" cy="803791"/>
        </p:xfrm>
        <a:graphic>
          <a:graphicData uri="http://schemas.openxmlformats.org/presentationml/2006/ole">
            <mc:AlternateContent xmlns:mc="http://schemas.openxmlformats.org/markup-compatibility/2006">
              <mc:Choice xmlns:v="urn:schemas-microsoft-com:vml" Requires="v">
                <p:oleObj spid="_x0000_s176422" name="Equation" r:id="rId4" imgW="1917700" imgH="368300" progId="Equation.DSMT4">
                  <p:embed/>
                </p:oleObj>
              </mc:Choice>
              <mc:Fallback>
                <p:oleObj name="Equation" r:id="rId4" imgW="1917700" imgH="368300" progId="Equation.DSMT4">
                  <p:embed/>
                  <p:pic>
                    <p:nvPicPr>
                      <p:cNvPr id="0" name="Picture 12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494" y="5003551"/>
                        <a:ext cx="4201090" cy="8037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 name="Object 5"/>
          <p:cNvGraphicFramePr>
            <a:graphicFrameLocks noChangeAspect="1"/>
          </p:cNvGraphicFramePr>
          <p:nvPr/>
        </p:nvGraphicFramePr>
        <p:xfrm>
          <a:off x="933817" y="5710502"/>
          <a:ext cx="2592562" cy="645801"/>
        </p:xfrm>
        <a:graphic>
          <a:graphicData uri="http://schemas.openxmlformats.org/presentationml/2006/ole">
            <mc:AlternateContent xmlns:mc="http://schemas.openxmlformats.org/markup-compatibility/2006">
              <mc:Choice xmlns:v="urn:schemas-microsoft-com:vml" Requires="v">
                <p:oleObj spid="_x0000_s176423" name="Equation" r:id="rId6" imgW="1167765" imgH="292100" progId="Equation.DSMT4">
                  <p:embed/>
                </p:oleObj>
              </mc:Choice>
              <mc:Fallback>
                <p:oleObj name="Equation" r:id="rId6" imgW="1167765" imgH="292100" progId="Equation.DSMT4">
                  <p:embed/>
                  <p:pic>
                    <p:nvPicPr>
                      <p:cNvPr id="0" name="Picture 123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3817" y="5710502"/>
                        <a:ext cx="2592562" cy="6458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 name="Object 3"/>
          <p:cNvGraphicFramePr>
            <a:graphicFrameLocks noChangeAspect="1"/>
          </p:cNvGraphicFramePr>
          <p:nvPr/>
        </p:nvGraphicFramePr>
        <p:xfrm>
          <a:off x="407368" y="1567467"/>
          <a:ext cx="3645461" cy="746485"/>
        </p:xfrm>
        <a:graphic>
          <a:graphicData uri="http://schemas.openxmlformats.org/presentationml/2006/ole">
            <mc:AlternateContent xmlns:mc="http://schemas.openxmlformats.org/markup-compatibility/2006">
              <mc:Choice xmlns:v="urn:schemas-microsoft-com:vml" Requires="v">
                <p:oleObj spid="_x0000_s176424" name="Equation" r:id="rId8" imgW="1790700" imgH="368300" progId="Equation.DSMT4">
                  <p:embed/>
                </p:oleObj>
              </mc:Choice>
              <mc:Fallback>
                <p:oleObj name="Equation" r:id="rId8" imgW="1790700" imgH="368300" progId="Equation.DSMT4">
                  <p:embed/>
                  <p:pic>
                    <p:nvPicPr>
                      <p:cNvPr id="0" name="Picture 12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7368" y="1567467"/>
                        <a:ext cx="3645461" cy="7464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 name="Object 13" descr="蓝色面巾纸"/>
          <p:cNvGraphicFramePr>
            <a:graphicFrameLocks noChangeAspect="1"/>
          </p:cNvGraphicFramePr>
          <p:nvPr/>
        </p:nvGraphicFramePr>
        <p:xfrm>
          <a:off x="355649" y="2324280"/>
          <a:ext cx="2592289" cy="496078"/>
        </p:xfrm>
        <a:graphic>
          <a:graphicData uri="http://schemas.openxmlformats.org/presentationml/2006/ole">
            <mc:AlternateContent xmlns:mc="http://schemas.openxmlformats.org/markup-compatibility/2006">
              <mc:Choice xmlns:v="urn:schemas-microsoft-com:vml" Requires="v">
                <p:oleObj spid="_x0000_s176425" name="Equation" r:id="rId10" imgW="1257300" imgH="241300" progId="Equation.DSMT4">
                  <p:embed/>
                </p:oleObj>
              </mc:Choice>
              <mc:Fallback>
                <p:oleObj name="Equation" r:id="rId10" imgW="1257300" imgH="241300" progId="Equation.DSMT4">
                  <p:embed/>
                  <p:pic>
                    <p:nvPicPr>
                      <p:cNvPr id="0" name="Picture 1241" descr="蓝色面巾纸"/>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5649" y="2324280"/>
                        <a:ext cx="2592289" cy="4960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 name="矩形 55"/>
          <p:cNvSpPr/>
          <p:nvPr/>
        </p:nvSpPr>
        <p:spPr>
          <a:xfrm>
            <a:off x="355650" y="1098134"/>
            <a:ext cx="2592288" cy="430887"/>
          </a:xfrm>
          <a:prstGeom prst="rect">
            <a:avLst/>
          </a:prstGeom>
        </p:spPr>
        <p:txBody>
          <a:bodyPr wrap="square">
            <a:spAutoFit/>
          </a:bodyPr>
          <a:lstStyle/>
          <a:p>
            <a:r>
              <a:rPr lang="zh-CN" altLang="zh-CN" sz="2200" dirty="0">
                <a:latin typeface="Times New Roman" panose="02020603050405020304" pitchFamily="18" charset="0"/>
                <a:ea typeface="黑体" panose="02010609060101010101" pitchFamily="49" charset="-122"/>
              </a:rPr>
              <a:t>定理</a:t>
            </a:r>
            <a:r>
              <a:rPr lang="zh-CN" altLang="en-US" sz="2200" dirty="0">
                <a:latin typeface="Times New Roman" panose="02020603050405020304" pitchFamily="18" charset="0"/>
                <a:ea typeface="黑体" panose="02010609060101010101" pitchFamily="49" charset="-122"/>
              </a:rPr>
              <a:t>证明：</a:t>
            </a:r>
            <a:endParaRPr lang="zh-CN" altLang="en-US" sz="2200" dirty="0">
              <a:latin typeface="Times New Roman" panose="02020603050405020304" pitchFamily="18" charset="0"/>
              <a:ea typeface="黑体" panose="02010609060101010101" pitchFamily="49" charset="-122"/>
            </a:endParaRPr>
          </a:p>
        </p:txBody>
      </p:sp>
      <p:graphicFrame>
        <p:nvGraphicFramePr>
          <p:cNvPr id="13" name="Object 3"/>
          <p:cNvGraphicFramePr>
            <a:graphicFrameLocks noChangeAspect="1"/>
          </p:cNvGraphicFramePr>
          <p:nvPr/>
        </p:nvGraphicFramePr>
        <p:xfrm>
          <a:off x="5709327" y="978222"/>
          <a:ext cx="5976664" cy="1068207"/>
        </p:xfrm>
        <a:graphic>
          <a:graphicData uri="http://schemas.openxmlformats.org/presentationml/2006/ole">
            <mc:AlternateContent xmlns:mc="http://schemas.openxmlformats.org/markup-compatibility/2006">
              <mc:Choice xmlns:v="urn:schemas-microsoft-com:vml" Requires="v">
                <p:oleObj spid="_x0000_s176426" name="Equation" r:id="rId12" imgW="2832100" imgH="508000" progId="Equation.DSMT4">
                  <p:embed/>
                </p:oleObj>
              </mc:Choice>
              <mc:Fallback>
                <p:oleObj name="Equation" r:id="rId12" imgW="2832100" imgH="508000" progId="Equation.DSMT4">
                  <p:embed/>
                  <p:pic>
                    <p:nvPicPr>
                      <p:cNvPr id="0" name="Picture 124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09327" y="978222"/>
                        <a:ext cx="5976664" cy="1068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4"/>
          <p:cNvGraphicFramePr>
            <a:graphicFrameLocks noChangeAspect="1"/>
          </p:cNvGraphicFramePr>
          <p:nvPr/>
        </p:nvGraphicFramePr>
        <p:xfrm>
          <a:off x="5735285" y="2023377"/>
          <a:ext cx="5288018" cy="2265520"/>
        </p:xfrm>
        <a:graphic>
          <a:graphicData uri="http://schemas.openxmlformats.org/presentationml/2006/ole">
            <mc:AlternateContent xmlns:mc="http://schemas.openxmlformats.org/markup-compatibility/2006">
              <mc:Choice xmlns:v="urn:schemas-microsoft-com:vml" Requires="v">
                <p:oleObj spid="_x0000_s176427" name="Equation" r:id="rId14" imgW="2628900" imgH="1130300" progId="Equation.DSMT4">
                  <p:embed/>
                </p:oleObj>
              </mc:Choice>
              <mc:Fallback>
                <p:oleObj name="Equation" r:id="rId14" imgW="2628900" imgH="1130300" progId="Equation.DSMT4">
                  <p:embed/>
                  <p:pic>
                    <p:nvPicPr>
                      <p:cNvPr id="0" name="Picture 124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35285" y="2023377"/>
                        <a:ext cx="5288018" cy="22655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5"/>
          <p:cNvGraphicFramePr>
            <a:graphicFrameLocks noChangeAspect="1"/>
          </p:cNvGraphicFramePr>
          <p:nvPr/>
        </p:nvGraphicFramePr>
        <p:xfrm>
          <a:off x="5584314" y="4635879"/>
          <a:ext cx="6094047" cy="772076"/>
        </p:xfrm>
        <a:graphic>
          <a:graphicData uri="http://schemas.openxmlformats.org/presentationml/2006/ole">
            <mc:AlternateContent xmlns:mc="http://schemas.openxmlformats.org/markup-compatibility/2006">
              <mc:Choice xmlns:v="urn:schemas-microsoft-com:vml" Requires="v">
                <p:oleObj spid="_x0000_s176428" name="Equation" r:id="rId16" imgW="2895600" imgH="368300" progId="Equation.DSMT4">
                  <p:embed/>
                </p:oleObj>
              </mc:Choice>
              <mc:Fallback>
                <p:oleObj name="Equation" r:id="rId16" imgW="2895600" imgH="368300" progId="Equation.DSMT4">
                  <p:embed/>
                  <p:pic>
                    <p:nvPicPr>
                      <p:cNvPr id="0" name="Picture 124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584314" y="4635879"/>
                        <a:ext cx="6094047" cy="7720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7" name="组合 16"/>
          <p:cNvGrpSpPr/>
          <p:nvPr/>
        </p:nvGrpSpPr>
        <p:grpSpPr>
          <a:xfrm>
            <a:off x="8790892" y="3192534"/>
            <a:ext cx="2887469" cy="812530"/>
            <a:chOff x="4374145" y="4247641"/>
            <a:chExt cx="2887469" cy="812530"/>
          </a:xfrm>
        </p:grpSpPr>
        <p:sp>
          <p:nvSpPr>
            <p:cNvPr id="18" name="Text Box 3"/>
            <p:cNvSpPr txBox="1">
              <a:spLocks noChangeArrowheads="1"/>
            </p:cNvSpPr>
            <p:nvPr/>
          </p:nvSpPr>
          <p:spPr bwMode="auto">
            <a:xfrm>
              <a:off x="4374145" y="4247641"/>
              <a:ext cx="2887469" cy="812530"/>
            </a:xfrm>
            <a:prstGeom prst="rect">
              <a:avLst/>
            </a:prstGeom>
            <a:noFill/>
            <a:ln w="9525">
              <a:solidFill>
                <a:schemeClr val="folHlink"/>
              </a:solidFill>
              <a:miter lim="800000"/>
            </a:ln>
          </p:spPr>
          <p:txBody>
            <a:bodyPr wrap="square">
              <a:spAutoFit/>
            </a:bodyPr>
            <a:lstStyle/>
            <a:p>
              <a:pPr algn="l">
                <a:lnSpc>
                  <a:spcPct val="130000"/>
                </a:lnSpc>
                <a:spcBef>
                  <a:spcPts val="0"/>
                </a:spcBef>
              </a:pPr>
              <a:r>
                <a:rPr kumimoji="1" lang="zh-CN" altLang="en-US" dirty="0">
                  <a:latin typeface="Times New Roman" panose="02020603050405020304" pitchFamily="18" charset="0"/>
                  <a:ea typeface="黑体" panose="02010609060101010101" pitchFamily="49" charset="-122"/>
                </a:rPr>
                <a:t>最小方差</a:t>
              </a:r>
              <a:r>
                <a:rPr kumimoji="1" lang="en-US" altLang="zh-CN" dirty="0" err="1">
                  <a:latin typeface="Times New Roman" panose="02020603050405020304" pitchFamily="18" charset="0"/>
                  <a:ea typeface="黑体" panose="02010609060101010101" pitchFamily="49" charset="-122"/>
                </a:rPr>
                <a:t>Bayes</a:t>
              </a:r>
              <a:r>
                <a:rPr kumimoji="1" lang="zh-CN" altLang="en-US" dirty="0">
                  <a:latin typeface="Times New Roman" panose="02020603050405020304" pitchFamily="18" charset="0"/>
                  <a:ea typeface="黑体" panose="02010609060101010101" pitchFamily="49" charset="-122"/>
                </a:rPr>
                <a:t>估计是在观测     条件下     的条件期望。</a:t>
              </a:r>
              <a:endParaRPr kumimoji="1" lang="zh-CN" altLang="en-US" dirty="0">
                <a:solidFill>
                  <a:srgbClr val="FF0000"/>
                </a:solidFill>
                <a:latin typeface="Times New Roman" panose="02020603050405020304" pitchFamily="18" charset="0"/>
                <a:ea typeface="黑体" panose="02010609060101010101" pitchFamily="49" charset="-122"/>
              </a:endParaRPr>
            </a:p>
          </p:txBody>
        </p:sp>
        <p:graphicFrame>
          <p:nvGraphicFramePr>
            <p:cNvPr id="19" name="Object 6"/>
            <p:cNvGraphicFramePr>
              <a:graphicFrameLocks noChangeAspect="1"/>
            </p:cNvGraphicFramePr>
            <p:nvPr/>
          </p:nvGraphicFramePr>
          <p:xfrm>
            <a:off x="4703589" y="4663716"/>
            <a:ext cx="239789" cy="343334"/>
          </p:xfrm>
          <a:graphic>
            <a:graphicData uri="http://schemas.openxmlformats.org/presentationml/2006/ole">
              <mc:AlternateContent xmlns:mc="http://schemas.openxmlformats.org/markup-compatibility/2006">
                <mc:Choice xmlns:v="urn:schemas-microsoft-com:vml" Requires="v">
                  <p:oleObj spid="_x0000_s176429" name="Equation" r:id="rId18" imgW="139700" imgH="152400" progId="Equation.DSMT4">
                    <p:embed/>
                  </p:oleObj>
                </mc:Choice>
                <mc:Fallback>
                  <p:oleObj name="Equation" r:id="rId18" imgW="139700" imgH="152400" progId="Equation.DSMT4">
                    <p:embed/>
                    <p:pic>
                      <p:nvPicPr>
                        <p:cNvPr id="0" name="Picture 124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703589" y="4663716"/>
                          <a:ext cx="239789" cy="3433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3"/>
            <p:cNvGraphicFramePr>
              <a:graphicFrameLocks noChangeAspect="1"/>
            </p:cNvGraphicFramePr>
            <p:nvPr/>
          </p:nvGraphicFramePr>
          <p:xfrm>
            <a:off x="5649470" y="4660080"/>
            <a:ext cx="422271" cy="361379"/>
          </p:xfrm>
          <a:graphic>
            <a:graphicData uri="http://schemas.openxmlformats.org/presentationml/2006/ole">
              <mc:AlternateContent xmlns:mc="http://schemas.openxmlformats.org/markup-compatibility/2006">
                <mc:Choice xmlns:v="urn:schemas-microsoft-com:vml" Requires="v">
                  <p:oleObj spid="_x0000_s176430" name="Equation" r:id="rId20" imgW="127000" imgH="165100" progId="Equation.DSMT4">
                    <p:embed/>
                  </p:oleObj>
                </mc:Choice>
                <mc:Fallback>
                  <p:oleObj name="Equation" r:id="rId20" imgW="127000" imgH="165100" progId="Equation.DSMT4">
                    <p:embed/>
                    <p:pic>
                      <p:nvPicPr>
                        <p:cNvPr id="0" name="Picture 124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649470" y="4660080"/>
                          <a:ext cx="422271" cy="3613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1" name="AutoShape 18"/>
          <p:cNvSpPr>
            <a:spLocks noChangeArrowheads="1"/>
          </p:cNvSpPr>
          <p:nvPr/>
        </p:nvSpPr>
        <p:spPr bwMode="auto">
          <a:xfrm>
            <a:off x="9793476" y="4083969"/>
            <a:ext cx="191182" cy="223983"/>
          </a:xfrm>
          <a:prstGeom prst="upArrow">
            <a:avLst>
              <a:gd name="adj1" fmla="val 50000"/>
              <a:gd name="adj2" fmla="val 25000"/>
            </a:avLst>
          </a:prstGeom>
          <a:solidFill>
            <a:schemeClr val="accent1"/>
          </a:solidFill>
          <a:ln w="9525">
            <a:solidFill>
              <a:schemeClr val="tx1"/>
            </a:solidFill>
            <a:miter lim="800000"/>
          </a:ln>
          <a:effectLst/>
        </p:spPr>
        <p:txBody>
          <a:bodyPr vert="eaVert" wrap="none" anchor="ctr"/>
          <a:lstStyle/>
          <a:p>
            <a:endParaRPr lang="zh-CN" altLang="en-US"/>
          </a:p>
        </p:txBody>
      </p:sp>
      <p:cxnSp>
        <p:nvCxnSpPr>
          <p:cNvPr id="22" name="直接箭头连接符 21"/>
          <p:cNvCxnSpPr/>
          <p:nvPr/>
        </p:nvCxnSpPr>
        <p:spPr>
          <a:xfrm flipV="1">
            <a:off x="7492930" y="2641060"/>
            <a:ext cx="2520280" cy="129614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3" name="椭圆 22"/>
          <p:cNvSpPr/>
          <p:nvPr/>
        </p:nvSpPr>
        <p:spPr>
          <a:xfrm>
            <a:off x="9530987" y="4400229"/>
            <a:ext cx="722436" cy="989805"/>
          </a:xfrm>
          <a:prstGeom prst="ellipse">
            <a:avLst/>
          </a:prstGeom>
          <a:ln>
            <a:solidFill>
              <a:srgbClr val="FF0000"/>
            </a:solidFill>
          </a:ln>
        </p:spPr>
        <p:txBody>
          <a:bodyPr wrap="none" rtlCol="0" anchor="ctr">
            <a:spAutoFit/>
          </a:bodyPr>
          <a:lstStyle/>
          <a:p>
            <a:pPr algn="ctr"/>
            <a:endParaRPr lang="zh-CN" altLang="en-US" sz="2400" kern="100" dirty="0">
              <a:ea typeface="宋体" panose="02010600030101010101" pitchFamily="2" charset="-122"/>
              <a:cs typeface="Times New Roman" panose="02020603050405020304"/>
            </a:endParaRPr>
          </a:p>
        </p:txBody>
      </p:sp>
      <p:cxnSp>
        <p:nvCxnSpPr>
          <p:cNvPr id="4" name="直接连接符 3"/>
          <p:cNvCxnSpPr/>
          <p:nvPr/>
        </p:nvCxnSpPr>
        <p:spPr>
          <a:xfrm>
            <a:off x="5318634" y="1424390"/>
            <a:ext cx="47527" cy="4609012"/>
          </a:xfrm>
          <a:prstGeom prst="line">
            <a:avLst/>
          </a:prstGeom>
          <a:ln w="31750">
            <a:solidFill>
              <a:schemeClr val="tx2">
                <a:lumMod val="75000"/>
              </a:schemeClr>
            </a:solidFill>
            <a:prstDash val="sysDot"/>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87688" y="1256075"/>
            <a:ext cx="4378122" cy="369332"/>
          </a:xfrm>
          <a:prstGeom prst="rect">
            <a:avLst/>
          </a:prstGeom>
        </p:spPr>
        <p:txBody>
          <a:bodyPr wrap="none">
            <a:spAutoFit/>
          </a:bodyPr>
          <a:lstStyle/>
          <a:p>
            <a:r>
              <a:rPr lang="en-US" altLang="zh-CN" dirty="0">
                <a:latin typeface="Times New Roman" panose="02020603050405020304" pitchFamily="18" charset="0"/>
                <a:ea typeface="黑体" panose="02010609060101010101" pitchFamily="49" charset="-122"/>
                <a:sym typeface="Wingdings" panose="05000000000000000000" pitchFamily="2" charset="2"/>
              </a:rPr>
              <a:t>(</a:t>
            </a:r>
            <a:r>
              <a:rPr lang="zh-CN" altLang="zh-CN" dirty="0">
                <a:latin typeface="Times New Roman" panose="02020603050405020304" pitchFamily="18" charset="0"/>
                <a:ea typeface="黑体" panose="02010609060101010101" pitchFamily="49" charset="-122"/>
              </a:rPr>
              <a:t>平方误差损失</a:t>
            </a:r>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条件</a:t>
            </a:r>
            <a:r>
              <a:rPr lang="zh-CN" altLang="zh-CN" dirty="0">
                <a:latin typeface="Times New Roman" panose="02020603050405020304" pitchFamily="18" charset="0"/>
                <a:ea typeface="黑体" panose="02010609060101010101" pitchFamily="49" charset="-122"/>
              </a:rPr>
              <a:t>下</a:t>
            </a:r>
            <a:r>
              <a:rPr lang="en-US" altLang="zh-CN" dirty="0">
                <a:latin typeface="Times New Roman" panose="02020603050405020304" pitchFamily="18" charset="0"/>
                <a:ea typeface="黑体" panose="02010609060101010101" pitchFamily="49" charset="-122"/>
              </a:rPr>
              <a:t>)</a:t>
            </a:r>
            <a:endParaRPr lang="zh-CN" altLang="en-US" dirty="0"/>
          </a:p>
        </p:txBody>
      </p:sp>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14.4 </a:t>
            </a:r>
            <a:r>
              <a:rPr lang="zh-CN" altLang="zh-CN" dirty="0"/>
              <a:t>贝叶斯估计</a:t>
            </a:r>
            <a:endParaRPr lang="zh-CN" altLang="zh-CN" dirty="0"/>
          </a:p>
        </p:txBody>
      </p:sp>
      <p:sp>
        <p:nvSpPr>
          <p:cNvPr id="23" name="内容占位符 2"/>
          <p:cNvSpPr>
            <a:spLocks noGrp="1"/>
          </p:cNvSpPr>
          <p:nvPr>
            <p:ph idx="1"/>
          </p:nvPr>
        </p:nvSpPr>
        <p:spPr>
          <a:xfrm>
            <a:off x="695196" y="2101782"/>
            <a:ext cx="3964347" cy="2357830"/>
          </a:xfrm>
        </p:spPr>
        <p:txBody>
          <a:bodyPr/>
          <a:lstStyle/>
          <a:p>
            <a:pPr marL="0" indent="0">
              <a:lnSpc>
                <a:spcPct val="130000"/>
              </a:lnSpc>
              <a:spcBef>
                <a:spcPts val="1200"/>
              </a:spcBef>
              <a:buNone/>
            </a:pPr>
            <a:r>
              <a:rPr lang="zh-CN" altLang="en-US" sz="2200" dirty="0">
                <a:latin typeface="Times New Roman" panose="02020603050405020304" pitchFamily="18" charset="0"/>
                <a:ea typeface="黑体" panose="02010609060101010101" pitchFamily="49" charset="-122"/>
              </a:rPr>
              <a:t>① </a:t>
            </a:r>
            <a:r>
              <a:rPr lang="zh-CN" altLang="zh-CN" sz="2200" dirty="0">
                <a:latin typeface="Times New Roman" panose="02020603050405020304" pitchFamily="18" charset="0"/>
                <a:ea typeface="黑体" panose="02010609060101010101" pitchFamily="49" charset="-122"/>
              </a:rPr>
              <a:t>确定</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的先验分布</a:t>
            </a:r>
            <a:r>
              <a:rPr lang="zh-CN" altLang="en-US" sz="2200" dirty="0">
                <a:latin typeface="Times New Roman" panose="02020603050405020304" pitchFamily="18" charset="0"/>
                <a:ea typeface="黑体" panose="02010609060101010101" pitchFamily="49" charset="-122"/>
              </a:rPr>
              <a:t>概密</a:t>
            </a:r>
            <a:endParaRPr lang="zh-CN" altLang="zh-CN" sz="2200" dirty="0">
              <a:latin typeface="Times New Roman" panose="02020603050405020304" pitchFamily="18" charset="0"/>
              <a:ea typeface="黑体" panose="02010609060101010101" pitchFamily="49" charset="-122"/>
            </a:endParaRPr>
          </a:p>
          <a:p>
            <a:pPr marL="0" indent="0">
              <a:lnSpc>
                <a:spcPct val="130000"/>
              </a:lnSpc>
              <a:spcBef>
                <a:spcPts val="1200"/>
              </a:spcBef>
              <a:buNone/>
            </a:pPr>
            <a:r>
              <a:rPr lang="zh-CN" altLang="en-US" sz="2200" dirty="0">
                <a:latin typeface="Times New Roman" panose="02020603050405020304" pitchFamily="18" charset="0"/>
                <a:ea typeface="黑体" panose="02010609060101010101" pitchFamily="49" charset="-122"/>
              </a:rPr>
              <a:t>② </a:t>
            </a:r>
            <a:r>
              <a:rPr lang="zh-CN" altLang="zh-CN" sz="2200" dirty="0">
                <a:latin typeface="Times New Roman" panose="02020603050405020304" pitchFamily="18" charset="0"/>
                <a:ea typeface="黑体" panose="02010609060101010101" pitchFamily="49" charset="-122"/>
              </a:rPr>
              <a:t>求样本集的联合分布</a:t>
            </a:r>
            <a:r>
              <a:rPr lang="zh-CN" altLang="en-US" sz="2200" dirty="0">
                <a:latin typeface="Times New Roman" panose="02020603050405020304" pitchFamily="18" charset="0"/>
                <a:ea typeface="黑体" panose="02010609060101010101" pitchFamily="49" charset="-122"/>
              </a:rPr>
              <a:t>概密</a:t>
            </a:r>
            <a:r>
              <a:rPr lang="en-US" altLang="zh-CN" sz="2200" dirty="0">
                <a:latin typeface="Times New Roman" panose="02020603050405020304" pitchFamily="18" charset="0"/>
                <a:ea typeface="黑体" panose="02010609060101010101" pitchFamily="49" charset="-122"/>
              </a:rPr>
              <a:t>  </a:t>
            </a:r>
            <a:endParaRPr lang="en-US" altLang="zh-CN" sz="2200" dirty="0">
              <a:latin typeface="Times New Roman" panose="02020603050405020304" pitchFamily="18" charset="0"/>
              <a:ea typeface="黑体" panose="02010609060101010101" pitchFamily="49" charset="-122"/>
            </a:endParaRPr>
          </a:p>
          <a:p>
            <a:pPr marL="0" indent="0">
              <a:lnSpc>
                <a:spcPct val="130000"/>
              </a:lnSpc>
              <a:spcBef>
                <a:spcPts val="2400"/>
              </a:spcBef>
              <a:buNone/>
            </a:pPr>
            <a:r>
              <a:rPr lang="zh-CN" altLang="en-US" sz="2200" dirty="0">
                <a:latin typeface="Times New Roman" panose="02020603050405020304" pitchFamily="18" charset="0"/>
                <a:ea typeface="黑体" panose="02010609060101010101" pitchFamily="49" charset="-122"/>
              </a:rPr>
              <a:t>③ </a:t>
            </a:r>
            <a:r>
              <a:rPr lang="zh-CN" altLang="zh-CN" sz="2200" dirty="0">
                <a:latin typeface="Times New Roman" panose="02020603050405020304" pitchFamily="18" charset="0"/>
                <a:ea typeface="黑体" panose="02010609060101010101" pitchFamily="49" charset="-122"/>
              </a:rPr>
              <a:t>求</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的后验概率分布</a:t>
            </a:r>
            <a:r>
              <a:rPr lang="zh-CN" altLang="en-US" sz="2200" dirty="0">
                <a:latin typeface="Times New Roman" panose="02020603050405020304" pitchFamily="18" charset="0"/>
                <a:ea typeface="黑体" panose="02010609060101010101" pitchFamily="49" charset="-122"/>
              </a:rPr>
              <a:t>密度</a:t>
            </a:r>
            <a:endParaRPr lang="en-US" altLang="zh-CN" sz="2200" dirty="0">
              <a:latin typeface="Times New Roman" panose="02020603050405020304" pitchFamily="18" charset="0"/>
              <a:ea typeface="黑体" panose="02010609060101010101" pitchFamily="49" charset="-122"/>
            </a:endParaRPr>
          </a:p>
          <a:p>
            <a:pPr marL="0" indent="0">
              <a:lnSpc>
                <a:spcPct val="130000"/>
              </a:lnSpc>
              <a:spcBef>
                <a:spcPts val="2400"/>
              </a:spcBef>
              <a:buNone/>
            </a:pPr>
            <a:r>
              <a:rPr lang="zh-CN" altLang="en-US" sz="2200" dirty="0">
                <a:latin typeface="Times New Roman" panose="02020603050405020304" pitchFamily="18" charset="0"/>
                <a:ea typeface="黑体" panose="02010609060101010101" pitchFamily="49" charset="-122"/>
              </a:rPr>
              <a:t>④ </a:t>
            </a:r>
            <a:r>
              <a:rPr lang="zh-CN" altLang="zh-CN" sz="2200" dirty="0">
                <a:latin typeface="Times New Roman" panose="02020603050405020304" pitchFamily="18" charset="0"/>
                <a:ea typeface="黑体" panose="02010609060101010101" pitchFamily="49" charset="-122"/>
              </a:rPr>
              <a:t>求</a:t>
            </a:r>
            <a:r>
              <a:rPr lang="en-US" altLang="zh-CN" sz="2200" dirty="0">
                <a:latin typeface="Times New Roman" panose="02020603050405020304" pitchFamily="18" charset="0"/>
                <a:ea typeface="黑体" panose="02010609060101010101" pitchFamily="49" charset="-122"/>
              </a:rPr>
              <a:t>     </a:t>
            </a:r>
            <a:r>
              <a:rPr lang="zh-CN" altLang="zh-CN" sz="2200" dirty="0">
                <a:latin typeface="Times New Roman" panose="02020603050405020304" pitchFamily="18" charset="0"/>
                <a:ea typeface="黑体" panose="02010609060101010101" pitchFamily="49" charset="-122"/>
              </a:rPr>
              <a:t>的贝叶斯估计量</a:t>
            </a:r>
            <a:r>
              <a:rPr lang="en-US" altLang="zh-CN" sz="2200" dirty="0">
                <a:latin typeface="Times New Roman" panose="02020603050405020304" pitchFamily="18" charset="0"/>
                <a:ea typeface="黑体" panose="02010609060101010101" pitchFamily="49" charset="-122"/>
              </a:rPr>
              <a:t>    </a:t>
            </a:r>
            <a:endParaRPr lang="zh-CN" altLang="zh-CN" sz="2200" dirty="0">
              <a:latin typeface="Times New Roman" panose="02020603050405020304" pitchFamily="18" charset="0"/>
              <a:ea typeface="黑体" panose="02010609060101010101" pitchFamily="49" charset="-122"/>
            </a:endParaRPr>
          </a:p>
        </p:txBody>
      </p:sp>
      <p:graphicFrame>
        <p:nvGraphicFramePr>
          <p:cNvPr id="24" name="对象 23"/>
          <p:cNvGraphicFramePr>
            <a:graphicFrameLocks noChangeAspect="1"/>
          </p:cNvGraphicFramePr>
          <p:nvPr/>
        </p:nvGraphicFramePr>
        <p:xfrm>
          <a:off x="4013800" y="2183803"/>
          <a:ext cx="645743" cy="387446"/>
        </p:xfrm>
        <a:graphic>
          <a:graphicData uri="http://schemas.openxmlformats.org/presentationml/2006/ole">
            <mc:AlternateContent xmlns:mc="http://schemas.openxmlformats.org/markup-compatibility/2006">
              <mc:Choice xmlns:v="urn:schemas-microsoft-com:vml" Requires="v">
                <p:oleObj spid="_x0000_s180294" name="Equation" r:id="rId2" imgW="342900" imgH="203200" progId="Equation.DSMT4">
                  <p:embed/>
                </p:oleObj>
              </mc:Choice>
              <mc:Fallback>
                <p:oleObj name="Equation" r:id="rId2" imgW="342900" imgH="203200" progId="Equation.DSMT4">
                  <p:embed/>
                  <p:pic>
                    <p:nvPicPr>
                      <p:cNvPr id="0" name="Picture 10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3800" y="2183803"/>
                        <a:ext cx="645743" cy="3874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对象 24"/>
          <p:cNvGraphicFramePr>
            <a:graphicFrameLocks noChangeAspect="1"/>
          </p:cNvGraphicFramePr>
          <p:nvPr/>
        </p:nvGraphicFramePr>
        <p:xfrm>
          <a:off x="4247478" y="2504144"/>
          <a:ext cx="2852646" cy="802306"/>
        </p:xfrm>
        <a:graphic>
          <a:graphicData uri="http://schemas.openxmlformats.org/presentationml/2006/ole">
            <mc:AlternateContent xmlns:mc="http://schemas.openxmlformats.org/markup-compatibility/2006">
              <mc:Choice xmlns:v="urn:schemas-microsoft-com:vml" Requires="v">
                <p:oleObj spid="_x0000_s180295" name="Equation" r:id="rId4" imgW="1511300" imgH="431800" progId="Equation.DSMT4">
                  <p:embed/>
                </p:oleObj>
              </mc:Choice>
              <mc:Fallback>
                <p:oleObj name="Equation" r:id="rId4" imgW="1511300" imgH="431800" progId="Equation.DSMT4">
                  <p:embed/>
                  <p:pic>
                    <p:nvPicPr>
                      <p:cNvPr id="0" name="Picture 10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47478" y="2504144"/>
                        <a:ext cx="2852646" cy="8023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对象 25"/>
          <p:cNvGraphicFramePr>
            <a:graphicFrameLocks noChangeAspect="1"/>
          </p:cNvGraphicFramePr>
          <p:nvPr/>
        </p:nvGraphicFramePr>
        <p:xfrm>
          <a:off x="4336671" y="3306450"/>
          <a:ext cx="3286148" cy="872271"/>
        </p:xfrm>
        <a:graphic>
          <a:graphicData uri="http://schemas.openxmlformats.org/presentationml/2006/ole">
            <mc:AlternateContent xmlns:mc="http://schemas.openxmlformats.org/markup-compatibility/2006">
              <mc:Choice xmlns:v="urn:schemas-microsoft-com:vml" Requires="v">
                <p:oleObj spid="_x0000_s180296" name="Equation" r:id="rId6" imgW="1854200" imgH="482600" progId="Equation.DSMT4">
                  <p:embed/>
                </p:oleObj>
              </mc:Choice>
              <mc:Fallback>
                <p:oleObj name="Equation" r:id="rId6" imgW="1854200" imgH="482600" progId="Equation.DSMT4">
                  <p:embed/>
                  <p:pic>
                    <p:nvPicPr>
                      <p:cNvPr id="0" name="Picture 10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36671" y="3306450"/>
                        <a:ext cx="3286148" cy="8722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对象 26"/>
          <p:cNvGraphicFramePr>
            <a:graphicFrameLocks noChangeAspect="1"/>
          </p:cNvGraphicFramePr>
          <p:nvPr/>
        </p:nvGraphicFramePr>
        <p:xfrm>
          <a:off x="3950343" y="4221619"/>
          <a:ext cx="2172072" cy="554100"/>
        </p:xfrm>
        <a:graphic>
          <a:graphicData uri="http://schemas.openxmlformats.org/presentationml/2006/ole">
            <mc:AlternateContent xmlns:mc="http://schemas.openxmlformats.org/markup-compatibility/2006">
              <mc:Choice xmlns:v="urn:schemas-microsoft-com:vml" Requires="v">
                <p:oleObj spid="_x0000_s180297" name="Equation" r:id="rId8" imgW="1143000" imgH="292100" progId="Equation.DSMT4">
                  <p:embed/>
                </p:oleObj>
              </mc:Choice>
              <mc:Fallback>
                <p:oleObj name="Equation" r:id="rId8" imgW="1143000" imgH="292100" progId="Equation.DSMT4">
                  <p:embed/>
                  <p:pic>
                    <p:nvPicPr>
                      <p:cNvPr id="0" name="Picture 10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50343" y="4221619"/>
                        <a:ext cx="2172072" cy="55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对象 27"/>
          <p:cNvGraphicFramePr>
            <a:graphicFrameLocks noChangeAspect="1"/>
          </p:cNvGraphicFramePr>
          <p:nvPr/>
        </p:nvGraphicFramePr>
        <p:xfrm>
          <a:off x="1736985" y="2217839"/>
          <a:ext cx="258262" cy="353410"/>
        </p:xfrm>
        <a:graphic>
          <a:graphicData uri="http://schemas.openxmlformats.org/presentationml/2006/ole">
            <mc:AlternateContent xmlns:mc="http://schemas.openxmlformats.org/markup-compatibility/2006">
              <mc:Choice xmlns:v="urn:schemas-microsoft-com:vml" Requires="v">
                <p:oleObj spid="_x0000_s180298" name="Equation" r:id="rId10" imgW="127000" imgH="177165" progId="Equation.DSMT4">
                  <p:embed/>
                </p:oleObj>
              </mc:Choice>
              <mc:Fallback>
                <p:oleObj name="Equation" r:id="rId10" imgW="127000" imgH="177165" progId="Equation.DSMT4">
                  <p:embed/>
                  <p:pic>
                    <p:nvPicPr>
                      <p:cNvPr id="0" name="Picture 10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36985" y="2217839"/>
                        <a:ext cx="258262" cy="353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Object 161"/>
          <p:cNvGraphicFramePr>
            <a:graphicFrameLocks noChangeAspect="1"/>
          </p:cNvGraphicFramePr>
          <p:nvPr/>
        </p:nvGraphicFramePr>
        <p:xfrm>
          <a:off x="4871786" y="1223185"/>
          <a:ext cx="1866062" cy="400410"/>
        </p:xfrm>
        <a:graphic>
          <a:graphicData uri="http://schemas.openxmlformats.org/presentationml/2006/ole">
            <mc:AlternateContent xmlns:mc="http://schemas.openxmlformats.org/markup-compatibility/2006">
              <mc:Choice xmlns:v="urn:schemas-microsoft-com:vml" Requires="v">
                <p:oleObj spid="_x0000_s180299" name="Equation" r:id="rId12" imgW="1117600" imgH="241300" progId="Equation.DSMT4">
                  <p:embed/>
                </p:oleObj>
              </mc:Choice>
              <mc:Fallback>
                <p:oleObj name="Equation" r:id="rId12" imgW="1117600" imgH="241300" progId="Equation.DSMT4">
                  <p:embed/>
                  <p:pic>
                    <p:nvPicPr>
                      <p:cNvPr id="0" name="Picture 103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71786" y="1223185"/>
                        <a:ext cx="1866062" cy="400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 name="矩形 40"/>
          <p:cNvSpPr/>
          <p:nvPr/>
        </p:nvSpPr>
        <p:spPr>
          <a:xfrm>
            <a:off x="7457467" y="2101326"/>
            <a:ext cx="1093569" cy="400110"/>
          </a:xfrm>
          <a:prstGeom prst="rect">
            <a:avLst/>
          </a:prstGeom>
          <a:ln>
            <a:solidFill>
              <a:srgbClr val="FF0000"/>
            </a:solidFill>
          </a:ln>
        </p:spPr>
        <p:txBody>
          <a:bodyPr wrap="none">
            <a:spAutoFit/>
          </a:bodyPr>
          <a:lstStyle/>
          <a:p>
            <a:r>
              <a:rPr lang="el-GR" altLang="zh-CN" sz="2000" b="1" dirty="0">
                <a:latin typeface="Times New Roman" panose="02020603050405020304" pitchFamily="18" charset="0"/>
                <a:ea typeface="宋体" panose="02010600030101010101" pitchFamily="2" charset="-122"/>
                <a:cs typeface="Times New Roman" panose="02020603050405020304" pitchFamily="18" charset="0"/>
              </a:rPr>
              <a:t>θ</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是变量</a:t>
            </a: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42" name="直接箭头连接符 41"/>
          <p:cNvCxnSpPr/>
          <p:nvPr/>
        </p:nvCxnSpPr>
        <p:spPr>
          <a:xfrm flipH="1">
            <a:off x="7130041" y="2571249"/>
            <a:ext cx="261348" cy="15545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2705200" y="4972122"/>
            <a:ext cx="2262158" cy="369332"/>
          </a:xfrm>
          <a:prstGeom prst="rect">
            <a:avLst/>
          </a:prstGeom>
        </p:spPr>
        <p:txBody>
          <a:bodyPr wrap="none">
            <a:spAutoFit/>
          </a:bodyPr>
          <a:lstStyle/>
          <a:p>
            <a:r>
              <a:rPr lang="zh-CN" altLang="en-US" b="1" dirty="0">
                <a:solidFill>
                  <a:srgbClr val="FF0000"/>
                </a:solidFill>
              </a:rPr>
              <a:t>最小风险贝叶斯估计</a:t>
            </a:r>
            <a:endParaRPr lang="zh-CN" altLang="en-US" b="1" dirty="0">
              <a:solidFill>
                <a:srgbClr val="FF0000"/>
              </a:solidFill>
            </a:endParaRPr>
          </a:p>
        </p:txBody>
      </p:sp>
      <p:cxnSp>
        <p:nvCxnSpPr>
          <p:cNvPr id="44" name="直接箭头连接符 43"/>
          <p:cNvCxnSpPr/>
          <p:nvPr/>
        </p:nvCxnSpPr>
        <p:spPr>
          <a:xfrm flipV="1">
            <a:off x="430317" y="2101782"/>
            <a:ext cx="3488" cy="2673937"/>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293867" y="1177588"/>
            <a:ext cx="2698175" cy="523220"/>
          </a:xfrm>
          <a:prstGeom prst="rect">
            <a:avLst/>
          </a:prstGeom>
        </p:spPr>
        <p:txBody>
          <a:bodyPr wrap="none">
            <a:spAutoFit/>
          </a:bodyPr>
          <a:lstStyle/>
          <a:p>
            <a:r>
              <a:rPr lang="zh-CN" altLang="zh-CN" sz="2800" b="1" dirty="0">
                <a:solidFill>
                  <a:srgbClr val="0000FF"/>
                </a:solidFill>
                <a:latin typeface="Arial" panose="020B0604020202020204" pitchFamily="34" charset="0"/>
              </a:rPr>
              <a:t>贝叶斯估计</a:t>
            </a:r>
            <a:r>
              <a:rPr lang="zh-CN" altLang="en-US" sz="2800" b="1" dirty="0">
                <a:solidFill>
                  <a:srgbClr val="0000FF"/>
                </a:solidFill>
                <a:latin typeface="Arial" panose="020B0604020202020204" pitchFamily="34" charset="0"/>
              </a:rPr>
              <a:t>方法</a:t>
            </a:r>
            <a:endParaRPr lang="zh-CN" altLang="en-US" sz="2800" b="1" dirty="0">
              <a:solidFill>
                <a:srgbClr val="0000FF"/>
              </a:solidFill>
              <a:latin typeface="Arial" panose="020B0604020202020204" pitchFamily="34" charset="0"/>
            </a:endParaRPr>
          </a:p>
        </p:txBody>
      </p:sp>
      <p:graphicFrame>
        <p:nvGraphicFramePr>
          <p:cNvPr id="46" name="对象 45"/>
          <p:cNvGraphicFramePr>
            <a:graphicFrameLocks noChangeAspect="1"/>
          </p:cNvGraphicFramePr>
          <p:nvPr/>
        </p:nvGraphicFramePr>
        <p:xfrm>
          <a:off x="1475537" y="3507638"/>
          <a:ext cx="258262" cy="353410"/>
        </p:xfrm>
        <a:graphic>
          <a:graphicData uri="http://schemas.openxmlformats.org/presentationml/2006/ole">
            <mc:AlternateContent xmlns:mc="http://schemas.openxmlformats.org/markup-compatibility/2006">
              <mc:Choice xmlns:v="urn:schemas-microsoft-com:vml" Requires="v">
                <p:oleObj spid="_x0000_s180300" name="Equation" r:id="rId14" imgW="127000" imgH="177165" progId="Equation.DSMT4">
                  <p:embed/>
                </p:oleObj>
              </mc:Choice>
              <mc:Fallback>
                <p:oleObj name="Equation" r:id="rId14" imgW="127000" imgH="177165" progId="Equation.DSMT4">
                  <p:embed/>
                  <p:pic>
                    <p:nvPicPr>
                      <p:cNvPr id="0" name="Picture 103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75537" y="3507638"/>
                        <a:ext cx="258262" cy="353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 name="对象 46"/>
          <p:cNvGraphicFramePr>
            <a:graphicFrameLocks noChangeAspect="1"/>
          </p:cNvGraphicFramePr>
          <p:nvPr/>
        </p:nvGraphicFramePr>
        <p:xfrm>
          <a:off x="1475537" y="4265656"/>
          <a:ext cx="258262" cy="353410"/>
        </p:xfrm>
        <a:graphic>
          <a:graphicData uri="http://schemas.openxmlformats.org/presentationml/2006/ole">
            <mc:AlternateContent xmlns:mc="http://schemas.openxmlformats.org/markup-compatibility/2006">
              <mc:Choice xmlns:v="urn:schemas-microsoft-com:vml" Requires="v">
                <p:oleObj spid="_x0000_s180301" name="Equation" r:id="rId15" imgW="127000" imgH="177165" progId="Equation.DSMT4">
                  <p:embed/>
                </p:oleObj>
              </mc:Choice>
              <mc:Fallback>
                <p:oleObj name="Equation" r:id="rId15" imgW="127000" imgH="177165" progId="Equation.DSMT4">
                  <p:embed/>
                  <p:pic>
                    <p:nvPicPr>
                      <p:cNvPr id="0" name="Picture 10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75537" y="4265656"/>
                        <a:ext cx="258262" cy="353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14.4 </a:t>
            </a:r>
            <a:r>
              <a:rPr lang="zh-CN" altLang="zh-CN" dirty="0"/>
              <a:t>贝叶斯估计</a:t>
            </a:r>
            <a:endParaRPr lang="zh-CN" altLang="zh-CN" dirty="0"/>
          </a:p>
        </p:txBody>
      </p:sp>
      <p:sp>
        <p:nvSpPr>
          <p:cNvPr id="22" name="内容占位符 2"/>
          <p:cNvSpPr>
            <a:spLocks noGrp="1"/>
          </p:cNvSpPr>
          <p:nvPr>
            <p:ph idx="1"/>
          </p:nvPr>
        </p:nvSpPr>
        <p:spPr>
          <a:xfrm>
            <a:off x="293866" y="1839865"/>
            <a:ext cx="11418757" cy="1805159"/>
          </a:xfrm>
        </p:spPr>
        <p:txBody>
          <a:bodyPr/>
          <a:lstStyle/>
          <a:p>
            <a:pPr>
              <a:lnSpc>
                <a:spcPct val="150000"/>
              </a:lnSpc>
              <a:buNone/>
            </a:pPr>
            <a:r>
              <a:rPr lang="en-US" altLang="zh-CN" sz="2200" dirty="0">
                <a:solidFill>
                  <a:srgbClr val="FF0000"/>
                </a:solidFill>
                <a:latin typeface="Times New Roman" panose="02020603050405020304" pitchFamily="18" charset="0"/>
                <a:ea typeface="黑体" panose="02010609060101010101" pitchFamily="49" charset="-122"/>
              </a:rPr>
              <a:t>Q1: </a:t>
            </a:r>
            <a:r>
              <a:rPr lang="zh-CN" altLang="en-US" sz="2200" dirty="0">
                <a:solidFill>
                  <a:srgbClr val="FF0000"/>
                </a:solidFill>
                <a:latin typeface="Times New Roman" panose="02020603050405020304" pitchFamily="18" charset="0"/>
                <a:ea typeface="黑体" panose="02010609060101010101" pitchFamily="49" charset="-122"/>
              </a:rPr>
              <a:t>如何</a:t>
            </a:r>
            <a:r>
              <a:rPr lang="zh-CN" altLang="zh-CN" sz="2200" dirty="0">
                <a:solidFill>
                  <a:srgbClr val="FF0000"/>
                </a:solidFill>
                <a:latin typeface="Times New Roman" panose="02020603050405020304" pitchFamily="18" charset="0"/>
                <a:ea typeface="黑体" panose="02010609060101010101" pitchFamily="49" charset="-122"/>
              </a:rPr>
              <a:t>求样本集的联合分布</a:t>
            </a:r>
            <a:r>
              <a:rPr lang="zh-CN" altLang="en-US" sz="2200" dirty="0">
                <a:solidFill>
                  <a:srgbClr val="FF0000"/>
                </a:solidFill>
                <a:latin typeface="Times New Roman" panose="02020603050405020304" pitchFamily="18" charset="0"/>
                <a:ea typeface="黑体" panose="02010609060101010101" pitchFamily="49" charset="-122"/>
              </a:rPr>
              <a:t>概密</a:t>
            </a:r>
            <a:r>
              <a:rPr lang="en-US" altLang="zh-CN" sz="2200" dirty="0">
                <a:solidFill>
                  <a:srgbClr val="FF0000"/>
                </a:solidFill>
                <a:latin typeface="Times New Roman" panose="02020603050405020304" pitchFamily="18" charset="0"/>
                <a:ea typeface="黑体" panose="02010609060101010101" pitchFamily="49" charset="-122"/>
              </a:rPr>
              <a:t> </a:t>
            </a:r>
            <a:endParaRPr lang="en-US" altLang="zh-CN" sz="2200" dirty="0">
              <a:solidFill>
                <a:srgbClr val="FF0000"/>
              </a:solidFill>
              <a:latin typeface="Times New Roman" panose="02020603050405020304" pitchFamily="18" charset="0"/>
              <a:ea typeface="黑体" panose="02010609060101010101" pitchFamily="49" charset="-122"/>
            </a:endParaRPr>
          </a:p>
          <a:p>
            <a:pPr marL="0">
              <a:lnSpc>
                <a:spcPct val="150000"/>
              </a:lnSpc>
              <a:spcBef>
                <a:spcPts val="1200"/>
              </a:spcBef>
              <a:buNone/>
            </a:pPr>
            <a:r>
              <a:rPr lang="el-GR" altLang="zh-CN" sz="2200" i="1" dirty="0">
                <a:latin typeface="Times New Roman" panose="02020603050405020304" pitchFamily="18" charset="0"/>
                <a:ea typeface="黑体" panose="02010609060101010101" pitchFamily="49" charset="-122"/>
                <a:cs typeface="Times New Roman" panose="02020603050405020304" pitchFamily="18" charset="0"/>
              </a:rPr>
              <a:t>Θ</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是变量，</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sz="2200" i="1" baseline="-25000" dirty="0">
                <a:latin typeface="Times New Roman" panose="02020603050405020304" pitchFamily="18" charset="0"/>
                <a:ea typeface="黑体" panose="02010609060101010101" pitchFamily="49" charset="-122"/>
                <a:cs typeface="Times New Roman" panose="02020603050405020304" pitchFamily="18" charset="0"/>
              </a:rPr>
              <a:t>i</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a:t>
            </a:r>
            <a:r>
              <a:rPr lang="el-GR" altLang="zh-CN" sz="2200" dirty="0">
                <a:latin typeface="Times New Roman" panose="02020603050405020304" pitchFamily="18" charset="0"/>
                <a:ea typeface="黑体" panose="02010609060101010101" pitchFamily="49" charset="-122"/>
                <a:cs typeface="Times New Roman" panose="02020603050405020304" pitchFamily="18" charset="0"/>
              </a:rPr>
              <a:t> </a:t>
            </a:r>
            <a:r>
              <a:rPr lang="el-GR" altLang="zh-CN" sz="2200" i="1" dirty="0">
                <a:latin typeface="Times New Roman" panose="02020603050405020304" pitchFamily="18" charset="0"/>
                <a:ea typeface="黑体" panose="02010609060101010101" pitchFamily="49" charset="-122"/>
                <a:cs typeface="Times New Roman" panose="02020603050405020304" pitchFamily="18" charset="0"/>
              </a:rPr>
              <a:t>θ</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是带变量 </a:t>
            </a:r>
            <a:r>
              <a:rPr lang="el-GR" altLang="zh-CN" sz="2200" i="1" dirty="0">
                <a:latin typeface="Times New Roman" panose="02020603050405020304" pitchFamily="18" charset="0"/>
                <a:ea typeface="黑体" panose="02010609060101010101" pitchFamily="49" charset="-122"/>
                <a:cs typeface="Times New Roman" panose="02020603050405020304" pitchFamily="18" charset="0"/>
              </a:rPr>
              <a:t>θ</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的条件概率密度函数，与概率密度函数 </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sz="2200" i="1" baseline="-25000" dirty="0">
                <a:latin typeface="Times New Roman" panose="02020603050405020304" pitchFamily="18" charset="0"/>
                <a:ea typeface="黑体" panose="02010609060101010101" pitchFamily="49" charset="-122"/>
                <a:cs typeface="Times New Roman" panose="02020603050405020304" pitchFamily="18" charset="0"/>
              </a:rPr>
              <a:t>i</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的形式相同，所以</a:t>
            </a:r>
            <a:r>
              <a:rPr lang="zh-CN" altLang="zh-CN" sz="2200" dirty="0">
                <a:latin typeface="Times New Roman" panose="02020603050405020304" pitchFamily="18" charset="0"/>
                <a:ea typeface="黑体" panose="02010609060101010101" pitchFamily="49" charset="-122"/>
              </a:rPr>
              <a:t>样本集的联合分布</a:t>
            </a:r>
            <a:r>
              <a:rPr lang="zh-CN" altLang="en-US" sz="2200" dirty="0">
                <a:latin typeface="Times New Roman" panose="02020603050405020304" pitchFamily="18" charset="0"/>
                <a:ea typeface="黑体" panose="02010609060101010101" pitchFamily="49" charset="-122"/>
              </a:rPr>
              <a:t>概密求出来是带</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变量 </a:t>
            </a:r>
            <a:r>
              <a:rPr lang="el-GR" altLang="zh-CN" sz="2200" i="1" dirty="0">
                <a:latin typeface="Times New Roman" panose="02020603050405020304" pitchFamily="18" charset="0"/>
                <a:ea typeface="黑体" panose="02010609060101010101" pitchFamily="49" charset="-122"/>
                <a:cs typeface="Times New Roman" panose="02020603050405020304" pitchFamily="18" charset="0"/>
              </a:rPr>
              <a:t>θ</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概率密度函数 </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sz="2200" i="1" baseline="-25000" dirty="0">
                <a:latin typeface="Times New Roman" panose="02020603050405020304" pitchFamily="18" charset="0"/>
                <a:ea typeface="黑体" panose="02010609060101010101" pitchFamily="49" charset="-122"/>
                <a:cs typeface="Times New Roman" panose="02020603050405020304" pitchFamily="18" charset="0"/>
              </a:rPr>
              <a:t>i</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的联乘形式。</a:t>
            </a: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9" name="Object 2"/>
          <p:cNvGraphicFramePr>
            <a:graphicFrameLocks noChangeAspect="1"/>
          </p:cNvGraphicFramePr>
          <p:nvPr/>
        </p:nvGraphicFramePr>
        <p:xfrm>
          <a:off x="4748938" y="1750176"/>
          <a:ext cx="2643206" cy="743548"/>
        </p:xfrm>
        <a:graphic>
          <a:graphicData uri="http://schemas.openxmlformats.org/presentationml/2006/ole">
            <mc:AlternateContent xmlns:mc="http://schemas.openxmlformats.org/markup-compatibility/2006">
              <mc:Choice xmlns:v="urn:schemas-microsoft-com:vml" Requires="v">
                <p:oleObj spid="_x0000_s135418" name="Equation" r:id="rId2" imgW="1511300" imgH="431800" progId="Equation.DSMT4">
                  <p:embed/>
                </p:oleObj>
              </mc:Choice>
              <mc:Fallback>
                <p:oleObj name="Equation" r:id="rId2" imgW="1511300" imgH="431800" progId="Equation.DSMT4">
                  <p:embed/>
                  <p:pic>
                    <p:nvPicPr>
                      <p:cNvPr id="0" name="Picture 2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8938" y="1750176"/>
                        <a:ext cx="2643206" cy="7435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矩形 29"/>
          <p:cNvSpPr/>
          <p:nvPr/>
        </p:nvSpPr>
        <p:spPr>
          <a:xfrm>
            <a:off x="3287688" y="1256075"/>
            <a:ext cx="4378122" cy="369332"/>
          </a:xfrm>
          <a:prstGeom prst="rect">
            <a:avLst/>
          </a:prstGeom>
        </p:spPr>
        <p:txBody>
          <a:bodyPr wrap="none">
            <a:spAutoFit/>
          </a:bodyPr>
          <a:lstStyle/>
          <a:p>
            <a:r>
              <a:rPr lang="en-US" altLang="zh-CN" dirty="0">
                <a:latin typeface="Times New Roman" panose="02020603050405020304" pitchFamily="18" charset="0"/>
                <a:ea typeface="黑体" panose="02010609060101010101" pitchFamily="49" charset="-122"/>
                <a:sym typeface="Wingdings" panose="05000000000000000000" pitchFamily="2" charset="2"/>
              </a:rPr>
              <a:t>(</a:t>
            </a:r>
            <a:r>
              <a:rPr lang="zh-CN" altLang="zh-CN" dirty="0">
                <a:latin typeface="Times New Roman" panose="02020603050405020304" pitchFamily="18" charset="0"/>
                <a:ea typeface="黑体" panose="02010609060101010101" pitchFamily="49" charset="-122"/>
              </a:rPr>
              <a:t>平方误差损失</a:t>
            </a:r>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条件</a:t>
            </a:r>
            <a:r>
              <a:rPr lang="zh-CN" altLang="zh-CN" dirty="0">
                <a:latin typeface="Times New Roman" panose="02020603050405020304" pitchFamily="18" charset="0"/>
                <a:ea typeface="黑体" panose="02010609060101010101" pitchFamily="49" charset="-122"/>
              </a:rPr>
              <a:t>下</a:t>
            </a:r>
            <a:r>
              <a:rPr lang="en-US" altLang="zh-CN" dirty="0">
                <a:latin typeface="Times New Roman" panose="02020603050405020304" pitchFamily="18" charset="0"/>
                <a:ea typeface="黑体" panose="02010609060101010101" pitchFamily="49" charset="-122"/>
              </a:rPr>
              <a:t>)</a:t>
            </a:r>
            <a:endParaRPr lang="zh-CN" altLang="en-US" dirty="0"/>
          </a:p>
        </p:txBody>
      </p:sp>
      <p:graphicFrame>
        <p:nvGraphicFramePr>
          <p:cNvPr id="31" name="Object 161"/>
          <p:cNvGraphicFramePr>
            <a:graphicFrameLocks noChangeAspect="1"/>
          </p:cNvGraphicFramePr>
          <p:nvPr/>
        </p:nvGraphicFramePr>
        <p:xfrm>
          <a:off x="4871786" y="1223185"/>
          <a:ext cx="1866062" cy="400410"/>
        </p:xfrm>
        <a:graphic>
          <a:graphicData uri="http://schemas.openxmlformats.org/presentationml/2006/ole">
            <mc:AlternateContent xmlns:mc="http://schemas.openxmlformats.org/markup-compatibility/2006">
              <mc:Choice xmlns:v="urn:schemas-microsoft-com:vml" Requires="v">
                <p:oleObj spid="_x0000_s135419" name="Equation" r:id="rId4" imgW="1117600" imgH="241300" progId="Equation.DSMT4">
                  <p:embed/>
                </p:oleObj>
              </mc:Choice>
              <mc:Fallback>
                <p:oleObj name="Equation" r:id="rId4" imgW="1117600" imgH="241300" progId="Equation.DSMT4">
                  <p:embed/>
                  <p:pic>
                    <p:nvPicPr>
                      <p:cNvPr id="0" name="Picture 2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1786" y="1223185"/>
                        <a:ext cx="1866062" cy="400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矩形 31"/>
          <p:cNvSpPr/>
          <p:nvPr/>
        </p:nvSpPr>
        <p:spPr>
          <a:xfrm>
            <a:off x="293867" y="1177588"/>
            <a:ext cx="2698175" cy="523220"/>
          </a:xfrm>
          <a:prstGeom prst="rect">
            <a:avLst/>
          </a:prstGeom>
        </p:spPr>
        <p:txBody>
          <a:bodyPr wrap="none">
            <a:spAutoFit/>
          </a:bodyPr>
          <a:lstStyle/>
          <a:p>
            <a:r>
              <a:rPr lang="zh-CN" altLang="zh-CN" sz="2800" b="1" dirty="0">
                <a:solidFill>
                  <a:srgbClr val="0000FF"/>
                </a:solidFill>
                <a:latin typeface="Arial" panose="020B0604020202020204" pitchFamily="34" charset="0"/>
              </a:rPr>
              <a:t>贝叶斯估计</a:t>
            </a:r>
            <a:r>
              <a:rPr lang="zh-CN" altLang="en-US" sz="2800" b="1" dirty="0">
                <a:solidFill>
                  <a:srgbClr val="0000FF"/>
                </a:solidFill>
                <a:latin typeface="Arial" panose="020B0604020202020204" pitchFamily="34" charset="0"/>
              </a:rPr>
              <a:t>方法</a:t>
            </a:r>
            <a:endParaRPr lang="zh-CN" altLang="en-US" sz="2800" b="1" dirty="0">
              <a:solidFill>
                <a:srgbClr val="0000FF"/>
              </a:solidFill>
              <a:latin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14.4 </a:t>
            </a:r>
            <a:r>
              <a:rPr lang="zh-CN" altLang="zh-CN" dirty="0"/>
              <a:t>贝叶斯估计</a:t>
            </a:r>
            <a:endParaRPr lang="zh-CN" altLang="zh-CN" dirty="0"/>
          </a:p>
        </p:txBody>
      </p:sp>
      <p:sp>
        <p:nvSpPr>
          <p:cNvPr id="12" name="矩形 11"/>
          <p:cNvSpPr/>
          <p:nvPr/>
        </p:nvSpPr>
        <p:spPr>
          <a:xfrm>
            <a:off x="379710" y="1838306"/>
            <a:ext cx="11548938" cy="4665345"/>
          </a:xfrm>
          <a:prstGeom prst="rect">
            <a:avLst/>
          </a:prstGeom>
        </p:spPr>
        <p:txBody>
          <a:bodyPr wrap="square">
            <a:spAutoFit/>
          </a:bodyPr>
          <a:lstStyle/>
          <a:p>
            <a:pPr>
              <a:lnSpc>
                <a:spcPct val="130000"/>
              </a:lnSpc>
            </a:pPr>
            <a:r>
              <a:rPr lang="en-US" altLang="zh-CN" sz="2200" dirty="0">
                <a:solidFill>
                  <a:srgbClr val="FF0000"/>
                </a:solidFill>
                <a:latin typeface="Times New Roman" panose="02020603050405020304" pitchFamily="18" charset="0"/>
                <a:ea typeface="黑体" panose="02010609060101010101" pitchFamily="49" charset="-122"/>
              </a:rPr>
              <a:t>T2: </a:t>
            </a:r>
            <a:r>
              <a:rPr lang="zh-CN" altLang="en-US" sz="2200" dirty="0">
                <a:solidFill>
                  <a:srgbClr val="FF0000"/>
                </a:solidFill>
                <a:latin typeface="Times New Roman" panose="02020603050405020304" pitchFamily="18" charset="0"/>
                <a:ea typeface="黑体" panose="02010609060101010101" pitchFamily="49" charset="-122"/>
              </a:rPr>
              <a:t>如何</a:t>
            </a:r>
            <a:r>
              <a:rPr lang="zh-CN" altLang="zh-CN" sz="2200" dirty="0">
                <a:solidFill>
                  <a:srgbClr val="FF0000"/>
                </a:solidFill>
                <a:latin typeface="Times New Roman" panose="02020603050405020304" pitchFamily="18" charset="0"/>
                <a:ea typeface="黑体" panose="02010609060101010101" pitchFamily="49" charset="-122"/>
              </a:rPr>
              <a:t>求</a:t>
            </a:r>
            <a:r>
              <a:rPr lang="zh-CN" altLang="en-US" sz="2200" dirty="0">
                <a:solidFill>
                  <a:srgbClr val="FF0000"/>
                </a:solidFill>
                <a:latin typeface="Times New Roman" panose="02020603050405020304" pitchFamily="18" charset="0"/>
                <a:ea typeface="黑体" panose="02010609060101010101" pitchFamily="49" charset="-122"/>
              </a:rPr>
              <a:t>后验概率密度函数</a:t>
            </a:r>
            <a:endParaRPr lang="en-US" altLang="zh-CN" sz="2200" dirty="0">
              <a:solidFill>
                <a:srgbClr val="FF0000"/>
              </a:solidFill>
              <a:latin typeface="Times New Roman" panose="02020603050405020304" pitchFamily="18" charset="0"/>
              <a:ea typeface="黑体" panose="02010609060101010101" pitchFamily="49" charset="-122"/>
            </a:endParaRPr>
          </a:p>
          <a:p>
            <a:pPr marL="342900" indent="-342900">
              <a:lnSpc>
                <a:spcPct val="130000"/>
              </a:lnSpc>
              <a:spcBef>
                <a:spcPts val="2400"/>
              </a:spcBef>
              <a:buFont typeface="Arial" panose="020B0604020202020204" pitchFamily="34" charset="0"/>
              <a:buChar char="•"/>
            </a:pPr>
            <a:r>
              <a:rPr lang="zh-CN" altLang="en-US" sz="2200" dirty="0">
                <a:latin typeface="Times New Roman" panose="02020603050405020304" pitchFamily="18" charset="0"/>
                <a:ea typeface="黑体" panose="02010609060101010101" pitchFamily="49" charset="-122"/>
              </a:rPr>
              <a:t> 需要先求出全概率密度部分</a:t>
            </a:r>
            <a:endParaRPr lang="en-US" altLang="zh-CN" sz="2200" dirty="0">
              <a:latin typeface="Times New Roman" panose="02020603050405020304" pitchFamily="18" charset="0"/>
              <a:ea typeface="黑体" panose="02010609060101010101" pitchFamily="49" charset="-122"/>
            </a:endParaRPr>
          </a:p>
          <a:p>
            <a:pPr marL="342900" indent="-342900">
              <a:lnSpc>
                <a:spcPct val="130000"/>
              </a:lnSpc>
              <a:spcBef>
                <a:spcPts val="1200"/>
              </a:spcBef>
              <a:buFont typeface="Arial" panose="020B0604020202020204" pitchFamily="34" charset="0"/>
              <a:buChar char="•"/>
            </a:pPr>
            <a:r>
              <a:rPr lang="zh-CN" altLang="en-US" sz="2200" dirty="0">
                <a:latin typeface="Times New Roman" panose="02020603050405020304" pitchFamily="18" charset="0"/>
                <a:ea typeface="黑体" panose="02010609060101010101" pitchFamily="49" charset="-122"/>
              </a:rPr>
              <a:t> 后验概率通常是很难计算的，因为要对所有参数进行积分，不能找到一个典型的闭合解（解析解）。可以采用一种近似的方法求</a:t>
            </a:r>
            <a:r>
              <a:rPr lang="el-GR" altLang="zh-CN" sz="2200">
                <a:latin typeface="Times New Roman" panose="02020603050405020304" pitchFamily="18" charset="0"/>
                <a:ea typeface="黑体" panose="02010609060101010101" pitchFamily="49" charset="-122"/>
              </a:rPr>
              <a:t>θ</a:t>
            </a:r>
            <a:r>
              <a:rPr lang="zh-CN" altLang="en-US" sz="2200">
                <a:latin typeface="Times New Roman" panose="02020603050405020304" pitchFamily="18" charset="0"/>
                <a:ea typeface="黑体" panose="02010609060101010101" pitchFamily="49" charset="-122"/>
              </a:rPr>
              <a:t>，</a:t>
            </a:r>
            <a:r>
              <a:rPr lang="zh-CN" altLang="en-US" sz="2200" dirty="0">
                <a:latin typeface="Times New Roman" panose="02020603050405020304" pitchFamily="18" charset="0"/>
                <a:ea typeface="黑体" panose="02010609060101010101" pitchFamily="49" charset="-122"/>
              </a:rPr>
              <a:t>这就是</a:t>
            </a:r>
            <a:r>
              <a:rPr lang="zh-CN" altLang="en-US" sz="2200" dirty="0">
                <a:solidFill>
                  <a:srgbClr val="FF0000"/>
                </a:solidFill>
                <a:latin typeface="Times New Roman" panose="02020603050405020304" pitchFamily="18" charset="0"/>
                <a:ea typeface="黑体" panose="02010609060101010101" pitchFamily="49" charset="-122"/>
              </a:rPr>
              <a:t>最大后验概率估计</a:t>
            </a:r>
            <a:r>
              <a:rPr lang="zh-CN" altLang="en-US" sz="2200" dirty="0">
                <a:latin typeface="Times New Roman" panose="02020603050405020304" pitchFamily="18" charset="0"/>
                <a:ea typeface="黑体" panose="02010609060101010101" pitchFamily="49" charset="-122"/>
              </a:rPr>
              <a:t>。</a:t>
            </a:r>
            <a:endParaRPr lang="en-US" altLang="zh-CN" sz="2200" dirty="0">
              <a:latin typeface="Times New Roman" panose="02020603050405020304" pitchFamily="18" charset="0"/>
              <a:ea typeface="黑体" panose="02010609060101010101" pitchFamily="49" charset="-122"/>
            </a:endParaRPr>
          </a:p>
          <a:p>
            <a:pPr marL="342900" indent="-342900">
              <a:lnSpc>
                <a:spcPct val="130000"/>
              </a:lnSpc>
              <a:buFont typeface="Arial" panose="020B0604020202020204" pitchFamily="34" charset="0"/>
              <a:buChar char="•"/>
            </a:pPr>
            <a:endParaRPr lang="en-US" altLang="zh-CN" sz="2200" dirty="0">
              <a:latin typeface="Times New Roman" panose="02020603050405020304" pitchFamily="18" charset="0"/>
              <a:ea typeface="黑体" panose="02010609060101010101" pitchFamily="49" charset="-122"/>
            </a:endParaRPr>
          </a:p>
          <a:p>
            <a:pPr marL="342900" indent="-342900">
              <a:lnSpc>
                <a:spcPct val="130000"/>
              </a:lnSpc>
              <a:spcBef>
                <a:spcPts val="1200"/>
              </a:spcBef>
              <a:buFont typeface="Arial" panose="020B0604020202020204" pitchFamily="34" charset="0"/>
              <a:buChar char="•"/>
            </a:pPr>
            <a:r>
              <a:rPr lang="zh-CN" altLang="en-US" sz="2200" dirty="0">
                <a:latin typeface="Times New Roman" panose="02020603050405020304" pitchFamily="18" charset="0"/>
                <a:ea typeface="黑体" panose="02010609060101010101" pitchFamily="49" charset="-122"/>
              </a:rPr>
              <a:t>   整个贝叶斯估计领域的核心技术就是要近似的计算 </a:t>
            </a:r>
            <a:r>
              <a:rPr lang="en-US" sz="2200" dirty="0">
                <a:latin typeface="Times New Roman" panose="02020603050405020304" pitchFamily="18" charset="0"/>
                <a:ea typeface="黑体" panose="02010609060101010101" pitchFamily="49" charset="-122"/>
              </a:rPr>
              <a:t> </a:t>
            </a:r>
            <a:r>
              <a:rPr lang="en-US" sz="2200" i="1" dirty="0">
                <a:latin typeface="Times New Roman" panose="02020603050405020304" pitchFamily="18" charset="0"/>
                <a:ea typeface="黑体" panose="02010609060101010101" pitchFamily="49" charset="-122"/>
                <a:cs typeface="Times New Roman" panose="02020603050405020304" pitchFamily="18" charset="0"/>
              </a:rPr>
              <a:t>p</a:t>
            </a:r>
            <a:r>
              <a:rPr lang="en-US" sz="2200" dirty="0">
                <a:latin typeface="Times New Roman" panose="02020603050405020304" pitchFamily="18" charset="0"/>
                <a:ea typeface="黑体" panose="02010609060101010101" pitchFamily="49" charset="-122"/>
                <a:cs typeface="Times New Roman" panose="02020603050405020304" pitchFamily="18" charset="0"/>
              </a:rPr>
              <a:t>(</a:t>
            </a:r>
            <a:r>
              <a:rPr lang="el-GR" sz="2200" i="1" dirty="0">
                <a:latin typeface="Times New Roman" panose="02020603050405020304" pitchFamily="18" charset="0"/>
                <a:ea typeface="黑体" panose="02010609060101010101" pitchFamily="49" charset="-122"/>
                <a:cs typeface="Times New Roman" panose="02020603050405020304" pitchFamily="18" charset="0"/>
              </a:rPr>
              <a:t>θ</a:t>
            </a:r>
            <a:r>
              <a:rPr lang="en-US" sz="2200" dirty="0">
                <a:latin typeface="Times New Roman" panose="02020603050405020304" pitchFamily="18" charset="0"/>
                <a:ea typeface="黑体" panose="02010609060101010101" pitchFamily="49" charset="-122"/>
                <a:cs typeface="Times New Roman" panose="02020603050405020304" pitchFamily="18" charset="0"/>
              </a:rPr>
              <a:t>|</a:t>
            </a:r>
            <a:r>
              <a:rPr lang="el-GR" sz="2200" i="1" dirty="0">
                <a:latin typeface="Times New Roman" panose="02020603050405020304" pitchFamily="18" charset="0"/>
                <a:ea typeface="黑体" panose="02010609060101010101" pitchFamily="49" charset="-122"/>
                <a:cs typeface="Times New Roman" panose="02020603050405020304" pitchFamily="18" charset="0"/>
              </a:rPr>
              <a:t>χ</a:t>
            </a:r>
            <a:r>
              <a:rPr lang="en-US" sz="22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200" dirty="0">
                <a:latin typeface="Times New Roman" panose="02020603050405020304" pitchFamily="18" charset="0"/>
                <a:ea typeface="黑体" panose="02010609060101010101" pitchFamily="49" charset="-122"/>
              </a:rPr>
              <a:t> 。可以</a:t>
            </a:r>
            <a:r>
              <a:rPr lang="zh-CN" altLang="en-US" sz="2200" dirty="0">
                <a:latin typeface="Times New Roman" panose="02020603050405020304" pitchFamily="18" charset="0"/>
                <a:ea typeface="黑体" panose="02010609060101010101" pitchFamily="49" charset="-122"/>
              </a:rPr>
              <a:t>采用：</a:t>
            </a:r>
            <a:r>
              <a:rPr lang="en-US" altLang="zh-CN" sz="2200" dirty="0">
                <a:latin typeface="Times New Roman" panose="02020603050405020304" pitchFamily="18" charset="0"/>
                <a:ea typeface="黑体" panose="02010609060101010101" pitchFamily="49" charset="-122"/>
              </a:rPr>
              <a:t>共轭先验法</a:t>
            </a:r>
            <a:r>
              <a:rPr lang="zh-CN" altLang="en-US" sz="2200" dirty="0">
                <a:latin typeface="Times New Roman" panose="02020603050405020304" pitchFamily="18" charset="0"/>
                <a:ea typeface="黑体" panose="02010609060101010101" pitchFamily="49" charset="-122"/>
              </a:rPr>
              <a:t>、数值近似方法（变分推断、马尔可夫链蒙特卡洛）。</a:t>
            </a:r>
            <a:endParaRPr lang="zh-CN" altLang="en-US" sz="2200" dirty="0">
              <a:latin typeface="Times New Roman" panose="02020603050405020304" pitchFamily="18" charset="0"/>
              <a:ea typeface="黑体" panose="02010609060101010101" pitchFamily="49" charset="-122"/>
            </a:endParaRPr>
          </a:p>
          <a:p>
            <a:pPr>
              <a:lnSpc>
                <a:spcPct val="130000"/>
              </a:lnSpc>
            </a:pPr>
            <a:endParaRPr lang="en-US" altLang="zh-CN" sz="2200" dirty="0">
              <a:latin typeface="Times New Roman" panose="02020603050405020304" pitchFamily="18" charset="0"/>
              <a:ea typeface="黑体" panose="02010609060101010101" pitchFamily="49" charset="-122"/>
            </a:endParaRPr>
          </a:p>
          <a:p>
            <a:pPr>
              <a:lnSpc>
                <a:spcPct val="130000"/>
              </a:lnSpc>
              <a:buNone/>
            </a:pPr>
            <a:r>
              <a:rPr lang="zh-CN" altLang="en-US" sz="2200" dirty="0">
                <a:latin typeface="Times New Roman" panose="02020603050405020304" pitchFamily="18" charset="0"/>
                <a:ea typeface="黑体" panose="02010609060101010101" pitchFamily="49" charset="-122"/>
              </a:rPr>
              <a:t>    </a:t>
            </a:r>
            <a:endParaRPr lang="zh-CN" altLang="en-US" sz="2200" dirty="0">
              <a:latin typeface="Times New Roman" panose="02020603050405020304" pitchFamily="18" charset="0"/>
              <a:ea typeface="黑体" panose="02010609060101010101" pitchFamily="49" charset="-122"/>
            </a:endParaRPr>
          </a:p>
        </p:txBody>
      </p:sp>
      <p:graphicFrame>
        <p:nvGraphicFramePr>
          <p:cNvPr id="13" name="Object 3"/>
          <p:cNvGraphicFramePr>
            <a:graphicFrameLocks noChangeAspect="1"/>
          </p:cNvGraphicFramePr>
          <p:nvPr/>
        </p:nvGraphicFramePr>
        <p:xfrm>
          <a:off x="4247162" y="1748617"/>
          <a:ext cx="2928958" cy="777459"/>
        </p:xfrm>
        <a:graphic>
          <a:graphicData uri="http://schemas.openxmlformats.org/presentationml/2006/ole">
            <mc:AlternateContent xmlns:mc="http://schemas.openxmlformats.org/markup-compatibility/2006">
              <mc:Choice xmlns:v="urn:schemas-microsoft-com:vml" Requires="v">
                <p:oleObj spid="_x0000_s136694" name="Equation" r:id="rId2" imgW="1854200" imgH="482600" progId="Equation.DSMT4">
                  <p:embed/>
                </p:oleObj>
              </mc:Choice>
              <mc:Fallback>
                <p:oleObj name="Equation" r:id="rId2" imgW="1854200" imgH="482600" progId="Equation.DSMT4">
                  <p:embed/>
                  <p:pic>
                    <p:nvPicPr>
                      <p:cNvPr id="0" name="Picture 4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7162" y="1748617"/>
                        <a:ext cx="2928958" cy="7774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6"/>
          <p:cNvGraphicFramePr>
            <a:graphicFrameLocks noChangeAspect="1"/>
          </p:cNvGraphicFramePr>
          <p:nvPr/>
        </p:nvGraphicFramePr>
        <p:xfrm>
          <a:off x="4316338" y="2644152"/>
          <a:ext cx="2571750" cy="455613"/>
        </p:xfrm>
        <a:graphic>
          <a:graphicData uri="http://schemas.openxmlformats.org/presentationml/2006/ole">
            <mc:AlternateContent xmlns:mc="http://schemas.openxmlformats.org/markup-compatibility/2006">
              <mc:Choice xmlns:v="urn:schemas-microsoft-com:vml" Requires="v">
                <p:oleObj spid="_x0000_s136695" name="Equation" r:id="rId4" imgW="1651000" imgH="292100" progId="Equation.DSMT4">
                  <p:embed/>
                </p:oleObj>
              </mc:Choice>
              <mc:Fallback>
                <p:oleObj name="Equation" r:id="rId4" imgW="1651000" imgH="292100" progId="Equation.DSMT4">
                  <p:embed/>
                  <p:pic>
                    <p:nvPicPr>
                      <p:cNvPr id="0" name="Picture 47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16338" y="2644152"/>
                        <a:ext cx="257175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10"/>
          <p:cNvGraphicFramePr>
            <a:graphicFrameLocks noChangeAspect="1"/>
          </p:cNvGraphicFramePr>
          <p:nvPr/>
        </p:nvGraphicFramePr>
        <p:xfrm>
          <a:off x="4024183" y="4112349"/>
          <a:ext cx="3602192" cy="469170"/>
        </p:xfrm>
        <a:graphic>
          <a:graphicData uri="http://schemas.openxmlformats.org/presentationml/2006/ole">
            <mc:AlternateContent xmlns:mc="http://schemas.openxmlformats.org/markup-compatibility/2006">
              <mc:Choice xmlns:v="urn:schemas-microsoft-com:vml" Requires="v">
                <p:oleObj spid="_x0000_s136696" name="Equation" r:id="rId6" imgW="1651000" imgH="215900" progId="Equation.DSMT4">
                  <p:embed/>
                </p:oleObj>
              </mc:Choice>
              <mc:Fallback>
                <p:oleObj name="Equation" r:id="rId6" imgW="1651000" imgH="215900" progId="Equation.DSMT4">
                  <p:embed/>
                  <p:pic>
                    <p:nvPicPr>
                      <p:cNvPr id="0" name="Picture 47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24183" y="4112349"/>
                        <a:ext cx="3602192" cy="469170"/>
                      </a:xfrm>
                      <a:prstGeom prst="rect">
                        <a:avLst/>
                      </a:prstGeom>
                      <a:solidFill>
                        <a:schemeClr val="bg1"/>
                      </a:solidFill>
                    </p:spPr>
                  </p:pic>
                </p:oleObj>
              </mc:Fallback>
            </mc:AlternateContent>
          </a:graphicData>
        </a:graphic>
      </p:graphicFrame>
      <p:sp>
        <p:nvSpPr>
          <p:cNvPr id="17" name="矩形 16"/>
          <p:cNvSpPr/>
          <p:nvPr/>
        </p:nvSpPr>
        <p:spPr>
          <a:xfrm>
            <a:off x="3287688" y="1256075"/>
            <a:ext cx="4378122" cy="369332"/>
          </a:xfrm>
          <a:prstGeom prst="rect">
            <a:avLst/>
          </a:prstGeom>
        </p:spPr>
        <p:txBody>
          <a:bodyPr wrap="none">
            <a:spAutoFit/>
          </a:bodyPr>
          <a:lstStyle/>
          <a:p>
            <a:r>
              <a:rPr lang="en-US" altLang="zh-CN" dirty="0">
                <a:latin typeface="Times New Roman" panose="02020603050405020304" pitchFamily="18" charset="0"/>
                <a:ea typeface="黑体" panose="02010609060101010101" pitchFamily="49" charset="-122"/>
                <a:sym typeface="Wingdings" panose="05000000000000000000" pitchFamily="2" charset="2"/>
              </a:rPr>
              <a:t>(</a:t>
            </a:r>
            <a:r>
              <a:rPr lang="zh-CN" altLang="zh-CN" dirty="0">
                <a:latin typeface="Times New Roman" panose="02020603050405020304" pitchFamily="18" charset="0"/>
                <a:ea typeface="黑体" panose="02010609060101010101" pitchFamily="49" charset="-122"/>
              </a:rPr>
              <a:t>平方误差损失</a:t>
            </a:r>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条件</a:t>
            </a:r>
            <a:r>
              <a:rPr lang="zh-CN" altLang="zh-CN" dirty="0">
                <a:latin typeface="Times New Roman" panose="02020603050405020304" pitchFamily="18" charset="0"/>
                <a:ea typeface="黑体" panose="02010609060101010101" pitchFamily="49" charset="-122"/>
              </a:rPr>
              <a:t>下</a:t>
            </a:r>
            <a:r>
              <a:rPr lang="en-US" altLang="zh-CN" dirty="0">
                <a:latin typeface="Times New Roman" panose="02020603050405020304" pitchFamily="18" charset="0"/>
                <a:ea typeface="黑体" panose="02010609060101010101" pitchFamily="49" charset="-122"/>
              </a:rPr>
              <a:t>)</a:t>
            </a:r>
            <a:endParaRPr lang="zh-CN" altLang="en-US" dirty="0"/>
          </a:p>
        </p:txBody>
      </p:sp>
      <p:graphicFrame>
        <p:nvGraphicFramePr>
          <p:cNvPr id="18" name="Object 161"/>
          <p:cNvGraphicFramePr>
            <a:graphicFrameLocks noChangeAspect="1"/>
          </p:cNvGraphicFramePr>
          <p:nvPr/>
        </p:nvGraphicFramePr>
        <p:xfrm>
          <a:off x="4871786" y="1223185"/>
          <a:ext cx="1866062" cy="400410"/>
        </p:xfrm>
        <a:graphic>
          <a:graphicData uri="http://schemas.openxmlformats.org/presentationml/2006/ole">
            <mc:AlternateContent xmlns:mc="http://schemas.openxmlformats.org/markup-compatibility/2006">
              <mc:Choice xmlns:v="urn:schemas-microsoft-com:vml" Requires="v">
                <p:oleObj spid="_x0000_s136697" name="Equation" r:id="rId8" imgW="1117600" imgH="241300" progId="Equation.DSMT4">
                  <p:embed/>
                </p:oleObj>
              </mc:Choice>
              <mc:Fallback>
                <p:oleObj name="Equation" r:id="rId8" imgW="1117600" imgH="241300" progId="Equation.DSMT4">
                  <p:embed/>
                  <p:pic>
                    <p:nvPicPr>
                      <p:cNvPr id="0" name="Picture 47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71786" y="1223185"/>
                        <a:ext cx="1866062" cy="400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矩形 18"/>
          <p:cNvSpPr/>
          <p:nvPr/>
        </p:nvSpPr>
        <p:spPr>
          <a:xfrm>
            <a:off x="293867" y="1177588"/>
            <a:ext cx="2698175" cy="523220"/>
          </a:xfrm>
          <a:prstGeom prst="rect">
            <a:avLst/>
          </a:prstGeom>
        </p:spPr>
        <p:txBody>
          <a:bodyPr wrap="none">
            <a:spAutoFit/>
          </a:bodyPr>
          <a:lstStyle/>
          <a:p>
            <a:r>
              <a:rPr lang="zh-CN" altLang="zh-CN" sz="2800" b="1" dirty="0">
                <a:solidFill>
                  <a:srgbClr val="0000FF"/>
                </a:solidFill>
                <a:latin typeface="Arial" panose="020B0604020202020204" pitchFamily="34" charset="0"/>
              </a:rPr>
              <a:t>贝叶斯估计</a:t>
            </a:r>
            <a:r>
              <a:rPr lang="zh-CN" altLang="en-US" sz="2800" b="1" dirty="0">
                <a:solidFill>
                  <a:srgbClr val="0000FF"/>
                </a:solidFill>
                <a:latin typeface="Arial" panose="020B0604020202020204" pitchFamily="34" charset="0"/>
              </a:rPr>
              <a:t>方法</a:t>
            </a:r>
            <a:endParaRPr lang="zh-CN" altLang="en-US" sz="2800" b="1" dirty="0">
              <a:solidFill>
                <a:srgbClr val="0000FF"/>
              </a:solidFill>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14.4 </a:t>
            </a:r>
            <a:r>
              <a:rPr lang="zh-CN" altLang="zh-CN" dirty="0"/>
              <a:t>贝叶斯估计</a:t>
            </a:r>
            <a:endParaRPr lang="zh-CN" altLang="zh-CN" dirty="0"/>
          </a:p>
        </p:txBody>
      </p:sp>
      <p:sp>
        <p:nvSpPr>
          <p:cNvPr id="17" name="Rectangle 6"/>
          <p:cNvSpPr>
            <a:spLocks noChangeArrowheads="1"/>
          </p:cNvSpPr>
          <p:nvPr/>
        </p:nvSpPr>
        <p:spPr bwMode="auto">
          <a:xfrm>
            <a:off x="407368" y="1659775"/>
            <a:ext cx="8674100" cy="519419"/>
          </a:xfrm>
          <a:prstGeom prst="rect">
            <a:avLst/>
          </a:prstGeom>
          <a:noFill/>
          <a:ln w="9525">
            <a:noFill/>
            <a:miter lim="800000"/>
          </a:ln>
        </p:spPr>
        <p:txBody>
          <a:bodyPr lIns="0" tIns="0" rIns="0" bIns="0"/>
          <a:lstStyle/>
          <a:p>
            <a:pPr marL="228600" indent="-228600">
              <a:lnSpc>
                <a:spcPct val="150000"/>
              </a:lnSpc>
              <a:spcAft>
                <a:spcPct val="25000"/>
              </a:spcAft>
              <a:buClr>
                <a:schemeClr val="tx2"/>
              </a:buClr>
              <a:buSzPct val="90000"/>
              <a:buFont typeface="Symbol" panose="05050102010706020507" pitchFamily="18" charset="2"/>
              <a:buNone/>
            </a:pPr>
            <a:r>
              <a:rPr kumimoji="1" lang="zh-CN" altLang="en-US" sz="2200" dirty="0">
                <a:latin typeface="Times New Roman" panose="02020603050405020304" pitchFamily="18" charset="0"/>
                <a:ea typeface="黑体" panose="02010609060101010101" pitchFamily="49" charset="-122"/>
              </a:rPr>
              <a:t>对于一个训练集合 </a:t>
            </a:r>
            <a:r>
              <a:rPr kumimoji="1" lang="el-GR" altLang="zh-CN" sz="2400" i="1" dirty="0">
                <a:latin typeface="Times New Roman" panose="02020603050405020304" pitchFamily="18" charset="0"/>
                <a:ea typeface="黑体" panose="02010609060101010101" pitchFamily="49" charset="-122"/>
              </a:rPr>
              <a:t>χ</a:t>
            </a:r>
            <a:r>
              <a:rPr kumimoji="1" lang="en-US" altLang="zh-CN" sz="2200" dirty="0">
                <a:latin typeface="Times New Roman" panose="02020603050405020304" pitchFamily="18" charset="0"/>
                <a:ea typeface="黑体" panose="02010609060101010101" pitchFamily="49" charset="-122"/>
              </a:rPr>
              <a:t> , </a:t>
            </a:r>
            <a:r>
              <a:rPr kumimoji="1" lang="zh-CN" altLang="en-US" sz="2200" dirty="0">
                <a:latin typeface="Times New Roman" panose="02020603050405020304" pitchFamily="18" charset="0"/>
                <a:ea typeface="黑体" panose="02010609060101010101" pitchFamily="49" charset="-122"/>
              </a:rPr>
              <a:t>贝叶斯公式就变成了</a:t>
            </a:r>
            <a:r>
              <a:rPr kumimoji="1" lang="en-US" altLang="zh-CN" sz="2200" dirty="0">
                <a:latin typeface="Times New Roman" panose="02020603050405020304" pitchFamily="18" charset="0"/>
                <a:ea typeface="黑体" panose="02010609060101010101" pitchFamily="49" charset="-122"/>
              </a:rPr>
              <a:t>:</a:t>
            </a:r>
            <a:endParaRPr kumimoji="1" lang="en-US" altLang="zh-CN" sz="2200" dirty="0">
              <a:latin typeface="Times New Roman" panose="02020603050405020304" pitchFamily="18" charset="0"/>
              <a:ea typeface="黑体" panose="02010609060101010101" pitchFamily="49" charset="-122"/>
              <a:sym typeface="Symbol" panose="05050102010706020507" pitchFamily="18" charset="2"/>
            </a:endParaRPr>
          </a:p>
        </p:txBody>
      </p:sp>
      <p:graphicFrame>
        <p:nvGraphicFramePr>
          <p:cNvPr id="18" name="Object 7"/>
          <p:cNvGraphicFramePr>
            <a:graphicFrameLocks noChangeAspect="1"/>
          </p:cNvGraphicFramePr>
          <p:nvPr/>
        </p:nvGraphicFramePr>
        <p:xfrm>
          <a:off x="2365375" y="2237919"/>
          <a:ext cx="6381750" cy="1233487"/>
        </p:xfrm>
        <a:graphic>
          <a:graphicData uri="http://schemas.openxmlformats.org/presentationml/2006/ole">
            <mc:AlternateContent xmlns:mc="http://schemas.openxmlformats.org/markup-compatibility/2006">
              <mc:Choice xmlns:v="urn:schemas-microsoft-com:vml" Requires="v">
                <p:oleObj spid="_x0000_s137579" name="公式" r:id="rId2" imgW="3479800" imgH="673100" progId="Equation.3">
                  <p:embed/>
                </p:oleObj>
              </mc:Choice>
              <mc:Fallback>
                <p:oleObj name="公式" r:id="rId2" imgW="3479800" imgH="673100" progId="Equation.3">
                  <p:embed/>
                  <p:pic>
                    <p:nvPicPr>
                      <p:cNvPr id="0" name="Picture 3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5375" y="2237919"/>
                        <a:ext cx="6381750" cy="1233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8"/>
          <p:cNvSpPr>
            <a:spLocks noChangeArrowheads="1"/>
          </p:cNvSpPr>
          <p:nvPr/>
        </p:nvSpPr>
        <p:spPr bwMode="auto">
          <a:xfrm>
            <a:off x="407368" y="3593647"/>
            <a:ext cx="8627524" cy="909638"/>
          </a:xfrm>
          <a:prstGeom prst="rect">
            <a:avLst/>
          </a:prstGeom>
          <a:noFill/>
          <a:ln w="9525">
            <a:noFill/>
            <a:miter lim="800000"/>
          </a:ln>
        </p:spPr>
        <p:txBody>
          <a:bodyPr lIns="0" tIns="0" rIns="0" bIns="0"/>
          <a:lstStyle/>
          <a:p>
            <a:pPr marL="228600" indent="-228600">
              <a:spcAft>
                <a:spcPct val="25000"/>
              </a:spcAft>
              <a:buClr>
                <a:schemeClr val="tx2"/>
              </a:buClr>
              <a:buSzPct val="90000"/>
              <a:buFont typeface="Symbol" panose="05050102010706020507" pitchFamily="18" charset="2"/>
              <a:buNone/>
            </a:pPr>
            <a:r>
              <a:rPr kumimoji="1" lang="zh-CN" altLang="en-US" sz="2200" dirty="0">
                <a:latin typeface="Times New Roman" panose="02020603050405020304" pitchFamily="18" charset="0"/>
                <a:ea typeface="黑体" panose="02010609060101010101" pitchFamily="49" charset="-122"/>
              </a:rPr>
              <a:t>可以假定先验概率满足</a:t>
            </a:r>
            <a:r>
              <a:rPr kumimoji="1" lang="en-US" altLang="zh-CN" sz="2200" dirty="0">
                <a:latin typeface="Times New Roman" panose="02020603050405020304" pitchFamily="18" charset="0"/>
                <a:ea typeface="黑体" panose="02010609060101010101" pitchFamily="49" charset="-122"/>
              </a:rPr>
              <a:t>: P(</a:t>
            </a:r>
            <a:r>
              <a:rPr kumimoji="1" lang="en-US" altLang="zh-CN" sz="2200" i="1"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200" i="1" baseline="-25000" dirty="0" err="1">
                <a:latin typeface="Times New Roman" panose="02020603050405020304" pitchFamily="18" charset="0"/>
                <a:ea typeface="黑体" panose="02010609060101010101" pitchFamily="49" charset="-122"/>
                <a:sym typeface="Symbol" panose="05050102010706020507" pitchFamily="18" charset="2"/>
              </a:rPr>
              <a:t>i</a:t>
            </a:r>
            <a:r>
              <a:rPr kumimoji="1" lang="en-US" altLang="zh-CN" sz="2200" dirty="0">
                <a:latin typeface="Times New Roman" panose="02020603050405020304" pitchFamily="18" charset="0"/>
                <a:ea typeface="黑体" panose="02010609060101010101" pitchFamily="49" charset="-122"/>
              </a:rPr>
              <a:t>|</a:t>
            </a:r>
            <a:r>
              <a:rPr kumimoji="1" lang="el-GR" altLang="zh-CN" sz="2200" i="1" dirty="0">
                <a:latin typeface="Times New Roman" panose="02020603050405020304" pitchFamily="18" charset="0"/>
                <a:ea typeface="黑体" panose="02010609060101010101" pitchFamily="49" charset="-122"/>
              </a:rPr>
              <a:t>χ</a:t>
            </a:r>
            <a:r>
              <a:rPr kumimoji="1" lang="en-US" altLang="zh-CN" sz="2200" dirty="0">
                <a:latin typeface="Times New Roman" panose="02020603050405020304" pitchFamily="18" charset="0"/>
                <a:ea typeface="黑体" panose="02010609060101010101" pitchFamily="49" charset="-122"/>
              </a:rPr>
              <a:t>) = P(</a:t>
            </a:r>
            <a:r>
              <a:rPr kumimoji="1" lang="en-US" altLang="zh-CN" sz="2200" i="1"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200" i="1" baseline="-25000" dirty="0" err="1">
                <a:latin typeface="Times New Roman" panose="02020603050405020304" pitchFamily="18" charset="0"/>
                <a:ea typeface="黑体" panose="02010609060101010101" pitchFamily="49" charset="-122"/>
                <a:sym typeface="Symbol" panose="05050102010706020507" pitchFamily="18" charset="2"/>
              </a:rPr>
              <a:t>i</a:t>
            </a:r>
            <a:r>
              <a:rPr kumimoji="1" lang="en-US" altLang="zh-CN" sz="2200" dirty="0">
                <a:latin typeface="Times New Roman" panose="02020603050405020304" pitchFamily="18" charset="0"/>
                <a:ea typeface="黑体" panose="02010609060101010101" pitchFamily="49" charset="-122"/>
              </a:rPr>
              <a:t>)</a:t>
            </a:r>
            <a:r>
              <a:rPr kumimoji="1" lang="zh-CN" altLang="en-US" sz="2200" dirty="0">
                <a:latin typeface="Times New Roman" panose="02020603050405020304" pitchFamily="18" charset="0"/>
                <a:ea typeface="黑体" panose="02010609060101010101" pitchFamily="49" charset="-122"/>
              </a:rPr>
              <a:t>。同时，假定函数独立：</a:t>
            </a:r>
            <a:endParaRPr kumimoji="1" lang="en-US" altLang="zh-CN" sz="2200" dirty="0">
              <a:latin typeface="Times New Roman" panose="02020603050405020304" pitchFamily="18" charset="0"/>
              <a:ea typeface="黑体" panose="02010609060101010101" pitchFamily="49" charset="-122"/>
            </a:endParaRPr>
          </a:p>
        </p:txBody>
      </p:sp>
      <p:graphicFrame>
        <p:nvGraphicFramePr>
          <p:cNvPr id="20" name="Object 9"/>
          <p:cNvGraphicFramePr>
            <a:graphicFrameLocks noChangeAspect="1"/>
          </p:cNvGraphicFramePr>
          <p:nvPr/>
        </p:nvGraphicFramePr>
        <p:xfrm>
          <a:off x="3176550" y="4041393"/>
          <a:ext cx="3822675" cy="1198899"/>
        </p:xfrm>
        <a:graphic>
          <a:graphicData uri="http://schemas.openxmlformats.org/presentationml/2006/ole">
            <mc:AlternateContent xmlns:mc="http://schemas.openxmlformats.org/markup-compatibility/2006">
              <mc:Choice xmlns:v="urn:schemas-microsoft-com:vml" Requires="v">
                <p:oleObj spid="_x0000_s137580" name="公式" r:id="rId4" imgW="2146300" imgH="673100" progId="Equation.3">
                  <p:embed/>
                </p:oleObj>
              </mc:Choice>
              <mc:Fallback>
                <p:oleObj name="公式" r:id="rId4" imgW="2146300" imgH="673100" progId="Equation.3">
                  <p:embed/>
                  <p:pic>
                    <p:nvPicPr>
                      <p:cNvPr id="0" name="Picture 3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6550" y="4041393"/>
                        <a:ext cx="3822675" cy="11988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 Box 11"/>
          <p:cNvSpPr txBox="1">
            <a:spLocks noChangeArrowheads="1"/>
          </p:cNvSpPr>
          <p:nvPr/>
        </p:nvSpPr>
        <p:spPr bwMode="auto">
          <a:xfrm>
            <a:off x="7429439" y="4021783"/>
            <a:ext cx="2122945" cy="646331"/>
          </a:xfrm>
          <a:prstGeom prst="rect">
            <a:avLst/>
          </a:prstGeom>
          <a:solidFill>
            <a:schemeClr val="accent6">
              <a:lumMod val="20000"/>
              <a:lumOff val="80000"/>
            </a:schemeClr>
          </a:solidFill>
          <a:ln w="12700" cap="sq">
            <a:noFill/>
            <a:miter lim="800000"/>
            <a:headEnd type="none" w="sm" len="sm"/>
            <a:tailEnd type="none" w="sm" len="sm"/>
          </a:ln>
        </p:spPr>
        <p:txBody>
          <a:bodyPr wrap="square">
            <a:spAutoFit/>
          </a:bodyPr>
          <a:lstStyle/>
          <a:p>
            <a:r>
              <a:rPr lang="zh-CN" altLang="en-US" dirty="0">
                <a:latin typeface="Times New Roman" panose="02020603050405020304" pitchFamily="18" charset="0"/>
                <a:ea typeface="黑体" panose="02010609060101010101" pitchFamily="49" charset="-122"/>
              </a:rPr>
              <a:t>先验概密事先知道或简单计算可得到</a:t>
            </a:r>
            <a:endParaRPr lang="zh-CN" altLang="en-US" dirty="0">
              <a:latin typeface="Times New Roman" panose="02020603050405020304" pitchFamily="18" charset="0"/>
              <a:ea typeface="黑体" panose="02010609060101010101" pitchFamily="49" charset="-122"/>
            </a:endParaRPr>
          </a:p>
        </p:txBody>
      </p:sp>
      <p:sp>
        <p:nvSpPr>
          <p:cNvPr id="22" name="矩形 21"/>
          <p:cNvSpPr/>
          <p:nvPr/>
        </p:nvSpPr>
        <p:spPr>
          <a:xfrm>
            <a:off x="4742214" y="1203231"/>
            <a:ext cx="4378122" cy="369332"/>
          </a:xfrm>
          <a:prstGeom prst="rect">
            <a:avLst/>
          </a:prstGeom>
        </p:spPr>
        <p:txBody>
          <a:bodyPr wrap="none">
            <a:spAutoFit/>
          </a:bodyPr>
          <a:lstStyle/>
          <a:p>
            <a:r>
              <a:rPr lang="en-US" altLang="zh-CN" dirty="0">
                <a:latin typeface="Times New Roman" panose="02020603050405020304" pitchFamily="18" charset="0"/>
                <a:ea typeface="黑体" panose="02010609060101010101" pitchFamily="49" charset="-122"/>
                <a:sym typeface="Wingdings" panose="05000000000000000000" pitchFamily="2" charset="2"/>
              </a:rPr>
              <a:t>(</a:t>
            </a:r>
            <a:r>
              <a:rPr lang="zh-CN" altLang="zh-CN" dirty="0">
                <a:latin typeface="Times New Roman" panose="02020603050405020304" pitchFamily="18" charset="0"/>
                <a:ea typeface="黑体" panose="02010609060101010101" pitchFamily="49" charset="-122"/>
              </a:rPr>
              <a:t>平方误差损失</a:t>
            </a:r>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条件</a:t>
            </a:r>
            <a:r>
              <a:rPr lang="zh-CN" altLang="zh-CN" dirty="0">
                <a:latin typeface="Times New Roman" panose="02020603050405020304" pitchFamily="18" charset="0"/>
                <a:ea typeface="黑体" panose="02010609060101010101" pitchFamily="49" charset="-122"/>
              </a:rPr>
              <a:t>下</a:t>
            </a:r>
            <a:r>
              <a:rPr lang="en-US" altLang="zh-CN" dirty="0">
                <a:latin typeface="Times New Roman" panose="02020603050405020304" pitchFamily="18" charset="0"/>
                <a:ea typeface="黑体" panose="02010609060101010101" pitchFamily="49" charset="-122"/>
              </a:rPr>
              <a:t>)</a:t>
            </a:r>
            <a:endParaRPr lang="zh-CN" altLang="en-US" dirty="0"/>
          </a:p>
        </p:txBody>
      </p:sp>
      <p:graphicFrame>
        <p:nvGraphicFramePr>
          <p:cNvPr id="23" name="Object 161"/>
          <p:cNvGraphicFramePr>
            <a:graphicFrameLocks noChangeAspect="1"/>
          </p:cNvGraphicFramePr>
          <p:nvPr/>
        </p:nvGraphicFramePr>
        <p:xfrm>
          <a:off x="6326312" y="1170341"/>
          <a:ext cx="1866062" cy="400410"/>
        </p:xfrm>
        <a:graphic>
          <a:graphicData uri="http://schemas.openxmlformats.org/presentationml/2006/ole">
            <mc:AlternateContent xmlns:mc="http://schemas.openxmlformats.org/markup-compatibility/2006">
              <mc:Choice xmlns:v="urn:schemas-microsoft-com:vml" Requires="v">
                <p:oleObj spid="_x0000_s137581" name="Equation" r:id="rId6" imgW="1117600" imgH="241300" progId="Equation.DSMT4">
                  <p:embed/>
                </p:oleObj>
              </mc:Choice>
              <mc:Fallback>
                <p:oleObj name="Equation" r:id="rId6" imgW="1117600" imgH="241300" progId="Equation.DSMT4">
                  <p:embed/>
                  <p:pic>
                    <p:nvPicPr>
                      <p:cNvPr id="0" name="Picture 3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6312" y="1170341"/>
                        <a:ext cx="1866062" cy="400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矩形 23"/>
          <p:cNvSpPr/>
          <p:nvPr/>
        </p:nvSpPr>
        <p:spPr>
          <a:xfrm>
            <a:off x="293867" y="1124744"/>
            <a:ext cx="4134465" cy="523220"/>
          </a:xfrm>
          <a:prstGeom prst="rect">
            <a:avLst/>
          </a:prstGeom>
        </p:spPr>
        <p:txBody>
          <a:bodyPr wrap="none">
            <a:spAutoFit/>
          </a:bodyPr>
          <a:lstStyle/>
          <a:p>
            <a:r>
              <a:rPr lang="zh-CN" altLang="zh-CN" sz="2800" b="1" dirty="0">
                <a:solidFill>
                  <a:srgbClr val="0000FF"/>
                </a:solidFill>
                <a:latin typeface="Arial" panose="020B0604020202020204" pitchFamily="34" charset="0"/>
              </a:rPr>
              <a:t>贝叶斯估计</a:t>
            </a:r>
            <a:r>
              <a:rPr lang="zh-CN" altLang="en-US" sz="2800" b="1" dirty="0">
                <a:solidFill>
                  <a:srgbClr val="0000FF"/>
                </a:solidFill>
                <a:latin typeface="Arial" panose="020B0604020202020204" pitchFamily="34" charset="0"/>
              </a:rPr>
              <a:t>的另一种方法</a:t>
            </a:r>
            <a:endParaRPr lang="zh-CN" altLang="en-US" sz="2800" b="1" dirty="0">
              <a:solidFill>
                <a:srgbClr val="0000FF"/>
              </a:solidFill>
              <a:latin typeface="Arial" panose="020B0604020202020204" pitchFamily="34" charset="0"/>
            </a:endParaRPr>
          </a:p>
        </p:txBody>
      </p:sp>
      <p:sp>
        <p:nvSpPr>
          <p:cNvPr id="25" name="椭圆 24"/>
          <p:cNvSpPr>
            <a:spLocks noChangeArrowheads="1"/>
          </p:cNvSpPr>
          <p:nvPr/>
        </p:nvSpPr>
        <p:spPr bwMode="auto">
          <a:xfrm>
            <a:off x="5481634" y="4164317"/>
            <a:ext cx="144463" cy="287337"/>
          </a:xfrm>
          <a:prstGeom prst="ellipse">
            <a:avLst/>
          </a:prstGeom>
          <a:noFill/>
          <a:ln w="12700" cap="sq" algn="ctr">
            <a:solidFill>
              <a:srgbClr val="FF0000"/>
            </a:solidFill>
            <a:round/>
            <a:headEnd type="none" w="sm" len="sm"/>
            <a:tailEnd type="none" w="sm" len="sm"/>
          </a:ln>
        </p:spPr>
        <p:txBody>
          <a:bodyPr wrap="none"/>
          <a:lstStyle/>
          <a:p>
            <a:endParaRPr lang="zh-CN" altLang="en-US"/>
          </a:p>
        </p:txBody>
      </p:sp>
      <p:sp>
        <p:nvSpPr>
          <p:cNvPr id="26" name="椭圆 25"/>
          <p:cNvSpPr>
            <a:spLocks noChangeArrowheads="1"/>
          </p:cNvSpPr>
          <p:nvPr/>
        </p:nvSpPr>
        <p:spPr bwMode="auto">
          <a:xfrm>
            <a:off x="5634034" y="4807259"/>
            <a:ext cx="144463" cy="288925"/>
          </a:xfrm>
          <a:prstGeom prst="ellipse">
            <a:avLst/>
          </a:prstGeom>
          <a:noFill/>
          <a:ln w="12700" cap="sq" algn="ctr">
            <a:solidFill>
              <a:srgbClr val="FF0000"/>
            </a:solidFill>
            <a:round/>
            <a:headEnd type="none" w="sm" len="sm"/>
            <a:tailEnd type="none" w="sm" len="sm"/>
          </a:ln>
        </p:spPr>
        <p:txBody>
          <a:bodyPr wrap="none"/>
          <a:lstStyle/>
          <a:p>
            <a:endParaRPr lang="zh-CN" altLang="en-US"/>
          </a:p>
        </p:txBody>
      </p:sp>
      <p:sp>
        <p:nvSpPr>
          <p:cNvPr id="27" name="Rectangle 13"/>
          <p:cNvSpPr>
            <a:spLocks noChangeArrowheads="1"/>
          </p:cNvSpPr>
          <p:nvPr/>
        </p:nvSpPr>
        <p:spPr bwMode="auto">
          <a:xfrm>
            <a:off x="7320136" y="4874491"/>
            <a:ext cx="2592288" cy="369332"/>
          </a:xfrm>
          <a:prstGeom prst="rect">
            <a:avLst/>
          </a:prstGeom>
          <a:solidFill>
            <a:schemeClr val="accent6">
              <a:lumMod val="20000"/>
              <a:lumOff val="80000"/>
            </a:schemeClr>
          </a:solidFill>
          <a:ln w="12700" cap="sq">
            <a:noFill/>
            <a:miter lim="800000"/>
            <a:headEnd type="none" w="sm" len="sm"/>
            <a:tailEnd type="none" w="sm" len="sm"/>
          </a:ln>
        </p:spPr>
        <p:txBody>
          <a:bodyPr wrap="square" anchor="ctr">
            <a:spAutoFit/>
          </a:bodyPr>
          <a:lstStyle/>
          <a:p>
            <a:pPr eaLnBrk="0" hangingPunct="0"/>
            <a:r>
              <a:rPr lang="el-GR" altLang="zh-CN" i="1" dirty="0">
                <a:latin typeface="Times New Roman" panose="02020603050405020304" pitchFamily="18" charset="0"/>
                <a:ea typeface="黑体" panose="02010609060101010101" pitchFamily="49" charset="-122"/>
              </a:rPr>
              <a:t>χ</a:t>
            </a:r>
            <a:r>
              <a:rPr lang="zh-CN" altLang="zh-CN" i="1" baseline="-25000" dirty="0">
                <a:latin typeface="Times New Roman" panose="02020603050405020304" pitchFamily="18" charset="0"/>
                <a:ea typeface="黑体" panose="02010609060101010101" pitchFamily="49" charset="-122"/>
              </a:rPr>
              <a:t>i</a:t>
            </a:r>
            <a:r>
              <a:rPr lang="zh-CN" altLang="zh-CN" baseline="-25000" dirty="0">
                <a:latin typeface="Times New Roman" panose="02020603050405020304" pitchFamily="18" charset="0"/>
                <a:ea typeface="黑体" panose="02010609060101010101" pitchFamily="49" charset="-122"/>
              </a:rPr>
              <a:t> </a:t>
            </a:r>
            <a:r>
              <a:rPr lang="en-US" altLang="zh-CN" baseline="-25000"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是属于第 </a:t>
            </a:r>
            <a:r>
              <a:rPr lang="en-US" altLang="zh-CN" i="1" dirty="0" err="1">
                <a:latin typeface="Times New Roman" panose="02020603050405020304" pitchFamily="18" charset="0"/>
                <a:ea typeface="黑体" panose="02010609060101010101" pitchFamily="49" charset="-122"/>
              </a:rPr>
              <a:t>i</a:t>
            </a:r>
            <a:r>
              <a:rPr lang="en-US" altLang="zh-CN" i="1"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类的样本</a:t>
            </a:r>
            <a:endParaRPr lang="zh-CN" altLang="zh-CN" dirty="0">
              <a:latin typeface="Times New Roman" panose="02020603050405020304" pitchFamily="18" charset="0"/>
              <a:ea typeface="黑体" panose="02010609060101010101" pitchFamily="49" charset="-122"/>
            </a:endParaRPr>
          </a:p>
        </p:txBody>
      </p:sp>
      <p:sp>
        <p:nvSpPr>
          <p:cNvPr id="28" name="矩形 27"/>
          <p:cNvSpPr>
            <a:spLocks noChangeArrowheads="1"/>
          </p:cNvSpPr>
          <p:nvPr/>
        </p:nvSpPr>
        <p:spPr bwMode="auto">
          <a:xfrm>
            <a:off x="407368" y="5403231"/>
            <a:ext cx="11449272" cy="972574"/>
          </a:xfrm>
          <a:prstGeom prst="rect">
            <a:avLst/>
          </a:prstGeom>
          <a:noFill/>
          <a:ln w="9525">
            <a:noFill/>
            <a:miter lim="800000"/>
          </a:ln>
        </p:spPr>
        <p:txBody>
          <a:bodyPr wrap="square">
            <a:spAutoFit/>
          </a:bodyPr>
          <a:lstStyle/>
          <a:p>
            <a:pPr>
              <a:lnSpc>
                <a:spcPct val="130000"/>
              </a:lnSpc>
            </a:pPr>
            <a:r>
              <a:rPr lang="zh-CN" altLang="en-US" sz="2200" dirty="0">
                <a:latin typeface="Times New Roman" panose="02020603050405020304" pitchFamily="18" charset="0"/>
                <a:ea typeface="黑体" panose="02010609060101010101" pitchFamily="49" charset="-122"/>
              </a:rPr>
              <a:t>因此，我们处理的核心问题，实际上是根据一组训练样本 </a:t>
            </a:r>
            <a:r>
              <a:rPr lang="el-GR" altLang="zh-CN" sz="2200" i="1" dirty="0">
                <a:latin typeface="Times New Roman" panose="02020603050405020304" pitchFamily="18" charset="0"/>
                <a:ea typeface="黑体" panose="02010609060101010101" pitchFamily="49" charset="-122"/>
              </a:rPr>
              <a:t>χ</a:t>
            </a:r>
            <a:r>
              <a:rPr lang="en-US" altLang="zh-CN" sz="2200" i="1" baseline="-25000" dirty="0" err="1">
                <a:latin typeface="Times New Roman" panose="02020603050405020304" pitchFamily="18" charset="0"/>
                <a:ea typeface="黑体" panose="02010609060101010101" pitchFamily="49" charset="-122"/>
              </a:rPr>
              <a:t>i</a:t>
            </a:r>
            <a:r>
              <a:rPr lang="zh-CN" altLang="en-US" sz="2200" dirty="0">
                <a:latin typeface="Times New Roman" panose="02020603050405020304" pitchFamily="18" charset="0"/>
                <a:ea typeface="黑体" panose="02010609060101010101" pitchFamily="49" charset="-122"/>
              </a:rPr>
              <a:t>，估计分布 </a:t>
            </a:r>
            <a:r>
              <a:rPr lang="en-US" altLang="zh-CN" sz="2200" i="1" dirty="0">
                <a:latin typeface="Times New Roman" panose="02020603050405020304" pitchFamily="18" charset="0"/>
                <a:ea typeface="黑体" panose="02010609060101010101" pitchFamily="49" charset="-122"/>
              </a:rPr>
              <a:t>p</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x</a:t>
            </a:r>
            <a:r>
              <a:rPr lang="en-US" altLang="zh-CN" sz="2200" dirty="0">
                <a:latin typeface="Times New Roman" panose="02020603050405020304" pitchFamily="18" charset="0"/>
                <a:ea typeface="黑体" panose="02010609060101010101" pitchFamily="49" charset="-122"/>
              </a:rPr>
              <a:t>|</a:t>
            </a:r>
            <a:r>
              <a:rPr lang="el-GR" altLang="zh-CN" sz="2200" i="1" dirty="0">
                <a:latin typeface="Times New Roman" panose="02020603050405020304" pitchFamily="18" charset="0"/>
                <a:ea typeface="黑体" panose="02010609060101010101" pitchFamily="49" charset="-122"/>
              </a:rPr>
              <a:t>χ</a:t>
            </a:r>
            <a:r>
              <a:rPr lang="en-US" altLang="zh-CN" sz="2200" i="1" baseline="-25000" dirty="0" err="1">
                <a:latin typeface="Times New Roman" panose="02020603050405020304" pitchFamily="18" charset="0"/>
                <a:ea typeface="黑体" panose="02010609060101010101" pitchFamily="49" charset="-122"/>
              </a:rPr>
              <a:t>i</a:t>
            </a:r>
            <a:r>
              <a:rPr lang="en-US" altLang="zh-CN" sz="2200" dirty="0">
                <a:latin typeface="Times New Roman" panose="02020603050405020304" pitchFamily="18" charset="0"/>
                <a:ea typeface="黑体" panose="02010609060101010101" pitchFamily="49" charset="-122"/>
              </a:rPr>
              <a:t>)</a:t>
            </a:r>
            <a:r>
              <a:rPr lang="zh-CN" altLang="en-US" sz="2200" dirty="0">
                <a:latin typeface="Times New Roman" panose="02020603050405020304" pitchFamily="18" charset="0"/>
                <a:ea typeface="黑体" panose="02010609060101010101" pitchFamily="49" charset="-122"/>
              </a:rPr>
              <a:t>，简单记 </a:t>
            </a:r>
            <a:r>
              <a:rPr lang="el-GR" altLang="zh-CN" sz="2200" i="1" dirty="0">
                <a:latin typeface="Times New Roman" panose="02020603050405020304" pitchFamily="18" charset="0"/>
                <a:ea typeface="黑体" panose="02010609060101010101" pitchFamily="49" charset="-122"/>
              </a:rPr>
              <a:t>χ</a:t>
            </a:r>
            <a:r>
              <a:rPr lang="en-US" altLang="zh-CN" sz="2200" i="1" baseline="-25000" dirty="0" err="1">
                <a:latin typeface="Times New Roman" panose="02020603050405020304" pitchFamily="18" charset="0"/>
                <a:ea typeface="黑体" panose="02010609060101010101" pitchFamily="49" charset="-122"/>
              </a:rPr>
              <a:t>i</a:t>
            </a:r>
            <a:r>
              <a:rPr lang="en-US" altLang="zh-CN" sz="2200" i="1" baseline="-250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为 </a:t>
            </a:r>
            <a:r>
              <a:rPr lang="el-GR" altLang="zh-CN" sz="2200" i="1" dirty="0">
                <a:latin typeface="Times New Roman" panose="02020603050405020304" pitchFamily="18" charset="0"/>
                <a:ea typeface="黑体" panose="02010609060101010101" pitchFamily="49" charset="-122"/>
              </a:rPr>
              <a:t>χ</a:t>
            </a:r>
            <a:r>
              <a:rPr lang="zh-CN" altLang="en-US"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p</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x</a:t>
            </a:r>
            <a:r>
              <a:rPr lang="en-US" altLang="zh-CN" sz="2200" dirty="0">
                <a:latin typeface="Times New Roman" panose="02020603050405020304" pitchFamily="18" charset="0"/>
                <a:ea typeface="黑体" panose="02010609060101010101" pitchFamily="49" charset="-122"/>
              </a:rPr>
              <a:t>|</a:t>
            </a:r>
            <a:r>
              <a:rPr lang="el-GR" altLang="zh-CN" sz="2200" i="1" dirty="0">
                <a:latin typeface="Times New Roman" panose="02020603050405020304" pitchFamily="18" charset="0"/>
                <a:ea typeface="黑体" panose="02010609060101010101" pitchFamily="49" charset="-122"/>
              </a:rPr>
              <a:t>χ</a:t>
            </a:r>
            <a:r>
              <a:rPr lang="en-US" altLang="zh-CN" sz="2200" i="1" baseline="-25000" dirty="0" err="1">
                <a:latin typeface="Times New Roman" panose="02020603050405020304" pitchFamily="18" charset="0"/>
                <a:ea typeface="黑体" panose="02010609060101010101" pitchFamily="49" charset="-122"/>
              </a:rPr>
              <a:t>i</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为 </a:t>
            </a:r>
            <a:r>
              <a:rPr lang="en-US" altLang="zh-CN" sz="2200" i="1" dirty="0">
                <a:latin typeface="Times New Roman" panose="02020603050405020304" pitchFamily="18" charset="0"/>
                <a:ea typeface="黑体" panose="02010609060101010101" pitchFamily="49" charset="-122"/>
              </a:rPr>
              <a:t>p</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x</a:t>
            </a:r>
            <a:r>
              <a:rPr lang="en-US" altLang="zh-CN" sz="2200" dirty="0">
                <a:latin typeface="Times New Roman" panose="02020603050405020304" pitchFamily="18" charset="0"/>
                <a:ea typeface="黑体" panose="02010609060101010101" pitchFamily="49" charset="-122"/>
              </a:rPr>
              <a:t>|</a:t>
            </a:r>
            <a:r>
              <a:rPr lang="el-GR" altLang="zh-CN" sz="2200" i="1" dirty="0">
                <a:latin typeface="Times New Roman" panose="02020603050405020304" pitchFamily="18" charset="0"/>
                <a:ea typeface="黑体" panose="02010609060101010101" pitchFamily="49" charset="-122"/>
              </a:rPr>
              <a:t>χ</a:t>
            </a:r>
            <a:r>
              <a:rPr lang="en-US" altLang="zh-CN" sz="2200" dirty="0">
                <a:latin typeface="Times New Roman" panose="02020603050405020304" pitchFamily="18" charset="0"/>
                <a:ea typeface="黑体" panose="02010609060101010101" pitchFamily="49" charset="-122"/>
              </a:rPr>
              <a:t>)</a:t>
            </a:r>
            <a:r>
              <a:rPr lang="zh-CN" altLang="en-US" sz="2200" dirty="0">
                <a:latin typeface="Times New Roman" panose="02020603050405020304" pitchFamily="18" charset="0"/>
                <a:ea typeface="黑体" panose="02010609060101010101" pitchFamily="49" charset="-122"/>
              </a:rPr>
              <a:t>。</a:t>
            </a:r>
            <a:endParaRPr lang="zh-CN" altLang="en-US" sz="2200" dirty="0">
              <a:latin typeface="Times New Roman" panose="02020603050405020304" pitchFamily="18" charset="0"/>
              <a:ea typeface="黑体" panose="02010609060101010101" pitchFamily="49" charset="-122"/>
            </a:endParaRPr>
          </a:p>
        </p:txBody>
      </p:sp>
      <p:cxnSp>
        <p:nvCxnSpPr>
          <p:cNvPr id="29" name="直接箭头连接符 28"/>
          <p:cNvCxnSpPr/>
          <p:nvPr/>
        </p:nvCxnSpPr>
        <p:spPr>
          <a:xfrm flipH="1" flipV="1">
            <a:off x="6087905" y="4790027"/>
            <a:ext cx="3176447" cy="68499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Object 12"/>
          <p:cNvGraphicFramePr>
            <a:graphicFrameLocks noChangeAspect="1"/>
          </p:cNvGraphicFramePr>
          <p:nvPr/>
        </p:nvGraphicFramePr>
        <p:xfrm>
          <a:off x="4235474" y="1631756"/>
          <a:ext cx="3814538" cy="1805152"/>
        </p:xfrm>
        <a:graphic>
          <a:graphicData uri="http://schemas.openxmlformats.org/presentationml/2006/ole">
            <mc:AlternateContent xmlns:mc="http://schemas.openxmlformats.org/markup-compatibility/2006">
              <mc:Choice xmlns:v="urn:schemas-microsoft-com:vml" Requires="v">
                <p:oleObj spid="_x0000_s138710" name="Equation" r:id="rId1" imgW="1879600" imgH="889000" progId="Equation.DSMT4">
                  <p:embed/>
                </p:oleObj>
              </mc:Choice>
              <mc:Fallback>
                <p:oleObj name="Equation" r:id="rId1" imgW="1879600" imgH="889000" progId="Equation.DSMT4">
                  <p:embed/>
                  <p:pic>
                    <p:nvPicPr>
                      <p:cNvPr id="0" name="Picture 4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5474" y="1631756"/>
                        <a:ext cx="3814538" cy="1805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14.4 </a:t>
            </a:r>
            <a:r>
              <a:rPr lang="zh-CN" altLang="zh-CN" dirty="0"/>
              <a:t>贝叶斯估计</a:t>
            </a:r>
            <a:endParaRPr lang="zh-CN" altLang="zh-CN" dirty="0"/>
          </a:p>
        </p:txBody>
      </p:sp>
      <p:sp>
        <p:nvSpPr>
          <p:cNvPr id="22" name="矩形 21"/>
          <p:cNvSpPr/>
          <p:nvPr/>
        </p:nvSpPr>
        <p:spPr>
          <a:xfrm>
            <a:off x="4742214" y="1126809"/>
            <a:ext cx="4378122" cy="452432"/>
          </a:xfrm>
          <a:prstGeom prst="rect">
            <a:avLst/>
          </a:prstGeom>
        </p:spPr>
        <p:txBody>
          <a:bodyPr wrap="none">
            <a:spAutoFit/>
          </a:bodyPr>
          <a:lstStyle/>
          <a:p>
            <a:pPr>
              <a:lnSpc>
                <a:spcPct val="130000"/>
              </a:lnSpc>
            </a:pPr>
            <a:r>
              <a:rPr lang="en-US" altLang="zh-CN" dirty="0">
                <a:latin typeface="Times New Roman" panose="02020603050405020304" pitchFamily="18" charset="0"/>
                <a:ea typeface="黑体" panose="02010609060101010101" pitchFamily="49" charset="-122"/>
                <a:sym typeface="Wingdings" panose="05000000000000000000" pitchFamily="2" charset="2"/>
              </a:rPr>
              <a:t>(</a:t>
            </a:r>
            <a:r>
              <a:rPr lang="zh-CN" altLang="zh-CN" dirty="0">
                <a:latin typeface="Times New Roman" panose="02020603050405020304" pitchFamily="18" charset="0"/>
                <a:ea typeface="黑体" panose="02010609060101010101" pitchFamily="49" charset="-122"/>
              </a:rPr>
              <a:t>平方误差损失</a:t>
            </a:r>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条件</a:t>
            </a:r>
            <a:r>
              <a:rPr lang="zh-CN" altLang="zh-CN" dirty="0">
                <a:latin typeface="Times New Roman" panose="02020603050405020304" pitchFamily="18" charset="0"/>
                <a:ea typeface="黑体" panose="02010609060101010101" pitchFamily="49" charset="-122"/>
              </a:rPr>
              <a:t>下</a:t>
            </a:r>
            <a:r>
              <a:rPr lang="en-US" altLang="zh-CN" dirty="0">
                <a:latin typeface="Times New Roman" panose="02020603050405020304" pitchFamily="18" charset="0"/>
                <a:ea typeface="黑体" panose="02010609060101010101" pitchFamily="49" charset="-122"/>
              </a:rPr>
              <a:t>)</a:t>
            </a:r>
            <a:endParaRPr lang="zh-CN" altLang="en-US" dirty="0"/>
          </a:p>
        </p:txBody>
      </p:sp>
      <p:graphicFrame>
        <p:nvGraphicFramePr>
          <p:cNvPr id="23" name="Object 161"/>
          <p:cNvGraphicFramePr>
            <a:graphicFrameLocks noChangeAspect="1"/>
          </p:cNvGraphicFramePr>
          <p:nvPr/>
        </p:nvGraphicFramePr>
        <p:xfrm>
          <a:off x="6326312" y="1093919"/>
          <a:ext cx="1866062" cy="400410"/>
        </p:xfrm>
        <a:graphic>
          <a:graphicData uri="http://schemas.openxmlformats.org/presentationml/2006/ole">
            <mc:AlternateContent xmlns:mc="http://schemas.openxmlformats.org/markup-compatibility/2006">
              <mc:Choice xmlns:v="urn:schemas-microsoft-com:vml" Requires="v">
                <p:oleObj spid="_x0000_s138711" name="Equation" r:id="rId4" imgW="1117600" imgH="241300" progId="Equation.DSMT4">
                  <p:embed/>
                </p:oleObj>
              </mc:Choice>
              <mc:Fallback>
                <p:oleObj name="Equation" r:id="rId4" imgW="1117600" imgH="241300" progId="Equation.DSMT4">
                  <p:embed/>
                  <p:pic>
                    <p:nvPicPr>
                      <p:cNvPr id="0" name="Picture 4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6312" y="1093919"/>
                        <a:ext cx="1866062" cy="400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矩形 23"/>
          <p:cNvSpPr/>
          <p:nvPr/>
        </p:nvSpPr>
        <p:spPr>
          <a:xfrm>
            <a:off x="293867" y="1048322"/>
            <a:ext cx="4134465" cy="652486"/>
          </a:xfrm>
          <a:prstGeom prst="rect">
            <a:avLst/>
          </a:prstGeom>
        </p:spPr>
        <p:txBody>
          <a:bodyPr wrap="none">
            <a:spAutoFit/>
          </a:bodyPr>
          <a:lstStyle/>
          <a:p>
            <a:pPr>
              <a:lnSpc>
                <a:spcPct val="130000"/>
              </a:lnSpc>
            </a:pPr>
            <a:r>
              <a:rPr lang="zh-CN" altLang="zh-CN" sz="2800" b="1" dirty="0">
                <a:solidFill>
                  <a:srgbClr val="0000FF"/>
                </a:solidFill>
                <a:latin typeface="Arial" panose="020B0604020202020204" pitchFamily="34" charset="0"/>
              </a:rPr>
              <a:t>贝叶斯估计</a:t>
            </a:r>
            <a:r>
              <a:rPr lang="zh-CN" altLang="en-US" sz="2800" b="1" dirty="0">
                <a:solidFill>
                  <a:srgbClr val="0000FF"/>
                </a:solidFill>
                <a:latin typeface="Arial" panose="020B0604020202020204" pitchFamily="34" charset="0"/>
              </a:rPr>
              <a:t>的另一种方法</a:t>
            </a:r>
            <a:endParaRPr lang="zh-CN" altLang="en-US" sz="2800" b="1" dirty="0">
              <a:solidFill>
                <a:srgbClr val="0000FF"/>
              </a:solidFill>
              <a:latin typeface="Arial" panose="020B0604020202020204" pitchFamily="34" charset="0"/>
            </a:endParaRPr>
          </a:p>
        </p:txBody>
      </p:sp>
      <p:sp>
        <p:nvSpPr>
          <p:cNvPr id="33" name="Text Box 11"/>
          <p:cNvSpPr txBox="1">
            <a:spLocks noChangeArrowheads="1"/>
          </p:cNvSpPr>
          <p:nvPr/>
        </p:nvSpPr>
        <p:spPr bwMode="auto">
          <a:xfrm>
            <a:off x="9698102" y="2014715"/>
            <a:ext cx="1553033" cy="812530"/>
          </a:xfrm>
          <a:prstGeom prst="rect">
            <a:avLst/>
          </a:prstGeom>
          <a:solidFill>
            <a:schemeClr val="accent6">
              <a:lumMod val="20000"/>
              <a:lumOff val="80000"/>
            </a:schemeClr>
          </a:solidFill>
          <a:ln w="12700" cap="sq">
            <a:noFill/>
            <a:miter lim="800000"/>
            <a:headEnd type="none" w="sm" len="sm"/>
            <a:tailEnd type="none" w="sm" len="sm"/>
          </a:ln>
        </p:spPr>
        <p:txBody>
          <a:bodyPr wrap="square">
            <a:spAutoFit/>
          </a:bodyPr>
          <a:lstStyle/>
          <a:p>
            <a:pPr algn="ctr">
              <a:lnSpc>
                <a:spcPct val="130000"/>
              </a:lnSpc>
            </a:pPr>
            <a:r>
              <a:rPr lang="zh-CN" altLang="en-US" dirty="0">
                <a:latin typeface="Times New Roman" panose="02020603050405020304" pitchFamily="18" charset="0"/>
                <a:ea typeface="黑体" panose="02010609060101010101" pitchFamily="49" charset="-122"/>
              </a:rPr>
              <a:t>贝叶斯估计的核心公式</a:t>
            </a:r>
            <a:endParaRPr lang="zh-CN" altLang="en-US" dirty="0">
              <a:latin typeface="Times New Roman" panose="02020603050405020304" pitchFamily="18" charset="0"/>
              <a:ea typeface="黑体" panose="02010609060101010101" pitchFamily="49" charset="-122"/>
            </a:endParaRPr>
          </a:p>
        </p:txBody>
      </p:sp>
      <p:sp>
        <p:nvSpPr>
          <p:cNvPr id="37" name="矩形 36"/>
          <p:cNvSpPr/>
          <p:nvPr/>
        </p:nvSpPr>
        <p:spPr>
          <a:xfrm>
            <a:off x="9540624" y="3478816"/>
            <a:ext cx="2255128" cy="1172629"/>
          </a:xfrm>
          <a:prstGeom prst="rect">
            <a:avLst/>
          </a:prstGeom>
          <a:solidFill>
            <a:schemeClr val="accent6">
              <a:lumMod val="20000"/>
              <a:lumOff val="80000"/>
            </a:schemeClr>
          </a:solidFill>
        </p:spPr>
        <p:txBody>
          <a:bodyPr wrap="square">
            <a:spAutoFit/>
          </a:bodyPr>
          <a:lstStyle/>
          <a:p>
            <a:pPr algn="just">
              <a:lnSpc>
                <a:spcPct val="130000"/>
              </a:lnSpc>
              <a:defRPr/>
            </a:pPr>
            <a:r>
              <a:rPr kumimoji="1" lang="zh-CN" altLang="en-US" dirty="0">
                <a:latin typeface="Times New Roman" panose="02020603050405020304" pitchFamily="18" charset="0"/>
                <a:ea typeface="黑体" panose="02010609060101010101" pitchFamily="49" charset="-122"/>
              </a:rPr>
              <a:t>将观测样本转化为后验概率</a:t>
            </a:r>
            <a:r>
              <a:rPr kumimoji="1" lang="en-US" altLang="zh-CN" dirty="0">
                <a:latin typeface="Times New Roman" panose="02020603050405020304" pitchFamily="18" charset="0"/>
                <a:ea typeface="黑体" panose="02010609060101010101" pitchFamily="49" charset="-122"/>
              </a:rPr>
              <a:t>p(</a:t>
            </a:r>
            <a:r>
              <a:rPr kumimoji="1" lang="en-US" altLang="zh-CN"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dirty="0">
                <a:latin typeface="Times New Roman" panose="02020603050405020304" pitchFamily="18" charset="0"/>
                <a:ea typeface="黑体" panose="02010609060101010101" pitchFamily="49" charset="-122"/>
              </a:rPr>
              <a:t>|</a:t>
            </a:r>
            <a:r>
              <a:rPr kumimoji="1" lang="el-GR" altLang="zh-CN" dirty="0">
                <a:latin typeface="Times New Roman" panose="02020603050405020304" pitchFamily="18" charset="0"/>
                <a:ea typeface="黑体" panose="02010609060101010101" pitchFamily="49" charset="-122"/>
                <a:cs typeface="Times New Roman" panose="02020603050405020304" pitchFamily="18" charset="0"/>
              </a:rPr>
              <a:t> χ</a:t>
            </a:r>
            <a:r>
              <a:rPr kumimoji="1" lang="en-US" altLang="zh-CN" dirty="0">
                <a:latin typeface="Times New Roman" panose="02020603050405020304" pitchFamily="18" charset="0"/>
                <a:ea typeface="黑体" panose="02010609060101010101" pitchFamily="49" charset="-122"/>
              </a:rPr>
              <a:t>)</a:t>
            </a:r>
            <a:r>
              <a:rPr kumimoji="1" lang="zh-CN" altLang="en-US" dirty="0">
                <a:latin typeface="Times New Roman" panose="02020603050405020304" pitchFamily="18" charset="0"/>
                <a:ea typeface="黑体" panose="02010609060101010101" pitchFamily="49" charset="-122"/>
              </a:rPr>
              <a:t>，</a:t>
            </a:r>
            <a:r>
              <a:rPr lang="zh-CN" altLang="en-US" dirty="0">
                <a:latin typeface="Times New Roman" panose="02020603050405020304" pitchFamily="18" charset="0"/>
                <a:ea typeface="黑体" panose="02010609060101010101" pitchFamily="49" charset="-122"/>
              </a:rPr>
              <a:t>希望其</a:t>
            </a:r>
            <a:r>
              <a:rPr kumimoji="1" lang="zh-CN" altLang="en-US" dirty="0">
                <a:latin typeface="Times New Roman" panose="02020603050405020304" pitchFamily="18" charset="0"/>
                <a:ea typeface="黑体" panose="02010609060101010101" pitchFamily="49" charset="-122"/>
              </a:rPr>
              <a:t>尖峰值逼近真值</a:t>
            </a:r>
            <a:endParaRPr kumimoji="1" lang="en-US" altLang="zh-CN" dirty="0">
              <a:latin typeface="Times New Roman" panose="02020603050405020304" pitchFamily="18" charset="0"/>
              <a:ea typeface="黑体" panose="02010609060101010101" pitchFamily="49" charset="-122"/>
            </a:endParaRPr>
          </a:p>
        </p:txBody>
      </p:sp>
      <p:cxnSp>
        <p:nvCxnSpPr>
          <p:cNvPr id="42" name="直接箭头连接符 41"/>
          <p:cNvCxnSpPr/>
          <p:nvPr/>
        </p:nvCxnSpPr>
        <p:spPr>
          <a:xfrm flipV="1">
            <a:off x="8112826" y="1731388"/>
            <a:ext cx="791486" cy="53528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9022198" y="1453332"/>
            <a:ext cx="2834430" cy="413703"/>
          </a:xfrm>
          <a:prstGeom prst="rect">
            <a:avLst/>
          </a:prstGeom>
          <a:ln>
            <a:noFill/>
          </a:ln>
        </p:spPr>
        <p:txBody>
          <a:bodyPr wrap="none">
            <a:spAutoFit/>
          </a:bodyPr>
          <a:lstStyle/>
          <a:p>
            <a:pPr>
              <a:lnSpc>
                <a:spcPct val="130000"/>
              </a:lnSpc>
            </a:pPr>
            <a:r>
              <a:rPr lang="el-GR"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θ</a:t>
            </a:r>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是有一定分布的随机变量</a:t>
            </a:r>
            <a:endParaRPr lang="zh-CN" altLang="en-US" dirty="0">
              <a:solidFill>
                <a:srgbClr val="FF0000"/>
              </a:solidFill>
              <a:latin typeface="Times New Roman" panose="02020603050405020304" pitchFamily="18" charset="0"/>
              <a:ea typeface="黑体" panose="02010609060101010101" pitchFamily="49" charset="-122"/>
            </a:endParaRPr>
          </a:p>
        </p:txBody>
      </p:sp>
      <p:sp>
        <p:nvSpPr>
          <p:cNvPr id="50" name="Rectangle 16"/>
          <p:cNvSpPr>
            <a:spLocks noChangeArrowheads="1"/>
          </p:cNvSpPr>
          <p:nvPr/>
        </p:nvSpPr>
        <p:spPr bwMode="auto">
          <a:xfrm>
            <a:off x="329537" y="5865983"/>
            <a:ext cx="11656772" cy="532453"/>
          </a:xfrm>
          <a:prstGeom prst="rect">
            <a:avLst/>
          </a:prstGeom>
          <a:solidFill>
            <a:schemeClr val="bg1"/>
          </a:solidFill>
          <a:ln w="9525">
            <a:noFill/>
            <a:miter lim="800000"/>
          </a:ln>
        </p:spPr>
        <p:txBody>
          <a:bodyPr wrap="square">
            <a:spAutoFit/>
          </a:bodyPr>
          <a:lstStyle/>
          <a:p>
            <a:pPr>
              <a:lnSpc>
                <a:spcPct val="130000"/>
              </a:lnSpc>
            </a:pP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思路：如果</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条件概率密度形式已知，则利用已有训练样本，可</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通过</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p</a:t>
            </a:r>
            <a:r>
              <a:rPr lang="en-US" altLang="en-US" sz="2200" dirty="0">
                <a:latin typeface="Times New Roman" panose="02020603050405020304" pitchFamily="18" charset="0"/>
                <a:ea typeface="黑体" panose="02010609060101010101" pitchFamily="49" charset="-122"/>
                <a:cs typeface="Times New Roman" panose="02020603050405020304" pitchFamily="18" charset="0"/>
              </a:rPr>
              <a:t>(</a:t>
            </a:r>
            <a:r>
              <a:rPr lang="en-US" altLang="en-US" sz="2200" i="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en-US" sz="2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l-GR" altLang="en-US" sz="2200" i="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χ</a:t>
            </a:r>
            <a:r>
              <a:rPr lang="en-US" altLang="en-US" sz="2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 对</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p</a:t>
            </a:r>
            <a:r>
              <a:rPr lang="en-US" altLang="en-US" sz="2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x</a:t>
            </a:r>
            <a:r>
              <a:rPr lang="en-US" altLang="en-US" sz="2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l-GR" altLang="en-US" sz="2200" i="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χ</a:t>
            </a:r>
            <a:r>
              <a:rPr lang="en-US" altLang="en-US" sz="2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进行估计。</a:t>
            </a:r>
            <a:endParaRPr lang="zh-CN" altLang="en-US" sz="2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endParaRPr>
          </a:p>
        </p:txBody>
      </p:sp>
      <p:graphicFrame>
        <p:nvGraphicFramePr>
          <p:cNvPr id="51" name="Object 4"/>
          <p:cNvGraphicFramePr>
            <a:graphicFrameLocks noChangeAspect="1"/>
          </p:cNvGraphicFramePr>
          <p:nvPr/>
        </p:nvGraphicFramePr>
        <p:xfrm>
          <a:off x="4235847" y="3726615"/>
          <a:ext cx="3372286" cy="894836"/>
        </p:xfrm>
        <a:graphic>
          <a:graphicData uri="http://schemas.openxmlformats.org/presentationml/2006/ole">
            <mc:AlternateContent xmlns:mc="http://schemas.openxmlformats.org/markup-compatibility/2006">
              <mc:Choice xmlns:v="urn:schemas-microsoft-com:vml" Requires="v">
                <p:oleObj spid="_x0000_s138712" name="Equation" r:id="rId6" imgW="1854200" imgH="482600" progId="Equation.DSMT4">
                  <p:embed/>
                </p:oleObj>
              </mc:Choice>
              <mc:Fallback>
                <p:oleObj name="Equation" r:id="rId6" imgW="1854200" imgH="482600" progId="Equation.DSMT4">
                  <p:embed/>
                  <p:pic>
                    <p:nvPicPr>
                      <p:cNvPr id="0" name="Picture 44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35847" y="3726615"/>
                        <a:ext cx="3372286" cy="8948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 name="对象 51"/>
          <p:cNvGraphicFramePr>
            <a:graphicFrameLocks noChangeAspect="1"/>
          </p:cNvGraphicFramePr>
          <p:nvPr/>
        </p:nvGraphicFramePr>
        <p:xfrm>
          <a:off x="4235474" y="4911158"/>
          <a:ext cx="2852646" cy="802306"/>
        </p:xfrm>
        <a:graphic>
          <a:graphicData uri="http://schemas.openxmlformats.org/presentationml/2006/ole">
            <mc:AlternateContent xmlns:mc="http://schemas.openxmlformats.org/markup-compatibility/2006">
              <mc:Choice xmlns:v="urn:schemas-microsoft-com:vml" Requires="v">
                <p:oleObj spid="_x0000_s138713" name="Equation" r:id="rId8" imgW="1511300" imgH="431800" progId="Equation.DSMT4">
                  <p:embed/>
                </p:oleObj>
              </mc:Choice>
              <mc:Fallback>
                <p:oleObj name="Equation" r:id="rId8" imgW="1511300" imgH="431800" progId="Equation.DSMT4">
                  <p:embed/>
                  <p:pic>
                    <p:nvPicPr>
                      <p:cNvPr id="0" name="Picture 4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35474" y="4911158"/>
                        <a:ext cx="2852646" cy="8023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 name="Rectangle 9"/>
          <p:cNvSpPr>
            <a:spLocks noChangeArrowheads="1"/>
          </p:cNvSpPr>
          <p:nvPr/>
        </p:nvSpPr>
        <p:spPr bwMode="auto">
          <a:xfrm>
            <a:off x="45955" y="1715096"/>
            <a:ext cx="4382377" cy="470463"/>
          </a:xfrm>
          <a:prstGeom prst="rect">
            <a:avLst/>
          </a:prstGeom>
          <a:noFill/>
          <a:ln w="9525">
            <a:noFill/>
            <a:miter lim="800000"/>
          </a:ln>
        </p:spPr>
        <p:txBody>
          <a:bodyPr lIns="0" tIns="0" rIns="0" bIns="0"/>
          <a:lstStyle/>
          <a:p>
            <a:pPr>
              <a:lnSpc>
                <a:spcPct val="130000"/>
              </a:lnSpc>
              <a:defRPr/>
            </a:pPr>
            <a:r>
              <a:rPr kumimoji="1" lang="en-US" altLang="zh-CN" sz="2200" dirty="0">
                <a:solidFill>
                  <a:srgbClr val="004000"/>
                </a:solidFill>
                <a:latin typeface="Times New Roman" panose="02020603050405020304" pitchFamily="18" charset="0"/>
                <a:ea typeface="黑体" panose="02010609060101010101" pitchFamily="49" charset="-122"/>
                <a:sym typeface="Symbol" panose="05050102010706020507" pitchFamily="18" charset="2"/>
              </a:rPr>
              <a:t>     </a:t>
            </a:r>
            <a:r>
              <a:rPr kumimoji="1" lang="zh-CN" altLang="en-US" sz="2200" dirty="0">
                <a:latin typeface="Times New Roman" panose="02020603050405020304" pitchFamily="18" charset="0"/>
                <a:ea typeface="黑体" panose="02010609060101010101" pitchFamily="49" charset="-122"/>
                <a:sym typeface="Symbol" panose="05050102010706020507" pitchFamily="18" charset="2"/>
              </a:rPr>
              <a:t>直接估计条件概率密度函数：</a:t>
            </a:r>
            <a:endParaRPr kumimoji="1" lang="en-US" altLang="zh-CN" sz="2400" b="1" dirty="0">
              <a:solidFill>
                <a:srgbClr val="FF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4" name="右弧形箭头 53"/>
          <p:cNvSpPr/>
          <p:nvPr/>
        </p:nvSpPr>
        <p:spPr>
          <a:xfrm flipV="1">
            <a:off x="9020611" y="4340902"/>
            <a:ext cx="360040" cy="1032314"/>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5" name="右弧形箭头 54"/>
          <p:cNvSpPr/>
          <p:nvPr/>
        </p:nvSpPr>
        <p:spPr>
          <a:xfrm flipV="1">
            <a:off x="8964345" y="2727936"/>
            <a:ext cx="360040" cy="98909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nvGrpSpPr>
        <p:grpSpPr>
          <a:xfrm>
            <a:off x="5072990" y="3106099"/>
            <a:ext cx="7046391" cy="3115774"/>
            <a:chOff x="970160" y="3228677"/>
            <a:chExt cx="7129463" cy="3368675"/>
          </a:xfrm>
        </p:grpSpPr>
        <p:pic>
          <p:nvPicPr>
            <p:cNvPr id="64" name="Picture 107"/>
            <p:cNvPicPr>
              <a:picLocks noChangeAspect="1" noChangeArrowheads="1"/>
            </p:cNvPicPr>
            <p:nvPr/>
          </p:nvPicPr>
          <p:blipFill>
            <a:blip r:embed="rId1" cstate="print"/>
            <a:srcRect/>
            <a:stretch>
              <a:fillRect/>
            </a:stretch>
          </p:blipFill>
          <p:spPr bwMode="auto">
            <a:xfrm>
              <a:off x="970160" y="3228677"/>
              <a:ext cx="7129463" cy="3368675"/>
            </a:xfrm>
            <a:prstGeom prst="rect">
              <a:avLst/>
            </a:prstGeom>
            <a:noFill/>
          </p:spPr>
        </p:pic>
        <p:graphicFrame>
          <p:nvGraphicFramePr>
            <p:cNvPr id="65" name="Object 8"/>
            <p:cNvGraphicFramePr>
              <a:graphicFrameLocks noChangeAspect="1"/>
            </p:cNvGraphicFramePr>
            <p:nvPr/>
          </p:nvGraphicFramePr>
          <p:xfrm>
            <a:off x="5364088" y="4005064"/>
            <a:ext cx="264989" cy="288032"/>
          </p:xfrm>
          <a:graphic>
            <a:graphicData uri="http://schemas.openxmlformats.org/presentationml/2006/ole">
              <mc:AlternateContent xmlns:mc="http://schemas.openxmlformats.org/markup-compatibility/2006">
                <mc:Choice xmlns:v="urn:schemas-microsoft-com:vml" Requires="v">
                  <p:oleObj spid="_x0000_s139842" name="Equation" r:id="rId2" imgW="139700" imgH="152400" progId="Equation.DSMT4">
                    <p:embed/>
                  </p:oleObj>
                </mc:Choice>
                <mc:Fallback>
                  <p:oleObj name="Equation" r:id="rId2" imgW="139700" imgH="152400" progId="Equation.DSMT4">
                    <p:embed/>
                    <p:pic>
                      <p:nvPicPr>
                        <p:cNvPr id="0" name="Picture 5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4005064"/>
                          <a:ext cx="264989" cy="2880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9" name="图片 8"/>
          <p:cNvPicPr>
            <a:picLocks noChangeAspect="1"/>
          </p:cNvPicPr>
          <p:nvPr/>
        </p:nvPicPr>
        <p:blipFill>
          <a:blip r:embed="rId4"/>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14.4 </a:t>
            </a:r>
            <a:r>
              <a:rPr lang="zh-CN" altLang="zh-CN" dirty="0"/>
              <a:t>贝叶斯估计</a:t>
            </a:r>
            <a:endParaRPr lang="zh-CN" altLang="zh-CN" dirty="0"/>
          </a:p>
        </p:txBody>
      </p:sp>
      <p:sp>
        <p:nvSpPr>
          <p:cNvPr id="24" name="矩形 23"/>
          <p:cNvSpPr/>
          <p:nvPr/>
        </p:nvSpPr>
        <p:spPr>
          <a:xfrm>
            <a:off x="293867" y="1048322"/>
            <a:ext cx="4134465" cy="652486"/>
          </a:xfrm>
          <a:prstGeom prst="rect">
            <a:avLst/>
          </a:prstGeom>
        </p:spPr>
        <p:txBody>
          <a:bodyPr wrap="none">
            <a:spAutoFit/>
          </a:bodyPr>
          <a:lstStyle/>
          <a:p>
            <a:pPr>
              <a:lnSpc>
                <a:spcPct val="130000"/>
              </a:lnSpc>
            </a:pPr>
            <a:r>
              <a:rPr lang="zh-CN" altLang="zh-CN" sz="2800" b="1" dirty="0">
                <a:solidFill>
                  <a:srgbClr val="0000FF"/>
                </a:solidFill>
                <a:latin typeface="Arial" panose="020B0604020202020204" pitchFamily="34" charset="0"/>
              </a:rPr>
              <a:t>贝叶斯估计</a:t>
            </a:r>
            <a:r>
              <a:rPr lang="zh-CN" altLang="en-US" sz="2800" b="1" dirty="0">
                <a:solidFill>
                  <a:srgbClr val="0000FF"/>
                </a:solidFill>
                <a:latin typeface="Arial" panose="020B0604020202020204" pitchFamily="34" charset="0"/>
              </a:rPr>
              <a:t>与贝叶斯决策</a:t>
            </a:r>
            <a:endParaRPr lang="zh-CN" altLang="en-US" sz="2800" b="1" dirty="0">
              <a:solidFill>
                <a:srgbClr val="0000FF"/>
              </a:solidFill>
              <a:latin typeface="Arial" panose="020B0604020202020204" pitchFamily="34" charset="0"/>
            </a:endParaRPr>
          </a:p>
        </p:txBody>
      </p:sp>
      <p:sp>
        <p:nvSpPr>
          <p:cNvPr id="58" name="Text Box 3"/>
          <p:cNvSpPr txBox="1">
            <a:spLocks noChangeArrowheads="1"/>
          </p:cNvSpPr>
          <p:nvPr/>
        </p:nvSpPr>
        <p:spPr bwMode="auto">
          <a:xfrm>
            <a:off x="293868" y="1882391"/>
            <a:ext cx="4571386" cy="3634841"/>
          </a:xfrm>
          <a:prstGeom prst="rect">
            <a:avLst/>
          </a:prstGeom>
          <a:solidFill>
            <a:schemeClr val="accent6">
              <a:lumMod val="20000"/>
              <a:lumOff val="80000"/>
            </a:schemeClr>
          </a:solidFill>
          <a:ln w="9525">
            <a:noFill/>
            <a:miter lim="800000"/>
          </a:ln>
        </p:spPr>
        <p:txBody>
          <a:bodyPr wrap="square">
            <a:spAutoFit/>
          </a:bodyPr>
          <a:lstStyle/>
          <a:p>
            <a:pPr algn="l">
              <a:lnSpc>
                <a:spcPct val="130000"/>
              </a:lnSpc>
            </a:pPr>
            <a:r>
              <a:rPr kumimoji="1" lang="en-US" altLang="zh-CN" sz="2200" b="1" dirty="0" err="1">
                <a:solidFill>
                  <a:srgbClr val="FF0000"/>
                </a:solidFill>
                <a:latin typeface="Times New Roman" panose="02020603050405020304" pitchFamily="18" charset="0"/>
                <a:ea typeface="黑体" panose="02010609060101010101" pitchFamily="49" charset="-122"/>
              </a:rPr>
              <a:t>Bayes</a:t>
            </a:r>
            <a:r>
              <a:rPr kumimoji="1" lang="zh-CN" altLang="en-US" sz="2200" b="1" dirty="0">
                <a:solidFill>
                  <a:srgbClr val="FF0000"/>
                </a:solidFill>
                <a:latin typeface="Times New Roman" panose="02020603050405020304" pitchFamily="18" charset="0"/>
                <a:ea typeface="黑体" panose="02010609060101010101" pitchFamily="49" charset="-122"/>
              </a:rPr>
              <a:t>决策   </a:t>
            </a:r>
            <a:endParaRPr kumimoji="1" lang="en-US" altLang="zh-CN" sz="2200" b="1" dirty="0">
              <a:solidFill>
                <a:srgbClr val="FF0000"/>
              </a:solidFill>
              <a:latin typeface="Times New Roman" panose="02020603050405020304" pitchFamily="18" charset="0"/>
              <a:ea typeface="黑体" panose="02010609060101010101" pitchFamily="49" charset="-122"/>
            </a:endParaRPr>
          </a:p>
          <a:p>
            <a:pPr algn="l">
              <a:lnSpc>
                <a:spcPct val="130000"/>
              </a:lnSpc>
              <a:spcBef>
                <a:spcPts val="600"/>
              </a:spcBef>
            </a:pPr>
            <a:r>
              <a:rPr kumimoji="1" lang="zh-CN" altLang="en-US" sz="2200" dirty="0">
                <a:latin typeface="Times New Roman" panose="02020603050405020304" pitchFamily="18" charset="0"/>
                <a:ea typeface="黑体" panose="02010609060101010101" pitchFamily="49" charset="-122"/>
              </a:rPr>
              <a:t>确定 </a:t>
            </a:r>
            <a:r>
              <a:rPr kumimoji="1" lang="en-US" altLang="zh-CN" sz="2200" i="1" dirty="0">
                <a:latin typeface="Times New Roman" panose="02020603050405020304" pitchFamily="18" charset="0"/>
                <a:ea typeface="黑体" panose="02010609060101010101" pitchFamily="49" charset="-122"/>
              </a:rPr>
              <a:t>x</a:t>
            </a:r>
            <a:r>
              <a:rPr kumimoji="1" lang="en-US" altLang="zh-CN" sz="2200" dirty="0">
                <a:latin typeface="Times New Roman" panose="02020603050405020304" pitchFamily="18" charset="0"/>
                <a:ea typeface="黑体" panose="02010609060101010101" pitchFamily="49" charset="-122"/>
              </a:rPr>
              <a:t> </a:t>
            </a:r>
            <a:r>
              <a:rPr kumimoji="1" lang="zh-CN" altLang="en-US" sz="2200" dirty="0">
                <a:latin typeface="Times New Roman" panose="02020603050405020304" pitchFamily="18" charset="0"/>
                <a:ea typeface="黑体" panose="02010609060101010101" pitchFamily="49" charset="-122"/>
              </a:rPr>
              <a:t>的真实状态 </a:t>
            </a:r>
            <a:r>
              <a:rPr kumimoji="1" lang="zh-CN" altLang="en-US" sz="2200" i="1"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200" i="1" baseline="-25000" dirty="0" err="1">
                <a:latin typeface="Times New Roman" panose="02020603050405020304" pitchFamily="18" charset="0"/>
                <a:ea typeface="黑体" panose="02010609060101010101" pitchFamily="49" charset="-122"/>
                <a:sym typeface="Symbol" panose="05050102010706020507" pitchFamily="18" charset="2"/>
              </a:rPr>
              <a:t>i</a:t>
            </a:r>
            <a:r>
              <a:rPr kumimoji="1" lang="en-US" altLang="zh-CN" sz="2200" dirty="0">
                <a:latin typeface="Times New Roman" panose="02020603050405020304" pitchFamily="18" charset="0"/>
                <a:ea typeface="黑体" panose="02010609060101010101" pitchFamily="49" charset="-122"/>
              </a:rPr>
              <a:t> </a:t>
            </a:r>
            <a:r>
              <a:rPr kumimoji="1" lang="zh-CN" altLang="en-US" sz="2200" dirty="0">
                <a:latin typeface="Times New Roman" panose="02020603050405020304" pitchFamily="18" charset="0"/>
                <a:ea typeface="黑体" panose="02010609060101010101" pitchFamily="49" charset="-122"/>
              </a:rPr>
              <a:t>（模式类） </a:t>
            </a:r>
            <a:endParaRPr kumimoji="1" lang="zh-CN" altLang="en-US" sz="2200" dirty="0">
              <a:latin typeface="Times New Roman" panose="02020603050405020304" pitchFamily="18" charset="0"/>
              <a:ea typeface="黑体" panose="02010609060101010101" pitchFamily="49" charset="-122"/>
            </a:endParaRPr>
          </a:p>
          <a:p>
            <a:pPr algn="l">
              <a:lnSpc>
                <a:spcPct val="130000"/>
              </a:lnSpc>
              <a:spcBef>
                <a:spcPts val="1800"/>
              </a:spcBef>
            </a:pPr>
            <a:r>
              <a:rPr kumimoji="1" lang="en-US" altLang="zh-CN" sz="2200" b="1" dirty="0" err="1">
                <a:solidFill>
                  <a:srgbClr val="FF0000"/>
                </a:solidFill>
                <a:latin typeface="Times New Roman" panose="02020603050405020304" pitchFamily="18" charset="0"/>
                <a:ea typeface="黑体" panose="02010609060101010101" pitchFamily="49" charset="-122"/>
              </a:rPr>
              <a:t>Bayes</a:t>
            </a:r>
            <a:r>
              <a:rPr kumimoji="1" lang="zh-CN" altLang="en-US" sz="2200" b="1" dirty="0">
                <a:solidFill>
                  <a:srgbClr val="FF0000"/>
                </a:solidFill>
                <a:latin typeface="Times New Roman" panose="02020603050405020304" pitchFamily="18" charset="0"/>
                <a:ea typeface="黑体" panose="02010609060101010101" pitchFamily="49" charset="-122"/>
              </a:rPr>
              <a:t>估计 </a:t>
            </a:r>
            <a:endParaRPr kumimoji="1" lang="en-US" altLang="zh-CN" sz="2200" b="1" dirty="0">
              <a:solidFill>
                <a:srgbClr val="FF0000"/>
              </a:solidFill>
              <a:latin typeface="Times New Roman" panose="02020603050405020304" pitchFamily="18" charset="0"/>
              <a:ea typeface="黑体" panose="02010609060101010101" pitchFamily="49" charset="-122"/>
            </a:endParaRPr>
          </a:p>
          <a:p>
            <a:pPr algn="l">
              <a:lnSpc>
                <a:spcPct val="130000"/>
              </a:lnSpc>
              <a:spcBef>
                <a:spcPts val="600"/>
              </a:spcBef>
            </a:pPr>
            <a:r>
              <a:rPr kumimoji="1" lang="zh-CN" altLang="en-US" sz="2200" dirty="0">
                <a:latin typeface="Times New Roman" panose="02020603050405020304" pitchFamily="18" charset="0"/>
                <a:ea typeface="黑体" panose="02010609060101010101" pitchFamily="49" charset="-122"/>
              </a:rPr>
              <a:t>根据一样本集</a:t>
            </a:r>
            <a:endParaRPr kumimoji="1" lang="en-US" altLang="zh-CN" sz="2200" dirty="0">
              <a:latin typeface="Times New Roman" panose="02020603050405020304" pitchFamily="18" charset="0"/>
              <a:ea typeface="黑体" panose="02010609060101010101" pitchFamily="49" charset="-122"/>
            </a:endParaRPr>
          </a:p>
          <a:p>
            <a:pPr algn="l">
              <a:lnSpc>
                <a:spcPct val="130000"/>
              </a:lnSpc>
              <a:spcBef>
                <a:spcPts val="600"/>
              </a:spcBef>
            </a:pPr>
            <a:r>
              <a:rPr kumimoji="1" lang="zh-CN" altLang="en-US" sz="2200" dirty="0">
                <a:latin typeface="Times New Roman" panose="02020603050405020304" pitchFamily="18" charset="0"/>
                <a:ea typeface="黑体" panose="02010609060101010101" pitchFamily="49" charset="-122"/>
              </a:rPr>
              <a:t>找出估计量       ，估计     所属总体分布的某个真实参数    ，使带来的</a:t>
            </a:r>
            <a:r>
              <a:rPr kumimoji="1" lang="en-US" altLang="zh-CN" sz="2200" dirty="0" err="1">
                <a:latin typeface="Times New Roman" panose="02020603050405020304" pitchFamily="18" charset="0"/>
                <a:ea typeface="黑体" panose="02010609060101010101" pitchFamily="49" charset="-122"/>
              </a:rPr>
              <a:t>Bayes</a:t>
            </a:r>
            <a:r>
              <a:rPr kumimoji="1" lang="zh-CN" altLang="en-US" sz="2200" dirty="0">
                <a:latin typeface="Times New Roman" panose="02020603050405020304" pitchFamily="18" charset="0"/>
                <a:ea typeface="黑体" panose="02010609060101010101" pitchFamily="49" charset="-122"/>
              </a:rPr>
              <a:t>风险最小。</a:t>
            </a:r>
            <a:endParaRPr kumimoji="1" lang="en-US" altLang="zh-CN" sz="2200" dirty="0">
              <a:latin typeface="Times New Roman" panose="02020603050405020304" pitchFamily="18" charset="0"/>
              <a:ea typeface="黑体" panose="02010609060101010101" pitchFamily="49" charset="-122"/>
            </a:endParaRPr>
          </a:p>
        </p:txBody>
      </p:sp>
      <p:graphicFrame>
        <p:nvGraphicFramePr>
          <p:cNvPr id="59" name="Object 4"/>
          <p:cNvGraphicFramePr>
            <a:graphicFrameLocks noChangeAspect="1"/>
          </p:cNvGraphicFramePr>
          <p:nvPr/>
        </p:nvGraphicFramePr>
        <p:xfrm>
          <a:off x="1919536" y="4054331"/>
          <a:ext cx="308727" cy="522348"/>
        </p:xfrm>
        <a:graphic>
          <a:graphicData uri="http://schemas.openxmlformats.org/presentationml/2006/ole">
            <mc:AlternateContent xmlns:mc="http://schemas.openxmlformats.org/markup-compatibility/2006">
              <mc:Choice xmlns:v="urn:schemas-microsoft-com:vml" Requires="v">
                <p:oleObj spid="_x0000_s139843" name="Equation" r:id="rId5" imgW="127000" imgH="215265" progId="Equation.DSMT4">
                  <p:embed/>
                </p:oleObj>
              </mc:Choice>
              <mc:Fallback>
                <p:oleObj name="Equation" r:id="rId5" imgW="127000" imgH="215265" progId="Equation.DSMT4">
                  <p:embed/>
                  <p:pic>
                    <p:nvPicPr>
                      <p:cNvPr id="0" name="Picture 5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9536" y="4054331"/>
                        <a:ext cx="308727" cy="5223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 name="Object 6"/>
          <p:cNvGraphicFramePr>
            <a:graphicFrameLocks noChangeAspect="1"/>
          </p:cNvGraphicFramePr>
          <p:nvPr/>
        </p:nvGraphicFramePr>
        <p:xfrm>
          <a:off x="2071347" y="3549506"/>
          <a:ext cx="2676525" cy="504825"/>
        </p:xfrm>
        <a:graphic>
          <a:graphicData uri="http://schemas.openxmlformats.org/presentationml/2006/ole">
            <mc:AlternateContent xmlns:mc="http://schemas.openxmlformats.org/markup-compatibility/2006">
              <mc:Choice xmlns:v="urn:schemas-microsoft-com:vml" Requires="v">
                <p:oleObj spid="_x0000_s139844" name="Equation" r:id="rId7" imgW="1143000" imgH="215900" progId="Equation.DSMT4">
                  <p:embed/>
                </p:oleObj>
              </mc:Choice>
              <mc:Fallback>
                <p:oleObj name="Equation" r:id="rId7" imgW="1143000" imgH="215900" progId="Equation.DSMT4">
                  <p:embed/>
                  <p:pic>
                    <p:nvPicPr>
                      <p:cNvPr id="0" name="Picture 5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71347" y="3549506"/>
                        <a:ext cx="267652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 name="Object 9"/>
          <p:cNvGraphicFramePr>
            <a:graphicFrameLocks noChangeAspect="1"/>
          </p:cNvGraphicFramePr>
          <p:nvPr/>
        </p:nvGraphicFramePr>
        <p:xfrm>
          <a:off x="2904470" y="4584512"/>
          <a:ext cx="328261" cy="424716"/>
        </p:xfrm>
        <a:graphic>
          <a:graphicData uri="http://schemas.openxmlformats.org/presentationml/2006/ole">
            <mc:AlternateContent xmlns:mc="http://schemas.openxmlformats.org/markup-compatibility/2006">
              <mc:Choice xmlns:v="urn:schemas-microsoft-com:vml" Requires="v">
                <p:oleObj spid="_x0000_s139845" name="Equation" r:id="rId9" imgW="127000" imgH="165100" progId="Equation.DSMT4">
                  <p:embed/>
                </p:oleObj>
              </mc:Choice>
              <mc:Fallback>
                <p:oleObj name="Equation" r:id="rId9" imgW="127000" imgH="165100" progId="Equation.DSMT4">
                  <p:embed/>
                  <p:pic>
                    <p:nvPicPr>
                      <p:cNvPr id="0" name="Picture 54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04470" y="4584512"/>
                        <a:ext cx="328261" cy="4247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2" name="Object 8"/>
          <p:cNvGraphicFramePr>
            <a:graphicFrameLocks noChangeAspect="1"/>
          </p:cNvGraphicFramePr>
          <p:nvPr/>
        </p:nvGraphicFramePr>
        <p:xfrm>
          <a:off x="3159060" y="4174422"/>
          <a:ext cx="365125" cy="396875"/>
        </p:xfrm>
        <a:graphic>
          <a:graphicData uri="http://schemas.openxmlformats.org/presentationml/2006/ole">
            <mc:AlternateContent xmlns:mc="http://schemas.openxmlformats.org/markup-compatibility/2006">
              <mc:Choice xmlns:v="urn:schemas-microsoft-com:vml" Requires="v">
                <p:oleObj spid="_x0000_s139846" name="Equation" r:id="rId11" imgW="139700" imgH="152400" progId="Equation.DSMT4">
                  <p:embed/>
                </p:oleObj>
              </mc:Choice>
              <mc:Fallback>
                <p:oleObj name="Equation" r:id="rId11" imgW="139700" imgH="152400" progId="Equation.DSMT4">
                  <p:embed/>
                  <p:pic>
                    <p:nvPicPr>
                      <p:cNvPr id="0" name="Picture 5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9060" y="4174422"/>
                        <a:ext cx="365125" cy="396875"/>
                      </a:xfrm>
                      <a:prstGeom prst="rect">
                        <a:avLst/>
                      </a:prstGeom>
                      <a:noFill/>
                      <a:ln>
                        <a:noFill/>
                      </a:ln>
                      <a:effectLst/>
                      <a:extLst>
                        <a:ext uri="{909E8E84-426E-40DD-AFC4-6F175D3DCCD1}">
                          <a14:hiddenFill xmlns:a14="http://schemas.microsoft.com/office/drawing/2010/main">
                            <a:solidFill>
                              <a:schemeClr val="tx1">
                                <a:alpha val="56862"/>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14.4 </a:t>
            </a:r>
            <a:r>
              <a:rPr lang="zh-CN" altLang="zh-CN" dirty="0"/>
              <a:t>贝叶斯估计</a:t>
            </a:r>
            <a:endParaRPr lang="zh-CN" altLang="zh-CN" dirty="0"/>
          </a:p>
        </p:txBody>
      </p:sp>
      <p:sp>
        <p:nvSpPr>
          <p:cNvPr id="24" name="矩形 23"/>
          <p:cNvSpPr/>
          <p:nvPr/>
        </p:nvSpPr>
        <p:spPr>
          <a:xfrm>
            <a:off x="293867" y="1048322"/>
            <a:ext cx="4493538" cy="652486"/>
          </a:xfrm>
          <a:prstGeom prst="rect">
            <a:avLst/>
          </a:prstGeom>
        </p:spPr>
        <p:txBody>
          <a:bodyPr wrap="none">
            <a:spAutoFit/>
          </a:bodyPr>
          <a:lstStyle/>
          <a:p>
            <a:pPr>
              <a:lnSpc>
                <a:spcPct val="130000"/>
              </a:lnSpc>
            </a:pPr>
            <a:r>
              <a:rPr lang="zh-CN" altLang="zh-CN" sz="2800" b="1" dirty="0">
                <a:solidFill>
                  <a:srgbClr val="0000FF"/>
                </a:solidFill>
                <a:latin typeface="Arial" panose="020B0604020202020204" pitchFamily="34" charset="0"/>
              </a:rPr>
              <a:t>贝叶斯估计</a:t>
            </a:r>
            <a:r>
              <a:rPr lang="zh-CN" altLang="en-US" sz="2800" b="1" dirty="0">
                <a:solidFill>
                  <a:srgbClr val="0000FF"/>
                </a:solidFill>
                <a:latin typeface="Arial" panose="020B0604020202020204" pitchFamily="34" charset="0"/>
              </a:rPr>
              <a:t>与最大似然估计</a:t>
            </a:r>
            <a:endParaRPr lang="zh-CN" altLang="en-US" sz="2800" b="1" dirty="0">
              <a:solidFill>
                <a:srgbClr val="0000FF"/>
              </a:solidFill>
              <a:latin typeface="Arial" panose="020B0604020202020204" pitchFamily="34" charset="0"/>
            </a:endParaRPr>
          </a:p>
        </p:txBody>
      </p:sp>
      <p:graphicFrame>
        <p:nvGraphicFramePr>
          <p:cNvPr id="16" name="表格 15"/>
          <p:cNvGraphicFramePr>
            <a:graphicFrameLocks noGrp="1"/>
          </p:cNvGraphicFramePr>
          <p:nvPr/>
        </p:nvGraphicFramePr>
        <p:xfrm>
          <a:off x="479376" y="1772816"/>
          <a:ext cx="11305256" cy="4214281"/>
        </p:xfrm>
        <a:graphic>
          <a:graphicData uri="http://schemas.openxmlformats.org/drawingml/2006/table">
            <a:tbl>
              <a:tblPr firstRow="1" bandRow="1">
                <a:tableStyleId>{5C22544A-7EE6-4342-B048-85BDC9FD1C3A}</a:tableStyleId>
              </a:tblPr>
              <a:tblGrid>
                <a:gridCol w="5558418"/>
                <a:gridCol w="5746838"/>
              </a:tblGrid>
              <a:tr h="549061">
                <a:tc>
                  <a:txBody>
                    <a:bodyPr/>
                    <a:lstStyle/>
                    <a:p>
                      <a:pPr algn="ctr">
                        <a:lnSpc>
                          <a:spcPct val="130000"/>
                        </a:lnSpc>
                      </a:pPr>
                      <a:r>
                        <a:rPr lang="zh-CN" altLang="en-US" sz="2200" b="0" i="0" baseline="0" dirty="0">
                          <a:solidFill>
                            <a:schemeClr val="tx1"/>
                          </a:solidFill>
                          <a:latin typeface="Times New Roman" panose="02020603050405020304" pitchFamily="18" charset="0"/>
                          <a:ea typeface="黑体" panose="02010609060101010101" pitchFamily="49" charset="-122"/>
                        </a:rPr>
                        <a:t>贝叶斯估计</a:t>
                      </a:r>
                      <a:endParaRPr lang="zh-CN" altLang="en-US" sz="2200" b="0" i="0" baseline="0" dirty="0">
                        <a:solidFill>
                          <a:schemeClr val="tx1"/>
                        </a:solidFill>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30000"/>
                        </a:lnSpc>
                      </a:pPr>
                      <a:r>
                        <a:rPr lang="zh-CN" altLang="en-US" sz="2200" b="0" i="0" baseline="0" dirty="0">
                          <a:solidFill>
                            <a:schemeClr val="tx1"/>
                          </a:solidFill>
                          <a:latin typeface="Times New Roman" panose="02020603050405020304" pitchFamily="18" charset="0"/>
                          <a:ea typeface="黑体" panose="02010609060101010101" pitchFamily="49" charset="-122"/>
                        </a:rPr>
                        <a:t>最大似然估计</a:t>
                      </a:r>
                      <a:endParaRPr lang="zh-CN" altLang="en-US" sz="2200" b="0" i="0" baseline="0" dirty="0">
                        <a:solidFill>
                          <a:schemeClr val="tx1"/>
                        </a:solidFill>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87043">
                <a:tc gridSpan="2">
                  <a:txBody>
                    <a:bodyPr/>
                    <a:lstStyle/>
                    <a:p>
                      <a:pPr algn="l">
                        <a:lnSpc>
                          <a:spcPct val="130000"/>
                        </a:lnSpc>
                      </a:pPr>
                      <a:r>
                        <a:rPr lang="zh-CN" altLang="en-US" sz="2200" b="0" i="0" baseline="0" dirty="0">
                          <a:solidFill>
                            <a:schemeClr val="tx1"/>
                          </a:solidFill>
                          <a:latin typeface="Times New Roman" panose="02020603050405020304" pitchFamily="18" charset="0"/>
                          <a:ea typeface="黑体" panose="02010609060101010101" pitchFamily="49" charset="-122"/>
                        </a:rPr>
                        <a:t>已知概率密度函数</a:t>
                      </a:r>
                      <a:r>
                        <a:rPr lang="en-US" altLang="zh-CN" sz="2200" b="0" i="0" baseline="0" dirty="0">
                          <a:solidFill>
                            <a:schemeClr val="tx1"/>
                          </a:solidFill>
                          <a:latin typeface="Times New Roman" panose="02020603050405020304" pitchFamily="18" charset="0"/>
                          <a:ea typeface="黑体" panose="02010609060101010101" pitchFamily="49" charset="-122"/>
                        </a:rPr>
                        <a:t>p(x)</a:t>
                      </a:r>
                      <a:r>
                        <a:rPr lang="zh-CN" altLang="en-US" sz="2200" b="0" i="0" baseline="0" dirty="0">
                          <a:solidFill>
                            <a:schemeClr val="tx1"/>
                          </a:solidFill>
                          <a:latin typeface="Times New Roman" panose="02020603050405020304" pitchFamily="18" charset="0"/>
                          <a:ea typeface="黑体" panose="02010609060101010101" pitchFamily="49" charset="-122"/>
                        </a:rPr>
                        <a:t>的模型形式，都是为了估计模型的参数</a:t>
                      </a:r>
                      <a:r>
                        <a:rPr lang="el-GR" altLang="zh-CN" sz="2200" b="0" i="0" baseline="0" dirty="0">
                          <a:solidFill>
                            <a:schemeClr val="tx1"/>
                          </a:solidFill>
                          <a:latin typeface="Times New Roman" panose="02020603050405020304" pitchFamily="18" charset="0"/>
                          <a:ea typeface="黑体" panose="02010609060101010101" pitchFamily="49" charset="-122"/>
                        </a:rPr>
                        <a:t>θ</a:t>
                      </a:r>
                      <a:r>
                        <a:rPr lang="zh-CN" altLang="en-US" sz="2200" b="0" i="0" baseline="0" dirty="0">
                          <a:solidFill>
                            <a:schemeClr val="tx1"/>
                          </a:solidFill>
                          <a:latin typeface="Times New Roman" panose="02020603050405020304" pitchFamily="18" charset="0"/>
                          <a:ea typeface="黑体" panose="02010609060101010101" pitchFamily="49" charset="-122"/>
                        </a:rPr>
                        <a:t>。</a:t>
                      </a:r>
                      <a:endParaRPr lang="en-US" altLang="zh-CN" sz="2200" b="0" i="0" baseline="0" dirty="0">
                        <a:solidFill>
                          <a:schemeClr val="tx1"/>
                        </a:solidFill>
                        <a:latin typeface="Times New Roman" panose="02020603050405020304" pitchFamily="18" charset="0"/>
                        <a:ea typeface="黑体" panose="02010609060101010101" pitchFamily="49" charset="-122"/>
                      </a:endParaRPr>
                    </a:p>
                    <a:p>
                      <a:pPr algn="l">
                        <a:lnSpc>
                          <a:spcPct val="130000"/>
                        </a:lnSpc>
                      </a:pPr>
                      <a:r>
                        <a:rPr lang="zh-CN" altLang="en-US" sz="2200" b="0" i="0" baseline="0" dirty="0">
                          <a:solidFill>
                            <a:schemeClr val="tx1"/>
                          </a:solidFill>
                          <a:latin typeface="Times New Roman" panose="02020603050405020304" pitchFamily="18" charset="0"/>
                          <a:ea typeface="黑体" panose="02010609060101010101" pitchFamily="49" charset="-122"/>
                        </a:rPr>
                        <a:t>当训练样本趋于无穷多时，两种估计效果相同。</a:t>
                      </a:r>
                      <a:endParaRPr lang="zh-CN" altLang="en-US" sz="2200" b="0" i="0" baseline="0" dirty="0">
                        <a:solidFill>
                          <a:schemeClr val="tx1"/>
                        </a:solidFill>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3460">
                <a:tc>
                  <a:txBody>
                    <a:bodyPr/>
                    <a:lstStyle/>
                    <a:p>
                      <a:pPr>
                        <a:lnSpc>
                          <a:spcPct val="130000"/>
                        </a:lnSpc>
                      </a:pPr>
                      <a:r>
                        <a:rPr lang="zh-CN" altLang="en-US" sz="2200" b="0" i="0" kern="1200" baseline="0" dirty="0">
                          <a:solidFill>
                            <a:schemeClr val="tx1"/>
                          </a:solidFill>
                          <a:latin typeface="Times New Roman" panose="02020603050405020304" pitchFamily="18" charset="0"/>
                          <a:ea typeface="黑体" panose="02010609060101010101" pitchFamily="49" charset="-122"/>
                          <a:cs typeface="+mn-cs"/>
                        </a:rPr>
                        <a:t>小样本情况下的优良估计方法</a:t>
                      </a:r>
                      <a:endParaRPr lang="zh-CN" altLang="en-US" sz="2200" b="0" i="0" kern="1200" baseline="0" dirty="0">
                        <a:solidFill>
                          <a:schemeClr val="tx1"/>
                        </a:solidFill>
                        <a:latin typeface="Times New Roman" panose="02020603050405020304" pitchFamily="18" charset="0"/>
                        <a:ea typeface="黑体" panose="02010609060101010101" pitchFamily="49"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pPr>
                      <a:r>
                        <a:rPr lang="zh-CN" altLang="en-US" sz="2200" b="0" i="0" baseline="0" dirty="0">
                          <a:solidFill>
                            <a:schemeClr val="tx1"/>
                          </a:solidFill>
                          <a:latin typeface="Times New Roman" panose="02020603050405020304" pitchFamily="18" charset="0"/>
                          <a:ea typeface="黑体" panose="02010609060101010101" pitchFamily="49" charset="-122"/>
                        </a:rPr>
                        <a:t>大样本情况下才具有一定的优良性质</a:t>
                      </a:r>
                      <a:endParaRPr lang="zh-CN" altLang="en-US" sz="2200" b="0" i="0" baseline="0" dirty="0">
                        <a:solidFill>
                          <a:schemeClr val="tx1"/>
                        </a:solidFill>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301236">
                <a:tc>
                  <a:txBody>
                    <a:bodyPr/>
                    <a:lstStyle/>
                    <a:p>
                      <a:pPr>
                        <a:lnSpc>
                          <a:spcPct val="130000"/>
                        </a:lnSpc>
                      </a:pPr>
                      <a:r>
                        <a:rPr lang="zh-CN" altLang="en-US" sz="2200" b="0" i="0" baseline="0" dirty="0">
                          <a:solidFill>
                            <a:schemeClr val="tx1"/>
                          </a:solidFill>
                          <a:latin typeface="Times New Roman" panose="02020603050405020304" pitchFamily="18" charset="0"/>
                          <a:ea typeface="黑体" panose="02010609060101010101" pitchFamily="49" charset="-122"/>
                        </a:rPr>
                        <a:t>将未知参数看成是按某种分布的随机变量，样本的观察结果由先验分布转化为后验分布，再由后验分布修正参数的估计值</a:t>
                      </a:r>
                      <a:endParaRPr lang="zh-CN" altLang="en-US" sz="2200" b="0" i="0" baseline="0" dirty="0">
                        <a:solidFill>
                          <a:schemeClr val="tx1"/>
                        </a:solidFill>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pPr>
                      <a:r>
                        <a:rPr lang="zh-CN" altLang="en-US" sz="2200" b="0" i="0" baseline="0" dirty="0">
                          <a:solidFill>
                            <a:schemeClr val="tx1"/>
                          </a:solidFill>
                          <a:latin typeface="Times New Roman" panose="02020603050405020304" pitchFamily="18" charset="0"/>
                          <a:ea typeface="黑体" panose="02010609060101010101" pitchFamily="49" charset="-122"/>
                        </a:rPr>
                        <a:t>在实际样本观察的概率最大的条件下，获得未知参数的最好的估计</a:t>
                      </a:r>
                      <a:endParaRPr lang="zh-CN" altLang="en-US" sz="2200" b="0" i="0" baseline="0" dirty="0">
                        <a:solidFill>
                          <a:schemeClr val="tx1"/>
                        </a:solidFill>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665195">
                <a:tc>
                  <a:txBody>
                    <a:bodyPr/>
                    <a:lstStyle/>
                    <a:p>
                      <a:pPr marL="0" marR="0" indent="0" algn="l" defTabSz="914400" rtl="0" eaLnBrk="1" fontAlgn="auto" latinLnBrk="0" hangingPunct="1">
                        <a:lnSpc>
                          <a:spcPct val="130000"/>
                        </a:lnSpc>
                        <a:spcBef>
                          <a:spcPts val="0"/>
                        </a:spcBef>
                        <a:spcAft>
                          <a:spcPts val="0"/>
                        </a:spcAft>
                        <a:buClrTx/>
                        <a:buSzTx/>
                        <a:buFontTx/>
                        <a:buNone/>
                        <a:defRPr/>
                      </a:pPr>
                      <a:r>
                        <a:rPr lang="zh-CN" altLang="en-US" sz="2200" b="0" i="0" baseline="0" dirty="0">
                          <a:latin typeface="Times New Roman" panose="02020603050405020304" pitchFamily="18" charset="0"/>
                          <a:ea typeface="黑体" panose="02010609060101010101" pitchFamily="49" charset="-122"/>
                        </a:rPr>
                        <a:t>能利用更多的信息，如果这些信息是可靠的，则更准确。</a:t>
                      </a:r>
                      <a:endParaRPr lang="zh-CN" altLang="en-US" sz="2200" b="0" i="0" baseline="0" dirty="0">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pPr>
                      <a:r>
                        <a:rPr lang="zh-CN" altLang="en-US" sz="2200" b="0" i="0" baseline="0" dirty="0">
                          <a:latin typeface="Times New Roman" panose="02020603050405020304" pitchFamily="18" charset="0"/>
                          <a:ea typeface="黑体" panose="02010609060101010101" pitchFamily="49" charset="-122"/>
                        </a:rPr>
                        <a:t>计算复杂度小、更易理解和掌握</a:t>
                      </a:r>
                      <a:endParaRPr lang="zh-CN" altLang="en-US" sz="2200" b="0" i="0" baseline="0" dirty="0">
                        <a:latin typeface="Times New Roman" panose="02020603050405020304" pitchFamily="18"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7" name="Object 1"/>
          <p:cNvGraphicFramePr>
            <a:graphicFrameLocks noChangeAspect="1"/>
          </p:cNvGraphicFramePr>
          <p:nvPr/>
        </p:nvGraphicFramePr>
        <p:xfrm>
          <a:off x="5447928" y="905780"/>
          <a:ext cx="2540000" cy="647700"/>
        </p:xfrm>
        <a:graphic>
          <a:graphicData uri="http://schemas.openxmlformats.org/presentationml/2006/ole">
            <mc:AlternateContent xmlns:mc="http://schemas.openxmlformats.org/markup-compatibility/2006">
              <mc:Choice xmlns:v="urn:schemas-microsoft-com:vml" Requires="v">
                <p:oleObj spid="_x0000_s140399" name="Equation" r:id="rId2" imgW="1143000" imgH="292100" progId="Equation.DSMT4">
                  <p:embed/>
                </p:oleObj>
              </mc:Choice>
              <mc:Fallback>
                <p:oleObj name="Equation" r:id="rId2" imgW="1143000" imgH="292100" progId="Equation.DSMT4">
                  <p:embed/>
                  <p:pic>
                    <p:nvPicPr>
                      <p:cNvPr id="0" name="Picture 1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7928" y="905780"/>
                        <a:ext cx="2540000" cy="6477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8" name="直接箭头连接符 17"/>
          <p:cNvCxnSpPr/>
          <p:nvPr/>
        </p:nvCxnSpPr>
        <p:spPr>
          <a:xfrm flipH="1">
            <a:off x="4511824" y="1625488"/>
            <a:ext cx="1332148" cy="223556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196290" cy="563563"/>
          </a:xfrm>
          <a:solidFill>
            <a:schemeClr val="bg1"/>
          </a:solidFill>
        </p:spPr>
        <p:txBody>
          <a:bodyPr/>
          <a:lstStyle/>
          <a:p>
            <a:r>
              <a:rPr lang="zh-CN" altLang="en-US" sz="2400" dirty="0"/>
              <a:t>最大似然估计、最大后验概率估计及贝叶斯估计比较</a:t>
            </a:r>
            <a:endParaRPr lang="zh-CN" altLang="en-US" sz="2400" dirty="0"/>
          </a:p>
        </p:txBody>
      </p:sp>
      <p:sp>
        <p:nvSpPr>
          <p:cNvPr id="3" name="内容占位符 2"/>
          <p:cNvSpPr>
            <a:spLocks noGrp="1"/>
          </p:cNvSpPr>
          <p:nvPr>
            <p:ph idx="1"/>
          </p:nvPr>
        </p:nvSpPr>
        <p:spPr/>
        <p:txBody>
          <a:bodyPr/>
          <a:lstStyle/>
          <a:p>
            <a:pPr>
              <a:buNone/>
            </a:pPr>
            <a:r>
              <a:rPr lang="en-US" sz="2400" b="1" dirty="0"/>
              <a:t>1</a:t>
            </a:r>
            <a:r>
              <a:rPr lang="zh-CN" altLang="en-US" sz="2400" b="1" dirty="0"/>
              <a:t>、最大似然估计</a:t>
            </a:r>
            <a:r>
              <a:rPr lang="en-US" sz="2400" b="1" dirty="0"/>
              <a:t>MLE</a:t>
            </a:r>
            <a:endParaRPr lang="zh-CN" altLang="en-US" sz="2400" b="1" dirty="0"/>
          </a:p>
          <a:p>
            <a:pPr>
              <a:buNone/>
            </a:pPr>
            <a:r>
              <a:rPr lang="en-US" altLang="zh-CN" sz="2400" dirty="0"/>
              <a:t>    </a:t>
            </a:r>
            <a:r>
              <a:rPr lang="zh-CN" altLang="en-US" sz="2400" dirty="0"/>
              <a:t>以扔硬币的伯努利实验为例子，</a:t>
            </a:r>
            <a:r>
              <a:rPr lang="en-US" sz="2400" dirty="0"/>
              <a:t>N</a:t>
            </a:r>
            <a:r>
              <a:rPr lang="zh-CN" altLang="en-US" sz="2400" dirty="0"/>
              <a:t>次实验的结果服从二项分布，参数为</a:t>
            </a:r>
            <a:r>
              <a:rPr lang="en-US" sz="2400" dirty="0"/>
              <a:t>P</a:t>
            </a:r>
            <a:r>
              <a:rPr lang="zh-CN" altLang="en-US" sz="2400" dirty="0"/>
              <a:t>，即每次实验事件得到正面的概率。为了估计</a:t>
            </a:r>
            <a:r>
              <a:rPr lang="en-US" sz="2400" dirty="0"/>
              <a:t>P</a:t>
            </a:r>
            <a:r>
              <a:rPr lang="zh-CN" altLang="en-US" sz="2400" dirty="0"/>
              <a:t>，采用最大似然估计，似然函数可以写作</a:t>
            </a:r>
            <a:endParaRPr lang="zh-CN" altLang="en-US" sz="2400" dirty="0"/>
          </a:p>
          <a:p>
            <a:endParaRPr lang="zh-CN" altLang="en-US" sz="2400" dirty="0"/>
          </a:p>
          <a:p>
            <a:endParaRPr lang="zh-CN" altLang="en-US" sz="2400" dirty="0"/>
          </a:p>
          <a:p>
            <a:pPr>
              <a:buNone/>
            </a:pPr>
            <a:endParaRPr lang="en-US" altLang="zh-CN" sz="2400" dirty="0"/>
          </a:p>
          <a:p>
            <a:pPr>
              <a:buNone/>
            </a:pPr>
            <a:endParaRPr lang="en-US" altLang="zh-CN" sz="2400" dirty="0"/>
          </a:p>
          <a:p>
            <a:pPr>
              <a:buNone/>
            </a:pPr>
            <a:r>
              <a:rPr lang="zh-CN" altLang="en-US" sz="2400" dirty="0"/>
              <a:t>其中</a:t>
            </a:r>
            <a:r>
              <a:rPr lang="en-US" altLang="zh-CN" sz="2400" dirty="0"/>
              <a:t>n</a:t>
            </a:r>
            <a:r>
              <a:rPr lang="en-US" altLang="zh-CN" sz="2400" baseline="30000" dirty="0"/>
              <a:t>(</a:t>
            </a:r>
            <a:r>
              <a:rPr lang="en-US" altLang="zh-CN" sz="2400" baseline="30000" dirty="0" err="1"/>
              <a:t>i</a:t>
            </a:r>
            <a:r>
              <a:rPr lang="en-US" altLang="zh-CN" sz="2400" baseline="30000" dirty="0"/>
              <a:t>)</a:t>
            </a:r>
            <a:r>
              <a:rPr lang="en-US" sz="2400" dirty="0"/>
              <a:t> </a:t>
            </a:r>
            <a:r>
              <a:rPr lang="zh-CN" altLang="en-US" sz="2400" dirty="0"/>
              <a:t>表示实验结果为</a:t>
            </a:r>
            <a:r>
              <a:rPr lang="en-US" sz="2400" dirty="0" err="1"/>
              <a:t>i</a:t>
            </a:r>
            <a:r>
              <a:rPr lang="zh-CN" altLang="en-US" sz="2400" dirty="0"/>
              <a:t>的次数。似然函数的极值点，有</a:t>
            </a:r>
            <a:endParaRPr lang="zh-CN" altLang="en-US" sz="2400" dirty="0"/>
          </a:p>
          <a:p>
            <a:pPr>
              <a:buNone/>
            </a:pPr>
            <a:endParaRPr lang="en-US" sz="2400" dirty="0"/>
          </a:p>
          <a:p>
            <a:pPr>
              <a:buNone/>
            </a:pPr>
            <a:r>
              <a:rPr lang="en-US" sz="2400" dirty="0"/>
              <a:t> </a:t>
            </a:r>
            <a:endParaRPr lang="zh-CN" altLang="en-US" sz="2400" dirty="0"/>
          </a:p>
          <a:p>
            <a:pPr>
              <a:buNone/>
            </a:pPr>
            <a:r>
              <a:rPr lang="zh-CN" altLang="en-US" sz="2400" dirty="0"/>
              <a:t>得到参数</a:t>
            </a:r>
            <a:r>
              <a:rPr lang="en-US" sz="2400" dirty="0"/>
              <a:t>P</a:t>
            </a:r>
            <a:r>
              <a:rPr lang="zh-CN" altLang="en-US" sz="2400" dirty="0"/>
              <a:t>的最大似然估计值为</a:t>
            </a:r>
            <a:endParaRPr lang="zh-CN" altLang="en-US" sz="2400" dirty="0"/>
          </a:p>
          <a:p>
            <a:endParaRPr lang="zh-CN" altLang="en-US" sz="24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graphicFrame>
        <p:nvGraphicFramePr>
          <p:cNvPr id="5" name="Object 5"/>
          <p:cNvGraphicFramePr>
            <a:graphicFrameLocks noChangeAspect="1"/>
          </p:cNvGraphicFramePr>
          <p:nvPr/>
        </p:nvGraphicFramePr>
        <p:xfrm>
          <a:off x="3452795" y="2571744"/>
          <a:ext cx="5133975" cy="1930400"/>
        </p:xfrm>
        <a:graphic>
          <a:graphicData uri="http://schemas.openxmlformats.org/presentationml/2006/ole">
            <mc:AlternateContent xmlns:mc="http://schemas.openxmlformats.org/markup-compatibility/2006">
              <mc:Choice xmlns:v="urn:schemas-microsoft-com:vml" Requires="v">
                <p:oleObj spid="_x0000_s181270" name="Equation" r:id="rId1" imgW="2235200" imgH="838200" progId="Equation.DSMT4">
                  <p:embed/>
                </p:oleObj>
              </mc:Choice>
              <mc:Fallback>
                <p:oleObj name="Equation" r:id="rId1" imgW="2235200" imgH="8382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2795" y="2571744"/>
                        <a:ext cx="5133975" cy="193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03" name="Object 3"/>
          <p:cNvGraphicFramePr>
            <a:graphicFrameLocks noChangeAspect="1"/>
          </p:cNvGraphicFramePr>
          <p:nvPr/>
        </p:nvGraphicFramePr>
        <p:xfrm>
          <a:off x="4667241" y="4929198"/>
          <a:ext cx="2271719" cy="795102"/>
        </p:xfrm>
        <a:graphic>
          <a:graphicData uri="http://schemas.openxmlformats.org/presentationml/2006/ole">
            <mc:AlternateContent xmlns:mc="http://schemas.openxmlformats.org/markup-compatibility/2006">
              <mc:Choice xmlns:v="urn:schemas-microsoft-com:vml" Requires="v">
                <p:oleObj spid="_x0000_s181271" name="Equation" r:id="rId3" imgW="1015365" imgH="355600" progId="Equation.DSMT4">
                  <p:embed/>
                </p:oleObj>
              </mc:Choice>
              <mc:Fallback>
                <p:oleObj name="Equation" r:id="rId3" imgW="1015365" imgH="355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7241" y="4929198"/>
                        <a:ext cx="2271719" cy="795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04" name="Object 4"/>
          <p:cNvGraphicFramePr>
            <a:graphicFrameLocks noChangeAspect="1"/>
          </p:cNvGraphicFramePr>
          <p:nvPr/>
        </p:nvGraphicFramePr>
        <p:xfrm>
          <a:off x="6096000" y="5643579"/>
          <a:ext cx="2500330" cy="796809"/>
        </p:xfrm>
        <a:graphic>
          <a:graphicData uri="http://schemas.openxmlformats.org/presentationml/2006/ole">
            <mc:AlternateContent xmlns:mc="http://schemas.openxmlformats.org/markup-compatibility/2006">
              <mc:Choice xmlns:v="urn:schemas-microsoft-com:vml" Requires="v">
                <p:oleObj spid="_x0000_s181272" name="Equation" r:id="rId5" imgW="1155700" imgH="368300" progId="Equation.DSMT4">
                  <p:embed/>
                </p:oleObj>
              </mc:Choice>
              <mc:Fallback>
                <p:oleObj name="Equation" r:id="rId5" imgW="1155700" imgH="3683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5643579"/>
                        <a:ext cx="2500330" cy="796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06" name="Object 6"/>
          <p:cNvGraphicFramePr>
            <a:graphicFrameLocks noChangeAspect="1"/>
          </p:cNvGraphicFramePr>
          <p:nvPr/>
        </p:nvGraphicFramePr>
        <p:xfrm>
          <a:off x="6789739" y="642939"/>
          <a:ext cx="2638425" cy="873125"/>
        </p:xfrm>
        <a:graphic>
          <a:graphicData uri="http://schemas.openxmlformats.org/presentationml/2006/ole">
            <mc:AlternateContent xmlns:mc="http://schemas.openxmlformats.org/markup-compatibility/2006">
              <mc:Choice xmlns:v="urn:schemas-microsoft-com:vml" Requires="v">
                <p:oleObj spid="_x0000_s181273" name="Equation" r:id="rId7" imgW="1307465" imgH="431800" progId="Equation.DSMT4">
                  <p:embed/>
                </p:oleObj>
              </mc:Choice>
              <mc:Fallback>
                <p:oleObj name="Equation" r:id="rId7" imgW="1307465" imgH="4318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89739" y="642939"/>
                        <a:ext cx="2638425" cy="873125"/>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文本框 9"/>
          <p:cNvSpPr txBox="1"/>
          <p:nvPr/>
        </p:nvSpPr>
        <p:spPr>
          <a:xfrm>
            <a:off x="9665499" y="176264"/>
            <a:ext cx="719181" cy="369332"/>
          </a:xfrm>
          <a:prstGeom prst="rect">
            <a:avLst/>
          </a:prstGeom>
          <a:noFill/>
        </p:spPr>
        <p:txBody>
          <a:bodyPr wrap="square">
            <a:spAutoFit/>
          </a:bodyPr>
          <a:lstStyle/>
          <a:p>
            <a:r>
              <a:rPr lang="zh-CN" altLang="en-US" sz="1800" b="1" dirty="0">
                <a:solidFill>
                  <a:srgbClr val="FF0000"/>
                </a:solidFill>
              </a:rPr>
              <a:t>自习</a:t>
            </a:r>
            <a:endParaRPr lang="zh-CN" altLang="en-US" b="1" dirty="0">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196290" cy="563563"/>
          </a:xfrm>
          <a:solidFill>
            <a:schemeClr val="bg1"/>
          </a:solidFill>
        </p:spPr>
        <p:txBody>
          <a:bodyPr/>
          <a:lstStyle/>
          <a:p>
            <a:r>
              <a:rPr lang="zh-CN" altLang="en-US" sz="2400" dirty="0"/>
              <a:t>最大似然估计、最大后验概率估计及贝叶斯估计比较</a:t>
            </a:r>
            <a:endParaRPr lang="zh-CN" altLang="en-US" sz="2400" dirty="0"/>
          </a:p>
        </p:txBody>
      </p:sp>
      <p:sp>
        <p:nvSpPr>
          <p:cNvPr id="3" name="内容占位符 2"/>
          <p:cNvSpPr>
            <a:spLocks noGrp="1"/>
          </p:cNvSpPr>
          <p:nvPr>
            <p:ph idx="1"/>
          </p:nvPr>
        </p:nvSpPr>
        <p:spPr>
          <a:xfrm>
            <a:off x="1828800" y="928670"/>
            <a:ext cx="8458200" cy="5334000"/>
          </a:xfrm>
        </p:spPr>
        <p:txBody>
          <a:bodyPr/>
          <a:lstStyle/>
          <a:p>
            <a:pPr>
              <a:buNone/>
            </a:pPr>
            <a:r>
              <a:rPr lang="en-US" sz="2400" b="1" dirty="0"/>
              <a:t>1</a:t>
            </a:r>
            <a:r>
              <a:rPr lang="zh-CN" altLang="en-US" sz="2400" b="1" dirty="0"/>
              <a:t>、最大似然估计</a:t>
            </a:r>
            <a:r>
              <a:rPr lang="en-US" sz="2400" b="1" dirty="0"/>
              <a:t>MLE</a:t>
            </a:r>
            <a:endParaRPr lang="zh-CN" altLang="en-US" sz="2400" b="1" dirty="0"/>
          </a:p>
          <a:p>
            <a:pPr>
              <a:buNone/>
            </a:pPr>
            <a:r>
              <a:rPr lang="zh-CN" altLang="en-US" sz="2400" dirty="0"/>
              <a:t>    可以看出二项分布中每次事件发的概率</a:t>
            </a:r>
            <a:r>
              <a:rPr lang="en-US" altLang="zh-CN" sz="2400" dirty="0"/>
              <a:t>P</a:t>
            </a:r>
            <a:r>
              <a:rPr lang="zh-CN" altLang="en-US" sz="2400" dirty="0"/>
              <a:t>就等于做</a:t>
            </a:r>
            <a:r>
              <a:rPr lang="en-US" sz="2400" dirty="0"/>
              <a:t>N</a:t>
            </a:r>
            <a:r>
              <a:rPr lang="zh-CN" altLang="en-US" sz="2400" dirty="0"/>
              <a:t>次独立重复随机试验中事件发生的概率。如果我们做</a:t>
            </a:r>
            <a:r>
              <a:rPr lang="en-US" sz="2400" dirty="0"/>
              <a:t>20</a:t>
            </a:r>
            <a:r>
              <a:rPr lang="zh-CN" altLang="en-US" sz="2400" dirty="0"/>
              <a:t>次实验，出现正面</a:t>
            </a:r>
            <a:r>
              <a:rPr lang="en-US" sz="2400" dirty="0"/>
              <a:t>1</a:t>
            </a:r>
            <a:r>
              <a:rPr lang="en-US" altLang="zh-CN" sz="2400" dirty="0"/>
              <a:t>2</a:t>
            </a:r>
            <a:r>
              <a:rPr lang="zh-CN" altLang="en-US" sz="2400" dirty="0"/>
              <a:t>次，反面</a:t>
            </a:r>
            <a:r>
              <a:rPr lang="en-US" sz="2400" dirty="0"/>
              <a:t>8</a:t>
            </a:r>
            <a:r>
              <a:rPr lang="zh-CN" altLang="en-US" sz="2400" dirty="0"/>
              <a:t>次那么根据最大似然估计得到参数值</a:t>
            </a:r>
            <a:r>
              <a:rPr lang="en-US" altLang="zh-CN" sz="2400" dirty="0"/>
              <a:t>P</a:t>
            </a:r>
            <a:r>
              <a:rPr lang="zh-CN" altLang="en-US" sz="2400" dirty="0"/>
              <a:t>为</a:t>
            </a:r>
            <a:r>
              <a:rPr lang="en-US" sz="2400" dirty="0"/>
              <a:t>1</a:t>
            </a:r>
            <a:r>
              <a:rPr lang="en-US" altLang="zh-CN" sz="2400" dirty="0"/>
              <a:t>2</a:t>
            </a:r>
            <a:r>
              <a:rPr lang="en-US" sz="2400" dirty="0"/>
              <a:t>/20 = 0.6</a:t>
            </a:r>
            <a:r>
              <a:rPr lang="zh-CN" altLang="en-US" sz="2400" dirty="0"/>
              <a:t>。</a:t>
            </a:r>
            <a:endParaRPr lang="zh-CN" altLang="en-US" sz="2400" dirty="0"/>
          </a:p>
          <a:p>
            <a:pPr>
              <a:buNone/>
            </a:pPr>
            <a:r>
              <a:rPr lang="en-US" sz="2400" b="1" dirty="0"/>
              <a:t>2</a:t>
            </a:r>
            <a:r>
              <a:rPr lang="zh-CN" altLang="en-US" sz="2400" b="1" dirty="0"/>
              <a:t>、最大后验估计</a:t>
            </a:r>
            <a:r>
              <a:rPr lang="en-US" sz="2400" b="1" dirty="0"/>
              <a:t>MAP</a:t>
            </a:r>
            <a:endParaRPr lang="zh-CN" altLang="en-US" sz="2400" b="1" dirty="0"/>
          </a:p>
          <a:p>
            <a:pPr>
              <a:buNone/>
            </a:pPr>
            <a:r>
              <a:rPr lang="zh-CN" altLang="en-US" sz="2400" dirty="0"/>
              <a:t>    最大后验估计与最大似然估计相似，不同点在于估计的函数中允许加入一个先验</a:t>
            </a:r>
            <a:r>
              <a:rPr lang="en-US" altLang="zh-CN" sz="2400" dirty="0"/>
              <a:t>p(</a:t>
            </a:r>
            <a:r>
              <a:rPr lang="el-GR" altLang="zh-CN" sz="2400" dirty="0"/>
              <a:t>θ</a:t>
            </a:r>
            <a:r>
              <a:rPr lang="en-US" altLang="zh-CN" sz="2400" dirty="0"/>
              <a:t>)</a:t>
            </a:r>
            <a:r>
              <a:rPr lang="en-US" sz="2400" dirty="0"/>
              <a:t> </a:t>
            </a:r>
            <a:r>
              <a:rPr lang="zh-CN" altLang="en-US" sz="2400" dirty="0"/>
              <a:t>，也就是说此时不是要求似然函数最大，而是要求由贝叶斯公式计算出的整个后验概率最大</a:t>
            </a:r>
            <a:endParaRPr lang="en-US" altLang="zh-CN" sz="2400" dirty="0"/>
          </a:p>
          <a:p>
            <a:pPr>
              <a:buNone/>
            </a:pPr>
            <a:endParaRPr lang="en-US" altLang="zh-CN" sz="2400" dirty="0"/>
          </a:p>
          <a:p>
            <a:pPr>
              <a:buNone/>
            </a:pPr>
            <a:endParaRPr lang="en-US" altLang="zh-CN" sz="2400" dirty="0"/>
          </a:p>
          <a:p>
            <a:pPr>
              <a:buNone/>
            </a:pPr>
            <a:r>
              <a:rPr lang="en-US" sz="2400" b="1" dirty="0"/>
              <a:t>     MAP</a:t>
            </a:r>
            <a:r>
              <a:rPr lang="zh-CN" altLang="en-US" sz="2400" dirty="0"/>
              <a:t>需要多加上一个先验分布概率的对数。例如在扔硬币的试验中，每次抛出正面发生的</a:t>
            </a:r>
            <a:r>
              <a:rPr lang="zh-CN" altLang="en-US" sz="2400" dirty="0">
                <a:solidFill>
                  <a:srgbClr val="FF0000"/>
                </a:solidFill>
              </a:rPr>
              <a:t>概率服从一个概率分布</a:t>
            </a:r>
            <a:r>
              <a:rPr lang="zh-CN" altLang="en-US" sz="2400" dirty="0"/>
              <a:t>，这个概率在</a:t>
            </a:r>
            <a:r>
              <a:rPr lang="en-US" sz="2400" dirty="0"/>
              <a:t>0.5</a:t>
            </a:r>
            <a:r>
              <a:rPr lang="zh-CN" altLang="en-US" sz="2400" dirty="0"/>
              <a:t>处取得最大值，这个分布就是先验分布。</a:t>
            </a:r>
            <a:endParaRPr lang="zh-CN" altLang="en-US" sz="2400" dirty="0"/>
          </a:p>
          <a:p>
            <a:endParaRPr lang="zh-CN" altLang="en-US" sz="24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graphicFrame>
        <p:nvGraphicFramePr>
          <p:cNvPr id="220161" name="Object 1"/>
          <p:cNvGraphicFramePr>
            <a:graphicFrameLocks noChangeAspect="1"/>
          </p:cNvGraphicFramePr>
          <p:nvPr/>
        </p:nvGraphicFramePr>
        <p:xfrm>
          <a:off x="1655738" y="4500570"/>
          <a:ext cx="9012263" cy="863192"/>
        </p:xfrm>
        <a:graphic>
          <a:graphicData uri="http://schemas.openxmlformats.org/presentationml/2006/ole">
            <mc:AlternateContent xmlns:mc="http://schemas.openxmlformats.org/markup-compatibility/2006">
              <mc:Choice xmlns:v="urn:schemas-microsoft-com:vml" Requires="v">
                <p:oleObj spid="_x0000_s182278" name="Equation" r:id="rId1" imgW="4902200" imgH="469900" progId="Equation.DSMT4">
                  <p:embed/>
                </p:oleObj>
              </mc:Choice>
              <mc:Fallback>
                <p:oleObj name="Equation" r:id="rId1" imgW="4902200" imgH="4699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5738" y="4500570"/>
                        <a:ext cx="9012263" cy="863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文本框 5"/>
          <p:cNvSpPr txBox="1"/>
          <p:nvPr/>
        </p:nvSpPr>
        <p:spPr>
          <a:xfrm>
            <a:off x="9665499" y="176264"/>
            <a:ext cx="719181" cy="369332"/>
          </a:xfrm>
          <a:prstGeom prst="rect">
            <a:avLst/>
          </a:prstGeom>
          <a:noFill/>
        </p:spPr>
        <p:txBody>
          <a:bodyPr wrap="square">
            <a:spAutoFit/>
          </a:bodyPr>
          <a:lstStyle/>
          <a:p>
            <a:r>
              <a:rPr lang="zh-CN" altLang="en-US" sz="1800" b="1" dirty="0">
                <a:solidFill>
                  <a:srgbClr val="FF0000"/>
                </a:solidFill>
              </a:rPr>
              <a:t>自习</a:t>
            </a:r>
            <a:endParaRPr lang="zh-CN" altLang="en-US" b="1" dirty="0">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196290" cy="563563"/>
          </a:xfrm>
          <a:solidFill>
            <a:schemeClr val="bg1"/>
          </a:solidFill>
        </p:spPr>
        <p:txBody>
          <a:bodyPr/>
          <a:lstStyle/>
          <a:p>
            <a:r>
              <a:rPr lang="zh-CN" altLang="en-US" sz="2400" dirty="0"/>
              <a:t>最大似然估计、最大后验概率估计及贝叶斯估计比较</a:t>
            </a:r>
            <a:endParaRPr lang="zh-CN" altLang="en-US" sz="2400" dirty="0"/>
          </a:p>
        </p:txBody>
      </p:sp>
      <p:sp>
        <p:nvSpPr>
          <p:cNvPr id="3" name="内容占位符 2"/>
          <p:cNvSpPr>
            <a:spLocks noGrp="1"/>
          </p:cNvSpPr>
          <p:nvPr>
            <p:ph idx="1"/>
          </p:nvPr>
        </p:nvSpPr>
        <p:spPr>
          <a:xfrm>
            <a:off x="1828800" y="928670"/>
            <a:ext cx="8458200" cy="5334000"/>
          </a:xfrm>
        </p:spPr>
        <p:txBody>
          <a:bodyPr/>
          <a:lstStyle/>
          <a:p>
            <a:pPr>
              <a:buNone/>
            </a:pPr>
            <a:r>
              <a:rPr lang="en-US" sz="2400" b="1" dirty="0"/>
              <a:t>2</a:t>
            </a:r>
            <a:r>
              <a:rPr lang="zh-CN" altLang="en-US" sz="2400" b="1" dirty="0"/>
              <a:t>、最大后验估计</a:t>
            </a:r>
            <a:r>
              <a:rPr lang="en-US" sz="2400" b="1" dirty="0"/>
              <a:t>MAP</a:t>
            </a:r>
            <a:endParaRPr lang="zh-CN" altLang="en-US" sz="2400" b="1" dirty="0"/>
          </a:p>
          <a:p>
            <a:pPr>
              <a:buNone/>
            </a:pPr>
            <a:r>
              <a:rPr lang="zh-CN" altLang="en-US" sz="2400" dirty="0"/>
              <a:t>     当上述后验概率取得最大值时，我们就得到根据</a:t>
            </a:r>
            <a:r>
              <a:rPr lang="en-US" sz="2400" dirty="0"/>
              <a:t>MAP</a:t>
            </a:r>
            <a:r>
              <a:rPr lang="zh-CN" altLang="en-US" sz="2400" dirty="0"/>
              <a:t>估计出的参数值         。如果给定一个新样本</a:t>
            </a:r>
            <a:r>
              <a:rPr lang="en-US" altLang="zh-CN" sz="2400" dirty="0"/>
              <a:t>x</a:t>
            </a:r>
            <a:r>
              <a:rPr lang="zh-CN" altLang="en-US" sz="2400" dirty="0"/>
              <a:t>，其发生的概率是</a:t>
            </a:r>
            <a:endParaRPr lang="en-US" altLang="zh-CN" sz="2400" dirty="0"/>
          </a:p>
          <a:p>
            <a:pPr>
              <a:lnSpc>
                <a:spcPct val="200000"/>
              </a:lnSpc>
              <a:buNone/>
            </a:pPr>
            <a:endParaRPr lang="en-US" altLang="zh-CN" sz="2400" dirty="0"/>
          </a:p>
          <a:p>
            <a:pPr>
              <a:buNone/>
            </a:pPr>
            <a:r>
              <a:rPr lang="zh-CN" altLang="en-US" sz="2400" dirty="0"/>
              <a:t>    仍然以扔硬币为例，先验概率分布在</a:t>
            </a:r>
            <a:r>
              <a:rPr lang="en-US" sz="2400" dirty="0"/>
              <a:t>0.5</a:t>
            </a:r>
            <a:r>
              <a:rPr lang="zh-CN" altLang="en-US" sz="2400" dirty="0"/>
              <a:t>处取得最大值，选用</a:t>
            </a:r>
            <a:r>
              <a:rPr lang="en-US" sz="2400" dirty="0"/>
              <a:t>Beta</a:t>
            </a:r>
            <a:r>
              <a:rPr lang="zh-CN" altLang="en-US" sz="2400" dirty="0"/>
              <a:t>分布即</a:t>
            </a:r>
            <a:endParaRPr lang="en-US" altLang="zh-CN" sz="2400" dirty="0"/>
          </a:p>
          <a:p>
            <a:pPr>
              <a:buNone/>
            </a:pPr>
            <a:endParaRPr lang="en-US" altLang="zh-CN" sz="2400" dirty="0"/>
          </a:p>
          <a:p>
            <a:pPr>
              <a:buNone/>
            </a:pPr>
            <a:endParaRPr lang="en-US" altLang="zh-CN" sz="2400" dirty="0"/>
          </a:p>
          <a:p>
            <a:pPr>
              <a:lnSpc>
                <a:spcPct val="150000"/>
              </a:lnSpc>
              <a:buNone/>
            </a:pPr>
            <a:r>
              <a:rPr lang="zh-CN" altLang="en-US" sz="2400" dirty="0"/>
              <a:t>    取</a:t>
            </a:r>
            <a:r>
              <a:rPr lang="el-GR" altLang="zh-CN" sz="2400" dirty="0"/>
              <a:t>α</a:t>
            </a:r>
            <a:r>
              <a:rPr lang="en-US" altLang="zh-CN" sz="2400" dirty="0"/>
              <a:t>=</a:t>
            </a:r>
            <a:r>
              <a:rPr lang="el-GR" altLang="zh-CN" sz="2400" dirty="0"/>
              <a:t>β</a:t>
            </a:r>
            <a:r>
              <a:rPr lang="en-US" altLang="zh-CN" sz="2400" dirty="0"/>
              <a:t>=5</a:t>
            </a:r>
            <a:r>
              <a:rPr lang="zh-CN" altLang="en-US" sz="2400" dirty="0"/>
              <a:t>，这样先验分布</a:t>
            </a:r>
            <a:r>
              <a:rPr lang="en-US" altLang="zh-CN" sz="2400" dirty="0"/>
              <a:t>P</a:t>
            </a:r>
            <a:r>
              <a:rPr lang="zh-CN" altLang="en-US" sz="2400" dirty="0"/>
              <a:t>在</a:t>
            </a:r>
            <a:r>
              <a:rPr lang="en-US" sz="2400" dirty="0"/>
              <a:t>0.5</a:t>
            </a:r>
            <a:r>
              <a:rPr lang="zh-CN" altLang="en-US" sz="2400" dirty="0"/>
              <a:t>处取得最大值，对</a:t>
            </a:r>
            <a:r>
              <a:rPr lang="en-US" sz="2400" dirty="0"/>
              <a:t>P</a:t>
            </a:r>
            <a:r>
              <a:rPr lang="zh-CN" altLang="en-US" sz="2400" dirty="0"/>
              <a:t>求导数有</a:t>
            </a:r>
            <a:endParaRPr lang="zh-CN" altLang="en-US" sz="2400" dirty="0"/>
          </a:p>
          <a:p>
            <a:endParaRPr lang="zh-CN" altLang="en-US" sz="24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graphicFrame>
        <p:nvGraphicFramePr>
          <p:cNvPr id="220161" name="Object 1"/>
          <p:cNvGraphicFramePr>
            <a:graphicFrameLocks noChangeAspect="1"/>
          </p:cNvGraphicFramePr>
          <p:nvPr/>
        </p:nvGraphicFramePr>
        <p:xfrm>
          <a:off x="3238480" y="2285993"/>
          <a:ext cx="5634038" cy="631825"/>
        </p:xfrm>
        <a:graphic>
          <a:graphicData uri="http://schemas.openxmlformats.org/presentationml/2006/ole">
            <mc:AlternateContent xmlns:mc="http://schemas.openxmlformats.org/markup-compatibility/2006">
              <mc:Choice xmlns:v="urn:schemas-microsoft-com:vml" Requires="v">
                <p:oleObj spid="_x0000_s183322" name="Equation" r:id="rId1" imgW="2603500" imgH="292100" progId="Equation.DSMT4">
                  <p:embed/>
                </p:oleObj>
              </mc:Choice>
              <mc:Fallback>
                <p:oleObj name="Equation" r:id="rId1" imgW="2603500" imgH="2921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480" y="2285993"/>
                        <a:ext cx="5634038"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6307" name="Object 3"/>
          <p:cNvGraphicFramePr>
            <a:graphicFrameLocks noChangeAspect="1"/>
          </p:cNvGraphicFramePr>
          <p:nvPr/>
        </p:nvGraphicFramePr>
        <p:xfrm>
          <a:off x="5524496" y="642919"/>
          <a:ext cx="3714776" cy="738611"/>
        </p:xfrm>
        <a:graphic>
          <a:graphicData uri="http://schemas.openxmlformats.org/presentationml/2006/ole">
            <mc:AlternateContent xmlns:mc="http://schemas.openxmlformats.org/markup-compatibility/2006">
              <mc:Choice xmlns:v="urn:schemas-microsoft-com:vml" Requires="v">
                <p:oleObj spid="_x0000_s183323" name="Equation" r:id="rId3" imgW="2362200" imgH="469900" progId="Equation.DSMT4">
                  <p:embed/>
                </p:oleObj>
              </mc:Choice>
              <mc:Fallback>
                <p:oleObj name="Equation" r:id="rId3" imgW="2362200" imgH="4699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4496" y="642919"/>
                        <a:ext cx="3714776" cy="738611"/>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6308" name="Object 4"/>
          <p:cNvGraphicFramePr>
            <a:graphicFrameLocks noChangeAspect="1"/>
          </p:cNvGraphicFramePr>
          <p:nvPr/>
        </p:nvGraphicFramePr>
        <p:xfrm>
          <a:off x="3881422" y="1714488"/>
          <a:ext cx="658816" cy="500700"/>
        </p:xfrm>
        <a:graphic>
          <a:graphicData uri="http://schemas.openxmlformats.org/presentationml/2006/ole">
            <mc:AlternateContent xmlns:mc="http://schemas.openxmlformats.org/markup-compatibility/2006">
              <mc:Choice xmlns:v="urn:schemas-microsoft-com:vml" Requires="v">
                <p:oleObj spid="_x0000_s183324" name="Equation" r:id="rId5" imgW="317500" imgH="241300" progId="Equation.DSMT4">
                  <p:embed/>
                </p:oleObj>
              </mc:Choice>
              <mc:Fallback>
                <p:oleObj name="Equation" r:id="rId5" imgW="317500" imgH="2413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1422" y="1714488"/>
                        <a:ext cx="658816" cy="50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6309" name="Object 5"/>
          <p:cNvGraphicFramePr>
            <a:graphicFrameLocks noChangeAspect="1"/>
          </p:cNvGraphicFramePr>
          <p:nvPr/>
        </p:nvGraphicFramePr>
        <p:xfrm>
          <a:off x="2166911" y="4000504"/>
          <a:ext cx="5881687" cy="768350"/>
        </p:xfrm>
        <a:graphic>
          <a:graphicData uri="http://schemas.openxmlformats.org/presentationml/2006/ole">
            <mc:AlternateContent xmlns:mc="http://schemas.openxmlformats.org/markup-compatibility/2006">
              <mc:Choice xmlns:v="urn:schemas-microsoft-com:vml" Requires="v">
                <p:oleObj spid="_x0000_s183325" name="Equation" r:id="rId7" imgW="2717800" imgH="355600" progId="Equation.DSMT4">
                  <p:embed/>
                </p:oleObj>
              </mc:Choice>
              <mc:Fallback>
                <p:oleObj name="Equation" r:id="rId7" imgW="2717800" imgH="355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66911" y="4000504"/>
                        <a:ext cx="5881687"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6310" name="Object 6"/>
          <p:cNvGraphicFramePr>
            <a:graphicFrameLocks noChangeAspect="1"/>
          </p:cNvGraphicFramePr>
          <p:nvPr/>
        </p:nvGraphicFramePr>
        <p:xfrm>
          <a:off x="8272464" y="3429000"/>
          <a:ext cx="2395537" cy="1223962"/>
        </p:xfrm>
        <a:graphic>
          <a:graphicData uri="http://schemas.openxmlformats.org/presentationml/2006/ole">
            <mc:AlternateContent xmlns:mc="http://schemas.openxmlformats.org/markup-compatibility/2006">
              <mc:Choice xmlns:v="urn:schemas-microsoft-com:vml" Requires="v">
                <p:oleObj spid="_x0000_s183326" name="Equation" r:id="rId9" imgW="1218565" imgH="622300" progId="Equation.DSMT4">
                  <p:embed/>
                </p:oleObj>
              </mc:Choice>
              <mc:Fallback>
                <p:oleObj name="Equation" r:id="rId9" imgW="1218565" imgH="6223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2464" y="3429000"/>
                        <a:ext cx="2395537"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6311" name="Object 7"/>
          <p:cNvGraphicFramePr>
            <a:graphicFrameLocks noChangeAspect="1"/>
          </p:cNvGraphicFramePr>
          <p:nvPr/>
        </p:nvGraphicFramePr>
        <p:xfrm>
          <a:off x="2698750" y="5286376"/>
          <a:ext cx="6508750" cy="1357313"/>
        </p:xfrm>
        <a:graphic>
          <a:graphicData uri="http://schemas.openxmlformats.org/presentationml/2006/ole">
            <mc:AlternateContent xmlns:mc="http://schemas.openxmlformats.org/markup-compatibility/2006">
              <mc:Choice xmlns:v="urn:schemas-microsoft-com:vml" Requires="v">
                <p:oleObj spid="_x0000_s183327" name="Equation" r:id="rId11" imgW="3048000" imgH="635000" progId="Equation.DSMT4">
                  <p:embed/>
                </p:oleObj>
              </mc:Choice>
              <mc:Fallback>
                <p:oleObj name="Equation" r:id="rId11" imgW="3048000" imgH="6350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98750" y="5286376"/>
                        <a:ext cx="6508750" cy="13573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矩形 17"/>
          <p:cNvSpPr/>
          <p:nvPr/>
        </p:nvSpPr>
        <p:spPr>
          <a:xfrm>
            <a:off x="1595406" y="4000505"/>
            <a:ext cx="857256" cy="646331"/>
          </a:xfrm>
          <a:prstGeom prst="rect">
            <a:avLst/>
          </a:prstGeom>
        </p:spPr>
        <p:txBody>
          <a:bodyPr wrap="square">
            <a:spAutoFit/>
          </a:bodyPr>
          <a:lstStyle/>
          <a:p>
            <a:r>
              <a:rPr lang="zh-CN" altLang="en-US" b="1" dirty="0">
                <a:solidFill>
                  <a:srgbClr val="FF0000"/>
                </a:solidFill>
              </a:rPr>
              <a:t>先验分布</a:t>
            </a:r>
            <a:endParaRPr lang="zh-CN" altLang="en-US" b="1" dirty="0">
              <a:solidFill>
                <a:srgbClr val="FF0000"/>
              </a:solidFill>
            </a:endParaRPr>
          </a:p>
        </p:txBody>
      </p:sp>
      <p:sp>
        <p:nvSpPr>
          <p:cNvPr id="20" name="矩形 19"/>
          <p:cNvSpPr/>
          <p:nvPr/>
        </p:nvSpPr>
        <p:spPr>
          <a:xfrm>
            <a:off x="4810116" y="3429001"/>
            <a:ext cx="2714644" cy="646331"/>
          </a:xfrm>
          <a:prstGeom prst="rect">
            <a:avLst/>
          </a:prstGeom>
          <a:ln>
            <a:solidFill>
              <a:srgbClr val="92D050"/>
            </a:solidFill>
          </a:ln>
        </p:spPr>
        <p:txBody>
          <a:bodyPr wrap="square">
            <a:spAutoFit/>
          </a:bodyPr>
          <a:lstStyle/>
          <a:p>
            <a:r>
              <a:rPr lang="zh-CN" altLang="en-US" dirty="0"/>
              <a:t>之前已经进行了</a:t>
            </a:r>
            <a:r>
              <a:rPr lang="el-GR" altLang="zh-CN" dirty="0"/>
              <a:t>α</a:t>
            </a:r>
            <a:r>
              <a:rPr lang="en-US" altLang="zh-CN" dirty="0"/>
              <a:t>+</a:t>
            </a:r>
            <a:r>
              <a:rPr lang="el-GR" altLang="zh-CN" dirty="0"/>
              <a:t>β</a:t>
            </a:r>
            <a:r>
              <a:rPr lang="zh-CN" altLang="en-US" dirty="0"/>
              <a:t>次实验，出现了</a:t>
            </a:r>
            <a:r>
              <a:rPr lang="el-GR" altLang="zh-CN" dirty="0"/>
              <a:t>α</a:t>
            </a:r>
            <a:r>
              <a:rPr lang="zh-CN" altLang="en-US" dirty="0"/>
              <a:t>次正面朝上</a:t>
            </a:r>
            <a:endParaRPr lang="zh-CN" altLang="en-US" dirty="0"/>
          </a:p>
        </p:txBody>
      </p:sp>
      <p:cxnSp>
        <p:nvCxnSpPr>
          <p:cNvPr id="23" name="直接箭头连接符 22"/>
          <p:cNvCxnSpPr>
            <a:stCxn id="20" idx="1"/>
          </p:cNvCxnSpPr>
          <p:nvPr/>
        </p:nvCxnSpPr>
        <p:spPr>
          <a:xfrm rot="10800000" flipV="1">
            <a:off x="2952728" y="3752166"/>
            <a:ext cx="1857388" cy="3197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9665499" y="176264"/>
            <a:ext cx="719181" cy="369332"/>
          </a:xfrm>
          <a:prstGeom prst="rect">
            <a:avLst/>
          </a:prstGeom>
          <a:noFill/>
        </p:spPr>
        <p:txBody>
          <a:bodyPr wrap="square">
            <a:spAutoFit/>
          </a:bodyPr>
          <a:lstStyle/>
          <a:p>
            <a:r>
              <a:rPr lang="zh-CN" altLang="en-US" sz="1800" b="1" dirty="0">
                <a:solidFill>
                  <a:srgbClr val="FF0000"/>
                </a:solidFill>
              </a:rPr>
              <a:t>自习</a:t>
            </a:r>
            <a:endParaRPr lang="zh-CN" altLang="en-US" b="1" dirty="0">
              <a:solidFill>
                <a:srgbClr val="FF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196290" cy="563563"/>
          </a:xfrm>
          <a:solidFill>
            <a:schemeClr val="bg1"/>
          </a:solidFill>
        </p:spPr>
        <p:txBody>
          <a:bodyPr/>
          <a:lstStyle/>
          <a:p>
            <a:r>
              <a:rPr lang="zh-CN" altLang="en-US" sz="2400" dirty="0"/>
              <a:t>最大似然估计、最大后验概率估计及贝叶斯估计比较</a:t>
            </a:r>
            <a:endParaRPr lang="zh-CN" altLang="en-US" sz="2400" dirty="0"/>
          </a:p>
        </p:txBody>
      </p:sp>
      <p:sp>
        <p:nvSpPr>
          <p:cNvPr id="3" name="内容占位符 2"/>
          <p:cNvSpPr>
            <a:spLocks noGrp="1"/>
          </p:cNvSpPr>
          <p:nvPr>
            <p:ph idx="1"/>
          </p:nvPr>
        </p:nvSpPr>
        <p:spPr>
          <a:xfrm>
            <a:off x="1828800" y="928670"/>
            <a:ext cx="8458200" cy="5334000"/>
          </a:xfrm>
        </p:spPr>
        <p:txBody>
          <a:bodyPr/>
          <a:lstStyle/>
          <a:p>
            <a:pPr>
              <a:buNone/>
            </a:pPr>
            <a:r>
              <a:rPr lang="en-US" sz="2400" b="1" dirty="0"/>
              <a:t>2</a:t>
            </a:r>
            <a:r>
              <a:rPr lang="zh-CN" altLang="en-US" sz="2400" b="1" dirty="0"/>
              <a:t>、最大后验估计</a:t>
            </a:r>
            <a:r>
              <a:rPr lang="en-US" sz="2400" b="1" dirty="0"/>
              <a:t>MAP</a:t>
            </a:r>
            <a:endParaRPr lang="zh-CN" altLang="en-US" sz="2400" b="1" dirty="0"/>
          </a:p>
          <a:p>
            <a:pPr>
              <a:buNone/>
            </a:pPr>
            <a:r>
              <a:rPr lang="zh-CN" altLang="en-US" sz="2400" dirty="0"/>
              <a:t>     当上述后验概率取得最大值时，我们就得到根据</a:t>
            </a:r>
            <a:r>
              <a:rPr lang="en-US" sz="2400" dirty="0"/>
              <a:t>MAP</a:t>
            </a:r>
            <a:r>
              <a:rPr lang="zh-CN" altLang="en-US" sz="2400" dirty="0"/>
              <a:t>估计出的参数值         。如果给定一个新样本</a:t>
            </a:r>
            <a:r>
              <a:rPr lang="en-US" altLang="zh-CN" sz="2400" dirty="0"/>
              <a:t>x</a:t>
            </a:r>
            <a:r>
              <a:rPr lang="zh-CN" altLang="en-US" sz="2400" dirty="0"/>
              <a:t>，其发生的概率是</a:t>
            </a:r>
            <a:endParaRPr lang="en-US" altLang="zh-CN" sz="2400" dirty="0"/>
          </a:p>
          <a:p>
            <a:pPr>
              <a:lnSpc>
                <a:spcPct val="200000"/>
              </a:lnSpc>
              <a:buNone/>
            </a:pPr>
            <a:endParaRPr lang="en-US" altLang="zh-CN" sz="2400" dirty="0"/>
          </a:p>
          <a:p>
            <a:pPr>
              <a:buNone/>
            </a:pPr>
            <a:r>
              <a:rPr lang="zh-CN" altLang="en-US" sz="2400" dirty="0"/>
              <a:t>    仍然以扔硬币为例，先验概率分布在</a:t>
            </a:r>
            <a:r>
              <a:rPr lang="en-US" sz="2400" dirty="0"/>
              <a:t>0.5</a:t>
            </a:r>
            <a:r>
              <a:rPr lang="zh-CN" altLang="en-US" sz="2400" dirty="0"/>
              <a:t>处取得最大值，选用</a:t>
            </a:r>
            <a:r>
              <a:rPr lang="en-US" sz="2400" dirty="0"/>
              <a:t>Beta</a:t>
            </a:r>
            <a:r>
              <a:rPr lang="zh-CN" altLang="en-US" sz="2400" dirty="0"/>
              <a:t>分布即</a:t>
            </a:r>
            <a:endParaRPr lang="en-US" altLang="zh-CN" sz="2400" dirty="0"/>
          </a:p>
          <a:p>
            <a:pPr>
              <a:buNone/>
            </a:pPr>
            <a:endParaRPr lang="en-US" altLang="zh-CN" sz="2400" dirty="0"/>
          </a:p>
          <a:p>
            <a:pPr>
              <a:buNone/>
            </a:pPr>
            <a:endParaRPr lang="en-US" altLang="zh-CN" sz="2400" dirty="0"/>
          </a:p>
          <a:p>
            <a:pPr>
              <a:lnSpc>
                <a:spcPct val="150000"/>
              </a:lnSpc>
              <a:buNone/>
            </a:pPr>
            <a:r>
              <a:rPr lang="zh-CN" altLang="en-US" sz="2400" dirty="0"/>
              <a:t>    取</a:t>
            </a:r>
            <a:r>
              <a:rPr lang="el-GR" altLang="zh-CN" sz="2400" dirty="0"/>
              <a:t>α</a:t>
            </a:r>
            <a:r>
              <a:rPr lang="en-US" altLang="zh-CN" sz="2400" dirty="0"/>
              <a:t>=</a:t>
            </a:r>
            <a:r>
              <a:rPr lang="el-GR" altLang="zh-CN" sz="2400" dirty="0"/>
              <a:t>β</a:t>
            </a:r>
            <a:r>
              <a:rPr lang="en-US" altLang="zh-CN" sz="2400" dirty="0"/>
              <a:t>=5</a:t>
            </a:r>
            <a:r>
              <a:rPr lang="zh-CN" altLang="en-US" sz="2400" dirty="0"/>
              <a:t>，这样先验分布</a:t>
            </a:r>
            <a:r>
              <a:rPr lang="en-US" altLang="zh-CN" sz="2400" dirty="0"/>
              <a:t>P</a:t>
            </a:r>
            <a:r>
              <a:rPr lang="zh-CN" altLang="en-US" sz="2400" dirty="0"/>
              <a:t>在</a:t>
            </a:r>
            <a:r>
              <a:rPr lang="en-US" sz="2400" dirty="0"/>
              <a:t>0.5</a:t>
            </a:r>
            <a:r>
              <a:rPr lang="zh-CN" altLang="en-US" sz="2400" dirty="0"/>
              <a:t>处取得最大值，对</a:t>
            </a:r>
            <a:r>
              <a:rPr lang="en-US" sz="2400" dirty="0"/>
              <a:t>P</a:t>
            </a:r>
            <a:r>
              <a:rPr lang="zh-CN" altLang="en-US" sz="2400" dirty="0"/>
              <a:t>求导数有</a:t>
            </a:r>
            <a:endParaRPr lang="zh-CN" altLang="en-US" sz="2400" dirty="0"/>
          </a:p>
          <a:p>
            <a:endParaRPr lang="zh-CN" altLang="en-US" sz="24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graphicFrame>
        <p:nvGraphicFramePr>
          <p:cNvPr id="220161" name="Object 1"/>
          <p:cNvGraphicFramePr>
            <a:graphicFrameLocks noChangeAspect="1"/>
          </p:cNvGraphicFramePr>
          <p:nvPr/>
        </p:nvGraphicFramePr>
        <p:xfrm>
          <a:off x="3238480" y="2285993"/>
          <a:ext cx="5634038" cy="631825"/>
        </p:xfrm>
        <a:graphic>
          <a:graphicData uri="http://schemas.openxmlformats.org/presentationml/2006/ole">
            <mc:AlternateContent xmlns:mc="http://schemas.openxmlformats.org/markup-compatibility/2006">
              <mc:Choice xmlns:v="urn:schemas-microsoft-com:vml" Requires="v">
                <p:oleObj spid="_x0000_s184352" name="Equation" r:id="rId1" imgW="2603500" imgH="292100" progId="Equation.DSMT4">
                  <p:embed/>
                </p:oleObj>
              </mc:Choice>
              <mc:Fallback>
                <p:oleObj name="Equation" r:id="rId1" imgW="2603500" imgH="2921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480" y="2285993"/>
                        <a:ext cx="5634038"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6307" name="Object 3"/>
          <p:cNvGraphicFramePr>
            <a:graphicFrameLocks noChangeAspect="1"/>
          </p:cNvGraphicFramePr>
          <p:nvPr/>
        </p:nvGraphicFramePr>
        <p:xfrm>
          <a:off x="5524496" y="642919"/>
          <a:ext cx="3714776" cy="738611"/>
        </p:xfrm>
        <a:graphic>
          <a:graphicData uri="http://schemas.openxmlformats.org/presentationml/2006/ole">
            <mc:AlternateContent xmlns:mc="http://schemas.openxmlformats.org/markup-compatibility/2006">
              <mc:Choice xmlns:v="urn:schemas-microsoft-com:vml" Requires="v">
                <p:oleObj spid="_x0000_s184353" name="Equation" r:id="rId3" imgW="2362200" imgH="469900" progId="Equation.DSMT4">
                  <p:embed/>
                </p:oleObj>
              </mc:Choice>
              <mc:Fallback>
                <p:oleObj name="Equation" r:id="rId3" imgW="2362200" imgH="4699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4496" y="642919"/>
                        <a:ext cx="3714776" cy="738611"/>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6308" name="Object 4"/>
          <p:cNvGraphicFramePr>
            <a:graphicFrameLocks noChangeAspect="1"/>
          </p:cNvGraphicFramePr>
          <p:nvPr/>
        </p:nvGraphicFramePr>
        <p:xfrm>
          <a:off x="3881422" y="1714488"/>
          <a:ext cx="658816" cy="500700"/>
        </p:xfrm>
        <a:graphic>
          <a:graphicData uri="http://schemas.openxmlformats.org/presentationml/2006/ole">
            <mc:AlternateContent xmlns:mc="http://schemas.openxmlformats.org/markup-compatibility/2006">
              <mc:Choice xmlns:v="urn:schemas-microsoft-com:vml" Requires="v">
                <p:oleObj spid="_x0000_s184354" name="Equation" r:id="rId5" imgW="317500" imgH="241300" progId="Equation.DSMT4">
                  <p:embed/>
                </p:oleObj>
              </mc:Choice>
              <mc:Fallback>
                <p:oleObj name="Equation" r:id="rId5" imgW="317500" imgH="2413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1422" y="1714488"/>
                        <a:ext cx="658816" cy="50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6309" name="Object 5"/>
          <p:cNvGraphicFramePr>
            <a:graphicFrameLocks noChangeAspect="1"/>
          </p:cNvGraphicFramePr>
          <p:nvPr/>
        </p:nvGraphicFramePr>
        <p:xfrm>
          <a:off x="2084388" y="3987800"/>
          <a:ext cx="6046787" cy="795338"/>
        </p:xfrm>
        <a:graphic>
          <a:graphicData uri="http://schemas.openxmlformats.org/presentationml/2006/ole">
            <mc:AlternateContent xmlns:mc="http://schemas.openxmlformats.org/markup-compatibility/2006">
              <mc:Choice xmlns:v="urn:schemas-microsoft-com:vml" Requires="v">
                <p:oleObj spid="_x0000_s184355" name="Equation" r:id="rId7" imgW="67056000" imgH="8839200" progId="Equation.DSMT4">
                  <p:embed/>
                </p:oleObj>
              </mc:Choice>
              <mc:Fallback>
                <p:oleObj name="Equation" r:id="rId7" imgW="67056000" imgH="8839200" progId="Equation.DSMT4">
                  <p:embed/>
                  <p:pic>
                    <p:nvPicPr>
                      <p:cNvPr id="0" name="Object 5"/>
                      <p:cNvPicPr>
                        <a:picLocks noChangeAspect="1" noChangeArrowheads="1"/>
                      </p:cNvPicPr>
                      <p:nvPr/>
                    </p:nvPicPr>
                    <p:blipFill>
                      <a:blip r:embed="rId8"/>
                      <a:srcRect/>
                      <a:stretch>
                        <a:fillRect/>
                      </a:stretch>
                    </p:blipFill>
                    <p:spPr bwMode="auto">
                      <a:xfrm>
                        <a:off x="2084388" y="3987800"/>
                        <a:ext cx="6046787" cy="79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6310" name="Object 6"/>
          <p:cNvGraphicFramePr>
            <a:graphicFrameLocks noChangeAspect="1"/>
          </p:cNvGraphicFramePr>
          <p:nvPr/>
        </p:nvGraphicFramePr>
        <p:xfrm>
          <a:off x="8272464" y="3429000"/>
          <a:ext cx="2395537" cy="1223962"/>
        </p:xfrm>
        <a:graphic>
          <a:graphicData uri="http://schemas.openxmlformats.org/presentationml/2006/ole">
            <mc:AlternateContent xmlns:mc="http://schemas.openxmlformats.org/markup-compatibility/2006">
              <mc:Choice xmlns:v="urn:schemas-microsoft-com:vml" Requires="v">
                <p:oleObj spid="_x0000_s184356" name="Equation" r:id="rId9" imgW="1218565" imgH="622300" progId="Equation.DSMT4">
                  <p:embed/>
                </p:oleObj>
              </mc:Choice>
              <mc:Fallback>
                <p:oleObj name="Equation" r:id="rId9" imgW="1218565" imgH="6223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2464" y="3429000"/>
                        <a:ext cx="2395537"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6311" name="Object 7"/>
          <p:cNvGraphicFramePr>
            <a:graphicFrameLocks noChangeAspect="1"/>
          </p:cNvGraphicFramePr>
          <p:nvPr/>
        </p:nvGraphicFramePr>
        <p:xfrm>
          <a:off x="2698750" y="5286376"/>
          <a:ext cx="6508750" cy="1357313"/>
        </p:xfrm>
        <a:graphic>
          <a:graphicData uri="http://schemas.openxmlformats.org/presentationml/2006/ole">
            <mc:AlternateContent xmlns:mc="http://schemas.openxmlformats.org/markup-compatibility/2006">
              <mc:Choice xmlns:v="urn:schemas-microsoft-com:vml" Requires="v">
                <p:oleObj spid="_x0000_s184357" name="Equation" r:id="rId11" imgW="3048000" imgH="635000" progId="Equation.DSMT4">
                  <p:embed/>
                </p:oleObj>
              </mc:Choice>
              <mc:Fallback>
                <p:oleObj name="Equation" r:id="rId11" imgW="3048000" imgH="6350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98750" y="5286376"/>
                        <a:ext cx="6508750" cy="13573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椭圆 10"/>
          <p:cNvSpPr/>
          <p:nvPr/>
        </p:nvSpPr>
        <p:spPr>
          <a:xfrm>
            <a:off x="3858696" y="5461860"/>
            <a:ext cx="259766" cy="649188"/>
          </a:xfrm>
          <a:prstGeom prst="ellipse">
            <a:avLst/>
          </a:prstGeom>
          <a:ln>
            <a:solidFill>
              <a:srgbClr val="FF0000"/>
            </a:solidFill>
          </a:ln>
        </p:spPr>
        <p:txBody>
          <a:bodyPr wrap="none" rtlCol="0" anchor="ctr">
            <a:spAutoFit/>
          </a:bodyPr>
          <a:lstStyle/>
          <a:p>
            <a:pPr algn="ctr"/>
            <a:endParaRPr lang="zh-CN" altLang="en-US" sz="2400" kern="100" dirty="0">
              <a:ea typeface="宋体" panose="02010600030101010101" pitchFamily="2" charset="-122"/>
              <a:cs typeface="Times New Roman" panose="02020603050405020304"/>
            </a:endParaRPr>
          </a:p>
        </p:txBody>
      </p:sp>
      <p:sp>
        <p:nvSpPr>
          <p:cNvPr id="13" name="椭圆 12"/>
          <p:cNvSpPr/>
          <p:nvPr/>
        </p:nvSpPr>
        <p:spPr>
          <a:xfrm>
            <a:off x="4810116" y="5429264"/>
            <a:ext cx="1071570" cy="649188"/>
          </a:xfrm>
          <a:prstGeom prst="ellipse">
            <a:avLst/>
          </a:prstGeom>
          <a:ln>
            <a:solidFill>
              <a:srgbClr val="0070C0"/>
            </a:solidFill>
          </a:ln>
        </p:spPr>
        <p:txBody>
          <a:bodyPr wrap="square" rtlCol="0" anchor="ctr">
            <a:spAutoFit/>
          </a:bodyPr>
          <a:lstStyle/>
          <a:p>
            <a:pPr algn="ctr"/>
            <a:endParaRPr lang="zh-CN" altLang="en-US" sz="2400" kern="100" dirty="0">
              <a:ea typeface="宋体" panose="02010600030101010101" pitchFamily="2" charset="-122"/>
              <a:cs typeface="Times New Roman" panose="02020603050405020304"/>
            </a:endParaRPr>
          </a:p>
        </p:txBody>
      </p:sp>
      <p:cxnSp>
        <p:nvCxnSpPr>
          <p:cNvPr id="17" name="直接连接符 16"/>
          <p:cNvCxnSpPr/>
          <p:nvPr/>
        </p:nvCxnSpPr>
        <p:spPr>
          <a:xfrm>
            <a:off x="3595670" y="4714884"/>
            <a:ext cx="2643206" cy="1588"/>
          </a:xfrm>
          <a:prstGeom prst="line">
            <a:avLst/>
          </a:prstGeom>
          <a:ln>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rot="16200000" flipH="1">
            <a:off x="4774397" y="4893479"/>
            <a:ext cx="714380" cy="35719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595406" y="4000505"/>
            <a:ext cx="857256" cy="646331"/>
          </a:xfrm>
          <a:prstGeom prst="rect">
            <a:avLst/>
          </a:prstGeom>
        </p:spPr>
        <p:txBody>
          <a:bodyPr wrap="square">
            <a:spAutoFit/>
          </a:bodyPr>
          <a:lstStyle/>
          <a:p>
            <a:r>
              <a:rPr lang="zh-CN" altLang="en-US" b="1" dirty="0">
                <a:solidFill>
                  <a:srgbClr val="FF0000"/>
                </a:solidFill>
              </a:rPr>
              <a:t>先验分布</a:t>
            </a:r>
            <a:endParaRPr lang="zh-CN" altLang="en-US" b="1" dirty="0">
              <a:solidFill>
                <a:srgbClr val="FF0000"/>
              </a:solidFill>
            </a:endParaRPr>
          </a:p>
        </p:txBody>
      </p:sp>
      <p:sp>
        <p:nvSpPr>
          <p:cNvPr id="20" name="矩形 19"/>
          <p:cNvSpPr/>
          <p:nvPr/>
        </p:nvSpPr>
        <p:spPr>
          <a:xfrm>
            <a:off x="4810116" y="3429001"/>
            <a:ext cx="2714644" cy="646331"/>
          </a:xfrm>
          <a:prstGeom prst="rect">
            <a:avLst/>
          </a:prstGeom>
          <a:ln>
            <a:solidFill>
              <a:srgbClr val="92D050"/>
            </a:solidFill>
          </a:ln>
        </p:spPr>
        <p:txBody>
          <a:bodyPr wrap="square">
            <a:spAutoFit/>
          </a:bodyPr>
          <a:lstStyle/>
          <a:p>
            <a:r>
              <a:rPr lang="zh-CN" altLang="en-US" dirty="0"/>
              <a:t>之前已经进行了</a:t>
            </a:r>
            <a:r>
              <a:rPr lang="el-GR" altLang="zh-CN" dirty="0"/>
              <a:t>α</a:t>
            </a:r>
            <a:r>
              <a:rPr lang="en-US" altLang="zh-CN" dirty="0"/>
              <a:t>+</a:t>
            </a:r>
            <a:r>
              <a:rPr lang="el-GR" altLang="zh-CN" dirty="0"/>
              <a:t>β</a:t>
            </a:r>
            <a:r>
              <a:rPr lang="zh-CN" altLang="en-US" dirty="0"/>
              <a:t>次实验，出现了</a:t>
            </a:r>
            <a:r>
              <a:rPr lang="el-GR" altLang="zh-CN" dirty="0"/>
              <a:t>α</a:t>
            </a:r>
            <a:r>
              <a:rPr lang="zh-CN" altLang="en-US" dirty="0"/>
              <a:t>次正面朝上</a:t>
            </a:r>
            <a:endParaRPr lang="zh-CN" altLang="en-US" dirty="0"/>
          </a:p>
        </p:txBody>
      </p:sp>
      <p:cxnSp>
        <p:nvCxnSpPr>
          <p:cNvPr id="23" name="直接箭头连接符 22"/>
          <p:cNvCxnSpPr>
            <a:stCxn id="20" idx="1"/>
          </p:cNvCxnSpPr>
          <p:nvPr/>
        </p:nvCxnSpPr>
        <p:spPr>
          <a:xfrm rot="10800000" flipV="1">
            <a:off x="2952728" y="3752166"/>
            <a:ext cx="1857388" cy="3197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9665499" y="176264"/>
            <a:ext cx="719181" cy="369332"/>
          </a:xfrm>
          <a:prstGeom prst="rect">
            <a:avLst/>
          </a:prstGeom>
          <a:noFill/>
        </p:spPr>
        <p:txBody>
          <a:bodyPr wrap="square">
            <a:spAutoFit/>
          </a:bodyPr>
          <a:lstStyle/>
          <a:p>
            <a:r>
              <a:rPr lang="zh-CN" altLang="en-US" sz="1800" b="1" dirty="0">
                <a:solidFill>
                  <a:srgbClr val="FF0000"/>
                </a:solidFill>
              </a:rPr>
              <a:t>自习</a:t>
            </a:r>
            <a:endParaRPr lang="zh-CN" altLang="en-US" b="1" dirty="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196290" cy="563563"/>
          </a:xfrm>
          <a:solidFill>
            <a:schemeClr val="bg1"/>
          </a:solidFill>
        </p:spPr>
        <p:txBody>
          <a:bodyPr/>
          <a:lstStyle/>
          <a:p>
            <a:r>
              <a:rPr lang="zh-CN" altLang="en-US" sz="2400" dirty="0"/>
              <a:t>最大似然估计、最大后验概率估计及贝叶斯估计比较</a:t>
            </a:r>
            <a:endParaRPr lang="zh-CN" altLang="en-US" sz="2400" dirty="0"/>
          </a:p>
        </p:txBody>
      </p:sp>
      <p:sp>
        <p:nvSpPr>
          <p:cNvPr id="3" name="内容占位符 2"/>
          <p:cNvSpPr>
            <a:spLocks noGrp="1"/>
          </p:cNvSpPr>
          <p:nvPr>
            <p:ph idx="1"/>
          </p:nvPr>
        </p:nvSpPr>
        <p:spPr/>
        <p:txBody>
          <a:bodyPr/>
          <a:lstStyle/>
          <a:p>
            <a:pPr>
              <a:buNone/>
            </a:pPr>
            <a:r>
              <a:rPr lang="en-US" sz="2400" b="1" dirty="0"/>
              <a:t>2</a:t>
            </a:r>
            <a:r>
              <a:rPr lang="zh-CN" altLang="en-US" sz="2400" b="1" dirty="0"/>
              <a:t>、最大后验估计</a:t>
            </a:r>
            <a:r>
              <a:rPr lang="en-US" sz="2400" b="1" dirty="0"/>
              <a:t>MAP</a:t>
            </a:r>
            <a:endParaRPr lang="zh-CN" altLang="en-US" sz="2400" b="1" dirty="0"/>
          </a:p>
          <a:p>
            <a:pPr>
              <a:buNone/>
            </a:pPr>
            <a:r>
              <a:rPr lang="zh-CN" altLang="en-US" sz="2400" dirty="0"/>
              <a:t>   得到参数</a:t>
            </a:r>
            <a:r>
              <a:rPr lang="en-US" altLang="zh-CN" sz="2400" dirty="0"/>
              <a:t>P</a:t>
            </a:r>
            <a:r>
              <a:rPr lang="zh-CN" altLang="en-US" sz="2400" dirty="0"/>
              <a:t>的最大后验估计值为</a:t>
            </a:r>
            <a:endParaRPr lang="en-US" altLang="zh-CN" sz="2400" dirty="0"/>
          </a:p>
          <a:p>
            <a:pPr>
              <a:buNone/>
            </a:pPr>
            <a:endParaRPr lang="en-US" altLang="zh-CN" sz="2400" dirty="0"/>
          </a:p>
          <a:p>
            <a:pPr>
              <a:buNone/>
            </a:pPr>
            <a:endParaRPr lang="en-US" altLang="zh-CN" sz="2400" dirty="0"/>
          </a:p>
          <a:p>
            <a:pPr>
              <a:buNone/>
            </a:pPr>
            <a:r>
              <a:rPr lang="zh-CN" altLang="en-US" sz="2400" dirty="0"/>
              <a:t>    如果做</a:t>
            </a:r>
            <a:r>
              <a:rPr lang="en-US" sz="2400" dirty="0"/>
              <a:t>20</a:t>
            </a:r>
            <a:r>
              <a:rPr lang="zh-CN" altLang="en-US" sz="2400" dirty="0"/>
              <a:t>次实验，出现正面</a:t>
            </a:r>
            <a:r>
              <a:rPr lang="en-US" sz="2400" dirty="0"/>
              <a:t>1</a:t>
            </a:r>
            <a:r>
              <a:rPr lang="en-US" altLang="zh-CN" sz="2400" dirty="0"/>
              <a:t>2</a:t>
            </a:r>
            <a:r>
              <a:rPr lang="zh-CN" altLang="en-US" sz="2400" dirty="0"/>
              <a:t>次，反面</a:t>
            </a:r>
            <a:r>
              <a:rPr lang="en-US" sz="2400" dirty="0"/>
              <a:t>8</a:t>
            </a:r>
            <a:r>
              <a:rPr lang="zh-CN" altLang="en-US" sz="2400" dirty="0"/>
              <a:t>次，那么根据</a:t>
            </a:r>
            <a:r>
              <a:rPr lang="en-US" sz="2400" dirty="0"/>
              <a:t>MAP</a:t>
            </a:r>
            <a:r>
              <a:rPr lang="zh-CN" altLang="en-US" sz="2400" dirty="0"/>
              <a:t>估计出来的参数</a:t>
            </a:r>
            <a:r>
              <a:rPr lang="en-US" altLang="zh-CN" sz="2400" dirty="0"/>
              <a:t>P</a:t>
            </a:r>
            <a:r>
              <a:rPr lang="zh-CN" altLang="en-US" sz="2400" dirty="0"/>
              <a:t>为</a:t>
            </a:r>
            <a:r>
              <a:rPr lang="en-US" sz="2400" dirty="0"/>
              <a:t>16/28 = 0.571,</a:t>
            </a:r>
            <a:r>
              <a:rPr lang="zh-CN" altLang="en-US" sz="2400" dirty="0"/>
              <a:t>小于最大似然估计得到的值</a:t>
            </a:r>
            <a:r>
              <a:rPr lang="en-US" sz="2400" dirty="0"/>
              <a:t>0.6</a:t>
            </a:r>
            <a:r>
              <a:rPr lang="zh-CN" altLang="en-US" sz="2400" dirty="0"/>
              <a:t>，这也显示了</a:t>
            </a:r>
            <a:r>
              <a:rPr lang="en-US" sz="2400" dirty="0"/>
              <a:t>“</a:t>
            </a:r>
            <a:r>
              <a:rPr lang="zh-CN" altLang="en-US" sz="2400" dirty="0"/>
              <a:t>硬币一般是两面均匀的</a:t>
            </a:r>
            <a:r>
              <a:rPr lang="en-US" sz="2400" dirty="0"/>
              <a:t>”</a:t>
            </a:r>
            <a:r>
              <a:rPr lang="zh-CN" altLang="en-US" sz="2400" dirty="0"/>
              <a:t>这一先验对参数估计的影响。</a:t>
            </a:r>
            <a:endParaRPr lang="en-US" altLang="zh-CN" sz="2400" dirty="0"/>
          </a:p>
          <a:p>
            <a:pPr>
              <a:buNone/>
            </a:pPr>
            <a:r>
              <a:rPr lang="en-US" sz="2400" b="1" dirty="0"/>
              <a:t>3</a:t>
            </a:r>
            <a:r>
              <a:rPr lang="zh-CN" altLang="en-US" sz="2400" b="1" dirty="0"/>
              <a:t>、贝叶斯估计</a:t>
            </a:r>
            <a:endParaRPr lang="en-US" altLang="zh-CN" sz="2400" b="1" dirty="0"/>
          </a:p>
          <a:p>
            <a:pPr>
              <a:buNone/>
            </a:pPr>
            <a:endParaRPr lang="en-US" altLang="zh-CN" sz="2400" dirty="0"/>
          </a:p>
          <a:p>
            <a:pPr>
              <a:buNone/>
            </a:pPr>
            <a:r>
              <a:rPr lang="zh-CN" altLang="en-US" sz="2400" dirty="0"/>
              <a:t>     </a:t>
            </a:r>
            <a:endParaRPr lang="zh-CN" altLang="en-US" sz="2400" b="1" dirty="0"/>
          </a:p>
          <a:p>
            <a:pPr>
              <a:buNone/>
            </a:pPr>
            <a:endParaRPr lang="en-US" altLang="zh-CN" sz="2400" dirty="0"/>
          </a:p>
          <a:p>
            <a:pPr>
              <a:buNone/>
            </a:pPr>
            <a:endParaRPr lang="en-US" altLang="zh-CN" sz="2400" dirty="0"/>
          </a:p>
          <a:p>
            <a:pPr>
              <a:buNone/>
            </a:pPr>
            <a:r>
              <a:rPr lang="zh-CN" altLang="en-US" sz="2400" dirty="0"/>
              <a:t>    </a:t>
            </a:r>
            <a:endParaRPr lang="zh-CN" altLang="en-US" sz="24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graphicFrame>
        <p:nvGraphicFramePr>
          <p:cNvPr id="226307" name="Object 3"/>
          <p:cNvGraphicFramePr>
            <a:graphicFrameLocks noChangeAspect="1"/>
          </p:cNvGraphicFramePr>
          <p:nvPr/>
        </p:nvGraphicFramePr>
        <p:xfrm>
          <a:off x="5524496" y="642918"/>
          <a:ext cx="4343400" cy="863600"/>
        </p:xfrm>
        <a:graphic>
          <a:graphicData uri="http://schemas.openxmlformats.org/presentationml/2006/ole">
            <mc:AlternateContent xmlns:mc="http://schemas.openxmlformats.org/markup-compatibility/2006">
              <mc:Choice xmlns:v="urn:schemas-microsoft-com:vml" Requires="v">
                <p:oleObj spid="_x0000_s185358" name="Equation" r:id="rId1" imgW="2362200" imgH="469900" progId="Equation.DSMT4">
                  <p:embed/>
                </p:oleObj>
              </mc:Choice>
              <mc:Fallback>
                <p:oleObj name="Equation" r:id="rId1" imgW="2362200" imgH="469900" progId="Equation.DSMT4">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496" y="642918"/>
                        <a:ext cx="4343400" cy="863600"/>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8360" name="Object 8"/>
          <p:cNvGraphicFramePr>
            <a:graphicFrameLocks noChangeAspect="1"/>
          </p:cNvGraphicFramePr>
          <p:nvPr/>
        </p:nvGraphicFramePr>
        <p:xfrm>
          <a:off x="3798888" y="1973264"/>
          <a:ext cx="4094162" cy="852487"/>
        </p:xfrm>
        <a:graphic>
          <a:graphicData uri="http://schemas.openxmlformats.org/presentationml/2006/ole">
            <mc:AlternateContent xmlns:mc="http://schemas.openxmlformats.org/markup-compatibility/2006">
              <mc:Choice xmlns:v="urn:schemas-microsoft-com:vml" Requires="v">
                <p:oleObj spid="_x0000_s185359" name="Equation" r:id="rId3" imgW="1892300" imgH="393700" progId="Equation.DSMT4">
                  <p:embed/>
                </p:oleObj>
              </mc:Choice>
              <mc:Fallback>
                <p:oleObj name="Equation" r:id="rId3" imgW="1892300" imgH="3937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8888" y="1973264"/>
                        <a:ext cx="4094162" cy="85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文本框 7"/>
          <p:cNvSpPr txBox="1"/>
          <p:nvPr/>
        </p:nvSpPr>
        <p:spPr>
          <a:xfrm>
            <a:off x="9665499" y="176264"/>
            <a:ext cx="719181" cy="369332"/>
          </a:xfrm>
          <a:prstGeom prst="rect">
            <a:avLst/>
          </a:prstGeom>
          <a:noFill/>
        </p:spPr>
        <p:txBody>
          <a:bodyPr wrap="square">
            <a:spAutoFit/>
          </a:bodyPr>
          <a:lstStyle/>
          <a:p>
            <a:r>
              <a:rPr lang="zh-CN" altLang="en-US" sz="1800" b="1" dirty="0">
                <a:solidFill>
                  <a:srgbClr val="FF0000"/>
                </a:solidFill>
              </a:rPr>
              <a:t>自习</a:t>
            </a:r>
            <a:endParaRPr lang="zh-CN" altLang="en-US" b="1" dirty="0">
              <a:solidFill>
                <a:srgbClr val="FF0000"/>
              </a:solidFill>
            </a:endParaRPr>
          </a:p>
        </p:txBody>
      </p:sp>
      <p:graphicFrame>
        <p:nvGraphicFramePr>
          <p:cNvPr id="9" name="Object 179"/>
          <p:cNvGraphicFramePr>
            <a:graphicFrameLocks noChangeAspect="1"/>
          </p:cNvGraphicFramePr>
          <p:nvPr/>
        </p:nvGraphicFramePr>
        <p:xfrm>
          <a:off x="3798888" y="4725143"/>
          <a:ext cx="4457352" cy="1183153"/>
        </p:xfrm>
        <a:graphic>
          <a:graphicData uri="http://schemas.openxmlformats.org/presentationml/2006/ole">
            <mc:AlternateContent xmlns:mc="http://schemas.openxmlformats.org/markup-compatibility/2006">
              <mc:Choice xmlns:v="urn:schemas-microsoft-com:vml" Requires="v">
                <p:oleObj spid="_x0000_s185360" name="Equation" r:id="rId5" imgW="1854200" imgH="482600" progId="Equation.DSMT4">
                  <p:embed/>
                </p:oleObj>
              </mc:Choice>
              <mc:Fallback>
                <p:oleObj name="Equation" r:id="rId5" imgW="1854200" imgH="482600" progId="Equation.DSMT4">
                  <p:embed/>
                  <p:pic>
                    <p:nvPicPr>
                      <p:cNvPr id="0" name="Object 1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98888" y="4725143"/>
                        <a:ext cx="4457352" cy="1183153"/>
                      </a:xfrm>
                      <a:prstGeom prst="rect">
                        <a:avLst/>
                      </a:prstGeom>
                      <a:solidFill>
                        <a:schemeClr val="bg1"/>
                      </a:solidFill>
                      <a:ln w="9525">
                        <a:solidFill>
                          <a:schemeClr val="bg1"/>
                        </a:solidFill>
                        <a:miter lim="800000"/>
                        <a:headEnd/>
                        <a:tailEnd/>
                      </a:ln>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196290" cy="563563"/>
          </a:xfrm>
          <a:solidFill>
            <a:schemeClr val="bg1"/>
          </a:solidFill>
        </p:spPr>
        <p:txBody>
          <a:bodyPr/>
          <a:lstStyle/>
          <a:p>
            <a:r>
              <a:rPr lang="zh-CN" altLang="en-US" sz="2400" dirty="0"/>
              <a:t>最大似然估计、最大后验概率估计及贝叶斯估计比较</a:t>
            </a:r>
            <a:endParaRPr lang="zh-CN" altLang="en-US" sz="2400" dirty="0"/>
          </a:p>
        </p:txBody>
      </p:sp>
      <p:sp>
        <p:nvSpPr>
          <p:cNvPr id="3" name="内容占位符 2"/>
          <p:cNvSpPr>
            <a:spLocks noGrp="1"/>
          </p:cNvSpPr>
          <p:nvPr>
            <p:ph idx="1"/>
          </p:nvPr>
        </p:nvSpPr>
        <p:spPr/>
        <p:txBody>
          <a:bodyPr/>
          <a:lstStyle/>
          <a:p>
            <a:pPr>
              <a:buNone/>
            </a:pPr>
            <a:r>
              <a:rPr lang="en-US" sz="2400" b="1" dirty="0"/>
              <a:t>3</a:t>
            </a:r>
            <a:r>
              <a:rPr lang="zh-CN" altLang="en-US" sz="2400" b="1" dirty="0"/>
              <a:t>、贝叶斯估计</a:t>
            </a:r>
            <a:endParaRPr lang="en-US" altLang="zh-CN" sz="2400" b="1" dirty="0"/>
          </a:p>
          <a:p>
            <a:pPr>
              <a:buNone/>
            </a:pPr>
            <a:r>
              <a:rPr lang="zh-CN" altLang="en-US" sz="2400" dirty="0"/>
              <a:t>    仍然以扔硬币的伯努利实验为例。假设先验分布为</a:t>
            </a:r>
            <a:r>
              <a:rPr lang="en-US" sz="2400" dirty="0"/>
              <a:t>Beta</a:t>
            </a:r>
            <a:r>
              <a:rPr lang="zh-CN" altLang="en-US" sz="2400" dirty="0"/>
              <a:t>分布，但是构造贝叶斯估计时，不是要求用后验最大时的参数来近似作为参数值，而是求满足</a:t>
            </a:r>
            <a:r>
              <a:rPr lang="en-US" sz="2400" dirty="0"/>
              <a:t>Beta</a:t>
            </a:r>
            <a:r>
              <a:rPr lang="zh-CN" altLang="en-US" sz="2400" dirty="0"/>
              <a:t>分布的参数</a:t>
            </a:r>
            <a:r>
              <a:rPr lang="en-US" altLang="zh-CN" sz="2400" dirty="0"/>
              <a:t>P</a:t>
            </a:r>
            <a:r>
              <a:rPr lang="zh-CN" altLang="en-US" sz="2400" dirty="0"/>
              <a:t>的期望，有</a:t>
            </a: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r>
              <a:rPr lang="zh-CN" altLang="en-US" sz="2400" dirty="0"/>
              <a:t>     </a:t>
            </a:r>
            <a:endParaRPr lang="zh-CN" altLang="en-US" sz="2400" dirty="0"/>
          </a:p>
          <a:p>
            <a:pPr>
              <a:buNone/>
            </a:pPr>
            <a:endParaRPr lang="zh-CN" altLang="en-US" sz="2400" dirty="0"/>
          </a:p>
          <a:p>
            <a:pPr>
              <a:buNone/>
            </a:pPr>
            <a:endParaRPr lang="en-US" altLang="zh-CN" sz="2400" b="1"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graphicFrame>
        <p:nvGraphicFramePr>
          <p:cNvPr id="227337" name="Object 2"/>
          <p:cNvGraphicFramePr>
            <a:graphicFrameLocks noChangeAspect="1"/>
          </p:cNvGraphicFramePr>
          <p:nvPr/>
        </p:nvGraphicFramePr>
        <p:xfrm>
          <a:off x="1671640" y="2571745"/>
          <a:ext cx="8853517" cy="1206669"/>
        </p:xfrm>
        <a:graphic>
          <a:graphicData uri="http://schemas.openxmlformats.org/presentationml/2006/ole">
            <mc:AlternateContent xmlns:mc="http://schemas.openxmlformats.org/markup-compatibility/2006">
              <mc:Choice xmlns:v="urn:schemas-microsoft-com:vml" Requires="v">
                <p:oleObj spid="_x0000_s186378" name="Equation" r:id="rId1" imgW="5461000" imgH="749300" progId="Equation.DSMT4">
                  <p:embed/>
                </p:oleObj>
              </mc:Choice>
              <mc:Fallback>
                <p:oleObj name="Equation" r:id="rId1" imgW="5461000" imgH="7493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1640" y="2571745"/>
                        <a:ext cx="8853517" cy="120666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
        <p:nvSpPr>
          <p:cNvPr id="7" name="文本框 6"/>
          <p:cNvSpPr txBox="1"/>
          <p:nvPr/>
        </p:nvSpPr>
        <p:spPr>
          <a:xfrm>
            <a:off x="9665499" y="176264"/>
            <a:ext cx="719181" cy="369332"/>
          </a:xfrm>
          <a:prstGeom prst="rect">
            <a:avLst/>
          </a:prstGeom>
          <a:noFill/>
        </p:spPr>
        <p:txBody>
          <a:bodyPr wrap="square">
            <a:spAutoFit/>
          </a:bodyPr>
          <a:lstStyle/>
          <a:p>
            <a:r>
              <a:rPr lang="zh-CN" altLang="en-US" sz="1800" b="1" dirty="0">
                <a:solidFill>
                  <a:srgbClr val="FF0000"/>
                </a:solidFill>
              </a:rPr>
              <a:t>自习</a:t>
            </a:r>
            <a:endParaRPr lang="zh-CN" altLang="en-US" b="1" dirty="0">
              <a:solidFill>
                <a:srgbClr val="FF0000"/>
              </a:solidFill>
            </a:endParaRPr>
          </a:p>
        </p:txBody>
      </p:sp>
      <p:graphicFrame>
        <p:nvGraphicFramePr>
          <p:cNvPr id="8" name="Object 179"/>
          <p:cNvGraphicFramePr>
            <a:graphicFrameLocks noChangeAspect="1"/>
          </p:cNvGraphicFramePr>
          <p:nvPr/>
        </p:nvGraphicFramePr>
        <p:xfrm>
          <a:off x="6057900" y="750442"/>
          <a:ext cx="2883620" cy="765424"/>
        </p:xfrm>
        <a:graphic>
          <a:graphicData uri="http://schemas.openxmlformats.org/presentationml/2006/ole">
            <mc:AlternateContent xmlns:mc="http://schemas.openxmlformats.org/markup-compatibility/2006">
              <mc:Choice xmlns:v="urn:schemas-microsoft-com:vml" Requires="v">
                <p:oleObj spid="_x0000_s186379" name="Equation" r:id="rId3" imgW="1854200" imgH="482600" progId="Equation.DSMT4">
                  <p:embed/>
                </p:oleObj>
              </mc:Choice>
              <mc:Fallback>
                <p:oleObj name="Equation" r:id="rId3" imgW="1854200" imgH="482600" progId="Equation.DSMT4">
                  <p:embed/>
                  <p:pic>
                    <p:nvPicPr>
                      <p:cNvPr id="0" name="Object 17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7900" y="750442"/>
                        <a:ext cx="2883620" cy="765424"/>
                      </a:xfrm>
                      <a:prstGeom prst="rect">
                        <a:avLst/>
                      </a:prstGeom>
                      <a:solidFill>
                        <a:schemeClr val="bg1"/>
                      </a:solidFill>
                      <a:ln w="9525">
                        <a:solidFill>
                          <a:srgbClr val="FF0000"/>
                        </a:solidFill>
                        <a:miter lim="800000"/>
                        <a:headEnd/>
                        <a:tailEnd/>
                      </a:ln>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196290" cy="563563"/>
          </a:xfrm>
          <a:solidFill>
            <a:schemeClr val="bg1"/>
          </a:solidFill>
        </p:spPr>
        <p:txBody>
          <a:bodyPr/>
          <a:lstStyle/>
          <a:p>
            <a:r>
              <a:rPr lang="zh-CN" altLang="en-US" sz="2400" dirty="0"/>
              <a:t>最大似然估计、最大后验概率估计及贝叶斯估计比较</a:t>
            </a:r>
            <a:endParaRPr lang="zh-CN" altLang="en-US" sz="2400" dirty="0"/>
          </a:p>
        </p:txBody>
      </p:sp>
      <p:sp>
        <p:nvSpPr>
          <p:cNvPr id="3" name="内容占位符 2"/>
          <p:cNvSpPr>
            <a:spLocks noGrp="1"/>
          </p:cNvSpPr>
          <p:nvPr>
            <p:ph idx="1"/>
          </p:nvPr>
        </p:nvSpPr>
        <p:spPr/>
        <p:txBody>
          <a:bodyPr/>
          <a:lstStyle/>
          <a:p>
            <a:pPr>
              <a:buNone/>
            </a:pPr>
            <a:r>
              <a:rPr lang="en-US" sz="2400" b="1" dirty="0"/>
              <a:t>3</a:t>
            </a:r>
            <a:r>
              <a:rPr lang="zh-CN" altLang="en-US" sz="2400" b="1" dirty="0"/>
              <a:t>、贝叶斯估计</a:t>
            </a:r>
            <a:endParaRPr lang="en-US" altLang="zh-CN" sz="2400" b="1" dirty="0"/>
          </a:p>
          <a:p>
            <a:pPr>
              <a:buNone/>
            </a:pPr>
            <a:r>
              <a:rPr lang="zh-CN" altLang="en-US" sz="2400" dirty="0"/>
              <a:t>    仍然以扔硬币的伯努利实验为例。假设先验分布为</a:t>
            </a:r>
            <a:r>
              <a:rPr lang="en-US" sz="2400" dirty="0"/>
              <a:t>Beta</a:t>
            </a:r>
            <a:r>
              <a:rPr lang="zh-CN" altLang="en-US" sz="2400" dirty="0"/>
              <a:t>分布，但是构造贝叶斯估计时，不是要求用后验最大时的参数来近似作为参数值，而是求满足</a:t>
            </a:r>
            <a:r>
              <a:rPr lang="en-US" sz="2400" dirty="0"/>
              <a:t>Beta</a:t>
            </a:r>
            <a:r>
              <a:rPr lang="zh-CN" altLang="en-US" sz="2400" dirty="0"/>
              <a:t>分布的参数</a:t>
            </a:r>
            <a:r>
              <a:rPr lang="en-US" altLang="zh-CN" sz="2400" dirty="0"/>
              <a:t>P</a:t>
            </a:r>
            <a:r>
              <a:rPr lang="zh-CN" altLang="en-US" sz="2400" dirty="0"/>
              <a:t>的期望，有</a:t>
            </a: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r>
              <a:rPr lang="zh-CN" altLang="en-US" sz="2400" dirty="0"/>
              <a:t>     </a:t>
            </a:r>
            <a:endParaRPr lang="zh-CN" altLang="en-US" sz="2400" dirty="0"/>
          </a:p>
          <a:p>
            <a:pPr>
              <a:buNone/>
            </a:pPr>
            <a:endParaRPr lang="zh-CN" altLang="en-US" sz="2400" dirty="0"/>
          </a:p>
          <a:p>
            <a:pPr>
              <a:buNone/>
            </a:pPr>
            <a:endParaRPr lang="en-US" altLang="zh-CN" sz="2400" b="1"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graphicFrame>
        <p:nvGraphicFramePr>
          <p:cNvPr id="227337" name="Object 2"/>
          <p:cNvGraphicFramePr>
            <a:graphicFrameLocks noChangeAspect="1"/>
          </p:cNvGraphicFramePr>
          <p:nvPr/>
        </p:nvGraphicFramePr>
        <p:xfrm>
          <a:off x="1671640" y="2571745"/>
          <a:ext cx="8853517" cy="1206669"/>
        </p:xfrm>
        <a:graphic>
          <a:graphicData uri="http://schemas.openxmlformats.org/presentationml/2006/ole">
            <mc:AlternateContent xmlns:mc="http://schemas.openxmlformats.org/markup-compatibility/2006">
              <mc:Choice xmlns:v="urn:schemas-microsoft-com:vml" Requires="v">
                <p:oleObj spid="_x0000_s187406" name="Equation" r:id="rId1" imgW="5461000" imgH="749300" progId="Equation.DSMT4">
                  <p:embed/>
                </p:oleObj>
              </mc:Choice>
              <mc:Fallback>
                <p:oleObj name="Equation" r:id="rId1" imgW="5461000" imgH="7493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1640" y="2571745"/>
                        <a:ext cx="8853517" cy="120666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227342" name="Object 14"/>
          <p:cNvGraphicFramePr>
            <a:graphicFrameLocks noChangeAspect="1"/>
          </p:cNvGraphicFramePr>
          <p:nvPr/>
        </p:nvGraphicFramePr>
        <p:xfrm>
          <a:off x="1692276" y="3929067"/>
          <a:ext cx="8975725" cy="715963"/>
        </p:xfrm>
        <a:graphic>
          <a:graphicData uri="http://schemas.openxmlformats.org/presentationml/2006/ole">
            <mc:AlternateContent xmlns:mc="http://schemas.openxmlformats.org/markup-compatibility/2006">
              <mc:Choice xmlns:v="urn:schemas-microsoft-com:vml" Requires="v">
                <p:oleObj spid="_x0000_s187407" name="Equation" r:id="rId3" imgW="5537200" imgH="444500" progId="Equation.DSMT4">
                  <p:embed/>
                </p:oleObj>
              </mc:Choice>
              <mc:Fallback>
                <p:oleObj name="Equation" r:id="rId3" imgW="5537200" imgH="444500" progId="Equation.DSMT4">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6" y="3929067"/>
                        <a:ext cx="8975725" cy="715963"/>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cxnSp>
        <p:nvCxnSpPr>
          <p:cNvPr id="13" name="直接箭头连接符 12"/>
          <p:cNvCxnSpPr/>
          <p:nvPr/>
        </p:nvCxnSpPr>
        <p:spPr>
          <a:xfrm rot="10800000" flipV="1">
            <a:off x="1881158" y="3429000"/>
            <a:ext cx="6715172" cy="64294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6524628" y="4000504"/>
            <a:ext cx="785818" cy="571504"/>
          </a:xfrm>
          <a:prstGeom prst="line">
            <a:avLst/>
          </a:prstGeom>
          <a:ln>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8239140" y="2714620"/>
            <a:ext cx="785818" cy="500066"/>
          </a:xfrm>
          <a:prstGeom prst="line">
            <a:avLst/>
          </a:prstGeom>
          <a:ln>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9665499" y="176264"/>
            <a:ext cx="719181" cy="369332"/>
          </a:xfrm>
          <a:prstGeom prst="rect">
            <a:avLst/>
          </a:prstGeom>
          <a:noFill/>
        </p:spPr>
        <p:txBody>
          <a:bodyPr wrap="square">
            <a:spAutoFit/>
          </a:bodyPr>
          <a:lstStyle/>
          <a:p>
            <a:r>
              <a:rPr lang="zh-CN" altLang="en-US" sz="1800" b="1" dirty="0">
                <a:solidFill>
                  <a:srgbClr val="FF0000"/>
                </a:solidFill>
              </a:rPr>
              <a:t>自习</a:t>
            </a:r>
            <a:endParaRPr lang="zh-CN" altLang="en-US" b="1" dirty="0">
              <a:solidFill>
                <a:srgbClr val="FF0000"/>
              </a:solidFill>
            </a:endParaRPr>
          </a:p>
        </p:txBody>
      </p:sp>
      <p:graphicFrame>
        <p:nvGraphicFramePr>
          <p:cNvPr id="12" name="Object 179"/>
          <p:cNvGraphicFramePr>
            <a:graphicFrameLocks noChangeAspect="1"/>
          </p:cNvGraphicFramePr>
          <p:nvPr/>
        </p:nvGraphicFramePr>
        <p:xfrm>
          <a:off x="6057900" y="750442"/>
          <a:ext cx="2883620" cy="765424"/>
        </p:xfrm>
        <a:graphic>
          <a:graphicData uri="http://schemas.openxmlformats.org/presentationml/2006/ole">
            <mc:AlternateContent xmlns:mc="http://schemas.openxmlformats.org/markup-compatibility/2006">
              <mc:Choice xmlns:v="urn:schemas-microsoft-com:vml" Requires="v">
                <p:oleObj spid="_x0000_s187408" name="Equation" r:id="rId5" imgW="1854200" imgH="482600" progId="Equation.DSMT4">
                  <p:embed/>
                </p:oleObj>
              </mc:Choice>
              <mc:Fallback>
                <p:oleObj name="Equation" r:id="rId5" imgW="1854200" imgH="482600" progId="Equation.DSMT4">
                  <p:embed/>
                  <p:pic>
                    <p:nvPicPr>
                      <p:cNvPr id="0" name="Object 1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57900" y="750442"/>
                        <a:ext cx="2883620" cy="765424"/>
                      </a:xfrm>
                      <a:prstGeom prst="rect">
                        <a:avLst/>
                      </a:prstGeom>
                      <a:solidFill>
                        <a:schemeClr val="bg1"/>
                      </a:solidFill>
                      <a:ln w="9525">
                        <a:solidFill>
                          <a:srgbClr val="FF0000"/>
                        </a:solidFill>
                        <a:miter lim="800000"/>
                        <a:headEnd/>
                        <a:tailEnd/>
                      </a:ln>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196290" cy="563563"/>
          </a:xfrm>
          <a:solidFill>
            <a:schemeClr val="bg1"/>
          </a:solidFill>
        </p:spPr>
        <p:txBody>
          <a:bodyPr/>
          <a:lstStyle/>
          <a:p>
            <a:r>
              <a:rPr lang="zh-CN" altLang="en-US" sz="2400" dirty="0"/>
              <a:t>最大似然估计、最大后验概率估计及贝叶斯估计比较</a:t>
            </a:r>
            <a:endParaRPr lang="zh-CN" altLang="en-US" sz="2400" dirty="0"/>
          </a:p>
        </p:txBody>
      </p:sp>
      <p:sp>
        <p:nvSpPr>
          <p:cNvPr id="3" name="内容占位符 2"/>
          <p:cNvSpPr>
            <a:spLocks noGrp="1"/>
          </p:cNvSpPr>
          <p:nvPr>
            <p:ph idx="1"/>
          </p:nvPr>
        </p:nvSpPr>
        <p:spPr/>
        <p:txBody>
          <a:bodyPr/>
          <a:lstStyle/>
          <a:p>
            <a:pPr>
              <a:buNone/>
            </a:pPr>
            <a:r>
              <a:rPr lang="en-US" sz="2400" b="1" dirty="0"/>
              <a:t>3</a:t>
            </a:r>
            <a:r>
              <a:rPr lang="zh-CN" altLang="en-US" sz="2400" b="1" dirty="0"/>
              <a:t>、贝叶斯估计</a:t>
            </a:r>
            <a:endParaRPr lang="en-US" altLang="zh-CN" sz="2400" b="1" dirty="0"/>
          </a:p>
          <a:p>
            <a:pPr>
              <a:buNone/>
            </a:pPr>
            <a:r>
              <a:rPr lang="zh-CN" altLang="en-US" sz="2400" dirty="0"/>
              <a:t>    仍然以扔硬币的伯努利实验为例。假设先验分布为</a:t>
            </a:r>
            <a:r>
              <a:rPr lang="en-US" sz="2400" dirty="0"/>
              <a:t>Beta</a:t>
            </a:r>
            <a:r>
              <a:rPr lang="zh-CN" altLang="en-US" sz="2400" dirty="0"/>
              <a:t>分布，但是构造贝叶斯估计时，不是要求用后验最大时的参数来近似作为参数值，而是求满足</a:t>
            </a:r>
            <a:r>
              <a:rPr lang="en-US" sz="2400" dirty="0"/>
              <a:t>Beta</a:t>
            </a:r>
            <a:r>
              <a:rPr lang="zh-CN" altLang="en-US" sz="2400" dirty="0"/>
              <a:t>分布的参数</a:t>
            </a:r>
            <a:r>
              <a:rPr lang="en-US" altLang="zh-CN" sz="2400" dirty="0"/>
              <a:t>P</a:t>
            </a:r>
            <a:r>
              <a:rPr lang="zh-CN" altLang="en-US" sz="2400" dirty="0"/>
              <a:t>的期望，有</a:t>
            </a: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r>
              <a:rPr lang="zh-CN" altLang="en-US" sz="2400" dirty="0"/>
              <a:t>     </a:t>
            </a:r>
            <a:endParaRPr lang="zh-CN" altLang="en-US" sz="2400" dirty="0"/>
          </a:p>
          <a:p>
            <a:pPr>
              <a:buNone/>
            </a:pPr>
            <a:endParaRPr lang="zh-CN" altLang="en-US" sz="2400" dirty="0"/>
          </a:p>
          <a:p>
            <a:pPr>
              <a:buNone/>
            </a:pPr>
            <a:endParaRPr lang="en-US" altLang="zh-CN" sz="2400" b="1"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graphicFrame>
        <p:nvGraphicFramePr>
          <p:cNvPr id="227337" name="Object 2"/>
          <p:cNvGraphicFramePr>
            <a:graphicFrameLocks noChangeAspect="1"/>
          </p:cNvGraphicFramePr>
          <p:nvPr/>
        </p:nvGraphicFramePr>
        <p:xfrm>
          <a:off x="1671640" y="2571745"/>
          <a:ext cx="8853517" cy="1206669"/>
        </p:xfrm>
        <a:graphic>
          <a:graphicData uri="http://schemas.openxmlformats.org/presentationml/2006/ole">
            <mc:AlternateContent xmlns:mc="http://schemas.openxmlformats.org/markup-compatibility/2006">
              <mc:Choice xmlns:v="urn:schemas-microsoft-com:vml" Requires="v">
                <p:oleObj spid="_x0000_s188438" name="Equation" r:id="rId1" imgW="5461000" imgH="749300" progId="Equation.DSMT4">
                  <p:embed/>
                </p:oleObj>
              </mc:Choice>
              <mc:Fallback>
                <p:oleObj name="Equation" r:id="rId1" imgW="5461000" imgH="7493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1640" y="2571745"/>
                        <a:ext cx="8853517" cy="120666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227342" name="Object 14"/>
          <p:cNvGraphicFramePr>
            <a:graphicFrameLocks noChangeAspect="1"/>
          </p:cNvGraphicFramePr>
          <p:nvPr/>
        </p:nvGraphicFramePr>
        <p:xfrm>
          <a:off x="1692276" y="3929067"/>
          <a:ext cx="8975725" cy="715963"/>
        </p:xfrm>
        <a:graphic>
          <a:graphicData uri="http://schemas.openxmlformats.org/presentationml/2006/ole">
            <mc:AlternateContent xmlns:mc="http://schemas.openxmlformats.org/markup-compatibility/2006">
              <mc:Choice xmlns:v="urn:schemas-microsoft-com:vml" Requires="v">
                <p:oleObj spid="_x0000_s188439" name="Equation" r:id="rId3" imgW="5537200" imgH="444500" progId="Equation.DSMT4">
                  <p:embed/>
                </p:oleObj>
              </mc:Choice>
              <mc:Fallback>
                <p:oleObj name="Equation" r:id="rId3" imgW="5537200" imgH="444500" progId="Equation.DSMT4">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6" y="3929067"/>
                        <a:ext cx="8975725" cy="715963"/>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cxnSp>
        <p:nvCxnSpPr>
          <p:cNvPr id="13" name="直接箭头连接符 12"/>
          <p:cNvCxnSpPr/>
          <p:nvPr/>
        </p:nvCxnSpPr>
        <p:spPr>
          <a:xfrm rot="10800000" flipV="1">
            <a:off x="1881158" y="3429000"/>
            <a:ext cx="6715172" cy="64294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27343" name="Object 15"/>
          <p:cNvGraphicFramePr>
            <a:graphicFrameLocks noChangeAspect="1"/>
          </p:cNvGraphicFramePr>
          <p:nvPr/>
        </p:nvGraphicFramePr>
        <p:xfrm>
          <a:off x="1666846" y="4786323"/>
          <a:ext cx="3500461" cy="661031"/>
        </p:xfrm>
        <a:graphic>
          <a:graphicData uri="http://schemas.openxmlformats.org/presentationml/2006/ole">
            <mc:AlternateContent xmlns:mc="http://schemas.openxmlformats.org/markup-compatibility/2006">
              <mc:Choice xmlns:v="urn:schemas-microsoft-com:vml" Requires="v">
                <p:oleObj spid="_x0000_s188440" name="Equation" r:id="rId5" imgW="1879600" imgH="355600" progId="Equation.DSMT4">
                  <p:embed/>
                </p:oleObj>
              </mc:Choice>
              <mc:Fallback>
                <p:oleObj name="Equation" r:id="rId5" imgW="1879600" imgH="355600" progId="Equation.DSMT4">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66846" y="4786323"/>
                        <a:ext cx="3500461" cy="661031"/>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7344" name="Object 16"/>
          <p:cNvGraphicFramePr>
            <a:graphicFrameLocks noChangeAspect="1"/>
          </p:cNvGraphicFramePr>
          <p:nvPr/>
        </p:nvGraphicFramePr>
        <p:xfrm>
          <a:off x="5591944" y="4653136"/>
          <a:ext cx="4896544" cy="547332"/>
        </p:xfrm>
        <a:graphic>
          <a:graphicData uri="http://schemas.openxmlformats.org/presentationml/2006/ole">
            <mc:AlternateContent xmlns:mc="http://schemas.openxmlformats.org/markup-compatibility/2006">
              <mc:Choice xmlns:v="urn:schemas-microsoft-com:vml" Requires="v">
                <p:oleObj spid="_x0000_s188441" name="Equation" r:id="rId7" imgW="2832100" imgH="317500" progId="Equation.DSMT4">
                  <p:embed/>
                </p:oleObj>
              </mc:Choice>
              <mc:Fallback>
                <p:oleObj name="Equation" r:id="rId7" imgW="2832100" imgH="317500" progId="Equation.DSMT4">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91944" y="4653136"/>
                        <a:ext cx="4896544" cy="547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右箭头 16"/>
          <p:cNvSpPr/>
          <p:nvPr/>
        </p:nvSpPr>
        <p:spPr>
          <a:xfrm>
            <a:off x="5310182" y="4526346"/>
            <a:ext cx="214314" cy="917079"/>
          </a:xfrm>
          <a:prstGeom prst="rightArrow">
            <a:avLst/>
          </a:prstGeom>
          <a:solidFill>
            <a:srgbClr val="00B0F0"/>
          </a:solidFill>
        </p:spPr>
        <p:txBody>
          <a:bodyPr wrap="square" rtlCol="0" anchor="ctr">
            <a:spAutoFit/>
          </a:bodyPr>
          <a:lstStyle/>
          <a:p>
            <a:pPr algn="ctr"/>
            <a:endParaRPr lang="zh-CN" altLang="en-US" sz="2400" kern="100" dirty="0">
              <a:ea typeface="宋体" panose="02010600030101010101" pitchFamily="2" charset="-122"/>
              <a:cs typeface="Times New Roman" panose="02020603050405020304"/>
            </a:endParaRPr>
          </a:p>
        </p:txBody>
      </p:sp>
      <p:cxnSp>
        <p:nvCxnSpPr>
          <p:cNvPr id="39" name="直接连接符 38"/>
          <p:cNvCxnSpPr/>
          <p:nvPr/>
        </p:nvCxnSpPr>
        <p:spPr>
          <a:xfrm flipV="1">
            <a:off x="6524628" y="4000504"/>
            <a:ext cx="785818" cy="571504"/>
          </a:xfrm>
          <a:prstGeom prst="line">
            <a:avLst/>
          </a:prstGeom>
          <a:ln>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8239140" y="2714620"/>
            <a:ext cx="785818" cy="500066"/>
          </a:xfrm>
          <a:prstGeom prst="line">
            <a:avLst/>
          </a:prstGeom>
          <a:ln>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9665499" y="176264"/>
            <a:ext cx="719181" cy="369332"/>
          </a:xfrm>
          <a:prstGeom prst="rect">
            <a:avLst/>
          </a:prstGeom>
          <a:noFill/>
        </p:spPr>
        <p:txBody>
          <a:bodyPr wrap="square">
            <a:spAutoFit/>
          </a:bodyPr>
          <a:lstStyle/>
          <a:p>
            <a:r>
              <a:rPr lang="zh-CN" altLang="en-US" sz="1800" b="1" dirty="0">
                <a:solidFill>
                  <a:srgbClr val="FF0000"/>
                </a:solidFill>
              </a:rPr>
              <a:t>自习</a:t>
            </a:r>
            <a:endParaRPr lang="zh-CN" altLang="en-US" b="1" dirty="0">
              <a:solidFill>
                <a:srgbClr val="FF0000"/>
              </a:solidFill>
            </a:endParaRPr>
          </a:p>
        </p:txBody>
      </p:sp>
      <p:graphicFrame>
        <p:nvGraphicFramePr>
          <p:cNvPr id="15" name="Object 179"/>
          <p:cNvGraphicFramePr>
            <a:graphicFrameLocks noChangeAspect="1"/>
          </p:cNvGraphicFramePr>
          <p:nvPr/>
        </p:nvGraphicFramePr>
        <p:xfrm>
          <a:off x="6057900" y="750442"/>
          <a:ext cx="2883620" cy="765424"/>
        </p:xfrm>
        <a:graphic>
          <a:graphicData uri="http://schemas.openxmlformats.org/presentationml/2006/ole">
            <mc:AlternateContent xmlns:mc="http://schemas.openxmlformats.org/markup-compatibility/2006">
              <mc:Choice xmlns:v="urn:schemas-microsoft-com:vml" Requires="v">
                <p:oleObj spid="_x0000_s188442" name="Equation" r:id="rId9" imgW="1854200" imgH="482600" progId="Equation.DSMT4">
                  <p:embed/>
                </p:oleObj>
              </mc:Choice>
              <mc:Fallback>
                <p:oleObj name="Equation" r:id="rId9" imgW="1854200" imgH="482600" progId="Equation.DSMT4">
                  <p:embed/>
                  <p:pic>
                    <p:nvPicPr>
                      <p:cNvPr id="0" name="Object 17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57900" y="750442"/>
                        <a:ext cx="2883620" cy="765424"/>
                      </a:xfrm>
                      <a:prstGeom prst="rect">
                        <a:avLst/>
                      </a:prstGeom>
                      <a:solidFill>
                        <a:schemeClr val="bg1"/>
                      </a:solidFill>
                      <a:ln w="9525">
                        <a:solidFill>
                          <a:srgbClr val="FF0000"/>
                        </a:solidFill>
                        <a:miter lim="800000"/>
                        <a:headEnd/>
                        <a:tailEnd/>
                      </a:ln>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196290" cy="563563"/>
          </a:xfrm>
          <a:solidFill>
            <a:schemeClr val="bg1"/>
          </a:solidFill>
        </p:spPr>
        <p:txBody>
          <a:bodyPr/>
          <a:lstStyle/>
          <a:p>
            <a:r>
              <a:rPr lang="zh-CN" altLang="en-US" sz="2400" dirty="0"/>
              <a:t>最大似然估计、最大后验概率估计及贝叶斯估计比较</a:t>
            </a:r>
            <a:endParaRPr lang="zh-CN" altLang="en-US" sz="2400" dirty="0"/>
          </a:p>
        </p:txBody>
      </p:sp>
      <p:sp>
        <p:nvSpPr>
          <p:cNvPr id="3" name="内容占位符 2"/>
          <p:cNvSpPr>
            <a:spLocks noGrp="1"/>
          </p:cNvSpPr>
          <p:nvPr>
            <p:ph idx="1"/>
          </p:nvPr>
        </p:nvSpPr>
        <p:spPr/>
        <p:txBody>
          <a:bodyPr/>
          <a:lstStyle/>
          <a:p>
            <a:pPr>
              <a:buNone/>
            </a:pPr>
            <a:r>
              <a:rPr lang="en-US" sz="2400" b="1" dirty="0"/>
              <a:t>3</a:t>
            </a:r>
            <a:r>
              <a:rPr lang="zh-CN" altLang="en-US" sz="2400" b="1" dirty="0"/>
              <a:t>、贝叶斯估计</a:t>
            </a:r>
            <a:endParaRPr lang="en-US" altLang="zh-CN" sz="2400" b="1" dirty="0"/>
          </a:p>
          <a:p>
            <a:pPr>
              <a:buNone/>
            </a:pPr>
            <a:r>
              <a:rPr lang="zh-CN" altLang="en-US" sz="2400" dirty="0"/>
              <a:t>    仍然以扔硬币的伯努利实验为例。假设先验分布为</a:t>
            </a:r>
            <a:r>
              <a:rPr lang="en-US" sz="2400" dirty="0"/>
              <a:t>Beta</a:t>
            </a:r>
            <a:r>
              <a:rPr lang="zh-CN" altLang="en-US" sz="2400" dirty="0"/>
              <a:t>分布，但是构造贝叶斯估计时，不是要求用后验最大时的参数来近似作为参数值，而是求满足</a:t>
            </a:r>
            <a:r>
              <a:rPr lang="en-US" sz="2400" dirty="0"/>
              <a:t>Beta</a:t>
            </a:r>
            <a:r>
              <a:rPr lang="zh-CN" altLang="en-US" sz="2400" dirty="0"/>
              <a:t>分布的参数</a:t>
            </a:r>
            <a:r>
              <a:rPr lang="en-US" altLang="zh-CN" sz="2400" dirty="0"/>
              <a:t>P</a:t>
            </a:r>
            <a:r>
              <a:rPr lang="zh-CN" altLang="en-US" sz="2400" dirty="0"/>
              <a:t>的期望，有</a:t>
            </a: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r>
              <a:rPr lang="zh-CN" altLang="en-US" sz="2400" dirty="0"/>
              <a:t>     </a:t>
            </a:r>
            <a:endParaRPr lang="zh-CN" altLang="en-US" sz="2400" dirty="0"/>
          </a:p>
          <a:p>
            <a:pPr>
              <a:buNone/>
            </a:pPr>
            <a:endParaRPr lang="zh-CN" altLang="en-US" sz="2400" dirty="0"/>
          </a:p>
          <a:p>
            <a:pPr>
              <a:buNone/>
            </a:pPr>
            <a:endParaRPr lang="en-US" altLang="zh-CN" sz="2400" b="1"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graphicFrame>
        <p:nvGraphicFramePr>
          <p:cNvPr id="227337" name="Object 2"/>
          <p:cNvGraphicFramePr>
            <a:graphicFrameLocks noChangeAspect="1"/>
          </p:cNvGraphicFramePr>
          <p:nvPr/>
        </p:nvGraphicFramePr>
        <p:xfrm>
          <a:off x="1671640" y="2571745"/>
          <a:ext cx="8853517" cy="1206669"/>
        </p:xfrm>
        <a:graphic>
          <a:graphicData uri="http://schemas.openxmlformats.org/presentationml/2006/ole">
            <mc:AlternateContent xmlns:mc="http://schemas.openxmlformats.org/markup-compatibility/2006">
              <mc:Choice xmlns:v="urn:schemas-microsoft-com:vml" Requires="v">
                <p:oleObj spid="_x0000_s189466" name="Equation" r:id="rId1" imgW="5461000" imgH="749300" progId="Equation.DSMT4">
                  <p:embed/>
                </p:oleObj>
              </mc:Choice>
              <mc:Fallback>
                <p:oleObj name="Equation" r:id="rId1" imgW="5461000" imgH="7493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1640" y="2571745"/>
                        <a:ext cx="8853517" cy="120666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227342" name="Object 14"/>
          <p:cNvGraphicFramePr>
            <a:graphicFrameLocks noChangeAspect="1"/>
          </p:cNvGraphicFramePr>
          <p:nvPr/>
        </p:nvGraphicFramePr>
        <p:xfrm>
          <a:off x="1692276" y="3929067"/>
          <a:ext cx="8975725" cy="715963"/>
        </p:xfrm>
        <a:graphic>
          <a:graphicData uri="http://schemas.openxmlformats.org/presentationml/2006/ole">
            <mc:AlternateContent xmlns:mc="http://schemas.openxmlformats.org/markup-compatibility/2006">
              <mc:Choice xmlns:v="urn:schemas-microsoft-com:vml" Requires="v">
                <p:oleObj spid="_x0000_s189467" name="Equation" r:id="rId3" imgW="5537200" imgH="444500" progId="Equation.DSMT4">
                  <p:embed/>
                </p:oleObj>
              </mc:Choice>
              <mc:Fallback>
                <p:oleObj name="Equation" r:id="rId3" imgW="5537200" imgH="444500" progId="Equation.DSMT4">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6" y="3929067"/>
                        <a:ext cx="8975725" cy="715963"/>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cxnSp>
        <p:nvCxnSpPr>
          <p:cNvPr id="13" name="直接箭头连接符 12"/>
          <p:cNvCxnSpPr/>
          <p:nvPr/>
        </p:nvCxnSpPr>
        <p:spPr>
          <a:xfrm rot="10800000" flipV="1">
            <a:off x="1881158" y="3429000"/>
            <a:ext cx="6715172" cy="64294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27343" name="Object 15"/>
          <p:cNvGraphicFramePr>
            <a:graphicFrameLocks noChangeAspect="1"/>
          </p:cNvGraphicFramePr>
          <p:nvPr/>
        </p:nvGraphicFramePr>
        <p:xfrm>
          <a:off x="1666846" y="4786323"/>
          <a:ext cx="3500461" cy="661031"/>
        </p:xfrm>
        <a:graphic>
          <a:graphicData uri="http://schemas.openxmlformats.org/presentationml/2006/ole">
            <mc:AlternateContent xmlns:mc="http://schemas.openxmlformats.org/markup-compatibility/2006">
              <mc:Choice xmlns:v="urn:schemas-microsoft-com:vml" Requires="v">
                <p:oleObj spid="_x0000_s189468" name="Equation" r:id="rId5" imgW="1879600" imgH="355600" progId="Equation.DSMT4">
                  <p:embed/>
                </p:oleObj>
              </mc:Choice>
              <mc:Fallback>
                <p:oleObj name="Equation" r:id="rId5" imgW="1879600" imgH="355600" progId="Equation.DSMT4">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66846" y="4786323"/>
                        <a:ext cx="3500461" cy="661031"/>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7344" name="Object 16"/>
          <p:cNvGraphicFramePr>
            <a:graphicFrameLocks noChangeAspect="1"/>
          </p:cNvGraphicFramePr>
          <p:nvPr/>
        </p:nvGraphicFramePr>
        <p:xfrm>
          <a:off x="5591944" y="4653136"/>
          <a:ext cx="4896544" cy="547332"/>
        </p:xfrm>
        <a:graphic>
          <a:graphicData uri="http://schemas.openxmlformats.org/presentationml/2006/ole">
            <mc:AlternateContent xmlns:mc="http://schemas.openxmlformats.org/markup-compatibility/2006">
              <mc:Choice xmlns:v="urn:schemas-microsoft-com:vml" Requires="v">
                <p:oleObj spid="_x0000_s189469" name="Equation" r:id="rId7" imgW="2832100" imgH="317500" progId="Equation.DSMT4">
                  <p:embed/>
                </p:oleObj>
              </mc:Choice>
              <mc:Fallback>
                <p:oleObj name="Equation" r:id="rId7" imgW="2832100" imgH="317500" progId="Equation.DSMT4">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91944" y="4653136"/>
                        <a:ext cx="4896544" cy="547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右箭头 16"/>
          <p:cNvSpPr/>
          <p:nvPr/>
        </p:nvSpPr>
        <p:spPr>
          <a:xfrm>
            <a:off x="5310182" y="4526346"/>
            <a:ext cx="214314" cy="917079"/>
          </a:xfrm>
          <a:prstGeom prst="rightArrow">
            <a:avLst/>
          </a:prstGeom>
          <a:solidFill>
            <a:srgbClr val="00B0F0"/>
          </a:solidFill>
        </p:spPr>
        <p:txBody>
          <a:bodyPr wrap="square" rtlCol="0" anchor="ctr">
            <a:spAutoFit/>
          </a:bodyPr>
          <a:lstStyle/>
          <a:p>
            <a:pPr algn="ctr"/>
            <a:endParaRPr lang="zh-CN" altLang="en-US" sz="2400" kern="100" dirty="0">
              <a:ea typeface="宋体" panose="02010600030101010101" pitchFamily="2" charset="-122"/>
              <a:cs typeface="Times New Roman" panose="02020603050405020304"/>
            </a:endParaRPr>
          </a:p>
        </p:txBody>
      </p:sp>
      <p:graphicFrame>
        <p:nvGraphicFramePr>
          <p:cNvPr id="227346" name="Object 18"/>
          <p:cNvGraphicFramePr>
            <a:graphicFrameLocks noChangeAspect="1"/>
          </p:cNvGraphicFramePr>
          <p:nvPr/>
        </p:nvGraphicFramePr>
        <p:xfrm>
          <a:off x="7031039" y="5556250"/>
          <a:ext cx="3636962" cy="802044"/>
        </p:xfrm>
        <a:graphic>
          <a:graphicData uri="http://schemas.openxmlformats.org/presentationml/2006/ole">
            <mc:AlternateContent xmlns:mc="http://schemas.openxmlformats.org/markup-compatibility/2006">
              <mc:Choice xmlns:v="urn:schemas-microsoft-com:vml" Requires="v">
                <p:oleObj spid="_x0000_s189470" name="Equation" r:id="rId9" imgW="1905000" imgH="419100" progId="Equation.DSMT4">
                  <p:embed/>
                </p:oleObj>
              </mc:Choice>
              <mc:Fallback>
                <p:oleObj name="Equation" r:id="rId9" imgW="1905000" imgH="419100" progId="Equation.DSMT4">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31039" y="5556250"/>
                        <a:ext cx="3636962" cy="802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下箭头 20"/>
          <p:cNvSpPr/>
          <p:nvPr/>
        </p:nvSpPr>
        <p:spPr>
          <a:xfrm>
            <a:off x="8882082" y="5085280"/>
            <a:ext cx="484632" cy="582216"/>
          </a:xfrm>
          <a:prstGeom prst="downArrow">
            <a:avLst/>
          </a:prstGeom>
          <a:solidFill>
            <a:srgbClr val="00B0F0"/>
          </a:solidFill>
        </p:spPr>
        <p:txBody>
          <a:bodyPr wrap="square" rtlCol="0" anchor="ctr">
            <a:spAutoFit/>
          </a:bodyPr>
          <a:lstStyle/>
          <a:p>
            <a:pPr algn="ctr"/>
            <a:endParaRPr lang="zh-CN" altLang="en-US" sz="2400" kern="100" dirty="0">
              <a:ea typeface="宋体" panose="02010600030101010101" pitchFamily="2" charset="-122"/>
              <a:cs typeface="Times New Roman" panose="02020603050405020304"/>
            </a:endParaRPr>
          </a:p>
        </p:txBody>
      </p:sp>
      <p:cxnSp>
        <p:nvCxnSpPr>
          <p:cNvPr id="39" name="直接连接符 38"/>
          <p:cNvCxnSpPr/>
          <p:nvPr/>
        </p:nvCxnSpPr>
        <p:spPr>
          <a:xfrm flipV="1">
            <a:off x="6524628" y="4000504"/>
            <a:ext cx="785818" cy="571504"/>
          </a:xfrm>
          <a:prstGeom prst="line">
            <a:avLst/>
          </a:prstGeom>
          <a:ln>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8239140" y="2714620"/>
            <a:ext cx="785818" cy="500066"/>
          </a:xfrm>
          <a:prstGeom prst="line">
            <a:avLst/>
          </a:prstGeom>
          <a:ln>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665499" y="176264"/>
            <a:ext cx="719181" cy="369332"/>
          </a:xfrm>
          <a:prstGeom prst="rect">
            <a:avLst/>
          </a:prstGeom>
          <a:noFill/>
        </p:spPr>
        <p:txBody>
          <a:bodyPr wrap="square">
            <a:spAutoFit/>
          </a:bodyPr>
          <a:lstStyle/>
          <a:p>
            <a:r>
              <a:rPr lang="zh-CN" altLang="en-US" sz="1800" b="1" dirty="0">
                <a:solidFill>
                  <a:srgbClr val="FF0000"/>
                </a:solidFill>
              </a:rPr>
              <a:t>自习</a:t>
            </a:r>
            <a:endParaRPr lang="zh-CN" altLang="en-US" b="1" dirty="0">
              <a:solidFill>
                <a:srgbClr val="FF0000"/>
              </a:solidFill>
            </a:endParaRPr>
          </a:p>
        </p:txBody>
      </p:sp>
      <p:graphicFrame>
        <p:nvGraphicFramePr>
          <p:cNvPr id="18" name="Object 179"/>
          <p:cNvGraphicFramePr>
            <a:graphicFrameLocks noChangeAspect="1"/>
          </p:cNvGraphicFramePr>
          <p:nvPr/>
        </p:nvGraphicFramePr>
        <p:xfrm>
          <a:off x="6057900" y="750442"/>
          <a:ext cx="2883620" cy="765424"/>
        </p:xfrm>
        <a:graphic>
          <a:graphicData uri="http://schemas.openxmlformats.org/presentationml/2006/ole">
            <mc:AlternateContent xmlns:mc="http://schemas.openxmlformats.org/markup-compatibility/2006">
              <mc:Choice xmlns:v="urn:schemas-microsoft-com:vml" Requires="v">
                <p:oleObj spid="_x0000_s189471" name="Equation" r:id="rId11" imgW="1854200" imgH="482600" progId="Equation.DSMT4">
                  <p:embed/>
                </p:oleObj>
              </mc:Choice>
              <mc:Fallback>
                <p:oleObj name="Equation" r:id="rId11" imgW="1854200" imgH="482600" progId="Equation.DSMT4">
                  <p:embed/>
                  <p:pic>
                    <p:nvPicPr>
                      <p:cNvPr id="0" name="Object 17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57900" y="750442"/>
                        <a:ext cx="2883620" cy="765424"/>
                      </a:xfrm>
                      <a:prstGeom prst="rect">
                        <a:avLst/>
                      </a:prstGeom>
                      <a:solidFill>
                        <a:schemeClr val="bg1"/>
                      </a:solidFill>
                      <a:ln w="9525">
                        <a:solidFill>
                          <a:srgbClr val="FF0000"/>
                        </a:solidFill>
                        <a:miter lim="800000"/>
                        <a:headEnd/>
                        <a:tailEnd/>
                      </a:ln>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196290" cy="563563"/>
          </a:xfrm>
          <a:solidFill>
            <a:schemeClr val="bg1"/>
          </a:solidFill>
        </p:spPr>
        <p:txBody>
          <a:bodyPr/>
          <a:lstStyle/>
          <a:p>
            <a:r>
              <a:rPr lang="zh-CN" altLang="en-US" sz="2400" dirty="0"/>
              <a:t>最大似然估计、最大后验概率估计及贝叶斯估计比较</a:t>
            </a:r>
            <a:endParaRPr lang="zh-CN" altLang="en-US" sz="2400" dirty="0"/>
          </a:p>
        </p:txBody>
      </p:sp>
      <p:sp>
        <p:nvSpPr>
          <p:cNvPr id="3" name="内容占位符 2"/>
          <p:cNvSpPr>
            <a:spLocks noGrp="1"/>
          </p:cNvSpPr>
          <p:nvPr>
            <p:ph idx="1"/>
          </p:nvPr>
        </p:nvSpPr>
        <p:spPr/>
        <p:txBody>
          <a:bodyPr/>
          <a:lstStyle/>
          <a:p>
            <a:pPr>
              <a:buNone/>
            </a:pPr>
            <a:r>
              <a:rPr lang="en-US" sz="2400" b="1" dirty="0"/>
              <a:t>3</a:t>
            </a:r>
            <a:r>
              <a:rPr lang="zh-CN" altLang="en-US" sz="2400" b="1" dirty="0"/>
              <a:t>、贝叶斯估计</a:t>
            </a:r>
            <a:endParaRPr lang="en-US" altLang="zh-CN" sz="2400" b="1" dirty="0"/>
          </a:p>
          <a:p>
            <a:pPr>
              <a:buNone/>
            </a:pPr>
            <a:r>
              <a:rPr lang="zh-CN" altLang="en-US" sz="2400" dirty="0"/>
              <a:t>    仍然以扔硬币的伯努利实验为例。假设先验分布为</a:t>
            </a:r>
            <a:r>
              <a:rPr lang="en-US" sz="2400" dirty="0"/>
              <a:t>Beta</a:t>
            </a:r>
            <a:r>
              <a:rPr lang="zh-CN" altLang="en-US" sz="2400" dirty="0"/>
              <a:t>分布，但是构造贝叶斯估计时，不是要求用后验最大时的参数来近似作为参数值，而是求满足</a:t>
            </a:r>
            <a:r>
              <a:rPr lang="en-US" sz="2400" dirty="0"/>
              <a:t>Beta</a:t>
            </a:r>
            <a:r>
              <a:rPr lang="zh-CN" altLang="en-US" sz="2400" dirty="0"/>
              <a:t>分布的参数</a:t>
            </a:r>
            <a:r>
              <a:rPr lang="en-US" altLang="zh-CN" sz="2400" dirty="0"/>
              <a:t>P</a:t>
            </a:r>
            <a:r>
              <a:rPr lang="zh-CN" altLang="en-US" sz="2400" dirty="0"/>
              <a:t>的期望，有</a:t>
            </a: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r>
              <a:rPr lang="zh-CN" altLang="en-US" sz="2400" dirty="0"/>
              <a:t>     </a:t>
            </a:r>
            <a:endParaRPr lang="zh-CN" altLang="en-US" sz="2400" dirty="0"/>
          </a:p>
          <a:p>
            <a:pPr>
              <a:buNone/>
            </a:pPr>
            <a:endParaRPr lang="zh-CN" altLang="en-US" sz="2400" dirty="0"/>
          </a:p>
          <a:p>
            <a:pPr>
              <a:buNone/>
            </a:pPr>
            <a:endParaRPr lang="en-US" altLang="zh-CN" sz="2400" b="1"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graphicFrame>
        <p:nvGraphicFramePr>
          <p:cNvPr id="227337" name="Object 2"/>
          <p:cNvGraphicFramePr>
            <a:graphicFrameLocks noChangeAspect="1"/>
          </p:cNvGraphicFramePr>
          <p:nvPr/>
        </p:nvGraphicFramePr>
        <p:xfrm>
          <a:off x="1671640" y="2571745"/>
          <a:ext cx="8853517" cy="1206669"/>
        </p:xfrm>
        <a:graphic>
          <a:graphicData uri="http://schemas.openxmlformats.org/presentationml/2006/ole">
            <mc:AlternateContent xmlns:mc="http://schemas.openxmlformats.org/markup-compatibility/2006">
              <mc:Choice xmlns:v="urn:schemas-microsoft-com:vml" Requires="v">
                <p:oleObj spid="_x0000_s190494" name="Equation" r:id="rId1" imgW="5461000" imgH="749300" progId="Equation.DSMT4">
                  <p:embed/>
                </p:oleObj>
              </mc:Choice>
              <mc:Fallback>
                <p:oleObj name="Equation" r:id="rId1" imgW="5461000" imgH="7493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1640" y="2571745"/>
                        <a:ext cx="8853517" cy="120666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227342" name="Object 14"/>
          <p:cNvGraphicFramePr>
            <a:graphicFrameLocks noChangeAspect="1"/>
          </p:cNvGraphicFramePr>
          <p:nvPr/>
        </p:nvGraphicFramePr>
        <p:xfrm>
          <a:off x="1692276" y="3929067"/>
          <a:ext cx="8975725" cy="715963"/>
        </p:xfrm>
        <a:graphic>
          <a:graphicData uri="http://schemas.openxmlformats.org/presentationml/2006/ole">
            <mc:AlternateContent xmlns:mc="http://schemas.openxmlformats.org/markup-compatibility/2006">
              <mc:Choice xmlns:v="urn:schemas-microsoft-com:vml" Requires="v">
                <p:oleObj spid="_x0000_s190495" name="Equation" r:id="rId3" imgW="5537200" imgH="444500" progId="Equation.DSMT4">
                  <p:embed/>
                </p:oleObj>
              </mc:Choice>
              <mc:Fallback>
                <p:oleObj name="Equation" r:id="rId3" imgW="5537200" imgH="444500" progId="Equation.DSMT4">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6" y="3929067"/>
                        <a:ext cx="8975725" cy="715963"/>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cxnSp>
        <p:nvCxnSpPr>
          <p:cNvPr id="13" name="直接箭头连接符 12"/>
          <p:cNvCxnSpPr/>
          <p:nvPr/>
        </p:nvCxnSpPr>
        <p:spPr>
          <a:xfrm rot="10800000" flipV="1">
            <a:off x="1881158" y="3429000"/>
            <a:ext cx="6715172" cy="64294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27343" name="Object 15"/>
          <p:cNvGraphicFramePr>
            <a:graphicFrameLocks noChangeAspect="1"/>
          </p:cNvGraphicFramePr>
          <p:nvPr/>
        </p:nvGraphicFramePr>
        <p:xfrm>
          <a:off x="1666846" y="4786323"/>
          <a:ext cx="3500461" cy="661031"/>
        </p:xfrm>
        <a:graphic>
          <a:graphicData uri="http://schemas.openxmlformats.org/presentationml/2006/ole">
            <mc:AlternateContent xmlns:mc="http://schemas.openxmlformats.org/markup-compatibility/2006">
              <mc:Choice xmlns:v="urn:schemas-microsoft-com:vml" Requires="v">
                <p:oleObj spid="_x0000_s190496" name="Equation" r:id="rId5" imgW="1879600" imgH="355600" progId="Equation.DSMT4">
                  <p:embed/>
                </p:oleObj>
              </mc:Choice>
              <mc:Fallback>
                <p:oleObj name="Equation" r:id="rId5" imgW="1879600" imgH="355600" progId="Equation.DSMT4">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66846" y="4786323"/>
                        <a:ext cx="3500461" cy="661031"/>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7344" name="Object 16"/>
          <p:cNvGraphicFramePr>
            <a:graphicFrameLocks noChangeAspect="1"/>
          </p:cNvGraphicFramePr>
          <p:nvPr/>
        </p:nvGraphicFramePr>
        <p:xfrm>
          <a:off x="5591944" y="4653136"/>
          <a:ext cx="4896544" cy="547332"/>
        </p:xfrm>
        <a:graphic>
          <a:graphicData uri="http://schemas.openxmlformats.org/presentationml/2006/ole">
            <mc:AlternateContent xmlns:mc="http://schemas.openxmlformats.org/markup-compatibility/2006">
              <mc:Choice xmlns:v="urn:schemas-microsoft-com:vml" Requires="v">
                <p:oleObj spid="_x0000_s190497" name="Equation" r:id="rId7" imgW="2832100" imgH="317500" progId="Equation.DSMT4">
                  <p:embed/>
                </p:oleObj>
              </mc:Choice>
              <mc:Fallback>
                <p:oleObj name="Equation" r:id="rId7" imgW="2832100" imgH="317500" progId="Equation.DSMT4">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91944" y="4653136"/>
                        <a:ext cx="4896544" cy="547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右箭头 16"/>
          <p:cNvSpPr/>
          <p:nvPr/>
        </p:nvSpPr>
        <p:spPr>
          <a:xfrm>
            <a:off x="5310182" y="4526346"/>
            <a:ext cx="214314" cy="917079"/>
          </a:xfrm>
          <a:prstGeom prst="rightArrow">
            <a:avLst/>
          </a:prstGeom>
          <a:solidFill>
            <a:srgbClr val="00B0F0"/>
          </a:solidFill>
        </p:spPr>
        <p:txBody>
          <a:bodyPr wrap="square" rtlCol="0" anchor="ctr">
            <a:spAutoFit/>
          </a:bodyPr>
          <a:lstStyle/>
          <a:p>
            <a:pPr algn="ctr"/>
            <a:endParaRPr lang="zh-CN" altLang="en-US" sz="2400" kern="100" dirty="0">
              <a:ea typeface="宋体" panose="02010600030101010101" pitchFamily="2" charset="-122"/>
              <a:cs typeface="Times New Roman" panose="02020603050405020304"/>
            </a:endParaRPr>
          </a:p>
        </p:txBody>
      </p:sp>
      <p:graphicFrame>
        <p:nvGraphicFramePr>
          <p:cNvPr id="227345" name="Object 17"/>
          <p:cNvGraphicFramePr>
            <a:graphicFrameLocks noChangeAspect="1"/>
          </p:cNvGraphicFramePr>
          <p:nvPr/>
        </p:nvGraphicFramePr>
        <p:xfrm>
          <a:off x="1809720" y="5500703"/>
          <a:ext cx="5006974" cy="1397507"/>
        </p:xfrm>
        <a:graphic>
          <a:graphicData uri="http://schemas.openxmlformats.org/presentationml/2006/ole">
            <mc:AlternateContent xmlns:mc="http://schemas.openxmlformats.org/markup-compatibility/2006">
              <mc:Choice xmlns:v="urn:schemas-microsoft-com:vml" Requires="v">
                <p:oleObj spid="_x0000_s190498" name="Equation" r:id="rId9" imgW="2857500" imgH="800100" progId="Equation.DSMT4">
                  <p:embed/>
                </p:oleObj>
              </mc:Choice>
              <mc:Fallback>
                <p:oleObj name="Equation" r:id="rId9" imgW="2857500" imgH="800100" progId="Equation.DSMT4">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09720" y="5500703"/>
                        <a:ext cx="5006974" cy="1397507"/>
                      </a:xfrm>
                      <a:prstGeom prst="rect">
                        <a:avLst/>
                      </a:prstGeom>
                      <a:solidFill>
                        <a:schemeClr val="bg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7346" name="Object 18"/>
          <p:cNvGraphicFramePr>
            <a:graphicFrameLocks noChangeAspect="1"/>
          </p:cNvGraphicFramePr>
          <p:nvPr/>
        </p:nvGraphicFramePr>
        <p:xfrm>
          <a:off x="7031039" y="5556250"/>
          <a:ext cx="3636962" cy="802044"/>
        </p:xfrm>
        <a:graphic>
          <a:graphicData uri="http://schemas.openxmlformats.org/presentationml/2006/ole">
            <mc:AlternateContent xmlns:mc="http://schemas.openxmlformats.org/markup-compatibility/2006">
              <mc:Choice xmlns:v="urn:schemas-microsoft-com:vml" Requires="v">
                <p:oleObj spid="_x0000_s190499" name="Equation" r:id="rId11" imgW="1905000" imgH="419100" progId="Equation.DSMT4">
                  <p:embed/>
                </p:oleObj>
              </mc:Choice>
              <mc:Fallback>
                <p:oleObj name="Equation" r:id="rId11" imgW="1905000" imgH="419100" progId="Equation.DSMT4">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31039" y="5556250"/>
                        <a:ext cx="3636962" cy="802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下箭头 20"/>
          <p:cNvSpPr/>
          <p:nvPr/>
        </p:nvSpPr>
        <p:spPr>
          <a:xfrm>
            <a:off x="8882082" y="5085280"/>
            <a:ext cx="484632" cy="582216"/>
          </a:xfrm>
          <a:prstGeom prst="downArrow">
            <a:avLst/>
          </a:prstGeom>
          <a:solidFill>
            <a:srgbClr val="00B0F0"/>
          </a:solidFill>
        </p:spPr>
        <p:txBody>
          <a:bodyPr wrap="square" rtlCol="0" anchor="ctr">
            <a:spAutoFit/>
          </a:bodyPr>
          <a:lstStyle/>
          <a:p>
            <a:pPr algn="ctr"/>
            <a:endParaRPr lang="zh-CN" altLang="en-US" sz="2400" kern="100" dirty="0">
              <a:ea typeface="宋体" panose="02010600030101010101" pitchFamily="2" charset="-122"/>
              <a:cs typeface="Times New Roman" panose="02020603050405020304"/>
            </a:endParaRPr>
          </a:p>
        </p:txBody>
      </p:sp>
      <p:sp>
        <p:nvSpPr>
          <p:cNvPr id="22" name="右箭头 21"/>
          <p:cNvSpPr/>
          <p:nvPr/>
        </p:nvSpPr>
        <p:spPr>
          <a:xfrm rot="10800000">
            <a:off x="6881818" y="5455040"/>
            <a:ext cx="180000" cy="917079"/>
          </a:xfrm>
          <a:prstGeom prst="rightArrow">
            <a:avLst/>
          </a:prstGeom>
          <a:solidFill>
            <a:srgbClr val="00B0F0"/>
          </a:solidFill>
        </p:spPr>
        <p:txBody>
          <a:bodyPr wrap="square" rtlCol="0" anchor="ctr">
            <a:spAutoFit/>
          </a:bodyPr>
          <a:lstStyle/>
          <a:p>
            <a:pPr algn="ctr"/>
            <a:endParaRPr lang="zh-CN" altLang="en-US" sz="2400" kern="100" dirty="0">
              <a:ea typeface="宋体" panose="02010600030101010101" pitchFamily="2" charset="-122"/>
              <a:cs typeface="Times New Roman" panose="02020603050405020304"/>
            </a:endParaRPr>
          </a:p>
        </p:txBody>
      </p:sp>
      <p:cxnSp>
        <p:nvCxnSpPr>
          <p:cNvPr id="24" name="直接箭头连接符 23"/>
          <p:cNvCxnSpPr/>
          <p:nvPr/>
        </p:nvCxnSpPr>
        <p:spPr>
          <a:xfrm flipV="1">
            <a:off x="3738546" y="4500570"/>
            <a:ext cx="4857784" cy="121444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7453322" y="4500570"/>
            <a:ext cx="3214678" cy="1588"/>
          </a:xfrm>
          <a:prstGeom prst="line">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1738282" y="6215082"/>
            <a:ext cx="2428892" cy="1588"/>
          </a:xfrm>
          <a:prstGeom prst="line">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6524628" y="4000504"/>
            <a:ext cx="785818" cy="571504"/>
          </a:xfrm>
          <a:prstGeom prst="line">
            <a:avLst/>
          </a:prstGeom>
          <a:ln>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8239140" y="2714620"/>
            <a:ext cx="785818" cy="500066"/>
          </a:xfrm>
          <a:prstGeom prst="line">
            <a:avLst/>
          </a:prstGeom>
          <a:ln>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9665499" y="176264"/>
            <a:ext cx="719181" cy="369332"/>
          </a:xfrm>
          <a:prstGeom prst="rect">
            <a:avLst/>
          </a:prstGeom>
          <a:noFill/>
        </p:spPr>
        <p:txBody>
          <a:bodyPr wrap="square">
            <a:spAutoFit/>
          </a:bodyPr>
          <a:lstStyle/>
          <a:p>
            <a:r>
              <a:rPr lang="zh-CN" altLang="en-US" sz="1800" b="1" dirty="0">
                <a:solidFill>
                  <a:srgbClr val="FF0000"/>
                </a:solidFill>
              </a:rPr>
              <a:t>自习</a:t>
            </a:r>
            <a:endParaRPr lang="zh-CN" altLang="en-US" b="1" dirty="0">
              <a:solidFill>
                <a:srgbClr val="FF0000"/>
              </a:solidFill>
            </a:endParaRPr>
          </a:p>
        </p:txBody>
      </p:sp>
      <p:graphicFrame>
        <p:nvGraphicFramePr>
          <p:cNvPr id="25" name="Object 179"/>
          <p:cNvGraphicFramePr>
            <a:graphicFrameLocks noChangeAspect="1"/>
          </p:cNvGraphicFramePr>
          <p:nvPr/>
        </p:nvGraphicFramePr>
        <p:xfrm>
          <a:off x="6057900" y="750442"/>
          <a:ext cx="2883620" cy="765424"/>
        </p:xfrm>
        <a:graphic>
          <a:graphicData uri="http://schemas.openxmlformats.org/presentationml/2006/ole">
            <mc:AlternateContent xmlns:mc="http://schemas.openxmlformats.org/markup-compatibility/2006">
              <mc:Choice xmlns:v="urn:schemas-microsoft-com:vml" Requires="v">
                <p:oleObj spid="_x0000_s190500" name="Equation" r:id="rId13" imgW="1854200" imgH="482600" progId="Equation.DSMT4">
                  <p:embed/>
                </p:oleObj>
              </mc:Choice>
              <mc:Fallback>
                <p:oleObj name="Equation" r:id="rId13" imgW="1854200" imgH="482600" progId="Equation.DSMT4">
                  <p:embed/>
                  <p:pic>
                    <p:nvPicPr>
                      <p:cNvPr id="0" name="Object 17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57900" y="750442"/>
                        <a:ext cx="2883620" cy="765424"/>
                      </a:xfrm>
                      <a:prstGeom prst="rect">
                        <a:avLst/>
                      </a:prstGeom>
                      <a:solidFill>
                        <a:schemeClr val="bg1"/>
                      </a:solidFill>
                      <a:ln w="9525">
                        <a:solidFill>
                          <a:srgbClr val="FF0000"/>
                        </a:solidFill>
                        <a:miter lim="800000"/>
                        <a:headEnd/>
                        <a:tailEnd/>
                      </a:ln>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196290" cy="563563"/>
          </a:xfrm>
          <a:solidFill>
            <a:schemeClr val="bg1"/>
          </a:solidFill>
        </p:spPr>
        <p:txBody>
          <a:bodyPr/>
          <a:lstStyle/>
          <a:p>
            <a:r>
              <a:rPr lang="zh-CN" altLang="en-US" sz="2400" dirty="0"/>
              <a:t>最大似然估计、最大后验概率估计及贝叶斯估计比较</a:t>
            </a:r>
            <a:endParaRPr lang="zh-CN" altLang="en-US" sz="2400" dirty="0"/>
          </a:p>
        </p:txBody>
      </p:sp>
      <p:sp>
        <p:nvSpPr>
          <p:cNvPr id="3" name="内容占位符 2"/>
          <p:cNvSpPr>
            <a:spLocks noGrp="1"/>
          </p:cNvSpPr>
          <p:nvPr>
            <p:ph idx="1"/>
          </p:nvPr>
        </p:nvSpPr>
        <p:spPr/>
        <p:txBody>
          <a:bodyPr/>
          <a:lstStyle/>
          <a:p>
            <a:pPr>
              <a:buNone/>
            </a:pPr>
            <a:r>
              <a:rPr lang="en-US" sz="2400" b="1" dirty="0"/>
              <a:t>3</a:t>
            </a:r>
            <a:r>
              <a:rPr lang="zh-CN" altLang="en-US" sz="2400" b="1" dirty="0"/>
              <a:t>、贝叶斯估计</a:t>
            </a:r>
            <a:endParaRPr lang="en-US" altLang="zh-CN" sz="2400" b="1" dirty="0"/>
          </a:p>
          <a:p>
            <a:pPr>
              <a:buNone/>
            </a:pPr>
            <a:r>
              <a:rPr lang="zh-CN" altLang="en-US" sz="2400" dirty="0"/>
              <a:t>    仍然以扔硬币的伯努利实验为例。假设先验分布为</a:t>
            </a:r>
            <a:r>
              <a:rPr lang="en-US" sz="2400" dirty="0"/>
              <a:t>Beta</a:t>
            </a:r>
            <a:r>
              <a:rPr lang="zh-CN" altLang="en-US" sz="2400" dirty="0"/>
              <a:t>分布，但是构造贝叶斯估计时，不是要求用后验最大时的参数来近似作为参数值，而是求满足</a:t>
            </a:r>
            <a:r>
              <a:rPr lang="en-US" sz="2400" dirty="0"/>
              <a:t>Beta</a:t>
            </a:r>
            <a:r>
              <a:rPr lang="zh-CN" altLang="en-US" sz="2400" dirty="0"/>
              <a:t>分布的参数</a:t>
            </a:r>
            <a:r>
              <a:rPr lang="en-US" altLang="zh-CN" sz="2400" dirty="0"/>
              <a:t>P</a:t>
            </a:r>
            <a:r>
              <a:rPr lang="zh-CN" altLang="en-US" sz="2400" dirty="0"/>
              <a:t>的期望，有</a:t>
            </a: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r>
              <a:rPr lang="zh-CN" altLang="en-US" sz="2400" dirty="0"/>
              <a:t>    </a:t>
            </a:r>
            <a:endParaRPr lang="en-US" altLang="zh-CN" sz="2400" dirty="0"/>
          </a:p>
          <a:p>
            <a:pPr>
              <a:buNone/>
            </a:pPr>
            <a:r>
              <a:rPr lang="en-US" altLang="zh-CN" sz="2400" dirty="0"/>
              <a:t>    </a:t>
            </a:r>
            <a:r>
              <a:rPr lang="zh-CN" altLang="en-US" sz="2400" dirty="0"/>
              <a:t>根据结果可以知道，根据贝叶斯估计，参数</a:t>
            </a:r>
            <a:r>
              <a:rPr lang="en-US" altLang="zh-CN" sz="2400" dirty="0"/>
              <a:t>P</a:t>
            </a:r>
            <a:r>
              <a:rPr lang="zh-CN" altLang="en-US" sz="2400" dirty="0"/>
              <a:t>服从一个新的</a:t>
            </a:r>
            <a:r>
              <a:rPr lang="en-US" sz="2400" dirty="0"/>
              <a:t>Beta</a:t>
            </a:r>
            <a:r>
              <a:rPr lang="zh-CN" altLang="en-US" sz="2400" dirty="0"/>
              <a:t>分布。先验和后验概率分布形式相同，称为</a:t>
            </a:r>
            <a:r>
              <a:rPr lang="zh-CN" altLang="en-US" sz="2400" dirty="0">
                <a:solidFill>
                  <a:srgbClr val="FF0000"/>
                </a:solidFill>
              </a:rPr>
              <a:t>共轭分布</a:t>
            </a:r>
            <a:endParaRPr lang="en-US" altLang="zh-CN" sz="2400" dirty="0">
              <a:solidFill>
                <a:srgbClr val="FF0000"/>
              </a:solidFill>
            </a:endParaRPr>
          </a:p>
          <a:p>
            <a:pPr>
              <a:buNone/>
            </a:pPr>
            <a:endParaRPr lang="zh-CN" altLang="en-US" sz="2400" dirty="0"/>
          </a:p>
          <a:p>
            <a:pPr>
              <a:buNone/>
            </a:pPr>
            <a:endParaRPr lang="zh-CN" altLang="en-US" sz="2400" dirty="0"/>
          </a:p>
          <a:p>
            <a:pPr>
              <a:buNone/>
            </a:pPr>
            <a:endParaRPr lang="en-US" altLang="zh-CN" sz="2400" b="1"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graphicFrame>
        <p:nvGraphicFramePr>
          <p:cNvPr id="227337" name="Object 2"/>
          <p:cNvGraphicFramePr>
            <a:graphicFrameLocks noChangeAspect="1"/>
          </p:cNvGraphicFramePr>
          <p:nvPr/>
        </p:nvGraphicFramePr>
        <p:xfrm>
          <a:off x="1671640" y="2857497"/>
          <a:ext cx="8853517" cy="1206669"/>
        </p:xfrm>
        <a:graphic>
          <a:graphicData uri="http://schemas.openxmlformats.org/presentationml/2006/ole">
            <mc:AlternateContent xmlns:mc="http://schemas.openxmlformats.org/markup-compatibility/2006">
              <mc:Choice xmlns:v="urn:schemas-microsoft-com:vml" Requires="v">
                <p:oleObj spid="_x0000_s191502" name="Equation" r:id="rId1" imgW="5461000" imgH="749300" progId="Equation.DSMT4">
                  <p:embed/>
                </p:oleObj>
              </mc:Choice>
              <mc:Fallback>
                <p:oleObj name="Equation" r:id="rId1" imgW="5461000" imgH="7493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1640" y="2857497"/>
                        <a:ext cx="8853517" cy="120666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227338" name="Object 10"/>
          <p:cNvGraphicFramePr>
            <a:graphicFrameLocks noChangeAspect="1"/>
          </p:cNvGraphicFramePr>
          <p:nvPr/>
        </p:nvGraphicFramePr>
        <p:xfrm>
          <a:off x="3003550" y="4143376"/>
          <a:ext cx="5325771" cy="928699"/>
        </p:xfrm>
        <a:graphic>
          <a:graphicData uri="http://schemas.openxmlformats.org/presentationml/2006/ole">
            <mc:AlternateContent xmlns:mc="http://schemas.openxmlformats.org/markup-compatibility/2006">
              <mc:Choice xmlns:v="urn:schemas-microsoft-com:vml" Requires="v">
                <p:oleObj spid="_x0000_s191503" name="Equation" r:id="rId3" imgW="3111500" imgH="546100" progId="Equation.DSMT4">
                  <p:embed/>
                </p:oleObj>
              </mc:Choice>
              <mc:Fallback>
                <p:oleObj name="Equation" r:id="rId3" imgW="3111500" imgH="54610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3550" y="4143376"/>
                        <a:ext cx="5325771" cy="92869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8" name="Object 179"/>
          <p:cNvGraphicFramePr>
            <a:graphicFrameLocks noChangeAspect="1"/>
          </p:cNvGraphicFramePr>
          <p:nvPr/>
        </p:nvGraphicFramePr>
        <p:xfrm>
          <a:off x="6057900" y="750442"/>
          <a:ext cx="2883620" cy="765424"/>
        </p:xfrm>
        <a:graphic>
          <a:graphicData uri="http://schemas.openxmlformats.org/presentationml/2006/ole">
            <mc:AlternateContent xmlns:mc="http://schemas.openxmlformats.org/markup-compatibility/2006">
              <mc:Choice xmlns:v="urn:schemas-microsoft-com:vml" Requires="v">
                <p:oleObj spid="_x0000_s191504" name="Equation" r:id="rId5" imgW="1854200" imgH="482600" progId="Equation.DSMT4">
                  <p:embed/>
                </p:oleObj>
              </mc:Choice>
              <mc:Fallback>
                <p:oleObj name="Equation" r:id="rId5" imgW="1854200" imgH="482600" progId="Equation.DSMT4">
                  <p:embed/>
                  <p:pic>
                    <p:nvPicPr>
                      <p:cNvPr id="0" name="Object 1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57900" y="750442"/>
                        <a:ext cx="2883620" cy="765424"/>
                      </a:xfrm>
                      <a:prstGeom prst="rect">
                        <a:avLst/>
                      </a:prstGeom>
                      <a:solidFill>
                        <a:schemeClr val="bg1"/>
                      </a:solidFill>
                      <a:ln w="9525">
                        <a:solidFill>
                          <a:srgbClr val="FF0000"/>
                        </a:solidFill>
                        <a:miter lim="800000"/>
                        <a:headEnd/>
                        <a:tailEnd/>
                      </a:ln>
                    </p:spPr>
                  </p:pic>
                </p:oleObj>
              </mc:Fallback>
            </mc:AlternateContent>
          </a:graphicData>
        </a:graphic>
      </p:graphicFrame>
      <p:sp>
        <p:nvSpPr>
          <p:cNvPr id="9" name="文本框 8"/>
          <p:cNvSpPr txBox="1"/>
          <p:nvPr/>
        </p:nvSpPr>
        <p:spPr>
          <a:xfrm>
            <a:off x="9665499" y="176264"/>
            <a:ext cx="719181" cy="369332"/>
          </a:xfrm>
          <a:prstGeom prst="rect">
            <a:avLst/>
          </a:prstGeom>
          <a:noFill/>
        </p:spPr>
        <p:txBody>
          <a:bodyPr wrap="square">
            <a:spAutoFit/>
          </a:bodyPr>
          <a:lstStyle/>
          <a:p>
            <a:r>
              <a:rPr lang="zh-CN" altLang="en-US" sz="1800" b="1" dirty="0">
                <a:solidFill>
                  <a:srgbClr val="FF0000"/>
                </a:solidFill>
              </a:rPr>
              <a:t>自习</a:t>
            </a:r>
            <a:endParaRPr lang="zh-CN" altLang="en-US" b="1" dirty="0">
              <a:solidFill>
                <a:srgbClr val="FF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196290" cy="563563"/>
          </a:xfrm>
          <a:solidFill>
            <a:schemeClr val="bg1"/>
          </a:solidFill>
        </p:spPr>
        <p:txBody>
          <a:bodyPr/>
          <a:lstStyle/>
          <a:p>
            <a:r>
              <a:rPr lang="zh-CN" altLang="en-US" sz="2400" dirty="0"/>
              <a:t>最大似然估计、最大后验概率估计及贝叶斯估计比较</a:t>
            </a:r>
            <a:endParaRPr lang="zh-CN" altLang="en-US" sz="2400" dirty="0"/>
          </a:p>
        </p:txBody>
      </p:sp>
      <p:sp>
        <p:nvSpPr>
          <p:cNvPr id="3" name="内容占位符 2"/>
          <p:cNvSpPr>
            <a:spLocks noGrp="1"/>
          </p:cNvSpPr>
          <p:nvPr>
            <p:ph idx="1"/>
          </p:nvPr>
        </p:nvSpPr>
        <p:spPr/>
        <p:txBody>
          <a:bodyPr/>
          <a:lstStyle/>
          <a:p>
            <a:pPr>
              <a:buNone/>
            </a:pPr>
            <a:r>
              <a:rPr lang="en-US" sz="2400" b="1" dirty="0"/>
              <a:t>3</a:t>
            </a:r>
            <a:r>
              <a:rPr lang="zh-CN" altLang="en-US" sz="2400" b="1" dirty="0"/>
              <a:t>、贝叶斯估计</a:t>
            </a:r>
            <a:endParaRPr lang="en-US" altLang="zh-CN" sz="2400" b="1" dirty="0"/>
          </a:p>
          <a:p>
            <a:pPr>
              <a:buNone/>
            </a:pPr>
            <a:r>
              <a:rPr lang="zh-CN" altLang="en-US" sz="2400" dirty="0"/>
              <a:t>     根据</a:t>
            </a:r>
            <a:r>
              <a:rPr lang="en-US" sz="2400" dirty="0"/>
              <a:t>Beta</a:t>
            </a:r>
            <a:r>
              <a:rPr lang="zh-CN" altLang="en-US" sz="2400" dirty="0"/>
              <a:t>分布的期望和方差计算公式，有</a:t>
            </a:r>
            <a:endParaRPr lang="zh-CN" altLang="en-US" sz="2400" dirty="0"/>
          </a:p>
          <a:p>
            <a:endParaRPr lang="zh-CN" altLang="en-US"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r>
              <a:rPr lang="zh-CN" altLang="en-US" sz="2400" dirty="0"/>
              <a:t>    可以看出此时估计的</a:t>
            </a:r>
            <a:r>
              <a:rPr lang="en-US" altLang="zh-CN" sz="2400" dirty="0"/>
              <a:t>P</a:t>
            </a:r>
            <a:r>
              <a:rPr lang="zh-CN" altLang="en-US" sz="2400" dirty="0"/>
              <a:t>的期望和</a:t>
            </a:r>
            <a:r>
              <a:rPr lang="en-US" sz="2400" dirty="0"/>
              <a:t>MLE </a:t>
            </a:r>
            <a:r>
              <a:rPr lang="zh-CN" altLang="en-US" sz="2400" dirty="0"/>
              <a:t>，</a:t>
            </a:r>
            <a:r>
              <a:rPr lang="en-US" sz="2400" dirty="0"/>
              <a:t>MAP</a:t>
            </a:r>
            <a:r>
              <a:rPr lang="zh-CN" altLang="en-US" sz="2400" dirty="0"/>
              <a:t>中得到的估计值都不同，此时如果仍然是做</a:t>
            </a:r>
            <a:r>
              <a:rPr lang="en-US" sz="2400" dirty="0"/>
              <a:t>20</a:t>
            </a:r>
            <a:r>
              <a:rPr lang="zh-CN" altLang="en-US" sz="2400" dirty="0"/>
              <a:t>次实验，</a:t>
            </a:r>
            <a:r>
              <a:rPr lang="en-US" sz="2400" dirty="0"/>
              <a:t>1</a:t>
            </a:r>
            <a:r>
              <a:rPr lang="en-US" altLang="zh-CN" sz="2400" dirty="0"/>
              <a:t>2</a:t>
            </a:r>
            <a:r>
              <a:rPr lang="zh-CN" altLang="en-US" sz="2400" dirty="0"/>
              <a:t>次正面，</a:t>
            </a:r>
            <a:r>
              <a:rPr lang="en-US" sz="2400" dirty="0"/>
              <a:t>8</a:t>
            </a:r>
            <a:r>
              <a:rPr lang="zh-CN" altLang="en-US" sz="2400" dirty="0"/>
              <a:t>次反面，那么我们根据贝叶斯估计得到的</a:t>
            </a:r>
            <a:r>
              <a:rPr lang="en-US" altLang="zh-CN" sz="2400" dirty="0"/>
              <a:t>P</a:t>
            </a:r>
            <a:r>
              <a:rPr lang="zh-CN" altLang="en-US" sz="2400" dirty="0"/>
              <a:t>满足参数为</a:t>
            </a:r>
            <a:r>
              <a:rPr lang="en-US" sz="2400"/>
              <a:t>1</a:t>
            </a:r>
            <a:r>
              <a:rPr lang="en-US" altLang="zh-CN" sz="2400"/>
              <a:t>2</a:t>
            </a:r>
            <a:r>
              <a:rPr lang="en-US" sz="2400"/>
              <a:t>+5</a:t>
            </a:r>
            <a:r>
              <a:rPr lang="zh-CN" altLang="en-US" sz="2400" dirty="0"/>
              <a:t>和</a:t>
            </a:r>
            <a:r>
              <a:rPr lang="en-US" sz="2400" dirty="0"/>
              <a:t>8+5</a:t>
            </a:r>
            <a:r>
              <a:rPr lang="zh-CN" altLang="en-US" sz="2400" dirty="0"/>
              <a:t>的</a:t>
            </a:r>
            <a:r>
              <a:rPr lang="en-US" sz="2400" dirty="0"/>
              <a:t>Beta</a:t>
            </a:r>
            <a:r>
              <a:rPr lang="zh-CN" altLang="en-US" sz="2400" dirty="0"/>
              <a:t>分布，其均值和方差分别是</a:t>
            </a:r>
            <a:r>
              <a:rPr lang="en-US" sz="2400" dirty="0"/>
              <a:t>17/30=0.567, 17*13/(31*30^2)=0.0079</a:t>
            </a:r>
            <a:r>
              <a:rPr lang="zh-CN" altLang="en-US" sz="2400" dirty="0"/>
              <a:t>。可以看到此时求出的</a:t>
            </a:r>
            <a:r>
              <a:rPr lang="en-US" altLang="zh-CN" sz="2400" dirty="0"/>
              <a:t>P</a:t>
            </a:r>
            <a:r>
              <a:rPr lang="zh-CN" altLang="en-US" sz="2400" dirty="0"/>
              <a:t>的期望比</a:t>
            </a:r>
            <a:r>
              <a:rPr lang="en-US" sz="2400" dirty="0"/>
              <a:t>MLE</a:t>
            </a:r>
            <a:r>
              <a:rPr lang="zh-CN" altLang="en-US" sz="2400" dirty="0"/>
              <a:t>和</a:t>
            </a:r>
            <a:r>
              <a:rPr lang="en-US" sz="2400" dirty="0"/>
              <a:t>MAP</a:t>
            </a:r>
            <a:r>
              <a:rPr lang="zh-CN" altLang="en-US" sz="2400" dirty="0"/>
              <a:t>得到的估计值都小，更加接近</a:t>
            </a:r>
            <a:r>
              <a:rPr lang="en-US" sz="2400" dirty="0"/>
              <a:t>0.5</a:t>
            </a:r>
            <a:r>
              <a:rPr lang="zh-CN" altLang="en-US" sz="2400" dirty="0"/>
              <a:t>。</a:t>
            </a:r>
            <a:endParaRPr lang="zh-CN" altLang="en-US" sz="2400" dirty="0"/>
          </a:p>
          <a:p>
            <a:pPr>
              <a:buNone/>
            </a:pPr>
            <a:endParaRPr lang="zh-CN" altLang="en-US" sz="2400" dirty="0"/>
          </a:p>
          <a:p>
            <a:pPr>
              <a:buNone/>
            </a:pPr>
            <a:endParaRPr lang="en-US" altLang="zh-CN" sz="2400" b="1"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graphicFrame>
        <p:nvGraphicFramePr>
          <p:cNvPr id="229379" name="Object 3"/>
          <p:cNvGraphicFramePr>
            <a:graphicFrameLocks noChangeAspect="1"/>
          </p:cNvGraphicFramePr>
          <p:nvPr/>
        </p:nvGraphicFramePr>
        <p:xfrm>
          <a:off x="3381357" y="2000240"/>
          <a:ext cx="4068479" cy="785818"/>
        </p:xfrm>
        <a:graphic>
          <a:graphicData uri="http://schemas.openxmlformats.org/presentationml/2006/ole">
            <mc:AlternateContent xmlns:mc="http://schemas.openxmlformats.org/markup-compatibility/2006">
              <mc:Choice xmlns:v="urn:schemas-microsoft-com:vml" Requires="v">
                <p:oleObj spid="_x0000_s192526" name="Equation" r:id="rId1" imgW="2286000" imgH="444500" progId="Equation.DSMT4">
                  <p:embed/>
                </p:oleObj>
              </mc:Choice>
              <mc:Fallback>
                <p:oleObj name="Equation" r:id="rId1" imgW="2286000" imgH="444500" progId="Equation.DSMT4">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1357" y="2000240"/>
                        <a:ext cx="4068479" cy="785818"/>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229380" name="Object 4"/>
          <p:cNvGraphicFramePr>
            <a:graphicFrameLocks noChangeAspect="1"/>
          </p:cNvGraphicFramePr>
          <p:nvPr/>
        </p:nvGraphicFramePr>
        <p:xfrm>
          <a:off x="2666977" y="2928934"/>
          <a:ext cx="6759575" cy="920750"/>
        </p:xfrm>
        <a:graphic>
          <a:graphicData uri="http://schemas.openxmlformats.org/presentationml/2006/ole">
            <mc:AlternateContent xmlns:mc="http://schemas.openxmlformats.org/markup-compatibility/2006">
              <mc:Choice xmlns:v="urn:schemas-microsoft-com:vml" Requires="v">
                <p:oleObj spid="_x0000_s192527" name="Equation" r:id="rId3" imgW="3797300" imgH="520700" progId="Equation.DSMT4">
                  <p:embed/>
                </p:oleObj>
              </mc:Choice>
              <mc:Fallback>
                <p:oleObj name="Equation" r:id="rId3" imgW="3797300" imgH="5207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6977" y="2928934"/>
                        <a:ext cx="6759575" cy="920750"/>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8" name="Object 179"/>
          <p:cNvGraphicFramePr>
            <a:graphicFrameLocks noChangeAspect="1"/>
          </p:cNvGraphicFramePr>
          <p:nvPr/>
        </p:nvGraphicFramePr>
        <p:xfrm>
          <a:off x="6057900" y="692696"/>
          <a:ext cx="2883620" cy="765424"/>
        </p:xfrm>
        <a:graphic>
          <a:graphicData uri="http://schemas.openxmlformats.org/presentationml/2006/ole">
            <mc:AlternateContent xmlns:mc="http://schemas.openxmlformats.org/markup-compatibility/2006">
              <mc:Choice xmlns:v="urn:schemas-microsoft-com:vml" Requires="v">
                <p:oleObj spid="_x0000_s192528" name="Equation" r:id="rId5" imgW="1854200" imgH="482600" progId="Equation.DSMT4">
                  <p:embed/>
                </p:oleObj>
              </mc:Choice>
              <mc:Fallback>
                <p:oleObj name="Equation" r:id="rId5" imgW="1854200" imgH="482600" progId="Equation.DSMT4">
                  <p:embed/>
                  <p:pic>
                    <p:nvPicPr>
                      <p:cNvPr id="0" name="Object 1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57900" y="692696"/>
                        <a:ext cx="2883620" cy="765424"/>
                      </a:xfrm>
                      <a:prstGeom prst="rect">
                        <a:avLst/>
                      </a:prstGeom>
                      <a:solidFill>
                        <a:schemeClr val="bg1"/>
                      </a:solidFill>
                      <a:ln w="9525">
                        <a:solidFill>
                          <a:srgbClr val="FF0000"/>
                        </a:solidFill>
                        <a:miter lim="800000"/>
                        <a:headEnd/>
                        <a:tailEnd/>
                      </a:ln>
                    </p:spPr>
                  </p:pic>
                </p:oleObj>
              </mc:Fallback>
            </mc:AlternateContent>
          </a:graphicData>
        </a:graphic>
      </p:graphicFrame>
      <p:sp>
        <p:nvSpPr>
          <p:cNvPr id="9" name="文本框 8"/>
          <p:cNvSpPr txBox="1"/>
          <p:nvPr/>
        </p:nvSpPr>
        <p:spPr>
          <a:xfrm>
            <a:off x="9665499" y="176264"/>
            <a:ext cx="719181" cy="369332"/>
          </a:xfrm>
          <a:prstGeom prst="rect">
            <a:avLst/>
          </a:prstGeom>
          <a:noFill/>
        </p:spPr>
        <p:txBody>
          <a:bodyPr wrap="square">
            <a:spAutoFit/>
          </a:bodyPr>
          <a:lstStyle/>
          <a:p>
            <a:r>
              <a:rPr lang="zh-CN" altLang="en-US" sz="1800" b="1" dirty="0">
                <a:solidFill>
                  <a:srgbClr val="FF0000"/>
                </a:solidFill>
              </a:rPr>
              <a:t>自习</a:t>
            </a:r>
            <a:endParaRPr lang="zh-CN" altLang="en-US" b="1"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196290" cy="563563"/>
          </a:xfrm>
          <a:solidFill>
            <a:schemeClr val="bg1"/>
          </a:solidFill>
        </p:spPr>
        <p:txBody>
          <a:bodyPr/>
          <a:lstStyle/>
          <a:p>
            <a:r>
              <a:rPr lang="zh-CN" altLang="en-US" sz="2400" dirty="0"/>
              <a:t>最大似然估计、最大后验概率估计及贝叶斯估计比较</a:t>
            </a:r>
            <a:endParaRPr lang="zh-CN" altLang="en-US" sz="2400" dirty="0"/>
          </a:p>
        </p:txBody>
      </p:sp>
      <p:sp>
        <p:nvSpPr>
          <p:cNvPr id="3" name="内容占位符 2"/>
          <p:cNvSpPr>
            <a:spLocks noGrp="1"/>
          </p:cNvSpPr>
          <p:nvPr>
            <p:ph idx="1"/>
          </p:nvPr>
        </p:nvSpPr>
        <p:spPr/>
        <p:txBody>
          <a:bodyPr/>
          <a:lstStyle/>
          <a:p>
            <a:pPr>
              <a:buNone/>
            </a:pPr>
            <a:r>
              <a:rPr lang="zh-CN" altLang="en-US" sz="2400" b="1" dirty="0"/>
              <a:t>    综上所述，可视化</a:t>
            </a:r>
            <a:r>
              <a:rPr lang="en-US" sz="2400" b="1" dirty="0"/>
              <a:t>MLE,MAP</a:t>
            </a:r>
            <a:r>
              <a:rPr lang="zh-CN" altLang="en-US" sz="2400" b="1" dirty="0"/>
              <a:t>和贝叶斯估计对参数的估计结果如下</a:t>
            </a:r>
            <a:endParaRPr lang="zh-CN" altLang="en-US" sz="2400" b="1" dirty="0"/>
          </a:p>
          <a:p>
            <a:endParaRPr lang="en-US" altLang="zh-CN" sz="2400" b="1" dirty="0"/>
          </a:p>
          <a:p>
            <a:endParaRPr lang="en-US" altLang="zh-CN" sz="2400" b="1" dirty="0"/>
          </a:p>
          <a:p>
            <a:endParaRPr lang="en-US" altLang="zh-CN" sz="2400" b="1" dirty="0"/>
          </a:p>
          <a:p>
            <a:endParaRPr lang="en-US" altLang="zh-CN" sz="2400" b="1" dirty="0"/>
          </a:p>
          <a:p>
            <a:endParaRPr lang="en-US" altLang="zh-CN" sz="2400" b="1" dirty="0"/>
          </a:p>
          <a:p>
            <a:endParaRPr lang="en-US" altLang="zh-CN" sz="2400" b="1" dirty="0"/>
          </a:p>
          <a:p>
            <a:endParaRPr lang="en-US" altLang="zh-CN" sz="2400" b="1" dirty="0"/>
          </a:p>
          <a:p>
            <a:endParaRPr lang="en-US" altLang="zh-CN" sz="2400" b="1" dirty="0"/>
          </a:p>
          <a:p>
            <a:pPr>
              <a:buNone/>
            </a:pPr>
            <a:r>
              <a:rPr lang="en-US" altLang="zh-CN" sz="2400" b="1" dirty="0"/>
              <a:t>    </a:t>
            </a:r>
            <a:endParaRPr lang="en-US" altLang="zh-CN" sz="2400" b="1" dirty="0"/>
          </a:p>
          <a:p>
            <a:pPr>
              <a:buNone/>
            </a:pPr>
            <a:r>
              <a:rPr lang="en-US" altLang="zh-CN" sz="2400" b="1" dirty="0"/>
              <a:t> </a:t>
            </a:r>
            <a:r>
              <a:rPr lang="zh-CN" altLang="en-US" sz="2400" b="1" dirty="0"/>
              <a:t>从</a:t>
            </a:r>
            <a:r>
              <a:rPr lang="en-US" sz="2400" b="1" dirty="0"/>
              <a:t>MLE</a:t>
            </a:r>
            <a:r>
              <a:rPr lang="zh-CN" altLang="en-US" sz="2400" b="1" dirty="0"/>
              <a:t>到</a:t>
            </a:r>
            <a:r>
              <a:rPr lang="en-US" sz="2400" b="1" dirty="0"/>
              <a:t>MAP</a:t>
            </a:r>
            <a:r>
              <a:rPr lang="zh-CN" altLang="en-US" sz="2400" b="1" dirty="0"/>
              <a:t>再到贝叶斯估计，对参数的表示越来越精确，得到的参数估计结果也越来越接近</a:t>
            </a:r>
            <a:r>
              <a:rPr lang="en-US" sz="2400" b="1" dirty="0"/>
              <a:t>0.5</a:t>
            </a:r>
            <a:r>
              <a:rPr lang="zh-CN" altLang="en-US" sz="2400" b="1" dirty="0"/>
              <a:t>这个先验概率，越来越能够反映基于样本的真实参数情况。</a:t>
            </a:r>
            <a:endParaRPr lang="zh-CN" altLang="en-US" sz="2400" b="1" dirty="0"/>
          </a:p>
          <a:p>
            <a:pPr>
              <a:buNone/>
            </a:pPr>
            <a:endParaRPr lang="zh-CN" altLang="en-US" sz="2400" b="1" dirty="0"/>
          </a:p>
          <a:p>
            <a:pPr>
              <a:buNone/>
            </a:pPr>
            <a:endParaRPr lang="en-US" altLang="zh-CN" sz="2400" b="1"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pic>
        <p:nvPicPr>
          <p:cNvPr id="230411" name="Picture 11" descr="E:\ppt\1355540151_4648-2.JPG"/>
          <p:cNvPicPr>
            <a:picLocks noChangeAspect="1" noChangeArrowheads="1"/>
          </p:cNvPicPr>
          <p:nvPr/>
        </p:nvPicPr>
        <p:blipFill>
          <a:blip r:embed="rId1" cstate="print"/>
          <a:srcRect/>
          <a:stretch>
            <a:fillRect/>
          </a:stretch>
        </p:blipFill>
        <p:spPr bwMode="auto">
          <a:xfrm>
            <a:off x="3309918" y="1428736"/>
            <a:ext cx="6786610" cy="4020630"/>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15680" y="1149255"/>
            <a:ext cx="6768752" cy="3101362"/>
          </a:xfrm>
          <a:prstGeom prst="rect">
            <a:avLst/>
          </a:prstGeom>
          <a:noFill/>
        </p:spPr>
        <p:txBody>
          <a:bodyPr wrap="square" rtlCol="0">
            <a:spAutoFit/>
          </a:bodyPr>
          <a:lstStyle/>
          <a:p>
            <a:pPr>
              <a:lnSpc>
                <a:spcPct val="130000"/>
              </a:lnSpc>
              <a:spcBef>
                <a:spcPts val="200"/>
              </a:spcBef>
            </a:pPr>
            <a:r>
              <a:rPr lang="en-US" altLang="zh-CN" sz="2400" b="1" dirty="0">
                <a:latin typeface="宋体" panose="02010600030101010101" pitchFamily="2" charset="-122"/>
                <a:ea typeface="宋体" panose="02010600030101010101" pitchFamily="2" charset="-122"/>
              </a:rPr>
              <a:t>14.1 </a:t>
            </a:r>
            <a:r>
              <a:rPr lang="zh-CN" altLang="zh-CN" sz="2400" b="1" dirty="0">
                <a:latin typeface="宋体" panose="02010600030101010101" pitchFamily="2" charset="-122"/>
                <a:ea typeface="宋体" panose="02010600030101010101" pitchFamily="2" charset="-122"/>
              </a:rPr>
              <a:t>最大似然估计基本原理</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14.2 </a:t>
            </a:r>
            <a:r>
              <a:rPr lang="zh-CN" altLang="zh-CN" sz="2400" b="1" dirty="0">
                <a:latin typeface="宋体" panose="02010600030101010101" pitchFamily="2" charset="-122"/>
                <a:ea typeface="宋体" panose="02010600030101010101" pitchFamily="2" charset="-122"/>
              </a:rPr>
              <a:t>最大似然估计的求解</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14.3 </a:t>
            </a:r>
            <a:r>
              <a:rPr lang="zh-CN" altLang="zh-CN" sz="2400" b="1" dirty="0">
                <a:latin typeface="宋体" panose="02010600030101010101" pitchFamily="2" charset="-122"/>
                <a:ea typeface="宋体" panose="02010600030101010101" pitchFamily="2" charset="-122"/>
              </a:rPr>
              <a:t>正态分布下的最大似然估计</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14.4 </a:t>
            </a:r>
            <a:r>
              <a:rPr lang="zh-CN" altLang="zh-CN" sz="2400" b="1" dirty="0">
                <a:latin typeface="宋体" panose="02010600030101010101" pitchFamily="2" charset="-122"/>
                <a:ea typeface="宋体" panose="02010600030101010101" pitchFamily="2" charset="-122"/>
              </a:rPr>
              <a:t>贝叶斯估计</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solidFill>
                  <a:srgbClr val="0000FF"/>
                </a:solidFill>
                <a:latin typeface="宋体" panose="02010600030101010101" pitchFamily="2" charset="-122"/>
                <a:ea typeface="宋体" panose="02010600030101010101" pitchFamily="2" charset="-122"/>
              </a:rPr>
              <a:t>14.5 </a:t>
            </a:r>
            <a:r>
              <a:rPr lang="zh-CN" altLang="zh-CN" sz="2400" b="1" dirty="0">
                <a:solidFill>
                  <a:srgbClr val="0000FF"/>
                </a:solidFill>
                <a:latin typeface="宋体" panose="02010600030101010101" pitchFamily="2" charset="-122"/>
                <a:ea typeface="宋体" panose="02010600030101010101" pitchFamily="2" charset="-122"/>
              </a:rPr>
              <a:t>贝叶斯学习</a:t>
            </a:r>
            <a:endParaRPr lang="zh-CN" altLang="zh-CN" sz="2400" b="1" dirty="0">
              <a:solidFill>
                <a:srgbClr val="0000FF"/>
              </a:solidFill>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14.6 </a:t>
            </a:r>
            <a:r>
              <a:rPr lang="zh-CN" altLang="zh-CN" sz="2400" b="1" dirty="0">
                <a:latin typeface="宋体" panose="02010600030101010101" pitchFamily="2" charset="-122"/>
                <a:ea typeface="宋体" panose="02010600030101010101" pitchFamily="2" charset="-122"/>
              </a:rPr>
              <a:t>正态分布下的贝叶斯估计</a:t>
            </a:r>
            <a:endParaRPr lang="zh-CN" altLang="zh-CN" sz="2400" b="1" dirty="0">
              <a:latin typeface="宋体" panose="02010600030101010101" pitchFamily="2" charset="-122"/>
              <a:ea typeface="宋体" panose="02010600030101010101" pitchFamily="2" charset="-122"/>
            </a:endParaRPr>
          </a:p>
        </p:txBody>
      </p:sp>
      <p:sp>
        <p:nvSpPr>
          <p:cNvPr id="8" name="Freeform 6"/>
          <p:cNvSpPr/>
          <p:nvPr/>
        </p:nvSpPr>
        <p:spPr bwMode="auto">
          <a:xfrm>
            <a:off x="0" y="5589240"/>
            <a:ext cx="12192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ln>
        </p:spPr>
        <p:txBody>
          <a:bodyPr vert="horz" wrap="square" lIns="128580" tIns="64290" rIns="128580" bIns="64290" numCol="1" anchor="t" anchorCtr="0" compatLnSpc="1"/>
          <a:lstStyle/>
          <a:p>
            <a:endParaRPr lang="zh-CN" altLang="en-US"/>
          </a:p>
        </p:txBody>
      </p:sp>
      <p:sp>
        <p:nvSpPr>
          <p:cNvPr id="9" name="Freeform 7"/>
          <p:cNvSpPr/>
          <p:nvPr/>
        </p:nvSpPr>
        <p:spPr bwMode="auto">
          <a:xfrm>
            <a:off x="-24680" y="5425669"/>
            <a:ext cx="12216680" cy="357166"/>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ln>
        </p:spPr>
        <p:txBody>
          <a:bodyPr vert="horz" wrap="square" lIns="128580" tIns="64290" rIns="128580" bIns="64290" numCol="1" anchor="t" anchorCtr="0" compatLnSpc="1"/>
          <a:lstStyle/>
          <a:p>
            <a:endParaRPr lang="zh-CN" altLang="en-US">
              <a:solidFill>
                <a:schemeClr val="tx2">
                  <a:lumMod val="20000"/>
                  <a:lumOff val="80000"/>
                </a:schemeClr>
              </a:solidFill>
            </a:endParaRPr>
          </a:p>
        </p:txBody>
      </p:sp>
      <p:pic>
        <p:nvPicPr>
          <p:cNvPr id="3" name="图片 2"/>
          <p:cNvPicPr>
            <a:picLocks noChangeAspect="1"/>
          </p:cNvPicPr>
          <p:nvPr/>
        </p:nvPicPr>
        <p:blipFill>
          <a:blip r:embed="rId1"/>
          <a:stretch>
            <a:fillRect/>
          </a:stretch>
        </p:blipFill>
        <p:spPr>
          <a:xfrm>
            <a:off x="0" y="6468398"/>
            <a:ext cx="1349719" cy="404664"/>
          </a:xfrm>
          <a:prstGeom prst="rect">
            <a:avLst/>
          </a:prstGeom>
        </p:spPr>
      </p:pic>
      <p:sp>
        <p:nvSpPr>
          <p:cNvPr id="6" name="文本框 5"/>
          <p:cNvSpPr txBox="1"/>
          <p:nvPr/>
        </p:nvSpPr>
        <p:spPr>
          <a:xfrm>
            <a:off x="-24680" y="6436962"/>
            <a:ext cx="5472608" cy="461665"/>
          </a:xfrm>
          <a:prstGeom prst="rect">
            <a:avLst/>
          </a:prstGeom>
          <a:noFill/>
        </p:spPr>
        <p:txBody>
          <a:bodyPr wrap="square" rtlCol="0">
            <a:spAutoFit/>
          </a:bodyPr>
          <a:lstStyle/>
          <a:p>
            <a:r>
              <a:rPr lang="zh-CN" altLang="en-US" sz="2400" b="1" dirty="0">
                <a:solidFill>
                  <a:srgbClr val="0000FF"/>
                </a:solidFill>
              </a:rPr>
              <a:t>人工智能与自动化学院        </a:t>
            </a:r>
            <a:endParaRPr lang="zh-CN" altLang="en-US" sz="2400" b="1" dirty="0">
              <a:solidFill>
                <a:srgbClr val="0000FF"/>
              </a:solidFill>
            </a:endParaRPr>
          </a:p>
        </p:txBody>
      </p:sp>
      <p:sp>
        <p:nvSpPr>
          <p:cNvPr id="12" name="标题 1"/>
          <p:cNvSpPr txBox="1"/>
          <p:nvPr/>
        </p:nvSpPr>
        <p:spPr bwMode="black">
          <a:xfrm>
            <a:off x="407368" y="188640"/>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zh-CN" altLang="en-US" kern="0" dirty="0"/>
              <a:t>第</a:t>
            </a:r>
            <a:r>
              <a:rPr lang="en-US" altLang="zh-CN" kern="0" dirty="0"/>
              <a:t>14</a:t>
            </a:r>
            <a:r>
              <a:rPr lang="zh-CN" altLang="en-US" kern="0" dirty="0"/>
              <a:t>讲 </a:t>
            </a:r>
            <a:r>
              <a:rPr lang="zh-CN" altLang="zh-CN" dirty="0"/>
              <a:t>概率密度函数的参数估计</a:t>
            </a:r>
            <a:endParaRPr lang="zh-CN" altLang="zh-CN" dirty="0"/>
          </a:p>
        </p:txBody>
      </p:sp>
      <p:sp>
        <p:nvSpPr>
          <p:cNvPr id="7" name="灯片编号占位符 6"/>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9201732" y="4077072"/>
            <a:ext cx="2431468" cy="969169"/>
          </a:xfrm>
          <a:prstGeom prst="rect">
            <a:avLst/>
          </a:prstGeom>
          <a:solidFill>
            <a:schemeClr val="accent6">
              <a:lumMod val="20000"/>
              <a:lumOff val="80000"/>
            </a:schemeClr>
          </a:solidFill>
        </p:spPr>
        <p:txBody>
          <a:bodyPr wrap="none" rtlCol="0" anchor="ctr">
            <a:spAutoFit/>
          </a:bodyPr>
          <a:lstStyle/>
          <a:p>
            <a:pPr algn="ctr"/>
            <a:endParaRPr lang="zh-CN" altLang="en-US" sz="2400" kern="100" dirty="0">
              <a:ea typeface="宋体" panose="02010600030101010101" pitchFamily="2" charset="-122"/>
              <a:cs typeface="Times New Roman" panose="02020603050405020304"/>
            </a:endParaRPr>
          </a:p>
        </p:txBody>
      </p:sp>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14.5 </a:t>
            </a:r>
            <a:r>
              <a:rPr lang="zh-CN" altLang="zh-CN" dirty="0"/>
              <a:t>贝叶斯学习</a:t>
            </a:r>
            <a:endParaRPr lang="zh-CN" altLang="zh-CN" dirty="0"/>
          </a:p>
        </p:txBody>
      </p:sp>
      <p:sp>
        <p:nvSpPr>
          <p:cNvPr id="42" name="矩形 41"/>
          <p:cNvSpPr/>
          <p:nvPr/>
        </p:nvSpPr>
        <p:spPr>
          <a:xfrm>
            <a:off x="304132" y="1076139"/>
            <a:ext cx="3057247"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递推的贝叶斯估计</a:t>
            </a:r>
            <a:endParaRPr lang="zh-CN" altLang="en-US" sz="2800" b="1" dirty="0">
              <a:solidFill>
                <a:srgbClr val="FF0000"/>
              </a:solidFill>
              <a:ea typeface="黑体" panose="02010609060101010101" pitchFamily="49" charset="-122"/>
            </a:endParaRPr>
          </a:p>
        </p:txBody>
      </p:sp>
      <p:sp>
        <p:nvSpPr>
          <p:cNvPr id="12" name="内容占位符 2"/>
          <p:cNvSpPr>
            <a:spLocks noGrp="1"/>
          </p:cNvSpPr>
          <p:nvPr>
            <p:ph idx="1"/>
          </p:nvPr>
        </p:nvSpPr>
        <p:spPr>
          <a:xfrm>
            <a:off x="229814" y="1670014"/>
            <a:ext cx="11407824" cy="3745265"/>
          </a:xfrm>
        </p:spPr>
        <p:txBody>
          <a:bodyPr/>
          <a:lstStyle/>
          <a:p>
            <a:pPr marL="0" indent="0">
              <a:lnSpc>
                <a:spcPct val="130000"/>
              </a:lnSpc>
              <a:spcBef>
                <a:spcPts val="0"/>
              </a:spcBef>
              <a:buNone/>
            </a:pPr>
            <a:r>
              <a:rPr lang="zh-CN" altLang="en-US" sz="2200" dirty="0">
                <a:latin typeface="Times New Roman" panose="02020603050405020304" pitchFamily="18" charset="0"/>
                <a:ea typeface="黑体" panose="02010609060101010101" pitchFamily="49" charset="-122"/>
              </a:rPr>
              <a:t>考虑贝叶斯估计的收敛性：记学习样本个数为</a:t>
            </a:r>
            <a:r>
              <a:rPr lang="en-US" altLang="zh-CN" sz="2200" i="1" dirty="0">
                <a:latin typeface="Times New Roman" panose="02020603050405020304" pitchFamily="18" charset="0"/>
                <a:ea typeface="黑体" panose="02010609060101010101" pitchFamily="49" charset="-122"/>
              </a:rPr>
              <a:t>N</a:t>
            </a:r>
            <a:r>
              <a:rPr lang="zh-CN" altLang="en-US" sz="2200" dirty="0">
                <a:latin typeface="Times New Roman" panose="02020603050405020304" pitchFamily="18" charset="0"/>
                <a:ea typeface="黑体" panose="02010609060101010101" pitchFamily="49" charset="-122"/>
              </a:rPr>
              <a:t> ，样本集                                   ，         时有：	        </a:t>
            </a:r>
            <a:endParaRPr lang="zh-CN" altLang="en-US" sz="2200" dirty="0">
              <a:latin typeface="Times New Roman" panose="02020603050405020304" pitchFamily="18" charset="0"/>
              <a:ea typeface="黑体" panose="02010609060101010101" pitchFamily="49" charset="-122"/>
            </a:endParaRPr>
          </a:p>
          <a:p>
            <a:pPr marL="0" indent="0">
              <a:lnSpc>
                <a:spcPct val="130000"/>
              </a:lnSpc>
              <a:spcBef>
                <a:spcPts val="600"/>
              </a:spcBef>
              <a:buNone/>
            </a:pPr>
            <a:r>
              <a:rPr lang="zh-CN" altLang="en-US" sz="2200" dirty="0">
                <a:latin typeface="Times New Roman" panose="02020603050405020304" pitchFamily="18" charset="0"/>
                <a:ea typeface="黑体" panose="02010609060101010101" pitchFamily="49" charset="-122"/>
              </a:rPr>
              <a:t>而贝叶斯估计关于待估计参数的后验概率公式为 </a:t>
            </a:r>
            <a:endParaRPr lang="zh-CN" altLang="en-US" sz="2200" dirty="0">
              <a:latin typeface="Times New Roman" panose="02020603050405020304" pitchFamily="18" charset="0"/>
              <a:ea typeface="黑体" panose="02010609060101010101" pitchFamily="49" charset="-122"/>
            </a:endParaRPr>
          </a:p>
          <a:p>
            <a:pPr marL="0" indent="0">
              <a:lnSpc>
                <a:spcPct val="130000"/>
              </a:lnSpc>
              <a:spcBef>
                <a:spcPts val="0"/>
              </a:spcBef>
              <a:buNone/>
            </a:pPr>
            <a:endParaRPr lang="en-US" altLang="zh-CN" sz="2200" dirty="0">
              <a:latin typeface="Times New Roman" panose="02020603050405020304" pitchFamily="18" charset="0"/>
              <a:ea typeface="黑体" panose="02010609060101010101" pitchFamily="49" charset="-122"/>
            </a:endParaRPr>
          </a:p>
          <a:p>
            <a:pPr marL="0" indent="0">
              <a:lnSpc>
                <a:spcPct val="130000"/>
              </a:lnSpc>
              <a:spcBef>
                <a:spcPts val="0"/>
              </a:spcBef>
              <a:buNone/>
            </a:pPr>
            <a:endParaRPr lang="en-US" altLang="zh-CN" sz="2200" dirty="0">
              <a:latin typeface="Times New Roman" panose="02020603050405020304" pitchFamily="18" charset="0"/>
              <a:ea typeface="黑体" panose="02010609060101010101" pitchFamily="49" charset="-122"/>
            </a:endParaRPr>
          </a:p>
          <a:p>
            <a:pPr marL="0" indent="0">
              <a:lnSpc>
                <a:spcPct val="130000"/>
              </a:lnSpc>
              <a:spcBef>
                <a:spcPts val="0"/>
              </a:spcBef>
              <a:buNone/>
            </a:pPr>
            <a:endParaRPr lang="en-US" altLang="zh-CN" sz="2200" dirty="0">
              <a:latin typeface="Times New Roman" panose="02020603050405020304" pitchFamily="18" charset="0"/>
              <a:ea typeface="黑体" panose="02010609060101010101" pitchFamily="49" charset="-122"/>
            </a:endParaRPr>
          </a:p>
          <a:p>
            <a:pPr marL="0" indent="0">
              <a:lnSpc>
                <a:spcPct val="130000"/>
              </a:lnSpc>
              <a:spcBef>
                <a:spcPts val="0"/>
              </a:spcBef>
              <a:buNone/>
            </a:pPr>
            <a:endParaRPr lang="en-US" altLang="zh-CN" sz="2200" dirty="0">
              <a:latin typeface="Times New Roman" panose="02020603050405020304" pitchFamily="18" charset="0"/>
              <a:ea typeface="黑体" panose="02010609060101010101" pitchFamily="49" charset="-122"/>
            </a:endParaRPr>
          </a:p>
          <a:p>
            <a:pPr marL="0" indent="0">
              <a:lnSpc>
                <a:spcPct val="130000"/>
              </a:lnSpc>
              <a:spcBef>
                <a:spcPts val="3000"/>
              </a:spcBef>
              <a:buNone/>
            </a:pPr>
            <a:r>
              <a:rPr lang="zh-CN" altLang="en-US" sz="2200" dirty="0">
                <a:latin typeface="Times New Roman" panose="02020603050405020304" pitchFamily="18" charset="0"/>
                <a:ea typeface="黑体" panose="02010609060101010101" pitchFamily="49" charset="-122"/>
              </a:rPr>
              <a:t>设                               ，则随着样本数增多，可得后验概率密度函数序列：</a:t>
            </a:r>
            <a:endParaRPr lang="zh-CN" altLang="en-US" sz="2200" dirty="0">
              <a:latin typeface="Times New Roman" panose="02020603050405020304" pitchFamily="18" charset="0"/>
              <a:ea typeface="黑体" panose="02010609060101010101" pitchFamily="49" charset="-122"/>
            </a:endParaRPr>
          </a:p>
        </p:txBody>
      </p:sp>
      <p:graphicFrame>
        <p:nvGraphicFramePr>
          <p:cNvPr id="13" name="对象 12"/>
          <p:cNvGraphicFramePr>
            <a:graphicFrameLocks noChangeAspect="1"/>
          </p:cNvGraphicFramePr>
          <p:nvPr/>
        </p:nvGraphicFramePr>
        <p:xfrm>
          <a:off x="7320136" y="1706590"/>
          <a:ext cx="2416175" cy="479425"/>
        </p:xfrm>
        <a:graphic>
          <a:graphicData uri="http://schemas.openxmlformats.org/presentationml/2006/ole">
            <mc:AlternateContent xmlns:mc="http://schemas.openxmlformats.org/markup-compatibility/2006">
              <mc:Choice xmlns:v="urn:schemas-microsoft-com:vml" Requires="v">
                <p:oleObj spid="_x0000_s142164" name="Equation" r:id="rId2" imgW="1307465" imgH="254000" progId="Equation.DSMT4">
                  <p:embed/>
                </p:oleObj>
              </mc:Choice>
              <mc:Fallback>
                <p:oleObj name="Equation" r:id="rId2" imgW="1307465" imgH="254000" progId="Equation.DSMT4">
                  <p:embed/>
                  <p:pic>
                    <p:nvPicPr>
                      <p:cNvPr id="0" name="Picture 78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0136" y="1706590"/>
                        <a:ext cx="2416175"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nvGraphicFramePr>
        <p:xfrm>
          <a:off x="9947199" y="1807101"/>
          <a:ext cx="613297" cy="298752"/>
        </p:xfrm>
        <a:graphic>
          <a:graphicData uri="http://schemas.openxmlformats.org/presentationml/2006/ole">
            <mc:AlternateContent xmlns:mc="http://schemas.openxmlformats.org/markup-compatibility/2006">
              <mc:Choice xmlns:v="urn:schemas-microsoft-com:vml" Requires="v">
                <p:oleObj spid="_x0000_s142165" name="Equation" r:id="rId4" imgW="368300" imgH="177800" progId="Equation.DSMT4">
                  <p:embed/>
                </p:oleObj>
              </mc:Choice>
              <mc:Fallback>
                <p:oleObj name="Equation" r:id="rId4" imgW="368300" imgH="177800" progId="Equation.DSMT4">
                  <p:embed/>
                  <p:pic>
                    <p:nvPicPr>
                      <p:cNvPr id="0" name="Picture 78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47199" y="1807101"/>
                        <a:ext cx="613297" cy="2987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nvGraphicFramePr>
        <p:xfrm>
          <a:off x="3872545" y="2230514"/>
          <a:ext cx="3744967" cy="422450"/>
        </p:xfrm>
        <a:graphic>
          <a:graphicData uri="http://schemas.openxmlformats.org/presentationml/2006/ole">
            <mc:AlternateContent xmlns:mc="http://schemas.openxmlformats.org/markup-compatibility/2006">
              <mc:Choice xmlns:v="urn:schemas-microsoft-com:vml" Requires="v">
                <p:oleObj spid="_x0000_s142166" name="Equation" r:id="rId6" imgW="2120900" imgH="241300" progId="Equation.DSMT4">
                  <p:embed/>
                </p:oleObj>
              </mc:Choice>
              <mc:Fallback>
                <p:oleObj name="Equation" r:id="rId6" imgW="2120900" imgH="241300" progId="Equation.DSMT4">
                  <p:embed/>
                  <p:pic>
                    <p:nvPicPr>
                      <p:cNvPr id="0" name="Picture 79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72545" y="2230514"/>
                        <a:ext cx="3744967" cy="42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nvGraphicFramePr>
        <p:xfrm>
          <a:off x="4223792" y="3104089"/>
          <a:ext cx="7275512" cy="1938338"/>
        </p:xfrm>
        <a:graphic>
          <a:graphicData uri="http://schemas.openxmlformats.org/presentationml/2006/ole">
            <mc:AlternateContent xmlns:mc="http://schemas.openxmlformats.org/markup-compatibility/2006">
              <mc:Choice xmlns:v="urn:schemas-microsoft-com:vml" Requires="v">
                <p:oleObj spid="_x0000_s142167" name="Equation" r:id="rId8" imgW="4635500" imgH="1244600" progId="Equation.DSMT4">
                  <p:embed/>
                </p:oleObj>
              </mc:Choice>
              <mc:Fallback>
                <p:oleObj name="Equation" r:id="rId8" imgW="4635500" imgH="1244600" progId="Equation.DSMT4">
                  <p:embed/>
                  <p:pic>
                    <p:nvPicPr>
                      <p:cNvPr id="0" name="Picture 79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23792" y="3104089"/>
                        <a:ext cx="7275512" cy="1938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nvGraphicFramePr>
        <p:xfrm>
          <a:off x="695196" y="5254634"/>
          <a:ext cx="2071911" cy="373727"/>
        </p:xfrm>
        <a:graphic>
          <a:graphicData uri="http://schemas.openxmlformats.org/presentationml/2006/ole">
            <mc:AlternateContent xmlns:mc="http://schemas.openxmlformats.org/markup-compatibility/2006">
              <mc:Choice xmlns:v="urn:schemas-microsoft-com:vml" Requires="v">
                <p:oleObj spid="_x0000_s142168" name="Equation" r:id="rId10" imgW="1078865" imgH="203200" progId="Equation.DSMT4">
                  <p:embed/>
                </p:oleObj>
              </mc:Choice>
              <mc:Fallback>
                <p:oleObj name="Equation" r:id="rId10" imgW="1078865" imgH="203200" progId="Equation.DSMT4">
                  <p:embed/>
                  <p:pic>
                    <p:nvPicPr>
                      <p:cNvPr id="0" name="Picture 79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5196" y="5254634"/>
                        <a:ext cx="2071911" cy="3737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nvGraphicFramePr>
        <p:xfrm>
          <a:off x="1731151" y="5745028"/>
          <a:ext cx="3788785" cy="441761"/>
        </p:xfrm>
        <a:graphic>
          <a:graphicData uri="http://schemas.openxmlformats.org/presentationml/2006/ole">
            <mc:AlternateContent xmlns:mc="http://schemas.openxmlformats.org/markup-compatibility/2006">
              <mc:Choice xmlns:v="urn:schemas-microsoft-com:vml" Requires="v">
                <p:oleObj spid="_x0000_s142169" name="Equation" r:id="rId12" imgW="1993900" imgH="228600" progId="Equation.DSMT4">
                  <p:embed/>
                </p:oleObj>
              </mc:Choice>
              <mc:Fallback>
                <p:oleObj name="Equation" r:id="rId12" imgW="1993900" imgH="228600" progId="Equation.DSMT4">
                  <p:embed/>
                  <p:pic>
                    <p:nvPicPr>
                      <p:cNvPr id="0" name="Picture 79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31151" y="5745028"/>
                        <a:ext cx="3788785" cy="4417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179"/>
          <p:cNvGraphicFramePr>
            <a:graphicFrameLocks noChangeAspect="1"/>
          </p:cNvGraphicFramePr>
          <p:nvPr/>
        </p:nvGraphicFramePr>
        <p:xfrm>
          <a:off x="522386" y="3249802"/>
          <a:ext cx="2883620" cy="765424"/>
        </p:xfrm>
        <a:graphic>
          <a:graphicData uri="http://schemas.openxmlformats.org/presentationml/2006/ole">
            <mc:AlternateContent xmlns:mc="http://schemas.openxmlformats.org/markup-compatibility/2006">
              <mc:Choice xmlns:v="urn:schemas-microsoft-com:vml" Requires="v">
                <p:oleObj spid="_x0000_s142170" name="Equation" r:id="rId14" imgW="1854200" imgH="482600" progId="Equation.DSMT4">
                  <p:embed/>
                </p:oleObj>
              </mc:Choice>
              <mc:Fallback>
                <p:oleObj name="Equation" r:id="rId14" imgW="1854200" imgH="482600" progId="Equation.DSMT4">
                  <p:embed/>
                  <p:pic>
                    <p:nvPicPr>
                      <p:cNvPr id="0" name="Picture 79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2386" y="3249802"/>
                        <a:ext cx="2883620" cy="765424"/>
                      </a:xfrm>
                      <a:prstGeom prst="rect">
                        <a:avLst/>
                      </a:prstGeom>
                      <a:solidFill>
                        <a:schemeClr val="accent1"/>
                      </a:solidFill>
                    </p:spPr>
                  </p:pic>
                </p:oleObj>
              </mc:Fallback>
            </mc:AlternateContent>
          </a:graphicData>
        </a:graphic>
      </p:graphicFrame>
      <p:graphicFrame>
        <p:nvGraphicFramePr>
          <p:cNvPr id="32" name="Object 7"/>
          <p:cNvGraphicFramePr>
            <a:graphicFrameLocks noChangeAspect="1"/>
          </p:cNvGraphicFramePr>
          <p:nvPr/>
        </p:nvGraphicFramePr>
        <p:xfrm>
          <a:off x="499278" y="4189738"/>
          <a:ext cx="2904868" cy="996091"/>
        </p:xfrm>
        <a:graphic>
          <a:graphicData uri="http://schemas.openxmlformats.org/presentationml/2006/ole">
            <mc:AlternateContent xmlns:mc="http://schemas.openxmlformats.org/markup-compatibility/2006">
              <mc:Choice xmlns:v="urn:schemas-microsoft-com:vml" Requires="v">
                <p:oleObj spid="_x0000_s142171" name="Equation" r:id="rId16" imgW="1816100" imgH="622300" progId="Equation.DSMT4">
                  <p:embed/>
                </p:oleObj>
              </mc:Choice>
              <mc:Fallback>
                <p:oleObj name="Equation" r:id="rId16" imgW="1816100" imgH="622300" progId="Equation.DSMT4">
                  <p:embed/>
                  <p:pic>
                    <p:nvPicPr>
                      <p:cNvPr id="0" name="Picture 79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99278" y="4189738"/>
                        <a:ext cx="2904868" cy="9960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右箭头 1"/>
          <p:cNvSpPr/>
          <p:nvPr/>
        </p:nvSpPr>
        <p:spPr>
          <a:xfrm>
            <a:off x="3659633" y="3484629"/>
            <a:ext cx="425825" cy="147885"/>
          </a:xfrm>
          <a:prstGeom prst="rightArrow">
            <a:avLst/>
          </a:prstGeom>
          <a:solidFill>
            <a:schemeClr val="accent1"/>
          </a:solidFill>
          <a:ln>
            <a:solidFill>
              <a:schemeClr val="accent5">
                <a:lumMod val="25000"/>
              </a:schemeClr>
            </a:solidFill>
          </a:ln>
        </p:spPr>
        <p:txBody>
          <a:bodyPr wrap="none" rtlCol="0" anchor="ctr">
            <a:spAutoFit/>
          </a:bodyPr>
          <a:lstStyle/>
          <a:p>
            <a:pPr algn="ctr"/>
            <a:endParaRPr lang="zh-CN" altLang="en-US" sz="2400" kern="100" dirty="0">
              <a:ea typeface="宋体" panose="02010600030101010101" pitchFamily="2" charset="-122"/>
              <a:cs typeface="Times New Roman" panose="02020603050405020304"/>
            </a:endParaRPr>
          </a:p>
        </p:txBody>
      </p:sp>
      <p:sp>
        <p:nvSpPr>
          <p:cNvPr id="6" name="椭圆 5"/>
          <p:cNvSpPr/>
          <p:nvPr/>
        </p:nvSpPr>
        <p:spPr>
          <a:xfrm>
            <a:off x="1741276" y="4105648"/>
            <a:ext cx="1474404" cy="571671"/>
          </a:xfrm>
          <a:prstGeom prst="ellipse">
            <a:avLst/>
          </a:prstGeom>
          <a:ln w="31750">
            <a:solidFill>
              <a:srgbClr val="FF0000"/>
            </a:solidFill>
          </a:ln>
        </p:spPr>
        <p:txBody>
          <a:bodyPr wrap="square" rtlCol="0" anchor="ctr">
            <a:spAutoFit/>
          </a:bodyPr>
          <a:lstStyle/>
          <a:p>
            <a:pPr algn="ctr"/>
            <a:endParaRPr lang="zh-CN" altLang="en-US" sz="2400" kern="100" dirty="0">
              <a:ea typeface="宋体" panose="02010600030101010101" pitchFamily="2" charset="-122"/>
              <a:cs typeface="Times New Roman" panose="02020603050405020304"/>
            </a:endParaRPr>
          </a:p>
        </p:txBody>
      </p:sp>
      <p:sp>
        <p:nvSpPr>
          <p:cNvPr id="8" name="矩形 7"/>
          <p:cNvSpPr/>
          <p:nvPr/>
        </p:nvSpPr>
        <p:spPr>
          <a:xfrm>
            <a:off x="6096000" y="5671830"/>
            <a:ext cx="5705408" cy="485133"/>
          </a:xfrm>
          <a:prstGeom prst="rect">
            <a:avLst/>
          </a:prstGeom>
        </p:spPr>
        <p:txBody>
          <a:bodyPr wrap="none">
            <a:spAutoFit/>
          </a:bodyPr>
          <a:lstStyle/>
          <a:p>
            <a:pPr marL="0" indent="0">
              <a:lnSpc>
                <a:spcPct val="130000"/>
              </a:lnSpc>
              <a:spcBef>
                <a:spcPts val="0"/>
              </a:spcBef>
              <a:buNone/>
            </a:pPr>
            <a:r>
              <a:rPr lang="zh-CN" altLang="en-US" dirty="0">
                <a:latin typeface="Times New Roman" panose="02020603050405020304" pitchFamily="18" charset="0"/>
                <a:ea typeface="黑体" panose="02010609060101010101" pitchFamily="49" charset="-122"/>
              </a:rPr>
              <a:t>	          </a:t>
            </a:r>
            <a:r>
              <a:rPr lang="en-US" altLang="zh-CN" sz="2200" b="1" dirty="0">
                <a:solidFill>
                  <a:srgbClr val="FF0000"/>
                </a:solidFill>
                <a:latin typeface="Times New Roman" panose="02020603050405020304" pitchFamily="18" charset="0"/>
                <a:ea typeface="黑体" panose="02010609060101010101" pitchFamily="49" charset="-122"/>
              </a:rPr>
              <a:t>—— </a:t>
            </a:r>
            <a:r>
              <a:rPr lang="zh-CN" altLang="en-US" sz="2200" b="1" dirty="0">
                <a:solidFill>
                  <a:srgbClr val="FF0000"/>
                </a:solidFill>
                <a:latin typeface="Times New Roman" panose="02020603050405020304" pitchFamily="18" charset="0"/>
                <a:ea typeface="黑体" panose="02010609060101010101" pitchFamily="49" charset="-122"/>
              </a:rPr>
              <a:t>参数估计的递推贝叶斯方法</a:t>
            </a:r>
            <a:endParaRPr lang="zh-CN" altLang="en-US" sz="2200" b="1" dirty="0">
              <a:solidFill>
                <a:srgbClr val="FF0000"/>
              </a:solidFill>
              <a:latin typeface="Times New Roman" panose="02020603050405020304" pitchFamily="18" charset="0"/>
              <a:ea typeface="黑体" panose="02010609060101010101" pitchFamily="49"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3417770" y="3963310"/>
            <a:ext cx="4472144" cy="461993"/>
          </a:xfrm>
          <a:prstGeom prst="rect">
            <a:avLst/>
          </a:prstGeom>
          <a:solidFill>
            <a:schemeClr val="accent5"/>
          </a:solidFill>
        </p:spPr>
        <p:txBody>
          <a:bodyPr wrap="none" rtlCol="0" anchor="ctr">
            <a:spAutoFit/>
          </a:bodyPr>
          <a:lstStyle/>
          <a:p>
            <a:pPr algn="ctr"/>
            <a:endParaRPr lang="zh-CN" altLang="en-US" sz="2400" kern="100" dirty="0">
              <a:ea typeface="宋体" panose="02010600030101010101" pitchFamily="2" charset="-122"/>
              <a:cs typeface="Times New Roman" panose="02020603050405020304"/>
            </a:endParaRPr>
          </a:p>
        </p:txBody>
      </p:sp>
      <p:sp>
        <p:nvSpPr>
          <p:cNvPr id="7" name="矩形 6"/>
          <p:cNvSpPr/>
          <p:nvPr/>
        </p:nvSpPr>
        <p:spPr>
          <a:xfrm>
            <a:off x="3417770" y="2262240"/>
            <a:ext cx="4622445" cy="1009342"/>
          </a:xfrm>
          <a:prstGeom prst="rect">
            <a:avLst/>
          </a:prstGeom>
          <a:solidFill>
            <a:schemeClr val="accent6">
              <a:lumMod val="20000"/>
              <a:lumOff val="80000"/>
            </a:schemeClr>
          </a:solidFill>
        </p:spPr>
        <p:txBody>
          <a:bodyPr wrap="square" rtlCol="0" anchor="ctr">
            <a:spAutoFit/>
          </a:bodyPr>
          <a:lstStyle/>
          <a:p>
            <a:pPr algn="ctr"/>
            <a:endParaRPr lang="zh-CN" altLang="en-US" sz="2400" kern="100" dirty="0">
              <a:ea typeface="宋体" panose="02010600030101010101" pitchFamily="2" charset="-122"/>
              <a:cs typeface="Times New Roman" panose="02020603050405020304"/>
            </a:endParaRPr>
          </a:p>
        </p:txBody>
      </p:sp>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14.5 </a:t>
            </a:r>
            <a:r>
              <a:rPr lang="zh-CN" altLang="zh-CN" dirty="0"/>
              <a:t>贝叶斯学习</a:t>
            </a:r>
            <a:endParaRPr lang="zh-CN" altLang="zh-CN" dirty="0"/>
          </a:p>
        </p:txBody>
      </p:sp>
      <p:sp>
        <p:nvSpPr>
          <p:cNvPr id="42" name="矩形 41"/>
          <p:cNvSpPr/>
          <p:nvPr/>
        </p:nvSpPr>
        <p:spPr>
          <a:xfrm>
            <a:off x="304132" y="1076139"/>
            <a:ext cx="198002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贝叶斯学习</a:t>
            </a:r>
            <a:endParaRPr lang="zh-CN" altLang="en-US" sz="2800" b="1" dirty="0">
              <a:solidFill>
                <a:srgbClr val="FF0000"/>
              </a:solidFill>
              <a:ea typeface="黑体" panose="02010609060101010101" pitchFamily="49" charset="-122"/>
            </a:endParaRPr>
          </a:p>
        </p:txBody>
      </p:sp>
      <p:graphicFrame>
        <p:nvGraphicFramePr>
          <p:cNvPr id="22" name="对象 21"/>
          <p:cNvGraphicFramePr>
            <a:graphicFrameLocks noChangeAspect="1"/>
          </p:cNvGraphicFramePr>
          <p:nvPr/>
        </p:nvGraphicFramePr>
        <p:xfrm>
          <a:off x="3808565" y="2291211"/>
          <a:ext cx="4081349" cy="911228"/>
        </p:xfrm>
        <a:graphic>
          <a:graphicData uri="http://schemas.openxmlformats.org/presentationml/2006/ole">
            <mc:AlternateContent xmlns:mc="http://schemas.openxmlformats.org/markup-compatibility/2006">
              <mc:Choice xmlns:v="urn:schemas-microsoft-com:vml" Requires="v">
                <p:oleObj spid="_x0000_s142554" name="Equation" r:id="rId2" imgW="2260600" imgH="508000" progId="Equation.DSMT4">
                  <p:embed/>
                </p:oleObj>
              </mc:Choice>
              <mc:Fallback>
                <p:oleObj name="Equation" r:id="rId2" imgW="2260600" imgH="508000" progId="Equation.DSMT4">
                  <p:embed/>
                  <p:pic>
                    <p:nvPicPr>
                      <p:cNvPr id="0" name="Picture 2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8565" y="2291211"/>
                        <a:ext cx="4081349" cy="9112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nvGraphicFramePr>
        <p:xfrm>
          <a:off x="3808565" y="3963310"/>
          <a:ext cx="3962305" cy="461993"/>
        </p:xfrm>
        <a:graphic>
          <a:graphicData uri="http://schemas.openxmlformats.org/presentationml/2006/ole">
            <mc:AlternateContent xmlns:mc="http://schemas.openxmlformats.org/markup-compatibility/2006">
              <mc:Choice xmlns:v="urn:schemas-microsoft-com:vml" Requires="v">
                <p:oleObj spid="_x0000_s142555" name="Equation" r:id="rId4" imgW="1993900" imgH="228600" progId="Equation.DSMT4">
                  <p:embed/>
                </p:oleObj>
              </mc:Choice>
              <mc:Fallback>
                <p:oleObj name="Equation" r:id="rId4" imgW="1993900" imgH="228600" progId="Equation.DSMT4">
                  <p:embed/>
                  <p:pic>
                    <p:nvPicPr>
                      <p:cNvPr id="0" name="Picture 20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8565" y="3963310"/>
                        <a:ext cx="3962305" cy="4619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矩形 29"/>
          <p:cNvSpPr/>
          <p:nvPr/>
        </p:nvSpPr>
        <p:spPr>
          <a:xfrm>
            <a:off x="322214" y="4616666"/>
            <a:ext cx="11464626" cy="972574"/>
          </a:xfrm>
          <a:prstGeom prst="rect">
            <a:avLst/>
          </a:prstGeom>
        </p:spPr>
        <p:txBody>
          <a:bodyPr wrap="square">
            <a:spAutoFit/>
          </a:bodyPr>
          <a:lstStyle/>
          <a:p>
            <a:pPr marL="0" indent="0">
              <a:lnSpc>
                <a:spcPct val="130000"/>
              </a:lnSpc>
              <a:spcBef>
                <a:spcPts val="0"/>
              </a:spcBef>
              <a:buNone/>
            </a:pPr>
            <a:r>
              <a:rPr lang="zh-CN" altLang="en-US" sz="2200" dirty="0">
                <a:latin typeface="Times New Roman" panose="02020603050405020304" pitchFamily="18" charset="0"/>
                <a:ea typeface="黑体" panose="02010609060101010101" pitchFamily="49" charset="-122"/>
              </a:rPr>
              <a:t>如果随着样本数的增加，待估计参数后验概率序列逐渐尖锐，趋向于以参数真实值为中心的一个尖峰，当样本无穷多时收敛于在参数真实值上的脉冲函数，则称这一过程为</a:t>
            </a:r>
            <a:r>
              <a:rPr lang="zh-CN" altLang="en-US" sz="2200" b="1" dirty="0">
                <a:solidFill>
                  <a:srgbClr val="FF0000"/>
                </a:solidFill>
                <a:latin typeface="Times New Roman" panose="02020603050405020304" pitchFamily="18" charset="0"/>
                <a:ea typeface="黑体" panose="02010609060101010101" pitchFamily="49" charset="-122"/>
              </a:rPr>
              <a:t>贝叶斯学习</a:t>
            </a:r>
            <a:r>
              <a:rPr lang="zh-CN" altLang="en-US" sz="2200" dirty="0">
                <a:latin typeface="Times New Roman" panose="02020603050405020304" pitchFamily="18" charset="0"/>
                <a:ea typeface="黑体" panose="02010609060101010101" pitchFamily="49" charset="-122"/>
              </a:rPr>
              <a:t>。</a:t>
            </a:r>
            <a:endParaRPr lang="zh-CN" altLang="en-US" sz="2200" b="1" dirty="0">
              <a:solidFill>
                <a:srgbClr val="FF0000"/>
              </a:solidFill>
              <a:latin typeface="Times New Roman" panose="02020603050405020304" pitchFamily="18" charset="0"/>
              <a:ea typeface="黑体" panose="02010609060101010101" pitchFamily="49" charset="-122"/>
            </a:endParaRPr>
          </a:p>
        </p:txBody>
      </p:sp>
      <p:sp>
        <p:nvSpPr>
          <p:cNvPr id="5" name="矩形 4"/>
          <p:cNvSpPr/>
          <p:nvPr/>
        </p:nvSpPr>
        <p:spPr>
          <a:xfrm>
            <a:off x="304132" y="1763570"/>
            <a:ext cx="5545108" cy="430887"/>
          </a:xfrm>
          <a:prstGeom prst="rect">
            <a:avLst/>
          </a:prstGeom>
        </p:spPr>
        <p:txBody>
          <a:bodyPr wrap="none">
            <a:spAutoFit/>
          </a:bodyPr>
          <a:lstStyle/>
          <a:p>
            <a:r>
              <a:rPr lang="zh-CN" altLang="en-US" sz="2200" dirty="0">
                <a:latin typeface="Times New Roman" panose="02020603050405020304" pitchFamily="18" charset="0"/>
                <a:ea typeface="黑体" panose="02010609060101010101" pitchFamily="49" charset="-122"/>
              </a:rPr>
              <a:t>贝叶斯估计关于待估计参数的后验概率公式</a:t>
            </a:r>
            <a:endParaRPr lang="zh-CN" altLang="en-US" sz="2200" dirty="0"/>
          </a:p>
        </p:txBody>
      </p:sp>
      <p:sp>
        <p:nvSpPr>
          <p:cNvPr id="25" name="矩形 24"/>
          <p:cNvSpPr/>
          <p:nvPr/>
        </p:nvSpPr>
        <p:spPr>
          <a:xfrm>
            <a:off x="275913" y="3430161"/>
            <a:ext cx="5545108" cy="430887"/>
          </a:xfrm>
          <a:prstGeom prst="rect">
            <a:avLst/>
          </a:prstGeom>
        </p:spPr>
        <p:txBody>
          <a:bodyPr wrap="none">
            <a:spAutoFit/>
          </a:bodyPr>
          <a:lstStyle/>
          <a:p>
            <a:r>
              <a:rPr lang="zh-CN" altLang="en-US" sz="2200" dirty="0">
                <a:latin typeface="Times New Roman" panose="02020603050405020304" pitchFamily="18" charset="0"/>
                <a:ea typeface="黑体" panose="02010609060101010101" pitchFamily="49" charset="-122"/>
              </a:rPr>
              <a:t>贝叶斯估计关于待估计参数的后验概率序列</a:t>
            </a:r>
            <a:endParaRPr lang="zh-CN" altLang="en-US" sz="2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15680" y="1149255"/>
            <a:ext cx="6768752" cy="3101362"/>
          </a:xfrm>
          <a:prstGeom prst="rect">
            <a:avLst/>
          </a:prstGeom>
          <a:noFill/>
        </p:spPr>
        <p:txBody>
          <a:bodyPr wrap="square" rtlCol="0">
            <a:spAutoFit/>
          </a:bodyPr>
          <a:lstStyle/>
          <a:p>
            <a:pPr>
              <a:lnSpc>
                <a:spcPct val="130000"/>
              </a:lnSpc>
              <a:spcBef>
                <a:spcPts val="200"/>
              </a:spcBef>
            </a:pPr>
            <a:r>
              <a:rPr lang="en-US" altLang="zh-CN" sz="2400" b="1" dirty="0">
                <a:latin typeface="宋体" panose="02010600030101010101" pitchFamily="2" charset="-122"/>
                <a:ea typeface="宋体" panose="02010600030101010101" pitchFamily="2" charset="-122"/>
              </a:rPr>
              <a:t>14.1 </a:t>
            </a:r>
            <a:r>
              <a:rPr lang="zh-CN" altLang="zh-CN" sz="2400" b="1" dirty="0">
                <a:latin typeface="宋体" panose="02010600030101010101" pitchFamily="2" charset="-122"/>
                <a:ea typeface="宋体" panose="02010600030101010101" pitchFamily="2" charset="-122"/>
              </a:rPr>
              <a:t>最大似然估计基本原理</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14.2 </a:t>
            </a:r>
            <a:r>
              <a:rPr lang="zh-CN" altLang="zh-CN" sz="2400" b="1" dirty="0">
                <a:latin typeface="宋体" panose="02010600030101010101" pitchFamily="2" charset="-122"/>
                <a:ea typeface="宋体" panose="02010600030101010101" pitchFamily="2" charset="-122"/>
              </a:rPr>
              <a:t>最大似然估计的求解</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14.3 </a:t>
            </a:r>
            <a:r>
              <a:rPr lang="zh-CN" altLang="zh-CN" sz="2400" b="1" dirty="0">
                <a:latin typeface="宋体" panose="02010600030101010101" pitchFamily="2" charset="-122"/>
                <a:ea typeface="宋体" panose="02010600030101010101" pitchFamily="2" charset="-122"/>
              </a:rPr>
              <a:t>正态分布下的最大似然估计</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14.4 </a:t>
            </a:r>
            <a:r>
              <a:rPr lang="zh-CN" altLang="zh-CN" sz="2400" b="1" dirty="0">
                <a:latin typeface="宋体" panose="02010600030101010101" pitchFamily="2" charset="-122"/>
                <a:ea typeface="宋体" panose="02010600030101010101" pitchFamily="2" charset="-122"/>
              </a:rPr>
              <a:t>贝叶斯估计</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latin typeface="宋体" panose="02010600030101010101" pitchFamily="2" charset="-122"/>
                <a:ea typeface="宋体" panose="02010600030101010101" pitchFamily="2" charset="-122"/>
              </a:rPr>
              <a:t>14.5 </a:t>
            </a:r>
            <a:r>
              <a:rPr lang="zh-CN" altLang="zh-CN" sz="2400" b="1" dirty="0">
                <a:latin typeface="宋体" panose="02010600030101010101" pitchFamily="2" charset="-122"/>
                <a:ea typeface="宋体" panose="02010600030101010101" pitchFamily="2" charset="-122"/>
              </a:rPr>
              <a:t>贝叶斯学习</a:t>
            </a:r>
            <a:endParaRPr lang="zh-CN" altLang="zh-CN" sz="2400" b="1" dirty="0">
              <a:latin typeface="宋体" panose="02010600030101010101" pitchFamily="2" charset="-122"/>
              <a:ea typeface="宋体" panose="02010600030101010101" pitchFamily="2" charset="-122"/>
            </a:endParaRPr>
          </a:p>
          <a:p>
            <a:pPr>
              <a:lnSpc>
                <a:spcPct val="130000"/>
              </a:lnSpc>
              <a:spcBef>
                <a:spcPts val="200"/>
              </a:spcBef>
            </a:pPr>
            <a:r>
              <a:rPr lang="en-US" altLang="zh-CN" sz="2400" b="1" dirty="0">
                <a:solidFill>
                  <a:srgbClr val="0000FF"/>
                </a:solidFill>
                <a:latin typeface="宋体" panose="02010600030101010101" pitchFamily="2" charset="-122"/>
                <a:ea typeface="宋体" panose="02010600030101010101" pitchFamily="2" charset="-122"/>
              </a:rPr>
              <a:t>14.6 </a:t>
            </a:r>
            <a:r>
              <a:rPr lang="zh-CN" altLang="zh-CN" sz="2400" b="1" dirty="0">
                <a:solidFill>
                  <a:srgbClr val="0000FF"/>
                </a:solidFill>
                <a:latin typeface="宋体" panose="02010600030101010101" pitchFamily="2" charset="-122"/>
                <a:ea typeface="宋体" panose="02010600030101010101" pitchFamily="2" charset="-122"/>
              </a:rPr>
              <a:t>正态分布下的贝叶斯估计</a:t>
            </a:r>
            <a:endParaRPr lang="zh-CN" altLang="zh-CN" sz="2400" b="1" dirty="0">
              <a:solidFill>
                <a:srgbClr val="0000FF"/>
              </a:solidFill>
              <a:latin typeface="宋体" panose="02010600030101010101" pitchFamily="2" charset="-122"/>
              <a:ea typeface="宋体" panose="02010600030101010101" pitchFamily="2" charset="-122"/>
            </a:endParaRPr>
          </a:p>
        </p:txBody>
      </p:sp>
      <p:sp>
        <p:nvSpPr>
          <p:cNvPr id="8" name="Freeform 6"/>
          <p:cNvSpPr/>
          <p:nvPr/>
        </p:nvSpPr>
        <p:spPr bwMode="auto">
          <a:xfrm>
            <a:off x="0" y="5589240"/>
            <a:ext cx="12192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ln>
        </p:spPr>
        <p:txBody>
          <a:bodyPr vert="horz" wrap="square" lIns="128580" tIns="64290" rIns="128580" bIns="64290" numCol="1" anchor="t" anchorCtr="0" compatLnSpc="1"/>
          <a:lstStyle/>
          <a:p>
            <a:endParaRPr lang="zh-CN" altLang="en-US"/>
          </a:p>
        </p:txBody>
      </p:sp>
      <p:sp>
        <p:nvSpPr>
          <p:cNvPr id="9" name="Freeform 7"/>
          <p:cNvSpPr/>
          <p:nvPr/>
        </p:nvSpPr>
        <p:spPr bwMode="auto">
          <a:xfrm>
            <a:off x="-24680" y="5425669"/>
            <a:ext cx="12216680" cy="357166"/>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ln>
        </p:spPr>
        <p:txBody>
          <a:bodyPr vert="horz" wrap="square" lIns="128580" tIns="64290" rIns="128580" bIns="64290" numCol="1" anchor="t" anchorCtr="0" compatLnSpc="1"/>
          <a:lstStyle/>
          <a:p>
            <a:endParaRPr lang="zh-CN" altLang="en-US">
              <a:solidFill>
                <a:schemeClr val="tx2">
                  <a:lumMod val="20000"/>
                  <a:lumOff val="80000"/>
                </a:schemeClr>
              </a:solidFill>
            </a:endParaRPr>
          </a:p>
        </p:txBody>
      </p:sp>
      <p:pic>
        <p:nvPicPr>
          <p:cNvPr id="3" name="图片 2"/>
          <p:cNvPicPr>
            <a:picLocks noChangeAspect="1"/>
          </p:cNvPicPr>
          <p:nvPr/>
        </p:nvPicPr>
        <p:blipFill>
          <a:blip r:embed="rId1"/>
          <a:stretch>
            <a:fillRect/>
          </a:stretch>
        </p:blipFill>
        <p:spPr>
          <a:xfrm>
            <a:off x="0" y="6468398"/>
            <a:ext cx="1349719" cy="404664"/>
          </a:xfrm>
          <a:prstGeom prst="rect">
            <a:avLst/>
          </a:prstGeom>
        </p:spPr>
      </p:pic>
      <p:sp>
        <p:nvSpPr>
          <p:cNvPr id="6" name="文本框 5"/>
          <p:cNvSpPr txBox="1"/>
          <p:nvPr/>
        </p:nvSpPr>
        <p:spPr>
          <a:xfrm>
            <a:off x="-24680" y="6436962"/>
            <a:ext cx="5472608" cy="461665"/>
          </a:xfrm>
          <a:prstGeom prst="rect">
            <a:avLst/>
          </a:prstGeom>
          <a:noFill/>
        </p:spPr>
        <p:txBody>
          <a:bodyPr wrap="square" rtlCol="0">
            <a:spAutoFit/>
          </a:bodyPr>
          <a:lstStyle/>
          <a:p>
            <a:r>
              <a:rPr lang="zh-CN" altLang="en-US" sz="2400" b="1" dirty="0">
                <a:solidFill>
                  <a:srgbClr val="0000FF"/>
                </a:solidFill>
              </a:rPr>
              <a:t>人工智能与自动化学院        </a:t>
            </a:r>
            <a:endParaRPr lang="zh-CN" altLang="en-US" sz="2400" b="1" dirty="0">
              <a:solidFill>
                <a:srgbClr val="0000FF"/>
              </a:solidFill>
            </a:endParaRPr>
          </a:p>
        </p:txBody>
      </p:sp>
      <p:sp>
        <p:nvSpPr>
          <p:cNvPr id="12" name="标题 1"/>
          <p:cNvSpPr txBox="1"/>
          <p:nvPr/>
        </p:nvSpPr>
        <p:spPr bwMode="black">
          <a:xfrm>
            <a:off x="407368" y="188640"/>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zh-CN" altLang="en-US" kern="0" dirty="0"/>
              <a:t>第</a:t>
            </a:r>
            <a:r>
              <a:rPr lang="en-US" altLang="zh-CN" kern="0" dirty="0"/>
              <a:t>14</a:t>
            </a:r>
            <a:r>
              <a:rPr lang="zh-CN" altLang="en-US" kern="0" dirty="0"/>
              <a:t>讲 </a:t>
            </a:r>
            <a:r>
              <a:rPr lang="zh-CN" altLang="zh-CN" dirty="0"/>
              <a:t>概率密度函数的参数估计</a:t>
            </a:r>
            <a:endParaRPr lang="zh-CN" altLang="zh-CN" dirty="0"/>
          </a:p>
        </p:txBody>
      </p:sp>
      <p:sp>
        <p:nvSpPr>
          <p:cNvPr id="7" name="灯片编号占位符 6"/>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14.6 </a:t>
            </a:r>
            <a:r>
              <a:rPr lang="zh-CN" altLang="zh-CN" dirty="0"/>
              <a:t>正态分布下的贝叶斯估计</a:t>
            </a:r>
            <a:endParaRPr lang="zh-CN" altLang="zh-CN" dirty="0"/>
          </a:p>
        </p:txBody>
      </p:sp>
      <p:sp>
        <p:nvSpPr>
          <p:cNvPr id="12" name="内容占位符 2"/>
          <p:cNvSpPr>
            <a:spLocks noGrp="1"/>
          </p:cNvSpPr>
          <p:nvPr>
            <p:ph idx="1"/>
          </p:nvPr>
        </p:nvSpPr>
        <p:spPr>
          <a:xfrm>
            <a:off x="335360" y="1161538"/>
            <a:ext cx="11737304" cy="480783"/>
          </a:xfrm>
        </p:spPr>
        <p:txBody>
          <a:bodyPr/>
          <a:lstStyle/>
          <a:p>
            <a:pPr marL="0" indent="0">
              <a:buNone/>
            </a:pPr>
            <a:r>
              <a:rPr lang="zh-CN" altLang="en-US" sz="2200" dirty="0">
                <a:latin typeface="Times New Roman" panose="02020603050405020304" pitchFamily="18" charset="0"/>
                <a:ea typeface="黑体" panose="02010609060101010101" pitchFamily="49" charset="-122"/>
              </a:rPr>
              <a:t>单变量正态分布                                    ，  已知       ，估计     。假设先验分布                               。 </a:t>
            </a:r>
            <a:endParaRPr lang="zh-CN" altLang="en-US" sz="2200" dirty="0">
              <a:latin typeface="Times New Roman" panose="02020603050405020304" pitchFamily="18" charset="0"/>
              <a:ea typeface="黑体" panose="02010609060101010101" pitchFamily="49" charset="-122"/>
            </a:endParaRPr>
          </a:p>
        </p:txBody>
      </p:sp>
      <p:graphicFrame>
        <p:nvGraphicFramePr>
          <p:cNvPr id="13" name="对象 12"/>
          <p:cNvGraphicFramePr>
            <a:graphicFrameLocks noChangeAspect="1"/>
          </p:cNvGraphicFramePr>
          <p:nvPr/>
        </p:nvGraphicFramePr>
        <p:xfrm>
          <a:off x="2351584" y="1122630"/>
          <a:ext cx="2520280" cy="468889"/>
        </p:xfrm>
        <a:graphic>
          <a:graphicData uri="http://schemas.openxmlformats.org/presentationml/2006/ole">
            <mc:AlternateContent xmlns:mc="http://schemas.openxmlformats.org/markup-compatibility/2006">
              <mc:Choice xmlns:v="urn:schemas-microsoft-com:vml" Requires="v">
                <p:oleObj spid="_x0000_s178402" name="Equation" r:id="rId2" imgW="1270000" imgH="228600" progId="Equation.DSMT4">
                  <p:embed/>
                </p:oleObj>
              </mc:Choice>
              <mc:Fallback>
                <p:oleObj name="Equation" r:id="rId2" imgW="1270000" imgH="228600" progId="Equation.DSMT4">
                  <p:embed/>
                  <p:pic>
                    <p:nvPicPr>
                      <p:cNvPr id="0" name="Picture 11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584" y="1122630"/>
                        <a:ext cx="2520280" cy="4688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nvGraphicFramePr>
        <p:xfrm>
          <a:off x="5932402" y="1140477"/>
          <a:ext cx="368996" cy="368996"/>
        </p:xfrm>
        <a:graphic>
          <a:graphicData uri="http://schemas.openxmlformats.org/presentationml/2006/ole">
            <mc:AlternateContent xmlns:mc="http://schemas.openxmlformats.org/markup-compatibility/2006">
              <mc:Choice xmlns:v="urn:schemas-microsoft-com:vml" Requires="v">
                <p:oleObj spid="_x0000_s178403" name="Equation" r:id="rId4" imgW="215900" imgH="203200" progId="Equation.DSMT4">
                  <p:embed/>
                </p:oleObj>
              </mc:Choice>
              <mc:Fallback>
                <p:oleObj name="Equation" r:id="rId4" imgW="215900" imgH="203200" progId="Equation.DSMT4">
                  <p:embed/>
                  <p:pic>
                    <p:nvPicPr>
                      <p:cNvPr id="0" name="Picture 11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2402" y="1140477"/>
                        <a:ext cx="368996" cy="3689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nvGraphicFramePr>
        <p:xfrm>
          <a:off x="7245822" y="1236544"/>
          <a:ext cx="290338" cy="301505"/>
        </p:xfrm>
        <a:graphic>
          <a:graphicData uri="http://schemas.openxmlformats.org/presentationml/2006/ole">
            <mc:AlternateContent xmlns:mc="http://schemas.openxmlformats.org/markup-compatibility/2006">
              <mc:Choice xmlns:v="urn:schemas-microsoft-com:vml" Requires="v">
                <p:oleObj spid="_x0000_s178404" name="Equation" r:id="rId6" imgW="152400" imgH="165100" progId="Equation.DSMT4">
                  <p:embed/>
                </p:oleObj>
              </mc:Choice>
              <mc:Fallback>
                <p:oleObj name="Equation" r:id="rId6" imgW="152400" imgH="165100" progId="Equation.DSMT4">
                  <p:embed/>
                  <p:pic>
                    <p:nvPicPr>
                      <p:cNvPr id="0" name="Picture 11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45822" y="1236544"/>
                        <a:ext cx="290338" cy="3015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nvGraphicFramePr>
        <p:xfrm>
          <a:off x="9480376" y="1110780"/>
          <a:ext cx="2147802" cy="449540"/>
        </p:xfrm>
        <a:graphic>
          <a:graphicData uri="http://schemas.openxmlformats.org/presentationml/2006/ole">
            <mc:AlternateContent xmlns:mc="http://schemas.openxmlformats.org/markup-compatibility/2006">
              <mc:Choice xmlns:v="urn:schemas-microsoft-com:vml" Requires="v">
                <p:oleObj spid="_x0000_s178405" name="Equation" r:id="rId8" imgW="1155700" imgH="241300" progId="Equation.DSMT4">
                  <p:embed/>
                </p:oleObj>
              </mc:Choice>
              <mc:Fallback>
                <p:oleObj name="Equation" r:id="rId8" imgW="1155700" imgH="241300" progId="Equation.DSMT4">
                  <p:embed/>
                  <p:pic>
                    <p:nvPicPr>
                      <p:cNvPr id="0" name="Picture 115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80376" y="1110780"/>
                        <a:ext cx="2147802" cy="4495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Text Box 3"/>
          <p:cNvSpPr txBox="1">
            <a:spLocks noChangeArrowheads="1"/>
          </p:cNvSpPr>
          <p:nvPr/>
        </p:nvSpPr>
        <p:spPr bwMode="auto">
          <a:xfrm>
            <a:off x="431205" y="1728713"/>
            <a:ext cx="9036050" cy="4593565"/>
          </a:xfrm>
          <a:prstGeom prst="rect">
            <a:avLst/>
          </a:prstGeom>
          <a:noFill/>
          <a:ln w="9525">
            <a:noFill/>
            <a:miter lim="800000"/>
          </a:ln>
          <a:effectLst/>
        </p:spPr>
        <p:txBody>
          <a:bodyPr>
            <a:spAutoFit/>
          </a:bodyPr>
          <a:lstStyle/>
          <a:p>
            <a:pPr algn="l">
              <a:lnSpc>
                <a:spcPct val="125000"/>
              </a:lnSpc>
            </a:pPr>
            <a:r>
              <a:rPr kumimoji="1" lang="zh-CN" altLang="en-US" sz="2200" dirty="0">
                <a:latin typeface="Times New Roman" panose="02020603050405020304" pitchFamily="18" charset="0"/>
                <a:ea typeface="黑体" panose="02010609060101010101" pitchFamily="49" charset="-122"/>
              </a:rPr>
              <a:t>平方误差损失函数条件下求解 </a:t>
            </a:r>
            <a:r>
              <a:rPr kumimoji="1" lang="en-US" altLang="zh-CN" sz="2200" dirty="0">
                <a:latin typeface="Times New Roman" panose="02020603050405020304" pitchFamily="18" charset="0"/>
                <a:ea typeface="黑体" panose="02010609060101010101" pitchFamily="49" charset="-122"/>
              </a:rPr>
              <a:t>Bayes </a:t>
            </a:r>
            <a:r>
              <a:rPr kumimoji="1" lang="zh-CN" altLang="en-US" sz="2200" dirty="0">
                <a:latin typeface="Times New Roman" panose="02020603050405020304" pitchFamily="18" charset="0"/>
                <a:ea typeface="黑体" panose="02010609060101010101" pitchFamily="49" charset="-122"/>
              </a:rPr>
              <a:t>估计步骤：</a:t>
            </a:r>
            <a:endParaRPr kumimoji="1" lang="zh-CN" altLang="en-US" sz="2200" dirty="0">
              <a:latin typeface="Times New Roman" panose="02020603050405020304" pitchFamily="18" charset="0"/>
              <a:ea typeface="黑体" panose="02010609060101010101" pitchFamily="49" charset="-122"/>
            </a:endParaRPr>
          </a:p>
          <a:p>
            <a:pPr algn="l">
              <a:lnSpc>
                <a:spcPct val="125000"/>
              </a:lnSpc>
              <a:spcBef>
                <a:spcPts val="1200"/>
              </a:spcBef>
            </a:pPr>
            <a:r>
              <a:rPr kumimoji="1" lang="zh-CN" altLang="en-US" sz="2200" dirty="0">
                <a:latin typeface="Times New Roman" panose="02020603050405020304" pitchFamily="18" charset="0"/>
                <a:ea typeface="黑体" panose="02010609060101010101" pitchFamily="49" charset="-122"/>
              </a:rPr>
              <a:t>（</a:t>
            </a:r>
            <a:r>
              <a:rPr kumimoji="1" lang="en-US" altLang="zh-CN" sz="2200" dirty="0">
                <a:latin typeface="Times New Roman" panose="02020603050405020304" pitchFamily="18" charset="0"/>
                <a:ea typeface="黑体" panose="02010609060101010101" pitchFamily="49" charset="-122"/>
              </a:rPr>
              <a:t>1</a:t>
            </a:r>
            <a:r>
              <a:rPr kumimoji="1" lang="zh-CN" altLang="en-US" sz="2200" dirty="0">
                <a:latin typeface="Times New Roman" panose="02020603050405020304" pitchFamily="18" charset="0"/>
                <a:ea typeface="黑体" panose="02010609060101010101" pitchFamily="49" charset="-122"/>
              </a:rPr>
              <a:t>）确定      的先验分布          ；</a:t>
            </a:r>
            <a:endParaRPr kumimoji="1" lang="zh-CN" altLang="en-US" sz="2200" dirty="0">
              <a:latin typeface="Times New Roman" panose="02020603050405020304" pitchFamily="18" charset="0"/>
              <a:ea typeface="黑体" panose="02010609060101010101" pitchFamily="49" charset="-122"/>
            </a:endParaRPr>
          </a:p>
          <a:p>
            <a:pPr algn="l">
              <a:lnSpc>
                <a:spcPct val="125000"/>
              </a:lnSpc>
              <a:spcBef>
                <a:spcPts val="1200"/>
              </a:spcBef>
            </a:pPr>
            <a:r>
              <a:rPr kumimoji="1" lang="zh-CN" altLang="en-US" sz="2200" dirty="0">
                <a:latin typeface="Times New Roman" panose="02020603050405020304" pitchFamily="18" charset="0"/>
                <a:ea typeface="黑体" panose="02010609060101010101" pitchFamily="49" charset="-122"/>
              </a:rPr>
              <a:t>（</a:t>
            </a:r>
            <a:r>
              <a:rPr kumimoji="1" lang="en-US" altLang="zh-CN" sz="2200" dirty="0">
                <a:latin typeface="Times New Roman" panose="02020603050405020304" pitchFamily="18" charset="0"/>
                <a:ea typeface="黑体" panose="02010609060101010101" pitchFamily="49" charset="-122"/>
              </a:rPr>
              <a:t>2</a:t>
            </a:r>
            <a:r>
              <a:rPr kumimoji="1" lang="zh-CN" altLang="en-US" sz="2200" dirty="0">
                <a:latin typeface="Times New Roman" panose="02020603050405020304" pitchFamily="18" charset="0"/>
                <a:ea typeface="黑体" panose="02010609060101010101" pitchFamily="49" charset="-122"/>
              </a:rPr>
              <a:t>）由样本集                                       求样本联合分布</a:t>
            </a:r>
            <a:endParaRPr kumimoji="1" lang="zh-CN" altLang="en-US" sz="2200" dirty="0">
              <a:latin typeface="Times New Roman" panose="02020603050405020304" pitchFamily="18" charset="0"/>
              <a:ea typeface="黑体" panose="02010609060101010101" pitchFamily="49" charset="-122"/>
            </a:endParaRPr>
          </a:p>
          <a:p>
            <a:pPr algn="l">
              <a:lnSpc>
                <a:spcPct val="125000"/>
              </a:lnSpc>
              <a:spcBef>
                <a:spcPts val="3000"/>
              </a:spcBef>
            </a:pPr>
            <a:r>
              <a:rPr kumimoji="1" lang="zh-CN" altLang="en-US" sz="2200" dirty="0">
                <a:latin typeface="Times New Roman" panose="02020603050405020304" pitchFamily="18" charset="0"/>
                <a:ea typeface="黑体" panose="02010609060101010101" pitchFamily="49" charset="-122"/>
              </a:rPr>
              <a:t>（</a:t>
            </a:r>
            <a:r>
              <a:rPr kumimoji="1" lang="en-US" altLang="zh-CN" sz="2200" dirty="0">
                <a:latin typeface="Times New Roman" panose="02020603050405020304" pitchFamily="18" charset="0"/>
                <a:ea typeface="黑体" panose="02010609060101010101" pitchFamily="49" charset="-122"/>
              </a:rPr>
              <a:t>3</a:t>
            </a:r>
            <a:r>
              <a:rPr kumimoji="1" lang="zh-CN" altLang="en-US" sz="2200" dirty="0">
                <a:latin typeface="Times New Roman" panose="02020603050405020304" pitchFamily="18" charset="0"/>
                <a:ea typeface="黑体" panose="02010609060101010101" pitchFamily="49" charset="-122"/>
              </a:rPr>
              <a:t>）求      的后验分布</a:t>
            </a:r>
            <a:endParaRPr kumimoji="1" lang="zh-CN" altLang="en-US" sz="2200" dirty="0">
              <a:latin typeface="Times New Roman" panose="02020603050405020304" pitchFamily="18" charset="0"/>
              <a:ea typeface="黑体" panose="02010609060101010101" pitchFamily="49" charset="-122"/>
            </a:endParaRPr>
          </a:p>
          <a:p>
            <a:pPr algn="l">
              <a:lnSpc>
                <a:spcPct val="125000"/>
              </a:lnSpc>
            </a:pPr>
            <a:endParaRPr kumimoji="1" lang="zh-CN" altLang="en-US" sz="2200" dirty="0">
              <a:latin typeface="Times New Roman" panose="02020603050405020304" pitchFamily="18" charset="0"/>
              <a:ea typeface="黑体" panose="02010609060101010101" pitchFamily="49" charset="-122"/>
            </a:endParaRPr>
          </a:p>
          <a:p>
            <a:pPr algn="l">
              <a:lnSpc>
                <a:spcPct val="125000"/>
              </a:lnSpc>
            </a:pPr>
            <a:r>
              <a:rPr kumimoji="1" lang="zh-CN" altLang="en-US" sz="2200" dirty="0">
                <a:latin typeface="Times New Roman" panose="02020603050405020304" pitchFamily="18" charset="0"/>
                <a:ea typeface="黑体" panose="02010609060101010101" pitchFamily="49" charset="-122"/>
              </a:rPr>
              <a:t>（</a:t>
            </a:r>
            <a:r>
              <a:rPr kumimoji="1" lang="en-US" altLang="zh-CN" sz="2200" dirty="0">
                <a:latin typeface="Times New Roman" panose="02020603050405020304" pitchFamily="18" charset="0"/>
                <a:ea typeface="黑体" panose="02010609060101010101" pitchFamily="49" charset="-122"/>
              </a:rPr>
              <a:t>4</a:t>
            </a:r>
            <a:r>
              <a:rPr kumimoji="1" lang="zh-CN" altLang="en-US" sz="2200" dirty="0">
                <a:latin typeface="Times New Roman" panose="02020603050405020304" pitchFamily="18" charset="0"/>
                <a:ea typeface="黑体" panose="02010609060101010101" pitchFamily="49" charset="-122"/>
              </a:rPr>
              <a:t>）</a:t>
            </a:r>
            <a:endParaRPr kumimoji="1" lang="zh-CN" altLang="en-US" sz="2200" dirty="0">
              <a:latin typeface="Times New Roman" panose="02020603050405020304" pitchFamily="18" charset="0"/>
              <a:ea typeface="黑体" panose="02010609060101010101" pitchFamily="49" charset="-122"/>
            </a:endParaRPr>
          </a:p>
          <a:p>
            <a:pPr algn="l">
              <a:lnSpc>
                <a:spcPct val="125000"/>
              </a:lnSpc>
            </a:pPr>
            <a:endParaRPr kumimoji="1" lang="zh-CN" altLang="en-US" sz="2200" dirty="0">
              <a:latin typeface="Times New Roman" panose="02020603050405020304" pitchFamily="18" charset="0"/>
              <a:ea typeface="黑体" panose="02010609060101010101" pitchFamily="49" charset="-122"/>
            </a:endParaRPr>
          </a:p>
          <a:p>
            <a:pPr algn="l">
              <a:lnSpc>
                <a:spcPct val="125000"/>
              </a:lnSpc>
            </a:pPr>
            <a:r>
              <a:rPr kumimoji="1" lang="zh-CN" altLang="en-US" sz="2200" u="sng" dirty="0">
                <a:solidFill>
                  <a:srgbClr val="FF0000"/>
                </a:solidFill>
                <a:latin typeface="Times New Roman" panose="02020603050405020304" pitchFamily="18" charset="0"/>
                <a:ea typeface="黑体" panose="02010609060101010101" pitchFamily="49" charset="-122"/>
              </a:rPr>
              <a:t>现</a:t>
            </a:r>
            <a:r>
              <a:rPr kumimoji="1" lang="en-US" altLang="zh-CN" sz="2200" u="sng" dirty="0">
                <a:solidFill>
                  <a:srgbClr val="FF0000"/>
                </a:solidFill>
                <a:latin typeface="Times New Roman" panose="02020603050405020304" pitchFamily="18" charset="0"/>
                <a:ea typeface="黑体" panose="02010609060101010101" pitchFamily="49" charset="-122"/>
              </a:rPr>
              <a:t>step</a:t>
            </a:r>
            <a:r>
              <a:rPr kumimoji="1" lang="zh-CN" altLang="en-US" sz="2200" u="sng" dirty="0">
                <a:solidFill>
                  <a:srgbClr val="FF0000"/>
                </a:solidFill>
                <a:latin typeface="Times New Roman" panose="02020603050405020304" pitchFamily="18" charset="0"/>
                <a:ea typeface="黑体" panose="02010609060101010101" pitchFamily="49" charset="-122"/>
              </a:rPr>
              <a:t>（</a:t>
            </a:r>
            <a:r>
              <a:rPr kumimoji="1" lang="en-US" altLang="zh-CN" sz="2200" u="sng" dirty="0">
                <a:solidFill>
                  <a:srgbClr val="FF0000"/>
                </a:solidFill>
                <a:latin typeface="Times New Roman" panose="02020603050405020304" pitchFamily="18" charset="0"/>
                <a:ea typeface="黑体" panose="02010609060101010101" pitchFamily="49" charset="-122"/>
              </a:rPr>
              <a:t>1</a:t>
            </a:r>
            <a:r>
              <a:rPr kumimoji="1" lang="zh-CN" altLang="en-US" sz="2200" u="sng" dirty="0">
                <a:solidFill>
                  <a:srgbClr val="FF0000"/>
                </a:solidFill>
                <a:latin typeface="Times New Roman" panose="02020603050405020304" pitchFamily="18" charset="0"/>
                <a:ea typeface="黑体" panose="02010609060101010101" pitchFamily="49" charset="-122"/>
              </a:rPr>
              <a:t>）已知。</a:t>
            </a:r>
            <a:endParaRPr kumimoji="1" lang="zh-CN" altLang="en-US" sz="2200" u="sng" dirty="0">
              <a:solidFill>
                <a:srgbClr val="FF0000"/>
              </a:solidFill>
              <a:latin typeface="Times New Roman" panose="02020603050405020304" pitchFamily="18" charset="0"/>
              <a:ea typeface="黑体" panose="02010609060101010101" pitchFamily="49" charset="-122"/>
            </a:endParaRPr>
          </a:p>
          <a:p>
            <a:pPr algn="l">
              <a:lnSpc>
                <a:spcPct val="125000"/>
              </a:lnSpc>
            </a:pPr>
            <a:endParaRPr kumimoji="1" lang="zh-CN" altLang="en-US" sz="2200" u="sng" dirty="0">
              <a:latin typeface="Times New Roman" panose="02020603050405020304" pitchFamily="18" charset="0"/>
              <a:ea typeface="黑体" panose="02010609060101010101" pitchFamily="49" charset="-122"/>
            </a:endParaRPr>
          </a:p>
        </p:txBody>
      </p:sp>
      <p:graphicFrame>
        <p:nvGraphicFramePr>
          <p:cNvPr id="38" name="Object 4"/>
          <p:cNvGraphicFramePr>
            <a:graphicFrameLocks noChangeAspect="1"/>
          </p:cNvGraphicFramePr>
          <p:nvPr/>
        </p:nvGraphicFramePr>
        <p:xfrm>
          <a:off x="2401826" y="2832401"/>
          <a:ext cx="2470038" cy="542983"/>
        </p:xfrm>
        <a:graphic>
          <a:graphicData uri="http://schemas.openxmlformats.org/presentationml/2006/ole">
            <mc:AlternateContent xmlns:mc="http://schemas.openxmlformats.org/markup-compatibility/2006">
              <mc:Choice xmlns:v="urn:schemas-microsoft-com:vml" Requires="v">
                <p:oleObj spid="_x0000_s178406" name="Equation" r:id="rId10" imgW="977265" imgH="215900" progId="Equation.DSMT4">
                  <p:embed/>
                </p:oleObj>
              </mc:Choice>
              <mc:Fallback>
                <p:oleObj name="Equation" r:id="rId10" imgW="977265" imgH="215900" progId="Equation.DSMT4">
                  <p:embed/>
                  <p:pic>
                    <p:nvPicPr>
                      <p:cNvPr id="0" name="Picture 115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01826" y="2832401"/>
                        <a:ext cx="2470038" cy="5429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Object 5"/>
          <p:cNvGraphicFramePr>
            <a:graphicFrameLocks noChangeAspect="1"/>
          </p:cNvGraphicFramePr>
          <p:nvPr/>
        </p:nvGraphicFramePr>
        <p:xfrm>
          <a:off x="1251030" y="4466126"/>
          <a:ext cx="2201107" cy="870438"/>
        </p:xfrm>
        <a:graphic>
          <a:graphicData uri="http://schemas.openxmlformats.org/presentationml/2006/ole">
            <mc:AlternateContent xmlns:mc="http://schemas.openxmlformats.org/markup-compatibility/2006">
              <mc:Choice xmlns:v="urn:schemas-microsoft-com:vml" Requires="v">
                <p:oleObj spid="_x0000_s178407" name="Equation" r:id="rId12" imgW="927100" imgH="368300" progId="Equation.DSMT4">
                  <p:embed/>
                </p:oleObj>
              </mc:Choice>
              <mc:Fallback>
                <p:oleObj name="Equation" r:id="rId12" imgW="927100" imgH="368300" progId="Equation.DSMT4">
                  <p:embed/>
                  <p:pic>
                    <p:nvPicPr>
                      <p:cNvPr id="0" name="Picture 115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51030" y="4466126"/>
                        <a:ext cx="2201107" cy="870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Object 6"/>
          <p:cNvGraphicFramePr>
            <a:graphicFrameLocks noChangeAspect="1"/>
          </p:cNvGraphicFramePr>
          <p:nvPr/>
        </p:nvGraphicFramePr>
        <p:xfrm>
          <a:off x="1854332" y="2359344"/>
          <a:ext cx="281228" cy="363864"/>
        </p:xfrm>
        <a:graphic>
          <a:graphicData uri="http://schemas.openxmlformats.org/presentationml/2006/ole">
            <mc:AlternateContent xmlns:mc="http://schemas.openxmlformats.org/markup-compatibility/2006">
              <mc:Choice xmlns:v="urn:schemas-microsoft-com:vml" Requires="v">
                <p:oleObj spid="_x0000_s178408" name="Equation" r:id="rId14" imgW="127000" imgH="165100" progId="Equation.DSMT4">
                  <p:embed/>
                </p:oleObj>
              </mc:Choice>
              <mc:Fallback>
                <p:oleObj name="Equation" r:id="rId14" imgW="127000" imgH="165100" progId="Equation.DSMT4">
                  <p:embed/>
                  <p:pic>
                    <p:nvPicPr>
                      <p:cNvPr id="0" name="Picture 116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54332" y="2359344"/>
                        <a:ext cx="281228" cy="3638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Object 7"/>
          <p:cNvGraphicFramePr>
            <a:graphicFrameLocks noChangeAspect="1"/>
          </p:cNvGraphicFramePr>
          <p:nvPr/>
        </p:nvGraphicFramePr>
        <p:xfrm>
          <a:off x="3571163" y="2317470"/>
          <a:ext cx="688383" cy="428539"/>
        </p:xfrm>
        <a:graphic>
          <a:graphicData uri="http://schemas.openxmlformats.org/presentationml/2006/ole">
            <mc:AlternateContent xmlns:mc="http://schemas.openxmlformats.org/markup-compatibility/2006">
              <mc:Choice xmlns:v="urn:schemas-microsoft-com:vml" Requires="v">
                <p:oleObj spid="_x0000_s178409" name="Equation" r:id="rId16" imgW="304800" imgH="190500" progId="Equation.DSMT4">
                  <p:embed/>
                </p:oleObj>
              </mc:Choice>
              <mc:Fallback>
                <p:oleObj name="Equation" r:id="rId16" imgW="304800" imgH="190500" progId="Equation.DSMT4">
                  <p:embed/>
                  <p:pic>
                    <p:nvPicPr>
                      <p:cNvPr id="0" name="Picture 116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71163" y="2317470"/>
                        <a:ext cx="688383" cy="4285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Object 8"/>
          <p:cNvGraphicFramePr>
            <a:graphicFrameLocks noChangeAspect="1"/>
          </p:cNvGraphicFramePr>
          <p:nvPr/>
        </p:nvGraphicFramePr>
        <p:xfrm>
          <a:off x="7097613" y="2900755"/>
          <a:ext cx="940914" cy="413373"/>
        </p:xfrm>
        <a:graphic>
          <a:graphicData uri="http://schemas.openxmlformats.org/presentationml/2006/ole">
            <mc:AlternateContent xmlns:mc="http://schemas.openxmlformats.org/markup-compatibility/2006">
              <mc:Choice xmlns:v="urn:schemas-microsoft-com:vml" Requires="v">
                <p:oleObj spid="_x0000_s178410" name="Equation" r:id="rId18" imgW="431800" imgH="190500" progId="Equation.DSMT4">
                  <p:embed/>
                </p:oleObj>
              </mc:Choice>
              <mc:Fallback>
                <p:oleObj name="Equation" r:id="rId18" imgW="431800" imgH="190500" progId="Equation.DSMT4">
                  <p:embed/>
                  <p:pic>
                    <p:nvPicPr>
                      <p:cNvPr id="0" name="Picture 116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097613" y="2900755"/>
                        <a:ext cx="940914" cy="4133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10"/>
          <p:cNvGraphicFramePr>
            <a:graphicFrameLocks noChangeAspect="1"/>
          </p:cNvGraphicFramePr>
          <p:nvPr/>
        </p:nvGraphicFramePr>
        <p:xfrm>
          <a:off x="3458218" y="3459535"/>
          <a:ext cx="3213846" cy="1217836"/>
        </p:xfrm>
        <a:graphic>
          <a:graphicData uri="http://schemas.openxmlformats.org/presentationml/2006/ole">
            <mc:AlternateContent xmlns:mc="http://schemas.openxmlformats.org/markup-compatibility/2006">
              <mc:Choice xmlns:v="urn:schemas-microsoft-com:vml" Requires="v">
                <p:oleObj spid="_x0000_s178411" name="Equation" r:id="rId20" imgW="1434465" imgH="546100" progId="Equation.DSMT4">
                  <p:embed/>
                </p:oleObj>
              </mc:Choice>
              <mc:Fallback>
                <p:oleObj name="Equation" r:id="rId20" imgW="1434465" imgH="546100" progId="Equation.DSMT4">
                  <p:embed/>
                  <p:pic>
                    <p:nvPicPr>
                      <p:cNvPr id="0" name="Picture 116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458218" y="3459535"/>
                        <a:ext cx="3213846" cy="12178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 name="Object 11"/>
          <p:cNvGraphicFramePr>
            <a:graphicFrameLocks noChangeAspect="1"/>
          </p:cNvGraphicFramePr>
          <p:nvPr/>
        </p:nvGraphicFramePr>
        <p:xfrm>
          <a:off x="2786617" y="5400425"/>
          <a:ext cx="690480" cy="428996"/>
        </p:xfrm>
        <a:graphic>
          <a:graphicData uri="http://schemas.openxmlformats.org/presentationml/2006/ole">
            <mc:AlternateContent xmlns:mc="http://schemas.openxmlformats.org/markup-compatibility/2006">
              <mc:Choice xmlns:v="urn:schemas-microsoft-com:vml" Requires="v">
                <p:oleObj spid="_x0000_s178412" name="Equation" r:id="rId22" imgW="304800" imgH="190500" progId="Equation.DSMT4">
                  <p:embed/>
                </p:oleObj>
              </mc:Choice>
              <mc:Fallback>
                <p:oleObj name="Equation" r:id="rId22" imgW="304800" imgH="190500" progId="Equation.DSMT4">
                  <p:embed/>
                  <p:pic>
                    <p:nvPicPr>
                      <p:cNvPr id="0" name="Picture 116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86617" y="5400425"/>
                        <a:ext cx="690480" cy="4289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 name="Object 6"/>
          <p:cNvGraphicFramePr>
            <a:graphicFrameLocks noChangeAspect="1"/>
          </p:cNvGraphicFramePr>
          <p:nvPr/>
        </p:nvGraphicFramePr>
        <p:xfrm>
          <a:off x="1551159" y="3713208"/>
          <a:ext cx="281228" cy="363864"/>
        </p:xfrm>
        <a:graphic>
          <a:graphicData uri="http://schemas.openxmlformats.org/presentationml/2006/ole">
            <mc:AlternateContent xmlns:mc="http://schemas.openxmlformats.org/markup-compatibility/2006">
              <mc:Choice xmlns:v="urn:schemas-microsoft-com:vml" Requires="v">
                <p:oleObj spid="_x0000_s178413" name="Equation" r:id="rId24" imgW="127000" imgH="165100" progId="Equation.DSMT4">
                  <p:embed/>
                </p:oleObj>
              </mc:Choice>
              <mc:Fallback>
                <p:oleObj name="Equation" r:id="rId24" imgW="127000" imgH="165100" progId="Equation.DSMT4">
                  <p:embed/>
                  <p:pic>
                    <p:nvPicPr>
                      <p:cNvPr id="0" name="Picture 116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51159" y="3713208"/>
                        <a:ext cx="281228" cy="3638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14.6 </a:t>
            </a:r>
            <a:r>
              <a:rPr lang="zh-CN" altLang="zh-CN" dirty="0"/>
              <a:t>正态分布下的贝叶斯估计</a:t>
            </a:r>
            <a:endParaRPr lang="zh-CN" altLang="zh-CN" dirty="0"/>
          </a:p>
        </p:txBody>
      </p:sp>
      <p:sp>
        <p:nvSpPr>
          <p:cNvPr id="12" name="内容占位符 2"/>
          <p:cNvSpPr>
            <a:spLocks noGrp="1"/>
          </p:cNvSpPr>
          <p:nvPr>
            <p:ph idx="1"/>
          </p:nvPr>
        </p:nvSpPr>
        <p:spPr>
          <a:xfrm>
            <a:off x="335360" y="1161538"/>
            <a:ext cx="11737304" cy="480783"/>
          </a:xfrm>
        </p:spPr>
        <p:txBody>
          <a:bodyPr/>
          <a:lstStyle/>
          <a:p>
            <a:pPr marL="0" indent="0">
              <a:buNone/>
            </a:pPr>
            <a:r>
              <a:rPr lang="zh-CN" altLang="en-US" sz="2200" dirty="0">
                <a:latin typeface="Times New Roman" panose="02020603050405020304" pitchFamily="18" charset="0"/>
                <a:ea typeface="黑体" panose="02010609060101010101" pitchFamily="49" charset="-122"/>
              </a:rPr>
              <a:t>单变量正态分布                                    ，  已知       ，估计     。假设先验分布                               。 </a:t>
            </a:r>
            <a:endParaRPr lang="zh-CN" altLang="en-US" sz="2200" dirty="0">
              <a:latin typeface="Times New Roman" panose="02020603050405020304" pitchFamily="18" charset="0"/>
              <a:ea typeface="黑体" panose="02010609060101010101" pitchFamily="49" charset="-122"/>
            </a:endParaRPr>
          </a:p>
        </p:txBody>
      </p:sp>
      <p:graphicFrame>
        <p:nvGraphicFramePr>
          <p:cNvPr id="13" name="对象 12"/>
          <p:cNvGraphicFramePr>
            <a:graphicFrameLocks noChangeAspect="1"/>
          </p:cNvGraphicFramePr>
          <p:nvPr/>
        </p:nvGraphicFramePr>
        <p:xfrm>
          <a:off x="2351584" y="1122630"/>
          <a:ext cx="2520280" cy="468889"/>
        </p:xfrm>
        <a:graphic>
          <a:graphicData uri="http://schemas.openxmlformats.org/presentationml/2006/ole">
            <mc:AlternateContent xmlns:mc="http://schemas.openxmlformats.org/markup-compatibility/2006">
              <mc:Choice xmlns:v="urn:schemas-microsoft-com:vml" Requires="v">
                <p:oleObj spid="_x0000_s147266" name="Equation" r:id="rId2" imgW="1270000" imgH="228600" progId="Equation.DSMT4">
                  <p:embed/>
                </p:oleObj>
              </mc:Choice>
              <mc:Fallback>
                <p:oleObj name="Equation" r:id="rId2" imgW="1270000" imgH="228600" progId="Equation.DSMT4">
                  <p:embed/>
                  <p:pic>
                    <p:nvPicPr>
                      <p:cNvPr id="0" name="Picture 7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584" y="1122630"/>
                        <a:ext cx="2520280" cy="4688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nvGraphicFramePr>
        <p:xfrm>
          <a:off x="5932402" y="1140477"/>
          <a:ext cx="368996" cy="368996"/>
        </p:xfrm>
        <a:graphic>
          <a:graphicData uri="http://schemas.openxmlformats.org/presentationml/2006/ole">
            <mc:AlternateContent xmlns:mc="http://schemas.openxmlformats.org/markup-compatibility/2006">
              <mc:Choice xmlns:v="urn:schemas-microsoft-com:vml" Requires="v">
                <p:oleObj spid="_x0000_s147267" name="Equation" r:id="rId4" imgW="215900" imgH="203200" progId="Equation.DSMT4">
                  <p:embed/>
                </p:oleObj>
              </mc:Choice>
              <mc:Fallback>
                <p:oleObj name="Equation" r:id="rId4" imgW="215900" imgH="203200" progId="Equation.DSMT4">
                  <p:embed/>
                  <p:pic>
                    <p:nvPicPr>
                      <p:cNvPr id="0" name="Picture 76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2402" y="1140477"/>
                        <a:ext cx="368996" cy="3689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nvGraphicFramePr>
        <p:xfrm>
          <a:off x="7245822" y="1236544"/>
          <a:ext cx="290338" cy="301505"/>
        </p:xfrm>
        <a:graphic>
          <a:graphicData uri="http://schemas.openxmlformats.org/presentationml/2006/ole">
            <mc:AlternateContent xmlns:mc="http://schemas.openxmlformats.org/markup-compatibility/2006">
              <mc:Choice xmlns:v="urn:schemas-microsoft-com:vml" Requires="v">
                <p:oleObj spid="_x0000_s147268" name="Equation" r:id="rId6" imgW="152400" imgH="165100" progId="Equation.DSMT4">
                  <p:embed/>
                </p:oleObj>
              </mc:Choice>
              <mc:Fallback>
                <p:oleObj name="Equation" r:id="rId6" imgW="152400" imgH="165100" progId="Equation.DSMT4">
                  <p:embed/>
                  <p:pic>
                    <p:nvPicPr>
                      <p:cNvPr id="0" name="Picture 76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45822" y="1236544"/>
                        <a:ext cx="290338" cy="3015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nvGraphicFramePr>
        <p:xfrm>
          <a:off x="9480376" y="1110780"/>
          <a:ext cx="2147802" cy="449540"/>
        </p:xfrm>
        <a:graphic>
          <a:graphicData uri="http://schemas.openxmlformats.org/presentationml/2006/ole">
            <mc:AlternateContent xmlns:mc="http://schemas.openxmlformats.org/markup-compatibility/2006">
              <mc:Choice xmlns:v="urn:schemas-microsoft-com:vml" Requires="v">
                <p:oleObj spid="_x0000_s147269" name="Equation" r:id="rId8" imgW="1155700" imgH="241300" progId="Equation.DSMT4">
                  <p:embed/>
                </p:oleObj>
              </mc:Choice>
              <mc:Fallback>
                <p:oleObj name="Equation" r:id="rId8" imgW="1155700" imgH="241300" progId="Equation.DSMT4">
                  <p:embed/>
                  <p:pic>
                    <p:nvPicPr>
                      <p:cNvPr id="0" name="Picture 76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80376" y="1110780"/>
                        <a:ext cx="2147802" cy="4495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2"/>
          <p:cNvSpPr txBox="1">
            <a:spLocks noChangeArrowheads="1"/>
          </p:cNvSpPr>
          <p:nvPr/>
        </p:nvSpPr>
        <p:spPr bwMode="gray">
          <a:xfrm>
            <a:off x="349457" y="1623392"/>
            <a:ext cx="8458200" cy="1923722"/>
          </a:xfrm>
          <a:prstGeom prst="rect">
            <a:avLst/>
          </a:prstGeom>
          <a:solidFill>
            <a:schemeClr val="bg1"/>
          </a:solid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lvl="1" indent="0">
              <a:lnSpc>
                <a:spcPct val="130000"/>
              </a:lnSpc>
              <a:spcBef>
                <a:spcPts val="0"/>
              </a:spcBef>
              <a:buFont typeface="Wingdings" panose="05000000000000000000" pitchFamily="2" charset="2"/>
              <a:buNone/>
            </a:pPr>
            <a:r>
              <a:rPr lang="en-US" altLang="zh-CN" sz="2200" kern="0" dirty="0">
                <a:solidFill>
                  <a:srgbClr val="FF0000"/>
                </a:solidFill>
                <a:latin typeface="Times New Roman" panose="02020603050405020304" pitchFamily="18" charset="0"/>
                <a:ea typeface="黑体" panose="02010609060101010101" pitchFamily="49" charset="-122"/>
              </a:rPr>
              <a:t>step(2) </a:t>
            </a:r>
            <a:r>
              <a:rPr lang="zh-CN" altLang="en-US" sz="2200" kern="0" dirty="0">
                <a:solidFill>
                  <a:srgbClr val="FF0000"/>
                </a:solidFill>
                <a:latin typeface="Times New Roman" panose="02020603050405020304" pitchFamily="18" charset="0"/>
                <a:ea typeface="黑体" panose="02010609060101010101" pitchFamily="49" charset="-122"/>
              </a:rPr>
              <a:t>样本联合分布（样本独立抽取）</a:t>
            </a:r>
            <a:endParaRPr lang="en-US" altLang="en-US" sz="2200" kern="0" dirty="0">
              <a:solidFill>
                <a:srgbClr val="FF0000"/>
              </a:solidFill>
              <a:latin typeface="Times New Roman" panose="02020603050405020304" pitchFamily="18" charset="0"/>
              <a:ea typeface="黑体" panose="02010609060101010101" pitchFamily="49" charset="-122"/>
            </a:endParaRPr>
          </a:p>
          <a:p>
            <a:pPr marL="0" lvl="1" indent="0">
              <a:lnSpc>
                <a:spcPct val="130000"/>
              </a:lnSpc>
              <a:spcBef>
                <a:spcPts val="0"/>
              </a:spcBef>
            </a:pPr>
            <a:endParaRPr lang="en-US" altLang="en-US" sz="2200" kern="0" dirty="0">
              <a:solidFill>
                <a:srgbClr val="000000"/>
              </a:solidFill>
              <a:latin typeface="Times New Roman" panose="02020603050405020304" pitchFamily="18" charset="0"/>
              <a:ea typeface="黑体" panose="02010609060101010101" pitchFamily="49" charset="-122"/>
            </a:endParaRPr>
          </a:p>
          <a:p>
            <a:pPr marL="0" lvl="1" indent="0">
              <a:lnSpc>
                <a:spcPct val="130000"/>
              </a:lnSpc>
              <a:spcBef>
                <a:spcPts val="3600"/>
              </a:spcBef>
              <a:buFont typeface="Wingdings" panose="05000000000000000000" pitchFamily="2" charset="2"/>
              <a:buNone/>
            </a:pPr>
            <a:r>
              <a:rPr lang="en-US" altLang="zh-CN" sz="2200" kern="0" dirty="0">
                <a:solidFill>
                  <a:srgbClr val="FF0000"/>
                </a:solidFill>
                <a:latin typeface="Times New Roman" panose="02020603050405020304" pitchFamily="18" charset="0"/>
                <a:ea typeface="黑体" panose="02010609060101010101" pitchFamily="49" charset="-122"/>
              </a:rPr>
              <a:t>step(3) </a:t>
            </a:r>
            <a:r>
              <a:rPr lang="zh-CN" altLang="en-US" sz="2200" kern="0" dirty="0">
                <a:solidFill>
                  <a:srgbClr val="FF0000"/>
                </a:solidFill>
                <a:latin typeface="Times New Roman" panose="02020603050405020304" pitchFamily="18" charset="0"/>
                <a:ea typeface="黑体" panose="02010609060101010101" pitchFamily="49" charset="-122"/>
              </a:rPr>
              <a:t>计算后验分布</a:t>
            </a:r>
            <a:endParaRPr lang="en-US" altLang="en-US" sz="2200" kern="0" dirty="0">
              <a:solidFill>
                <a:srgbClr val="FF0000"/>
              </a:solidFill>
              <a:latin typeface="Times New Roman" panose="02020603050405020304" pitchFamily="18" charset="0"/>
              <a:ea typeface="黑体" panose="02010609060101010101" pitchFamily="49" charset="-122"/>
            </a:endParaRPr>
          </a:p>
          <a:p>
            <a:pPr marL="0" lvl="1" indent="0">
              <a:lnSpc>
                <a:spcPct val="130000"/>
              </a:lnSpc>
              <a:spcBef>
                <a:spcPts val="0"/>
              </a:spcBef>
            </a:pPr>
            <a:endParaRPr lang="en-US" altLang="en-US" sz="2200" kern="0" dirty="0">
              <a:solidFill>
                <a:srgbClr val="000000"/>
              </a:solidFill>
              <a:latin typeface="Times New Roman" panose="02020603050405020304" pitchFamily="18" charset="0"/>
              <a:ea typeface="黑体" panose="02010609060101010101" pitchFamily="49" charset="-122"/>
            </a:endParaRPr>
          </a:p>
          <a:p>
            <a:pPr marL="0" lvl="1" indent="0">
              <a:lnSpc>
                <a:spcPct val="130000"/>
              </a:lnSpc>
              <a:spcBef>
                <a:spcPts val="0"/>
              </a:spcBef>
              <a:buFont typeface="Wingdings" panose="05000000000000000000" pitchFamily="2" charset="2"/>
              <a:buNone/>
            </a:pPr>
            <a:r>
              <a:rPr lang="en-US" altLang="en-US" sz="2200" kern="0" dirty="0">
                <a:solidFill>
                  <a:srgbClr val="000000"/>
                </a:solidFill>
                <a:latin typeface="Times New Roman" panose="02020603050405020304" pitchFamily="18" charset="0"/>
                <a:ea typeface="黑体" panose="02010609060101010101" pitchFamily="49" charset="-122"/>
              </a:rPr>
              <a:t> </a:t>
            </a:r>
            <a:endParaRPr lang="en-US" altLang="en-US" sz="2200" kern="0" dirty="0">
              <a:solidFill>
                <a:srgbClr val="000000"/>
              </a:solidFill>
              <a:latin typeface="Times New Roman" panose="02020603050405020304" pitchFamily="18" charset="0"/>
              <a:ea typeface="黑体" panose="02010609060101010101" pitchFamily="49" charset="-122"/>
            </a:endParaRPr>
          </a:p>
          <a:p>
            <a:pPr marL="0" lvl="1" indent="0">
              <a:lnSpc>
                <a:spcPct val="130000"/>
              </a:lnSpc>
              <a:spcBef>
                <a:spcPts val="0"/>
              </a:spcBef>
              <a:buFont typeface="Wingdings" panose="05000000000000000000" pitchFamily="2" charset="2"/>
              <a:buNone/>
            </a:pPr>
            <a:r>
              <a:rPr lang="en-US" altLang="en-US" sz="2200" kern="0" dirty="0">
                <a:latin typeface="Times New Roman" panose="02020603050405020304" pitchFamily="18" charset="0"/>
                <a:ea typeface="黑体" panose="02010609060101010101" pitchFamily="49" charset="-122"/>
              </a:rPr>
              <a:t>	</a:t>
            </a:r>
            <a:endParaRPr lang="en-US" altLang="en-US" sz="2200" kern="0" dirty="0">
              <a:latin typeface="Times New Roman" panose="02020603050405020304" pitchFamily="18" charset="0"/>
              <a:ea typeface="黑体" panose="02010609060101010101" pitchFamily="49" charset="-122"/>
            </a:endParaRPr>
          </a:p>
        </p:txBody>
      </p:sp>
      <p:graphicFrame>
        <p:nvGraphicFramePr>
          <p:cNvPr id="23" name="Object 5"/>
          <p:cNvGraphicFramePr>
            <a:graphicFrameLocks noChangeAspect="1"/>
          </p:cNvGraphicFramePr>
          <p:nvPr/>
        </p:nvGraphicFramePr>
        <p:xfrm>
          <a:off x="3071664" y="2045551"/>
          <a:ext cx="7124700" cy="823913"/>
        </p:xfrm>
        <a:graphic>
          <a:graphicData uri="http://schemas.openxmlformats.org/presentationml/2006/ole">
            <mc:AlternateContent xmlns:mc="http://schemas.openxmlformats.org/markup-compatibility/2006">
              <mc:Choice xmlns:v="urn:schemas-microsoft-com:vml" Requires="v">
                <p:oleObj spid="_x0000_s147270" name="Equation" r:id="rId10" imgW="3708400" imgH="431800" progId="Equation.DSMT4">
                  <p:embed/>
                </p:oleObj>
              </mc:Choice>
              <mc:Fallback>
                <p:oleObj name="Equation" r:id="rId10" imgW="3708400" imgH="431800" progId="Equation.DSMT4">
                  <p:embed/>
                  <p:pic>
                    <p:nvPicPr>
                      <p:cNvPr id="0" name="Picture 76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71664" y="2045551"/>
                        <a:ext cx="7124700" cy="823913"/>
                      </a:xfrm>
                      <a:prstGeom prst="rect">
                        <a:avLst/>
                      </a:prstGeom>
                      <a:solidFill>
                        <a:schemeClr val="bg1"/>
                      </a:solidFill>
                    </p:spPr>
                  </p:pic>
                </p:oleObj>
              </mc:Fallback>
            </mc:AlternateContent>
          </a:graphicData>
        </a:graphic>
      </p:graphicFrame>
      <p:graphicFrame>
        <p:nvGraphicFramePr>
          <p:cNvPr id="24" name="Object 7"/>
          <p:cNvGraphicFramePr>
            <a:graphicFrameLocks noChangeAspect="1"/>
          </p:cNvGraphicFramePr>
          <p:nvPr/>
        </p:nvGraphicFramePr>
        <p:xfrm>
          <a:off x="647373" y="3628921"/>
          <a:ext cx="7862368" cy="1888311"/>
        </p:xfrm>
        <a:graphic>
          <a:graphicData uri="http://schemas.openxmlformats.org/presentationml/2006/ole">
            <mc:AlternateContent xmlns:mc="http://schemas.openxmlformats.org/markup-compatibility/2006">
              <mc:Choice xmlns:v="urn:schemas-microsoft-com:vml" Requires="v">
                <p:oleObj spid="_x0000_s147271" name="Equation" r:id="rId12" imgW="4381500" imgH="1066800" progId="Equation.DSMT4">
                  <p:embed/>
                </p:oleObj>
              </mc:Choice>
              <mc:Fallback>
                <p:oleObj name="Equation" r:id="rId12" imgW="4381500" imgH="1066800" progId="Equation.DSMT4">
                  <p:embed/>
                  <p:pic>
                    <p:nvPicPr>
                      <p:cNvPr id="0" name="Picture 76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7373" y="3628921"/>
                        <a:ext cx="7862368" cy="1888311"/>
                      </a:xfrm>
                      <a:prstGeom prst="rect">
                        <a:avLst/>
                      </a:prstGeom>
                      <a:solidFill>
                        <a:schemeClr val="bg1"/>
                      </a:solidFill>
                    </p:spPr>
                  </p:pic>
                </p:oleObj>
              </mc:Fallback>
            </mc:AlternateContent>
          </a:graphicData>
        </a:graphic>
      </p:graphicFrame>
      <p:graphicFrame>
        <p:nvGraphicFramePr>
          <p:cNvPr id="25" name="Object 3"/>
          <p:cNvGraphicFramePr>
            <a:graphicFrameLocks noChangeAspect="1"/>
          </p:cNvGraphicFramePr>
          <p:nvPr/>
        </p:nvGraphicFramePr>
        <p:xfrm>
          <a:off x="8040216" y="5579440"/>
          <a:ext cx="3458242" cy="729880"/>
        </p:xfrm>
        <a:graphic>
          <a:graphicData uri="http://schemas.openxmlformats.org/presentationml/2006/ole">
            <mc:AlternateContent xmlns:mc="http://schemas.openxmlformats.org/markup-compatibility/2006">
              <mc:Choice xmlns:v="urn:schemas-microsoft-com:vml" Requires="v">
                <p:oleObj spid="_x0000_s147272" name="Equation" r:id="rId14" imgW="1675765" imgH="355600" progId="Equation.DSMT4">
                  <p:embed/>
                </p:oleObj>
              </mc:Choice>
              <mc:Fallback>
                <p:oleObj name="Equation" r:id="rId14" imgW="1675765" imgH="355600" progId="Equation.DSMT4">
                  <p:embed/>
                  <p:pic>
                    <p:nvPicPr>
                      <p:cNvPr id="0" name="Picture 76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040216" y="5579440"/>
                        <a:ext cx="3458242" cy="7298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6"/>
          <p:cNvGraphicFramePr>
            <a:graphicFrameLocks noChangeAspect="1"/>
          </p:cNvGraphicFramePr>
          <p:nvPr/>
        </p:nvGraphicFramePr>
        <p:xfrm>
          <a:off x="3427413" y="2976563"/>
          <a:ext cx="5554662" cy="531812"/>
        </p:xfrm>
        <a:graphic>
          <a:graphicData uri="http://schemas.openxmlformats.org/presentationml/2006/ole">
            <mc:AlternateContent xmlns:mc="http://schemas.openxmlformats.org/markup-compatibility/2006">
              <mc:Choice xmlns:v="urn:schemas-microsoft-com:vml" Requires="v">
                <p:oleObj spid="_x0000_s147273" name="Equation" r:id="rId16" imgW="60045600" imgH="5791200" progId="Equation.DSMT4">
                  <p:embed/>
                </p:oleObj>
              </mc:Choice>
              <mc:Fallback>
                <p:oleObj name="Equation" r:id="rId16" imgW="60045600" imgH="5791200" progId="Equation.DSMT4">
                  <p:embed/>
                  <p:pic>
                    <p:nvPicPr>
                      <p:cNvPr id="0" name="Picture 769"/>
                      <p:cNvPicPr>
                        <a:picLocks noChangeAspect="1" noChangeArrowheads="1"/>
                      </p:cNvPicPr>
                      <p:nvPr/>
                    </p:nvPicPr>
                    <p:blipFill>
                      <a:blip r:embed="rId17"/>
                      <a:srcRect/>
                      <a:stretch>
                        <a:fillRect/>
                      </a:stretch>
                    </p:blipFill>
                    <p:spPr bwMode="auto">
                      <a:xfrm>
                        <a:off x="3427413" y="2976563"/>
                        <a:ext cx="5554662" cy="531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14.6 </a:t>
            </a:r>
            <a:r>
              <a:rPr lang="zh-CN" altLang="zh-CN" dirty="0"/>
              <a:t>正态分布下的贝叶斯估计</a:t>
            </a:r>
            <a:endParaRPr lang="zh-CN" altLang="zh-CN" dirty="0"/>
          </a:p>
        </p:txBody>
      </p:sp>
      <p:sp>
        <p:nvSpPr>
          <p:cNvPr id="12" name="内容占位符 2"/>
          <p:cNvSpPr>
            <a:spLocks noGrp="1"/>
          </p:cNvSpPr>
          <p:nvPr>
            <p:ph idx="1"/>
          </p:nvPr>
        </p:nvSpPr>
        <p:spPr>
          <a:xfrm>
            <a:off x="335360" y="1161538"/>
            <a:ext cx="11737304" cy="480783"/>
          </a:xfrm>
        </p:spPr>
        <p:txBody>
          <a:bodyPr/>
          <a:lstStyle/>
          <a:p>
            <a:pPr marL="0" indent="0">
              <a:buNone/>
            </a:pPr>
            <a:r>
              <a:rPr lang="zh-CN" altLang="en-US" sz="2200" dirty="0">
                <a:latin typeface="Times New Roman" panose="02020603050405020304" pitchFamily="18" charset="0"/>
                <a:ea typeface="黑体" panose="02010609060101010101" pitchFamily="49" charset="-122"/>
              </a:rPr>
              <a:t>单变量正态分布                                    ，  已知       ，估计     。假设先验分布                               。 </a:t>
            </a:r>
            <a:endParaRPr lang="zh-CN" altLang="en-US" sz="2200" dirty="0">
              <a:latin typeface="Times New Roman" panose="02020603050405020304" pitchFamily="18" charset="0"/>
              <a:ea typeface="黑体" panose="02010609060101010101" pitchFamily="49" charset="-122"/>
            </a:endParaRPr>
          </a:p>
        </p:txBody>
      </p:sp>
      <p:graphicFrame>
        <p:nvGraphicFramePr>
          <p:cNvPr id="13" name="对象 12"/>
          <p:cNvGraphicFramePr>
            <a:graphicFrameLocks noChangeAspect="1"/>
          </p:cNvGraphicFramePr>
          <p:nvPr/>
        </p:nvGraphicFramePr>
        <p:xfrm>
          <a:off x="2351584" y="1122630"/>
          <a:ext cx="2520280" cy="468889"/>
        </p:xfrm>
        <a:graphic>
          <a:graphicData uri="http://schemas.openxmlformats.org/presentationml/2006/ole">
            <mc:AlternateContent xmlns:mc="http://schemas.openxmlformats.org/markup-compatibility/2006">
              <mc:Choice xmlns:v="urn:schemas-microsoft-com:vml" Requires="v">
                <p:oleObj spid="_x0000_s148070" name="Equation" r:id="rId2" imgW="1270000" imgH="228600" progId="Equation.DSMT4">
                  <p:embed/>
                </p:oleObj>
              </mc:Choice>
              <mc:Fallback>
                <p:oleObj name="Equation" r:id="rId2" imgW="1270000" imgH="228600" progId="Equation.DSMT4">
                  <p:embed/>
                  <p:pic>
                    <p:nvPicPr>
                      <p:cNvPr id="0" name="Picture 56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584" y="1122630"/>
                        <a:ext cx="2520280" cy="4688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nvGraphicFramePr>
        <p:xfrm>
          <a:off x="5932402" y="1140477"/>
          <a:ext cx="368996" cy="368996"/>
        </p:xfrm>
        <a:graphic>
          <a:graphicData uri="http://schemas.openxmlformats.org/presentationml/2006/ole">
            <mc:AlternateContent xmlns:mc="http://schemas.openxmlformats.org/markup-compatibility/2006">
              <mc:Choice xmlns:v="urn:schemas-microsoft-com:vml" Requires="v">
                <p:oleObj spid="_x0000_s148071" name="Equation" r:id="rId4" imgW="215900" imgH="203200" progId="Equation.DSMT4">
                  <p:embed/>
                </p:oleObj>
              </mc:Choice>
              <mc:Fallback>
                <p:oleObj name="Equation" r:id="rId4" imgW="215900" imgH="203200" progId="Equation.DSMT4">
                  <p:embed/>
                  <p:pic>
                    <p:nvPicPr>
                      <p:cNvPr id="0" name="Picture 56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2402" y="1140477"/>
                        <a:ext cx="368996" cy="3689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nvGraphicFramePr>
        <p:xfrm>
          <a:off x="7245822" y="1236544"/>
          <a:ext cx="290338" cy="301505"/>
        </p:xfrm>
        <a:graphic>
          <a:graphicData uri="http://schemas.openxmlformats.org/presentationml/2006/ole">
            <mc:AlternateContent xmlns:mc="http://schemas.openxmlformats.org/markup-compatibility/2006">
              <mc:Choice xmlns:v="urn:schemas-microsoft-com:vml" Requires="v">
                <p:oleObj spid="_x0000_s148072" name="Equation" r:id="rId6" imgW="152400" imgH="165100" progId="Equation.DSMT4">
                  <p:embed/>
                </p:oleObj>
              </mc:Choice>
              <mc:Fallback>
                <p:oleObj name="Equation" r:id="rId6" imgW="152400" imgH="165100" progId="Equation.DSMT4">
                  <p:embed/>
                  <p:pic>
                    <p:nvPicPr>
                      <p:cNvPr id="0" name="Picture 56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45822" y="1236544"/>
                        <a:ext cx="290338" cy="3015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nvGraphicFramePr>
        <p:xfrm>
          <a:off x="9480376" y="1110780"/>
          <a:ext cx="2147802" cy="449540"/>
        </p:xfrm>
        <a:graphic>
          <a:graphicData uri="http://schemas.openxmlformats.org/presentationml/2006/ole">
            <mc:AlternateContent xmlns:mc="http://schemas.openxmlformats.org/markup-compatibility/2006">
              <mc:Choice xmlns:v="urn:schemas-microsoft-com:vml" Requires="v">
                <p:oleObj spid="_x0000_s148073" name="Equation" r:id="rId8" imgW="1155700" imgH="241300" progId="Equation.DSMT4">
                  <p:embed/>
                </p:oleObj>
              </mc:Choice>
              <mc:Fallback>
                <p:oleObj name="Equation" r:id="rId8" imgW="1155700" imgH="241300" progId="Equation.DSMT4">
                  <p:embed/>
                  <p:pic>
                    <p:nvPicPr>
                      <p:cNvPr id="0" name="Picture 56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80376" y="1110780"/>
                        <a:ext cx="2147802" cy="4495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2"/>
          <p:cNvSpPr txBox="1">
            <a:spLocks noChangeArrowheads="1"/>
          </p:cNvSpPr>
          <p:nvPr/>
        </p:nvSpPr>
        <p:spPr bwMode="gray">
          <a:xfrm>
            <a:off x="335360" y="1564912"/>
            <a:ext cx="8458200" cy="552502"/>
          </a:xfrm>
          <a:prstGeom prst="rect">
            <a:avLst/>
          </a:prstGeom>
          <a:solidFill>
            <a:schemeClr val="bg1"/>
          </a:solid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lvl="1" indent="0">
              <a:lnSpc>
                <a:spcPct val="130000"/>
              </a:lnSpc>
              <a:spcBef>
                <a:spcPts val="3600"/>
              </a:spcBef>
              <a:buFont typeface="Wingdings" panose="05000000000000000000" pitchFamily="2" charset="2"/>
              <a:buNone/>
            </a:pPr>
            <a:r>
              <a:rPr lang="en-US" altLang="zh-CN" sz="2200" kern="0" dirty="0">
                <a:solidFill>
                  <a:srgbClr val="FF0000"/>
                </a:solidFill>
                <a:latin typeface="Times New Roman" panose="02020603050405020304" pitchFamily="18" charset="0"/>
                <a:ea typeface="黑体" panose="02010609060101010101" pitchFamily="49" charset="-122"/>
              </a:rPr>
              <a:t>step(3) </a:t>
            </a:r>
            <a:r>
              <a:rPr lang="zh-CN" altLang="en-US" sz="2200" kern="0" dirty="0">
                <a:solidFill>
                  <a:srgbClr val="FF0000"/>
                </a:solidFill>
                <a:latin typeface="Times New Roman" panose="02020603050405020304" pitchFamily="18" charset="0"/>
                <a:ea typeface="黑体" panose="02010609060101010101" pitchFamily="49" charset="-122"/>
              </a:rPr>
              <a:t>计算后验分布（续）</a:t>
            </a:r>
            <a:endParaRPr lang="en-US" altLang="en-US" sz="2200" kern="0" dirty="0">
              <a:solidFill>
                <a:srgbClr val="FF0000"/>
              </a:solidFill>
              <a:latin typeface="Times New Roman" panose="02020603050405020304" pitchFamily="18" charset="0"/>
              <a:ea typeface="黑体" panose="02010609060101010101" pitchFamily="49" charset="-122"/>
            </a:endParaRPr>
          </a:p>
          <a:p>
            <a:pPr marL="0" lvl="1" indent="0">
              <a:lnSpc>
                <a:spcPct val="130000"/>
              </a:lnSpc>
              <a:spcBef>
                <a:spcPts val="0"/>
              </a:spcBef>
            </a:pPr>
            <a:endParaRPr lang="en-US" altLang="en-US" sz="2200" kern="0" dirty="0">
              <a:solidFill>
                <a:srgbClr val="000000"/>
              </a:solidFill>
              <a:latin typeface="Times New Roman" panose="02020603050405020304" pitchFamily="18" charset="0"/>
              <a:ea typeface="黑体" panose="02010609060101010101" pitchFamily="49" charset="-122"/>
            </a:endParaRPr>
          </a:p>
          <a:p>
            <a:pPr marL="0" lvl="1" indent="0">
              <a:lnSpc>
                <a:spcPct val="130000"/>
              </a:lnSpc>
              <a:spcBef>
                <a:spcPts val="0"/>
              </a:spcBef>
              <a:buFont typeface="Wingdings" panose="05000000000000000000" pitchFamily="2" charset="2"/>
              <a:buNone/>
            </a:pPr>
            <a:r>
              <a:rPr lang="en-US" altLang="en-US" sz="2200" kern="0" dirty="0">
                <a:solidFill>
                  <a:srgbClr val="000000"/>
                </a:solidFill>
                <a:latin typeface="Times New Roman" panose="02020603050405020304" pitchFamily="18" charset="0"/>
                <a:ea typeface="黑体" panose="02010609060101010101" pitchFamily="49" charset="-122"/>
              </a:rPr>
              <a:t> </a:t>
            </a:r>
            <a:endParaRPr lang="en-US" altLang="en-US" sz="2200" kern="0" dirty="0">
              <a:solidFill>
                <a:srgbClr val="000000"/>
              </a:solidFill>
              <a:latin typeface="Times New Roman" panose="02020603050405020304" pitchFamily="18" charset="0"/>
              <a:ea typeface="黑体" panose="02010609060101010101" pitchFamily="49" charset="-122"/>
            </a:endParaRPr>
          </a:p>
          <a:p>
            <a:pPr marL="0" lvl="1" indent="0">
              <a:lnSpc>
                <a:spcPct val="130000"/>
              </a:lnSpc>
              <a:spcBef>
                <a:spcPts val="0"/>
              </a:spcBef>
              <a:buFont typeface="Wingdings" panose="05000000000000000000" pitchFamily="2" charset="2"/>
              <a:buNone/>
            </a:pPr>
            <a:r>
              <a:rPr lang="en-US" altLang="en-US" sz="2200" kern="0" dirty="0">
                <a:latin typeface="Times New Roman" panose="02020603050405020304" pitchFamily="18" charset="0"/>
                <a:ea typeface="黑体" panose="02010609060101010101" pitchFamily="49" charset="-122"/>
              </a:rPr>
              <a:t>	</a:t>
            </a:r>
            <a:endParaRPr lang="en-US" altLang="en-US" sz="2200" kern="0" dirty="0">
              <a:latin typeface="Times New Roman" panose="02020603050405020304" pitchFamily="18" charset="0"/>
              <a:ea typeface="黑体" panose="02010609060101010101" pitchFamily="49" charset="-122"/>
            </a:endParaRPr>
          </a:p>
        </p:txBody>
      </p:sp>
      <p:graphicFrame>
        <p:nvGraphicFramePr>
          <p:cNvPr id="16" name="Object 5"/>
          <p:cNvGraphicFramePr>
            <a:graphicFrameLocks noChangeAspect="1"/>
          </p:cNvGraphicFramePr>
          <p:nvPr/>
        </p:nvGraphicFramePr>
        <p:xfrm>
          <a:off x="1199456" y="2132225"/>
          <a:ext cx="8762069" cy="3402574"/>
        </p:xfrm>
        <a:graphic>
          <a:graphicData uri="http://schemas.openxmlformats.org/presentationml/2006/ole">
            <mc:AlternateContent xmlns:mc="http://schemas.openxmlformats.org/markup-compatibility/2006">
              <mc:Choice xmlns:v="urn:schemas-microsoft-com:vml" Requires="v">
                <p:oleObj spid="_x0000_s148074" name="Equation" r:id="rId10" imgW="4648200" imgH="1828800" progId="Equation.DSMT4">
                  <p:embed/>
                </p:oleObj>
              </mc:Choice>
              <mc:Fallback>
                <p:oleObj name="Equation" r:id="rId10" imgW="4648200" imgH="1828800" progId="Equation.DSMT4">
                  <p:embed/>
                  <p:pic>
                    <p:nvPicPr>
                      <p:cNvPr id="0" name="Picture 57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99456" y="2132225"/>
                        <a:ext cx="8762069" cy="3402574"/>
                      </a:xfrm>
                      <a:prstGeom prst="rect">
                        <a:avLst/>
                      </a:prstGeom>
                      <a:solidFill>
                        <a:schemeClr val="bg1"/>
                      </a:solidFill>
                    </p:spPr>
                  </p:pic>
                </p:oleObj>
              </mc:Fallback>
            </mc:AlternateContent>
          </a:graphicData>
        </a:graphic>
      </p:graphicFrame>
      <p:graphicFrame>
        <p:nvGraphicFramePr>
          <p:cNvPr id="19" name="Object 3"/>
          <p:cNvGraphicFramePr>
            <a:graphicFrameLocks noChangeAspect="1"/>
          </p:cNvGraphicFramePr>
          <p:nvPr/>
        </p:nvGraphicFramePr>
        <p:xfrm>
          <a:off x="1362675" y="5583245"/>
          <a:ext cx="3541038" cy="756403"/>
        </p:xfrm>
        <a:graphic>
          <a:graphicData uri="http://schemas.openxmlformats.org/presentationml/2006/ole">
            <mc:AlternateContent xmlns:mc="http://schemas.openxmlformats.org/markup-compatibility/2006">
              <mc:Choice xmlns:v="urn:schemas-microsoft-com:vml" Requires="v">
                <p:oleObj spid="_x0000_s148075" name="Equation" r:id="rId12" imgW="1714500" imgH="368300" progId="Equation.DSMT4">
                  <p:embed/>
                </p:oleObj>
              </mc:Choice>
              <mc:Fallback>
                <p:oleObj name="Equation" r:id="rId12" imgW="1714500" imgH="368300" progId="Equation.DSMT4">
                  <p:embed/>
                  <p:pic>
                    <p:nvPicPr>
                      <p:cNvPr id="0" name="Picture 57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62675" y="5583245"/>
                        <a:ext cx="3541038" cy="7564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14.6 </a:t>
            </a:r>
            <a:r>
              <a:rPr lang="zh-CN" altLang="zh-CN" dirty="0"/>
              <a:t>正态分布下的贝叶斯估计</a:t>
            </a:r>
            <a:endParaRPr lang="zh-CN" altLang="zh-CN" dirty="0"/>
          </a:p>
        </p:txBody>
      </p:sp>
      <p:sp>
        <p:nvSpPr>
          <p:cNvPr id="12" name="内容占位符 2"/>
          <p:cNvSpPr>
            <a:spLocks noGrp="1"/>
          </p:cNvSpPr>
          <p:nvPr>
            <p:ph idx="1"/>
          </p:nvPr>
        </p:nvSpPr>
        <p:spPr>
          <a:xfrm>
            <a:off x="335360" y="1161538"/>
            <a:ext cx="11737304" cy="480783"/>
          </a:xfrm>
        </p:spPr>
        <p:txBody>
          <a:bodyPr/>
          <a:lstStyle/>
          <a:p>
            <a:pPr marL="0" indent="0">
              <a:buNone/>
            </a:pPr>
            <a:r>
              <a:rPr lang="zh-CN" altLang="en-US" sz="2200" dirty="0">
                <a:latin typeface="Times New Roman" panose="02020603050405020304" pitchFamily="18" charset="0"/>
                <a:ea typeface="黑体" panose="02010609060101010101" pitchFamily="49" charset="-122"/>
              </a:rPr>
              <a:t>单变量正态分布                                    ，  已知       ，估计     。假设先验分布                               。 </a:t>
            </a:r>
            <a:endParaRPr lang="zh-CN" altLang="en-US" sz="2200" dirty="0">
              <a:latin typeface="Times New Roman" panose="02020603050405020304" pitchFamily="18" charset="0"/>
              <a:ea typeface="黑体" panose="02010609060101010101" pitchFamily="49" charset="-122"/>
            </a:endParaRPr>
          </a:p>
        </p:txBody>
      </p:sp>
      <p:graphicFrame>
        <p:nvGraphicFramePr>
          <p:cNvPr id="13" name="对象 12"/>
          <p:cNvGraphicFramePr>
            <a:graphicFrameLocks noChangeAspect="1"/>
          </p:cNvGraphicFramePr>
          <p:nvPr/>
        </p:nvGraphicFramePr>
        <p:xfrm>
          <a:off x="2351584" y="1122630"/>
          <a:ext cx="2520280" cy="468889"/>
        </p:xfrm>
        <a:graphic>
          <a:graphicData uri="http://schemas.openxmlformats.org/presentationml/2006/ole">
            <mc:AlternateContent xmlns:mc="http://schemas.openxmlformats.org/markup-compatibility/2006">
              <mc:Choice xmlns:v="urn:schemas-microsoft-com:vml" Requires="v">
                <p:oleObj spid="_x0000_s149307" name="Equation" r:id="rId2" imgW="1270000" imgH="228600" progId="Equation.DSMT4">
                  <p:embed/>
                </p:oleObj>
              </mc:Choice>
              <mc:Fallback>
                <p:oleObj name="Equation" r:id="rId2" imgW="1270000" imgH="228600" progId="Equation.DSMT4">
                  <p:embed/>
                  <p:pic>
                    <p:nvPicPr>
                      <p:cNvPr id="0" name="Picture 76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584" y="1122630"/>
                        <a:ext cx="2520280" cy="4688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nvGraphicFramePr>
        <p:xfrm>
          <a:off x="5932402" y="1140477"/>
          <a:ext cx="368996" cy="368996"/>
        </p:xfrm>
        <a:graphic>
          <a:graphicData uri="http://schemas.openxmlformats.org/presentationml/2006/ole">
            <mc:AlternateContent xmlns:mc="http://schemas.openxmlformats.org/markup-compatibility/2006">
              <mc:Choice xmlns:v="urn:schemas-microsoft-com:vml" Requires="v">
                <p:oleObj spid="_x0000_s149308" name="Equation" r:id="rId4" imgW="215900" imgH="203200" progId="Equation.DSMT4">
                  <p:embed/>
                </p:oleObj>
              </mc:Choice>
              <mc:Fallback>
                <p:oleObj name="Equation" r:id="rId4" imgW="215900" imgH="203200" progId="Equation.DSMT4">
                  <p:embed/>
                  <p:pic>
                    <p:nvPicPr>
                      <p:cNvPr id="0" name="Picture 76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2402" y="1140477"/>
                        <a:ext cx="368996" cy="3689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nvGraphicFramePr>
        <p:xfrm>
          <a:off x="7245822" y="1236544"/>
          <a:ext cx="290338" cy="301505"/>
        </p:xfrm>
        <a:graphic>
          <a:graphicData uri="http://schemas.openxmlformats.org/presentationml/2006/ole">
            <mc:AlternateContent xmlns:mc="http://schemas.openxmlformats.org/markup-compatibility/2006">
              <mc:Choice xmlns:v="urn:schemas-microsoft-com:vml" Requires="v">
                <p:oleObj spid="_x0000_s149309" name="Equation" r:id="rId6" imgW="152400" imgH="165100" progId="Equation.DSMT4">
                  <p:embed/>
                </p:oleObj>
              </mc:Choice>
              <mc:Fallback>
                <p:oleObj name="Equation" r:id="rId6" imgW="152400" imgH="165100" progId="Equation.DSMT4">
                  <p:embed/>
                  <p:pic>
                    <p:nvPicPr>
                      <p:cNvPr id="0" name="Picture 76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45822" y="1236544"/>
                        <a:ext cx="290338" cy="3015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nvGraphicFramePr>
        <p:xfrm>
          <a:off x="9480376" y="1110780"/>
          <a:ext cx="2147802" cy="449540"/>
        </p:xfrm>
        <a:graphic>
          <a:graphicData uri="http://schemas.openxmlformats.org/presentationml/2006/ole">
            <mc:AlternateContent xmlns:mc="http://schemas.openxmlformats.org/markup-compatibility/2006">
              <mc:Choice xmlns:v="urn:schemas-microsoft-com:vml" Requires="v">
                <p:oleObj spid="_x0000_s149310" name="Equation" r:id="rId8" imgW="1155700" imgH="241300" progId="Equation.DSMT4">
                  <p:embed/>
                </p:oleObj>
              </mc:Choice>
              <mc:Fallback>
                <p:oleObj name="Equation" r:id="rId8" imgW="1155700" imgH="241300" progId="Equation.DSMT4">
                  <p:embed/>
                  <p:pic>
                    <p:nvPicPr>
                      <p:cNvPr id="0" name="Picture 76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80376" y="1110780"/>
                        <a:ext cx="2147802" cy="4495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2"/>
          <p:cNvSpPr txBox="1">
            <a:spLocks noChangeArrowheads="1"/>
          </p:cNvSpPr>
          <p:nvPr/>
        </p:nvSpPr>
        <p:spPr bwMode="gray">
          <a:xfrm>
            <a:off x="335360" y="1631575"/>
            <a:ext cx="8458200" cy="552502"/>
          </a:xfrm>
          <a:prstGeom prst="rect">
            <a:avLst/>
          </a:prstGeom>
          <a:solidFill>
            <a:schemeClr val="bg1"/>
          </a:solid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lvl="1" indent="0">
              <a:lnSpc>
                <a:spcPct val="130000"/>
              </a:lnSpc>
              <a:spcBef>
                <a:spcPts val="3600"/>
              </a:spcBef>
              <a:buNone/>
            </a:pPr>
            <a:r>
              <a:rPr lang="en-US" altLang="zh-CN" sz="2200" kern="0" dirty="0">
                <a:solidFill>
                  <a:srgbClr val="FF0000"/>
                </a:solidFill>
                <a:latin typeface="Times New Roman" panose="02020603050405020304" pitchFamily="18" charset="0"/>
                <a:ea typeface="黑体" panose="02010609060101010101" pitchFamily="49" charset="-122"/>
              </a:rPr>
              <a:t>step(3) </a:t>
            </a:r>
            <a:r>
              <a:rPr lang="zh-CN" altLang="en-US" sz="2200" kern="0" dirty="0">
                <a:solidFill>
                  <a:srgbClr val="FF0000"/>
                </a:solidFill>
                <a:latin typeface="Times New Roman" panose="02020603050405020304" pitchFamily="18" charset="0"/>
                <a:ea typeface="黑体" panose="02010609060101010101" pitchFamily="49" charset="-122"/>
              </a:rPr>
              <a:t>计算后验分布（续）</a:t>
            </a:r>
            <a:endParaRPr lang="en-US" altLang="en-US" sz="2200" kern="0" dirty="0">
              <a:solidFill>
                <a:srgbClr val="FF0000"/>
              </a:solidFill>
              <a:latin typeface="Times New Roman" panose="02020603050405020304" pitchFamily="18" charset="0"/>
              <a:ea typeface="黑体" panose="02010609060101010101" pitchFamily="49" charset="-122"/>
            </a:endParaRPr>
          </a:p>
          <a:p>
            <a:pPr marL="0" lvl="1" indent="0">
              <a:lnSpc>
                <a:spcPct val="130000"/>
              </a:lnSpc>
              <a:spcBef>
                <a:spcPts val="0"/>
              </a:spcBef>
            </a:pPr>
            <a:endParaRPr lang="en-US" altLang="en-US" sz="2200" kern="0" dirty="0">
              <a:solidFill>
                <a:srgbClr val="000000"/>
              </a:solidFill>
              <a:latin typeface="Times New Roman" panose="02020603050405020304" pitchFamily="18" charset="0"/>
              <a:ea typeface="黑体" panose="02010609060101010101" pitchFamily="49" charset="-122"/>
            </a:endParaRPr>
          </a:p>
          <a:p>
            <a:pPr marL="0" lvl="1" indent="0">
              <a:lnSpc>
                <a:spcPct val="130000"/>
              </a:lnSpc>
              <a:spcBef>
                <a:spcPts val="0"/>
              </a:spcBef>
              <a:buFont typeface="Wingdings" panose="05000000000000000000" pitchFamily="2" charset="2"/>
              <a:buNone/>
            </a:pPr>
            <a:r>
              <a:rPr lang="en-US" altLang="en-US" sz="2200" kern="0" dirty="0">
                <a:solidFill>
                  <a:srgbClr val="000000"/>
                </a:solidFill>
                <a:latin typeface="Times New Roman" panose="02020603050405020304" pitchFamily="18" charset="0"/>
                <a:ea typeface="黑体" panose="02010609060101010101" pitchFamily="49" charset="-122"/>
              </a:rPr>
              <a:t> </a:t>
            </a:r>
            <a:endParaRPr lang="en-US" altLang="en-US" sz="2200" kern="0" dirty="0">
              <a:solidFill>
                <a:srgbClr val="000000"/>
              </a:solidFill>
              <a:latin typeface="Times New Roman" panose="02020603050405020304" pitchFamily="18" charset="0"/>
              <a:ea typeface="黑体" panose="02010609060101010101" pitchFamily="49" charset="-122"/>
            </a:endParaRPr>
          </a:p>
          <a:p>
            <a:pPr marL="0" lvl="1" indent="0">
              <a:lnSpc>
                <a:spcPct val="130000"/>
              </a:lnSpc>
              <a:spcBef>
                <a:spcPts val="0"/>
              </a:spcBef>
              <a:buFont typeface="Wingdings" panose="05000000000000000000" pitchFamily="2" charset="2"/>
              <a:buNone/>
            </a:pPr>
            <a:r>
              <a:rPr lang="en-US" altLang="en-US" sz="2200" kern="0" dirty="0">
                <a:latin typeface="Times New Roman" panose="02020603050405020304" pitchFamily="18" charset="0"/>
                <a:ea typeface="黑体" panose="02010609060101010101" pitchFamily="49" charset="-122"/>
              </a:rPr>
              <a:t>	</a:t>
            </a:r>
            <a:endParaRPr lang="en-US" altLang="en-US" sz="2200" kern="0" dirty="0">
              <a:latin typeface="Times New Roman" panose="02020603050405020304" pitchFamily="18" charset="0"/>
              <a:ea typeface="黑体" panose="02010609060101010101" pitchFamily="49" charset="-122"/>
            </a:endParaRPr>
          </a:p>
        </p:txBody>
      </p:sp>
      <p:graphicFrame>
        <p:nvGraphicFramePr>
          <p:cNvPr id="23" name="Object 9"/>
          <p:cNvGraphicFramePr>
            <a:graphicFrameLocks noChangeAspect="1"/>
          </p:cNvGraphicFramePr>
          <p:nvPr/>
        </p:nvGraphicFramePr>
        <p:xfrm>
          <a:off x="499889" y="2133275"/>
          <a:ext cx="8980487" cy="2935287"/>
        </p:xfrm>
        <a:graphic>
          <a:graphicData uri="http://schemas.openxmlformats.org/presentationml/2006/ole">
            <mc:AlternateContent xmlns:mc="http://schemas.openxmlformats.org/markup-compatibility/2006">
              <mc:Choice xmlns:v="urn:schemas-microsoft-com:vml" Requires="v">
                <p:oleObj spid="_x0000_s149311" name="Equation" r:id="rId10" imgW="4902200" imgH="1524000" progId="Equation.DSMT4">
                  <p:embed/>
                </p:oleObj>
              </mc:Choice>
              <mc:Fallback>
                <p:oleObj name="Equation" r:id="rId10" imgW="4902200" imgH="1524000" progId="Equation.DSMT4">
                  <p:embed/>
                  <p:pic>
                    <p:nvPicPr>
                      <p:cNvPr id="0" name="Picture 76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9889" y="2133275"/>
                        <a:ext cx="8980487" cy="2935287"/>
                      </a:xfrm>
                      <a:prstGeom prst="rect">
                        <a:avLst/>
                      </a:prstGeom>
                      <a:solidFill>
                        <a:schemeClr val="bg1"/>
                      </a:solidFill>
                    </p:spPr>
                  </p:pic>
                </p:oleObj>
              </mc:Fallback>
            </mc:AlternateContent>
          </a:graphicData>
        </a:graphic>
      </p:graphicFrame>
      <p:cxnSp>
        <p:nvCxnSpPr>
          <p:cNvPr id="24" name="直接连接符 23"/>
          <p:cNvCxnSpPr/>
          <p:nvPr/>
        </p:nvCxnSpPr>
        <p:spPr>
          <a:xfrm>
            <a:off x="6776876" y="4062077"/>
            <a:ext cx="2714644"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7579114" y="4217845"/>
            <a:ext cx="1031051" cy="430887"/>
          </a:xfrm>
          <a:prstGeom prst="rect">
            <a:avLst/>
          </a:prstGeom>
        </p:spPr>
        <p:txBody>
          <a:bodyPr wrap="none">
            <a:spAutoFit/>
          </a:bodyPr>
          <a:lstStyle/>
          <a:p>
            <a:r>
              <a:rPr lang="zh-CN" altLang="en-US" sz="2200" dirty="0">
                <a:latin typeface="Times New Roman" panose="02020603050405020304" pitchFamily="18" charset="0"/>
                <a:ea typeface="黑体" panose="02010609060101010101" pitchFamily="49" charset="-122"/>
              </a:rPr>
              <a:t>无关项</a:t>
            </a:r>
            <a:endParaRPr lang="zh-CN" altLang="en-US" sz="2200" dirty="0">
              <a:latin typeface="Times New Roman" panose="02020603050405020304" pitchFamily="18" charset="0"/>
              <a:ea typeface="黑体" panose="02010609060101010101" pitchFamily="49" charset="-122"/>
            </a:endParaRPr>
          </a:p>
        </p:txBody>
      </p:sp>
      <p:cxnSp>
        <p:nvCxnSpPr>
          <p:cNvPr id="26" name="直接箭头连接符 25"/>
          <p:cNvCxnSpPr/>
          <p:nvPr/>
        </p:nvCxnSpPr>
        <p:spPr>
          <a:xfrm rot="10800000" flipV="1">
            <a:off x="3204976" y="2633317"/>
            <a:ext cx="3857652" cy="71438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rot="10800000" flipV="1">
            <a:off x="2633472" y="2704755"/>
            <a:ext cx="1714512" cy="57150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3776480" y="2776193"/>
            <a:ext cx="3643338" cy="5000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rot="10800000" flipV="1">
            <a:off x="5133802" y="2776193"/>
            <a:ext cx="571504" cy="5000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rot="10800000" flipV="1">
            <a:off x="5919620" y="2776193"/>
            <a:ext cx="2286016" cy="57150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rot="16200000" flipH="1">
            <a:off x="7705570" y="2704755"/>
            <a:ext cx="714380" cy="71438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493349" y="5095530"/>
            <a:ext cx="11421326" cy="430887"/>
          </a:xfrm>
          <a:prstGeom prst="rect">
            <a:avLst/>
          </a:prstGeom>
        </p:spPr>
        <p:txBody>
          <a:bodyPr wrap="square">
            <a:spAutoFit/>
          </a:bodyPr>
          <a:lstStyle/>
          <a:p>
            <a:pPr algn="l"/>
            <a:r>
              <a:rPr lang="zh-CN" altLang="en-US" sz="2200" dirty="0">
                <a:latin typeface="Times New Roman" panose="02020603050405020304" pitchFamily="18" charset="0"/>
                <a:ea typeface="黑体" panose="02010609060101010101" pitchFamily="49" charset="-122"/>
              </a:rPr>
              <a:t>由此可见                是      的二次函数的指数函数，因此                 满足正态分布</a:t>
            </a:r>
            <a:endParaRPr lang="zh-CN" altLang="en-US" sz="2200" dirty="0">
              <a:latin typeface="Times New Roman" panose="02020603050405020304" pitchFamily="18" charset="0"/>
              <a:ea typeface="黑体" panose="02010609060101010101" pitchFamily="49" charset="-122"/>
            </a:endParaRPr>
          </a:p>
        </p:txBody>
      </p:sp>
      <p:graphicFrame>
        <p:nvGraphicFramePr>
          <p:cNvPr id="34" name="Object 9"/>
          <p:cNvGraphicFramePr>
            <a:graphicFrameLocks noChangeAspect="1"/>
          </p:cNvGraphicFramePr>
          <p:nvPr/>
        </p:nvGraphicFramePr>
        <p:xfrm>
          <a:off x="1774685" y="5171952"/>
          <a:ext cx="1008947" cy="375436"/>
        </p:xfrm>
        <a:graphic>
          <a:graphicData uri="http://schemas.openxmlformats.org/presentationml/2006/ole">
            <mc:AlternateContent xmlns:mc="http://schemas.openxmlformats.org/markup-compatibility/2006">
              <mc:Choice xmlns:v="urn:schemas-microsoft-com:vml" Requires="v">
                <p:oleObj spid="_x0000_s149312" name="Equation" r:id="rId12" imgW="545465" imgH="203200" progId="Equation.DSMT4">
                  <p:embed/>
                </p:oleObj>
              </mc:Choice>
              <mc:Fallback>
                <p:oleObj name="Equation" r:id="rId12" imgW="545465" imgH="203200" progId="Equation.DSMT4">
                  <p:embed/>
                  <p:pic>
                    <p:nvPicPr>
                      <p:cNvPr id="0" name="Picture 76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74685" y="5171952"/>
                        <a:ext cx="1008947" cy="3754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10"/>
          <p:cNvGraphicFramePr>
            <a:graphicFrameLocks noChangeAspect="1"/>
          </p:cNvGraphicFramePr>
          <p:nvPr/>
        </p:nvGraphicFramePr>
        <p:xfrm>
          <a:off x="3071664" y="5217733"/>
          <a:ext cx="456476" cy="371507"/>
        </p:xfrm>
        <a:graphic>
          <a:graphicData uri="http://schemas.openxmlformats.org/presentationml/2006/ole">
            <mc:AlternateContent xmlns:mc="http://schemas.openxmlformats.org/markup-compatibility/2006">
              <mc:Choice xmlns:v="urn:schemas-microsoft-com:vml" Requires="v">
                <p:oleObj spid="_x0000_s149313" name="Equation" r:id="rId14" imgW="152400" imgH="165100" progId="Equation.DSMT4">
                  <p:embed/>
                </p:oleObj>
              </mc:Choice>
              <mc:Fallback>
                <p:oleObj name="Equation" r:id="rId14" imgW="152400" imgH="165100" progId="Equation.DSMT4">
                  <p:embed/>
                  <p:pic>
                    <p:nvPicPr>
                      <p:cNvPr id="0" name="Picture 76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71664" y="5217733"/>
                        <a:ext cx="456476" cy="3715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Object 11"/>
          <p:cNvGraphicFramePr>
            <a:graphicFrameLocks noChangeAspect="1"/>
          </p:cNvGraphicFramePr>
          <p:nvPr/>
        </p:nvGraphicFramePr>
        <p:xfrm>
          <a:off x="7210696" y="5171953"/>
          <a:ext cx="1045544" cy="389282"/>
        </p:xfrm>
        <a:graphic>
          <a:graphicData uri="http://schemas.openxmlformats.org/presentationml/2006/ole">
            <mc:AlternateContent xmlns:mc="http://schemas.openxmlformats.org/markup-compatibility/2006">
              <mc:Choice xmlns:v="urn:schemas-microsoft-com:vml" Requires="v">
                <p:oleObj spid="_x0000_s149314" name="Equation" r:id="rId16" imgW="545465" imgH="203200" progId="Equation.DSMT4">
                  <p:embed/>
                </p:oleObj>
              </mc:Choice>
              <mc:Fallback>
                <p:oleObj name="Equation" r:id="rId16" imgW="545465" imgH="203200" progId="Equation.DSMT4">
                  <p:embed/>
                  <p:pic>
                    <p:nvPicPr>
                      <p:cNvPr id="0" name="Picture 77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210696" y="5171953"/>
                        <a:ext cx="1045544" cy="389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14.6 </a:t>
            </a:r>
            <a:r>
              <a:rPr lang="zh-CN" altLang="zh-CN" dirty="0"/>
              <a:t>正态分布下的贝叶斯估计</a:t>
            </a:r>
            <a:endParaRPr lang="zh-CN" altLang="zh-CN" dirty="0"/>
          </a:p>
        </p:txBody>
      </p:sp>
      <p:sp>
        <p:nvSpPr>
          <p:cNvPr id="12" name="内容占位符 2"/>
          <p:cNvSpPr>
            <a:spLocks noGrp="1"/>
          </p:cNvSpPr>
          <p:nvPr>
            <p:ph idx="1"/>
          </p:nvPr>
        </p:nvSpPr>
        <p:spPr>
          <a:xfrm>
            <a:off x="335360" y="1161538"/>
            <a:ext cx="11737304" cy="480783"/>
          </a:xfrm>
        </p:spPr>
        <p:txBody>
          <a:bodyPr/>
          <a:lstStyle/>
          <a:p>
            <a:pPr marL="0" indent="0">
              <a:buNone/>
            </a:pPr>
            <a:r>
              <a:rPr lang="zh-CN" altLang="en-US" sz="2200" dirty="0">
                <a:latin typeface="Times New Roman" panose="02020603050405020304" pitchFamily="18" charset="0"/>
                <a:ea typeface="黑体" panose="02010609060101010101" pitchFamily="49" charset="-122"/>
              </a:rPr>
              <a:t>单变量正态分布                                    ，  已知       ，估计     。假设先验分布                               。 </a:t>
            </a:r>
            <a:endParaRPr lang="zh-CN" altLang="en-US" sz="2200" dirty="0">
              <a:latin typeface="Times New Roman" panose="02020603050405020304" pitchFamily="18" charset="0"/>
              <a:ea typeface="黑体" panose="02010609060101010101" pitchFamily="49" charset="-122"/>
            </a:endParaRPr>
          </a:p>
        </p:txBody>
      </p:sp>
      <p:graphicFrame>
        <p:nvGraphicFramePr>
          <p:cNvPr id="13" name="对象 12"/>
          <p:cNvGraphicFramePr>
            <a:graphicFrameLocks noChangeAspect="1"/>
          </p:cNvGraphicFramePr>
          <p:nvPr/>
        </p:nvGraphicFramePr>
        <p:xfrm>
          <a:off x="2351584" y="1122630"/>
          <a:ext cx="2520280" cy="468889"/>
        </p:xfrm>
        <a:graphic>
          <a:graphicData uri="http://schemas.openxmlformats.org/presentationml/2006/ole">
            <mc:AlternateContent xmlns:mc="http://schemas.openxmlformats.org/markup-compatibility/2006">
              <mc:Choice xmlns:v="urn:schemas-microsoft-com:vml" Requires="v">
                <p:oleObj spid="_x0000_s150441" name="Equation" r:id="rId2" imgW="1270000" imgH="228600" progId="Equation.DSMT4">
                  <p:embed/>
                </p:oleObj>
              </mc:Choice>
              <mc:Fallback>
                <p:oleObj name="Equation" r:id="rId2" imgW="1270000" imgH="228600" progId="Equation.DSMT4">
                  <p:embed/>
                  <p:pic>
                    <p:nvPicPr>
                      <p:cNvPr id="0" name="Picture 8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584" y="1122630"/>
                        <a:ext cx="2520280" cy="4688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nvGraphicFramePr>
        <p:xfrm>
          <a:off x="5932402" y="1140477"/>
          <a:ext cx="368996" cy="368996"/>
        </p:xfrm>
        <a:graphic>
          <a:graphicData uri="http://schemas.openxmlformats.org/presentationml/2006/ole">
            <mc:AlternateContent xmlns:mc="http://schemas.openxmlformats.org/markup-compatibility/2006">
              <mc:Choice xmlns:v="urn:schemas-microsoft-com:vml" Requires="v">
                <p:oleObj spid="_x0000_s150442" name="Equation" r:id="rId4" imgW="215900" imgH="203200" progId="Equation.DSMT4">
                  <p:embed/>
                </p:oleObj>
              </mc:Choice>
              <mc:Fallback>
                <p:oleObj name="Equation" r:id="rId4" imgW="215900" imgH="203200" progId="Equation.DSMT4">
                  <p:embed/>
                  <p:pic>
                    <p:nvPicPr>
                      <p:cNvPr id="0" name="Picture 8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2402" y="1140477"/>
                        <a:ext cx="368996" cy="3689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nvGraphicFramePr>
        <p:xfrm>
          <a:off x="7245822" y="1236544"/>
          <a:ext cx="290338" cy="301505"/>
        </p:xfrm>
        <a:graphic>
          <a:graphicData uri="http://schemas.openxmlformats.org/presentationml/2006/ole">
            <mc:AlternateContent xmlns:mc="http://schemas.openxmlformats.org/markup-compatibility/2006">
              <mc:Choice xmlns:v="urn:schemas-microsoft-com:vml" Requires="v">
                <p:oleObj spid="_x0000_s150443" name="Equation" r:id="rId6" imgW="152400" imgH="165100" progId="Equation.DSMT4">
                  <p:embed/>
                </p:oleObj>
              </mc:Choice>
              <mc:Fallback>
                <p:oleObj name="Equation" r:id="rId6" imgW="152400" imgH="165100" progId="Equation.DSMT4">
                  <p:embed/>
                  <p:pic>
                    <p:nvPicPr>
                      <p:cNvPr id="0" name="Picture 85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45822" y="1236544"/>
                        <a:ext cx="290338" cy="3015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nvGraphicFramePr>
        <p:xfrm>
          <a:off x="9480376" y="1110780"/>
          <a:ext cx="2147802" cy="449540"/>
        </p:xfrm>
        <a:graphic>
          <a:graphicData uri="http://schemas.openxmlformats.org/presentationml/2006/ole">
            <mc:AlternateContent xmlns:mc="http://schemas.openxmlformats.org/markup-compatibility/2006">
              <mc:Choice xmlns:v="urn:schemas-microsoft-com:vml" Requires="v">
                <p:oleObj spid="_x0000_s150444" name="Equation" r:id="rId8" imgW="1155700" imgH="241300" progId="Equation.DSMT4">
                  <p:embed/>
                </p:oleObj>
              </mc:Choice>
              <mc:Fallback>
                <p:oleObj name="Equation" r:id="rId8" imgW="1155700" imgH="241300" progId="Equation.DSMT4">
                  <p:embed/>
                  <p:pic>
                    <p:nvPicPr>
                      <p:cNvPr id="0" name="Picture 85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80376" y="1110780"/>
                        <a:ext cx="2147802" cy="4495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2"/>
          <p:cNvSpPr txBox="1">
            <a:spLocks noChangeArrowheads="1"/>
          </p:cNvSpPr>
          <p:nvPr/>
        </p:nvSpPr>
        <p:spPr bwMode="gray">
          <a:xfrm>
            <a:off x="335360" y="1652362"/>
            <a:ext cx="8458200" cy="552502"/>
          </a:xfrm>
          <a:prstGeom prst="rect">
            <a:avLst/>
          </a:prstGeom>
          <a:solidFill>
            <a:schemeClr val="bg1"/>
          </a:solid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lvl="1" indent="0">
              <a:lnSpc>
                <a:spcPct val="130000"/>
              </a:lnSpc>
              <a:spcBef>
                <a:spcPts val="3600"/>
              </a:spcBef>
              <a:buNone/>
            </a:pPr>
            <a:r>
              <a:rPr lang="en-US" altLang="zh-CN" sz="2200" kern="0" dirty="0">
                <a:solidFill>
                  <a:srgbClr val="FF0000"/>
                </a:solidFill>
                <a:latin typeface="Times New Roman" panose="02020603050405020304" pitchFamily="18" charset="0"/>
                <a:ea typeface="黑体" panose="02010609060101010101" pitchFamily="49" charset="-122"/>
              </a:rPr>
              <a:t>step(3) </a:t>
            </a:r>
            <a:r>
              <a:rPr lang="zh-CN" altLang="en-US" sz="2200" kern="0" dirty="0">
                <a:solidFill>
                  <a:srgbClr val="FF0000"/>
                </a:solidFill>
                <a:latin typeface="Times New Roman" panose="02020603050405020304" pitchFamily="18" charset="0"/>
                <a:ea typeface="黑体" panose="02010609060101010101" pitchFamily="49" charset="-122"/>
              </a:rPr>
              <a:t>计算后验分布（续）</a:t>
            </a:r>
            <a:endParaRPr lang="en-US" altLang="en-US" sz="2200" kern="0" dirty="0">
              <a:solidFill>
                <a:srgbClr val="FF0000"/>
              </a:solidFill>
              <a:latin typeface="Times New Roman" panose="02020603050405020304" pitchFamily="18" charset="0"/>
              <a:ea typeface="黑体" panose="02010609060101010101" pitchFamily="49" charset="-122"/>
            </a:endParaRPr>
          </a:p>
          <a:p>
            <a:pPr marL="0" lvl="1" indent="0">
              <a:lnSpc>
                <a:spcPct val="130000"/>
              </a:lnSpc>
              <a:spcBef>
                <a:spcPts val="0"/>
              </a:spcBef>
            </a:pPr>
            <a:endParaRPr lang="en-US" altLang="en-US" sz="2200" kern="0" dirty="0">
              <a:solidFill>
                <a:srgbClr val="000000"/>
              </a:solidFill>
              <a:latin typeface="Times New Roman" panose="02020603050405020304" pitchFamily="18" charset="0"/>
              <a:ea typeface="黑体" panose="02010609060101010101" pitchFamily="49" charset="-122"/>
            </a:endParaRPr>
          </a:p>
          <a:p>
            <a:pPr marL="0" lvl="1" indent="0">
              <a:lnSpc>
                <a:spcPct val="130000"/>
              </a:lnSpc>
              <a:spcBef>
                <a:spcPts val="0"/>
              </a:spcBef>
              <a:buFont typeface="Wingdings" panose="05000000000000000000" pitchFamily="2" charset="2"/>
              <a:buNone/>
            </a:pPr>
            <a:r>
              <a:rPr lang="en-US" altLang="en-US" sz="2200" kern="0" dirty="0">
                <a:solidFill>
                  <a:srgbClr val="000000"/>
                </a:solidFill>
                <a:latin typeface="Times New Roman" panose="02020603050405020304" pitchFamily="18" charset="0"/>
                <a:ea typeface="黑体" panose="02010609060101010101" pitchFamily="49" charset="-122"/>
              </a:rPr>
              <a:t> </a:t>
            </a:r>
            <a:endParaRPr lang="en-US" altLang="en-US" sz="2200" kern="0" dirty="0">
              <a:solidFill>
                <a:srgbClr val="000000"/>
              </a:solidFill>
              <a:latin typeface="Times New Roman" panose="02020603050405020304" pitchFamily="18" charset="0"/>
              <a:ea typeface="黑体" panose="02010609060101010101" pitchFamily="49" charset="-122"/>
            </a:endParaRPr>
          </a:p>
          <a:p>
            <a:pPr marL="0" lvl="1" indent="0">
              <a:lnSpc>
                <a:spcPct val="130000"/>
              </a:lnSpc>
              <a:spcBef>
                <a:spcPts val="0"/>
              </a:spcBef>
              <a:buFont typeface="Wingdings" panose="05000000000000000000" pitchFamily="2" charset="2"/>
              <a:buNone/>
            </a:pPr>
            <a:r>
              <a:rPr lang="en-US" altLang="en-US" sz="2200" kern="0" dirty="0">
                <a:latin typeface="Times New Roman" panose="02020603050405020304" pitchFamily="18" charset="0"/>
                <a:ea typeface="黑体" panose="02010609060101010101" pitchFamily="49" charset="-122"/>
              </a:rPr>
              <a:t>	</a:t>
            </a:r>
            <a:endParaRPr lang="en-US" altLang="en-US" sz="2200" kern="0" dirty="0">
              <a:latin typeface="Times New Roman" panose="02020603050405020304" pitchFamily="18" charset="0"/>
              <a:ea typeface="黑体" panose="02010609060101010101" pitchFamily="49" charset="-122"/>
            </a:endParaRPr>
          </a:p>
        </p:txBody>
      </p:sp>
      <p:graphicFrame>
        <p:nvGraphicFramePr>
          <p:cNvPr id="32" name="Object 3"/>
          <p:cNvGraphicFramePr>
            <a:graphicFrameLocks noChangeAspect="1"/>
          </p:cNvGraphicFramePr>
          <p:nvPr/>
        </p:nvGraphicFramePr>
        <p:xfrm>
          <a:off x="447064" y="2127647"/>
          <a:ext cx="6391601" cy="927747"/>
        </p:xfrm>
        <a:graphic>
          <a:graphicData uri="http://schemas.openxmlformats.org/presentationml/2006/ole">
            <mc:AlternateContent xmlns:mc="http://schemas.openxmlformats.org/markup-compatibility/2006">
              <mc:Choice xmlns:v="urn:schemas-microsoft-com:vml" Requires="v">
                <p:oleObj spid="_x0000_s150445" name="Equation" r:id="rId10" imgW="3225800" imgH="469900" progId="Equation.DSMT4">
                  <p:embed/>
                </p:oleObj>
              </mc:Choice>
              <mc:Fallback>
                <p:oleObj name="Equation" r:id="rId10" imgW="3225800" imgH="469900" progId="Equation.DSMT4">
                  <p:embed/>
                  <p:pic>
                    <p:nvPicPr>
                      <p:cNvPr id="0" name="Picture 86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7064" y="2127647"/>
                        <a:ext cx="6391601" cy="9277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Object 4"/>
          <p:cNvGraphicFramePr>
            <a:graphicFrameLocks noChangeAspect="1"/>
          </p:cNvGraphicFramePr>
          <p:nvPr/>
        </p:nvGraphicFramePr>
        <p:xfrm>
          <a:off x="7607170" y="1854200"/>
          <a:ext cx="3785542" cy="1560665"/>
        </p:xfrm>
        <a:graphic>
          <a:graphicData uri="http://schemas.openxmlformats.org/presentationml/2006/ole">
            <mc:AlternateContent xmlns:mc="http://schemas.openxmlformats.org/markup-compatibility/2006">
              <mc:Choice xmlns:v="urn:schemas-microsoft-com:vml" Requires="v">
                <p:oleObj spid="_x0000_s150446" name="Equation" r:id="rId12" imgW="1905000" imgH="787400" progId="Equation.DSMT4">
                  <p:embed/>
                </p:oleObj>
              </mc:Choice>
              <mc:Fallback>
                <p:oleObj name="Equation" r:id="rId12" imgW="1905000" imgH="787400" progId="Equation.DSMT4">
                  <p:embed/>
                  <p:pic>
                    <p:nvPicPr>
                      <p:cNvPr id="0" name="Picture 86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07170" y="1854200"/>
                        <a:ext cx="3785542" cy="15606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Object 3"/>
          <p:cNvGraphicFramePr>
            <a:graphicFrameLocks noChangeAspect="1"/>
          </p:cNvGraphicFramePr>
          <p:nvPr/>
        </p:nvGraphicFramePr>
        <p:xfrm>
          <a:off x="369888" y="3235325"/>
          <a:ext cx="4319587" cy="2317750"/>
        </p:xfrm>
        <a:graphic>
          <a:graphicData uri="http://schemas.openxmlformats.org/presentationml/2006/ole">
            <mc:AlternateContent xmlns:mc="http://schemas.openxmlformats.org/markup-compatibility/2006">
              <mc:Choice xmlns:v="urn:schemas-microsoft-com:vml" Requires="v">
                <p:oleObj spid="_x0000_s150447" name="Equation" r:id="rId14" imgW="54864000" imgH="29565600" progId="Equation.DSMT4">
                  <p:embed/>
                </p:oleObj>
              </mc:Choice>
              <mc:Fallback>
                <p:oleObj name="Equation" r:id="rId14" imgW="54864000" imgH="29565600" progId="Equation.DSMT4">
                  <p:embed/>
                  <p:pic>
                    <p:nvPicPr>
                      <p:cNvPr id="0" name="Picture 862"/>
                      <p:cNvPicPr>
                        <a:picLocks noChangeAspect="1" noChangeArrowheads="1"/>
                      </p:cNvPicPr>
                      <p:nvPr/>
                    </p:nvPicPr>
                    <p:blipFill>
                      <a:blip r:embed="rId15"/>
                      <a:srcRect/>
                      <a:stretch>
                        <a:fillRect/>
                      </a:stretch>
                    </p:blipFill>
                    <p:spPr bwMode="auto">
                      <a:xfrm>
                        <a:off x="369888" y="3235325"/>
                        <a:ext cx="4319587" cy="231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Object 4"/>
          <p:cNvGraphicFramePr>
            <a:graphicFrameLocks noChangeAspect="1"/>
          </p:cNvGraphicFramePr>
          <p:nvPr/>
        </p:nvGraphicFramePr>
        <p:xfrm>
          <a:off x="10197812" y="5360784"/>
          <a:ext cx="1526659" cy="811467"/>
        </p:xfrm>
        <a:graphic>
          <a:graphicData uri="http://schemas.openxmlformats.org/presentationml/2006/ole">
            <mc:AlternateContent xmlns:mc="http://schemas.openxmlformats.org/markup-compatibility/2006">
              <mc:Choice xmlns:v="urn:schemas-microsoft-com:vml" Requires="v">
                <p:oleObj spid="_x0000_s150448" name="Equation" r:id="rId16" imgW="761365" imgH="406400" progId="Equation.DSMT4">
                  <p:embed/>
                </p:oleObj>
              </mc:Choice>
              <mc:Fallback>
                <p:oleObj name="Equation" r:id="rId16" imgW="761365" imgH="406400" progId="Equation.DSMT4">
                  <p:embed/>
                  <p:pic>
                    <p:nvPicPr>
                      <p:cNvPr id="0" name="Picture 86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197812" y="5360784"/>
                        <a:ext cx="1526659" cy="8114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40" name="直接连接符 39"/>
          <p:cNvCxnSpPr/>
          <p:nvPr/>
        </p:nvCxnSpPr>
        <p:spPr>
          <a:xfrm flipV="1">
            <a:off x="3013130" y="3054601"/>
            <a:ext cx="812787" cy="794"/>
          </a:xfrm>
          <a:prstGeom prst="line">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813062" y="3066196"/>
            <a:ext cx="1390950" cy="0"/>
          </a:xfrm>
          <a:prstGeom prst="line">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H="1">
            <a:off x="3013130" y="3066196"/>
            <a:ext cx="406393" cy="165366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H="1">
            <a:off x="4223792" y="3066196"/>
            <a:ext cx="1362453" cy="165366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44" name="Object 3"/>
          <p:cNvGraphicFramePr>
            <a:graphicFrameLocks noChangeAspect="1"/>
          </p:cNvGraphicFramePr>
          <p:nvPr/>
        </p:nvGraphicFramePr>
        <p:xfrm>
          <a:off x="7624829" y="3862186"/>
          <a:ext cx="3855530" cy="1715353"/>
        </p:xfrm>
        <a:graphic>
          <a:graphicData uri="http://schemas.openxmlformats.org/presentationml/2006/ole">
            <mc:AlternateContent xmlns:mc="http://schemas.openxmlformats.org/markup-compatibility/2006">
              <mc:Choice xmlns:v="urn:schemas-microsoft-com:vml" Requires="v">
                <p:oleObj spid="_x0000_s150449" name="Equation" r:id="rId18" imgW="1905000" imgH="850900" progId="Equation.DSMT4">
                  <p:embed/>
                </p:oleObj>
              </mc:Choice>
              <mc:Fallback>
                <p:oleObj name="Equation" r:id="rId18" imgW="1905000" imgH="850900" progId="Equation.DSMT4">
                  <p:embed/>
                  <p:pic>
                    <p:nvPicPr>
                      <p:cNvPr id="0" name="Picture 86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624829" y="3862186"/>
                        <a:ext cx="3855530" cy="17153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4" name="直接连接符 13"/>
          <p:cNvCxnSpPr/>
          <p:nvPr/>
        </p:nvCxnSpPr>
        <p:spPr>
          <a:xfrm>
            <a:off x="7190332" y="2035413"/>
            <a:ext cx="0" cy="3731105"/>
          </a:xfrm>
          <a:prstGeom prst="line">
            <a:avLst/>
          </a:prstGeom>
          <a:ln w="38100">
            <a:solidFill>
              <a:srgbClr val="0000FF"/>
            </a:solidFill>
            <a:prstDash val="sysDot"/>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14.6 </a:t>
            </a:r>
            <a:r>
              <a:rPr lang="zh-CN" altLang="zh-CN" dirty="0"/>
              <a:t>正态分布下的贝叶斯估计</a:t>
            </a:r>
            <a:endParaRPr lang="zh-CN" altLang="zh-CN" dirty="0"/>
          </a:p>
        </p:txBody>
      </p:sp>
      <p:sp>
        <p:nvSpPr>
          <p:cNvPr id="12" name="内容占位符 2"/>
          <p:cNvSpPr>
            <a:spLocks noGrp="1"/>
          </p:cNvSpPr>
          <p:nvPr>
            <p:ph idx="1"/>
          </p:nvPr>
        </p:nvSpPr>
        <p:spPr>
          <a:xfrm>
            <a:off x="335360" y="1161538"/>
            <a:ext cx="11737304" cy="480783"/>
          </a:xfrm>
        </p:spPr>
        <p:txBody>
          <a:bodyPr/>
          <a:lstStyle/>
          <a:p>
            <a:pPr marL="0" indent="0">
              <a:buNone/>
            </a:pPr>
            <a:r>
              <a:rPr lang="zh-CN" altLang="en-US" sz="2200" dirty="0">
                <a:latin typeface="Times New Roman" panose="02020603050405020304" pitchFamily="18" charset="0"/>
                <a:ea typeface="黑体" panose="02010609060101010101" pitchFamily="49" charset="-122"/>
              </a:rPr>
              <a:t>单变量正态分布                                    ，  已知       ，估计     。假设先验分布                               。 </a:t>
            </a:r>
            <a:endParaRPr lang="zh-CN" altLang="en-US" sz="2200" dirty="0">
              <a:latin typeface="Times New Roman" panose="02020603050405020304" pitchFamily="18" charset="0"/>
              <a:ea typeface="黑体" panose="02010609060101010101" pitchFamily="49" charset="-122"/>
            </a:endParaRPr>
          </a:p>
        </p:txBody>
      </p:sp>
      <p:graphicFrame>
        <p:nvGraphicFramePr>
          <p:cNvPr id="13" name="对象 12"/>
          <p:cNvGraphicFramePr>
            <a:graphicFrameLocks noChangeAspect="1"/>
          </p:cNvGraphicFramePr>
          <p:nvPr/>
        </p:nvGraphicFramePr>
        <p:xfrm>
          <a:off x="2351584" y="1122630"/>
          <a:ext cx="2520280" cy="468889"/>
        </p:xfrm>
        <a:graphic>
          <a:graphicData uri="http://schemas.openxmlformats.org/presentationml/2006/ole">
            <mc:AlternateContent xmlns:mc="http://schemas.openxmlformats.org/markup-compatibility/2006">
              <mc:Choice xmlns:v="urn:schemas-microsoft-com:vml" Requires="v">
                <p:oleObj spid="_x0000_s151346" name="Equation" r:id="rId2" imgW="1270000" imgH="228600" progId="Equation.DSMT4">
                  <p:embed/>
                </p:oleObj>
              </mc:Choice>
              <mc:Fallback>
                <p:oleObj name="Equation" r:id="rId2" imgW="1270000" imgH="228600" progId="Equation.DSMT4">
                  <p:embed/>
                  <p:pic>
                    <p:nvPicPr>
                      <p:cNvPr id="0" name="Picture 7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584" y="1122630"/>
                        <a:ext cx="2520280" cy="4688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nvGraphicFramePr>
        <p:xfrm>
          <a:off x="5932402" y="1140477"/>
          <a:ext cx="368996" cy="368996"/>
        </p:xfrm>
        <a:graphic>
          <a:graphicData uri="http://schemas.openxmlformats.org/presentationml/2006/ole">
            <mc:AlternateContent xmlns:mc="http://schemas.openxmlformats.org/markup-compatibility/2006">
              <mc:Choice xmlns:v="urn:schemas-microsoft-com:vml" Requires="v">
                <p:oleObj spid="_x0000_s151347" name="Equation" r:id="rId4" imgW="215900" imgH="203200" progId="Equation.DSMT4">
                  <p:embed/>
                </p:oleObj>
              </mc:Choice>
              <mc:Fallback>
                <p:oleObj name="Equation" r:id="rId4" imgW="215900" imgH="203200" progId="Equation.DSMT4">
                  <p:embed/>
                  <p:pic>
                    <p:nvPicPr>
                      <p:cNvPr id="0" name="Picture 7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2402" y="1140477"/>
                        <a:ext cx="368996" cy="3689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nvGraphicFramePr>
        <p:xfrm>
          <a:off x="7245822" y="1236544"/>
          <a:ext cx="290338" cy="301505"/>
        </p:xfrm>
        <a:graphic>
          <a:graphicData uri="http://schemas.openxmlformats.org/presentationml/2006/ole">
            <mc:AlternateContent xmlns:mc="http://schemas.openxmlformats.org/markup-compatibility/2006">
              <mc:Choice xmlns:v="urn:schemas-microsoft-com:vml" Requires="v">
                <p:oleObj spid="_x0000_s151348" name="Equation" r:id="rId6" imgW="152400" imgH="165100" progId="Equation.DSMT4">
                  <p:embed/>
                </p:oleObj>
              </mc:Choice>
              <mc:Fallback>
                <p:oleObj name="Equation" r:id="rId6" imgW="152400" imgH="165100" progId="Equation.DSMT4">
                  <p:embed/>
                  <p:pic>
                    <p:nvPicPr>
                      <p:cNvPr id="0" name="Picture 7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45822" y="1236544"/>
                        <a:ext cx="290338" cy="3015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nvGraphicFramePr>
        <p:xfrm>
          <a:off x="9480376" y="1110780"/>
          <a:ext cx="2147802" cy="449540"/>
        </p:xfrm>
        <a:graphic>
          <a:graphicData uri="http://schemas.openxmlformats.org/presentationml/2006/ole">
            <mc:AlternateContent xmlns:mc="http://schemas.openxmlformats.org/markup-compatibility/2006">
              <mc:Choice xmlns:v="urn:schemas-microsoft-com:vml" Requires="v">
                <p:oleObj spid="_x0000_s151349" name="Equation" r:id="rId8" imgW="1155700" imgH="241300" progId="Equation.DSMT4">
                  <p:embed/>
                </p:oleObj>
              </mc:Choice>
              <mc:Fallback>
                <p:oleObj name="Equation" r:id="rId8" imgW="1155700" imgH="241300" progId="Equation.DSMT4">
                  <p:embed/>
                  <p:pic>
                    <p:nvPicPr>
                      <p:cNvPr id="0" name="Picture 75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80376" y="1110780"/>
                        <a:ext cx="2147802" cy="4495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2"/>
          <p:cNvSpPr txBox="1">
            <a:spLocks noChangeArrowheads="1"/>
          </p:cNvSpPr>
          <p:nvPr/>
        </p:nvSpPr>
        <p:spPr bwMode="gray">
          <a:xfrm>
            <a:off x="335360" y="1652362"/>
            <a:ext cx="8458200" cy="552502"/>
          </a:xfrm>
          <a:prstGeom prst="rect">
            <a:avLst/>
          </a:prstGeom>
          <a:solidFill>
            <a:schemeClr val="bg1"/>
          </a:solid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lvl="1" indent="0">
              <a:lnSpc>
                <a:spcPct val="130000"/>
              </a:lnSpc>
              <a:spcBef>
                <a:spcPts val="3600"/>
              </a:spcBef>
              <a:buFont typeface="Wingdings" panose="05000000000000000000" pitchFamily="2" charset="2"/>
              <a:buNone/>
            </a:pPr>
            <a:r>
              <a:rPr lang="en-US" altLang="zh-CN" sz="2200" kern="0" dirty="0">
                <a:solidFill>
                  <a:srgbClr val="FF0000"/>
                </a:solidFill>
                <a:latin typeface="Times New Roman" panose="02020603050405020304" pitchFamily="18" charset="0"/>
                <a:ea typeface="黑体" panose="02010609060101010101" pitchFamily="49" charset="-122"/>
              </a:rPr>
              <a:t>step(4) </a:t>
            </a:r>
            <a:endParaRPr lang="en-US" altLang="en-US" sz="2200" kern="0" dirty="0">
              <a:solidFill>
                <a:srgbClr val="FF0000"/>
              </a:solidFill>
              <a:latin typeface="Times New Roman" panose="02020603050405020304" pitchFamily="18" charset="0"/>
              <a:ea typeface="黑体" panose="02010609060101010101" pitchFamily="49" charset="-122"/>
            </a:endParaRPr>
          </a:p>
          <a:p>
            <a:pPr marL="0" lvl="1" indent="0">
              <a:lnSpc>
                <a:spcPct val="130000"/>
              </a:lnSpc>
              <a:spcBef>
                <a:spcPts val="0"/>
              </a:spcBef>
            </a:pPr>
            <a:endParaRPr lang="en-US" altLang="en-US" sz="2200" kern="0" dirty="0">
              <a:solidFill>
                <a:srgbClr val="000000"/>
              </a:solidFill>
              <a:latin typeface="Times New Roman" panose="02020603050405020304" pitchFamily="18" charset="0"/>
              <a:ea typeface="黑体" panose="02010609060101010101" pitchFamily="49" charset="-122"/>
            </a:endParaRPr>
          </a:p>
          <a:p>
            <a:pPr marL="0" lvl="1" indent="0">
              <a:lnSpc>
                <a:spcPct val="130000"/>
              </a:lnSpc>
              <a:spcBef>
                <a:spcPts val="0"/>
              </a:spcBef>
              <a:buFont typeface="Wingdings" panose="05000000000000000000" pitchFamily="2" charset="2"/>
              <a:buNone/>
            </a:pPr>
            <a:r>
              <a:rPr lang="en-US" altLang="en-US" sz="2200" kern="0" dirty="0">
                <a:solidFill>
                  <a:srgbClr val="000000"/>
                </a:solidFill>
                <a:latin typeface="Times New Roman" panose="02020603050405020304" pitchFamily="18" charset="0"/>
                <a:ea typeface="黑体" panose="02010609060101010101" pitchFamily="49" charset="-122"/>
              </a:rPr>
              <a:t> </a:t>
            </a:r>
            <a:endParaRPr lang="en-US" altLang="en-US" sz="2200" kern="0" dirty="0">
              <a:solidFill>
                <a:srgbClr val="000000"/>
              </a:solidFill>
              <a:latin typeface="Times New Roman" panose="02020603050405020304" pitchFamily="18" charset="0"/>
              <a:ea typeface="黑体" panose="02010609060101010101" pitchFamily="49" charset="-122"/>
            </a:endParaRPr>
          </a:p>
          <a:p>
            <a:pPr marL="0" lvl="1" indent="0">
              <a:lnSpc>
                <a:spcPct val="130000"/>
              </a:lnSpc>
              <a:spcBef>
                <a:spcPts val="0"/>
              </a:spcBef>
              <a:buFont typeface="Wingdings" panose="05000000000000000000" pitchFamily="2" charset="2"/>
              <a:buNone/>
            </a:pPr>
            <a:r>
              <a:rPr lang="en-US" altLang="en-US" sz="2200" kern="0" dirty="0">
                <a:latin typeface="Times New Roman" panose="02020603050405020304" pitchFamily="18" charset="0"/>
                <a:ea typeface="黑体" panose="02010609060101010101" pitchFamily="49" charset="-122"/>
              </a:rPr>
              <a:t>	</a:t>
            </a:r>
            <a:endParaRPr lang="en-US" altLang="en-US" sz="2200" kern="0" dirty="0">
              <a:latin typeface="Times New Roman" panose="02020603050405020304" pitchFamily="18" charset="0"/>
              <a:ea typeface="黑体" panose="02010609060101010101" pitchFamily="49" charset="-122"/>
            </a:endParaRPr>
          </a:p>
        </p:txBody>
      </p:sp>
      <p:graphicFrame>
        <p:nvGraphicFramePr>
          <p:cNvPr id="39" name="Object 4"/>
          <p:cNvGraphicFramePr>
            <a:graphicFrameLocks noChangeAspect="1"/>
          </p:cNvGraphicFramePr>
          <p:nvPr/>
        </p:nvGraphicFramePr>
        <p:xfrm>
          <a:off x="8112224" y="5556283"/>
          <a:ext cx="1552205" cy="825045"/>
        </p:xfrm>
        <a:graphic>
          <a:graphicData uri="http://schemas.openxmlformats.org/presentationml/2006/ole">
            <mc:AlternateContent xmlns:mc="http://schemas.openxmlformats.org/markup-compatibility/2006">
              <mc:Choice xmlns:v="urn:schemas-microsoft-com:vml" Requires="v">
                <p:oleObj spid="_x0000_s151350" name="Equation" r:id="rId10" imgW="761365" imgH="406400" progId="Equation.DSMT4">
                  <p:embed/>
                </p:oleObj>
              </mc:Choice>
              <mc:Fallback>
                <p:oleObj name="Equation" r:id="rId10" imgW="761365" imgH="406400" progId="Equation.DSMT4">
                  <p:embed/>
                  <p:pic>
                    <p:nvPicPr>
                      <p:cNvPr id="0" name="Picture 75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12224" y="5556283"/>
                        <a:ext cx="1552205" cy="8250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3"/>
          <p:cNvGraphicFramePr>
            <a:graphicFrameLocks noChangeAspect="1"/>
          </p:cNvGraphicFramePr>
          <p:nvPr/>
        </p:nvGraphicFramePr>
        <p:xfrm>
          <a:off x="727705" y="2524698"/>
          <a:ext cx="7015281" cy="1836109"/>
        </p:xfrm>
        <a:graphic>
          <a:graphicData uri="http://schemas.openxmlformats.org/presentationml/2006/ole">
            <mc:AlternateContent xmlns:mc="http://schemas.openxmlformats.org/markup-compatibility/2006">
              <mc:Choice xmlns:v="urn:schemas-microsoft-com:vml" Requires="v">
                <p:oleObj spid="_x0000_s151351" name="Equation" r:id="rId12" imgW="3238500" imgH="850900" progId="Equation.DSMT4">
                  <p:embed/>
                </p:oleObj>
              </mc:Choice>
              <mc:Fallback>
                <p:oleObj name="Equation" r:id="rId12" imgW="3238500" imgH="850900" progId="Equation.DSMT4">
                  <p:embed/>
                  <p:pic>
                    <p:nvPicPr>
                      <p:cNvPr id="0" name="Picture 75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7705" y="2524698"/>
                        <a:ext cx="7015281" cy="18361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4"/>
          <p:cNvGraphicFramePr>
            <a:graphicFrameLocks noChangeAspect="1"/>
          </p:cNvGraphicFramePr>
          <p:nvPr/>
        </p:nvGraphicFramePr>
        <p:xfrm>
          <a:off x="727020" y="4316533"/>
          <a:ext cx="6848723" cy="2064795"/>
        </p:xfrm>
        <a:graphic>
          <a:graphicData uri="http://schemas.openxmlformats.org/presentationml/2006/ole">
            <mc:AlternateContent xmlns:mc="http://schemas.openxmlformats.org/markup-compatibility/2006">
              <mc:Choice xmlns:v="urn:schemas-microsoft-com:vml" Requires="v">
                <p:oleObj spid="_x0000_s151352" name="Equation" r:id="rId14" imgW="2984500" imgH="901700" progId="Equation.DSMT4">
                  <p:embed/>
                </p:oleObj>
              </mc:Choice>
              <mc:Fallback>
                <p:oleObj name="Equation" r:id="rId14" imgW="2984500" imgH="901700" progId="Equation.DSMT4">
                  <p:embed/>
                  <p:pic>
                    <p:nvPicPr>
                      <p:cNvPr id="0" name="Picture 76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7020" y="4316533"/>
                        <a:ext cx="6848723" cy="20647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5"/>
          <p:cNvGraphicFramePr>
            <a:graphicFrameLocks noChangeAspect="1"/>
          </p:cNvGraphicFramePr>
          <p:nvPr/>
        </p:nvGraphicFramePr>
        <p:xfrm>
          <a:off x="1706328" y="1685199"/>
          <a:ext cx="1870447" cy="739677"/>
        </p:xfrm>
        <a:graphic>
          <a:graphicData uri="http://schemas.openxmlformats.org/presentationml/2006/ole">
            <mc:AlternateContent xmlns:mc="http://schemas.openxmlformats.org/markup-compatibility/2006">
              <mc:Choice xmlns:v="urn:schemas-microsoft-com:vml" Requires="v">
                <p:oleObj spid="_x0000_s151353" name="Equation" r:id="rId16" imgW="927100" imgH="368300" progId="Equation.DSMT4">
                  <p:embed/>
                </p:oleObj>
              </mc:Choice>
              <mc:Fallback>
                <p:oleObj name="Equation" r:id="rId16" imgW="927100" imgH="368300" progId="Equation.DSMT4">
                  <p:embed/>
                  <p:pic>
                    <p:nvPicPr>
                      <p:cNvPr id="0" name="Picture 76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06328" y="1685199"/>
                        <a:ext cx="1870447" cy="7396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矩形 15"/>
          <p:cNvSpPr/>
          <p:nvPr/>
        </p:nvSpPr>
        <p:spPr>
          <a:xfrm>
            <a:off x="7245822" y="5721755"/>
            <a:ext cx="748923" cy="430887"/>
          </a:xfrm>
          <a:prstGeom prst="rect">
            <a:avLst/>
          </a:prstGeom>
        </p:spPr>
        <p:txBody>
          <a:bodyPr wrap="none">
            <a:spAutoFit/>
          </a:bodyPr>
          <a:lstStyle/>
          <a:p>
            <a:r>
              <a:rPr lang="zh-CN" altLang="en-US" sz="2200" kern="0" dirty="0">
                <a:latin typeface="Times New Roman" panose="02020603050405020304" pitchFamily="18" charset="0"/>
                <a:ea typeface="黑体" panose="02010609060101010101" pitchFamily="49" charset="-122"/>
              </a:rPr>
              <a:t>其中</a:t>
            </a:r>
            <a:endParaRPr lang="zh-CN" altLang="en-US" sz="2200" dirty="0">
              <a:latin typeface="Times New Roman" panose="02020603050405020304" pitchFamily="18" charset="0"/>
              <a:ea typeface="黑体" panose="02010609060101010101" pitchFamily="49"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2"/>
          <p:cNvSpPr txBox="1"/>
          <p:nvPr/>
        </p:nvSpPr>
        <p:spPr bwMode="gray">
          <a:xfrm>
            <a:off x="341462" y="3480110"/>
            <a:ext cx="11449272" cy="2613186"/>
          </a:xfrm>
          <a:prstGeom prst="rect">
            <a:avLst/>
          </a:prstGeom>
          <a:solidFill>
            <a:schemeClr val="accent6">
              <a:lumMod val="20000"/>
              <a:lumOff val="80000"/>
            </a:schemeClr>
          </a:solid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50000"/>
              </a:lnSpc>
              <a:spcBef>
                <a:spcPts val="0"/>
              </a:spcBef>
              <a:buFont typeface="Wingdings" panose="05000000000000000000" pitchFamily="2" charset="2"/>
              <a:buNone/>
            </a:pPr>
            <a:r>
              <a:rPr lang="zh-CN" altLang="en-US" sz="2200" kern="0" dirty="0">
                <a:latin typeface="Times New Roman" panose="02020603050405020304" pitchFamily="18" charset="0"/>
                <a:ea typeface="黑体" panose="02010609060101010101" pitchFamily="49" charset="-122"/>
              </a:rPr>
              <a:t>讨论：</a:t>
            </a:r>
            <a:endParaRPr lang="zh-CN" altLang="en-US" sz="2200" kern="0" dirty="0">
              <a:latin typeface="Times New Roman" panose="02020603050405020304" pitchFamily="18" charset="0"/>
              <a:ea typeface="黑体" panose="02010609060101010101" pitchFamily="49" charset="-122"/>
            </a:endParaRPr>
          </a:p>
          <a:p>
            <a:pPr>
              <a:lnSpc>
                <a:spcPct val="150000"/>
              </a:lnSpc>
              <a:spcBef>
                <a:spcPts val="600"/>
              </a:spcBef>
              <a:buClr>
                <a:schemeClr val="tx1"/>
              </a:buClr>
              <a:buFont typeface="Arial" panose="020B0604020202020204" pitchFamily="34" charset="0"/>
              <a:buChar char="•"/>
            </a:pPr>
            <a:r>
              <a:rPr lang="zh-CN" altLang="en-US" sz="2200" kern="0" dirty="0">
                <a:latin typeface="Times New Roman" panose="02020603050405020304" pitchFamily="18" charset="0"/>
                <a:ea typeface="黑体" panose="02010609060101010101" pitchFamily="49" charset="-122"/>
              </a:rPr>
              <a:t>            时，                ；                 时， </a:t>
            </a:r>
            <a:endParaRPr lang="zh-CN" altLang="en-US" sz="2200" kern="0" dirty="0">
              <a:latin typeface="Times New Roman" panose="02020603050405020304" pitchFamily="18" charset="0"/>
              <a:ea typeface="黑体" panose="02010609060101010101" pitchFamily="49" charset="-122"/>
            </a:endParaRPr>
          </a:p>
          <a:p>
            <a:pPr>
              <a:lnSpc>
                <a:spcPct val="150000"/>
              </a:lnSpc>
              <a:spcBef>
                <a:spcPts val="600"/>
              </a:spcBef>
              <a:buClr>
                <a:schemeClr val="tx1"/>
              </a:buClr>
              <a:buFont typeface="Arial" panose="020B0604020202020204" pitchFamily="34" charset="0"/>
              <a:buChar char="•"/>
            </a:pPr>
            <a:r>
              <a:rPr lang="zh-CN" altLang="en-US" sz="2200" kern="0" dirty="0">
                <a:solidFill>
                  <a:schemeClr val="accent6">
                    <a:lumMod val="50000"/>
                  </a:schemeClr>
                </a:solidFill>
                <a:latin typeface="Times New Roman" panose="02020603050405020304" pitchFamily="18" charset="0"/>
                <a:ea typeface="黑体" panose="02010609060101010101" pitchFamily="49" charset="-122"/>
              </a:rPr>
              <a:t>若               ， 则                （先验知识可靠，样本不起作用）</a:t>
            </a:r>
            <a:endParaRPr lang="zh-CN" altLang="en-US" sz="2200" kern="0" dirty="0">
              <a:solidFill>
                <a:schemeClr val="accent6">
                  <a:lumMod val="50000"/>
                </a:schemeClr>
              </a:solidFill>
              <a:latin typeface="Times New Roman" panose="02020603050405020304" pitchFamily="18" charset="0"/>
              <a:ea typeface="黑体" panose="02010609060101010101" pitchFamily="49" charset="-122"/>
            </a:endParaRPr>
          </a:p>
          <a:p>
            <a:pPr>
              <a:lnSpc>
                <a:spcPct val="150000"/>
              </a:lnSpc>
              <a:spcBef>
                <a:spcPts val="600"/>
              </a:spcBef>
              <a:buClr>
                <a:schemeClr val="tx1"/>
              </a:buClr>
              <a:buFont typeface="Arial" panose="020B0604020202020204" pitchFamily="34" charset="0"/>
              <a:buChar char="•"/>
            </a:pPr>
            <a:r>
              <a:rPr lang="zh-CN" altLang="en-US" sz="2200" kern="0" dirty="0">
                <a:latin typeface="Times New Roman" panose="02020603050405020304" pitchFamily="18" charset="0"/>
                <a:ea typeface="黑体" panose="02010609060101010101" pitchFamily="49" charset="-122"/>
              </a:rPr>
              <a:t>若                   ，则      </a:t>
            </a:r>
            <a:r>
              <a:rPr lang="en-US" altLang="zh-CN" sz="2200" kern="0" dirty="0">
                <a:latin typeface="Times New Roman" panose="02020603050405020304" pitchFamily="18" charset="0"/>
                <a:ea typeface="黑体" panose="02010609060101010101" pitchFamily="49" charset="-122"/>
              </a:rPr>
              <a:t>             </a:t>
            </a:r>
            <a:r>
              <a:rPr lang="zh-CN" altLang="en-US" sz="2200" kern="0" dirty="0">
                <a:latin typeface="Times New Roman" panose="02020603050405020304" pitchFamily="18" charset="0"/>
                <a:ea typeface="黑体" panose="02010609060101010101" pitchFamily="49" charset="-122"/>
              </a:rPr>
              <a:t>（先验知识十分不确定，完全依靠样本信息）</a:t>
            </a:r>
            <a:endParaRPr lang="zh-CN" altLang="en-US" sz="2200" kern="0"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14.6 </a:t>
            </a:r>
            <a:r>
              <a:rPr lang="zh-CN" altLang="zh-CN" dirty="0"/>
              <a:t>正态分布下的贝叶斯估计</a:t>
            </a:r>
            <a:endParaRPr lang="zh-CN" altLang="zh-CN" dirty="0"/>
          </a:p>
        </p:txBody>
      </p:sp>
      <p:sp>
        <p:nvSpPr>
          <p:cNvPr id="12" name="内容占位符 2"/>
          <p:cNvSpPr>
            <a:spLocks noGrp="1"/>
          </p:cNvSpPr>
          <p:nvPr>
            <p:ph idx="1"/>
          </p:nvPr>
        </p:nvSpPr>
        <p:spPr>
          <a:xfrm>
            <a:off x="335360" y="1161538"/>
            <a:ext cx="11737304" cy="480783"/>
          </a:xfrm>
        </p:spPr>
        <p:txBody>
          <a:bodyPr/>
          <a:lstStyle/>
          <a:p>
            <a:pPr marL="0" indent="0">
              <a:buNone/>
            </a:pPr>
            <a:r>
              <a:rPr lang="zh-CN" altLang="en-US" sz="2200" dirty="0">
                <a:latin typeface="Times New Roman" panose="02020603050405020304" pitchFamily="18" charset="0"/>
                <a:ea typeface="黑体" panose="02010609060101010101" pitchFamily="49" charset="-122"/>
              </a:rPr>
              <a:t>单变量正态分布                                    ，  已知       ，估计     。假设先验分布                               。 </a:t>
            </a:r>
            <a:endParaRPr lang="zh-CN" altLang="en-US" sz="2200" dirty="0">
              <a:latin typeface="Times New Roman" panose="02020603050405020304" pitchFamily="18" charset="0"/>
              <a:ea typeface="黑体" panose="02010609060101010101" pitchFamily="49" charset="-122"/>
            </a:endParaRPr>
          </a:p>
        </p:txBody>
      </p:sp>
      <p:graphicFrame>
        <p:nvGraphicFramePr>
          <p:cNvPr id="13" name="对象 12"/>
          <p:cNvGraphicFramePr>
            <a:graphicFrameLocks noChangeAspect="1"/>
          </p:cNvGraphicFramePr>
          <p:nvPr/>
        </p:nvGraphicFramePr>
        <p:xfrm>
          <a:off x="2351584" y="1122630"/>
          <a:ext cx="2520280" cy="468889"/>
        </p:xfrm>
        <a:graphic>
          <a:graphicData uri="http://schemas.openxmlformats.org/presentationml/2006/ole">
            <mc:AlternateContent xmlns:mc="http://schemas.openxmlformats.org/markup-compatibility/2006">
              <mc:Choice xmlns:v="urn:schemas-microsoft-com:vml" Requires="v">
                <p:oleObj spid="_x0000_s174558" name="Equation" r:id="rId2" imgW="1270000" imgH="228600" progId="Equation.DSMT4">
                  <p:embed/>
                </p:oleObj>
              </mc:Choice>
              <mc:Fallback>
                <p:oleObj name="Equation" r:id="rId2" imgW="1270000" imgH="228600" progId="Equation.DSMT4">
                  <p:embed/>
                  <p:pic>
                    <p:nvPicPr>
                      <p:cNvPr id="0" name="Picture 138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584" y="1122630"/>
                        <a:ext cx="2520280" cy="4688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nvGraphicFramePr>
        <p:xfrm>
          <a:off x="5932402" y="1140477"/>
          <a:ext cx="368996" cy="368996"/>
        </p:xfrm>
        <a:graphic>
          <a:graphicData uri="http://schemas.openxmlformats.org/presentationml/2006/ole">
            <mc:AlternateContent xmlns:mc="http://schemas.openxmlformats.org/markup-compatibility/2006">
              <mc:Choice xmlns:v="urn:schemas-microsoft-com:vml" Requires="v">
                <p:oleObj spid="_x0000_s174559" name="Equation" r:id="rId4" imgW="215900" imgH="203200" progId="Equation.DSMT4">
                  <p:embed/>
                </p:oleObj>
              </mc:Choice>
              <mc:Fallback>
                <p:oleObj name="Equation" r:id="rId4" imgW="215900" imgH="203200" progId="Equation.DSMT4">
                  <p:embed/>
                  <p:pic>
                    <p:nvPicPr>
                      <p:cNvPr id="0" name="Picture 138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2402" y="1140477"/>
                        <a:ext cx="368996" cy="3689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nvGraphicFramePr>
        <p:xfrm>
          <a:off x="7245822" y="1236544"/>
          <a:ext cx="290338" cy="301505"/>
        </p:xfrm>
        <a:graphic>
          <a:graphicData uri="http://schemas.openxmlformats.org/presentationml/2006/ole">
            <mc:AlternateContent xmlns:mc="http://schemas.openxmlformats.org/markup-compatibility/2006">
              <mc:Choice xmlns:v="urn:schemas-microsoft-com:vml" Requires="v">
                <p:oleObj spid="_x0000_s174560" name="Equation" r:id="rId6" imgW="152400" imgH="165100" progId="Equation.DSMT4">
                  <p:embed/>
                </p:oleObj>
              </mc:Choice>
              <mc:Fallback>
                <p:oleObj name="Equation" r:id="rId6" imgW="152400" imgH="165100" progId="Equation.DSMT4">
                  <p:embed/>
                  <p:pic>
                    <p:nvPicPr>
                      <p:cNvPr id="0" name="Picture 138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45822" y="1236544"/>
                        <a:ext cx="290338" cy="3015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nvGraphicFramePr>
        <p:xfrm>
          <a:off x="9480376" y="1110780"/>
          <a:ext cx="2147802" cy="449540"/>
        </p:xfrm>
        <a:graphic>
          <a:graphicData uri="http://schemas.openxmlformats.org/presentationml/2006/ole">
            <mc:AlternateContent xmlns:mc="http://schemas.openxmlformats.org/markup-compatibility/2006">
              <mc:Choice xmlns:v="urn:schemas-microsoft-com:vml" Requires="v">
                <p:oleObj spid="_x0000_s174561" name="Equation" r:id="rId8" imgW="1155700" imgH="241300" progId="Equation.DSMT4">
                  <p:embed/>
                </p:oleObj>
              </mc:Choice>
              <mc:Fallback>
                <p:oleObj name="Equation" r:id="rId8" imgW="1155700" imgH="241300" progId="Equation.DSMT4">
                  <p:embed/>
                  <p:pic>
                    <p:nvPicPr>
                      <p:cNvPr id="0" name="Picture 138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80376" y="1110780"/>
                        <a:ext cx="2147802" cy="4495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nvGraphicFramePr>
        <p:xfrm>
          <a:off x="3407396" y="1864407"/>
          <a:ext cx="3838426" cy="817709"/>
        </p:xfrm>
        <a:graphic>
          <a:graphicData uri="http://schemas.openxmlformats.org/presentationml/2006/ole">
            <mc:AlternateContent xmlns:mc="http://schemas.openxmlformats.org/markup-compatibility/2006">
              <mc:Choice xmlns:v="urn:schemas-microsoft-com:vml" Requires="v">
                <p:oleObj spid="_x0000_s174562" name="Equation" r:id="rId10" imgW="2057400" imgH="457200" progId="Equation.DSMT4">
                  <p:embed/>
                </p:oleObj>
              </mc:Choice>
              <mc:Fallback>
                <p:oleObj name="Equation" r:id="rId10" imgW="2057400" imgH="457200" progId="Equation.DSMT4">
                  <p:embed/>
                  <p:pic>
                    <p:nvPicPr>
                      <p:cNvPr id="0" name="Picture 138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07396" y="1864407"/>
                        <a:ext cx="3838426" cy="817709"/>
                      </a:xfrm>
                      <a:prstGeom prst="rect">
                        <a:avLst/>
                      </a:prstGeom>
                      <a:solidFill>
                        <a:srgbClr val="FFFF00"/>
                      </a:solidFill>
                    </p:spPr>
                  </p:pic>
                </p:oleObj>
              </mc:Fallback>
            </mc:AlternateContent>
          </a:graphicData>
        </a:graphic>
      </p:graphicFrame>
      <p:graphicFrame>
        <p:nvGraphicFramePr>
          <p:cNvPr id="19" name="对象 18"/>
          <p:cNvGraphicFramePr>
            <a:graphicFrameLocks noChangeAspect="1"/>
          </p:cNvGraphicFramePr>
          <p:nvPr/>
        </p:nvGraphicFramePr>
        <p:xfrm>
          <a:off x="9120336" y="1915210"/>
          <a:ext cx="1584176" cy="724786"/>
        </p:xfrm>
        <a:graphic>
          <a:graphicData uri="http://schemas.openxmlformats.org/presentationml/2006/ole">
            <mc:AlternateContent xmlns:mc="http://schemas.openxmlformats.org/markup-compatibility/2006">
              <mc:Choice xmlns:v="urn:schemas-microsoft-com:vml" Requires="v">
                <p:oleObj spid="_x0000_s174563" name="Equation" r:id="rId12" imgW="939165" imgH="431800" progId="Equation.DSMT4">
                  <p:embed/>
                </p:oleObj>
              </mc:Choice>
              <mc:Fallback>
                <p:oleObj name="Equation" r:id="rId12" imgW="939165" imgH="431800" progId="Equation.DSMT4">
                  <p:embed/>
                  <p:pic>
                    <p:nvPicPr>
                      <p:cNvPr id="0" name="Picture 138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120336" y="1915210"/>
                        <a:ext cx="1584176" cy="7247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对象 25"/>
          <p:cNvGraphicFramePr>
            <a:graphicFrameLocks noChangeAspect="1"/>
          </p:cNvGraphicFramePr>
          <p:nvPr/>
        </p:nvGraphicFramePr>
        <p:xfrm>
          <a:off x="698495" y="4163761"/>
          <a:ext cx="825074" cy="366351"/>
        </p:xfrm>
        <a:graphic>
          <a:graphicData uri="http://schemas.openxmlformats.org/presentationml/2006/ole">
            <mc:AlternateContent xmlns:mc="http://schemas.openxmlformats.org/markup-compatibility/2006">
              <mc:Choice xmlns:v="urn:schemas-microsoft-com:vml" Requires="v">
                <p:oleObj spid="_x0000_s174564" name="Equation" r:id="rId14" imgW="393065" imgH="177800" progId="Equation.DSMT4">
                  <p:embed/>
                </p:oleObj>
              </mc:Choice>
              <mc:Fallback>
                <p:oleObj name="Equation" r:id="rId14" imgW="393065" imgH="177800" progId="Equation.DSMT4">
                  <p:embed/>
                  <p:pic>
                    <p:nvPicPr>
                      <p:cNvPr id="0" name="Picture 138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98495" y="4163761"/>
                        <a:ext cx="825074" cy="3663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对象 26"/>
          <p:cNvGraphicFramePr>
            <a:graphicFrameLocks noChangeAspect="1"/>
          </p:cNvGraphicFramePr>
          <p:nvPr/>
        </p:nvGraphicFramePr>
        <p:xfrm>
          <a:off x="2185729" y="4097402"/>
          <a:ext cx="1080120" cy="548368"/>
        </p:xfrm>
        <a:graphic>
          <a:graphicData uri="http://schemas.openxmlformats.org/presentationml/2006/ole">
            <mc:AlternateContent xmlns:mc="http://schemas.openxmlformats.org/markup-compatibility/2006">
              <mc:Choice xmlns:v="urn:schemas-microsoft-com:vml" Requires="v">
                <p:oleObj spid="_x0000_s174565" name="Equation" r:id="rId16" imgW="457200" imgH="228600" progId="Equation.DSMT4">
                  <p:embed/>
                </p:oleObj>
              </mc:Choice>
              <mc:Fallback>
                <p:oleObj name="Equation" r:id="rId16" imgW="457200" imgH="228600" progId="Equation.DSMT4">
                  <p:embed/>
                  <p:pic>
                    <p:nvPicPr>
                      <p:cNvPr id="0" name="Picture 138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85729" y="4097402"/>
                        <a:ext cx="1080120" cy="5483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对象 27"/>
          <p:cNvGraphicFramePr>
            <a:graphicFrameLocks noChangeAspect="1"/>
          </p:cNvGraphicFramePr>
          <p:nvPr/>
        </p:nvGraphicFramePr>
        <p:xfrm>
          <a:off x="5209657" y="4094908"/>
          <a:ext cx="1212885" cy="504056"/>
        </p:xfrm>
        <a:graphic>
          <a:graphicData uri="http://schemas.openxmlformats.org/presentationml/2006/ole">
            <mc:AlternateContent xmlns:mc="http://schemas.openxmlformats.org/markup-compatibility/2006">
              <mc:Choice xmlns:v="urn:schemas-microsoft-com:vml" Requires="v">
                <p:oleObj spid="_x0000_s174566" name="Equation" r:id="rId18" imgW="558800" imgH="228600" progId="Equation.DSMT4">
                  <p:embed/>
                </p:oleObj>
              </mc:Choice>
              <mc:Fallback>
                <p:oleObj name="Equation" r:id="rId18" imgW="558800" imgH="228600" progId="Equation.DSMT4">
                  <p:embed/>
                  <p:pic>
                    <p:nvPicPr>
                      <p:cNvPr id="0" name="Picture 139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09657" y="4094908"/>
                        <a:ext cx="1212885"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对象 28"/>
          <p:cNvGraphicFramePr>
            <a:graphicFrameLocks noChangeAspect="1"/>
          </p:cNvGraphicFramePr>
          <p:nvPr/>
        </p:nvGraphicFramePr>
        <p:xfrm>
          <a:off x="1142222" y="4706800"/>
          <a:ext cx="954087" cy="519112"/>
        </p:xfrm>
        <a:graphic>
          <a:graphicData uri="http://schemas.openxmlformats.org/presentationml/2006/ole">
            <mc:AlternateContent xmlns:mc="http://schemas.openxmlformats.org/markup-compatibility/2006">
              <mc:Choice xmlns:v="urn:schemas-microsoft-com:vml" Requires="v">
                <p:oleObj spid="_x0000_s174567" name="Equation" r:id="rId20" imgW="444500" imgH="241300" progId="Equation.DSMT4">
                  <p:embed/>
                </p:oleObj>
              </mc:Choice>
              <mc:Fallback>
                <p:oleObj name="Equation" r:id="rId20" imgW="444500" imgH="241300" progId="Equation.DSMT4">
                  <p:embed/>
                  <p:pic>
                    <p:nvPicPr>
                      <p:cNvPr id="0" name="Picture 139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42222" y="4706800"/>
                        <a:ext cx="954087" cy="519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对象 29"/>
          <p:cNvGraphicFramePr>
            <a:graphicFrameLocks noChangeAspect="1"/>
          </p:cNvGraphicFramePr>
          <p:nvPr/>
        </p:nvGraphicFramePr>
        <p:xfrm>
          <a:off x="2820955" y="4669487"/>
          <a:ext cx="1080120" cy="556425"/>
        </p:xfrm>
        <a:graphic>
          <a:graphicData uri="http://schemas.openxmlformats.org/presentationml/2006/ole">
            <mc:AlternateContent xmlns:mc="http://schemas.openxmlformats.org/markup-compatibility/2006">
              <mc:Choice xmlns:v="urn:schemas-microsoft-com:vml" Requires="v">
                <p:oleObj spid="_x0000_s174568" name="Equation" r:id="rId22" imgW="457200" imgH="228600" progId="Equation.DSMT4">
                  <p:embed/>
                </p:oleObj>
              </mc:Choice>
              <mc:Fallback>
                <p:oleObj name="Equation" r:id="rId22" imgW="457200" imgH="228600" progId="Equation.DSMT4">
                  <p:embed/>
                  <p:pic>
                    <p:nvPicPr>
                      <p:cNvPr id="0" name="Picture 139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820955" y="4669487"/>
                        <a:ext cx="1080120" cy="55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对象 30"/>
          <p:cNvGraphicFramePr>
            <a:graphicFrameLocks noChangeAspect="1"/>
          </p:cNvGraphicFramePr>
          <p:nvPr/>
        </p:nvGraphicFramePr>
        <p:xfrm>
          <a:off x="1142222" y="5287954"/>
          <a:ext cx="1230490" cy="504056"/>
        </p:xfrm>
        <a:graphic>
          <a:graphicData uri="http://schemas.openxmlformats.org/presentationml/2006/ole">
            <mc:AlternateContent xmlns:mc="http://schemas.openxmlformats.org/markup-compatibility/2006">
              <mc:Choice xmlns:v="urn:schemas-microsoft-com:vml" Requires="v">
                <p:oleObj spid="_x0000_s174569" name="Equation" r:id="rId24" imgW="571500" imgH="228600" progId="Equation.DSMT4">
                  <p:embed/>
                </p:oleObj>
              </mc:Choice>
              <mc:Fallback>
                <p:oleObj name="Equation" r:id="rId24" imgW="571500" imgH="228600" progId="Equation.DSMT4">
                  <p:embed/>
                  <p:pic>
                    <p:nvPicPr>
                      <p:cNvPr id="0" name="Picture 139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142222" y="5287954"/>
                        <a:ext cx="1230490"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对象 31"/>
          <p:cNvGraphicFramePr>
            <a:graphicFrameLocks noChangeAspect="1"/>
          </p:cNvGraphicFramePr>
          <p:nvPr/>
        </p:nvGraphicFramePr>
        <p:xfrm>
          <a:off x="3173472" y="5306289"/>
          <a:ext cx="1152129" cy="523695"/>
        </p:xfrm>
        <a:graphic>
          <a:graphicData uri="http://schemas.openxmlformats.org/presentationml/2006/ole">
            <mc:AlternateContent xmlns:mc="http://schemas.openxmlformats.org/markup-compatibility/2006">
              <mc:Choice xmlns:v="urn:schemas-microsoft-com:vml" Requires="v">
                <p:oleObj spid="_x0000_s174570" name="Equation" r:id="rId26" imgW="508000" imgH="228600" progId="Equation.DSMT4">
                  <p:embed/>
                </p:oleObj>
              </mc:Choice>
              <mc:Fallback>
                <p:oleObj name="Equation" r:id="rId26" imgW="508000" imgH="228600" progId="Equation.DSMT4">
                  <p:embed/>
                  <p:pic>
                    <p:nvPicPr>
                      <p:cNvPr id="0" name="Picture 139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173472" y="5306289"/>
                        <a:ext cx="1152129" cy="5236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对象 32"/>
          <p:cNvGraphicFramePr>
            <a:graphicFrameLocks noChangeAspect="1"/>
          </p:cNvGraphicFramePr>
          <p:nvPr/>
        </p:nvGraphicFramePr>
        <p:xfrm>
          <a:off x="3627426" y="4146341"/>
          <a:ext cx="1094461" cy="383772"/>
        </p:xfrm>
        <a:graphic>
          <a:graphicData uri="http://schemas.openxmlformats.org/presentationml/2006/ole">
            <mc:AlternateContent xmlns:mc="http://schemas.openxmlformats.org/markup-compatibility/2006">
              <mc:Choice xmlns:v="urn:schemas-microsoft-com:vml" Requires="v">
                <p:oleObj spid="_x0000_s174571" name="Equation" r:id="rId28" imgW="508000" imgH="177800" progId="Equation.DSMT4">
                  <p:embed/>
                </p:oleObj>
              </mc:Choice>
              <mc:Fallback>
                <p:oleObj name="Equation" r:id="rId28" imgW="508000" imgH="177800" progId="Equation.DSMT4">
                  <p:embed/>
                  <p:pic>
                    <p:nvPicPr>
                      <p:cNvPr id="0" name="Picture 139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627426" y="4146341"/>
                        <a:ext cx="1094461" cy="3837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Object 310"/>
          <p:cNvGraphicFramePr>
            <a:graphicFrameLocks noChangeAspect="1"/>
          </p:cNvGraphicFramePr>
          <p:nvPr/>
        </p:nvGraphicFramePr>
        <p:xfrm>
          <a:off x="1932261" y="2002360"/>
          <a:ext cx="300038" cy="490538"/>
        </p:xfrm>
        <a:graphic>
          <a:graphicData uri="http://schemas.openxmlformats.org/presentationml/2006/ole">
            <mc:AlternateContent xmlns:mc="http://schemas.openxmlformats.org/markup-compatibility/2006">
              <mc:Choice xmlns:v="urn:schemas-microsoft-com:vml" Requires="v">
                <p:oleObj spid="_x0000_s174572" name="Equation" r:id="rId30" imgW="127000" imgH="215265" progId="Equation.DSMT4">
                  <p:embed/>
                </p:oleObj>
              </mc:Choice>
              <mc:Fallback>
                <p:oleObj name="Equation" r:id="rId30" imgW="127000" imgH="215265" progId="Equation.DSMT4">
                  <p:embed/>
                  <p:pic>
                    <p:nvPicPr>
                      <p:cNvPr id="0" name="Picture 139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932261" y="2002360"/>
                        <a:ext cx="300038" cy="490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5" name="直接箭头连接符 34"/>
          <p:cNvCxnSpPr/>
          <p:nvPr/>
        </p:nvCxnSpPr>
        <p:spPr>
          <a:xfrm>
            <a:off x="2473387" y="2282589"/>
            <a:ext cx="532173"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8358043" y="2117414"/>
            <a:ext cx="748923" cy="430887"/>
          </a:xfrm>
          <a:prstGeom prst="rect">
            <a:avLst/>
          </a:prstGeom>
        </p:spPr>
        <p:txBody>
          <a:bodyPr wrap="none">
            <a:spAutoFit/>
          </a:bodyPr>
          <a:lstStyle/>
          <a:p>
            <a:r>
              <a:rPr lang="zh-CN" altLang="en-US" sz="2200" kern="0" dirty="0">
                <a:latin typeface="Times New Roman" panose="02020603050405020304" pitchFamily="18" charset="0"/>
                <a:ea typeface="黑体" panose="02010609060101010101" pitchFamily="49" charset="-122"/>
              </a:rPr>
              <a:t>其中</a:t>
            </a:r>
            <a:endParaRPr lang="zh-CN" altLang="en-US" sz="2200" dirty="0">
              <a:latin typeface="Times New Roman" panose="02020603050405020304" pitchFamily="18" charset="0"/>
              <a:ea typeface="黑体" panose="02010609060101010101" pitchFamily="49" charset="-122"/>
            </a:endParaRPr>
          </a:p>
        </p:txBody>
      </p:sp>
      <p:sp>
        <p:nvSpPr>
          <p:cNvPr id="5" name="矩形 4"/>
          <p:cNvSpPr/>
          <p:nvPr/>
        </p:nvSpPr>
        <p:spPr>
          <a:xfrm>
            <a:off x="7106168" y="2914747"/>
            <a:ext cx="4748416" cy="430887"/>
          </a:xfrm>
          <a:prstGeom prst="rect">
            <a:avLst/>
          </a:prstGeom>
        </p:spPr>
        <p:txBody>
          <a:bodyPr wrap="none">
            <a:spAutoFit/>
          </a:bodyPr>
          <a:lstStyle/>
          <a:p>
            <a:r>
              <a:rPr lang="en-US" altLang="zh-CN" sz="2200" b="1" kern="0" dirty="0">
                <a:solidFill>
                  <a:srgbClr val="FF0000"/>
                </a:solidFill>
                <a:latin typeface="Times New Roman" panose="02020603050405020304" pitchFamily="18" charset="0"/>
                <a:ea typeface="黑体" panose="02010609060101010101" pitchFamily="49" charset="-122"/>
              </a:rPr>
              <a:t>-----  </a:t>
            </a:r>
            <a:r>
              <a:rPr lang="zh-CN" altLang="en-US" sz="2200" b="1" kern="0" dirty="0">
                <a:solidFill>
                  <a:srgbClr val="FF0000"/>
                </a:solidFill>
                <a:latin typeface="Times New Roman" panose="02020603050405020304" pitchFamily="18" charset="0"/>
                <a:ea typeface="黑体" panose="02010609060101010101" pitchFamily="49" charset="-122"/>
              </a:rPr>
              <a:t>样本信息与先验知识的线性组合</a:t>
            </a:r>
            <a:endParaRPr lang="zh-CN" altLang="en-US" sz="2200" b="1" dirty="0">
              <a:solidFill>
                <a:srgbClr val="FF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14.6 </a:t>
            </a:r>
            <a:r>
              <a:rPr lang="zh-CN" altLang="zh-CN" dirty="0"/>
              <a:t>正态分布下的贝叶斯估计</a:t>
            </a:r>
            <a:endParaRPr lang="zh-CN" altLang="zh-CN" dirty="0"/>
          </a:p>
        </p:txBody>
      </p:sp>
      <p:sp>
        <p:nvSpPr>
          <p:cNvPr id="12" name="内容占位符 2"/>
          <p:cNvSpPr>
            <a:spLocks noGrp="1"/>
          </p:cNvSpPr>
          <p:nvPr>
            <p:ph idx="1"/>
          </p:nvPr>
        </p:nvSpPr>
        <p:spPr>
          <a:xfrm>
            <a:off x="274763" y="1607550"/>
            <a:ext cx="11737304" cy="480783"/>
          </a:xfrm>
        </p:spPr>
        <p:txBody>
          <a:bodyPr/>
          <a:lstStyle/>
          <a:p>
            <a:pPr marL="0" indent="0">
              <a:buNone/>
            </a:pPr>
            <a:r>
              <a:rPr lang="zh-CN" altLang="en-US" sz="2200" dirty="0">
                <a:latin typeface="Times New Roman" panose="02020603050405020304" pitchFamily="18" charset="0"/>
                <a:ea typeface="黑体" panose="02010609060101010101" pitchFamily="49" charset="-122"/>
              </a:rPr>
              <a:t>单变量正态分布                                    ，  已知       ，估计     。假设先验分布                               。 </a:t>
            </a:r>
            <a:endParaRPr lang="zh-CN" altLang="en-US" sz="2200" dirty="0">
              <a:latin typeface="Times New Roman" panose="02020603050405020304" pitchFamily="18" charset="0"/>
              <a:ea typeface="黑体" panose="02010609060101010101" pitchFamily="49" charset="-122"/>
            </a:endParaRPr>
          </a:p>
        </p:txBody>
      </p:sp>
      <p:graphicFrame>
        <p:nvGraphicFramePr>
          <p:cNvPr id="13" name="对象 12"/>
          <p:cNvGraphicFramePr>
            <a:graphicFrameLocks noChangeAspect="1"/>
          </p:cNvGraphicFramePr>
          <p:nvPr/>
        </p:nvGraphicFramePr>
        <p:xfrm>
          <a:off x="2290987" y="1568642"/>
          <a:ext cx="2520280" cy="468889"/>
        </p:xfrm>
        <a:graphic>
          <a:graphicData uri="http://schemas.openxmlformats.org/presentationml/2006/ole">
            <mc:AlternateContent xmlns:mc="http://schemas.openxmlformats.org/markup-compatibility/2006">
              <mc:Choice xmlns:v="urn:schemas-microsoft-com:vml" Requires="v">
                <p:oleObj spid="_x0000_s152498" name="Equation" r:id="rId2" imgW="1270000" imgH="228600" progId="Equation.DSMT4">
                  <p:embed/>
                </p:oleObj>
              </mc:Choice>
              <mc:Fallback>
                <p:oleObj name="Equation" r:id="rId2" imgW="1270000" imgH="228600" progId="Equation.DSMT4">
                  <p:embed/>
                  <p:pic>
                    <p:nvPicPr>
                      <p:cNvPr id="0" name="Picture 86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987" y="1568642"/>
                        <a:ext cx="2520280" cy="4688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nvGraphicFramePr>
        <p:xfrm>
          <a:off x="5871805" y="1586489"/>
          <a:ext cx="368996" cy="368996"/>
        </p:xfrm>
        <a:graphic>
          <a:graphicData uri="http://schemas.openxmlformats.org/presentationml/2006/ole">
            <mc:AlternateContent xmlns:mc="http://schemas.openxmlformats.org/markup-compatibility/2006">
              <mc:Choice xmlns:v="urn:schemas-microsoft-com:vml" Requires="v">
                <p:oleObj spid="_x0000_s152499" name="Equation" r:id="rId4" imgW="215900" imgH="203200" progId="Equation.DSMT4">
                  <p:embed/>
                </p:oleObj>
              </mc:Choice>
              <mc:Fallback>
                <p:oleObj name="Equation" r:id="rId4" imgW="215900" imgH="203200" progId="Equation.DSMT4">
                  <p:embed/>
                  <p:pic>
                    <p:nvPicPr>
                      <p:cNvPr id="0" name="Picture 86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1805" y="1586489"/>
                        <a:ext cx="368996" cy="3689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nvGraphicFramePr>
        <p:xfrm>
          <a:off x="7185225" y="1682556"/>
          <a:ext cx="290338" cy="301505"/>
        </p:xfrm>
        <a:graphic>
          <a:graphicData uri="http://schemas.openxmlformats.org/presentationml/2006/ole">
            <mc:AlternateContent xmlns:mc="http://schemas.openxmlformats.org/markup-compatibility/2006">
              <mc:Choice xmlns:v="urn:schemas-microsoft-com:vml" Requires="v">
                <p:oleObj spid="_x0000_s152500" name="Equation" r:id="rId6" imgW="152400" imgH="165100" progId="Equation.DSMT4">
                  <p:embed/>
                </p:oleObj>
              </mc:Choice>
              <mc:Fallback>
                <p:oleObj name="Equation" r:id="rId6" imgW="152400" imgH="165100" progId="Equation.DSMT4">
                  <p:embed/>
                  <p:pic>
                    <p:nvPicPr>
                      <p:cNvPr id="0" name="Picture 86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85225" y="1682556"/>
                        <a:ext cx="290338" cy="3015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nvGraphicFramePr>
        <p:xfrm>
          <a:off x="9419779" y="1556792"/>
          <a:ext cx="2147802" cy="449540"/>
        </p:xfrm>
        <a:graphic>
          <a:graphicData uri="http://schemas.openxmlformats.org/presentationml/2006/ole">
            <mc:AlternateContent xmlns:mc="http://schemas.openxmlformats.org/markup-compatibility/2006">
              <mc:Choice xmlns:v="urn:schemas-microsoft-com:vml" Requires="v">
                <p:oleObj spid="_x0000_s152501" name="Equation" r:id="rId8" imgW="1155700" imgH="241300" progId="Equation.DSMT4">
                  <p:embed/>
                </p:oleObj>
              </mc:Choice>
              <mc:Fallback>
                <p:oleObj name="Equation" r:id="rId8" imgW="1155700" imgH="241300" progId="Equation.DSMT4">
                  <p:embed/>
                  <p:pic>
                    <p:nvPicPr>
                      <p:cNvPr id="0" name="Picture 86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19779" y="1556792"/>
                        <a:ext cx="2147802" cy="4495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 Box 3"/>
          <p:cNvSpPr txBox="1">
            <a:spLocks noChangeArrowheads="1"/>
          </p:cNvSpPr>
          <p:nvPr/>
        </p:nvSpPr>
        <p:spPr bwMode="auto">
          <a:xfrm>
            <a:off x="365657" y="2555973"/>
            <a:ext cx="11551219" cy="925253"/>
          </a:xfrm>
          <a:prstGeom prst="rect">
            <a:avLst/>
          </a:prstGeom>
          <a:noFill/>
          <a:ln w="9525">
            <a:noFill/>
            <a:miter lim="800000"/>
          </a:ln>
          <a:effectLst/>
        </p:spPr>
        <p:txBody>
          <a:bodyPr wrap="square">
            <a:spAutoFit/>
          </a:bodyPr>
          <a:lstStyle/>
          <a:p>
            <a:pPr algn="l">
              <a:lnSpc>
                <a:spcPct val="130000"/>
              </a:lnSpc>
              <a:spcBef>
                <a:spcPts val="600"/>
              </a:spcBef>
            </a:pPr>
            <a:r>
              <a:rPr kumimoji="1" lang="en-US" altLang="zh-CN" sz="2200" dirty="0">
                <a:latin typeface="Times New Roman" panose="02020603050405020304" pitchFamily="18" charset="0"/>
                <a:ea typeface="黑体" panose="02010609060101010101" pitchFamily="49" charset="-122"/>
              </a:rPr>
              <a:t>Bayes </a:t>
            </a:r>
            <a:r>
              <a:rPr kumimoji="1" lang="zh-CN" altLang="en-US" sz="2200" dirty="0">
                <a:latin typeface="Times New Roman" panose="02020603050405020304" pitchFamily="18" charset="0"/>
                <a:ea typeface="黑体" panose="02010609060101010101" pitchFamily="49" charset="-122"/>
              </a:rPr>
              <a:t>学习是利用     的先验分布及样本提供的信息求出    的后验分布               ，然后直接求总体分布。</a:t>
            </a:r>
            <a:endParaRPr kumimoji="1" lang="zh-CN" altLang="en-US" sz="2200" dirty="0">
              <a:latin typeface="Times New Roman" panose="02020603050405020304" pitchFamily="18" charset="0"/>
              <a:ea typeface="黑体" panose="02010609060101010101" pitchFamily="49" charset="-122"/>
            </a:endParaRPr>
          </a:p>
        </p:txBody>
      </p:sp>
      <p:graphicFrame>
        <p:nvGraphicFramePr>
          <p:cNvPr id="19" name="Object 4"/>
          <p:cNvGraphicFramePr>
            <a:graphicFrameLocks noChangeAspect="1"/>
          </p:cNvGraphicFramePr>
          <p:nvPr/>
        </p:nvGraphicFramePr>
        <p:xfrm>
          <a:off x="8904312" y="2584549"/>
          <a:ext cx="978718" cy="489993"/>
        </p:xfrm>
        <a:graphic>
          <a:graphicData uri="http://schemas.openxmlformats.org/presentationml/2006/ole">
            <mc:AlternateContent xmlns:mc="http://schemas.openxmlformats.org/markup-compatibility/2006">
              <mc:Choice xmlns:v="urn:schemas-microsoft-com:vml" Requires="v">
                <p:oleObj spid="_x0000_s152502" name="Equation" r:id="rId10" imgW="431800" imgH="215900" progId="Equation.DSMT4">
                  <p:embed/>
                </p:oleObj>
              </mc:Choice>
              <mc:Fallback>
                <p:oleObj name="Equation" r:id="rId10" imgW="431800" imgH="215900" progId="Equation.DSMT4">
                  <p:embed/>
                  <p:pic>
                    <p:nvPicPr>
                      <p:cNvPr id="0" name="Picture 86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04312" y="2584549"/>
                        <a:ext cx="978718" cy="4899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5"/>
          <p:cNvGraphicFramePr>
            <a:graphicFrameLocks noChangeAspect="1"/>
          </p:cNvGraphicFramePr>
          <p:nvPr/>
        </p:nvGraphicFramePr>
        <p:xfrm>
          <a:off x="7148343" y="2688429"/>
          <a:ext cx="250978" cy="327361"/>
        </p:xfrm>
        <a:graphic>
          <a:graphicData uri="http://schemas.openxmlformats.org/presentationml/2006/ole">
            <mc:AlternateContent xmlns:mc="http://schemas.openxmlformats.org/markup-compatibility/2006">
              <mc:Choice xmlns:v="urn:schemas-microsoft-com:vml" Requires="v">
                <p:oleObj spid="_x0000_s152503" name="Equation" r:id="rId12" imgW="127000" imgH="165100" progId="Equation.DSMT4">
                  <p:embed/>
                </p:oleObj>
              </mc:Choice>
              <mc:Fallback>
                <p:oleObj name="Equation" r:id="rId12" imgW="127000" imgH="165100" progId="Equation.DSMT4">
                  <p:embed/>
                  <p:pic>
                    <p:nvPicPr>
                      <p:cNvPr id="0" name="Picture 87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48343" y="2688429"/>
                        <a:ext cx="250978" cy="327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6"/>
          <p:cNvGraphicFramePr>
            <a:graphicFrameLocks noChangeAspect="1"/>
          </p:cNvGraphicFramePr>
          <p:nvPr/>
        </p:nvGraphicFramePr>
        <p:xfrm>
          <a:off x="2649643" y="2649439"/>
          <a:ext cx="285851" cy="372848"/>
        </p:xfrm>
        <a:graphic>
          <a:graphicData uri="http://schemas.openxmlformats.org/presentationml/2006/ole">
            <mc:AlternateContent xmlns:mc="http://schemas.openxmlformats.org/markup-compatibility/2006">
              <mc:Choice xmlns:v="urn:schemas-microsoft-com:vml" Requires="v">
                <p:oleObj spid="_x0000_s152504" name="Equation" r:id="rId14" imgW="127000" imgH="165100" progId="Equation.DSMT4">
                  <p:embed/>
                </p:oleObj>
              </mc:Choice>
              <mc:Fallback>
                <p:oleObj name="Equation" r:id="rId14" imgW="127000" imgH="165100" progId="Equation.DSMT4">
                  <p:embed/>
                  <p:pic>
                    <p:nvPicPr>
                      <p:cNvPr id="0" name="Picture 87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49643" y="2649439"/>
                        <a:ext cx="285851" cy="3728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7"/>
          <p:cNvGraphicFramePr>
            <a:graphicFrameLocks noChangeAspect="1"/>
          </p:cNvGraphicFramePr>
          <p:nvPr/>
        </p:nvGraphicFramePr>
        <p:xfrm>
          <a:off x="1068997" y="3308470"/>
          <a:ext cx="9424683" cy="3135935"/>
        </p:xfrm>
        <a:graphic>
          <a:graphicData uri="http://schemas.openxmlformats.org/presentationml/2006/ole">
            <mc:AlternateContent xmlns:mc="http://schemas.openxmlformats.org/markup-compatibility/2006">
              <mc:Choice xmlns:v="urn:schemas-microsoft-com:vml" Requires="v">
                <p:oleObj spid="_x0000_s152505" name="Equation" r:id="rId15" imgW="4927600" imgH="1638300" progId="Equation.DSMT4">
                  <p:embed/>
                </p:oleObj>
              </mc:Choice>
              <mc:Fallback>
                <p:oleObj name="Equation" r:id="rId15" imgW="4927600" imgH="1638300" progId="Equation.DSMT4">
                  <p:embed/>
                  <p:pic>
                    <p:nvPicPr>
                      <p:cNvPr id="0" name="Picture 87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68997" y="3308470"/>
                        <a:ext cx="9424683" cy="31359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7"/>
          <p:cNvGraphicFramePr>
            <a:graphicFrameLocks noChangeAspect="1"/>
          </p:cNvGraphicFramePr>
          <p:nvPr/>
        </p:nvGraphicFramePr>
        <p:xfrm>
          <a:off x="338138" y="2024063"/>
          <a:ext cx="2624137" cy="519112"/>
        </p:xfrm>
        <a:graphic>
          <a:graphicData uri="http://schemas.openxmlformats.org/presentationml/2006/ole">
            <mc:AlternateContent xmlns:mc="http://schemas.openxmlformats.org/markup-compatibility/2006">
              <mc:Choice xmlns:v="urn:schemas-microsoft-com:vml" Requires="v">
                <p:oleObj spid="_x0000_s152506" name="Equation" r:id="rId17" imgW="29260800" imgH="5791200" progId="Equation.DSMT4">
                  <p:embed/>
                </p:oleObj>
              </mc:Choice>
              <mc:Fallback>
                <p:oleObj name="Equation" r:id="rId17" imgW="29260800" imgH="5791200" progId="Equation.DSMT4">
                  <p:embed/>
                  <p:pic>
                    <p:nvPicPr>
                      <p:cNvPr id="0" name="Picture 873"/>
                      <p:cNvPicPr>
                        <a:picLocks noChangeAspect="1" noChangeArrowheads="1"/>
                      </p:cNvPicPr>
                      <p:nvPr/>
                    </p:nvPicPr>
                    <p:blipFill>
                      <a:blip r:embed="rId18"/>
                      <a:srcRect/>
                      <a:stretch>
                        <a:fillRect/>
                      </a:stretch>
                    </p:blipFill>
                    <p:spPr bwMode="auto">
                      <a:xfrm>
                        <a:off x="338138" y="2024063"/>
                        <a:ext cx="2624137" cy="519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矩形 30"/>
          <p:cNvSpPr/>
          <p:nvPr/>
        </p:nvSpPr>
        <p:spPr>
          <a:xfrm>
            <a:off x="304132" y="1052736"/>
            <a:ext cx="3775393"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正态分布的</a:t>
            </a:r>
            <a:r>
              <a:rPr lang="zh-CN" altLang="zh-CN" sz="2800" b="1" dirty="0">
                <a:solidFill>
                  <a:srgbClr val="0000FF"/>
                </a:solidFill>
                <a:latin typeface="Arial" panose="020B0604020202020204" pitchFamily="34" charset="0"/>
              </a:rPr>
              <a:t>贝叶斯</a:t>
            </a:r>
            <a:r>
              <a:rPr lang="zh-CN" altLang="en-US" sz="2800" b="1" dirty="0">
                <a:solidFill>
                  <a:srgbClr val="0000FF"/>
                </a:solidFill>
                <a:latin typeface="Arial" panose="020B0604020202020204" pitchFamily="34" charset="0"/>
              </a:rPr>
              <a:t>学习</a:t>
            </a:r>
            <a:endParaRPr lang="zh-CN" altLang="en-US" sz="2800" b="1" dirty="0">
              <a:solidFill>
                <a:srgbClr val="0000FF"/>
              </a:solidFill>
              <a:latin typeface="Arial" panose="020B0604020202020204" pitchFamily="34" charset="0"/>
            </a:endParaRPr>
          </a:p>
        </p:txBody>
      </p:sp>
      <p:graphicFrame>
        <p:nvGraphicFramePr>
          <p:cNvPr id="21" name="Object 12"/>
          <p:cNvGraphicFramePr>
            <a:graphicFrameLocks noChangeAspect="1"/>
          </p:cNvGraphicFramePr>
          <p:nvPr/>
        </p:nvGraphicFramePr>
        <p:xfrm>
          <a:off x="8172773" y="242713"/>
          <a:ext cx="2903353" cy="1373952"/>
        </p:xfrm>
        <a:graphic>
          <a:graphicData uri="http://schemas.openxmlformats.org/presentationml/2006/ole">
            <mc:AlternateContent xmlns:mc="http://schemas.openxmlformats.org/markup-compatibility/2006">
              <mc:Choice xmlns:v="urn:schemas-microsoft-com:vml" Requires="v">
                <p:oleObj spid="_x0000_s152507" name="Equation" r:id="rId19" imgW="1879600" imgH="889000" progId="Equation.DSMT4">
                  <p:embed/>
                </p:oleObj>
              </mc:Choice>
              <mc:Fallback>
                <p:oleObj name="Equation" r:id="rId19" imgW="1879600" imgH="889000" progId="Equation.DSMT4">
                  <p:embed/>
                  <p:pic>
                    <p:nvPicPr>
                      <p:cNvPr id="0" name="Object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172773" y="242713"/>
                        <a:ext cx="2903353" cy="1373952"/>
                      </a:xfrm>
                      <a:prstGeom prst="rect">
                        <a:avLst/>
                      </a:prstGeom>
                      <a:solidFill>
                        <a:schemeClr val="bg1"/>
                      </a:solidFill>
                      <a:ln>
                        <a:solidFill>
                          <a:srgbClr val="FF0000"/>
                        </a:solidFill>
                      </a:ln>
                    </p:spPr>
                  </p:pic>
                </p:oleObj>
              </mc:Fallback>
            </mc:AlternateContent>
          </a:graphicData>
        </a:graphic>
      </p:graphicFrame>
      <p:cxnSp>
        <p:nvCxnSpPr>
          <p:cNvPr id="4" name="直接箭头连接符 3"/>
          <p:cNvCxnSpPr/>
          <p:nvPr/>
        </p:nvCxnSpPr>
        <p:spPr>
          <a:xfrm flipH="1">
            <a:off x="3287688" y="1360357"/>
            <a:ext cx="5472608" cy="221153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14.6 </a:t>
            </a:r>
            <a:r>
              <a:rPr lang="zh-CN" altLang="zh-CN" dirty="0"/>
              <a:t>正态分布下的贝叶斯估计</a:t>
            </a:r>
            <a:endParaRPr lang="zh-CN" altLang="zh-CN" dirty="0"/>
          </a:p>
        </p:txBody>
      </p:sp>
      <p:sp>
        <p:nvSpPr>
          <p:cNvPr id="31" name="矩形 30"/>
          <p:cNvSpPr/>
          <p:nvPr/>
        </p:nvSpPr>
        <p:spPr>
          <a:xfrm>
            <a:off x="304132" y="1052736"/>
            <a:ext cx="3775393"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正态分布的</a:t>
            </a:r>
            <a:r>
              <a:rPr lang="zh-CN" altLang="zh-CN" sz="2800" b="1" dirty="0">
                <a:solidFill>
                  <a:srgbClr val="0000FF"/>
                </a:solidFill>
                <a:latin typeface="Arial" panose="020B0604020202020204" pitchFamily="34" charset="0"/>
              </a:rPr>
              <a:t>贝叶斯</a:t>
            </a:r>
            <a:r>
              <a:rPr lang="zh-CN" altLang="en-US" sz="2800" b="1" dirty="0">
                <a:solidFill>
                  <a:srgbClr val="0000FF"/>
                </a:solidFill>
                <a:latin typeface="Arial" panose="020B0604020202020204" pitchFamily="34" charset="0"/>
              </a:rPr>
              <a:t>学习</a:t>
            </a:r>
            <a:endParaRPr lang="zh-CN" altLang="en-US" sz="2800" b="1" dirty="0">
              <a:solidFill>
                <a:srgbClr val="0000FF"/>
              </a:solidFill>
              <a:latin typeface="Arial" panose="020B0604020202020204" pitchFamily="34" charset="0"/>
            </a:endParaRPr>
          </a:p>
        </p:txBody>
      </p:sp>
      <p:sp>
        <p:nvSpPr>
          <p:cNvPr id="21" name="Rectangle 3"/>
          <p:cNvSpPr>
            <a:spLocks noGrp="1" noChangeArrowheads="1"/>
          </p:cNvSpPr>
          <p:nvPr>
            <p:ph idx="1"/>
          </p:nvPr>
        </p:nvSpPr>
        <p:spPr>
          <a:xfrm>
            <a:off x="307927" y="3573016"/>
            <a:ext cx="11480500" cy="2598147"/>
          </a:xfrm>
          <a:solidFill>
            <a:schemeClr val="accent6">
              <a:lumMod val="20000"/>
              <a:lumOff val="80000"/>
            </a:schemeClr>
          </a:solidFill>
        </p:spPr>
        <p:txBody>
          <a:bodyPr wrap="square" lIns="90488" tIns="44450" rIns="90488" bIns="44450">
            <a:spAutoFit/>
          </a:bodyPr>
          <a:lstStyle/>
          <a:p>
            <a:pPr algn="just">
              <a:lnSpc>
                <a:spcPct val="130000"/>
              </a:lnSpc>
              <a:spcBef>
                <a:spcPts val="1200"/>
              </a:spcBef>
              <a:buClr>
                <a:schemeClr val="tx1"/>
              </a:buClr>
              <a:buFont typeface="Arial" panose="020B0604020202020204" pitchFamily="34" charset="0"/>
              <a:buChar char="•"/>
              <a:tabLst>
                <a:tab pos="579120" algn="l"/>
              </a:tabLst>
            </a:pP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当观察一个样本时，</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=1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就会有一个 </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μ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的估计值的修正值</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当观察 </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=4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时，对 </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μ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进行修正，向真正的 </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μ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靠近；当观察 </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=9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时，对 </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μ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进行修正，向真正的 </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μ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靠的更近</a:t>
            </a:r>
            <a:endParaRPr lang="zh-CN" altLang="en-US" sz="2200" dirty="0">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30000"/>
              </a:lnSpc>
              <a:spcBef>
                <a:spcPts val="1200"/>
              </a:spcBef>
              <a:buClr>
                <a:schemeClr val="tx1"/>
              </a:buClr>
              <a:buFont typeface="Arial" panose="020B0604020202020204" pitchFamily="34" charset="0"/>
              <a:buChar char="•"/>
              <a:tabLst>
                <a:tab pos="579120" algn="l"/>
              </a:tabLst>
            </a:pPr>
            <a:r>
              <a:rPr lang="zh-CN" altLang="en-US"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当</a:t>
            </a:r>
            <a:r>
              <a:rPr lang="en-US" altLang="zh-CN" sz="2200" i="1"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i="1" dirty="0" err="1">
                <a:solidFill>
                  <a:srgbClr val="FF6600"/>
                </a:solidFill>
                <a:latin typeface="Times New Roman" panose="02020603050405020304" pitchFamily="18" charset="0"/>
                <a:ea typeface="黑体" panose="02010609060101010101" pitchFamily="49" charset="-122"/>
                <a:cs typeface="Times New Roman" panose="02020603050405020304" pitchFamily="18" charset="0"/>
              </a:rPr>
              <a:t>μ</a:t>
            </a:r>
            <a:r>
              <a:rPr lang="en-US" altLang="zh-CN" sz="2200" i="1" baseline="-25000" dirty="0" err="1">
                <a:solidFill>
                  <a:srgbClr val="FF6600"/>
                </a:solidFill>
                <a:latin typeface="Times New Roman" panose="02020603050405020304" pitchFamily="18" charset="0"/>
                <a:ea typeface="黑体" panose="02010609060101010101" pitchFamily="49" charset="-122"/>
                <a:cs typeface="Times New Roman" panose="02020603050405020304" pitchFamily="18" charset="0"/>
              </a:rPr>
              <a:t>N</a:t>
            </a:r>
            <a:r>
              <a:rPr lang="zh-CN" altLang="en-US"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就反映了观察到</a:t>
            </a:r>
            <a:r>
              <a:rPr lang="en-US" altLang="zh-CN" sz="2200" i="1"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N</a:t>
            </a:r>
            <a:r>
              <a:rPr lang="zh-CN" altLang="en-US"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个样本后对</a:t>
            </a:r>
            <a:r>
              <a:rPr lang="en-US" altLang="zh-CN" sz="2200" i="1"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μ</a:t>
            </a:r>
            <a:r>
              <a:rPr lang="zh-CN" altLang="en-US"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的最好推测，而</a:t>
            </a:r>
            <a:r>
              <a:rPr lang="en-US" altLang="zh-CN" sz="2200" i="1"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σ</a:t>
            </a:r>
            <a:r>
              <a:rPr lang="en-US" altLang="zh-CN" sz="2200" i="1" baseline="-300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2200" baseline="300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反映了这种推测的不确定性</a:t>
            </a:r>
            <a:r>
              <a:rPr lang="en-US" altLang="zh-CN"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200" i="1"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i="1"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σ</a:t>
            </a:r>
            <a:r>
              <a:rPr lang="en-US" altLang="zh-CN" sz="2200" i="1" baseline="-300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2200" baseline="300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2</a:t>
            </a:r>
            <a:r>
              <a:rPr lang="en-US" altLang="zh-CN"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i="1"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σ</a:t>
            </a:r>
            <a:r>
              <a:rPr lang="en-US" altLang="zh-CN" sz="2200" i="1" baseline="-300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2200" baseline="300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2</a:t>
            </a:r>
            <a:r>
              <a:rPr lang="en-US" altLang="zh-CN"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随观察样本增加而单调减小，且当</a:t>
            </a:r>
            <a:r>
              <a:rPr lang="en-US" altLang="zh-CN" sz="2200" i="1"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200" i="1"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σ</a:t>
            </a:r>
            <a:r>
              <a:rPr lang="en-US" altLang="zh-CN" sz="2200" i="1" baseline="-300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2200" baseline="300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2 </a:t>
            </a:r>
            <a:r>
              <a:rPr lang="en-US" altLang="zh-CN"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→0</a:t>
            </a:r>
            <a:r>
              <a:rPr lang="en-US" altLang="zh-CN" sz="2200" baseline="300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2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30000"/>
              </a:lnSpc>
              <a:spcBef>
                <a:spcPts val="1200"/>
              </a:spcBef>
              <a:buClr>
                <a:schemeClr val="tx1"/>
              </a:buClr>
              <a:buFont typeface="Arial" panose="020B0604020202020204" pitchFamily="34" charset="0"/>
              <a:buChar char="•"/>
              <a:tabLst>
                <a:tab pos="579120" algn="l"/>
              </a:tabLst>
            </a:pP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当</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μ</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a:t>
            </a:r>
            <a:r>
              <a:rPr lang="el-GR" altLang="zh-CN" sz="2200" i="1" dirty="0">
                <a:latin typeface="Times New Roman" panose="02020603050405020304" pitchFamily="18" charset="0"/>
                <a:ea typeface="黑体" panose="02010609060101010101" pitchFamily="49" charset="-122"/>
                <a:cs typeface="Times New Roman" panose="02020603050405020304" pitchFamily="18" charset="0"/>
              </a:rPr>
              <a:t>χ</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越来越尖峰突起。</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μ</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a:t>
            </a:r>
            <a:r>
              <a:rPr lang="el-GR" altLang="zh-CN" sz="2200" i="1" dirty="0">
                <a:latin typeface="Times New Roman" panose="02020603050405020304" pitchFamily="18" charset="0"/>
                <a:ea typeface="黑体" panose="02010609060101010101" pitchFamily="49" charset="-122"/>
                <a:cs typeface="Times New Roman" panose="02020603050405020304" pitchFamily="18" charset="0"/>
              </a:rPr>
              <a:t>χ</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冲击函数，这个过程称为贝叶斯学习。</a:t>
            </a:r>
            <a:endParaRPr lang="zh-CN" altLang="en-US" sz="22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4" name="Object 3"/>
          <p:cNvGraphicFramePr>
            <a:graphicFrameLocks noChangeAspect="1"/>
          </p:cNvGraphicFramePr>
          <p:nvPr/>
        </p:nvGraphicFramePr>
        <p:xfrm>
          <a:off x="3143672" y="1684952"/>
          <a:ext cx="6443408" cy="1686432"/>
        </p:xfrm>
        <a:graphic>
          <a:graphicData uri="http://schemas.openxmlformats.org/presentationml/2006/ole">
            <mc:AlternateContent xmlns:mc="http://schemas.openxmlformats.org/markup-compatibility/2006">
              <mc:Choice xmlns:v="urn:schemas-microsoft-com:vml" Requires="v">
                <p:oleObj spid="_x0000_s152680" name="Equation" r:id="rId2" imgW="3238500" imgH="850900" progId="Equation.DSMT4">
                  <p:embed/>
                </p:oleObj>
              </mc:Choice>
              <mc:Fallback>
                <p:oleObj name="Equation" r:id="rId2" imgW="3238500" imgH="850900" progId="Equation.DSMT4">
                  <p:embed/>
                  <p:pic>
                    <p:nvPicPr>
                      <p:cNvPr id="0" name="Picture 9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672" y="1684952"/>
                        <a:ext cx="6443408" cy="1686432"/>
                      </a:xfrm>
                      <a:prstGeom prst="rect">
                        <a:avLst/>
                      </a:prstGeom>
                      <a:solidFill>
                        <a:schemeClr val="bg1"/>
                      </a:solidFill>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p:cNvPicPr>
            <a:picLocks noGrp="1" noChangeAspect="1" noChangeArrowheads="1"/>
          </p:cNvPicPr>
          <p:nvPr>
            <p:ph idx="1"/>
          </p:nvPr>
        </p:nvPicPr>
        <p:blipFill>
          <a:blip r:embed="rId1" cstate="print"/>
          <a:stretch>
            <a:fillRect/>
          </a:stretch>
        </p:blipFill>
        <p:spPr>
          <a:xfrm>
            <a:off x="1127448" y="1367190"/>
            <a:ext cx="10174402" cy="5039053"/>
          </a:xfrm>
          <a:noFill/>
        </p:spPr>
      </p:pic>
      <p:pic>
        <p:nvPicPr>
          <p:cNvPr id="9" name="图片 8"/>
          <p:cNvPicPr>
            <a:picLocks noChangeAspect="1"/>
          </p:cNvPicPr>
          <p:nvPr/>
        </p:nvPicPr>
        <p:blipFill>
          <a:blip r:embed="rId2"/>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endParaRPr lang="zh-CN" altLang="en-US" sz="2400" b="1" dirty="0">
              <a:solidFill>
                <a:srgbClr val="0000FF"/>
              </a:solidFill>
            </a:endParaRP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fld>
            <a:endParaRPr lang="en-US" altLang="zh-CN" dirty="0"/>
          </a:p>
        </p:txBody>
      </p:sp>
      <p:sp>
        <p:nvSpPr>
          <p:cNvPr id="15" name="标题 1"/>
          <p:cNvSpPr txBox="1"/>
          <p:nvPr/>
        </p:nvSpPr>
        <p:spPr bwMode="black">
          <a:xfrm>
            <a:off x="407368" y="122882"/>
            <a:ext cx="6984776" cy="563563"/>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2"/>
                </a:solidFill>
                <a:latin typeface="Arial" panose="020B0604020202020204" pitchFamily="34" charset="0"/>
              </a:defRPr>
            </a:lvl2pPr>
            <a:lvl3pPr algn="l" rtl="0" eaLnBrk="0" fontAlgn="base" hangingPunct="0">
              <a:spcBef>
                <a:spcPct val="0"/>
              </a:spcBef>
              <a:spcAft>
                <a:spcPct val="0"/>
              </a:spcAft>
              <a:defRPr sz="3200">
                <a:solidFill>
                  <a:schemeClr val="tx2"/>
                </a:solidFill>
                <a:latin typeface="Arial" panose="020B0604020202020204" pitchFamily="34" charset="0"/>
              </a:defRPr>
            </a:lvl3pPr>
            <a:lvl4pPr algn="l" rtl="0" eaLnBrk="0" fontAlgn="base" hangingPunct="0">
              <a:spcBef>
                <a:spcPct val="0"/>
              </a:spcBef>
              <a:spcAft>
                <a:spcPct val="0"/>
              </a:spcAft>
              <a:defRPr sz="3200">
                <a:solidFill>
                  <a:schemeClr val="tx2"/>
                </a:solidFill>
                <a:latin typeface="Arial" panose="020B0604020202020204" pitchFamily="34" charset="0"/>
              </a:defRPr>
            </a:lvl4pPr>
            <a:lvl5pPr algn="l" rtl="0" eaLnBrk="0" fontAlgn="base" hangingPunct="0">
              <a:spcBef>
                <a:spcPct val="0"/>
              </a:spcBef>
              <a:spcAft>
                <a:spcPct val="0"/>
              </a:spcAft>
              <a:defRPr sz="3200">
                <a:solidFill>
                  <a:schemeClr val="tx2"/>
                </a:solidFill>
                <a:latin typeface="Arial" panose="020B0604020202020204" pitchFamily="34" charset="0"/>
              </a:defRPr>
            </a:lvl5pPr>
            <a:lvl6pPr marL="457200" algn="l" rtl="0" eaLnBrk="1" fontAlgn="base" hangingPunct="1">
              <a:spcBef>
                <a:spcPct val="0"/>
              </a:spcBef>
              <a:spcAft>
                <a:spcPct val="0"/>
              </a:spcAft>
              <a:defRPr sz="3200">
                <a:solidFill>
                  <a:schemeClr val="tx2"/>
                </a:solidFill>
                <a:latin typeface="Arial" panose="020B0604020202020204" pitchFamily="34" charset="0"/>
              </a:defRPr>
            </a:lvl6pPr>
            <a:lvl7pPr marL="914400" algn="l" rtl="0" eaLnBrk="1" fontAlgn="base" hangingPunct="1">
              <a:spcBef>
                <a:spcPct val="0"/>
              </a:spcBef>
              <a:spcAft>
                <a:spcPct val="0"/>
              </a:spcAft>
              <a:defRPr sz="3200">
                <a:solidFill>
                  <a:schemeClr val="tx2"/>
                </a:solidFill>
                <a:latin typeface="Arial" panose="020B0604020202020204" pitchFamily="34" charset="0"/>
              </a:defRPr>
            </a:lvl7pPr>
            <a:lvl8pPr marL="1371600" algn="l" rtl="0" eaLnBrk="1" fontAlgn="base" hangingPunct="1">
              <a:spcBef>
                <a:spcPct val="0"/>
              </a:spcBef>
              <a:spcAft>
                <a:spcPct val="0"/>
              </a:spcAft>
              <a:defRPr sz="3200">
                <a:solidFill>
                  <a:schemeClr val="tx2"/>
                </a:solidFill>
                <a:latin typeface="Arial" panose="020B0604020202020204" pitchFamily="34" charset="0"/>
              </a:defRPr>
            </a:lvl8pPr>
            <a:lvl9pPr marL="1828800" algn="l" rtl="0" eaLnBrk="1" fontAlgn="base" hangingPunct="1">
              <a:spcBef>
                <a:spcPct val="0"/>
              </a:spcBef>
              <a:spcAft>
                <a:spcPct val="0"/>
              </a:spcAft>
              <a:defRPr sz="3200">
                <a:solidFill>
                  <a:schemeClr val="tx2"/>
                </a:solidFill>
                <a:latin typeface="Arial" panose="020B0604020202020204" pitchFamily="34" charset="0"/>
              </a:defRPr>
            </a:lvl9pPr>
          </a:lstStyle>
          <a:p>
            <a:r>
              <a:rPr lang="en-US" altLang="zh-CN" kern="0" dirty="0"/>
              <a:t>14.6 </a:t>
            </a:r>
            <a:r>
              <a:rPr lang="zh-CN" altLang="zh-CN" dirty="0"/>
              <a:t>正态分布下的贝叶斯估计</a:t>
            </a:r>
            <a:endParaRPr lang="zh-CN" altLang="zh-CN" dirty="0"/>
          </a:p>
        </p:txBody>
      </p:sp>
      <p:sp>
        <p:nvSpPr>
          <p:cNvPr id="31" name="矩形 30"/>
          <p:cNvSpPr/>
          <p:nvPr/>
        </p:nvSpPr>
        <p:spPr>
          <a:xfrm>
            <a:off x="304132" y="1105580"/>
            <a:ext cx="3775393"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正态分布的</a:t>
            </a:r>
            <a:r>
              <a:rPr lang="zh-CN" altLang="zh-CN" sz="2800" b="1" dirty="0">
                <a:solidFill>
                  <a:srgbClr val="0000FF"/>
                </a:solidFill>
                <a:latin typeface="Arial" panose="020B0604020202020204" pitchFamily="34" charset="0"/>
              </a:rPr>
              <a:t>贝叶斯</a:t>
            </a:r>
            <a:r>
              <a:rPr lang="zh-CN" altLang="en-US" sz="2800" b="1" dirty="0">
                <a:solidFill>
                  <a:srgbClr val="0000FF"/>
                </a:solidFill>
                <a:latin typeface="Arial" panose="020B0604020202020204" pitchFamily="34" charset="0"/>
              </a:rPr>
              <a:t>学习</a:t>
            </a:r>
            <a:endParaRPr lang="zh-CN" altLang="en-US" sz="2800" b="1" dirty="0">
              <a:solidFill>
                <a:srgbClr val="0000FF"/>
              </a:solidFill>
              <a:latin typeface="Arial" panose="020B060402020202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8"/>
          <p:cNvSpPr>
            <a:spLocks noGrp="1" noChangeArrowheads="1"/>
          </p:cNvSpPr>
          <p:nvPr>
            <p:ph type="ctrTitle"/>
          </p:nvPr>
        </p:nvSpPr>
        <p:spPr>
          <a:xfrm>
            <a:off x="3667126" y="2286000"/>
            <a:ext cx="6215063" cy="533400"/>
          </a:xfrm>
        </p:spPr>
        <p:txBody>
          <a:bodyPr/>
          <a:lstStyle/>
          <a:p>
            <a:pPr eaLnBrk="1" hangingPunct="1"/>
            <a:r>
              <a:rPr lang="en-US" altLang="zh-CN" sz="5000" dirty="0">
                <a:ea typeface="宋体" panose="02010600030101010101" pitchFamily="2" charset="-122"/>
              </a:rPr>
              <a:t>Ending</a:t>
            </a:r>
            <a:endParaRPr lang="en-US" altLang="zh-CN" sz="5000" dirty="0">
              <a:ea typeface="宋体" panose="02010600030101010101" pitchFamily="2" charset="-122"/>
            </a:endParaRPr>
          </a:p>
        </p:txBody>
      </p:sp>
    </p:spTree>
  </p:cSld>
  <p:clrMapOvr>
    <a:masterClrMapping/>
  </p:clrMapOvr>
</p:sld>
</file>

<file path=ppt/theme/theme1.xml><?xml version="1.0" encoding="utf-8"?>
<a:theme xmlns:a="http://schemas.openxmlformats.org/drawingml/2006/main" name="589tgp_health_light">
  <a:themeElements>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fontScheme name="s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sz="2400" kern="100" dirty="0" smtClean="0">
            <a:ea typeface="宋体" panose="02010600030101010101" pitchFamily="2" charset="-122"/>
            <a:cs typeface="Times New Roman" panose="02020603050405020304"/>
          </a:defRPr>
        </a:defPPr>
      </a:lstStyle>
    </a:spDef>
    <a:lnDef>
      <a:spPr>
        <a:ln>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smtClean="0"/>
        </a:defPPr>
      </a:lstStyle>
    </a:txDef>
  </a:objectDefaults>
  <a:extraClrSchemeLst>
    <a:extraClrScheme>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clrMap bg1="lt1" tx1="dk1" bg2="lt2" tx2="dk2" accent1="accent1" accent2="accent2" accent3="accent3" accent4="accent4" accent5="accent5" accent6="accent6" hlink="hlink" folHlink="folHlink"/>
    </a:extraClrScheme>
    <a:extraClrScheme>
      <a:clrScheme name="s2 2">
        <a:dk1>
          <a:srgbClr val="000000"/>
        </a:dk1>
        <a:lt1>
          <a:srgbClr val="FFFFFF"/>
        </a:lt1>
        <a:dk2>
          <a:srgbClr val="EA9148"/>
        </a:dk2>
        <a:lt2>
          <a:srgbClr val="DED9CC"/>
        </a:lt2>
        <a:accent1>
          <a:srgbClr val="E878C8"/>
        </a:accent1>
        <a:accent2>
          <a:srgbClr val="7DD7E9"/>
        </a:accent2>
        <a:accent3>
          <a:srgbClr val="FFFFFF"/>
        </a:accent3>
        <a:accent4>
          <a:srgbClr val="000000"/>
        </a:accent4>
        <a:accent5>
          <a:srgbClr val="F2BEE0"/>
        </a:accent5>
        <a:accent6>
          <a:srgbClr val="71C3D3"/>
        </a:accent6>
        <a:hlink>
          <a:srgbClr val="98E8B3"/>
        </a:hlink>
        <a:folHlink>
          <a:srgbClr val="E6C686"/>
        </a:folHlink>
      </a:clrScheme>
      <a:clrMap bg1="lt1" tx1="dk1" bg2="lt2" tx2="dk2" accent1="accent1" accent2="accent2" accent3="accent3" accent4="accent4" accent5="accent5" accent6="accent6" hlink="hlink" folHlink="folHlink"/>
    </a:extraClrScheme>
    <a:extraClrScheme>
      <a:clrScheme name="s2 3">
        <a:dk1>
          <a:srgbClr val="000000"/>
        </a:dk1>
        <a:lt1>
          <a:srgbClr val="FFFFFF"/>
        </a:lt1>
        <a:dk2>
          <a:srgbClr val="C889CD"/>
        </a:dk2>
        <a:lt2>
          <a:srgbClr val="DED9CC"/>
        </a:lt2>
        <a:accent1>
          <a:srgbClr val="72AFD8"/>
        </a:accent1>
        <a:accent2>
          <a:srgbClr val="80CAB1"/>
        </a:accent2>
        <a:accent3>
          <a:srgbClr val="FFFFFF"/>
        </a:accent3>
        <a:accent4>
          <a:srgbClr val="000000"/>
        </a:accent4>
        <a:accent5>
          <a:srgbClr val="BCD4E9"/>
        </a:accent5>
        <a:accent6>
          <a:srgbClr val="73B7A0"/>
        </a:accent6>
        <a:hlink>
          <a:srgbClr val="E1995D"/>
        </a:hlink>
        <a:folHlink>
          <a:srgbClr val="E5879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589tgp_health_light</Template>
  <TotalTime>0</TotalTime>
  <Words>12097</Words>
  <Application>WPS 演示</Application>
  <PresentationFormat>宽屏</PresentationFormat>
  <Paragraphs>971</Paragraphs>
  <Slides>62</Slides>
  <Notes>15</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279</vt:i4>
      </vt:variant>
      <vt:variant>
        <vt:lpstr>幻灯片标题</vt:lpstr>
      </vt:variant>
      <vt:variant>
        <vt:i4>62</vt:i4>
      </vt:variant>
    </vt:vector>
  </HeadingPairs>
  <TitlesOfParts>
    <vt:vector size="356" baseType="lpstr">
      <vt:lpstr>Arial</vt:lpstr>
      <vt:lpstr>宋体</vt:lpstr>
      <vt:lpstr>Wingdings</vt:lpstr>
      <vt:lpstr>Times New Roman</vt:lpstr>
      <vt:lpstr>黑体</vt:lpstr>
      <vt:lpstr>Times New Roman</vt:lpstr>
      <vt:lpstr>方正姚体</vt:lpstr>
      <vt:lpstr>微软雅黑</vt:lpstr>
      <vt:lpstr>Arial Unicode MS</vt:lpstr>
      <vt:lpstr>Calibri</vt:lpstr>
      <vt:lpstr>Symbol</vt:lpstr>
      <vt:lpstr>Symbol</vt:lpstr>
      <vt:lpstr>-apple-system</vt:lpstr>
      <vt:lpstr>Segoe Print</vt:lpstr>
      <vt:lpstr>589tgp_health_light</vt:lpstr>
      <vt:lpstr>PBrush</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PBrush</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模式识别与机器学习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最大似然估计示意图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最大似然估计、最大后验概率估计及贝叶斯估计比较</vt:lpstr>
      <vt:lpstr>最大似然估计、最大后验概率估计及贝叶斯估计比较</vt:lpstr>
      <vt:lpstr>最大似然估计、最大后验概率估计及贝叶斯估计比较</vt:lpstr>
      <vt:lpstr>最大似然估计、最大后验概率估计及贝叶斯估计比较</vt:lpstr>
      <vt:lpstr>最大似然估计、最大后验概率估计及贝叶斯估计比较</vt:lpstr>
      <vt:lpstr>最大似然估计、最大后验概率估计及贝叶斯估计比较</vt:lpstr>
      <vt:lpstr>最大似然估计、最大后验概率估计及贝叶斯估计比较</vt:lpstr>
      <vt:lpstr>最大似然估计、最大后验概率估计及贝叶斯估计比较</vt:lpstr>
      <vt:lpstr>最大似然估计、最大后验概率估计及贝叶斯估计比较</vt:lpstr>
      <vt:lpstr>最大似然估计、最大后验概率估计及贝叶斯估计比较</vt:lpstr>
      <vt:lpstr>最大似然估计、最大后验概率估计及贝叶斯估计比较</vt:lpstr>
      <vt:lpstr>最大似然估计、最大后验概率估计及贝叶斯估计比较</vt:lpstr>
      <vt:lpstr>最大似然估计、最大后验概率估计及贝叶斯估计比较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Ending</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Yan-Wu Wang</dc:creator>
  <cp:lastModifiedBy>chenwei</cp:lastModifiedBy>
  <cp:revision>767</cp:revision>
  <dcterms:created xsi:type="dcterms:W3CDTF">2013-04-13T01:42:00Z</dcterms:created>
  <dcterms:modified xsi:type="dcterms:W3CDTF">2025-12-22T02:10:59Z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5CE81543A96A4B3993294BF0EF43BEC8</vt:lpwstr>
  </property>
  <property fmtid="{D5CDD505-2E9C-101B-9397-08002B2CF9AE}" pid="3" name="KSOProductBuildVer">
    <vt:lpwstr>2052-11.8.2.11718</vt:lpwstr>
  </property>
</Properties>
</file>
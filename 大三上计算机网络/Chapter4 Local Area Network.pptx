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399" r:id="rId2"/>
    <p:sldId id="283" r:id="rId3"/>
    <p:sldId id="516" r:id="rId4"/>
    <p:sldId id="343" r:id="rId5"/>
    <p:sldId id="344" r:id="rId6"/>
    <p:sldId id="382" r:id="rId7"/>
    <p:sldId id="345" r:id="rId8"/>
    <p:sldId id="409" r:id="rId9"/>
    <p:sldId id="286" r:id="rId10"/>
    <p:sldId id="517" r:id="rId11"/>
    <p:sldId id="518" r:id="rId12"/>
    <p:sldId id="290" r:id="rId13"/>
    <p:sldId id="496" r:id="rId14"/>
    <p:sldId id="519" r:id="rId15"/>
    <p:sldId id="521" r:id="rId16"/>
    <p:sldId id="291" r:id="rId17"/>
    <p:sldId id="346" r:id="rId18"/>
    <p:sldId id="341" r:id="rId19"/>
    <p:sldId id="292" r:id="rId20"/>
    <p:sldId id="522" r:id="rId21"/>
    <p:sldId id="294" r:id="rId22"/>
    <p:sldId id="523" r:id="rId23"/>
    <p:sldId id="295" r:id="rId24"/>
    <p:sldId id="419" r:id="rId25"/>
    <p:sldId id="304" r:id="rId26"/>
    <p:sldId id="305" r:id="rId27"/>
    <p:sldId id="306" r:id="rId28"/>
    <p:sldId id="307" r:id="rId29"/>
    <p:sldId id="499" r:id="rId30"/>
    <p:sldId id="500" r:id="rId31"/>
    <p:sldId id="501" r:id="rId32"/>
    <p:sldId id="502" r:id="rId33"/>
    <p:sldId id="503" r:id="rId34"/>
    <p:sldId id="504" r:id="rId35"/>
    <p:sldId id="505" r:id="rId36"/>
    <p:sldId id="506" r:id="rId37"/>
    <p:sldId id="507" r:id="rId38"/>
    <p:sldId id="508" r:id="rId39"/>
    <p:sldId id="509" r:id="rId40"/>
    <p:sldId id="510" r:id="rId41"/>
    <p:sldId id="511" r:id="rId42"/>
    <p:sldId id="512" r:id="rId43"/>
    <p:sldId id="513" r:id="rId44"/>
    <p:sldId id="347" r:id="rId45"/>
    <p:sldId id="400" r:id="rId46"/>
    <p:sldId id="389" r:id="rId47"/>
    <p:sldId id="514" r:id="rId48"/>
    <p:sldId id="349" r:id="rId49"/>
    <p:sldId id="352" r:id="rId50"/>
    <p:sldId id="384" r:id="rId51"/>
    <p:sldId id="385" r:id="rId52"/>
    <p:sldId id="367" r:id="rId53"/>
    <p:sldId id="386" r:id="rId54"/>
    <p:sldId id="387" r:id="rId55"/>
    <p:sldId id="368" r:id="rId56"/>
    <p:sldId id="369" r:id="rId57"/>
    <p:sldId id="370" r:id="rId58"/>
    <p:sldId id="390" r:id="rId59"/>
    <p:sldId id="515" r:id="rId60"/>
    <p:sldId id="392" r:id="rId61"/>
    <p:sldId id="373" r:id="rId62"/>
    <p:sldId id="596" r:id="rId63"/>
    <p:sldId id="374" r:id="rId64"/>
    <p:sldId id="597" r:id="rId65"/>
    <p:sldId id="598" r:id="rId66"/>
    <p:sldId id="599" r:id="rId67"/>
    <p:sldId id="600" r:id="rId68"/>
    <p:sldId id="378" r:id="rId69"/>
    <p:sldId id="379" r:id="rId70"/>
    <p:sldId id="380" r:id="rId71"/>
    <p:sldId id="393" r:id="rId72"/>
    <p:sldId id="394" r:id="rId73"/>
    <p:sldId id="395" r:id="rId74"/>
    <p:sldId id="397" r:id="rId75"/>
    <p:sldId id="396" r:id="rId76"/>
    <p:sldId id="398" r:id="rId77"/>
    <p:sldId id="340" r:id="rId78"/>
  </p:sldIdLst>
  <p:sldSz cx="9144000" cy="6858000" type="screen4x3"/>
  <p:notesSz cx="70485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FF99CC"/>
    <a:srgbClr val="CCFFFF"/>
    <a:srgbClr val="FF0000"/>
    <a:srgbClr val="00CC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019" autoAdjust="0"/>
    <p:restoredTop sz="90909" autoAdjust="0"/>
  </p:normalViewPr>
  <p:slideViewPr>
    <p:cSldViewPr snapToGrid="0">
      <p:cViewPr varScale="1">
        <p:scale>
          <a:sx n="102" d="100"/>
          <a:sy n="102" d="100"/>
        </p:scale>
        <p:origin x="147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jpe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04307725-BFFA-4040-91E4-D910330189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82F3F917-80BD-49E3-A885-175C83F840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5652" name="Rectangle 4">
            <a:extLst>
              <a:ext uri="{FF2B5EF4-FFF2-40B4-BE49-F238E27FC236}">
                <a16:creationId xmlns:a16="http://schemas.microsoft.com/office/drawing/2014/main" id="{E6557908-902F-4C47-8106-D84D5F11C16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B7AD227B-4AB6-476D-BEA0-61507B41C5A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76C1265-A90A-44C7-957C-0879DE1AA9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77A8AE9-7D0C-4B8C-895A-E218ADDCD3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43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t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A83ABA1-182A-44C5-8AB4-CDEDCE27835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94150" y="0"/>
            <a:ext cx="30543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t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4F324F8-09B4-4221-BDF9-85D073732D6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13FABE2-1FFB-40D9-A8D9-CC03A1AB7A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9800" y="4416425"/>
            <a:ext cx="51689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DD30321-1421-4C44-AF4D-22728D3F8D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5435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b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F988795A-3022-4DCC-8E02-2C9B9E1F0A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b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5DE6BD1-92A6-42D3-8FFD-1D6461B224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0CE25472-9A01-4BE1-8B5A-BE22F60DC4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911C3FAF-80C0-4F8A-9421-2012AA353C2E}" type="slidenum">
              <a:rPr lang="en-US" altLang="zh-CN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13</a:t>
            </a:fld>
            <a:endParaRPr lang="en-US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F42C3B44-AC08-4508-A8D6-582787239F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C2AA12FD-4B48-4A65-A37C-2DF67A934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3C38146F-03D8-4ACF-B68A-83DDC53C0B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D46786C9-B100-4F9A-BAAE-97384DADEADB}" type="slidenum">
              <a:rPr lang="en-US" altLang="zh-CN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14</a:t>
            </a:fld>
            <a:endParaRPr lang="en-US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3A1F6E1-F8DA-45DD-BA74-BE42847C2A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A9F95B4D-50AA-4A1E-84C2-942BA0137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9884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3C38146F-03D8-4ACF-B68A-83DDC53C0B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D46786C9-B100-4F9A-BAAE-97384DADEADB}" type="slidenum">
              <a:rPr lang="en-US" altLang="zh-CN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15</a:t>
            </a:fld>
            <a:endParaRPr lang="en-US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3A1F6E1-F8DA-45DD-BA74-BE42847C2A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A9F95B4D-50AA-4A1E-84C2-942BA0137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8408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使等待的时间随重传次数增大，以减小发送碰撞的概率，有利于系统的稳定，但公平性不好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DE6BD1-92A6-42D3-8FFD-1D6461B22489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8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501704C0-60E9-46CF-BF59-9AA24886FF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B6206184-A2F6-45EA-9E01-E7BE1F08D432}" type="slidenum">
              <a:rPr lang="en-US" altLang="zh-CN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29</a:t>
            </a:fld>
            <a:endParaRPr lang="en-US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98EFC150-BF6B-4744-8982-DDBD70583E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C392D7DF-D762-4710-95B8-8268B183B9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802691EC-62D3-47C1-8684-0A5B88C611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B8A192C0-CFAA-428E-B021-FE12A9182100}" type="slidenum">
              <a:rPr lang="en-US" altLang="zh-CN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30</a:t>
            </a:fld>
            <a:endParaRPr lang="en-US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D53305D-85DC-416F-90D3-35EF166D5D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D4C8D6A7-37F7-4DA5-BC7C-F0C75A690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4EFE6B33-C5E2-4B9A-B78B-99279A1F4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1E48184D-68E0-4B5C-9E03-EBE655650F0B}" type="slidenum">
              <a:rPr lang="en-US" altLang="zh-CN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31</a:t>
            </a:fld>
            <a:endParaRPr lang="en-US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B5E7057-02B9-42C5-8803-E583664C46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46E09638-7ACD-4148-BE88-8E6E2E174E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AC9F8DB0-E883-493E-B362-D9D0E702FE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EA71521E-4004-4DDD-B74C-26B0189ACC88}" type="slidenum"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32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1059962F-3489-46CE-A42E-1BFB884955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82F17AE7-569F-4C5C-AD9E-E7FFC233E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433AD1B4-5B23-45DA-8F73-B0F8459691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E5F52640-3E92-4166-BDAE-FC472A318A7E}" type="slidenum"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33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4B487537-C8AF-4471-A2FB-A38945D96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372463CA-F931-4659-8A8A-415AC49DD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334B22A3-AEDF-4E1F-A983-54756E54AF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EC1D875B-3907-4292-BF6C-1780F9134A4F}" type="slidenum"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34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190EC9F2-E81F-4C62-8BAE-301EDB1C91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F032CED8-B76F-4AE5-8EAA-7C16502643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9DAAF380-F988-4BE4-9B10-7CA85856C3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B72535CC-2FD7-43EB-A052-14B874C7ECAB}" type="slidenum"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35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2B9BF8E-A0C3-4F29-9CAC-0EB16F9B6D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07495E25-5259-4EAA-8589-534655D50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BF504B18-F9FF-4C87-9E7F-F179E91F1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92CFEA48-9B5F-4CD3-8CDA-3376A011F6FA}" type="slidenum"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36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07E26374-6782-4ED4-9840-2C0C42526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0C399634-9D08-469F-A749-58B95C6C1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95C63EE8-F16A-45A0-BC7B-6FFEAD5DE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68C901F4-95BD-47C9-9C18-C019B8C23A3B}" type="slidenum"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37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2B7BAFA3-FC68-46BE-8483-DE9A8D362E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3BDDE7AC-42A7-4A79-AF5A-CF43D0393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>
            <a:extLst>
              <a:ext uri="{FF2B5EF4-FFF2-40B4-BE49-F238E27FC236}">
                <a16:creationId xmlns:a16="http://schemas.microsoft.com/office/drawing/2014/main" id="{6E8C732E-8787-4D9F-B19E-D2446D5E16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17550" indent="-274638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03313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44638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987550" indent="-220663" defTabSz="931863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447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019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3591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16350" indent="-220663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defRPr/>
            </a:pPr>
            <a:fld id="{F995ACED-3355-4228-B206-38180E54E55F}" type="slidenum"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pPr>
                <a:defRPr/>
              </a:pPr>
              <a:t>38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FBC11E79-605F-49A3-BDD3-69E38B8EA8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E7EDA9A2-0EAF-4409-A0AF-50220FD0B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A5BBCC6-A0F4-4461-9AC9-1CEC92FA78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CB54C0CA-36CB-462F-B448-F75928252A6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92164" name="Rectangle 6">
            <a:extLst>
              <a:ext uri="{FF2B5EF4-FFF2-40B4-BE49-F238E27FC236}">
                <a16:creationId xmlns:a16="http://schemas.microsoft.com/office/drawing/2014/main" id="{7AF984D5-4D40-4247-A7F8-5B0F475605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92165" name="Rectangle 7">
            <a:extLst>
              <a:ext uri="{FF2B5EF4-FFF2-40B4-BE49-F238E27FC236}">
                <a16:creationId xmlns:a16="http://schemas.microsoft.com/office/drawing/2014/main" id="{6BE93A32-E546-460A-8F7E-79A4CB7EB6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7319E4F7-DA36-4B27-9195-75927AF9A12B}" type="slidenum">
              <a:rPr lang="ko-KR" altLang="de-DE" smtClean="0">
                <a:latin typeface="Times New Roman" panose="02020603050405020304" pitchFamily="18" charset="0"/>
              </a:rPr>
              <a:pPr/>
              <a:t>44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92166" name="Rectangle 2">
            <a:extLst>
              <a:ext uri="{FF2B5EF4-FFF2-40B4-BE49-F238E27FC236}">
                <a16:creationId xmlns:a16="http://schemas.microsoft.com/office/drawing/2014/main" id="{D3B7F96D-D623-4CD6-BF68-BB2DD4B7AA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698500"/>
            <a:ext cx="4646612" cy="3484563"/>
          </a:xfrm>
          <a:ln/>
        </p:spPr>
      </p:sp>
      <p:sp>
        <p:nvSpPr>
          <p:cNvPr id="92167" name="Rectangle 3">
            <a:extLst>
              <a:ext uri="{FF2B5EF4-FFF2-40B4-BE49-F238E27FC236}">
                <a16:creationId xmlns:a16="http://schemas.microsoft.com/office/drawing/2014/main" id="{DD1C4AA6-655E-4C29-BE86-CADD41D42B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8213" y="4418013"/>
            <a:ext cx="5172075" cy="4179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4D469EB0-C786-4B6F-9AFB-5525AB2515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B1CB85FC-95B3-451C-BBED-4908FDE53DE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94212" name="Rectangle 6">
            <a:extLst>
              <a:ext uri="{FF2B5EF4-FFF2-40B4-BE49-F238E27FC236}">
                <a16:creationId xmlns:a16="http://schemas.microsoft.com/office/drawing/2014/main" id="{293E625B-59FA-49A4-901F-9447BFDC13C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94213" name="Rectangle 7">
            <a:extLst>
              <a:ext uri="{FF2B5EF4-FFF2-40B4-BE49-F238E27FC236}">
                <a16:creationId xmlns:a16="http://schemas.microsoft.com/office/drawing/2014/main" id="{962B5281-966E-45FF-9D0B-A8F9524B6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445E397C-537F-45F9-8922-11F8EBAC7E81}" type="slidenum">
              <a:rPr lang="ko-KR" altLang="de-DE" smtClean="0">
                <a:latin typeface="Times New Roman" panose="02020603050405020304" pitchFamily="18" charset="0"/>
              </a:rPr>
              <a:pPr/>
              <a:t>45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94214" name="Rectangle 2">
            <a:extLst>
              <a:ext uri="{FF2B5EF4-FFF2-40B4-BE49-F238E27FC236}">
                <a16:creationId xmlns:a16="http://schemas.microsoft.com/office/drawing/2014/main" id="{7765185B-77A9-4C26-9487-036FB34E6B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698500"/>
            <a:ext cx="4646612" cy="3484563"/>
          </a:xfrm>
          <a:ln/>
        </p:spPr>
      </p:sp>
      <p:sp>
        <p:nvSpPr>
          <p:cNvPr id="94215" name="Rectangle 3">
            <a:extLst>
              <a:ext uri="{FF2B5EF4-FFF2-40B4-BE49-F238E27FC236}">
                <a16:creationId xmlns:a16="http://schemas.microsoft.com/office/drawing/2014/main" id="{CB51AB3A-BD93-4D29-9B90-DFB898BBA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8213" y="4418013"/>
            <a:ext cx="5172075" cy="4179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3A9DEDB6-4597-4907-B2A1-D88F47F31B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FC2C5D04-0908-4095-9DF0-AA8BFFB82F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97284" name="Rectangle 6">
            <a:extLst>
              <a:ext uri="{FF2B5EF4-FFF2-40B4-BE49-F238E27FC236}">
                <a16:creationId xmlns:a16="http://schemas.microsoft.com/office/drawing/2014/main" id="{21AD8FCF-B95A-4A50-B02B-97D93C95EB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97285" name="Rectangle 7">
            <a:extLst>
              <a:ext uri="{FF2B5EF4-FFF2-40B4-BE49-F238E27FC236}">
                <a16:creationId xmlns:a16="http://schemas.microsoft.com/office/drawing/2014/main" id="{7A2FF24E-E714-4FF0-AE76-B9A380EEB6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4A3426-F33C-4F12-A54E-19E5ECBD548D}" type="slidenum">
              <a:rPr lang="ko-KR" altLang="de-DE" smtClean="0">
                <a:latin typeface="Times New Roman" panose="02020603050405020304" pitchFamily="18" charset="0"/>
              </a:rPr>
              <a:pPr/>
              <a:t>47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97286" name="Rectangle 2">
            <a:extLst>
              <a:ext uri="{FF2B5EF4-FFF2-40B4-BE49-F238E27FC236}">
                <a16:creationId xmlns:a16="http://schemas.microsoft.com/office/drawing/2014/main" id="{01A04A4C-A6EA-40F9-9E50-ECB39083A5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698500"/>
            <a:ext cx="4646612" cy="3484563"/>
          </a:xfrm>
          <a:ln/>
        </p:spPr>
      </p:sp>
      <p:sp>
        <p:nvSpPr>
          <p:cNvPr id="97287" name="Rectangle 3">
            <a:extLst>
              <a:ext uri="{FF2B5EF4-FFF2-40B4-BE49-F238E27FC236}">
                <a16:creationId xmlns:a16="http://schemas.microsoft.com/office/drawing/2014/main" id="{AC1463DB-9A42-4B94-A115-2BFF41B43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8213" y="4418013"/>
            <a:ext cx="5172075" cy="4179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FADA9D8F-BDAE-4CEE-B090-5D602A858A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5DAC5FF0-3D47-4777-AD1C-7E07765081E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99332" name="Rectangle 6">
            <a:extLst>
              <a:ext uri="{FF2B5EF4-FFF2-40B4-BE49-F238E27FC236}">
                <a16:creationId xmlns:a16="http://schemas.microsoft.com/office/drawing/2014/main" id="{514472EF-7BCF-49FB-8487-C3E5262A94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99333" name="Rectangle 7">
            <a:extLst>
              <a:ext uri="{FF2B5EF4-FFF2-40B4-BE49-F238E27FC236}">
                <a16:creationId xmlns:a16="http://schemas.microsoft.com/office/drawing/2014/main" id="{BFB38DEF-48D1-4CE9-A843-CF22E98078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C810ED29-7999-4D64-AFF3-507CFE8FDEAB}" type="slidenum">
              <a:rPr lang="ko-KR" altLang="de-DE" smtClean="0">
                <a:latin typeface="Times New Roman" panose="02020603050405020304" pitchFamily="18" charset="0"/>
              </a:rPr>
              <a:pPr/>
              <a:t>48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99334" name="Rectangle 2">
            <a:extLst>
              <a:ext uri="{FF2B5EF4-FFF2-40B4-BE49-F238E27FC236}">
                <a16:creationId xmlns:a16="http://schemas.microsoft.com/office/drawing/2014/main" id="{EC110127-AB93-433B-A657-5FE4A53231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99335" name="Rectangle 3">
            <a:extLst>
              <a:ext uri="{FF2B5EF4-FFF2-40B4-BE49-F238E27FC236}">
                <a16:creationId xmlns:a16="http://schemas.microsoft.com/office/drawing/2014/main" id="{E29CC00C-5391-4D3C-91D8-5816061AD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FF9594E7-515A-4C73-8175-40AE8675786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904EBBB0-0B2B-49F8-9F78-4A76055A6F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01380" name="Rectangle 6">
            <a:extLst>
              <a:ext uri="{FF2B5EF4-FFF2-40B4-BE49-F238E27FC236}">
                <a16:creationId xmlns:a16="http://schemas.microsoft.com/office/drawing/2014/main" id="{2BABF92E-455A-40D1-83A6-AB76919CB5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01381" name="Rectangle 7">
            <a:extLst>
              <a:ext uri="{FF2B5EF4-FFF2-40B4-BE49-F238E27FC236}">
                <a16:creationId xmlns:a16="http://schemas.microsoft.com/office/drawing/2014/main" id="{44364A73-B305-4C87-BFC3-95DD765229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903A62FA-01BC-4147-BE1C-4C9C961A78B7}" type="slidenum">
              <a:rPr lang="ko-KR" altLang="de-DE" smtClean="0">
                <a:latin typeface="Times New Roman" panose="02020603050405020304" pitchFamily="18" charset="0"/>
              </a:rPr>
              <a:pPr/>
              <a:t>49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01382" name="Rectangle 2">
            <a:extLst>
              <a:ext uri="{FF2B5EF4-FFF2-40B4-BE49-F238E27FC236}">
                <a16:creationId xmlns:a16="http://schemas.microsoft.com/office/drawing/2014/main" id="{985BA417-BC63-46D7-8154-B63B14F6B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101383" name="Rectangle 3">
            <a:extLst>
              <a:ext uri="{FF2B5EF4-FFF2-40B4-BE49-F238E27FC236}">
                <a16:creationId xmlns:a16="http://schemas.microsoft.com/office/drawing/2014/main" id="{F9DB73E8-C25B-4F2C-87A8-97C2E3482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Spatial Reuse </a:t>
            </a:r>
            <a:r>
              <a:rPr lang="zh-CN" altLang="en-US" sz="1200" dirty="0"/>
              <a:t>空分复用</a:t>
            </a:r>
            <a:endParaRPr lang="en-US" altLang="zh-CN" sz="12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1200" dirty="0">
                <a:solidFill>
                  <a:srgbClr val="0000FF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对于给定的调制方案，</a:t>
            </a:r>
            <a:r>
              <a:rPr lang="en-US" altLang="zh-CN" sz="1200" dirty="0">
                <a:solidFill>
                  <a:srgbClr val="0000FF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SNR</a:t>
            </a:r>
            <a:r>
              <a:rPr lang="zh-CN" altLang="en-US" sz="1200" dirty="0">
                <a:solidFill>
                  <a:srgbClr val="0000FF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越高，</a:t>
            </a:r>
            <a:r>
              <a:rPr lang="en-US" altLang="zh-CN" sz="1200" dirty="0">
                <a:solidFill>
                  <a:srgbClr val="0000FF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BER</a:t>
            </a:r>
            <a:r>
              <a:rPr lang="zh-CN" altLang="en-US" sz="1200" dirty="0">
                <a:solidFill>
                  <a:srgbClr val="0000FF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越低 </a:t>
            </a:r>
            <a:endParaRPr lang="en-US" altLang="zh-CN" sz="1200" dirty="0">
              <a:solidFill>
                <a:srgbClr val="0000FF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1200" dirty="0">
                <a:solidFill>
                  <a:srgbClr val="0000FF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对于给定的</a:t>
            </a:r>
            <a:r>
              <a:rPr lang="en-US" altLang="zh-CN" sz="1200" dirty="0">
                <a:solidFill>
                  <a:srgbClr val="0000FF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SNR</a:t>
            </a:r>
            <a:r>
              <a:rPr lang="zh-CN" altLang="en-US" sz="1200" dirty="0">
                <a:solidFill>
                  <a:srgbClr val="0000FF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，具有较高比特传输率的调制技术将具有较高的</a:t>
            </a:r>
            <a:r>
              <a:rPr lang="en-US" altLang="zh-CN" sz="1200" dirty="0">
                <a:solidFill>
                  <a:srgbClr val="0000FF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BER</a:t>
            </a:r>
            <a:endParaRPr lang="zh-CN" altLang="en-US" sz="1200" dirty="0">
              <a:solidFill>
                <a:srgbClr val="0000FF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DE6BD1-92A6-42D3-8FFD-1D6461B22489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24012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495E3C89-52CE-48CC-B9AD-8ABEE25C2A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9F7A0BDC-F4AB-4032-83B1-52A0F64B53E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05476" name="Rectangle 6">
            <a:extLst>
              <a:ext uri="{FF2B5EF4-FFF2-40B4-BE49-F238E27FC236}">
                <a16:creationId xmlns:a16="http://schemas.microsoft.com/office/drawing/2014/main" id="{11A420D5-76E6-4C1B-9661-CE1C3B6CD60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05477" name="Rectangle 7">
            <a:extLst>
              <a:ext uri="{FF2B5EF4-FFF2-40B4-BE49-F238E27FC236}">
                <a16:creationId xmlns:a16="http://schemas.microsoft.com/office/drawing/2014/main" id="{AA6AA6A5-687A-41E7-9D5C-89164645F5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C55915D-5BD3-481C-B61D-5102C944F85E}" type="slidenum">
              <a:rPr lang="ko-KR" altLang="de-DE" smtClean="0">
                <a:latin typeface="Times New Roman" panose="02020603050405020304" pitchFamily="18" charset="0"/>
              </a:rPr>
              <a:pPr/>
              <a:t>52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05478" name="Rectangle 2">
            <a:extLst>
              <a:ext uri="{FF2B5EF4-FFF2-40B4-BE49-F238E27FC236}">
                <a16:creationId xmlns:a16="http://schemas.microsoft.com/office/drawing/2014/main" id="{E890A856-5F31-4361-8A11-30B3A19A17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105479" name="Rectangle 3">
            <a:extLst>
              <a:ext uri="{FF2B5EF4-FFF2-40B4-BE49-F238E27FC236}">
                <a16:creationId xmlns:a16="http://schemas.microsoft.com/office/drawing/2014/main" id="{E11DB636-EA84-4EE7-AEB8-522ADA41DC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B80B5D58-46FF-42FF-AA84-F38C54B46F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934129F0-54B4-4D14-AB64-B8947438CA5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09572" name="Rectangle 6">
            <a:extLst>
              <a:ext uri="{FF2B5EF4-FFF2-40B4-BE49-F238E27FC236}">
                <a16:creationId xmlns:a16="http://schemas.microsoft.com/office/drawing/2014/main" id="{3FB99197-9698-4D3E-A393-775C5085E9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09573" name="Rectangle 7">
            <a:extLst>
              <a:ext uri="{FF2B5EF4-FFF2-40B4-BE49-F238E27FC236}">
                <a16:creationId xmlns:a16="http://schemas.microsoft.com/office/drawing/2014/main" id="{7EC18285-618D-4C10-9BE9-FEBB6F3B6B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0C637417-C5CE-458E-AFE3-893DC636D3DE}" type="slidenum">
              <a:rPr lang="ko-KR" altLang="de-DE" smtClean="0">
                <a:latin typeface="Times New Roman" panose="02020603050405020304" pitchFamily="18" charset="0"/>
              </a:rPr>
              <a:pPr/>
              <a:t>55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09574" name="Rectangle 2">
            <a:extLst>
              <a:ext uri="{FF2B5EF4-FFF2-40B4-BE49-F238E27FC236}">
                <a16:creationId xmlns:a16="http://schemas.microsoft.com/office/drawing/2014/main" id="{2561F56E-C81B-4982-A81A-35D0AEAD7C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109575" name="Rectangle 3">
            <a:extLst>
              <a:ext uri="{FF2B5EF4-FFF2-40B4-BE49-F238E27FC236}">
                <a16:creationId xmlns:a16="http://schemas.microsoft.com/office/drawing/2014/main" id="{29CD0E86-C52F-49D5-BE4F-68D962145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5F391C78-6FFD-4EC1-8B20-D4954E53C0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73B560DA-2C99-45B3-8A23-7777B56228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11620" name="Rectangle 6">
            <a:extLst>
              <a:ext uri="{FF2B5EF4-FFF2-40B4-BE49-F238E27FC236}">
                <a16:creationId xmlns:a16="http://schemas.microsoft.com/office/drawing/2014/main" id="{B8E0FD22-9829-4F28-93BA-D385E710519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11621" name="Rectangle 7">
            <a:extLst>
              <a:ext uri="{FF2B5EF4-FFF2-40B4-BE49-F238E27FC236}">
                <a16:creationId xmlns:a16="http://schemas.microsoft.com/office/drawing/2014/main" id="{35022692-448A-46C6-A0F2-312927D38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27BE4088-FCDD-454A-8941-628C4D19E168}" type="slidenum">
              <a:rPr lang="ko-KR" altLang="de-DE" smtClean="0">
                <a:latin typeface="Times New Roman" panose="02020603050405020304" pitchFamily="18" charset="0"/>
              </a:rPr>
              <a:pPr/>
              <a:t>56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11622" name="Rectangle 2">
            <a:extLst>
              <a:ext uri="{FF2B5EF4-FFF2-40B4-BE49-F238E27FC236}">
                <a16:creationId xmlns:a16="http://schemas.microsoft.com/office/drawing/2014/main" id="{678AE8CC-49E5-4FD7-A87E-83B2EFD6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563" y="11113"/>
            <a:ext cx="30559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ko-KR" altLang="en-US"/>
          </a:p>
        </p:txBody>
      </p:sp>
      <p:sp>
        <p:nvSpPr>
          <p:cNvPr id="111623" name="Rectangle 3">
            <a:extLst>
              <a:ext uri="{FF2B5EF4-FFF2-40B4-BE49-F238E27FC236}">
                <a16:creationId xmlns:a16="http://schemas.microsoft.com/office/drawing/2014/main" id="{5613B6AE-6409-48EF-8B6F-713D209A0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563" y="8850313"/>
            <a:ext cx="30559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974" tIns="0" rIns="18974" bIns="0" anchor="b"/>
          <a:lstStyle>
            <a:lvl1pPr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803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803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803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803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de-DE" altLang="ko-KR" sz="1000" i="1">
                <a:latin typeface="Times New Roman" panose="02020603050405020304" pitchFamily="18" charset="0"/>
                <a:ea typeface="Gulim" panose="020B0600000101010101" pitchFamily="34" charset="-127"/>
              </a:rPr>
              <a:t>12</a:t>
            </a:r>
          </a:p>
        </p:txBody>
      </p:sp>
      <p:sp>
        <p:nvSpPr>
          <p:cNvPr id="111624" name="Rectangle 4">
            <a:extLst>
              <a:ext uri="{FF2B5EF4-FFF2-40B4-BE49-F238E27FC236}">
                <a16:creationId xmlns:a16="http://schemas.microsoft.com/office/drawing/2014/main" id="{D956C511-1FB5-4760-AB99-82953F7A8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850313"/>
            <a:ext cx="305435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ko-KR" altLang="en-US"/>
          </a:p>
        </p:txBody>
      </p:sp>
      <p:sp>
        <p:nvSpPr>
          <p:cNvPr id="111625" name="Rectangle 5">
            <a:extLst>
              <a:ext uri="{FF2B5EF4-FFF2-40B4-BE49-F238E27FC236}">
                <a16:creationId xmlns:a16="http://schemas.microsoft.com/office/drawing/2014/main" id="{5133F385-24DD-4181-B1F3-CC9A69311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113"/>
            <a:ext cx="30543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ko-KR" altLang="en-US"/>
          </a:p>
        </p:txBody>
      </p:sp>
      <p:sp>
        <p:nvSpPr>
          <p:cNvPr id="111626" name="Rectangle 6">
            <a:extLst>
              <a:ext uri="{FF2B5EF4-FFF2-40B4-BE49-F238E27FC236}">
                <a16:creationId xmlns:a16="http://schemas.microsoft.com/office/drawing/2014/main" id="{C56CDCBE-ABB8-41B6-BF7B-971FC443A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04850"/>
            <a:ext cx="4629150" cy="3471863"/>
          </a:xfrm>
          <a:ln w="12700" cap="flat">
            <a:solidFill>
              <a:schemeClr val="tx1"/>
            </a:solidFill>
          </a:ln>
        </p:spPr>
      </p:sp>
      <p:sp>
        <p:nvSpPr>
          <p:cNvPr id="111627" name="Rectangle 7">
            <a:extLst>
              <a:ext uri="{FF2B5EF4-FFF2-40B4-BE49-F238E27FC236}">
                <a16:creationId xmlns:a16="http://schemas.microsoft.com/office/drawing/2014/main" id="{F4BBE8DE-7316-450D-9D8B-89B0E63F1E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" y="4595813"/>
            <a:ext cx="6605588" cy="4441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36" tIns="49018" rIns="98036" bIns="49018"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7A77BD5F-0280-4C88-88E9-345C6F03FE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C66AD265-6E7C-46D0-8458-5365B9C1907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13668" name="Rectangle 6">
            <a:extLst>
              <a:ext uri="{FF2B5EF4-FFF2-40B4-BE49-F238E27FC236}">
                <a16:creationId xmlns:a16="http://schemas.microsoft.com/office/drawing/2014/main" id="{70602BBE-A4A6-4B6F-B95F-1545D23D51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13669" name="Rectangle 7">
            <a:extLst>
              <a:ext uri="{FF2B5EF4-FFF2-40B4-BE49-F238E27FC236}">
                <a16:creationId xmlns:a16="http://schemas.microsoft.com/office/drawing/2014/main" id="{291D6EEE-27E3-4B9E-8FB3-39537FB9DF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CB8F6D0B-2C45-4226-9B8C-2A0F904A832A}" type="slidenum">
              <a:rPr lang="ko-KR" altLang="de-DE" smtClean="0">
                <a:latin typeface="Times New Roman" panose="02020603050405020304" pitchFamily="18" charset="0"/>
              </a:rPr>
              <a:pPr/>
              <a:t>57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13670" name="Rectangle 2">
            <a:extLst>
              <a:ext uri="{FF2B5EF4-FFF2-40B4-BE49-F238E27FC236}">
                <a16:creationId xmlns:a16="http://schemas.microsoft.com/office/drawing/2014/main" id="{3528A343-171B-4EBD-9784-8BDE30B650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113671" name="Rectangle 3">
            <a:extLst>
              <a:ext uri="{FF2B5EF4-FFF2-40B4-BE49-F238E27FC236}">
                <a16:creationId xmlns:a16="http://schemas.microsoft.com/office/drawing/2014/main" id="{F9BDD6DF-25A1-4C48-9E69-C6062E31AA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>
            <a:extLst>
              <a:ext uri="{FF2B5EF4-FFF2-40B4-BE49-F238E27FC236}">
                <a16:creationId xmlns:a16="http://schemas.microsoft.com/office/drawing/2014/main" id="{7BD68413-A810-4D2A-AD96-8D62BD8855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备注占位符 2">
            <a:extLst>
              <a:ext uri="{FF2B5EF4-FFF2-40B4-BE49-F238E27FC236}">
                <a16:creationId xmlns:a16="http://schemas.microsoft.com/office/drawing/2014/main" id="{FEAD8EFE-9987-42D5-BE99-1431DC90F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5716" name="灯片编号占位符 3">
            <a:extLst>
              <a:ext uri="{FF2B5EF4-FFF2-40B4-BE49-F238E27FC236}">
                <a16:creationId xmlns:a16="http://schemas.microsoft.com/office/drawing/2014/main" id="{E9F09B5F-BA52-40F2-8083-03E6F7049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3E1CA56D-3DFE-4172-A3C4-F803D41C603A}" type="slidenum">
              <a:rPr lang="en-US" altLang="zh-CN" smtClean="0">
                <a:latin typeface="Times New Roman" panose="02020603050405020304" pitchFamily="18" charset="0"/>
              </a:rPr>
              <a:pPr/>
              <a:t>58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906A222F-7223-4139-9D1A-BCAC03A094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3C24C6B4-0302-4F8F-ABA2-1519AE39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21860" name="Rectangle 6">
            <a:extLst>
              <a:ext uri="{FF2B5EF4-FFF2-40B4-BE49-F238E27FC236}">
                <a16:creationId xmlns:a16="http://schemas.microsoft.com/office/drawing/2014/main" id="{E1FD434C-1C14-4034-99EC-B22C447334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21861" name="Rectangle 7">
            <a:extLst>
              <a:ext uri="{FF2B5EF4-FFF2-40B4-BE49-F238E27FC236}">
                <a16:creationId xmlns:a16="http://schemas.microsoft.com/office/drawing/2014/main" id="{7E9D0E68-0F35-42FD-A04D-D48298E568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6C6D723-2CAE-404E-832C-4BE1568DB66C}" type="slidenum">
              <a:rPr lang="ko-KR" altLang="de-DE" smtClean="0">
                <a:latin typeface="Times New Roman" panose="02020603050405020304" pitchFamily="18" charset="0"/>
              </a:rPr>
              <a:pPr/>
              <a:t>61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21862" name="Rectangle 2">
            <a:extLst>
              <a:ext uri="{FF2B5EF4-FFF2-40B4-BE49-F238E27FC236}">
                <a16:creationId xmlns:a16="http://schemas.microsoft.com/office/drawing/2014/main" id="{89499BC2-5AA3-496D-907B-4EF9DA0F2F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121863" name="Rectangle 3">
            <a:extLst>
              <a:ext uri="{FF2B5EF4-FFF2-40B4-BE49-F238E27FC236}">
                <a16:creationId xmlns:a16="http://schemas.microsoft.com/office/drawing/2014/main" id="{FCE95074-A8F3-47EF-B976-19362F048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7A9E8B54-E9C9-4657-940A-9357FE7ABF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20D88423-2A36-40FB-9A5D-35F8F60B48AA}" type="slidenum">
              <a:rPr lang="en-US" altLang="zh-CN">
                <a:latin typeface="Times New Roman" panose="02020603050405020304" pitchFamily="18" charset="0"/>
              </a:rPr>
              <a:pPr/>
              <a:t>62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D9D07A47-1B64-44F5-841B-9B8CD75396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4E0F294-FDA8-4B63-BCE9-BCF992081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9F98A481-64B5-42E1-9801-127822E9D2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1A9C448A-A675-420D-BDAF-49C7FC0BAEE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23908" name="Rectangle 6">
            <a:extLst>
              <a:ext uri="{FF2B5EF4-FFF2-40B4-BE49-F238E27FC236}">
                <a16:creationId xmlns:a16="http://schemas.microsoft.com/office/drawing/2014/main" id="{E9613DFC-99C9-4148-81FF-9B458CB415F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23909" name="Rectangle 7">
            <a:extLst>
              <a:ext uri="{FF2B5EF4-FFF2-40B4-BE49-F238E27FC236}">
                <a16:creationId xmlns:a16="http://schemas.microsoft.com/office/drawing/2014/main" id="{420A2983-D63D-4C5E-A588-71D9C2F2F9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19931F45-0972-45CE-9FD9-B280A9A2C9F2}" type="slidenum">
              <a:rPr lang="ko-KR" altLang="de-DE" smtClean="0">
                <a:latin typeface="Times New Roman" panose="02020603050405020304" pitchFamily="18" charset="0"/>
              </a:rPr>
              <a:pPr/>
              <a:t>63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23910" name="Rectangle 2">
            <a:extLst>
              <a:ext uri="{FF2B5EF4-FFF2-40B4-BE49-F238E27FC236}">
                <a16:creationId xmlns:a16="http://schemas.microsoft.com/office/drawing/2014/main" id="{05E84F2E-941A-4811-ADF9-9B101B0806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123911" name="Rectangle 3">
            <a:extLst>
              <a:ext uri="{FF2B5EF4-FFF2-40B4-BE49-F238E27FC236}">
                <a16:creationId xmlns:a16="http://schemas.microsoft.com/office/drawing/2014/main" id="{40C8A339-54B3-47FE-815B-4FFC074B1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itchFamily="34" charset="-127"/>
              </a:rPr>
              <a:t>Institut of Computer Science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itchFamily="34" charset="-127"/>
              </a:rPr>
              <a:t>2002</a:t>
            </a:r>
          </a:p>
        </p:txBody>
      </p:sp>
      <p:sp>
        <p:nvSpPr>
          <p:cNvPr id="809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itchFamily="34" charset="-127"/>
              </a:rPr>
              <a:t>Prof. Dr.-Ing. Jochen Schiller</a:t>
            </a:r>
          </a:p>
        </p:txBody>
      </p:sp>
      <p:sp>
        <p:nvSpPr>
          <p:cNvPr id="809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9705ABD6-23C0-4BF6-A8F9-4D08071EAE49}" type="slidenum">
              <a:rPr lang="ko-KR" altLang="de-DE">
                <a:latin typeface="Times New Roman" panose="02020603050405020304" pitchFamily="18" charset="0"/>
              </a:rPr>
              <a:pPr/>
              <a:t>64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80902" name="Rectangle 2"/>
          <p:cNvSpPr>
            <a:spLocks noChangeArrowheads="1"/>
          </p:cNvSpPr>
          <p:nvPr/>
        </p:nvSpPr>
        <p:spPr bwMode="auto">
          <a:xfrm>
            <a:off x="3992563" y="11113"/>
            <a:ext cx="30559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ko-KR" altLang="en-US"/>
          </a:p>
        </p:txBody>
      </p:sp>
      <p:sp>
        <p:nvSpPr>
          <p:cNvPr id="80903" name="Rectangle 3"/>
          <p:cNvSpPr>
            <a:spLocks noChangeArrowheads="1"/>
          </p:cNvSpPr>
          <p:nvPr/>
        </p:nvSpPr>
        <p:spPr bwMode="auto">
          <a:xfrm>
            <a:off x="3992563" y="8850313"/>
            <a:ext cx="30559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974" tIns="0" rIns="18974" bIns="0" anchor="b"/>
          <a:lstStyle>
            <a:lvl1pPr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803275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803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803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803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803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de-DE" altLang="ko-KR" sz="1000" i="1">
                <a:latin typeface="Times New Roman" panose="02020603050405020304" pitchFamily="18" charset="0"/>
                <a:ea typeface="Gulim" pitchFamily="34" charset="-127"/>
              </a:rPr>
              <a:t>12</a:t>
            </a:r>
          </a:p>
        </p:txBody>
      </p:sp>
      <p:sp>
        <p:nvSpPr>
          <p:cNvPr id="80904" name="Rectangle 4"/>
          <p:cNvSpPr>
            <a:spLocks noChangeArrowheads="1"/>
          </p:cNvSpPr>
          <p:nvPr/>
        </p:nvSpPr>
        <p:spPr bwMode="auto">
          <a:xfrm>
            <a:off x="0" y="8850313"/>
            <a:ext cx="305435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ko-KR" altLang="en-US"/>
          </a:p>
        </p:txBody>
      </p:sp>
      <p:sp>
        <p:nvSpPr>
          <p:cNvPr id="80905" name="Rectangle 5"/>
          <p:cNvSpPr>
            <a:spLocks noChangeArrowheads="1"/>
          </p:cNvSpPr>
          <p:nvPr/>
        </p:nvSpPr>
        <p:spPr bwMode="auto">
          <a:xfrm>
            <a:off x="0" y="11113"/>
            <a:ext cx="30543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ko-KR" altLang="en-US"/>
          </a:p>
        </p:txBody>
      </p:sp>
      <p:sp>
        <p:nvSpPr>
          <p:cNvPr id="809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04850"/>
            <a:ext cx="4629150" cy="3471863"/>
          </a:xfrm>
          <a:ln w="12700" cap="flat">
            <a:solidFill>
              <a:schemeClr val="tx1"/>
            </a:solidFill>
          </a:ln>
        </p:spPr>
      </p:sp>
      <p:sp>
        <p:nvSpPr>
          <p:cNvPr id="809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3975" y="4595813"/>
            <a:ext cx="6605588" cy="4441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36" tIns="49018" rIns="98036" bIns="49018"/>
          <a:lstStyle/>
          <a:p>
            <a:r>
              <a:rPr lang="zh-CN" altLang="en-US" dirty="0">
                <a:latin typeface="Times New Roman" panose="02020603050405020304" pitchFamily="18" charset="0"/>
                <a:ea typeface="Gulim" pitchFamily="34" charset="-127"/>
              </a:rPr>
              <a:t>如何降低冲突的概率：</a:t>
            </a:r>
            <a:endParaRPr lang="en-US" altLang="zh-CN" dirty="0">
              <a:latin typeface="Times New Roman" panose="02020603050405020304" pitchFamily="18" charset="0"/>
              <a:ea typeface="Gulim" pitchFamily="34" charset="-127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Gulim" pitchFamily="34" charset="-127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Gulim" pitchFamily="34" charset="-127"/>
              </a:rPr>
              <a:t>）增加不同优先级的帧间间隔时间，信道空闲时间必须大于</a:t>
            </a:r>
            <a:r>
              <a:rPr lang="en-US" altLang="zh-CN" dirty="0">
                <a:latin typeface="Times New Roman" panose="02020603050405020304" pitchFamily="18" charset="0"/>
                <a:ea typeface="Gulim" pitchFamily="34" charset="-127"/>
              </a:rPr>
              <a:t>IFS</a:t>
            </a:r>
            <a:r>
              <a:rPr lang="zh-CN" altLang="en-US" dirty="0">
                <a:latin typeface="Times New Roman" panose="02020603050405020304" pitchFamily="18" charset="0"/>
                <a:ea typeface="Gulim" pitchFamily="34" charset="-127"/>
              </a:rPr>
              <a:t>才能发送，保证高优先级帧优先发送而不和低优先级帧冲突；</a:t>
            </a:r>
            <a:endParaRPr lang="en-US" altLang="zh-CN" dirty="0">
              <a:latin typeface="Times New Roman" panose="02020603050405020304" pitchFamily="18" charset="0"/>
              <a:ea typeface="Gulim" pitchFamily="34" charset="-127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Gulim" pitchFamily="34" charset="-127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Gulim" pitchFamily="34" charset="-127"/>
              </a:rPr>
              <a:t>）信号由忙变为空闲且经过</a:t>
            </a:r>
            <a:r>
              <a:rPr lang="en-US" altLang="zh-CN" dirty="0">
                <a:latin typeface="Times New Roman" panose="02020603050405020304" pitchFamily="18" charset="0"/>
                <a:ea typeface="Gulim" pitchFamily="34" charset="-127"/>
              </a:rPr>
              <a:t>DIFS</a:t>
            </a:r>
            <a:r>
              <a:rPr lang="zh-CN" altLang="en-US" dirty="0">
                <a:latin typeface="Times New Roman" panose="02020603050405020304" pitchFamily="18" charset="0"/>
                <a:ea typeface="Gulim" pitchFamily="34" charset="-127"/>
              </a:rPr>
              <a:t>后，还要退避一段随机时间才能使用信道，以减少冲突可能性</a:t>
            </a:r>
            <a:endParaRPr lang="en-US" altLang="zh-CN" dirty="0">
              <a:latin typeface="Times New Roman" panose="02020603050405020304" pitchFamily="18" charset="0"/>
              <a:ea typeface="Gulim" pitchFamily="34" charset="-127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Gulim" pitchFamily="34" charset="-127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Gulim" pitchFamily="34" charset="-127"/>
              </a:rPr>
              <a:t>）使用</a:t>
            </a:r>
            <a:r>
              <a:rPr lang="en-US" altLang="zh-CN" dirty="0">
                <a:latin typeface="Times New Roman" panose="02020603050405020304" pitchFamily="18" charset="0"/>
                <a:ea typeface="Gulim" pitchFamily="34" charset="-127"/>
              </a:rPr>
              <a:t>RTS/CTS</a:t>
            </a:r>
            <a:r>
              <a:rPr lang="zh-CN" altLang="en-US" dirty="0">
                <a:latin typeface="Times New Roman" panose="02020603050405020304" pitchFamily="18" charset="0"/>
                <a:ea typeface="Gulim" pitchFamily="34" charset="-127"/>
              </a:rPr>
              <a:t>信道预约和虚拟载波监听机制（通过</a:t>
            </a:r>
            <a:r>
              <a:rPr lang="en-US" altLang="zh-CN" dirty="0">
                <a:latin typeface="Times New Roman" panose="02020603050405020304" pitchFamily="18" charset="0"/>
                <a:ea typeface="Gulim" pitchFamily="34" charset="-127"/>
              </a:rPr>
              <a:t>NAV</a:t>
            </a:r>
            <a:r>
              <a:rPr lang="zh-CN" altLang="en-US" dirty="0">
                <a:latin typeface="Times New Roman" panose="02020603050405020304" pitchFamily="18" charset="0"/>
                <a:ea typeface="Gulim" pitchFamily="34" charset="-127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+mn-ea"/>
                <a:cs typeface="+mn-cs"/>
              </a:rPr>
              <a:t>Network allocation vector</a:t>
            </a:r>
            <a:r>
              <a:rPr lang="zh-CN" altLang="en-US" dirty="0">
                <a:latin typeface="Times New Roman" panose="02020603050405020304" pitchFamily="18" charset="0"/>
                <a:ea typeface="Gulim" pitchFamily="34" charset="-127"/>
              </a:rPr>
              <a:t>网络分配向量），尽可能较少由于隐藏终端带来的冲突问题</a:t>
            </a:r>
            <a:endParaRPr lang="ko-KR" altLang="en-US" dirty="0">
              <a:latin typeface="Times New Roman" panose="02020603050405020304" pitchFamily="18" charset="0"/>
              <a:ea typeface="Gulim" pitchFamily="34" charset="-127"/>
            </a:endParaRPr>
          </a:p>
          <a:p>
            <a:endParaRPr lang="en-US" altLang="ko-KR" dirty="0">
              <a:latin typeface="Times New Roman" panose="02020603050405020304" pitchFamily="18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08914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66519BF8-EC2E-4E35-868A-F18AC589F7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FE44599D-BD42-4803-B4F6-0E5B9FF268AA}" type="slidenum">
              <a:rPr lang="en-US" altLang="zh-CN">
                <a:latin typeface="Times New Roman" panose="02020603050405020304" pitchFamily="18" charset="0"/>
              </a:rPr>
              <a:pPr/>
              <a:t>65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7F9B0B1E-D2AA-4575-A6BF-0AF7199423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EDCBEF8-D4C0-400F-95D3-CD6B7DCAE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198DF677-CDE2-47D0-B31E-C75AB6C847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93E1E8C-1787-43F8-8C90-6CF6A738B350}" type="slidenum">
              <a:rPr lang="en-US" altLang="zh-CN">
                <a:latin typeface="Times New Roman" panose="02020603050405020304" pitchFamily="18" charset="0"/>
              </a:rPr>
              <a:pPr/>
              <a:t>66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160EC254-94CF-4405-8C13-D7DE0DA735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B996D596-F9F7-46B0-AB74-28A2EAE6C8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0FBA9CA1-A8A1-4AC2-BDAF-4A702956F3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49347FD7-62B8-43E5-B97F-32EB7C7432F0}" type="slidenum">
              <a:rPr lang="en-US" altLang="zh-CN">
                <a:latin typeface="Times New Roman" panose="02020603050405020304" pitchFamily="18" charset="0"/>
              </a:rPr>
              <a:pPr/>
              <a:t>67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5CED89EB-329C-49AE-ACA7-E65A415192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3EABAAB5-2ED8-4994-9357-AE924CD58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B0936F5E-74AB-4248-8591-8BF221DECE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45B9F5D0-D7D3-4139-8540-25662C4151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25956" name="Rectangle 6">
            <a:extLst>
              <a:ext uri="{FF2B5EF4-FFF2-40B4-BE49-F238E27FC236}">
                <a16:creationId xmlns:a16="http://schemas.microsoft.com/office/drawing/2014/main" id="{846D46C0-D03C-4755-85F2-4A16F9A7C3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25957" name="Rectangle 7">
            <a:extLst>
              <a:ext uri="{FF2B5EF4-FFF2-40B4-BE49-F238E27FC236}">
                <a16:creationId xmlns:a16="http://schemas.microsoft.com/office/drawing/2014/main" id="{688358D8-A53C-41DB-8A92-5010E0238E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8F2EF352-B9C2-41CE-BB4D-473F14614807}" type="slidenum">
              <a:rPr lang="ko-KR" altLang="de-DE" smtClean="0">
                <a:latin typeface="Times New Roman" panose="02020603050405020304" pitchFamily="18" charset="0"/>
              </a:rPr>
              <a:pPr/>
              <a:t>68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25958" name="Rectangle 2">
            <a:extLst>
              <a:ext uri="{FF2B5EF4-FFF2-40B4-BE49-F238E27FC236}">
                <a16:creationId xmlns:a16="http://schemas.microsoft.com/office/drawing/2014/main" id="{EE9F7439-2999-4DCB-A988-337F5F24A7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125959" name="Rectangle 3">
            <a:extLst>
              <a:ext uri="{FF2B5EF4-FFF2-40B4-BE49-F238E27FC236}">
                <a16:creationId xmlns:a16="http://schemas.microsoft.com/office/drawing/2014/main" id="{769027F5-6CE9-43AA-93A0-ABBFD334B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17B30BC9-47ED-4AE8-B940-BBEB645312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4891A26D-DA59-4D56-BB88-8FC959528FE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28004" name="Rectangle 6">
            <a:extLst>
              <a:ext uri="{FF2B5EF4-FFF2-40B4-BE49-F238E27FC236}">
                <a16:creationId xmlns:a16="http://schemas.microsoft.com/office/drawing/2014/main" id="{941E2305-E031-4950-A670-275EF6D3CB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28005" name="Rectangle 7">
            <a:extLst>
              <a:ext uri="{FF2B5EF4-FFF2-40B4-BE49-F238E27FC236}">
                <a16:creationId xmlns:a16="http://schemas.microsoft.com/office/drawing/2014/main" id="{BDD7DB81-0C10-49D9-BB5A-5ED413F95C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C05F440-0457-421D-9042-D560B2AECD9E}" type="slidenum">
              <a:rPr lang="ko-KR" altLang="de-DE" smtClean="0">
                <a:latin typeface="Times New Roman" panose="02020603050405020304" pitchFamily="18" charset="0"/>
              </a:rPr>
              <a:pPr/>
              <a:t>69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28006" name="Rectangle 2">
            <a:extLst>
              <a:ext uri="{FF2B5EF4-FFF2-40B4-BE49-F238E27FC236}">
                <a16:creationId xmlns:a16="http://schemas.microsoft.com/office/drawing/2014/main" id="{E9CE2CE6-5E9F-4314-A580-C31EF23E45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128007" name="Rectangle 3">
            <a:extLst>
              <a:ext uri="{FF2B5EF4-FFF2-40B4-BE49-F238E27FC236}">
                <a16:creationId xmlns:a16="http://schemas.microsoft.com/office/drawing/2014/main" id="{ABF2D3E8-C042-4C9D-B6A7-9E3AC3320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BD7A3E99-8898-481B-B012-D824790344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Freie Universität Berlin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Institut of Computer Science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49857438-E411-442B-8D3C-1B94C51D3F0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Mobile Communications</a:t>
            </a:r>
          </a:p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2002</a:t>
            </a:r>
          </a:p>
        </p:txBody>
      </p:sp>
      <p:sp>
        <p:nvSpPr>
          <p:cNvPr id="130052" name="Rectangle 6">
            <a:extLst>
              <a:ext uri="{FF2B5EF4-FFF2-40B4-BE49-F238E27FC236}">
                <a16:creationId xmlns:a16="http://schemas.microsoft.com/office/drawing/2014/main" id="{D1B0DABB-F45E-4639-95BA-DE1309A3651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de-DE" altLang="ko-KR">
                <a:latin typeface="Arial" panose="020B0604020202020204" pitchFamily="34" charset="0"/>
                <a:ea typeface="Gulim" panose="020B0600000101010101" pitchFamily="34" charset="-127"/>
              </a:rPr>
              <a:t>Prof. Dr.-Ing. Jochen Schiller</a:t>
            </a:r>
          </a:p>
        </p:txBody>
      </p:sp>
      <p:sp>
        <p:nvSpPr>
          <p:cNvPr id="130053" name="Rectangle 7">
            <a:extLst>
              <a:ext uri="{FF2B5EF4-FFF2-40B4-BE49-F238E27FC236}">
                <a16:creationId xmlns:a16="http://schemas.microsoft.com/office/drawing/2014/main" id="{A3C9AE4F-B648-4D16-BEE6-EEBE2C3A5E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72B1E933-3572-4EA8-B2F0-0A95302BD833}" type="slidenum">
              <a:rPr lang="ko-KR" altLang="de-DE" smtClean="0">
                <a:latin typeface="Times New Roman" panose="02020603050405020304" pitchFamily="18" charset="0"/>
              </a:rPr>
              <a:pPr/>
              <a:t>70</a:t>
            </a:fld>
            <a:endParaRPr lang="de-DE" altLang="ko-KR">
              <a:latin typeface="Times New Roman" panose="02020603050405020304" pitchFamily="18" charset="0"/>
            </a:endParaRPr>
          </a:p>
        </p:txBody>
      </p:sp>
      <p:sp>
        <p:nvSpPr>
          <p:cNvPr id="130054" name="Rectangle 2">
            <a:extLst>
              <a:ext uri="{FF2B5EF4-FFF2-40B4-BE49-F238E27FC236}">
                <a16:creationId xmlns:a16="http://schemas.microsoft.com/office/drawing/2014/main" id="{3F674486-4B03-4912-9C93-3AC4AF9CDC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9350" y="663575"/>
            <a:ext cx="4713288" cy="3533775"/>
          </a:xfrm>
          <a:ln/>
        </p:spPr>
      </p:sp>
      <p:sp>
        <p:nvSpPr>
          <p:cNvPr id="130055" name="Rectangle 3">
            <a:extLst>
              <a:ext uri="{FF2B5EF4-FFF2-40B4-BE49-F238E27FC236}">
                <a16:creationId xmlns:a16="http://schemas.microsoft.com/office/drawing/2014/main" id="{CF1C72C4-738B-4F7D-8FE3-602CAD57D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467C36-0BEE-41BA-8DCE-4206667767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8AA4BA-76F8-4952-9CDA-D24F595041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D39D524C-410A-4932-9E81-F1885997F3E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09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49FD9-9618-4629-8F0E-5E1FDA2BE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86DB15-2812-49AF-87D2-F832FAFA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E0605AB1-DAD7-4753-86BA-8ACE70D15F4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82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0EB0BE-6751-4DF3-AC9E-18C8D592D4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C6766C-C3EB-4F6B-AF9C-B4E2A96B9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410200" y="64008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4:Local area network  </a:t>
            </a:r>
            <a:endParaRPr lang="en-US" altLang="zh-CN">
              <a:latin typeface="Times New Roman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BAA152-E155-47C5-9761-D59102995F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42A04B4B-FF9C-44CE-B034-9795C46CF4B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995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E4990E-84AB-4C4D-8965-14DCBCBA02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7534C1-2EB5-4C65-9CC5-6BF72AB9A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D7A6DD34-098B-41EE-AF79-8DAE31B625B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791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D8381DB-B96C-4BC1-9A96-5EFF8A6E38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DC3ABF-B238-4803-9EA6-D10E597AFE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BE94A468-48CD-4094-A8AC-9648050D849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3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3A43ECA-34B3-4581-A242-C68C66363B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E314413-C4ED-4FA2-81EE-683675A881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04AE038D-61E8-4EA7-A997-7833CBC82AB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89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F4E21B9-61C0-48F2-BF3D-B8D666DC22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8A59641-4A7A-4DB7-891C-679E3FA440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7C0B8D98-3294-4136-9D44-7B93C6C0E06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53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026DEF-012F-425C-9EFF-1152709135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7DFA1-7FC6-41CB-8FFF-16A78337B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39A7E24F-98A1-4219-96DD-45A334577EF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364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A0FC17-DBAC-4374-8D4E-C0CB061A0A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B27B5-281D-4794-A5AA-E967159A15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A7965A87-AF5A-46F4-A05C-2781187E9EE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488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46BF09-E2DF-4511-9D85-933B64FCDE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CFE697-BBA3-4015-AB0D-C0BB4538CC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3A3FD84C-4082-468E-9480-E6EA7C9F9E2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566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A2B4E0-89FE-4F13-9789-4CBA0ACD6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8BF521-0C36-450C-95B9-EC41C1570C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4-</a:t>
            </a:r>
            <a:fld id="{BE514B4A-31B2-454D-9D90-E61D1A227AE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638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FB2AB01-D9D2-4F95-AA26-9C7D89D81E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0D6E7A-4557-4F03-9B11-586BC902F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F4F4A75-DC35-41F4-B6C9-A3ABADEF8C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E3B5EA3-D063-409D-BA3A-D712ADC05D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4-</a:t>
            </a:r>
            <a:fld id="{DCBB0851-8C1F-4F37-ABBD-CF2D7B170C5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7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ndards-oui.ieee.org/oui/oui.tx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c.bmcx.com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jpeg"/><Relationship Id="rId4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notesSlide" Target="../notesSlides/notesSlide19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9.wmf"/><Relationship Id="rId9" Type="http://schemas.openxmlformats.org/officeDocument/2006/relationships/image" Target="../media/image22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4.bin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7AA9B675-AADD-4E0C-9920-0DEA34459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24000"/>
            <a:ext cx="576421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solidFill>
                  <a:schemeClr val="accent2"/>
                </a:solidFill>
                <a:ea typeface="宋体" panose="02010600030101010101" pitchFamily="2" charset="-122"/>
              </a:rPr>
              <a:t>Chapter 4</a:t>
            </a:r>
            <a:br>
              <a:rPr lang="en-US" altLang="zh-CN" sz="400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sz="4000">
                <a:solidFill>
                  <a:schemeClr val="accent2"/>
                </a:solidFill>
                <a:ea typeface="宋体" panose="02010600030101010101" pitchFamily="2" charset="-122"/>
              </a:rPr>
              <a:t>Local Area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5">
            <a:extLst>
              <a:ext uri="{FF2B5EF4-FFF2-40B4-BE49-F238E27FC236}">
                <a16:creationId xmlns:a16="http://schemas.microsoft.com/office/drawing/2014/main" id="{CE335721-F0A7-498E-AD1D-1AFF8149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86705150-257A-4BC3-8CE6-D09CA6515627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6148" name="Picture 2" descr="C:\WINDOWS\Profiles\gerla\My Documents\kurose-pictures\5.3-9LanAccess.jpg">
            <a:extLst>
              <a:ext uri="{FF2B5EF4-FFF2-40B4-BE49-F238E27FC236}">
                <a16:creationId xmlns:a16="http://schemas.microsoft.com/office/drawing/2014/main" id="{644C1453-03C1-4D6B-AD94-432DF52A9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550" y="2641351"/>
            <a:ext cx="4572000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3">
            <a:extLst>
              <a:ext uri="{FF2B5EF4-FFF2-40B4-BE49-F238E27FC236}">
                <a16:creationId xmlns:a16="http://schemas.microsoft.com/office/drawing/2014/main" id="{BE038846-6FC8-4CE0-AFE3-30C22145D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LAN technologies</a:t>
            </a: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D6AF2CC8-3083-4A11-84DB-433AD2958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263" y="1349375"/>
            <a:ext cx="7772400" cy="46482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Data link layer so far: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services, error detection/correction, multiple access </a:t>
            </a:r>
          </a:p>
          <a:p>
            <a:pPr>
              <a:buFont typeface="ZapfDingbats" pitchFamily="8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Next: LAN technologies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LAN model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addressing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Ethernet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hubs, switches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802.11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802.15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5">
            <a:extLst>
              <a:ext uri="{FF2B5EF4-FFF2-40B4-BE49-F238E27FC236}">
                <a16:creationId xmlns:a16="http://schemas.microsoft.com/office/drawing/2014/main" id="{CE335721-F0A7-498E-AD1D-1AFF8149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86705150-257A-4BC3-8CE6-D09CA6515627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BE038846-6FC8-4CE0-AFE3-30C22145D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charset="-122"/>
              </a:rPr>
              <a:t>Keypoints</a:t>
            </a:r>
            <a:r>
              <a:rPr lang="en-US" altLang="zh-CN" dirty="0">
                <a:ea typeface="宋体" charset="-122"/>
              </a:rPr>
              <a:t> and Difficulties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E699F78-440C-492D-9917-014C8B8F8F6A}"/>
              </a:ext>
            </a:extLst>
          </p:cNvPr>
          <p:cNvSpPr txBox="1">
            <a:spLocks noChangeArrowheads="1"/>
          </p:cNvSpPr>
          <p:nvPr/>
        </p:nvSpPr>
        <p:spPr>
          <a:xfrm>
            <a:off x="547688" y="1362075"/>
            <a:ext cx="3573462" cy="48371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u="sng" kern="0" dirty="0" err="1">
                <a:solidFill>
                  <a:srgbClr val="FF0000"/>
                </a:solidFill>
                <a:ea typeface="宋体" panose="02010600030101010101" pitchFamily="2" charset="-122"/>
              </a:rPr>
              <a:t>Keypoints</a:t>
            </a:r>
            <a:r>
              <a:rPr lang="en-US" altLang="zh-CN" u="sng" kern="0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en-US" altLang="zh-CN" dirty="0">
                <a:ea typeface="宋体" panose="02010600030101010101" pitchFamily="2" charset="-122"/>
              </a:rPr>
              <a:t>LAN model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dirty="0">
                <a:ea typeface="宋体" panose="02010600030101010101" pitchFamily="2" charset="-122"/>
              </a:rPr>
              <a:t>Ethernet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dirty="0">
                <a:ea typeface="宋体" panose="02010600030101010101" pitchFamily="2" charset="-122"/>
              </a:rPr>
              <a:t>Hubs, switches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dirty="0">
                <a:ea typeface="宋体" panose="02010600030101010101" pitchFamily="2" charset="-122"/>
              </a:rPr>
              <a:t>Wireless LAN-IEEE 802.11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u="sng" kern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96B542F-F367-4304-9753-BDFE3F4E2E8F}"/>
              </a:ext>
            </a:extLst>
          </p:cNvPr>
          <p:cNvSpPr txBox="1">
            <a:spLocks noChangeArrowheads="1"/>
          </p:cNvSpPr>
          <p:nvPr/>
        </p:nvSpPr>
        <p:spPr>
          <a:xfrm>
            <a:off x="4876800" y="1371600"/>
            <a:ext cx="3819525" cy="4648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 typeface="ZapfDingbats" pitchFamily="82" charset="2"/>
              <a:buNone/>
              <a:defRPr/>
            </a:pPr>
            <a:r>
              <a:rPr lang="en-US" altLang="zh-CN" u="sng" kern="0" dirty="0">
                <a:solidFill>
                  <a:srgbClr val="FF0000"/>
                </a:solidFill>
                <a:ea typeface="宋体" panose="02010600030101010101" pitchFamily="2" charset="-122"/>
              </a:rPr>
              <a:t>Difficulties: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kern="0" dirty="0">
                <a:ea typeface="宋体" panose="02010600030101010101" pitchFamily="2" charset="-122"/>
              </a:rPr>
              <a:t>The minimum frame length</a:t>
            </a:r>
          </a:p>
          <a:p>
            <a:pPr>
              <a:defRPr/>
            </a:pPr>
            <a:r>
              <a:rPr lang="en-US" altLang="zh-CN" kern="0" dirty="0">
                <a:ea typeface="宋体" panose="02010600030101010101" pitchFamily="2" charset="-122"/>
              </a:rPr>
              <a:t>The </a:t>
            </a:r>
            <a:r>
              <a:rPr lang="en-US" altLang="zh-CN" dirty="0">
                <a:ea typeface="宋体" panose="02010600030101010101" pitchFamily="2" charset="-122"/>
              </a:rPr>
              <a:t>exponential </a:t>
            </a:r>
            <a:r>
              <a:rPr lang="en-US" altLang="zh-CN" dirty="0" err="1">
                <a:ea typeface="宋体" panose="02010600030101010101" pitchFamily="2" charset="-122"/>
              </a:rPr>
              <a:t>Backoff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kern="0" dirty="0">
                <a:ea typeface="宋体" panose="02010600030101010101" pitchFamily="2" charset="-122"/>
              </a:rPr>
              <a:t>algorithm</a:t>
            </a:r>
          </a:p>
          <a:p>
            <a:pPr>
              <a:defRPr/>
            </a:pPr>
            <a:r>
              <a:rPr lang="en-US" altLang="zh-CN" kern="0" dirty="0">
                <a:ea typeface="宋体" panose="02010600030101010101" pitchFamily="2" charset="-122"/>
              </a:rPr>
              <a:t>CSMA/CA</a:t>
            </a:r>
          </a:p>
        </p:txBody>
      </p:sp>
    </p:spTree>
    <p:extLst>
      <p:ext uri="{BB962C8B-B14F-4D97-AF65-F5344CB8AC3E}">
        <p14:creationId xmlns:p14="http://schemas.microsoft.com/office/powerpoint/2010/main" val="372971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灯片编号占位符 5">
            <a:extLst>
              <a:ext uri="{FF2B5EF4-FFF2-40B4-BE49-F238E27FC236}">
                <a16:creationId xmlns:a16="http://schemas.microsoft.com/office/drawing/2014/main" id="{EF8E2E65-9A5A-4732-901E-F06C156D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C36D5F3C-B8AF-4F5D-862A-2C43B4B0C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ED1DB17-F012-4B6D-8651-690C38C53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LAN model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808C3D4-9207-4CF2-AF83-537E1B00EDFC}"/>
              </a:ext>
            </a:extLst>
          </p:cNvPr>
          <p:cNvGrpSpPr>
            <a:grpSpLocks/>
          </p:cNvGrpSpPr>
          <p:nvPr/>
        </p:nvGrpSpPr>
        <p:grpSpPr bwMode="auto">
          <a:xfrm>
            <a:off x="614363" y="2176463"/>
            <a:ext cx="7861300" cy="3095625"/>
            <a:chOff x="856" y="1475"/>
            <a:chExt cx="5411" cy="2352"/>
          </a:xfrm>
        </p:grpSpPr>
        <p:sp>
          <p:nvSpPr>
            <p:cNvPr id="7174" name="Rectangle 5">
              <a:extLst>
                <a:ext uri="{FF2B5EF4-FFF2-40B4-BE49-F238E27FC236}">
                  <a16:creationId xmlns:a16="http://schemas.microsoft.com/office/drawing/2014/main" id="{58716166-98DA-4F4D-9863-FAF6A687C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" y="2292"/>
              <a:ext cx="1007" cy="719"/>
            </a:xfrm>
            <a:prstGeom prst="rect">
              <a:avLst/>
            </a:prstGeom>
            <a:solidFill>
              <a:srgbClr val="FF00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0000"/>
              </a:extrusionClr>
              <a:contourClr>
                <a:srgbClr val="FF0000"/>
              </a:contourClr>
            </a:sp3d>
          </p:spPr>
          <p:txBody>
            <a:bodyPr wrap="none" lIns="92075" tIns="46038" rIns="92075" bIns="46038" anchor="ctr">
              <a:flatTx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chemeClr val="bg1"/>
                  </a:solidFill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chemeClr val="bg1"/>
                  </a:solidFill>
                  <a:ea typeface="宋体" panose="02010600030101010101" pitchFamily="2" charset="-122"/>
                </a:rPr>
                <a:t> layer</a:t>
              </a:r>
              <a:endParaRPr lang="zh-CN" altLang="en-US" sz="1800" b="1">
                <a:ea typeface="宋体" panose="02010600030101010101" pitchFamily="2" charset="-122"/>
              </a:endParaRPr>
            </a:p>
          </p:txBody>
        </p:sp>
        <p:sp>
          <p:nvSpPr>
            <p:cNvPr id="7175" name="Rectangle 6">
              <a:extLst>
                <a:ext uri="{FF2B5EF4-FFF2-40B4-BE49-F238E27FC236}">
                  <a16:creationId xmlns:a16="http://schemas.microsoft.com/office/drawing/2014/main" id="{D6DB356D-87A2-42C9-BDF9-D9329FC1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" y="3107"/>
              <a:ext cx="960" cy="720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</p:spPr>
          <p:txBody>
            <a:bodyPr wrap="none" lIns="92075" tIns="46038" rIns="92075" bIns="46038" anchor="ctr">
              <a:flatTx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ea typeface="宋体" panose="02010600030101010101" pitchFamily="2" charset="-122"/>
                </a:rPr>
                <a:t>Physical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ea typeface="宋体" panose="02010600030101010101" pitchFamily="2" charset="-122"/>
                </a:rPr>
                <a:t> layer</a:t>
              </a:r>
              <a:endParaRPr lang="zh-CN" altLang="en-US" sz="1800" b="1">
                <a:ea typeface="宋体" panose="02010600030101010101" pitchFamily="2" charset="-122"/>
              </a:endParaRPr>
            </a:p>
          </p:txBody>
        </p:sp>
        <p:sp>
          <p:nvSpPr>
            <p:cNvPr id="7176" name="Rectangle 7">
              <a:extLst>
                <a:ext uri="{FF2B5EF4-FFF2-40B4-BE49-F238E27FC236}">
                  <a16:creationId xmlns:a16="http://schemas.microsoft.com/office/drawing/2014/main" id="{A05ED1FA-5EA1-4494-A3D2-6868768A0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" y="1475"/>
              <a:ext cx="1007" cy="720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</p:spPr>
          <p:txBody>
            <a:bodyPr wrap="none" lIns="92075" tIns="46038" rIns="92075" bIns="46038" anchor="ctr">
              <a:flatTx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ea typeface="宋体" panose="02010600030101010101" pitchFamily="2" charset="-122"/>
                </a:rPr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ea typeface="宋体" panose="02010600030101010101" pitchFamily="2" charset="-122"/>
                </a:rPr>
                <a:t> layer</a:t>
              </a:r>
              <a:endParaRPr lang="zh-CN" altLang="en-US" sz="1800" b="1">
                <a:ea typeface="宋体" panose="02010600030101010101" pitchFamily="2" charset="-122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BA9318DB-34E9-4404-8CD7-0AFC9B8C7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579"/>
              <a:ext cx="1632" cy="528"/>
            </a:xfrm>
            <a:prstGeom prst="rect">
              <a:avLst/>
            </a:prstGeom>
            <a:solidFill>
              <a:srgbClr val="66FFFF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FFFF"/>
              </a:extrusionClr>
            </a:sp3d>
          </p:spPr>
          <p:txBody>
            <a:bodyPr wrap="none" lIns="92075" tIns="46038" rIns="92075" bIns="46038" anchor="ctr">
              <a:flatTx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FF0000"/>
                  </a:solidFill>
                  <a:latin typeface="+mn-ea"/>
                </a:rPr>
                <a:t>MAC</a:t>
              </a:r>
              <a:r>
                <a:rPr lang="en-US" altLang="zh-CN" b="1" dirty="0">
                  <a:latin typeface="+mn-ea"/>
                </a:rPr>
                <a:t> sub layer</a:t>
              </a: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FAECE1F0-2F1C-4D77-9EEB-53CC8E1E6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003"/>
              <a:ext cx="1632" cy="528"/>
            </a:xfrm>
            <a:prstGeom prst="rect">
              <a:avLst/>
            </a:prstGeom>
            <a:solidFill>
              <a:srgbClr val="FFFF99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</p:spPr>
          <p:txBody>
            <a:bodyPr wrap="none" lIns="92075" tIns="46038" rIns="92075" bIns="46038" anchor="ctr">
              <a:flatTx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FF0000"/>
                  </a:solidFill>
                  <a:latin typeface="+mn-ea"/>
                </a:rPr>
                <a:t>LLC</a:t>
              </a:r>
              <a:r>
                <a:rPr lang="en-US" altLang="zh-CN" b="1" dirty="0">
                  <a:latin typeface="+mn-ea"/>
                </a:rPr>
                <a:t> sub layer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8D9B8F98-5E28-41CE-8A0B-1DF5C585D4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2" y="2003"/>
              <a:ext cx="288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5F4149E2-78F5-4515-A398-52EE86967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2" y="2963"/>
              <a:ext cx="28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20433F4B-14F8-4D9C-B6F3-0A115878A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1571"/>
              <a:ext cx="2112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b="1">
                  <a:latin typeface="+mn-ea"/>
                </a:rPr>
                <a:t>Logical Link Control </a:t>
              </a:r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BBF10CF3-9ABF-4AA5-BDA2-F52FFDC67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3203"/>
              <a:ext cx="1947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b="1">
                  <a:latin typeface="+mn-ea"/>
                </a:rPr>
                <a:t>Media Access Control </a:t>
              </a:r>
            </a:p>
          </p:txBody>
        </p:sp>
        <p:sp>
          <p:nvSpPr>
            <p:cNvPr id="7183" name="Text Box 14">
              <a:extLst>
                <a:ext uri="{FF2B5EF4-FFF2-40B4-BE49-F238E27FC236}">
                  <a16:creationId xmlns:a16="http://schemas.microsoft.com/office/drawing/2014/main" id="{8153F7F7-5348-4931-8B30-B617B25C5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1824"/>
              <a:ext cx="2207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Provide the connection environment to the upper level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7184" name="Text Box 15">
              <a:extLst>
                <a:ext uri="{FF2B5EF4-FFF2-40B4-BE49-F238E27FC236}">
                  <a16:creationId xmlns:a16="http://schemas.microsoft.com/office/drawing/2014/main" id="{C3B730DD-4EDB-430B-9E47-87CAAE21B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9" y="2653"/>
              <a:ext cx="2029" cy="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Providing media access to the lower layer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灯片编号占位符 5">
            <a:extLst>
              <a:ext uri="{FF2B5EF4-FFF2-40B4-BE49-F238E27FC236}">
                <a16:creationId xmlns:a16="http://schemas.microsoft.com/office/drawing/2014/main" id="{8CE74AB1-7016-41EB-A0FD-8166CDB7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A9D72FA6-FE8E-4BD5-A1F7-84AF18DB4578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1D3E358-148B-48F8-B0F9-6C8BEC3F7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LAN model</a:t>
            </a:r>
          </a:p>
        </p:txBody>
      </p:sp>
      <p:grpSp>
        <p:nvGrpSpPr>
          <p:cNvPr id="8197" name="组合 7">
            <a:extLst>
              <a:ext uri="{FF2B5EF4-FFF2-40B4-BE49-F238E27FC236}">
                <a16:creationId xmlns:a16="http://schemas.microsoft.com/office/drawing/2014/main" id="{4E90ACDE-4001-4D46-B0B9-2DBBBEB85C0C}"/>
              </a:ext>
            </a:extLst>
          </p:cNvPr>
          <p:cNvGrpSpPr>
            <a:grpSpLocks/>
          </p:cNvGrpSpPr>
          <p:nvPr/>
        </p:nvGrpSpPr>
        <p:grpSpPr bwMode="auto">
          <a:xfrm>
            <a:off x="403225" y="1600200"/>
            <a:ext cx="8555038" cy="3522663"/>
            <a:chOff x="604841" y="1822837"/>
            <a:chExt cx="8555405" cy="3522330"/>
          </a:xfrm>
        </p:grpSpPr>
        <p:sp>
          <p:nvSpPr>
            <p:cNvPr id="8199" name="Freeform 25">
              <a:extLst>
                <a:ext uri="{FF2B5EF4-FFF2-40B4-BE49-F238E27FC236}">
                  <a16:creationId xmlns:a16="http://schemas.microsoft.com/office/drawing/2014/main" id="{819DD131-C125-4EAB-9AB1-F73F75FD1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1724" y="2606988"/>
              <a:ext cx="1362133" cy="2325468"/>
            </a:xfrm>
            <a:custGeom>
              <a:avLst/>
              <a:gdLst>
                <a:gd name="T0" fmla="*/ 0 w 913"/>
                <a:gd name="T1" fmla="*/ 0 h 1231"/>
                <a:gd name="T2" fmla="*/ 0 w 913"/>
                <a:gd name="T3" fmla="*/ 2147483646 h 1231"/>
                <a:gd name="T4" fmla="*/ 2147483646 w 913"/>
                <a:gd name="T5" fmla="*/ 2147483646 h 1231"/>
                <a:gd name="T6" fmla="*/ 2147483646 w 913"/>
                <a:gd name="T7" fmla="*/ 0 h 1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3"/>
                <a:gd name="T13" fmla="*/ 0 h 1231"/>
                <a:gd name="T14" fmla="*/ 913 w 913"/>
                <a:gd name="T15" fmla="*/ 1231 h 1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3" h="1231">
                  <a:moveTo>
                    <a:pt x="0" y="0"/>
                  </a:moveTo>
                  <a:lnTo>
                    <a:pt x="0" y="1230"/>
                  </a:lnTo>
                  <a:lnTo>
                    <a:pt x="912" y="1230"/>
                  </a:lnTo>
                  <a:lnTo>
                    <a:pt x="912" y="0"/>
                  </a:lnTo>
                </a:path>
              </a:pathLst>
            </a:custGeom>
            <a:solidFill>
              <a:srgbClr val="FFCCFF"/>
            </a:solidFill>
            <a:ln w="9525" cap="rnd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" name="Freeform 18">
              <a:extLst>
                <a:ext uri="{FF2B5EF4-FFF2-40B4-BE49-F238E27FC236}">
                  <a16:creationId xmlns:a16="http://schemas.microsoft.com/office/drawing/2014/main" id="{13DAA4E7-F345-408E-8C0E-31E0B6D07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698" y="2606988"/>
              <a:ext cx="1362133" cy="2325468"/>
            </a:xfrm>
            <a:custGeom>
              <a:avLst/>
              <a:gdLst>
                <a:gd name="T0" fmla="*/ 0 w 913"/>
                <a:gd name="T1" fmla="*/ 0 h 1231"/>
                <a:gd name="T2" fmla="*/ 0 w 913"/>
                <a:gd name="T3" fmla="*/ 2147483646 h 1231"/>
                <a:gd name="T4" fmla="*/ 2147483646 w 913"/>
                <a:gd name="T5" fmla="*/ 2147483646 h 1231"/>
                <a:gd name="T6" fmla="*/ 2147483646 w 913"/>
                <a:gd name="T7" fmla="*/ 0 h 1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3"/>
                <a:gd name="T13" fmla="*/ 0 h 1231"/>
                <a:gd name="T14" fmla="*/ 913 w 913"/>
                <a:gd name="T15" fmla="*/ 1231 h 1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3" h="1231">
                  <a:moveTo>
                    <a:pt x="0" y="0"/>
                  </a:moveTo>
                  <a:lnTo>
                    <a:pt x="0" y="1230"/>
                  </a:lnTo>
                  <a:lnTo>
                    <a:pt x="912" y="1230"/>
                  </a:lnTo>
                  <a:lnTo>
                    <a:pt x="912" y="0"/>
                  </a:lnTo>
                </a:path>
              </a:pathLst>
            </a:custGeom>
            <a:solidFill>
              <a:srgbClr val="FFCCFF"/>
            </a:solidFill>
            <a:ln w="9525" cap="rnd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" name="Rectangle 47">
              <a:extLst>
                <a:ext uri="{FF2B5EF4-FFF2-40B4-BE49-F238E27FC236}">
                  <a16:creationId xmlns:a16="http://schemas.microsoft.com/office/drawing/2014/main" id="{3F90ED1E-80C9-49E3-AFA1-82F46FA2E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6496" y="3284786"/>
              <a:ext cx="1344666" cy="1100034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8202" name="Rectangle 46">
              <a:extLst>
                <a:ext uri="{FF2B5EF4-FFF2-40B4-BE49-F238E27FC236}">
                  <a16:creationId xmlns:a16="http://schemas.microsoft.com/office/drawing/2014/main" id="{0377D0C3-0717-48E3-A68C-8E334B9A5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659" y="3284786"/>
              <a:ext cx="1344665" cy="1100034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grpSp>
          <p:nvGrpSpPr>
            <p:cNvPr id="8203" name="Group 2">
              <a:extLst>
                <a:ext uri="{FF2B5EF4-FFF2-40B4-BE49-F238E27FC236}">
                  <a16:creationId xmlns:a16="http://schemas.microsoft.com/office/drawing/2014/main" id="{0F15A15B-06B9-4C57-BF7E-1992B4B49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0200" y="3284538"/>
              <a:ext cx="1871663" cy="1657350"/>
              <a:chOff x="109" y="1226"/>
              <a:chExt cx="2516" cy="1675"/>
            </a:xfrm>
          </p:grpSpPr>
          <p:grpSp>
            <p:nvGrpSpPr>
              <p:cNvPr id="8233" name="Group 3">
                <a:extLst>
                  <a:ext uri="{FF2B5EF4-FFF2-40B4-BE49-F238E27FC236}">
                    <a16:creationId xmlns:a16="http://schemas.microsoft.com/office/drawing/2014/main" id="{5E5926F1-DA4D-4925-B6BC-2C4335A2FA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" y="1226"/>
                <a:ext cx="2516" cy="1675"/>
                <a:chOff x="109" y="1226"/>
                <a:chExt cx="2516" cy="1675"/>
              </a:xfrm>
            </p:grpSpPr>
            <p:grpSp>
              <p:nvGrpSpPr>
                <p:cNvPr id="8235" name="Group 4">
                  <a:extLst>
                    <a:ext uri="{FF2B5EF4-FFF2-40B4-BE49-F238E27FC236}">
                      <a16:creationId xmlns:a16="http://schemas.microsoft.com/office/drawing/2014/main" id="{9BC4D8E9-5118-4197-A75B-A45D410C77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" y="1226"/>
                  <a:ext cx="2516" cy="1675"/>
                  <a:chOff x="109" y="1226"/>
                  <a:chExt cx="2516" cy="1675"/>
                </a:xfrm>
              </p:grpSpPr>
              <p:sp>
                <p:nvSpPr>
                  <p:cNvPr id="8237" name="Oval 5">
                    <a:extLst>
                      <a:ext uri="{FF2B5EF4-FFF2-40B4-BE49-F238E27FC236}">
                        <a16:creationId xmlns:a16="http://schemas.microsoft.com/office/drawing/2014/main" id="{71B2E067-98C5-4C49-AF5B-45C5AB41BE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50" y="1897"/>
                    <a:ext cx="875" cy="828"/>
                  </a:xfrm>
                  <a:prstGeom prst="ellipse">
                    <a:avLst/>
                  </a:prstGeom>
                  <a:solidFill>
                    <a:srgbClr val="FFFFCC"/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ZapfDingbats" pitchFamily="82" charset="2"/>
                      <a:buChar char="r"/>
                      <a:defRPr sz="28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5000"/>
                      <a:buFont typeface="ZapfDingbats" pitchFamily="82" charset="2"/>
                      <a:buChar char="m"/>
                      <a:defRPr sz="24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38" name="Oval 6">
                    <a:extLst>
                      <a:ext uri="{FF2B5EF4-FFF2-40B4-BE49-F238E27FC236}">
                        <a16:creationId xmlns:a16="http://schemas.microsoft.com/office/drawing/2014/main" id="{3F921965-38FA-4296-B340-FD0ECDFAFE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9" y="1632"/>
                    <a:ext cx="860" cy="831"/>
                  </a:xfrm>
                  <a:prstGeom prst="ellipse">
                    <a:avLst/>
                  </a:prstGeom>
                  <a:solidFill>
                    <a:srgbClr val="FFFFCC"/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ZapfDingbats" pitchFamily="82" charset="2"/>
                      <a:buChar char="r"/>
                      <a:defRPr sz="28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5000"/>
                      <a:buFont typeface="ZapfDingbats" pitchFamily="82" charset="2"/>
                      <a:buChar char="m"/>
                      <a:defRPr sz="24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39" name="Oval 7">
                    <a:extLst>
                      <a:ext uri="{FF2B5EF4-FFF2-40B4-BE49-F238E27FC236}">
                        <a16:creationId xmlns:a16="http://schemas.microsoft.com/office/drawing/2014/main" id="{982EE2A1-F0F9-40E1-9CF2-A7D65735F2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12" y="1342"/>
                    <a:ext cx="875" cy="802"/>
                  </a:xfrm>
                  <a:prstGeom prst="ellipse">
                    <a:avLst/>
                  </a:prstGeom>
                  <a:solidFill>
                    <a:srgbClr val="FFFFCC"/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ZapfDingbats" pitchFamily="82" charset="2"/>
                      <a:buChar char="r"/>
                      <a:defRPr sz="28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5000"/>
                      <a:buFont typeface="ZapfDingbats" pitchFamily="82" charset="2"/>
                      <a:buChar char="m"/>
                      <a:defRPr sz="24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40" name="Oval 8">
                    <a:extLst>
                      <a:ext uri="{FF2B5EF4-FFF2-40B4-BE49-F238E27FC236}">
                        <a16:creationId xmlns:a16="http://schemas.microsoft.com/office/drawing/2014/main" id="{945E1E4C-BE33-4FDB-A778-BFFD74A93E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3" y="2056"/>
                    <a:ext cx="875" cy="845"/>
                  </a:xfrm>
                  <a:prstGeom prst="ellipse">
                    <a:avLst/>
                  </a:prstGeom>
                  <a:solidFill>
                    <a:srgbClr val="FFFFCC"/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ZapfDingbats" pitchFamily="82" charset="2"/>
                      <a:buChar char="r"/>
                      <a:defRPr sz="28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5000"/>
                      <a:buFont typeface="ZapfDingbats" pitchFamily="82" charset="2"/>
                      <a:buChar char="m"/>
                      <a:defRPr sz="24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41" name="Oval 9">
                    <a:extLst>
                      <a:ext uri="{FF2B5EF4-FFF2-40B4-BE49-F238E27FC236}">
                        <a16:creationId xmlns:a16="http://schemas.microsoft.com/office/drawing/2014/main" id="{B75F5239-1273-4207-85F5-739855633D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" y="1982"/>
                    <a:ext cx="875" cy="802"/>
                  </a:xfrm>
                  <a:prstGeom prst="ellipse">
                    <a:avLst/>
                  </a:prstGeom>
                  <a:solidFill>
                    <a:srgbClr val="FFFFCC"/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ZapfDingbats" pitchFamily="82" charset="2"/>
                      <a:buChar char="r"/>
                      <a:defRPr sz="28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5000"/>
                      <a:buFont typeface="ZapfDingbats" pitchFamily="82" charset="2"/>
                      <a:buChar char="m"/>
                      <a:defRPr sz="24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42" name="Oval 10">
                    <a:extLst>
                      <a:ext uri="{FF2B5EF4-FFF2-40B4-BE49-F238E27FC236}">
                        <a16:creationId xmlns:a16="http://schemas.microsoft.com/office/drawing/2014/main" id="{F58A63CB-BD47-438F-93E2-968158E3D8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6" y="1226"/>
                    <a:ext cx="858" cy="829"/>
                  </a:xfrm>
                  <a:prstGeom prst="ellipse">
                    <a:avLst/>
                  </a:prstGeom>
                  <a:solidFill>
                    <a:srgbClr val="FFFFCC"/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ZapfDingbats" pitchFamily="82" charset="2"/>
                      <a:buChar char="r"/>
                      <a:defRPr sz="28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5000"/>
                      <a:buFont typeface="ZapfDingbats" pitchFamily="82" charset="2"/>
                      <a:buChar char="m"/>
                      <a:defRPr sz="24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43" name="Oval 11">
                    <a:extLst>
                      <a:ext uri="{FF2B5EF4-FFF2-40B4-BE49-F238E27FC236}">
                        <a16:creationId xmlns:a16="http://schemas.microsoft.com/office/drawing/2014/main" id="{E1506C09-A2BD-43DC-83D6-9FD7895698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3" y="1226"/>
                    <a:ext cx="860" cy="799"/>
                  </a:xfrm>
                  <a:prstGeom prst="ellipse">
                    <a:avLst/>
                  </a:prstGeom>
                  <a:solidFill>
                    <a:srgbClr val="FFFFCC"/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ZapfDingbats" pitchFamily="82" charset="2"/>
                      <a:buChar char="r"/>
                      <a:defRPr sz="28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5000"/>
                      <a:buFont typeface="ZapfDingbats" pitchFamily="82" charset="2"/>
                      <a:buChar char="m"/>
                      <a:defRPr sz="24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8236" name="Oval 12">
                  <a:extLst>
                    <a:ext uri="{FF2B5EF4-FFF2-40B4-BE49-F238E27FC236}">
                      <a16:creationId xmlns:a16="http://schemas.microsoft.com/office/drawing/2014/main" id="{1D2AC416-7054-4BD6-B18B-8B5696004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" y="1414"/>
                  <a:ext cx="2085" cy="1152"/>
                </a:xfrm>
                <a:prstGeom prst="ellipse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234" name="Freeform 13">
                <a:extLst>
                  <a:ext uri="{FF2B5EF4-FFF2-40B4-BE49-F238E27FC236}">
                    <a16:creationId xmlns:a16="http://schemas.microsoft.com/office/drawing/2014/main" id="{9A77BACD-A205-4D0C-AA21-44E88EBA5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" y="2192"/>
                <a:ext cx="126" cy="225"/>
              </a:xfrm>
              <a:custGeom>
                <a:avLst/>
                <a:gdLst>
                  <a:gd name="T0" fmla="*/ 68 w 126"/>
                  <a:gd name="T1" fmla="*/ 0 h 224"/>
                  <a:gd name="T2" fmla="*/ 92 w 126"/>
                  <a:gd name="T3" fmla="*/ 24 h 224"/>
                  <a:gd name="T4" fmla="*/ 116 w 126"/>
                  <a:gd name="T5" fmla="*/ 40 h 224"/>
                  <a:gd name="T6" fmla="*/ 76 w 126"/>
                  <a:gd name="T7" fmla="*/ 226 h 224"/>
                  <a:gd name="T8" fmla="*/ 52 w 126"/>
                  <a:gd name="T9" fmla="*/ 234 h 224"/>
                  <a:gd name="T10" fmla="*/ 36 w 126"/>
                  <a:gd name="T11" fmla="*/ 138 h 224"/>
                  <a:gd name="T12" fmla="*/ 68 w 126"/>
                  <a:gd name="T13" fmla="*/ 0 h 2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224"/>
                  <a:gd name="T23" fmla="*/ 126 w 126"/>
                  <a:gd name="T24" fmla="*/ 224 h 2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224">
                    <a:moveTo>
                      <a:pt x="68" y="0"/>
                    </a:moveTo>
                    <a:cubicBezTo>
                      <a:pt x="76" y="8"/>
                      <a:pt x="83" y="17"/>
                      <a:pt x="92" y="24"/>
                    </a:cubicBezTo>
                    <a:cubicBezTo>
                      <a:pt x="99" y="30"/>
                      <a:pt x="114" y="31"/>
                      <a:pt x="116" y="40"/>
                    </a:cubicBezTo>
                    <a:cubicBezTo>
                      <a:pt x="126" y="99"/>
                      <a:pt x="94" y="162"/>
                      <a:pt x="76" y="216"/>
                    </a:cubicBezTo>
                    <a:cubicBezTo>
                      <a:pt x="73" y="224"/>
                      <a:pt x="60" y="221"/>
                      <a:pt x="52" y="224"/>
                    </a:cubicBezTo>
                    <a:cubicBezTo>
                      <a:pt x="0" y="207"/>
                      <a:pt x="22" y="170"/>
                      <a:pt x="36" y="128"/>
                    </a:cubicBezTo>
                    <a:cubicBezTo>
                      <a:pt x="41" y="74"/>
                      <a:pt x="32" y="36"/>
                      <a:pt x="68" y="0"/>
                    </a:cubicBezTo>
                    <a:close/>
                  </a:path>
                </a:pathLst>
              </a:cu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D57D8E22-DB4B-4ABC-BF0F-51CAC26F08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3593" y="4622922"/>
              <a:ext cx="884276" cy="1111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A289563C-796C-4870-A0BB-0BB122912B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39070" y="4622922"/>
              <a:ext cx="687417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8206" name="Rectangle 17">
              <a:extLst>
                <a:ext uri="{FF2B5EF4-FFF2-40B4-BE49-F238E27FC236}">
                  <a16:creationId xmlns:a16="http://schemas.microsoft.com/office/drawing/2014/main" id="{95C1828A-0D5C-42EB-AB45-9EC196AE2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524" y="3829248"/>
              <a:ext cx="1344665" cy="644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Local area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network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4388586B-597C-4E8C-8722-FA747AB4B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3048" y="4386408"/>
              <a:ext cx="1347845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915B0EBA-8CD9-4A4E-B61A-194511348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3048" y="3841946"/>
              <a:ext cx="1347845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00C50B84-CB5F-4F22-8740-2A40E90B6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3048" y="3292723"/>
              <a:ext cx="1347845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8210" name="Rectangle 22">
              <a:extLst>
                <a:ext uri="{FF2B5EF4-FFF2-40B4-BE49-F238E27FC236}">
                  <a16:creationId xmlns:a16="http://schemas.microsoft.com/office/drawing/2014/main" id="{DD505C2C-B224-4270-945D-FE2322BC5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777" y="2656195"/>
              <a:ext cx="1117644" cy="642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Network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 layer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1" name="Rectangle 23">
              <a:extLst>
                <a:ext uri="{FF2B5EF4-FFF2-40B4-BE49-F238E27FC236}">
                  <a16:creationId xmlns:a16="http://schemas.microsoft.com/office/drawing/2014/main" id="{862F666C-F1B8-4FF1-A6BA-71166F14E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9144" y="4337200"/>
              <a:ext cx="1035091" cy="644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Physical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layer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7BA6A099-A284-4690-92A8-45094400D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1183" y="4978489"/>
              <a:ext cx="860462" cy="3666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kumimoji="1" lang="en-US" altLang="zh-CN" dirty="0">
                  <a:solidFill>
                    <a:srgbClr val="333399"/>
                  </a:solidFill>
                  <a:latin typeface="+mn-ea"/>
                </a:rPr>
                <a:t>node</a:t>
              </a:r>
              <a:r>
                <a:rPr kumimoji="1" lang="zh-CN" altLang="en-US" dirty="0">
                  <a:solidFill>
                    <a:srgbClr val="333399"/>
                  </a:solidFill>
                  <a:latin typeface="+mn-ea"/>
                </a:rPr>
                <a:t> </a:t>
              </a:r>
              <a:r>
                <a:rPr kumimoji="1" lang="en-US" altLang="zh-CN" dirty="0">
                  <a:solidFill>
                    <a:srgbClr val="333399"/>
                  </a:solidFill>
                  <a:latin typeface="+mn-ea"/>
                </a:rPr>
                <a:t>1</a:t>
              </a:r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0FA2E26C-C2EE-4E9A-8A6B-2B292535B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6487" y="4386408"/>
              <a:ext cx="1349433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7DA5DFBC-4B30-4BBA-9974-A005182ED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6487" y="3841946"/>
              <a:ext cx="1349433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66B5E77E-568C-461F-BD1D-A3CACC274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6487" y="3292723"/>
              <a:ext cx="1349433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8216" name="Rectangle 29">
              <a:extLst>
                <a:ext uri="{FF2B5EF4-FFF2-40B4-BE49-F238E27FC236}">
                  <a16:creationId xmlns:a16="http://schemas.microsoft.com/office/drawing/2014/main" id="{AB08C551-76A6-4FEB-A74A-D1720EBC4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5252" y="2660958"/>
              <a:ext cx="1189085" cy="642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Network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layer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7" name="Rectangle 30">
              <a:extLst>
                <a:ext uri="{FF2B5EF4-FFF2-40B4-BE49-F238E27FC236}">
                  <a16:creationId xmlns:a16="http://schemas.microsoft.com/office/drawing/2014/main" id="{27A13E61-E8EA-410D-981C-4FB9D93ED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6054" y="4362598"/>
              <a:ext cx="1100182" cy="642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Physical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layer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8218" name="Group 31">
              <a:extLst>
                <a:ext uri="{FF2B5EF4-FFF2-40B4-BE49-F238E27FC236}">
                  <a16:creationId xmlns:a16="http://schemas.microsoft.com/office/drawing/2014/main" id="{CFC4CBD8-5FD6-47A1-82C5-8CB4D4996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489" y="3260723"/>
              <a:ext cx="6716713" cy="642938"/>
              <a:chOff x="537" y="2054"/>
              <a:chExt cx="4231" cy="405"/>
            </a:xfrm>
          </p:grpSpPr>
          <p:sp>
            <p:nvSpPr>
              <p:cNvPr id="8229" name="Rectangle 32">
                <a:extLst>
                  <a:ext uri="{FF2B5EF4-FFF2-40B4-BE49-F238E27FC236}">
                    <a16:creationId xmlns:a16="http://schemas.microsoft.com/office/drawing/2014/main" id="{0DB3D586-59B7-460B-B836-3B624EC221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" y="2054"/>
                <a:ext cx="785" cy="4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333399"/>
                    </a:solidFill>
                    <a:ea typeface="宋体" panose="02010600030101010101" pitchFamily="2" charset="-122"/>
                  </a:rPr>
                  <a:t>Logic link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333399"/>
                    </a:solidFill>
                    <a:ea typeface="宋体" panose="02010600030101010101" pitchFamily="2" charset="-122"/>
                  </a:rPr>
                  <a:t>control</a:t>
                </a:r>
                <a:endParaRPr kumimoji="1" lang="zh-CN" altLang="en-US" sz="1800">
                  <a:solidFill>
                    <a:srgbClr val="3333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30" name="AutoShape 33">
                <a:extLst>
                  <a:ext uri="{FF2B5EF4-FFF2-40B4-BE49-F238E27FC236}">
                    <a16:creationId xmlns:a16="http://schemas.microsoft.com/office/drawing/2014/main" id="{C992D288-64A8-4F8D-AA13-22B819499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2135"/>
                <a:ext cx="1896" cy="228"/>
              </a:xfrm>
              <a:prstGeom prst="leftRightArrow">
                <a:avLst>
                  <a:gd name="adj1" fmla="val 41667"/>
                  <a:gd name="adj2" fmla="val 87431"/>
                </a:avLst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41" name="Rectangle 34">
                <a:extLst>
                  <a:ext uri="{FF2B5EF4-FFF2-40B4-BE49-F238E27FC236}">
                    <a16:creationId xmlns:a16="http://schemas.microsoft.com/office/drawing/2014/main" id="{F6BDEFA5-4145-43C4-BFFB-76295213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3" y="2118"/>
                <a:ext cx="363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r>
                  <a:rPr kumimoji="1" lang="en-US" altLang="zh-CN">
                    <a:solidFill>
                      <a:srgbClr val="333399"/>
                    </a:solidFill>
                    <a:latin typeface="+mn-ea"/>
                  </a:rPr>
                  <a:t>LLC</a:t>
                </a:r>
              </a:p>
            </p:txBody>
          </p:sp>
          <p:sp>
            <p:nvSpPr>
              <p:cNvPr id="42" name="Rectangle 35">
                <a:extLst>
                  <a:ext uri="{FF2B5EF4-FFF2-40B4-BE49-F238E27FC236}">
                    <a16:creationId xmlns:a16="http://schemas.microsoft.com/office/drawing/2014/main" id="{B7B9D314-710E-4998-A8D8-A1A3E154F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5" y="2118"/>
                <a:ext cx="363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r>
                  <a:rPr kumimoji="1" lang="en-US" altLang="zh-CN">
                    <a:solidFill>
                      <a:srgbClr val="333399"/>
                    </a:solidFill>
                    <a:latin typeface="+mn-ea"/>
                  </a:rPr>
                  <a:t>LLC</a:t>
                </a:r>
              </a:p>
            </p:txBody>
          </p:sp>
        </p:grpSp>
        <p:grpSp>
          <p:nvGrpSpPr>
            <p:cNvPr id="8219" name="Group 36">
              <a:extLst>
                <a:ext uri="{FF2B5EF4-FFF2-40B4-BE49-F238E27FC236}">
                  <a16:creationId xmlns:a16="http://schemas.microsoft.com/office/drawing/2014/main" id="{14185F84-3F7F-4973-B0EA-C1A8DB89B1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841" y="3867147"/>
              <a:ext cx="7053266" cy="642938"/>
              <a:chOff x="381" y="2436"/>
              <a:chExt cx="4443" cy="405"/>
            </a:xfrm>
          </p:grpSpPr>
          <p:sp>
            <p:nvSpPr>
              <p:cNvPr id="8224" name="Rectangle 37">
                <a:extLst>
                  <a:ext uri="{FF2B5EF4-FFF2-40B4-BE49-F238E27FC236}">
                    <a16:creationId xmlns:a16="http://schemas.microsoft.com/office/drawing/2014/main" id="{EA99F986-EA5B-42AD-90EA-394AB5910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" y="2436"/>
                <a:ext cx="1013" cy="4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333399"/>
                    </a:solidFill>
                    <a:ea typeface="宋体" panose="02010600030101010101" pitchFamily="2" charset="-122"/>
                  </a:rPr>
                  <a:t>Media access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333399"/>
                    </a:solidFill>
                    <a:ea typeface="宋体" panose="02010600030101010101" pitchFamily="2" charset="-122"/>
                  </a:rPr>
                  <a:t> control</a:t>
                </a:r>
                <a:endParaRPr kumimoji="1" lang="zh-CN" altLang="en-US" sz="1800">
                  <a:solidFill>
                    <a:srgbClr val="3333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38">
                <a:extLst>
                  <a:ext uri="{FF2B5EF4-FFF2-40B4-BE49-F238E27FC236}">
                    <a16:creationId xmlns:a16="http://schemas.microsoft.com/office/drawing/2014/main" id="{B0D7B61E-110E-42B0-94C3-051AC67E0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1" y="2581"/>
                <a:ext cx="383" cy="11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 type="triangle" w="med" len="lg"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+mn-ea"/>
                </a:endParaRPr>
              </a:p>
            </p:txBody>
          </p:sp>
          <p:sp>
            <p:nvSpPr>
              <p:cNvPr id="36" name="Line 39">
                <a:extLst>
                  <a:ext uri="{FF2B5EF4-FFF2-40B4-BE49-F238E27FC236}">
                    <a16:creationId xmlns:a16="http://schemas.microsoft.com/office/drawing/2014/main" id="{924DD800-B597-4E1E-908E-E9E0C7208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39" y="2585"/>
                <a:ext cx="435" cy="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 type="triangle" w="med" len="lg"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+mn-ea"/>
                </a:endParaRPr>
              </a:p>
            </p:txBody>
          </p:sp>
          <p:sp>
            <p:nvSpPr>
              <p:cNvPr id="37" name="Rectangle 40">
                <a:extLst>
                  <a:ext uri="{FF2B5EF4-FFF2-40B4-BE49-F238E27FC236}">
                    <a16:creationId xmlns:a16="http://schemas.microsoft.com/office/drawing/2014/main" id="{25070179-1895-402A-8B5F-072E3D88DE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7" y="2468"/>
                <a:ext cx="437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r>
                  <a:rPr kumimoji="1" lang="en-US" altLang="zh-CN">
                    <a:solidFill>
                      <a:srgbClr val="333399"/>
                    </a:solidFill>
                    <a:latin typeface="+mn-ea"/>
                  </a:rPr>
                  <a:t>MAC</a:t>
                </a:r>
              </a:p>
            </p:txBody>
          </p:sp>
          <p:sp>
            <p:nvSpPr>
              <p:cNvPr id="38" name="Rectangle 41">
                <a:extLst>
                  <a:ext uri="{FF2B5EF4-FFF2-40B4-BE49-F238E27FC236}">
                    <a16:creationId xmlns:a16="http://schemas.microsoft.com/office/drawing/2014/main" id="{22B97655-E82C-4C0A-B944-81D70BC5A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7" y="2468"/>
                <a:ext cx="437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r>
                  <a:rPr kumimoji="1" lang="en-US" altLang="zh-CN">
                    <a:solidFill>
                      <a:srgbClr val="333399"/>
                    </a:solidFill>
                    <a:latin typeface="+mn-ea"/>
                  </a:rPr>
                  <a:t>MAC</a:t>
                </a:r>
              </a:p>
            </p:txBody>
          </p:sp>
        </p:grpSp>
        <p:sp>
          <p:nvSpPr>
            <p:cNvPr id="8220" name="AutoShape 42">
              <a:extLst>
                <a:ext uri="{FF2B5EF4-FFF2-40B4-BE49-F238E27FC236}">
                  <a16:creationId xmlns:a16="http://schemas.microsoft.com/office/drawing/2014/main" id="{D31669BF-41A8-46D1-88E5-0D48AD633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5449" y="3302248"/>
              <a:ext cx="119068" cy="1052413"/>
            </a:xfrm>
            <a:prstGeom prst="rightBrace">
              <a:avLst>
                <a:gd name="adj1" fmla="val 73656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8221" name="Rectangle 43">
              <a:extLst>
                <a:ext uri="{FF2B5EF4-FFF2-40B4-BE49-F238E27FC236}">
                  <a16:creationId xmlns:a16="http://schemas.microsoft.com/office/drawing/2014/main" id="{9D80CA98-CAA9-4503-976F-644D522C7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3551" y="3522889"/>
              <a:ext cx="1136695" cy="642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layer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Rectangle 44">
              <a:extLst>
                <a:ext uri="{FF2B5EF4-FFF2-40B4-BE49-F238E27FC236}">
                  <a16:creationId xmlns:a16="http://schemas.microsoft.com/office/drawing/2014/main" id="{8757ABBE-8115-47ED-817B-A9B84BC91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3526" y="4978489"/>
              <a:ext cx="896975" cy="3666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kumimoji="1" lang="en-US" altLang="zh-CN" dirty="0">
                  <a:solidFill>
                    <a:srgbClr val="333399"/>
                  </a:solidFill>
                  <a:latin typeface="+mn-ea"/>
                </a:rPr>
                <a:t>node</a:t>
              </a:r>
              <a:r>
                <a:rPr kumimoji="1" lang="zh-CN" altLang="en-US" dirty="0">
                  <a:solidFill>
                    <a:srgbClr val="333399"/>
                  </a:solidFill>
                  <a:latin typeface="+mn-ea"/>
                </a:rPr>
                <a:t> </a:t>
              </a:r>
              <a:r>
                <a:rPr kumimoji="1" lang="en-US" altLang="zh-CN" dirty="0">
                  <a:solidFill>
                    <a:srgbClr val="333399"/>
                  </a:solidFill>
                  <a:latin typeface="+mn-ea"/>
                </a:rPr>
                <a:t>2</a:t>
              </a:r>
            </a:p>
          </p:txBody>
        </p:sp>
        <p:sp>
          <p:nvSpPr>
            <p:cNvPr id="8223" name="Text Box 45">
              <a:extLst>
                <a:ext uri="{FF2B5EF4-FFF2-40B4-BE49-F238E27FC236}">
                  <a16:creationId xmlns:a16="http://schemas.microsoft.com/office/drawing/2014/main" id="{354EAA27-EBBD-43E9-9E93-D42186A38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9439" y="1822837"/>
              <a:ext cx="3710135" cy="70795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ea typeface="宋体" panose="02010600030101010101" pitchFamily="2" charset="-122"/>
                </a:rPr>
                <a:t>The following LAN is invisible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ea typeface="宋体" panose="02010600030101010101" pitchFamily="2" charset="-122"/>
                </a:rPr>
                <a:t> for LLC sub layer</a:t>
              </a:r>
              <a:endParaRPr kumimoji="1" lang="zh-CN" altLang="en-US" sz="20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198" name="TextBox 53">
            <a:extLst>
              <a:ext uri="{FF2B5EF4-FFF2-40B4-BE49-F238E27FC236}">
                <a16:creationId xmlns:a16="http://schemas.microsoft.com/office/drawing/2014/main" id="{3655D69D-67D5-4D4E-9D27-D37E5A1A5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5400675"/>
            <a:ext cx="788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For  the same LLC, several MAC options  may be provided.</a:t>
            </a:r>
            <a:endParaRPr lang="zh-CN" altLang="en-US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F6A61223-4DE9-4670-9749-88B8C37C9C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LLC and MAC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57EEB349-7EB2-4FC6-A729-7CB3F350A3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1" name="灯片编号占位符 4">
            <a:extLst>
              <a:ext uri="{FF2B5EF4-FFF2-40B4-BE49-F238E27FC236}">
                <a16:creationId xmlns:a16="http://schemas.microsoft.com/office/drawing/2014/main" id="{E83E16BF-FBA2-47A1-9985-518D6B25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A2B04CC2-D6C5-4DB5-9E5A-B511ABE71D9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9222" name="Picture 2">
            <a:extLst>
              <a:ext uri="{FF2B5EF4-FFF2-40B4-BE49-F238E27FC236}">
                <a16:creationId xmlns:a16="http://schemas.microsoft.com/office/drawing/2014/main" id="{8AA77A61-1CAE-44C3-B292-F01ACA5C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103313"/>
            <a:ext cx="838200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灯片编号占位符 5">
            <a:extLst>
              <a:ext uri="{FF2B5EF4-FFF2-40B4-BE49-F238E27FC236}">
                <a16:creationId xmlns:a16="http://schemas.microsoft.com/office/drawing/2014/main" id="{22797A48-9F5C-4B94-8E97-54C6AFC9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8E873CAE-84FB-4E37-B279-8E8066E029A5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3440C462-220D-494B-9DF8-B1163A61E6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IEEE 802 working group</a:t>
            </a:r>
          </a:p>
        </p:txBody>
      </p:sp>
      <p:grpSp>
        <p:nvGrpSpPr>
          <p:cNvPr id="2" name="组合 28">
            <a:extLst>
              <a:ext uri="{FF2B5EF4-FFF2-40B4-BE49-F238E27FC236}">
                <a16:creationId xmlns:a16="http://schemas.microsoft.com/office/drawing/2014/main" id="{82890E94-4FD9-4D17-99B5-3956B9179DC0}"/>
              </a:ext>
            </a:extLst>
          </p:cNvPr>
          <p:cNvGrpSpPr/>
          <p:nvPr/>
        </p:nvGrpSpPr>
        <p:grpSpPr>
          <a:xfrm>
            <a:off x="1767016" y="1742304"/>
            <a:ext cx="6252519" cy="3558747"/>
            <a:chOff x="963827" y="4250724"/>
            <a:chExt cx="5733535" cy="2496498"/>
          </a:xfrm>
          <a:solidFill>
            <a:srgbClr val="92D050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2297EF8-45E8-41AF-842E-7257533862EE}"/>
                </a:ext>
              </a:extLst>
            </p:cNvPr>
            <p:cNvSpPr/>
            <p:nvPr/>
          </p:nvSpPr>
          <p:spPr bwMode="auto">
            <a:xfrm>
              <a:off x="963827" y="4250724"/>
              <a:ext cx="766119" cy="249649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1600" dirty="0"/>
                <a:t>802.1A</a:t>
              </a:r>
            </a:p>
            <a:p>
              <a:pPr>
                <a:defRPr/>
              </a:pPr>
              <a:endParaRPr lang="zh-CN" altLang="en-US" sz="16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E51D328-F0A3-46D7-8166-57C577BBC5D2}"/>
                </a:ext>
              </a:extLst>
            </p:cNvPr>
            <p:cNvSpPr/>
            <p:nvPr/>
          </p:nvSpPr>
          <p:spPr bwMode="auto">
            <a:xfrm>
              <a:off x="1729945" y="4250724"/>
              <a:ext cx="4053016" cy="54369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dirty="0"/>
                <a:t>802.1D Bridge</a:t>
              </a:r>
              <a:endParaRPr lang="zh-CN" altLang="en-US" sz="1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B01EAFE-30D7-46D2-B2BA-DE6D7958CEB8}"/>
                </a:ext>
              </a:extLst>
            </p:cNvPr>
            <p:cNvSpPr/>
            <p:nvPr/>
          </p:nvSpPr>
          <p:spPr bwMode="auto">
            <a:xfrm>
              <a:off x="1734064" y="4798540"/>
              <a:ext cx="4053016" cy="54369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dirty="0"/>
                <a:t>802.2 LLC</a:t>
              </a:r>
              <a:endParaRPr lang="zh-CN" altLang="en-US" sz="1600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DEDFDBE-DF16-4E39-97CC-0156A91B4621}"/>
                </a:ext>
              </a:extLst>
            </p:cNvPr>
            <p:cNvSpPr/>
            <p:nvPr/>
          </p:nvSpPr>
          <p:spPr bwMode="auto">
            <a:xfrm>
              <a:off x="1729945" y="5355456"/>
              <a:ext cx="951471" cy="1383097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1600" dirty="0"/>
                <a:t>802.3</a:t>
              </a:r>
            </a:p>
            <a:p>
              <a:pPr>
                <a:defRPr/>
              </a:pPr>
              <a:r>
                <a:rPr lang="en-US" altLang="zh-CN" sz="1600" dirty="0"/>
                <a:t>CSMA/CD</a:t>
              </a:r>
              <a:endParaRPr lang="zh-CN" altLang="en-US" sz="1600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26650AA-F26B-4A1F-8A5E-0D2235D77D44}"/>
                </a:ext>
              </a:extLst>
            </p:cNvPr>
            <p:cNvSpPr/>
            <p:nvPr/>
          </p:nvSpPr>
          <p:spPr bwMode="auto">
            <a:xfrm>
              <a:off x="2669060" y="5354596"/>
              <a:ext cx="630195" cy="1383957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1600" dirty="0"/>
                <a:t>802.4</a:t>
              </a:r>
            </a:p>
            <a:p>
              <a:pPr>
                <a:defRPr/>
              </a:pPr>
              <a:r>
                <a:rPr lang="en-US" altLang="zh-CN" sz="1600" dirty="0"/>
                <a:t>Token</a:t>
              </a:r>
            </a:p>
            <a:p>
              <a:pPr>
                <a:defRPr/>
              </a:pPr>
              <a:r>
                <a:rPr lang="en-US" altLang="zh-CN" sz="1600" dirty="0"/>
                <a:t>Bus</a:t>
              </a:r>
              <a:endParaRPr lang="zh-CN" altLang="en-US" sz="16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F99F122-04F1-4777-BE22-735DD6E1133B}"/>
                </a:ext>
              </a:extLst>
            </p:cNvPr>
            <p:cNvSpPr/>
            <p:nvPr/>
          </p:nvSpPr>
          <p:spPr bwMode="auto">
            <a:xfrm>
              <a:off x="3991238" y="5355027"/>
              <a:ext cx="642562" cy="1383957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1600" dirty="0"/>
                <a:t>802.6</a:t>
              </a:r>
            </a:p>
            <a:p>
              <a:pPr>
                <a:defRPr/>
              </a:pPr>
              <a:r>
                <a:rPr lang="en-US" altLang="zh-CN" sz="1600" dirty="0"/>
                <a:t>DBDQ</a:t>
              </a:r>
              <a:endParaRPr lang="zh-CN" altLang="en-US" sz="16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BCAF16A-0963-4061-9E73-A42EA296908A}"/>
                </a:ext>
              </a:extLst>
            </p:cNvPr>
            <p:cNvSpPr/>
            <p:nvPr/>
          </p:nvSpPr>
          <p:spPr bwMode="auto">
            <a:xfrm>
              <a:off x="4646144" y="5355456"/>
              <a:ext cx="642563" cy="1383957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1600" dirty="0"/>
                <a:t>802.8</a:t>
              </a:r>
            </a:p>
            <a:p>
              <a:pPr>
                <a:defRPr/>
              </a:pPr>
              <a:r>
                <a:rPr lang="en-US" altLang="zh-CN" sz="1600" dirty="0"/>
                <a:t>FDDI</a:t>
              </a:r>
              <a:endParaRPr lang="zh-CN" altLang="en-US" sz="16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9B6185F-B4CA-4D1D-9131-3FA5F5EB9E24}"/>
                </a:ext>
              </a:extLst>
            </p:cNvPr>
            <p:cNvSpPr/>
            <p:nvPr/>
          </p:nvSpPr>
          <p:spPr bwMode="auto">
            <a:xfrm>
              <a:off x="5288691" y="5350906"/>
              <a:ext cx="498389" cy="1383957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1600" dirty="0"/>
                <a:t>……</a:t>
              </a:r>
              <a:endParaRPr lang="zh-CN" altLang="en-US" sz="16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9459E22-1504-48C1-AB1C-9C0CD5C5EA2F}"/>
                </a:ext>
              </a:extLst>
            </p:cNvPr>
            <p:cNvSpPr/>
            <p:nvPr/>
          </p:nvSpPr>
          <p:spPr bwMode="auto">
            <a:xfrm>
              <a:off x="3311616" y="5354596"/>
              <a:ext cx="667265" cy="1383957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1600" dirty="0"/>
                <a:t>802.5</a:t>
              </a:r>
            </a:p>
            <a:p>
              <a:pPr>
                <a:defRPr/>
              </a:pPr>
              <a:r>
                <a:rPr lang="en-US" altLang="zh-CN" sz="1600" dirty="0"/>
                <a:t>Token</a:t>
              </a:r>
            </a:p>
            <a:p>
              <a:pPr>
                <a:defRPr/>
              </a:pPr>
              <a:r>
                <a:rPr lang="en-US" altLang="zh-CN" sz="1600" dirty="0"/>
                <a:t>ring</a:t>
              </a:r>
              <a:endParaRPr lang="zh-CN" altLang="en-US" sz="1600" dirty="0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4B340916-1975-4443-BCD1-D2F3C04C9A14}"/>
                </a:ext>
              </a:extLst>
            </p:cNvPr>
            <p:cNvCxnSpPr/>
            <p:nvPr/>
          </p:nvCxnSpPr>
          <p:spPr bwMode="auto">
            <a:xfrm flipV="1">
              <a:off x="5820032" y="4794422"/>
              <a:ext cx="766119" cy="12356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75F4E56-5A78-4AF8-A326-FF0B1F2254EB}"/>
                </a:ext>
              </a:extLst>
            </p:cNvPr>
            <p:cNvCxnSpPr/>
            <p:nvPr/>
          </p:nvCxnSpPr>
          <p:spPr bwMode="auto">
            <a:xfrm flipV="1">
              <a:off x="5811794" y="5329881"/>
              <a:ext cx="766119" cy="12356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3117D034-C369-4AC9-BBDD-D75354C0EB44}"/>
                </a:ext>
              </a:extLst>
            </p:cNvPr>
            <p:cNvCxnSpPr/>
            <p:nvPr/>
          </p:nvCxnSpPr>
          <p:spPr bwMode="auto">
            <a:xfrm flipV="1">
              <a:off x="5811794" y="6709717"/>
              <a:ext cx="766119" cy="12356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13FFD8-DD97-44D7-84A1-11479A90A738}"/>
                </a:ext>
              </a:extLst>
            </p:cNvPr>
            <p:cNvSpPr txBox="1"/>
            <p:nvPr/>
          </p:nvSpPr>
          <p:spPr>
            <a:xfrm>
              <a:off x="5943600" y="4996261"/>
              <a:ext cx="593124" cy="2374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/>
              </a:solidFill>
            </a:ln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en-US" altLang="zh-CN" sz="1600" dirty="0"/>
                <a:t>LLC</a:t>
              </a:r>
              <a:endParaRPr lang="zh-CN" altLang="en-US" sz="1600" dirty="0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5EC6CF1-DF85-4D70-9FCD-9E02B0F2A817}"/>
                </a:ext>
              </a:extLst>
            </p:cNvPr>
            <p:cNvCxnSpPr/>
            <p:nvPr/>
          </p:nvCxnSpPr>
          <p:spPr bwMode="auto">
            <a:xfrm flipV="1">
              <a:off x="5811794" y="5997146"/>
              <a:ext cx="766119" cy="12356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B59AD7-528B-43BB-8479-51EB40D3AAAB}"/>
                </a:ext>
              </a:extLst>
            </p:cNvPr>
            <p:cNvSpPr txBox="1"/>
            <p:nvPr/>
          </p:nvSpPr>
          <p:spPr>
            <a:xfrm>
              <a:off x="5955957" y="5552315"/>
              <a:ext cx="716692" cy="237499"/>
            </a:xfrm>
            <a:prstGeom prst="rect">
              <a:avLst/>
            </a:prstGeom>
            <a:solidFill>
              <a:schemeClr val="bg1"/>
            </a:solidFill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en-US" altLang="zh-CN" sz="1600" dirty="0"/>
                <a:t>MAC</a:t>
              </a:r>
              <a:endParaRPr lang="zh-CN" altLang="en-US" sz="16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8C38E4-4CEC-4724-A026-B73D1D2DC251}"/>
                </a:ext>
              </a:extLst>
            </p:cNvPr>
            <p:cNvSpPr txBox="1"/>
            <p:nvPr/>
          </p:nvSpPr>
          <p:spPr>
            <a:xfrm>
              <a:off x="5980670" y="6231937"/>
              <a:ext cx="716692" cy="237499"/>
            </a:xfrm>
            <a:prstGeom prst="rect">
              <a:avLst/>
            </a:prstGeom>
            <a:solidFill>
              <a:schemeClr val="bg1"/>
            </a:solidFill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en-US" altLang="zh-CN" sz="1600" dirty="0"/>
                <a:t>PHY</a:t>
              </a:r>
              <a:endParaRPr lang="zh-CN" altLang="en-US" sz="16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453D4A2-7A31-42D1-90DF-D8D6B6558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LAN Addresses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A01A873-3502-4015-80EA-B3982CEA0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32-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bit IP address: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r>
              <a:rPr lang="en-US" altLang="zh-CN" sz="2400" i="1" dirty="0">
                <a:ea typeface="宋体" panose="02010600030101010101" pitchFamily="2" charset="-122"/>
              </a:rPr>
              <a:t>network-layer</a:t>
            </a:r>
            <a:r>
              <a:rPr lang="en-US" altLang="zh-CN" sz="2400" dirty="0">
                <a:ea typeface="宋体" panose="02010600030101010101" pitchFamily="2" charset="-122"/>
              </a:rPr>
              <a:t> address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used to get datagram to destination network </a:t>
            </a:r>
          </a:p>
          <a:p>
            <a:pPr marL="0" indent="0">
              <a:buNone/>
            </a:pP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LAN (or MAC or physical) address: 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used to get datagram from one interface to another physically-connected interface (same network)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48 bit MAC address (for most LANs) 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burned in the adapter ROM</a:t>
            </a:r>
          </a:p>
          <a:p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1269" name="灯片编号占位符 5">
            <a:extLst>
              <a:ext uri="{FF2B5EF4-FFF2-40B4-BE49-F238E27FC236}">
                <a16:creationId xmlns:a16="http://schemas.microsoft.com/office/drawing/2014/main" id="{2C8498F9-2071-4F70-8F4B-4D025901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289ECD63-DBAD-4BB6-8CDC-7C022012B0D9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灯片编号占位符 5">
            <a:extLst>
              <a:ext uri="{FF2B5EF4-FFF2-40B4-BE49-F238E27FC236}">
                <a16:creationId xmlns:a16="http://schemas.microsoft.com/office/drawing/2014/main" id="{AF0AC46D-3207-40AC-B7E8-08970F31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129C1DE8-9F77-4AEA-8AAE-6A6B3C069A5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C670CBAC-6432-40BF-BD0F-0E5ADC3AD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LAN Address (more)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5DBC1C3C-CDEA-4529-9621-536861EA3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MAC address allocation administered by IEEE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manufacturer buys portion of MAC address space (to assure uniqueness)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Analogy:</a:t>
            </a:r>
          </a:p>
          <a:p>
            <a:pPr>
              <a:buFont typeface="ZapfDingbats" pitchFamily="8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         (a) MAC address: like Social Security Number</a:t>
            </a:r>
          </a:p>
          <a:p>
            <a:pPr>
              <a:buFont typeface="ZapfDingbats" pitchFamily="8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         (b) IP address: like postal address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 MAC flat address  =&gt; portability 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can move LAN card from one LAN to another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IP hierarchical address NOT portable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 depends on network to which one attaches</a:t>
            </a:r>
          </a:p>
          <a:p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灯片编号占位符 5">
            <a:extLst>
              <a:ext uri="{FF2B5EF4-FFF2-40B4-BE49-F238E27FC236}">
                <a16:creationId xmlns:a16="http://schemas.microsoft.com/office/drawing/2014/main" id="{AF0AC46D-3207-40AC-B7E8-08970F31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129C1DE8-9F77-4AEA-8AAE-6A6B3C069A5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C670CBAC-6432-40BF-BD0F-0E5ADC3AD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LAN Address </a:t>
            </a:r>
          </a:p>
        </p:txBody>
      </p:sp>
      <p:pic>
        <p:nvPicPr>
          <p:cNvPr id="8" name="Picture 1028" descr="C:\WINDOWS\Profiles\gerla\My Documents\kurose-pictures\5.4-1addresses.jpg">
            <a:extLst>
              <a:ext uri="{FF2B5EF4-FFF2-40B4-BE49-F238E27FC236}">
                <a16:creationId xmlns:a16="http://schemas.microsoft.com/office/drawing/2014/main" id="{1C21173C-1B88-42A4-8723-8A0456684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98" y="1730293"/>
            <a:ext cx="2801914" cy="1955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030">
            <a:extLst>
              <a:ext uri="{FF2B5EF4-FFF2-40B4-BE49-F238E27FC236}">
                <a16:creationId xmlns:a16="http://schemas.microsoft.com/office/drawing/2014/main" id="{1E955A25-1F4C-4607-BC7E-354E7A2CD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60" y="1213296"/>
            <a:ext cx="5065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Each adapter on LAN has unique LAN address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20AB06E-1C7B-4A4D-B7D7-F14FDD773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295" y="1704975"/>
            <a:ext cx="4943511" cy="18192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2455D21-17DB-4182-9723-A06805D25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365" y="3748173"/>
            <a:ext cx="7381929" cy="275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7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灯片编号占位符 5">
            <a:extLst>
              <a:ext uri="{FF2B5EF4-FFF2-40B4-BE49-F238E27FC236}">
                <a16:creationId xmlns:a16="http://schemas.microsoft.com/office/drawing/2014/main" id="{AF0AC46D-3207-40AC-B7E8-08970F31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129C1DE8-9F77-4AEA-8AAE-6A6B3C069A5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C670CBAC-6432-40BF-BD0F-0E5ADC3AD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MAC Addresses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1E7824D4-E3CC-41FD-9D73-24BEF8200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426" y="1239215"/>
            <a:ext cx="8554229" cy="32009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0D2BA82-793D-4CE9-89D6-971C6784DD15}"/>
              </a:ext>
            </a:extLst>
          </p:cNvPr>
          <p:cNvSpPr txBox="1"/>
          <p:nvPr/>
        </p:nvSpPr>
        <p:spPr>
          <a:xfrm>
            <a:off x="762765" y="4657876"/>
            <a:ext cx="5031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https://standards-oui.ieee.org/oui/oui.txt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</a:t>
            </a:r>
            <a:r>
              <a:rPr lang="zh-CN" altLang="en-US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地址查询 </a:t>
            </a:r>
            <a:r>
              <a:rPr lang="en-US" altLang="zh-CN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https://mac.bmcx.com/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BE8EB2-D91E-48F7-968C-EB9159EE1D33}"/>
              </a:ext>
            </a:extLst>
          </p:cNvPr>
          <p:cNvSpPr txBox="1"/>
          <p:nvPr/>
        </p:nvSpPr>
        <p:spPr>
          <a:xfrm>
            <a:off x="762765" y="5521931"/>
            <a:ext cx="6841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What is the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random </a:t>
            </a:r>
            <a:r>
              <a:rPr lang="en-US" altLang="zh-CN" sz="2400" dirty="0"/>
              <a:t>MAC address technology?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1978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灯片编号占位符 5">
            <a:extLst>
              <a:ext uri="{FF2B5EF4-FFF2-40B4-BE49-F238E27FC236}">
                <a16:creationId xmlns:a16="http://schemas.microsoft.com/office/drawing/2014/main" id="{D54D2762-3A8E-4B9F-97E3-11F4DE64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EB292BC3-94D5-49F9-A01A-4962D5F94EB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91443387-B73B-4024-85BD-A062B8C85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Ethernet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7716B863-28A6-4E4D-A451-AAB302C6C1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8188" y="1276350"/>
            <a:ext cx="7519987" cy="21336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“</a:t>
            </a:r>
            <a:r>
              <a:rPr lang="en-US" altLang="zh-CN" sz="2400">
                <a:ea typeface="宋体" panose="02010600030101010101" pitchFamily="2" charset="-122"/>
              </a:rPr>
              <a:t>dominant” LAN technology: 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cheap $20 for 100Mbs!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first wildey used LAN technology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Simpler, cheaper than token LANs and ATM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Kept up with speed race: 10, 100, 1000 Mbps 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7654" name="Picture 4" descr="C:\Medy\cs118\Notes\TopDown Fall 99\Pictures\551 metcalfe-enet.gif">
            <a:extLst>
              <a:ext uri="{FF2B5EF4-FFF2-40B4-BE49-F238E27FC236}">
                <a16:creationId xmlns:a16="http://schemas.microsoft.com/office/drawing/2014/main" id="{FFC7DCEF-31D9-4A82-A858-E62FF74CD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3670300"/>
            <a:ext cx="5192712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Text Box 5">
            <a:extLst>
              <a:ext uri="{FF2B5EF4-FFF2-40B4-BE49-F238E27FC236}">
                <a16:creationId xmlns:a16="http://schemas.microsoft.com/office/drawing/2014/main" id="{2EF99730-A816-4A57-89B5-418B925CF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4487863"/>
            <a:ext cx="2228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Metcalfe’s Etheret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sketch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DE6A130E-0790-4A00-A6C3-FBE7471EB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000" y="1103313"/>
            <a:ext cx="8297863" cy="2449512"/>
          </a:xfrm>
        </p:spPr>
        <p:txBody>
          <a:bodyPr/>
          <a:lstStyle/>
          <a:p>
            <a:pPr>
              <a:lnSpc>
                <a:spcPct val="75000"/>
              </a:lnSpc>
            </a:pPr>
            <a:r>
              <a:rPr lang="en-US" altLang="zh-CN" i="1">
                <a:solidFill>
                  <a:srgbClr val="CC0000"/>
                </a:solidFill>
                <a:ea typeface="宋体" panose="02010600030101010101" pitchFamily="2" charset="-122"/>
              </a:rPr>
              <a:t>bus: </a:t>
            </a:r>
            <a:r>
              <a:rPr lang="en-US" altLang="zh-CN">
                <a:ea typeface="宋体" panose="02010600030101010101" pitchFamily="2" charset="-122"/>
              </a:rPr>
              <a:t>popular through mid 90s</a:t>
            </a:r>
          </a:p>
          <a:p>
            <a:pPr lvl="1">
              <a:lnSpc>
                <a:spcPct val="75000"/>
              </a:lnSpc>
            </a:pPr>
            <a:r>
              <a:rPr lang="en-US" altLang="zh-CN">
                <a:ea typeface="宋体" panose="02010600030101010101" pitchFamily="2" charset="-122"/>
              </a:rPr>
              <a:t>all nodes in same collision domain (can collide with each other)</a:t>
            </a:r>
          </a:p>
          <a:p>
            <a:pPr>
              <a:lnSpc>
                <a:spcPct val="75000"/>
              </a:lnSpc>
            </a:pPr>
            <a:r>
              <a:rPr lang="en-US" altLang="zh-CN" i="1">
                <a:solidFill>
                  <a:srgbClr val="CC0000"/>
                </a:solidFill>
                <a:ea typeface="宋体" panose="02010600030101010101" pitchFamily="2" charset="-122"/>
              </a:rPr>
              <a:t>star: </a:t>
            </a:r>
            <a:r>
              <a:rPr lang="en-US" altLang="zh-CN">
                <a:ea typeface="宋体" panose="02010600030101010101" pitchFamily="2" charset="-122"/>
              </a:rPr>
              <a:t>prevails today</a:t>
            </a:r>
          </a:p>
          <a:p>
            <a:pPr lvl="1">
              <a:lnSpc>
                <a:spcPct val="75000"/>
              </a:lnSpc>
            </a:pPr>
            <a:r>
              <a:rPr lang="en-US" altLang="zh-CN">
                <a:ea typeface="宋体" panose="02010600030101010101" pitchFamily="2" charset="-122"/>
              </a:rPr>
              <a:t>active </a:t>
            </a:r>
            <a:r>
              <a:rPr lang="en-US" altLang="zh-CN" i="1">
                <a:solidFill>
                  <a:srgbClr val="CC0000"/>
                </a:solidFill>
                <a:ea typeface="宋体" panose="02010600030101010101" pitchFamily="2" charset="-122"/>
              </a:rPr>
              <a:t>switch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in center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each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zh-CN">
                <a:ea typeface="宋体" panose="02010600030101010101" pitchFamily="2" charset="-122"/>
              </a:rPr>
              <a:t>spoke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zh-CN">
                <a:ea typeface="宋体" panose="02010600030101010101" pitchFamily="2" charset="-122"/>
              </a:rPr>
              <a:t> runs a (separate) Ethernet protocol (nodes do not collide with each other)</a:t>
            </a:r>
          </a:p>
        </p:txBody>
      </p:sp>
      <p:sp>
        <p:nvSpPr>
          <p:cNvPr id="53254" name="Line 17">
            <a:extLst>
              <a:ext uri="{FF2B5EF4-FFF2-40B4-BE49-F238E27FC236}">
                <a16:creationId xmlns:a16="http://schemas.microsoft.com/office/drawing/2014/main" id="{C610B542-CB7E-436A-ABBC-458511B92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7888" y="5110163"/>
            <a:ext cx="97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53255" name="Line 18">
            <a:extLst>
              <a:ext uri="{FF2B5EF4-FFF2-40B4-BE49-F238E27FC236}">
                <a16:creationId xmlns:a16="http://schemas.microsoft.com/office/drawing/2014/main" id="{2018EF65-1E22-45B7-A6D5-B8C418269A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451802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53256" name="Line 19">
            <a:extLst>
              <a:ext uri="{FF2B5EF4-FFF2-40B4-BE49-F238E27FC236}">
                <a16:creationId xmlns:a16="http://schemas.microsoft.com/office/drawing/2014/main" id="{DA9F2969-7C23-477C-9F46-DFA049C2B0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8225" y="5126038"/>
            <a:ext cx="1003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53257" name="Line 20">
            <a:extLst>
              <a:ext uri="{FF2B5EF4-FFF2-40B4-BE49-F238E27FC236}">
                <a16:creationId xmlns:a16="http://schemas.microsoft.com/office/drawing/2014/main" id="{279756D7-831B-48E2-8BE0-69CDDCC36B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7725" y="5251450"/>
            <a:ext cx="12700" cy="709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53258" name="Text Box 23">
            <a:extLst>
              <a:ext uri="{FF2B5EF4-FFF2-40B4-BE49-F238E27FC236}">
                <a16:creationId xmlns:a16="http://schemas.microsoft.com/office/drawing/2014/main" id="{1B292BAE-6328-470B-9AD4-25B53490C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525" y="5486400"/>
            <a:ext cx="75406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Arial" charset="0"/>
              </a:rPr>
              <a:t>switch</a:t>
            </a:r>
          </a:p>
        </p:txBody>
      </p:sp>
      <p:sp>
        <p:nvSpPr>
          <p:cNvPr id="53259" name="Line 24">
            <a:extLst>
              <a:ext uri="{FF2B5EF4-FFF2-40B4-BE49-F238E27FC236}">
                <a16:creationId xmlns:a16="http://schemas.microsoft.com/office/drawing/2014/main" id="{C0400C25-9AD2-4DAA-B434-295D1F19EB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5413" y="5275263"/>
            <a:ext cx="417512" cy="239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53260" name="Line 32">
            <a:extLst>
              <a:ext uri="{FF2B5EF4-FFF2-40B4-BE49-F238E27FC236}">
                <a16:creationId xmlns:a16="http://schemas.microsoft.com/office/drawing/2014/main" id="{6AD3E1FA-0D4A-4B3F-8CAF-DF19E1FF2B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31938" y="4102100"/>
            <a:ext cx="752475" cy="1468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3261" name="Line 33">
            <a:extLst>
              <a:ext uri="{FF2B5EF4-FFF2-40B4-BE49-F238E27FC236}">
                <a16:creationId xmlns:a16="http://schemas.microsoft.com/office/drawing/2014/main" id="{32DF4C41-12D0-41D6-9343-A275E36BC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3363" y="4879975"/>
            <a:ext cx="39211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3262" name="Line 34">
            <a:extLst>
              <a:ext uri="{FF2B5EF4-FFF2-40B4-BE49-F238E27FC236}">
                <a16:creationId xmlns:a16="http://schemas.microsoft.com/office/drawing/2014/main" id="{F970BB49-3E53-4556-8008-E750F504B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5434013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3263" name="Line 35">
            <a:extLst>
              <a:ext uri="{FF2B5EF4-FFF2-40B4-BE49-F238E27FC236}">
                <a16:creationId xmlns:a16="http://schemas.microsoft.com/office/drawing/2014/main" id="{197B9F6E-7655-4D57-8D7D-153A9EB5F6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3425" y="4648200"/>
            <a:ext cx="287338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3264" name="Line 37">
            <a:extLst>
              <a:ext uri="{FF2B5EF4-FFF2-40B4-BE49-F238E27FC236}">
                <a16:creationId xmlns:a16="http://schemas.microsoft.com/office/drawing/2014/main" id="{3F3147AA-280A-4CBD-AB2A-A330E44C8C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546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3265" name="Line 38">
            <a:extLst>
              <a:ext uri="{FF2B5EF4-FFF2-40B4-BE49-F238E27FC236}">
                <a16:creationId xmlns:a16="http://schemas.microsoft.com/office/drawing/2014/main" id="{51003833-BF3F-491C-A660-3E73AAA51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546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3266" name="Line 39">
            <a:extLst>
              <a:ext uri="{FF2B5EF4-FFF2-40B4-BE49-F238E27FC236}">
                <a16:creationId xmlns:a16="http://schemas.microsoft.com/office/drawing/2014/main" id="{EEEEFE8B-3E95-4FAD-AB14-47AB53F20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5925" y="5324475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3267" name="Text Box 41">
            <a:extLst>
              <a:ext uri="{FF2B5EF4-FFF2-40B4-BE49-F238E27FC236}">
                <a16:creationId xmlns:a16="http://schemas.microsoft.com/office/drawing/2014/main" id="{CAB1C3F6-3799-4416-8844-32BB2E478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5908675"/>
            <a:ext cx="21859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bus: </a:t>
            </a:r>
            <a:r>
              <a:rPr lang="en-US" i="0" dirty="0">
                <a:latin typeface="Arial" charset="0"/>
                <a:cs typeface="Arial" charset="0"/>
              </a:rPr>
              <a:t>coaxial cable</a:t>
            </a:r>
          </a:p>
        </p:txBody>
      </p:sp>
      <p:sp>
        <p:nvSpPr>
          <p:cNvPr id="53268" name="Text Box 42">
            <a:extLst>
              <a:ext uri="{FF2B5EF4-FFF2-40B4-BE49-F238E27FC236}">
                <a16:creationId xmlns:a16="http://schemas.microsoft.com/office/drawing/2014/main" id="{1BEDD6CE-6D4D-404A-A47F-8C077CC79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0863" y="5691188"/>
            <a:ext cx="774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star</a:t>
            </a:r>
          </a:p>
        </p:txBody>
      </p:sp>
      <p:grpSp>
        <p:nvGrpSpPr>
          <p:cNvPr id="28690" name="Group 37">
            <a:extLst>
              <a:ext uri="{FF2B5EF4-FFF2-40B4-BE49-F238E27FC236}">
                <a16:creationId xmlns:a16="http://schemas.microsoft.com/office/drawing/2014/main" id="{6DE99F7F-EEE1-42B4-87DE-BEA8F3C30482}"/>
              </a:ext>
            </a:extLst>
          </p:cNvPr>
          <p:cNvGrpSpPr>
            <a:grpSpLocks/>
          </p:cNvGrpSpPr>
          <p:nvPr/>
        </p:nvGrpSpPr>
        <p:grpSpPr bwMode="auto">
          <a:xfrm>
            <a:off x="2105025" y="4398963"/>
            <a:ext cx="711200" cy="601662"/>
            <a:chOff x="7179310" y="4033520"/>
            <a:chExt cx="1009650" cy="855028"/>
          </a:xfrm>
        </p:grpSpPr>
        <p:grpSp>
          <p:nvGrpSpPr>
            <p:cNvPr id="28734" name="Group 44">
              <a:extLst>
                <a:ext uri="{FF2B5EF4-FFF2-40B4-BE49-F238E27FC236}">
                  <a16:creationId xmlns:a16="http://schemas.microsoft.com/office/drawing/2014/main" id="{043F1820-C801-4D63-9952-DFAA2A40E7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28736" name="Picture 45" descr="desktop_computer_stylized_medium">
                <a:extLst>
                  <a:ext uri="{FF2B5EF4-FFF2-40B4-BE49-F238E27FC236}">
                    <a16:creationId xmlns:a16="http://schemas.microsoft.com/office/drawing/2014/main" id="{D1877501-A53E-4411-A005-CBE96DF887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37" name="Freeform 46">
                <a:extLst>
                  <a:ext uri="{FF2B5EF4-FFF2-40B4-BE49-F238E27FC236}">
                    <a16:creationId xmlns:a16="http://schemas.microsoft.com/office/drawing/2014/main" id="{8C9DA2E0-21D1-4536-B572-9B16263EE36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0" name="Rectangle 43">
              <a:extLst>
                <a:ext uri="{FF2B5EF4-FFF2-40B4-BE49-F238E27FC236}">
                  <a16:creationId xmlns:a16="http://schemas.microsoft.com/office/drawing/2014/main" id="{1D7D9705-C8AE-4E0E-B2AE-E90C0D0A50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438418" y="4308853"/>
              <a:ext cx="128593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</p:grpSp>
      <p:grpSp>
        <p:nvGrpSpPr>
          <p:cNvPr id="28691" name="Group 42">
            <a:extLst>
              <a:ext uri="{FF2B5EF4-FFF2-40B4-BE49-F238E27FC236}">
                <a16:creationId xmlns:a16="http://schemas.microsoft.com/office/drawing/2014/main" id="{52CE6AF0-0E39-498D-8D4C-FD30B23A8790}"/>
              </a:ext>
            </a:extLst>
          </p:cNvPr>
          <p:cNvGrpSpPr>
            <a:grpSpLocks/>
          </p:cNvGrpSpPr>
          <p:nvPr/>
        </p:nvGrpSpPr>
        <p:grpSpPr bwMode="auto">
          <a:xfrm>
            <a:off x="1128713" y="3962400"/>
            <a:ext cx="701675" cy="517525"/>
            <a:chOff x="1046480" y="3962400"/>
            <a:chExt cx="1026163" cy="761428"/>
          </a:xfrm>
        </p:grpSpPr>
        <p:sp>
          <p:nvSpPr>
            <p:cNvPr id="44" name="Rectangle 48">
              <a:extLst>
                <a:ext uri="{FF2B5EF4-FFF2-40B4-BE49-F238E27FC236}">
                  <a16:creationId xmlns:a16="http://schemas.microsoft.com/office/drawing/2014/main" id="{DEF135F2-9D13-4677-8DC1-2FA43DDCC0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547" y="4299487"/>
              <a:ext cx="109777" cy="24841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28731" name="Group 49">
              <a:extLst>
                <a:ext uri="{FF2B5EF4-FFF2-40B4-BE49-F238E27FC236}">
                  <a16:creationId xmlns:a16="http://schemas.microsoft.com/office/drawing/2014/main" id="{37A172D9-5298-46C7-90D9-7D1AA2CF30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28732" name="Picture 50" descr="desktop_computer_stylized_medium">
                <a:extLst>
                  <a:ext uri="{FF2B5EF4-FFF2-40B4-BE49-F238E27FC236}">
                    <a16:creationId xmlns:a16="http://schemas.microsoft.com/office/drawing/2014/main" id="{5A8DF2FA-A780-4F6E-815C-5C3626DB85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33" name="Freeform 51">
                <a:extLst>
                  <a:ext uri="{FF2B5EF4-FFF2-40B4-BE49-F238E27FC236}">
                    <a16:creationId xmlns:a16="http://schemas.microsoft.com/office/drawing/2014/main" id="{F1E17EE3-B1E1-4CF3-B91E-5400C5ABE51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28692" name="Group 47">
            <a:extLst>
              <a:ext uri="{FF2B5EF4-FFF2-40B4-BE49-F238E27FC236}">
                <a16:creationId xmlns:a16="http://schemas.microsoft.com/office/drawing/2014/main" id="{BE6D22A4-A6B0-4F53-ADFF-B29486E0ED75}"/>
              </a:ext>
            </a:extLst>
          </p:cNvPr>
          <p:cNvGrpSpPr>
            <a:grpSpLocks/>
          </p:cNvGrpSpPr>
          <p:nvPr/>
        </p:nvGrpSpPr>
        <p:grpSpPr bwMode="auto">
          <a:xfrm>
            <a:off x="844550" y="4551363"/>
            <a:ext cx="701675" cy="517525"/>
            <a:chOff x="1046480" y="3962400"/>
            <a:chExt cx="1026163" cy="76142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E1E2CF4-F3E7-4BE6-9952-541C08E040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28727" name="Group 49">
              <a:extLst>
                <a:ext uri="{FF2B5EF4-FFF2-40B4-BE49-F238E27FC236}">
                  <a16:creationId xmlns:a16="http://schemas.microsoft.com/office/drawing/2014/main" id="{49A38DAA-EFDD-4AF7-ADE6-FC8BE1327D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28728" name="Picture 50" descr="desktop_computer_stylized_medium">
                <a:extLst>
                  <a:ext uri="{FF2B5EF4-FFF2-40B4-BE49-F238E27FC236}">
                    <a16:creationId xmlns:a16="http://schemas.microsoft.com/office/drawing/2014/main" id="{064BC352-E0D5-4AC4-BE20-333E7767DF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29" name="Freeform 51">
                <a:extLst>
                  <a:ext uri="{FF2B5EF4-FFF2-40B4-BE49-F238E27FC236}">
                    <a16:creationId xmlns:a16="http://schemas.microsoft.com/office/drawing/2014/main" id="{09712E9D-A043-431D-A0AC-C31C3A5AA75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28693" name="Group 52">
            <a:extLst>
              <a:ext uri="{FF2B5EF4-FFF2-40B4-BE49-F238E27FC236}">
                <a16:creationId xmlns:a16="http://schemas.microsoft.com/office/drawing/2014/main" id="{27EFDB77-82FC-4E7C-821F-972433361C5B}"/>
              </a:ext>
            </a:extLst>
          </p:cNvPr>
          <p:cNvGrpSpPr>
            <a:grpSpLocks/>
          </p:cNvGrpSpPr>
          <p:nvPr/>
        </p:nvGrpSpPr>
        <p:grpSpPr bwMode="auto">
          <a:xfrm>
            <a:off x="650875" y="5110163"/>
            <a:ext cx="701675" cy="517525"/>
            <a:chOff x="1046480" y="3962400"/>
            <a:chExt cx="1026163" cy="76142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098F54D-3A08-4FAC-9488-9D7824CBCB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28723" name="Group 54">
              <a:extLst>
                <a:ext uri="{FF2B5EF4-FFF2-40B4-BE49-F238E27FC236}">
                  <a16:creationId xmlns:a16="http://schemas.microsoft.com/office/drawing/2014/main" id="{32A305B4-2502-4054-BF2B-8DA8A7FD5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28724" name="Picture 55" descr="desktop_computer_stylized_medium">
                <a:extLst>
                  <a:ext uri="{FF2B5EF4-FFF2-40B4-BE49-F238E27FC236}">
                    <a16:creationId xmlns:a16="http://schemas.microsoft.com/office/drawing/2014/main" id="{F93CCC8B-879B-43D8-809B-FC08E49941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25" name="Freeform 56">
                <a:extLst>
                  <a:ext uri="{FF2B5EF4-FFF2-40B4-BE49-F238E27FC236}">
                    <a16:creationId xmlns:a16="http://schemas.microsoft.com/office/drawing/2014/main" id="{1FFEFF28-5399-4253-A027-7B71D2206A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28694" name="Group 57">
            <a:extLst>
              <a:ext uri="{FF2B5EF4-FFF2-40B4-BE49-F238E27FC236}">
                <a16:creationId xmlns:a16="http://schemas.microsoft.com/office/drawing/2014/main" id="{6B792CC8-9B74-4E49-A6C0-46C6512F26BD}"/>
              </a:ext>
            </a:extLst>
          </p:cNvPr>
          <p:cNvGrpSpPr>
            <a:grpSpLocks/>
          </p:cNvGrpSpPr>
          <p:nvPr/>
        </p:nvGrpSpPr>
        <p:grpSpPr bwMode="auto">
          <a:xfrm>
            <a:off x="1819275" y="5070475"/>
            <a:ext cx="711200" cy="600075"/>
            <a:chOff x="7179310" y="4033520"/>
            <a:chExt cx="1009650" cy="855028"/>
          </a:xfrm>
        </p:grpSpPr>
        <p:grpSp>
          <p:nvGrpSpPr>
            <p:cNvPr id="28718" name="Group 44">
              <a:extLst>
                <a:ext uri="{FF2B5EF4-FFF2-40B4-BE49-F238E27FC236}">
                  <a16:creationId xmlns:a16="http://schemas.microsoft.com/office/drawing/2014/main" id="{39B7E8D7-F488-44DF-AFD7-188957D58C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28720" name="Picture 45" descr="desktop_computer_stylized_medium">
                <a:extLst>
                  <a:ext uri="{FF2B5EF4-FFF2-40B4-BE49-F238E27FC236}">
                    <a16:creationId xmlns:a16="http://schemas.microsoft.com/office/drawing/2014/main" id="{05A32ACF-FA3E-4438-8891-1064F4848A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21" name="Freeform 46">
                <a:extLst>
                  <a:ext uri="{FF2B5EF4-FFF2-40B4-BE49-F238E27FC236}">
                    <a16:creationId xmlns:a16="http://schemas.microsoft.com/office/drawing/2014/main" id="{E4E46212-72A6-4C12-9322-8D722918CF6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0" name="Rectangle 43">
              <a:extLst>
                <a:ext uri="{FF2B5EF4-FFF2-40B4-BE49-F238E27FC236}">
                  <a16:creationId xmlns:a16="http://schemas.microsoft.com/office/drawing/2014/main" id="{70DB3B7E-0CBA-4513-A202-BB7B6419A9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439379" y="4308711"/>
              <a:ext cx="126671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</p:grpSp>
      <p:grpSp>
        <p:nvGrpSpPr>
          <p:cNvPr id="28695" name="Group 62">
            <a:extLst>
              <a:ext uri="{FF2B5EF4-FFF2-40B4-BE49-F238E27FC236}">
                <a16:creationId xmlns:a16="http://schemas.microsoft.com/office/drawing/2014/main" id="{71A373D7-7E1D-4DD6-BFAC-66F1549509CD}"/>
              </a:ext>
            </a:extLst>
          </p:cNvPr>
          <p:cNvGrpSpPr>
            <a:grpSpLocks/>
          </p:cNvGrpSpPr>
          <p:nvPr/>
        </p:nvGrpSpPr>
        <p:grpSpPr bwMode="auto">
          <a:xfrm>
            <a:off x="3790950" y="4687888"/>
            <a:ext cx="914400" cy="690562"/>
            <a:chOff x="1046480" y="3962400"/>
            <a:chExt cx="1026163" cy="761428"/>
          </a:xfrm>
        </p:grpSpPr>
        <p:sp>
          <p:nvSpPr>
            <p:cNvPr id="64" name="Rectangle 48">
              <a:extLst>
                <a:ext uri="{FF2B5EF4-FFF2-40B4-BE49-F238E27FC236}">
                  <a16:creationId xmlns:a16="http://schemas.microsoft.com/office/drawing/2014/main" id="{5A3A27C7-3174-472A-845F-C93D8B2670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93689" y="4299817"/>
              <a:ext cx="110275" cy="24763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28715" name="Group 49">
              <a:extLst>
                <a:ext uri="{FF2B5EF4-FFF2-40B4-BE49-F238E27FC236}">
                  <a16:creationId xmlns:a16="http://schemas.microsoft.com/office/drawing/2014/main" id="{4E458896-4D22-44BE-8781-B0FD77C4FC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28716" name="Picture 50" descr="desktop_computer_stylized_medium">
                <a:extLst>
                  <a:ext uri="{FF2B5EF4-FFF2-40B4-BE49-F238E27FC236}">
                    <a16:creationId xmlns:a16="http://schemas.microsoft.com/office/drawing/2014/main" id="{28D667C4-C6F4-42CB-B45A-DDC96C4AB3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17" name="Freeform 51">
                <a:extLst>
                  <a:ext uri="{FF2B5EF4-FFF2-40B4-BE49-F238E27FC236}">
                    <a16:creationId xmlns:a16="http://schemas.microsoft.com/office/drawing/2014/main" id="{A6D00B27-3379-4AA1-9ECE-626B4412477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28696" name="Group 67">
            <a:extLst>
              <a:ext uri="{FF2B5EF4-FFF2-40B4-BE49-F238E27FC236}">
                <a16:creationId xmlns:a16="http://schemas.microsoft.com/office/drawing/2014/main" id="{08369181-1558-40D7-B960-610F77ED8062}"/>
              </a:ext>
            </a:extLst>
          </p:cNvPr>
          <p:cNvGrpSpPr>
            <a:grpSpLocks/>
          </p:cNvGrpSpPr>
          <p:nvPr/>
        </p:nvGrpSpPr>
        <p:grpSpPr bwMode="auto">
          <a:xfrm>
            <a:off x="6919913" y="4779963"/>
            <a:ext cx="854075" cy="741362"/>
            <a:chOff x="7179310" y="4033520"/>
            <a:chExt cx="1009650" cy="855028"/>
          </a:xfrm>
        </p:grpSpPr>
        <p:grpSp>
          <p:nvGrpSpPr>
            <p:cNvPr id="28710" name="Group 44">
              <a:extLst>
                <a:ext uri="{FF2B5EF4-FFF2-40B4-BE49-F238E27FC236}">
                  <a16:creationId xmlns:a16="http://schemas.microsoft.com/office/drawing/2014/main" id="{C208EC7C-79C4-4706-B670-6292FF2D5E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28712" name="Picture 45" descr="desktop_computer_stylized_medium">
                <a:extLst>
                  <a:ext uri="{FF2B5EF4-FFF2-40B4-BE49-F238E27FC236}">
                    <a16:creationId xmlns:a16="http://schemas.microsoft.com/office/drawing/2014/main" id="{B0FB3E40-1A26-4D16-B399-3516EA0012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13" name="Freeform 46">
                <a:extLst>
                  <a:ext uri="{FF2B5EF4-FFF2-40B4-BE49-F238E27FC236}">
                    <a16:creationId xmlns:a16="http://schemas.microsoft.com/office/drawing/2014/main" id="{A3503B6F-ECEF-4FD3-ABE1-55ECBA3FF32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0" name="Rectangle 43">
              <a:extLst>
                <a:ext uri="{FF2B5EF4-FFF2-40B4-BE49-F238E27FC236}">
                  <a16:creationId xmlns:a16="http://schemas.microsoft.com/office/drawing/2014/main" id="{B925B9EA-44DA-4113-9BC3-99538F0A3C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438954" y="4308497"/>
              <a:ext cx="128163" cy="19705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</p:grpSp>
      <p:sp>
        <p:nvSpPr>
          <p:cNvPr id="75" name="Rectangle 43">
            <a:extLst>
              <a:ext uri="{FF2B5EF4-FFF2-40B4-BE49-F238E27FC236}">
                <a16:creationId xmlns:a16="http://schemas.microsoft.com/office/drawing/2014/main" id="{1525E6C3-2182-4B2C-9AED-FCC69C7E7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351338"/>
            <a:ext cx="109537" cy="1651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pSp>
        <p:nvGrpSpPr>
          <p:cNvPr id="28698" name="Group 44">
            <a:extLst>
              <a:ext uri="{FF2B5EF4-FFF2-40B4-BE49-F238E27FC236}">
                <a16:creationId xmlns:a16="http://schemas.microsoft.com/office/drawing/2014/main" id="{DC0FF370-C0F6-41B3-8AFF-D5532D3C55CF}"/>
              </a:ext>
            </a:extLst>
          </p:cNvPr>
          <p:cNvGrpSpPr>
            <a:grpSpLocks/>
          </p:cNvGrpSpPr>
          <p:nvPr/>
        </p:nvGrpSpPr>
        <p:grpSpPr bwMode="auto">
          <a:xfrm>
            <a:off x="5487988" y="3784600"/>
            <a:ext cx="852487" cy="741363"/>
            <a:chOff x="-44" y="1473"/>
            <a:chExt cx="981" cy="1105"/>
          </a:xfrm>
        </p:grpSpPr>
        <p:pic>
          <p:nvPicPr>
            <p:cNvPr id="28708" name="Picture 45" descr="desktop_computer_stylized_medium">
              <a:extLst>
                <a:ext uri="{FF2B5EF4-FFF2-40B4-BE49-F238E27FC236}">
                  <a16:creationId xmlns:a16="http://schemas.microsoft.com/office/drawing/2014/main" id="{982DD29E-C35C-4227-9C44-D48A36CE3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709" name="Freeform 46">
              <a:extLst>
                <a:ext uri="{FF2B5EF4-FFF2-40B4-BE49-F238E27FC236}">
                  <a16:creationId xmlns:a16="http://schemas.microsoft.com/office/drawing/2014/main" id="{15FC7D45-36EE-4976-B6D3-3D0ED4FA2FE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699" name="Group 1">
            <a:extLst>
              <a:ext uri="{FF2B5EF4-FFF2-40B4-BE49-F238E27FC236}">
                <a16:creationId xmlns:a16="http://schemas.microsoft.com/office/drawing/2014/main" id="{23200579-6B06-43DD-9849-BD2E7F4FF4F3}"/>
              </a:ext>
            </a:extLst>
          </p:cNvPr>
          <p:cNvGrpSpPr>
            <a:grpSpLocks/>
          </p:cNvGrpSpPr>
          <p:nvPr/>
        </p:nvGrpSpPr>
        <p:grpSpPr bwMode="auto">
          <a:xfrm>
            <a:off x="5314950" y="5926138"/>
            <a:ext cx="854075" cy="835025"/>
            <a:chOff x="8077200" y="3320111"/>
            <a:chExt cx="853440" cy="835329"/>
          </a:xfrm>
        </p:grpSpPr>
        <p:sp>
          <p:nvSpPr>
            <p:cNvPr id="78" name="Rectangle 43">
              <a:extLst>
                <a:ext uri="{FF2B5EF4-FFF2-40B4-BE49-F238E27FC236}">
                  <a16:creationId xmlns:a16="http://schemas.microsoft.com/office/drawing/2014/main" id="{2DDC1A08-3481-49D9-BD54-2EC26D5F4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0826" y="3320111"/>
              <a:ext cx="111042" cy="16516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28705" name="Group 44">
              <a:extLst>
                <a:ext uri="{FF2B5EF4-FFF2-40B4-BE49-F238E27FC236}">
                  <a16:creationId xmlns:a16="http://schemas.microsoft.com/office/drawing/2014/main" id="{0A8400E7-7216-491A-B371-AB891A9FF6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3413760"/>
              <a:ext cx="853440" cy="741680"/>
              <a:chOff x="-44" y="1473"/>
              <a:chExt cx="981" cy="1105"/>
            </a:xfrm>
          </p:grpSpPr>
          <p:pic>
            <p:nvPicPr>
              <p:cNvPr id="28706" name="Picture 45" descr="desktop_computer_stylized_medium">
                <a:extLst>
                  <a:ext uri="{FF2B5EF4-FFF2-40B4-BE49-F238E27FC236}">
                    <a16:creationId xmlns:a16="http://schemas.microsoft.com/office/drawing/2014/main" id="{987EECE5-4F8F-413C-81CA-A7CC70CCF9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07" name="Freeform 46">
                <a:extLst>
                  <a:ext uri="{FF2B5EF4-FFF2-40B4-BE49-F238E27FC236}">
                    <a16:creationId xmlns:a16="http://schemas.microsoft.com/office/drawing/2014/main" id="{BD99EC46-FA04-4CB3-8783-A7151BBADCB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pic>
        <p:nvPicPr>
          <p:cNvPr id="53279" name="Picture 3">
            <a:extLst>
              <a:ext uri="{FF2B5EF4-FFF2-40B4-BE49-F238E27FC236}">
                <a16:creationId xmlns:a16="http://schemas.microsoft.com/office/drawing/2014/main" id="{B72A1013-4C5F-459F-BC7C-4577323A9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27688" y="4962525"/>
            <a:ext cx="6032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8701" name="Rectangle 4">
            <a:extLst>
              <a:ext uri="{FF2B5EF4-FFF2-40B4-BE49-F238E27FC236}">
                <a16:creationId xmlns:a16="http://schemas.microsoft.com/office/drawing/2014/main" id="{C73D7D09-2065-4C64-9800-415363DF4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Ethernet: physical topology</a:t>
            </a:r>
          </a:p>
        </p:txBody>
      </p:sp>
      <p:sp>
        <p:nvSpPr>
          <p:cNvPr id="28703" name="灯片编号占位符 5">
            <a:extLst>
              <a:ext uri="{FF2B5EF4-FFF2-40B4-BE49-F238E27FC236}">
                <a16:creationId xmlns:a16="http://schemas.microsoft.com/office/drawing/2014/main" id="{C8F50410-6C77-40DE-B118-649058F2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BADBA637-49AA-41D1-9EF2-011AD52D54A6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64FA1DE-A24E-4098-A311-043AEF7B0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47063" cy="11430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Ethernet: unreliable, connectionless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60E73FC-2413-4581-8303-35045FB77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61350" cy="4648200"/>
          </a:xfrm>
        </p:spPr>
        <p:txBody>
          <a:bodyPr/>
          <a:lstStyle/>
          <a:p>
            <a:r>
              <a:rPr lang="en-US" altLang="zh-CN" i="1">
                <a:solidFill>
                  <a:srgbClr val="CC0000"/>
                </a:solidFill>
                <a:ea typeface="宋体" panose="02010600030101010101" pitchFamily="2" charset="-122"/>
              </a:rPr>
              <a:t>connectionless: </a:t>
            </a:r>
            <a:r>
              <a:rPr lang="en-US" altLang="zh-CN">
                <a:ea typeface="宋体" panose="02010600030101010101" pitchFamily="2" charset="-122"/>
              </a:rPr>
              <a:t>no handshaking between sending and receiving NICs </a:t>
            </a:r>
          </a:p>
          <a:p>
            <a:r>
              <a:rPr lang="en-US" altLang="zh-CN" i="1">
                <a:solidFill>
                  <a:srgbClr val="CC0000"/>
                </a:solidFill>
                <a:ea typeface="宋体" panose="02010600030101010101" pitchFamily="2" charset="-122"/>
              </a:rPr>
              <a:t>unreliable: </a:t>
            </a:r>
            <a:r>
              <a:rPr lang="en-US" altLang="zh-CN">
                <a:ea typeface="宋体" panose="02010600030101010101" pitchFamily="2" charset="-122"/>
              </a:rPr>
              <a:t>receiving NIC doesn't send acks or nacks to sending NIC</a:t>
            </a:r>
          </a:p>
          <a:p>
            <a:pPr lvl="1"/>
            <a:r>
              <a:rPr lang="en-US" altLang="zh-CN" sz="2800">
                <a:ea typeface="宋体" panose="02010600030101010101" pitchFamily="2" charset="-122"/>
              </a:rPr>
              <a:t>data in dropped frames recovered only if initial sender uses higher layer rdt (e.g., TCP), otherwise dropped data lost</a:t>
            </a:r>
          </a:p>
          <a:p>
            <a:r>
              <a:rPr lang="en-US" altLang="zh-CN">
                <a:ea typeface="宋体" panose="02010600030101010101" pitchFamily="2" charset="-122"/>
              </a:rPr>
              <a:t>Ethernet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zh-CN">
                <a:ea typeface="宋体" panose="02010600030101010101" pitchFamily="2" charset="-122"/>
              </a:rPr>
              <a:t>s MAC protocol: unslotted </a:t>
            </a:r>
            <a:r>
              <a:rPr lang="en-US" altLang="zh-CN" i="1">
                <a:solidFill>
                  <a:srgbClr val="CC0000"/>
                </a:solidFill>
                <a:ea typeface="宋体" panose="02010600030101010101" pitchFamily="2" charset="-122"/>
              </a:rPr>
              <a:t>CSMA/CD with binary backoff</a:t>
            </a:r>
          </a:p>
        </p:txBody>
      </p:sp>
      <p:sp>
        <p:nvSpPr>
          <p:cNvPr id="34821" name="灯片编号占位符 5">
            <a:extLst>
              <a:ext uri="{FF2B5EF4-FFF2-40B4-BE49-F238E27FC236}">
                <a16:creationId xmlns:a16="http://schemas.microsoft.com/office/drawing/2014/main" id="{94644DC7-4E26-4F17-91C4-D46A8710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1B5D3B9A-7FA4-4342-A9F8-A9E95011F951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754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64FA1DE-A24E-4098-A311-043AEF7B0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47063" cy="1143000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802.3 Ethernet standards: link &amp; physical layers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60E73FC-2413-4581-8303-35045FB77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6135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i="1" dirty="0">
                <a:solidFill>
                  <a:srgbClr val="CC0000"/>
                </a:solidFill>
                <a:ea typeface="宋体" panose="02010600030101010101" pitchFamily="2" charset="-122"/>
              </a:rPr>
              <a:t>many</a:t>
            </a: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different Ethernet standards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common MAC protocol and frame format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different speeds: 10 Mbps, 100 Mbps, 1Gbps, 10 Gbps, 40 Gbps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different physical layer media: fiber, cable</a:t>
            </a:r>
          </a:p>
        </p:txBody>
      </p:sp>
      <p:sp>
        <p:nvSpPr>
          <p:cNvPr id="34821" name="灯片编号占位符 5">
            <a:extLst>
              <a:ext uri="{FF2B5EF4-FFF2-40B4-BE49-F238E27FC236}">
                <a16:creationId xmlns:a16="http://schemas.microsoft.com/office/drawing/2014/main" id="{94644DC7-4E26-4F17-91C4-D46A8710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1B5D3B9A-7FA4-4342-A9F8-A9E95011F951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" name="Freeform 39">
            <a:extLst>
              <a:ext uri="{FF2B5EF4-FFF2-40B4-BE49-F238E27FC236}">
                <a16:creationId xmlns:a16="http://schemas.microsoft.com/office/drawing/2014/main" id="{8FF71E7D-9EBF-4AE5-93D1-7D33EB3F17E4}"/>
              </a:ext>
            </a:extLst>
          </p:cNvPr>
          <p:cNvSpPr>
            <a:spLocks/>
          </p:cNvSpPr>
          <p:nvPr/>
        </p:nvSpPr>
        <p:spPr bwMode="auto">
          <a:xfrm>
            <a:off x="2396967" y="3929117"/>
            <a:ext cx="1393825" cy="1527175"/>
          </a:xfrm>
          <a:custGeom>
            <a:avLst/>
            <a:gdLst>
              <a:gd name="T0" fmla="*/ 2147483647 w 878"/>
              <a:gd name="T1" fmla="*/ 0 h 962"/>
              <a:gd name="T2" fmla="*/ 0 w 878"/>
              <a:gd name="T3" fmla="*/ 2147483647 h 962"/>
              <a:gd name="T4" fmla="*/ 2147483647 w 878"/>
              <a:gd name="T5" fmla="*/ 2147483647 h 962"/>
              <a:gd name="T6" fmla="*/ 2147483647 w 878"/>
              <a:gd name="T7" fmla="*/ 2147483647 h 962"/>
              <a:gd name="T8" fmla="*/ 2147483647 w 878"/>
              <a:gd name="T9" fmla="*/ 0 h 9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8" h="962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40">
            <a:extLst>
              <a:ext uri="{FF2B5EF4-FFF2-40B4-BE49-F238E27FC236}">
                <a16:creationId xmlns:a16="http://schemas.microsoft.com/office/drawing/2014/main" id="{DBC29963-BBC5-49C8-B57A-0F53383D7DBB}"/>
              </a:ext>
            </a:extLst>
          </p:cNvPr>
          <p:cNvGrpSpPr>
            <a:grpSpLocks/>
          </p:cNvGrpSpPr>
          <p:nvPr/>
        </p:nvGrpSpPr>
        <p:grpSpPr bwMode="auto">
          <a:xfrm>
            <a:off x="1101567" y="4043417"/>
            <a:ext cx="1300163" cy="1465262"/>
            <a:chOff x="921" y="785"/>
            <a:chExt cx="819" cy="923"/>
          </a:xfrm>
        </p:grpSpPr>
        <p:sp>
          <p:nvSpPr>
            <p:cNvPr id="8" name="Rectangle 41">
              <a:extLst>
                <a:ext uri="{FF2B5EF4-FFF2-40B4-BE49-F238E27FC236}">
                  <a16:creationId xmlns:a16="http://schemas.microsoft.com/office/drawing/2014/main" id="{E6D56CCF-9F53-4375-B561-06DF7E208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810"/>
              <a:ext cx="816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9" name="Text Box 42">
              <a:extLst>
                <a:ext uri="{FF2B5EF4-FFF2-40B4-BE49-F238E27FC236}">
                  <a16:creationId xmlns:a16="http://schemas.microsoft.com/office/drawing/2014/main" id="{1466F800-F96E-41B1-BB33-784D2E364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785"/>
              <a:ext cx="804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</a:rPr>
                <a:t>application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</a:rPr>
                <a:t>transport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</a:rPr>
                <a:t>network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</a:rPr>
                <a:t>link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</a:rPr>
                <a:t>physical</a:t>
              </a:r>
            </a:p>
          </p:txBody>
        </p:sp>
        <p:sp>
          <p:nvSpPr>
            <p:cNvPr id="10" name="Line 43">
              <a:extLst>
                <a:ext uri="{FF2B5EF4-FFF2-40B4-BE49-F238E27FC236}">
                  <a16:creationId xmlns:a16="http://schemas.microsoft.com/office/drawing/2014/main" id="{A4A9B531-133D-4C20-84A9-BF22681BA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993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1" name="Line 44">
              <a:extLst>
                <a:ext uri="{FF2B5EF4-FFF2-40B4-BE49-F238E27FC236}">
                  <a16:creationId xmlns:a16="http://schemas.microsoft.com/office/drawing/2014/main" id="{B805D9C4-EB91-4D35-B81E-2DE08E31B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1167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2" name="Line 45">
              <a:extLst>
                <a:ext uri="{FF2B5EF4-FFF2-40B4-BE49-F238E27FC236}">
                  <a16:creationId xmlns:a16="http://schemas.microsoft.com/office/drawing/2014/main" id="{0F4AED42-0C63-4285-BF90-5FBB21908A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134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3" name="Line 46">
              <a:extLst>
                <a:ext uri="{FF2B5EF4-FFF2-40B4-BE49-F238E27FC236}">
                  <a16:creationId xmlns:a16="http://schemas.microsoft.com/office/drawing/2014/main" id="{148D94F4-E547-4200-9FC3-5DE1E8206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" y="1501"/>
              <a:ext cx="808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4" name="Line 47">
              <a:extLst>
                <a:ext uri="{FF2B5EF4-FFF2-40B4-BE49-F238E27FC236}">
                  <a16:creationId xmlns:a16="http://schemas.microsoft.com/office/drawing/2014/main" id="{03E1B73D-2C61-4781-8CED-37905A355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" y="1552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5" name="Line 48">
              <a:extLst>
                <a:ext uri="{FF2B5EF4-FFF2-40B4-BE49-F238E27FC236}">
                  <a16:creationId xmlns:a16="http://schemas.microsoft.com/office/drawing/2014/main" id="{141E34CB-C249-4C61-9E50-F882C0628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541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16" name="Rectangle 49">
            <a:extLst>
              <a:ext uri="{FF2B5EF4-FFF2-40B4-BE49-F238E27FC236}">
                <a16:creationId xmlns:a16="http://schemas.microsoft.com/office/drawing/2014/main" id="{E7033373-21C0-4B36-B7B5-522D8957A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280" y="3892604"/>
            <a:ext cx="4195762" cy="1568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sp>
        <p:nvSpPr>
          <p:cNvPr id="17" name="Line 50">
            <a:extLst>
              <a:ext uri="{FF2B5EF4-FFF2-40B4-BE49-F238E27FC236}">
                <a16:creationId xmlns:a16="http://schemas.microsoft.com/office/drawing/2014/main" id="{7674C82F-EEB3-4657-AA3E-FB79DF7580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68567" y="4557767"/>
            <a:ext cx="417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8" name="Text Box 51">
            <a:extLst>
              <a:ext uri="{FF2B5EF4-FFF2-40B4-BE49-F238E27FC236}">
                <a16:creationId xmlns:a16="http://schemas.microsoft.com/office/drawing/2014/main" id="{A9D5F603-571B-447A-8B80-7A90919B1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967" y="3933879"/>
            <a:ext cx="17351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600" i="0" dirty="0">
                <a:latin typeface="Arial" charset="0"/>
              </a:rPr>
              <a:t>MAC protocol</a:t>
            </a:r>
          </a:p>
          <a:p>
            <a:pPr algn="ctr" eaLnBrk="1" hangingPunct="1">
              <a:defRPr/>
            </a:pPr>
            <a:r>
              <a:rPr lang="en-US" sz="1600" i="0" dirty="0">
                <a:latin typeface="Arial" charset="0"/>
              </a:rPr>
              <a:t>and frame format</a:t>
            </a:r>
          </a:p>
        </p:txBody>
      </p:sp>
      <p:sp>
        <p:nvSpPr>
          <p:cNvPr id="19" name="Text Box 52">
            <a:extLst>
              <a:ext uri="{FF2B5EF4-FFF2-40B4-BE49-F238E27FC236}">
                <a16:creationId xmlns:a16="http://schemas.microsoft.com/office/drawing/2014/main" id="{BD99085E-6E34-42B7-9E6D-5B38FB0F0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555" y="4648254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</a:rPr>
              <a:t>100BASE-TX</a:t>
            </a:r>
          </a:p>
        </p:txBody>
      </p:sp>
      <p:sp>
        <p:nvSpPr>
          <p:cNvPr id="20" name="Text Box 53">
            <a:extLst>
              <a:ext uri="{FF2B5EF4-FFF2-40B4-BE49-F238E27FC236}">
                <a16:creationId xmlns:a16="http://schemas.microsoft.com/office/drawing/2014/main" id="{D86CD6DF-0949-4F75-83D1-135769836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667" y="5008617"/>
            <a:ext cx="123031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</a:rPr>
              <a:t>100BASE-T4</a:t>
            </a:r>
          </a:p>
        </p:txBody>
      </p:sp>
      <p:sp>
        <p:nvSpPr>
          <p:cNvPr id="21" name="Text Box 54">
            <a:extLst>
              <a:ext uri="{FF2B5EF4-FFF2-40B4-BE49-F238E27FC236}">
                <a16:creationId xmlns:a16="http://schemas.microsoft.com/office/drawing/2014/main" id="{54982F67-D430-4911-8B14-E26E12BB6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430" y="4643492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</a:rPr>
              <a:t>100BASE-FX</a:t>
            </a:r>
          </a:p>
        </p:txBody>
      </p:sp>
      <p:sp>
        <p:nvSpPr>
          <p:cNvPr id="22" name="Freeform 55">
            <a:extLst>
              <a:ext uri="{FF2B5EF4-FFF2-40B4-BE49-F238E27FC236}">
                <a16:creationId xmlns:a16="http://schemas.microsoft.com/office/drawing/2014/main" id="{CAB08C4F-305E-4112-AEAC-E7F30A446ACB}"/>
              </a:ext>
            </a:extLst>
          </p:cNvPr>
          <p:cNvSpPr>
            <a:spLocks/>
          </p:cNvSpPr>
          <p:nvPr/>
        </p:nvSpPr>
        <p:spPr bwMode="auto">
          <a:xfrm>
            <a:off x="2411255" y="4538717"/>
            <a:ext cx="1393825" cy="611187"/>
          </a:xfrm>
          <a:custGeom>
            <a:avLst/>
            <a:gdLst>
              <a:gd name="T0" fmla="*/ 0 w 878"/>
              <a:gd name="T1" fmla="*/ 2147483647 h 385"/>
              <a:gd name="T2" fmla="*/ 2147483647 w 878"/>
              <a:gd name="T3" fmla="*/ 0 h 3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78" h="385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56">
            <a:extLst>
              <a:ext uri="{FF2B5EF4-FFF2-40B4-BE49-F238E27FC236}">
                <a16:creationId xmlns:a16="http://schemas.microsoft.com/office/drawing/2014/main" id="{4A118F27-FF1A-4BE2-B538-79B856393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580" y="4641904"/>
            <a:ext cx="123031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</a:rPr>
              <a:t>100BASE-T2</a:t>
            </a:r>
          </a:p>
        </p:txBody>
      </p:sp>
      <p:sp>
        <p:nvSpPr>
          <p:cNvPr id="24" name="Text Box 57">
            <a:extLst>
              <a:ext uri="{FF2B5EF4-FFF2-40B4-BE49-F238E27FC236}">
                <a16:creationId xmlns:a16="http://schemas.microsoft.com/office/drawing/2014/main" id="{229FA6BD-4EE0-48F6-8F64-96D088414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117" y="5002267"/>
            <a:ext cx="126206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</a:rPr>
              <a:t>100BASE-SX</a:t>
            </a:r>
          </a:p>
        </p:txBody>
      </p:sp>
      <p:sp>
        <p:nvSpPr>
          <p:cNvPr id="25" name="Text Box 58">
            <a:extLst>
              <a:ext uri="{FF2B5EF4-FFF2-40B4-BE49-F238E27FC236}">
                <a16:creationId xmlns:a16="http://schemas.microsoft.com/office/drawing/2014/main" id="{F9467361-D6E5-4608-8CCE-E889F2A46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780" y="4997504"/>
            <a:ext cx="126206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</a:rPr>
              <a:t>100BASE-BX</a:t>
            </a:r>
          </a:p>
        </p:txBody>
      </p:sp>
      <p:grpSp>
        <p:nvGrpSpPr>
          <p:cNvPr id="26" name="Group 67">
            <a:extLst>
              <a:ext uri="{FF2B5EF4-FFF2-40B4-BE49-F238E27FC236}">
                <a16:creationId xmlns:a16="http://schemas.microsoft.com/office/drawing/2014/main" id="{80FCF7F3-706C-44EB-A764-D42A2B71C9C3}"/>
              </a:ext>
            </a:extLst>
          </p:cNvPr>
          <p:cNvGrpSpPr>
            <a:grpSpLocks/>
          </p:cNvGrpSpPr>
          <p:nvPr/>
        </p:nvGrpSpPr>
        <p:grpSpPr bwMode="auto">
          <a:xfrm>
            <a:off x="5205255" y="4597454"/>
            <a:ext cx="2768600" cy="1565275"/>
            <a:chOff x="3579" y="2988"/>
            <a:chExt cx="1744" cy="986"/>
          </a:xfrm>
        </p:grpSpPr>
        <p:sp>
          <p:nvSpPr>
            <p:cNvPr id="27" name="Freeform 59">
              <a:extLst>
                <a:ext uri="{FF2B5EF4-FFF2-40B4-BE49-F238E27FC236}">
                  <a16:creationId xmlns:a16="http://schemas.microsoft.com/office/drawing/2014/main" id="{D8324AB4-22B2-49CA-B976-1A1E2E142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988"/>
              <a:ext cx="1709" cy="489"/>
            </a:xfrm>
            <a:custGeom>
              <a:avLst/>
              <a:gdLst>
                <a:gd name="T0" fmla="*/ 842 w 1709"/>
                <a:gd name="T1" fmla="*/ 0 h 489"/>
                <a:gd name="T2" fmla="*/ 843 w 1709"/>
                <a:gd name="T3" fmla="*/ 239 h 489"/>
                <a:gd name="T4" fmla="*/ 5 w 1709"/>
                <a:gd name="T5" fmla="*/ 239 h 489"/>
                <a:gd name="T6" fmla="*/ 0 w 1709"/>
                <a:gd name="T7" fmla="*/ 489 h 489"/>
                <a:gd name="T8" fmla="*/ 1709 w 1709"/>
                <a:gd name="T9" fmla="*/ 489 h 489"/>
                <a:gd name="T10" fmla="*/ 1704 w 1709"/>
                <a:gd name="T11" fmla="*/ 0 h 489"/>
                <a:gd name="T12" fmla="*/ 842 w 1709"/>
                <a:gd name="T13" fmla="*/ 0 h 4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9" h="48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60">
              <a:extLst>
                <a:ext uri="{FF2B5EF4-FFF2-40B4-BE49-F238E27FC236}">
                  <a16:creationId xmlns:a16="http://schemas.microsoft.com/office/drawing/2014/main" id="{15ECBF7D-7EDA-40FE-9986-9C15359A5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0" y="3494"/>
              <a:ext cx="227" cy="2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29" name="Text Box 61">
              <a:extLst>
                <a:ext uri="{FF2B5EF4-FFF2-40B4-BE49-F238E27FC236}">
                  <a16:creationId xmlns:a16="http://schemas.microsoft.com/office/drawing/2014/main" id="{DAA13E26-D63C-4E85-8AF7-2D224F7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" y="3741"/>
              <a:ext cx="13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fiber physical layer</a:t>
              </a:r>
            </a:p>
          </p:txBody>
        </p:sp>
      </p:grpSp>
      <p:grpSp>
        <p:nvGrpSpPr>
          <p:cNvPr id="30" name="Group 66">
            <a:extLst>
              <a:ext uri="{FF2B5EF4-FFF2-40B4-BE49-F238E27FC236}">
                <a16:creationId xmlns:a16="http://schemas.microsoft.com/office/drawing/2014/main" id="{4D6B091C-A9CC-4DEF-8C1E-F9B173CCB861}"/>
              </a:ext>
            </a:extLst>
          </p:cNvPr>
          <p:cNvGrpSpPr>
            <a:grpSpLocks/>
          </p:cNvGrpSpPr>
          <p:nvPr/>
        </p:nvGrpSpPr>
        <p:grpSpPr bwMode="auto">
          <a:xfrm>
            <a:off x="3212942" y="4587929"/>
            <a:ext cx="3303588" cy="1874838"/>
            <a:chOff x="2324" y="2982"/>
            <a:chExt cx="2081" cy="1181"/>
          </a:xfrm>
        </p:grpSpPr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49E23795-A8D1-4C8A-AB08-3BB594CDA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2982"/>
              <a:ext cx="1664" cy="495"/>
            </a:xfrm>
            <a:custGeom>
              <a:avLst/>
              <a:gdLst>
                <a:gd name="T0" fmla="*/ 1664 w 1664"/>
                <a:gd name="T1" fmla="*/ 0 h 495"/>
                <a:gd name="T2" fmla="*/ 1652 w 1664"/>
                <a:gd name="T3" fmla="*/ 233 h 495"/>
                <a:gd name="T4" fmla="*/ 820 w 1664"/>
                <a:gd name="T5" fmla="*/ 233 h 495"/>
                <a:gd name="T6" fmla="*/ 814 w 1664"/>
                <a:gd name="T7" fmla="*/ 495 h 495"/>
                <a:gd name="T8" fmla="*/ 0 w 1664"/>
                <a:gd name="T9" fmla="*/ 495 h 495"/>
                <a:gd name="T10" fmla="*/ 0 w 1664"/>
                <a:gd name="T11" fmla="*/ 0 h 495"/>
                <a:gd name="T12" fmla="*/ 1664 w 1664"/>
                <a:gd name="T13" fmla="*/ 0 h 4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4" h="495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Line 63">
              <a:extLst>
                <a:ext uri="{FF2B5EF4-FFF2-40B4-BE49-F238E27FC236}">
                  <a16:creationId xmlns:a16="http://schemas.microsoft.com/office/drawing/2014/main" id="{18C5FEE6-2C22-4CE2-AB0D-930E13564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9" y="3503"/>
              <a:ext cx="227" cy="29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3" name="Text Box 65">
              <a:extLst>
                <a:ext uri="{FF2B5EF4-FFF2-40B4-BE49-F238E27FC236}">
                  <a16:creationId xmlns:a16="http://schemas.microsoft.com/office/drawing/2014/main" id="{FF3510C5-AA25-47B6-8F70-9E5C3896DB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" y="3756"/>
              <a:ext cx="132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copper (twister</a:t>
              </a:r>
            </a:p>
            <a:p>
              <a:pPr>
                <a:defRPr/>
              </a:pPr>
              <a:r>
                <a:rPr lang="en-US" i="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pair) physical layer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400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灯片编号占位符 5">
            <a:extLst>
              <a:ext uri="{FF2B5EF4-FFF2-40B4-BE49-F238E27FC236}">
                <a16:creationId xmlns:a16="http://schemas.microsoft.com/office/drawing/2014/main" id="{442CD9B6-2C6A-45B1-9171-EC2AFE8D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C147690F-880B-40D4-B18A-4B5668B296D6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49EC550F-EB34-4078-8A5F-9E42A78CD7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46075"/>
            <a:ext cx="7772400" cy="60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Ethernet Frame Structure</a:t>
            </a:r>
          </a:p>
        </p:txBody>
      </p:sp>
      <p:grpSp>
        <p:nvGrpSpPr>
          <p:cNvPr id="30725" name="组合 7">
            <a:extLst>
              <a:ext uri="{FF2B5EF4-FFF2-40B4-BE49-F238E27FC236}">
                <a16:creationId xmlns:a16="http://schemas.microsoft.com/office/drawing/2014/main" id="{7A1C59BC-E377-4444-82BB-057537FD63C5}"/>
              </a:ext>
            </a:extLst>
          </p:cNvPr>
          <p:cNvGrpSpPr>
            <a:grpSpLocks/>
          </p:cNvGrpSpPr>
          <p:nvPr/>
        </p:nvGrpSpPr>
        <p:grpSpPr bwMode="auto">
          <a:xfrm>
            <a:off x="0" y="1470025"/>
            <a:ext cx="9215438" cy="3900488"/>
            <a:chOff x="10299" y="1989138"/>
            <a:chExt cx="9216052" cy="3900981"/>
          </a:xfrm>
        </p:grpSpPr>
        <p:sp>
          <p:nvSpPr>
            <p:cNvPr id="9" name="Line 3">
              <a:extLst>
                <a:ext uri="{FF2B5EF4-FFF2-40B4-BE49-F238E27FC236}">
                  <a16:creationId xmlns:a16="http://schemas.microsoft.com/office/drawing/2014/main" id="{9B920CFA-E7AF-4161-BD1E-3E3F9274E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184" y="3848336"/>
              <a:ext cx="8914407" cy="0"/>
            </a:xfrm>
            <a:prstGeom prst="line">
              <a:avLst/>
            </a:prstGeom>
            <a:noFill/>
            <a:ln w="38100" cmpd="dbl">
              <a:solidFill>
                <a:schemeClr val="folHlink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0727" name="Rectangle 4">
              <a:extLst>
                <a:ext uri="{FF2B5EF4-FFF2-40B4-BE49-F238E27FC236}">
                  <a16:creationId xmlns:a16="http://schemas.microsoft.com/office/drawing/2014/main" id="{01E8253F-E429-42E0-A83C-D6E5F9850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452" y="4083316"/>
              <a:ext cx="6413927" cy="49536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0728" name="Rectangle 5">
              <a:extLst>
                <a:ext uri="{FF2B5EF4-FFF2-40B4-BE49-F238E27FC236}">
                  <a16:creationId xmlns:a16="http://schemas.microsoft.com/office/drawing/2014/main" id="{36B2B0F3-B4EF-4248-BC9C-078F64355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101" y="4083316"/>
              <a:ext cx="6420278" cy="489012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0729" name="Rectangle 6">
              <a:extLst>
                <a:ext uri="{FF2B5EF4-FFF2-40B4-BE49-F238E27FC236}">
                  <a16:creationId xmlns:a16="http://schemas.microsoft.com/office/drawing/2014/main" id="{68B73184-B977-4D0A-AA7A-FBF06B075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025" y="4149999"/>
              <a:ext cx="2463964" cy="36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Ethernet</a:t>
              </a:r>
              <a:r>
                <a:rPr kumimoji="1" lang="zh-CN" altLang="en-US" sz="1800">
                  <a:solidFill>
                    <a:srgbClr val="333399"/>
                  </a:solidFill>
                  <a:ea typeface="宋体" panose="02010600030101010101" pitchFamily="2" charset="-122"/>
                </a:rPr>
                <a:t> </a:t>
              </a: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MAC frame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30" name="Rectangle 13">
              <a:extLst>
                <a:ext uri="{FF2B5EF4-FFF2-40B4-BE49-F238E27FC236}">
                  <a16:creationId xmlns:a16="http://schemas.microsoft.com/office/drawing/2014/main" id="{03B720ED-5BA1-4025-BF58-DF3F9DEA5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0719" y="4018219"/>
              <a:ext cx="1101798" cy="644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Physical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layer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31" name="Rectangle 26">
              <a:extLst>
                <a:ext uri="{FF2B5EF4-FFF2-40B4-BE49-F238E27FC236}">
                  <a16:creationId xmlns:a16="http://schemas.microsoft.com/office/drawing/2014/main" id="{70A66014-DDE9-4190-B674-9887D9805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4514" y="3213256"/>
              <a:ext cx="1301837" cy="36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MAC</a:t>
              </a:r>
              <a:r>
                <a:rPr kumimoji="1" lang="zh-CN" altLang="en-US" sz="1800">
                  <a:solidFill>
                    <a:srgbClr val="333399"/>
                  </a:solidFill>
                  <a:ea typeface="宋体" panose="02010600030101010101" pitchFamily="2" charset="-122"/>
                </a:rPr>
                <a:t> </a:t>
              </a: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layer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C7D68F3B-A4E6-4F9A-B80A-0FB81B6F2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5514" y="3573663"/>
              <a:ext cx="1587" cy="514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6" name="Line 28">
              <a:extLst>
                <a:ext uri="{FF2B5EF4-FFF2-40B4-BE49-F238E27FC236}">
                  <a16:creationId xmlns:a16="http://schemas.microsoft.com/office/drawing/2014/main" id="{4B8DDA56-7477-4FD3-BB18-6D555C678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6266" y="3645110"/>
              <a:ext cx="11113" cy="4318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0734" name="Rectangle 29">
              <a:extLst>
                <a:ext uri="{FF2B5EF4-FFF2-40B4-BE49-F238E27FC236}">
                  <a16:creationId xmlns:a16="http://schemas.microsoft.com/office/drawing/2014/main" id="{EDBA6AB5-0C82-48AB-8B19-20B2F2889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49" y="5077216"/>
              <a:ext cx="4084909" cy="41597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8" name="Rectangle 30">
              <a:extLst>
                <a:ext uri="{FF2B5EF4-FFF2-40B4-BE49-F238E27FC236}">
                  <a16:creationId xmlns:a16="http://schemas.microsoft.com/office/drawing/2014/main" id="{6030AD96-C841-479E-BA2C-21B434E0B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96" y="5120084"/>
              <a:ext cx="4180165" cy="3175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kumimoji="1" lang="en-US" altLang="zh-CN" sz="1500">
                  <a:solidFill>
                    <a:srgbClr val="333399"/>
                  </a:solidFill>
                  <a:latin typeface="+mn-ea"/>
                </a:rPr>
                <a:t>10101010101010        10101010101010101011</a:t>
              </a:r>
            </a:p>
          </p:txBody>
        </p:sp>
        <p:sp>
          <p:nvSpPr>
            <p:cNvPr id="19" name="Line 31">
              <a:extLst>
                <a:ext uri="{FF2B5EF4-FFF2-40B4-BE49-F238E27FC236}">
                  <a16:creationId xmlns:a16="http://schemas.microsoft.com/office/drawing/2014/main" id="{2CDA4076-AE3C-46D5-A43A-9E80E7085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2848" y="5074041"/>
              <a:ext cx="0" cy="431855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0737" name="Rectangle 32">
              <a:extLst>
                <a:ext uri="{FF2B5EF4-FFF2-40B4-BE49-F238E27FC236}">
                  <a16:creationId xmlns:a16="http://schemas.microsoft.com/office/drawing/2014/main" id="{02A73FD6-BBCF-4529-BE1B-FEC69D6CB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362" y="5531299"/>
              <a:ext cx="1568555" cy="335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99"/>
                  </a:solidFill>
                  <a:ea typeface="宋体" panose="02010600030101010101" pitchFamily="2" charset="-122"/>
                </a:rPr>
                <a:t>Preamble field</a:t>
              </a:r>
              <a:endParaRPr kumimoji="1" lang="zh-CN" altLang="en-US" sz="16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38" name="Rectangle 33">
              <a:extLst>
                <a:ext uri="{FF2B5EF4-FFF2-40B4-BE49-F238E27FC236}">
                  <a16:creationId xmlns:a16="http://schemas.microsoft.com/office/drawing/2014/main" id="{9E5FF5D4-6524-4293-8402-AC74D6836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848" y="5601157"/>
              <a:ext cx="3213314" cy="288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2D2DB9"/>
                  </a:solidFill>
                  <a:ea typeface="宋体" panose="02010600030101010101" pitchFamily="2" charset="-122"/>
                </a:rPr>
                <a:t>Start of Frame Delimiter ; SFD</a:t>
              </a:r>
              <a:endParaRPr kumimoji="1" lang="zh-CN" altLang="en-US" sz="1600">
                <a:solidFill>
                  <a:srgbClr val="2D2DB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39" name="Rectangle 34">
              <a:extLst>
                <a:ext uri="{FF2B5EF4-FFF2-40B4-BE49-F238E27FC236}">
                  <a16:creationId xmlns:a16="http://schemas.microsoft.com/office/drawing/2014/main" id="{573EC189-479E-41DF-A720-2FED50D0D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630" y="4740624"/>
              <a:ext cx="806504" cy="335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99"/>
                  </a:solidFill>
                  <a:ea typeface="宋体" panose="02010600030101010101" pitchFamily="2" charset="-122"/>
                </a:rPr>
                <a:t>7 byte</a:t>
              </a:r>
              <a:endParaRPr kumimoji="1" lang="zh-CN" altLang="en-US" sz="16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40" name="Rectangle 35">
              <a:extLst>
                <a:ext uri="{FF2B5EF4-FFF2-40B4-BE49-F238E27FC236}">
                  <a16:creationId xmlns:a16="http://schemas.microsoft.com/office/drawing/2014/main" id="{4718DD17-1D9C-48D7-A178-1F70B0FA6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651" y="4740624"/>
              <a:ext cx="774752" cy="335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99"/>
                  </a:solidFill>
                  <a:ea typeface="宋体" panose="02010600030101010101" pitchFamily="2" charset="-122"/>
                </a:rPr>
                <a:t>1 byte</a:t>
              </a:r>
              <a:endParaRPr kumimoji="1" lang="zh-CN" altLang="en-US" sz="16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Line 36">
              <a:extLst>
                <a:ext uri="{FF2B5EF4-FFF2-40B4-BE49-F238E27FC236}">
                  <a16:creationId xmlns:a16="http://schemas.microsoft.com/office/drawing/2014/main" id="{648C33BE-469C-43E6-B3FC-64A5EF19D6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8750" y="4581854"/>
              <a:ext cx="290531" cy="492187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5" name="Line 37">
              <a:extLst>
                <a:ext uri="{FF2B5EF4-FFF2-40B4-BE49-F238E27FC236}">
                  <a16:creationId xmlns:a16="http://schemas.microsoft.com/office/drawing/2014/main" id="{474176FD-96FE-4B8C-9440-ED9A49144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576" y="4594555"/>
              <a:ext cx="2722744" cy="47472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0743" name="Text Box 38">
              <a:extLst>
                <a:ext uri="{FF2B5EF4-FFF2-40B4-BE49-F238E27FC236}">
                  <a16:creationId xmlns:a16="http://schemas.microsoft.com/office/drawing/2014/main" id="{CB7C03DF-E71A-410C-AA87-59AAD5832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5553" y="5085154"/>
              <a:ext cx="341335" cy="368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…</a:t>
              </a:r>
            </a:p>
          </p:txBody>
        </p:sp>
        <p:sp>
          <p:nvSpPr>
            <p:cNvPr id="30744" name="Rectangle 41">
              <a:extLst>
                <a:ext uri="{FF2B5EF4-FFF2-40B4-BE49-F238E27FC236}">
                  <a16:creationId xmlns:a16="http://schemas.microsoft.com/office/drawing/2014/main" id="{95E6B9DB-FC61-43C1-A748-0594EF17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858" y="4076965"/>
              <a:ext cx="1019243" cy="4890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0745" name="Rectangle 42">
              <a:extLst>
                <a:ext uri="{FF2B5EF4-FFF2-40B4-BE49-F238E27FC236}">
                  <a16:creationId xmlns:a16="http://schemas.microsoft.com/office/drawing/2014/main" id="{AE160091-8DD1-46AB-B605-88568C7C5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393" y="4169051"/>
              <a:ext cx="806504" cy="335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99"/>
                  </a:solidFill>
                  <a:ea typeface="宋体" panose="02010600030101010101" pitchFamily="2" charset="-122"/>
                </a:rPr>
                <a:t>8 byte</a:t>
              </a:r>
              <a:endParaRPr kumimoji="1" lang="zh-CN" altLang="en-US" sz="16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46" name="AutoShape 43">
              <a:extLst>
                <a:ext uri="{FF2B5EF4-FFF2-40B4-BE49-F238E27FC236}">
                  <a16:creationId xmlns:a16="http://schemas.microsoft.com/office/drawing/2014/main" id="{BC257421-7046-474A-A663-72DBC4801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54" y="3721320"/>
              <a:ext cx="849369" cy="257208"/>
            </a:xfrm>
            <a:prstGeom prst="wedgeRoundRectCallout">
              <a:avLst>
                <a:gd name="adj1" fmla="val 48000"/>
                <a:gd name="adj2" fmla="val 139880"/>
                <a:gd name="adj3" fmla="val 1666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6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47" name="Rectangle 44">
              <a:extLst>
                <a:ext uri="{FF2B5EF4-FFF2-40B4-BE49-F238E27FC236}">
                  <a16:creationId xmlns:a16="http://schemas.microsoft.com/office/drawing/2014/main" id="{8282A50D-B308-404A-8352-09C848098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9" y="3695917"/>
              <a:ext cx="1297074" cy="304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rgbClr val="333399"/>
                  </a:solidFill>
                  <a:ea typeface="宋体" panose="02010600030101010101" pitchFamily="2" charset="-122"/>
                </a:rPr>
                <a:t>    inserting</a:t>
              </a:r>
              <a:endParaRPr kumimoji="1" lang="zh-CN" altLang="en-US" sz="14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48" name="Rectangle 47">
              <a:extLst>
                <a:ext uri="{FF2B5EF4-FFF2-40B4-BE49-F238E27FC236}">
                  <a16:creationId xmlns:a16="http://schemas.microsoft.com/office/drawing/2014/main" id="{B1BFFC9F-6074-4ED3-A585-351A4AAF5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3584" y="2311442"/>
              <a:ext cx="1036707" cy="36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IP layer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Line 48">
              <a:extLst>
                <a:ext uri="{FF2B5EF4-FFF2-40B4-BE49-F238E27FC236}">
                  <a16:creationId xmlns:a16="http://schemas.microsoft.com/office/drawing/2014/main" id="{79EAAEAB-60CC-4DB9-A34C-AAE2BBDC1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708" y="2857611"/>
              <a:ext cx="820793" cy="11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0750" name="AutoShape 64">
              <a:extLst>
                <a:ext uri="{FF2B5EF4-FFF2-40B4-BE49-F238E27FC236}">
                  <a16:creationId xmlns:a16="http://schemas.microsoft.com/office/drawing/2014/main" id="{61E6A1F8-4BF3-4A35-B58D-498C7FC623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4491298" y="3809444"/>
              <a:ext cx="609677" cy="230203"/>
            </a:xfrm>
            <a:prstGeom prst="rightArrow">
              <a:avLst>
                <a:gd name="adj1" fmla="val 50000"/>
                <a:gd name="adj2" fmla="val 132422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0751" name="Rectangle 66">
              <a:extLst>
                <a:ext uri="{FF2B5EF4-FFF2-40B4-BE49-F238E27FC236}">
                  <a16:creationId xmlns:a16="http://schemas.microsoft.com/office/drawing/2014/main" id="{922AB68A-4D07-4137-B6E2-5F70B150B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514" y="3141809"/>
              <a:ext cx="6421865" cy="457258"/>
            </a:xfrm>
            <a:prstGeom prst="rect">
              <a:avLst/>
            </a:prstGeom>
            <a:solidFill>
              <a:srgbClr val="FFCCFF"/>
            </a:solidFill>
            <a:ln w="12700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5" name="Line 67">
              <a:extLst>
                <a:ext uri="{FF2B5EF4-FFF2-40B4-BE49-F238E27FC236}">
                  <a16:creationId xmlns:a16="http://schemas.microsoft.com/office/drawing/2014/main" id="{6E21006C-A4DB-4A7A-A0B3-53ED1612C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614" y="3141809"/>
              <a:ext cx="0" cy="4572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6" name="Line 68">
              <a:extLst>
                <a:ext uri="{FF2B5EF4-FFF2-40B4-BE49-F238E27FC236}">
                  <a16:creationId xmlns:a16="http://schemas.microsoft.com/office/drawing/2014/main" id="{2948E7F6-1AF2-4143-947E-48862C32E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5075" y="3141809"/>
              <a:ext cx="0" cy="4572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" name="Line 69">
              <a:extLst>
                <a:ext uri="{FF2B5EF4-FFF2-40B4-BE49-F238E27FC236}">
                  <a16:creationId xmlns:a16="http://schemas.microsoft.com/office/drawing/2014/main" id="{7B20B818-0427-4AE5-80B7-B05AABB67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9535" y="3141809"/>
              <a:ext cx="0" cy="4572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8" name="Line 70">
              <a:extLst>
                <a:ext uri="{FF2B5EF4-FFF2-40B4-BE49-F238E27FC236}">
                  <a16:creationId xmlns:a16="http://schemas.microsoft.com/office/drawing/2014/main" id="{982A6A90-4CFF-4CE2-BAA6-0B5BA7AC5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3944" y="3141809"/>
              <a:ext cx="0" cy="4572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0756" name="Rectangle 71">
              <a:extLst>
                <a:ext uri="{FF2B5EF4-FFF2-40B4-BE49-F238E27FC236}">
                  <a16:creationId xmlns:a16="http://schemas.microsoft.com/office/drawing/2014/main" id="{E6142DA5-DB5B-4AA0-9F21-FE9C14DF0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546" y="3125932"/>
              <a:ext cx="1143076" cy="520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rgbClr val="333399"/>
                  </a:solidFill>
                  <a:ea typeface="宋体" panose="02010600030101010101" pitchFamily="2" charset="-122"/>
                </a:rPr>
                <a:t>Destination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rgbClr val="333399"/>
                  </a:solidFill>
                  <a:ea typeface="宋体" panose="02010600030101010101" pitchFamily="2" charset="-122"/>
                </a:rPr>
                <a:t> address</a:t>
              </a:r>
              <a:endParaRPr kumimoji="1" lang="zh-CN" altLang="en-US" sz="14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57" name="Rectangle 72">
              <a:extLst>
                <a:ext uri="{FF2B5EF4-FFF2-40B4-BE49-F238E27FC236}">
                  <a16:creationId xmlns:a16="http://schemas.microsoft.com/office/drawing/2014/main" id="{379EBE3E-FD5E-41AF-8760-DCAA47229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676" y="3100528"/>
              <a:ext cx="898585" cy="520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rgbClr val="333399"/>
                  </a:solidFill>
                  <a:ea typeface="宋体" panose="02010600030101010101" pitchFamily="2" charset="-122"/>
                </a:rPr>
                <a:t>Source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rgbClr val="333399"/>
                  </a:solidFill>
                  <a:ea typeface="宋体" panose="02010600030101010101" pitchFamily="2" charset="-122"/>
                </a:rPr>
                <a:t> address</a:t>
              </a:r>
              <a:endParaRPr kumimoji="1" lang="zh-CN" altLang="en-US" sz="14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58" name="Rectangle 73">
              <a:extLst>
                <a:ext uri="{FF2B5EF4-FFF2-40B4-BE49-F238E27FC236}">
                  <a16:creationId xmlns:a16="http://schemas.microsoft.com/office/drawing/2014/main" id="{D6A526B7-6A1C-422D-85D1-349CEAF6A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010" y="3187852"/>
              <a:ext cx="662032" cy="36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type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759" name="Rectangle 74">
              <a:extLst>
                <a:ext uri="{FF2B5EF4-FFF2-40B4-BE49-F238E27FC236}">
                  <a16:creationId xmlns:a16="http://schemas.microsoft.com/office/drawing/2014/main" id="{D4DD0063-662A-4336-A55D-5E4F734AB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6572" y="3187852"/>
              <a:ext cx="665206" cy="36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333399"/>
                  </a:solidFill>
                  <a:ea typeface="宋体" panose="02010600030101010101" pitchFamily="2" charset="-122"/>
                </a:rPr>
                <a:t>data</a:t>
              </a:r>
              <a:endParaRPr kumimoji="1" lang="zh-CN" altLang="en-US" sz="18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Rectangle 75">
              <a:extLst>
                <a:ext uri="{FF2B5EF4-FFF2-40B4-BE49-F238E27FC236}">
                  <a16:creationId xmlns:a16="http://schemas.microsoft.com/office/drawing/2014/main" id="{9C72B352-F303-40C7-A047-35E85E3AD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9965" y="3187852"/>
              <a:ext cx="638218" cy="36358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kumimoji="1" lang="en-US" altLang="zh-CN">
                  <a:solidFill>
                    <a:srgbClr val="333399"/>
                  </a:solidFill>
                  <a:latin typeface="+mn-ea"/>
                </a:rPr>
                <a:t>FCS</a:t>
              </a:r>
            </a:p>
          </p:txBody>
        </p:sp>
        <p:sp>
          <p:nvSpPr>
            <p:cNvPr id="30761" name="Rectangle 76">
              <a:extLst>
                <a:ext uri="{FF2B5EF4-FFF2-40B4-BE49-F238E27FC236}">
                  <a16:creationId xmlns:a16="http://schemas.microsoft.com/office/drawing/2014/main" id="{081D9B34-84EF-46AD-AA9C-4073EAA62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199" y="2852847"/>
              <a:ext cx="307996" cy="336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99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30762" name="Rectangle 77">
              <a:extLst>
                <a:ext uri="{FF2B5EF4-FFF2-40B4-BE49-F238E27FC236}">
                  <a16:creationId xmlns:a16="http://schemas.microsoft.com/office/drawing/2014/main" id="{092D0CA8-FCD4-43EE-A883-53B0E3218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753" y="2852847"/>
              <a:ext cx="307996" cy="336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99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30763" name="Rectangle 78">
              <a:extLst>
                <a:ext uri="{FF2B5EF4-FFF2-40B4-BE49-F238E27FC236}">
                  <a16:creationId xmlns:a16="http://schemas.microsoft.com/office/drawing/2014/main" id="{58864E80-ABB5-4674-9A6B-6B64F0B70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100" y="2852847"/>
              <a:ext cx="307996" cy="336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99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0764" name="Rectangle 79">
              <a:extLst>
                <a:ext uri="{FF2B5EF4-FFF2-40B4-BE49-F238E27FC236}">
                  <a16:creationId xmlns:a16="http://schemas.microsoft.com/office/drawing/2014/main" id="{C55025F7-EE1A-4D19-8D74-202A1832F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7467" y="2852847"/>
              <a:ext cx="307996" cy="336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99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0765" name="Rectangle 80">
              <a:extLst>
                <a:ext uri="{FF2B5EF4-FFF2-40B4-BE49-F238E27FC236}">
                  <a16:creationId xmlns:a16="http://schemas.microsoft.com/office/drawing/2014/main" id="{AF2DC009-A51B-4F74-BEE2-50774563C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418" y="2816331"/>
              <a:ext cx="620754" cy="336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99"/>
                  </a:solidFill>
                  <a:ea typeface="宋体" panose="02010600030101010101" pitchFamily="2" charset="-122"/>
                </a:rPr>
                <a:t>byte</a:t>
              </a:r>
              <a:endParaRPr kumimoji="1" lang="zh-CN" altLang="en-US" sz="16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" name="Text Box 81">
              <a:extLst>
                <a:ext uri="{FF2B5EF4-FFF2-40B4-BE49-F238E27FC236}">
                  <a16:creationId xmlns:a16="http://schemas.microsoft.com/office/drawing/2014/main" id="{88A63FE0-F7C7-49B6-AA37-F9DAFB143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5573" y="2819506"/>
              <a:ext cx="1147839" cy="33818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>
                <a:defRPr/>
              </a:pPr>
              <a:r>
                <a:rPr kumimoji="1" lang="en-US" altLang="zh-CN" sz="1600">
                  <a:solidFill>
                    <a:srgbClr val="333399"/>
                  </a:solidFill>
                  <a:latin typeface="+mn-ea"/>
                </a:rPr>
                <a:t>46 ~ 1500</a:t>
              </a:r>
            </a:p>
          </p:txBody>
        </p:sp>
        <p:sp>
          <p:nvSpPr>
            <p:cNvPr id="50" name="Line 107">
              <a:extLst>
                <a:ext uri="{FF2B5EF4-FFF2-40B4-BE49-F238E27FC236}">
                  <a16:creationId xmlns:a16="http://schemas.microsoft.com/office/drawing/2014/main" id="{D2525010-1CF5-4BCC-953C-AF6A35A5E9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7101" y="1989138"/>
              <a:ext cx="0" cy="11621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51" name="Line 108">
              <a:extLst>
                <a:ext uri="{FF2B5EF4-FFF2-40B4-BE49-F238E27FC236}">
                  <a16:creationId xmlns:a16="http://schemas.microsoft.com/office/drawing/2014/main" id="{00593CA8-7900-40AB-9496-C55A8425C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6266" y="1989138"/>
              <a:ext cx="11113" cy="11526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grpSp>
          <p:nvGrpSpPr>
            <p:cNvPr id="30769" name="Group 109">
              <a:extLst>
                <a:ext uri="{FF2B5EF4-FFF2-40B4-BE49-F238E27FC236}">
                  <a16:creationId xmlns:a16="http://schemas.microsoft.com/office/drawing/2014/main" id="{A319998F-54B8-486C-B696-A45BB5E5D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0063" y="2324100"/>
              <a:ext cx="3124200" cy="990600"/>
              <a:chOff x="2715" y="1872"/>
              <a:chExt cx="1968" cy="624"/>
            </a:xfrm>
          </p:grpSpPr>
          <p:sp>
            <p:nvSpPr>
              <p:cNvPr id="30771" name="AutoShape 110">
                <a:extLst>
                  <a:ext uri="{FF2B5EF4-FFF2-40B4-BE49-F238E27FC236}">
                    <a16:creationId xmlns:a16="http://schemas.microsoft.com/office/drawing/2014/main" id="{CCEE614A-9380-4D09-A67C-D124D63E3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3507" y="2232"/>
                <a:ext cx="384" cy="145"/>
              </a:xfrm>
              <a:prstGeom prst="rightArrow">
                <a:avLst>
                  <a:gd name="adj1" fmla="val 50000"/>
                  <a:gd name="adj2" fmla="val 132426"/>
                </a:avLst>
              </a:prstGeom>
              <a:solidFill>
                <a:schemeClr val="accent1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30772" name="Rectangle 111">
                <a:extLst>
                  <a:ext uri="{FF2B5EF4-FFF2-40B4-BE49-F238E27FC236}">
                    <a16:creationId xmlns:a16="http://schemas.microsoft.com/office/drawing/2014/main" id="{1ACE651D-D3E1-4C0B-BBA1-FB5BCD7A3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5" y="1872"/>
                <a:ext cx="1968" cy="240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333399"/>
                    </a:solidFill>
                    <a:ea typeface="宋体" panose="02010600030101010101" pitchFamily="2" charset="-122"/>
                  </a:rPr>
                  <a:t>IP datagrame</a:t>
                </a:r>
                <a:endParaRPr kumimoji="1" lang="zh-CN" altLang="en-US" sz="1800">
                  <a:solidFill>
                    <a:srgbClr val="333399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3" name="Rectangle 112">
              <a:extLst>
                <a:ext uri="{FF2B5EF4-FFF2-40B4-BE49-F238E27FC236}">
                  <a16:creationId xmlns:a16="http://schemas.microsoft.com/office/drawing/2014/main" id="{96E64F7F-4304-49D7-8704-1FB74C04C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9" y="3216431"/>
              <a:ext cx="1416144" cy="36675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kumimoji="1"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rPr>
                <a:t>MAC frame</a:t>
              </a:r>
              <a:endParaRPr kumimoji="1"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灯片编号占位符 5">
            <a:extLst>
              <a:ext uri="{FF2B5EF4-FFF2-40B4-BE49-F238E27FC236}">
                <a16:creationId xmlns:a16="http://schemas.microsoft.com/office/drawing/2014/main" id="{9674491C-4BD8-42A8-8D17-DE0CDB504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77CC8B41-1CAA-4349-875C-09A4A1430091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2BC0F9D6-ECCF-44FD-9C54-47D943CA1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46075"/>
            <a:ext cx="7772400" cy="60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Ethernet Frame Structure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590ECFA4-4CE4-43EC-9E9C-319722FDA3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2463" y="1325563"/>
            <a:ext cx="7772400" cy="43434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Sending adapter encapsulates IP datagram (or other network layer protocol packet) in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Ethernet frame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 b="1">
              <a:ea typeface="宋体" panose="02010600030101010101" pitchFamily="2" charset="-122"/>
            </a:endParaRPr>
          </a:p>
          <a:p>
            <a:endParaRPr lang="en-US" altLang="zh-CN" sz="2400" b="1">
              <a:ea typeface="宋体" panose="02010600030101010101" pitchFamily="2" charset="-122"/>
            </a:endParaRPr>
          </a:p>
          <a:p>
            <a:pPr>
              <a:buFont typeface="ZapfDingbats" pitchFamily="82" charset="2"/>
              <a:buNone/>
            </a:pPr>
            <a:endParaRPr lang="en-US" altLang="zh-CN" sz="24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ZapfDingbats" pitchFamily="82" charset="2"/>
              <a:buNone/>
            </a:pP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Preamble: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7 bytes with pattern 10101010 followed by one byte with pattern 10101011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 used to synchronize receiver, sender clock rates</a:t>
            </a:r>
          </a:p>
        </p:txBody>
      </p:sp>
      <p:pic>
        <p:nvPicPr>
          <p:cNvPr id="31750" name="Picture 4" descr="C:\Medy\cs118\Notes\TopDown Fall 99\Pictures\552 Ethernet frame.jpg">
            <a:extLst>
              <a:ext uri="{FF2B5EF4-FFF2-40B4-BE49-F238E27FC236}">
                <a16:creationId xmlns:a16="http://schemas.microsoft.com/office/drawing/2014/main" id="{CD3C67CF-4F0F-4F01-AA8F-5226A77E5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13" y="2674938"/>
            <a:ext cx="6627812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灯片编号占位符 5">
            <a:extLst>
              <a:ext uri="{FF2B5EF4-FFF2-40B4-BE49-F238E27FC236}">
                <a16:creationId xmlns:a16="http://schemas.microsoft.com/office/drawing/2014/main" id="{E2822EBD-8E6F-430B-BAA2-07D98DF3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F69D8B41-32B4-4EFC-A857-74D6E111830B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39FC20E0-46EA-4E14-B546-D9BE46EDA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Ethernet Frame Structure (more)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03A6BB9A-A074-413D-A8BD-A54B980C9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Addresses:</a:t>
            </a:r>
            <a:r>
              <a:rPr lang="en-US" altLang="zh-CN" sz="2400">
                <a:ea typeface="宋体" panose="02010600030101010101" pitchFamily="2" charset="-122"/>
              </a:rPr>
              <a:t> 6 bytes, frame is received by all adapters on a LAN and dropped if address does not match</a:t>
            </a:r>
          </a:p>
          <a:p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Type:</a:t>
            </a:r>
            <a:r>
              <a:rPr lang="en-US" altLang="zh-CN" sz="2400">
                <a:ea typeface="宋体" panose="02010600030101010101" pitchFamily="2" charset="-122"/>
              </a:rPr>
              <a:t> 2 bytes, indicates the higher layer protocol, mostly IP but others may be supported such as Novell IPX and AppleTalk)</a:t>
            </a:r>
          </a:p>
          <a:p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CRC:</a:t>
            </a:r>
            <a:r>
              <a:rPr lang="en-US" altLang="zh-CN" sz="2400">
                <a:ea typeface="宋体" panose="02010600030101010101" pitchFamily="2" charset="-122"/>
              </a:rPr>
              <a:t> 4 bytes, checked at receiver, if error is detected, the frame is simply dropped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32774" name="Picture 4" descr="C:\Medy\cs118\Notes\TopDown Fall 99\Pictures\552 Ethernet frame.jpg">
            <a:extLst>
              <a:ext uri="{FF2B5EF4-FFF2-40B4-BE49-F238E27FC236}">
                <a16:creationId xmlns:a16="http://schemas.microsoft.com/office/drawing/2014/main" id="{6434DC8E-89BF-4DB8-8786-8B32C4B61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4953000"/>
            <a:ext cx="7558088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灯片编号占位符 5">
            <a:extLst>
              <a:ext uri="{FF2B5EF4-FFF2-40B4-BE49-F238E27FC236}">
                <a16:creationId xmlns:a16="http://schemas.microsoft.com/office/drawing/2014/main" id="{D8562F23-0E1A-443E-BD7B-18C65A4B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F7E770C7-A6DE-4110-AFB9-EEB079B702E3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2A1415D7-1755-4866-B306-54A4A59A5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Ethernet Frame Structure (more)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38746023-0D0F-43A9-8106-8E39A38217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Data:</a:t>
            </a:r>
            <a:r>
              <a:rPr lang="en-US" altLang="zh-CN" sz="2400">
                <a:ea typeface="宋体" panose="02010600030101010101" pitchFamily="2" charset="-122"/>
              </a:rPr>
              <a:t> 46~1500 bytes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Minimum frame length:</a:t>
            </a:r>
            <a:r>
              <a:rPr lang="en-US" altLang="zh-CN" sz="2400">
                <a:ea typeface="宋体" panose="02010600030101010101" pitchFamily="2" charset="-122"/>
              </a:rPr>
              <a:t> 64 bytes, why? (contention period 2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 </a:t>
            </a:r>
            <a:r>
              <a:rPr lang="en-US" altLang="zh-CN" sz="2400">
                <a:ea typeface="宋体" panose="02010600030101010101" pitchFamily="2" charset="-122"/>
              </a:rPr>
              <a:t>is 51.2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sz="2400">
                <a:ea typeface="宋体" panose="02010600030101010101" pitchFamily="2" charset="-122"/>
              </a:rPr>
              <a:t>s for IEEE 802.3, R=10Mbps)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Maximum frame length:</a:t>
            </a:r>
            <a:r>
              <a:rPr lang="en-US" altLang="zh-CN" sz="2400">
                <a:ea typeface="宋体" panose="02010600030101010101" pitchFamily="2" charset="-122"/>
              </a:rPr>
              <a:t> 1518 bytes, why?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33798" name="Picture 4" descr="C:\Medy\cs118\Notes\TopDown Fall 99\Pictures\552 Ethernet frame.jpg">
            <a:extLst>
              <a:ext uri="{FF2B5EF4-FFF2-40B4-BE49-F238E27FC236}">
                <a16:creationId xmlns:a16="http://schemas.microsoft.com/office/drawing/2014/main" id="{4F83FE1F-4BF8-43FE-94F0-F0E1D09F1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4495800"/>
            <a:ext cx="7558088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灯片编号占位符 5">
            <a:extLst>
              <a:ext uri="{FF2B5EF4-FFF2-40B4-BE49-F238E27FC236}">
                <a16:creationId xmlns:a16="http://schemas.microsoft.com/office/drawing/2014/main" id="{D8562F23-0E1A-443E-BD7B-18C65A4B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F7E770C7-A6DE-4110-AFB9-EEB079B702E3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2A1415D7-1755-4866-B306-54A4A59A5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Exercises-1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38746023-0D0F-43A9-8106-8E39A38217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D89733C-2E50-449D-8AED-176CE6125483}"/>
              </a:ext>
            </a:extLst>
          </p:cNvPr>
          <p:cNvSpPr txBox="1">
            <a:spLocks/>
          </p:cNvSpPr>
          <p:nvPr/>
        </p:nvSpPr>
        <p:spPr bwMode="auto">
          <a:xfrm>
            <a:off x="685800" y="132998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just"/>
            <a:r>
              <a:rPr lang="en-US" altLang="zh-CN" kern="0"/>
              <a:t>In a LAN using CSMA / CD protocol, the transmission medium is a complete cable, the transmission rate is 1Gbps, and the signal propagation rate in the cable is 200000 km / s. if the minimum data frame length is reduced by 800 bits, the distance between the farthest two stations needs to be at least</a:t>
            </a:r>
          </a:p>
          <a:p>
            <a:pPr marL="0" indent="0" algn="just">
              <a:buFont typeface="ZapfDingbats" pitchFamily="82" charset="2"/>
              <a:buNone/>
            </a:pPr>
            <a:r>
              <a:rPr lang="en-US" altLang="zh-CN" kern="0"/>
              <a:t>(1) increased by 160m (2) increased by 80m (3) reduced by 160m       (4) reduced by 80m</a:t>
            </a:r>
          </a:p>
          <a:p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038988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灯片编号占位符 5">
            <a:extLst>
              <a:ext uri="{FF2B5EF4-FFF2-40B4-BE49-F238E27FC236}">
                <a16:creationId xmlns:a16="http://schemas.microsoft.com/office/drawing/2014/main" id="{5805187B-3C71-4379-85EE-826C21A3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5C36045A-D620-4428-8AD1-4A452F9EB3A5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683788DF-BE6C-4413-B5A3-B497C0500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Ethernet: uses CSMA/CD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F5CE3EB2-9265-4AA4-BEE0-51D0804AE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4513" y="1474788"/>
            <a:ext cx="7772400" cy="46482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A</a:t>
            </a:r>
            <a:r>
              <a:rPr lang="en-US" altLang="zh-CN" sz="2400">
                <a:ea typeface="宋体" panose="02010600030101010101" pitchFamily="2" charset="-122"/>
              </a:rPr>
              <a:t>: sense channel, </a:t>
            </a:r>
            <a:r>
              <a:rPr lang="en-US" altLang="zh-CN" sz="2400" b="1">
                <a:ea typeface="宋体" panose="02010600030101010101" pitchFamily="2" charset="-122"/>
              </a:rPr>
              <a:t>if</a:t>
            </a:r>
            <a:r>
              <a:rPr lang="en-US" altLang="zh-CN" sz="2400">
                <a:ea typeface="宋体" panose="02010600030101010101" pitchFamily="2" charset="-122"/>
              </a:rPr>
              <a:t> idle </a:t>
            </a:r>
          </a:p>
          <a:p>
            <a:pPr lvl="1">
              <a:buFont typeface="ZapfDingbats" pitchFamily="82" charset="2"/>
              <a:buNone/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then</a:t>
            </a:r>
            <a:r>
              <a:rPr lang="en-US" altLang="zh-CN" sz="2000">
                <a:ea typeface="宋体" panose="02010600030101010101" pitchFamily="2" charset="-122"/>
              </a:rPr>
              <a:t> {</a:t>
            </a:r>
          </a:p>
          <a:p>
            <a:pPr lvl="1">
              <a:buFont typeface="ZapfDingbats" pitchFamily="8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		      transmit and monitor the channel; </a:t>
            </a:r>
          </a:p>
          <a:p>
            <a:pPr lvl="3"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If</a:t>
            </a:r>
            <a:r>
              <a:rPr lang="en-US" altLang="zh-CN" sz="1800">
                <a:latin typeface="Comic Sans MS" panose="030F0702030302020204" pitchFamily="66" charset="0"/>
                <a:ea typeface="宋体" panose="02010600030101010101" pitchFamily="2" charset="-122"/>
              </a:rPr>
              <a:t> detect another transmission </a:t>
            </a:r>
          </a:p>
          <a:p>
            <a:pPr lvl="3"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  <a:ea typeface="宋体" panose="02010600030101010101" pitchFamily="2" charset="-122"/>
              </a:rPr>
              <a:t>  </a:t>
            </a:r>
            <a:r>
              <a:rPr lang="en-US" altLang="zh-CN" sz="1800" b="1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then</a:t>
            </a:r>
            <a:r>
              <a:rPr lang="en-US" altLang="zh-CN" sz="1800">
                <a:latin typeface="Comic Sans MS" panose="030F0702030302020204" pitchFamily="66" charset="0"/>
                <a:ea typeface="宋体" panose="02010600030101010101" pitchFamily="2" charset="-122"/>
              </a:rPr>
              <a:t> { </a:t>
            </a:r>
          </a:p>
          <a:p>
            <a:pPr lvl="3">
              <a:buFontTx/>
              <a:buNone/>
            </a:pPr>
            <a:r>
              <a:rPr lang="en-US" altLang="zh-CN" sz="1800">
                <a:latin typeface="Comic Sans MS" panose="030F0702030302020204" pitchFamily="66" charset="0"/>
                <a:ea typeface="宋体" panose="02010600030101010101" pitchFamily="2" charset="-122"/>
              </a:rPr>
              <a:t>       abort and send jam signal; </a:t>
            </a:r>
          </a:p>
          <a:p>
            <a:pPr lvl="4">
              <a:buFontTx/>
              <a:buNone/>
            </a:pPr>
            <a:r>
              <a:rPr lang="en-US" altLang="zh-CN" sz="1800">
                <a:latin typeface="Comic Sans MS" panose="030F0702030302020204" pitchFamily="66" charset="0"/>
                <a:ea typeface="宋体" panose="02010600030101010101" pitchFamily="2" charset="-122"/>
              </a:rPr>
              <a:t>update # collisions; </a:t>
            </a:r>
          </a:p>
          <a:p>
            <a:pPr lvl="4">
              <a:buFontTx/>
              <a:buNone/>
            </a:pPr>
            <a:r>
              <a:rPr lang="en-US" altLang="zh-CN" sz="1800">
                <a:latin typeface="Comic Sans MS" panose="030F0702030302020204" pitchFamily="66" charset="0"/>
                <a:ea typeface="宋体" panose="02010600030101010101" pitchFamily="2" charset="-122"/>
              </a:rPr>
              <a:t>delay as required by exponential backoff algorithm; </a:t>
            </a:r>
          </a:p>
          <a:p>
            <a:pPr lvl="4">
              <a:buFontTx/>
              <a:buNone/>
            </a:pPr>
            <a:r>
              <a:rPr lang="en-US" altLang="zh-CN" sz="180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goto A</a:t>
            </a:r>
          </a:p>
          <a:p>
            <a:pPr lvl="4">
              <a:buFontTx/>
              <a:buNone/>
            </a:pPr>
            <a:r>
              <a:rPr lang="en-US" altLang="zh-CN" sz="1800"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</a:p>
          <a:p>
            <a:pPr lvl="3"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else</a:t>
            </a:r>
            <a:r>
              <a:rPr lang="en-US" altLang="zh-CN" sz="1800">
                <a:latin typeface="Comic Sans MS" panose="030F0702030302020204" pitchFamily="66" charset="0"/>
                <a:ea typeface="宋体" panose="02010600030101010101" pitchFamily="2" charset="-122"/>
              </a:rPr>
              <a:t> {done with the frame; set collisions to zero}</a:t>
            </a:r>
          </a:p>
          <a:p>
            <a:pPr lvl="2"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}</a:t>
            </a:r>
          </a:p>
          <a:p>
            <a:pPr lvl="1">
              <a:buFont typeface="ZapfDingbats" pitchFamily="82" charset="2"/>
              <a:buNone/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else</a:t>
            </a:r>
            <a:r>
              <a:rPr lang="en-US" altLang="zh-CN" sz="2000">
                <a:ea typeface="宋体" panose="02010600030101010101" pitchFamily="2" charset="-122"/>
              </a:rPr>
              <a:t> {wait until ongoing transmission is over and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goto A</a:t>
            </a:r>
            <a:r>
              <a:rPr lang="en-US" altLang="zh-CN" sz="2000">
                <a:ea typeface="宋体" panose="02010600030101010101" pitchFamily="2" charset="-122"/>
              </a:rPr>
              <a:t>}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灯片编号占位符 5">
            <a:extLst>
              <a:ext uri="{FF2B5EF4-FFF2-40B4-BE49-F238E27FC236}">
                <a16:creationId xmlns:a16="http://schemas.microsoft.com/office/drawing/2014/main" id="{5805187B-3C71-4379-85EE-826C21A3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5C36045A-D620-4428-8AD1-4A452F9EB3A5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683788DF-BE6C-4413-B5A3-B497C0500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Ethernet: uses CSMA/CD</a:t>
            </a:r>
          </a:p>
        </p:txBody>
      </p:sp>
      <p:graphicFrame>
        <p:nvGraphicFramePr>
          <p:cNvPr id="8" name="对象 5" descr="信纸">
            <a:extLst>
              <a:ext uri="{FF2B5EF4-FFF2-40B4-BE49-F238E27FC236}">
                <a16:creationId xmlns:a16="http://schemas.microsoft.com/office/drawing/2014/main" id="{988B25FC-17A2-4946-88F6-0D3538149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85985"/>
              </p:ext>
            </p:extLst>
          </p:nvPr>
        </p:nvGraphicFramePr>
        <p:xfrm>
          <a:off x="2070548" y="1264023"/>
          <a:ext cx="4124905" cy="5282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5" name="Visio" r:id="rId3" imgW="3994617" imgH="5115085" progId="Visio.Drawing.11">
                  <p:embed/>
                </p:oleObj>
              </mc:Choice>
              <mc:Fallback>
                <p:oleObj name="Visio" r:id="rId3" imgW="3994617" imgH="5115085" progId="Visio.Drawing.11">
                  <p:embed/>
                  <p:pic>
                    <p:nvPicPr>
                      <p:cNvPr id="26628" name="对象 5" descr="信纸">
                        <a:extLst>
                          <a:ext uri="{FF2B5EF4-FFF2-40B4-BE49-F238E27FC236}">
                            <a16:creationId xmlns:a16="http://schemas.microsoft.com/office/drawing/2014/main" id="{62DB9EB5-4E7B-498D-8EDF-83DE8FA888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548" y="1264023"/>
                        <a:ext cx="4124905" cy="5282774"/>
                      </a:xfrm>
                      <a:prstGeom prst="rect">
                        <a:avLst/>
                      </a:prstGeom>
                      <a:blipFill dpi="0" rotWithShape="1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0423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灯片编号占位符 5">
            <a:extLst>
              <a:ext uri="{FF2B5EF4-FFF2-40B4-BE49-F238E27FC236}">
                <a16:creationId xmlns:a16="http://schemas.microsoft.com/office/drawing/2014/main" id="{E7697CA7-635E-4C2A-8B6F-5EC6F4EC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C10C9533-6FAE-4405-9341-06C4DE82974D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B4D4D893-DE27-41EA-B62B-18B1E0256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Ethernet’s CSMA/CD (more)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CCA53DC7-F195-4DB3-9E50-7B57845FB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Jam Signal:</a:t>
            </a:r>
            <a:r>
              <a:rPr lang="en-US" altLang="zh-CN" sz="2400">
                <a:ea typeface="宋体" panose="02010600030101010101" pitchFamily="2" charset="-122"/>
              </a:rPr>
              <a:t> make sure all other transmitters are aware of collision; 48 bits; </a:t>
            </a:r>
          </a:p>
        </p:txBody>
      </p:sp>
      <p:grpSp>
        <p:nvGrpSpPr>
          <p:cNvPr id="37894" name="Group 58">
            <a:extLst>
              <a:ext uri="{FF2B5EF4-FFF2-40B4-BE49-F238E27FC236}">
                <a16:creationId xmlns:a16="http://schemas.microsoft.com/office/drawing/2014/main" id="{5BE38384-7DCF-414F-A6FA-9EA7DCCCF741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2670175"/>
            <a:ext cx="8382000" cy="2668588"/>
            <a:chOff x="618" y="1344"/>
            <a:chExt cx="5113" cy="1681"/>
          </a:xfrm>
        </p:grpSpPr>
        <p:sp>
          <p:nvSpPr>
            <p:cNvPr id="37895" name="AutoShape 4">
              <a:extLst>
                <a:ext uri="{FF2B5EF4-FFF2-40B4-BE49-F238E27FC236}">
                  <a16:creationId xmlns:a16="http://schemas.microsoft.com/office/drawing/2014/main" id="{4A48D925-CE23-4E89-8830-986B26E698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57" y="329"/>
              <a:ext cx="1159" cy="3563"/>
            </a:xfrm>
            <a:prstGeom prst="parallelogram">
              <a:avLst>
                <a:gd name="adj" fmla="val 36782"/>
              </a:avLst>
            </a:prstGeom>
            <a:solidFill>
              <a:srgbClr val="EAEAEA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7896" name="AutoShape 5">
              <a:extLst>
                <a:ext uri="{FF2B5EF4-FFF2-40B4-BE49-F238E27FC236}">
                  <a16:creationId xmlns:a16="http://schemas.microsoft.com/office/drawing/2014/main" id="{D5294F2A-42C0-430B-8525-69B83EDE1D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553" y="856"/>
              <a:ext cx="765" cy="3566"/>
            </a:xfrm>
            <a:prstGeom prst="parallelogram">
              <a:avLst>
                <a:gd name="adj" fmla="val 56468"/>
              </a:avLst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7897" name="AutoShape 6">
              <a:extLst>
                <a:ext uri="{FF2B5EF4-FFF2-40B4-BE49-F238E27FC236}">
                  <a16:creationId xmlns:a16="http://schemas.microsoft.com/office/drawing/2014/main" id="{A37CAF98-BCAB-4FA9-B964-2BA292E92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036"/>
              <a:ext cx="929" cy="487"/>
            </a:xfrm>
            <a:prstGeom prst="irregularSeal1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6000"/>
                </a:lnSpc>
                <a:spcBef>
                  <a:spcPts val="300"/>
                </a:spcBef>
                <a:spcAft>
                  <a:spcPts val="3000"/>
                </a:spcAft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collision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4B118516-68F4-4902-84FE-761420542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531"/>
              <a:ext cx="3567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BD18D493-714A-48BC-A784-AB007F021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3" y="1531"/>
              <a:ext cx="0" cy="149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A56C6B9E-FF74-40C4-BBCF-4EE2C3277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9" y="1530"/>
              <a:ext cx="0" cy="149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E006F38E-9DC8-479E-A791-1DCA20907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0" y="1957"/>
              <a:ext cx="26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68B8880C-F3C1-43ED-B1EA-5A8AFFFF5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0" y="1531"/>
              <a:ext cx="4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955672D3-D75C-43B1-B94C-573EF7AF9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" y="1536"/>
              <a:ext cx="0" cy="148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904" name="Text Box 14">
              <a:extLst>
                <a:ext uri="{FF2B5EF4-FFF2-40B4-BE49-F238E27FC236}">
                  <a16:creationId xmlns:a16="http://schemas.microsoft.com/office/drawing/2014/main" id="{5F0E97AF-8E15-417F-B5A1-0B8EABC0D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" y="1346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7905" name="Text Box 15">
              <a:extLst>
                <a:ext uri="{FF2B5EF4-FFF2-40B4-BE49-F238E27FC236}">
                  <a16:creationId xmlns:a16="http://schemas.microsoft.com/office/drawing/2014/main" id="{DB9ED411-0A84-4F01-855E-BE3E3AE84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2" y="1344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4DA1C91D-63FC-465F-9049-7D6C72FDC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5" y="1532"/>
              <a:ext cx="0" cy="42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907" name="Text Box 17">
              <a:extLst>
                <a:ext uri="{FF2B5EF4-FFF2-40B4-BE49-F238E27FC236}">
                  <a16:creationId xmlns:a16="http://schemas.microsoft.com/office/drawing/2014/main" id="{5F5EEE6C-599B-4F7E-A9E2-0F77B482B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621"/>
              <a:ext cx="2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7D787569-CAE5-44A3-8450-98AECC95A4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6" y="1902"/>
              <a:ext cx="68" cy="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909" name="Text Box 19">
              <a:extLst>
                <a:ext uri="{FF2B5EF4-FFF2-40B4-BE49-F238E27FC236}">
                  <a16:creationId xmlns:a16="http://schemas.microsoft.com/office/drawing/2014/main" id="{9E93DBC8-E7F7-4EA8-AFA1-3CB583917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" y="2061"/>
              <a:ext cx="28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7910" name="AutoShape 20">
              <a:extLst>
                <a:ext uri="{FF2B5EF4-FFF2-40B4-BE49-F238E27FC236}">
                  <a16:creationId xmlns:a16="http://schemas.microsoft.com/office/drawing/2014/main" id="{75B47E6D-0988-4802-9BF9-19E6AEDE8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1531"/>
              <a:ext cx="1182" cy="196"/>
            </a:xfrm>
            <a:prstGeom prst="wedgeRoundRectCallout">
              <a:avLst>
                <a:gd name="adj1" fmla="val 53472"/>
                <a:gd name="adj2" fmla="val 88778"/>
                <a:gd name="adj3" fmla="val 16667"/>
              </a:avLst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82800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72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B sending a packet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E32902B9-A39D-4AED-96CE-9F6E16F86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" y="2266"/>
              <a:ext cx="26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9F832B36-685E-4C30-B948-E5B48F8FE9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" y="1531"/>
              <a:ext cx="40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806C7818-693E-4B6C-AD03-FD2A379CB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1" y="1841"/>
              <a:ext cx="3567" cy="42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sm" len="lg"/>
              <a:tailEnd type="non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CB90DD58-6499-4E78-ACEC-8C41A51AB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3" y="2601"/>
              <a:ext cx="0" cy="42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37EE1D94-BA51-4F6F-9CD3-65D96076C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2601"/>
              <a:ext cx="26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9F0FB8D4-D534-4D94-A741-BB051F961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3023"/>
              <a:ext cx="3567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917" name="Text Box 27">
              <a:extLst>
                <a:ext uri="{FF2B5EF4-FFF2-40B4-BE49-F238E27FC236}">
                  <a16:creationId xmlns:a16="http://schemas.microsoft.com/office/drawing/2014/main" id="{5E256FCA-517F-42BA-AF80-CB922CC03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1924"/>
              <a:ext cx="719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Channel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Occupation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time </a:t>
              </a:r>
              <a:endParaRPr lang="zh-CN" altLang="en-US" sz="1200">
                <a:ea typeface="宋体" panose="02010600030101010101" pitchFamily="2" charset="-122"/>
              </a:endParaRPr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A4A5BC5F-FEFC-47B5-986C-03505F875A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61" y="1531"/>
              <a:ext cx="0" cy="149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06EC4C44-1D5E-4B97-814E-51AEA98F09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3" y="1970"/>
              <a:ext cx="429" cy="29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920" name="AutoShape 32">
              <a:extLst>
                <a:ext uri="{FF2B5EF4-FFF2-40B4-BE49-F238E27FC236}">
                  <a16:creationId xmlns:a16="http://schemas.microsoft.com/office/drawing/2014/main" id="{7EB7E969-948E-4434-8C2C-4B46B7A496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31380">
              <a:off x="2164" y="2399"/>
              <a:ext cx="1156" cy="370"/>
            </a:xfrm>
            <a:prstGeom prst="rightArrow">
              <a:avLst>
                <a:gd name="adj1" fmla="val 41500"/>
                <a:gd name="adj2" fmla="val 102206"/>
              </a:avLst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18000" rIns="36000" bIns="18000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Jamming signal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16B86435-A493-4C09-8856-51CF16661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3023"/>
              <a:ext cx="40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6C372F4E-4102-42B7-ABC2-1117881BE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9" y="3023"/>
              <a:ext cx="45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923" name="Text Box 35">
              <a:extLst>
                <a:ext uri="{FF2B5EF4-FFF2-40B4-BE49-F238E27FC236}">
                  <a16:creationId xmlns:a16="http://schemas.microsoft.com/office/drawing/2014/main" id="{317131C2-B30C-406A-AE9D-1E7C030F6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" y="2706"/>
              <a:ext cx="29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CA180159-FFB0-4284-BD65-AE4C251E0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4" y="1531"/>
              <a:ext cx="1" cy="73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94F3FE26-6D40-4EC2-BE77-B5E21F975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2268"/>
              <a:ext cx="1" cy="32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926" name="Text Box 38">
              <a:extLst>
                <a:ext uri="{FF2B5EF4-FFF2-40B4-BE49-F238E27FC236}">
                  <a16:creationId xmlns:a16="http://schemas.microsoft.com/office/drawing/2014/main" id="{C005B2EA-0060-4EA6-965B-DDB16A748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" y="1799"/>
              <a:ext cx="332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T</a:t>
              </a:r>
              <a:r>
                <a:rPr lang="en-US" altLang="zh-CN" sz="1600" baseline="-25000">
                  <a:ea typeface="宋体" panose="02010600030101010101" pitchFamily="2" charset="-122"/>
                </a:rPr>
                <a:t>B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7927" name="Text Box 39">
              <a:extLst>
                <a:ext uri="{FF2B5EF4-FFF2-40B4-BE49-F238E27FC236}">
                  <a16:creationId xmlns:a16="http://schemas.microsoft.com/office/drawing/2014/main" id="{592093A5-B8F6-4AC9-8AC1-F42A20297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" y="2321"/>
              <a:ext cx="333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T</a:t>
              </a:r>
              <a:r>
                <a:rPr lang="en-US" altLang="zh-CN" sz="1600" baseline="-25000">
                  <a:ea typeface="宋体" panose="02010600030101010101" pitchFamily="2" charset="-122"/>
                </a:rPr>
                <a:t>J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7928" name="Oval 40">
              <a:extLst>
                <a:ext uri="{FF2B5EF4-FFF2-40B4-BE49-F238E27FC236}">
                  <a16:creationId xmlns:a16="http://schemas.microsoft.com/office/drawing/2014/main" id="{48939F0F-AE0C-491F-8D86-346ABE70A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1803"/>
              <a:ext cx="70" cy="61"/>
            </a:xfrm>
            <a:prstGeom prst="ellipse">
              <a:avLst/>
            </a:prstGeom>
            <a:solidFill>
              <a:srgbClr val="969696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7929" name="Oval 46">
              <a:extLst>
                <a:ext uri="{FF2B5EF4-FFF2-40B4-BE49-F238E27FC236}">
                  <a16:creationId xmlns:a16="http://schemas.microsoft.com/office/drawing/2014/main" id="{8F441B90-EBCE-49F2-B9C2-524919E54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1614"/>
              <a:ext cx="984" cy="3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for A, a conflict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is detected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37930" name="Oval 47">
              <a:extLst>
                <a:ext uri="{FF2B5EF4-FFF2-40B4-BE49-F238E27FC236}">
                  <a16:creationId xmlns:a16="http://schemas.microsoft.com/office/drawing/2014/main" id="{980881D3-D3EB-49D5-B2A9-08D2349D0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" y="2265"/>
              <a:ext cx="935" cy="3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 </a:t>
              </a:r>
              <a:r>
                <a:rPr lang="en-US" altLang="zh-CN" sz="1400">
                  <a:ea typeface="宋体" panose="02010600030101010101" pitchFamily="2" charset="-122"/>
                </a:rPr>
                <a:t>for B, a conflict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is detected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43" name="Line 48">
              <a:extLst>
                <a:ext uri="{FF2B5EF4-FFF2-40B4-BE49-F238E27FC236}">
                  <a16:creationId xmlns:a16="http://schemas.microsoft.com/office/drawing/2014/main" id="{8D71B1AC-53AC-49C1-AF07-BD57D93C46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18" y="1957"/>
              <a:ext cx="118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44" name="Line 49">
              <a:extLst>
                <a:ext uri="{FF2B5EF4-FFF2-40B4-BE49-F238E27FC236}">
                  <a16:creationId xmlns:a16="http://schemas.microsoft.com/office/drawing/2014/main" id="{0ACF0DE9-5241-44AF-BC0E-E15F5703A5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4" y="1861"/>
              <a:ext cx="330" cy="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45" name="Line 50">
              <a:extLst>
                <a:ext uri="{FF2B5EF4-FFF2-40B4-BE49-F238E27FC236}">
                  <a16:creationId xmlns:a16="http://schemas.microsoft.com/office/drawing/2014/main" id="{C8FC989B-0B17-4C09-8D4D-A743F92ABC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870"/>
              <a:ext cx="240" cy="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7934" name="Oval 52">
              <a:extLst>
                <a:ext uri="{FF2B5EF4-FFF2-40B4-BE49-F238E27FC236}">
                  <a16:creationId xmlns:a16="http://schemas.microsoft.com/office/drawing/2014/main" id="{0C3AFA7C-8301-4E06-9164-B2D82527B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" y="1497"/>
              <a:ext cx="69" cy="6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7935" name="Oval 53">
              <a:extLst>
                <a:ext uri="{FF2B5EF4-FFF2-40B4-BE49-F238E27FC236}">
                  <a16:creationId xmlns:a16="http://schemas.microsoft.com/office/drawing/2014/main" id="{34195C28-3CA5-425E-9FB6-463720F82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1497"/>
              <a:ext cx="68" cy="6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grpSp>
          <p:nvGrpSpPr>
            <p:cNvPr id="37936" name="Group 54">
              <a:extLst>
                <a:ext uri="{FF2B5EF4-FFF2-40B4-BE49-F238E27FC236}">
                  <a16:creationId xmlns:a16="http://schemas.microsoft.com/office/drawing/2014/main" id="{FB8516E2-AB28-46F9-9EBA-663B1F80C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7" y="1840"/>
              <a:ext cx="113" cy="113"/>
              <a:chOff x="4118" y="2326"/>
              <a:chExt cx="113" cy="113"/>
            </a:xfrm>
          </p:grpSpPr>
          <p:sp>
            <p:nvSpPr>
              <p:cNvPr id="49" name="Line 55">
                <a:extLst>
                  <a:ext uri="{FF2B5EF4-FFF2-40B4-BE49-F238E27FC236}">
                    <a16:creationId xmlns:a16="http://schemas.microsoft.com/office/drawing/2014/main" id="{D20A95A5-D050-4BAA-ABCB-060A3DA04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8" y="2326"/>
                <a:ext cx="113" cy="113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ea"/>
                </a:endParaRPr>
              </a:p>
            </p:txBody>
          </p:sp>
          <p:sp>
            <p:nvSpPr>
              <p:cNvPr id="50" name="Line 56">
                <a:extLst>
                  <a:ext uri="{FF2B5EF4-FFF2-40B4-BE49-F238E27FC236}">
                    <a16:creationId xmlns:a16="http://schemas.microsoft.com/office/drawing/2014/main" id="{F108B8A1-B447-41F1-AFD1-4E34B51C0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18" y="2326"/>
                <a:ext cx="113" cy="113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ea"/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50E8709-290C-4BD7-ACE2-C4C650CB7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Ethernet’s CSMA/CD (more)</a:t>
            </a:r>
            <a:endParaRPr lang="en-US" altLang="zh-CN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F8333B44-D1FE-4A52-B258-D7E022540084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33400" y="1208316"/>
                <a:ext cx="7772400" cy="4648200"/>
              </a:xfrm>
            </p:spPr>
            <p:txBody>
              <a:bodyPr/>
              <a:lstStyle/>
              <a:p>
                <a:pPr>
                  <a:buFont typeface="ZapfDingbats" pitchFamily="82" charset="2"/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Exponential </a:t>
                </a:r>
                <a:r>
                  <a:rPr lang="en-US" altLang="zh-CN" sz="2400" dirty="0" err="1">
                    <a:solidFill>
                      <a:srgbClr val="FF0000"/>
                    </a:solidFill>
                    <a:ea typeface="宋体" panose="02010600030101010101" pitchFamily="2" charset="-122"/>
                  </a:rPr>
                  <a:t>Backoff</a:t>
                </a:r>
                <a:r>
                  <a:rPr lang="en-US" altLang="zh-CN" sz="240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: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 </a:t>
                </a:r>
              </a:p>
              <a:p>
                <a:r>
                  <a:rPr lang="en-US" altLang="zh-CN" sz="2400" i="1" dirty="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Goal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: adapt retransmission </a:t>
                </a:r>
                <a:r>
                  <a:rPr lang="en-US" altLang="zh-CN" sz="2400" dirty="0" err="1">
                    <a:ea typeface="宋体" panose="02010600030101010101" pitchFamily="2" charset="-122"/>
                  </a:rPr>
                  <a:t>attemtps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 to estimated current load</a:t>
                </a:r>
              </a:p>
              <a:p>
                <a:pPr lvl="1"/>
                <a:r>
                  <a:rPr lang="en-US" altLang="zh-CN" sz="2000" dirty="0">
                    <a:ea typeface="宋体" panose="02010600030101010101" pitchFamily="2" charset="-122"/>
                  </a:rPr>
                  <a:t>heavy load: random wait will be longer</a:t>
                </a:r>
              </a:p>
              <a:p>
                <a:r>
                  <a:rPr lang="en-US" altLang="zh-CN" sz="2400" dirty="0">
                    <a:ea typeface="宋体" panose="02010600030101010101" pitchFamily="2" charset="-122"/>
                  </a:rPr>
                  <a:t>delay is K x 512 bit transmission times (</a:t>
                </a:r>
                <a:r>
                  <a:rPr lang="en-US" altLang="zh-CN" sz="240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contention period: 2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𝜏</m:t>
                    </m:r>
                  </m:oMath>
                </a14:m>
                <a:r>
                  <a:rPr lang="en-US" altLang="zh-CN" sz="2400" dirty="0">
                    <a:ea typeface="宋体" panose="02010600030101010101" pitchFamily="2" charset="-122"/>
                  </a:rPr>
                  <a:t>)</a:t>
                </a:r>
              </a:p>
              <a:p>
                <a:r>
                  <a:rPr lang="en-US" altLang="zh-CN" sz="2400" dirty="0">
                    <a:ea typeface="宋体" panose="02010600030101010101" pitchFamily="2" charset="-122"/>
                  </a:rPr>
                  <a:t>first collision: choose K from {0,1};</a:t>
                </a:r>
              </a:p>
              <a:p>
                <a:r>
                  <a:rPr lang="en-US" altLang="zh-CN" sz="2400" dirty="0">
                    <a:ea typeface="宋体" panose="02010600030101010101" pitchFamily="2" charset="-122"/>
                  </a:rPr>
                  <a:t>after second collision: choose K from {0,1,2,3}…</a:t>
                </a:r>
              </a:p>
              <a:p>
                <a:r>
                  <a:rPr lang="en-US" altLang="zh-CN" sz="2400" dirty="0">
                    <a:ea typeface="宋体" panose="02010600030101010101" pitchFamily="2" charset="-122"/>
                  </a:rPr>
                  <a:t>after ten or more collisions, choose K from {0,1,2,3,4,…,1023}</a:t>
                </a:r>
              </a:p>
              <a:p>
                <a:r>
                  <a:rPr lang="en-US" altLang="zh-CN" sz="2400" dirty="0">
                    <a:ea typeface="宋体" panose="02010600030101010101" pitchFamily="2" charset="-122"/>
                  </a:rPr>
                  <a:t>K=min(</a:t>
                </a:r>
                <a:r>
                  <a:rPr lang="en-US" altLang="zh-CN" sz="2400" dirty="0" err="1">
                    <a:ea typeface="宋体" panose="02010600030101010101" pitchFamily="2" charset="-122"/>
                  </a:rPr>
                  <a:t>n,i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),n:</a:t>
                </a:r>
                <a:r>
                  <a:rPr lang="en-US" altLang="zh-CN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4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# </a:t>
                </a:r>
                <a:r>
                  <a:rPr lang="en-US" altLang="zh-CN" sz="2400" dirty="0" err="1">
                    <a:latin typeface="Comic Sans MS" panose="030F0702030302020204" pitchFamily="66" charset="0"/>
                    <a:ea typeface="宋体" panose="02010600030101010101" pitchFamily="2" charset="-122"/>
                  </a:rPr>
                  <a:t>collisions,n≤j</a:t>
                </a:r>
                <a:r>
                  <a:rPr lang="en-US" altLang="zh-CN" sz="24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(attempt limit);</a:t>
                </a:r>
                <a:r>
                  <a:rPr lang="en-US" altLang="zh-CN" sz="2400" dirty="0" err="1">
                    <a:latin typeface="Comic Sans MS" panose="030F0702030302020204" pitchFamily="66" charset="0"/>
                    <a:ea typeface="宋体" panose="02010600030101010101" pitchFamily="2" charset="-122"/>
                  </a:rPr>
                  <a:t>i:back</a:t>
                </a:r>
                <a:r>
                  <a:rPr lang="en-US" altLang="zh-CN" sz="24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 off limit</a:t>
                </a:r>
              </a:p>
              <a:p>
                <a:r>
                  <a:rPr lang="en-US" altLang="zh-CN" sz="24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For Ethernet, </a:t>
                </a:r>
                <a:r>
                  <a:rPr lang="en-US" altLang="zh-CN" sz="2400" dirty="0" err="1">
                    <a:latin typeface="Comic Sans MS" panose="030F0702030302020204" pitchFamily="66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400" dirty="0">
                    <a:latin typeface="Comic Sans MS" panose="030F0702030302020204" pitchFamily="66" charset="0"/>
                    <a:ea typeface="宋体" panose="02010600030101010101" pitchFamily="2" charset="-122"/>
                  </a:rPr>
                  <a:t>=10,j=16</a:t>
                </a:r>
                <a:endParaRPr lang="en-US" altLang="zh-CN" sz="2400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F8333B44-D1FE-4A52-B258-D7E0225400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3400" y="1208316"/>
                <a:ext cx="7772400" cy="4648200"/>
              </a:xfrm>
              <a:blipFill>
                <a:blip r:embed="rId3"/>
                <a:stretch>
                  <a:fillRect l="-1255" t="-1048" r="-1098" b="-197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8" name="灯片编号占位符 5">
            <a:extLst>
              <a:ext uri="{FF2B5EF4-FFF2-40B4-BE49-F238E27FC236}">
                <a16:creationId xmlns:a16="http://schemas.microsoft.com/office/drawing/2014/main" id="{7B679027-829D-4D68-AEBB-947C418A4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3733197B-B306-450D-951B-10D6F63C2350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灯片编号占位符 5">
            <a:extLst>
              <a:ext uri="{FF2B5EF4-FFF2-40B4-BE49-F238E27FC236}">
                <a16:creationId xmlns:a16="http://schemas.microsoft.com/office/drawing/2014/main" id="{7DF89831-BFA5-4B1E-9620-A056930DE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E28B047A-D72B-4496-BA5B-7CE3893964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FC5E64CF-508D-4FB6-AFAD-F6F407756A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69275" cy="11430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Interconnecting LANs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517A960D-B355-43D0-9367-44ECA42DF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zh-CN" u="sng" dirty="0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dirty="0">
                <a:ea typeface="宋体" panose="02010600030101010101" pitchFamily="2" charset="-122"/>
              </a:rPr>
              <a:t> Why not just one big LAN? </a:t>
            </a:r>
          </a:p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Limited amount </a:t>
            </a:r>
            <a:r>
              <a:rPr lang="en-US" altLang="zh-CN" sz="2400" dirty="0">
                <a:ea typeface="宋体" panose="02010600030101010101" pitchFamily="2" charset="-122"/>
              </a:rPr>
              <a:t>of supportable traffic: on single LAN, all stations must share bandwidth </a:t>
            </a:r>
          </a:p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limited length</a:t>
            </a:r>
            <a:r>
              <a:rPr lang="en-US" altLang="zh-CN" sz="2400" dirty="0">
                <a:ea typeface="宋体" panose="02010600030101010101" pitchFamily="2" charset="-122"/>
              </a:rPr>
              <a:t>: 802.3 specifies maximum cable length </a:t>
            </a:r>
          </a:p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large “collision domain” </a:t>
            </a:r>
            <a:r>
              <a:rPr lang="en-US" altLang="zh-CN" sz="2400" dirty="0">
                <a:ea typeface="宋体" panose="02010600030101010101" pitchFamily="2" charset="-122"/>
              </a:rPr>
              <a:t>(can collide with many stations)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灯片编号占位符 5">
            <a:extLst>
              <a:ext uri="{FF2B5EF4-FFF2-40B4-BE49-F238E27FC236}">
                <a16:creationId xmlns:a16="http://schemas.microsoft.com/office/drawing/2014/main" id="{58A70C87-C015-4A3B-9AD4-76156E7E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A930AF70-3B94-44F7-AF7C-7F09B7EE8619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AFB74C30-B883-47C4-89B9-9671893F2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Hubs</a:t>
            </a: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6A401599-4401-47A3-AC9D-205933452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1013" y="1296988"/>
            <a:ext cx="7772400" cy="2360612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Physical Layer devices: essentially repeaters operating at bit levels: repeat received bits on one interface to all other interfaces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Hubs can be arranged in a </a:t>
            </a: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hierarchy</a:t>
            </a:r>
            <a:r>
              <a:rPr lang="en-US" altLang="zh-CN" sz="2400">
                <a:ea typeface="宋体" panose="02010600030101010101" pitchFamily="2" charset="-122"/>
              </a:rPr>
              <a:t> (or multi-tier design), with </a:t>
            </a: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backbone</a:t>
            </a:r>
            <a:r>
              <a:rPr lang="en-US" altLang="zh-CN" sz="2400">
                <a:ea typeface="宋体" panose="02010600030101010101" pitchFamily="2" charset="-122"/>
              </a:rPr>
              <a:t> hub at its top</a:t>
            </a:r>
          </a:p>
          <a:p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49158" name="Picture 4" descr="C:\Medy\cs118\Notes\TopDown Fall 99\Pictures\561 hubTier.jpg">
            <a:extLst>
              <a:ext uri="{FF2B5EF4-FFF2-40B4-BE49-F238E27FC236}">
                <a16:creationId xmlns:a16="http://schemas.microsoft.com/office/drawing/2014/main" id="{270827FF-10FA-4E36-A551-3FD8045A8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388" y="3657600"/>
            <a:ext cx="6402387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灯片编号占位符 5">
            <a:extLst>
              <a:ext uri="{FF2B5EF4-FFF2-40B4-BE49-F238E27FC236}">
                <a16:creationId xmlns:a16="http://schemas.microsoft.com/office/drawing/2014/main" id="{CE8A09B2-5864-457F-8DCB-DD056460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D6685B21-0856-443F-9609-115C18B6EB78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80D15D48-CCE7-4375-95B6-6DFAE2858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Hubs (more)</a:t>
            </a: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51E38669-892C-4CB9-BC10-61FCDA6C3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10550" cy="46482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Each connected LAN referred to as LAN </a:t>
            </a:r>
            <a:r>
              <a:rPr lang="en-US" altLang="zh-CN" sz="2400" b="1">
                <a:ea typeface="宋体" panose="02010600030101010101" pitchFamily="2" charset="-122"/>
              </a:rPr>
              <a:t>segment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Hubs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do not isolate</a:t>
            </a:r>
            <a:r>
              <a:rPr lang="en-US" altLang="zh-CN" sz="2400">
                <a:ea typeface="宋体" panose="02010600030101010101" pitchFamily="2" charset="-122"/>
              </a:rPr>
              <a:t> collision domains: node may collide with any node residing at any segment in LAN 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Hub Advantages: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simple, inexpensive device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Multi-tier provides graceful degradation: portions of the LAN continue to operate if one hub malfunctions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extends maximum distance between node pairs (100m per Hub)</a:t>
            </a:r>
          </a:p>
          <a:p>
            <a:pPr lvl="1">
              <a:buFont typeface="ZapfDingbats" pitchFamily="82" charset="2"/>
              <a:buNone/>
            </a:pP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灯片编号占位符 5">
            <a:extLst>
              <a:ext uri="{FF2B5EF4-FFF2-40B4-BE49-F238E27FC236}">
                <a16:creationId xmlns:a16="http://schemas.microsoft.com/office/drawing/2014/main" id="{1A483547-DF92-4227-8303-8A646013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0258A91-67BD-41D0-984D-72C9A1AEBB2F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E86D1F62-5189-4C22-94FB-77B11B475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Hub limitations</a:t>
            </a: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1924F102-EBD3-4F3C-907F-6C4FC0873D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single collision domain results in no increase in max throughput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multi-tier throughput same as single segment throughput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individual LAN restrictions pose limits on number of nodes in same collision domain and on total allowed geographical coverage 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cannot connect different Ethernet types (e.g., 10BaseT and 100baseT)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buFont typeface="ZapfDingbats" pitchFamily="82" charset="2"/>
              <a:buNone/>
            </a:pP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B01EDC3B-7E71-4153-B3E9-889DFBF4B2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Ethernet switch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6365B81E-6ABD-4F72-9261-005C2A9CA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6425" y="1071563"/>
            <a:ext cx="8001000" cy="4640262"/>
          </a:xfrm>
        </p:spPr>
        <p:txBody>
          <a:bodyPr/>
          <a:lstStyle/>
          <a:p>
            <a:r>
              <a:rPr lang="en-US" altLang="zh-CN" sz="2400">
                <a:solidFill>
                  <a:srgbClr val="CC0000"/>
                </a:solidFill>
                <a:ea typeface="宋体" panose="02010600030101010101" pitchFamily="2" charset="-122"/>
              </a:rPr>
              <a:t>link-layer device: takes an </a:t>
            </a:r>
            <a:r>
              <a:rPr lang="en-US" altLang="zh-CN" sz="2400" i="1">
                <a:solidFill>
                  <a:srgbClr val="CC0000"/>
                </a:solidFill>
                <a:ea typeface="宋体" panose="02010600030101010101" pitchFamily="2" charset="-122"/>
              </a:rPr>
              <a:t>active</a:t>
            </a:r>
            <a:r>
              <a:rPr lang="en-US" altLang="zh-CN" sz="2400">
                <a:solidFill>
                  <a:srgbClr val="CC0000"/>
                </a:solidFill>
                <a:ea typeface="宋体" panose="02010600030101010101" pitchFamily="2" charset="-122"/>
              </a:rPr>
              <a:t> role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store, forward Ethernet frames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examine incoming frame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zh-CN">
                <a:ea typeface="宋体" panose="02010600030101010101" pitchFamily="2" charset="-122"/>
              </a:rPr>
              <a:t>s MAC address,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selectively</a:t>
            </a:r>
            <a:r>
              <a:rPr lang="en-US" altLang="zh-CN">
                <a:ea typeface="宋体" panose="02010600030101010101" pitchFamily="2" charset="-122"/>
              </a:rPr>
              <a:t> forward  frame to one-or-more outgoing links when frame is to be forwarded on segment, uses CSMA/CD to access segment</a:t>
            </a:r>
          </a:p>
          <a:p>
            <a:r>
              <a:rPr lang="en-US" altLang="zh-CN" sz="2400" i="1">
                <a:solidFill>
                  <a:srgbClr val="CC0000"/>
                </a:solidFill>
                <a:ea typeface="宋体" panose="02010600030101010101" pitchFamily="2" charset="-122"/>
              </a:rPr>
              <a:t>transparent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hosts are unaware of presence of switches</a:t>
            </a:r>
          </a:p>
          <a:p>
            <a:r>
              <a:rPr lang="en-US" altLang="zh-CN" sz="2400" i="1">
                <a:solidFill>
                  <a:srgbClr val="CC0000"/>
                </a:solidFill>
                <a:ea typeface="宋体" panose="02010600030101010101" pitchFamily="2" charset="-122"/>
              </a:rPr>
              <a:t>plug-and-play, self-learning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switches do not need to be configured</a:t>
            </a:r>
          </a:p>
          <a:p>
            <a:endParaRPr lang="en-US" altLang="zh-CN" sz="2400">
              <a:latin typeface="Gill Sans MT" panose="020B0502020104020203" pitchFamily="34" charset="0"/>
              <a:ea typeface="宋体" panose="02010600030101010101" pitchFamily="2" charset="-122"/>
            </a:endParaRPr>
          </a:p>
        </p:txBody>
      </p:sp>
      <p:sp>
        <p:nvSpPr>
          <p:cNvPr id="65541" name="灯片编号占位符 5">
            <a:extLst>
              <a:ext uri="{FF2B5EF4-FFF2-40B4-BE49-F238E27FC236}">
                <a16:creationId xmlns:a16="http://schemas.microsoft.com/office/drawing/2014/main" id="{B7FE7A2C-9F4D-4F89-8E66-21514F13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E06DDB79-B492-4A9B-BC5A-D803665BCD1E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D513AA0F-9E18-42E6-B64D-D74899BA8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925" y="136525"/>
            <a:ext cx="8469313" cy="1143000"/>
          </a:xfrm>
        </p:spPr>
        <p:txBody>
          <a:bodyPr/>
          <a:lstStyle/>
          <a:p>
            <a:r>
              <a:rPr lang="en-US" altLang="zh-CN" sz="3200">
                <a:ea typeface="宋体" panose="02010600030101010101" pitchFamily="2" charset="-122"/>
              </a:rPr>
              <a:t>Switch: </a:t>
            </a:r>
            <a:r>
              <a:rPr lang="en-US" altLang="zh-CN" sz="3200" i="1">
                <a:ea typeface="宋体" panose="02010600030101010101" pitchFamily="2" charset="-122"/>
              </a:rPr>
              <a:t>multiple</a:t>
            </a:r>
            <a:r>
              <a:rPr lang="en-US" altLang="zh-CN" sz="3200">
                <a:ea typeface="宋体" panose="02010600030101010101" pitchFamily="2" charset="-122"/>
              </a:rPr>
              <a:t> simultaneous transmissions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F540D9E-8401-4989-9062-7F4CFCD97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2113" y="1393825"/>
            <a:ext cx="4503737" cy="45767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hosts have dedicated, direct connection to switch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switches buffer packets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Ethernet protocol used on </a:t>
            </a:r>
            <a:r>
              <a:rPr lang="en-US" altLang="zh-CN" sz="2400" i="1">
                <a:ea typeface="宋体" panose="02010600030101010101" pitchFamily="2" charset="-122"/>
              </a:rPr>
              <a:t>each</a:t>
            </a:r>
            <a:r>
              <a:rPr lang="en-US" altLang="zh-CN" sz="2400">
                <a:ea typeface="宋体" panose="02010600030101010101" pitchFamily="2" charset="-122"/>
              </a:rPr>
              <a:t> incoming link, but no collisions; full duplex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each link is its own collision domain</a:t>
            </a:r>
          </a:p>
          <a:p>
            <a:pPr>
              <a:lnSpc>
                <a:spcPct val="90000"/>
              </a:lnSpc>
            </a:pPr>
            <a:r>
              <a:rPr lang="en-US" altLang="zh-CN" sz="2400" i="1">
                <a:solidFill>
                  <a:srgbClr val="CC0000"/>
                </a:solidFill>
                <a:ea typeface="宋体" panose="02010600030101010101" pitchFamily="2" charset="-122"/>
              </a:rPr>
              <a:t>switching:</a:t>
            </a:r>
            <a:r>
              <a:rPr lang="en-US" altLang="zh-CN" sz="240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A-to-A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zh-CN" sz="2400">
                <a:ea typeface="宋体" panose="02010600030101010101" pitchFamily="2" charset="-122"/>
              </a:rPr>
              <a:t> and B-to-B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zh-CN" sz="2400">
                <a:ea typeface="宋体" panose="02010600030101010101" pitchFamily="2" charset="-122"/>
              </a:rPr>
              <a:t> can transmit simultaneously, without collisions </a:t>
            </a:r>
          </a:p>
        </p:txBody>
      </p:sp>
      <p:grpSp>
        <p:nvGrpSpPr>
          <p:cNvPr id="67588" name="Group 1">
            <a:extLst>
              <a:ext uri="{FF2B5EF4-FFF2-40B4-BE49-F238E27FC236}">
                <a16:creationId xmlns:a16="http://schemas.microsoft.com/office/drawing/2014/main" id="{6BEC802C-D653-4AB8-AF08-717928ECF466}"/>
              </a:ext>
            </a:extLst>
          </p:cNvPr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2472" name="Text Box 34">
              <a:extLst>
                <a:ext uri="{FF2B5EF4-FFF2-40B4-BE49-F238E27FC236}">
                  <a16:creationId xmlns:a16="http://schemas.microsoft.com/office/drawing/2014/main" id="{A5C00B0B-9734-42D2-BF2F-BB0B6323A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67592" name="Group 34">
              <a:extLst>
                <a:ext uri="{FF2B5EF4-FFF2-40B4-BE49-F238E27FC236}">
                  <a16:creationId xmlns:a16="http://schemas.microsoft.com/office/drawing/2014/main" id="{FE05B269-2809-4D90-89EF-8571519DD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2474" name="Text Box 23">
                <a:extLst>
                  <a:ext uri="{FF2B5EF4-FFF2-40B4-BE49-F238E27FC236}">
                    <a16:creationId xmlns:a16="http://schemas.microsoft.com/office/drawing/2014/main" id="{8760F7DF-38B1-449C-BEB8-F526B7D3A6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2475" name="Text Box 24">
                <a:extLst>
                  <a:ext uri="{FF2B5EF4-FFF2-40B4-BE49-F238E27FC236}">
                    <a16:creationId xmlns:a16="http://schemas.microsoft.com/office/drawing/2014/main" id="{6D7DDE1B-9809-436E-BCC7-0ED8224235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6" name="Text Box 25">
                <a:extLst>
                  <a:ext uri="{FF2B5EF4-FFF2-40B4-BE49-F238E27FC236}">
                    <a16:creationId xmlns:a16="http://schemas.microsoft.com/office/drawing/2014/main" id="{F89EFFB0-A979-4E0C-8A5A-5E83BDA859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2477" name="Text Box 26">
                <a:extLst>
                  <a:ext uri="{FF2B5EF4-FFF2-40B4-BE49-F238E27FC236}">
                    <a16:creationId xmlns:a16="http://schemas.microsoft.com/office/drawing/2014/main" id="{8910C79C-4443-4746-B214-BA7A99AB25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8" name="Text Box 27">
                <a:extLst>
                  <a:ext uri="{FF2B5EF4-FFF2-40B4-BE49-F238E27FC236}">
                    <a16:creationId xmlns:a16="http://schemas.microsoft.com/office/drawing/2014/main" id="{223B8821-1CED-4454-B972-11F8AEED30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2479" name="Text Box 28">
                <a:extLst>
                  <a:ext uri="{FF2B5EF4-FFF2-40B4-BE49-F238E27FC236}">
                    <a16:creationId xmlns:a16="http://schemas.microsoft.com/office/drawing/2014/main" id="{18B51FD6-9A3F-46EE-9761-0BED40221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80" name="Line 17">
                <a:extLst>
                  <a:ext uri="{FF2B5EF4-FFF2-40B4-BE49-F238E27FC236}">
                    <a16:creationId xmlns:a16="http://schemas.microsoft.com/office/drawing/2014/main" id="{2B158391-59F2-413F-BE8F-922F78550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2481" name="Line 18">
                <a:extLst>
                  <a:ext uri="{FF2B5EF4-FFF2-40B4-BE49-F238E27FC236}">
                    <a16:creationId xmlns:a16="http://schemas.microsoft.com/office/drawing/2014/main" id="{33124995-843E-4EE6-8DC2-1A683AF674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2482" name="Line 19">
                <a:extLst>
                  <a:ext uri="{FF2B5EF4-FFF2-40B4-BE49-F238E27FC236}">
                    <a16:creationId xmlns:a16="http://schemas.microsoft.com/office/drawing/2014/main" id="{AEAC9BFA-F940-47CC-BAE4-60682B688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2483" name="Line 20">
                <a:extLst>
                  <a:ext uri="{FF2B5EF4-FFF2-40B4-BE49-F238E27FC236}">
                    <a16:creationId xmlns:a16="http://schemas.microsoft.com/office/drawing/2014/main" id="{945D2AFD-60BA-4A03-A8CB-D07F71422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grpSp>
            <p:nvGrpSpPr>
              <p:cNvPr id="67603" name="Group 45">
                <a:extLst>
                  <a:ext uri="{FF2B5EF4-FFF2-40B4-BE49-F238E27FC236}">
                    <a16:creationId xmlns:a16="http://schemas.microsoft.com/office/drawing/2014/main" id="{5348064A-3506-439F-8EED-E232582A03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0" name="Rectangle 48">
                  <a:extLst>
                    <a:ext uri="{FF2B5EF4-FFF2-40B4-BE49-F238E27FC236}">
                      <a16:creationId xmlns:a16="http://schemas.microsoft.com/office/drawing/2014/main" id="{B8A1C593-1BF0-4A16-A5B7-2975717730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  <p:grpSp>
              <p:nvGrpSpPr>
                <p:cNvPr id="67638" name="Group 49">
                  <a:extLst>
                    <a:ext uri="{FF2B5EF4-FFF2-40B4-BE49-F238E27FC236}">
                      <a16:creationId xmlns:a16="http://schemas.microsoft.com/office/drawing/2014/main" id="{932E83E1-BDCF-4124-9D52-DC24E80195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67639" name="Picture 50" descr="desktop_computer_stylized_medium">
                    <a:extLst>
                      <a:ext uri="{FF2B5EF4-FFF2-40B4-BE49-F238E27FC236}">
                        <a16:creationId xmlns:a16="http://schemas.microsoft.com/office/drawing/2014/main" id="{2183EEC4-8662-4EE5-A416-6BC1D250C45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7640" name="Freeform 51">
                    <a:extLst>
                      <a:ext uri="{FF2B5EF4-FFF2-40B4-BE49-F238E27FC236}">
                        <a16:creationId xmlns:a16="http://schemas.microsoft.com/office/drawing/2014/main" id="{691BC1D8-7577-4486-84B0-2653EFB03F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7604" name="Group 46">
                <a:extLst>
                  <a:ext uri="{FF2B5EF4-FFF2-40B4-BE49-F238E27FC236}">
                    <a16:creationId xmlns:a16="http://schemas.microsoft.com/office/drawing/2014/main" id="{D440786B-F196-4FAB-8A06-D575CA7752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67633" name="Group 44">
                  <a:extLst>
                    <a:ext uri="{FF2B5EF4-FFF2-40B4-BE49-F238E27FC236}">
                      <a16:creationId xmlns:a16="http://schemas.microsoft.com/office/drawing/2014/main" id="{EFF8F05B-F1A0-4BE8-A790-7BDE2F2F1A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67635" name="Picture 45" descr="desktop_computer_stylized_medium">
                    <a:extLst>
                      <a:ext uri="{FF2B5EF4-FFF2-40B4-BE49-F238E27FC236}">
                        <a16:creationId xmlns:a16="http://schemas.microsoft.com/office/drawing/2014/main" id="{534F2AF0-4660-4182-88C9-75339E93E51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7636" name="Freeform 46">
                    <a:extLst>
                      <a:ext uri="{FF2B5EF4-FFF2-40B4-BE49-F238E27FC236}">
                        <a16:creationId xmlns:a16="http://schemas.microsoft.com/office/drawing/2014/main" id="{54620B75-E58F-4C3A-990D-5C4BD2C881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7" name="Rectangle 43">
                  <a:extLst>
                    <a:ext uri="{FF2B5EF4-FFF2-40B4-BE49-F238E27FC236}">
                      <a16:creationId xmlns:a16="http://schemas.microsoft.com/office/drawing/2014/main" id="{9524A14F-E502-492F-8E09-200101CF1D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</p:grpSp>
          <p:sp>
            <p:nvSpPr>
              <p:cNvPr id="48" name="Rectangle 43">
                <a:extLst>
                  <a:ext uri="{FF2B5EF4-FFF2-40B4-BE49-F238E27FC236}">
                    <a16:creationId xmlns:a16="http://schemas.microsoft.com/office/drawing/2014/main" id="{2E11EC33-D4B6-4733-8969-975B1DD5B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grpSp>
            <p:nvGrpSpPr>
              <p:cNvPr id="67606" name="Group 44">
                <a:extLst>
                  <a:ext uri="{FF2B5EF4-FFF2-40B4-BE49-F238E27FC236}">
                    <a16:creationId xmlns:a16="http://schemas.microsoft.com/office/drawing/2014/main" id="{51CB5E4A-84AA-4F5F-8909-896EBA212F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67631" name="Picture 45" descr="desktop_computer_stylized_medium">
                  <a:extLst>
                    <a:ext uri="{FF2B5EF4-FFF2-40B4-BE49-F238E27FC236}">
                      <a16:creationId xmlns:a16="http://schemas.microsoft.com/office/drawing/2014/main" id="{6CAB9001-E8B2-4B1E-B36A-8AED5E48EE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632" name="Freeform 46">
                  <a:extLst>
                    <a:ext uri="{FF2B5EF4-FFF2-40B4-BE49-F238E27FC236}">
                      <a16:creationId xmlns:a16="http://schemas.microsoft.com/office/drawing/2014/main" id="{5FA0DBD7-7F30-46D5-885E-BB3CB4B520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607" name="Group 49">
                <a:extLst>
                  <a:ext uri="{FF2B5EF4-FFF2-40B4-BE49-F238E27FC236}">
                    <a16:creationId xmlns:a16="http://schemas.microsoft.com/office/drawing/2014/main" id="{D8125948-90A9-4022-B978-C421CEED72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0" name="Rectangle 43">
                  <a:extLst>
                    <a:ext uri="{FF2B5EF4-FFF2-40B4-BE49-F238E27FC236}">
                      <a16:creationId xmlns:a16="http://schemas.microsoft.com/office/drawing/2014/main" id="{5BA399BB-734D-43A6-A723-5FEDA44E74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  <p:grpSp>
              <p:nvGrpSpPr>
                <p:cNvPr id="67628" name="Group 44">
                  <a:extLst>
                    <a:ext uri="{FF2B5EF4-FFF2-40B4-BE49-F238E27FC236}">
                      <a16:creationId xmlns:a16="http://schemas.microsoft.com/office/drawing/2014/main" id="{E7F7A8C3-9769-45D5-89C0-4DBE2BA684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67629" name="Picture 45" descr="desktop_computer_stylized_medium">
                    <a:extLst>
                      <a:ext uri="{FF2B5EF4-FFF2-40B4-BE49-F238E27FC236}">
                        <a16:creationId xmlns:a16="http://schemas.microsoft.com/office/drawing/2014/main" id="{D06E41F2-67D0-4E1E-A993-3D60EEE510D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7630" name="Freeform 46">
                    <a:extLst>
                      <a:ext uri="{FF2B5EF4-FFF2-40B4-BE49-F238E27FC236}">
                        <a16:creationId xmlns:a16="http://schemas.microsoft.com/office/drawing/2014/main" id="{33787799-231F-4FD9-A381-4191168998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pic>
            <p:nvPicPr>
              <p:cNvPr id="62489" name="Picture 3">
                <a:extLst>
                  <a:ext uri="{FF2B5EF4-FFF2-40B4-BE49-F238E27FC236}">
                    <a16:creationId xmlns:a16="http://schemas.microsoft.com/office/drawing/2014/main" id="{E565FBA1-8B97-4BFF-994E-700B81E164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67609" name="Group 51">
                <a:extLst>
                  <a:ext uri="{FF2B5EF4-FFF2-40B4-BE49-F238E27FC236}">
                    <a16:creationId xmlns:a16="http://schemas.microsoft.com/office/drawing/2014/main" id="{F27ED70B-A2F4-4124-A21E-51DF10593E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6" name="Rectangle 48">
                  <a:extLst>
                    <a:ext uri="{FF2B5EF4-FFF2-40B4-BE49-F238E27FC236}">
                      <a16:creationId xmlns:a16="http://schemas.microsoft.com/office/drawing/2014/main" id="{F569AEA3-94BD-49E2-8445-29BA3EA98C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  <p:grpSp>
              <p:nvGrpSpPr>
                <p:cNvPr id="67624" name="Group 49">
                  <a:extLst>
                    <a:ext uri="{FF2B5EF4-FFF2-40B4-BE49-F238E27FC236}">
                      <a16:creationId xmlns:a16="http://schemas.microsoft.com/office/drawing/2014/main" id="{5BEC3AB5-6576-4204-A1B9-F81225C87C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67625" name="Picture 50" descr="desktop_computer_stylized_medium">
                    <a:extLst>
                      <a:ext uri="{FF2B5EF4-FFF2-40B4-BE49-F238E27FC236}">
                        <a16:creationId xmlns:a16="http://schemas.microsoft.com/office/drawing/2014/main" id="{23E7968A-1F6E-419F-AA52-90B996C4977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7626" name="Freeform 51">
                    <a:extLst>
                      <a:ext uri="{FF2B5EF4-FFF2-40B4-BE49-F238E27FC236}">
                        <a16:creationId xmlns:a16="http://schemas.microsoft.com/office/drawing/2014/main" id="{B243E9D9-4F87-4F11-BA68-994417448D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7610" name="Group 52">
                <a:extLst>
                  <a:ext uri="{FF2B5EF4-FFF2-40B4-BE49-F238E27FC236}">
                    <a16:creationId xmlns:a16="http://schemas.microsoft.com/office/drawing/2014/main" id="{956637B9-38AA-4D31-8C2B-28199C7E70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67619" name="Group 44">
                  <a:extLst>
                    <a:ext uri="{FF2B5EF4-FFF2-40B4-BE49-F238E27FC236}">
                      <a16:creationId xmlns:a16="http://schemas.microsoft.com/office/drawing/2014/main" id="{D758837A-8EA7-4422-AC80-17A50697B4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67621" name="Picture 45" descr="desktop_computer_stylized_medium">
                    <a:extLst>
                      <a:ext uri="{FF2B5EF4-FFF2-40B4-BE49-F238E27FC236}">
                        <a16:creationId xmlns:a16="http://schemas.microsoft.com/office/drawing/2014/main" id="{69D1324F-D022-4BA6-B13B-881FDA070E9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7622" name="Freeform 46">
                    <a:extLst>
                      <a:ext uri="{FF2B5EF4-FFF2-40B4-BE49-F238E27FC236}">
                        <a16:creationId xmlns:a16="http://schemas.microsoft.com/office/drawing/2014/main" id="{A547F1A8-445A-45C5-ABB2-4DB0057B10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3" name="Rectangle 43">
                  <a:extLst>
                    <a:ext uri="{FF2B5EF4-FFF2-40B4-BE49-F238E27FC236}">
                      <a16:creationId xmlns:a16="http://schemas.microsoft.com/office/drawing/2014/main" id="{86BB6698-CFB0-4B58-894D-DD4BF74A9C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</p:grpSp>
          <p:sp>
            <p:nvSpPr>
              <p:cNvPr id="62492" name="Line 17">
                <a:extLst>
                  <a:ext uri="{FF2B5EF4-FFF2-40B4-BE49-F238E27FC236}">
                    <a16:creationId xmlns:a16="http://schemas.microsoft.com/office/drawing/2014/main" id="{D778728B-0944-4550-8471-F302D7434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2493" name="Line 19">
                <a:extLst>
                  <a:ext uri="{FF2B5EF4-FFF2-40B4-BE49-F238E27FC236}">
                    <a16:creationId xmlns:a16="http://schemas.microsoft.com/office/drawing/2014/main" id="{A067952B-A0F3-4A0B-9352-5F0E45E17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2494" name="Text Box 35">
                <a:extLst>
                  <a:ext uri="{FF2B5EF4-FFF2-40B4-BE49-F238E27FC236}">
                    <a16:creationId xmlns:a16="http://schemas.microsoft.com/office/drawing/2014/main" id="{1EC4133E-33A7-46CB-BD87-9C152DA6FD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2495" name="Text Box 36">
                <a:extLst>
                  <a:ext uri="{FF2B5EF4-FFF2-40B4-BE49-F238E27FC236}">
                    <a16:creationId xmlns:a16="http://schemas.microsoft.com/office/drawing/2014/main" id="{E830D5FC-ACF4-4B46-B703-CB1E3F3E20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2496" name="Text Box 37">
                <a:extLst>
                  <a:ext uri="{FF2B5EF4-FFF2-40B4-BE49-F238E27FC236}">
                    <a16:creationId xmlns:a16="http://schemas.microsoft.com/office/drawing/2014/main" id="{F078CC52-6E86-4172-9B2C-72518F28DD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2497" name="Text Box 38">
                <a:extLst>
                  <a:ext uri="{FF2B5EF4-FFF2-40B4-BE49-F238E27FC236}">
                    <a16:creationId xmlns:a16="http://schemas.microsoft.com/office/drawing/2014/main" id="{EF24CA6C-8AF8-44FD-B6AC-61E9031B5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2498" name="Text Box 39">
                <a:extLst>
                  <a:ext uri="{FF2B5EF4-FFF2-40B4-BE49-F238E27FC236}">
                    <a16:creationId xmlns:a16="http://schemas.microsoft.com/office/drawing/2014/main" id="{2DD4718A-DDAB-4B7F-8A73-03A5C73E2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2499" name="Text Box 40">
                <a:extLst>
                  <a:ext uri="{FF2B5EF4-FFF2-40B4-BE49-F238E27FC236}">
                    <a16:creationId xmlns:a16="http://schemas.microsoft.com/office/drawing/2014/main" id="{FEE05290-10B1-430B-B392-6292B52256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sp>
        <p:nvSpPr>
          <p:cNvPr id="67590" name="灯片编号占位符 5">
            <a:extLst>
              <a:ext uri="{FF2B5EF4-FFF2-40B4-BE49-F238E27FC236}">
                <a16:creationId xmlns:a16="http://schemas.microsoft.com/office/drawing/2014/main" id="{934A7DBA-A04E-432B-B656-6A13DAB9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B43C1A9B-CC51-4EE3-AA64-FA2E78A8C6F6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>
            <a:extLst>
              <a:ext uri="{FF2B5EF4-FFF2-40B4-BE49-F238E27FC236}">
                <a16:creationId xmlns:a16="http://schemas.microsoft.com/office/drawing/2014/main" id="{03CA3F4F-2B9A-4567-B3A9-8F091EF13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1325" y="904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+mn-lt"/>
              </a:rPr>
              <a:t>Switch forwarding table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584DD38-FDC4-4AC5-9C4E-01B2FA9E5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4663" y="1398588"/>
            <a:ext cx="4878387" cy="4805362"/>
          </a:xfrm>
        </p:spPr>
        <p:txBody>
          <a:bodyPr/>
          <a:lstStyle/>
          <a:p>
            <a:pPr marL="0" indent="0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i="1" u="sng">
                <a:solidFill>
                  <a:srgbClr val="CC0000"/>
                </a:solidFill>
                <a:ea typeface="宋体" panose="02010600030101010101" pitchFamily="2" charset="-122"/>
              </a:rPr>
              <a:t>Q: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how does switch know A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zh-CN">
                <a:ea typeface="宋体" panose="02010600030101010101" pitchFamily="2" charset="-122"/>
              </a:rPr>
              <a:t> reachable via interface 4, B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zh-CN">
                <a:ea typeface="宋体" panose="02010600030101010101" pitchFamily="2" charset="-122"/>
              </a:rPr>
              <a:t> reachable via interface 5?</a:t>
            </a:r>
          </a:p>
        </p:txBody>
      </p:sp>
      <p:grpSp>
        <p:nvGrpSpPr>
          <p:cNvPr id="69636" name="Group 34">
            <a:extLst>
              <a:ext uri="{FF2B5EF4-FFF2-40B4-BE49-F238E27FC236}">
                <a16:creationId xmlns:a16="http://schemas.microsoft.com/office/drawing/2014/main" id="{1A80E178-E970-42C6-8D79-5DB60A4F6330}"/>
              </a:ext>
            </a:extLst>
          </p:cNvPr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3496" name="Text Box 34">
              <a:extLst>
                <a:ext uri="{FF2B5EF4-FFF2-40B4-BE49-F238E27FC236}">
                  <a16:creationId xmlns:a16="http://schemas.microsoft.com/office/drawing/2014/main" id="{BDC3380D-0F4F-4C36-AA36-2A29753DC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69642" name="Group 36">
              <a:extLst>
                <a:ext uri="{FF2B5EF4-FFF2-40B4-BE49-F238E27FC236}">
                  <a16:creationId xmlns:a16="http://schemas.microsoft.com/office/drawing/2014/main" id="{0A798D90-5ED1-4102-A9A0-8E52059F7E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3498" name="Text Box 23">
                <a:extLst>
                  <a:ext uri="{FF2B5EF4-FFF2-40B4-BE49-F238E27FC236}">
                    <a16:creationId xmlns:a16="http://schemas.microsoft.com/office/drawing/2014/main" id="{179E5EE6-A817-49EC-ABAF-7FB0BF781E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3499" name="Text Box 24">
                <a:extLst>
                  <a:ext uri="{FF2B5EF4-FFF2-40B4-BE49-F238E27FC236}">
                    <a16:creationId xmlns:a16="http://schemas.microsoft.com/office/drawing/2014/main" id="{14C58EC4-0628-44A1-94F0-AC597C14BD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0" name="Text Box 25">
                <a:extLst>
                  <a:ext uri="{FF2B5EF4-FFF2-40B4-BE49-F238E27FC236}">
                    <a16:creationId xmlns:a16="http://schemas.microsoft.com/office/drawing/2014/main" id="{3BFABA53-5D44-4ED9-B5F4-57EB059F8E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3501" name="Text Box 26">
                <a:extLst>
                  <a:ext uri="{FF2B5EF4-FFF2-40B4-BE49-F238E27FC236}">
                    <a16:creationId xmlns:a16="http://schemas.microsoft.com/office/drawing/2014/main" id="{9D820F24-B14A-4549-B694-5D8FAEEE77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2" name="Text Box 27">
                <a:extLst>
                  <a:ext uri="{FF2B5EF4-FFF2-40B4-BE49-F238E27FC236}">
                    <a16:creationId xmlns:a16="http://schemas.microsoft.com/office/drawing/2014/main" id="{25B09B99-A49E-4D70-95D3-90A0D4BEE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3503" name="Text Box 28">
                <a:extLst>
                  <a:ext uri="{FF2B5EF4-FFF2-40B4-BE49-F238E27FC236}">
                    <a16:creationId xmlns:a16="http://schemas.microsoft.com/office/drawing/2014/main" id="{23F5A0EF-3A72-439E-B04E-CFC2D3F3D1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4" name="Line 17">
                <a:extLst>
                  <a:ext uri="{FF2B5EF4-FFF2-40B4-BE49-F238E27FC236}">
                    <a16:creationId xmlns:a16="http://schemas.microsoft.com/office/drawing/2014/main" id="{CE477E3E-BAE7-4F2D-99E2-2909BEBFB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3505" name="Line 18">
                <a:extLst>
                  <a:ext uri="{FF2B5EF4-FFF2-40B4-BE49-F238E27FC236}">
                    <a16:creationId xmlns:a16="http://schemas.microsoft.com/office/drawing/2014/main" id="{1B1248C9-622F-42F8-856A-820AC59E0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3506" name="Line 19">
                <a:extLst>
                  <a:ext uri="{FF2B5EF4-FFF2-40B4-BE49-F238E27FC236}">
                    <a16:creationId xmlns:a16="http://schemas.microsoft.com/office/drawing/2014/main" id="{B74C8724-7DD0-41F9-81B0-CC1EBD926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3507" name="Line 20">
                <a:extLst>
                  <a:ext uri="{FF2B5EF4-FFF2-40B4-BE49-F238E27FC236}">
                    <a16:creationId xmlns:a16="http://schemas.microsoft.com/office/drawing/2014/main" id="{241B29BA-EC31-4145-BDD2-BFFF6F550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grpSp>
            <p:nvGrpSpPr>
              <p:cNvPr id="69653" name="Group 47">
                <a:extLst>
                  <a:ext uri="{FF2B5EF4-FFF2-40B4-BE49-F238E27FC236}">
                    <a16:creationId xmlns:a16="http://schemas.microsoft.com/office/drawing/2014/main" id="{21928D93-1F47-44C0-964D-321DB3F939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2" name="Rectangle 48">
                  <a:extLst>
                    <a:ext uri="{FF2B5EF4-FFF2-40B4-BE49-F238E27FC236}">
                      <a16:creationId xmlns:a16="http://schemas.microsoft.com/office/drawing/2014/main" id="{73A89E23-A511-4ABA-84AE-C136BEDE2D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  <p:grpSp>
              <p:nvGrpSpPr>
                <p:cNvPr id="69688" name="Group 49">
                  <a:extLst>
                    <a:ext uri="{FF2B5EF4-FFF2-40B4-BE49-F238E27FC236}">
                      <a16:creationId xmlns:a16="http://schemas.microsoft.com/office/drawing/2014/main" id="{5B9EDD16-9D78-484D-9592-D0DFADF6C7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69689" name="Picture 50" descr="desktop_computer_stylized_medium">
                    <a:extLst>
                      <a:ext uri="{FF2B5EF4-FFF2-40B4-BE49-F238E27FC236}">
                        <a16:creationId xmlns:a16="http://schemas.microsoft.com/office/drawing/2014/main" id="{EC1B7B77-FE48-4EB7-8935-EA15FA4E466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9690" name="Freeform 51">
                    <a:extLst>
                      <a:ext uri="{FF2B5EF4-FFF2-40B4-BE49-F238E27FC236}">
                        <a16:creationId xmlns:a16="http://schemas.microsoft.com/office/drawing/2014/main" id="{20E34F59-3A1A-483C-9C69-CCE7420ACF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9654" name="Group 48">
                <a:extLst>
                  <a:ext uri="{FF2B5EF4-FFF2-40B4-BE49-F238E27FC236}">
                    <a16:creationId xmlns:a16="http://schemas.microsoft.com/office/drawing/2014/main" id="{737E430F-A35F-424B-8681-3B77F3312D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69683" name="Group 44">
                  <a:extLst>
                    <a:ext uri="{FF2B5EF4-FFF2-40B4-BE49-F238E27FC236}">
                      <a16:creationId xmlns:a16="http://schemas.microsoft.com/office/drawing/2014/main" id="{9C305772-F0D3-4386-B951-A83A58609F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69685" name="Picture 45" descr="desktop_computer_stylized_medium">
                    <a:extLst>
                      <a:ext uri="{FF2B5EF4-FFF2-40B4-BE49-F238E27FC236}">
                        <a16:creationId xmlns:a16="http://schemas.microsoft.com/office/drawing/2014/main" id="{DCF1226F-3AFD-4CBF-92A0-C11413B4879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9686" name="Freeform 46">
                    <a:extLst>
                      <a:ext uri="{FF2B5EF4-FFF2-40B4-BE49-F238E27FC236}">
                        <a16:creationId xmlns:a16="http://schemas.microsoft.com/office/drawing/2014/main" id="{BB9A59BA-0885-4169-9D27-CA817BEE84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9" name="Rectangle 43">
                  <a:extLst>
                    <a:ext uri="{FF2B5EF4-FFF2-40B4-BE49-F238E27FC236}">
                      <a16:creationId xmlns:a16="http://schemas.microsoft.com/office/drawing/2014/main" id="{F0965AAA-092B-46E7-B4AD-E507B3CA3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</p:grpSp>
          <p:sp>
            <p:nvSpPr>
              <p:cNvPr id="50" name="Rectangle 43">
                <a:extLst>
                  <a:ext uri="{FF2B5EF4-FFF2-40B4-BE49-F238E27FC236}">
                    <a16:creationId xmlns:a16="http://schemas.microsoft.com/office/drawing/2014/main" id="{E8420E81-9C51-4F67-BFAC-B26EB183E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grpSp>
            <p:nvGrpSpPr>
              <p:cNvPr id="69656" name="Group 44">
                <a:extLst>
                  <a:ext uri="{FF2B5EF4-FFF2-40B4-BE49-F238E27FC236}">
                    <a16:creationId xmlns:a16="http://schemas.microsoft.com/office/drawing/2014/main" id="{266AE8F8-A186-4A91-AEAB-FF3FB99B37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69681" name="Picture 45" descr="desktop_computer_stylized_medium">
                  <a:extLst>
                    <a:ext uri="{FF2B5EF4-FFF2-40B4-BE49-F238E27FC236}">
                      <a16:creationId xmlns:a16="http://schemas.microsoft.com/office/drawing/2014/main" id="{1F53A72E-DF9A-44A3-9237-3CE5E9503C1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9682" name="Freeform 46">
                  <a:extLst>
                    <a:ext uri="{FF2B5EF4-FFF2-40B4-BE49-F238E27FC236}">
                      <a16:creationId xmlns:a16="http://schemas.microsoft.com/office/drawing/2014/main" id="{AB7A1F58-CDB1-4F6E-9FE0-3B185E4156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9657" name="Group 51">
                <a:extLst>
                  <a:ext uri="{FF2B5EF4-FFF2-40B4-BE49-F238E27FC236}">
                    <a16:creationId xmlns:a16="http://schemas.microsoft.com/office/drawing/2014/main" id="{882BC527-414F-4B78-976A-E4DED2CFEA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2" name="Rectangle 43">
                  <a:extLst>
                    <a:ext uri="{FF2B5EF4-FFF2-40B4-BE49-F238E27FC236}">
                      <a16:creationId xmlns:a16="http://schemas.microsoft.com/office/drawing/2014/main" id="{C667AE91-C5F2-4A29-8AF5-780CE3FCF9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  <p:grpSp>
              <p:nvGrpSpPr>
                <p:cNvPr id="69678" name="Group 44">
                  <a:extLst>
                    <a:ext uri="{FF2B5EF4-FFF2-40B4-BE49-F238E27FC236}">
                      <a16:creationId xmlns:a16="http://schemas.microsoft.com/office/drawing/2014/main" id="{2F6E5035-DCBC-4D5B-A867-AE50B3ACAD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69679" name="Picture 45" descr="desktop_computer_stylized_medium">
                    <a:extLst>
                      <a:ext uri="{FF2B5EF4-FFF2-40B4-BE49-F238E27FC236}">
                        <a16:creationId xmlns:a16="http://schemas.microsoft.com/office/drawing/2014/main" id="{EFE8B7AD-775D-4716-AC72-56FB69119C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9680" name="Freeform 46">
                    <a:extLst>
                      <a:ext uri="{FF2B5EF4-FFF2-40B4-BE49-F238E27FC236}">
                        <a16:creationId xmlns:a16="http://schemas.microsoft.com/office/drawing/2014/main" id="{F0288F33-D735-4648-A5FD-A48CCCA8C7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pic>
            <p:nvPicPr>
              <p:cNvPr id="63513" name="Picture 3">
                <a:extLst>
                  <a:ext uri="{FF2B5EF4-FFF2-40B4-BE49-F238E27FC236}">
                    <a16:creationId xmlns:a16="http://schemas.microsoft.com/office/drawing/2014/main" id="{D5A90654-9674-4BA2-9D78-9E0A3E8062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69659" name="Group 53">
                <a:extLst>
                  <a:ext uri="{FF2B5EF4-FFF2-40B4-BE49-F238E27FC236}">
                    <a16:creationId xmlns:a16="http://schemas.microsoft.com/office/drawing/2014/main" id="{E11897D1-9905-46F3-A96A-E253E96289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8" name="Rectangle 48">
                  <a:extLst>
                    <a:ext uri="{FF2B5EF4-FFF2-40B4-BE49-F238E27FC236}">
                      <a16:creationId xmlns:a16="http://schemas.microsoft.com/office/drawing/2014/main" id="{C2AA25F2-E83C-42F5-BB60-269D5E2107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  <p:grpSp>
              <p:nvGrpSpPr>
                <p:cNvPr id="69674" name="Group 49">
                  <a:extLst>
                    <a:ext uri="{FF2B5EF4-FFF2-40B4-BE49-F238E27FC236}">
                      <a16:creationId xmlns:a16="http://schemas.microsoft.com/office/drawing/2014/main" id="{7583D917-DC54-4D98-ABA8-8B52283A7B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69675" name="Picture 50" descr="desktop_computer_stylized_medium">
                    <a:extLst>
                      <a:ext uri="{FF2B5EF4-FFF2-40B4-BE49-F238E27FC236}">
                        <a16:creationId xmlns:a16="http://schemas.microsoft.com/office/drawing/2014/main" id="{C9BB3B5D-585B-4410-BCBA-F54238877C0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9676" name="Freeform 51">
                    <a:extLst>
                      <a:ext uri="{FF2B5EF4-FFF2-40B4-BE49-F238E27FC236}">
                        <a16:creationId xmlns:a16="http://schemas.microsoft.com/office/drawing/2014/main" id="{F8F14C1E-8F5B-4432-AFDE-E908659972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9660" name="Group 54">
                <a:extLst>
                  <a:ext uri="{FF2B5EF4-FFF2-40B4-BE49-F238E27FC236}">
                    <a16:creationId xmlns:a16="http://schemas.microsoft.com/office/drawing/2014/main" id="{20A8C27B-F609-4A42-81A5-25E3D108E7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69669" name="Group 44">
                  <a:extLst>
                    <a:ext uri="{FF2B5EF4-FFF2-40B4-BE49-F238E27FC236}">
                      <a16:creationId xmlns:a16="http://schemas.microsoft.com/office/drawing/2014/main" id="{5838F805-34F1-46FC-923E-E826C1608D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69671" name="Picture 45" descr="desktop_computer_stylized_medium">
                    <a:extLst>
                      <a:ext uri="{FF2B5EF4-FFF2-40B4-BE49-F238E27FC236}">
                        <a16:creationId xmlns:a16="http://schemas.microsoft.com/office/drawing/2014/main" id="{1800AABF-1960-473A-BE8B-0F84EE62B37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9672" name="Freeform 46">
                    <a:extLst>
                      <a:ext uri="{FF2B5EF4-FFF2-40B4-BE49-F238E27FC236}">
                        <a16:creationId xmlns:a16="http://schemas.microsoft.com/office/drawing/2014/main" id="{CA5990A5-7AC8-4477-91C8-C764CA82D5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0045 w 356"/>
                      <a:gd name="T3" fmla="*/ 645 h 368"/>
                      <a:gd name="T4" fmla="*/ 11917 w 356"/>
                      <a:gd name="T5" fmla="*/ 13448 h 368"/>
                      <a:gd name="T6" fmla="*/ 2626 w 356"/>
                      <a:gd name="T7" fmla="*/ 1681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5" name="Rectangle 43">
                  <a:extLst>
                    <a:ext uri="{FF2B5EF4-FFF2-40B4-BE49-F238E27FC236}">
                      <a16:creationId xmlns:a16="http://schemas.microsoft.com/office/drawing/2014/main" id="{9A91CF64-EE21-4A04-BBD4-177D5A9935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defRPr/>
                  </a:pPr>
                  <a:endParaRPr lang="en-US" altLang="zh-CN">
                    <a:latin typeface="Arial" pitchFamily="34" charset="0"/>
                    <a:ea typeface="宋体" pitchFamily="2" charset="-122"/>
                    <a:cs typeface="Arial" pitchFamily="34" charset="0"/>
                  </a:endParaRPr>
                </a:p>
              </p:txBody>
            </p:sp>
          </p:grpSp>
          <p:sp>
            <p:nvSpPr>
              <p:cNvPr id="63516" name="Line 17">
                <a:extLst>
                  <a:ext uri="{FF2B5EF4-FFF2-40B4-BE49-F238E27FC236}">
                    <a16:creationId xmlns:a16="http://schemas.microsoft.com/office/drawing/2014/main" id="{22D47E8F-C4A3-44CD-A98E-6E7D91DC3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3517" name="Line 19">
                <a:extLst>
                  <a:ext uri="{FF2B5EF4-FFF2-40B4-BE49-F238E27FC236}">
                    <a16:creationId xmlns:a16="http://schemas.microsoft.com/office/drawing/2014/main" id="{13E1F5A4-CB17-4530-B064-00DFCAD0E6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63518" name="Text Box 35">
                <a:extLst>
                  <a:ext uri="{FF2B5EF4-FFF2-40B4-BE49-F238E27FC236}">
                    <a16:creationId xmlns:a16="http://schemas.microsoft.com/office/drawing/2014/main" id="{5E49A28D-A961-4E85-888A-9B46E0B6B9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3519" name="Text Box 36">
                <a:extLst>
                  <a:ext uri="{FF2B5EF4-FFF2-40B4-BE49-F238E27FC236}">
                    <a16:creationId xmlns:a16="http://schemas.microsoft.com/office/drawing/2014/main" id="{7CFD0B8D-9224-499E-950B-96B184341B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3520" name="Text Box 37">
                <a:extLst>
                  <a:ext uri="{FF2B5EF4-FFF2-40B4-BE49-F238E27FC236}">
                    <a16:creationId xmlns:a16="http://schemas.microsoft.com/office/drawing/2014/main" id="{FA8E65ED-C258-468B-BF67-9E87098D40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3521" name="Text Box 38">
                <a:extLst>
                  <a:ext uri="{FF2B5EF4-FFF2-40B4-BE49-F238E27FC236}">
                    <a16:creationId xmlns:a16="http://schemas.microsoft.com/office/drawing/2014/main" id="{EC0721BC-6288-4AF3-89C3-45628F236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3522" name="Text Box 39">
                <a:extLst>
                  <a:ext uri="{FF2B5EF4-FFF2-40B4-BE49-F238E27FC236}">
                    <a16:creationId xmlns:a16="http://schemas.microsoft.com/office/drawing/2014/main" id="{666BD0EB-5533-4ED6-AE28-0874D05B6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3523" name="Text Box 40">
                <a:extLst>
                  <a:ext uri="{FF2B5EF4-FFF2-40B4-BE49-F238E27FC236}">
                    <a16:creationId xmlns:a16="http://schemas.microsoft.com/office/drawing/2014/main" id="{F5B96CA2-7C3E-4036-8D96-D21997A7A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sp>
        <p:nvSpPr>
          <p:cNvPr id="58" name="Rectangle 3">
            <a:extLst>
              <a:ext uri="{FF2B5EF4-FFF2-40B4-BE49-F238E27FC236}">
                <a16:creationId xmlns:a16="http://schemas.microsoft.com/office/drawing/2014/main" id="{53E309BB-28DA-4159-B9FC-E91D8E712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38" y="2882032"/>
            <a:ext cx="4878387" cy="213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ts val="3000"/>
              </a:lnSpc>
              <a:buSzPct val="100000"/>
              <a:buFont typeface="Wingdings" charset="2"/>
              <a:buChar char="§"/>
              <a:defRPr/>
            </a:pPr>
            <a:r>
              <a:rPr lang="en-US" i="1" u="sng" dirty="0">
                <a:solidFill>
                  <a:srgbClr val="CC0000"/>
                </a:solidFill>
              </a:rPr>
              <a:t>A:</a:t>
            </a:r>
            <a:r>
              <a:rPr lang="en-US" i="1" dirty="0">
                <a:solidFill>
                  <a:srgbClr val="CC0000"/>
                </a:solidFill>
              </a:rPr>
              <a:t>  </a:t>
            </a:r>
            <a:r>
              <a:rPr lang="en-US" dirty="0"/>
              <a:t>each switch has a </a:t>
            </a:r>
            <a:r>
              <a:rPr lang="en-US" dirty="0">
                <a:solidFill>
                  <a:srgbClr val="CC0000"/>
                </a:solidFill>
              </a:rPr>
              <a:t>switch table,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each entry: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/>
              <a:t>(MAC address of host, interface to reach host, time stamp)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/>
              <a:t>looks like a routing table!</a:t>
            </a:r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A3778FB4-DF0C-4754-BEBB-4EC4E607E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5358532"/>
            <a:ext cx="5040313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ct val="75000"/>
              </a:lnSpc>
              <a:buFont typeface="Wingdings" charset="0"/>
              <a:buNone/>
              <a:defRPr/>
            </a:pPr>
            <a:r>
              <a:rPr lang="en-US" u="sng" dirty="0">
                <a:solidFill>
                  <a:srgbClr val="CC0000"/>
                </a:solidFill>
              </a:rPr>
              <a:t>Q: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/>
              <a:t>how are entries created, maintained in switch table?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/>
              <a:t>something like a routing protocol?</a:t>
            </a:r>
          </a:p>
        </p:txBody>
      </p:sp>
      <p:sp>
        <p:nvSpPr>
          <p:cNvPr id="69640" name="灯片编号占位符 5">
            <a:extLst>
              <a:ext uri="{FF2B5EF4-FFF2-40B4-BE49-F238E27FC236}">
                <a16:creationId xmlns:a16="http://schemas.microsoft.com/office/drawing/2014/main" id="{50F61130-7FD6-4076-AAFE-0C1637A0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404F1313-E1A0-4CA5-8E32-C68D78171D7E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2" name="Group 36">
            <a:extLst>
              <a:ext uri="{FF2B5EF4-FFF2-40B4-BE49-F238E27FC236}">
                <a16:creationId xmlns:a16="http://schemas.microsoft.com/office/drawing/2014/main" id="{7C61C841-A5D8-4FF1-9211-58338A2EC9BC}"/>
              </a:ext>
            </a:extLst>
          </p:cNvPr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5565" name="Text Box 23">
              <a:extLst>
                <a:ext uri="{FF2B5EF4-FFF2-40B4-BE49-F238E27FC236}">
                  <a16:creationId xmlns:a16="http://schemas.microsoft.com/office/drawing/2014/main" id="{F0773904-1596-4269-8FCB-40F28C905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66" name="Text Box 24">
              <a:extLst>
                <a:ext uri="{FF2B5EF4-FFF2-40B4-BE49-F238E27FC236}">
                  <a16:creationId xmlns:a16="http://schemas.microsoft.com/office/drawing/2014/main" id="{A1540A15-EDE4-4CA4-B3A0-DA2BB02A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7" name="Text Box 25">
              <a:extLst>
                <a:ext uri="{FF2B5EF4-FFF2-40B4-BE49-F238E27FC236}">
                  <a16:creationId xmlns:a16="http://schemas.microsoft.com/office/drawing/2014/main" id="{09D7B2B1-FAAE-44D0-BDFC-625EF2029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5568" name="Text Box 26">
              <a:extLst>
                <a:ext uri="{FF2B5EF4-FFF2-40B4-BE49-F238E27FC236}">
                  <a16:creationId xmlns:a16="http://schemas.microsoft.com/office/drawing/2014/main" id="{FBAF2FAA-5B3B-4131-9617-747140255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9" name="Text Box 27">
              <a:extLst>
                <a:ext uri="{FF2B5EF4-FFF2-40B4-BE49-F238E27FC236}">
                  <a16:creationId xmlns:a16="http://schemas.microsoft.com/office/drawing/2014/main" id="{18F57C50-F1E3-40E1-8B98-986AE8755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5570" name="Text Box 28">
              <a:extLst>
                <a:ext uri="{FF2B5EF4-FFF2-40B4-BE49-F238E27FC236}">
                  <a16:creationId xmlns:a16="http://schemas.microsoft.com/office/drawing/2014/main" id="{7633E207-328F-4F64-8E93-ACABA6144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71" name="Line 17">
              <a:extLst>
                <a:ext uri="{FF2B5EF4-FFF2-40B4-BE49-F238E27FC236}">
                  <a16:creationId xmlns:a16="http://schemas.microsoft.com/office/drawing/2014/main" id="{6A1DFA49-5A27-4A7A-AE05-C0DC40EC5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72" name="Line 18">
              <a:extLst>
                <a:ext uri="{FF2B5EF4-FFF2-40B4-BE49-F238E27FC236}">
                  <a16:creationId xmlns:a16="http://schemas.microsoft.com/office/drawing/2014/main" id="{0711EF84-BD26-4569-8C6E-79DB32119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73" name="Line 19">
              <a:extLst>
                <a:ext uri="{FF2B5EF4-FFF2-40B4-BE49-F238E27FC236}">
                  <a16:creationId xmlns:a16="http://schemas.microsoft.com/office/drawing/2014/main" id="{0D65DACF-D341-47AA-976B-79D727F71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74" name="Line 20">
              <a:extLst>
                <a:ext uri="{FF2B5EF4-FFF2-40B4-BE49-F238E27FC236}">
                  <a16:creationId xmlns:a16="http://schemas.microsoft.com/office/drawing/2014/main" id="{9F657D1A-7B74-4FEF-9183-AE5FAF3A06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grpSp>
          <p:nvGrpSpPr>
            <p:cNvPr id="71718" name="Group 47">
              <a:extLst>
                <a:ext uri="{FF2B5EF4-FFF2-40B4-BE49-F238E27FC236}">
                  <a16:creationId xmlns:a16="http://schemas.microsoft.com/office/drawing/2014/main" id="{B3A2FEE9-DA1D-4911-94B2-7BF13EF315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00" name="Rectangle 48">
                <a:extLst>
                  <a:ext uri="{FF2B5EF4-FFF2-40B4-BE49-F238E27FC236}">
                    <a16:creationId xmlns:a16="http://schemas.microsoft.com/office/drawing/2014/main" id="{6F8CAB7F-6A64-4500-A0B1-B300ABE93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grpSp>
            <p:nvGrpSpPr>
              <p:cNvPr id="71753" name="Group 49">
                <a:extLst>
                  <a:ext uri="{FF2B5EF4-FFF2-40B4-BE49-F238E27FC236}">
                    <a16:creationId xmlns:a16="http://schemas.microsoft.com/office/drawing/2014/main" id="{19863FA8-38FC-4688-8167-E44F052BBA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71754" name="Picture 50" descr="desktop_computer_stylized_medium">
                  <a:extLst>
                    <a:ext uri="{FF2B5EF4-FFF2-40B4-BE49-F238E27FC236}">
                      <a16:creationId xmlns:a16="http://schemas.microsoft.com/office/drawing/2014/main" id="{6B3488B4-B8DF-4C1B-8D25-5510908A4B4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1755" name="Freeform 51">
                  <a:extLst>
                    <a:ext uri="{FF2B5EF4-FFF2-40B4-BE49-F238E27FC236}">
                      <a16:creationId xmlns:a16="http://schemas.microsoft.com/office/drawing/2014/main" id="{8C5B1A1F-B6EB-4603-B606-705F1EC64C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1719" name="Group 48">
              <a:extLst>
                <a:ext uri="{FF2B5EF4-FFF2-40B4-BE49-F238E27FC236}">
                  <a16:creationId xmlns:a16="http://schemas.microsoft.com/office/drawing/2014/main" id="{19CC71B5-24CD-481D-8AE0-9C197688A6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71748" name="Group 44">
                <a:extLst>
                  <a:ext uri="{FF2B5EF4-FFF2-40B4-BE49-F238E27FC236}">
                    <a16:creationId xmlns:a16="http://schemas.microsoft.com/office/drawing/2014/main" id="{C8FFE92A-509E-4781-96F2-565EAAF5BA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71750" name="Picture 45" descr="desktop_computer_stylized_medium">
                  <a:extLst>
                    <a:ext uri="{FF2B5EF4-FFF2-40B4-BE49-F238E27FC236}">
                      <a16:creationId xmlns:a16="http://schemas.microsoft.com/office/drawing/2014/main" id="{CDF03368-36D5-4A3B-922B-5D12665A84D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1751" name="Freeform 46">
                  <a:extLst>
                    <a:ext uri="{FF2B5EF4-FFF2-40B4-BE49-F238E27FC236}">
                      <a16:creationId xmlns:a16="http://schemas.microsoft.com/office/drawing/2014/main" id="{D5332F1C-2B32-41AF-B9FC-D9BFBB336E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7" name="Rectangle 43">
                <a:extLst>
                  <a:ext uri="{FF2B5EF4-FFF2-40B4-BE49-F238E27FC236}">
                    <a16:creationId xmlns:a16="http://schemas.microsoft.com/office/drawing/2014/main" id="{DF46D40D-2B82-4A1F-AEC4-E60FEFE22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68" name="Rectangle 43">
              <a:extLst>
                <a:ext uri="{FF2B5EF4-FFF2-40B4-BE49-F238E27FC236}">
                  <a16:creationId xmlns:a16="http://schemas.microsoft.com/office/drawing/2014/main" id="{F86A6C37-A47D-4992-8931-C4988EBA6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71721" name="Group 44">
              <a:extLst>
                <a:ext uri="{FF2B5EF4-FFF2-40B4-BE49-F238E27FC236}">
                  <a16:creationId xmlns:a16="http://schemas.microsoft.com/office/drawing/2014/main" id="{42DD25FC-60BB-4A0A-90AF-4AAD811093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71746" name="Picture 45" descr="desktop_computer_stylized_medium">
                <a:extLst>
                  <a:ext uri="{FF2B5EF4-FFF2-40B4-BE49-F238E27FC236}">
                    <a16:creationId xmlns:a16="http://schemas.microsoft.com/office/drawing/2014/main" id="{E9BD64E0-A64B-4DB5-874D-FAEBBB7FAE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747" name="Freeform 46">
                <a:extLst>
                  <a:ext uri="{FF2B5EF4-FFF2-40B4-BE49-F238E27FC236}">
                    <a16:creationId xmlns:a16="http://schemas.microsoft.com/office/drawing/2014/main" id="{ED545DCD-F019-4E99-8917-E28CFD4120D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1722" name="Group 51">
              <a:extLst>
                <a:ext uri="{FF2B5EF4-FFF2-40B4-BE49-F238E27FC236}">
                  <a16:creationId xmlns:a16="http://schemas.microsoft.com/office/drawing/2014/main" id="{12781BA6-7EC9-46DC-970C-4C7DB51F4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90" name="Rectangle 43">
                <a:extLst>
                  <a:ext uri="{FF2B5EF4-FFF2-40B4-BE49-F238E27FC236}">
                    <a16:creationId xmlns:a16="http://schemas.microsoft.com/office/drawing/2014/main" id="{0B2272C3-87D9-42B9-96F3-0085B3415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grpSp>
            <p:nvGrpSpPr>
              <p:cNvPr id="71743" name="Group 44">
                <a:extLst>
                  <a:ext uri="{FF2B5EF4-FFF2-40B4-BE49-F238E27FC236}">
                    <a16:creationId xmlns:a16="http://schemas.microsoft.com/office/drawing/2014/main" id="{FFDC5726-1082-455F-BBB1-27DD935FE8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71744" name="Picture 45" descr="desktop_computer_stylized_medium">
                  <a:extLst>
                    <a:ext uri="{FF2B5EF4-FFF2-40B4-BE49-F238E27FC236}">
                      <a16:creationId xmlns:a16="http://schemas.microsoft.com/office/drawing/2014/main" id="{895EC5C3-4D6F-4380-8FAE-14041574564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1745" name="Freeform 46">
                  <a:extLst>
                    <a:ext uri="{FF2B5EF4-FFF2-40B4-BE49-F238E27FC236}">
                      <a16:creationId xmlns:a16="http://schemas.microsoft.com/office/drawing/2014/main" id="{6A449E04-FB08-4B3F-90D5-BF88F54BDD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65580" name="Picture 3">
              <a:extLst>
                <a:ext uri="{FF2B5EF4-FFF2-40B4-BE49-F238E27FC236}">
                  <a16:creationId xmlns:a16="http://schemas.microsoft.com/office/drawing/2014/main" id="{E024C3AC-D2B0-4FD3-A120-56AEDAA19F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71724" name="Group 53">
              <a:extLst>
                <a:ext uri="{FF2B5EF4-FFF2-40B4-BE49-F238E27FC236}">
                  <a16:creationId xmlns:a16="http://schemas.microsoft.com/office/drawing/2014/main" id="{30A23449-AE0D-426D-BF7A-062BFA5D61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86" name="Rectangle 48">
                <a:extLst>
                  <a:ext uri="{FF2B5EF4-FFF2-40B4-BE49-F238E27FC236}">
                    <a16:creationId xmlns:a16="http://schemas.microsoft.com/office/drawing/2014/main" id="{0CAF0EE0-C5CF-4A95-AF6B-35D2AAA9E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grpSp>
            <p:nvGrpSpPr>
              <p:cNvPr id="71739" name="Group 49">
                <a:extLst>
                  <a:ext uri="{FF2B5EF4-FFF2-40B4-BE49-F238E27FC236}">
                    <a16:creationId xmlns:a16="http://schemas.microsoft.com/office/drawing/2014/main" id="{3AC3490C-B9B0-476F-9F78-CB8DF7E811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71740" name="Picture 50" descr="desktop_computer_stylized_medium">
                  <a:extLst>
                    <a:ext uri="{FF2B5EF4-FFF2-40B4-BE49-F238E27FC236}">
                      <a16:creationId xmlns:a16="http://schemas.microsoft.com/office/drawing/2014/main" id="{4C795063-5404-41B3-9E39-77A665E5A36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1741" name="Freeform 51">
                  <a:extLst>
                    <a:ext uri="{FF2B5EF4-FFF2-40B4-BE49-F238E27FC236}">
                      <a16:creationId xmlns:a16="http://schemas.microsoft.com/office/drawing/2014/main" id="{09E2A0E5-BD42-4DE4-A68C-C36B39B451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1725" name="Group 54">
              <a:extLst>
                <a:ext uri="{FF2B5EF4-FFF2-40B4-BE49-F238E27FC236}">
                  <a16:creationId xmlns:a16="http://schemas.microsoft.com/office/drawing/2014/main" id="{522E9EFC-BC3D-421F-85B8-04762A0A79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71734" name="Group 44">
                <a:extLst>
                  <a:ext uri="{FF2B5EF4-FFF2-40B4-BE49-F238E27FC236}">
                    <a16:creationId xmlns:a16="http://schemas.microsoft.com/office/drawing/2014/main" id="{6BC11882-B204-412A-ACB9-0CF90BA0A2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71736" name="Picture 45" descr="desktop_computer_stylized_medium">
                  <a:extLst>
                    <a:ext uri="{FF2B5EF4-FFF2-40B4-BE49-F238E27FC236}">
                      <a16:creationId xmlns:a16="http://schemas.microsoft.com/office/drawing/2014/main" id="{BC709A99-ECA6-40F9-B00E-76C57D141FE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1737" name="Freeform 46">
                  <a:extLst>
                    <a:ext uri="{FF2B5EF4-FFF2-40B4-BE49-F238E27FC236}">
                      <a16:creationId xmlns:a16="http://schemas.microsoft.com/office/drawing/2014/main" id="{0A5A1FDB-FFAA-453C-BF84-3A207E9FA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83" name="Rectangle 43">
                <a:extLst>
                  <a:ext uri="{FF2B5EF4-FFF2-40B4-BE49-F238E27FC236}">
                    <a16:creationId xmlns:a16="http://schemas.microsoft.com/office/drawing/2014/main" id="{DDBEDB82-BD77-4489-ADDC-4B767567E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65583" name="Line 17">
              <a:extLst>
                <a:ext uri="{FF2B5EF4-FFF2-40B4-BE49-F238E27FC236}">
                  <a16:creationId xmlns:a16="http://schemas.microsoft.com/office/drawing/2014/main" id="{DD21B7A4-AAE7-49A5-98EE-2575061006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84" name="Line 19">
              <a:extLst>
                <a:ext uri="{FF2B5EF4-FFF2-40B4-BE49-F238E27FC236}">
                  <a16:creationId xmlns:a16="http://schemas.microsoft.com/office/drawing/2014/main" id="{E242BA3E-162B-4CFB-B0BA-1DB2F8FA3B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85" name="Text Box 35">
              <a:extLst>
                <a:ext uri="{FF2B5EF4-FFF2-40B4-BE49-F238E27FC236}">
                  <a16:creationId xmlns:a16="http://schemas.microsoft.com/office/drawing/2014/main" id="{CB085169-F063-4F2D-A658-5637C5503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86" name="Text Box 36">
              <a:extLst>
                <a:ext uri="{FF2B5EF4-FFF2-40B4-BE49-F238E27FC236}">
                  <a16:creationId xmlns:a16="http://schemas.microsoft.com/office/drawing/2014/main" id="{24681D25-EFBA-4DFD-B5D7-7ACD18037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5587" name="Text Box 37">
              <a:extLst>
                <a:ext uri="{FF2B5EF4-FFF2-40B4-BE49-F238E27FC236}">
                  <a16:creationId xmlns:a16="http://schemas.microsoft.com/office/drawing/2014/main" id="{E94B6088-0229-4E91-A534-4BE9D3F56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5588" name="Text Box 38">
              <a:extLst>
                <a:ext uri="{FF2B5EF4-FFF2-40B4-BE49-F238E27FC236}">
                  <a16:creationId xmlns:a16="http://schemas.microsoft.com/office/drawing/2014/main" id="{82A37041-3719-455D-A200-5362F682A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5589" name="Text Box 39">
              <a:extLst>
                <a:ext uri="{FF2B5EF4-FFF2-40B4-BE49-F238E27FC236}">
                  <a16:creationId xmlns:a16="http://schemas.microsoft.com/office/drawing/2014/main" id="{6042CA16-5266-41BA-AA54-AC646D204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5590" name="Text Box 40">
              <a:extLst>
                <a:ext uri="{FF2B5EF4-FFF2-40B4-BE49-F238E27FC236}">
                  <a16:creationId xmlns:a16="http://schemas.microsoft.com/office/drawing/2014/main" id="{7C2EAC09-8090-449A-AE18-BD0741C04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71683" name="Rectangle 2">
            <a:extLst>
              <a:ext uri="{FF2B5EF4-FFF2-40B4-BE49-F238E27FC236}">
                <a16:creationId xmlns:a16="http://schemas.microsoft.com/office/drawing/2014/main" id="{4FDBDDA1-D9FF-4550-AAB8-61386F5C8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87313"/>
            <a:ext cx="7772400" cy="1143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Switch: self-learning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1E435E64-D82C-4A30-A76B-5048F2ADD1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3935412" cy="4114800"/>
          </a:xfrm>
        </p:spPr>
        <p:txBody>
          <a:bodyPr/>
          <a:lstStyle/>
          <a:p>
            <a:pPr marL="231775" indent="-231775"/>
            <a:r>
              <a:rPr lang="en-US" altLang="zh-CN" sz="2400">
                <a:ea typeface="宋体" panose="02010600030101010101" pitchFamily="2" charset="-122"/>
              </a:rPr>
              <a:t>switch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i="1">
                <a:solidFill>
                  <a:srgbClr val="CC0000"/>
                </a:solidFill>
                <a:ea typeface="宋体" panose="02010600030101010101" pitchFamily="2" charset="-122"/>
              </a:rPr>
              <a:t>learns</a:t>
            </a:r>
            <a:r>
              <a:rPr lang="en-US" altLang="zh-CN" sz="240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which hosts can be reached through which interfaces</a:t>
            </a:r>
          </a:p>
          <a:p>
            <a:pPr marL="681038" lvl="1" indent="-223838"/>
            <a:r>
              <a:rPr lang="en-US" altLang="zh-CN">
                <a:ea typeface="宋体" panose="02010600030101010101" pitchFamily="2" charset="-122"/>
              </a:rPr>
              <a:t>when frame received, switch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zh-CN">
                <a:ea typeface="宋体" panose="02010600030101010101" pitchFamily="2" charset="-122"/>
              </a:rPr>
              <a:t>learns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zh-CN">
                <a:ea typeface="宋体" panose="02010600030101010101" pitchFamily="2" charset="-122"/>
              </a:rPr>
              <a:t>  location of sender: incoming LAN segment</a:t>
            </a:r>
          </a:p>
          <a:p>
            <a:pPr marL="681038" lvl="1" indent="-223838"/>
            <a:r>
              <a:rPr lang="en-US" altLang="zh-CN">
                <a:ea typeface="宋体" panose="02010600030101010101" pitchFamily="2" charset="-122"/>
              </a:rPr>
              <a:t>records sender/location pair in switch table</a:t>
            </a:r>
          </a:p>
        </p:txBody>
      </p:sp>
      <p:grpSp>
        <p:nvGrpSpPr>
          <p:cNvPr id="420900" name="Group 36">
            <a:extLst>
              <a:ext uri="{FF2B5EF4-FFF2-40B4-BE49-F238E27FC236}">
                <a16:creationId xmlns:a16="http://schemas.microsoft.com/office/drawing/2014/main" id="{E7B54FB7-AAAB-4005-A15D-EFAC7F631015}"/>
              </a:ext>
            </a:extLst>
          </p:cNvPr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5561" name="Rectangle 32">
              <a:extLst>
                <a:ext uri="{FF2B5EF4-FFF2-40B4-BE49-F238E27FC236}">
                  <a16:creationId xmlns:a16="http://schemas.microsoft.com/office/drawing/2014/main" id="{7764972B-0DCA-4000-B60B-5AA1F73FD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5562" name="Text Box 33">
              <a:extLst>
                <a:ext uri="{FF2B5EF4-FFF2-40B4-BE49-F238E27FC236}">
                  <a16:creationId xmlns:a16="http://schemas.microsoft.com/office/drawing/2014/main" id="{7D993DDC-C73F-43F7-9FEE-757D5C121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3" name="Line 34">
              <a:extLst>
                <a:ext uri="{FF2B5EF4-FFF2-40B4-BE49-F238E27FC236}">
                  <a16:creationId xmlns:a16="http://schemas.microsoft.com/office/drawing/2014/main" id="{CDF6CEA6-3638-4287-ACBE-C0BEE53430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64" name="Line 35">
              <a:extLst>
                <a:ext uri="{FF2B5EF4-FFF2-40B4-BE49-F238E27FC236}">
                  <a16:creationId xmlns:a16="http://schemas.microsoft.com/office/drawing/2014/main" id="{5B4AB878-B5B5-41B6-B9C2-1D6A0806C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grpSp>
        <p:nvGrpSpPr>
          <p:cNvPr id="420905" name="Group 41">
            <a:extLst>
              <a:ext uri="{FF2B5EF4-FFF2-40B4-BE49-F238E27FC236}">
                <a16:creationId xmlns:a16="http://schemas.microsoft.com/office/drawing/2014/main" id="{5E0B14E2-027E-43D5-B750-EF44A97DBFB3}"/>
              </a:ext>
            </a:extLst>
          </p:cNvPr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5557" name="Line 37">
              <a:extLst>
                <a:ext uri="{FF2B5EF4-FFF2-40B4-BE49-F238E27FC236}">
                  <a16:creationId xmlns:a16="http://schemas.microsoft.com/office/drawing/2014/main" id="{B9DA4388-7DEB-4DB8-B45F-97D1F005E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58" name="Line 38">
              <a:extLst>
                <a:ext uri="{FF2B5EF4-FFF2-40B4-BE49-F238E27FC236}">
                  <a16:creationId xmlns:a16="http://schemas.microsoft.com/office/drawing/2014/main" id="{453B1F62-3240-4215-B299-97576AEEDB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59" name="Text Box 39">
              <a:extLst>
                <a:ext uri="{FF2B5EF4-FFF2-40B4-BE49-F238E27FC236}">
                  <a16:creationId xmlns:a16="http://schemas.microsoft.com/office/drawing/2014/main" id="{E983E39A-F866-4822-89F3-CBB602697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5560" name="Text Box 40">
              <a:extLst>
                <a:ext uri="{FF2B5EF4-FFF2-40B4-BE49-F238E27FC236}">
                  <a16:creationId xmlns:a16="http://schemas.microsoft.com/office/drawing/2014/main" id="{57D7703F-9655-40CA-9AFC-0508BA3B8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420911" name="Group 47">
            <a:extLst>
              <a:ext uri="{FF2B5EF4-FFF2-40B4-BE49-F238E27FC236}">
                <a16:creationId xmlns:a16="http://schemas.microsoft.com/office/drawing/2014/main" id="{82AD092D-604C-4E99-9326-FE6DFCBAA581}"/>
              </a:ext>
            </a:extLst>
          </p:cNvPr>
          <p:cNvGrpSpPr>
            <a:grpSpLocks/>
          </p:cNvGrpSpPr>
          <p:nvPr/>
        </p:nvGrpSpPr>
        <p:grpSpPr bwMode="auto">
          <a:xfrm>
            <a:off x="4095750" y="4937125"/>
            <a:ext cx="3017838" cy="1444625"/>
            <a:chOff x="3441" y="3154"/>
            <a:chExt cx="1901" cy="910"/>
          </a:xfrm>
        </p:grpSpPr>
        <p:sp>
          <p:nvSpPr>
            <p:cNvPr id="65552" name="Rectangle 43">
              <a:extLst>
                <a:ext uri="{FF2B5EF4-FFF2-40B4-BE49-F238E27FC236}">
                  <a16:creationId xmlns:a16="http://schemas.microsoft.com/office/drawing/2014/main" id="{C6C818F3-FB2A-4AC9-BC0B-47BEFC407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5553" name="Text Box 42">
              <a:extLst>
                <a:ext uri="{FF2B5EF4-FFF2-40B4-BE49-F238E27FC236}">
                  <a16:creationId xmlns:a16="http://schemas.microsoft.com/office/drawing/2014/main" id="{212011C6-CDAE-4F4F-BB07-0F32B32C9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5554" name="Line 44">
              <a:extLst>
                <a:ext uri="{FF2B5EF4-FFF2-40B4-BE49-F238E27FC236}">
                  <a16:creationId xmlns:a16="http://schemas.microsoft.com/office/drawing/2014/main" id="{2D3A12A4-C971-4B15-AB06-9719153FF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55" name="Line 45">
              <a:extLst>
                <a:ext uri="{FF2B5EF4-FFF2-40B4-BE49-F238E27FC236}">
                  <a16:creationId xmlns:a16="http://schemas.microsoft.com/office/drawing/2014/main" id="{20DC9A7F-6822-4807-9D41-33C09581B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5556" name="Line 46">
              <a:extLst>
                <a:ext uri="{FF2B5EF4-FFF2-40B4-BE49-F238E27FC236}">
                  <a16:creationId xmlns:a16="http://schemas.microsoft.com/office/drawing/2014/main" id="{D7D74179-AE27-449B-A27E-CD7383D41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20912" name="Text Box 48">
            <a:extLst>
              <a:ext uri="{FF2B5EF4-FFF2-40B4-BE49-F238E27FC236}">
                <a16:creationId xmlns:a16="http://schemas.microsoft.com/office/drawing/2014/main" id="{1EEE28E0-0EB5-495D-BCEE-4F598715C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5326063"/>
            <a:ext cx="17240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420917" name="Group 53">
            <a:extLst>
              <a:ext uri="{FF2B5EF4-FFF2-40B4-BE49-F238E27FC236}">
                <a16:creationId xmlns:a16="http://schemas.microsoft.com/office/drawing/2014/main" id="{6D1FB0BF-FE72-4497-B81E-C3154678281F}"/>
              </a:ext>
            </a:extLst>
          </p:cNvPr>
          <p:cNvGrpSpPr>
            <a:grpSpLocks/>
          </p:cNvGrpSpPr>
          <p:nvPr/>
        </p:nvGrpSpPr>
        <p:grpSpPr bwMode="auto">
          <a:xfrm>
            <a:off x="4549775" y="5400675"/>
            <a:ext cx="2471738" cy="376238"/>
            <a:chOff x="2376" y="3383"/>
            <a:chExt cx="1557" cy="237"/>
          </a:xfrm>
        </p:grpSpPr>
        <p:sp>
          <p:nvSpPr>
            <p:cNvPr id="65549" name="Text Box 49">
              <a:extLst>
                <a:ext uri="{FF2B5EF4-FFF2-40B4-BE49-F238E27FC236}">
                  <a16:creationId xmlns:a16="http://schemas.microsoft.com/office/drawing/2014/main" id="{5670D192-399E-44A5-BB6E-ACFD2203D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50" name="Text Box 50">
              <a:extLst>
                <a:ext uri="{FF2B5EF4-FFF2-40B4-BE49-F238E27FC236}">
                  <a16:creationId xmlns:a16="http://schemas.microsoft.com/office/drawing/2014/main" id="{040ED923-853E-4185-A305-AD393FF61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51" name="Text Box 51">
              <a:extLst>
                <a:ext uri="{FF2B5EF4-FFF2-40B4-BE49-F238E27FC236}">
                  <a16:creationId xmlns:a16="http://schemas.microsoft.com/office/drawing/2014/main" id="{0DB90C23-8DA9-4040-86B9-0EF2B12AF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71691" name="灯片编号占位符 5">
            <a:extLst>
              <a:ext uri="{FF2B5EF4-FFF2-40B4-BE49-F238E27FC236}">
                <a16:creationId xmlns:a16="http://schemas.microsoft.com/office/drawing/2014/main" id="{54F6CB81-A627-4BB6-B63A-FFDD52B5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FD12470A-F453-41C0-843C-11C411A6077B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D7178EC5-34D4-473B-944E-E5618D5B6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9588" y="0"/>
            <a:ext cx="7772400" cy="11430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Switch: frame filtering/forwarding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CE2E8DE2-31A1-4BD7-A581-3CBBEFE6D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0238" y="1370013"/>
            <a:ext cx="8201025" cy="50958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when  frame received at switch:</a:t>
            </a:r>
            <a:br>
              <a:rPr lang="en-US" altLang="zh-CN" sz="2000">
                <a:ea typeface="宋体" panose="02010600030101010101" pitchFamily="2" charset="-122"/>
              </a:rPr>
            </a:br>
            <a:endParaRPr lang="en-US" altLang="zh-CN" sz="200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1. record incoming link, MAC address of sending host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2. index switch table using MAC destination address</a:t>
            </a:r>
            <a:endParaRPr lang="en-US" altLang="zh-CN" sz="2000" b="1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99"/>
                </a:solidFill>
                <a:ea typeface="宋体" panose="02010600030101010101" pitchFamily="2" charset="-122"/>
              </a:rPr>
              <a:t>3. if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entry found for destination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  </a:t>
            </a:r>
            <a:r>
              <a:rPr lang="en-US" altLang="zh-CN" sz="2000">
                <a:solidFill>
                  <a:srgbClr val="000099"/>
                </a:solidFill>
                <a:ea typeface="宋体" panose="02010600030101010101" pitchFamily="2" charset="-122"/>
              </a:rPr>
              <a:t>then {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2000">
                <a:solidFill>
                  <a:srgbClr val="000099"/>
                </a:solidFill>
                <a:ea typeface="宋体" panose="02010600030101010101" pitchFamily="2" charset="-122"/>
              </a:rPr>
              <a:t>if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destination on segment from which frame arrived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       </a:t>
            </a:r>
            <a:r>
              <a:rPr lang="en-US" altLang="zh-CN" sz="2000">
                <a:solidFill>
                  <a:srgbClr val="000099"/>
                </a:solidFill>
                <a:ea typeface="宋体" panose="02010600030101010101" pitchFamily="2" charset="-122"/>
              </a:rPr>
              <a:t>then</a:t>
            </a:r>
            <a:r>
              <a:rPr lang="en-US" altLang="zh-CN" sz="2000">
                <a:ea typeface="宋体" panose="02010600030101010101" pitchFamily="2" charset="-122"/>
              </a:rPr>
              <a:t> drop frame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        </a:t>
            </a:r>
            <a:r>
              <a:rPr lang="en-US" altLang="zh-CN" sz="2000">
                <a:solidFill>
                  <a:srgbClr val="000099"/>
                </a:solidFill>
                <a:ea typeface="宋体" panose="02010600030101010101" pitchFamily="2" charset="-122"/>
              </a:rPr>
              <a:t>else</a:t>
            </a:r>
            <a:r>
              <a:rPr lang="en-US" altLang="zh-CN" sz="2000">
                <a:ea typeface="宋体" panose="02010600030101010101" pitchFamily="2" charset="-122"/>
              </a:rPr>
              <a:t> forward frame on interface indicated by entry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 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>
                <a:solidFill>
                  <a:srgbClr val="000099"/>
                </a:solidFill>
                <a:ea typeface="宋体" panose="02010600030101010101" pitchFamily="2" charset="-122"/>
              </a:rPr>
              <a:t>}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   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   </a:t>
            </a:r>
            <a:r>
              <a:rPr lang="en-US" altLang="zh-CN" sz="2000">
                <a:solidFill>
                  <a:srgbClr val="000099"/>
                </a:solidFill>
                <a:ea typeface="宋体" panose="02010600030101010101" pitchFamily="2" charset="-122"/>
              </a:rPr>
              <a:t>else</a:t>
            </a:r>
            <a:r>
              <a:rPr lang="en-US" altLang="zh-CN" sz="2000">
                <a:ea typeface="宋体" panose="02010600030101010101" pitchFamily="2" charset="-122"/>
              </a:rPr>
              <a:t> flood  /* forward on all interfaces except arriving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                       interface */</a:t>
            </a:r>
          </a:p>
          <a:p>
            <a:pPr lvl="3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73733" name="灯片编号占位符 5">
            <a:extLst>
              <a:ext uri="{FF2B5EF4-FFF2-40B4-BE49-F238E27FC236}">
                <a16:creationId xmlns:a16="http://schemas.microsoft.com/office/drawing/2014/main" id="{32718F84-BDA4-48E5-B4F6-D37E9872A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5201F941-61BE-4506-AC69-06BD09CA37D2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78" name="Group 36">
            <a:extLst>
              <a:ext uri="{FF2B5EF4-FFF2-40B4-BE49-F238E27FC236}">
                <a16:creationId xmlns:a16="http://schemas.microsoft.com/office/drawing/2014/main" id="{AFE3B851-BCD3-4188-82BE-822F294D51B6}"/>
              </a:ext>
            </a:extLst>
          </p:cNvPr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7650" name="Text Box 23">
              <a:extLst>
                <a:ext uri="{FF2B5EF4-FFF2-40B4-BE49-F238E27FC236}">
                  <a16:creationId xmlns:a16="http://schemas.microsoft.com/office/drawing/2014/main" id="{B137E43B-0654-42B5-BFEC-6E5279735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51" name="Text Box 24">
              <a:extLst>
                <a:ext uri="{FF2B5EF4-FFF2-40B4-BE49-F238E27FC236}">
                  <a16:creationId xmlns:a16="http://schemas.microsoft.com/office/drawing/2014/main" id="{B7BD13EE-145C-44AA-A84C-6C4D79816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2" name="Text Box 25">
              <a:extLst>
                <a:ext uri="{FF2B5EF4-FFF2-40B4-BE49-F238E27FC236}">
                  <a16:creationId xmlns:a16="http://schemas.microsoft.com/office/drawing/2014/main" id="{20F7CDB7-21CB-4DBE-B907-72EECD308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7653" name="Text Box 26">
              <a:extLst>
                <a:ext uri="{FF2B5EF4-FFF2-40B4-BE49-F238E27FC236}">
                  <a16:creationId xmlns:a16="http://schemas.microsoft.com/office/drawing/2014/main" id="{038A89A3-FCC8-418E-B09C-2A838EF6D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4" name="Text Box 27">
              <a:extLst>
                <a:ext uri="{FF2B5EF4-FFF2-40B4-BE49-F238E27FC236}">
                  <a16:creationId xmlns:a16="http://schemas.microsoft.com/office/drawing/2014/main" id="{E718AB59-1188-4E80-9440-DC85FE63E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7655" name="Text Box 28">
              <a:extLst>
                <a:ext uri="{FF2B5EF4-FFF2-40B4-BE49-F238E27FC236}">
                  <a16:creationId xmlns:a16="http://schemas.microsoft.com/office/drawing/2014/main" id="{D67DCB48-A5EC-44F6-B60D-66BA98A8E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6" name="Line 17">
              <a:extLst>
                <a:ext uri="{FF2B5EF4-FFF2-40B4-BE49-F238E27FC236}">
                  <a16:creationId xmlns:a16="http://schemas.microsoft.com/office/drawing/2014/main" id="{65974DC7-3B2A-4DAD-BDC0-34856DA91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57" name="Line 18">
              <a:extLst>
                <a:ext uri="{FF2B5EF4-FFF2-40B4-BE49-F238E27FC236}">
                  <a16:creationId xmlns:a16="http://schemas.microsoft.com/office/drawing/2014/main" id="{2BEF96E6-A90E-4A1D-B68E-1BB6A4AE2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58" name="Line 19">
              <a:extLst>
                <a:ext uri="{FF2B5EF4-FFF2-40B4-BE49-F238E27FC236}">
                  <a16:creationId xmlns:a16="http://schemas.microsoft.com/office/drawing/2014/main" id="{77511159-71C1-4DE2-AB2D-C30C0863E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59" name="Line 20">
              <a:extLst>
                <a:ext uri="{FF2B5EF4-FFF2-40B4-BE49-F238E27FC236}">
                  <a16:creationId xmlns:a16="http://schemas.microsoft.com/office/drawing/2014/main" id="{B1256359-F235-4EC6-8C5E-C2DC00989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grpSp>
          <p:nvGrpSpPr>
            <p:cNvPr id="75851" name="Group 47">
              <a:extLst>
                <a:ext uri="{FF2B5EF4-FFF2-40B4-BE49-F238E27FC236}">
                  <a16:creationId xmlns:a16="http://schemas.microsoft.com/office/drawing/2014/main" id="{C94406EC-E274-48AB-8C72-F3FB2F4DAC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86" name="Rectangle 48">
                <a:extLst>
                  <a:ext uri="{FF2B5EF4-FFF2-40B4-BE49-F238E27FC236}">
                    <a16:creationId xmlns:a16="http://schemas.microsoft.com/office/drawing/2014/main" id="{F85FDB9A-9D15-49E3-B12A-E59D5E16F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grpSp>
            <p:nvGrpSpPr>
              <p:cNvPr id="75886" name="Group 49">
                <a:extLst>
                  <a:ext uri="{FF2B5EF4-FFF2-40B4-BE49-F238E27FC236}">
                    <a16:creationId xmlns:a16="http://schemas.microsoft.com/office/drawing/2014/main" id="{D887454F-5333-401D-847D-73BB81F3BE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75887" name="Picture 50" descr="desktop_computer_stylized_medium">
                  <a:extLst>
                    <a:ext uri="{FF2B5EF4-FFF2-40B4-BE49-F238E27FC236}">
                      <a16:creationId xmlns:a16="http://schemas.microsoft.com/office/drawing/2014/main" id="{82A62B59-AE79-41DD-8E13-09B3EB2A8EA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888" name="Freeform 51">
                  <a:extLst>
                    <a:ext uri="{FF2B5EF4-FFF2-40B4-BE49-F238E27FC236}">
                      <a16:creationId xmlns:a16="http://schemas.microsoft.com/office/drawing/2014/main" id="{E024A1BA-D929-49D7-9353-64DC444EF1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5852" name="Group 48">
              <a:extLst>
                <a:ext uri="{FF2B5EF4-FFF2-40B4-BE49-F238E27FC236}">
                  <a16:creationId xmlns:a16="http://schemas.microsoft.com/office/drawing/2014/main" id="{E03630AD-BCFF-4241-9EA3-5EAEE07A84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75881" name="Group 44">
                <a:extLst>
                  <a:ext uri="{FF2B5EF4-FFF2-40B4-BE49-F238E27FC236}">
                    <a16:creationId xmlns:a16="http://schemas.microsoft.com/office/drawing/2014/main" id="{B3A4E097-3D16-4B46-B5A6-E3F5E21D52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75883" name="Picture 45" descr="desktop_computer_stylized_medium">
                  <a:extLst>
                    <a:ext uri="{FF2B5EF4-FFF2-40B4-BE49-F238E27FC236}">
                      <a16:creationId xmlns:a16="http://schemas.microsoft.com/office/drawing/2014/main" id="{FFB7DF84-BC09-4DB2-82B1-40B93030456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884" name="Freeform 46">
                  <a:extLst>
                    <a:ext uri="{FF2B5EF4-FFF2-40B4-BE49-F238E27FC236}">
                      <a16:creationId xmlns:a16="http://schemas.microsoft.com/office/drawing/2014/main" id="{D1C8F168-64EF-4761-B479-597FED6137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83" name="Rectangle 43">
                <a:extLst>
                  <a:ext uri="{FF2B5EF4-FFF2-40B4-BE49-F238E27FC236}">
                    <a16:creationId xmlns:a16="http://schemas.microsoft.com/office/drawing/2014/main" id="{4200DDD0-6764-4FEB-8216-53245DE7D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154" name="Rectangle 43">
              <a:extLst>
                <a:ext uri="{FF2B5EF4-FFF2-40B4-BE49-F238E27FC236}">
                  <a16:creationId xmlns:a16="http://schemas.microsoft.com/office/drawing/2014/main" id="{59B9AE9E-8B5C-492E-ADC1-8DC92C928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75854" name="Group 44">
              <a:extLst>
                <a:ext uri="{FF2B5EF4-FFF2-40B4-BE49-F238E27FC236}">
                  <a16:creationId xmlns:a16="http://schemas.microsoft.com/office/drawing/2014/main" id="{A3132D4F-FBB3-40FB-B5F5-0FB6C86F12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75879" name="Picture 45" descr="desktop_computer_stylized_medium">
                <a:extLst>
                  <a:ext uri="{FF2B5EF4-FFF2-40B4-BE49-F238E27FC236}">
                    <a16:creationId xmlns:a16="http://schemas.microsoft.com/office/drawing/2014/main" id="{F083D32D-61C8-419B-A6A5-3BAD493249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880" name="Freeform 46">
                <a:extLst>
                  <a:ext uri="{FF2B5EF4-FFF2-40B4-BE49-F238E27FC236}">
                    <a16:creationId xmlns:a16="http://schemas.microsoft.com/office/drawing/2014/main" id="{3D16D7D6-FB3B-43E2-A4B6-94DA7328B2A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5855" name="Group 51">
              <a:extLst>
                <a:ext uri="{FF2B5EF4-FFF2-40B4-BE49-F238E27FC236}">
                  <a16:creationId xmlns:a16="http://schemas.microsoft.com/office/drawing/2014/main" id="{9C1FBB8D-FE05-4547-97AD-7161E0F6A3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176" name="Rectangle 43">
                <a:extLst>
                  <a:ext uri="{FF2B5EF4-FFF2-40B4-BE49-F238E27FC236}">
                    <a16:creationId xmlns:a16="http://schemas.microsoft.com/office/drawing/2014/main" id="{03A6538D-8FB6-4E15-8178-E32CAAEB0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grpSp>
            <p:nvGrpSpPr>
              <p:cNvPr id="75876" name="Group 44">
                <a:extLst>
                  <a:ext uri="{FF2B5EF4-FFF2-40B4-BE49-F238E27FC236}">
                    <a16:creationId xmlns:a16="http://schemas.microsoft.com/office/drawing/2014/main" id="{28039DFC-CF90-4E71-B28C-EF717F7CFC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75877" name="Picture 45" descr="desktop_computer_stylized_medium">
                  <a:extLst>
                    <a:ext uri="{FF2B5EF4-FFF2-40B4-BE49-F238E27FC236}">
                      <a16:creationId xmlns:a16="http://schemas.microsoft.com/office/drawing/2014/main" id="{0D15769B-8089-4961-9343-C556EDF298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878" name="Freeform 46">
                  <a:extLst>
                    <a:ext uri="{FF2B5EF4-FFF2-40B4-BE49-F238E27FC236}">
                      <a16:creationId xmlns:a16="http://schemas.microsoft.com/office/drawing/2014/main" id="{85AF5D74-F852-4225-AAAF-B21142664E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67665" name="Picture 3">
              <a:extLst>
                <a:ext uri="{FF2B5EF4-FFF2-40B4-BE49-F238E27FC236}">
                  <a16:creationId xmlns:a16="http://schemas.microsoft.com/office/drawing/2014/main" id="{3B20FAF7-F9DC-4D0F-8861-E36BE64203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75857" name="Group 53">
              <a:extLst>
                <a:ext uri="{FF2B5EF4-FFF2-40B4-BE49-F238E27FC236}">
                  <a16:creationId xmlns:a16="http://schemas.microsoft.com/office/drawing/2014/main" id="{6D35AE2F-30AD-474B-B813-6CC99263C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172" name="Rectangle 48">
                <a:extLst>
                  <a:ext uri="{FF2B5EF4-FFF2-40B4-BE49-F238E27FC236}">
                    <a16:creationId xmlns:a16="http://schemas.microsoft.com/office/drawing/2014/main" id="{EFC48B08-02D9-4677-AC45-9A1B2F80E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grpSp>
            <p:nvGrpSpPr>
              <p:cNvPr id="75872" name="Group 49">
                <a:extLst>
                  <a:ext uri="{FF2B5EF4-FFF2-40B4-BE49-F238E27FC236}">
                    <a16:creationId xmlns:a16="http://schemas.microsoft.com/office/drawing/2014/main" id="{95C343BF-1DDA-46D1-8A7B-17CA1BD952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75873" name="Picture 50" descr="desktop_computer_stylized_medium">
                  <a:extLst>
                    <a:ext uri="{FF2B5EF4-FFF2-40B4-BE49-F238E27FC236}">
                      <a16:creationId xmlns:a16="http://schemas.microsoft.com/office/drawing/2014/main" id="{10AFB5A4-FA35-4737-B5B9-9A569A7057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874" name="Freeform 51">
                  <a:extLst>
                    <a:ext uri="{FF2B5EF4-FFF2-40B4-BE49-F238E27FC236}">
                      <a16:creationId xmlns:a16="http://schemas.microsoft.com/office/drawing/2014/main" id="{3370EF8A-EAA3-4D8F-BFE9-634FA0C00A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5858" name="Group 54">
              <a:extLst>
                <a:ext uri="{FF2B5EF4-FFF2-40B4-BE49-F238E27FC236}">
                  <a16:creationId xmlns:a16="http://schemas.microsoft.com/office/drawing/2014/main" id="{4B54B368-A79A-47C7-90D0-E4C30102E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75867" name="Group 44">
                <a:extLst>
                  <a:ext uri="{FF2B5EF4-FFF2-40B4-BE49-F238E27FC236}">
                    <a16:creationId xmlns:a16="http://schemas.microsoft.com/office/drawing/2014/main" id="{803FD9C9-706A-4540-BDC3-0C3319FDBB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75869" name="Picture 45" descr="desktop_computer_stylized_medium">
                  <a:extLst>
                    <a:ext uri="{FF2B5EF4-FFF2-40B4-BE49-F238E27FC236}">
                      <a16:creationId xmlns:a16="http://schemas.microsoft.com/office/drawing/2014/main" id="{9842DC34-7A42-471A-AA76-EB00BB6CE1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870" name="Freeform 46">
                  <a:extLst>
                    <a:ext uri="{FF2B5EF4-FFF2-40B4-BE49-F238E27FC236}">
                      <a16:creationId xmlns:a16="http://schemas.microsoft.com/office/drawing/2014/main" id="{DDD97B27-E5F9-4611-A8AA-C71B18C22A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0045 w 356"/>
                    <a:gd name="T3" fmla="*/ 645 h 368"/>
                    <a:gd name="T4" fmla="*/ 11917 w 356"/>
                    <a:gd name="T5" fmla="*/ 13448 h 368"/>
                    <a:gd name="T6" fmla="*/ 2626 w 356"/>
                    <a:gd name="T7" fmla="*/ 1681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69" name="Rectangle 43">
                <a:extLst>
                  <a:ext uri="{FF2B5EF4-FFF2-40B4-BE49-F238E27FC236}">
                    <a16:creationId xmlns:a16="http://schemas.microsoft.com/office/drawing/2014/main" id="{F5A2E992-4302-4684-B0BA-4B44432C2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67668" name="Line 17">
              <a:extLst>
                <a:ext uri="{FF2B5EF4-FFF2-40B4-BE49-F238E27FC236}">
                  <a16:creationId xmlns:a16="http://schemas.microsoft.com/office/drawing/2014/main" id="{38E6A6B0-C074-47DB-A122-1F7F63E5E8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69" name="Line 19">
              <a:extLst>
                <a:ext uri="{FF2B5EF4-FFF2-40B4-BE49-F238E27FC236}">
                  <a16:creationId xmlns:a16="http://schemas.microsoft.com/office/drawing/2014/main" id="{205566FD-23DB-4034-BD86-F062B5224C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70" name="Text Box 35">
              <a:extLst>
                <a:ext uri="{FF2B5EF4-FFF2-40B4-BE49-F238E27FC236}">
                  <a16:creationId xmlns:a16="http://schemas.microsoft.com/office/drawing/2014/main" id="{E48D8EE4-F56C-47DD-B918-435D05B7A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71" name="Text Box 36">
              <a:extLst>
                <a:ext uri="{FF2B5EF4-FFF2-40B4-BE49-F238E27FC236}">
                  <a16:creationId xmlns:a16="http://schemas.microsoft.com/office/drawing/2014/main" id="{31B29DE3-51A4-420D-B4B9-B938932D8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7672" name="Text Box 37">
              <a:extLst>
                <a:ext uri="{FF2B5EF4-FFF2-40B4-BE49-F238E27FC236}">
                  <a16:creationId xmlns:a16="http://schemas.microsoft.com/office/drawing/2014/main" id="{8CB6B408-EE20-4F0B-90AD-26AB52EC0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7673" name="Text Box 38">
              <a:extLst>
                <a:ext uri="{FF2B5EF4-FFF2-40B4-BE49-F238E27FC236}">
                  <a16:creationId xmlns:a16="http://schemas.microsoft.com/office/drawing/2014/main" id="{16842D90-A9FB-45F4-9471-161BA4727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74" name="Text Box 39">
              <a:extLst>
                <a:ext uri="{FF2B5EF4-FFF2-40B4-BE49-F238E27FC236}">
                  <a16:creationId xmlns:a16="http://schemas.microsoft.com/office/drawing/2014/main" id="{AA1273EA-3F0B-4F1F-85C3-08D1DB9D1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7675" name="Text Box 40">
              <a:extLst>
                <a:ext uri="{FF2B5EF4-FFF2-40B4-BE49-F238E27FC236}">
                  <a16:creationId xmlns:a16="http://schemas.microsoft.com/office/drawing/2014/main" id="{2F91EF6D-AE6F-4F02-A2E2-E6DF34A09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F85091D-2D70-478C-AC45-78BC419BC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7325" y="141288"/>
            <a:ext cx="7508875" cy="1143000"/>
          </a:xfrm>
        </p:spPr>
        <p:txBody>
          <a:bodyPr/>
          <a:lstStyle/>
          <a:p>
            <a:r>
              <a:rPr lang="en-US" altLang="zh-CN" sz="3200">
                <a:ea typeface="宋体" panose="02010600030101010101" pitchFamily="2" charset="-122"/>
              </a:rPr>
              <a:t>Self-learning, forwarding: example</a:t>
            </a:r>
          </a:p>
        </p:txBody>
      </p:sp>
      <p:grpSp>
        <p:nvGrpSpPr>
          <p:cNvPr id="685088" name="Group 32">
            <a:extLst>
              <a:ext uri="{FF2B5EF4-FFF2-40B4-BE49-F238E27FC236}">
                <a16:creationId xmlns:a16="http://schemas.microsoft.com/office/drawing/2014/main" id="{3680CB91-EC19-4627-BA8E-821C6216565C}"/>
              </a:ext>
            </a:extLst>
          </p:cNvPr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7646" name="Rectangle 33">
              <a:extLst>
                <a:ext uri="{FF2B5EF4-FFF2-40B4-BE49-F238E27FC236}">
                  <a16:creationId xmlns:a16="http://schemas.microsoft.com/office/drawing/2014/main" id="{09FB4276-A58A-46B6-B914-CF369A0DB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7647" name="Text Box 34">
              <a:extLst>
                <a:ext uri="{FF2B5EF4-FFF2-40B4-BE49-F238E27FC236}">
                  <a16:creationId xmlns:a16="http://schemas.microsoft.com/office/drawing/2014/main" id="{555F7007-41CA-421B-8D0E-205A51673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48" name="Line 35">
              <a:extLst>
                <a:ext uri="{FF2B5EF4-FFF2-40B4-BE49-F238E27FC236}">
                  <a16:creationId xmlns:a16="http://schemas.microsoft.com/office/drawing/2014/main" id="{DD03F1F2-3498-46E2-B190-659A79841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49" name="Line 36">
              <a:extLst>
                <a:ext uri="{FF2B5EF4-FFF2-40B4-BE49-F238E27FC236}">
                  <a16:creationId xmlns:a16="http://schemas.microsoft.com/office/drawing/2014/main" id="{554311B8-761B-4D60-9D9B-64152056D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grpSp>
        <p:nvGrpSpPr>
          <p:cNvPr id="685093" name="Group 37">
            <a:extLst>
              <a:ext uri="{FF2B5EF4-FFF2-40B4-BE49-F238E27FC236}">
                <a16:creationId xmlns:a16="http://schemas.microsoft.com/office/drawing/2014/main" id="{C04B36C3-D475-4E3A-B3F9-2824076FBDAC}"/>
              </a:ext>
            </a:extLst>
          </p:cNvPr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7642" name="Line 38">
              <a:extLst>
                <a:ext uri="{FF2B5EF4-FFF2-40B4-BE49-F238E27FC236}">
                  <a16:creationId xmlns:a16="http://schemas.microsoft.com/office/drawing/2014/main" id="{E37928A2-38FD-4987-91F1-DDDA823166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43" name="Line 39">
              <a:extLst>
                <a:ext uri="{FF2B5EF4-FFF2-40B4-BE49-F238E27FC236}">
                  <a16:creationId xmlns:a16="http://schemas.microsoft.com/office/drawing/2014/main" id="{34C51CE2-7EFA-470E-87DE-B42AEB7AD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44" name="Text Box 40">
              <a:extLst>
                <a:ext uri="{FF2B5EF4-FFF2-40B4-BE49-F238E27FC236}">
                  <a16:creationId xmlns:a16="http://schemas.microsoft.com/office/drawing/2014/main" id="{59EC9F70-C2D3-49CA-B9E6-EEFEFACBD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7645" name="Text Box 41">
              <a:extLst>
                <a:ext uri="{FF2B5EF4-FFF2-40B4-BE49-F238E27FC236}">
                  <a16:creationId xmlns:a16="http://schemas.microsoft.com/office/drawing/2014/main" id="{51CDF3DB-6496-4E22-866F-18B01DED6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685098" name="Group 42">
            <a:extLst>
              <a:ext uri="{FF2B5EF4-FFF2-40B4-BE49-F238E27FC236}">
                <a16:creationId xmlns:a16="http://schemas.microsoft.com/office/drawing/2014/main" id="{0F2BE557-CFF9-429D-AA39-14D47EEF044D}"/>
              </a:ext>
            </a:extLst>
          </p:cNvPr>
          <p:cNvGrpSpPr>
            <a:grpSpLocks/>
          </p:cNvGrpSpPr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7637" name="Rectangle 43">
              <a:extLst>
                <a:ext uri="{FF2B5EF4-FFF2-40B4-BE49-F238E27FC236}">
                  <a16:creationId xmlns:a16="http://schemas.microsoft.com/office/drawing/2014/main" id="{D855B6EE-B3B5-462B-B693-915E7D87D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7638" name="Text Box 44">
              <a:extLst>
                <a:ext uri="{FF2B5EF4-FFF2-40B4-BE49-F238E27FC236}">
                  <a16:creationId xmlns:a16="http://schemas.microsoft.com/office/drawing/2014/main" id="{9D009AEE-93AF-47D6-9884-0D3863664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7639" name="Line 45">
              <a:extLst>
                <a:ext uri="{FF2B5EF4-FFF2-40B4-BE49-F238E27FC236}">
                  <a16:creationId xmlns:a16="http://schemas.microsoft.com/office/drawing/2014/main" id="{B536F6D0-0E9A-41C6-853C-67D260EFF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40" name="Line 46">
              <a:extLst>
                <a:ext uri="{FF2B5EF4-FFF2-40B4-BE49-F238E27FC236}">
                  <a16:creationId xmlns:a16="http://schemas.microsoft.com/office/drawing/2014/main" id="{585D988C-79F0-4BAA-B6A0-E8F195F7B0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41" name="Line 47">
              <a:extLst>
                <a:ext uri="{FF2B5EF4-FFF2-40B4-BE49-F238E27FC236}">
                  <a16:creationId xmlns:a16="http://schemas.microsoft.com/office/drawing/2014/main" id="{479A671A-95AB-48C4-9AD8-8AC7533E2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685104" name="Text Box 48">
            <a:extLst>
              <a:ext uri="{FF2B5EF4-FFF2-40B4-BE49-F238E27FC236}">
                <a16:creationId xmlns:a16="http://schemas.microsoft.com/office/drawing/2014/main" id="{C41A0FED-8250-4B69-8474-603A58E07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13" y="5326063"/>
            <a:ext cx="17780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685105" name="Group 49">
            <a:extLst>
              <a:ext uri="{FF2B5EF4-FFF2-40B4-BE49-F238E27FC236}">
                <a16:creationId xmlns:a16="http://schemas.microsoft.com/office/drawing/2014/main" id="{E9A74CB5-4E28-4AE4-ADCC-B00F860C0D0B}"/>
              </a:ext>
            </a:extLst>
          </p:cNvPr>
          <p:cNvGrpSpPr>
            <a:grpSpLocks/>
          </p:cNvGrpSpPr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7634" name="Text Box 50">
              <a:extLst>
                <a:ext uri="{FF2B5EF4-FFF2-40B4-BE49-F238E27FC236}">
                  <a16:creationId xmlns:a16="http://schemas.microsoft.com/office/drawing/2014/main" id="{9757A145-9373-454D-A0B2-D283227F2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35" name="Text Box 51">
              <a:extLst>
                <a:ext uri="{FF2B5EF4-FFF2-40B4-BE49-F238E27FC236}">
                  <a16:creationId xmlns:a16="http://schemas.microsoft.com/office/drawing/2014/main" id="{1763E2D1-9B8C-4C05-9162-749D107F1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36" name="Text Box 52">
              <a:extLst>
                <a:ext uri="{FF2B5EF4-FFF2-40B4-BE49-F238E27FC236}">
                  <a16:creationId xmlns:a16="http://schemas.microsoft.com/office/drawing/2014/main" id="{CF647721-D686-4496-8CBF-6E3813A24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grpSp>
        <p:nvGrpSpPr>
          <p:cNvPr id="685115" name="Group 59">
            <a:extLst>
              <a:ext uri="{FF2B5EF4-FFF2-40B4-BE49-F238E27FC236}">
                <a16:creationId xmlns:a16="http://schemas.microsoft.com/office/drawing/2014/main" id="{0E891239-A339-4786-A237-290284E179F3}"/>
              </a:ext>
            </a:extLst>
          </p:cNvPr>
          <p:cNvGrpSpPr>
            <a:grpSpLocks/>
          </p:cNvGrpSpPr>
          <p:nvPr/>
        </p:nvGrpSpPr>
        <p:grpSpPr bwMode="auto">
          <a:xfrm>
            <a:off x="5799138" y="2881313"/>
            <a:ext cx="1428750" cy="369887"/>
            <a:chOff x="1750" y="3514"/>
            <a:chExt cx="900" cy="233"/>
          </a:xfrm>
        </p:grpSpPr>
        <p:sp>
          <p:nvSpPr>
            <p:cNvPr id="67630" name="Rectangle 60">
              <a:extLst>
                <a:ext uri="{FF2B5EF4-FFF2-40B4-BE49-F238E27FC236}">
                  <a16:creationId xmlns:a16="http://schemas.microsoft.com/office/drawing/2014/main" id="{02BB2834-F012-4D4D-B424-0964E3E07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7631" name="Text Box 61">
              <a:extLst>
                <a:ext uri="{FF2B5EF4-FFF2-40B4-BE49-F238E27FC236}">
                  <a16:creationId xmlns:a16="http://schemas.microsoft.com/office/drawing/2014/main" id="{E77C90EC-789F-4199-9D78-6FCFA1A9E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2" name="Line 62">
              <a:extLst>
                <a:ext uri="{FF2B5EF4-FFF2-40B4-BE49-F238E27FC236}">
                  <a16:creationId xmlns:a16="http://schemas.microsoft.com/office/drawing/2014/main" id="{DD6CF5C1-1FBF-40AD-AEB8-1F83B0E5E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33" name="Line 63">
              <a:extLst>
                <a:ext uri="{FF2B5EF4-FFF2-40B4-BE49-F238E27FC236}">
                  <a16:creationId xmlns:a16="http://schemas.microsoft.com/office/drawing/2014/main" id="{35924D6A-2FE6-4B43-88E2-9387A75AD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grpSp>
        <p:nvGrpSpPr>
          <p:cNvPr id="685120" name="Group 64">
            <a:extLst>
              <a:ext uri="{FF2B5EF4-FFF2-40B4-BE49-F238E27FC236}">
                <a16:creationId xmlns:a16="http://schemas.microsoft.com/office/drawing/2014/main" id="{A7E09887-80B2-4B7B-831D-5764EB6F4B0E}"/>
              </a:ext>
            </a:extLst>
          </p:cNvPr>
          <p:cNvGrpSpPr>
            <a:grpSpLocks/>
          </p:cNvGrpSpPr>
          <p:nvPr/>
        </p:nvGrpSpPr>
        <p:grpSpPr bwMode="auto">
          <a:xfrm>
            <a:off x="5799138" y="2879725"/>
            <a:ext cx="1428750" cy="369888"/>
            <a:chOff x="1750" y="3514"/>
            <a:chExt cx="900" cy="233"/>
          </a:xfrm>
        </p:grpSpPr>
        <p:sp>
          <p:nvSpPr>
            <p:cNvPr id="67626" name="Rectangle 65">
              <a:extLst>
                <a:ext uri="{FF2B5EF4-FFF2-40B4-BE49-F238E27FC236}">
                  <a16:creationId xmlns:a16="http://schemas.microsoft.com/office/drawing/2014/main" id="{F357FF40-E0CF-41DE-991D-E01907909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7627" name="Text Box 66">
              <a:extLst>
                <a:ext uri="{FF2B5EF4-FFF2-40B4-BE49-F238E27FC236}">
                  <a16:creationId xmlns:a16="http://schemas.microsoft.com/office/drawing/2014/main" id="{4D75D3C9-9E15-4FDC-AD87-121EE8BC1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8" name="Line 67">
              <a:extLst>
                <a:ext uri="{FF2B5EF4-FFF2-40B4-BE49-F238E27FC236}">
                  <a16:creationId xmlns:a16="http://schemas.microsoft.com/office/drawing/2014/main" id="{98D3F99D-E6B7-4C00-8C22-F8EE2FE5E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29" name="Line 68">
              <a:extLst>
                <a:ext uri="{FF2B5EF4-FFF2-40B4-BE49-F238E27FC236}">
                  <a16:creationId xmlns:a16="http://schemas.microsoft.com/office/drawing/2014/main" id="{1AC23BE9-E1A6-4718-BABA-EEB012066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grpSp>
        <p:nvGrpSpPr>
          <p:cNvPr id="685125" name="Group 69">
            <a:extLst>
              <a:ext uri="{FF2B5EF4-FFF2-40B4-BE49-F238E27FC236}">
                <a16:creationId xmlns:a16="http://schemas.microsoft.com/office/drawing/2014/main" id="{BF266F3C-28EA-42B0-8722-0EA3AE1158C0}"/>
              </a:ext>
            </a:extLst>
          </p:cNvPr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22" name="Rectangle 70">
              <a:extLst>
                <a:ext uri="{FF2B5EF4-FFF2-40B4-BE49-F238E27FC236}">
                  <a16:creationId xmlns:a16="http://schemas.microsoft.com/office/drawing/2014/main" id="{615E8BA8-57E1-4CA0-A540-8D49BA23E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7623" name="Text Box 71">
              <a:extLst>
                <a:ext uri="{FF2B5EF4-FFF2-40B4-BE49-F238E27FC236}">
                  <a16:creationId xmlns:a16="http://schemas.microsoft.com/office/drawing/2014/main" id="{66DAEBC1-3C62-40B5-BC7C-5D65EB828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4" name="Line 72">
              <a:extLst>
                <a:ext uri="{FF2B5EF4-FFF2-40B4-BE49-F238E27FC236}">
                  <a16:creationId xmlns:a16="http://schemas.microsoft.com/office/drawing/2014/main" id="{A3C81191-7B7E-477D-A617-586E4065D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25" name="Line 73">
              <a:extLst>
                <a:ext uri="{FF2B5EF4-FFF2-40B4-BE49-F238E27FC236}">
                  <a16:creationId xmlns:a16="http://schemas.microsoft.com/office/drawing/2014/main" id="{F887993C-EBFB-4BE8-9A33-C6D72A025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grpSp>
        <p:nvGrpSpPr>
          <p:cNvPr id="685130" name="Group 74">
            <a:extLst>
              <a:ext uri="{FF2B5EF4-FFF2-40B4-BE49-F238E27FC236}">
                <a16:creationId xmlns:a16="http://schemas.microsoft.com/office/drawing/2014/main" id="{1D1F5294-AB47-4E6E-A55A-A4C417EDCA46}"/>
              </a:ext>
            </a:extLst>
          </p:cNvPr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18" name="Rectangle 75">
              <a:extLst>
                <a:ext uri="{FF2B5EF4-FFF2-40B4-BE49-F238E27FC236}">
                  <a16:creationId xmlns:a16="http://schemas.microsoft.com/office/drawing/2014/main" id="{62FA137C-39A4-4048-8AE6-B89272437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7619" name="Text Box 76">
              <a:extLst>
                <a:ext uri="{FF2B5EF4-FFF2-40B4-BE49-F238E27FC236}">
                  <a16:creationId xmlns:a16="http://schemas.microsoft.com/office/drawing/2014/main" id="{DE9DEA92-7320-48F6-A752-01F9688FF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0" name="Line 77">
              <a:extLst>
                <a:ext uri="{FF2B5EF4-FFF2-40B4-BE49-F238E27FC236}">
                  <a16:creationId xmlns:a16="http://schemas.microsoft.com/office/drawing/2014/main" id="{F5EDC63C-393C-49F0-920D-CC172658F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21" name="Line 78">
              <a:extLst>
                <a:ext uri="{FF2B5EF4-FFF2-40B4-BE49-F238E27FC236}">
                  <a16:creationId xmlns:a16="http://schemas.microsoft.com/office/drawing/2014/main" id="{E33A7F8D-5CD1-45DB-A680-537E1AC90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grpSp>
        <p:nvGrpSpPr>
          <p:cNvPr id="685135" name="Group 79">
            <a:extLst>
              <a:ext uri="{FF2B5EF4-FFF2-40B4-BE49-F238E27FC236}">
                <a16:creationId xmlns:a16="http://schemas.microsoft.com/office/drawing/2014/main" id="{3E57680D-8264-4EB8-B22F-BF78479C130A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879725"/>
            <a:ext cx="1428750" cy="369888"/>
            <a:chOff x="1750" y="3514"/>
            <a:chExt cx="900" cy="233"/>
          </a:xfrm>
        </p:grpSpPr>
        <p:sp>
          <p:nvSpPr>
            <p:cNvPr id="67614" name="Rectangle 80">
              <a:extLst>
                <a:ext uri="{FF2B5EF4-FFF2-40B4-BE49-F238E27FC236}">
                  <a16:creationId xmlns:a16="http://schemas.microsoft.com/office/drawing/2014/main" id="{AF38C19A-63A4-43A8-99BC-F995AD8FD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7615" name="Text Box 81">
              <a:extLst>
                <a:ext uri="{FF2B5EF4-FFF2-40B4-BE49-F238E27FC236}">
                  <a16:creationId xmlns:a16="http://schemas.microsoft.com/office/drawing/2014/main" id="{B1CE358E-8C15-4129-B684-AA09DBA2E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6" name="Line 82">
              <a:extLst>
                <a:ext uri="{FF2B5EF4-FFF2-40B4-BE49-F238E27FC236}">
                  <a16:creationId xmlns:a16="http://schemas.microsoft.com/office/drawing/2014/main" id="{CF4C344A-E9AE-498E-9E6A-D5C099942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17" name="Line 83">
              <a:extLst>
                <a:ext uri="{FF2B5EF4-FFF2-40B4-BE49-F238E27FC236}">
                  <a16:creationId xmlns:a16="http://schemas.microsoft.com/office/drawing/2014/main" id="{CA7BD7FB-F1AD-4AA1-8D34-C03EAF856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685140" name="Rectangle 84">
            <a:extLst>
              <a:ext uri="{FF2B5EF4-FFF2-40B4-BE49-F238E27FC236}">
                <a16:creationId xmlns:a16="http://schemas.microsoft.com/office/drawing/2014/main" id="{D2BE3B6C-804C-453A-BA59-96DDFFD85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0" y="1508125"/>
            <a:ext cx="4044950" cy="9445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frame destination, A’, location unknown:</a:t>
            </a:r>
            <a:endParaRPr lang="en-US" altLang="zh-CN" i="1">
              <a:ea typeface="宋体" panose="02010600030101010101" pitchFamily="2" charset="-122"/>
            </a:endParaRPr>
          </a:p>
        </p:txBody>
      </p:sp>
      <p:sp>
        <p:nvSpPr>
          <p:cNvPr id="685142" name="Text Box 86">
            <a:extLst>
              <a:ext uri="{FF2B5EF4-FFF2-40B4-BE49-F238E27FC236}">
                <a16:creationId xmlns:a16="http://schemas.microsoft.com/office/drawing/2014/main" id="{407C6336-E707-46AF-A66C-0588C6818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0038" y="1847850"/>
            <a:ext cx="8382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flood</a:t>
            </a:r>
          </a:p>
        </p:txBody>
      </p:sp>
      <p:grpSp>
        <p:nvGrpSpPr>
          <p:cNvPr id="685148" name="Group 92">
            <a:extLst>
              <a:ext uri="{FF2B5EF4-FFF2-40B4-BE49-F238E27FC236}">
                <a16:creationId xmlns:a16="http://schemas.microsoft.com/office/drawing/2014/main" id="{5E119715-1CEB-4181-8187-0FF063DAAD08}"/>
              </a:ext>
            </a:extLst>
          </p:cNvPr>
          <p:cNvGrpSpPr>
            <a:grpSpLocks/>
          </p:cNvGrpSpPr>
          <p:nvPr/>
        </p:nvGrpSpPr>
        <p:grpSpPr bwMode="auto">
          <a:xfrm>
            <a:off x="6130925" y="3981450"/>
            <a:ext cx="1428750" cy="369888"/>
            <a:chOff x="730" y="2472"/>
            <a:chExt cx="900" cy="233"/>
          </a:xfrm>
        </p:grpSpPr>
        <p:sp>
          <p:nvSpPr>
            <p:cNvPr id="67610" name="Rectangle 88">
              <a:extLst>
                <a:ext uri="{FF2B5EF4-FFF2-40B4-BE49-F238E27FC236}">
                  <a16:creationId xmlns:a16="http://schemas.microsoft.com/office/drawing/2014/main" id="{F9F6004A-E102-4912-A3CA-E70FCBEA5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67611" name="Text Box 89">
              <a:extLst>
                <a:ext uri="{FF2B5EF4-FFF2-40B4-BE49-F238E27FC236}">
                  <a16:creationId xmlns:a16="http://schemas.microsoft.com/office/drawing/2014/main" id="{83A685FA-F9F7-473F-A173-24FDE6411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 A</a:t>
              </a:r>
            </a:p>
          </p:txBody>
        </p:sp>
        <p:sp>
          <p:nvSpPr>
            <p:cNvPr id="67612" name="Line 90">
              <a:extLst>
                <a:ext uri="{FF2B5EF4-FFF2-40B4-BE49-F238E27FC236}">
                  <a16:creationId xmlns:a16="http://schemas.microsoft.com/office/drawing/2014/main" id="{392CF358-2921-45F1-862F-B3D8D4743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" y="2493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7613" name="Line 91">
              <a:extLst>
                <a:ext uri="{FF2B5EF4-FFF2-40B4-BE49-F238E27FC236}">
                  <a16:creationId xmlns:a16="http://schemas.microsoft.com/office/drawing/2014/main" id="{42884FD2-A936-49B2-AE3D-892A12F11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685149" name="Rectangle 93">
            <a:extLst>
              <a:ext uri="{FF2B5EF4-FFF2-40B4-BE49-F238E27FC236}">
                <a16:creationId xmlns:a16="http://schemas.microsoft.com/office/drawing/2014/main" id="{C1707BE1-8530-4A21-85F6-7AA803925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2425700"/>
            <a:ext cx="404495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279400" indent="-27940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zh-CN" sz="2800">
                <a:solidFill>
                  <a:srgbClr val="000000"/>
                </a:solidFill>
                <a:ea typeface="宋体" pitchFamily="2" charset="-122"/>
              </a:rPr>
              <a:t>destination A location known:</a:t>
            </a:r>
            <a:endParaRPr lang="en-US" altLang="zh-CN" sz="2800">
              <a:solidFill>
                <a:srgbClr val="FF0000"/>
              </a:solidFill>
              <a:ea typeface="宋体" pitchFamily="2" charset="-122"/>
            </a:endParaRPr>
          </a:p>
        </p:txBody>
      </p:sp>
      <p:grpSp>
        <p:nvGrpSpPr>
          <p:cNvPr id="685150" name="Group 94">
            <a:extLst>
              <a:ext uri="{FF2B5EF4-FFF2-40B4-BE49-F238E27FC236}">
                <a16:creationId xmlns:a16="http://schemas.microsoft.com/office/drawing/2014/main" id="{488FBF4F-C73F-45C4-9216-B7E413F33585}"/>
              </a:ext>
            </a:extLst>
          </p:cNvPr>
          <p:cNvGrpSpPr>
            <a:grpSpLocks/>
          </p:cNvGrpSpPr>
          <p:nvPr/>
        </p:nvGrpSpPr>
        <p:grpSpPr bwMode="auto">
          <a:xfrm>
            <a:off x="3768725" y="5656263"/>
            <a:ext cx="2471738" cy="374650"/>
            <a:chOff x="2376" y="3383"/>
            <a:chExt cx="1557" cy="236"/>
          </a:xfrm>
        </p:grpSpPr>
        <p:sp>
          <p:nvSpPr>
            <p:cNvPr id="67607" name="Text Box 95">
              <a:extLst>
                <a:ext uri="{FF2B5EF4-FFF2-40B4-BE49-F238E27FC236}">
                  <a16:creationId xmlns:a16="http://schemas.microsoft.com/office/drawing/2014/main" id="{9382ABB3-E08A-453F-8E1C-E91759B1D5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08" name="Text Box 96">
              <a:extLst>
                <a:ext uri="{FF2B5EF4-FFF2-40B4-BE49-F238E27FC236}">
                  <a16:creationId xmlns:a16="http://schemas.microsoft.com/office/drawing/2014/main" id="{3ED8982C-612D-430D-B5FD-8182C7B52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09" name="Text Box 97">
              <a:extLst>
                <a:ext uri="{FF2B5EF4-FFF2-40B4-BE49-F238E27FC236}">
                  <a16:creationId xmlns:a16="http://schemas.microsoft.com/office/drawing/2014/main" id="{7EB1D40F-0180-411E-9E65-CE9F54C4D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685154" name="Rectangle 98">
            <a:extLst>
              <a:ext uri="{FF2B5EF4-FFF2-40B4-BE49-F238E27FC236}">
                <a16:creationId xmlns:a16="http://schemas.microsoft.com/office/drawing/2014/main" id="{BD34BFF1-AFC6-4374-8B6C-DA60B76D7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3343275"/>
            <a:ext cx="3729038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 selectively send on just one link</a:t>
            </a:r>
          </a:p>
        </p:txBody>
      </p:sp>
      <p:sp>
        <p:nvSpPr>
          <p:cNvPr id="75797" name="灯片编号占位符 5">
            <a:extLst>
              <a:ext uri="{FF2B5EF4-FFF2-40B4-BE49-F238E27FC236}">
                <a16:creationId xmlns:a16="http://schemas.microsoft.com/office/drawing/2014/main" id="{E31D5991-B7E1-4C27-A06D-68E57D02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B80939C4-26AB-4F05-99B7-A40DEB6CCE1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8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6.2963E-6 L -0.12118 -0.09814 " pathEditMode="relative" ptsTypes="AA">
                                      <p:cBhvr>
                                        <p:cTn id="42" dur="2000" fill="hold"/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-0.09532 0.1435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717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03489 0.1550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77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16163 0.0666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3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L 0.11545 -0.1023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8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509 L -0.03767 -0.1701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11 -0.1588 L -0.03472 -0.32871 " pathEditMode="relative" ptsTypes="AA">
                                      <p:cBhvr>
                                        <p:cTn id="91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104" grpId="0"/>
      <p:bldP spid="685140" grpId="0" build="p"/>
      <p:bldP spid="685142" grpId="0"/>
      <p:bldP spid="685149" grpId="0" build="p"/>
      <p:bldP spid="68515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5">
            <a:extLst>
              <a:ext uri="{FF2B5EF4-FFF2-40B4-BE49-F238E27FC236}">
                <a16:creationId xmlns:a16="http://schemas.microsoft.com/office/drawing/2014/main" id="{9B9E5529-C540-418D-8ABC-EF5BA07C0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Interconnecting switches</a:t>
            </a:r>
          </a:p>
        </p:txBody>
      </p:sp>
      <p:sp>
        <p:nvSpPr>
          <p:cNvPr id="77827" name="Rectangle 6">
            <a:extLst>
              <a:ext uri="{FF2B5EF4-FFF2-40B4-BE49-F238E27FC236}">
                <a16:creationId xmlns:a16="http://schemas.microsoft.com/office/drawing/2014/main" id="{BD411527-26D8-43FB-ADA3-80FBBF978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1320800"/>
            <a:ext cx="7881938" cy="682625"/>
          </a:xfrm>
        </p:spPr>
        <p:txBody>
          <a:bodyPr/>
          <a:lstStyle/>
          <a:p>
            <a:pPr marL="0" indent="0">
              <a:buFont typeface="ZapfDingbats" pitchFamily="82" charset="2"/>
              <a:buNone/>
            </a:pPr>
            <a:r>
              <a:rPr lang="en-US" altLang="zh-CN">
                <a:ea typeface="宋体" panose="02010600030101010101" pitchFamily="2" charset="-122"/>
              </a:rPr>
              <a:t>self-learning switches can be connected together:</a:t>
            </a:r>
          </a:p>
        </p:txBody>
      </p:sp>
      <p:sp>
        <p:nvSpPr>
          <p:cNvPr id="681030" name="Rectangle 70">
            <a:extLst>
              <a:ext uri="{FF2B5EF4-FFF2-40B4-BE49-F238E27FC236}">
                <a16:creationId xmlns:a16="http://schemas.microsoft.com/office/drawing/2014/main" id="{0C4B4514-A721-4090-9DFE-08ABE0C85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4535488"/>
            <a:ext cx="78819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1" u="sng" dirty="0">
                <a:solidFill>
                  <a:srgbClr val="CC0000"/>
                </a:solidFill>
              </a:rPr>
              <a:t>Q:</a:t>
            </a:r>
            <a:r>
              <a:rPr lang="en-US" sz="2800" i="1" dirty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sending from A to G - how does S</a:t>
            </a:r>
            <a:r>
              <a:rPr lang="en-US" sz="2800" baseline="-25000" dirty="0">
                <a:solidFill>
                  <a:srgbClr val="000000"/>
                </a:solidFill>
              </a:rPr>
              <a:t>1</a:t>
            </a:r>
            <a:r>
              <a:rPr lang="en-US" sz="2800" dirty="0">
                <a:solidFill>
                  <a:srgbClr val="000000"/>
                </a:solidFill>
              </a:rPr>
              <a:t> know to forward frame destined to G via S</a:t>
            </a:r>
            <a:r>
              <a:rPr lang="en-US" sz="2800" baseline="-25000" dirty="0">
                <a:solidFill>
                  <a:srgbClr val="000000"/>
                </a:solidFill>
              </a:rPr>
              <a:t>4</a:t>
            </a:r>
            <a:r>
              <a:rPr lang="en-US" sz="2800" dirty="0">
                <a:solidFill>
                  <a:srgbClr val="000000"/>
                </a:solidFill>
              </a:rPr>
              <a:t> and S</a:t>
            </a:r>
            <a:r>
              <a:rPr lang="en-US" sz="2800" baseline="-25000" dirty="0">
                <a:solidFill>
                  <a:srgbClr val="000000"/>
                </a:solidFill>
              </a:rPr>
              <a:t>3</a:t>
            </a:r>
            <a:r>
              <a:rPr lang="en-US" sz="2800" dirty="0">
                <a:solidFill>
                  <a:srgbClr val="000000"/>
                </a:solidFill>
              </a:rPr>
              <a:t>?</a:t>
            </a:r>
          </a:p>
          <a:p>
            <a:pPr marL="457200" indent="-2873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1" u="sng" dirty="0">
                <a:solidFill>
                  <a:srgbClr val="CC0000"/>
                </a:solidFill>
              </a:rPr>
              <a:t>A:</a:t>
            </a:r>
            <a:r>
              <a:rPr lang="en-US" sz="2800" i="1" dirty="0">
                <a:solidFill>
                  <a:srgbClr val="CC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self learning! (works exactly the same as in single-switch case!)</a:t>
            </a:r>
          </a:p>
        </p:txBody>
      </p:sp>
      <p:grpSp>
        <p:nvGrpSpPr>
          <p:cNvPr id="77829" name="Group 1">
            <a:extLst>
              <a:ext uri="{FF2B5EF4-FFF2-40B4-BE49-F238E27FC236}">
                <a16:creationId xmlns:a16="http://schemas.microsoft.com/office/drawing/2014/main" id="{ACB26070-D6F9-4048-8A77-2383BC9D3501}"/>
              </a:ext>
            </a:extLst>
          </p:cNvPr>
          <p:cNvGrpSpPr>
            <a:grpSpLocks/>
          </p:cNvGrpSpPr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8657" name="Line 20">
              <a:extLst>
                <a:ext uri="{FF2B5EF4-FFF2-40B4-BE49-F238E27FC236}">
                  <a16:creationId xmlns:a16="http://schemas.microsoft.com/office/drawing/2014/main" id="{99A56E26-1639-4284-8D7E-D28A960E50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58" name="Line 21">
              <a:extLst>
                <a:ext uri="{FF2B5EF4-FFF2-40B4-BE49-F238E27FC236}">
                  <a16:creationId xmlns:a16="http://schemas.microsoft.com/office/drawing/2014/main" id="{E52A4337-8589-410D-9565-7292203686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59" name="Line 22">
              <a:extLst>
                <a:ext uri="{FF2B5EF4-FFF2-40B4-BE49-F238E27FC236}">
                  <a16:creationId xmlns:a16="http://schemas.microsoft.com/office/drawing/2014/main" id="{76FB549D-D0E7-41EC-82F2-ECAC6A934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60" name="Text Box 64">
              <a:extLst>
                <a:ext uri="{FF2B5EF4-FFF2-40B4-BE49-F238E27FC236}">
                  <a16:creationId xmlns:a16="http://schemas.microsoft.com/office/drawing/2014/main" id="{36C0C9EC-F60D-40E9-9D42-99BE1829C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8661" name="Text Box 65">
              <a:extLst>
                <a:ext uri="{FF2B5EF4-FFF2-40B4-BE49-F238E27FC236}">
                  <a16:creationId xmlns:a16="http://schemas.microsoft.com/office/drawing/2014/main" id="{AC7717BA-E2FF-4FC4-B4B6-7289BBF66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662" name="Text Box 73">
              <a:extLst>
                <a:ext uri="{FF2B5EF4-FFF2-40B4-BE49-F238E27FC236}">
                  <a16:creationId xmlns:a16="http://schemas.microsoft.com/office/drawing/2014/main" id="{35072947-6CE1-4DED-80ED-51B731458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8663" name="Text Box 66">
              <a:extLst>
                <a:ext uri="{FF2B5EF4-FFF2-40B4-BE49-F238E27FC236}">
                  <a16:creationId xmlns:a16="http://schemas.microsoft.com/office/drawing/2014/main" id="{EE381460-375F-4437-9B21-11CA4446C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77879" name="Group 44">
              <a:extLst>
                <a:ext uri="{FF2B5EF4-FFF2-40B4-BE49-F238E27FC236}">
                  <a16:creationId xmlns:a16="http://schemas.microsoft.com/office/drawing/2014/main" id="{7E94A140-556B-4851-A981-905E973C1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77887" name="Picture 45" descr="desktop_computer_stylized_medium">
                <a:extLst>
                  <a:ext uri="{FF2B5EF4-FFF2-40B4-BE49-F238E27FC236}">
                    <a16:creationId xmlns:a16="http://schemas.microsoft.com/office/drawing/2014/main" id="{F2F427E5-8804-41AA-9147-1875C36E04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88" name="Freeform 46">
                <a:extLst>
                  <a:ext uri="{FF2B5EF4-FFF2-40B4-BE49-F238E27FC236}">
                    <a16:creationId xmlns:a16="http://schemas.microsoft.com/office/drawing/2014/main" id="{B73D052F-6966-4FA2-8426-D21DBBD17A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7880" name="Group 44">
              <a:extLst>
                <a:ext uri="{FF2B5EF4-FFF2-40B4-BE49-F238E27FC236}">
                  <a16:creationId xmlns:a16="http://schemas.microsoft.com/office/drawing/2014/main" id="{65A9C145-CED6-4AFA-BE1C-5FC8BA9469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77885" name="Picture 45" descr="desktop_computer_stylized_medium">
                <a:extLst>
                  <a:ext uri="{FF2B5EF4-FFF2-40B4-BE49-F238E27FC236}">
                    <a16:creationId xmlns:a16="http://schemas.microsoft.com/office/drawing/2014/main" id="{4E304ECA-FF6A-4187-83AA-75B81A05BA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86" name="Freeform 46">
                <a:extLst>
                  <a:ext uri="{FF2B5EF4-FFF2-40B4-BE49-F238E27FC236}">
                    <a16:creationId xmlns:a16="http://schemas.microsoft.com/office/drawing/2014/main" id="{8B36233D-4B82-4162-961E-04D2546BFC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7881" name="Group 44">
              <a:extLst>
                <a:ext uri="{FF2B5EF4-FFF2-40B4-BE49-F238E27FC236}">
                  <a16:creationId xmlns:a16="http://schemas.microsoft.com/office/drawing/2014/main" id="{9E867107-3DBF-4971-BD98-960E00B423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77883" name="Picture 45" descr="desktop_computer_stylized_medium">
                <a:extLst>
                  <a:ext uri="{FF2B5EF4-FFF2-40B4-BE49-F238E27FC236}">
                    <a16:creationId xmlns:a16="http://schemas.microsoft.com/office/drawing/2014/main" id="{246A2FD1-5B81-4AAA-B065-3AC824900E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84" name="Freeform 46">
                <a:extLst>
                  <a:ext uri="{FF2B5EF4-FFF2-40B4-BE49-F238E27FC236}">
                    <a16:creationId xmlns:a16="http://schemas.microsoft.com/office/drawing/2014/main" id="{4C87F651-4BDF-4CCA-ABF9-FA3DC35AC54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pic>
          <p:nvPicPr>
            <p:cNvPr id="68667" name="Picture 3">
              <a:extLst>
                <a:ext uri="{FF2B5EF4-FFF2-40B4-BE49-F238E27FC236}">
                  <a16:creationId xmlns:a16="http://schemas.microsoft.com/office/drawing/2014/main" id="{E5899C43-B2DA-44F8-8CB4-D3E2D1689F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9D156FF-0C84-4F43-9F62-F036A0D9D5C5}"/>
              </a:ext>
            </a:extLst>
          </p:cNvPr>
          <p:cNvGrpSpPr>
            <a:grpSpLocks/>
          </p:cNvGrpSpPr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8618" name="Line 23">
              <a:extLst>
                <a:ext uri="{FF2B5EF4-FFF2-40B4-BE49-F238E27FC236}">
                  <a16:creationId xmlns:a16="http://schemas.microsoft.com/office/drawing/2014/main" id="{FA08521B-4B3B-45CF-9274-5A5ACB9D22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19" name="Line 24">
              <a:extLst>
                <a:ext uri="{FF2B5EF4-FFF2-40B4-BE49-F238E27FC236}">
                  <a16:creationId xmlns:a16="http://schemas.microsoft.com/office/drawing/2014/main" id="{516DE37A-F650-4E53-82D6-B5A6DC501D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20" name="Line 25">
              <a:extLst>
                <a:ext uri="{FF2B5EF4-FFF2-40B4-BE49-F238E27FC236}">
                  <a16:creationId xmlns:a16="http://schemas.microsoft.com/office/drawing/2014/main" id="{01D0356E-72BA-4EE8-9DBA-5CA7B032F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21" name="Line 26">
              <a:extLst>
                <a:ext uri="{FF2B5EF4-FFF2-40B4-BE49-F238E27FC236}">
                  <a16:creationId xmlns:a16="http://schemas.microsoft.com/office/drawing/2014/main" id="{6C5AB2C7-5C60-40B5-8D0C-DA85A96F35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22" name="Line 27">
              <a:extLst>
                <a:ext uri="{FF2B5EF4-FFF2-40B4-BE49-F238E27FC236}">
                  <a16:creationId xmlns:a16="http://schemas.microsoft.com/office/drawing/2014/main" id="{ACC89AFF-874D-4B6C-BF23-BDF8BCBC5D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23" name="Line 35">
              <a:extLst>
                <a:ext uri="{FF2B5EF4-FFF2-40B4-BE49-F238E27FC236}">
                  <a16:creationId xmlns:a16="http://schemas.microsoft.com/office/drawing/2014/main" id="{A38CCEAA-E358-420D-BC04-5A9CFE09BC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24" name="Line 36">
              <a:extLst>
                <a:ext uri="{FF2B5EF4-FFF2-40B4-BE49-F238E27FC236}">
                  <a16:creationId xmlns:a16="http://schemas.microsoft.com/office/drawing/2014/main" id="{6EBDFBD2-6985-41E0-9979-F3A00F4F6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25" name="Line 37">
              <a:extLst>
                <a:ext uri="{FF2B5EF4-FFF2-40B4-BE49-F238E27FC236}">
                  <a16:creationId xmlns:a16="http://schemas.microsoft.com/office/drawing/2014/main" id="{2BC97D64-D0EF-4370-BA57-7E6C9ABB88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26" name="Line 63">
              <a:extLst>
                <a:ext uri="{FF2B5EF4-FFF2-40B4-BE49-F238E27FC236}">
                  <a16:creationId xmlns:a16="http://schemas.microsoft.com/office/drawing/2014/main" id="{C652A504-6F18-41BC-AE0E-E7339F017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8627" name="Text Box 67">
              <a:extLst>
                <a:ext uri="{FF2B5EF4-FFF2-40B4-BE49-F238E27FC236}">
                  <a16:creationId xmlns:a16="http://schemas.microsoft.com/office/drawing/2014/main" id="{591076EB-D116-41C3-8751-55CB98FB4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68628" name="Text Box 68">
              <a:extLst>
                <a:ext uri="{FF2B5EF4-FFF2-40B4-BE49-F238E27FC236}">
                  <a16:creationId xmlns:a16="http://schemas.microsoft.com/office/drawing/2014/main" id="{F5D0F882-DE11-411B-8C11-38AAAB60E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68629" name="Text Box 69">
              <a:extLst>
                <a:ext uri="{FF2B5EF4-FFF2-40B4-BE49-F238E27FC236}">
                  <a16:creationId xmlns:a16="http://schemas.microsoft.com/office/drawing/2014/main" id="{AB48EB7F-257B-46D0-A002-F7794A20C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68630" name="Text Box 74">
              <a:extLst>
                <a:ext uri="{FF2B5EF4-FFF2-40B4-BE49-F238E27FC236}">
                  <a16:creationId xmlns:a16="http://schemas.microsoft.com/office/drawing/2014/main" id="{9B32573F-24A8-4DFE-8F05-6700967E25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8631" name="Text Box 75">
              <a:extLst>
                <a:ext uri="{FF2B5EF4-FFF2-40B4-BE49-F238E27FC236}">
                  <a16:creationId xmlns:a16="http://schemas.microsoft.com/office/drawing/2014/main" id="{3F50D791-C0C1-4FA7-B9B1-B30C59D0F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8632" name="Text Box 76">
              <a:extLst>
                <a:ext uri="{FF2B5EF4-FFF2-40B4-BE49-F238E27FC236}">
                  <a16:creationId xmlns:a16="http://schemas.microsoft.com/office/drawing/2014/main" id="{8B43EF00-D8DF-4568-AECE-BD491FD79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8633" name="Text Box 78">
              <a:extLst>
                <a:ext uri="{FF2B5EF4-FFF2-40B4-BE49-F238E27FC236}">
                  <a16:creationId xmlns:a16="http://schemas.microsoft.com/office/drawing/2014/main" id="{D2B608DA-FE2E-462F-94A9-608BBB0A0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68634" name="Text Box 79">
              <a:extLst>
                <a:ext uri="{FF2B5EF4-FFF2-40B4-BE49-F238E27FC236}">
                  <a16:creationId xmlns:a16="http://schemas.microsoft.com/office/drawing/2014/main" id="{7B5CACEF-D295-4B38-9F62-1A9450268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</a:t>
              </a:r>
            </a:p>
          </p:txBody>
        </p:sp>
        <p:sp>
          <p:nvSpPr>
            <p:cNvPr id="68635" name="Text Box 80">
              <a:extLst>
                <a:ext uri="{FF2B5EF4-FFF2-40B4-BE49-F238E27FC236}">
                  <a16:creationId xmlns:a16="http://schemas.microsoft.com/office/drawing/2014/main" id="{9A0B3F35-91C4-48E5-8A66-1BF92452F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68636" name="Picture 3">
              <a:extLst>
                <a:ext uri="{FF2B5EF4-FFF2-40B4-BE49-F238E27FC236}">
                  <a16:creationId xmlns:a16="http://schemas.microsoft.com/office/drawing/2014/main" id="{E1A59ADE-D6CC-4F8A-8BD0-B4CF204FE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77852" name="Group 44">
              <a:extLst>
                <a:ext uri="{FF2B5EF4-FFF2-40B4-BE49-F238E27FC236}">
                  <a16:creationId xmlns:a16="http://schemas.microsoft.com/office/drawing/2014/main" id="{328B37E7-3854-45CB-80F1-8D868EA53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77870" name="Picture 45" descr="desktop_computer_stylized_medium">
                <a:extLst>
                  <a:ext uri="{FF2B5EF4-FFF2-40B4-BE49-F238E27FC236}">
                    <a16:creationId xmlns:a16="http://schemas.microsoft.com/office/drawing/2014/main" id="{4964EF48-67B4-45D2-85A9-A0A22612D6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71" name="Freeform 46">
                <a:extLst>
                  <a:ext uri="{FF2B5EF4-FFF2-40B4-BE49-F238E27FC236}">
                    <a16:creationId xmlns:a16="http://schemas.microsoft.com/office/drawing/2014/main" id="{96215F94-B131-4A69-B995-E8EB49594F1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7853" name="Group 44">
              <a:extLst>
                <a:ext uri="{FF2B5EF4-FFF2-40B4-BE49-F238E27FC236}">
                  <a16:creationId xmlns:a16="http://schemas.microsoft.com/office/drawing/2014/main" id="{5431087D-5DFC-4DC4-A77D-4A7216C37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77868" name="Picture 45" descr="desktop_computer_stylized_medium">
                <a:extLst>
                  <a:ext uri="{FF2B5EF4-FFF2-40B4-BE49-F238E27FC236}">
                    <a16:creationId xmlns:a16="http://schemas.microsoft.com/office/drawing/2014/main" id="{9EE5E381-6FB7-4901-98D0-4FD491CA61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69" name="Freeform 46">
                <a:extLst>
                  <a:ext uri="{FF2B5EF4-FFF2-40B4-BE49-F238E27FC236}">
                    <a16:creationId xmlns:a16="http://schemas.microsoft.com/office/drawing/2014/main" id="{7A5362F5-6FEE-4D9E-BE58-147D582F5F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7854" name="Group 44">
              <a:extLst>
                <a:ext uri="{FF2B5EF4-FFF2-40B4-BE49-F238E27FC236}">
                  <a16:creationId xmlns:a16="http://schemas.microsoft.com/office/drawing/2014/main" id="{5F3395B4-ED2D-4F51-B0D4-BFD8F46178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77866" name="Picture 45" descr="desktop_computer_stylized_medium">
                <a:extLst>
                  <a:ext uri="{FF2B5EF4-FFF2-40B4-BE49-F238E27FC236}">
                    <a16:creationId xmlns:a16="http://schemas.microsoft.com/office/drawing/2014/main" id="{D59A618E-F293-496B-BCEF-1B49BDB785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67" name="Freeform 46">
                <a:extLst>
                  <a:ext uri="{FF2B5EF4-FFF2-40B4-BE49-F238E27FC236}">
                    <a16:creationId xmlns:a16="http://schemas.microsoft.com/office/drawing/2014/main" id="{AC866418-CFAB-4A87-9525-32BEB0F9B51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7855" name="Group 44">
              <a:extLst>
                <a:ext uri="{FF2B5EF4-FFF2-40B4-BE49-F238E27FC236}">
                  <a16:creationId xmlns:a16="http://schemas.microsoft.com/office/drawing/2014/main" id="{C558C528-C7FB-42F5-B28E-0CAA8E1BA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77864" name="Picture 45" descr="desktop_computer_stylized_medium">
                <a:extLst>
                  <a:ext uri="{FF2B5EF4-FFF2-40B4-BE49-F238E27FC236}">
                    <a16:creationId xmlns:a16="http://schemas.microsoft.com/office/drawing/2014/main" id="{B9F99B19-C38E-4239-887B-37BAA1D0D8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65" name="Freeform 46">
                <a:extLst>
                  <a:ext uri="{FF2B5EF4-FFF2-40B4-BE49-F238E27FC236}">
                    <a16:creationId xmlns:a16="http://schemas.microsoft.com/office/drawing/2014/main" id="{E0D95BD3-CE16-4C02-B6CC-E836934E0F0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7856" name="Group 44">
              <a:extLst>
                <a:ext uri="{FF2B5EF4-FFF2-40B4-BE49-F238E27FC236}">
                  <a16:creationId xmlns:a16="http://schemas.microsoft.com/office/drawing/2014/main" id="{EC225385-F49E-4A5E-8D0D-F5CE4A696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77862" name="Picture 45" descr="desktop_computer_stylized_medium">
                <a:extLst>
                  <a:ext uri="{FF2B5EF4-FFF2-40B4-BE49-F238E27FC236}">
                    <a16:creationId xmlns:a16="http://schemas.microsoft.com/office/drawing/2014/main" id="{982118D0-B1FA-4E1D-AF22-884E7F79DC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63" name="Freeform 46">
                <a:extLst>
                  <a:ext uri="{FF2B5EF4-FFF2-40B4-BE49-F238E27FC236}">
                    <a16:creationId xmlns:a16="http://schemas.microsoft.com/office/drawing/2014/main" id="{7FD93B73-A0AF-4F89-8BF1-AB0BEE2C243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7857" name="Group 44">
              <a:extLst>
                <a:ext uri="{FF2B5EF4-FFF2-40B4-BE49-F238E27FC236}">
                  <a16:creationId xmlns:a16="http://schemas.microsoft.com/office/drawing/2014/main" id="{088F92DD-A458-4A83-BA9F-526403B15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77860" name="Picture 45" descr="desktop_computer_stylized_medium">
                <a:extLst>
                  <a:ext uri="{FF2B5EF4-FFF2-40B4-BE49-F238E27FC236}">
                    <a16:creationId xmlns:a16="http://schemas.microsoft.com/office/drawing/2014/main" id="{D1C70989-18DB-4D1D-ABB7-6336EFE963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61" name="Freeform 46">
                <a:extLst>
                  <a:ext uri="{FF2B5EF4-FFF2-40B4-BE49-F238E27FC236}">
                    <a16:creationId xmlns:a16="http://schemas.microsoft.com/office/drawing/2014/main" id="{7475FCC0-0E0C-41C7-BE11-2A62562A2AD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pic>
          <p:nvPicPr>
            <p:cNvPr id="68643" name="Picture 3">
              <a:extLst>
                <a:ext uri="{FF2B5EF4-FFF2-40B4-BE49-F238E27FC236}">
                  <a16:creationId xmlns:a16="http://schemas.microsoft.com/office/drawing/2014/main" id="{13409C63-9350-47EE-983E-F80431C7D2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68644" name="Picture 3">
              <a:extLst>
                <a:ext uri="{FF2B5EF4-FFF2-40B4-BE49-F238E27FC236}">
                  <a16:creationId xmlns:a16="http://schemas.microsoft.com/office/drawing/2014/main" id="{28C091F1-7785-4C33-87D1-CAAF0982A8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77832" name="灯片编号占位符 5">
            <a:extLst>
              <a:ext uri="{FF2B5EF4-FFF2-40B4-BE49-F238E27FC236}">
                <a16:creationId xmlns:a16="http://schemas.microsoft.com/office/drawing/2014/main" id="{2F5124A1-21FF-461B-865A-39CCA9BE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3A80B1B1-7B26-401A-82C2-11E8A2F253E6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0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1721189-848B-4258-AE62-AE5DA4D06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0"/>
            <a:ext cx="7772400" cy="11430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Self-learning multi-switch example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E80B2AA8-28C7-405B-9B25-58AE211C1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0863" y="1139825"/>
            <a:ext cx="77724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Suppose C sends frame to I, I responds to C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9638" name="Rectangle 5">
            <a:extLst>
              <a:ext uri="{FF2B5EF4-FFF2-40B4-BE49-F238E27FC236}">
                <a16:creationId xmlns:a16="http://schemas.microsoft.com/office/drawing/2014/main" id="{BA9FD6A3-CD4C-4885-B9EA-8244534AD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664075"/>
            <a:ext cx="7772400" cy="184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u="sng" dirty="0">
                <a:solidFill>
                  <a:srgbClr val="CC0000"/>
                </a:solidFill>
              </a:rPr>
              <a:t>Q:</a:t>
            </a:r>
            <a:r>
              <a:rPr lang="en-US" sz="2400" dirty="0">
                <a:solidFill>
                  <a:srgbClr val="CC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show switch tables and packet forwarding in S</a:t>
            </a:r>
            <a:r>
              <a:rPr lang="en-US" sz="2400" baseline="-25000" dirty="0">
                <a:solidFill>
                  <a:srgbClr val="000000"/>
                </a:solidFill>
              </a:rPr>
              <a:t>1</a:t>
            </a:r>
            <a:r>
              <a:rPr lang="en-US" sz="2400" dirty="0">
                <a:solidFill>
                  <a:srgbClr val="000000"/>
                </a:solidFill>
              </a:rPr>
              <a:t>, S</a:t>
            </a:r>
            <a:r>
              <a:rPr lang="en-US" sz="2400" baseline="-25000" dirty="0">
                <a:solidFill>
                  <a:srgbClr val="000000"/>
                </a:solidFill>
              </a:rPr>
              <a:t>2</a:t>
            </a:r>
            <a:r>
              <a:rPr lang="en-US" sz="2400" dirty="0">
                <a:solidFill>
                  <a:srgbClr val="000000"/>
                </a:solidFill>
              </a:rPr>
              <a:t>, S</a:t>
            </a:r>
            <a:r>
              <a:rPr lang="en-US" sz="2400" baseline="-25000" dirty="0">
                <a:solidFill>
                  <a:srgbClr val="000000"/>
                </a:solidFill>
              </a:rPr>
              <a:t>3</a:t>
            </a:r>
            <a:r>
              <a:rPr lang="en-US" sz="2400" dirty="0">
                <a:solidFill>
                  <a:srgbClr val="000000"/>
                </a:solidFill>
              </a:rPr>
              <a:t>, S</a:t>
            </a:r>
            <a:r>
              <a:rPr lang="en-US" sz="2400" baseline="-25000" dirty="0">
                <a:solidFill>
                  <a:srgbClr val="000000"/>
                </a:solidFill>
              </a:rPr>
              <a:t>4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79877" name="Group 58">
            <a:extLst>
              <a:ext uri="{FF2B5EF4-FFF2-40B4-BE49-F238E27FC236}">
                <a16:creationId xmlns:a16="http://schemas.microsoft.com/office/drawing/2014/main" id="{5C65E046-60C3-41DB-BA10-7B10BCC950F9}"/>
              </a:ext>
            </a:extLst>
          </p:cNvPr>
          <p:cNvGrpSpPr>
            <a:grpSpLocks/>
          </p:cNvGrpSpPr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9681" name="Line 20">
              <a:extLst>
                <a:ext uri="{FF2B5EF4-FFF2-40B4-BE49-F238E27FC236}">
                  <a16:creationId xmlns:a16="http://schemas.microsoft.com/office/drawing/2014/main" id="{2FA39E0A-8BD4-40E4-B79D-58DCBA3632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82" name="Line 21">
              <a:extLst>
                <a:ext uri="{FF2B5EF4-FFF2-40B4-BE49-F238E27FC236}">
                  <a16:creationId xmlns:a16="http://schemas.microsoft.com/office/drawing/2014/main" id="{02197C12-8A50-439E-A4AB-9BC2F65DF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83" name="Line 22">
              <a:extLst>
                <a:ext uri="{FF2B5EF4-FFF2-40B4-BE49-F238E27FC236}">
                  <a16:creationId xmlns:a16="http://schemas.microsoft.com/office/drawing/2014/main" id="{6032F2BD-F282-4593-867A-C9B3C925B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84" name="Text Box 64">
              <a:extLst>
                <a:ext uri="{FF2B5EF4-FFF2-40B4-BE49-F238E27FC236}">
                  <a16:creationId xmlns:a16="http://schemas.microsoft.com/office/drawing/2014/main" id="{5879332E-B855-49BF-9F3F-EB788DF6A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9685" name="Text Box 65">
              <a:extLst>
                <a:ext uri="{FF2B5EF4-FFF2-40B4-BE49-F238E27FC236}">
                  <a16:creationId xmlns:a16="http://schemas.microsoft.com/office/drawing/2014/main" id="{4177ECA7-DEFE-4B0C-9EC8-8958C6172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9686" name="Text Box 73">
              <a:extLst>
                <a:ext uri="{FF2B5EF4-FFF2-40B4-BE49-F238E27FC236}">
                  <a16:creationId xmlns:a16="http://schemas.microsoft.com/office/drawing/2014/main" id="{F770BF57-2C76-4FC0-B5B6-887B5CD11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9687" name="Text Box 66">
              <a:extLst>
                <a:ext uri="{FF2B5EF4-FFF2-40B4-BE49-F238E27FC236}">
                  <a16:creationId xmlns:a16="http://schemas.microsoft.com/office/drawing/2014/main" id="{478A3152-9C49-4CD6-AFC3-09A3669368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79927" name="Group 44">
              <a:extLst>
                <a:ext uri="{FF2B5EF4-FFF2-40B4-BE49-F238E27FC236}">
                  <a16:creationId xmlns:a16="http://schemas.microsoft.com/office/drawing/2014/main" id="{EEDCDD74-E75A-49ED-AB6D-FFBF018B1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79935" name="Picture 45" descr="desktop_computer_stylized_medium">
                <a:extLst>
                  <a:ext uri="{FF2B5EF4-FFF2-40B4-BE49-F238E27FC236}">
                    <a16:creationId xmlns:a16="http://schemas.microsoft.com/office/drawing/2014/main" id="{C52D440E-0BE9-4250-916F-FF73787CBE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936" name="Freeform 46">
                <a:extLst>
                  <a:ext uri="{FF2B5EF4-FFF2-40B4-BE49-F238E27FC236}">
                    <a16:creationId xmlns:a16="http://schemas.microsoft.com/office/drawing/2014/main" id="{2EC1F28B-CAED-4B6F-8092-F9D9B929615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9928" name="Group 44">
              <a:extLst>
                <a:ext uri="{FF2B5EF4-FFF2-40B4-BE49-F238E27FC236}">
                  <a16:creationId xmlns:a16="http://schemas.microsoft.com/office/drawing/2014/main" id="{D6081B36-82EC-4F01-9B32-8F98D1E689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79933" name="Picture 45" descr="desktop_computer_stylized_medium">
                <a:extLst>
                  <a:ext uri="{FF2B5EF4-FFF2-40B4-BE49-F238E27FC236}">
                    <a16:creationId xmlns:a16="http://schemas.microsoft.com/office/drawing/2014/main" id="{939F56E6-45DE-4028-A2E0-E6D99B22E4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934" name="Freeform 46">
                <a:extLst>
                  <a:ext uri="{FF2B5EF4-FFF2-40B4-BE49-F238E27FC236}">
                    <a16:creationId xmlns:a16="http://schemas.microsoft.com/office/drawing/2014/main" id="{7532C89C-6B8D-4632-9B29-4A4583AA637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9929" name="Group 44">
              <a:extLst>
                <a:ext uri="{FF2B5EF4-FFF2-40B4-BE49-F238E27FC236}">
                  <a16:creationId xmlns:a16="http://schemas.microsoft.com/office/drawing/2014/main" id="{437A336F-C055-47DA-BB9C-778060479F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79931" name="Picture 45" descr="desktop_computer_stylized_medium">
                <a:extLst>
                  <a:ext uri="{FF2B5EF4-FFF2-40B4-BE49-F238E27FC236}">
                    <a16:creationId xmlns:a16="http://schemas.microsoft.com/office/drawing/2014/main" id="{240A846C-C1C8-47F3-8FF2-624C2FF10B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932" name="Freeform 46">
                <a:extLst>
                  <a:ext uri="{FF2B5EF4-FFF2-40B4-BE49-F238E27FC236}">
                    <a16:creationId xmlns:a16="http://schemas.microsoft.com/office/drawing/2014/main" id="{3ACC7CAE-C2BE-4556-86ED-C47B0705EBA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pic>
          <p:nvPicPr>
            <p:cNvPr id="69691" name="Picture 3">
              <a:extLst>
                <a:ext uri="{FF2B5EF4-FFF2-40B4-BE49-F238E27FC236}">
                  <a16:creationId xmlns:a16="http://schemas.microsoft.com/office/drawing/2014/main" id="{FAE20018-B94E-4EBB-AC73-331F90E0A2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79878" name="Group 76">
            <a:extLst>
              <a:ext uri="{FF2B5EF4-FFF2-40B4-BE49-F238E27FC236}">
                <a16:creationId xmlns:a16="http://schemas.microsoft.com/office/drawing/2014/main" id="{1AE24C20-7567-4F68-9700-6849C5444040}"/>
              </a:ext>
            </a:extLst>
          </p:cNvPr>
          <p:cNvGrpSpPr>
            <a:grpSpLocks/>
          </p:cNvGrpSpPr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9642" name="Line 23">
              <a:extLst>
                <a:ext uri="{FF2B5EF4-FFF2-40B4-BE49-F238E27FC236}">
                  <a16:creationId xmlns:a16="http://schemas.microsoft.com/office/drawing/2014/main" id="{C3997D45-D30B-429C-9D79-5E651BFBC0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43" name="Line 24">
              <a:extLst>
                <a:ext uri="{FF2B5EF4-FFF2-40B4-BE49-F238E27FC236}">
                  <a16:creationId xmlns:a16="http://schemas.microsoft.com/office/drawing/2014/main" id="{E4DFA272-386D-40FB-ACF3-D5131DCD4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44" name="Line 25">
              <a:extLst>
                <a:ext uri="{FF2B5EF4-FFF2-40B4-BE49-F238E27FC236}">
                  <a16:creationId xmlns:a16="http://schemas.microsoft.com/office/drawing/2014/main" id="{B09E6E03-EA83-4EC1-A9FF-42A9E0602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45" name="Line 26">
              <a:extLst>
                <a:ext uri="{FF2B5EF4-FFF2-40B4-BE49-F238E27FC236}">
                  <a16:creationId xmlns:a16="http://schemas.microsoft.com/office/drawing/2014/main" id="{5192EB5D-3BF9-402D-B672-42EB45AA0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46" name="Line 27">
              <a:extLst>
                <a:ext uri="{FF2B5EF4-FFF2-40B4-BE49-F238E27FC236}">
                  <a16:creationId xmlns:a16="http://schemas.microsoft.com/office/drawing/2014/main" id="{6DEB3770-2188-4DCA-95BC-7B99A07403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47" name="Line 35">
              <a:extLst>
                <a:ext uri="{FF2B5EF4-FFF2-40B4-BE49-F238E27FC236}">
                  <a16:creationId xmlns:a16="http://schemas.microsoft.com/office/drawing/2014/main" id="{D6182888-AB60-4F3A-AC7F-4AF80418CE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48" name="Line 36">
              <a:extLst>
                <a:ext uri="{FF2B5EF4-FFF2-40B4-BE49-F238E27FC236}">
                  <a16:creationId xmlns:a16="http://schemas.microsoft.com/office/drawing/2014/main" id="{DAA72457-9F64-46F7-B904-2E2A725E0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49" name="Line 37">
              <a:extLst>
                <a:ext uri="{FF2B5EF4-FFF2-40B4-BE49-F238E27FC236}">
                  <a16:creationId xmlns:a16="http://schemas.microsoft.com/office/drawing/2014/main" id="{10E75C85-E226-4291-A490-954E2F46BD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50" name="Line 63">
              <a:extLst>
                <a:ext uri="{FF2B5EF4-FFF2-40B4-BE49-F238E27FC236}">
                  <a16:creationId xmlns:a16="http://schemas.microsoft.com/office/drawing/2014/main" id="{68B3D51B-5F30-4179-803B-09B96B30C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9651" name="Text Box 67">
              <a:extLst>
                <a:ext uri="{FF2B5EF4-FFF2-40B4-BE49-F238E27FC236}">
                  <a16:creationId xmlns:a16="http://schemas.microsoft.com/office/drawing/2014/main" id="{F49306F2-48FA-4707-9CAE-BA7F35121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69652" name="Text Box 68">
              <a:extLst>
                <a:ext uri="{FF2B5EF4-FFF2-40B4-BE49-F238E27FC236}">
                  <a16:creationId xmlns:a16="http://schemas.microsoft.com/office/drawing/2014/main" id="{5D3791F0-4976-4B4E-ABAA-BAF38CF53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69653" name="Text Box 69">
              <a:extLst>
                <a:ext uri="{FF2B5EF4-FFF2-40B4-BE49-F238E27FC236}">
                  <a16:creationId xmlns:a16="http://schemas.microsoft.com/office/drawing/2014/main" id="{64F794AE-51C9-43B2-A6D6-2670A17000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69654" name="Text Box 74">
              <a:extLst>
                <a:ext uri="{FF2B5EF4-FFF2-40B4-BE49-F238E27FC236}">
                  <a16:creationId xmlns:a16="http://schemas.microsoft.com/office/drawing/2014/main" id="{A910ED11-703D-4E3B-BCB4-BC0BC49A8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9655" name="Text Box 75">
              <a:extLst>
                <a:ext uri="{FF2B5EF4-FFF2-40B4-BE49-F238E27FC236}">
                  <a16:creationId xmlns:a16="http://schemas.microsoft.com/office/drawing/2014/main" id="{84695ACC-6A9F-43A4-9409-3933308EB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9656" name="Text Box 76">
              <a:extLst>
                <a:ext uri="{FF2B5EF4-FFF2-40B4-BE49-F238E27FC236}">
                  <a16:creationId xmlns:a16="http://schemas.microsoft.com/office/drawing/2014/main" id="{E50B9817-289D-4F5B-8367-CC2421C03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9657" name="Text Box 78">
              <a:extLst>
                <a:ext uri="{FF2B5EF4-FFF2-40B4-BE49-F238E27FC236}">
                  <a16:creationId xmlns:a16="http://schemas.microsoft.com/office/drawing/2014/main" id="{F442CC3A-B962-4511-9B16-6526B856A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69658" name="Text Box 79">
              <a:extLst>
                <a:ext uri="{FF2B5EF4-FFF2-40B4-BE49-F238E27FC236}">
                  <a16:creationId xmlns:a16="http://schemas.microsoft.com/office/drawing/2014/main" id="{FF2AC2D4-5D6B-4A73-AFF9-BC02C6E69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</a:t>
              </a:r>
            </a:p>
          </p:txBody>
        </p:sp>
        <p:sp>
          <p:nvSpPr>
            <p:cNvPr id="69659" name="Text Box 80">
              <a:extLst>
                <a:ext uri="{FF2B5EF4-FFF2-40B4-BE49-F238E27FC236}">
                  <a16:creationId xmlns:a16="http://schemas.microsoft.com/office/drawing/2014/main" id="{E17A962F-6DF7-47DE-BAC9-69078468D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69660" name="Picture 3">
              <a:extLst>
                <a:ext uri="{FF2B5EF4-FFF2-40B4-BE49-F238E27FC236}">
                  <a16:creationId xmlns:a16="http://schemas.microsoft.com/office/drawing/2014/main" id="{EE71D951-2149-4B32-B7E0-4DB090715D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79900" name="Group 44">
              <a:extLst>
                <a:ext uri="{FF2B5EF4-FFF2-40B4-BE49-F238E27FC236}">
                  <a16:creationId xmlns:a16="http://schemas.microsoft.com/office/drawing/2014/main" id="{8A5E38F1-35F1-4723-9D6D-DA1B7C1B45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79918" name="Picture 45" descr="desktop_computer_stylized_medium">
                <a:extLst>
                  <a:ext uri="{FF2B5EF4-FFF2-40B4-BE49-F238E27FC236}">
                    <a16:creationId xmlns:a16="http://schemas.microsoft.com/office/drawing/2014/main" id="{BCB91A08-3BA0-4A48-AEAF-A09E78FADC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919" name="Freeform 46">
                <a:extLst>
                  <a:ext uri="{FF2B5EF4-FFF2-40B4-BE49-F238E27FC236}">
                    <a16:creationId xmlns:a16="http://schemas.microsoft.com/office/drawing/2014/main" id="{D420536B-37D4-455A-ACCB-1A6F68D8DE3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9901" name="Group 44">
              <a:extLst>
                <a:ext uri="{FF2B5EF4-FFF2-40B4-BE49-F238E27FC236}">
                  <a16:creationId xmlns:a16="http://schemas.microsoft.com/office/drawing/2014/main" id="{2F40B8F2-A0DA-466D-B792-549C004145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79916" name="Picture 45" descr="desktop_computer_stylized_medium">
                <a:extLst>
                  <a:ext uri="{FF2B5EF4-FFF2-40B4-BE49-F238E27FC236}">
                    <a16:creationId xmlns:a16="http://schemas.microsoft.com/office/drawing/2014/main" id="{CD08F07D-569A-458D-9FA7-9DF3445C74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917" name="Freeform 46">
                <a:extLst>
                  <a:ext uri="{FF2B5EF4-FFF2-40B4-BE49-F238E27FC236}">
                    <a16:creationId xmlns:a16="http://schemas.microsoft.com/office/drawing/2014/main" id="{884E41C9-AAE3-47EC-8859-A23B21632F6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9902" name="Group 44">
              <a:extLst>
                <a:ext uri="{FF2B5EF4-FFF2-40B4-BE49-F238E27FC236}">
                  <a16:creationId xmlns:a16="http://schemas.microsoft.com/office/drawing/2014/main" id="{7E8A8211-A6FD-4F23-A2C9-1E9827C5B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79914" name="Picture 45" descr="desktop_computer_stylized_medium">
                <a:extLst>
                  <a:ext uri="{FF2B5EF4-FFF2-40B4-BE49-F238E27FC236}">
                    <a16:creationId xmlns:a16="http://schemas.microsoft.com/office/drawing/2014/main" id="{CE539258-737D-4CC7-8C36-EB6837EA32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915" name="Freeform 46">
                <a:extLst>
                  <a:ext uri="{FF2B5EF4-FFF2-40B4-BE49-F238E27FC236}">
                    <a16:creationId xmlns:a16="http://schemas.microsoft.com/office/drawing/2014/main" id="{DFB8F677-60F4-4F40-9CB6-577F454C56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9903" name="Group 44">
              <a:extLst>
                <a:ext uri="{FF2B5EF4-FFF2-40B4-BE49-F238E27FC236}">
                  <a16:creationId xmlns:a16="http://schemas.microsoft.com/office/drawing/2014/main" id="{B5D07BE9-6E09-45C2-A269-58C3ABED9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79912" name="Picture 45" descr="desktop_computer_stylized_medium">
                <a:extLst>
                  <a:ext uri="{FF2B5EF4-FFF2-40B4-BE49-F238E27FC236}">
                    <a16:creationId xmlns:a16="http://schemas.microsoft.com/office/drawing/2014/main" id="{DEAF212B-506A-4178-A3A1-08B08931FC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913" name="Freeform 46">
                <a:extLst>
                  <a:ext uri="{FF2B5EF4-FFF2-40B4-BE49-F238E27FC236}">
                    <a16:creationId xmlns:a16="http://schemas.microsoft.com/office/drawing/2014/main" id="{A20773ED-643E-4EAC-9777-E21E7ADD90F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9904" name="Group 44">
              <a:extLst>
                <a:ext uri="{FF2B5EF4-FFF2-40B4-BE49-F238E27FC236}">
                  <a16:creationId xmlns:a16="http://schemas.microsoft.com/office/drawing/2014/main" id="{38907178-7669-4100-A76A-A4865E6C7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79910" name="Picture 45" descr="desktop_computer_stylized_medium">
                <a:extLst>
                  <a:ext uri="{FF2B5EF4-FFF2-40B4-BE49-F238E27FC236}">
                    <a16:creationId xmlns:a16="http://schemas.microsoft.com/office/drawing/2014/main" id="{DBBAB5CC-BE04-40C4-9518-39A1A71A2D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911" name="Freeform 46">
                <a:extLst>
                  <a:ext uri="{FF2B5EF4-FFF2-40B4-BE49-F238E27FC236}">
                    <a16:creationId xmlns:a16="http://schemas.microsoft.com/office/drawing/2014/main" id="{3771BDBA-2EC9-49A0-BA17-903F03E3BAA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9905" name="Group 44">
              <a:extLst>
                <a:ext uri="{FF2B5EF4-FFF2-40B4-BE49-F238E27FC236}">
                  <a16:creationId xmlns:a16="http://schemas.microsoft.com/office/drawing/2014/main" id="{E79488C8-D043-4F67-9654-A80263A249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79908" name="Picture 45" descr="desktop_computer_stylized_medium">
                <a:extLst>
                  <a:ext uri="{FF2B5EF4-FFF2-40B4-BE49-F238E27FC236}">
                    <a16:creationId xmlns:a16="http://schemas.microsoft.com/office/drawing/2014/main" id="{02779346-6830-4242-913A-990C19476F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909" name="Freeform 46">
                <a:extLst>
                  <a:ext uri="{FF2B5EF4-FFF2-40B4-BE49-F238E27FC236}">
                    <a16:creationId xmlns:a16="http://schemas.microsoft.com/office/drawing/2014/main" id="{D2AC5412-7D81-4CC4-8F0D-6D608319086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pic>
          <p:nvPicPr>
            <p:cNvPr id="69667" name="Picture 3">
              <a:extLst>
                <a:ext uri="{FF2B5EF4-FFF2-40B4-BE49-F238E27FC236}">
                  <a16:creationId xmlns:a16="http://schemas.microsoft.com/office/drawing/2014/main" id="{DC812FF4-B78F-4774-9BB2-1C0A7B661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69668" name="Picture 3">
              <a:extLst>
                <a:ext uri="{FF2B5EF4-FFF2-40B4-BE49-F238E27FC236}">
                  <a16:creationId xmlns:a16="http://schemas.microsoft.com/office/drawing/2014/main" id="{1EEF329D-614E-427D-BBA7-6323205602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79880" name="灯片编号占位符 5">
            <a:extLst>
              <a:ext uri="{FF2B5EF4-FFF2-40B4-BE49-F238E27FC236}">
                <a16:creationId xmlns:a16="http://schemas.microsoft.com/office/drawing/2014/main" id="{731F409F-2DC9-4C6E-8B4F-4A6E44E65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9DD0AAF-3226-4CA3-BE3C-A610526E18D5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4">
            <a:extLst>
              <a:ext uri="{FF2B5EF4-FFF2-40B4-BE49-F238E27FC236}">
                <a16:creationId xmlns:a16="http://schemas.microsoft.com/office/drawing/2014/main" id="{4018E670-A6E3-423A-858E-441E9B41B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Institutional network</a:t>
            </a:r>
          </a:p>
        </p:txBody>
      </p:sp>
      <p:sp>
        <p:nvSpPr>
          <p:cNvPr id="81923" name="Freeform 81">
            <a:extLst>
              <a:ext uri="{FF2B5EF4-FFF2-40B4-BE49-F238E27FC236}">
                <a16:creationId xmlns:a16="http://schemas.microsoft.com/office/drawing/2014/main" id="{F0D80F42-B3D6-4B44-8F9F-4E87E98AB6EE}"/>
              </a:ext>
            </a:extLst>
          </p:cNvPr>
          <p:cNvSpPr>
            <a:spLocks/>
          </p:cNvSpPr>
          <p:nvPr/>
        </p:nvSpPr>
        <p:spPr bwMode="auto">
          <a:xfrm rot="5400000">
            <a:off x="2179637" y="244476"/>
            <a:ext cx="4321175" cy="7473950"/>
          </a:xfrm>
          <a:custGeom>
            <a:avLst/>
            <a:gdLst>
              <a:gd name="T0" fmla="*/ 2147483646 w 10000"/>
              <a:gd name="T1" fmla="*/ 2147483646 h 9831"/>
              <a:gd name="T2" fmla="*/ 2147483646 w 10000"/>
              <a:gd name="T3" fmla="*/ 2147483646 h 9831"/>
              <a:gd name="T4" fmla="*/ 2147483646 w 10000"/>
              <a:gd name="T5" fmla="*/ 2147483646 h 9831"/>
              <a:gd name="T6" fmla="*/ 2147483646 w 10000"/>
              <a:gd name="T7" fmla="*/ 2147483646 h 9831"/>
              <a:gd name="T8" fmla="*/ 2147483646 w 10000"/>
              <a:gd name="T9" fmla="*/ 2147483646 h 9831"/>
              <a:gd name="T10" fmla="*/ 2147483646 w 10000"/>
              <a:gd name="T11" fmla="*/ 2147483646 h 9831"/>
              <a:gd name="T12" fmla="*/ 2147483646 w 10000"/>
              <a:gd name="T13" fmla="*/ 2147483646 h 9831"/>
              <a:gd name="T14" fmla="*/ 2147483646 w 10000"/>
              <a:gd name="T15" fmla="*/ 2147483646 h 9831"/>
              <a:gd name="T16" fmla="*/ 2147483646 w 10000"/>
              <a:gd name="T17" fmla="*/ 2147483646 h 9831"/>
              <a:gd name="T18" fmla="*/ 2147483646 w 10000"/>
              <a:gd name="T19" fmla="*/ 2147483646 h 9831"/>
              <a:gd name="T20" fmla="*/ 2147483646 w 10000"/>
              <a:gd name="T21" fmla="*/ 2147483646 h 9831"/>
              <a:gd name="T22" fmla="*/ 2147483646 w 10000"/>
              <a:gd name="T23" fmla="*/ 2147483646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2" name="Line 33">
            <a:extLst>
              <a:ext uri="{FF2B5EF4-FFF2-40B4-BE49-F238E27FC236}">
                <a16:creationId xmlns:a16="http://schemas.microsoft.com/office/drawing/2014/main" id="{909FCC3B-FC37-4A0E-9D13-E7E2389BDD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51063" y="3387725"/>
            <a:ext cx="2047875" cy="141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63" name="Line 34">
            <a:extLst>
              <a:ext uri="{FF2B5EF4-FFF2-40B4-BE49-F238E27FC236}">
                <a16:creationId xmlns:a16="http://schemas.microsoft.com/office/drawing/2014/main" id="{7EF71217-CB75-4851-8DAA-3B0607913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1025" y="3375025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64" name="Line 35">
            <a:extLst>
              <a:ext uri="{FF2B5EF4-FFF2-40B4-BE49-F238E27FC236}">
                <a16:creationId xmlns:a16="http://schemas.microsoft.com/office/drawing/2014/main" id="{50D9FDBB-CE5D-4031-82DF-83669AA3FCF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84700" y="3309938"/>
            <a:ext cx="1841500" cy="162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65" name="Line 59">
            <a:extLst>
              <a:ext uri="{FF2B5EF4-FFF2-40B4-BE49-F238E27FC236}">
                <a16:creationId xmlns:a16="http://schemas.microsoft.com/office/drawing/2014/main" id="{05309EE6-A550-4CE9-AFD5-BC70B40050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7888" y="2692400"/>
            <a:ext cx="1223962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66" name="Line 60">
            <a:extLst>
              <a:ext uri="{FF2B5EF4-FFF2-40B4-BE49-F238E27FC236}">
                <a16:creationId xmlns:a16="http://schemas.microsoft.com/office/drawing/2014/main" id="{449F5C65-8864-419A-A86A-769CC605FA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1513" y="2370138"/>
            <a:ext cx="669925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67" name="Line 77">
            <a:extLst>
              <a:ext uri="{FF2B5EF4-FFF2-40B4-BE49-F238E27FC236}">
                <a16:creationId xmlns:a16="http://schemas.microsoft.com/office/drawing/2014/main" id="{52FABF35-F0B8-4F03-85D7-2E76BDAD0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725" y="2524125"/>
            <a:ext cx="862013" cy="64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68" name="Line 78">
            <a:extLst>
              <a:ext uri="{FF2B5EF4-FFF2-40B4-BE49-F238E27FC236}">
                <a16:creationId xmlns:a16="http://schemas.microsoft.com/office/drawing/2014/main" id="{FE753439-B7E1-4E50-BE14-F768F90BBA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5488" y="2420938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69" name="Text Box 79">
            <a:extLst>
              <a:ext uri="{FF2B5EF4-FFF2-40B4-BE49-F238E27FC236}">
                <a16:creationId xmlns:a16="http://schemas.microsoft.com/office/drawing/2014/main" id="{159E171A-FD4B-4736-8519-F83AD3244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2041525"/>
            <a:ext cx="126206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to external</a:t>
            </a:r>
          </a:p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70670" name="Text Box 80">
            <a:extLst>
              <a:ext uri="{FF2B5EF4-FFF2-40B4-BE49-F238E27FC236}">
                <a16:creationId xmlns:a16="http://schemas.microsoft.com/office/drawing/2014/main" id="{BB7DC27A-8925-4EB1-922C-BB6C3460F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608263"/>
            <a:ext cx="787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sp>
        <p:nvSpPr>
          <p:cNvPr id="70671" name="Text Box 82">
            <a:extLst>
              <a:ext uri="{FF2B5EF4-FFF2-40B4-BE49-F238E27FC236}">
                <a16:creationId xmlns:a16="http://schemas.microsoft.com/office/drawing/2014/main" id="{E45CBDBA-4DF7-4A83-98A3-AEEBB4F51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725" y="3516313"/>
            <a:ext cx="1549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IP subnet</a:t>
            </a:r>
          </a:p>
        </p:txBody>
      </p:sp>
      <p:sp>
        <p:nvSpPr>
          <p:cNvPr id="70672" name="Text Box 83">
            <a:extLst>
              <a:ext uri="{FF2B5EF4-FFF2-40B4-BE49-F238E27FC236}">
                <a16:creationId xmlns:a16="http://schemas.microsoft.com/office/drawing/2014/main" id="{C6DECD4C-B6E9-499F-B9CD-4ED62AAF7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425" y="1835150"/>
            <a:ext cx="1365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mail server</a:t>
            </a:r>
          </a:p>
        </p:txBody>
      </p:sp>
      <p:sp>
        <p:nvSpPr>
          <p:cNvPr id="70673" name="Text Box 84">
            <a:extLst>
              <a:ext uri="{FF2B5EF4-FFF2-40B4-BE49-F238E27FC236}">
                <a16:creationId xmlns:a16="http://schemas.microsoft.com/office/drawing/2014/main" id="{AFBF2F62-43BF-4040-BE72-555D983FE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938" y="2505075"/>
            <a:ext cx="1362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web server</a:t>
            </a:r>
          </a:p>
        </p:txBody>
      </p:sp>
      <p:sp>
        <p:nvSpPr>
          <p:cNvPr id="70674" name="Line 20">
            <a:extLst>
              <a:ext uri="{FF2B5EF4-FFF2-40B4-BE49-F238E27FC236}">
                <a16:creationId xmlns:a16="http://schemas.microsoft.com/office/drawing/2014/main" id="{F946A80E-A621-4756-AA6B-8FB32CE1E6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65263" y="47545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75" name="Line 21">
            <a:extLst>
              <a:ext uri="{FF2B5EF4-FFF2-40B4-BE49-F238E27FC236}">
                <a16:creationId xmlns:a16="http://schemas.microsoft.com/office/drawing/2014/main" id="{93B2726C-2BBE-43FC-96B7-DCA9097950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52613" y="4802188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76" name="Line 22">
            <a:extLst>
              <a:ext uri="{FF2B5EF4-FFF2-40B4-BE49-F238E27FC236}">
                <a16:creationId xmlns:a16="http://schemas.microsoft.com/office/drawing/2014/main" id="{195B1C82-035D-453B-869A-D744C4071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1713" y="4830763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grpSp>
        <p:nvGrpSpPr>
          <p:cNvPr id="81939" name="Group 44">
            <a:extLst>
              <a:ext uri="{FF2B5EF4-FFF2-40B4-BE49-F238E27FC236}">
                <a16:creationId xmlns:a16="http://schemas.microsoft.com/office/drawing/2014/main" id="{E730AD35-B481-4133-A14B-623393837783}"/>
              </a:ext>
            </a:extLst>
          </p:cNvPr>
          <p:cNvGrpSpPr>
            <a:grpSpLocks/>
          </p:cNvGrpSpPr>
          <p:nvPr/>
        </p:nvGrpSpPr>
        <p:grpSpPr bwMode="auto">
          <a:xfrm>
            <a:off x="1009650" y="4557713"/>
            <a:ext cx="568325" cy="481012"/>
            <a:chOff x="-44" y="1473"/>
            <a:chExt cx="981" cy="1105"/>
          </a:xfrm>
        </p:grpSpPr>
        <p:pic>
          <p:nvPicPr>
            <p:cNvPr id="82070" name="Picture 45" descr="desktop_computer_stylized_medium">
              <a:extLst>
                <a:ext uri="{FF2B5EF4-FFF2-40B4-BE49-F238E27FC236}">
                  <a16:creationId xmlns:a16="http://schemas.microsoft.com/office/drawing/2014/main" id="{3CC103A0-73C1-4791-BC51-72FA7359BD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71" name="Freeform 46">
              <a:extLst>
                <a:ext uri="{FF2B5EF4-FFF2-40B4-BE49-F238E27FC236}">
                  <a16:creationId xmlns:a16="http://schemas.microsoft.com/office/drawing/2014/main" id="{460CA97B-5C06-47CE-8276-95BDB43774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1940" name="Group 44">
            <a:extLst>
              <a:ext uri="{FF2B5EF4-FFF2-40B4-BE49-F238E27FC236}">
                <a16:creationId xmlns:a16="http://schemas.microsoft.com/office/drawing/2014/main" id="{BA298CEB-DFBC-4086-84DC-BFE3EC939993}"/>
              </a:ext>
            </a:extLst>
          </p:cNvPr>
          <p:cNvGrpSpPr>
            <a:grpSpLocks/>
          </p:cNvGrpSpPr>
          <p:nvPr/>
        </p:nvGrpSpPr>
        <p:grpSpPr bwMode="auto">
          <a:xfrm>
            <a:off x="1416050" y="5014913"/>
            <a:ext cx="568325" cy="481012"/>
            <a:chOff x="-44" y="1473"/>
            <a:chExt cx="981" cy="1105"/>
          </a:xfrm>
        </p:grpSpPr>
        <p:pic>
          <p:nvPicPr>
            <p:cNvPr id="82068" name="Picture 45" descr="desktop_computer_stylized_medium">
              <a:extLst>
                <a:ext uri="{FF2B5EF4-FFF2-40B4-BE49-F238E27FC236}">
                  <a16:creationId xmlns:a16="http://schemas.microsoft.com/office/drawing/2014/main" id="{7B294AB0-6708-432E-9FC4-B54B29326A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69" name="Freeform 46">
              <a:extLst>
                <a:ext uri="{FF2B5EF4-FFF2-40B4-BE49-F238E27FC236}">
                  <a16:creationId xmlns:a16="http://schemas.microsoft.com/office/drawing/2014/main" id="{01ED176D-87CA-440F-BE7C-FE14B1DCE6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1941" name="Group 44">
            <a:extLst>
              <a:ext uri="{FF2B5EF4-FFF2-40B4-BE49-F238E27FC236}">
                <a16:creationId xmlns:a16="http://schemas.microsoft.com/office/drawing/2014/main" id="{3E51F1B2-8C3F-4935-885D-8A2473E34B78}"/>
              </a:ext>
            </a:extLst>
          </p:cNvPr>
          <p:cNvGrpSpPr>
            <a:grpSpLocks/>
          </p:cNvGrpSpPr>
          <p:nvPr/>
        </p:nvGrpSpPr>
        <p:grpSpPr bwMode="auto">
          <a:xfrm>
            <a:off x="1944688" y="5046663"/>
            <a:ext cx="568325" cy="481012"/>
            <a:chOff x="-44" y="1473"/>
            <a:chExt cx="981" cy="1105"/>
          </a:xfrm>
        </p:grpSpPr>
        <p:pic>
          <p:nvPicPr>
            <p:cNvPr id="82066" name="Picture 45" descr="desktop_computer_stylized_medium">
              <a:extLst>
                <a:ext uri="{FF2B5EF4-FFF2-40B4-BE49-F238E27FC236}">
                  <a16:creationId xmlns:a16="http://schemas.microsoft.com/office/drawing/2014/main" id="{A2670155-AD21-42C4-B59A-D006694406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67" name="Freeform 46">
              <a:extLst>
                <a:ext uri="{FF2B5EF4-FFF2-40B4-BE49-F238E27FC236}">
                  <a16:creationId xmlns:a16="http://schemas.microsoft.com/office/drawing/2014/main" id="{63A4B565-9D41-4AA5-B118-8C7CCFA529E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0680" name="Line 21">
            <a:extLst>
              <a:ext uri="{FF2B5EF4-FFF2-40B4-BE49-F238E27FC236}">
                <a16:creationId xmlns:a16="http://schemas.microsoft.com/office/drawing/2014/main" id="{DAEE8952-44F2-484A-BBC1-B68422824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0788" y="4760913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81" name="Line 22">
            <a:extLst>
              <a:ext uri="{FF2B5EF4-FFF2-40B4-BE49-F238E27FC236}">
                <a16:creationId xmlns:a16="http://schemas.microsoft.com/office/drawing/2014/main" id="{05121F58-23F6-4551-9A65-8298C31179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22563" y="5256213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82" name="Line 22">
            <a:extLst>
              <a:ext uri="{FF2B5EF4-FFF2-40B4-BE49-F238E27FC236}">
                <a16:creationId xmlns:a16="http://schemas.microsoft.com/office/drawing/2014/main" id="{2D891260-1854-4FDD-BAD5-DFA15DD9D6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52673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83" name="Line 20">
            <a:extLst>
              <a:ext uri="{FF2B5EF4-FFF2-40B4-BE49-F238E27FC236}">
                <a16:creationId xmlns:a16="http://schemas.microsoft.com/office/drawing/2014/main" id="{86CA707E-96D9-42E8-9DAA-20512596CA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5775" y="51482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grpSp>
        <p:nvGrpSpPr>
          <p:cNvPr id="81946" name="Group 44">
            <a:extLst>
              <a:ext uri="{FF2B5EF4-FFF2-40B4-BE49-F238E27FC236}">
                <a16:creationId xmlns:a16="http://schemas.microsoft.com/office/drawing/2014/main" id="{275F5D38-7EB8-48EA-A663-64FC9877C55F}"/>
              </a:ext>
            </a:extLst>
          </p:cNvPr>
          <p:cNvGrpSpPr>
            <a:grpSpLocks/>
          </p:cNvGrpSpPr>
          <p:nvPr/>
        </p:nvGrpSpPr>
        <p:grpSpPr bwMode="auto">
          <a:xfrm>
            <a:off x="2349500" y="5419725"/>
            <a:ext cx="568325" cy="481013"/>
            <a:chOff x="-44" y="1473"/>
            <a:chExt cx="981" cy="1105"/>
          </a:xfrm>
        </p:grpSpPr>
        <p:pic>
          <p:nvPicPr>
            <p:cNvPr id="82064" name="Picture 45" descr="desktop_computer_stylized_medium">
              <a:extLst>
                <a:ext uri="{FF2B5EF4-FFF2-40B4-BE49-F238E27FC236}">
                  <a16:creationId xmlns:a16="http://schemas.microsoft.com/office/drawing/2014/main" id="{28013913-1B5D-42E0-B531-F66EA67E09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65" name="Freeform 46">
              <a:extLst>
                <a:ext uri="{FF2B5EF4-FFF2-40B4-BE49-F238E27FC236}">
                  <a16:creationId xmlns:a16="http://schemas.microsoft.com/office/drawing/2014/main" id="{545AC38A-5FED-4348-BAE8-610A9BD7DC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1947" name="Group 44">
            <a:extLst>
              <a:ext uri="{FF2B5EF4-FFF2-40B4-BE49-F238E27FC236}">
                <a16:creationId xmlns:a16="http://schemas.microsoft.com/office/drawing/2014/main" id="{FB39B99D-E30D-4E30-97B5-F491B4655755}"/>
              </a:ext>
            </a:extLst>
          </p:cNvPr>
          <p:cNvGrpSpPr>
            <a:grpSpLocks/>
          </p:cNvGrpSpPr>
          <p:nvPr/>
        </p:nvGrpSpPr>
        <p:grpSpPr bwMode="auto">
          <a:xfrm>
            <a:off x="2806700" y="5487988"/>
            <a:ext cx="568325" cy="481012"/>
            <a:chOff x="-44" y="1473"/>
            <a:chExt cx="981" cy="1105"/>
          </a:xfrm>
        </p:grpSpPr>
        <p:pic>
          <p:nvPicPr>
            <p:cNvPr id="82062" name="Picture 45" descr="desktop_computer_stylized_medium">
              <a:extLst>
                <a:ext uri="{FF2B5EF4-FFF2-40B4-BE49-F238E27FC236}">
                  <a16:creationId xmlns:a16="http://schemas.microsoft.com/office/drawing/2014/main" id="{A2D159D4-2D2F-4245-BAD9-8FA1E7D1E7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63" name="Freeform 46">
              <a:extLst>
                <a:ext uri="{FF2B5EF4-FFF2-40B4-BE49-F238E27FC236}">
                  <a16:creationId xmlns:a16="http://schemas.microsoft.com/office/drawing/2014/main" id="{7196EAA0-1CF0-4C89-912D-02310CCEFAF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70686" name="Picture 3">
            <a:extLst>
              <a:ext uri="{FF2B5EF4-FFF2-40B4-BE49-F238E27FC236}">
                <a16:creationId xmlns:a16="http://schemas.microsoft.com/office/drawing/2014/main" id="{46889696-E6DF-431B-A44A-7032C55DD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97063" y="4602163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0687" name="Picture 3">
            <a:extLst>
              <a:ext uri="{FF2B5EF4-FFF2-40B4-BE49-F238E27FC236}">
                <a16:creationId xmlns:a16="http://schemas.microsoft.com/office/drawing/2014/main" id="{EF774631-30BF-41DB-AAB9-6E63D37B0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47950" y="5018088"/>
            <a:ext cx="6778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81950" name="Group 44">
            <a:extLst>
              <a:ext uri="{FF2B5EF4-FFF2-40B4-BE49-F238E27FC236}">
                <a16:creationId xmlns:a16="http://schemas.microsoft.com/office/drawing/2014/main" id="{FA633823-8864-4736-810A-ACE19F9EF4DA}"/>
              </a:ext>
            </a:extLst>
          </p:cNvPr>
          <p:cNvGrpSpPr>
            <a:grpSpLocks/>
          </p:cNvGrpSpPr>
          <p:nvPr/>
        </p:nvGrpSpPr>
        <p:grpSpPr bwMode="auto">
          <a:xfrm>
            <a:off x="3232150" y="4946650"/>
            <a:ext cx="568325" cy="481013"/>
            <a:chOff x="-44" y="1473"/>
            <a:chExt cx="981" cy="1105"/>
          </a:xfrm>
        </p:grpSpPr>
        <p:pic>
          <p:nvPicPr>
            <p:cNvPr id="82060" name="Picture 45" descr="desktop_computer_stylized_medium">
              <a:extLst>
                <a:ext uri="{FF2B5EF4-FFF2-40B4-BE49-F238E27FC236}">
                  <a16:creationId xmlns:a16="http://schemas.microsoft.com/office/drawing/2014/main" id="{B8BFB4D4-1652-49BC-999E-9E989BAFD4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61" name="Freeform 46">
              <a:extLst>
                <a:ext uri="{FF2B5EF4-FFF2-40B4-BE49-F238E27FC236}">
                  <a16:creationId xmlns:a16="http://schemas.microsoft.com/office/drawing/2014/main" id="{2BCA4A7E-78AE-4840-902B-115478F4DB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0689" name="Line 20">
            <a:extLst>
              <a:ext uri="{FF2B5EF4-FFF2-40B4-BE49-F238E27FC236}">
                <a16:creationId xmlns:a16="http://schemas.microsoft.com/office/drawing/2014/main" id="{0ADEB861-4439-45E1-908B-EF7B3AE72E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84838" y="5022850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90" name="Line 21">
            <a:extLst>
              <a:ext uri="{FF2B5EF4-FFF2-40B4-BE49-F238E27FC236}">
                <a16:creationId xmlns:a16="http://schemas.microsoft.com/office/drawing/2014/main" id="{F6273965-0EB6-4BDB-B1B1-6D1AD1A134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5070475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91" name="Line 22">
            <a:extLst>
              <a:ext uri="{FF2B5EF4-FFF2-40B4-BE49-F238E27FC236}">
                <a16:creationId xmlns:a16="http://schemas.microsoft.com/office/drawing/2014/main" id="{F7AE0035-6AA2-44F8-8662-A15CFD753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1288" y="5099050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grpSp>
        <p:nvGrpSpPr>
          <p:cNvPr id="81954" name="Group 44">
            <a:extLst>
              <a:ext uri="{FF2B5EF4-FFF2-40B4-BE49-F238E27FC236}">
                <a16:creationId xmlns:a16="http://schemas.microsoft.com/office/drawing/2014/main" id="{67F784BC-5154-455B-A6C2-0BCFC7EC169A}"/>
              </a:ext>
            </a:extLst>
          </p:cNvPr>
          <p:cNvGrpSpPr>
            <a:grpSpLocks/>
          </p:cNvGrpSpPr>
          <p:nvPr/>
        </p:nvGrpSpPr>
        <p:grpSpPr bwMode="auto">
          <a:xfrm>
            <a:off x="5376863" y="4837113"/>
            <a:ext cx="568325" cy="481012"/>
            <a:chOff x="-44" y="1473"/>
            <a:chExt cx="981" cy="1105"/>
          </a:xfrm>
        </p:grpSpPr>
        <p:pic>
          <p:nvPicPr>
            <p:cNvPr id="82058" name="Picture 45" descr="desktop_computer_stylized_medium">
              <a:extLst>
                <a:ext uri="{FF2B5EF4-FFF2-40B4-BE49-F238E27FC236}">
                  <a16:creationId xmlns:a16="http://schemas.microsoft.com/office/drawing/2014/main" id="{3056D2AA-07BC-435C-A701-0023D7242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59" name="Freeform 46">
              <a:extLst>
                <a:ext uri="{FF2B5EF4-FFF2-40B4-BE49-F238E27FC236}">
                  <a16:creationId xmlns:a16="http://schemas.microsoft.com/office/drawing/2014/main" id="{56458242-A694-435C-9C07-0CCFEFF52B5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1955" name="Group 44">
            <a:extLst>
              <a:ext uri="{FF2B5EF4-FFF2-40B4-BE49-F238E27FC236}">
                <a16:creationId xmlns:a16="http://schemas.microsoft.com/office/drawing/2014/main" id="{7E3FF085-FAF5-4924-981E-9B7A1D1C6CB0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5283200"/>
            <a:ext cx="569913" cy="481013"/>
            <a:chOff x="-44" y="1473"/>
            <a:chExt cx="981" cy="1105"/>
          </a:xfrm>
        </p:grpSpPr>
        <p:pic>
          <p:nvPicPr>
            <p:cNvPr id="82056" name="Picture 45" descr="desktop_computer_stylized_medium">
              <a:extLst>
                <a:ext uri="{FF2B5EF4-FFF2-40B4-BE49-F238E27FC236}">
                  <a16:creationId xmlns:a16="http://schemas.microsoft.com/office/drawing/2014/main" id="{8F8777D7-E621-49A1-8871-C54957A8EC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57" name="Freeform 46">
              <a:extLst>
                <a:ext uri="{FF2B5EF4-FFF2-40B4-BE49-F238E27FC236}">
                  <a16:creationId xmlns:a16="http://schemas.microsoft.com/office/drawing/2014/main" id="{AE106118-35BE-4BED-AF4A-7B70762E07E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1956" name="Group 44">
            <a:extLst>
              <a:ext uri="{FF2B5EF4-FFF2-40B4-BE49-F238E27FC236}">
                <a16:creationId xmlns:a16="http://schemas.microsoft.com/office/drawing/2014/main" id="{D228D490-2B72-42AE-8B2E-4A02509D8BE6}"/>
              </a:ext>
            </a:extLst>
          </p:cNvPr>
          <p:cNvGrpSpPr>
            <a:grpSpLocks/>
          </p:cNvGrpSpPr>
          <p:nvPr/>
        </p:nvGrpSpPr>
        <p:grpSpPr bwMode="auto">
          <a:xfrm>
            <a:off x="6164263" y="5313363"/>
            <a:ext cx="568325" cy="482600"/>
            <a:chOff x="-44" y="1473"/>
            <a:chExt cx="981" cy="1105"/>
          </a:xfrm>
        </p:grpSpPr>
        <p:pic>
          <p:nvPicPr>
            <p:cNvPr id="82054" name="Picture 45" descr="desktop_computer_stylized_medium">
              <a:extLst>
                <a:ext uri="{FF2B5EF4-FFF2-40B4-BE49-F238E27FC236}">
                  <a16:creationId xmlns:a16="http://schemas.microsoft.com/office/drawing/2014/main" id="{D5450264-C8EC-4D3E-BC93-13FF268FD0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55" name="Freeform 46">
              <a:extLst>
                <a:ext uri="{FF2B5EF4-FFF2-40B4-BE49-F238E27FC236}">
                  <a16:creationId xmlns:a16="http://schemas.microsoft.com/office/drawing/2014/main" id="{C3260A85-C27D-4D24-B70B-F4C715A066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0695" name="Line 20">
            <a:extLst>
              <a:ext uri="{FF2B5EF4-FFF2-40B4-BE49-F238E27FC236}">
                <a16:creationId xmlns:a16="http://schemas.microsoft.com/office/drawing/2014/main" id="{C535CEEF-7C7E-4BE7-9EA3-C2C58681E6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59313" y="5068888"/>
            <a:ext cx="606425" cy="312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96" name="Line 21">
            <a:extLst>
              <a:ext uri="{FF2B5EF4-FFF2-40B4-BE49-F238E27FC236}">
                <a16:creationId xmlns:a16="http://schemas.microsoft.com/office/drawing/2014/main" id="{1EFFA45B-DFA7-4A9F-8AC1-0EA2D7CEB3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5763" y="5022850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0697" name="Line 22">
            <a:extLst>
              <a:ext uri="{FF2B5EF4-FFF2-40B4-BE49-F238E27FC236}">
                <a16:creationId xmlns:a16="http://schemas.microsoft.com/office/drawing/2014/main" id="{4922AF2A-9370-448B-BC2D-09670AE3E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4863" y="50514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grpSp>
        <p:nvGrpSpPr>
          <p:cNvPr id="81960" name="Group 44">
            <a:extLst>
              <a:ext uri="{FF2B5EF4-FFF2-40B4-BE49-F238E27FC236}">
                <a16:creationId xmlns:a16="http://schemas.microsoft.com/office/drawing/2014/main" id="{AD92FF85-FA1D-49BE-A8E6-DAE18C29F554}"/>
              </a:ext>
            </a:extLst>
          </p:cNvPr>
          <p:cNvGrpSpPr>
            <a:grpSpLocks/>
          </p:cNvGrpSpPr>
          <p:nvPr/>
        </p:nvGrpSpPr>
        <p:grpSpPr bwMode="auto">
          <a:xfrm>
            <a:off x="4803775" y="5230813"/>
            <a:ext cx="569913" cy="481012"/>
            <a:chOff x="-44" y="1473"/>
            <a:chExt cx="981" cy="1105"/>
          </a:xfrm>
        </p:grpSpPr>
        <p:pic>
          <p:nvPicPr>
            <p:cNvPr id="82052" name="Picture 45" descr="desktop_computer_stylized_medium">
              <a:extLst>
                <a:ext uri="{FF2B5EF4-FFF2-40B4-BE49-F238E27FC236}">
                  <a16:creationId xmlns:a16="http://schemas.microsoft.com/office/drawing/2014/main" id="{5C6A9DFF-8873-495D-8C06-E5C4A9FCD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53" name="Freeform 46">
              <a:extLst>
                <a:ext uri="{FF2B5EF4-FFF2-40B4-BE49-F238E27FC236}">
                  <a16:creationId xmlns:a16="http://schemas.microsoft.com/office/drawing/2014/main" id="{A5B533DE-6D90-41B9-A3E4-F0B44C81BBD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1961" name="Group 44">
            <a:extLst>
              <a:ext uri="{FF2B5EF4-FFF2-40B4-BE49-F238E27FC236}">
                <a16:creationId xmlns:a16="http://schemas.microsoft.com/office/drawing/2014/main" id="{E5FC1E8F-46BC-4C2F-9010-97EC99E99F39}"/>
              </a:ext>
            </a:extLst>
          </p:cNvPr>
          <p:cNvGrpSpPr>
            <a:grpSpLocks/>
          </p:cNvGrpSpPr>
          <p:nvPr/>
        </p:nvGrpSpPr>
        <p:grpSpPr bwMode="auto">
          <a:xfrm>
            <a:off x="3759200" y="5235575"/>
            <a:ext cx="569913" cy="482600"/>
            <a:chOff x="-44" y="1473"/>
            <a:chExt cx="981" cy="1105"/>
          </a:xfrm>
        </p:grpSpPr>
        <p:pic>
          <p:nvPicPr>
            <p:cNvPr id="82050" name="Picture 45" descr="desktop_computer_stylized_medium">
              <a:extLst>
                <a:ext uri="{FF2B5EF4-FFF2-40B4-BE49-F238E27FC236}">
                  <a16:creationId xmlns:a16="http://schemas.microsoft.com/office/drawing/2014/main" id="{FE4F1F79-2EEB-42C7-93BF-7058432A62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51" name="Freeform 46">
              <a:extLst>
                <a:ext uri="{FF2B5EF4-FFF2-40B4-BE49-F238E27FC236}">
                  <a16:creationId xmlns:a16="http://schemas.microsoft.com/office/drawing/2014/main" id="{21733804-90E1-4597-A5EE-F39CE08D56D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1962" name="Group 44">
            <a:extLst>
              <a:ext uri="{FF2B5EF4-FFF2-40B4-BE49-F238E27FC236}">
                <a16:creationId xmlns:a16="http://schemas.microsoft.com/office/drawing/2014/main" id="{CFDA5C23-51B3-4ED1-8CAB-016F47FCB58C}"/>
              </a:ext>
            </a:extLst>
          </p:cNvPr>
          <p:cNvGrpSpPr>
            <a:grpSpLocks/>
          </p:cNvGrpSpPr>
          <p:nvPr/>
        </p:nvGrpSpPr>
        <p:grpSpPr bwMode="auto">
          <a:xfrm>
            <a:off x="4287838" y="5267325"/>
            <a:ext cx="569912" cy="481013"/>
            <a:chOff x="-44" y="1473"/>
            <a:chExt cx="981" cy="1105"/>
          </a:xfrm>
        </p:grpSpPr>
        <p:pic>
          <p:nvPicPr>
            <p:cNvPr id="82048" name="Picture 45" descr="desktop_computer_stylized_medium">
              <a:extLst>
                <a:ext uri="{FF2B5EF4-FFF2-40B4-BE49-F238E27FC236}">
                  <a16:creationId xmlns:a16="http://schemas.microsoft.com/office/drawing/2014/main" id="{AF1C8862-4DB3-4D61-8648-A1298A1112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49" name="Freeform 46">
              <a:extLst>
                <a:ext uri="{FF2B5EF4-FFF2-40B4-BE49-F238E27FC236}">
                  <a16:creationId xmlns:a16="http://schemas.microsoft.com/office/drawing/2014/main" id="{3D746A30-840D-4CFD-B9A1-9F2585C55EC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70701" name="Picture 3">
            <a:extLst>
              <a:ext uri="{FF2B5EF4-FFF2-40B4-BE49-F238E27FC236}">
                <a16:creationId xmlns:a16="http://schemas.microsoft.com/office/drawing/2014/main" id="{1748392B-9489-4550-AC0C-46A016217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40213" y="4822825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702" name="Line 20">
            <a:extLst>
              <a:ext uri="{FF2B5EF4-FFF2-40B4-BE49-F238E27FC236}">
                <a16:creationId xmlns:a16="http://schemas.microsoft.com/office/drawing/2014/main" id="{A98B472B-D0AE-49A8-9D87-018252E00F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9863" y="510063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pic>
        <p:nvPicPr>
          <p:cNvPr id="70703" name="Picture 3">
            <a:extLst>
              <a:ext uri="{FF2B5EF4-FFF2-40B4-BE49-F238E27FC236}">
                <a16:creationId xmlns:a16="http://schemas.microsoft.com/office/drawing/2014/main" id="{7E0B5928-FE26-4850-9A2F-EBE43D4FF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6638" y="4870450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81966" name="Group 44">
            <a:extLst>
              <a:ext uri="{FF2B5EF4-FFF2-40B4-BE49-F238E27FC236}">
                <a16:creationId xmlns:a16="http://schemas.microsoft.com/office/drawing/2014/main" id="{037FE8D2-D70A-47E8-AA47-32B922C5DFBE}"/>
              </a:ext>
            </a:extLst>
          </p:cNvPr>
          <p:cNvGrpSpPr>
            <a:grpSpLocks/>
          </p:cNvGrpSpPr>
          <p:nvPr/>
        </p:nvGrpSpPr>
        <p:grpSpPr bwMode="auto">
          <a:xfrm>
            <a:off x="6684963" y="4884738"/>
            <a:ext cx="569912" cy="481012"/>
            <a:chOff x="-44" y="1473"/>
            <a:chExt cx="981" cy="1105"/>
          </a:xfrm>
        </p:grpSpPr>
        <p:pic>
          <p:nvPicPr>
            <p:cNvPr id="82046" name="Picture 45" descr="desktop_computer_stylized_medium">
              <a:extLst>
                <a:ext uri="{FF2B5EF4-FFF2-40B4-BE49-F238E27FC236}">
                  <a16:creationId xmlns:a16="http://schemas.microsoft.com/office/drawing/2014/main" id="{C316DA76-AE3B-48C0-BB36-D3180922B4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47" name="Freeform 46">
              <a:extLst>
                <a:ext uri="{FF2B5EF4-FFF2-40B4-BE49-F238E27FC236}">
                  <a16:creationId xmlns:a16="http://schemas.microsoft.com/office/drawing/2014/main" id="{26B95BA5-2CD6-44DC-824C-D77FFA5EB3F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70705" name="Picture 3">
            <a:extLst>
              <a:ext uri="{FF2B5EF4-FFF2-40B4-BE49-F238E27FC236}">
                <a16:creationId xmlns:a16="http://schemas.microsoft.com/office/drawing/2014/main" id="{DA4E3BBE-4EC9-4D41-A072-02284C7DB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62400" y="3062288"/>
            <a:ext cx="935038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81968" name="Group 906">
            <a:extLst>
              <a:ext uri="{FF2B5EF4-FFF2-40B4-BE49-F238E27FC236}">
                <a16:creationId xmlns:a16="http://schemas.microsoft.com/office/drawing/2014/main" id="{AF450B45-43D4-4DF3-BC00-88CE0450D37D}"/>
              </a:ext>
            </a:extLst>
          </p:cNvPr>
          <p:cNvGrpSpPr>
            <a:grpSpLocks/>
          </p:cNvGrpSpPr>
          <p:nvPr/>
        </p:nvGrpSpPr>
        <p:grpSpPr bwMode="auto">
          <a:xfrm>
            <a:off x="5140325" y="2111375"/>
            <a:ext cx="366713" cy="579438"/>
            <a:chOff x="4140" y="429"/>
            <a:chExt cx="1425" cy="2396"/>
          </a:xfrm>
        </p:grpSpPr>
        <p:sp>
          <p:nvSpPr>
            <p:cNvPr id="82014" name="Freeform 907">
              <a:extLst>
                <a:ext uri="{FF2B5EF4-FFF2-40B4-BE49-F238E27FC236}">
                  <a16:creationId xmlns:a16="http://schemas.microsoft.com/office/drawing/2014/main" id="{E43CD9F8-210A-4C53-89C6-62C7D622A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1" name="Rectangle 908">
              <a:extLst>
                <a:ext uri="{FF2B5EF4-FFF2-40B4-BE49-F238E27FC236}">
                  <a16:creationId xmlns:a16="http://schemas.microsoft.com/office/drawing/2014/main" id="{75064ABC-26DB-408A-A7E2-4863CAB5D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2016" name="Freeform 909">
              <a:extLst>
                <a:ext uri="{FF2B5EF4-FFF2-40B4-BE49-F238E27FC236}">
                  <a16:creationId xmlns:a16="http://schemas.microsoft.com/office/drawing/2014/main" id="{552AAFF1-208B-43EA-BDA5-5FBC4F393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7" name="Freeform 910">
              <a:extLst>
                <a:ext uri="{FF2B5EF4-FFF2-40B4-BE49-F238E27FC236}">
                  <a16:creationId xmlns:a16="http://schemas.microsoft.com/office/drawing/2014/main" id="{25DE9FCE-89C8-48F6-BB76-D31E54ACA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54" name="Rectangle 911">
              <a:extLst>
                <a:ext uri="{FF2B5EF4-FFF2-40B4-BE49-F238E27FC236}">
                  <a16:creationId xmlns:a16="http://schemas.microsoft.com/office/drawing/2014/main" id="{24ACF8A3-A652-413D-9486-8171B045B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2019" name="Group 912">
              <a:extLst>
                <a:ext uri="{FF2B5EF4-FFF2-40B4-BE49-F238E27FC236}">
                  <a16:creationId xmlns:a16="http://schemas.microsoft.com/office/drawing/2014/main" id="{1AB6C3F6-C3B8-472B-981A-A0A0E906CD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80" name="AutoShape 913">
                <a:extLst>
                  <a:ext uri="{FF2B5EF4-FFF2-40B4-BE49-F238E27FC236}">
                    <a16:creationId xmlns:a16="http://schemas.microsoft.com/office/drawing/2014/main" id="{5456C9F7-EA49-4E57-BBDC-B9224BA90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0781" name="AutoShape 914">
                <a:extLst>
                  <a:ext uri="{FF2B5EF4-FFF2-40B4-BE49-F238E27FC236}">
                    <a16:creationId xmlns:a16="http://schemas.microsoft.com/office/drawing/2014/main" id="{0123D5A7-BAE5-4990-97DB-1B226C2EB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0756" name="Rectangle 915">
              <a:extLst>
                <a:ext uri="{FF2B5EF4-FFF2-40B4-BE49-F238E27FC236}">
                  <a16:creationId xmlns:a16="http://schemas.microsoft.com/office/drawing/2014/main" id="{A7B6EF7E-C46F-46CA-ADC0-373F9D499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2021" name="Group 916">
              <a:extLst>
                <a:ext uri="{FF2B5EF4-FFF2-40B4-BE49-F238E27FC236}">
                  <a16:creationId xmlns:a16="http://schemas.microsoft.com/office/drawing/2014/main" id="{6957391B-2B53-4E16-9073-01B1A73DDB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78" name="AutoShape 917">
                <a:extLst>
                  <a:ext uri="{FF2B5EF4-FFF2-40B4-BE49-F238E27FC236}">
                    <a16:creationId xmlns:a16="http://schemas.microsoft.com/office/drawing/2014/main" id="{E5CFCAAA-0122-48AA-B0F5-737CA259C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0779" name="AutoShape 918">
                <a:extLst>
                  <a:ext uri="{FF2B5EF4-FFF2-40B4-BE49-F238E27FC236}">
                    <a16:creationId xmlns:a16="http://schemas.microsoft.com/office/drawing/2014/main" id="{ED781840-3B54-43CC-A258-6251D6E09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0758" name="Rectangle 919">
              <a:extLst>
                <a:ext uri="{FF2B5EF4-FFF2-40B4-BE49-F238E27FC236}">
                  <a16:creationId xmlns:a16="http://schemas.microsoft.com/office/drawing/2014/main" id="{3588D82D-A869-4A8C-B0D2-97C9F7963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59" name="Rectangle 920">
              <a:extLst>
                <a:ext uri="{FF2B5EF4-FFF2-40B4-BE49-F238E27FC236}">
                  <a16:creationId xmlns:a16="http://schemas.microsoft.com/office/drawing/2014/main" id="{202CC149-EF76-4474-85F6-89067D7A7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2024" name="Group 921">
              <a:extLst>
                <a:ext uri="{FF2B5EF4-FFF2-40B4-BE49-F238E27FC236}">
                  <a16:creationId xmlns:a16="http://schemas.microsoft.com/office/drawing/2014/main" id="{4595296F-B61D-4C34-86D2-D4639CBC31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76" name="AutoShape 922">
                <a:extLst>
                  <a:ext uri="{FF2B5EF4-FFF2-40B4-BE49-F238E27FC236}">
                    <a16:creationId xmlns:a16="http://schemas.microsoft.com/office/drawing/2014/main" id="{290999B4-0572-4EC3-AD74-7B9D140D5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0777" name="AutoShape 923">
                <a:extLst>
                  <a:ext uri="{FF2B5EF4-FFF2-40B4-BE49-F238E27FC236}">
                    <a16:creationId xmlns:a16="http://schemas.microsoft.com/office/drawing/2014/main" id="{CED2D1D7-4D01-4EA5-A8DB-3516B19B6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82025" name="Freeform 924">
              <a:extLst>
                <a:ext uri="{FF2B5EF4-FFF2-40B4-BE49-F238E27FC236}">
                  <a16:creationId xmlns:a16="http://schemas.microsoft.com/office/drawing/2014/main" id="{270C95A9-151F-4228-9F27-9FE51ED58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026" name="Group 925">
              <a:extLst>
                <a:ext uri="{FF2B5EF4-FFF2-40B4-BE49-F238E27FC236}">
                  <a16:creationId xmlns:a16="http://schemas.microsoft.com/office/drawing/2014/main" id="{9148B362-5416-4CE1-BDFE-038BCFBD7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74" name="AutoShape 926">
                <a:extLst>
                  <a:ext uri="{FF2B5EF4-FFF2-40B4-BE49-F238E27FC236}">
                    <a16:creationId xmlns:a16="http://schemas.microsoft.com/office/drawing/2014/main" id="{1F8A8D3B-04B9-4D4C-9580-495BB6DB4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0775" name="AutoShape 927">
                <a:extLst>
                  <a:ext uri="{FF2B5EF4-FFF2-40B4-BE49-F238E27FC236}">
                    <a16:creationId xmlns:a16="http://schemas.microsoft.com/office/drawing/2014/main" id="{E8F4614F-46D7-4D67-A73C-E0814928E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0763" name="Rectangle 928">
              <a:extLst>
                <a:ext uri="{FF2B5EF4-FFF2-40B4-BE49-F238E27FC236}">
                  <a16:creationId xmlns:a16="http://schemas.microsoft.com/office/drawing/2014/main" id="{29F50111-FF9C-4DF8-B1E1-0DE08B5B5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2028" name="Freeform 929">
              <a:extLst>
                <a:ext uri="{FF2B5EF4-FFF2-40B4-BE49-F238E27FC236}">
                  <a16:creationId xmlns:a16="http://schemas.microsoft.com/office/drawing/2014/main" id="{E1AE76CD-AA42-4E1C-BD6B-9EB9B4E59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9" name="Freeform 930">
              <a:extLst>
                <a:ext uri="{FF2B5EF4-FFF2-40B4-BE49-F238E27FC236}">
                  <a16:creationId xmlns:a16="http://schemas.microsoft.com/office/drawing/2014/main" id="{26DD69BC-1A37-4461-846D-1CAFE2F87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66" name="Oval 931">
              <a:extLst>
                <a:ext uri="{FF2B5EF4-FFF2-40B4-BE49-F238E27FC236}">
                  <a16:creationId xmlns:a16="http://schemas.microsoft.com/office/drawing/2014/main" id="{4B25FDF2-0D17-4CF2-B3CA-B73864F55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2031" name="Freeform 932">
              <a:extLst>
                <a:ext uri="{FF2B5EF4-FFF2-40B4-BE49-F238E27FC236}">
                  <a16:creationId xmlns:a16="http://schemas.microsoft.com/office/drawing/2014/main" id="{3BC8DD26-BA4A-4EF0-8C2A-F1C121008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68" name="AutoShape 933">
              <a:extLst>
                <a:ext uri="{FF2B5EF4-FFF2-40B4-BE49-F238E27FC236}">
                  <a16:creationId xmlns:a16="http://schemas.microsoft.com/office/drawing/2014/main" id="{5EE5B6E7-53B6-4CCF-8DF4-58A715D3B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69" name="AutoShape 934">
              <a:extLst>
                <a:ext uri="{FF2B5EF4-FFF2-40B4-BE49-F238E27FC236}">
                  <a16:creationId xmlns:a16="http://schemas.microsoft.com/office/drawing/2014/main" id="{CA0E8F98-2215-47A5-812F-CB9DB3745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70" name="Oval 935">
              <a:extLst>
                <a:ext uri="{FF2B5EF4-FFF2-40B4-BE49-F238E27FC236}">
                  <a16:creationId xmlns:a16="http://schemas.microsoft.com/office/drawing/2014/main" id="{1FA2DA5F-2506-4A1D-B43F-17A20A1D7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71" name="Oval 936">
              <a:extLst>
                <a:ext uri="{FF2B5EF4-FFF2-40B4-BE49-F238E27FC236}">
                  <a16:creationId xmlns:a16="http://schemas.microsoft.com/office/drawing/2014/main" id="{8E9D147B-0B85-4673-A0C8-AC58D7D36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defRPr/>
              </a:pPr>
              <a:endParaRPr lang="en-US" altLang="zh-CN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72" name="Oval 937">
              <a:extLst>
                <a:ext uri="{FF2B5EF4-FFF2-40B4-BE49-F238E27FC236}">
                  <a16:creationId xmlns:a16="http://schemas.microsoft.com/office/drawing/2014/main" id="{E08BB8D9-768D-43ED-A097-60E536965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73" name="Rectangle 938">
              <a:extLst>
                <a:ext uri="{FF2B5EF4-FFF2-40B4-BE49-F238E27FC236}">
                  <a16:creationId xmlns:a16="http://schemas.microsoft.com/office/drawing/2014/main" id="{D3DEE4CE-0B92-42D8-A415-34EB3A118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</p:grpSp>
      <p:grpSp>
        <p:nvGrpSpPr>
          <p:cNvPr id="81969" name="Group 906">
            <a:extLst>
              <a:ext uri="{FF2B5EF4-FFF2-40B4-BE49-F238E27FC236}">
                <a16:creationId xmlns:a16="http://schemas.microsoft.com/office/drawing/2014/main" id="{3DCF6979-6512-46DF-8546-A25A314B8E8E}"/>
              </a:ext>
            </a:extLst>
          </p:cNvPr>
          <p:cNvGrpSpPr>
            <a:grpSpLocks/>
          </p:cNvGrpSpPr>
          <p:nvPr/>
        </p:nvGrpSpPr>
        <p:grpSpPr bwMode="auto">
          <a:xfrm>
            <a:off x="5745163" y="2620963"/>
            <a:ext cx="366712" cy="579437"/>
            <a:chOff x="4140" y="429"/>
            <a:chExt cx="1425" cy="2396"/>
          </a:xfrm>
        </p:grpSpPr>
        <p:sp>
          <p:nvSpPr>
            <p:cNvPr id="81982" name="Freeform 907">
              <a:extLst>
                <a:ext uri="{FF2B5EF4-FFF2-40B4-BE49-F238E27FC236}">
                  <a16:creationId xmlns:a16="http://schemas.microsoft.com/office/drawing/2014/main" id="{5FD432E0-1F70-4771-8A3E-3AB8DCB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11" name="Rectangle 908">
              <a:extLst>
                <a:ext uri="{FF2B5EF4-FFF2-40B4-BE49-F238E27FC236}">
                  <a16:creationId xmlns:a16="http://schemas.microsoft.com/office/drawing/2014/main" id="{EC713355-B48B-462C-B94F-DFC832E66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1984" name="Freeform 909">
              <a:extLst>
                <a:ext uri="{FF2B5EF4-FFF2-40B4-BE49-F238E27FC236}">
                  <a16:creationId xmlns:a16="http://schemas.microsoft.com/office/drawing/2014/main" id="{E5D6A990-BC60-4E68-8049-B60F18C3B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5" name="Freeform 910">
              <a:extLst>
                <a:ext uri="{FF2B5EF4-FFF2-40B4-BE49-F238E27FC236}">
                  <a16:creationId xmlns:a16="http://schemas.microsoft.com/office/drawing/2014/main" id="{963A568F-1557-47B8-98CB-132D00A52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14" name="Rectangle 911">
              <a:extLst>
                <a:ext uri="{FF2B5EF4-FFF2-40B4-BE49-F238E27FC236}">
                  <a16:creationId xmlns:a16="http://schemas.microsoft.com/office/drawing/2014/main" id="{DA9D479F-A2F1-4802-B280-0A9CBD1BC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1987" name="Group 912">
              <a:extLst>
                <a:ext uri="{FF2B5EF4-FFF2-40B4-BE49-F238E27FC236}">
                  <a16:creationId xmlns:a16="http://schemas.microsoft.com/office/drawing/2014/main" id="{3B455A39-8B64-4043-994E-4F2BB445F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40" name="AutoShape 913">
                <a:extLst>
                  <a:ext uri="{FF2B5EF4-FFF2-40B4-BE49-F238E27FC236}">
                    <a16:creationId xmlns:a16="http://schemas.microsoft.com/office/drawing/2014/main" id="{0FC61E8D-72F3-40AB-8FC6-1BB1AFAC2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0741" name="AutoShape 914">
                <a:extLst>
                  <a:ext uri="{FF2B5EF4-FFF2-40B4-BE49-F238E27FC236}">
                    <a16:creationId xmlns:a16="http://schemas.microsoft.com/office/drawing/2014/main" id="{871ABD32-AF21-4E3A-BD83-9BE11A002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0716" name="Rectangle 915">
              <a:extLst>
                <a:ext uri="{FF2B5EF4-FFF2-40B4-BE49-F238E27FC236}">
                  <a16:creationId xmlns:a16="http://schemas.microsoft.com/office/drawing/2014/main" id="{D6DCF297-CB69-4353-91F3-63CB8539F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1989" name="Group 916">
              <a:extLst>
                <a:ext uri="{FF2B5EF4-FFF2-40B4-BE49-F238E27FC236}">
                  <a16:creationId xmlns:a16="http://schemas.microsoft.com/office/drawing/2014/main" id="{A9A41DA3-1796-4916-B8F7-473A1378A4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38" name="AutoShape 917">
                <a:extLst>
                  <a:ext uri="{FF2B5EF4-FFF2-40B4-BE49-F238E27FC236}">
                    <a16:creationId xmlns:a16="http://schemas.microsoft.com/office/drawing/2014/main" id="{2A492747-2E8C-42E9-A290-3CD9B77B5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0739" name="AutoShape 918">
                <a:extLst>
                  <a:ext uri="{FF2B5EF4-FFF2-40B4-BE49-F238E27FC236}">
                    <a16:creationId xmlns:a16="http://schemas.microsoft.com/office/drawing/2014/main" id="{CA278273-E56E-4355-AB2F-F11D3CFD0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0718" name="Rectangle 919">
              <a:extLst>
                <a:ext uri="{FF2B5EF4-FFF2-40B4-BE49-F238E27FC236}">
                  <a16:creationId xmlns:a16="http://schemas.microsoft.com/office/drawing/2014/main" id="{012DAEB7-F362-418A-95DA-A1848FDC6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19" name="Rectangle 920">
              <a:extLst>
                <a:ext uri="{FF2B5EF4-FFF2-40B4-BE49-F238E27FC236}">
                  <a16:creationId xmlns:a16="http://schemas.microsoft.com/office/drawing/2014/main" id="{448C4853-6927-4A34-B8D5-E7085E552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1992" name="Group 921">
              <a:extLst>
                <a:ext uri="{FF2B5EF4-FFF2-40B4-BE49-F238E27FC236}">
                  <a16:creationId xmlns:a16="http://schemas.microsoft.com/office/drawing/2014/main" id="{8C410FC8-340A-43A8-A2A3-4529887D90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36" name="AutoShape 922">
                <a:extLst>
                  <a:ext uri="{FF2B5EF4-FFF2-40B4-BE49-F238E27FC236}">
                    <a16:creationId xmlns:a16="http://schemas.microsoft.com/office/drawing/2014/main" id="{82F63D21-65EE-4039-8439-A49177C88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0737" name="AutoShape 923">
                <a:extLst>
                  <a:ext uri="{FF2B5EF4-FFF2-40B4-BE49-F238E27FC236}">
                    <a16:creationId xmlns:a16="http://schemas.microsoft.com/office/drawing/2014/main" id="{21FFB8CD-6585-40A5-AD70-BD2A66AE6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81993" name="Freeform 924">
              <a:extLst>
                <a:ext uri="{FF2B5EF4-FFF2-40B4-BE49-F238E27FC236}">
                  <a16:creationId xmlns:a16="http://schemas.microsoft.com/office/drawing/2014/main" id="{B5E10411-FCFB-4339-8FFE-CA8934EE2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1994" name="Group 925">
              <a:extLst>
                <a:ext uri="{FF2B5EF4-FFF2-40B4-BE49-F238E27FC236}">
                  <a16:creationId xmlns:a16="http://schemas.microsoft.com/office/drawing/2014/main" id="{97F51DF6-B1A8-4955-AA52-2213D1BD63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34" name="AutoShape 926">
                <a:extLst>
                  <a:ext uri="{FF2B5EF4-FFF2-40B4-BE49-F238E27FC236}">
                    <a16:creationId xmlns:a16="http://schemas.microsoft.com/office/drawing/2014/main" id="{36BD77E3-7C65-4D24-B619-8719470D1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0735" name="AutoShape 927">
                <a:extLst>
                  <a:ext uri="{FF2B5EF4-FFF2-40B4-BE49-F238E27FC236}">
                    <a16:creationId xmlns:a16="http://schemas.microsoft.com/office/drawing/2014/main" id="{5A52EA50-036C-4CBC-AC6C-562C5A199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0723" name="Rectangle 928">
              <a:extLst>
                <a:ext uri="{FF2B5EF4-FFF2-40B4-BE49-F238E27FC236}">
                  <a16:creationId xmlns:a16="http://schemas.microsoft.com/office/drawing/2014/main" id="{FC1770D9-AE22-4387-B7E8-D46D93B7A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1996" name="Freeform 929">
              <a:extLst>
                <a:ext uri="{FF2B5EF4-FFF2-40B4-BE49-F238E27FC236}">
                  <a16:creationId xmlns:a16="http://schemas.microsoft.com/office/drawing/2014/main" id="{0C98327D-C028-4DD2-9012-12B3A8C68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7" name="Freeform 930">
              <a:extLst>
                <a:ext uri="{FF2B5EF4-FFF2-40B4-BE49-F238E27FC236}">
                  <a16:creationId xmlns:a16="http://schemas.microsoft.com/office/drawing/2014/main" id="{3C8263A6-066D-4194-90D6-52C04FAA2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6" name="Oval 931">
              <a:extLst>
                <a:ext uri="{FF2B5EF4-FFF2-40B4-BE49-F238E27FC236}">
                  <a16:creationId xmlns:a16="http://schemas.microsoft.com/office/drawing/2014/main" id="{2DDBD608-B09E-4959-BB93-F08EE1F78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1999" name="Freeform 932">
              <a:extLst>
                <a:ext uri="{FF2B5EF4-FFF2-40B4-BE49-F238E27FC236}">
                  <a16:creationId xmlns:a16="http://schemas.microsoft.com/office/drawing/2014/main" id="{6F68F728-BE5D-40C0-B663-FCC5BA4C5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8" name="AutoShape 933">
              <a:extLst>
                <a:ext uri="{FF2B5EF4-FFF2-40B4-BE49-F238E27FC236}">
                  <a16:creationId xmlns:a16="http://schemas.microsoft.com/office/drawing/2014/main" id="{0E84B0BA-A0F3-4AF3-9AB3-8F8485C70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29" name="AutoShape 934">
              <a:extLst>
                <a:ext uri="{FF2B5EF4-FFF2-40B4-BE49-F238E27FC236}">
                  <a16:creationId xmlns:a16="http://schemas.microsoft.com/office/drawing/2014/main" id="{294C8BEF-27E7-42B3-B092-D28363A72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30" name="Oval 935">
              <a:extLst>
                <a:ext uri="{FF2B5EF4-FFF2-40B4-BE49-F238E27FC236}">
                  <a16:creationId xmlns:a16="http://schemas.microsoft.com/office/drawing/2014/main" id="{8EFAC0B3-662B-4705-A9D6-81ECFC483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31" name="Oval 936">
              <a:extLst>
                <a:ext uri="{FF2B5EF4-FFF2-40B4-BE49-F238E27FC236}">
                  <a16:creationId xmlns:a16="http://schemas.microsoft.com/office/drawing/2014/main" id="{4E7A4418-E66D-4A57-A3AC-59AC75944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defRPr/>
              </a:pPr>
              <a:endParaRPr lang="en-US" altLang="zh-CN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32" name="Oval 937">
              <a:extLst>
                <a:ext uri="{FF2B5EF4-FFF2-40B4-BE49-F238E27FC236}">
                  <a16:creationId xmlns:a16="http://schemas.microsoft.com/office/drawing/2014/main" id="{B3556DB3-4507-4070-BBB6-19A25D474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0733" name="Rectangle 938">
              <a:extLst>
                <a:ext uri="{FF2B5EF4-FFF2-40B4-BE49-F238E27FC236}">
                  <a16:creationId xmlns:a16="http://schemas.microsoft.com/office/drawing/2014/main" id="{63597FB4-AEF9-42F3-B307-00E3A76AC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</p:grpSp>
      <p:grpSp>
        <p:nvGrpSpPr>
          <p:cNvPr id="81970" name="Group 347">
            <a:extLst>
              <a:ext uri="{FF2B5EF4-FFF2-40B4-BE49-F238E27FC236}">
                <a16:creationId xmlns:a16="http://schemas.microsoft.com/office/drawing/2014/main" id="{E290EBD1-DEB2-412B-A56A-A8D0F1EDB25D}"/>
              </a:ext>
            </a:extLst>
          </p:cNvPr>
          <p:cNvGrpSpPr>
            <a:grpSpLocks/>
          </p:cNvGrpSpPr>
          <p:nvPr/>
        </p:nvGrpSpPr>
        <p:grpSpPr bwMode="auto">
          <a:xfrm>
            <a:off x="2751138" y="2147888"/>
            <a:ext cx="881062" cy="511175"/>
            <a:chOff x="1871277" y="1576300"/>
            <a:chExt cx="1128371" cy="437861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0FB76E11-94F1-4F4F-BA66-B46BC2A6302C}"/>
                </a:ext>
              </a:extLst>
            </p:cNvPr>
            <p:cNvSpPr/>
            <p:nvPr/>
          </p:nvSpPr>
          <p:spPr bwMode="auto">
            <a:xfrm flipV="1">
              <a:off x="1875343" y="1694604"/>
              <a:ext cx="1124305" cy="319557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0CC80DB-A2F8-413E-8DF8-42B3CD50E1A0}"/>
                </a:ext>
              </a:extLst>
            </p:cNvPr>
            <p:cNvSpPr/>
            <p:nvPr/>
          </p:nvSpPr>
          <p:spPr bwMode="auto">
            <a:xfrm>
              <a:off x="1871277" y="1739478"/>
              <a:ext cx="1128371" cy="115584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F6D1AE89-9BA8-4432-B3F3-D2D798B65158}"/>
                </a:ext>
              </a:extLst>
            </p:cNvPr>
            <p:cNvSpPr/>
            <p:nvPr/>
          </p:nvSpPr>
          <p:spPr bwMode="auto">
            <a:xfrm flipV="1">
              <a:off x="1871277" y="1576300"/>
              <a:ext cx="1124305" cy="3195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01934517-C011-460C-891A-8939D0EF4844}"/>
                </a:ext>
              </a:extLst>
            </p:cNvPr>
            <p:cNvSpPr/>
            <p:nvPr/>
          </p:nvSpPr>
          <p:spPr bwMode="auto">
            <a:xfrm>
              <a:off x="2159977" y="1672847"/>
              <a:ext cx="548938" cy="161819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912D0AD6-C588-491D-BE27-7873FD0C14B2}"/>
                </a:ext>
              </a:extLst>
            </p:cNvPr>
            <p:cNvSpPr/>
            <p:nvPr/>
          </p:nvSpPr>
          <p:spPr bwMode="auto">
            <a:xfrm>
              <a:off x="2103051" y="1633412"/>
              <a:ext cx="662791" cy="111505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CBCD5CBF-D75E-4A69-9BF2-45EF3CB780C2}"/>
                </a:ext>
              </a:extLst>
            </p:cNvPr>
            <p:cNvSpPr/>
            <p:nvPr/>
          </p:nvSpPr>
          <p:spPr bwMode="auto">
            <a:xfrm>
              <a:off x="2536101" y="1727239"/>
              <a:ext cx="243972" cy="97907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53FA2EF5-77C0-4086-B44B-61FE7C5ACCA5}"/>
                </a:ext>
              </a:extLst>
            </p:cNvPr>
            <p:cNvSpPr/>
            <p:nvPr/>
          </p:nvSpPr>
          <p:spPr bwMode="auto">
            <a:xfrm>
              <a:off x="2090852" y="1729959"/>
              <a:ext cx="239906" cy="9654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FAE6D15A-0E98-4296-A462-ECE6597433E8}"/>
                </a:ext>
              </a:extLst>
            </p:cNvPr>
            <p:cNvCxnSpPr>
              <a:endCxn id="157" idx="2"/>
            </p:cNvCxnSpPr>
            <p:nvPr/>
          </p:nvCxnSpPr>
          <p:spPr bwMode="auto">
            <a:xfrm flipH="1" flipV="1">
              <a:off x="1871277" y="1736758"/>
              <a:ext cx="4066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8F3C9072-78F6-48F1-80F0-E3FDF5C4758C}"/>
                </a:ext>
              </a:extLst>
            </p:cNvPr>
            <p:cNvCxnSpPr/>
            <p:nvPr/>
          </p:nvCxnSpPr>
          <p:spPr bwMode="auto">
            <a:xfrm flipH="1" flipV="1">
              <a:off x="2995582" y="1735398"/>
              <a:ext cx="4066" cy="12238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972" name="灯片编号占位符 5">
            <a:extLst>
              <a:ext uri="{FF2B5EF4-FFF2-40B4-BE49-F238E27FC236}">
                <a16:creationId xmlns:a16="http://schemas.microsoft.com/office/drawing/2014/main" id="{EDC1BB9F-5675-429D-BFF3-312A657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1460E077-D075-4C6E-9C49-2F96D731BA1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41D0DAE-66BC-40B0-BC91-19EFC1EB7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5925" y="39688"/>
            <a:ext cx="4560888" cy="1143000"/>
          </a:xfrm>
        </p:spPr>
        <p:txBody>
          <a:bodyPr/>
          <a:lstStyle/>
          <a:p>
            <a:r>
              <a:rPr lang="en-US" altLang="zh-CN" sz="3200">
                <a:ea typeface="宋体" panose="02010600030101010101" pitchFamily="2" charset="-122"/>
              </a:rPr>
              <a:t>Switches vs. routers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6471826B-BEB6-4DE6-ADFA-8E40601B5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2913" y="1341438"/>
            <a:ext cx="3967162" cy="4994275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99"/>
                </a:solidFill>
                <a:ea typeface="宋体" panose="02010600030101010101" pitchFamily="2" charset="-122"/>
              </a:rPr>
              <a:t>both are store-and-forward: </a:t>
            </a:r>
          </a:p>
          <a:p>
            <a:pPr marL="0" indent="0">
              <a:buSzPct val="100000"/>
              <a:buFont typeface="Wingdings" panose="05000000000000000000" pitchFamily="2" charset="2"/>
              <a:buChar char="§"/>
            </a:pPr>
            <a:r>
              <a:rPr lang="en-US" altLang="zh-CN" sz="2000" i="1">
                <a:solidFill>
                  <a:srgbClr val="CC0000"/>
                </a:solidFill>
                <a:ea typeface="宋体" panose="02010600030101010101" pitchFamily="2" charset="-122"/>
              </a:rPr>
              <a:t>routers: </a:t>
            </a:r>
            <a:r>
              <a:rPr lang="en-US" altLang="zh-CN" sz="2000">
                <a:ea typeface="宋体" panose="02010600030101010101" pitchFamily="2" charset="-122"/>
              </a:rPr>
              <a:t>network-layer devices (examine network-layer headers)</a:t>
            </a:r>
          </a:p>
          <a:p>
            <a:pPr marL="0" indent="0">
              <a:buSzPct val="100000"/>
              <a:buFont typeface="Wingdings" panose="05000000000000000000" pitchFamily="2" charset="2"/>
              <a:buChar char="§"/>
            </a:pPr>
            <a:r>
              <a:rPr lang="en-US" altLang="zh-CN" sz="2000" i="1">
                <a:solidFill>
                  <a:srgbClr val="CC0000"/>
                </a:solidFill>
                <a:ea typeface="宋体" panose="02010600030101010101" pitchFamily="2" charset="-122"/>
              </a:rPr>
              <a:t>switches</a:t>
            </a:r>
            <a:r>
              <a:rPr lang="en-US" altLang="zh-CN" sz="2000" i="1">
                <a:ea typeface="宋体" panose="02010600030101010101" pitchFamily="2" charset="-122"/>
              </a:rPr>
              <a:t>: </a:t>
            </a:r>
            <a:r>
              <a:rPr lang="en-US" altLang="zh-CN" sz="2000">
                <a:ea typeface="宋体" panose="02010600030101010101" pitchFamily="2" charset="-122"/>
              </a:rPr>
              <a:t>link-layer devices (examine link-layer headers)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i="1">
              <a:solidFill>
                <a:srgbClr val="CC0000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99"/>
                </a:solidFill>
                <a:ea typeface="宋体" panose="02010600030101010101" pitchFamily="2" charset="-122"/>
              </a:rPr>
              <a:t>both have forwarding tables:</a:t>
            </a:r>
          </a:p>
          <a:p>
            <a:pPr marL="0" indent="0">
              <a:lnSpc>
                <a:spcPct val="8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zh-CN" sz="2000" i="1">
                <a:solidFill>
                  <a:srgbClr val="CC0000"/>
                </a:solidFill>
                <a:ea typeface="宋体" panose="02010600030101010101" pitchFamily="2" charset="-122"/>
              </a:rPr>
              <a:t>routers: </a:t>
            </a:r>
            <a:r>
              <a:rPr lang="en-US" altLang="zh-CN" sz="2000">
                <a:ea typeface="宋体" panose="02010600030101010101" pitchFamily="2" charset="-122"/>
              </a:rPr>
              <a:t>compute tables using routing algorithms, IP addresses</a:t>
            </a:r>
          </a:p>
          <a:p>
            <a:pPr marL="0" indent="0">
              <a:lnSpc>
                <a:spcPct val="8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zh-CN" sz="2000" i="1">
                <a:solidFill>
                  <a:srgbClr val="CC0000"/>
                </a:solidFill>
                <a:ea typeface="宋体" panose="02010600030101010101" pitchFamily="2" charset="-122"/>
              </a:rPr>
              <a:t>switches: </a:t>
            </a:r>
            <a:r>
              <a:rPr lang="en-US" altLang="zh-CN" sz="2000">
                <a:ea typeface="宋体" panose="02010600030101010101" pitchFamily="2" charset="-122"/>
              </a:rPr>
              <a:t>learn forwarding table using flooding, learning, MAC addresses </a:t>
            </a:r>
          </a:p>
        </p:txBody>
      </p:sp>
      <p:sp>
        <p:nvSpPr>
          <p:cNvPr id="83972" name="Freeform 3">
            <a:extLst>
              <a:ext uri="{FF2B5EF4-FFF2-40B4-BE49-F238E27FC236}">
                <a16:creationId xmlns:a16="http://schemas.microsoft.com/office/drawing/2014/main" id="{0D3A3EC2-C51D-4097-8427-37AD327C7128}"/>
              </a:ext>
            </a:extLst>
          </p:cNvPr>
          <p:cNvSpPr>
            <a:spLocks/>
          </p:cNvSpPr>
          <p:nvPr/>
        </p:nvSpPr>
        <p:spPr bwMode="auto">
          <a:xfrm flipH="1">
            <a:off x="6543675" y="2103438"/>
            <a:ext cx="638175" cy="852487"/>
          </a:xfrm>
          <a:custGeom>
            <a:avLst/>
            <a:gdLst>
              <a:gd name="T0" fmla="*/ 2147483646 w 402"/>
              <a:gd name="T1" fmla="*/ 2147483646 h 537"/>
              <a:gd name="T2" fmla="*/ 2147483646 w 402"/>
              <a:gd name="T3" fmla="*/ 0 h 537"/>
              <a:gd name="T4" fmla="*/ 0 w 402"/>
              <a:gd name="T5" fmla="*/ 2147483646 h 537"/>
              <a:gd name="T6" fmla="*/ 2147483646 w 402"/>
              <a:gd name="T7" fmla="*/ 2147483646 h 537"/>
              <a:gd name="T8" fmla="*/ 2147483646 w 402"/>
              <a:gd name="T9" fmla="*/ 2147483646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3" name="Freeform 10">
            <a:extLst>
              <a:ext uri="{FF2B5EF4-FFF2-40B4-BE49-F238E27FC236}">
                <a16:creationId xmlns:a16="http://schemas.microsoft.com/office/drawing/2014/main" id="{5E18228D-7D43-481A-B7EF-01228CEDB1BE}"/>
              </a:ext>
            </a:extLst>
          </p:cNvPr>
          <p:cNvSpPr>
            <a:spLocks/>
          </p:cNvSpPr>
          <p:nvPr/>
        </p:nvSpPr>
        <p:spPr bwMode="auto">
          <a:xfrm>
            <a:off x="6530975" y="844550"/>
            <a:ext cx="360363" cy="1577975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4" name="Rectangle 23">
            <a:extLst>
              <a:ext uri="{FF2B5EF4-FFF2-40B4-BE49-F238E27FC236}">
                <a16:creationId xmlns:a16="http://schemas.microsoft.com/office/drawing/2014/main" id="{F1ED5BAE-56B5-4401-8C9C-AB52263D8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850900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3975" name="Rectangle 24">
            <a:extLst>
              <a:ext uri="{FF2B5EF4-FFF2-40B4-BE49-F238E27FC236}">
                <a16:creationId xmlns:a16="http://schemas.microsoft.com/office/drawing/2014/main" id="{FD27EDD0-8596-4A6A-B5E0-D8EF32B62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388" y="9223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3976" name="Line 25">
            <a:extLst>
              <a:ext uri="{FF2B5EF4-FFF2-40B4-BE49-F238E27FC236}">
                <a16:creationId xmlns:a16="http://schemas.microsoft.com/office/drawing/2014/main" id="{A15F04C4-556D-4D20-8F94-A4AD96B713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9388" y="1239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7" name="Text Box 26">
            <a:extLst>
              <a:ext uri="{FF2B5EF4-FFF2-40B4-BE49-F238E27FC236}">
                <a16:creationId xmlns:a16="http://schemas.microsoft.com/office/drawing/2014/main" id="{CC319EB4-AD42-4D91-99E6-C0200FA26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525" y="8890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  <p:sp>
        <p:nvSpPr>
          <p:cNvPr id="83978" name="Line 27">
            <a:extLst>
              <a:ext uri="{FF2B5EF4-FFF2-40B4-BE49-F238E27FC236}">
                <a16:creationId xmlns:a16="http://schemas.microsoft.com/office/drawing/2014/main" id="{86E6D614-2CF1-46DB-9815-F05B19A97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15605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9" name="Line 28">
            <a:extLst>
              <a:ext uri="{FF2B5EF4-FFF2-40B4-BE49-F238E27FC236}">
                <a16:creationId xmlns:a16="http://schemas.microsoft.com/office/drawing/2014/main" id="{E3A825B3-1DD3-4A5C-A3AC-81C8C63B2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2088" y="18415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0" name="Line 29">
            <a:extLst>
              <a:ext uri="{FF2B5EF4-FFF2-40B4-BE49-F238E27FC236}">
                <a16:creationId xmlns:a16="http://schemas.microsoft.com/office/drawing/2014/main" id="{1D176C77-8D28-4BF3-BB44-34BA0B1D0C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2088" y="21177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981" name="Group 88">
            <a:extLst>
              <a:ext uri="{FF2B5EF4-FFF2-40B4-BE49-F238E27FC236}">
                <a16:creationId xmlns:a16="http://schemas.microsoft.com/office/drawing/2014/main" id="{90D613E6-FF18-41D4-B538-F0A6B8337B07}"/>
              </a:ext>
            </a:extLst>
          </p:cNvPr>
          <p:cNvGrpSpPr>
            <a:grpSpLocks/>
          </p:cNvGrpSpPr>
          <p:nvPr/>
        </p:nvGrpSpPr>
        <p:grpSpPr bwMode="auto">
          <a:xfrm>
            <a:off x="6716713" y="3525838"/>
            <a:ext cx="1387475" cy="1035050"/>
            <a:chOff x="3601" y="168"/>
            <a:chExt cx="874" cy="652"/>
          </a:xfrm>
        </p:grpSpPr>
        <p:sp>
          <p:nvSpPr>
            <p:cNvPr id="84032" name="Rectangle 89">
              <a:extLst>
                <a:ext uri="{FF2B5EF4-FFF2-40B4-BE49-F238E27FC236}">
                  <a16:creationId xmlns:a16="http://schemas.microsoft.com/office/drawing/2014/main" id="{263D1D1F-D75E-42D1-939B-5E2A41A39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4033" name="Rectangle 90">
              <a:extLst>
                <a:ext uri="{FF2B5EF4-FFF2-40B4-BE49-F238E27FC236}">
                  <a16:creationId xmlns:a16="http://schemas.microsoft.com/office/drawing/2014/main" id="{F1CD0E7B-C717-4498-B020-A586C21CA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4034" name="Line 91">
              <a:extLst>
                <a:ext uri="{FF2B5EF4-FFF2-40B4-BE49-F238E27FC236}">
                  <a16:creationId xmlns:a16="http://schemas.microsoft.com/office/drawing/2014/main" id="{42DF832A-C379-4B17-B117-1E6587D7E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35" name="Text Box 92">
              <a:extLst>
                <a:ext uri="{FF2B5EF4-FFF2-40B4-BE49-F238E27FC236}">
                  <a16:creationId xmlns:a16="http://schemas.microsoft.com/office/drawing/2014/main" id="{539940D0-E41F-4A0C-B910-2AAC11BFF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physical</a:t>
              </a:r>
            </a:p>
          </p:txBody>
        </p:sp>
        <p:sp>
          <p:nvSpPr>
            <p:cNvPr id="84036" name="Line 93">
              <a:extLst>
                <a:ext uri="{FF2B5EF4-FFF2-40B4-BE49-F238E27FC236}">
                  <a16:creationId xmlns:a16="http://schemas.microsoft.com/office/drawing/2014/main" id="{BF5B6994-946F-4836-A0B4-49817B01E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3982" name="Group 94">
            <a:extLst>
              <a:ext uri="{FF2B5EF4-FFF2-40B4-BE49-F238E27FC236}">
                <a16:creationId xmlns:a16="http://schemas.microsoft.com/office/drawing/2014/main" id="{89F6B9B5-7FE7-450A-81B1-980103986426}"/>
              </a:ext>
            </a:extLst>
          </p:cNvPr>
          <p:cNvGrpSpPr>
            <a:grpSpLocks/>
          </p:cNvGrpSpPr>
          <p:nvPr/>
        </p:nvGrpSpPr>
        <p:grpSpPr bwMode="auto">
          <a:xfrm>
            <a:off x="7054850" y="2100263"/>
            <a:ext cx="1387475" cy="733425"/>
            <a:chOff x="4696" y="597"/>
            <a:chExt cx="874" cy="462"/>
          </a:xfrm>
        </p:grpSpPr>
        <p:sp>
          <p:nvSpPr>
            <p:cNvPr id="84028" name="Rectangle 95">
              <a:extLst>
                <a:ext uri="{FF2B5EF4-FFF2-40B4-BE49-F238E27FC236}">
                  <a16:creationId xmlns:a16="http://schemas.microsoft.com/office/drawing/2014/main" id="{4E8E1128-A63E-44BF-8CFA-C66D48B44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4029" name="Rectangle 96">
              <a:extLst>
                <a:ext uri="{FF2B5EF4-FFF2-40B4-BE49-F238E27FC236}">
                  <a16:creationId xmlns:a16="http://schemas.microsoft.com/office/drawing/2014/main" id="{D6059E86-3C07-472A-B3A5-39833769C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4030" name="Line 97">
              <a:extLst>
                <a:ext uri="{FF2B5EF4-FFF2-40B4-BE49-F238E27FC236}">
                  <a16:creationId xmlns:a16="http://schemas.microsoft.com/office/drawing/2014/main" id="{CECC9F86-24D4-4A44-85BA-300159952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31" name="Text Box 98">
              <a:extLst>
                <a:ext uri="{FF2B5EF4-FFF2-40B4-BE49-F238E27FC236}">
                  <a16:creationId xmlns:a16="http://schemas.microsoft.com/office/drawing/2014/main" id="{9FFB7B97-4A26-49C0-8825-D5823C8A8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physical</a:t>
              </a:r>
            </a:p>
          </p:txBody>
        </p:sp>
      </p:grpSp>
      <p:sp>
        <p:nvSpPr>
          <p:cNvPr id="83983" name="Text Box 167">
            <a:extLst>
              <a:ext uri="{FF2B5EF4-FFF2-40B4-BE49-F238E27FC236}">
                <a16:creationId xmlns:a16="http://schemas.microsoft.com/office/drawing/2014/main" id="{8582035C-8AA0-40B0-B606-1F5B29728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4700" y="3003550"/>
            <a:ext cx="903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switch</a:t>
            </a:r>
          </a:p>
        </p:txBody>
      </p:sp>
      <p:grpSp>
        <p:nvGrpSpPr>
          <p:cNvPr id="83984" name="Group 39">
            <a:extLst>
              <a:ext uri="{FF2B5EF4-FFF2-40B4-BE49-F238E27FC236}">
                <a16:creationId xmlns:a16="http://schemas.microsoft.com/office/drawing/2014/main" id="{C117E615-8385-40F0-AB5C-3E7160537517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1562100"/>
            <a:ext cx="962025" cy="304800"/>
            <a:chOff x="1070" y="918"/>
            <a:chExt cx="606" cy="192"/>
          </a:xfrm>
        </p:grpSpPr>
        <p:sp>
          <p:nvSpPr>
            <p:cNvPr id="71738" name="Rectangle 40">
              <a:extLst>
                <a:ext uri="{FF2B5EF4-FFF2-40B4-BE49-F238E27FC236}">
                  <a16:creationId xmlns:a16="http://schemas.microsoft.com/office/drawing/2014/main" id="{6B15B10C-2D2D-4AD4-83D8-A58FA590F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CC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4027" name="Text Box 4">
              <a:extLst>
                <a:ext uri="{FF2B5EF4-FFF2-40B4-BE49-F238E27FC236}">
                  <a16:creationId xmlns:a16="http://schemas.microsoft.com/office/drawing/2014/main" id="{0B02420B-43F4-4477-8B14-B36791E41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datagram</a:t>
              </a:r>
            </a:p>
          </p:txBody>
        </p:sp>
      </p:grpSp>
      <p:sp>
        <p:nvSpPr>
          <p:cNvPr id="83985" name="Rectangle 57">
            <a:extLst>
              <a:ext uri="{FF2B5EF4-FFF2-40B4-BE49-F238E27FC236}">
                <a16:creationId xmlns:a16="http://schemas.microsoft.com/office/drawing/2014/main" id="{1C9B14E7-8BD4-4CC9-BCFB-B7455E8AD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88" y="4594225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3986" name="Rectangle 58">
            <a:extLst>
              <a:ext uri="{FF2B5EF4-FFF2-40B4-BE49-F238E27FC236}">
                <a16:creationId xmlns:a16="http://schemas.microsoft.com/office/drawing/2014/main" id="{F7A11C4B-637F-4AB0-802D-18AF3C02B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0963" y="4665663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3987" name="Line 59">
            <a:extLst>
              <a:ext uri="{FF2B5EF4-FFF2-40B4-BE49-F238E27FC236}">
                <a16:creationId xmlns:a16="http://schemas.microsoft.com/office/drawing/2014/main" id="{1835CE08-C218-4866-8D1E-837CE0B4F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0963" y="49831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8" name="Text Box 60">
            <a:extLst>
              <a:ext uri="{FF2B5EF4-FFF2-40B4-BE49-F238E27FC236}">
                <a16:creationId xmlns:a16="http://schemas.microsoft.com/office/drawing/2014/main" id="{FE7E7348-91F8-4CB2-8DAA-F01A24F53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4632325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  <p:sp>
        <p:nvSpPr>
          <p:cNvPr id="83989" name="Line 61">
            <a:extLst>
              <a:ext uri="{FF2B5EF4-FFF2-40B4-BE49-F238E27FC236}">
                <a16:creationId xmlns:a16="http://schemas.microsoft.com/office/drawing/2014/main" id="{92AAD7F7-2A6F-4E72-B68D-D7CE350CBF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5303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0" name="Line 62">
            <a:extLst>
              <a:ext uri="{FF2B5EF4-FFF2-40B4-BE49-F238E27FC236}">
                <a16:creationId xmlns:a16="http://schemas.microsoft.com/office/drawing/2014/main" id="{72B34D60-6E78-4472-8BC8-5622F49A5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3663" y="55848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1" name="Line 63">
            <a:extLst>
              <a:ext uri="{FF2B5EF4-FFF2-40B4-BE49-F238E27FC236}">
                <a16:creationId xmlns:a16="http://schemas.microsoft.com/office/drawing/2014/main" id="{191DB380-FA35-4EB8-8678-888D0FF10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3663" y="586105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2" name="Freeform 49">
            <a:extLst>
              <a:ext uri="{FF2B5EF4-FFF2-40B4-BE49-F238E27FC236}">
                <a16:creationId xmlns:a16="http://schemas.microsoft.com/office/drawing/2014/main" id="{0738BD64-438D-487B-B30F-CB84E2C4E552}"/>
              </a:ext>
            </a:extLst>
          </p:cNvPr>
          <p:cNvSpPr>
            <a:spLocks/>
          </p:cNvSpPr>
          <p:nvPr/>
        </p:nvSpPr>
        <p:spPr bwMode="auto">
          <a:xfrm>
            <a:off x="6472238" y="4600575"/>
            <a:ext cx="381000" cy="1857375"/>
          </a:xfrm>
          <a:custGeom>
            <a:avLst/>
            <a:gdLst>
              <a:gd name="T0" fmla="*/ 0 w 240"/>
              <a:gd name="T1" fmla="*/ 2147483646 h 1170"/>
              <a:gd name="T2" fmla="*/ 2147483646 w 240"/>
              <a:gd name="T3" fmla="*/ 0 h 1170"/>
              <a:gd name="T4" fmla="*/ 2147483646 w 240"/>
              <a:gd name="T5" fmla="*/ 2147483646 h 1170"/>
              <a:gd name="T6" fmla="*/ 2147483646 w 240"/>
              <a:gd name="T7" fmla="*/ 2147483646 h 1170"/>
              <a:gd name="T8" fmla="*/ 0 w 240"/>
              <a:gd name="T9" fmla="*/ 2147483646 h 11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0" h="117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83993" name="Group 50">
            <a:extLst>
              <a:ext uri="{FF2B5EF4-FFF2-40B4-BE49-F238E27FC236}">
                <a16:creationId xmlns:a16="http://schemas.microsoft.com/office/drawing/2014/main" id="{788323B6-30C1-40CF-9D40-43BE6CA2704D}"/>
              </a:ext>
            </a:extLst>
          </p:cNvPr>
          <p:cNvGrpSpPr>
            <a:grpSpLocks/>
          </p:cNvGrpSpPr>
          <p:nvPr/>
        </p:nvGrpSpPr>
        <p:grpSpPr bwMode="auto">
          <a:xfrm>
            <a:off x="4294188" y="1814513"/>
            <a:ext cx="1095375" cy="338137"/>
            <a:chOff x="998" y="1077"/>
            <a:chExt cx="690" cy="213"/>
          </a:xfrm>
        </p:grpSpPr>
        <p:sp>
          <p:nvSpPr>
            <p:cNvPr id="71736" name="Rectangle 51">
              <a:extLst>
                <a:ext uri="{FF2B5EF4-FFF2-40B4-BE49-F238E27FC236}">
                  <a16:creationId xmlns:a16="http://schemas.microsoft.com/office/drawing/2014/main" id="{E9732482-0D51-4ED4-B228-935420306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CC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4025" name="Text Box 7">
              <a:extLst>
                <a:ext uri="{FF2B5EF4-FFF2-40B4-BE49-F238E27FC236}">
                  <a16:creationId xmlns:a16="http://schemas.microsoft.com/office/drawing/2014/main" id="{D53D8AD3-1207-4D21-B75C-D5BE06009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frame</a:t>
              </a:r>
            </a:p>
          </p:txBody>
        </p:sp>
      </p:grpSp>
      <p:sp>
        <p:nvSpPr>
          <p:cNvPr id="83994" name="Freeform 53">
            <a:extLst>
              <a:ext uri="{FF2B5EF4-FFF2-40B4-BE49-F238E27FC236}">
                <a16:creationId xmlns:a16="http://schemas.microsoft.com/office/drawing/2014/main" id="{16FAD79C-C6D6-44CF-A034-699B12E632C0}"/>
              </a:ext>
            </a:extLst>
          </p:cNvPr>
          <p:cNvSpPr>
            <a:spLocks/>
          </p:cNvSpPr>
          <p:nvPr/>
        </p:nvSpPr>
        <p:spPr bwMode="auto">
          <a:xfrm>
            <a:off x="5281613" y="723900"/>
            <a:ext cx="2924175" cy="5314950"/>
          </a:xfrm>
          <a:custGeom>
            <a:avLst/>
            <a:gdLst>
              <a:gd name="T0" fmla="*/ 2147483646 w 1842"/>
              <a:gd name="T1" fmla="*/ 0 h 3348"/>
              <a:gd name="T2" fmla="*/ 2147483646 w 1842"/>
              <a:gd name="T3" fmla="*/ 2147483646 h 3348"/>
              <a:gd name="T4" fmla="*/ 2147483646 w 1842"/>
              <a:gd name="T5" fmla="*/ 2147483646 h 3348"/>
              <a:gd name="T6" fmla="*/ 2147483646 w 1842"/>
              <a:gd name="T7" fmla="*/ 2147483646 h 3348"/>
              <a:gd name="T8" fmla="*/ 2147483646 w 1842"/>
              <a:gd name="T9" fmla="*/ 2147483646 h 3348"/>
              <a:gd name="T10" fmla="*/ 2147483646 w 1842"/>
              <a:gd name="T11" fmla="*/ 2147483646 h 3348"/>
              <a:gd name="T12" fmla="*/ 2147483646 w 1842"/>
              <a:gd name="T13" fmla="*/ 2147483646 h 3348"/>
              <a:gd name="T14" fmla="*/ 2147483646 w 1842"/>
              <a:gd name="T15" fmla="*/ 2147483646 h 3348"/>
              <a:gd name="T16" fmla="*/ 2147483646 w 1842"/>
              <a:gd name="T17" fmla="*/ 2147483646 h 3348"/>
              <a:gd name="T18" fmla="*/ 2147483646 w 1842"/>
              <a:gd name="T19" fmla="*/ 2147483646 h 3348"/>
              <a:gd name="T20" fmla="*/ 2147483646 w 1842"/>
              <a:gd name="T21" fmla="*/ 2147483646 h 3348"/>
              <a:gd name="T22" fmla="*/ 2147483646 w 1842"/>
              <a:gd name="T23" fmla="*/ 2147483646 h 3348"/>
              <a:gd name="T24" fmla="*/ 0 w 1842"/>
              <a:gd name="T25" fmla="*/ 2147483646 h 334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42" h="3348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83995" name="Group 54">
            <a:extLst>
              <a:ext uri="{FF2B5EF4-FFF2-40B4-BE49-F238E27FC236}">
                <a16:creationId xmlns:a16="http://schemas.microsoft.com/office/drawing/2014/main" id="{200D6AD8-0FAB-42F9-B15D-1FB9871E077F}"/>
              </a:ext>
            </a:extLst>
          </p:cNvPr>
          <p:cNvGrpSpPr>
            <a:grpSpLocks/>
          </p:cNvGrpSpPr>
          <p:nvPr/>
        </p:nvGrpSpPr>
        <p:grpSpPr bwMode="auto">
          <a:xfrm>
            <a:off x="8066088" y="2166938"/>
            <a:ext cx="1095375" cy="338137"/>
            <a:chOff x="998" y="1077"/>
            <a:chExt cx="690" cy="213"/>
          </a:xfrm>
        </p:grpSpPr>
        <p:sp>
          <p:nvSpPr>
            <p:cNvPr id="71734" name="Rectangle 55">
              <a:extLst>
                <a:ext uri="{FF2B5EF4-FFF2-40B4-BE49-F238E27FC236}">
                  <a16:creationId xmlns:a16="http://schemas.microsoft.com/office/drawing/2014/main" id="{64C05DDA-C150-4D6E-A2C0-48BC7AADF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CC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4023" name="Text Box 7">
              <a:extLst>
                <a:ext uri="{FF2B5EF4-FFF2-40B4-BE49-F238E27FC236}">
                  <a16:creationId xmlns:a16="http://schemas.microsoft.com/office/drawing/2014/main" id="{114E5EB4-30A6-4EFF-98B6-A2F9A654D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frame</a:t>
              </a:r>
            </a:p>
          </p:txBody>
        </p:sp>
      </p:grpSp>
      <p:grpSp>
        <p:nvGrpSpPr>
          <p:cNvPr id="83996" name="Group 57">
            <a:extLst>
              <a:ext uri="{FF2B5EF4-FFF2-40B4-BE49-F238E27FC236}">
                <a16:creationId xmlns:a16="http://schemas.microsoft.com/office/drawing/2014/main" id="{8CA21B5D-D808-4983-B602-9FAC83F44391}"/>
              </a:ext>
            </a:extLst>
          </p:cNvPr>
          <p:cNvGrpSpPr>
            <a:grpSpLocks/>
          </p:cNvGrpSpPr>
          <p:nvPr/>
        </p:nvGrpSpPr>
        <p:grpSpPr bwMode="auto">
          <a:xfrm>
            <a:off x="7742238" y="3919538"/>
            <a:ext cx="1095375" cy="338137"/>
            <a:chOff x="998" y="1077"/>
            <a:chExt cx="690" cy="213"/>
          </a:xfrm>
        </p:grpSpPr>
        <p:sp>
          <p:nvSpPr>
            <p:cNvPr id="71732" name="Rectangle 58">
              <a:extLst>
                <a:ext uri="{FF2B5EF4-FFF2-40B4-BE49-F238E27FC236}">
                  <a16:creationId xmlns:a16="http://schemas.microsoft.com/office/drawing/2014/main" id="{EF1AFF7B-BFED-4B83-8289-61616264B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CC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4021" name="Text Box 7">
              <a:extLst>
                <a:ext uri="{FF2B5EF4-FFF2-40B4-BE49-F238E27FC236}">
                  <a16:creationId xmlns:a16="http://schemas.microsoft.com/office/drawing/2014/main" id="{7A041A93-9037-41D2-B22B-E090B4DC5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frame</a:t>
              </a:r>
            </a:p>
          </p:txBody>
        </p:sp>
      </p:grpSp>
      <p:grpSp>
        <p:nvGrpSpPr>
          <p:cNvPr id="83997" name="Group 60">
            <a:extLst>
              <a:ext uri="{FF2B5EF4-FFF2-40B4-BE49-F238E27FC236}">
                <a16:creationId xmlns:a16="http://schemas.microsoft.com/office/drawing/2014/main" id="{54C56890-5805-4268-8F8A-BF0CA21A2CDE}"/>
              </a:ext>
            </a:extLst>
          </p:cNvPr>
          <p:cNvGrpSpPr>
            <a:grpSpLocks/>
          </p:cNvGrpSpPr>
          <p:nvPr/>
        </p:nvGrpSpPr>
        <p:grpSpPr bwMode="auto">
          <a:xfrm>
            <a:off x="7808913" y="3638550"/>
            <a:ext cx="962025" cy="304800"/>
            <a:chOff x="1070" y="918"/>
            <a:chExt cx="606" cy="192"/>
          </a:xfrm>
        </p:grpSpPr>
        <p:sp>
          <p:nvSpPr>
            <p:cNvPr id="71730" name="Rectangle 61">
              <a:extLst>
                <a:ext uri="{FF2B5EF4-FFF2-40B4-BE49-F238E27FC236}">
                  <a16:creationId xmlns:a16="http://schemas.microsoft.com/office/drawing/2014/main" id="{8CAEB1C3-9C08-414A-ADC8-10711683C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CC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4019" name="Text Box 4">
              <a:extLst>
                <a:ext uri="{FF2B5EF4-FFF2-40B4-BE49-F238E27FC236}">
                  <a16:creationId xmlns:a16="http://schemas.microsoft.com/office/drawing/2014/main" id="{4D4D6A87-8BAB-44CF-9B0E-C6103D81F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datagram</a:t>
              </a:r>
            </a:p>
          </p:txBody>
        </p:sp>
      </p:grpSp>
      <p:sp>
        <p:nvSpPr>
          <p:cNvPr id="83998" name="Freeform 63">
            <a:extLst>
              <a:ext uri="{FF2B5EF4-FFF2-40B4-BE49-F238E27FC236}">
                <a16:creationId xmlns:a16="http://schemas.microsoft.com/office/drawing/2014/main" id="{F7848093-867E-4658-973D-C611551FF34D}"/>
              </a:ext>
            </a:extLst>
          </p:cNvPr>
          <p:cNvSpPr>
            <a:spLocks/>
          </p:cNvSpPr>
          <p:nvPr/>
        </p:nvSpPr>
        <p:spPr bwMode="auto">
          <a:xfrm>
            <a:off x="6424613" y="3533775"/>
            <a:ext cx="361950" cy="923925"/>
          </a:xfrm>
          <a:custGeom>
            <a:avLst/>
            <a:gdLst>
              <a:gd name="T0" fmla="*/ 2147483646 w 228"/>
              <a:gd name="T1" fmla="*/ 0 h 582"/>
              <a:gd name="T2" fmla="*/ 2147483646 w 228"/>
              <a:gd name="T3" fmla="*/ 2147483646 h 582"/>
              <a:gd name="T4" fmla="*/ 2147483646 w 228"/>
              <a:gd name="T5" fmla="*/ 2147483646 h 582"/>
              <a:gd name="T6" fmla="*/ 0 w 228"/>
              <a:gd name="T7" fmla="*/ 2147483646 h 582"/>
              <a:gd name="T8" fmla="*/ 2147483646 w 228"/>
              <a:gd name="T9" fmla="*/ 0 h 5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8" h="582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0000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83999" name="Group 44">
            <a:extLst>
              <a:ext uri="{FF2B5EF4-FFF2-40B4-BE49-F238E27FC236}">
                <a16:creationId xmlns:a16="http://schemas.microsoft.com/office/drawing/2014/main" id="{F1604FB3-74F7-46FC-B4B5-7653AD644F0E}"/>
              </a:ext>
            </a:extLst>
          </p:cNvPr>
          <p:cNvGrpSpPr>
            <a:grpSpLocks/>
          </p:cNvGrpSpPr>
          <p:nvPr/>
        </p:nvGrpSpPr>
        <p:grpSpPr bwMode="auto">
          <a:xfrm>
            <a:off x="6481763" y="1347788"/>
            <a:ext cx="762000" cy="693737"/>
            <a:chOff x="-44" y="1473"/>
            <a:chExt cx="981" cy="1105"/>
          </a:xfrm>
        </p:grpSpPr>
        <p:pic>
          <p:nvPicPr>
            <p:cNvPr id="84016" name="Picture 45" descr="desktop_computer_stylized_medium">
              <a:extLst>
                <a:ext uri="{FF2B5EF4-FFF2-40B4-BE49-F238E27FC236}">
                  <a16:creationId xmlns:a16="http://schemas.microsoft.com/office/drawing/2014/main" id="{17386E2A-48E4-4ED1-819F-D1829782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017" name="Freeform 46">
              <a:extLst>
                <a:ext uri="{FF2B5EF4-FFF2-40B4-BE49-F238E27FC236}">
                  <a16:creationId xmlns:a16="http://schemas.microsoft.com/office/drawing/2014/main" id="{6A6FFA2C-C783-4FC4-A31E-78582D80A65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4000" name="Group 44">
            <a:extLst>
              <a:ext uri="{FF2B5EF4-FFF2-40B4-BE49-F238E27FC236}">
                <a16:creationId xmlns:a16="http://schemas.microsoft.com/office/drawing/2014/main" id="{467971A3-D555-4A90-B8DD-0BA10070BBD6}"/>
              </a:ext>
            </a:extLst>
          </p:cNvPr>
          <p:cNvGrpSpPr>
            <a:grpSpLocks/>
          </p:cNvGrpSpPr>
          <p:nvPr/>
        </p:nvGrpSpPr>
        <p:grpSpPr bwMode="auto">
          <a:xfrm>
            <a:off x="6461125" y="6002338"/>
            <a:ext cx="762000" cy="693737"/>
            <a:chOff x="-44" y="1473"/>
            <a:chExt cx="981" cy="1105"/>
          </a:xfrm>
        </p:grpSpPr>
        <p:pic>
          <p:nvPicPr>
            <p:cNvPr id="84014" name="Picture 45" descr="desktop_computer_stylized_medium">
              <a:extLst>
                <a:ext uri="{FF2B5EF4-FFF2-40B4-BE49-F238E27FC236}">
                  <a16:creationId xmlns:a16="http://schemas.microsoft.com/office/drawing/2014/main" id="{FAFCBF59-FECE-4F30-A552-FFF2FEBBC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015" name="Freeform 46">
              <a:extLst>
                <a:ext uri="{FF2B5EF4-FFF2-40B4-BE49-F238E27FC236}">
                  <a16:creationId xmlns:a16="http://schemas.microsoft.com/office/drawing/2014/main" id="{DDDD7C15-9F40-42C9-B909-751E6EA5E5C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71715" name="Picture 3">
            <a:extLst>
              <a:ext uri="{FF2B5EF4-FFF2-40B4-BE49-F238E27FC236}">
                <a16:creationId xmlns:a16="http://schemas.microsoft.com/office/drawing/2014/main" id="{FF25E675-FEB1-45EA-96F4-59A5E965B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3463" y="2671763"/>
            <a:ext cx="877887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84002" name="Group 347">
            <a:extLst>
              <a:ext uri="{FF2B5EF4-FFF2-40B4-BE49-F238E27FC236}">
                <a16:creationId xmlns:a16="http://schemas.microsoft.com/office/drawing/2014/main" id="{87338FCA-BA3F-4713-9AF4-61F436807A6E}"/>
              </a:ext>
            </a:extLst>
          </p:cNvPr>
          <p:cNvGrpSpPr>
            <a:grpSpLocks/>
          </p:cNvGrpSpPr>
          <p:nvPr/>
        </p:nvGrpSpPr>
        <p:grpSpPr bwMode="auto">
          <a:xfrm>
            <a:off x="5807075" y="3835400"/>
            <a:ext cx="781050" cy="430213"/>
            <a:chOff x="1871277" y="1576300"/>
            <a:chExt cx="1128371" cy="437861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D467E03-C9F6-4E47-9287-C79F8796D1CC}"/>
                </a:ext>
              </a:extLst>
            </p:cNvPr>
            <p:cNvSpPr/>
            <p:nvPr/>
          </p:nvSpPr>
          <p:spPr bwMode="auto">
            <a:xfrm flipV="1">
              <a:off x="1873571" y="1694248"/>
              <a:ext cx="1126077" cy="319913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F326E4B-3428-41D9-97EF-E6EEA070DC29}"/>
                </a:ext>
              </a:extLst>
            </p:cNvPr>
            <p:cNvSpPr/>
            <p:nvPr/>
          </p:nvSpPr>
          <p:spPr bwMode="auto">
            <a:xfrm>
              <a:off x="1871277" y="1739488"/>
              <a:ext cx="1128371" cy="116332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0476246-A794-455A-9F51-6E34F8ACCD66}"/>
                </a:ext>
              </a:extLst>
            </p:cNvPr>
            <p:cNvSpPr/>
            <p:nvPr/>
          </p:nvSpPr>
          <p:spPr bwMode="auto">
            <a:xfrm flipV="1">
              <a:off x="1871277" y="1576300"/>
              <a:ext cx="1126078" cy="31991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D487EA0-8A2B-47A8-86C9-7EF7DE62091D}"/>
                </a:ext>
              </a:extLst>
            </p:cNvPr>
            <p:cNvSpPr/>
            <p:nvPr/>
          </p:nvSpPr>
          <p:spPr bwMode="auto">
            <a:xfrm>
              <a:off x="2160250" y="1673243"/>
              <a:ext cx="548132" cy="161572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007EE9CF-AD39-45EB-AD6E-C5F8C54ACEE4}"/>
                </a:ext>
              </a:extLst>
            </p:cNvPr>
            <p:cNvSpPr/>
            <p:nvPr/>
          </p:nvSpPr>
          <p:spPr bwMode="auto">
            <a:xfrm>
              <a:off x="2102915" y="1632851"/>
              <a:ext cx="662803" cy="111484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5891340-B410-4D57-9E2A-C89FDA4D3A87}"/>
                </a:ext>
              </a:extLst>
            </p:cNvPr>
            <p:cNvSpPr/>
            <p:nvPr/>
          </p:nvSpPr>
          <p:spPr bwMode="auto">
            <a:xfrm>
              <a:off x="2536374" y="1728178"/>
              <a:ext cx="245398" cy="96943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B94A42C3-C533-4E56-9D94-48A1A047DBD4}"/>
                </a:ext>
              </a:extLst>
            </p:cNvPr>
            <p:cNvSpPr/>
            <p:nvPr/>
          </p:nvSpPr>
          <p:spPr bwMode="auto">
            <a:xfrm>
              <a:off x="2089154" y="1729794"/>
              <a:ext cx="240810" cy="96943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0E2B11D-752D-4B79-AF0B-48CF78717A0A}"/>
                </a:ext>
              </a:extLst>
            </p:cNvPr>
            <p:cNvCxnSpPr>
              <a:endCxn id="74" idx="2"/>
            </p:cNvCxnSpPr>
            <p:nvPr/>
          </p:nvCxnSpPr>
          <p:spPr bwMode="auto">
            <a:xfrm flipH="1" flipV="1">
              <a:off x="1871277" y="1737872"/>
              <a:ext cx="2294" cy="12279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BC4E0F9-CD61-423F-94EB-5FE1F0DFA7B0}"/>
                </a:ext>
              </a:extLst>
            </p:cNvPr>
            <p:cNvCxnSpPr/>
            <p:nvPr/>
          </p:nvCxnSpPr>
          <p:spPr bwMode="auto">
            <a:xfrm flipH="1" flipV="1">
              <a:off x="2997355" y="1734641"/>
              <a:ext cx="2293" cy="12279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灯片编号占位符 5">
            <a:extLst>
              <a:ext uri="{FF2B5EF4-FFF2-40B4-BE49-F238E27FC236}">
                <a16:creationId xmlns:a16="http://schemas.microsoft.com/office/drawing/2014/main" id="{D0FDDD5D-735C-41DF-B196-09719E115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1460E077-D075-4C6E-9C49-2F96D731BA1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reeform 81">
            <a:extLst>
              <a:ext uri="{FF2B5EF4-FFF2-40B4-BE49-F238E27FC236}">
                <a16:creationId xmlns:a16="http://schemas.microsoft.com/office/drawing/2014/main" id="{8AE03362-2332-46B7-B16D-F3D2A227A8AF}"/>
              </a:ext>
            </a:extLst>
          </p:cNvPr>
          <p:cNvSpPr>
            <a:spLocks/>
          </p:cNvSpPr>
          <p:nvPr/>
        </p:nvSpPr>
        <p:spPr bwMode="auto">
          <a:xfrm rot="5400000">
            <a:off x="1193800" y="808038"/>
            <a:ext cx="2789237" cy="4313238"/>
          </a:xfrm>
          <a:custGeom>
            <a:avLst/>
            <a:gdLst>
              <a:gd name="T0" fmla="*/ 2147483646 w 10000"/>
              <a:gd name="T1" fmla="*/ 2147483646 h 9831"/>
              <a:gd name="T2" fmla="*/ 2147483646 w 10000"/>
              <a:gd name="T3" fmla="*/ 2147483646 h 9831"/>
              <a:gd name="T4" fmla="*/ 2147483646 w 10000"/>
              <a:gd name="T5" fmla="*/ 2147483646 h 9831"/>
              <a:gd name="T6" fmla="*/ 2147483646 w 10000"/>
              <a:gd name="T7" fmla="*/ 2147483646 h 9831"/>
              <a:gd name="T8" fmla="*/ 2147483646 w 10000"/>
              <a:gd name="T9" fmla="*/ 2147483646 h 9831"/>
              <a:gd name="T10" fmla="*/ 2147483646 w 10000"/>
              <a:gd name="T11" fmla="*/ 2147483646 h 9831"/>
              <a:gd name="T12" fmla="*/ 2147483646 w 10000"/>
              <a:gd name="T13" fmla="*/ 2147483646 h 9831"/>
              <a:gd name="T14" fmla="*/ 2147483646 w 10000"/>
              <a:gd name="T15" fmla="*/ 2147483646 h 9831"/>
              <a:gd name="T16" fmla="*/ 2147483646 w 10000"/>
              <a:gd name="T17" fmla="*/ 2147483646 h 9831"/>
              <a:gd name="T18" fmla="*/ 2147483646 w 10000"/>
              <a:gd name="T19" fmla="*/ 2147483646 h 9831"/>
              <a:gd name="T20" fmla="*/ 2147483646 w 10000"/>
              <a:gd name="T21" fmla="*/ 2147483646 h 9831"/>
              <a:gd name="T22" fmla="*/ 2147483646 w 10000"/>
              <a:gd name="T23" fmla="*/ 2147483646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7" name="Line 33">
            <a:extLst>
              <a:ext uri="{FF2B5EF4-FFF2-40B4-BE49-F238E27FC236}">
                <a16:creationId xmlns:a16="http://schemas.microsoft.com/office/drawing/2014/main" id="{EFCFFE84-9B29-4E15-B64C-28B74AB4E8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5563" y="2581275"/>
            <a:ext cx="11811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18" name="Line 34">
            <a:extLst>
              <a:ext uri="{FF2B5EF4-FFF2-40B4-BE49-F238E27FC236}">
                <a16:creationId xmlns:a16="http://schemas.microsoft.com/office/drawing/2014/main" id="{6FF8D1C1-592A-40A6-9FD5-7B5420598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7788" y="2573338"/>
            <a:ext cx="0" cy="946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19" name="Line 35">
            <a:extLst>
              <a:ext uri="{FF2B5EF4-FFF2-40B4-BE49-F238E27FC236}">
                <a16:creationId xmlns:a16="http://schemas.microsoft.com/office/drawing/2014/main" id="{9D722AAA-B676-41F2-A481-84130C3088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28913" y="2530475"/>
            <a:ext cx="1063625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20" name="Line 59">
            <a:extLst>
              <a:ext uri="{FF2B5EF4-FFF2-40B4-BE49-F238E27FC236}">
                <a16:creationId xmlns:a16="http://schemas.microsoft.com/office/drawing/2014/main" id="{CF06F3D7-C7E1-4E31-845B-D63A99185D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9238" y="2132013"/>
            <a:ext cx="706437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21" name="Line 60">
            <a:extLst>
              <a:ext uri="{FF2B5EF4-FFF2-40B4-BE49-F238E27FC236}">
                <a16:creationId xmlns:a16="http://schemas.microsoft.com/office/drawing/2014/main" id="{A420755C-43BC-4DD5-902B-DE484C8BD0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0175" y="1924050"/>
            <a:ext cx="385763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22" name="Line 77">
            <a:extLst>
              <a:ext uri="{FF2B5EF4-FFF2-40B4-BE49-F238E27FC236}">
                <a16:creationId xmlns:a16="http://schemas.microsoft.com/office/drawing/2014/main" id="{32DF4A5E-AE90-46A1-8F69-6B64813910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50" y="2024063"/>
            <a:ext cx="498475" cy="415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23" name="Line 78">
            <a:extLst>
              <a:ext uri="{FF2B5EF4-FFF2-40B4-BE49-F238E27FC236}">
                <a16:creationId xmlns:a16="http://schemas.microsoft.com/office/drawing/2014/main" id="{20E4C516-A168-42F4-A043-B81F190847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35075" y="1957388"/>
            <a:ext cx="490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24" name="Line 20">
            <a:extLst>
              <a:ext uri="{FF2B5EF4-FFF2-40B4-BE49-F238E27FC236}">
                <a16:creationId xmlns:a16="http://schemas.microsoft.com/office/drawing/2014/main" id="{9F239DA4-3020-40A1-BF51-F839D0645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8688" y="3463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25" name="Line 21">
            <a:extLst>
              <a:ext uri="{FF2B5EF4-FFF2-40B4-BE49-F238E27FC236}">
                <a16:creationId xmlns:a16="http://schemas.microsoft.com/office/drawing/2014/main" id="{8A97DB4A-0EC3-485E-A90F-C17B211A50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52525" y="3494088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26" name="Line 22">
            <a:extLst>
              <a:ext uri="{FF2B5EF4-FFF2-40B4-BE49-F238E27FC236}">
                <a16:creationId xmlns:a16="http://schemas.microsoft.com/office/drawing/2014/main" id="{7DB0D855-D257-4A6E-BE33-C6FF3FBF9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825" y="3513138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grpSp>
        <p:nvGrpSpPr>
          <p:cNvPr id="86029" name="Group 44">
            <a:extLst>
              <a:ext uri="{FF2B5EF4-FFF2-40B4-BE49-F238E27FC236}">
                <a16:creationId xmlns:a16="http://schemas.microsoft.com/office/drawing/2014/main" id="{30C69B07-4782-45B5-9728-23A4D3A01E30}"/>
              </a:ext>
            </a:extLst>
          </p:cNvPr>
          <p:cNvGrpSpPr>
            <a:grpSpLocks/>
          </p:cNvGrpSpPr>
          <p:nvPr/>
        </p:nvGrpSpPr>
        <p:grpSpPr bwMode="auto">
          <a:xfrm>
            <a:off x="666750" y="3336925"/>
            <a:ext cx="327025" cy="311150"/>
            <a:chOff x="-44" y="1473"/>
            <a:chExt cx="981" cy="1105"/>
          </a:xfrm>
        </p:grpSpPr>
        <p:pic>
          <p:nvPicPr>
            <p:cNvPr id="86165" name="Picture 45" descr="desktop_computer_stylized_medium">
              <a:extLst>
                <a:ext uri="{FF2B5EF4-FFF2-40B4-BE49-F238E27FC236}">
                  <a16:creationId xmlns:a16="http://schemas.microsoft.com/office/drawing/2014/main" id="{53E0BE4B-7C1B-4E11-A2CD-A5961BDD68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66" name="Freeform 46">
              <a:extLst>
                <a:ext uri="{FF2B5EF4-FFF2-40B4-BE49-F238E27FC236}">
                  <a16:creationId xmlns:a16="http://schemas.microsoft.com/office/drawing/2014/main" id="{AF89AC1C-34BE-411D-9F22-30ADD96D01E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6030" name="Group 44">
            <a:extLst>
              <a:ext uri="{FF2B5EF4-FFF2-40B4-BE49-F238E27FC236}">
                <a16:creationId xmlns:a16="http://schemas.microsoft.com/office/drawing/2014/main" id="{F2B4A181-5AE7-4B3D-B19D-947992C61BB8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3632200"/>
            <a:ext cx="328612" cy="311150"/>
            <a:chOff x="-44" y="1473"/>
            <a:chExt cx="981" cy="1105"/>
          </a:xfrm>
        </p:grpSpPr>
        <p:pic>
          <p:nvPicPr>
            <p:cNvPr id="86163" name="Picture 45" descr="desktop_computer_stylized_medium">
              <a:extLst>
                <a:ext uri="{FF2B5EF4-FFF2-40B4-BE49-F238E27FC236}">
                  <a16:creationId xmlns:a16="http://schemas.microsoft.com/office/drawing/2014/main" id="{2FD191EF-6BCF-4A1F-BC3E-924E4C86E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64" name="Freeform 46">
              <a:extLst>
                <a:ext uri="{FF2B5EF4-FFF2-40B4-BE49-F238E27FC236}">
                  <a16:creationId xmlns:a16="http://schemas.microsoft.com/office/drawing/2014/main" id="{19DE19C5-FC04-471D-8427-9F47A17E00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6031" name="Group 44">
            <a:extLst>
              <a:ext uri="{FF2B5EF4-FFF2-40B4-BE49-F238E27FC236}">
                <a16:creationId xmlns:a16="http://schemas.microsoft.com/office/drawing/2014/main" id="{58BBA32A-5B70-489F-9BAA-761D12C52A54}"/>
              </a:ext>
            </a:extLst>
          </p:cNvPr>
          <p:cNvGrpSpPr>
            <a:grpSpLocks/>
          </p:cNvGrpSpPr>
          <p:nvPr/>
        </p:nvGrpSpPr>
        <p:grpSpPr bwMode="auto">
          <a:xfrm>
            <a:off x="1204913" y="3651250"/>
            <a:ext cx="328612" cy="311150"/>
            <a:chOff x="-44" y="1473"/>
            <a:chExt cx="981" cy="1105"/>
          </a:xfrm>
        </p:grpSpPr>
        <p:pic>
          <p:nvPicPr>
            <p:cNvPr id="86161" name="Picture 45" descr="desktop_computer_stylized_medium">
              <a:extLst>
                <a:ext uri="{FF2B5EF4-FFF2-40B4-BE49-F238E27FC236}">
                  <a16:creationId xmlns:a16="http://schemas.microsoft.com/office/drawing/2014/main" id="{7288BC40-5356-4CF1-B5A4-D99435A6FB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62" name="Freeform 46">
              <a:extLst>
                <a:ext uri="{FF2B5EF4-FFF2-40B4-BE49-F238E27FC236}">
                  <a16:creationId xmlns:a16="http://schemas.microsoft.com/office/drawing/2014/main" id="{F026D27C-4F80-4B99-82C0-9D83454B9A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2730" name="Line 21">
            <a:extLst>
              <a:ext uri="{FF2B5EF4-FFF2-40B4-BE49-F238E27FC236}">
                <a16:creationId xmlns:a16="http://schemas.microsoft.com/office/drawing/2014/main" id="{A65B47E4-4D10-45E9-912B-AC07C562C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25" y="3468688"/>
            <a:ext cx="219075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31" name="Line 22">
            <a:extLst>
              <a:ext uri="{FF2B5EF4-FFF2-40B4-BE49-F238E27FC236}">
                <a16:creationId xmlns:a16="http://schemas.microsoft.com/office/drawing/2014/main" id="{44F84425-59FE-4F23-8E69-1C87FE0422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4175" y="3787775"/>
            <a:ext cx="69850" cy="188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32" name="Line 22">
            <a:extLst>
              <a:ext uri="{FF2B5EF4-FFF2-40B4-BE49-F238E27FC236}">
                <a16:creationId xmlns:a16="http://schemas.microsoft.com/office/drawing/2014/main" id="{006B4A0C-ED96-4D1B-A7E9-43351B8D97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9125" y="3794125"/>
            <a:ext cx="41275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33" name="Line 20">
            <a:extLst>
              <a:ext uri="{FF2B5EF4-FFF2-40B4-BE49-F238E27FC236}">
                <a16:creationId xmlns:a16="http://schemas.microsoft.com/office/drawing/2014/main" id="{0F8D507C-7560-4412-AB59-8B39CC7F4D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3717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grpSp>
        <p:nvGrpSpPr>
          <p:cNvPr id="86036" name="Group 44">
            <a:extLst>
              <a:ext uri="{FF2B5EF4-FFF2-40B4-BE49-F238E27FC236}">
                <a16:creationId xmlns:a16="http://schemas.microsoft.com/office/drawing/2014/main" id="{E1A762BC-F8E8-4264-8FEE-DF4984F2D15C}"/>
              </a:ext>
            </a:extLst>
          </p:cNvPr>
          <p:cNvGrpSpPr>
            <a:grpSpLocks/>
          </p:cNvGrpSpPr>
          <p:nvPr/>
        </p:nvGrpSpPr>
        <p:grpSpPr bwMode="auto">
          <a:xfrm>
            <a:off x="1439863" y="3892550"/>
            <a:ext cx="327025" cy="311150"/>
            <a:chOff x="-44" y="1473"/>
            <a:chExt cx="981" cy="1105"/>
          </a:xfrm>
        </p:grpSpPr>
        <p:pic>
          <p:nvPicPr>
            <p:cNvPr id="86159" name="Picture 45" descr="desktop_computer_stylized_medium">
              <a:extLst>
                <a:ext uri="{FF2B5EF4-FFF2-40B4-BE49-F238E27FC236}">
                  <a16:creationId xmlns:a16="http://schemas.microsoft.com/office/drawing/2014/main" id="{07E7D180-16A9-49DC-A49F-1F37E0600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60" name="Freeform 46">
              <a:extLst>
                <a:ext uri="{FF2B5EF4-FFF2-40B4-BE49-F238E27FC236}">
                  <a16:creationId xmlns:a16="http://schemas.microsoft.com/office/drawing/2014/main" id="{5A450748-B3E3-41D2-9697-C56189A0C3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6037" name="Group 44">
            <a:extLst>
              <a:ext uri="{FF2B5EF4-FFF2-40B4-BE49-F238E27FC236}">
                <a16:creationId xmlns:a16="http://schemas.microsoft.com/office/drawing/2014/main" id="{EECC1C93-A462-42D5-892E-22F8130CBD72}"/>
              </a:ext>
            </a:extLst>
          </p:cNvPr>
          <p:cNvGrpSpPr>
            <a:grpSpLocks/>
          </p:cNvGrpSpPr>
          <p:nvPr/>
        </p:nvGrpSpPr>
        <p:grpSpPr bwMode="auto">
          <a:xfrm>
            <a:off x="1703388" y="3937000"/>
            <a:ext cx="328612" cy="311150"/>
            <a:chOff x="-44" y="1473"/>
            <a:chExt cx="981" cy="1105"/>
          </a:xfrm>
        </p:grpSpPr>
        <p:pic>
          <p:nvPicPr>
            <p:cNvPr id="86157" name="Picture 45" descr="desktop_computer_stylized_medium">
              <a:extLst>
                <a:ext uri="{FF2B5EF4-FFF2-40B4-BE49-F238E27FC236}">
                  <a16:creationId xmlns:a16="http://schemas.microsoft.com/office/drawing/2014/main" id="{498D52E1-9AB6-4C82-B6B6-05DDBA31DC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58" name="Freeform 46">
              <a:extLst>
                <a:ext uri="{FF2B5EF4-FFF2-40B4-BE49-F238E27FC236}">
                  <a16:creationId xmlns:a16="http://schemas.microsoft.com/office/drawing/2014/main" id="{522F636B-1278-4DE3-A085-C3785736C76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72736" name="Picture 3">
            <a:extLst>
              <a:ext uri="{FF2B5EF4-FFF2-40B4-BE49-F238E27FC236}">
                <a16:creationId xmlns:a16="http://schemas.microsoft.com/office/drawing/2014/main" id="{6DCFC97E-87F2-44AC-AC42-2B28D20D8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77925" y="3365500"/>
            <a:ext cx="390525" cy="19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2737" name="Picture 3">
            <a:extLst>
              <a:ext uri="{FF2B5EF4-FFF2-40B4-BE49-F238E27FC236}">
                <a16:creationId xmlns:a16="http://schemas.microsoft.com/office/drawing/2014/main" id="{611B4641-F950-4EFF-838A-60BB1F005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1313" y="3633788"/>
            <a:ext cx="392112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86040" name="Group 44">
            <a:extLst>
              <a:ext uri="{FF2B5EF4-FFF2-40B4-BE49-F238E27FC236}">
                <a16:creationId xmlns:a16="http://schemas.microsoft.com/office/drawing/2014/main" id="{DCCBCA13-3A9F-4509-99C7-BF00D9EFC326}"/>
              </a:ext>
            </a:extLst>
          </p:cNvPr>
          <p:cNvGrpSpPr>
            <a:grpSpLocks/>
          </p:cNvGrpSpPr>
          <p:nvPr/>
        </p:nvGrpSpPr>
        <p:grpSpPr bwMode="auto">
          <a:xfrm>
            <a:off x="1949450" y="3587750"/>
            <a:ext cx="327025" cy="311150"/>
            <a:chOff x="-44" y="1473"/>
            <a:chExt cx="981" cy="1105"/>
          </a:xfrm>
        </p:grpSpPr>
        <p:pic>
          <p:nvPicPr>
            <p:cNvPr id="86155" name="Picture 45" descr="desktop_computer_stylized_medium">
              <a:extLst>
                <a:ext uri="{FF2B5EF4-FFF2-40B4-BE49-F238E27FC236}">
                  <a16:creationId xmlns:a16="http://schemas.microsoft.com/office/drawing/2014/main" id="{2F8A1A6B-4F9D-4D8F-BF1C-C21D75E4C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56" name="Freeform 46">
              <a:extLst>
                <a:ext uri="{FF2B5EF4-FFF2-40B4-BE49-F238E27FC236}">
                  <a16:creationId xmlns:a16="http://schemas.microsoft.com/office/drawing/2014/main" id="{01F20826-82A6-4B1F-B0AB-C70D12AE45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2739" name="Line 20">
            <a:extLst>
              <a:ext uri="{FF2B5EF4-FFF2-40B4-BE49-F238E27FC236}">
                <a16:creationId xmlns:a16="http://schemas.microsoft.com/office/drawing/2014/main" id="{B211183A-97B2-4A5D-8162-EB88CFB4B1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63913" y="36369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40" name="Line 21">
            <a:extLst>
              <a:ext uri="{FF2B5EF4-FFF2-40B4-BE49-F238E27FC236}">
                <a16:creationId xmlns:a16="http://schemas.microsoft.com/office/drawing/2014/main" id="{8C22B638-05EF-4346-B325-7DC33F0901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7750" y="3667125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41" name="Line 22">
            <a:extLst>
              <a:ext uri="{FF2B5EF4-FFF2-40B4-BE49-F238E27FC236}">
                <a16:creationId xmlns:a16="http://schemas.microsoft.com/office/drawing/2014/main" id="{89BB554B-4AA2-4269-858A-A326EE369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9050" y="3686175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grpSp>
        <p:nvGrpSpPr>
          <p:cNvPr id="86044" name="Group 44">
            <a:extLst>
              <a:ext uri="{FF2B5EF4-FFF2-40B4-BE49-F238E27FC236}">
                <a16:creationId xmlns:a16="http://schemas.microsoft.com/office/drawing/2014/main" id="{6F0EE97C-FD23-41D8-89F3-04A94B6D9FF1}"/>
              </a:ext>
            </a:extLst>
          </p:cNvPr>
          <p:cNvGrpSpPr>
            <a:grpSpLocks/>
          </p:cNvGrpSpPr>
          <p:nvPr/>
        </p:nvGrpSpPr>
        <p:grpSpPr bwMode="auto">
          <a:xfrm>
            <a:off x="3186113" y="3516313"/>
            <a:ext cx="328612" cy="311150"/>
            <a:chOff x="-44" y="1473"/>
            <a:chExt cx="981" cy="1105"/>
          </a:xfrm>
        </p:grpSpPr>
        <p:pic>
          <p:nvPicPr>
            <p:cNvPr id="86153" name="Picture 45" descr="desktop_computer_stylized_medium">
              <a:extLst>
                <a:ext uri="{FF2B5EF4-FFF2-40B4-BE49-F238E27FC236}">
                  <a16:creationId xmlns:a16="http://schemas.microsoft.com/office/drawing/2014/main" id="{5DABC1BE-804D-447C-9F81-0C3D5E0013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54" name="Freeform 46">
              <a:extLst>
                <a:ext uri="{FF2B5EF4-FFF2-40B4-BE49-F238E27FC236}">
                  <a16:creationId xmlns:a16="http://schemas.microsoft.com/office/drawing/2014/main" id="{4615FF7A-2EC8-44D7-99F8-409530EA50B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6045" name="Group 44">
            <a:extLst>
              <a:ext uri="{FF2B5EF4-FFF2-40B4-BE49-F238E27FC236}">
                <a16:creationId xmlns:a16="http://schemas.microsoft.com/office/drawing/2014/main" id="{29837171-0125-4CDE-A386-C738E43CC1F7}"/>
              </a:ext>
            </a:extLst>
          </p:cNvPr>
          <p:cNvGrpSpPr>
            <a:grpSpLocks/>
          </p:cNvGrpSpPr>
          <p:nvPr/>
        </p:nvGrpSpPr>
        <p:grpSpPr bwMode="auto">
          <a:xfrm>
            <a:off x="3335338" y="3805238"/>
            <a:ext cx="328612" cy="311150"/>
            <a:chOff x="-44" y="1473"/>
            <a:chExt cx="981" cy="1105"/>
          </a:xfrm>
        </p:grpSpPr>
        <p:pic>
          <p:nvPicPr>
            <p:cNvPr id="86151" name="Picture 45" descr="desktop_computer_stylized_medium">
              <a:extLst>
                <a:ext uri="{FF2B5EF4-FFF2-40B4-BE49-F238E27FC236}">
                  <a16:creationId xmlns:a16="http://schemas.microsoft.com/office/drawing/2014/main" id="{8DDFA9B2-5498-42D7-A4EC-C554F76ECB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52" name="Freeform 46">
              <a:extLst>
                <a:ext uri="{FF2B5EF4-FFF2-40B4-BE49-F238E27FC236}">
                  <a16:creationId xmlns:a16="http://schemas.microsoft.com/office/drawing/2014/main" id="{1F8CBB6F-8834-4FF3-BEB8-5CE4A0D737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6046" name="Group 44">
            <a:extLst>
              <a:ext uri="{FF2B5EF4-FFF2-40B4-BE49-F238E27FC236}">
                <a16:creationId xmlns:a16="http://schemas.microsoft.com/office/drawing/2014/main" id="{AF220C99-E7EE-46F7-BC62-AB041E004199}"/>
              </a:ext>
            </a:extLst>
          </p:cNvPr>
          <p:cNvGrpSpPr>
            <a:grpSpLocks/>
          </p:cNvGrpSpPr>
          <p:nvPr/>
        </p:nvGrpSpPr>
        <p:grpSpPr bwMode="auto">
          <a:xfrm>
            <a:off x="3641725" y="3824288"/>
            <a:ext cx="327025" cy="311150"/>
            <a:chOff x="-44" y="1473"/>
            <a:chExt cx="981" cy="1105"/>
          </a:xfrm>
        </p:grpSpPr>
        <p:pic>
          <p:nvPicPr>
            <p:cNvPr id="86149" name="Picture 45" descr="desktop_computer_stylized_medium">
              <a:extLst>
                <a:ext uri="{FF2B5EF4-FFF2-40B4-BE49-F238E27FC236}">
                  <a16:creationId xmlns:a16="http://schemas.microsoft.com/office/drawing/2014/main" id="{923B5309-5604-4CC8-9F76-C3D8F48FE7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50" name="Freeform 46">
              <a:extLst>
                <a:ext uri="{FF2B5EF4-FFF2-40B4-BE49-F238E27FC236}">
                  <a16:creationId xmlns:a16="http://schemas.microsoft.com/office/drawing/2014/main" id="{2EEE4F65-79F3-4775-9688-EB5A8ACA4D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2745" name="Line 20">
            <a:extLst>
              <a:ext uri="{FF2B5EF4-FFF2-40B4-BE49-F238E27FC236}">
                <a16:creationId xmlns:a16="http://schemas.microsoft.com/office/drawing/2014/main" id="{5CD2C830-7AF5-4E5E-97EA-83E445D7E4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73363" y="3667125"/>
            <a:ext cx="349250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46" name="Line 21">
            <a:extLst>
              <a:ext uri="{FF2B5EF4-FFF2-40B4-BE49-F238E27FC236}">
                <a16:creationId xmlns:a16="http://schemas.microsoft.com/office/drawing/2014/main" id="{1E2194EC-A590-4C6B-902C-36165B601C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5075" y="3636963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72747" name="Line 22">
            <a:extLst>
              <a:ext uri="{FF2B5EF4-FFF2-40B4-BE49-F238E27FC236}">
                <a16:creationId xmlns:a16="http://schemas.microsoft.com/office/drawing/2014/main" id="{7C318E34-A9AF-4F95-800D-B637D9214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375" y="3656013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grpSp>
        <p:nvGrpSpPr>
          <p:cNvPr id="86050" name="Group 44">
            <a:extLst>
              <a:ext uri="{FF2B5EF4-FFF2-40B4-BE49-F238E27FC236}">
                <a16:creationId xmlns:a16="http://schemas.microsoft.com/office/drawing/2014/main" id="{CE96AA91-8C0C-4473-898A-0BEC1BF22860}"/>
              </a:ext>
            </a:extLst>
          </p:cNvPr>
          <p:cNvGrpSpPr>
            <a:grpSpLocks/>
          </p:cNvGrpSpPr>
          <p:nvPr/>
        </p:nvGrpSpPr>
        <p:grpSpPr bwMode="auto">
          <a:xfrm>
            <a:off x="2855913" y="3771900"/>
            <a:ext cx="328612" cy="309563"/>
            <a:chOff x="-44" y="1473"/>
            <a:chExt cx="981" cy="1105"/>
          </a:xfrm>
        </p:grpSpPr>
        <p:pic>
          <p:nvPicPr>
            <p:cNvPr id="86147" name="Picture 45" descr="desktop_computer_stylized_medium">
              <a:extLst>
                <a:ext uri="{FF2B5EF4-FFF2-40B4-BE49-F238E27FC236}">
                  <a16:creationId xmlns:a16="http://schemas.microsoft.com/office/drawing/2014/main" id="{88441E01-00B6-4AA3-8358-8D643476B6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48" name="Freeform 46">
              <a:extLst>
                <a:ext uri="{FF2B5EF4-FFF2-40B4-BE49-F238E27FC236}">
                  <a16:creationId xmlns:a16="http://schemas.microsoft.com/office/drawing/2014/main" id="{D13F5EB5-AF4C-47A0-B1B0-B30714257A5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6051" name="Group 44">
            <a:extLst>
              <a:ext uri="{FF2B5EF4-FFF2-40B4-BE49-F238E27FC236}">
                <a16:creationId xmlns:a16="http://schemas.microsoft.com/office/drawing/2014/main" id="{3D55FA0E-B3C3-49B8-8463-AED530A284B7}"/>
              </a:ext>
            </a:extLst>
          </p:cNvPr>
          <p:cNvGrpSpPr>
            <a:grpSpLocks/>
          </p:cNvGrpSpPr>
          <p:nvPr/>
        </p:nvGrpSpPr>
        <p:grpSpPr bwMode="auto">
          <a:xfrm>
            <a:off x="2252663" y="3775075"/>
            <a:ext cx="328612" cy="309563"/>
            <a:chOff x="-44" y="1473"/>
            <a:chExt cx="981" cy="1105"/>
          </a:xfrm>
        </p:grpSpPr>
        <p:pic>
          <p:nvPicPr>
            <p:cNvPr id="86145" name="Picture 45" descr="desktop_computer_stylized_medium">
              <a:extLst>
                <a:ext uri="{FF2B5EF4-FFF2-40B4-BE49-F238E27FC236}">
                  <a16:creationId xmlns:a16="http://schemas.microsoft.com/office/drawing/2014/main" id="{91AB9462-7728-486A-8C0F-16EC2D1C6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46" name="Freeform 46">
              <a:extLst>
                <a:ext uri="{FF2B5EF4-FFF2-40B4-BE49-F238E27FC236}">
                  <a16:creationId xmlns:a16="http://schemas.microsoft.com/office/drawing/2014/main" id="{E6BDE04A-333C-4CAB-A8A3-E85FD21D2C5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6052" name="Group 44">
            <a:extLst>
              <a:ext uri="{FF2B5EF4-FFF2-40B4-BE49-F238E27FC236}">
                <a16:creationId xmlns:a16="http://schemas.microsoft.com/office/drawing/2014/main" id="{4B0DD66E-B55A-40AE-BAD0-EE7B7F94F9DA}"/>
              </a:ext>
            </a:extLst>
          </p:cNvPr>
          <p:cNvGrpSpPr>
            <a:grpSpLocks/>
          </p:cNvGrpSpPr>
          <p:nvPr/>
        </p:nvGrpSpPr>
        <p:grpSpPr bwMode="auto">
          <a:xfrm>
            <a:off x="2559050" y="3794125"/>
            <a:ext cx="327025" cy="311150"/>
            <a:chOff x="-44" y="1473"/>
            <a:chExt cx="981" cy="1105"/>
          </a:xfrm>
        </p:grpSpPr>
        <p:pic>
          <p:nvPicPr>
            <p:cNvPr id="86143" name="Picture 45" descr="desktop_computer_stylized_medium">
              <a:extLst>
                <a:ext uri="{FF2B5EF4-FFF2-40B4-BE49-F238E27FC236}">
                  <a16:creationId xmlns:a16="http://schemas.microsoft.com/office/drawing/2014/main" id="{9F83493A-7875-414F-A4FD-D1CD59376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44" name="Freeform 46">
              <a:extLst>
                <a:ext uri="{FF2B5EF4-FFF2-40B4-BE49-F238E27FC236}">
                  <a16:creationId xmlns:a16="http://schemas.microsoft.com/office/drawing/2014/main" id="{DFAAF7C8-8A98-4F87-BE1B-9CD5EEF9CA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72751" name="Picture 3">
            <a:extLst>
              <a:ext uri="{FF2B5EF4-FFF2-40B4-BE49-F238E27FC236}">
                <a16:creationId xmlns:a16="http://schemas.microsoft.com/office/drawing/2014/main" id="{FAC895DA-9AD4-425A-B5BC-821957FA8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30475" y="3508375"/>
            <a:ext cx="39211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2752" name="Line 20">
            <a:extLst>
              <a:ext uri="{FF2B5EF4-FFF2-40B4-BE49-F238E27FC236}">
                <a16:creationId xmlns:a16="http://schemas.microsoft.com/office/drawing/2014/main" id="{C0089C53-E421-4E6C-818E-FDD91232BB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6513" y="36877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pic>
        <p:nvPicPr>
          <p:cNvPr id="72753" name="Picture 3">
            <a:extLst>
              <a:ext uri="{FF2B5EF4-FFF2-40B4-BE49-F238E27FC236}">
                <a16:creationId xmlns:a16="http://schemas.microsoft.com/office/drawing/2014/main" id="{A2C9B7D5-521B-41DD-ADC5-E472AEC02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13150" y="3538538"/>
            <a:ext cx="392113" cy="19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86056" name="Group 44">
            <a:extLst>
              <a:ext uri="{FF2B5EF4-FFF2-40B4-BE49-F238E27FC236}">
                <a16:creationId xmlns:a16="http://schemas.microsoft.com/office/drawing/2014/main" id="{E8BA05C5-0A3E-4248-B313-E0D654226EBA}"/>
              </a:ext>
            </a:extLst>
          </p:cNvPr>
          <p:cNvGrpSpPr>
            <a:grpSpLocks/>
          </p:cNvGrpSpPr>
          <p:nvPr/>
        </p:nvGrpSpPr>
        <p:grpSpPr bwMode="auto">
          <a:xfrm>
            <a:off x="3941763" y="3548063"/>
            <a:ext cx="328612" cy="309562"/>
            <a:chOff x="-44" y="1473"/>
            <a:chExt cx="981" cy="1105"/>
          </a:xfrm>
        </p:grpSpPr>
        <p:pic>
          <p:nvPicPr>
            <p:cNvPr id="86141" name="Picture 45" descr="desktop_computer_stylized_medium">
              <a:extLst>
                <a:ext uri="{FF2B5EF4-FFF2-40B4-BE49-F238E27FC236}">
                  <a16:creationId xmlns:a16="http://schemas.microsoft.com/office/drawing/2014/main" id="{B40E698B-9A14-4A45-824A-E80B3C94F0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142" name="Freeform 46">
              <a:extLst>
                <a:ext uri="{FF2B5EF4-FFF2-40B4-BE49-F238E27FC236}">
                  <a16:creationId xmlns:a16="http://schemas.microsoft.com/office/drawing/2014/main" id="{9E4EFB9D-2265-434F-8CF4-67DB2904CE3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72755" name="Picture 3">
            <a:extLst>
              <a:ext uri="{FF2B5EF4-FFF2-40B4-BE49-F238E27FC236}">
                <a16:creationId xmlns:a16="http://schemas.microsoft.com/office/drawing/2014/main" id="{1F8C63F1-7D3D-4843-8044-873858AF0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70138" y="2371725"/>
            <a:ext cx="53975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86058" name="Group 906">
            <a:extLst>
              <a:ext uri="{FF2B5EF4-FFF2-40B4-BE49-F238E27FC236}">
                <a16:creationId xmlns:a16="http://schemas.microsoft.com/office/drawing/2014/main" id="{2C36BBDF-B329-4E5F-83A3-521AEF4E0A4E}"/>
              </a:ext>
            </a:extLst>
          </p:cNvPr>
          <p:cNvGrpSpPr>
            <a:grpSpLocks/>
          </p:cNvGrpSpPr>
          <p:nvPr/>
        </p:nvGrpSpPr>
        <p:grpSpPr bwMode="auto">
          <a:xfrm>
            <a:off x="3049588" y="1757363"/>
            <a:ext cx="212725" cy="374650"/>
            <a:chOff x="4140" y="429"/>
            <a:chExt cx="1425" cy="2396"/>
          </a:xfrm>
        </p:grpSpPr>
        <p:sp>
          <p:nvSpPr>
            <p:cNvPr id="86109" name="Freeform 907">
              <a:extLst>
                <a:ext uri="{FF2B5EF4-FFF2-40B4-BE49-F238E27FC236}">
                  <a16:creationId xmlns:a16="http://schemas.microsoft.com/office/drawing/2014/main" id="{676E22AF-4194-48B6-9F97-26D79963B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00" name="Rectangle 908">
              <a:extLst>
                <a:ext uri="{FF2B5EF4-FFF2-40B4-BE49-F238E27FC236}">
                  <a16:creationId xmlns:a16="http://schemas.microsoft.com/office/drawing/2014/main" id="{E29B8A37-65EB-41E0-AD16-D7E30EC72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6111" name="Freeform 909">
              <a:extLst>
                <a:ext uri="{FF2B5EF4-FFF2-40B4-BE49-F238E27FC236}">
                  <a16:creationId xmlns:a16="http://schemas.microsoft.com/office/drawing/2014/main" id="{2D1F7B1D-186F-468D-8BEB-45D596A08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2" name="Freeform 910">
              <a:extLst>
                <a:ext uri="{FF2B5EF4-FFF2-40B4-BE49-F238E27FC236}">
                  <a16:creationId xmlns:a16="http://schemas.microsoft.com/office/drawing/2014/main" id="{59E7CB19-4E63-426C-A0E3-F3DC1B23B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03" name="Rectangle 911">
              <a:extLst>
                <a:ext uri="{FF2B5EF4-FFF2-40B4-BE49-F238E27FC236}">
                  <a16:creationId xmlns:a16="http://schemas.microsoft.com/office/drawing/2014/main" id="{6E327056-B78E-429B-813A-D71D5BA8A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3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6114" name="Group 912">
              <a:extLst>
                <a:ext uri="{FF2B5EF4-FFF2-40B4-BE49-F238E27FC236}">
                  <a16:creationId xmlns:a16="http://schemas.microsoft.com/office/drawing/2014/main" id="{D46D8643-F3AF-427C-97AC-1BD6247FD6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829" name="AutoShape 913">
                <a:extLst>
                  <a:ext uri="{FF2B5EF4-FFF2-40B4-BE49-F238E27FC236}">
                    <a16:creationId xmlns:a16="http://schemas.microsoft.com/office/drawing/2014/main" id="{4C579810-E198-4941-B887-92C7D3DB8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0" y="2572"/>
                <a:ext cx="730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2830" name="AutoShape 914">
                <a:extLst>
                  <a:ext uri="{FF2B5EF4-FFF2-40B4-BE49-F238E27FC236}">
                    <a16:creationId xmlns:a16="http://schemas.microsoft.com/office/drawing/2014/main" id="{2A5BF560-B6CB-4624-8251-4F65AD4BE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2"/>
                <a:ext cx="703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2805" name="Rectangle 915">
              <a:extLst>
                <a:ext uri="{FF2B5EF4-FFF2-40B4-BE49-F238E27FC236}">
                  <a16:creationId xmlns:a16="http://schemas.microsoft.com/office/drawing/2014/main" id="{C0BBA5F1-10CE-47D4-A06E-BD30625EF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6116" name="Group 916">
              <a:extLst>
                <a:ext uri="{FF2B5EF4-FFF2-40B4-BE49-F238E27FC236}">
                  <a16:creationId xmlns:a16="http://schemas.microsoft.com/office/drawing/2014/main" id="{6162636C-DAEE-45EB-8586-FD3B44A9E3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827" name="AutoShape 917">
                <a:extLst>
                  <a:ext uri="{FF2B5EF4-FFF2-40B4-BE49-F238E27FC236}">
                    <a16:creationId xmlns:a16="http://schemas.microsoft.com/office/drawing/2014/main" id="{06FD5302-793A-419B-A8C7-6D480A88A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70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2828" name="AutoShape 918">
                <a:extLst>
                  <a:ext uri="{FF2B5EF4-FFF2-40B4-BE49-F238E27FC236}">
                    <a16:creationId xmlns:a16="http://schemas.microsoft.com/office/drawing/2014/main" id="{A21893D6-B656-49B0-8730-8DDBBEB59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2"/>
                <a:ext cx="70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2807" name="Rectangle 919">
              <a:extLst>
                <a:ext uri="{FF2B5EF4-FFF2-40B4-BE49-F238E27FC236}">
                  <a16:creationId xmlns:a16="http://schemas.microsoft.com/office/drawing/2014/main" id="{F4BB49C6-3F90-4737-B805-B5A00B774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3"/>
              <a:ext cx="596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808" name="Rectangle 920">
              <a:extLst>
                <a:ext uri="{FF2B5EF4-FFF2-40B4-BE49-F238E27FC236}">
                  <a16:creationId xmlns:a16="http://schemas.microsoft.com/office/drawing/2014/main" id="{D43E1A4C-630B-4EDB-8EA2-6299224F9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7"/>
              <a:ext cx="596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6119" name="Group 921">
              <a:extLst>
                <a:ext uri="{FF2B5EF4-FFF2-40B4-BE49-F238E27FC236}">
                  <a16:creationId xmlns:a16="http://schemas.microsoft.com/office/drawing/2014/main" id="{1F32A29A-7CAC-4D8C-B4B0-AA368BE77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825" name="AutoShape 922">
                <a:extLst>
                  <a:ext uri="{FF2B5EF4-FFF2-40B4-BE49-F238E27FC236}">
                    <a16:creationId xmlns:a16="http://schemas.microsoft.com/office/drawing/2014/main" id="{7A49B0E7-565B-4FC0-8972-90318B62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9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2826" name="AutoShape 923">
                <a:extLst>
                  <a:ext uri="{FF2B5EF4-FFF2-40B4-BE49-F238E27FC236}">
                    <a16:creationId xmlns:a16="http://schemas.microsoft.com/office/drawing/2014/main" id="{514A400A-9B52-4991-BCD5-6712CC9775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7"/>
                <a:ext cx="75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86120" name="Freeform 924">
              <a:extLst>
                <a:ext uri="{FF2B5EF4-FFF2-40B4-BE49-F238E27FC236}">
                  <a16:creationId xmlns:a16="http://schemas.microsoft.com/office/drawing/2014/main" id="{4344D80E-EDEB-4BFE-8F6F-307179E6E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121" name="Group 925">
              <a:extLst>
                <a:ext uri="{FF2B5EF4-FFF2-40B4-BE49-F238E27FC236}">
                  <a16:creationId xmlns:a16="http://schemas.microsoft.com/office/drawing/2014/main" id="{7AB06702-E618-4BF7-8581-C801909BF8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823" name="AutoShape 926">
                <a:extLst>
                  <a:ext uri="{FF2B5EF4-FFF2-40B4-BE49-F238E27FC236}">
                    <a16:creationId xmlns:a16="http://schemas.microsoft.com/office/drawing/2014/main" id="{3CC306B6-C9EC-40AF-B929-4E350E79C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0" y="2513"/>
                <a:ext cx="729" cy="19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2824" name="AutoShape 927">
                <a:extLst>
                  <a:ext uri="{FF2B5EF4-FFF2-40B4-BE49-F238E27FC236}">
                    <a16:creationId xmlns:a16="http://schemas.microsoft.com/office/drawing/2014/main" id="{0B34A993-D988-47AC-9CE2-4C25C04AF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2584"/>
                <a:ext cx="70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2812" name="Rectangle 928">
              <a:extLst>
                <a:ext uri="{FF2B5EF4-FFF2-40B4-BE49-F238E27FC236}">
                  <a16:creationId xmlns:a16="http://schemas.microsoft.com/office/drawing/2014/main" id="{E92BD884-5FCE-4D39-8257-3CF7B8D3C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4" cy="2284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6123" name="Freeform 929">
              <a:extLst>
                <a:ext uri="{FF2B5EF4-FFF2-40B4-BE49-F238E27FC236}">
                  <a16:creationId xmlns:a16="http://schemas.microsoft.com/office/drawing/2014/main" id="{BDDC39F4-5D3F-4C01-9BF1-26C9423E2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4" name="Freeform 930">
              <a:extLst>
                <a:ext uri="{FF2B5EF4-FFF2-40B4-BE49-F238E27FC236}">
                  <a16:creationId xmlns:a16="http://schemas.microsoft.com/office/drawing/2014/main" id="{C817FE1D-978E-4493-90C8-13A03C05C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15" name="Oval 931">
              <a:extLst>
                <a:ext uri="{FF2B5EF4-FFF2-40B4-BE49-F238E27FC236}">
                  <a16:creationId xmlns:a16="http://schemas.microsoft.com/office/drawing/2014/main" id="{4A81A533-B769-4D93-86BF-025EB83A5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2" y="2612"/>
              <a:ext cx="53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6126" name="Freeform 932">
              <a:extLst>
                <a:ext uri="{FF2B5EF4-FFF2-40B4-BE49-F238E27FC236}">
                  <a16:creationId xmlns:a16="http://schemas.microsoft.com/office/drawing/2014/main" id="{B3E5D1CA-1901-4E3B-A9E6-41C04068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17" name="AutoShape 933">
              <a:extLst>
                <a:ext uri="{FF2B5EF4-FFF2-40B4-BE49-F238E27FC236}">
                  <a16:creationId xmlns:a16="http://schemas.microsoft.com/office/drawing/2014/main" id="{651A909C-A387-43A2-8281-796F03EF9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3"/>
              <a:ext cx="1202" cy="14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818" name="AutoShape 934">
              <a:extLst>
                <a:ext uri="{FF2B5EF4-FFF2-40B4-BE49-F238E27FC236}">
                  <a16:creationId xmlns:a16="http://schemas.microsoft.com/office/drawing/2014/main" id="{FB4658A1-EA83-4894-BD37-9E456A1A3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3"/>
              <a:ext cx="1074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819" name="Oval 935">
              <a:extLst>
                <a:ext uri="{FF2B5EF4-FFF2-40B4-BE49-F238E27FC236}">
                  <a16:creationId xmlns:a16="http://schemas.microsoft.com/office/drawing/2014/main" id="{A796982B-ECE4-48E1-BCF7-61129D9AF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78"/>
              <a:ext cx="160" cy="15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820" name="Oval 936">
              <a:extLst>
                <a:ext uri="{FF2B5EF4-FFF2-40B4-BE49-F238E27FC236}">
                  <a16:creationId xmlns:a16="http://schemas.microsoft.com/office/drawing/2014/main" id="{99CFB30F-4A46-48B8-B680-3D4275055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1" y="2388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defRPr/>
              </a:pPr>
              <a:endParaRPr lang="en-US" altLang="zh-CN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821" name="Oval 937">
              <a:extLst>
                <a:ext uri="{FF2B5EF4-FFF2-40B4-BE49-F238E27FC236}">
                  <a16:creationId xmlns:a16="http://schemas.microsoft.com/office/drawing/2014/main" id="{CE1F9D47-C96D-4104-98E7-C08C38616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8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822" name="Rectangle 938">
              <a:extLst>
                <a:ext uri="{FF2B5EF4-FFF2-40B4-BE49-F238E27FC236}">
                  <a16:creationId xmlns:a16="http://schemas.microsoft.com/office/drawing/2014/main" id="{74D73080-247B-4A12-ABE0-72682541A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0"/>
              <a:ext cx="85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</p:grpSp>
      <p:grpSp>
        <p:nvGrpSpPr>
          <p:cNvPr id="86059" name="Group 906">
            <a:extLst>
              <a:ext uri="{FF2B5EF4-FFF2-40B4-BE49-F238E27FC236}">
                <a16:creationId xmlns:a16="http://schemas.microsoft.com/office/drawing/2014/main" id="{ABEC1709-A915-43DE-B4B9-86F18F2E7F0C}"/>
              </a:ext>
            </a:extLst>
          </p:cNvPr>
          <p:cNvGrpSpPr>
            <a:grpSpLocks/>
          </p:cNvGrpSpPr>
          <p:nvPr/>
        </p:nvGrpSpPr>
        <p:grpSpPr bwMode="auto">
          <a:xfrm>
            <a:off x="3398838" y="2087563"/>
            <a:ext cx="211137" cy="373062"/>
            <a:chOff x="4140" y="429"/>
            <a:chExt cx="1425" cy="2396"/>
          </a:xfrm>
        </p:grpSpPr>
        <p:sp>
          <p:nvSpPr>
            <p:cNvPr id="86077" name="Freeform 907">
              <a:extLst>
                <a:ext uri="{FF2B5EF4-FFF2-40B4-BE49-F238E27FC236}">
                  <a16:creationId xmlns:a16="http://schemas.microsoft.com/office/drawing/2014/main" id="{F9F3D8B3-57DF-466C-A4F4-6582F1689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0" name="Rectangle 908">
              <a:extLst>
                <a:ext uri="{FF2B5EF4-FFF2-40B4-BE49-F238E27FC236}">
                  <a16:creationId xmlns:a16="http://schemas.microsoft.com/office/drawing/2014/main" id="{C9D3D881-16B7-4074-BECE-52EC4D5D1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6079" name="Freeform 909">
              <a:extLst>
                <a:ext uri="{FF2B5EF4-FFF2-40B4-BE49-F238E27FC236}">
                  <a16:creationId xmlns:a16="http://schemas.microsoft.com/office/drawing/2014/main" id="{6715DABD-0943-4988-A7B6-6440FF52C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0" name="Freeform 910">
              <a:extLst>
                <a:ext uri="{FF2B5EF4-FFF2-40B4-BE49-F238E27FC236}">
                  <a16:creationId xmlns:a16="http://schemas.microsoft.com/office/drawing/2014/main" id="{C4266008-2960-46F3-ABCC-5B2A49A6B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3" name="Rectangle 911">
              <a:extLst>
                <a:ext uri="{FF2B5EF4-FFF2-40B4-BE49-F238E27FC236}">
                  <a16:creationId xmlns:a16="http://schemas.microsoft.com/office/drawing/2014/main" id="{9EC97253-9F47-4F95-9D3C-C8FB28868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694"/>
              <a:ext cx="589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6082" name="Group 912">
              <a:extLst>
                <a:ext uri="{FF2B5EF4-FFF2-40B4-BE49-F238E27FC236}">
                  <a16:creationId xmlns:a16="http://schemas.microsoft.com/office/drawing/2014/main" id="{09C5C587-2B88-4585-9EEA-96FDE6CAB0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789" name="AutoShape 913">
                <a:extLst>
                  <a:ext uri="{FF2B5EF4-FFF2-40B4-BE49-F238E27FC236}">
                    <a16:creationId xmlns:a16="http://schemas.microsoft.com/office/drawing/2014/main" id="{0C893A26-DF87-49A2-98B4-2F150B499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4"/>
                <a:ext cx="722" cy="2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2790" name="AutoShape 914">
                <a:extLst>
                  <a:ext uri="{FF2B5EF4-FFF2-40B4-BE49-F238E27FC236}">
                    <a16:creationId xmlns:a16="http://schemas.microsoft.com/office/drawing/2014/main" id="{030C0930-47C0-4623-8F6C-0FBE90E480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5" cy="14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2765" name="Rectangle 915">
              <a:extLst>
                <a:ext uri="{FF2B5EF4-FFF2-40B4-BE49-F238E27FC236}">
                  <a16:creationId xmlns:a16="http://schemas.microsoft.com/office/drawing/2014/main" id="{19EFE9A6-D78A-4EF3-8671-5C1775680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89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6084" name="Group 916">
              <a:extLst>
                <a:ext uri="{FF2B5EF4-FFF2-40B4-BE49-F238E27FC236}">
                  <a16:creationId xmlns:a16="http://schemas.microsoft.com/office/drawing/2014/main" id="{C8DB407E-816E-4E0F-86F4-B62D6D8FB3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787" name="AutoShape 917">
                <a:extLst>
                  <a:ext uri="{FF2B5EF4-FFF2-40B4-BE49-F238E27FC236}">
                    <a16:creationId xmlns:a16="http://schemas.microsoft.com/office/drawing/2014/main" id="{F4B8FBEE-BC83-41D4-85F0-B0C83AAEE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64"/>
                <a:ext cx="722" cy="2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2788" name="AutoShape 918">
                <a:extLst>
                  <a:ext uri="{FF2B5EF4-FFF2-40B4-BE49-F238E27FC236}">
                    <a16:creationId xmlns:a16="http://schemas.microsoft.com/office/drawing/2014/main" id="{FAA54C54-9156-439E-8BB0-3BD3E9520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5"/>
                <a:ext cx="695" cy="2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2767" name="Rectangle 919">
              <a:extLst>
                <a:ext uri="{FF2B5EF4-FFF2-40B4-BE49-F238E27FC236}">
                  <a16:creationId xmlns:a16="http://schemas.microsoft.com/office/drawing/2014/main" id="{B525EEEE-B8A2-4B0A-AF4B-C3C0642C6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600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768" name="Rectangle 920">
              <a:extLst>
                <a:ext uri="{FF2B5EF4-FFF2-40B4-BE49-F238E27FC236}">
                  <a16:creationId xmlns:a16="http://schemas.microsoft.com/office/drawing/2014/main" id="{00DF9A46-8042-4C7F-B19E-E7C3F5AEF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2"/>
              <a:ext cx="600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grpSp>
          <p:nvGrpSpPr>
            <p:cNvPr id="86087" name="Group 921">
              <a:extLst>
                <a:ext uri="{FF2B5EF4-FFF2-40B4-BE49-F238E27FC236}">
                  <a16:creationId xmlns:a16="http://schemas.microsoft.com/office/drawing/2014/main" id="{F7356DBF-29AC-4A3C-B382-DFFE6E177A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785" name="AutoShape 922">
                <a:extLst>
                  <a:ext uri="{FF2B5EF4-FFF2-40B4-BE49-F238E27FC236}">
                    <a16:creationId xmlns:a16="http://schemas.microsoft.com/office/drawing/2014/main" id="{F9DF0DCC-436A-4683-A17C-D5D728CA7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0" y="2610"/>
                <a:ext cx="721" cy="9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2786" name="AutoShape 923">
                <a:extLst>
                  <a:ext uri="{FF2B5EF4-FFF2-40B4-BE49-F238E27FC236}">
                    <a16:creationId xmlns:a16="http://schemas.microsoft.com/office/drawing/2014/main" id="{B07B789E-D9DB-4639-9CF5-C5CD7F8EB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620"/>
                <a:ext cx="694" cy="6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86088" name="Freeform 924">
              <a:extLst>
                <a:ext uri="{FF2B5EF4-FFF2-40B4-BE49-F238E27FC236}">
                  <a16:creationId xmlns:a16="http://schemas.microsoft.com/office/drawing/2014/main" id="{F4170D3E-ECF4-44FD-B1F4-33FCA8D82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089" name="Group 925">
              <a:extLst>
                <a:ext uri="{FF2B5EF4-FFF2-40B4-BE49-F238E27FC236}">
                  <a16:creationId xmlns:a16="http://schemas.microsoft.com/office/drawing/2014/main" id="{9419DFC0-0896-4FF3-A56A-E13C2D6527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783" name="AutoShape 926">
                <a:extLst>
                  <a:ext uri="{FF2B5EF4-FFF2-40B4-BE49-F238E27FC236}">
                    <a16:creationId xmlns:a16="http://schemas.microsoft.com/office/drawing/2014/main" id="{A958FD75-6CF6-44E7-9A55-4FD72D96D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667" cy="18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72784" name="AutoShape 927">
                <a:extLst>
                  <a:ext uri="{FF2B5EF4-FFF2-40B4-BE49-F238E27FC236}">
                    <a16:creationId xmlns:a16="http://schemas.microsoft.com/office/drawing/2014/main" id="{49CE8C19-C240-46FE-B403-76F46B49B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8"/>
                <a:ext cx="641" cy="14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defRPr/>
                </a:pPr>
                <a:endParaRPr lang="en-US" altLang="zh-CN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  <a:cs typeface="Arial" pitchFamily="34" charset="0"/>
                </a:endParaRPr>
              </a:p>
            </p:txBody>
          </p:sp>
        </p:grpSp>
        <p:sp>
          <p:nvSpPr>
            <p:cNvPr id="72772" name="Rectangle 928">
              <a:extLst>
                <a:ext uri="{FF2B5EF4-FFF2-40B4-BE49-F238E27FC236}">
                  <a16:creationId xmlns:a16="http://schemas.microsoft.com/office/drawing/2014/main" id="{7BEF960A-94F4-4EB9-9BEF-055CD5C30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" y="429"/>
              <a:ext cx="64" cy="2294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6091" name="Freeform 929">
              <a:extLst>
                <a:ext uri="{FF2B5EF4-FFF2-40B4-BE49-F238E27FC236}">
                  <a16:creationId xmlns:a16="http://schemas.microsoft.com/office/drawing/2014/main" id="{51CADD07-7ED0-448E-8E13-3DE44D1D7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2" name="Freeform 930">
              <a:extLst>
                <a:ext uri="{FF2B5EF4-FFF2-40B4-BE49-F238E27FC236}">
                  <a16:creationId xmlns:a16="http://schemas.microsoft.com/office/drawing/2014/main" id="{694A7D47-D491-4090-86CB-CA549D635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75" name="Oval 931">
              <a:extLst>
                <a:ext uri="{FF2B5EF4-FFF2-40B4-BE49-F238E27FC236}">
                  <a16:creationId xmlns:a16="http://schemas.microsoft.com/office/drawing/2014/main" id="{6431FBEF-5AAB-495B-AE02-48DAFCDA9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" y="2611"/>
              <a:ext cx="43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6094" name="Freeform 932">
              <a:extLst>
                <a:ext uri="{FF2B5EF4-FFF2-40B4-BE49-F238E27FC236}">
                  <a16:creationId xmlns:a16="http://schemas.microsoft.com/office/drawing/2014/main" id="{9DE57E0D-CB81-43F3-BC7C-809B4EFEA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77" name="AutoShape 933">
              <a:extLst>
                <a:ext uri="{FF2B5EF4-FFF2-40B4-BE49-F238E27FC236}">
                  <a16:creationId xmlns:a16="http://schemas.microsoft.com/office/drawing/2014/main" id="{3A2C3A57-5FE9-4634-8508-63B016E02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2"/>
              <a:ext cx="1200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778" name="AutoShape 934">
              <a:extLst>
                <a:ext uri="{FF2B5EF4-FFF2-40B4-BE49-F238E27FC236}">
                  <a16:creationId xmlns:a16="http://schemas.microsoft.com/office/drawing/2014/main" id="{90746EB6-F07A-476F-AD0C-043D7D4FF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3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779" name="Oval 935">
              <a:extLst>
                <a:ext uri="{FF2B5EF4-FFF2-40B4-BE49-F238E27FC236}">
                  <a16:creationId xmlns:a16="http://schemas.microsoft.com/office/drawing/2014/main" id="{8F6482D0-99F3-453C-BF8C-0D80254B4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387"/>
              <a:ext cx="15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780" name="Oval 936">
              <a:extLst>
                <a:ext uri="{FF2B5EF4-FFF2-40B4-BE49-F238E27FC236}">
                  <a16:creationId xmlns:a16="http://schemas.microsoft.com/office/drawing/2014/main" id="{5A5617F1-C001-4D94-A596-9A4229754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defRPr/>
              </a:pPr>
              <a:endParaRPr lang="en-US" altLang="zh-CN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781" name="Oval 937">
              <a:extLst>
                <a:ext uri="{FF2B5EF4-FFF2-40B4-BE49-F238E27FC236}">
                  <a16:creationId xmlns:a16="http://schemas.microsoft.com/office/drawing/2014/main" id="{81D258E5-24B1-4007-83D0-1343D582D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" y="2376"/>
              <a:ext cx="15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2782" name="Rectangle 938">
              <a:extLst>
                <a:ext uri="{FF2B5EF4-FFF2-40B4-BE49-F238E27FC236}">
                  <a16:creationId xmlns:a16="http://schemas.microsoft.com/office/drawing/2014/main" id="{9E41F653-8309-430E-AEF3-53A3DB63A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6"/>
              <a:ext cx="86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Arial" pitchFamily="34" charset="0"/>
              </a:endParaRPr>
            </a:p>
          </p:txBody>
        </p:sp>
      </p:grpSp>
      <p:sp>
        <p:nvSpPr>
          <p:cNvPr id="86060" name="Rectangle 2">
            <a:extLst>
              <a:ext uri="{FF2B5EF4-FFF2-40B4-BE49-F238E27FC236}">
                <a16:creationId xmlns:a16="http://schemas.microsoft.com/office/drawing/2014/main" id="{C27E24C9-F4BC-45F8-B075-F5D19D4813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725" y="85725"/>
            <a:ext cx="7772400" cy="1143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VLANs: motivation</a:t>
            </a:r>
          </a:p>
        </p:txBody>
      </p:sp>
      <p:sp>
        <p:nvSpPr>
          <p:cNvPr id="86061" name="Rectangle 3">
            <a:extLst>
              <a:ext uri="{FF2B5EF4-FFF2-40B4-BE49-F238E27FC236}">
                <a16:creationId xmlns:a16="http://schemas.microsoft.com/office/drawing/2014/main" id="{2D7B6AEB-A6DE-40BA-BB36-BE0426041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8700" y="1212850"/>
            <a:ext cx="4135438" cy="3895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>
                <a:solidFill>
                  <a:srgbClr val="000099"/>
                </a:solidFill>
                <a:ea typeface="宋体" panose="02010600030101010101" pitchFamily="2" charset="-122"/>
              </a:rPr>
              <a:t>consider</a:t>
            </a:r>
            <a:r>
              <a:rPr lang="en-US" altLang="zh-CN" i="1">
                <a:ea typeface="宋体" panose="02010600030101010101" pitchFamily="2" charset="-122"/>
              </a:rPr>
              <a:t>: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CS user moves office to EE, but wants connect to CS switch?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single broadcast domain:</a:t>
            </a:r>
          </a:p>
          <a:p>
            <a:pPr marL="681038" lvl="1" indent="-223838"/>
            <a:r>
              <a:rPr lang="en-US" altLang="zh-CN">
                <a:ea typeface="宋体" panose="02010600030101010101" pitchFamily="2" charset="-122"/>
              </a:rPr>
              <a:t>all layer-2 broadcast traffic (ARP, DHCP, unknown location of destination MAC address) must cross entire LAN </a:t>
            </a:r>
          </a:p>
          <a:p>
            <a:pPr marL="681038" lvl="1" indent="-223838"/>
            <a:r>
              <a:rPr lang="en-US" altLang="zh-CN">
                <a:ea typeface="宋体" panose="02010600030101010101" pitchFamily="2" charset="-122"/>
              </a:rPr>
              <a:t>security/privacy, efficiency issues</a:t>
            </a:r>
          </a:p>
          <a:p>
            <a:endParaRPr lang="en-US" altLang="zh-CN" sz="2400">
              <a:latin typeface="Gill Sans MT" panose="020B0502020104020203" pitchFamily="34" charset="0"/>
              <a:ea typeface="宋体" panose="02010600030101010101" pitchFamily="2" charset="-122"/>
            </a:endParaRPr>
          </a:p>
        </p:txBody>
      </p:sp>
      <p:sp>
        <p:nvSpPr>
          <p:cNvPr id="72711" name="Text Box 86">
            <a:extLst>
              <a:ext uri="{FF2B5EF4-FFF2-40B4-BE49-F238E27FC236}">
                <a16:creationId xmlns:a16="http://schemas.microsoft.com/office/drawing/2014/main" id="{E1405B69-A157-4BF7-8038-1D47F0E87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3976688"/>
            <a:ext cx="10191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 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Science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2" name="Text Box 87">
            <a:extLst>
              <a:ext uri="{FF2B5EF4-FFF2-40B4-BE49-F238E27FC236}">
                <a16:creationId xmlns:a16="http://schemas.microsoft.com/office/drawing/2014/main" id="{CEEBF4EE-2328-4723-88CF-940EBFD8A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227513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Electrical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3" name="Text Box 88">
            <a:extLst>
              <a:ext uri="{FF2B5EF4-FFF2-40B4-BE49-F238E27FC236}">
                <a16:creationId xmlns:a16="http://schemas.microsoft.com/office/drawing/2014/main" id="{DBB8AADD-FD06-4BBA-95D0-2C5F92ADF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438" y="4068763"/>
            <a:ext cx="1139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86065" name="Group 347">
            <a:extLst>
              <a:ext uri="{FF2B5EF4-FFF2-40B4-BE49-F238E27FC236}">
                <a16:creationId xmlns:a16="http://schemas.microsoft.com/office/drawing/2014/main" id="{CBEB57BB-8772-4FD1-8833-08D5263849FB}"/>
              </a:ext>
            </a:extLst>
          </p:cNvPr>
          <p:cNvGrpSpPr>
            <a:grpSpLocks/>
          </p:cNvGrpSpPr>
          <p:nvPr/>
        </p:nvGrpSpPr>
        <p:grpSpPr bwMode="auto">
          <a:xfrm>
            <a:off x="1620838" y="1816100"/>
            <a:ext cx="517525" cy="300038"/>
            <a:chOff x="1871277" y="1576300"/>
            <a:chExt cx="1128371" cy="437861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0121922A-7CBA-478A-BCA2-4F85F949F6BA}"/>
                </a:ext>
              </a:extLst>
            </p:cNvPr>
            <p:cNvSpPr/>
            <p:nvPr/>
          </p:nvSpPr>
          <p:spPr bwMode="auto">
            <a:xfrm flipV="1">
              <a:off x="1874737" y="1694454"/>
              <a:ext cx="1124911" cy="319707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8B7B01F-DDC9-4F09-8820-CBE79AE4E6DB}"/>
                </a:ext>
              </a:extLst>
            </p:cNvPr>
            <p:cNvSpPr/>
            <p:nvPr/>
          </p:nvSpPr>
          <p:spPr bwMode="auto">
            <a:xfrm>
              <a:off x="1871277" y="1738470"/>
              <a:ext cx="1128371" cy="118154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A03B001C-8E59-4556-BC97-4594EC7D2407}"/>
                </a:ext>
              </a:extLst>
            </p:cNvPr>
            <p:cNvSpPr/>
            <p:nvPr/>
          </p:nvSpPr>
          <p:spPr bwMode="auto">
            <a:xfrm flipV="1">
              <a:off x="1871277" y="1576300"/>
              <a:ext cx="1124909" cy="31970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5AA8F37-7022-40B7-82D2-199DA4F847F2}"/>
                </a:ext>
              </a:extLst>
            </p:cNvPr>
            <p:cNvSpPr/>
            <p:nvPr/>
          </p:nvSpPr>
          <p:spPr bwMode="auto">
            <a:xfrm>
              <a:off x="2158561" y="1673602"/>
              <a:ext cx="550342" cy="15985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279CEC69-D83E-43D4-B591-8A0DA646A196}"/>
                </a:ext>
              </a:extLst>
            </p:cNvPr>
            <p:cNvSpPr/>
            <p:nvPr/>
          </p:nvSpPr>
          <p:spPr bwMode="auto">
            <a:xfrm>
              <a:off x="2103180" y="1634219"/>
              <a:ext cx="661102" cy="111203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5EF40338-9048-4FFA-AD0A-5A5F66E47C1C}"/>
                </a:ext>
              </a:extLst>
            </p:cNvPr>
            <p:cNvSpPr/>
            <p:nvPr/>
          </p:nvSpPr>
          <p:spPr bwMode="auto">
            <a:xfrm>
              <a:off x="2535839" y="1726888"/>
              <a:ext cx="245748" cy="97302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2E026F3B-6377-4B86-9206-66993FBC5292}"/>
                </a:ext>
              </a:extLst>
            </p:cNvPr>
            <p:cNvSpPr/>
            <p:nvPr/>
          </p:nvSpPr>
          <p:spPr bwMode="auto">
            <a:xfrm>
              <a:off x="2089335" y="1729204"/>
              <a:ext cx="242288" cy="97302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1F1FCB13-16A7-4837-A1DD-D94852DEC793}"/>
                </a:ext>
              </a:extLst>
            </p:cNvPr>
            <p:cNvCxnSpPr>
              <a:endCxn id="157" idx="2"/>
            </p:cNvCxnSpPr>
            <p:nvPr/>
          </p:nvCxnSpPr>
          <p:spPr bwMode="auto">
            <a:xfrm flipH="1" flipV="1">
              <a:off x="1871277" y="1736154"/>
              <a:ext cx="3460" cy="12510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9C4F2175-924A-4C49-945E-1BA79084D928}"/>
                </a:ext>
              </a:extLst>
            </p:cNvPr>
            <p:cNvCxnSpPr/>
            <p:nvPr/>
          </p:nvCxnSpPr>
          <p:spPr bwMode="auto">
            <a:xfrm flipH="1" flipV="1">
              <a:off x="2996186" y="1733837"/>
              <a:ext cx="3462" cy="12510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067" name="灯片编号占位符 5">
            <a:extLst>
              <a:ext uri="{FF2B5EF4-FFF2-40B4-BE49-F238E27FC236}">
                <a16:creationId xmlns:a16="http://schemas.microsoft.com/office/drawing/2014/main" id="{136F8448-D1E8-4C3D-8C83-627AE4A7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E840EBE4-CC24-4C27-A819-832EE6736F88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13">
            <a:extLst>
              <a:ext uri="{FF2B5EF4-FFF2-40B4-BE49-F238E27FC236}">
                <a16:creationId xmlns:a16="http://schemas.microsoft.com/office/drawing/2014/main" id="{DC008E5C-1B1D-467A-9FC9-BC2AEA2B3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10502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3736" name="Rectangle 212">
            <a:extLst>
              <a:ext uri="{FF2B5EF4-FFF2-40B4-BE49-F238E27FC236}">
                <a16:creationId xmlns:a16="http://schemas.microsoft.com/office/drawing/2014/main" id="{8B4092FB-E837-4EF3-BBA7-208F1FC74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525" y="188912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E5B8F7B9-13E2-463A-92F2-E70F072D6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VLANs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BF8672AE-4649-4398-BA9F-1FC0272E4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97338" y="355600"/>
            <a:ext cx="4926012" cy="1625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CC0000"/>
                </a:solidFill>
                <a:ea typeface="宋体" panose="02010600030101010101" pitchFamily="2" charset="-122"/>
              </a:rPr>
              <a:t>port-based VLAN: </a:t>
            </a:r>
            <a:r>
              <a:rPr lang="en-US" altLang="zh-CN" sz="2000">
                <a:ea typeface="宋体" panose="02010600030101010101" pitchFamily="2" charset="-122"/>
              </a:rPr>
              <a:t>switch ports grouped (by switch management software) so that </a:t>
            </a:r>
            <a:r>
              <a:rPr lang="en-US" altLang="zh-CN" sz="2000" i="1">
                <a:solidFill>
                  <a:srgbClr val="CC0000"/>
                </a:solidFill>
                <a:ea typeface="宋体" panose="02010600030101010101" pitchFamily="2" charset="-122"/>
              </a:rPr>
              <a:t>single</a:t>
            </a:r>
            <a:r>
              <a:rPr lang="en-US" altLang="zh-CN" sz="200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physical switch ……</a:t>
            </a:r>
          </a:p>
          <a:p>
            <a:endParaRPr lang="en-US" altLang="zh-CN" sz="2000">
              <a:latin typeface="Gill Sans MT" panose="020B0502020104020203" pitchFamily="34" charset="0"/>
              <a:ea typeface="宋体" panose="02010600030101010101" pitchFamily="2" charset="-122"/>
            </a:endParaRPr>
          </a:p>
        </p:txBody>
      </p:sp>
      <p:sp>
        <p:nvSpPr>
          <p:cNvPr id="73739" name="Text Box 85">
            <a:extLst>
              <a:ext uri="{FF2B5EF4-FFF2-40B4-BE49-F238E27FC236}">
                <a16:creationId xmlns:a16="http://schemas.microsoft.com/office/drawing/2014/main" id="{22609F10-740F-4637-B7D6-0A32BA8B2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2265363"/>
            <a:ext cx="2944812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switch(es) supporting VLAN capabilities can be configured to define multiple </a:t>
            </a:r>
            <a:r>
              <a:rPr lang="en-US" sz="2200" b="1" u="sng" dirty="0">
                <a:solidFill>
                  <a:srgbClr val="CC0000"/>
                </a:solidFill>
                <a:latin typeface="Arial" charset="0"/>
                <a:cs typeface="Arial" charset="0"/>
              </a:rPr>
              <a:t>virtual</a:t>
            </a:r>
            <a:r>
              <a:rPr lang="en-US" sz="2200" i="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LANS over single physical LAN infrastructure.</a:t>
            </a:r>
          </a:p>
        </p:txBody>
      </p:sp>
      <p:sp>
        <p:nvSpPr>
          <p:cNvPr id="73740" name="Rectangle 86">
            <a:extLst>
              <a:ext uri="{FF2B5EF4-FFF2-40B4-BE49-F238E27FC236}">
                <a16:creationId xmlns:a16="http://schemas.microsoft.com/office/drawing/2014/main" id="{F73AC534-1709-4240-8EBD-942E1766F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919288"/>
            <a:ext cx="3216275" cy="2813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latin typeface="Arial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73741" name="Text Box 87">
            <a:extLst>
              <a:ext uri="{FF2B5EF4-FFF2-40B4-BE49-F238E27FC236}">
                <a16:creationId xmlns:a16="http://schemas.microsoft.com/office/drawing/2014/main" id="{84B772E8-C449-469C-BD8B-900A6A26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543050"/>
            <a:ext cx="1836737" cy="708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Virtual Local </a:t>
            </a:r>
          </a:p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Area Network</a:t>
            </a:r>
          </a:p>
        </p:txBody>
      </p:sp>
      <p:sp>
        <p:nvSpPr>
          <p:cNvPr id="87049" name="Rectangle 80">
            <a:extLst>
              <a:ext uri="{FF2B5EF4-FFF2-40B4-BE49-F238E27FC236}">
                <a16:creationId xmlns:a16="http://schemas.microsoft.com/office/drawing/2014/main" id="{F908C8C2-903F-40A7-BDF8-175CC528C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8" y="209867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0" name="Rectangle 77">
            <a:extLst>
              <a:ext uri="{FF2B5EF4-FFF2-40B4-BE49-F238E27FC236}">
                <a16:creationId xmlns:a16="http://schemas.microsoft.com/office/drawing/2014/main" id="{0FCBE86C-1D72-4F58-AB2F-473E383EA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275" y="187960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1" name="Rectangle 76">
            <a:extLst>
              <a:ext uri="{FF2B5EF4-FFF2-40B4-BE49-F238E27FC236}">
                <a16:creationId xmlns:a16="http://schemas.microsoft.com/office/drawing/2014/main" id="{A7889548-7B33-4F84-9637-F5E8C3244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8" y="188436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2" name="Rectangle 75">
            <a:extLst>
              <a:ext uri="{FF2B5EF4-FFF2-40B4-BE49-F238E27FC236}">
                <a16:creationId xmlns:a16="http://schemas.microsoft.com/office/drawing/2014/main" id="{92611726-17B2-4788-BECF-A3ADEF4DD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338" y="188436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3" name="Rectangle 2">
            <a:extLst>
              <a:ext uri="{FF2B5EF4-FFF2-40B4-BE49-F238E27FC236}">
                <a16:creationId xmlns:a16="http://schemas.microsoft.com/office/drawing/2014/main" id="{A44F0148-3DD2-4423-904E-FCD9ADB1E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8" y="187642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4" name="Line 3">
            <a:extLst>
              <a:ext uri="{FF2B5EF4-FFF2-40B4-BE49-F238E27FC236}">
                <a16:creationId xmlns:a16="http://schemas.microsoft.com/office/drawing/2014/main" id="{D65DDB0A-8078-425D-BD7D-1315A8DF2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4175" y="209232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5" name="Text Box 6">
            <a:extLst>
              <a:ext uri="{FF2B5EF4-FFF2-40B4-BE49-F238E27FC236}">
                <a16:creationId xmlns:a16="http://schemas.microsoft.com/office/drawing/2014/main" id="{3F589384-0F31-492F-8E4C-7C66DD512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0038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87056" name="Line 7">
            <a:extLst>
              <a:ext uri="{FF2B5EF4-FFF2-40B4-BE49-F238E27FC236}">
                <a16:creationId xmlns:a16="http://schemas.microsoft.com/office/drawing/2014/main" id="{C615EB43-4317-45F4-A1DE-F85014F24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7" name="AutoShape 8">
            <a:extLst>
              <a:ext uri="{FF2B5EF4-FFF2-40B4-BE49-F238E27FC236}">
                <a16:creationId xmlns:a16="http://schemas.microsoft.com/office/drawing/2014/main" id="{2D85F7C8-6A24-4625-82DF-876ED9098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161766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8" name="Freeform 9">
            <a:extLst>
              <a:ext uri="{FF2B5EF4-FFF2-40B4-BE49-F238E27FC236}">
                <a16:creationId xmlns:a16="http://schemas.microsoft.com/office/drawing/2014/main" id="{8FDF2FBE-C88F-40E8-A59F-5040F386B2AF}"/>
              </a:ext>
            </a:extLst>
          </p:cNvPr>
          <p:cNvSpPr>
            <a:spLocks/>
          </p:cNvSpPr>
          <p:nvPr/>
        </p:nvSpPr>
        <p:spPr bwMode="auto">
          <a:xfrm>
            <a:off x="7837488" y="1620838"/>
            <a:ext cx="763587" cy="720725"/>
          </a:xfrm>
          <a:custGeom>
            <a:avLst/>
            <a:gdLst>
              <a:gd name="T0" fmla="*/ 0 w 232"/>
              <a:gd name="T1" fmla="*/ 2147483646 h 454"/>
              <a:gd name="T2" fmla="*/ 2147483646 w 232"/>
              <a:gd name="T3" fmla="*/ 2147483646 h 454"/>
              <a:gd name="T4" fmla="*/ 2147483646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9" name="Freeform 10">
            <a:extLst>
              <a:ext uri="{FF2B5EF4-FFF2-40B4-BE49-F238E27FC236}">
                <a16:creationId xmlns:a16="http://schemas.microsoft.com/office/drawing/2014/main" id="{3D47B9B5-2113-4FDA-9EE7-B25B2085ADEB}"/>
              </a:ext>
            </a:extLst>
          </p:cNvPr>
          <p:cNvSpPr>
            <a:spLocks/>
          </p:cNvSpPr>
          <p:nvPr/>
        </p:nvSpPr>
        <p:spPr bwMode="auto">
          <a:xfrm>
            <a:off x="5835650" y="1665288"/>
            <a:ext cx="2228850" cy="150812"/>
          </a:xfrm>
          <a:custGeom>
            <a:avLst/>
            <a:gdLst>
              <a:gd name="T0" fmla="*/ 0 w 678"/>
              <a:gd name="T1" fmla="*/ 2147483646 h 110"/>
              <a:gd name="T2" fmla="*/ 2147483646 w 678"/>
              <a:gd name="T3" fmla="*/ 2147483646 h 110"/>
              <a:gd name="T4" fmla="*/ 2147483646 w 678"/>
              <a:gd name="T5" fmla="*/ 0 h 110"/>
              <a:gd name="T6" fmla="*/ 2147483646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0" name="Freeform 11">
            <a:extLst>
              <a:ext uri="{FF2B5EF4-FFF2-40B4-BE49-F238E27FC236}">
                <a16:creationId xmlns:a16="http://schemas.microsoft.com/office/drawing/2014/main" id="{85C07096-CD67-478E-A240-D456124DD41A}"/>
              </a:ext>
            </a:extLst>
          </p:cNvPr>
          <p:cNvSpPr>
            <a:spLocks/>
          </p:cNvSpPr>
          <p:nvPr/>
        </p:nvSpPr>
        <p:spPr bwMode="auto">
          <a:xfrm>
            <a:off x="6308725" y="166528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6 w 432"/>
              <a:gd name="T3" fmla="*/ 0 h 105"/>
              <a:gd name="T4" fmla="*/ 2147483646 w 432"/>
              <a:gd name="T5" fmla="*/ 2147483646 h 105"/>
              <a:gd name="T6" fmla="*/ 2147483646 w 432"/>
              <a:gd name="T7" fmla="*/ 2147483646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1" name="Line 17">
            <a:extLst>
              <a:ext uri="{FF2B5EF4-FFF2-40B4-BE49-F238E27FC236}">
                <a16:creationId xmlns:a16="http://schemas.microsoft.com/office/drawing/2014/main" id="{702F175F-B411-4F54-AC5B-6ADED9977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37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2" name="Line 18">
            <a:extLst>
              <a:ext uri="{FF2B5EF4-FFF2-40B4-BE49-F238E27FC236}">
                <a16:creationId xmlns:a16="http://schemas.microsoft.com/office/drawing/2014/main" id="{C387A502-7828-474C-A9AB-BACD549AB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36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3" name="Line 21">
            <a:extLst>
              <a:ext uri="{FF2B5EF4-FFF2-40B4-BE49-F238E27FC236}">
                <a16:creationId xmlns:a16="http://schemas.microsoft.com/office/drawing/2014/main" id="{4E97C40C-113C-4DD3-BACD-F3543BC77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3100" y="18780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4" name="Line 22">
            <a:extLst>
              <a:ext uri="{FF2B5EF4-FFF2-40B4-BE49-F238E27FC236}">
                <a16:creationId xmlns:a16="http://schemas.microsoft.com/office/drawing/2014/main" id="{D56F79EA-9AEA-4402-830A-1C497119F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258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5" name="Line 23">
            <a:extLst>
              <a:ext uri="{FF2B5EF4-FFF2-40B4-BE49-F238E27FC236}">
                <a16:creationId xmlns:a16="http://schemas.microsoft.com/office/drawing/2014/main" id="{C6C2D36B-A1F3-4BA3-A44F-DE35C7AE3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6" name="Line 24">
            <a:extLst>
              <a:ext uri="{FF2B5EF4-FFF2-40B4-BE49-F238E27FC236}">
                <a16:creationId xmlns:a16="http://schemas.microsoft.com/office/drawing/2014/main" id="{F17C8315-EC73-436D-9D6B-E1CB4E8FC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84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7" name="Line 25">
            <a:extLst>
              <a:ext uri="{FF2B5EF4-FFF2-40B4-BE49-F238E27FC236}">
                <a16:creationId xmlns:a16="http://schemas.microsoft.com/office/drawing/2014/main" id="{06385C3E-19D5-4658-B320-423636C6D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9038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8" name="Text Box 26">
            <a:extLst>
              <a:ext uri="{FF2B5EF4-FFF2-40B4-BE49-F238E27FC236}">
                <a16:creationId xmlns:a16="http://schemas.microsoft.com/office/drawing/2014/main" id="{5ABF4A44-7D29-449C-A548-8C9A27D18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100" y="20447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8</a:t>
            </a:r>
          </a:p>
        </p:txBody>
      </p:sp>
      <p:sp>
        <p:nvSpPr>
          <p:cNvPr id="87069" name="Text Box 27">
            <a:extLst>
              <a:ext uri="{FF2B5EF4-FFF2-40B4-BE49-F238E27FC236}">
                <a16:creationId xmlns:a16="http://schemas.microsoft.com/office/drawing/2014/main" id="{F8C399F6-B3BA-4830-89E9-B280326E8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18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9</a:t>
            </a:r>
          </a:p>
        </p:txBody>
      </p:sp>
      <p:sp>
        <p:nvSpPr>
          <p:cNvPr id="87070" name="Text Box 28">
            <a:extLst>
              <a:ext uri="{FF2B5EF4-FFF2-40B4-BE49-F238E27FC236}">
                <a16:creationId xmlns:a16="http://schemas.microsoft.com/office/drawing/2014/main" id="{866A8448-C280-4FB7-9A12-07CC78E3F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648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16</a:t>
            </a:r>
          </a:p>
        </p:txBody>
      </p:sp>
      <p:sp>
        <p:nvSpPr>
          <p:cNvPr id="87071" name="Text Box 29">
            <a:extLst>
              <a:ext uri="{FF2B5EF4-FFF2-40B4-BE49-F238E27FC236}">
                <a16:creationId xmlns:a16="http://schemas.microsoft.com/office/drawing/2014/main" id="{1C24D8E8-608F-419A-A3A3-D2C4F41AF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13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10</a:t>
            </a:r>
          </a:p>
        </p:txBody>
      </p:sp>
      <p:sp>
        <p:nvSpPr>
          <p:cNvPr id="87072" name="Text Box 30">
            <a:extLst>
              <a:ext uri="{FF2B5EF4-FFF2-40B4-BE49-F238E27FC236}">
                <a16:creationId xmlns:a16="http://schemas.microsoft.com/office/drawing/2014/main" id="{99B76355-66A8-469B-8308-F79B293BD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9563" y="203517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</a:p>
        </p:txBody>
      </p:sp>
      <p:sp>
        <p:nvSpPr>
          <p:cNvPr id="87073" name="Text Box 57">
            <a:extLst>
              <a:ext uri="{FF2B5EF4-FFF2-40B4-BE49-F238E27FC236}">
                <a16:creationId xmlns:a16="http://schemas.microsoft.com/office/drawing/2014/main" id="{B52B98EC-64D5-4613-9095-4035B2CF4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633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7</a:t>
            </a:r>
          </a:p>
        </p:txBody>
      </p:sp>
      <p:sp>
        <p:nvSpPr>
          <p:cNvPr id="87074" name="Line 61">
            <a:extLst>
              <a:ext uri="{FF2B5EF4-FFF2-40B4-BE49-F238E27FC236}">
                <a16:creationId xmlns:a16="http://schemas.microsoft.com/office/drawing/2014/main" id="{8D697879-E08A-4EC9-BEC3-BADD5B5DAF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2175" y="2211388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75" name="Line 62">
            <a:extLst>
              <a:ext uri="{FF2B5EF4-FFF2-40B4-BE49-F238E27FC236}">
                <a16:creationId xmlns:a16="http://schemas.microsoft.com/office/drawing/2014/main" id="{EF5B66A6-4752-4847-B08A-D9B40D06A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7938" y="221138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76" name="Line 63">
            <a:extLst>
              <a:ext uri="{FF2B5EF4-FFF2-40B4-BE49-F238E27FC236}">
                <a16:creationId xmlns:a16="http://schemas.microsoft.com/office/drawing/2014/main" id="{AD969C77-74A4-49F6-9E8E-EC521981F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07075" y="222726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77" name="Text Box 64">
            <a:extLst>
              <a:ext uri="{FF2B5EF4-FFF2-40B4-BE49-F238E27FC236}">
                <a16:creationId xmlns:a16="http://schemas.microsoft.com/office/drawing/2014/main" id="{B3FE1361-449A-4115-AACD-465EE6B16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25892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</a:p>
        </p:txBody>
      </p:sp>
      <p:sp>
        <p:nvSpPr>
          <p:cNvPr id="87078" name="Line 69">
            <a:extLst>
              <a:ext uri="{FF2B5EF4-FFF2-40B4-BE49-F238E27FC236}">
                <a16:creationId xmlns:a16="http://schemas.microsoft.com/office/drawing/2014/main" id="{289E4544-EF1C-4EC5-96FA-2F33D10E1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5138" y="221456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79" name="Line 70">
            <a:extLst>
              <a:ext uri="{FF2B5EF4-FFF2-40B4-BE49-F238E27FC236}">
                <a16:creationId xmlns:a16="http://schemas.microsoft.com/office/drawing/2014/main" id="{423BC8E1-11B8-4DC8-AB19-C04A54921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5613" y="201295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80" name="Line 71">
            <a:extLst>
              <a:ext uri="{FF2B5EF4-FFF2-40B4-BE49-F238E27FC236}">
                <a16:creationId xmlns:a16="http://schemas.microsoft.com/office/drawing/2014/main" id="{EBE98ACE-75FB-4A3F-88F1-398BB8146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1275" y="195738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81" name="Text Box 72">
            <a:extLst>
              <a:ext uri="{FF2B5EF4-FFF2-40B4-BE49-F238E27FC236}">
                <a16:creationId xmlns:a16="http://schemas.microsoft.com/office/drawing/2014/main" id="{83557CA8-F6A7-4749-9644-5E73FB640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313213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Electrical Engineering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(VLAN ports 1-8)</a:t>
            </a:r>
          </a:p>
        </p:txBody>
      </p:sp>
      <p:sp>
        <p:nvSpPr>
          <p:cNvPr id="87082" name="Text Box 73">
            <a:extLst>
              <a:ext uri="{FF2B5EF4-FFF2-40B4-BE49-F238E27FC236}">
                <a16:creationId xmlns:a16="http://schemas.microsoft.com/office/drawing/2014/main" id="{2B444AE7-5067-4CFC-9403-0C0889E83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825" y="311943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Computer Science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(VLAN ports 9-15)</a:t>
            </a:r>
          </a:p>
        </p:txBody>
      </p:sp>
      <p:sp>
        <p:nvSpPr>
          <p:cNvPr id="87083" name="Text Box 74">
            <a:extLst>
              <a:ext uri="{FF2B5EF4-FFF2-40B4-BE49-F238E27FC236}">
                <a16:creationId xmlns:a16="http://schemas.microsoft.com/office/drawing/2014/main" id="{97C34508-4A5E-4BF4-91D3-03C4F2BAE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82562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15</a:t>
            </a:r>
          </a:p>
        </p:txBody>
      </p:sp>
      <p:sp>
        <p:nvSpPr>
          <p:cNvPr id="87084" name="Oval 81">
            <a:extLst>
              <a:ext uri="{FF2B5EF4-FFF2-40B4-BE49-F238E27FC236}">
                <a16:creationId xmlns:a16="http://schemas.microsoft.com/office/drawing/2014/main" id="{A97B9D31-4674-44F6-AA4E-C3347D617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475" y="2190750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85" name="Oval 82">
            <a:extLst>
              <a:ext uri="{FF2B5EF4-FFF2-40B4-BE49-F238E27FC236}">
                <a16:creationId xmlns:a16="http://schemas.microsoft.com/office/drawing/2014/main" id="{F0F9D1F3-34B6-4FC2-BC67-CFB6BCD10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86" name="Oval 83">
            <a:extLst>
              <a:ext uri="{FF2B5EF4-FFF2-40B4-BE49-F238E27FC236}">
                <a16:creationId xmlns:a16="http://schemas.microsoft.com/office/drawing/2014/main" id="{90F609C6-ACF1-423B-BF14-BF677DF43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21923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87" name="Oval 84">
            <a:extLst>
              <a:ext uri="{FF2B5EF4-FFF2-40B4-BE49-F238E27FC236}">
                <a16:creationId xmlns:a16="http://schemas.microsoft.com/office/drawing/2014/main" id="{CFE218CD-B520-4A95-879D-FF88A0E55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88" name="Oval 85">
            <a:extLst>
              <a:ext uri="{FF2B5EF4-FFF2-40B4-BE49-F238E27FC236}">
                <a16:creationId xmlns:a16="http://schemas.microsoft.com/office/drawing/2014/main" id="{12A6CA12-659B-4F56-932B-F3BC0A96E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038" y="19748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89" name="Oval 86">
            <a:extLst>
              <a:ext uri="{FF2B5EF4-FFF2-40B4-BE49-F238E27FC236}">
                <a16:creationId xmlns:a16="http://schemas.microsoft.com/office/drawing/2014/main" id="{579C1435-31C3-469F-A8BA-3B58CA06F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0" y="19716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90" name="Text Box 45">
            <a:extLst>
              <a:ext uri="{FF2B5EF4-FFF2-40B4-BE49-F238E27FC236}">
                <a16:creationId xmlns:a16="http://schemas.microsoft.com/office/drawing/2014/main" id="{C1F08BF5-9A02-4FAE-AE9A-A2F856392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25558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</a:p>
        </p:txBody>
      </p:sp>
      <p:grpSp>
        <p:nvGrpSpPr>
          <p:cNvPr id="87091" name="Group 44">
            <a:extLst>
              <a:ext uri="{FF2B5EF4-FFF2-40B4-BE49-F238E27FC236}">
                <a16:creationId xmlns:a16="http://schemas.microsoft.com/office/drawing/2014/main" id="{0202D573-D48C-4969-91DD-76EA12FFF7C5}"/>
              </a:ext>
            </a:extLst>
          </p:cNvPr>
          <p:cNvGrpSpPr>
            <a:grpSpLocks/>
          </p:cNvGrpSpPr>
          <p:nvPr/>
        </p:nvGrpSpPr>
        <p:grpSpPr bwMode="auto">
          <a:xfrm>
            <a:off x="4165600" y="2397125"/>
            <a:ext cx="609600" cy="558800"/>
            <a:chOff x="-44" y="1473"/>
            <a:chExt cx="981" cy="1105"/>
          </a:xfrm>
        </p:grpSpPr>
        <p:pic>
          <p:nvPicPr>
            <p:cNvPr id="87182" name="Picture 45" descr="desktop_computer_stylized_medium">
              <a:extLst>
                <a:ext uri="{FF2B5EF4-FFF2-40B4-BE49-F238E27FC236}">
                  <a16:creationId xmlns:a16="http://schemas.microsoft.com/office/drawing/2014/main" id="{B4BF8C3B-2EF5-40AA-8349-0C9F9F151C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183" name="Freeform 46">
              <a:extLst>
                <a:ext uri="{FF2B5EF4-FFF2-40B4-BE49-F238E27FC236}">
                  <a16:creationId xmlns:a16="http://schemas.microsoft.com/office/drawing/2014/main" id="{FC82DA28-CCDC-49C3-95AB-FFEEBC000F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7092" name="Group 44">
            <a:extLst>
              <a:ext uri="{FF2B5EF4-FFF2-40B4-BE49-F238E27FC236}">
                <a16:creationId xmlns:a16="http://schemas.microsoft.com/office/drawing/2014/main" id="{8E5A0A28-5C3E-4972-B745-6EC8CE5534AD}"/>
              </a:ext>
            </a:extLst>
          </p:cNvPr>
          <p:cNvGrpSpPr>
            <a:grpSpLocks/>
          </p:cNvGrpSpPr>
          <p:nvPr/>
        </p:nvGrpSpPr>
        <p:grpSpPr bwMode="auto">
          <a:xfrm>
            <a:off x="4694238" y="2489200"/>
            <a:ext cx="609600" cy="558800"/>
            <a:chOff x="-44" y="1473"/>
            <a:chExt cx="981" cy="1105"/>
          </a:xfrm>
        </p:grpSpPr>
        <p:pic>
          <p:nvPicPr>
            <p:cNvPr id="87180" name="Picture 45" descr="desktop_computer_stylized_medium">
              <a:extLst>
                <a:ext uri="{FF2B5EF4-FFF2-40B4-BE49-F238E27FC236}">
                  <a16:creationId xmlns:a16="http://schemas.microsoft.com/office/drawing/2014/main" id="{47CA07D0-030D-4A25-98F3-A3A09B41F7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181" name="Freeform 46">
              <a:extLst>
                <a:ext uri="{FF2B5EF4-FFF2-40B4-BE49-F238E27FC236}">
                  <a16:creationId xmlns:a16="http://schemas.microsoft.com/office/drawing/2014/main" id="{F0D0E6C7-71CB-4DF0-BD88-C6C6A61EE2F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7093" name="Group 44">
            <a:extLst>
              <a:ext uri="{FF2B5EF4-FFF2-40B4-BE49-F238E27FC236}">
                <a16:creationId xmlns:a16="http://schemas.microsoft.com/office/drawing/2014/main" id="{052642DF-42DA-41F5-8B9B-A751FC1E7222}"/>
              </a:ext>
            </a:extLst>
          </p:cNvPr>
          <p:cNvGrpSpPr>
            <a:grpSpLocks/>
          </p:cNvGrpSpPr>
          <p:nvPr/>
        </p:nvGrpSpPr>
        <p:grpSpPr bwMode="auto">
          <a:xfrm>
            <a:off x="5414963" y="2509838"/>
            <a:ext cx="609600" cy="558800"/>
            <a:chOff x="-44" y="1473"/>
            <a:chExt cx="981" cy="1105"/>
          </a:xfrm>
        </p:grpSpPr>
        <p:pic>
          <p:nvPicPr>
            <p:cNvPr id="87178" name="Picture 45" descr="desktop_computer_stylized_medium">
              <a:extLst>
                <a:ext uri="{FF2B5EF4-FFF2-40B4-BE49-F238E27FC236}">
                  <a16:creationId xmlns:a16="http://schemas.microsoft.com/office/drawing/2014/main" id="{50FFD158-FB67-4B72-A6CA-6253116549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179" name="Freeform 46">
              <a:extLst>
                <a:ext uri="{FF2B5EF4-FFF2-40B4-BE49-F238E27FC236}">
                  <a16:creationId xmlns:a16="http://schemas.microsoft.com/office/drawing/2014/main" id="{10CF73BF-C93A-4E2F-A136-3BAB2258589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7094" name="Group 44">
            <a:extLst>
              <a:ext uri="{FF2B5EF4-FFF2-40B4-BE49-F238E27FC236}">
                <a16:creationId xmlns:a16="http://schemas.microsoft.com/office/drawing/2014/main" id="{2CE979FB-9173-400C-BC1E-8EDA6275BB3A}"/>
              </a:ext>
            </a:extLst>
          </p:cNvPr>
          <p:cNvGrpSpPr>
            <a:grpSpLocks/>
          </p:cNvGrpSpPr>
          <p:nvPr/>
        </p:nvGrpSpPr>
        <p:grpSpPr bwMode="auto">
          <a:xfrm>
            <a:off x="6430963" y="2530475"/>
            <a:ext cx="609600" cy="558800"/>
            <a:chOff x="-44" y="1473"/>
            <a:chExt cx="981" cy="1105"/>
          </a:xfrm>
        </p:grpSpPr>
        <p:pic>
          <p:nvPicPr>
            <p:cNvPr id="87176" name="Picture 45" descr="desktop_computer_stylized_medium">
              <a:extLst>
                <a:ext uri="{FF2B5EF4-FFF2-40B4-BE49-F238E27FC236}">
                  <a16:creationId xmlns:a16="http://schemas.microsoft.com/office/drawing/2014/main" id="{1A0B9407-CABB-49F2-BDB6-A059CDF32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177" name="Freeform 46">
              <a:extLst>
                <a:ext uri="{FF2B5EF4-FFF2-40B4-BE49-F238E27FC236}">
                  <a16:creationId xmlns:a16="http://schemas.microsoft.com/office/drawing/2014/main" id="{1A4ED1B3-0EF5-4618-ADBE-6012BB3C5B7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7095" name="Group 44">
            <a:extLst>
              <a:ext uri="{FF2B5EF4-FFF2-40B4-BE49-F238E27FC236}">
                <a16:creationId xmlns:a16="http://schemas.microsoft.com/office/drawing/2014/main" id="{C7CD614F-AD21-4D94-A10D-AA93C49BDBE7}"/>
              </a:ext>
            </a:extLst>
          </p:cNvPr>
          <p:cNvGrpSpPr>
            <a:grpSpLocks/>
          </p:cNvGrpSpPr>
          <p:nvPr/>
        </p:nvGrpSpPr>
        <p:grpSpPr bwMode="auto">
          <a:xfrm>
            <a:off x="6938963" y="2540000"/>
            <a:ext cx="609600" cy="558800"/>
            <a:chOff x="-44" y="1473"/>
            <a:chExt cx="981" cy="1105"/>
          </a:xfrm>
        </p:grpSpPr>
        <p:pic>
          <p:nvPicPr>
            <p:cNvPr id="87174" name="Picture 45" descr="desktop_computer_stylized_medium">
              <a:extLst>
                <a:ext uri="{FF2B5EF4-FFF2-40B4-BE49-F238E27FC236}">
                  <a16:creationId xmlns:a16="http://schemas.microsoft.com/office/drawing/2014/main" id="{720C2B0A-D9E0-45F8-B24A-838D2C4091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175" name="Freeform 46">
              <a:extLst>
                <a:ext uri="{FF2B5EF4-FFF2-40B4-BE49-F238E27FC236}">
                  <a16:creationId xmlns:a16="http://schemas.microsoft.com/office/drawing/2014/main" id="{4F6963DC-D497-4831-B9C9-14F17176219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7096" name="Group 44">
            <a:extLst>
              <a:ext uri="{FF2B5EF4-FFF2-40B4-BE49-F238E27FC236}">
                <a16:creationId xmlns:a16="http://schemas.microsoft.com/office/drawing/2014/main" id="{C0FD72C8-1A0C-4DBD-B84F-97F4C8E82676}"/>
              </a:ext>
            </a:extLst>
          </p:cNvPr>
          <p:cNvGrpSpPr>
            <a:grpSpLocks/>
          </p:cNvGrpSpPr>
          <p:nvPr/>
        </p:nvGrpSpPr>
        <p:grpSpPr bwMode="auto">
          <a:xfrm>
            <a:off x="7802563" y="2357438"/>
            <a:ext cx="609600" cy="558800"/>
            <a:chOff x="-44" y="1473"/>
            <a:chExt cx="981" cy="1105"/>
          </a:xfrm>
        </p:grpSpPr>
        <p:pic>
          <p:nvPicPr>
            <p:cNvPr id="87172" name="Picture 45" descr="desktop_computer_stylized_medium">
              <a:extLst>
                <a:ext uri="{FF2B5EF4-FFF2-40B4-BE49-F238E27FC236}">
                  <a16:creationId xmlns:a16="http://schemas.microsoft.com/office/drawing/2014/main" id="{D1527150-9BD5-4972-B242-D4B7F0F363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173" name="Freeform 46">
              <a:extLst>
                <a:ext uri="{FF2B5EF4-FFF2-40B4-BE49-F238E27FC236}">
                  <a16:creationId xmlns:a16="http://schemas.microsoft.com/office/drawing/2014/main" id="{1A7AEC33-8CDA-4D36-A696-2752EA9093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622C5ED-77BB-4FD7-BF83-0C739CF88857}"/>
              </a:ext>
            </a:extLst>
          </p:cNvPr>
          <p:cNvGrpSpPr>
            <a:grpSpLocks/>
          </p:cNvGrpSpPr>
          <p:nvPr/>
        </p:nvGrpSpPr>
        <p:grpSpPr bwMode="auto">
          <a:xfrm>
            <a:off x="3902075" y="3695700"/>
            <a:ext cx="5334000" cy="2593975"/>
            <a:chOff x="3902075" y="3695700"/>
            <a:chExt cx="5334289" cy="2593975"/>
          </a:xfrm>
        </p:grpSpPr>
        <p:sp>
          <p:nvSpPr>
            <p:cNvPr id="87100" name="Cloud">
              <a:extLst>
                <a:ext uri="{FF2B5EF4-FFF2-40B4-BE49-F238E27FC236}">
                  <a16:creationId xmlns:a16="http://schemas.microsoft.com/office/drawing/2014/main" id="{61347F53-6462-42C5-9CEE-8D68B34825BE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560888" y="4090988"/>
              <a:ext cx="4516437" cy="1214437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4" name="Rectangle 263">
              <a:extLst>
                <a:ext uri="{FF2B5EF4-FFF2-40B4-BE49-F238E27FC236}">
                  <a16:creationId xmlns:a16="http://schemas.microsoft.com/office/drawing/2014/main" id="{31FB50DC-9D60-400E-A724-B5B927DAE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5630" y="4583113"/>
              <a:ext cx="269890" cy="20478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3735" name="Rectangle 262">
              <a:extLst>
                <a:ext uri="{FF2B5EF4-FFF2-40B4-BE49-F238E27FC236}">
                  <a16:creationId xmlns:a16="http://schemas.microsoft.com/office/drawing/2014/main" id="{6B36B534-DDCE-4F40-AEBF-736F625B1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4726" y="4811713"/>
              <a:ext cx="279415" cy="2381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7103" name="Line 61">
              <a:extLst>
                <a:ext uri="{FF2B5EF4-FFF2-40B4-BE49-F238E27FC236}">
                  <a16:creationId xmlns:a16="http://schemas.microsoft.com/office/drawing/2014/main" id="{966189D6-42C0-42D2-B3AE-D41C0DD22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4038" y="4911725"/>
              <a:ext cx="901700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04" name="Line 62">
              <a:extLst>
                <a:ext uri="{FF2B5EF4-FFF2-40B4-BE49-F238E27FC236}">
                  <a16:creationId xmlns:a16="http://schemas.microsoft.com/office/drawing/2014/main" id="{30292110-DA6B-4068-88A2-D9D8082C53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9800" y="4911725"/>
              <a:ext cx="806450" cy="419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05" name="Line 63">
              <a:extLst>
                <a:ext uri="{FF2B5EF4-FFF2-40B4-BE49-F238E27FC236}">
                  <a16:creationId xmlns:a16="http://schemas.microsoft.com/office/drawing/2014/main" id="{E10F9971-69E2-42DC-9CAF-02AF8FF7A9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8938" y="4921250"/>
              <a:ext cx="684212" cy="366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06" name="Text Box 72">
              <a:extLst>
                <a:ext uri="{FF2B5EF4-FFF2-40B4-BE49-F238E27FC236}">
                  <a16:creationId xmlns:a16="http://schemas.microsoft.com/office/drawing/2014/main" id="{ABD471F4-E8FB-4D77-BDCB-36EF1EDC1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4513" y="5832475"/>
              <a:ext cx="165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Electrical Engineering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(VLAN ports 1-8)</a:t>
              </a:r>
            </a:p>
          </p:txBody>
        </p:sp>
        <p:sp>
          <p:nvSpPr>
            <p:cNvPr id="87107" name="Text Box 45">
              <a:extLst>
                <a:ext uri="{FF2B5EF4-FFF2-40B4-BE49-F238E27FC236}">
                  <a16:creationId xmlns:a16="http://schemas.microsoft.com/office/drawing/2014/main" id="{4DCA65A9-28C3-4954-B313-60534A650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3788" y="5256213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…</a:t>
              </a:r>
            </a:p>
          </p:txBody>
        </p:sp>
        <p:grpSp>
          <p:nvGrpSpPr>
            <p:cNvPr id="87108" name="Group 186">
              <a:extLst>
                <a:ext uri="{FF2B5EF4-FFF2-40B4-BE49-F238E27FC236}">
                  <a16:creationId xmlns:a16="http://schemas.microsoft.com/office/drawing/2014/main" id="{8013DA7B-73C1-485D-BDE9-21A2565B8B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1900" y="4316413"/>
              <a:ext cx="1684338" cy="738187"/>
              <a:chOff x="3479" y="2610"/>
              <a:chExt cx="1061" cy="465"/>
            </a:xfrm>
          </p:grpSpPr>
          <p:sp>
            <p:nvSpPr>
              <p:cNvPr id="87153" name="Rectangle 80">
                <a:extLst>
                  <a:ext uri="{FF2B5EF4-FFF2-40B4-BE49-F238E27FC236}">
                    <a16:creationId xmlns:a16="http://schemas.microsoft.com/office/drawing/2014/main" id="{696CA6FC-648A-4337-8B74-3CF10F6EC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1" y="2914"/>
                <a:ext cx="183" cy="15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54" name="Rectangle 75">
                <a:extLst>
                  <a:ext uri="{FF2B5EF4-FFF2-40B4-BE49-F238E27FC236}">
                    <a16:creationId xmlns:a16="http://schemas.microsoft.com/office/drawing/2014/main" id="{4A15C631-2B96-406F-A839-429E15C47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1" y="2779"/>
                <a:ext cx="567" cy="28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55" name="Rectangle 2">
                <a:extLst>
                  <a:ext uri="{FF2B5EF4-FFF2-40B4-BE49-F238E27FC236}">
                    <a16:creationId xmlns:a16="http://schemas.microsoft.com/office/drawing/2014/main" id="{91B85668-8C26-48AB-8007-FA01A4A48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1" y="2774"/>
                <a:ext cx="745" cy="29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56" name="Line 3">
                <a:extLst>
                  <a:ext uri="{FF2B5EF4-FFF2-40B4-BE49-F238E27FC236}">
                    <a16:creationId xmlns:a16="http://schemas.microsoft.com/office/drawing/2014/main" id="{A555EADC-BB2D-4F50-B81A-76925F591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2" y="2910"/>
                <a:ext cx="741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57" name="Text Box 6">
                <a:extLst>
                  <a:ext uri="{FF2B5EF4-FFF2-40B4-BE49-F238E27FC236}">
                    <a16:creationId xmlns:a16="http://schemas.microsoft.com/office/drawing/2014/main" id="{56BCE0B3-139E-4417-9C93-F959892898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9" y="2748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1</a:t>
                </a:r>
              </a:p>
            </p:txBody>
          </p:sp>
          <p:sp>
            <p:nvSpPr>
              <p:cNvPr id="87158" name="AutoShape 8">
                <a:extLst>
                  <a:ext uri="{FF2B5EF4-FFF2-40B4-BE49-F238E27FC236}">
                    <a16:creationId xmlns:a16="http://schemas.microsoft.com/office/drawing/2014/main" id="{8DFA5146-36D9-4B2E-9487-E6CC04D4C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2611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59" name="Freeform 10">
                <a:extLst>
                  <a:ext uri="{FF2B5EF4-FFF2-40B4-BE49-F238E27FC236}">
                    <a16:creationId xmlns:a16="http://schemas.microsoft.com/office/drawing/2014/main" id="{D0A8151B-A615-48C8-B9DF-04EEFCB74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639"/>
                <a:ext cx="746" cy="105"/>
              </a:xfrm>
              <a:custGeom>
                <a:avLst/>
                <a:gdLst>
                  <a:gd name="T0" fmla="*/ 0 w 678"/>
                  <a:gd name="T1" fmla="*/ 63 h 110"/>
                  <a:gd name="T2" fmla="*/ 467 w 678"/>
                  <a:gd name="T3" fmla="*/ 62 h 110"/>
                  <a:gd name="T4" fmla="*/ 1786 w 678"/>
                  <a:gd name="T5" fmla="*/ 0 h 110"/>
                  <a:gd name="T6" fmla="*/ 2137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60" name="Line 18">
                <a:extLst>
                  <a:ext uri="{FF2B5EF4-FFF2-40B4-BE49-F238E27FC236}">
                    <a16:creationId xmlns:a16="http://schemas.microsoft.com/office/drawing/2014/main" id="{205AD030-F3CD-4140-B5D9-082BBAD035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7" y="2777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61" name="Line 21">
                <a:extLst>
                  <a:ext uri="{FF2B5EF4-FFF2-40B4-BE49-F238E27FC236}">
                    <a16:creationId xmlns:a16="http://schemas.microsoft.com/office/drawing/2014/main" id="{AC5E50B5-BE60-4DBF-B0EC-29E527FCC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14" y="2775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62" name="Line 22">
                <a:extLst>
                  <a:ext uri="{FF2B5EF4-FFF2-40B4-BE49-F238E27FC236}">
                    <a16:creationId xmlns:a16="http://schemas.microsoft.com/office/drawing/2014/main" id="{84CD0E99-13FD-4D4A-B7CA-AE6CFC88E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1" y="2783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63" name="Line 23">
                <a:extLst>
                  <a:ext uri="{FF2B5EF4-FFF2-40B4-BE49-F238E27FC236}">
                    <a16:creationId xmlns:a16="http://schemas.microsoft.com/office/drawing/2014/main" id="{236A939A-0689-4F52-901E-7EB65425B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4" y="2780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64" name="Text Box 26">
                <a:extLst>
                  <a:ext uri="{FF2B5EF4-FFF2-40B4-BE49-F238E27FC236}">
                    <a16:creationId xmlns:a16="http://schemas.microsoft.com/office/drawing/2014/main" id="{97D9607F-7D0F-46EC-AF06-17B3B196F2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4" y="2880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8</a:t>
                </a:r>
              </a:p>
            </p:txBody>
          </p:sp>
          <p:sp>
            <p:nvSpPr>
              <p:cNvPr id="87165" name="Text Box 30">
                <a:extLst>
                  <a:ext uri="{FF2B5EF4-FFF2-40B4-BE49-F238E27FC236}">
                    <a16:creationId xmlns:a16="http://schemas.microsoft.com/office/drawing/2014/main" id="{5C1A3C4E-B7B1-4C58-8BE4-267CAF858C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2874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2</a:t>
                </a:r>
              </a:p>
            </p:txBody>
          </p:sp>
          <p:sp>
            <p:nvSpPr>
              <p:cNvPr id="87166" name="Text Box 57">
                <a:extLst>
                  <a:ext uri="{FF2B5EF4-FFF2-40B4-BE49-F238E27FC236}">
                    <a16:creationId xmlns:a16="http://schemas.microsoft.com/office/drawing/2014/main" id="{B4738D29-503B-484E-BDA2-67DA77010C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1" y="2745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7</a:t>
                </a:r>
              </a:p>
            </p:txBody>
          </p:sp>
          <p:sp>
            <p:nvSpPr>
              <p:cNvPr id="87167" name="Oval 81">
                <a:extLst>
                  <a:ext uri="{FF2B5EF4-FFF2-40B4-BE49-F238E27FC236}">
                    <a16:creationId xmlns:a16="http://schemas.microsoft.com/office/drawing/2014/main" id="{94AE8FD2-B25A-4F8F-81BB-232334968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972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68" name="Oval 82">
                <a:extLst>
                  <a:ext uri="{FF2B5EF4-FFF2-40B4-BE49-F238E27FC236}">
                    <a16:creationId xmlns:a16="http://schemas.microsoft.com/office/drawing/2014/main" id="{A557E2AF-3359-4FEF-B2C7-017DF7934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8" y="2970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69" name="Oval 83">
                <a:extLst>
                  <a:ext uri="{FF2B5EF4-FFF2-40B4-BE49-F238E27FC236}">
                    <a16:creationId xmlns:a16="http://schemas.microsoft.com/office/drawing/2014/main" id="{797580AE-7157-4D89-A37C-8926DD460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8" y="2973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70" name="Freeform 10">
                <a:extLst>
                  <a:ext uri="{FF2B5EF4-FFF2-40B4-BE49-F238E27FC236}">
                    <a16:creationId xmlns:a16="http://schemas.microsoft.com/office/drawing/2014/main" id="{8CD0059A-B6F2-43CB-8D1F-91CF051DF4F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754" y="2639"/>
                <a:ext cx="550" cy="105"/>
              </a:xfrm>
              <a:custGeom>
                <a:avLst/>
                <a:gdLst>
                  <a:gd name="T0" fmla="*/ 0 w 678"/>
                  <a:gd name="T1" fmla="*/ 63 h 110"/>
                  <a:gd name="T2" fmla="*/ 12 w 678"/>
                  <a:gd name="T3" fmla="*/ 62 h 110"/>
                  <a:gd name="T4" fmla="*/ 46 w 678"/>
                  <a:gd name="T5" fmla="*/ 0 h 110"/>
                  <a:gd name="T6" fmla="*/ 55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zh-CN" altLang="en-US"/>
              </a:p>
            </p:txBody>
          </p:sp>
          <p:sp>
            <p:nvSpPr>
              <p:cNvPr id="87171" name="Freeform 185">
                <a:extLst>
                  <a:ext uri="{FF2B5EF4-FFF2-40B4-BE49-F238E27FC236}">
                    <a16:creationId xmlns:a16="http://schemas.microsoft.com/office/drawing/2014/main" id="{906F57EE-8DF8-4185-9018-233235C8E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" y="2610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7109" name="Group 210">
              <a:extLst>
                <a:ext uri="{FF2B5EF4-FFF2-40B4-BE49-F238E27FC236}">
                  <a16:creationId xmlns:a16="http://schemas.microsoft.com/office/drawing/2014/main" id="{59367402-8D15-40F9-BAB4-22281D22F5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0250" y="4318000"/>
              <a:ext cx="1698625" cy="742950"/>
              <a:chOff x="1003" y="3585"/>
              <a:chExt cx="1070" cy="468"/>
            </a:xfrm>
          </p:grpSpPr>
          <p:grpSp>
            <p:nvGrpSpPr>
              <p:cNvPr id="87134" name="Group 207">
                <a:extLst>
                  <a:ext uri="{FF2B5EF4-FFF2-40B4-BE49-F238E27FC236}">
                    <a16:creationId xmlns:a16="http://schemas.microsoft.com/office/drawing/2014/main" id="{2505F6D8-C02C-4840-B970-52123D104B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3" y="3723"/>
                <a:ext cx="796" cy="330"/>
                <a:chOff x="2444" y="3759"/>
                <a:chExt cx="796" cy="330"/>
              </a:xfrm>
            </p:grpSpPr>
            <p:sp>
              <p:nvSpPr>
                <p:cNvPr id="87141" name="Rectangle 77">
                  <a:extLst>
                    <a:ext uri="{FF2B5EF4-FFF2-40B4-BE49-F238E27FC236}">
                      <a16:creationId xmlns:a16="http://schemas.microsoft.com/office/drawing/2014/main" id="{67706FCA-6A8D-4A2A-ADCE-0D619ABE70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57" y="3793"/>
                  <a:ext cx="183" cy="13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7142" name="Rectangle 76">
                  <a:extLst>
                    <a:ext uri="{FF2B5EF4-FFF2-40B4-BE49-F238E27FC236}">
                      <a16:creationId xmlns:a16="http://schemas.microsoft.com/office/drawing/2014/main" id="{C4EB7215-4A93-44EF-BA69-4A5E4225BD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3796"/>
                  <a:ext cx="561" cy="28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7143" name="Line 17">
                  <a:extLst>
                    <a:ext uri="{FF2B5EF4-FFF2-40B4-BE49-F238E27FC236}">
                      <a16:creationId xmlns:a16="http://schemas.microsoft.com/office/drawing/2014/main" id="{BF2F0670-C5F5-446A-BD7E-447EC9C568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4" y="3797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144" name="Line 24">
                  <a:extLst>
                    <a:ext uri="{FF2B5EF4-FFF2-40B4-BE49-F238E27FC236}">
                      <a16:creationId xmlns:a16="http://schemas.microsoft.com/office/drawing/2014/main" id="{428391D8-6F7F-421E-87C6-A03F7524EC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8" y="3794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145" name="Line 25">
                  <a:extLst>
                    <a:ext uri="{FF2B5EF4-FFF2-40B4-BE49-F238E27FC236}">
                      <a16:creationId xmlns:a16="http://schemas.microsoft.com/office/drawing/2014/main" id="{2F4882B5-F2F2-4ACF-B713-7141455199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0" y="3791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146" name="Text Box 27">
                  <a:extLst>
                    <a:ext uri="{FF2B5EF4-FFF2-40B4-BE49-F238E27FC236}">
                      <a16:creationId xmlns:a16="http://schemas.microsoft.com/office/drawing/2014/main" id="{1D6EFBCA-D261-45D7-B948-C5416108DE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6" y="3762"/>
                  <a:ext cx="152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800">
                      <a:solidFill>
                        <a:srgbClr val="000000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rPr>
                    <a:t>9</a:t>
                  </a:r>
                </a:p>
              </p:txBody>
            </p:sp>
            <p:sp>
              <p:nvSpPr>
                <p:cNvPr id="87147" name="Text Box 28">
                  <a:extLst>
                    <a:ext uri="{FF2B5EF4-FFF2-40B4-BE49-F238E27FC236}">
                      <a16:creationId xmlns:a16="http://schemas.microsoft.com/office/drawing/2014/main" id="{5A0EC78B-737E-4107-88B8-9493137562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08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800">
                      <a:solidFill>
                        <a:srgbClr val="000000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rPr>
                    <a:t>16</a:t>
                  </a:r>
                </a:p>
              </p:txBody>
            </p:sp>
            <p:sp>
              <p:nvSpPr>
                <p:cNvPr id="87148" name="Text Box 29">
                  <a:extLst>
                    <a:ext uri="{FF2B5EF4-FFF2-40B4-BE49-F238E27FC236}">
                      <a16:creationId xmlns:a16="http://schemas.microsoft.com/office/drawing/2014/main" id="{3975F062-A4B9-478F-8DE5-CB7EB86A61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800">
                      <a:solidFill>
                        <a:srgbClr val="000000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rPr>
                    <a:t>10</a:t>
                  </a:r>
                </a:p>
              </p:txBody>
            </p:sp>
            <p:sp>
              <p:nvSpPr>
                <p:cNvPr id="87149" name="Text Box 74">
                  <a:extLst>
                    <a:ext uri="{FF2B5EF4-FFF2-40B4-BE49-F238E27FC236}">
                      <a16:creationId xmlns:a16="http://schemas.microsoft.com/office/drawing/2014/main" id="{31B1370B-4E60-4409-9D74-624ABEC92B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05" y="3759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800">
                      <a:solidFill>
                        <a:srgbClr val="000000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rPr>
                    <a:t>15</a:t>
                  </a:r>
                </a:p>
              </p:txBody>
            </p:sp>
            <p:sp>
              <p:nvSpPr>
                <p:cNvPr id="87150" name="Oval 84">
                  <a:extLst>
                    <a:ext uri="{FF2B5EF4-FFF2-40B4-BE49-F238E27FC236}">
                      <a16:creationId xmlns:a16="http://schemas.microsoft.com/office/drawing/2014/main" id="{3F7FD0A5-D909-40BA-9FCD-A49E4AD2C7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88" y="3988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7151" name="Oval 85">
                  <a:extLst>
                    <a:ext uri="{FF2B5EF4-FFF2-40B4-BE49-F238E27FC236}">
                      <a16:creationId xmlns:a16="http://schemas.microsoft.com/office/drawing/2014/main" id="{C7CD0705-A0C3-471A-8FCA-A491B3A074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80" y="3853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7152" name="Oval 86">
                  <a:extLst>
                    <a:ext uri="{FF2B5EF4-FFF2-40B4-BE49-F238E27FC236}">
                      <a16:creationId xmlns:a16="http://schemas.microsoft.com/office/drawing/2014/main" id="{78CD9559-A5AD-482D-8C9C-16E5CC9050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31" y="3851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7135" name="AutoShape 8">
                <a:extLst>
                  <a:ext uri="{FF2B5EF4-FFF2-40B4-BE49-F238E27FC236}">
                    <a16:creationId xmlns:a16="http://schemas.microsoft.com/office/drawing/2014/main" id="{479FAF7B-56D2-4F25-AE2A-A4CBCC53A8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6" y="3586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36" name="Freeform 10">
                <a:extLst>
                  <a:ext uri="{FF2B5EF4-FFF2-40B4-BE49-F238E27FC236}">
                    <a16:creationId xmlns:a16="http://schemas.microsoft.com/office/drawing/2014/main" id="{ABFBAF7A-C56B-47F0-97D2-6ED9AE143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1" y="3614"/>
                <a:ext cx="746" cy="105"/>
              </a:xfrm>
              <a:custGeom>
                <a:avLst/>
                <a:gdLst>
                  <a:gd name="T0" fmla="*/ 0 w 678"/>
                  <a:gd name="T1" fmla="*/ 63 h 110"/>
                  <a:gd name="T2" fmla="*/ 467 w 678"/>
                  <a:gd name="T3" fmla="*/ 62 h 110"/>
                  <a:gd name="T4" fmla="*/ 1786 w 678"/>
                  <a:gd name="T5" fmla="*/ 0 h 110"/>
                  <a:gd name="T6" fmla="*/ 2137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37" name="Freeform 10">
                <a:extLst>
                  <a:ext uri="{FF2B5EF4-FFF2-40B4-BE49-F238E27FC236}">
                    <a16:creationId xmlns:a16="http://schemas.microsoft.com/office/drawing/2014/main" id="{C41FC808-6F5E-4FE3-A5D8-7C7D2372414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287" y="3614"/>
                <a:ext cx="550" cy="105"/>
              </a:xfrm>
              <a:custGeom>
                <a:avLst/>
                <a:gdLst>
                  <a:gd name="T0" fmla="*/ 0 w 678"/>
                  <a:gd name="T1" fmla="*/ 63 h 110"/>
                  <a:gd name="T2" fmla="*/ 12 w 678"/>
                  <a:gd name="T3" fmla="*/ 62 h 110"/>
                  <a:gd name="T4" fmla="*/ 46 w 678"/>
                  <a:gd name="T5" fmla="*/ 0 h 110"/>
                  <a:gd name="T6" fmla="*/ 55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zh-CN" altLang="en-US"/>
              </a:p>
            </p:txBody>
          </p:sp>
          <p:sp>
            <p:nvSpPr>
              <p:cNvPr id="87138" name="Freeform 206">
                <a:extLst>
                  <a:ext uri="{FF2B5EF4-FFF2-40B4-BE49-F238E27FC236}">
                    <a16:creationId xmlns:a16="http://schemas.microsoft.com/office/drawing/2014/main" id="{246B4593-8437-4A63-8AC0-2935B5D7E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3585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7139" name="Freeform 208">
                <a:extLst>
                  <a:ext uri="{FF2B5EF4-FFF2-40B4-BE49-F238E27FC236}">
                    <a16:creationId xmlns:a16="http://schemas.microsoft.com/office/drawing/2014/main" id="{09E37F69-DD3B-4559-9704-28315D3DB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4" y="3747"/>
                <a:ext cx="762" cy="303"/>
              </a:xfrm>
              <a:custGeom>
                <a:avLst/>
                <a:gdLst>
                  <a:gd name="T0" fmla="*/ 0 w 762"/>
                  <a:gd name="T1" fmla="*/ 3 h 303"/>
                  <a:gd name="T2" fmla="*/ 0 w 762"/>
                  <a:gd name="T3" fmla="*/ 303 h 303"/>
                  <a:gd name="T4" fmla="*/ 762 w 762"/>
                  <a:gd name="T5" fmla="*/ 303 h 303"/>
                  <a:gd name="T6" fmla="*/ 762 w 762"/>
                  <a:gd name="T7" fmla="*/ 0 h 3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62" h="303">
                    <a:moveTo>
                      <a:pt x="0" y="3"/>
                    </a:moveTo>
                    <a:lnTo>
                      <a:pt x="0" y="303"/>
                    </a:lnTo>
                    <a:lnTo>
                      <a:pt x="762" y="303"/>
                    </a:lnTo>
                    <a:lnTo>
                      <a:pt x="762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3840" name="Line 209">
                <a:extLst>
                  <a:ext uri="{FF2B5EF4-FFF2-40B4-BE49-F238E27FC236}">
                    <a16:creationId xmlns:a16="http://schemas.microsoft.com/office/drawing/2014/main" id="{A6D90C2E-6EDA-41F5-9C57-8864F2C99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4" y="3888"/>
                <a:ext cx="76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</p:grpSp>
        <p:sp>
          <p:nvSpPr>
            <p:cNvPr id="87110" name="Text Box 64">
              <a:extLst>
                <a:ext uri="{FF2B5EF4-FFF2-40B4-BE49-F238E27FC236}">
                  <a16:creationId xmlns:a16="http://schemas.microsoft.com/office/drawing/2014/main" id="{3F7F474D-96B6-48A9-A965-079D5255A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7513" y="5297488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…</a:t>
              </a:r>
            </a:p>
          </p:txBody>
        </p:sp>
        <p:sp>
          <p:nvSpPr>
            <p:cNvPr id="87111" name="Line 69">
              <a:extLst>
                <a:ext uri="{FF2B5EF4-FFF2-40B4-BE49-F238E27FC236}">
                  <a16:creationId xmlns:a16="http://schemas.microsoft.com/office/drawing/2014/main" id="{04BA68BE-5BA6-473A-88CF-E954DE24F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24725" y="4922838"/>
              <a:ext cx="101600" cy="377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2" name="Line 70">
              <a:extLst>
                <a:ext uri="{FF2B5EF4-FFF2-40B4-BE49-F238E27FC236}">
                  <a16:creationId xmlns:a16="http://schemas.microsoft.com/office/drawing/2014/main" id="{2C09618E-4F3C-43D5-BC26-22781FE9B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5200" y="4721225"/>
              <a:ext cx="479425" cy="603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3" name="Line 71">
              <a:extLst>
                <a:ext uri="{FF2B5EF4-FFF2-40B4-BE49-F238E27FC236}">
                  <a16:creationId xmlns:a16="http://schemas.microsoft.com/office/drawing/2014/main" id="{E80FA76C-C10E-417A-A080-ED7FEE61E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0863" y="4665663"/>
              <a:ext cx="514350" cy="484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4" name="Text Box 73">
              <a:extLst>
                <a:ext uri="{FF2B5EF4-FFF2-40B4-BE49-F238E27FC236}">
                  <a16:creationId xmlns:a16="http://schemas.microsoft.com/office/drawing/2014/main" id="{5E941368-E3DE-4581-9097-A085D0348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4413" y="5827713"/>
              <a:ext cx="14335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Computer Science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(VLAN ports 9-16)</a:t>
              </a:r>
            </a:p>
          </p:txBody>
        </p:sp>
        <p:sp>
          <p:nvSpPr>
            <p:cNvPr id="73796" name="Rectangle 211">
              <a:extLst>
                <a:ext uri="{FF2B5EF4-FFF2-40B4-BE49-F238E27FC236}">
                  <a16:creationId xmlns:a16="http://schemas.microsoft.com/office/drawing/2014/main" id="{C9266945-964F-42AF-A9E4-BC53EB58A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760" y="3695700"/>
              <a:ext cx="5140604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altLang="zh-CN" sz="2000">
                  <a:solidFill>
                    <a:srgbClr val="000000"/>
                  </a:solidFill>
                  <a:ea typeface="宋体" pitchFamily="2" charset="-122"/>
                </a:rPr>
                <a:t>… operates as </a:t>
              </a:r>
              <a:r>
                <a:rPr lang="en-US" altLang="zh-CN" sz="2000">
                  <a:solidFill>
                    <a:srgbClr val="CC0000"/>
                  </a:solidFill>
                  <a:ea typeface="宋体" pitchFamily="2" charset="-122"/>
                </a:rPr>
                <a:t>multiple </a:t>
              </a:r>
              <a:r>
                <a:rPr lang="en-US" altLang="zh-CN" sz="2000">
                  <a:solidFill>
                    <a:srgbClr val="000000"/>
                  </a:solidFill>
                  <a:ea typeface="宋体" pitchFamily="2" charset="-122"/>
                </a:rPr>
                <a:t>virtual switches</a:t>
              </a:r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/>
              </a:pPr>
              <a:endParaRPr lang="en-US" altLang="zh-CN" sz="2000">
                <a:solidFill>
                  <a:srgbClr val="000000"/>
                </a:solidFill>
                <a:latin typeface="Gill Sans MT" pitchFamily="34" charset="0"/>
                <a:ea typeface="宋体" pitchFamily="2" charset="-122"/>
              </a:endParaRPr>
            </a:p>
          </p:txBody>
        </p:sp>
        <p:grpSp>
          <p:nvGrpSpPr>
            <p:cNvPr id="87116" name="Group 44">
              <a:extLst>
                <a:ext uri="{FF2B5EF4-FFF2-40B4-BE49-F238E27FC236}">
                  <a16:creationId xmlns:a16="http://schemas.microsoft.com/office/drawing/2014/main" id="{D8EFDED0-4A7A-48BD-A163-491E388205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2075" y="5110163"/>
              <a:ext cx="609600" cy="558800"/>
              <a:chOff x="-44" y="1473"/>
              <a:chExt cx="981" cy="1105"/>
            </a:xfrm>
          </p:grpSpPr>
          <p:pic>
            <p:nvPicPr>
              <p:cNvPr id="87132" name="Picture 45" descr="desktop_computer_stylized_medium">
                <a:extLst>
                  <a:ext uri="{FF2B5EF4-FFF2-40B4-BE49-F238E27FC236}">
                    <a16:creationId xmlns:a16="http://schemas.microsoft.com/office/drawing/2014/main" id="{C4FD147E-041F-44AB-B790-284ED8DA24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7133" name="Freeform 46">
                <a:extLst>
                  <a:ext uri="{FF2B5EF4-FFF2-40B4-BE49-F238E27FC236}">
                    <a16:creationId xmlns:a16="http://schemas.microsoft.com/office/drawing/2014/main" id="{2EC21A98-DD3D-44E1-87DD-B4F1D5193C1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7117" name="Group 44">
              <a:extLst>
                <a:ext uri="{FF2B5EF4-FFF2-40B4-BE49-F238E27FC236}">
                  <a16:creationId xmlns:a16="http://schemas.microsoft.com/office/drawing/2014/main" id="{116D58E7-CD90-47CA-B1C1-CF343A711A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9125" y="5202238"/>
              <a:ext cx="609600" cy="558800"/>
              <a:chOff x="-44" y="1473"/>
              <a:chExt cx="981" cy="1105"/>
            </a:xfrm>
          </p:grpSpPr>
          <p:pic>
            <p:nvPicPr>
              <p:cNvPr id="87130" name="Picture 45" descr="desktop_computer_stylized_medium">
                <a:extLst>
                  <a:ext uri="{FF2B5EF4-FFF2-40B4-BE49-F238E27FC236}">
                    <a16:creationId xmlns:a16="http://schemas.microsoft.com/office/drawing/2014/main" id="{B58D84CB-2618-428E-9E22-B3F58BCB25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7131" name="Freeform 46">
                <a:extLst>
                  <a:ext uri="{FF2B5EF4-FFF2-40B4-BE49-F238E27FC236}">
                    <a16:creationId xmlns:a16="http://schemas.microsoft.com/office/drawing/2014/main" id="{2290B2A0-B665-4D57-80E6-2EFA7881881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7118" name="Group 44">
              <a:extLst>
                <a:ext uri="{FF2B5EF4-FFF2-40B4-BE49-F238E27FC236}">
                  <a16:creationId xmlns:a16="http://schemas.microsoft.com/office/drawing/2014/main" id="{6005A0F2-2731-4DEE-8FD9-F8C11D6BE7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1438" y="5222875"/>
              <a:ext cx="609600" cy="558800"/>
              <a:chOff x="-44" y="1473"/>
              <a:chExt cx="981" cy="1105"/>
            </a:xfrm>
          </p:grpSpPr>
          <p:pic>
            <p:nvPicPr>
              <p:cNvPr id="87128" name="Picture 45" descr="desktop_computer_stylized_medium">
                <a:extLst>
                  <a:ext uri="{FF2B5EF4-FFF2-40B4-BE49-F238E27FC236}">
                    <a16:creationId xmlns:a16="http://schemas.microsoft.com/office/drawing/2014/main" id="{C19F3F8A-A955-4FAC-956F-1A9B6CEDD3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7129" name="Freeform 46">
                <a:extLst>
                  <a:ext uri="{FF2B5EF4-FFF2-40B4-BE49-F238E27FC236}">
                    <a16:creationId xmlns:a16="http://schemas.microsoft.com/office/drawing/2014/main" id="{FEFD643E-8DBF-4562-B751-E601C742FA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7119" name="Group 44">
              <a:extLst>
                <a:ext uri="{FF2B5EF4-FFF2-40B4-BE49-F238E27FC236}">
                  <a16:creationId xmlns:a16="http://schemas.microsoft.com/office/drawing/2014/main" id="{EF09C037-64FC-4A52-A47C-A80B05010A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9125" y="5253038"/>
              <a:ext cx="609600" cy="558800"/>
              <a:chOff x="-44" y="1473"/>
              <a:chExt cx="981" cy="1105"/>
            </a:xfrm>
          </p:grpSpPr>
          <p:pic>
            <p:nvPicPr>
              <p:cNvPr id="87126" name="Picture 45" descr="desktop_computer_stylized_medium">
                <a:extLst>
                  <a:ext uri="{FF2B5EF4-FFF2-40B4-BE49-F238E27FC236}">
                    <a16:creationId xmlns:a16="http://schemas.microsoft.com/office/drawing/2014/main" id="{8C0F8379-5476-4FD8-BE31-6A47F5A417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7127" name="Freeform 46">
                <a:extLst>
                  <a:ext uri="{FF2B5EF4-FFF2-40B4-BE49-F238E27FC236}">
                    <a16:creationId xmlns:a16="http://schemas.microsoft.com/office/drawing/2014/main" id="{0F6EA8A2-F860-46E0-B967-6B91A6DD6EA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7120" name="Group 44">
              <a:extLst>
                <a:ext uri="{FF2B5EF4-FFF2-40B4-BE49-F238E27FC236}">
                  <a16:creationId xmlns:a16="http://schemas.microsoft.com/office/drawing/2014/main" id="{3A7A6045-9E76-4B88-B9BE-7329CBA6C3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77125" y="5262563"/>
              <a:ext cx="609600" cy="558800"/>
              <a:chOff x="-44" y="1473"/>
              <a:chExt cx="981" cy="1105"/>
            </a:xfrm>
          </p:grpSpPr>
          <p:pic>
            <p:nvPicPr>
              <p:cNvPr id="87124" name="Picture 45" descr="desktop_computer_stylized_medium">
                <a:extLst>
                  <a:ext uri="{FF2B5EF4-FFF2-40B4-BE49-F238E27FC236}">
                    <a16:creationId xmlns:a16="http://schemas.microsoft.com/office/drawing/2014/main" id="{148BCED2-ED19-4784-B1CE-59BED25CED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7125" name="Freeform 46">
                <a:extLst>
                  <a:ext uri="{FF2B5EF4-FFF2-40B4-BE49-F238E27FC236}">
                    <a16:creationId xmlns:a16="http://schemas.microsoft.com/office/drawing/2014/main" id="{A5E216BC-AE0A-4566-84F8-4FFD0DAC549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7121" name="Group 44">
              <a:extLst>
                <a:ext uri="{FF2B5EF4-FFF2-40B4-BE49-F238E27FC236}">
                  <a16:creationId xmlns:a16="http://schemas.microsoft.com/office/drawing/2014/main" id="{A1E5A275-1EAE-4FCC-89AC-EB9B7994D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0725" y="5080000"/>
              <a:ext cx="609600" cy="558800"/>
              <a:chOff x="-44" y="1473"/>
              <a:chExt cx="981" cy="1105"/>
            </a:xfrm>
          </p:grpSpPr>
          <p:pic>
            <p:nvPicPr>
              <p:cNvPr id="87122" name="Picture 45" descr="desktop_computer_stylized_medium">
                <a:extLst>
                  <a:ext uri="{FF2B5EF4-FFF2-40B4-BE49-F238E27FC236}">
                    <a16:creationId xmlns:a16="http://schemas.microsoft.com/office/drawing/2014/main" id="{036FA3D3-FC99-45E7-94A3-2542DF491F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7123" name="Freeform 46">
                <a:extLst>
                  <a:ext uri="{FF2B5EF4-FFF2-40B4-BE49-F238E27FC236}">
                    <a16:creationId xmlns:a16="http://schemas.microsoft.com/office/drawing/2014/main" id="{5553A521-05DB-47CE-AB2E-C6A398905A6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87099" name="灯片编号占位符 5">
            <a:extLst>
              <a:ext uri="{FF2B5EF4-FFF2-40B4-BE49-F238E27FC236}">
                <a16:creationId xmlns:a16="http://schemas.microsoft.com/office/drawing/2014/main" id="{82AC78EC-68E1-4B1D-9E39-05D3E759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CDE7987B-09E1-4CDB-B39B-3C4E86C6B298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115">
            <a:extLst>
              <a:ext uri="{FF2B5EF4-FFF2-40B4-BE49-F238E27FC236}">
                <a16:creationId xmlns:a16="http://schemas.microsoft.com/office/drawing/2014/main" id="{E179504A-81FF-40D2-9222-5C171E0EB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25" y="306387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4757" name="Rectangle 4">
            <a:extLst>
              <a:ext uri="{FF2B5EF4-FFF2-40B4-BE49-F238E27FC236}">
                <a16:creationId xmlns:a16="http://schemas.microsoft.com/office/drawing/2014/main" id="{37FF2DD6-CCA1-4ED3-99F2-D87453A4F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284797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8068" name="Rectangle 5">
            <a:extLst>
              <a:ext uri="{FF2B5EF4-FFF2-40B4-BE49-F238E27FC236}">
                <a16:creationId xmlns:a16="http://schemas.microsoft.com/office/drawing/2014/main" id="{7B9E6715-8D66-454A-8E24-3AF0507D4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Port-based VLAN</a:t>
            </a:r>
          </a:p>
        </p:txBody>
      </p:sp>
      <p:sp>
        <p:nvSpPr>
          <p:cNvPr id="88069" name="Rectangle 80">
            <a:extLst>
              <a:ext uri="{FF2B5EF4-FFF2-40B4-BE49-F238E27FC236}">
                <a16:creationId xmlns:a16="http://schemas.microsoft.com/office/drawing/2014/main" id="{AD41C69F-D4A8-413E-AD4F-EC7ABDD6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913" y="305752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70" name="Rectangle 77">
            <a:extLst>
              <a:ext uri="{FF2B5EF4-FFF2-40B4-BE49-F238E27FC236}">
                <a16:creationId xmlns:a16="http://schemas.microsoft.com/office/drawing/2014/main" id="{4DCAA6BF-60A9-420C-8456-B6BE3AB7B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283845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71" name="Rectangle 76">
            <a:extLst>
              <a:ext uri="{FF2B5EF4-FFF2-40B4-BE49-F238E27FC236}">
                <a16:creationId xmlns:a16="http://schemas.microsoft.com/office/drawing/2014/main" id="{D7A6ECDB-8A6D-41DE-8625-9C6EC006E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284321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72" name="Rectangle 75">
            <a:extLst>
              <a:ext uri="{FF2B5EF4-FFF2-40B4-BE49-F238E27FC236}">
                <a16:creationId xmlns:a16="http://schemas.microsoft.com/office/drawing/2014/main" id="{2999AFD4-0B94-4372-8A70-E3FE54684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284321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73" name="Rectangle 2">
            <a:extLst>
              <a:ext uri="{FF2B5EF4-FFF2-40B4-BE49-F238E27FC236}">
                <a16:creationId xmlns:a16="http://schemas.microsoft.com/office/drawing/2014/main" id="{B2F66392-4E02-4001-910A-3165805E3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913" y="283527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74" name="Line 3">
            <a:extLst>
              <a:ext uri="{FF2B5EF4-FFF2-40B4-BE49-F238E27FC236}">
                <a16:creationId xmlns:a16="http://schemas.microsoft.com/office/drawing/2014/main" id="{29EBB4CB-FF08-41D3-9C31-CA05BC4492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305117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5" name="Text Box 6">
            <a:extLst>
              <a:ext uri="{FF2B5EF4-FFF2-40B4-BE49-F238E27FC236}">
                <a16:creationId xmlns:a16="http://schemas.microsoft.com/office/drawing/2014/main" id="{056A106B-FFA0-4914-877A-AA24FD108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363" y="27940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88076" name="Line 7">
            <a:extLst>
              <a:ext uri="{FF2B5EF4-FFF2-40B4-BE49-F238E27FC236}">
                <a16:creationId xmlns:a16="http://schemas.microsoft.com/office/drawing/2014/main" id="{9802D9C9-287C-4A0C-AD0F-6913576B6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10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7" name="AutoShape 8">
            <a:extLst>
              <a:ext uri="{FF2B5EF4-FFF2-40B4-BE49-F238E27FC236}">
                <a16:creationId xmlns:a16="http://schemas.microsoft.com/office/drawing/2014/main" id="{2452960F-6243-4953-8E56-AA29FC9E3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257651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78" name="Freeform 9">
            <a:extLst>
              <a:ext uri="{FF2B5EF4-FFF2-40B4-BE49-F238E27FC236}">
                <a16:creationId xmlns:a16="http://schemas.microsoft.com/office/drawing/2014/main" id="{3C1B2A0B-CFE2-4502-A6D3-49384B80348E}"/>
              </a:ext>
            </a:extLst>
          </p:cNvPr>
          <p:cNvSpPr>
            <a:spLocks/>
          </p:cNvSpPr>
          <p:nvPr/>
        </p:nvSpPr>
        <p:spPr bwMode="auto">
          <a:xfrm>
            <a:off x="8024813" y="2579688"/>
            <a:ext cx="763587" cy="720725"/>
          </a:xfrm>
          <a:custGeom>
            <a:avLst/>
            <a:gdLst>
              <a:gd name="T0" fmla="*/ 0 w 232"/>
              <a:gd name="T1" fmla="*/ 2147483646 h 454"/>
              <a:gd name="T2" fmla="*/ 2147483646 w 232"/>
              <a:gd name="T3" fmla="*/ 2147483646 h 454"/>
              <a:gd name="T4" fmla="*/ 2147483646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9" name="Freeform 10">
            <a:extLst>
              <a:ext uri="{FF2B5EF4-FFF2-40B4-BE49-F238E27FC236}">
                <a16:creationId xmlns:a16="http://schemas.microsoft.com/office/drawing/2014/main" id="{12FE060E-ECAD-44E1-A22D-F4F70E46ED19}"/>
              </a:ext>
            </a:extLst>
          </p:cNvPr>
          <p:cNvSpPr>
            <a:spLocks/>
          </p:cNvSpPr>
          <p:nvPr/>
        </p:nvSpPr>
        <p:spPr bwMode="auto">
          <a:xfrm>
            <a:off x="6022975" y="2624138"/>
            <a:ext cx="2228850" cy="150812"/>
          </a:xfrm>
          <a:custGeom>
            <a:avLst/>
            <a:gdLst>
              <a:gd name="T0" fmla="*/ 0 w 678"/>
              <a:gd name="T1" fmla="*/ 2147483646 h 110"/>
              <a:gd name="T2" fmla="*/ 2147483646 w 678"/>
              <a:gd name="T3" fmla="*/ 2147483646 h 110"/>
              <a:gd name="T4" fmla="*/ 2147483646 w 678"/>
              <a:gd name="T5" fmla="*/ 0 h 110"/>
              <a:gd name="T6" fmla="*/ 2147483646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0" name="Freeform 11">
            <a:extLst>
              <a:ext uri="{FF2B5EF4-FFF2-40B4-BE49-F238E27FC236}">
                <a16:creationId xmlns:a16="http://schemas.microsoft.com/office/drawing/2014/main" id="{255EE784-B647-4D9C-9FD8-2ED7EB089A0F}"/>
              </a:ext>
            </a:extLst>
          </p:cNvPr>
          <p:cNvSpPr>
            <a:spLocks/>
          </p:cNvSpPr>
          <p:nvPr/>
        </p:nvSpPr>
        <p:spPr bwMode="auto">
          <a:xfrm>
            <a:off x="6496050" y="262413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6 w 432"/>
              <a:gd name="T3" fmla="*/ 0 h 105"/>
              <a:gd name="T4" fmla="*/ 2147483646 w 432"/>
              <a:gd name="T5" fmla="*/ 2147483646 h 105"/>
              <a:gd name="T6" fmla="*/ 2147483646 w 432"/>
              <a:gd name="T7" fmla="*/ 2147483646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1" name="Line 17">
            <a:extLst>
              <a:ext uri="{FF2B5EF4-FFF2-40B4-BE49-F238E27FC236}">
                <a16:creationId xmlns:a16="http://schemas.microsoft.com/office/drawing/2014/main" id="{C6416D6F-129E-488A-B85A-5F4D6267F3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1088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2" name="Line 18">
            <a:extLst>
              <a:ext uri="{FF2B5EF4-FFF2-40B4-BE49-F238E27FC236}">
                <a16:creationId xmlns:a16="http://schemas.microsoft.com/office/drawing/2014/main" id="{C568EA0D-3719-45EF-B3AA-CC7EBF6F2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938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3" name="Line 21">
            <a:extLst>
              <a:ext uri="{FF2B5EF4-FFF2-40B4-BE49-F238E27FC236}">
                <a16:creationId xmlns:a16="http://schemas.microsoft.com/office/drawing/2014/main" id="{7F97F8F4-7C80-472B-B402-1CA5D5B85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425" y="28368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4" name="Line 22">
            <a:extLst>
              <a:ext uri="{FF2B5EF4-FFF2-40B4-BE49-F238E27FC236}">
                <a16:creationId xmlns:a16="http://schemas.microsoft.com/office/drawing/2014/main" id="{2164EB86-3865-48B3-8CA8-B9185FD9C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9913" y="28495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5" name="Line 23">
            <a:extLst>
              <a:ext uri="{FF2B5EF4-FFF2-40B4-BE49-F238E27FC236}">
                <a16:creationId xmlns:a16="http://schemas.microsoft.com/office/drawing/2014/main" id="{25A8D1BE-1D0D-4997-AF73-463934D4C2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1925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6" name="Line 24">
            <a:extLst>
              <a:ext uri="{FF2B5EF4-FFF2-40B4-BE49-F238E27FC236}">
                <a16:creationId xmlns:a16="http://schemas.microsoft.com/office/drawing/2014/main" id="{86B3EA83-BBB3-49C4-A898-DB56AA237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58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7" name="Line 25">
            <a:extLst>
              <a:ext uri="{FF2B5EF4-FFF2-40B4-BE49-F238E27FC236}">
                <a16:creationId xmlns:a16="http://schemas.microsoft.com/office/drawing/2014/main" id="{30A51673-7C77-426C-B94D-29611BAB2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6363" y="28352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8" name="Text Box 26">
            <a:extLst>
              <a:ext uri="{FF2B5EF4-FFF2-40B4-BE49-F238E27FC236}">
                <a16:creationId xmlns:a16="http://schemas.microsoft.com/office/drawing/2014/main" id="{E3AD14C4-0B44-4B40-9C0E-589064629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425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8</a:t>
            </a:r>
          </a:p>
        </p:txBody>
      </p:sp>
      <p:sp>
        <p:nvSpPr>
          <p:cNvPr id="88089" name="Text Box 27">
            <a:extLst>
              <a:ext uri="{FF2B5EF4-FFF2-40B4-BE49-F238E27FC236}">
                <a16:creationId xmlns:a16="http://schemas.microsoft.com/office/drawing/2014/main" id="{11E46DD8-58BF-49C4-9D49-EC22537BE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51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9</a:t>
            </a:r>
          </a:p>
        </p:txBody>
      </p:sp>
      <p:sp>
        <p:nvSpPr>
          <p:cNvPr id="88090" name="Text Box 28">
            <a:extLst>
              <a:ext uri="{FF2B5EF4-FFF2-40B4-BE49-F238E27FC236}">
                <a16:creationId xmlns:a16="http://schemas.microsoft.com/office/drawing/2014/main" id="{2FFCD42D-8C63-4E46-A4CE-937301075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16</a:t>
            </a:r>
          </a:p>
        </p:txBody>
      </p:sp>
      <p:sp>
        <p:nvSpPr>
          <p:cNvPr id="88091" name="Text Box 29">
            <a:extLst>
              <a:ext uri="{FF2B5EF4-FFF2-40B4-BE49-F238E27FC236}">
                <a16:creationId xmlns:a16="http://schemas.microsoft.com/office/drawing/2014/main" id="{A130012E-9F21-4F27-8389-CD929B08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46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10</a:t>
            </a:r>
          </a:p>
        </p:txBody>
      </p:sp>
      <p:sp>
        <p:nvSpPr>
          <p:cNvPr id="88092" name="Text Box 30">
            <a:extLst>
              <a:ext uri="{FF2B5EF4-FFF2-40B4-BE49-F238E27FC236}">
                <a16:creationId xmlns:a16="http://schemas.microsoft.com/office/drawing/2014/main" id="{EB67D196-88D1-4A8C-B750-128D51FA7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888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</a:p>
        </p:txBody>
      </p:sp>
      <p:sp>
        <p:nvSpPr>
          <p:cNvPr id="88093" name="Text Box 57">
            <a:extLst>
              <a:ext uri="{FF2B5EF4-FFF2-40B4-BE49-F238E27FC236}">
                <a16:creationId xmlns:a16="http://schemas.microsoft.com/office/drawing/2014/main" id="{DA8AA3E5-61DF-47AF-98ED-67BD4F821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7</a:t>
            </a:r>
          </a:p>
        </p:txBody>
      </p:sp>
      <p:sp>
        <p:nvSpPr>
          <p:cNvPr id="88094" name="Line 61">
            <a:extLst>
              <a:ext uri="{FF2B5EF4-FFF2-40B4-BE49-F238E27FC236}">
                <a16:creationId xmlns:a16="http://schemas.microsoft.com/office/drawing/2014/main" id="{BCED9594-4544-4CEA-842B-BF12831E60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9500" y="3179763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95" name="Line 62">
            <a:extLst>
              <a:ext uri="{FF2B5EF4-FFF2-40B4-BE49-F238E27FC236}">
                <a16:creationId xmlns:a16="http://schemas.microsoft.com/office/drawing/2014/main" id="{602477D9-CA60-41A7-A1D6-05E1A96648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75263" y="317023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96" name="Line 63">
            <a:extLst>
              <a:ext uri="{FF2B5EF4-FFF2-40B4-BE49-F238E27FC236}">
                <a16:creationId xmlns:a16="http://schemas.microsoft.com/office/drawing/2014/main" id="{C34B122E-B6FA-4AE6-86B3-0D09A16F2F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4400" y="318611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97" name="Text Box 64">
            <a:extLst>
              <a:ext uri="{FF2B5EF4-FFF2-40B4-BE49-F238E27FC236}">
                <a16:creationId xmlns:a16="http://schemas.microsoft.com/office/drawing/2014/main" id="{99EF9F70-FB8D-43CE-87B4-46B6DD6B6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0" y="35480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</a:p>
        </p:txBody>
      </p:sp>
      <p:sp>
        <p:nvSpPr>
          <p:cNvPr id="88098" name="Line 69">
            <a:extLst>
              <a:ext uri="{FF2B5EF4-FFF2-40B4-BE49-F238E27FC236}">
                <a16:creationId xmlns:a16="http://schemas.microsoft.com/office/drawing/2014/main" id="{DE9646CD-CF1F-4562-A727-8BE5A220A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2463" y="317341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99" name="Line 70">
            <a:extLst>
              <a:ext uri="{FF2B5EF4-FFF2-40B4-BE49-F238E27FC236}">
                <a16:creationId xmlns:a16="http://schemas.microsoft.com/office/drawing/2014/main" id="{C156F0ED-A83C-42CC-88CF-33E5AE9814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2938" y="297180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0" name="Line 71">
            <a:extLst>
              <a:ext uri="{FF2B5EF4-FFF2-40B4-BE49-F238E27FC236}">
                <a16:creationId xmlns:a16="http://schemas.microsoft.com/office/drawing/2014/main" id="{AEA1F5D5-27A8-4329-AF2B-82F69445B5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91623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1" name="Text Box 72">
            <a:extLst>
              <a:ext uri="{FF2B5EF4-FFF2-40B4-BE49-F238E27FC236}">
                <a16:creationId xmlns:a16="http://schemas.microsoft.com/office/drawing/2014/main" id="{22164311-5ABB-4AEB-8EC6-592E964AB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9975" y="409098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Electrical Engineering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(VLAN ports 1-8)</a:t>
            </a:r>
          </a:p>
        </p:txBody>
      </p:sp>
      <p:sp>
        <p:nvSpPr>
          <p:cNvPr id="88102" name="Text Box 73">
            <a:extLst>
              <a:ext uri="{FF2B5EF4-FFF2-40B4-BE49-F238E27FC236}">
                <a16:creationId xmlns:a16="http://schemas.microsoft.com/office/drawing/2014/main" id="{1F04C506-4E03-411C-B686-2CEE6A40A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150" y="407828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Computer Science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(VLAN ports 9-15)</a:t>
            </a:r>
          </a:p>
        </p:txBody>
      </p:sp>
      <p:sp>
        <p:nvSpPr>
          <p:cNvPr id="88103" name="Text Box 74">
            <a:extLst>
              <a:ext uri="{FF2B5EF4-FFF2-40B4-BE49-F238E27FC236}">
                <a16:creationId xmlns:a16="http://schemas.microsoft.com/office/drawing/2014/main" id="{3D0BA069-0D23-41BD-B124-6C3544854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050" y="27844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15</a:t>
            </a:r>
          </a:p>
        </p:txBody>
      </p:sp>
      <p:sp>
        <p:nvSpPr>
          <p:cNvPr id="88104" name="Oval 81">
            <a:extLst>
              <a:ext uri="{FF2B5EF4-FFF2-40B4-BE49-F238E27FC236}">
                <a16:creationId xmlns:a16="http://schemas.microsoft.com/office/drawing/2014/main" id="{F19C174F-6ACC-44A7-AC80-E1214DD59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31591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105" name="Oval 82">
            <a:extLst>
              <a:ext uri="{FF2B5EF4-FFF2-40B4-BE49-F238E27FC236}">
                <a16:creationId xmlns:a16="http://schemas.microsoft.com/office/drawing/2014/main" id="{BC60BDE8-FE15-49D3-B318-8F1474CC5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31464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106" name="Oval 83">
            <a:extLst>
              <a:ext uri="{FF2B5EF4-FFF2-40B4-BE49-F238E27FC236}">
                <a16:creationId xmlns:a16="http://schemas.microsoft.com/office/drawing/2014/main" id="{34E4CD99-2BEC-42C1-AF25-7CA5D5180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275" y="315118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107" name="Oval 84">
            <a:extLst>
              <a:ext uri="{FF2B5EF4-FFF2-40B4-BE49-F238E27FC236}">
                <a16:creationId xmlns:a16="http://schemas.microsoft.com/office/drawing/2014/main" id="{53681857-F670-42D5-AE7C-B95056082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63" y="314801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108" name="Oval 85">
            <a:extLst>
              <a:ext uri="{FF2B5EF4-FFF2-40B4-BE49-F238E27FC236}">
                <a16:creationId xmlns:a16="http://schemas.microsoft.com/office/drawing/2014/main" id="{546FD69A-8402-471C-B2CE-6078635C2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363" y="293370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109" name="Oval 86">
            <a:extLst>
              <a:ext uri="{FF2B5EF4-FFF2-40B4-BE49-F238E27FC236}">
                <a16:creationId xmlns:a16="http://schemas.microsoft.com/office/drawing/2014/main" id="{54319EDE-77F7-42F5-AD9A-9AB769938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9305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110" name="Text Box 45">
            <a:extLst>
              <a:ext uri="{FF2B5EF4-FFF2-40B4-BE49-F238E27FC236}">
                <a16:creationId xmlns:a16="http://schemas.microsoft.com/office/drawing/2014/main" id="{1AD50678-9FEC-4319-AA50-248654F98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352425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</a:p>
        </p:txBody>
      </p:sp>
      <p:sp>
        <p:nvSpPr>
          <p:cNvPr id="88111" name="Rectangle 116">
            <a:extLst>
              <a:ext uri="{FF2B5EF4-FFF2-40B4-BE49-F238E27FC236}">
                <a16:creationId xmlns:a16="http://schemas.microsoft.com/office/drawing/2014/main" id="{4CC190BA-87F7-49B6-A57F-DE190A576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2738" y="1309688"/>
            <a:ext cx="4249737" cy="1763712"/>
          </a:xfrm>
        </p:spPr>
        <p:txBody>
          <a:bodyPr/>
          <a:lstStyle/>
          <a:p>
            <a:pPr marL="231775" indent="-231775"/>
            <a:r>
              <a:rPr lang="en-US" altLang="zh-CN" sz="2000" i="1">
                <a:solidFill>
                  <a:srgbClr val="CC0000"/>
                </a:solidFill>
                <a:ea typeface="宋体" panose="02010600030101010101" pitchFamily="2" charset="-122"/>
              </a:rPr>
              <a:t>traffic isolation:</a:t>
            </a:r>
            <a:r>
              <a:rPr lang="en-US" altLang="zh-CN" sz="200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frames to/from ports </a:t>
            </a:r>
            <a:r>
              <a:rPr lang="en-US" altLang="zh-CN" sz="2000"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-8 can </a:t>
            </a:r>
            <a:r>
              <a:rPr lang="en-US" altLang="zh-CN" sz="2000" i="1">
                <a:ea typeface="宋体" panose="02010600030101010101" pitchFamily="2" charset="-122"/>
              </a:rPr>
              <a:t>only</a:t>
            </a:r>
            <a:r>
              <a:rPr lang="en-US" altLang="zh-CN" sz="2000">
                <a:ea typeface="宋体" panose="02010600030101010101" pitchFamily="2" charset="-122"/>
              </a:rPr>
              <a:t> reach ports 1-8</a:t>
            </a:r>
          </a:p>
          <a:p>
            <a:pPr marL="681038" lvl="1" indent="-223838"/>
            <a:r>
              <a:rPr lang="en-US" altLang="zh-CN" sz="1800">
                <a:ea typeface="宋体" panose="02010600030101010101" pitchFamily="2" charset="-122"/>
              </a:rPr>
              <a:t>can also define VLAN based on MAC addresses of endpoints, rather than switch port</a:t>
            </a:r>
          </a:p>
        </p:txBody>
      </p:sp>
      <p:sp>
        <p:nvSpPr>
          <p:cNvPr id="691317" name="Rectangle 117">
            <a:extLst>
              <a:ext uri="{FF2B5EF4-FFF2-40B4-BE49-F238E27FC236}">
                <a16:creationId xmlns:a16="http://schemas.microsoft.com/office/drawing/2014/main" id="{6196B8F0-A4C6-4AF9-9528-992965DF7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3286125"/>
            <a:ext cx="4060825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solidFill>
                  <a:srgbClr val="CC0000"/>
                </a:solidFill>
              </a:rPr>
              <a:t>dynamic membership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dirty="0">
                <a:solidFill>
                  <a:srgbClr val="000000"/>
                </a:solidFill>
              </a:rPr>
              <a:t> ports can be dynamically assigned among VLANs</a:t>
            </a:r>
          </a:p>
        </p:txBody>
      </p:sp>
      <p:sp>
        <p:nvSpPr>
          <p:cNvPr id="691342" name="Text Box 142">
            <a:extLst>
              <a:ext uri="{FF2B5EF4-FFF2-40B4-BE49-F238E27FC236}">
                <a16:creationId xmlns:a16="http://schemas.microsoft.com/office/drawing/2014/main" id="{5EF41AC9-028F-4594-9B7B-5DFDFA6EC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1162050"/>
            <a:ext cx="7874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grpSp>
        <p:nvGrpSpPr>
          <p:cNvPr id="691350" name="Group 150">
            <a:extLst>
              <a:ext uri="{FF2B5EF4-FFF2-40B4-BE49-F238E27FC236}">
                <a16:creationId xmlns:a16="http://schemas.microsoft.com/office/drawing/2014/main" id="{BCDFC4ED-42A1-4DC5-AE6B-853B76DF76A2}"/>
              </a:ext>
            </a:extLst>
          </p:cNvPr>
          <p:cNvGrpSpPr>
            <a:grpSpLocks/>
          </p:cNvGrpSpPr>
          <p:nvPr/>
        </p:nvGrpSpPr>
        <p:grpSpPr bwMode="auto">
          <a:xfrm>
            <a:off x="320675" y="1531938"/>
            <a:ext cx="7010400" cy="4608512"/>
            <a:chOff x="202" y="965"/>
            <a:chExt cx="4416" cy="2903"/>
          </a:xfrm>
        </p:grpSpPr>
        <p:sp>
          <p:nvSpPr>
            <p:cNvPr id="74832" name="Rectangle 124">
              <a:extLst>
                <a:ext uri="{FF2B5EF4-FFF2-40B4-BE49-F238E27FC236}">
                  <a16:creationId xmlns:a16="http://schemas.microsoft.com/office/drawing/2014/main" id="{925CC1E4-580F-4F97-B535-BA9DFCD84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" y="2852"/>
              <a:ext cx="3148" cy="1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  <a:defRPr/>
              </a:pPr>
              <a:r>
                <a:rPr lang="en-US" sz="2000" dirty="0">
                  <a:solidFill>
                    <a:srgbClr val="CC0000"/>
                  </a:solidFill>
                </a:rPr>
                <a:t>forwarding between VLANS: </a:t>
              </a:r>
              <a:r>
                <a:rPr lang="en-US" sz="2000" dirty="0">
                  <a:solidFill>
                    <a:srgbClr val="000000"/>
                  </a:solidFill>
                </a:rPr>
                <a:t>done via routing (just as with separate switches)</a:t>
              </a:r>
            </a:p>
            <a:p>
              <a:pPr marL="681038" lvl="1" indent="-223838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/>
                <a:buChar char="•"/>
                <a:defRPr/>
              </a:pPr>
              <a:r>
                <a:rPr lang="en-US" dirty="0">
                  <a:solidFill>
                    <a:srgbClr val="000000"/>
                  </a:solidFill>
                </a:rPr>
                <a:t>in practice vendors sell combined switches plus routers</a:t>
              </a:r>
            </a:p>
          </p:txBody>
        </p:sp>
        <p:grpSp>
          <p:nvGrpSpPr>
            <p:cNvPr id="88153" name="Group 149">
              <a:extLst>
                <a:ext uri="{FF2B5EF4-FFF2-40B4-BE49-F238E27FC236}">
                  <a16:creationId xmlns:a16="http://schemas.microsoft.com/office/drawing/2014/main" id="{DD9C9D6A-2238-4505-83D1-68355F50D7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9" y="965"/>
              <a:ext cx="679" cy="910"/>
              <a:chOff x="3939" y="965"/>
              <a:chExt cx="679" cy="910"/>
            </a:xfrm>
          </p:grpSpPr>
          <p:grpSp>
            <p:nvGrpSpPr>
              <p:cNvPr id="88154" name="Group 126">
                <a:extLst>
                  <a:ext uri="{FF2B5EF4-FFF2-40B4-BE49-F238E27FC236}">
                    <a16:creationId xmlns:a16="http://schemas.microsoft.com/office/drawing/2014/main" id="{AF7F6CBD-8751-4C99-B70C-DA46370588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9" y="965"/>
                <a:ext cx="359" cy="180"/>
                <a:chOff x="533" y="321"/>
                <a:chExt cx="359" cy="180"/>
              </a:xfrm>
            </p:grpSpPr>
            <p:grpSp>
              <p:nvGrpSpPr>
                <p:cNvPr id="88161" name="Group 127">
                  <a:extLst>
                    <a:ext uri="{FF2B5EF4-FFF2-40B4-BE49-F238E27FC236}">
                      <a16:creationId xmlns:a16="http://schemas.microsoft.com/office/drawing/2014/main" id="{760AF961-3344-4E31-AC17-19291D83DC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3" y="321"/>
                  <a:ext cx="359" cy="180"/>
                  <a:chOff x="1009" y="655"/>
                  <a:chExt cx="359" cy="180"/>
                </a:xfrm>
              </p:grpSpPr>
              <p:sp>
                <p:nvSpPr>
                  <p:cNvPr id="74843" name="Oval 128">
                    <a:extLst>
                      <a:ext uri="{FF2B5EF4-FFF2-40B4-BE49-F238E27FC236}">
                        <a16:creationId xmlns:a16="http://schemas.microsoft.com/office/drawing/2014/main" id="{CBE89A9A-3E08-496E-847B-707435641A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35"/>
                    <a:ext cx="356" cy="10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>
                      <a:defRPr/>
                    </a:pPr>
                    <a:endParaRPr lang="en-US" altLang="zh-CN">
                      <a:solidFill>
                        <a:srgbClr val="000000"/>
                      </a:solidFill>
                      <a:ea typeface="宋体" pitchFamily="2" charset="-122"/>
                    </a:endParaRPr>
                  </a:p>
                </p:txBody>
              </p:sp>
              <p:sp>
                <p:nvSpPr>
                  <p:cNvPr id="74844" name="Line 129">
                    <a:extLst>
                      <a:ext uri="{FF2B5EF4-FFF2-40B4-BE49-F238E27FC236}">
                        <a16:creationId xmlns:a16="http://schemas.microsoft.com/office/drawing/2014/main" id="{C5B5A919-377E-47FE-A4CF-B5036531EF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12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/>
                  </a:p>
                </p:txBody>
              </p:sp>
              <p:sp>
                <p:nvSpPr>
                  <p:cNvPr id="74845" name="Line 130">
                    <a:extLst>
                      <a:ext uri="{FF2B5EF4-FFF2-40B4-BE49-F238E27FC236}">
                        <a16:creationId xmlns:a16="http://schemas.microsoft.com/office/drawing/2014/main" id="{77B96F1A-E72F-43B9-A474-294C0BB5C1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68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/>
                  </a:p>
                </p:txBody>
              </p:sp>
              <p:sp>
                <p:nvSpPr>
                  <p:cNvPr id="74846" name="Rectangle 131">
                    <a:extLst>
                      <a:ext uri="{FF2B5EF4-FFF2-40B4-BE49-F238E27FC236}">
                        <a16:creationId xmlns:a16="http://schemas.microsoft.com/office/drawing/2014/main" id="{D338CF4B-277C-47DE-A1B9-8E4E263115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27"/>
                    <a:ext cx="353" cy="61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algn="ctr">
                      <a:defRPr/>
                    </a:pPr>
                    <a:endParaRPr lang="en-US" altLang="zh-CN" sz="2400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74847" name="Oval 132">
                    <a:extLst>
                      <a:ext uri="{FF2B5EF4-FFF2-40B4-BE49-F238E27FC236}">
                        <a16:creationId xmlns:a16="http://schemas.microsoft.com/office/drawing/2014/main" id="{0FCD30CB-070C-4566-B423-3C8A58F307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09" y="655"/>
                    <a:ext cx="356" cy="11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>
                      <a:defRPr/>
                    </a:pPr>
                    <a:endParaRPr lang="en-US" altLang="zh-CN">
                      <a:solidFill>
                        <a:srgbClr val="000000"/>
                      </a:solidFill>
                      <a:ea typeface="宋体" pitchFamily="2" charset="-122"/>
                    </a:endParaRPr>
                  </a:p>
                </p:txBody>
              </p:sp>
              <p:grpSp>
                <p:nvGrpSpPr>
                  <p:cNvPr id="88168" name="Group 133">
                    <a:extLst>
                      <a:ext uri="{FF2B5EF4-FFF2-40B4-BE49-F238E27FC236}">
                        <a16:creationId xmlns:a16="http://schemas.microsoft.com/office/drawing/2014/main" id="{7E9B7B77-B0A1-4948-A000-8E733107772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095" y="681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3" name="Line 134">
                      <a:extLst>
                        <a:ext uri="{FF2B5EF4-FFF2-40B4-BE49-F238E27FC236}">
                          <a16:creationId xmlns:a16="http://schemas.microsoft.com/office/drawing/2014/main" id="{F8A59374-39BC-4A35-9377-12006246C4D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/>
                    </a:p>
                  </p:txBody>
                </p:sp>
                <p:sp>
                  <p:nvSpPr>
                    <p:cNvPr id="74854" name="Line 135">
                      <a:extLst>
                        <a:ext uri="{FF2B5EF4-FFF2-40B4-BE49-F238E27FC236}">
                          <a16:creationId xmlns:a16="http://schemas.microsoft.com/office/drawing/2014/main" id="{37F58C0A-1A9E-45D4-AFDE-2650B88D844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/>
                    </a:p>
                  </p:txBody>
                </p:sp>
                <p:sp>
                  <p:nvSpPr>
                    <p:cNvPr id="74855" name="Line 136">
                      <a:extLst>
                        <a:ext uri="{FF2B5EF4-FFF2-40B4-BE49-F238E27FC236}">
                          <a16:creationId xmlns:a16="http://schemas.microsoft.com/office/drawing/2014/main" id="{BC37C251-E621-4209-99B0-59CB03A31BE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/>
                    </a:p>
                  </p:txBody>
                </p:sp>
              </p:grpSp>
              <p:grpSp>
                <p:nvGrpSpPr>
                  <p:cNvPr id="88169" name="Group 137">
                    <a:extLst>
                      <a:ext uri="{FF2B5EF4-FFF2-40B4-BE49-F238E27FC236}">
                        <a16:creationId xmlns:a16="http://schemas.microsoft.com/office/drawing/2014/main" id="{AB97B889-5331-42B2-B3E2-CE9C6DF9953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1095" y="680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0" name="Line 138">
                      <a:extLst>
                        <a:ext uri="{FF2B5EF4-FFF2-40B4-BE49-F238E27FC236}">
                          <a16:creationId xmlns:a16="http://schemas.microsoft.com/office/drawing/2014/main" id="{1F592586-4384-432F-BD4D-D0859DAFFBA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/>
                    </a:p>
                  </p:txBody>
                </p:sp>
                <p:sp>
                  <p:nvSpPr>
                    <p:cNvPr id="74851" name="Line 139">
                      <a:extLst>
                        <a:ext uri="{FF2B5EF4-FFF2-40B4-BE49-F238E27FC236}">
                          <a16:creationId xmlns:a16="http://schemas.microsoft.com/office/drawing/2014/main" id="{D5DD916C-20FD-4C64-A606-E9A28B8AFBA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/>
                    </a:p>
                  </p:txBody>
                </p:sp>
                <p:sp>
                  <p:nvSpPr>
                    <p:cNvPr id="74852" name="Line 140">
                      <a:extLst>
                        <a:ext uri="{FF2B5EF4-FFF2-40B4-BE49-F238E27FC236}">
                          <a16:creationId xmlns:a16="http://schemas.microsoft.com/office/drawing/2014/main" id="{38ACB86B-6543-4DF6-AA41-DEAB121F50E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/>
                    </a:p>
                  </p:txBody>
                </p:sp>
              </p:grpSp>
            </p:grpSp>
            <p:sp>
              <p:nvSpPr>
                <p:cNvPr id="74842" name="Line 141">
                  <a:extLst>
                    <a:ext uri="{FF2B5EF4-FFF2-40B4-BE49-F238E27FC236}">
                      <a16:creationId xmlns:a16="http://schemas.microsoft.com/office/drawing/2014/main" id="{16692FB7-3704-42BD-95ED-5713BE3112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5" y="368"/>
                  <a:ext cx="0" cy="6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/>
                </a:p>
              </p:txBody>
            </p:sp>
          </p:grpSp>
          <p:sp>
            <p:nvSpPr>
              <p:cNvPr id="88155" name="Oval 85">
                <a:extLst>
                  <a:ext uri="{FF2B5EF4-FFF2-40B4-BE49-F238E27FC236}">
                    <a16:creationId xmlns:a16="http://schemas.microsoft.com/office/drawing/2014/main" id="{C0C6E7FC-96DC-4544-93B1-4E5734CD4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8156" name="Oval 85">
                <a:extLst>
                  <a:ext uri="{FF2B5EF4-FFF2-40B4-BE49-F238E27FC236}">
                    <a16:creationId xmlns:a16="http://schemas.microsoft.com/office/drawing/2014/main" id="{7B207E2D-656F-4187-A8D2-38DEB660D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7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837" name="Line 145">
                <a:extLst>
                  <a:ext uri="{FF2B5EF4-FFF2-40B4-BE49-F238E27FC236}">
                    <a16:creationId xmlns:a16="http://schemas.microsoft.com/office/drawing/2014/main" id="{5FC84DFC-8F16-4145-A7CB-EA1021E1E3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8" y="1143"/>
                <a:ext cx="159" cy="7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74838" name="Line 146">
                <a:extLst>
                  <a:ext uri="{FF2B5EF4-FFF2-40B4-BE49-F238E27FC236}">
                    <a16:creationId xmlns:a16="http://schemas.microsoft.com/office/drawing/2014/main" id="{9BC83D91-4807-4439-BF57-F49D3B402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69" y="1148"/>
                <a:ext cx="112" cy="7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74839" name="Line 147">
                <a:extLst>
                  <a:ext uri="{FF2B5EF4-FFF2-40B4-BE49-F238E27FC236}">
                    <a16:creationId xmlns:a16="http://schemas.microsoft.com/office/drawing/2014/main" id="{ECE9FAF0-32AC-4C74-99BB-6C1067E23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1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  <p:sp>
            <p:nvSpPr>
              <p:cNvPr id="74840" name="Line 148">
                <a:extLst>
                  <a:ext uri="{FF2B5EF4-FFF2-40B4-BE49-F238E27FC236}">
                    <a16:creationId xmlns:a16="http://schemas.microsoft.com/office/drawing/2014/main" id="{62FF1E7B-A38B-4642-92C1-73109984A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9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/>
              </a:p>
            </p:txBody>
          </p:sp>
        </p:grpSp>
      </p:grpSp>
      <p:grpSp>
        <p:nvGrpSpPr>
          <p:cNvPr id="88115" name="Group 44">
            <a:extLst>
              <a:ext uri="{FF2B5EF4-FFF2-40B4-BE49-F238E27FC236}">
                <a16:creationId xmlns:a16="http://schemas.microsoft.com/office/drawing/2014/main" id="{B516FE33-E59D-4412-A9ED-5168049CA63F}"/>
              </a:ext>
            </a:extLst>
          </p:cNvPr>
          <p:cNvGrpSpPr>
            <a:grpSpLocks/>
          </p:cNvGrpSpPr>
          <p:nvPr/>
        </p:nvGrpSpPr>
        <p:grpSpPr bwMode="auto">
          <a:xfrm>
            <a:off x="4276725" y="3343275"/>
            <a:ext cx="722313" cy="598488"/>
            <a:chOff x="-44" y="1473"/>
            <a:chExt cx="981" cy="1105"/>
          </a:xfrm>
        </p:grpSpPr>
        <p:pic>
          <p:nvPicPr>
            <p:cNvPr id="88150" name="Picture 45" descr="desktop_computer_stylized_medium">
              <a:extLst>
                <a:ext uri="{FF2B5EF4-FFF2-40B4-BE49-F238E27FC236}">
                  <a16:creationId xmlns:a16="http://schemas.microsoft.com/office/drawing/2014/main" id="{96DE8EF4-F1DA-40EE-93A7-CD5607C7A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151" name="Freeform 46">
              <a:extLst>
                <a:ext uri="{FF2B5EF4-FFF2-40B4-BE49-F238E27FC236}">
                  <a16:creationId xmlns:a16="http://schemas.microsoft.com/office/drawing/2014/main" id="{B3FBCB3F-E00F-4658-AEA8-3A5D66F215C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8116" name="Group 44">
            <a:extLst>
              <a:ext uri="{FF2B5EF4-FFF2-40B4-BE49-F238E27FC236}">
                <a16:creationId xmlns:a16="http://schemas.microsoft.com/office/drawing/2014/main" id="{456F2952-0983-41FC-836B-8556911C289B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3495675"/>
            <a:ext cx="720725" cy="598488"/>
            <a:chOff x="-44" y="1473"/>
            <a:chExt cx="981" cy="1105"/>
          </a:xfrm>
        </p:grpSpPr>
        <p:pic>
          <p:nvPicPr>
            <p:cNvPr id="88148" name="Picture 45" descr="desktop_computer_stylized_medium">
              <a:extLst>
                <a:ext uri="{FF2B5EF4-FFF2-40B4-BE49-F238E27FC236}">
                  <a16:creationId xmlns:a16="http://schemas.microsoft.com/office/drawing/2014/main" id="{BD59CCFE-391C-4131-AB7C-3B553C26C6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149" name="Freeform 46">
              <a:extLst>
                <a:ext uri="{FF2B5EF4-FFF2-40B4-BE49-F238E27FC236}">
                  <a16:creationId xmlns:a16="http://schemas.microsoft.com/office/drawing/2014/main" id="{20EAB132-B531-4641-A531-ECA1607DD95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8117" name="Group 44">
            <a:extLst>
              <a:ext uri="{FF2B5EF4-FFF2-40B4-BE49-F238E27FC236}">
                <a16:creationId xmlns:a16="http://schemas.microsoft.com/office/drawing/2014/main" id="{26EDC683-B23B-4F5A-9ADE-6902004D5D54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3454400"/>
            <a:ext cx="720725" cy="600075"/>
            <a:chOff x="-44" y="1473"/>
            <a:chExt cx="981" cy="1105"/>
          </a:xfrm>
        </p:grpSpPr>
        <p:pic>
          <p:nvPicPr>
            <p:cNvPr id="88146" name="Picture 45" descr="desktop_computer_stylized_medium">
              <a:extLst>
                <a:ext uri="{FF2B5EF4-FFF2-40B4-BE49-F238E27FC236}">
                  <a16:creationId xmlns:a16="http://schemas.microsoft.com/office/drawing/2014/main" id="{D477DECF-89C2-41A7-8F69-FB59A1284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147" name="Freeform 46">
              <a:extLst>
                <a:ext uri="{FF2B5EF4-FFF2-40B4-BE49-F238E27FC236}">
                  <a16:creationId xmlns:a16="http://schemas.microsoft.com/office/drawing/2014/main" id="{90BF1CE0-F3C7-430E-A154-6525D652C2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8118" name="Group 44">
            <a:extLst>
              <a:ext uri="{FF2B5EF4-FFF2-40B4-BE49-F238E27FC236}">
                <a16:creationId xmlns:a16="http://schemas.microsoft.com/office/drawing/2014/main" id="{0D867B10-94DE-4C72-AD59-51950D4BAEDE}"/>
              </a:ext>
            </a:extLst>
          </p:cNvPr>
          <p:cNvGrpSpPr>
            <a:grpSpLocks/>
          </p:cNvGrpSpPr>
          <p:nvPr/>
        </p:nvGrpSpPr>
        <p:grpSpPr bwMode="auto">
          <a:xfrm>
            <a:off x="6492875" y="3444875"/>
            <a:ext cx="720725" cy="598488"/>
            <a:chOff x="-44" y="1473"/>
            <a:chExt cx="981" cy="1105"/>
          </a:xfrm>
        </p:grpSpPr>
        <p:pic>
          <p:nvPicPr>
            <p:cNvPr id="88144" name="Picture 45" descr="desktop_computer_stylized_medium">
              <a:extLst>
                <a:ext uri="{FF2B5EF4-FFF2-40B4-BE49-F238E27FC236}">
                  <a16:creationId xmlns:a16="http://schemas.microsoft.com/office/drawing/2014/main" id="{2FB20A7C-41CA-4BD2-9DB4-1D5B777A09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145" name="Freeform 46">
              <a:extLst>
                <a:ext uri="{FF2B5EF4-FFF2-40B4-BE49-F238E27FC236}">
                  <a16:creationId xmlns:a16="http://schemas.microsoft.com/office/drawing/2014/main" id="{F49C61C3-9B04-421F-8E82-2CF0EA181E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8119" name="Group 44">
            <a:extLst>
              <a:ext uri="{FF2B5EF4-FFF2-40B4-BE49-F238E27FC236}">
                <a16:creationId xmlns:a16="http://schemas.microsoft.com/office/drawing/2014/main" id="{B18A6B05-C301-4787-A114-DC4C23E6C5C7}"/>
              </a:ext>
            </a:extLst>
          </p:cNvPr>
          <p:cNvGrpSpPr>
            <a:grpSpLocks/>
          </p:cNvGrpSpPr>
          <p:nvPr/>
        </p:nvGrpSpPr>
        <p:grpSpPr bwMode="auto">
          <a:xfrm>
            <a:off x="7061200" y="3454400"/>
            <a:ext cx="720725" cy="600075"/>
            <a:chOff x="-44" y="1473"/>
            <a:chExt cx="981" cy="1105"/>
          </a:xfrm>
        </p:grpSpPr>
        <p:pic>
          <p:nvPicPr>
            <p:cNvPr id="88142" name="Picture 45" descr="desktop_computer_stylized_medium">
              <a:extLst>
                <a:ext uri="{FF2B5EF4-FFF2-40B4-BE49-F238E27FC236}">
                  <a16:creationId xmlns:a16="http://schemas.microsoft.com/office/drawing/2014/main" id="{F1714AAD-3C9C-47FF-854E-EC4888CBB6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143" name="Freeform 46">
              <a:extLst>
                <a:ext uri="{FF2B5EF4-FFF2-40B4-BE49-F238E27FC236}">
                  <a16:creationId xmlns:a16="http://schemas.microsoft.com/office/drawing/2014/main" id="{296CF6A2-5FA4-430A-ADB0-8BEA64F9EFC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8120" name="Group 44">
            <a:extLst>
              <a:ext uri="{FF2B5EF4-FFF2-40B4-BE49-F238E27FC236}">
                <a16:creationId xmlns:a16="http://schemas.microsoft.com/office/drawing/2014/main" id="{9EBD51E2-C90C-4A7D-9B20-E58B7E86AAC4}"/>
              </a:ext>
            </a:extLst>
          </p:cNvPr>
          <p:cNvGrpSpPr>
            <a:grpSpLocks/>
          </p:cNvGrpSpPr>
          <p:nvPr/>
        </p:nvGrpSpPr>
        <p:grpSpPr bwMode="auto">
          <a:xfrm>
            <a:off x="7915275" y="3302000"/>
            <a:ext cx="720725" cy="600075"/>
            <a:chOff x="-44" y="1473"/>
            <a:chExt cx="981" cy="1105"/>
          </a:xfrm>
        </p:grpSpPr>
        <p:pic>
          <p:nvPicPr>
            <p:cNvPr id="88140" name="Picture 45" descr="desktop_computer_stylized_medium">
              <a:extLst>
                <a:ext uri="{FF2B5EF4-FFF2-40B4-BE49-F238E27FC236}">
                  <a16:creationId xmlns:a16="http://schemas.microsoft.com/office/drawing/2014/main" id="{D93D9728-3C5E-4F33-9667-A89A9C34D5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141" name="Freeform 46">
              <a:extLst>
                <a:ext uri="{FF2B5EF4-FFF2-40B4-BE49-F238E27FC236}">
                  <a16:creationId xmlns:a16="http://schemas.microsoft.com/office/drawing/2014/main" id="{6CD37E04-2946-4E3C-B90C-9C2ABFC3A5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46471C2-B871-43A8-B4CA-ED1207391943}"/>
              </a:ext>
            </a:extLst>
          </p:cNvPr>
          <p:cNvGrpSpPr>
            <a:grpSpLocks/>
          </p:cNvGrpSpPr>
          <p:nvPr/>
        </p:nvGrpSpPr>
        <p:grpSpPr bwMode="auto">
          <a:xfrm>
            <a:off x="4664075" y="2549525"/>
            <a:ext cx="1550988" cy="600075"/>
            <a:chOff x="4907280" y="294640"/>
            <a:chExt cx="1551062" cy="599440"/>
          </a:xfrm>
        </p:grpSpPr>
        <p:sp>
          <p:nvSpPr>
            <p:cNvPr id="74814" name="Rectangle 118">
              <a:extLst>
                <a:ext uri="{FF2B5EF4-FFF2-40B4-BE49-F238E27FC236}">
                  <a16:creationId xmlns:a16="http://schemas.microsoft.com/office/drawing/2014/main" id="{EA39AE66-7648-4128-9B21-F2FE77CE6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8929" y="589603"/>
              <a:ext cx="279413" cy="2061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defRPr/>
              </a:pPr>
              <a:endParaRPr lang="en-US" altLang="zh-CN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4815" name="Line 120">
              <a:extLst>
                <a:ext uri="{FF2B5EF4-FFF2-40B4-BE49-F238E27FC236}">
                  <a16:creationId xmlns:a16="http://schemas.microsoft.com/office/drawing/2014/main" id="{B6384316-78FC-4F40-B940-E90AEC31E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07384" y="507140"/>
              <a:ext cx="793788" cy="209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8136" name="Oval 82">
              <a:extLst>
                <a:ext uri="{FF2B5EF4-FFF2-40B4-BE49-F238E27FC236}">
                  <a16:creationId xmlns:a16="http://schemas.microsoft.com/office/drawing/2014/main" id="{4899C188-974F-41B2-A238-8A377D089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127" y="684530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8137" name="Group 44">
              <a:extLst>
                <a:ext uri="{FF2B5EF4-FFF2-40B4-BE49-F238E27FC236}">
                  <a16:creationId xmlns:a16="http://schemas.microsoft.com/office/drawing/2014/main" id="{73AE47C5-9E36-4F2F-A8F9-0388D8C5D5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7280" y="294640"/>
              <a:ext cx="721360" cy="599440"/>
              <a:chOff x="-44" y="1473"/>
              <a:chExt cx="981" cy="1105"/>
            </a:xfrm>
          </p:grpSpPr>
          <p:pic>
            <p:nvPicPr>
              <p:cNvPr id="88138" name="Picture 45" descr="desktop_computer_stylized_medium">
                <a:extLst>
                  <a:ext uri="{FF2B5EF4-FFF2-40B4-BE49-F238E27FC236}">
                    <a16:creationId xmlns:a16="http://schemas.microsoft.com/office/drawing/2014/main" id="{4DD9F1B3-59DA-4577-94C3-86FA7D26F7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8139" name="Freeform 46">
                <a:extLst>
                  <a:ext uri="{FF2B5EF4-FFF2-40B4-BE49-F238E27FC236}">
                    <a16:creationId xmlns:a16="http://schemas.microsoft.com/office/drawing/2014/main" id="{9071A7FD-CE44-4281-B3BF-6E7D9A9768C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06" name="Group 347">
            <a:extLst>
              <a:ext uri="{FF2B5EF4-FFF2-40B4-BE49-F238E27FC236}">
                <a16:creationId xmlns:a16="http://schemas.microsoft.com/office/drawing/2014/main" id="{A16F9D39-C48F-4371-A567-18EC0149341F}"/>
              </a:ext>
            </a:extLst>
          </p:cNvPr>
          <p:cNvGrpSpPr>
            <a:grpSpLocks/>
          </p:cNvGrpSpPr>
          <p:nvPr/>
        </p:nvGrpSpPr>
        <p:grpSpPr bwMode="auto">
          <a:xfrm>
            <a:off x="6700838" y="1533525"/>
            <a:ext cx="682625" cy="350838"/>
            <a:chOff x="1871277" y="1576300"/>
            <a:chExt cx="1128371" cy="437861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705C41D-4DD0-4C59-918E-8CFC5691B2E6}"/>
                </a:ext>
              </a:extLst>
            </p:cNvPr>
            <p:cNvSpPr/>
            <p:nvPr/>
          </p:nvSpPr>
          <p:spPr bwMode="auto">
            <a:xfrm flipV="1">
              <a:off x="1873900" y="1695176"/>
              <a:ext cx="1125748" cy="318985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18F0ED5-0758-4BB2-87DB-9A419D032A8A}"/>
                </a:ext>
              </a:extLst>
            </p:cNvPr>
            <p:cNvSpPr/>
            <p:nvPr/>
          </p:nvSpPr>
          <p:spPr bwMode="auto">
            <a:xfrm>
              <a:off x="1871277" y="1738764"/>
              <a:ext cx="1128371" cy="11689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4273B99C-BC56-42E7-AA26-05252BDD1B1F}"/>
                </a:ext>
              </a:extLst>
            </p:cNvPr>
            <p:cNvSpPr/>
            <p:nvPr/>
          </p:nvSpPr>
          <p:spPr bwMode="auto">
            <a:xfrm flipV="1">
              <a:off x="1871277" y="1576300"/>
              <a:ext cx="1125746" cy="31898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endParaRPr lang="en-US" altLang="zh-CN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D0EBE94-677C-4027-9B9A-F23CA78EA1AF}"/>
                </a:ext>
              </a:extLst>
            </p:cNvPr>
            <p:cNvSpPr/>
            <p:nvPr/>
          </p:nvSpPr>
          <p:spPr bwMode="auto">
            <a:xfrm>
              <a:off x="2159930" y="1673383"/>
              <a:ext cx="548440" cy="160482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2C73A8EF-1D54-40CB-B567-ABC403EF6312}"/>
                </a:ext>
              </a:extLst>
            </p:cNvPr>
            <p:cNvSpPr/>
            <p:nvPr/>
          </p:nvSpPr>
          <p:spPr bwMode="auto">
            <a:xfrm>
              <a:off x="2102199" y="1633757"/>
              <a:ext cx="663901" cy="11095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F47E6BE7-D69D-4D99-BC9C-29B47DD48602}"/>
                </a:ext>
              </a:extLst>
            </p:cNvPr>
            <p:cNvSpPr/>
            <p:nvPr/>
          </p:nvSpPr>
          <p:spPr bwMode="auto">
            <a:xfrm>
              <a:off x="2537803" y="1726876"/>
              <a:ext cx="244042" cy="97083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777BEFA-1670-480C-B6B7-B1E16A5C899E}"/>
                </a:ext>
              </a:extLst>
            </p:cNvPr>
            <p:cNvSpPr/>
            <p:nvPr/>
          </p:nvSpPr>
          <p:spPr bwMode="auto">
            <a:xfrm>
              <a:off x="2089078" y="1730839"/>
              <a:ext cx="241419" cy="97083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A74F171-3748-432A-B6F3-9A0D8F53EA97}"/>
                </a:ext>
              </a:extLst>
            </p:cNvPr>
            <p:cNvCxnSpPr>
              <a:endCxn id="109" idx="2"/>
            </p:cNvCxnSpPr>
            <p:nvPr/>
          </p:nvCxnSpPr>
          <p:spPr bwMode="auto">
            <a:xfrm flipH="1" flipV="1">
              <a:off x="1871277" y="1736783"/>
              <a:ext cx="2623" cy="122839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2ED8C6E-F604-4C6A-9FA2-1DD9A978A9F6}"/>
                </a:ext>
              </a:extLst>
            </p:cNvPr>
            <p:cNvCxnSpPr/>
            <p:nvPr/>
          </p:nvCxnSpPr>
          <p:spPr bwMode="auto">
            <a:xfrm flipH="1" flipV="1">
              <a:off x="2997023" y="1734801"/>
              <a:ext cx="2625" cy="122839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124" name="灯片编号占位符 5">
            <a:extLst>
              <a:ext uri="{FF2B5EF4-FFF2-40B4-BE49-F238E27FC236}">
                <a16:creationId xmlns:a16="http://schemas.microsoft.com/office/drawing/2014/main" id="{3CB7E85F-C527-4442-BB88-61669CBB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321B6287-7DE1-4CC1-A95A-4350AA1515B5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317" grpId="0"/>
      <p:bldP spid="6913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111">
            <a:extLst>
              <a:ext uri="{FF2B5EF4-FFF2-40B4-BE49-F238E27FC236}">
                <a16:creationId xmlns:a16="http://schemas.microsoft.com/office/drawing/2014/main" id="{1E4B02FF-A7F5-4EDA-B0AC-568728F8D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2103438"/>
            <a:ext cx="2794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9091" name="Rectangle 77">
            <a:extLst>
              <a:ext uri="{FF2B5EF4-FFF2-40B4-BE49-F238E27FC236}">
                <a16:creationId xmlns:a16="http://schemas.microsoft.com/office/drawing/2014/main" id="{67392D96-208A-4EC4-AA12-B0EDCAFC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092" name="Rectangle 77">
            <a:extLst>
              <a:ext uri="{FF2B5EF4-FFF2-40B4-BE49-F238E27FC236}">
                <a16:creationId xmlns:a16="http://schemas.microsoft.com/office/drawing/2014/main" id="{632240F8-788C-4798-80AF-474E00670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813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093" name="Rectangle 77">
            <a:extLst>
              <a:ext uri="{FF2B5EF4-FFF2-40B4-BE49-F238E27FC236}">
                <a16:creationId xmlns:a16="http://schemas.microsoft.com/office/drawing/2014/main" id="{D1174C63-A875-491F-94DB-7ADBF9D33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112963"/>
            <a:ext cx="276225" cy="2333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4" name="Rectangle 157">
            <a:extLst>
              <a:ext uri="{FF2B5EF4-FFF2-40B4-BE49-F238E27FC236}">
                <a16:creationId xmlns:a16="http://schemas.microsoft.com/office/drawing/2014/main" id="{480BF405-2FA0-4EA2-B67B-C9EF107D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1881188"/>
            <a:ext cx="280987" cy="214312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5785" name="Rectangle 156">
            <a:extLst>
              <a:ext uri="{FF2B5EF4-FFF2-40B4-BE49-F238E27FC236}">
                <a16:creationId xmlns:a16="http://schemas.microsoft.com/office/drawing/2014/main" id="{9F534670-5E35-4271-93A1-0C37F9D2A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2105025"/>
            <a:ext cx="309563" cy="233363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9096" name="Rectangle 2">
            <a:extLst>
              <a:ext uri="{FF2B5EF4-FFF2-40B4-BE49-F238E27FC236}">
                <a16:creationId xmlns:a16="http://schemas.microsoft.com/office/drawing/2014/main" id="{22F129D2-DF85-439F-B0A9-7B2F91CF13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VLANS spanning multiple switches</a:t>
            </a:r>
          </a:p>
        </p:txBody>
      </p:sp>
      <p:sp>
        <p:nvSpPr>
          <p:cNvPr id="692227" name="Rectangle 3">
            <a:extLst>
              <a:ext uri="{FF2B5EF4-FFF2-40B4-BE49-F238E27FC236}">
                <a16:creationId xmlns:a16="http://schemas.microsoft.com/office/drawing/2014/main" id="{3F726D25-0726-4428-88D4-6C33ED7F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3971925"/>
            <a:ext cx="8296275" cy="2687638"/>
          </a:xfrm>
        </p:spPr>
        <p:txBody>
          <a:bodyPr/>
          <a:lstStyle/>
          <a:p>
            <a:pPr marL="231775" indent="-231775"/>
            <a:r>
              <a:rPr lang="en-US" altLang="zh-CN" sz="2400" i="1">
                <a:solidFill>
                  <a:srgbClr val="CC0000"/>
                </a:solidFill>
                <a:ea typeface="宋体" panose="02010600030101010101" pitchFamily="2" charset="-122"/>
              </a:rPr>
              <a:t>trunk port:</a:t>
            </a:r>
            <a:r>
              <a:rPr lang="en-US" altLang="zh-CN" sz="240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carries frames between VLANS defined over multiple physical switches</a:t>
            </a:r>
          </a:p>
          <a:p>
            <a:pPr marL="681038" lvl="1" indent="-223838"/>
            <a:r>
              <a:rPr lang="en-US" altLang="zh-CN" sz="2000">
                <a:ea typeface="宋体" panose="02010600030101010101" pitchFamily="2" charset="-122"/>
              </a:rPr>
              <a:t>frames forwarded within VLAN between switches can</a:t>
            </a:r>
            <a:r>
              <a:rPr lang="ja-JP" altLang="en-US" sz="2000">
                <a:ea typeface="ＭＳ Ｐゴシック" panose="020B0600070205080204" pitchFamily="34" charset="-128"/>
              </a:rPr>
              <a:t>’</a:t>
            </a:r>
            <a:r>
              <a:rPr lang="en-US" altLang="zh-CN" sz="2000">
                <a:ea typeface="宋体" panose="02010600030101010101" pitchFamily="2" charset="-122"/>
              </a:rPr>
              <a:t>t be vanilla 802.1 frames (must carry VLAN ID info)</a:t>
            </a:r>
          </a:p>
          <a:p>
            <a:pPr marL="681038" lvl="1" indent="-223838"/>
            <a:r>
              <a:rPr lang="en-US" altLang="zh-CN" sz="2000">
                <a:ea typeface="宋体" panose="02010600030101010101" pitchFamily="2" charset="-122"/>
              </a:rPr>
              <a:t>802.1q protocol adds/removed additional header fields for frames forwarded between trunk ports</a:t>
            </a:r>
          </a:p>
        </p:txBody>
      </p:sp>
      <p:sp>
        <p:nvSpPr>
          <p:cNvPr id="75788" name="Rectangle 62">
            <a:extLst>
              <a:ext uri="{FF2B5EF4-FFF2-40B4-BE49-F238E27FC236}">
                <a16:creationId xmlns:a16="http://schemas.microsoft.com/office/drawing/2014/main" id="{42A927B4-C9DC-48DB-B29B-1A32FBBFC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438" y="1887538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9099" name="Rectangle 80">
            <a:extLst>
              <a:ext uri="{FF2B5EF4-FFF2-40B4-BE49-F238E27FC236}">
                <a16:creationId xmlns:a16="http://schemas.microsoft.com/office/drawing/2014/main" id="{97B1264B-439E-46AE-AC84-1B11AD7FB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097088"/>
            <a:ext cx="290513" cy="24288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00" name="Rectangle 77">
            <a:extLst>
              <a:ext uri="{FF2B5EF4-FFF2-40B4-BE49-F238E27FC236}">
                <a16:creationId xmlns:a16="http://schemas.microsoft.com/office/drawing/2014/main" id="{904C85F4-1003-47DE-91E7-F9E33A195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188" y="1878013"/>
            <a:ext cx="290512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01" name="Rectangle 76">
            <a:extLst>
              <a:ext uri="{FF2B5EF4-FFF2-40B4-BE49-F238E27FC236}">
                <a16:creationId xmlns:a16="http://schemas.microsoft.com/office/drawing/2014/main" id="{906F53EC-87E4-44BF-A014-A8BD52F2B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882775"/>
            <a:ext cx="89058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02" name="Rectangle 75">
            <a:extLst>
              <a:ext uri="{FF2B5EF4-FFF2-40B4-BE49-F238E27FC236}">
                <a16:creationId xmlns:a16="http://schemas.microsoft.com/office/drawing/2014/main" id="{26AFB094-C434-46BB-9064-ACCD32B7A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882775"/>
            <a:ext cx="900113" cy="45243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03" name="Rectangle 2">
            <a:extLst>
              <a:ext uri="{FF2B5EF4-FFF2-40B4-BE49-F238E27FC236}">
                <a16:creationId xmlns:a16="http://schemas.microsoft.com/office/drawing/2014/main" id="{BFD63D7C-F42E-4F9F-96F1-3526D53FF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874838"/>
            <a:ext cx="2370138" cy="468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04" name="Line 3">
            <a:extLst>
              <a:ext uri="{FF2B5EF4-FFF2-40B4-BE49-F238E27FC236}">
                <a16:creationId xmlns:a16="http://schemas.microsoft.com/office/drawing/2014/main" id="{5557B045-A3C4-45C5-B28B-5F412C04A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5088" y="2090738"/>
            <a:ext cx="2351087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05" name="Text Box 6">
            <a:extLst>
              <a:ext uri="{FF2B5EF4-FFF2-40B4-BE49-F238E27FC236}">
                <a16:creationId xmlns:a16="http://schemas.microsoft.com/office/drawing/2014/main" id="{A2C3B4B6-E5D3-4050-BBF8-1B0319747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50" y="18335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89106" name="Line 7">
            <a:extLst>
              <a:ext uri="{FF2B5EF4-FFF2-40B4-BE49-F238E27FC236}">
                <a16:creationId xmlns:a16="http://schemas.microsoft.com/office/drawing/2014/main" id="{AC4FEFCD-6338-46FF-AA19-FCC82D758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07" name="AutoShape 8">
            <a:extLst>
              <a:ext uri="{FF2B5EF4-FFF2-40B4-BE49-F238E27FC236}">
                <a16:creationId xmlns:a16="http://schemas.microsoft.com/office/drawing/2014/main" id="{EF754147-B22D-4A83-810D-B10F7CE05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1616075"/>
            <a:ext cx="3176588" cy="261938"/>
          </a:xfrm>
          <a:prstGeom prst="parallelogram">
            <a:avLst>
              <a:gd name="adj" fmla="val 30318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08" name="Freeform 9">
            <a:extLst>
              <a:ext uri="{FF2B5EF4-FFF2-40B4-BE49-F238E27FC236}">
                <a16:creationId xmlns:a16="http://schemas.microsoft.com/office/drawing/2014/main" id="{AA9EF158-E7B7-4148-A619-BCE6D27DF834}"/>
              </a:ext>
            </a:extLst>
          </p:cNvPr>
          <p:cNvSpPr>
            <a:spLocks/>
          </p:cNvSpPr>
          <p:nvPr/>
        </p:nvSpPr>
        <p:spPr bwMode="auto">
          <a:xfrm>
            <a:off x="3708400" y="1619250"/>
            <a:ext cx="763588" cy="720725"/>
          </a:xfrm>
          <a:custGeom>
            <a:avLst/>
            <a:gdLst>
              <a:gd name="T0" fmla="*/ 0 w 232"/>
              <a:gd name="T1" fmla="*/ 2147483646 h 454"/>
              <a:gd name="T2" fmla="*/ 2147483646 w 232"/>
              <a:gd name="T3" fmla="*/ 2147483646 h 454"/>
              <a:gd name="T4" fmla="*/ 2147483646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09" name="Freeform 10">
            <a:extLst>
              <a:ext uri="{FF2B5EF4-FFF2-40B4-BE49-F238E27FC236}">
                <a16:creationId xmlns:a16="http://schemas.microsoft.com/office/drawing/2014/main" id="{1D004FA2-DEBE-41B2-AE1B-5E7FF5E4AAF3}"/>
              </a:ext>
            </a:extLst>
          </p:cNvPr>
          <p:cNvSpPr>
            <a:spLocks/>
          </p:cNvSpPr>
          <p:nvPr/>
        </p:nvSpPr>
        <p:spPr bwMode="auto">
          <a:xfrm>
            <a:off x="1706563" y="1663700"/>
            <a:ext cx="2228850" cy="150813"/>
          </a:xfrm>
          <a:custGeom>
            <a:avLst/>
            <a:gdLst>
              <a:gd name="T0" fmla="*/ 0 w 678"/>
              <a:gd name="T1" fmla="*/ 2147483646 h 110"/>
              <a:gd name="T2" fmla="*/ 2147483646 w 678"/>
              <a:gd name="T3" fmla="*/ 2147483646 h 110"/>
              <a:gd name="T4" fmla="*/ 2147483646 w 678"/>
              <a:gd name="T5" fmla="*/ 0 h 110"/>
              <a:gd name="T6" fmla="*/ 2147483646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0" name="Freeform 11">
            <a:extLst>
              <a:ext uri="{FF2B5EF4-FFF2-40B4-BE49-F238E27FC236}">
                <a16:creationId xmlns:a16="http://schemas.microsoft.com/office/drawing/2014/main" id="{7053526B-6EA9-4838-B160-9A5C6787D99E}"/>
              </a:ext>
            </a:extLst>
          </p:cNvPr>
          <p:cNvSpPr>
            <a:spLocks/>
          </p:cNvSpPr>
          <p:nvPr/>
        </p:nvSpPr>
        <p:spPr bwMode="auto">
          <a:xfrm>
            <a:off x="2179638" y="1663700"/>
            <a:ext cx="1420812" cy="166688"/>
          </a:xfrm>
          <a:custGeom>
            <a:avLst/>
            <a:gdLst>
              <a:gd name="T0" fmla="*/ 0 w 432"/>
              <a:gd name="T1" fmla="*/ 0 h 105"/>
              <a:gd name="T2" fmla="*/ 2147483646 w 432"/>
              <a:gd name="T3" fmla="*/ 0 h 105"/>
              <a:gd name="T4" fmla="*/ 2147483646 w 432"/>
              <a:gd name="T5" fmla="*/ 2147483646 h 105"/>
              <a:gd name="T6" fmla="*/ 2147483646 w 432"/>
              <a:gd name="T7" fmla="*/ 2147483646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1" name="Line 17">
            <a:extLst>
              <a:ext uri="{FF2B5EF4-FFF2-40B4-BE49-F238E27FC236}">
                <a16:creationId xmlns:a16="http://schemas.microsoft.com/office/drawing/2014/main" id="{597DC3B2-D19F-4BBD-9580-C4569D11CB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2" name="Line 18">
            <a:extLst>
              <a:ext uri="{FF2B5EF4-FFF2-40B4-BE49-F238E27FC236}">
                <a16:creationId xmlns:a16="http://schemas.microsoft.com/office/drawing/2014/main" id="{8EA08864-9F7C-4A68-B4CF-C04AA4870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4525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3" name="Line 21">
            <a:extLst>
              <a:ext uri="{FF2B5EF4-FFF2-40B4-BE49-F238E27FC236}">
                <a16:creationId xmlns:a16="http://schemas.microsoft.com/office/drawing/2014/main" id="{EDFAC7D8-CE8E-4915-B97A-F957CEBD7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4013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4" name="Line 22">
            <a:extLst>
              <a:ext uri="{FF2B5EF4-FFF2-40B4-BE49-F238E27FC236}">
                <a16:creationId xmlns:a16="http://schemas.microsoft.com/office/drawing/2014/main" id="{9CDBA3C5-6D77-4E74-AC0B-4EF0A892A4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18891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5" name="Line 23">
            <a:extLst>
              <a:ext uri="{FF2B5EF4-FFF2-40B4-BE49-F238E27FC236}">
                <a16:creationId xmlns:a16="http://schemas.microsoft.com/office/drawing/2014/main" id="{A5462C7A-F6FB-4DF0-960F-09F30C920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6" name="Line 24">
            <a:extLst>
              <a:ext uri="{FF2B5EF4-FFF2-40B4-BE49-F238E27FC236}">
                <a16:creationId xmlns:a16="http://schemas.microsoft.com/office/drawing/2014/main" id="{DB15FF31-0AF2-4258-9917-44D28F59D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7" name="Line 25">
            <a:extLst>
              <a:ext uri="{FF2B5EF4-FFF2-40B4-BE49-F238E27FC236}">
                <a16:creationId xmlns:a16="http://schemas.microsoft.com/office/drawing/2014/main" id="{500CF134-0782-47EF-A11D-320F893C6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9950" y="18748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8" name="Text Box 26">
            <a:extLst>
              <a:ext uri="{FF2B5EF4-FFF2-40B4-BE49-F238E27FC236}">
                <a16:creationId xmlns:a16="http://schemas.microsoft.com/office/drawing/2014/main" id="{E0898618-C4D9-4CD4-ACE9-8F0302679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204311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8</a:t>
            </a:r>
          </a:p>
        </p:txBody>
      </p:sp>
      <p:sp>
        <p:nvSpPr>
          <p:cNvPr id="89119" name="Text Box 27">
            <a:extLst>
              <a:ext uri="{FF2B5EF4-FFF2-40B4-BE49-F238E27FC236}">
                <a16:creationId xmlns:a16="http://schemas.microsoft.com/office/drawing/2014/main" id="{F306D865-2644-49AA-8B68-B8DD65BC8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10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9</a:t>
            </a:r>
          </a:p>
        </p:txBody>
      </p:sp>
      <p:sp>
        <p:nvSpPr>
          <p:cNvPr id="89120" name="Text Box 29">
            <a:extLst>
              <a:ext uri="{FF2B5EF4-FFF2-40B4-BE49-F238E27FC236}">
                <a16:creationId xmlns:a16="http://schemas.microsoft.com/office/drawing/2014/main" id="{97FE63BF-DED8-4903-9EC0-EEAF14F8A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050" y="20478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10</a:t>
            </a:r>
          </a:p>
        </p:txBody>
      </p:sp>
      <p:sp>
        <p:nvSpPr>
          <p:cNvPr id="89121" name="Text Box 30">
            <a:extLst>
              <a:ext uri="{FF2B5EF4-FFF2-40B4-BE49-F238E27FC236}">
                <a16:creationId xmlns:a16="http://schemas.microsoft.com/office/drawing/2014/main" id="{C01E54CE-1958-451E-B854-D346145CC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0335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</a:p>
        </p:txBody>
      </p:sp>
      <p:sp>
        <p:nvSpPr>
          <p:cNvPr id="89122" name="Text Box 57">
            <a:extLst>
              <a:ext uri="{FF2B5EF4-FFF2-40B4-BE49-F238E27FC236}">
                <a16:creationId xmlns:a16="http://schemas.microsoft.com/office/drawing/2014/main" id="{D2D06EDE-0928-4AF2-BF83-C580E08CC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7</a:t>
            </a:r>
          </a:p>
        </p:txBody>
      </p:sp>
      <p:sp>
        <p:nvSpPr>
          <p:cNvPr id="89123" name="Line 61">
            <a:extLst>
              <a:ext uri="{FF2B5EF4-FFF2-40B4-BE49-F238E27FC236}">
                <a16:creationId xmlns:a16="http://schemas.microsoft.com/office/drawing/2014/main" id="{6233F084-6023-44CB-BF3A-83AB369F25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088" y="2209800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24" name="Line 62">
            <a:extLst>
              <a:ext uri="{FF2B5EF4-FFF2-40B4-BE49-F238E27FC236}">
                <a16:creationId xmlns:a16="http://schemas.microsoft.com/office/drawing/2014/main" id="{3FB80C1B-A6A7-44A0-8D0A-404FC786DC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8850" y="2209800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25" name="Line 63">
            <a:extLst>
              <a:ext uri="{FF2B5EF4-FFF2-40B4-BE49-F238E27FC236}">
                <a16:creationId xmlns:a16="http://schemas.microsoft.com/office/drawing/2014/main" id="{FF413637-F1FD-41F2-B0BD-6018D7134D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7988" y="2225675"/>
            <a:ext cx="70961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26" name="Text Box 64">
            <a:extLst>
              <a:ext uri="{FF2B5EF4-FFF2-40B4-BE49-F238E27FC236}">
                <a16:creationId xmlns:a16="http://schemas.microsoft.com/office/drawing/2014/main" id="{B8C51B80-BEA3-4CB0-A4A4-F7FDB4D17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8838" y="25876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</a:p>
        </p:txBody>
      </p:sp>
      <p:sp>
        <p:nvSpPr>
          <p:cNvPr id="89127" name="Line 69">
            <a:extLst>
              <a:ext uri="{FF2B5EF4-FFF2-40B4-BE49-F238E27FC236}">
                <a16:creationId xmlns:a16="http://schemas.microsoft.com/office/drawing/2014/main" id="{C42C7345-52DB-487B-A64D-BCBF58F60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6050" y="2212975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28" name="Line 70">
            <a:extLst>
              <a:ext uri="{FF2B5EF4-FFF2-40B4-BE49-F238E27FC236}">
                <a16:creationId xmlns:a16="http://schemas.microsoft.com/office/drawing/2014/main" id="{0D26E507-CAD0-4535-8024-A0DF728EDF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2011363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29" name="Line 71">
            <a:extLst>
              <a:ext uri="{FF2B5EF4-FFF2-40B4-BE49-F238E27FC236}">
                <a16:creationId xmlns:a16="http://schemas.microsoft.com/office/drawing/2014/main" id="{3A59EDAD-881F-4E05-ACA5-3CB421B8E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2188" y="1955800"/>
            <a:ext cx="514350" cy="484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30" name="Text Box 72">
            <a:extLst>
              <a:ext uri="{FF2B5EF4-FFF2-40B4-BE49-F238E27FC236}">
                <a16:creationId xmlns:a16="http://schemas.microsoft.com/office/drawing/2014/main" id="{F0749571-43AE-4CA3-99B9-510648FDA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3130550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Electrical Engineering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(VLAN ports 1-8)</a:t>
            </a:r>
          </a:p>
        </p:txBody>
      </p:sp>
      <p:sp>
        <p:nvSpPr>
          <p:cNvPr id="89131" name="Text Box 73">
            <a:extLst>
              <a:ext uri="{FF2B5EF4-FFF2-40B4-BE49-F238E27FC236}">
                <a16:creationId xmlns:a16="http://schemas.microsoft.com/office/drawing/2014/main" id="{53CA1F5C-4053-417D-BFB0-B70C6F87D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38" y="3117850"/>
            <a:ext cx="143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Computer Science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(VLAN ports 9-15)</a:t>
            </a:r>
          </a:p>
        </p:txBody>
      </p:sp>
      <p:sp>
        <p:nvSpPr>
          <p:cNvPr id="89132" name="Text Box 74">
            <a:extLst>
              <a:ext uri="{FF2B5EF4-FFF2-40B4-BE49-F238E27FC236}">
                <a16:creationId xmlns:a16="http://schemas.microsoft.com/office/drawing/2014/main" id="{44901CD4-1297-44CC-9656-78B0C1667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1824038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15</a:t>
            </a:r>
          </a:p>
        </p:txBody>
      </p:sp>
      <p:sp>
        <p:nvSpPr>
          <p:cNvPr id="89133" name="Oval 81">
            <a:extLst>
              <a:ext uri="{FF2B5EF4-FFF2-40B4-BE49-F238E27FC236}">
                <a16:creationId xmlns:a16="http://schemas.microsoft.com/office/drawing/2014/main" id="{2A9B3354-8958-48E8-AEC5-37C7B3DE3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34" name="Oval 82">
            <a:extLst>
              <a:ext uri="{FF2B5EF4-FFF2-40B4-BE49-F238E27FC236}">
                <a16:creationId xmlns:a16="http://schemas.microsoft.com/office/drawing/2014/main" id="{2A6F6A38-F98B-4CA0-A0B5-9FB0FCEF6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1859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35" name="Oval 83">
            <a:extLst>
              <a:ext uri="{FF2B5EF4-FFF2-40B4-BE49-F238E27FC236}">
                <a16:creationId xmlns:a16="http://schemas.microsoft.com/office/drawing/2014/main" id="{C6A7DDC2-EF51-40D1-96D5-BC46F08F5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863" y="21907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36" name="Oval 84">
            <a:extLst>
              <a:ext uri="{FF2B5EF4-FFF2-40B4-BE49-F238E27FC236}">
                <a16:creationId xmlns:a16="http://schemas.microsoft.com/office/drawing/2014/main" id="{8750118D-D620-4F2D-9A61-2A389D065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0650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37" name="Oval 85">
            <a:extLst>
              <a:ext uri="{FF2B5EF4-FFF2-40B4-BE49-F238E27FC236}">
                <a16:creationId xmlns:a16="http://schemas.microsoft.com/office/drawing/2014/main" id="{2B36FC69-C0BA-4235-93E1-5811D625F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1973263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38" name="Oval 86">
            <a:extLst>
              <a:ext uri="{FF2B5EF4-FFF2-40B4-BE49-F238E27FC236}">
                <a16:creationId xmlns:a16="http://schemas.microsoft.com/office/drawing/2014/main" id="{33FBEA1E-8DAB-45E0-A6BD-72548D16F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266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39" name="Text Box 45">
            <a:extLst>
              <a:ext uri="{FF2B5EF4-FFF2-40B4-BE49-F238E27FC236}">
                <a16:creationId xmlns:a16="http://schemas.microsoft.com/office/drawing/2014/main" id="{1AEC47B3-8C62-457E-9C15-26C72D47E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838" y="255428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</a:p>
        </p:txBody>
      </p:sp>
      <p:sp>
        <p:nvSpPr>
          <p:cNvPr id="75830" name="Rectangle 113">
            <a:extLst>
              <a:ext uri="{FF2B5EF4-FFF2-40B4-BE49-F238E27FC236}">
                <a16:creationId xmlns:a16="http://schemas.microsoft.com/office/drawing/2014/main" id="{51BA3676-0096-47C9-B977-CF7D24A88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2105025"/>
            <a:ext cx="2794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9141" name="Rectangle 77">
            <a:extLst>
              <a:ext uri="{FF2B5EF4-FFF2-40B4-BE49-F238E27FC236}">
                <a16:creationId xmlns:a16="http://schemas.microsoft.com/office/drawing/2014/main" id="{D5531997-3A84-44EA-9BC9-BD9481149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884363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42" name="Rectangle 76">
            <a:extLst>
              <a:ext uri="{FF2B5EF4-FFF2-40B4-BE49-F238E27FC236}">
                <a16:creationId xmlns:a16="http://schemas.microsoft.com/office/drawing/2014/main" id="{59FC41B3-78C4-490D-9BAE-6838B2983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1889125"/>
            <a:ext cx="89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43" name="Line 17">
            <a:extLst>
              <a:ext uri="{FF2B5EF4-FFF2-40B4-BE49-F238E27FC236}">
                <a16:creationId xmlns:a16="http://schemas.microsoft.com/office/drawing/2014/main" id="{A0862D04-506B-466A-B41B-6C96154ADD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653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44" name="Line 24">
            <a:extLst>
              <a:ext uri="{FF2B5EF4-FFF2-40B4-BE49-F238E27FC236}">
                <a16:creationId xmlns:a16="http://schemas.microsoft.com/office/drawing/2014/main" id="{669FE7E5-1AD9-4502-82F8-CAF5F04068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12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45" name="Line 25">
            <a:extLst>
              <a:ext uri="{FF2B5EF4-FFF2-40B4-BE49-F238E27FC236}">
                <a16:creationId xmlns:a16="http://schemas.microsoft.com/office/drawing/2014/main" id="{C73531CD-9D6F-4721-A964-246A67B37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18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46" name="Text Box 29">
            <a:extLst>
              <a:ext uri="{FF2B5EF4-FFF2-40B4-BE49-F238E27FC236}">
                <a16:creationId xmlns:a16="http://schemas.microsoft.com/office/drawing/2014/main" id="{07856FCF-7F30-4001-A16A-A7AA0FB23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913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</a:p>
        </p:txBody>
      </p:sp>
      <p:sp>
        <p:nvSpPr>
          <p:cNvPr id="89147" name="Text Box 74">
            <a:extLst>
              <a:ext uri="{FF2B5EF4-FFF2-40B4-BE49-F238E27FC236}">
                <a16:creationId xmlns:a16="http://schemas.microsoft.com/office/drawing/2014/main" id="{A42F4144-EB9F-4D84-947F-E2C1D7E3D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0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7</a:t>
            </a:r>
          </a:p>
        </p:txBody>
      </p:sp>
      <p:sp>
        <p:nvSpPr>
          <p:cNvPr id="89148" name="Oval 84">
            <a:extLst>
              <a:ext uri="{FF2B5EF4-FFF2-40B4-BE49-F238E27FC236}">
                <a16:creationId xmlns:a16="http://schemas.microsoft.com/office/drawing/2014/main" id="{91A6509F-DEA2-4D8D-9DCF-ACAD6279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513" y="2193925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49" name="Oval 86">
            <a:extLst>
              <a:ext uri="{FF2B5EF4-FFF2-40B4-BE49-F238E27FC236}">
                <a16:creationId xmlns:a16="http://schemas.microsoft.com/office/drawing/2014/main" id="{45E26767-8B0A-456F-95B7-3DDA31422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19764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50" name="AutoShape 8">
            <a:extLst>
              <a:ext uri="{FF2B5EF4-FFF2-40B4-BE49-F238E27FC236}">
                <a16:creationId xmlns:a16="http://schemas.microsoft.com/office/drawing/2014/main" id="{EAF86D78-F5D0-4EFD-BF06-459D09B90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1612900"/>
            <a:ext cx="1630363" cy="261938"/>
          </a:xfrm>
          <a:prstGeom prst="parallelogram">
            <a:avLst>
              <a:gd name="adj" fmla="val 15560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51" name="Freeform 10">
            <a:extLst>
              <a:ext uri="{FF2B5EF4-FFF2-40B4-BE49-F238E27FC236}">
                <a16:creationId xmlns:a16="http://schemas.microsoft.com/office/drawing/2014/main" id="{88083961-3157-4807-A40D-F42AD3864DB0}"/>
              </a:ext>
            </a:extLst>
          </p:cNvPr>
          <p:cNvSpPr>
            <a:spLocks/>
          </p:cNvSpPr>
          <p:nvPr/>
        </p:nvSpPr>
        <p:spPr bwMode="auto">
          <a:xfrm>
            <a:off x="6154738" y="1657350"/>
            <a:ext cx="1184275" cy="166688"/>
          </a:xfrm>
          <a:custGeom>
            <a:avLst/>
            <a:gdLst>
              <a:gd name="T0" fmla="*/ 0 w 678"/>
              <a:gd name="T1" fmla="*/ 2147483646 h 110"/>
              <a:gd name="T2" fmla="*/ 2147483646 w 678"/>
              <a:gd name="T3" fmla="*/ 2147483646 h 110"/>
              <a:gd name="T4" fmla="*/ 2147483646 w 678"/>
              <a:gd name="T5" fmla="*/ 0 h 110"/>
              <a:gd name="T6" fmla="*/ 2147483646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52" name="Freeform 10">
            <a:extLst>
              <a:ext uri="{FF2B5EF4-FFF2-40B4-BE49-F238E27FC236}">
                <a16:creationId xmlns:a16="http://schemas.microsoft.com/office/drawing/2014/main" id="{6FEE50E5-F8F6-4CAF-B6A1-5A76A92CADD4}"/>
              </a:ext>
            </a:extLst>
          </p:cNvPr>
          <p:cNvSpPr>
            <a:spLocks/>
          </p:cNvSpPr>
          <p:nvPr/>
        </p:nvSpPr>
        <p:spPr bwMode="auto">
          <a:xfrm flipV="1">
            <a:off x="6354763" y="1657350"/>
            <a:ext cx="873125" cy="166688"/>
          </a:xfrm>
          <a:custGeom>
            <a:avLst/>
            <a:gdLst>
              <a:gd name="T0" fmla="*/ 0 w 678"/>
              <a:gd name="T1" fmla="*/ 2147483646 h 110"/>
              <a:gd name="T2" fmla="*/ 2147483646 w 678"/>
              <a:gd name="T3" fmla="*/ 2147483646 h 110"/>
              <a:gd name="T4" fmla="*/ 2147483646 w 678"/>
              <a:gd name="T5" fmla="*/ 0 h 110"/>
              <a:gd name="T6" fmla="*/ 2147483646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zh-CN" altLang="en-US"/>
          </a:p>
        </p:txBody>
      </p:sp>
      <p:sp>
        <p:nvSpPr>
          <p:cNvPr id="89153" name="Freeform 131">
            <a:extLst>
              <a:ext uri="{FF2B5EF4-FFF2-40B4-BE49-F238E27FC236}">
                <a16:creationId xmlns:a16="http://schemas.microsoft.com/office/drawing/2014/main" id="{72757892-5126-4D49-9FA8-2F6A7C69A50F}"/>
              </a:ext>
            </a:extLst>
          </p:cNvPr>
          <p:cNvSpPr>
            <a:spLocks/>
          </p:cNvSpPr>
          <p:nvPr/>
        </p:nvSpPr>
        <p:spPr bwMode="auto">
          <a:xfrm>
            <a:off x="7180263" y="1611313"/>
            <a:ext cx="419100" cy="723900"/>
          </a:xfrm>
          <a:custGeom>
            <a:avLst/>
            <a:gdLst>
              <a:gd name="T0" fmla="*/ 2147483646 w 264"/>
              <a:gd name="T1" fmla="*/ 0 h 456"/>
              <a:gd name="T2" fmla="*/ 2147483646 w 264"/>
              <a:gd name="T3" fmla="*/ 2147483646 h 456"/>
              <a:gd name="T4" fmla="*/ 0 w 264"/>
              <a:gd name="T5" fmla="*/ 2147483646 h 4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4" h="456">
                <a:moveTo>
                  <a:pt x="264" y="0"/>
                </a:moveTo>
                <a:lnTo>
                  <a:pt x="262" y="248"/>
                </a:lnTo>
                <a:lnTo>
                  <a:pt x="0" y="45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154" name="Freeform 132">
            <a:extLst>
              <a:ext uri="{FF2B5EF4-FFF2-40B4-BE49-F238E27FC236}">
                <a16:creationId xmlns:a16="http://schemas.microsoft.com/office/drawing/2014/main" id="{5222B94F-3116-40C7-8838-7BEF2C0FF9E8}"/>
              </a:ext>
            </a:extLst>
          </p:cNvPr>
          <p:cNvSpPr>
            <a:spLocks/>
          </p:cNvSpPr>
          <p:nvPr/>
        </p:nvSpPr>
        <p:spPr bwMode="auto">
          <a:xfrm>
            <a:off x="5969000" y="1868488"/>
            <a:ext cx="1209675" cy="481012"/>
          </a:xfrm>
          <a:custGeom>
            <a:avLst/>
            <a:gdLst>
              <a:gd name="T0" fmla="*/ 0 w 762"/>
              <a:gd name="T1" fmla="*/ 2147483646 h 303"/>
              <a:gd name="T2" fmla="*/ 0 w 762"/>
              <a:gd name="T3" fmla="*/ 2147483646 h 303"/>
              <a:gd name="T4" fmla="*/ 2147483646 w 762"/>
              <a:gd name="T5" fmla="*/ 2147483646 h 303"/>
              <a:gd name="T6" fmla="*/ 2147483646 w 762"/>
              <a:gd name="T7" fmla="*/ 0 h 3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62" h="303">
                <a:moveTo>
                  <a:pt x="0" y="3"/>
                </a:moveTo>
                <a:lnTo>
                  <a:pt x="0" y="303"/>
                </a:lnTo>
                <a:lnTo>
                  <a:pt x="762" y="303"/>
                </a:lnTo>
                <a:lnTo>
                  <a:pt x="762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845" name="Line 133">
            <a:extLst>
              <a:ext uri="{FF2B5EF4-FFF2-40B4-BE49-F238E27FC236}">
                <a16:creationId xmlns:a16="http://schemas.microsoft.com/office/drawing/2014/main" id="{FEE17B37-3371-4127-AA56-9915AD6B82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9000" y="2092325"/>
            <a:ext cx="12192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/>
          </a:p>
        </p:txBody>
      </p:sp>
      <p:sp>
        <p:nvSpPr>
          <p:cNvPr id="89156" name="Line 69">
            <a:extLst>
              <a:ext uri="{FF2B5EF4-FFF2-40B4-BE49-F238E27FC236}">
                <a16:creationId xmlns:a16="http://schemas.microsoft.com/office/drawing/2014/main" id="{1A096252-9004-4129-8E8F-4BD9E37CA9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3288" y="2216150"/>
            <a:ext cx="165100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57" name="Line 70">
            <a:extLst>
              <a:ext uri="{FF2B5EF4-FFF2-40B4-BE49-F238E27FC236}">
                <a16:creationId xmlns:a16="http://schemas.microsoft.com/office/drawing/2014/main" id="{DE8B27C7-0639-4459-8FD9-8CE8E64AE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8900" y="1990725"/>
            <a:ext cx="179388" cy="627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58" name="Line 71">
            <a:extLst>
              <a:ext uri="{FF2B5EF4-FFF2-40B4-BE49-F238E27FC236}">
                <a16:creationId xmlns:a16="http://schemas.microsoft.com/office/drawing/2014/main" id="{13241955-1806-4168-B31B-519C59F16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9288" y="1987550"/>
            <a:ext cx="509587" cy="455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59" name="Oval 85">
            <a:extLst>
              <a:ext uri="{FF2B5EF4-FFF2-40B4-BE49-F238E27FC236}">
                <a16:creationId xmlns:a16="http://schemas.microsoft.com/office/drawing/2014/main" id="{2E18408F-2B3D-4A5E-A751-0E0C48B3F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61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160" name="Text Box 27">
            <a:extLst>
              <a:ext uri="{FF2B5EF4-FFF2-40B4-BE49-F238E27FC236}">
                <a16:creationId xmlns:a16="http://schemas.microsoft.com/office/drawing/2014/main" id="{C69715D3-FED8-427C-856E-7DDB1D017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525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3</a:t>
            </a:r>
          </a:p>
        </p:txBody>
      </p:sp>
      <p:sp>
        <p:nvSpPr>
          <p:cNvPr id="75851" name="Rectangle 158">
            <a:extLst>
              <a:ext uri="{FF2B5EF4-FFF2-40B4-BE49-F238E27FC236}">
                <a16:creationId xmlns:a16="http://schemas.microsoft.com/office/drawing/2014/main" id="{232A0D27-A38F-4C6D-AEA6-D895E50C9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1885950"/>
            <a:ext cx="280988" cy="204788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9162" name="Text Box 73">
            <a:extLst>
              <a:ext uri="{FF2B5EF4-FFF2-40B4-BE49-F238E27FC236}">
                <a16:creationId xmlns:a16="http://schemas.microsoft.com/office/drawing/2014/main" id="{CDC5D419-C5A3-4EE9-995B-B80832077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8325" y="3124200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Ports 2,3,5 belong to EE VLAN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Ports 4,6,7,8 belong to CS VLAN</a:t>
            </a:r>
          </a:p>
        </p:txBody>
      </p:sp>
      <p:sp>
        <p:nvSpPr>
          <p:cNvPr id="89163" name="Text Box 27">
            <a:extLst>
              <a:ext uri="{FF2B5EF4-FFF2-40B4-BE49-F238E27FC236}">
                <a16:creationId xmlns:a16="http://schemas.microsoft.com/office/drawing/2014/main" id="{B97AF838-109D-4F86-9A1C-E4194DA91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3513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5</a:t>
            </a:r>
          </a:p>
        </p:txBody>
      </p:sp>
      <p:sp>
        <p:nvSpPr>
          <p:cNvPr id="89164" name="Text Box 27">
            <a:extLst>
              <a:ext uri="{FF2B5EF4-FFF2-40B4-BE49-F238E27FC236}">
                <a16:creationId xmlns:a16="http://schemas.microsoft.com/office/drawing/2014/main" id="{59B7B234-56E0-404C-9B24-293571F05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4</a:t>
            </a:r>
          </a:p>
        </p:txBody>
      </p:sp>
      <p:sp>
        <p:nvSpPr>
          <p:cNvPr id="89165" name="Text Box 27">
            <a:extLst>
              <a:ext uri="{FF2B5EF4-FFF2-40B4-BE49-F238E27FC236}">
                <a16:creationId xmlns:a16="http://schemas.microsoft.com/office/drawing/2014/main" id="{5F21980B-C11E-4861-BD17-0E445AC25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3513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6</a:t>
            </a:r>
          </a:p>
        </p:txBody>
      </p:sp>
      <p:sp>
        <p:nvSpPr>
          <p:cNvPr id="89166" name="Text Box 27">
            <a:extLst>
              <a:ext uri="{FF2B5EF4-FFF2-40B4-BE49-F238E27FC236}">
                <a16:creationId xmlns:a16="http://schemas.microsoft.com/office/drawing/2014/main" id="{3DF86838-C343-4BE7-8568-92716FDA0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550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8</a:t>
            </a:r>
          </a:p>
        </p:txBody>
      </p:sp>
      <p:grpSp>
        <p:nvGrpSpPr>
          <p:cNvPr id="692394" name="Group 170">
            <a:extLst>
              <a:ext uri="{FF2B5EF4-FFF2-40B4-BE49-F238E27FC236}">
                <a16:creationId xmlns:a16="http://schemas.microsoft.com/office/drawing/2014/main" id="{89CC736A-CD25-49FB-994F-9FEC699A7FAD}"/>
              </a:ext>
            </a:extLst>
          </p:cNvPr>
          <p:cNvGrpSpPr>
            <a:grpSpLocks/>
          </p:cNvGrpSpPr>
          <p:nvPr/>
        </p:nvGrpSpPr>
        <p:grpSpPr bwMode="auto">
          <a:xfrm>
            <a:off x="3327400" y="1835150"/>
            <a:ext cx="2836863" cy="427038"/>
            <a:chOff x="2096" y="1156"/>
            <a:chExt cx="1787" cy="269"/>
          </a:xfrm>
        </p:grpSpPr>
        <p:sp>
          <p:nvSpPr>
            <p:cNvPr id="89197" name="Oval 85">
              <a:extLst>
                <a:ext uri="{FF2B5EF4-FFF2-40B4-BE49-F238E27FC236}">
                  <a16:creationId xmlns:a16="http://schemas.microsoft.com/office/drawing/2014/main" id="{09056688-4701-4695-AB01-57BA8D850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" y="1381"/>
              <a:ext cx="27" cy="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9198" name="Group 169">
              <a:extLst>
                <a:ext uri="{FF2B5EF4-FFF2-40B4-BE49-F238E27FC236}">
                  <a16:creationId xmlns:a16="http://schemas.microsoft.com/office/drawing/2014/main" id="{180C3EAC-9415-4EF5-A181-C8D15D61BB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6" y="1156"/>
              <a:ext cx="1787" cy="269"/>
              <a:chOff x="2096" y="1156"/>
              <a:chExt cx="1787" cy="269"/>
            </a:xfrm>
          </p:grpSpPr>
          <p:sp>
            <p:nvSpPr>
              <p:cNvPr id="89199" name="Text Box 28">
                <a:extLst>
                  <a:ext uri="{FF2B5EF4-FFF2-40B4-BE49-F238E27FC236}">
                    <a16:creationId xmlns:a16="http://schemas.microsoft.com/office/drawing/2014/main" id="{E8B11036-1D83-40E3-B3B7-280EF50D49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00">
                    <a:solidFill>
                      <a:srgbClr val="FF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16</a:t>
                </a:r>
              </a:p>
            </p:txBody>
          </p:sp>
          <p:sp>
            <p:nvSpPr>
              <p:cNvPr id="89200" name="Text Box 27">
                <a:extLst>
                  <a:ext uri="{FF2B5EF4-FFF2-40B4-BE49-F238E27FC236}">
                    <a16:creationId xmlns:a16="http://schemas.microsoft.com/office/drawing/2014/main" id="{F18BE8CF-E71A-4D49-B390-49B2D0F739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1" y="1156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800">
                    <a:solidFill>
                      <a:srgbClr val="FF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1</a:t>
                </a:r>
              </a:p>
            </p:txBody>
          </p:sp>
          <p:sp>
            <p:nvSpPr>
              <p:cNvPr id="89201" name="Oval 85">
                <a:extLst>
                  <a:ext uri="{FF2B5EF4-FFF2-40B4-BE49-F238E27FC236}">
                    <a16:creationId xmlns:a16="http://schemas.microsoft.com/office/drawing/2014/main" id="{10641232-205F-41B8-B1C9-1E3865091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202" name="Freeform 168">
                <a:extLst>
                  <a:ext uri="{FF2B5EF4-FFF2-40B4-BE49-F238E27FC236}">
                    <a16:creationId xmlns:a16="http://schemas.microsoft.com/office/drawing/2014/main" id="{E47D80E5-2B1B-4BC3-9231-562F92A37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260"/>
                <a:ext cx="1644" cy="135"/>
              </a:xfrm>
              <a:custGeom>
                <a:avLst/>
                <a:gdLst>
                  <a:gd name="T0" fmla="*/ 0 w 1644"/>
                  <a:gd name="T1" fmla="*/ 135 h 135"/>
                  <a:gd name="T2" fmla="*/ 852 w 1644"/>
                  <a:gd name="T3" fmla="*/ 132 h 135"/>
                  <a:gd name="T4" fmla="*/ 1050 w 1644"/>
                  <a:gd name="T5" fmla="*/ 0 h 135"/>
                  <a:gd name="T6" fmla="*/ 1644 w 1644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44" h="135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89168" name="Group 44">
            <a:extLst>
              <a:ext uri="{FF2B5EF4-FFF2-40B4-BE49-F238E27FC236}">
                <a16:creationId xmlns:a16="http://schemas.microsoft.com/office/drawing/2014/main" id="{7A8BF774-1C4C-496A-A8C4-0B09EA647947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2316163"/>
            <a:ext cx="538163" cy="558800"/>
            <a:chOff x="-44" y="1473"/>
            <a:chExt cx="981" cy="1105"/>
          </a:xfrm>
        </p:grpSpPr>
        <p:pic>
          <p:nvPicPr>
            <p:cNvPr id="89195" name="Picture 45" descr="desktop_computer_stylized_medium">
              <a:extLst>
                <a:ext uri="{FF2B5EF4-FFF2-40B4-BE49-F238E27FC236}">
                  <a16:creationId xmlns:a16="http://schemas.microsoft.com/office/drawing/2014/main" id="{1EE7F6F6-63CA-45C8-96BA-14B9889399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196" name="Freeform 46">
              <a:extLst>
                <a:ext uri="{FF2B5EF4-FFF2-40B4-BE49-F238E27FC236}">
                  <a16:creationId xmlns:a16="http://schemas.microsoft.com/office/drawing/2014/main" id="{384339B7-5DDB-475F-956C-17824CA679F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9169" name="Group 44">
            <a:extLst>
              <a:ext uri="{FF2B5EF4-FFF2-40B4-BE49-F238E27FC236}">
                <a16:creationId xmlns:a16="http://schemas.microsoft.com/office/drawing/2014/main" id="{43957E4B-5A06-4B87-B733-37AB37B2678D}"/>
              </a:ext>
            </a:extLst>
          </p:cNvPr>
          <p:cNvGrpSpPr>
            <a:grpSpLocks/>
          </p:cNvGrpSpPr>
          <p:nvPr/>
        </p:nvGrpSpPr>
        <p:grpSpPr bwMode="auto">
          <a:xfrm>
            <a:off x="619125" y="2519363"/>
            <a:ext cx="539750" cy="558800"/>
            <a:chOff x="-44" y="1473"/>
            <a:chExt cx="981" cy="1105"/>
          </a:xfrm>
        </p:grpSpPr>
        <p:pic>
          <p:nvPicPr>
            <p:cNvPr id="89193" name="Picture 45" descr="desktop_computer_stylized_medium">
              <a:extLst>
                <a:ext uri="{FF2B5EF4-FFF2-40B4-BE49-F238E27FC236}">
                  <a16:creationId xmlns:a16="http://schemas.microsoft.com/office/drawing/2014/main" id="{2D9B0A62-2212-4A6C-B897-1DF6EF1DD2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194" name="Freeform 46">
              <a:extLst>
                <a:ext uri="{FF2B5EF4-FFF2-40B4-BE49-F238E27FC236}">
                  <a16:creationId xmlns:a16="http://schemas.microsoft.com/office/drawing/2014/main" id="{F10FA648-F1DA-4039-BAA9-FFFFCA51951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9170" name="Group 44">
            <a:extLst>
              <a:ext uri="{FF2B5EF4-FFF2-40B4-BE49-F238E27FC236}">
                <a16:creationId xmlns:a16="http://schemas.microsoft.com/office/drawing/2014/main" id="{5AD50EE4-266F-4BFE-8B37-0575197805E7}"/>
              </a:ext>
            </a:extLst>
          </p:cNvPr>
          <p:cNvGrpSpPr>
            <a:grpSpLocks/>
          </p:cNvGrpSpPr>
          <p:nvPr/>
        </p:nvGrpSpPr>
        <p:grpSpPr bwMode="auto">
          <a:xfrm>
            <a:off x="1290638" y="2479675"/>
            <a:ext cx="538162" cy="558800"/>
            <a:chOff x="-44" y="1473"/>
            <a:chExt cx="981" cy="1105"/>
          </a:xfrm>
        </p:grpSpPr>
        <p:pic>
          <p:nvPicPr>
            <p:cNvPr id="89191" name="Picture 45" descr="desktop_computer_stylized_medium">
              <a:extLst>
                <a:ext uri="{FF2B5EF4-FFF2-40B4-BE49-F238E27FC236}">
                  <a16:creationId xmlns:a16="http://schemas.microsoft.com/office/drawing/2014/main" id="{98807D94-E740-4F42-9754-716ADCAF83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192" name="Freeform 46">
              <a:extLst>
                <a:ext uri="{FF2B5EF4-FFF2-40B4-BE49-F238E27FC236}">
                  <a16:creationId xmlns:a16="http://schemas.microsoft.com/office/drawing/2014/main" id="{4892F641-0466-44E6-9897-8D7311A9EE0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9171" name="Group 44">
            <a:extLst>
              <a:ext uri="{FF2B5EF4-FFF2-40B4-BE49-F238E27FC236}">
                <a16:creationId xmlns:a16="http://schemas.microsoft.com/office/drawing/2014/main" id="{B8E6A75F-03F1-4FAC-AB5E-369CB59E50B3}"/>
              </a:ext>
            </a:extLst>
          </p:cNvPr>
          <p:cNvGrpSpPr>
            <a:grpSpLocks/>
          </p:cNvGrpSpPr>
          <p:nvPr/>
        </p:nvGrpSpPr>
        <p:grpSpPr bwMode="auto">
          <a:xfrm>
            <a:off x="2417763" y="2498725"/>
            <a:ext cx="538162" cy="558800"/>
            <a:chOff x="-44" y="1473"/>
            <a:chExt cx="981" cy="1105"/>
          </a:xfrm>
        </p:grpSpPr>
        <p:pic>
          <p:nvPicPr>
            <p:cNvPr id="89189" name="Picture 45" descr="desktop_computer_stylized_medium">
              <a:extLst>
                <a:ext uri="{FF2B5EF4-FFF2-40B4-BE49-F238E27FC236}">
                  <a16:creationId xmlns:a16="http://schemas.microsoft.com/office/drawing/2014/main" id="{FF9DA360-BB3A-4880-81BC-F3E891E749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190" name="Freeform 46">
              <a:extLst>
                <a:ext uri="{FF2B5EF4-FFF2-40B4-BE49-F238E27FC236}">
                  <a16:creationId xmlns:a16="http://schemas.microsoft.com/office/drawing/2014/main" id="{E58BBD96-7832-4780-ADF2-F708CC8CE2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9172" name="Group 44">
            <a:extLst>
              <a:ext uri="{FF2B5EF4-FFF2-40B4-BE49-F238E27FC236}">
                <a16:creationId xmlns:a16="http://schemas.microsoft.com/office/drawing/2014/main" id="{C1F5FD05-606D-40EF-9793-6955ECBC7DDB}"/>
              </a:ext>
            </a:extLst>
          </p:cNvPr>
          <p:cNvGrpSpPr>
            <a:grpSpLocks/>
          </p:cNvGrpSpPr>
          <p:nvPr/>
        </p:nvGrpSpPr>
        <p:grpSpPr bwMode="auto">
          <a:xfrm>
            <a:off x="2854325" y="2479675"/>
            <a:ext cx="539750" cy="558800"/>
            <a:chOff x="-44" y="1473"/>
            <a:chExt cx="981" cy="1105"/>
          </a:xfrm>
        </p:grpSpPr>
        <p:pic>
          <p:nvPicPr>
            <p:cNvPr id="89187" name="Picture 45" descr="desktop_computer_stylized_medium">
              <a:extLst>
                <a:ext uri="{FF2B5EF4-FFF2-40B4-BE49-F238E27FC236}">
                  <a16:creationId xmlns:a16="http://schemas.microsoft.com/office/drawing/2014/main" id="{7A14AD17-7D9D-4301-8833-7A2D32044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188" name="Freeform 46">
              <a:extLst>
                <a:ext uri="{FF2B5EF4-FFF2-40B4-BE49-F238E27FC236}">
                  <a16:creationId xmlns:a16="http://schemas.microsoft.com/office/drawing/2014/main" id="{668CF89C-D17F-4F49-8FA9-1D36F4D2228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9173" name="Group 44">
            <a:extLst>
              <a:ext uri="{FF2B5EF4-FFF2-40B4-BE49-F238E27FC236}">
                <a16:creationId xmlns:a16="http://schemas.microsoft.com/office/drawing/2014/main" id="{520CE73B-B9B8-4C23-85DA-870CED76DCE7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2327275"/>
            <a:ext cx="538163" cy="558800"/>
            <a:chOff x="-44" y="1473"/>
            <a:chExt cx="981" cy="1105"/>
          </a:xfrm>
        </p:grpSpPr>
        <p:pic>
          <p:nvPicPr>
            <p:cNvPr id="89185" name="Picture 45" descr="desktop_computer_stylized_medium">
              <a:extLst>
                <a:ext uri="{FF2B5EF4-FFF2-40B4-BE49-F238E27FC236}">
                  <a16:creationId xmlns:a16="http://schemas.microsoft.com/office/drawing/2014/main" id="{B8E1E68D-5422-4E49-842A-F8E1EAB2D4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186" name="Freeform 46">
              <a:extLst>
                <a:ext uri="{FF2B5EF4-FFF2-40B4-BE49-F238E27FC236}">
                  <a16:creationId xmlns:a16="http://schemas.microsoft.com/office/drawing/2014/main" id="{B6292E63-7E64-4895-9327-FC5A489DC7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9174" name="Group 44">
            <a:extLst>
              <a:ext uri="{FF2B5EF4-FFF2-40B4-BE49-F238E27FC236}">
                <a16:creationId xmlns:a16="http://schemas.microsoft.com/office/drawing/2014/main" id="{5C33605F-DEED-4E83-B697-5F039316FC9E}"/>
              </a:ext>
            </a:extLst>
          </p:cNvPr>
          <p:cNvGrpSpPr>
            <a:grpSpLocks/>
          </p:cNvGrpSpPr>
          <p:nvPr/>
        </p:nvGrpSpPr>
        <p:grpSpPr bwMode="auto">
          <a:xfrm>
            <a:off x="5557838" y="2428875"/>
            <a:ext cx="538162" cy="558800"/>
            <a:chOff x="-44" y="1473"/>
            <a:chExt cx="981" cy="1105"/>
          </a:xfrm>
        </p:grpSpPr>
        <p:pic>
          <p:nvPicPr>
            <p:cNvPr id="89183" name="Picture 45" descr="desktop_computer_stylized_medium">
              <a:extLst>
                <a:ext uri="{FF2B5EF4-FFF2-40B4-BE49-F238E27FC236}">
                  <a16:creationId xmlns:a16="http://schemas.microsoft.com/office/drawing/2014/main" id="{7B879252-67B5-40BB-ABD3-EF1C8B4276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184" name="Freeform 46">
              <a:extLst>
                <a:ext uri="{FF2B5EF4-FFF2-40B4-BE49-F238E27FC236}">
                  <a16:creationId xmlns:a16="http://schemas.microsoft.com/office/drawing/2014/main" id="{E680DD59-D8E6-434B-B319-1A2123B8DCC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9175" name="Group 44">
            <a:extLst>
              <a:ext uri="{FF2B5EF4-FFF2-40B4-BE49-F238E27FC236}">
                <a16:creationId xmlns:a16="http://schemas.microsoft.com/office/drawing/2014/main" id="{1EFD32F4-E4DA-4CD0-A7FB-862B73460795}"/>
              </a:ext>
            </a:extLst>
          </p:cNvPr>
          <p:cNvGrpSpPr>
            <a:grpSpLocks/>
          </p:cNvGrpSpPr>
          <p:nvPr/>
        </p:nvGrpSpPr>
        <p:grpSpPr bwMode="auto">
          <a:xfrm>
            <a:off x="7183438" y="2357438"/>
            <a:ext cx="538162" cy="558800"/>
            <a:chOff x="-44" y="1473"/>
            <a:chExt cx="981" cy="1105"/>
          </a:xfrm>
        </p:grpSpPr>
        <p:pic>
          <p:nvPicPr>
            <p:cNvPr id="89181" name="Picture 45" descr="desktop_computer_stylized_medium">
              <a:extLst>
                <a:ext uri="{FF2B5EF4-FFF2-40B4-BE49-F238E27FC236}">
                  <a16:creationId xmlns:a16="http://schemas.microsoft.com/office/drawing/2014/main" id="{1F502ABB-14A9-4C1D-87FA-DA6CC9B76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182" name="Freeform 46">
              <a:extLst>
                <a:ext uri="{FF2B5EF4-FFF2-40B4-BE49-F238E27FC236}">
                  <a16:creationId xmlns:a16="http://schemas.microsoft.com/office/drawing/2014/main" id="{9C4E76BE-3170-4048-85BF-8775F105D10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9176" name="Group 44">
            <a:extLst>
              <a:ext uri="{FF2B5EF4-FFF2-40B4-BE49-F238E27FC236}">
                <a16:creationId xmlns:a16="http://schemas.microsoft.com/office/drawing/2014/main" id="{07AFFECF-EBC1-4D64-9A7D-CA7041221158}"/>
              </a:ext>
            </a:extLst>
          </p:cNvPr>
          <p:cNvGrpSpPr>
            <a:grpSpLocks/>
          </p:cNvGrpSpPr>
          <p:nvPr/>
        </p:nvGrpSpPr>
        <p:grpSpPr bwMode="auto">
          <a:xfrm>
            <a:off x="6257925" y="2438400"/>
            <a:ext cx="539750" cy="558800"/>
            <a:chOff x="-44" y="1473"/>
            <a:chExt cx="981" cy="1105"/>
          </a:xfrm>
        </p:grpSpPr>
        <p:pic>
          <p:nvPicPr>
            <p:cNvPr id="89179" name="Picture 45" descr="desktop_computer_stylized_medium">
              <a:extLst>
                <a:ext uri="{FF2B5EF4-FFF2-40B4-BE49-F238E27FC236}">
                  <a16:creationId xmlns:a16="http://schemas.microsoft.com/office/drawing/2014/main" id="{983A22A4-7BF0-4980-8CA9-B47C175E7C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180" name="Freeform 46">
              <a:extLst>
                <a:ext uri="{FF2B5EF4-FFF2-40B4-BE49-F238E27FC236}">
                  <a16:creationId xmlns:a16="http://schemas.microsoft.com/office/drawing/2014/main" id="{3CC2FED1-D55A-4BB5-B769-0BF55BD0E7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9178" name="灯片编号占位符 5">
            <a:extLst>
              <a:ext uri="{FF2B5EF4-FFF2-40B4-BE49-F238E27FC236}">
                <a16:creationId xmlns:a16="http://schemas.microsoft.com/office/drawing/2014/main" id="{D17DFD5F-3463-4CE0-95A5-AF198B7B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8F94F1F8-ACF0-443D-A73F-44311B1FB8C9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9">
            <a:extLst>
              <a:ext uri="{FF2B5EF4-FFF2-40B4-BE49-F238E27FC236}">
                <a16:creationId xmlns:a16="http://schemas.microsoft.com/office/drawing/2014/main" id="{0FBBF16D-01EF-403E-A1E1-E74BE273E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1428750"/>
            <a:ext cx="4746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type</a:t>
            </a:r>
          </a:p>
        </p:txBody>
      </p:sp>
      <p:sp>
        <p:nvSpPr>
          <p:cNvPr id="90115" name="Line 10">
            <a:extLst>
              <a:ext uri="{FF2B5EF4-FFF2-40B4-BE49-F238E27FC236}">
                <a16:creationId xmlns:a16="http://schemas.microsoft.com/office/drawing/2014/main" id="{48365549-6923-466C-8B19-56F30E5E0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175" y="163671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6" name="Line 31">
            <a:extLst>
              <a:ext uri="{FF2B5EF4-FFF2-40B4-BE49-F238E27FC236}">
                <a16:creationId xmlns:a16="http://schemas.microsoft.com/office/drawing/2014/main" id="{F44207E7-9953-4CF4-AE11-7CF67B621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0125" y="2200275"/>
            <a:ext cx="0" cy="771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7" name="Line 34">
            <a:extLst>
              <a:ext uri="{FF2B5EF4-FFF2-40B4-BE49-F238E27FC236}">
                <a16:creationId xmlns:a16="http://schemas.microsoft.com/office/drawing/2014/main" id="{BD0ECD8D-268F-4512-A865-4CE4569CF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4238" y="2171700"/>
            <a:ext cx="0" cy="771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8" name="Line 36">
            <a:extLst>
              <a:ext uri="{FF2B5EF4-FFF2-40B4-BE49-F238E27FC236}">
                <a16:creationId xmlns:a16="http://schemas.microsoft.com/office/drawing/2014/main" id="{4A81B693-A67E-4F9E-B07A-A0E8308B0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7575" y="2176463"/>
            <a:ext cx="742950" cy="809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9" name="Line 37">
            <a:extLst>
              <a:ext uri="{FF2B5EF4-FFF2-40B4-BE49-F238E27FC236}">
                <a16:creationId xmlns:a16="http://schemas.microsoft.com/office/drawing/2014/main" id="{EA6613BD-4E32-4672-A9B8-32102F6633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7438" y="2185988"/>
            <a:ext cx="700087" cy="7953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0" name="Line 40">
            <a:extLst>
              <a:ext uri="{FF2B5EF4-FFF2-40B4-BE49-F238E27FC236}">
                <a16:creationId xmlns:a16="http://schemas.microsoft.com/office/drawing/2014/main" id="{1021D569-1F6B-4C9C-B5AC-FB76E49E7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328988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1" name="Rectangle 41">
            <a:extLst>
              <a:ext uri="{FF2B5EF4-FFF2-40B4-BE49-F238E27FC236}">
                <a16:creationId xmlns:a16="http://schemas.microsoft.com/office/drawing/2014/main" id="{27715E38-9D6F-4A84-BB53-439716FF3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4057650"/>
            <a:ext cx="25066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srgbClr val="000000"/>
                </a:solidFill>
                <a:latin typeface="Arial" panose="020B0604020202020204" pitchFamily="34" charset="0"/>
                <a:ea typeface="Gulim" panose="020B0600000101010101" pitchFamily="34" charset="-127"/>
              </a:rPr>
              <a:t>2-byte Tag Protocol Identifier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srgbClr val="000000"/>
                </a:solidFill>
                <a:latin typeface="Arial" panose="020B0604020202020204" pitchFamily="34" charset="0"/>
                <a:ea typeface="Gulim" panose="020B0600000101010101" pitchFamily="34" charset="-127"/>
              </a:rPr>
              <a:t>                        (value: 81-00) </a:t>
            </a:r>
          </a:p>
        </p:txBody>
      </p:sp>
      <p:sp>
        <p:nvSpPr>
          <p:cNvPr id="90122" name="Rectangle 42">
            <a:extLst>
              <a:ext uri="{FF2B5EF4-FFF2-40B4-BE49-F238E27FC236}">
                <a16:creationId xmlns:a16="http://schemas.microsoft.com/office/drawing/2014/main" id="{CAA283FE-F630-4DCE-BBC4-A48771C9F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5203825"/>
            <a:ext cx="3824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srgbClr val="000000"/>
                </a:solidFill>
                <a:latin typeface="Arial" panose="020B0604020202020204" pitchFamily="34" charset="0"/>
                <a:ea typeface="Gulim" panose="020B0600000101010101" pitchFamily="34" charset="-127"/>
              </a:rPr>
              <a:t>Tag Control Information (12 bit VLAN ID field,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srgbClr val="000000"/>
                </a:solidFill>
                <a:latin typeface="Arial" panose="020B0604020202020204" pitchFamily="34" charset="0"/>
                <a:ea typeface="Gulim" panose="020B0600000101010101" pitchFamily="34" charset="-127"/>
              </a:rPr>
              <a:t>                          3 bit priority field like IP TOS)</a:t>
            </a:r>
            <a:r>
              <a:rPr lang="en-US" altLang="ko-KR" sz="1800">
                <a:solidFill>
                  <a:srgbClr val="000000"/>
                </a:solidFill>
                <a:latin typeface="Arial" panose="020B0604020202020204" pitchFamily="34" charset="0"/>
                <a:ea typeface="Gulim" panose="020B0600000101010101" pitchFamily="34" charset="-127"/>
              </a:rPr>
              <a:t> </a:t>
            </a:r>
          </a:p>
        </p:txBody>
      </p:sp>
      <p:sp>
        <p:nvSpPr>
          <p:cNvPr id="90123" name="Line 43">
            <a:extLst>
              <a:ext uri="{FF2B5EF4-FFF2-40B4-BE49-F238E27FC236}">
                <a16:creationId xmlns:a16="http://schemas.microsoft.com/office/drawing/2014/main" id="{F9CC6534-C810-4E31-A7F5-F96FD318B7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3419475"/>
            <a:ext cx="9525" cy="1741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4" name="Line 44">
            <a:extLst>
              <a:ext uri="{FF2B5EF4-FFF2-40B4-BE49-F238E27FC236}">
                <a16:creationId xmlns:a16="http://schemas.microsoft.com/office/drawing/2014/main" id="{793C3B54-12E0-4462-827A-15EA019653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2725" y="3319463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5" name="Line 47">
            <a:extLst>
              <a:ext uri="{FF2B5EF4-FFF2-40B4-BE49-F238E27FC236}">
                <a16:creationId xmlns:a16="http://schemas.microsoft.com/office/drawing/2014/main" id="{1138FFF8-C806-407F-8D65-DE6DEC4C5E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67513" y="3076575"/>
            <a:ext cx="14287" cy="5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6" name="Rectangle 48">
            <a:extLst>
              <a:ext uri="{FF2B5EF4-FFF2-40B4-BE49-F238E27FC236}">
                <a16:creationId xmlns:a16="http://schemas.microsoft.com/office/drawing/2014/main" id="{841ECD84-00B4-41E3-A201-E1FE41C17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525" y="4175125"/>
            <a:ext cx="12382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srgbClr val="000000"/>
                </a:solidFill>
                <a:latin typeface="Arial" panose="020B0604020202020204" pitchFamily="34" charset="0"/>
                <a:ea typeface="Gulim" panose="020B0600000101010101" pitchFamily="34" charset="-127"/>
              </a:rPr>
              <a:t>Recomputed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solidFill>
                  <a:srgbClr val="000000"/>
                </a:solidFill>
                <a:latin typeface="Arial" panose="020B0604020202020204" pitchFamily="34" charset="0"/>
                <a:ea typeface="Gulim" panose="020B0600000101010101" pitchFamily="34" charset="-127"/>
              </a:rPr>
              <a:t>CRC</a:t>
            </a:r>
            <a:r>
              <a:rPr lang="en-US" altLang="ko-KR" sz="1800">
                <a:solidFill>
                  <a:srgbClr val="000000"/>
                </a:solidFill>
                <a:latin typeface="Arial" panose="020B0604020202020204" pitchFamily="34" charset="0"/>
                <a:ea typeface="Gulim" panose="020B0600000101010101" pitchFamily="34" charset="-127"/>
              </a:rPr>
              <a:t> </a:t>
            </a:r>
          </a:p>
        </p:txBody>
      </p:sp>
      <p:sp>
        <p:nvSpPr>
          <p:cNvPr id="76817" name="Rectangle 27">
            <a:extLst>
              <a:ext uri="{FF2B5EF4-FFF2-40B4-BE49-F238E27FC236}">
                <a16:creationId xmlns:a16="http://schemas.microsoft.com/office/drawing/2014/main" id="{206424FE-2C64-42F3-AFA7-ADAE99A32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3600" u="sng" dirty="0">
                <a:solidFill>
                  <a:schemeClr val="accent2"/>
                </a:solidFill>
                <a:latin typeface="+mj-lt"/>
                <a:ea typeface="宋体" pitchFamily="2" charset="-122"/>
                <a:cs typeface="+mj-cs"/>
              </a:rPr>
              <a:t>802.1Q VLAN frame format</a:t>
            </a:r>
          </a:p>
        </p:txBody>
      </p:sp>
      <p:sp>
        <p:nvSpPr>
          <p:cNvPr id="76818" name="Text Box 28">
            <a:extLst>
              <a:ext uri="{FF2B5EF4-FFF2-40B4-BE49-F238E27FC236}">
                <a16:creationId xmlns:a16="http://schemas.microsoft.com/office/drawing/2014/main" id="{739F1829-8F8D-4929-84D2-846D5007D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0888" y="1801813"/>
            <a:ext cx="15509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802.1 frame</a:t>
            </a:r>
          </a:p>
        </p:txBody>
      </p:sp>
      <p:sp>
        <p:nvSpPr>
          <p:cNvPr id="76819" name="Text Box 29">
            <a:extLst>
              <a:ext uri="{FF2B5EF4-FFF2-40B4-BE49-F238E27FC236}">
                <a16:creationId xmlns:a16="http://schemas.microsoft.com/office/drawing/2014/main" id="{FF927B9F-103B-4240-AD49-B756A5FBE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4063" y="2967038"/>
            <a:ext cx="1749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802.1Q frame</a:t>
            </a:r>
          </a:p>
        </p:txBody>
      </p:sp>
      <p:sp>
        <p:nvSpPr>
          <p:cNvPr id="90130" name="Rectangle 1">
            <a:extLst>
              <a:ext uri="{FF2B5EF4-FFF2-40B4-BE49-F238E27FC236}">
                <a16:creationId xmlns:a16="http://schemas.microsoft.com/office/drawing/2014/main" id="{66BDE3D6-5043-47C8-8C92-26A22FC85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1709738"/>
            <a:ext cx="5140325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cxnSp>
        <p:nvCxnSpPr>
          <p:cNvPr id="76822" name="Straight Connector 3">
            <a:extLst>
              <a:ext uri="{FF2B5EF4-FFF2-40B4-BE49-F238E27FC236}">
                <a16:creationId xmlns:a16="http://schemas.microsoft.com/office/drawing/2014/main" id="{7ABB8238-938D-4DF7-8551-C975011C598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58975" y="1700213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3" name="Straight Connector 32">
            <a:extLst>
              <a:ext uri="{FF2B5EF4-FFF2-40B4-BE49-F238E27FC236}">
                <a16:creationId xmlns:a16="http://schemas.microsoft.com/office/drawing/2014/main" id="{7603510D-F42C-4AD0-BB4E-DCCA38BC1B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89225" y="1703388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4" name="Straight Connector 33">
            <a:extLst>
              <a:ext uri="{FF2B5EF4-FFF2-40B4-BE49-F238E27FC236}">
                <a16:creationId xmlns:a16="http://schemas.microsoft.com/office/drawing/2014/main" id="{F18A78C0-C2CD-4FBD-9A32-84301C62E4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7888" y="1708150"/>
            <a:ext cx="0" cy="4270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5" name="Straight Connector 34">
            <a:extLst>
              <a:ext uri="{FF2B5EF4-FFF2-40B4-BE49-F238E27FC236}">
                <a16:creationId xmlns:a16="http://schemas.microsoft.com/office/drawing/2014/main" id="{5979345A-4FC6-432E-83BF-D1ECCF624CE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71888" y="1703388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6" name="Straight Connector 35">
            <a:extLst>
              <a:ext uri="{FF2B5EF4-FFF2-40B4-BE49-F238E27FC236}">
                <a16:creationId xmlns:a16="http://schemas.microsoft.com/office/drawing/2014/main" id="{2EE89D60-273F-491D-9220-75AD9E6165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38800" y="1689100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0136" name="TextBox 5">
            <a:extLst>
              <a:ext uri="{FF2B5EF4-FFF2-40B4-BE49-F238E27FC236}">
                <a16:creationId xmlns:a16="http://schemas.microsoft.com/office/drawing/2014/main" id="{8E609F61-B5F4-4FCA-90E4-7E883E8BB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1722438"/>
            <a:ext cx="771525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1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dest.</a:t>
            </a:r>
          </a:p>
          <a:p>
            <a:pPr algn="ctr">
              <a:lnSpc>
                <a:spcPts val="1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90137" name="TextBox 37">
            <a:extLst>
              <a:ext uri="{FF2B5EF4-FFF2-40B4-BE49-F238E27FC236}">
                <a16:creationId xmlns:a16="http://schemas.microsoft.com/office/drawing/2014/main" id="{17219DFE-3DE7-434C-AB0A-AE7FB3123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163" y="1719263"/>
            <a:ext cx="730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1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source</a:t>
            </a:r>
          </a:p>
          <a:p>
            <a:pPr algn="ctr">
              <a:lnSpc>
                <a:spcPts val="1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90138" name="TextBox 38">
            <a:extLst>
              <a:ext uri="{FF2B5EF4-FFF2-40B4-BE49-F238E27FC236}">
                <a16:creationId xmlns:a16="http://schemas.microsoft.com/office/drawing/2014/main" id="{D1F1891E-9281-40D1-987F-69B5E8770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775" y="1790700"/>
            <a:ext cx="1190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1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data (payload)</a:t>
            </a:r>
          </a:p>
        </p:txBody>
      </p:sp>
      <p:sp>
        <p:nvSpPr>
          <p:cNvPr id="90139" name="TextBox 39">
            <a:extLst>
              <a:ext uri="{FF2B5EF4-FFF2-40B4-BE49-F238E27FC236}">
                <a16:creationId xmlns:a16="http://schemas.microsoft.com/office/drawing/2014/main" id="{510FF135-9B44-4FA7-A771-0A4E78C32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813" y="1809750"/>
            <a:ext cx="5159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1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CRC</a:t>
            </a:r>
          </a:p>
        </p:txBody>
      </p:sp>
      <p:sp>
        <p:nvSpPr>
          <p:cNvPr id="90140" name="TextBox 40">
            <a:extLst>
              <a:ext uri="{FF2B5EF4-FFF2-40B4-BE49-F238E27FC236}">
                <a16:creationId xmlns:a16="http://schemas.microsoft.com/office/drawing/2014/main" id="{0F536485-DD14-4EF3-B7E4-07B85B6E3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0" y="1787525"/>
            <a:ext cx="8223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1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preamble</a:t>
            </a:r>
          </a:p>
        </p:txBody>
      </p:sp>
      <p:grpSp>
        <p:nvGrpSpPr>
          <p:cNvPr id="173087" name="Group 6">
            <a:extLst>
              <a:ext uri="{FF2B5EF4-FFF2-40B4-BE49-F238E27FC236}">
                <a16:creationId xmlns:a16="http://schemas.microsoft.com/office/drawing/2014/main" id="{429C7B5E-A037-453C-9490-EF00B8524965}"/>
              </a:ext>
            </a:extLst>
          </p:cNvPr>
          <p:cNvGrpSpPr>
            <a:grpSpLocks/>
          </p:cNvGrpSpPr>
          <p:nvPr/>
        </p:nvGrpSpPr>
        <p:grpSpPr bwMode="auto">
          <a:xfrm>
            <a:off x="992826" y="2949575"/>
            <a:ext cx="2448769" cy="436563"/>
            <a:chOff x="340454" y="5667110"/>
            <a:chExt cx="2448560" cy="435435"/>
          </a:xfrm>
          <a:solidFill>
            <a:srgbClr val="006633"/>
          </a:solidFill>
        </p:grpSpPr>
        <p:sp>
          <p:nvSpPr>
            <p:cNvPr id="173097" name="Rectangle 42">
              <a:extLst>
                <a:ext uri="{FF2B5EF4-FFF2-40B4-BE49-F238E27FC236}">
                  <a16:creationId xmlns:a16="http://schemas.microsoft.com/office/drawing/2014/main" id="{5AE4C181-040C-4C21-8B38-DAEA6F5E5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454" y="5676543"/>
              <a:ext cx="2448560" cy="40640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cxnSp>
          <p:nvCxnSpPr>
            <p:cNvPr id="76843" name="Straight Connector 43">
              <a:extLst>
                <a:ext uri="{FF2B5EF4-FFF2-40B4-BE49-F238E27FC236}">
                  <a16:creationId xmlns:a16="http://schemas.microsoft.com/office/drawing/2014/main" id="{A4E991F9-0D1E-49ED-90D5-A77D955B54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14457" y="5667110"/>
              <a:ext cx="0" cy="427518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6844" name="Straight Connector 44">
              <a:extLst>
                <a:ext uri="{FF2B5EF4-FFF2-40B4-BE49-F238E27FC236}">
                  <a16:creationId xmlns:a16="http://schemas.microsoft.com/office/drawing/2014/main" id="{203BA405-EC99-4F97-9E64-6B75833924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44645" y="5670277"/>
              <a:ext cx="0" cy="429101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6845" name="Straight Connector 45">
              <a:extLst>
                <a:ext uri="{FF2B5EF4-FFF2-40B4-BE49-F238E27FC236}">
                  <a16:creationId xmlns:a16="http://schemas.microsoft.com/office/drawing/2014/main" id="{063F921B-B00E-4157-816D-44C6AF52DA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73245" y="5675027"/>
              <a:ext cx="0" cy="427518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73101" name="TextBox 48">
              <a:extLst>
                <a:ext uri="{FF2B5EF4-FFF2-40B4-BE49-F238E27FC236}">
                  <a16:creationId xmlns:a16="http://schemas.microsoft.com/office/drawing/2014/main" id="{30AD8BA8-E5C9-47A8-9CD2-AD1C5150D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617" y="5688880"/>
              <a:ext cx="770159" cy="404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73102" name="TextBox 49">
              <a:extLst>
                <a:ext uri="{FF2B5EF4-FFF2-40B4-BE49-F238E27FC236}">
                  <a16:creationId xmlns:a16="http://schemas.microsoft.com/office/drawing/2014/main" id="{4363C064-DB99-456F-8573-8498ADF3B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3082" y="5685251"/>
              <a:ext cx="729687" cy="4001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73103" name="TextBox 52">
              <a:extLst>
                <a:ext uri="{FF2B5EF4-FFF2-40B4-BE49-F238E27FC236}">
                  <a16:creationId xmlns:a16="http://schemas.microsoft.com/office/drawing/2014/main" id="{C82C6CB6-4CDA-4644-8A1F-1411BA66E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711" y="5754221"/>
              <a:ext cx="822661" cy="246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</p:grpSp>
      <p:sp>
        <p:nvSpPr>
          <p:cNvPr id="90142" name="Rectangle 56">
            <a:extLst>
              <a:ext uri="{FF2B5EF4-FFF2-40B4-BE49-F238E27FC236}">
                <a16:creationId xmlns:a16="http://schemas.microsoft.com/office/drawing/2014/main" id="{37B97F22-3E9D-46E6-A55E-8A5BA5FE4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825" y="2959100"/>
            <a:ext cx="2659063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cxnSp>
        <p:nvCxnSpPr>
          <p:cNvPr id="76834" name="Straight Connector 60">
            <a:extLst>
              <a:ext uri="{FF2B5EF4-FFF2-40B4-BE49-F238E27FC236}">
                <a16:creationId xmlns:a16="http://schemas.microsoft.com/office/drawing/2014/main" id="{8106C1AD-9CE2-4DB3-8A68-C0FE066493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11663" y="2954338"/>
            <a:ext cx="0" cy="4270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35" name="Straight Connector 61">
            <a:extLst>
              <a:ext uri="{FF2B5EF4-FFF2-40B4-BE49-F238E27FC236}">
                <a16:creationId xmlns:a16="http://schemas.microsoft.com/office/drawing/2014/main" id="{F965BC2A-681F-4B24-B558-C78DA522B1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78575" y="2938463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0145" name="TextBox 64">
            <a:extLst>
              <a:ext uri="{FF2B5EF4-FFF2-40B4-BE49-F238E27FC236}">
                <a16:creationId xmlns:a16="http://schemas.microsoft.com/office/drawing/2014/main" id="{A927B1E4-5961-42AB-B6DF-0DAF46F83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3040063"/>
            <a:ext cx="118903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1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data (payload)</a:t>
            </a:r>
          </a:p>
        </p:txBody>
      </p:sp>
      <p:sp>
        <p:nvSpPr>
          <p:cNvPr id="90146" name="TextBox 65">
            <a:extLst>
              <a:ext uri="{FF2B5EF4-FFF2-40B4-BE49-F238E27FC236}">
                <a16:creationId xmlns:a16="http://schemas.microsoft.com/office/drawing/2014/main" id="{AA81BF2A-AA92-4FEB-8B5C-66A2BBFF3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3059113"/>
            <a:ext cx="5159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1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CRC</a:t>
            </a:r>
          </a:p>
        </p:txBody>
      </p:sp>
      <p:sp>
        <p:nvSpPr>
          <p:cNvPr id="90147" name="Text Box 9">
            <a:extLst>
              <a:ext uri="{FF2B5EF4-FFF2-40B4-BE49-F238E27FC236}">
                <a16:creationId xmlns:a16="http://schemas.microsoft.com/office/drawing/2014/main" id="{216FC5E1-C551-419B-86B0-47607E953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0" y="2659063"/>
            <a:ext cx="4746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type</a:t>
            </a:r>
          </a:p>
        </p:txBody>
      </p:sp>
      <p:sp>
        <p:nvSpPr>
          <p:cNvPr id="90148" name="Line 10">
            <a:extLst>
              <a:ext uri="{FF2B5EF4-FFF2-40B4-BE49-F238E27FC236}">
                <a16:creationId xmlns:a16="http://schemas.microsoft.com/office/drawing/2014/main" id="{3AB39497-87AE-4F9F-B669-9FC8CBA15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0538" y="288766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49" name="Rectangle 67">
            <a:extLst>
              <a:ext uri="{FF2B5EF4-FFF2-40B4-BE49-F238E27FC236}">
                <a16:creationId xmlns:a16="http://schemas.microsoft.com/office/drawing/2014/main" id="{31B76B0F-FDC0-4096-B379-BF52DC9C3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963863"/>
            <a:ext cx="735013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</p:txBody>
      </p:sp>
      <p:cxnSp>
        <p:nvCxnSpPr>
          <p:cNvPr id="76841" name="Straight Connector 68">
            <a:extLst>
              <a:ext uri="{FF2B5EF4-FFF2-40B4-BE49-F238E27FC236}">
                <a16:creationId xmlns:a16="http://schemas.microsoft.com/office/drawing/2014/main" id="{3B510168-4DB0-42EC-BF86-A9F80E6823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97300" y="2962275"/>
            <a:ext cx="0" cy="4270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0152" name="灯片编号占位符 5">
            <a:extLst>
              <a:ext uri="{FF2B5EF4-FFF2-40B4-BE49-F238E27FC236}">
                <a16:creationId xmlns:a16="http://schemas.microsoft.com/office/drawing/2014/main" id="{E6DC2FA7-22CC-4390-A4B6-DC883D4C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A1F59BFF-9931-433B-A176-2AFD31799676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026">
            <a:extLst>
              <a:ext uri="{FF2B5EF4-FFF2-40B4-BE49-F238E27FC236}">
                <a16:creationId xmlns:a16="http://schemas.microsoft.com/office/drawing/2014/main" id="{2B22344A-FE9D-4C1C-9E47-C2A673246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358775"/>
            <a:ext cx="8480425" cy="685800"/>
          </a:xfrm>
        </p:spPr>
        <p:txBody>
          <a:bodyPr/>
          <a:lstStyle/>
          <a:p>
            <a:r>
              <a:rPr lang="de-DE" altLang="ko-KR" sz="3600">
                <a:ea typeface="Gulim" panose="020B0600000101010101" pitchFamily="34" charset="-127"/>
              </a:rPr>
              <a:t>Wireless communications</a:t>
            </a:r>
            <a:endParaRPr lang="en-US" altLang="ko-KR" sz="3600">
              <a:ea typeface="Gulim" panose="020B0600000101010101" pitchFamily="34" charset="-127"/>
            </a:endParaRPr>
          </a:p>
        </p:txBody>
      </p:sp>
      <p:sp>
        <p:nvSpPr>
          <p:cNvPr id="91139" name="TextBox 30">
            <a:extLst>
              <a:ext uri="{FF2B5EF4-FFF2-40B4-BE49-F238E27FC236}">
                <a16:creationId xmlns:a16="http://schemas.microsoft.com/office/drawing/2014/main" id="{C7635AE8-AD62-4776-ACAB-83D66665A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722438"/>
            <a:ext cx="8739188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 the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challenges</a:t>
            </a:r>
            <a:r>
              <a:rPr lang="en-US" altLang="zh-CN" sz="3200">
                <a:ea typeface="宋体" panose="02010600030101010101" pitchFamily="2" charset="-122"/>
              </a:rPr>
              <a:t> of wireless communications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wireless communication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standards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IEEE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802.11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IEEE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802.15.4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5G?</a:t>
            </a:r>
            <a:endParaRPr lang="zh-CN" altLang="en-US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8935BD7A-5759-4B2C-B6CD-9970D207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026">
            <a:extLst>
              <a:ext uri="{FF2B5EF4-FFF2-40B4-BE49-F238E27FC236}">
                <a16:creationId xmlns:a16="http://schemas.microsoft.com/office/drawing/2014/main" id="{9612F163-C98A-4085-8F44-61BC5D6B6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358775"/>
            <a:ext cx="8480425" cy="685800"/>
          </a:xfrm>
        </p:spPr>
        <p:txBody>
          <a:bodyPr/>
          <a:lstStyle/>
          <a:p>
            <a:r>
              <a:rPr lang="de-DE" altLang="ko-KR" sz="3600">
                <a:ea typeface="Gulim" panose="020B0600000101010101" pitchFamily="34" charset="-127"/>
              </a:rPr>
              <a:t>the challenges of Wireless communications</a:t>
            </a:r>
            <a:endParaRPr lang="en-US" altLang="ko-KR" sz="3600">
              <a:ea typeface="Gulim" panose="020B0600000101010101" pitchFamily="34" charset="-127"/>
            </a:endParaRPr>
          </a:p>
        </p:txBody>
      </p:sp>
      <p:sp>
        <p:nvSpPr>
          <p:cNvPr id="93187" name="TextBox 30">
            <a:extLst>
              <a:ext uri="{FF2B5EF4-FFF2-40B4-BE49-F238E27FC236}">
                <a16:creationId xmlns:a16="http://schemas.microsoft.com/office/drawing/2014/main" id="{14D9C094-F704-42A8-AB8A-A23B61DC5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1685925"/>
            <a:ext cx="7920038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fading</a:t>
            </a:r>
            <a:r>
              <a:rPr lang="en-US" altLang="zh-CN" sz="3200">
                <a:ea typeface="宋体" panose="02010600030101010101" pitchFamily="2" charset="-122"/>
              </a:rPr>
              <a:t>: path loss, multipath effect, shadow effect, Doppler effect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interference</a:t>
            </a:r>
            <a:r>
              <a:rPr lang="en-US" altLang="zh-CN" sz="3200">
                <a:ea typeface="宋体" panose="02010600030101010101" pitchFamily="2" charset="-122"/>
              </a:rPr>
              <a:t>: from other wireless communications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hidden terminal problem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3200">
                <a:ea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mobility</a:t>
            </a:r>
            <a:endParaRPr lang="zh-CN" altLang="en-US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7F0DA505-5527-4BB4-80C7-A2696B1F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4">
            <a:extLst>
              <a:ext uri="{FF2B5EF4-FFF2-40B4-BE49-F238E27FC236}">
                <a16:creationId xmlns:a16="http://schemas.microsoft.com/office/drawing/2014/main" id="{FAAE8C56-993F-4B07-8D7C-3B2FE6A2E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4788"/>
            <a:ext cx="8610600" cy="114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Wireless communication technology</a:t>
            </a: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95235" name="组合 19">
            <a:extLst>
              <a:ext uri="{FF2B5EF4-FFF2-40B4-BE49-F238E27FC236}">
                <a16:creationId xmlns:a16="http://schemas.microsoft.com/office/drawing/2014/main" id="{84E44B23-74B3-4BA5-A8ED-E26B9CC9B6DA}"/>
              </a:ext>
            </a:extLst>
          </p:cNvPr>
          <p:cNvGrpSpPr>
            <a:grpSpLocks/>
          </p:cNvGrpSpPr>
          <p:nvPr/>
        </p:nvGrpSpPr>
        <p:grpSpPr bwMode="auto">
          <a:xfrm>
            <a:off x="474663" y="1341438"/>
            <a:ext cx="7956550" cy="4860925"/>
            <a:chOff x="-30039" y="1844675"/>
            <a:chExt cx="9174039" cy="5006913"/>
          </a:xfrm>
        </p:grpSpPr>
        <p:sp>
          <p:nvSpPr>
            <p:cNvPr id="95236" name="Text Box 19">
              <a:extLst>
                <a:ext uri="{FF2B5EF4-FFF2-40B4-BE49-F238E27FC236}">
                  <a16:creationId xmlns:a16="http://schemas.microsoft.com/office/drawing/2014/main" id="{85D084C7-474E-4F55-9D93-3B7FAE4A0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5052" y="6464050"/>
              <a:ext cx="2018948" cy="3875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Transmission range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95237" name="Text Box 5">
              <a:extLst>
                <a:ext uri="{FF2B5EF4-FFF2-40B4-BE49-F238E27FC236}">
                  <a16:creationId xmlns:a16="http://schemas.microsoft.com/office/drawing/2014/main" id="{5B8A5EBB-5349-47A4-A7DF-9D77DD3B3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0039" y="2363026"/>
              <a:ext cx="1096418" cy="4230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 Gb/s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100 Mb/s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10 Mb/s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 Mb/s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100 kb/s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10 kb/s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50182" name="Line 6">
              <a:extLst>
                <a:ext uri="{FF2B5EF4-FFF2-40B4-BE49-F238E27FC236}">
                  <a16:creationId xmlns:a16="http://schemas.microsoft.com/office/drawing/2014/main" id="{9607D1A2-DF51-4E7E-A8FC-5E51C5D85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1197" y="6033999"/>
              <a:ext cx="7416841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50183" name="Line 7">
              <a:extLst>
                <a:ext uri="{FF2B5EF4-FFF2-40B4-BE49-F238E27FC236}">
                  <a16:creationId xmlns:a16="http://schemas.microsoft.com/office/drawing/2014/main" id="{30513E3C-37E0-48B5-8A9F-1891FA542D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865216" y="4342408"/>
              <a:ext cx="396203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95240" name="Text Box 8">
              <a:extLst>
                <a:ext uri="{FF2B5EF4-FFF2-40B4-BE49-F238E27FC236}">
                  <a16:creationId xmlns:a16="http://schemas.microsoft.com/office/drawing/2014/main" id="{A16B6A0C-490F-4A4E-98C5-44FF3A0AE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554" y="1844675"/>
              <a:ext cx="1112892" cy="38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Data rate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0185" name="Text Box 9">
              <a:extLst>
                <a:ext uri="{FF2B5EF4-FFF2-40B4-BE49-F238E27FC236}">
                  <a16:creationId xmlns:a16="http://schemas.microsoft.com/office/drawing/2014/main" id="{6EBF2BE3-D8F2-46C4-B19F-B4D2AF1E0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9043" y="5978403"/>
              <a:ext cx="6505294" cy="387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1600">
                  <a:latin typeface="+mn-ea"/>
                </a:rPr>
                <a:t>PAN                        LAN                        MAN                         WAN</a:t>
              </a:r>
            </a:p>
          </p:txBody>
        </p:sp>
        <p:sp>
          <p:nvSpPr>
            <p:cNvPr id="50186" name="Oval 10">
              <a:extLst>
                <a:ext uri="{FF2B5EF4-FFF2-40B4-BE49-F238E27FC236}">
                  <a16:creationId xmlns:a16="http://schemas.microsoft.com/office/drawing/2014/main" id="{4C139561-9452-4B40-91BB-F4A1531BF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92" y="4810887"/>
              <a:ext cx="1440537" cy="719478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dirty="0">
                  <a:latin typeface="+mn-ea"/>
                </a:rPr>
                <a:t>802.15.4</a:t>
              </a:r>
            </a:p>
            <a:p>
              <a:pPr algn="ctr">
                <a:defRPr/>
              </a:pPr>
              <a:r>
                <a:rPr lang="en-US" altLang="zh-CN" sz="1600" dirty="0" err="1">
                  <a:latin typeface="+mn-ea"/>
                </a:rPr>
                <a:t>ZigBee</a:t>
              </a:r>
              <a:endParaRPr lang="en-US" altLang="zh-CN" sz="1600" dirty="0">
                <a:latin typeface="+mn-ea"/>
              </a:endParaRPr>
            </a:p>
          </p:txBody>
        </p:sp>
        <p:sp>
          <p:nvSpPr>
            <p:cNvPr id="95243" name="Oval 11">
              <a:extLst>
                <a:ext uri="{FF2B5EF4-FFF2-40B4-BE49-F238E27FC236}">
                  <a16:creationId xmlns:a16="http://schemas.microsoft.com/office/drawing/2014/main" id="{3EE4E35F-D002-4F68-8111-032A57853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92" y="4233669"/>
              <a:ext cx="1440537" cy="64753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802.15.1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Blue-tooth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95244" name="Oval 12">
              <a:extLst>
                <a:ext uri="{FF2B5EF4-FFF2-40B4-BE49-F238E27FC236}">
                  <a16:creationId xmlns:a16="http://schemas.microsoft.com/office/drawing/2014/main" id="{3811242E-2D9F-4634-88F5-0165F18D8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92" y="2650817"/>
              <a:ext cx="1440537" cy="64753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802.15.3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UWB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0189" name="Oval 13">
              <a:extLst>
                <a:ext uri="{FF2B5EF4-FFF2-40B4-BE49-F238E27FC236}">
                  <a16:creationId xmlns:a16="http://schemas.microsoft.com/office/drawing/2014/main" id="{1034B1D9-66BF-499D-8CD0-459196266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4303" y="3298347"/>
              <a:ext cx="1438706" cy="647530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dirty="0">
                  <a:latin typeface="+mn-ea"/>
                </a:rPr>
                <a:t>802.11g, a</a:t>
              </a:r>
            </a:p>
          </p:txBody>
        </p:sp>
        <p:sp>
          <p:nvSpPr>
            <p:cNvPr id="50190" name="Oval 14">
              <a:extLst>
                <a:ext uri="{FF2B5EF4-FFF2-40B4-BE49-F238E27FC236}">
                  <a16:creationId xmlns:a16="http://schemas.microsoft.com/office/drawing/2014/main" id="{2CA74425-E2C8-4C1D-851E-205672B60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4303" y="3801982"/>
              <a:ext cx="1438706" cy="647530"/>
            </a:xfrm>
            <a:prstGeom prst="ellipse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dirty="0">
                  <a:latin typeface="+mn-ea"/>
                </a:rPr>
                <a:t>802.11b</a:t>
              </a:r>
            </a:p>
          </p:txBody>
        </p:sp>
        <p:sp>
          <p:nvSpPr>
            <p:cNvPr id="50191" name="Oval 15">
              <a:extLst>
                <a:ext uri="{FF2B5EF4-FFF2-40B4-BE49-F238E27FC236}">
                  <a16:creationId xmlns:a16="http://schemas.microsoft.com/office/drawing/2014/main" id="{DAEFE058-E890-47F0-AF11-138957445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829" y="3586138"/>
              <a:ext cx="1440536" cy="647530"/>
            </a:xfrm>
            <a:prstGeom prst="ellipse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>
                  <a:latin typeface="+mn-ea"/>
                </a:rPr>
                <a:t>802.16</a:t>
              </a:r>
            </a:p>
          </p:txBody>
        </p:sp>
        <p:sp>
          <p:nvSpPr>
            <p:cNvPr id="95248" name="Oval 16">
              <a:extLst>
                <a:ext uri="{FF2B5EF4-FFF2-40B4-BE49-F238E27FC236}">
                  <a16:creationId xmlns:a16="http://schemas.microsoft.com/office/drawing/2014/main" id="{8015C736-884A-4BE5-8CF4-D0C10AC90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3343" y="5098678"/>
              <a:ext cx="1438706" cy="647530"/>
            </a:xfrm>
            <a:prstGeom prst="ellipse">
              <a:avLst/>
            </a:prstGeom>
            <a:solidFill>
              <a:srgbClr val="CC66FF"/>
            </a:solidFill>
            <a:ln w="38100" cmpd="dbl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Mobile communication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95249" name="Oval 17">
              <a:extLst>
                <a:ext uri="{FF2B5EF4-FFF2-40B4-BE49-F238E27FC236}">
                  <a16:creationId xmlns:a16="http://schemas.microsoft.com/office/drawing/2014/main" id="{0B3D63F5-602F-489E-B3DA-A07779157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3343" y="4307252"/>
              <a:ext cx="1438706" cy="647530"/>
            </a:xfrm>
            <a:prstGeom prst="ellipse">
              <a:avLst/>
            </a:prstGeom>
            <a:solidFill>
              <a:srgbClr val="66FF33"/>
            </a:solidFill>
            <a:ln w="38100" cmpd="dbl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3G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Mobile communication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95250" name="Oval 18">
              <a:extLst>
                <a:ext uri="{FF2B5EF4-FFF2-40B4-BE49-F238E27FC236}">
                  <a16:creationId xmlns:a16="http://schemas.microsoft.com/office/drawing/2014/main" id="{00FBD5E2-FE7F-47FD-83C2-B0EA42EE5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0127" y="2794713"/>
              <a:ext cx="1438706" cy="647530"/>
            </a:xfrm>
            <a:prstGeom prst="ellipse">
              <a:avLst/>
            </a:prstGeom>
            <a:solidFill>
              <a:srgbClr val="CC9900"/>
            </a:solidFill>
            <a:ln w="38100" cmpd="dbl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4G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Mobile communication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0195" name="Text Box 20">
              <a:extLst>
                <a:ext uri="{FF2B5EF4-FFF2-40B4-BE49-F238E27FC236}">
                  <a16:creationId xmlns:a16="http://schemas.microsoft.com/office/drawing/2014/main" id="{BF06BDBB-5D67-4EA3-8993-A142B4E30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9539" y="2907540"/>
              <a:ext cx="834669" cy="377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1600" dirty="0">
                  <a:solidFill>
                    <a:srgbClr val="FF0000"/>
                  </a:solidFill>
                  <a:latin typeface="+mn-ea"/>
                </a:rPr>
                <a:t>Wi-Fi</a:t>
              </a:r>
            </a:p>
          </p:txBody>
        </p:sp>
        <p:sp>
          <p:nvSpPr>
            <p:cNvPr id="50196" name="Text Box 21">
              <a:extLst>
                <a:ext uri="{FF2B5EF4-FFF2-40B4-BE49-F238E27FC236}">
                  <a16:creationId xmlns:a16="http://schemas.microsoft.com/office/drawing/2014/main" id="{97C426B1-3F5E-486D-AE13-5C58FBADC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18" y="3195331"/>
              <a:ext cx="937172" cy="387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1600">
                  <a:latin typeface="+mn-ea"/>
                </a:rPr>
                <a:t>WiMAX</a:t>
              </a:r>
            </a:p>
          </p:txBody>
        </p:sp>
      </p:grpSp>
      <p:sp>
        <p:nvSpPr>
          <p:cNvPr id="21" name="灯片编号占位符 6">
            <a:extLst>
              <a:ext uri="{FF2B5EF4-FFF2-40B4-BE49-F238E27FC236}">
                <a16:creationId xmlns:a16="http://schemas.microsoft.com/office/drawing/2014/main" id="{D8C619E0-0985-4D91-9FF1-A88A0C4B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바닥글 개체 틀 2">
            <a:extLst>
              <a:ext uri="{FF2B5EF4-FFF2-40B4-BE49-F238E27FC236}">
                <a16:creationId xmlns:a16="http://schemas.microsoft.com/office/drawing/2014/main" id="{4083BEC8-4BD6-4079-8984-8C54E34BE8A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tabLst>
                <a:tab pos="4956175" algn="l"/>
                <a:tab pos="7053263" algn="r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tabLst>
                <a:tab pos="4956175" algn="l"/>
                <a:tab pos="7053263" algn="r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17E0A2B-FF03-48D2-B633-9613BC32AD9A}" type="slidenum">
              <a:rPr lang="en-US" altLang="ko-KR" sz="1400" smtClean="0"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96259" name="Rectangle 1026">
            <a:extLst>
              <a:ext uri="{FF2B5EF4-FFF2-40B4-BE49-F238E27FC236}">
                <a16:creationId xmlns:a16="http://schemas.microsoft.com/office/drawing/2014/main" id="{9B5C63C9-F7E7-458E-AB18-35BA39A0C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358775"/>
            <a:ext cx="7696200" cy="685800"/>
          </a:xfrm>
        </p:spPr>
        <p:txBody>
          <a:bodyPr/>
          <a:lstStyle/>
          <a:p>
            <a:r>
              <a:rPr lang="de-DE" altLang="ko-KR" sz="3600">
                <a:ea typeface="Gulim" panose="020B0600000101010101" pitchFamily="34" charset="-127"/>
              </a:rPr>
              <a:t>IEEE Wireless Technology</a:t>
            </a:r>
            <a:endParaRPr lang="en-US" altLang="ko-KR" sz="3600">
              <a:ea typeface="Gulim" panose="020B0600000101010101" pitchFamily="34" charset="-127"/>
            </a:endParaRPr>
          </a:p>
        </p:txBody>
      </p:sp>
      <p:grpSp>
        <p:nvGrpSpPr>
          <p:cNvPr id="96260" name="组合 30">
            <a:extLst>
              <a:ext uri="{FF2B5EF4-FFF2-40B4-BE49-F238E27FC236}">
                <a16:creationId xmlns:a16="http://schemas.microsoft.com/office/drawing/2014/main" id="{89CEED11-7301-4608-AC37-1C2F38AF2E1C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1593850"/>
            <a:ext cx="7981950" cy="4770438"/>
            <a:chOff x="0" y="838200"/>
            <a:chExt cx="8180078" cy="5175918"/>
          </a:xfrm>
        </p:grpSpPr>
        <p:sp>
          <p:nvSpPr>
            <p:cNvPr id="96261" name="Text Box 1027">
              <a:extLst>
                <a:ext uri="{FF2B5EF4-FFF2-40B4-BE49-F238E27FC236}">
                  <a16:creationId xmlns:a16="http://schemas.microsoft.com/office/drawing/2014/main" id="{19D3404E-C662-47A6-93AF-56AB3EC15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4" y="1052513"/>
              <a:ext cx="286702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Local wireless networks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ea typeface="Gulim" panose="020B0600000101010101" pitchFamily="34" charset="-127"/>
                </a:rPr>
                <a:t>WLAN</a:t>
              </a:r>
              <a:r>
                <a:rPr lang="de-DE" altLang="ko-KR" sz="1800">
                  <a:ea typeface="Gulim" panose="020B0600000101010101" pitchFamily="34" charset="-127"/>
                </a:rPr>
                <a:t> 802.11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sp>
          <p:nvSpPr>
            <p:cNvPr id="96262" name="Text Box 1028">
              <a:extLst>
                <a:ext uri="{FF2B5EF4-FFF2-40B4-BE49-F238E27FC236}">
                  <a16:creationId xmlns:a16="http://schemas.microsoft.com/office/drawing/2014/main" id="{B0EC9420-D087-4B53-BDA6-6482CB7B88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275" y="981075"/>
              <a:ext cx="1017363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802.11a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sp>
          <p:nvSpPr>
            <p:cNvPr id="96263" name="Text Box 1029">
              <a:extLst>
                <a:ext uri="{FF2B5EF4-FFF2-40B4-BE49-F238E27FC236}">
                  <a16:creationId xmlns:a16="http://schemas.microsoft.com/office/drawing/2014/main" id="{E98091C9-E121-4649-A850-54A672532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675" y="1557338"/>
              <a:ext cx="1035437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802.11b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sp>
          <p:nvSpPr>
            <p:cNvPr id="96264" name="Text Box 1030">
              <a:extLst>
                <a:ext uri="{FF2B5EF4-FFF2-40B4-BE49-F238E27FC236}">
                  <a16:creationId xmlns:a16="http://schemas.microsoft.com/office/drawing/2014/main" id="{7B228DB4-0736-45C2-9225-905EB8A78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888" y="1341438"/>
              <a:ext cx="2095190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802.11i/e/f/n/</a:t>
              </a:r>
              <a:r>
                <a:rPr lang="en-US" altLang="ko-KR" sz="1800">
                  <a:ea typeface="Gulim" panose="020B0600000101010101" pitchFamily="34" charset="-127"/>
                </a:rPr>
                <a:t>s…</a:t>
              </a:r>
            </a:p>
          </p:txBody>
        </p:sp>
        <p:cxnSp>
          <p:nvCxnSpPr>
            <p:cNvPr id="96265" name="AutoShape 1031">
              <a:extLst>
                <a:ext uri="{FF2B5EF4-FFF2-40B4-BE49-F238E27FC236}">
                  <a16:creationId xmlns:a16="http://schemas.microsoft.com/office/drawing/2014/main" id="{3CA4D502-D965-4D9F-8B61-ED8D7D8F10E7}"/>
                </a:ext>
              </a:extLst>
            </p:cNvPr>
            <p:cNvCxnSpPr>
              <a:cxnSpLocks noChangeShapeType="1"/>
              <a:stCxn id="96261" idx="3"/>
              <a:endCxn id="96262" idx="1"/>
            </p:cNvCxnSpPr>
            <p:nvPr/>
          </p:nvCxnSpPr>
          <p:spPr bwMode="auto">
            <a:xfrm flipV="1">
              <a:off x="2901948" y="1181434"/>
              <a:ext cx="949327" cy="2219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66" name="AutoShape 1032">
              <a:extLst>
                <a:ext uri="{FF2B5EF4-FFF2-40B4-BE49-F238E27FC236}">
                  <a16:creationId xmlns:a16="http://schemas.microsoft.com/office/drawing/2014/main" id="{27F4240D-5691-428D-9E9F-B2ECF2F25E02}"/>
                </a:ext>
              </a:extLst>
            </p:cNvPr>
            <p:cNvCxnSpPr>
              <a:cxnSpLocks noChangeShapeType="1"/>
              <a:stCxn id="96261" idx="3"/>
              <a:endCxn id="96263" idx="1"/>
            </p:cNvCxnSpPr>
            <p:nvPr/>
          </p:nvCxnSpPr>
          <p:spPr bwMode="auto">
            <a:xfrm>
              <a:off x="2901948" y="1403351"/>
              <a:ext cx="85726" cy="35434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267" name="Text Box 1033">
              <a:extLst>
                <a:ext uri="{FF2B5EF4-FFF2-40B4-BE49-F238E27FC236}">
                  <a16:creationId xmlns:a16="http://schemas.microsoft.com/office/drawing/2014/main" id="{37E0D9C0-C7CD-4653-9E6D-7BB8E1989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6900" y="1557338"/>
              <a:ext cx="1020649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802.11g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cxnSp>
          <p:nvCxnSpPr>
            <p:cNvPr id="96268" name="AutoShape 1034">
              <a:extLst>
                <a:ext uri="{FF2B5EF4-FFF2-40B4-BE49-F238E27FC236}">
                  <a16:creationId xmlns:a16="http://schemas.microsoft.com/office/drawing/2014/main" id="{FE5DB7AD-2994-4738-848E-312CB3D719AF}"/>
                </a:ext>
              </a:extLst>
            </p:cNvPr>
            <p:cNvCxnSpPr>
              <a:cxnSpLocks noChangeShapeType="1"/>
              <a:stCxn id="96263" idx="3"/>
              <a:endCxn id="96267" idx="1"/>
            </p:cNvCxnSpPr>
            <p:nvPr/>
          </p:nvCxnSpPr>
          <p:spPr bwMode="auto">
            <a:xfrm>
              <a:off x="4023112" y="1757697"/>
              <a:ext cx="38378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269" name="Text Box 1035">
              <a:extLst>
                <a:ext uri="{FF2B5EF4-FFF2-40B4-BE49-F238E27FC236}">
                  <a16:creationId xmlns:a16="http://schemas.microsoft.com/office/drawing/2014/main" id="{CEFBEEB1-41E0-4A18-BCD1-0CA781A6F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400" y="1905000"/>
              <a:ext cx="710117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solidFill>
                    <a:schemeClr val="accent2"/>
                  </a:solidFill>
                  <a:ea typeface="Gulim" panose="020B0600000101010101" pitchFamily="34" charset="-127"/>
                </a:rPr>
                <a:t>WiFi</a:t>
              </a:r>
            </a:p>
          </p:txBody>
        </p:sp>
        <p:cxnSp>
          <p:nvCxnSpPr>
            <p:cNvPr id="96270" name="AutoShape 1038">
              <a:extLst>
                <a:ext uri="{FF2B5EF4-FFF2-40B4-BE49-F238E27FC236}">
                  <a16:creationId xmlns:a16="http://schemas.microsoft.com/office/drawing/2014/main" id="{7CB151D3-D534-450F-9023-7CB9E084CF8E}"/>
                </a:ext>
              </a:extLst>
            </p:cNvPr>
            <p:cNvCxnSpPr>
              <a:cxnSpLocks noChangeShapeType="1"/>
              <a:stCxn id="96261" idx="3"/>
              <a:endCxn id="96264" idx="1"/>
            </p:cNvCxnSpPr>
            <p:nvPr/>
          </p:nvCxnSpPr>
          <p:spPr bwMode="auto">
            <a:xfrm>
              <a:off x="2901948" y="1403351"/>
              <a:ext cx="3182940" cy="13844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271" name="Text Box 1039">
              <a:extLst>
                <a:ext uri="{FF2B5EF4-FFF2-40B4-BE49-F238E27FC236}">
                  <a16:creationId xmlns:a16="http://schemas.microsoft.com/office/drawing/2014/main" id="{43EA47A3-5C37-474B-BCBF-47E59042D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52738"/>
              <a:ext cx="3262313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Personal wireless networks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ea typeface="Gulim" panose="020B0600000101010101" pitchFamily="34" charset="-127"/>
                </a:rPr>
                <a:t>WPAN</a:t>
              </a:r>
              <a:r>
                <a:rPr lang="de-DE" altLang="ko-KR" sz="1800">
                  <a:ea typeface="Gulim" panose="020B0600000101010101" pitchFamily="34" charset="-127"/>
                </a:rPr>
                <a:t> 802.15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sp>
          <p:nvSpPr>
            <p:cNvPr id="96272" name="Text Box 1040">
              <a:extLst>
                <a:ext uri="{FF2B5EF4-FFF2-40B4-BE49-F238E27FC236}">
                  <a16:creationId xmlns:a16="http://schemas.microsoft.com/office/drawing/2014/main" id="{D0570233-BB31-4998-869D-C3C7FC68C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750" y="2719388"/>
              <a:ext cx="11715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802.15.4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sp>
          <p:nvSpPr>
            <p:cNvPr id="96273" name="Text Box 1041">
              <a:extLst>
                <a:ext uri="{FF2B5EF4-FFF2-40B4-BE49-F238E27FC236}">
                  <a16:creationId xmlns:a16="http://schemas.microsoft.com/office/drawing/2014/main" id="{02318213-0F05-4252-B49E-4C71D5BF3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400" y="3644900"/>
              <a:ext cx="1099515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802.15.1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cxnSp>
          <p:nvCxnSpPr>
            <p:cNvPr id="96274" name="AutoShape 1043">
              <a:extLst>
                <a:ext uri="{FF2B5EF4-FFF2-40B4-BE49-F238E27FC236}">
                  <a16:creationId xmlns:a16="http://schemas.microsoft.com/office/drawing/2014/main" id="{D2784CC0-428F-4B4E-8D60-570B6F3D9762}"/>
                </a:ext>
              </a:extLst>
            </p:cNvPr>
            <p:cNvCxnSpPr>
              <a:cxnSpLocks noChangeShapeType="1"/>
              <a:stCxn id="96271" idx="3"/>
              <a:endCxn id="96272" idx="1"/>
            </p:cNvCxnSpPr>
            <p:nvPr/>
          </p:nvCxnSpPr>
          <p:spPr bwMode="auto">
            <a:xfrm flipV="1">
              <a:off x="3262313" y="2917825"/>
              <a:ext cx="579437" cy="2857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75" name="AutoShape 1044">
              <a:extLst>
                <a:ext uri="{FF2B5EF4-FFF2-40B4-BE49-F238E27FC236}">
                  <a16:creationId xmlns:a16="http://schemas.microsoft.com/office/drawing/2014/main" id="{F853595A-A7C6-4F22-97D7-725057D4140D}"/>
                </a:ext>
              </a:extLst>
            </p:cNvPr>
            <p:cNvCxnSpPr>
              <a:cxnSpLocks noChangeShapeType="1"/>
              <a:stCxn id="96271" idx="3"/>
              <a:endCxn id="96273" idx="1"/>
            </p:cNvCxnSpPr>
            <p:nvPr/>
          </p:nvCxnSpPr>
          <p:spPr bwMode="auto">
            <a:xfrm>
              <a:off x="3262313" y="3203576"/>
              <a:ext cx="446087" cy="6416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276" name="Text Box 1045">
              <a:extLst>
                <a:ext uri="{FF2B5EF4-FFF2-40B4-BE49-F238E27FC236}">
                  <a16:creationId xmlns:a16="http://schemas.microsoft.com/office/drawing/2014/main" id="{174A20D4-DDCC-4AA7-A835-520751B649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275" y="4005263"/>
              <a:ext cx="1268747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solidFill>
                    <a:schemeClr val="accent2"/>
                  </a:solidFill>
                  <a:ea typeface="Gulim" panose="020B0600000101010101" pitchFamily="34" charset="-127"/>
                </a:rPr>
                <a:t>Bluetooth</a:t>
              </a:r>
            </a:p>
          </p:txBody>
        </p:sp>
        <p:sp>
          <p:nvSpPr>
            <p:cNvPr id="96277" name="Text Box 1049">
              <a:extLst>
                <a:ext uri="{FF2B5EF4-FFF2-40B4-BE49-F238E27FC236}">
                  <a16:creationId xmlns:a16="http://schemas.microsoft.com/office/drawing/2014/main" id="{4F911B1B-E961-421F-BE70-2C19294F0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275" y="2395538"/>
              <a:ext cx="959858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solidFill>
                    <a:schemeClr val="accent2"/>
                  </a:solidFill>
                  <a:ea typeface="Gulim" panose="020B0600000101010101" pitchFamily="34" charset="-127"/>
                </a:rPr>
                <a:t>ZigBee</a:t>
              </a:r>
            </a:p>
          </p:txBody>
        </p:sp>
        <p:sp>
          <p:nvSpPr>
            <p:cNvPr id="96278" name="Text Box 1052">
              <a:extLst>
                <a:ext uri="{FF2B5EF4-FFF2-40B4-BE49-F238E27FC236}">
                  <a16:creationId xmlns:a16="http://schemas.microsoft.com/office/drawing/2014/main" id="{A86438CF-36EC-45A8-BD05-EF5B07A38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581525"/>
              <a:ext cx="526415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de-DE" sz="1800">
                <a:ea typeface="Gulim" panose="020B0600000101010101" pitchFamily="34" charset="-127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ea typeface="Gulim" panose="020B0600000101010101" pitchFamily="34" charset="-127"/>
                </a:rPr>
                <a:t>WMAN</a:t>
              </a:r>
              <a:r>
                <a:rPr lang="de-DE" altLang="ko-KR" sz="1800">
                  <a:ea typeface="Gulim" panose="020B0600000101010101" pitchFamily="34" charset="-127"/>
                </a:rPr>
                <a:t> 802.16 (Broadband Wireless Access)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sp>
          <p:nvSpPr>
            <p:cNvPr id="96279" name="Text Box 1053">
              <a:extLst>
                <a:ext uri="{FF2B5EF4-FFF2-40B4-BE49-F238E27FC236}">
                  <a16:creationId xmlns:a16="http://schemas.microsoft.com/office/drawing/2014/main" id="{DB588BA2-F98D-4C52-97DD-4F7C8838A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2250" y="5613400"/>
              <a:ext cx="1807660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solidFill>
                    <a:schemeClr val="accent2"/>
                  </a:solidFill>
                  <a:ea typeface="Gulim" panose="020B0600000101010101" pitchFamily="34" charset="-127"/>
                </a:rPr>
                <a:t>WiBro</a:t>
              </a:r>
              <a:r>
                <a:rPr lang="de-DE" altLang="ko-KR" sz="1800">
                  <a:ea typeface="Gulim" panose="020B0600000101010101" pitchFamily="34" charset="-127"/>
                </a:rPr>
                <a:t>, 802.20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cxnSp>
          <p:nvCxnSpPr>
            <p:cNvPr id="96280" name="AutoShape 1054">
              <a:extLst>
                <a:ext uri="{FF2B5EF4-FFF2-40B4-BE49-F238E27FC236}">
                  <a16:creationId xmlns:a16="http://schemas.microsoft.com/office/drawing/2014/main" id="{B4035B48-99F9-465F-9753-F39F023D12D2}"/>
                </a:ext>
              </a:extLst>
            </p:cNvPr>
            <p:cNvCxnSpPr>
              <a:cxnSpLocks noChangeShapeType="1"/>
              <a:stCxn id="96278" idx="2"/>
              <a:endCxn id="96279" idx="1"/>
            </p:cNvCxnSpPr>
            <p:nvPr/>
          </p:nvCxnSpPr>
          <p:spPr bwMode="auto">
            <a:xfrm rot="16200000" flipH="1">
              <a:off x="2431884" y="5483391"/>
              <a:ext cx="530559" cy="13017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281" name="Text Box 1055">
              <a:extLst>
                <a:ext uri="{FF2B5EF4-FFF2-40B4-BE49-F238E27FC236}">
                  <a16:creationId xmlns:a16="http://schemas.microsoft.com/office/drawing/2014/main" id="{7744E401-6647-4DC6-839F-37E520A1C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3213" y="5294313"/>
              <a:ext cx="1347613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solidFill>
                    <a:srgbClr val="FF9900"/>
                  </a:solidFill>
                  <a:ea typeface="Gulim" panose="020B0600000101010101" pitchFamily="34" charset="-127"/>
                </a:rPr>
                <a:t>+ Mobility</a:t>
              </a:r>
            </a:p>
          </p:txBody>
        </p:sp>
        <p:sp>
          <p:nvSpPr>
            <p:cNvPr id="96282" name="Text Box 1056">
              <a:extLst>
                <a:ext uri="{FF2B5EF4-FFF2-40B4-BE49-F238E27FC236}">
                  <a16:creationId xmlns:a16="http://schemas.microsoft.com/office/drawing/2014/main" id="{1E3C22B9-C28F-4D52-8BA1-764B67390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4868862"/>
              <a:ext cx="1053510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solidFill>
                    <a:schemeClr val="accent2"/>
                  </a:solidFill>
                  <a:ea typeface="Gulim" panose="020B0600000101010101" pitchFamily="34" charset="-127"/>
                </a:rPr>
                <a:t>WiMAX</a:t>
              </a:r>
            </a:p>
          </p:txBody>
        </p:sp>
        <p:cxnSp>
          <p:nvCxnSpPr>
            <p:cNvPr id="96283" name="AutoShape 1059">
              <a:extLst>
                <a:ext uri="{FF2B5EF4-FFF2-40B4-BE49-F238E27FC236}">
                  <a16:creationId xmlns:a16="http://schemas.microsoft.com/office/drawing/2014/main" id="{C6E99FDA-9C6A-4874-BDFC-F130388439FC}"/>
                </a:ext>
              </a:extLst>
            </p:cNvPr>
            <p:cNvCxnSpPr>
              <a:cxnSpLocks noChangeShapeType="1"/>
              <a:stCxn id="96271" idx="3"/>
              <a:endCxn id="96284" idx="1"/>
            </p:cNvCxnSpPr>
            <p:nvPr/>
          </p:nvCxnSpPr>
          <p:spPr bwMode="auto">
            <a:xfrm>
              <a:off x="3262313" y="3203575"/>
              <a:ext cx="2894012" cy="635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284" name="Text Box 1060">
              <a:extLst>
                <a:ext uri="{FF2B5EF4-FFF2-40B4-BE49-F238E27FC236}">
                  <a16:creationId xmlns:a16="http://schemas.microsoft.com/office/drawing/2014/main" id="{AA283314-7BAD-4FF7-9523-7D0EDD572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326" y="3068638"/>
              <a:ext cx="11715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802.15.3</a:t>
              </a:r>
              <a:endParaRPr lang="en-US" altLang="ko-KR" sz="1800">
                <a:ea typeface="Gulim" panose="020B0600000101010101" pitchFamily="34" charset="-127"/>
              </a:endParaRPr>
            </a:p>
          </p:txBody>
        </p:sp>
        <p:sp>
          <p:nvSpPr>
            <p:cNvPr id="96285" name="Text Box 1062">
              <a:extLst>
                <a:ext uri="{FF2B5EF4-FFF2-40B4-BE49-F238E27FC236}">
                  <a16:creationId xmlns:a16="http://schemas.microsoft.com/office/drawing/2014/main" id="{7DFE5DC3-51E5-4493-B1BD-830C63123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3663" y="3429000"/>
              <a:ext cx="759408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solidFill>
                    <a:schemeClr val="accent2"/>
                  </a:solidFill>
                  <a:ea typeface="Gulim" panose="020B0600000101010101" pitchFamily="34" charset="-127"/>
                </a:rPr>
                <a:t>UWB</a:t>
              </a:r>
            </a:p>
          </p:txBody>
        </p:sp>
        <p:sp>
          <p:nvSpPr>
            <p:cNvPr id="96286" name="Text Box 1063">
              <a:extLst>
                <a:ext uri="{FF2B5EF4-FFF2-40B4-BE49-F238E27FC236}">
                  <a16:creationId xmlns:a16="http://schemas.microsoft.com/office/drawing/2014/main" id="{447FED1D-89BA-4C80-AF1A-8008DCDF9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838200"/>
              <a:ext cx="854704" cy="400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 b="1">
                  <a:solidFill>
                    <a:schemeClr val="accent2"/>
                  </a:solidFill>
                  <a:ea typeface="Gulim" panose="020B0600000101010101" pitchFamily="34" charset="-127"/>
                </a:rPr>
                <a:t>WiFi5</a:t>
              </a:r>
            </a:p>
          </p:txBody>
        </p:sp>
      </p:grpSp>
      <p:sp>
        <p:nvSpPr>
          <p:cNvPr id="31" name="灯片编号占位符 6">
            <a:extLst>
              <a:ext uri="{FF2B5EF4-FFF2-40B4-BE49-F238E27FC236}">
                <a16:creationId xmlns:a16="http://schemas.microsoft.com/office/drawing/2014/main" id="{83BD7749-58FF-4008-82CB-0AD01D89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E9FF3508-BFFE-4C28-954A-B0B9B800A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238" y="153988"/>
            <a:ext cx="8610600" cy="1143000"/>
          </a:xfrm>
        </p:spPr>
        <p:txBody>
          <a:bodyPr/>
          <a:lstStyle/>
          <a:p>
            <a:r>
              <a:rPr lang="en-US" altLang="ko-KR">
                <a:ea typeface="Gulim" panose="020B0600000101010101" pitchFamily="34" charset="-127"/>
              </a:rPr>
              <a:t>infrastructure vs. ad-hoc networks</a:t>
            </a:r>
          </a:p>
        </p:txBody>
      </p:sp>
      <p:sp>
        <p:nvSpPr>
          <p:cNvPr id="98307" name="Oval 2713">
            <a:extLst>
              <a:ext uri="{FF2B5EF4-FFF2-40B4-BE49-F238E27FC236}">
                <a16:creationId xmlns:a16="http://schemas.microsoft.com/office/drawing/2014/main" id="{274EE909-A354-4536-B59E-EDF6BD812B33}"/>
              </a:ext>
            </a:extLst>
          </p:cNvPr>
          <p:cNvSpPr>
            <a:spLocks noChangeArrowheads="1"/>
          </p:cNvSpPr>
          <p:nvPr/>
        </p:nvSpPr>
        <p:spPr bwMode="auto">
          <a:xfrm rot="-1507049">
            <a:off x="722313" y="1474788"/>
            <a:ext cx="4957762" cy="2625725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ea typeface="Gulim" panose="020B0600000101010101" pitchFamily="34" charset="-127"/>
            </a:endParaRPr>
          </a:p>
        </p:txBody>
      </p:sp>
      <p:grpSp>
        <p:nvGrpSpPr>
          <p:cNvPr id="98308" name="组合 700">
            <a:extLst>
              <a:ext uri="{FF2B5EF4-FFF2-40B4-BE49-F238E27FC236}">
                <a16:creationId xmlns:a16="http://schemas.microsoft.com/office/drawing/2014/main" id="{8DCFE88A-A69A-488F-AC60-5663A644A458}"/>
              </a:ext>
            </a:extLst>
          </p:cNvPr>
          <p:cNvGrpSpPr>
            <a:grpSpLocks/>
          </p:cNvGrpSpPr>
          <p:nvPr/>
        </p:nvGrpSpPr>
        <p:grpSpPr bwMode="auto">
          <a:xfrm>
            <a:off x="747713" y="1404938"/>
            <a:ext cx="7696200" cy="5181600"/>
            <a:chOff x="228600" y="914400"/>
            <a:chExt cx="7696200" cy="5181600"/>
          </a:xfrm>
        </p:grpSpPr>
        <p:sp>
          <p:nvSpPr>
            <p:cNvPr id="98309" name="Oval 54">
              <a:extLst>
                <a:ext uri="{FF2B5EF4-FFF2-40B4-BE49-F238E27FC236}">
                  <a16:creationId xmlns:a16="http://schemas.microsoft.com/office/drawing/2014/main" id="{2EC9094D-F8AE-4B09-9DBE-8D76B4F68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2514600"/>
              <a:ext cx="3048000" cy="129540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>
                <a:ea typeface="Gulim" panose="020B0600000101010101" pitchFamily="34" charset="-127"/>
              </a:endParaRPr>
            </a:p>
          </p:txBody>
        </p:sp>
        <p:sp>
          <p:nvSpPr>
            <p:cNvPr id="98310" name="Oval 56">
              <a:extLst>
                <a:ext uri="{FF2B5EF4-FFF2-40B4-BE49-F238E27FC236}">
                  <a16:creationId xmlns:a16="http://schemas.microsoft.com/office/drawing/2014/main" id="{332A7AE5-33D6-45C5-A4E8-4DF9C0A0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914400"/>
              <a:ext cx="3048000" cy="12954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>
                <a:ea typeface="Gulim" panose="020B0600000101010101" pitchFamily="34" charset="-127"/>
              </a:endParaRPr>
            </a:p>
          </p:txBody>
        </p:sp>
        <p:sp>
          <p:nvSpPr>
            <p:cNvPr id="98311" name="Oval 55">
              <a:extLst>
                <a:ext uri="{FF2B5EF4-FFF2-40B4-BE49-F238E27FC236}">
                  <a16:creationId xmlns:a16="http://schemas.microsoft.com/office/drawing/2014/main" id="{9CC219B1-DF7A-4BB4-A6AF-F729701D1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362200"/>
              <a:ext cx="3048000" cy="12954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>
                <a:ea typeface="Gulim" panose="020B0600000101010101" pitchFamily="34" charset="-127"/>
              </a:endParaRPr>
            </a:p>
          </p:txBody>
        </p:sp>
        <p:sp>
          <p:nvSpPr>
            <p:cNvPr id="98312" name="Text Box 3">
              <a:extLst>
                <a:ext uri="{FF2B5EF4-FFF2-40B4-BE49-F238E27FC236}">
                  <a16:creationId xmlns:a16="http://schemas.microsoft.com/office/drawing/2014/main" id="{BD3B8B83-8F8D-47FE-9358-D850EB0A6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914400"/>
              <a:ext cx="166370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2000">
                  <a:ea typeface="Gulim" panose="020B0600000101010101" pitchFamily="34" charset="-127"/>
                </a:rPr>
                <a:t>infrastructure</a:t>
              </a:r>
              <a:br>
                <a:rPr lang="de-DE" altLang="ko-KR" sz="2000">
                  <a:ea typeface="Gulim" panose="020B0600000101010101" pitchFamily="34" charset="-127"/>
                </a:rPr>
              </a:br>
              <a:r>
                <a:rPr lang="de-DE" altLang="ko-KR" sz="2000">
                  <a:ea typeface="Gulim" panose="020B0600000101010101" pitchFamily="34" charset="-127"/>
                </a:rPr>
                <a:t> network</a:t>
              </a:r>
            </a:p>
          </p:txBody>
        </p:sp>
        <p:sp>
          <p:nvSpPr>
            <p:cNvPr id="98313" name="Text Box 4">
              <a:extLst>
                <a:ext uri="{FF2B5EF4-FFF2-40B4-BE49-F238E27FC236}">
                  <a16:creationId xmlns:a16="http://schemas.microsoft.com/office/drawing/2014/main" id="{D3988DC1-5271-44CC-916E-158BD64B6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3886200"/>
              <a:ext cx="19192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2000">
                  <a:ea typeface="Gulim" panose="020B0600000101010101" pitchFamily="34" charset="-127"/>
                </a:rPr>
                <a:t>ad-hoc network</a:t>
              </a:r>
            </a:p>
          </p:txBody>
        </p:sp>
        <p:grpSp>
          <p:nvGrpSpPr>
            <p:cNvPr id="98314" name="Group 40">
              <a:extLst>
                <a:ext uri="{FF2B5EF4-FFF2-40B4-BE49-F238E27FC236}">
                  <a16:creationId xmlns:a16="http://schemas.microsoft.com/office/drawing/2014/main" id="{DC6DBD34-F76C-4104-B401-ABA8C657AE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2514600"/>
              <a:ext cx="381000" cy="304800"/>
              <a:chOff x="1248" y="2736"/>
              <a:chExt cx="240" cy="192"/>
            </a:xfrm>
          </p:grpSpPr>
          <p:sp>
            <p:nvSpPr>
              <p:cNvPr id="99002" name="Line 41">
                <a:extLst>
                  <a:ext uri="{FF2B5EF4-FFF2-40B4-BE49-F238E27FC236}">
                    <a16:creationId xmlns:a16="http://schemas.microsoft.com/office/drawing/2014/main" id="{2E391832-2097-4743-B68D-7CC04DF048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003" name="Line 42">
                <a:extLst>
                  <a:ext uri="{FF2B5EF4-FFF2-40B4-BE49-F238E27FC236}">
                    <a16:creationId xmlns:a16="http://schemas.microsoft.com/office/drawing/2014/main" id="{3C8CBF39-CC55-42F2-8566-A3EA71E58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004" name="Line 43">
                <a:extLst>
                  <a:ext uri="{FF2B5EF4-FFF2-40B4-BE49-F238E27FC236}">
                    <a16:creationId xmlns:a16="http://schemas.microsoft.com/office/drawing/2014/main" id="{7F879954-6E14-4039-9D12-496B578C3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8315" name="Group 44">
              <a:extLst>
                <a:ext uri="{FF2B5EF4-FFF2-40B4-BE49-F238E27FC236}">
                  <a16:creationId xmlns:a16="http://schemas.microsoft.com/office/drawing/2014/main" id="{003C8FBA-87F3-4A2E-9505-9A1DE21391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1371600"/>
              <a:ext cx="381000" cy="304800"/>
              <a:chOff x="1248" y="2736"/>
              <a:chExt cx="240" cy="192"/>
            </a:xfrm>
          </p:grpSpPr>
          <p:sp>
            <p:nvSpPr>
              <p:cNvPr id="98999" name="Line 45">
                <a:extLst>
                  <a:ext uri="{FF2B5EF4-FFF2-40B4-BE49-F238E27FC236}">
                    <a16:creationId xmlns:a16="http://schemas.microsoft.com/office/drawing/2014/main" id="{5556538D-0BFB-499D-AA7F-025EA2EAD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000" name="Line 46">
                <a:extLst>
                  <a:ext uri="{FF2B5EF4-FFF2-40B4-BE49-F238E27FC236}">
                    <a16:creationId xmlns:a16="http://schemas.microsoft.com/office/drawing/2014/main" id="{8EC1709C-1F82-4759-B89B-D0F39EF11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001" name="Line 47">
                <a:extLst>
                  <a:ext uri="{FF2B5EF4-FFF2-40B4-BE49-F238E27FC236}">
                    <a16:creationId xmlns:a16="http://schemas.microsoft.com/office/drawing/2014/main" id="{52A40B5E-C278-4569-95AD-A9D99A69D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8316" name="Group 48">
              <a:extLst>
                <a:ext uri="{FF2B5EF4-FFF2-40B4-BE49-F238E27FC236}">
                  <a16:creationId xmlns:a16="http://schemas.microsoft.com/office/drawing/2014/main" id="{653E37C1-58A1-43BC-A138-BAE3BE7FF91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057400" y="2819400"/>
              <a:ext cx="381000" cy="304800"/>
              <a:chOff x="1248" y="2736"/>
              <a:chExt cx="240" cy="192"/>
            </a:xfrm>
          </p:grpSpPr>
          <p:sp>
            <p:nvSpPr>
              <p:cNvPr id="98996" name="Line 49">
                <a:extLst>
                  <a:ext uri="{FF2B5EF4-FFF2-40B4-BE49-F238E27FC236}">
                    <a16:creationId xmlns:a16="http://schemas.microsoft.com/office/drawing/2014/main" id="{E2BE74A3-F9DE-47C0-8FDF-45712F1CFD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97" name="Line 50">
                <a:extLst>
                  <a:ext uri="{FF2B5EF4-FFF2-40B4-BE49-F238E27FC236}">
                    <a16:creationId xmlns:a16="http://schemas.microsoft.com/office/drawing/2014/main" id="{905C6D17-6033-4080-B163-C191ECA57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98" name="Line 51">
                <a:extLst>
                  <a:ext uri="{FF2B5EF4-FFF2-40B4-BE49-F238E27FC236}">
                    <a16:creationId xmlns:a16="http://schemas.microsoft.com/office/drawing/2014/main" id="{DB18E1DC-AF2D-47D0-A535-6E55121FF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8317" name="Rectangle 57">
              <a:extLst>
                <a:ext uri="{FF2B5EF4-FFF2-40B4-BE49-F238E27FC236}">
                  <a16:creationId xmlns:a16="http://schemas.microsoft.com/office/drawing/2014/main" id="{B40F9278-9131-4740-B7C1-A1429567F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514600"/>
              <a:ext cx="4572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AP</a:t>
              </a:r>
            </a:p>
          </p:txBody>
        </p:sp>
        <p:sp>
          <p:nvSpPr>
            <p:cNvPr id="98318" name="Rectangle 60">
              <a:extLst>
                <a:ext uri="{FF2B5EF4-FFF2-40B4-BE49-F238E27FC236}">
                  <a16:creationId xmlns:a16="http://schemas.microsoft.com/office/drawing/2014/main" id="{908DE85D-20DC-4458-BC5D-E748F5700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2362200"/>
              <a:ext cx="4572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AP</a:t>
              </a:r>
            </a:p>
          </p:txBody>
        </p:sp>
        <p:sp>
          <p:nvSpPr>
            <p:cNvPr id="98319" name="Rectangle 63">
              <a:extLst>
                <a:ext uri="{FF2B5EF4-FFF2-40B4-BE49-F238E27FC236}">
                  <a16:creationId xmlns:a16="http://schemas.microsoft.com/office/drawing/2014/main" id="{96C712D2-592B-45EB-8F75-7438728A1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1905000"/>
              <a:ext cx="4572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AP</a:t>
              </a:r>
            </a:p>
          </p:txBody>
        </p:sp>
        <p:sp>
          <p:nvSpPr>
            <p:cNvPr id="98320" name="Line 71">
              <a:extLst>
                <a:ext uri="{FF2B5EF4-FFF2-40B4-BE49-F238E27FC236}">
                  <a16:creationId xmlns:a16="http://schemas.microsoft.com/office/drawing/2014/main" id="{8D83EBEB-C875-4C9F-B0F5-03B436546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2286000"/>
              <a:ext cx="525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1" name="Line 72">
              <a:extLst>
                <a:ext uri="{FF2B5EF4-FFF2-40B4-BE49-F238E27FC236}">
                  <a16:creationId xmlns:a16="http://schemas.microsoft.com/office/drawing/2014/main" id="{0D66FABA-C84D-465E-B21D-544542097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2286000"/>
              <a:ext cx="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2" name="Line 73">
              <a:extLst>
                <a:ext uri="{FF2B5EF4-FFF2-40B4-BE49-F238E27FC236}">
                  <a16:creationId xmlns:a16="http://schemas.microsoft.com/office/drawing/2014/main" id="{24D335B4-7F48-4F19-8D6E-2E4ABBC1C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2209800"/>
              <a:ext cx="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3" name="Line 74">
              <a:extLst>
                <a:ext uri="{FF2B5EF4-FFF2-40B4-BE49-F238E27FC236}">
                  <a16:creationId xmlns:a16="http://schemas.microsoft.com/office/drawing/2014/main" id="{BB6CCBBD-60A9-4F54-89BD-A7371DDBF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200" y="2286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4" name="Text Box 76">
              <a:extLst>
                <a:ext uri="{FF2B5EF4-FFF2-40B4-BE49-F238E27FC236}">
                  <a16:creationId xmlns:a16="http://schemas.microsoft.com/office/drawing/2014/main" id="{0FAC6EA8-500B-4850-8B81-580EDE7F7C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2362200"/>
              <a:ext cx="14366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wired network</a:t>
              </a:r>
            </a:p>
          </p:txBody>
        </p:sp>
        <p:grpSp>
          <p:nvGrpSpPr>
            <p:cNvPr id="98325" name="Group 78">
              <a:extLst>
                <a:ext uri="{FF2B5EF4-FFF2-40B4-BE49-F238E27FC236}">
                  <a16:creationId xmlns:a16="http://schemas.microsoft.com/office/drawing/2014/main" id="{60BC51B5-74C4-4E8A-A282-751466DC84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5400" y="2667000"/>
              <a:ext cx="381000" cy="304800"/>
              <a:chOff x="1248" y="2736"/>
              <a:chExt cx="240" cy="192"/>
            </a:xfrm>
          </p:grpSpPr>
          <p:sp>
            <p:nvSpPr>
              <p:cNvPr id="98993" name="Line 79">
                <a:extLst>
                  <a:ext uri="{FF2B5EF4-FFF2-40B4-BE49-F238E27FC236}">
                    <a16:creationId xmlns:a16="http://schemas.microsoft.com/office/drawing/2014/main" id="{F5828CC6-AA0E-431D-ABE5-B89A8C09B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94" name="Line 80">
                <a:extLst>
                  <a:ext uri="{FF2B5EF4-FFF2-40B4-BE49-F238E27FC236}">
                    <a16:creationId xmlns:a16="http://schemas.microsoft.com/office/drawing/2014/main" id="{31911422-CD1C-4C3C-AE37-AFCDBAE8C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95" name="Line 81">
                <a:extLst>
                  <a:ext uri="{FF2B5EF4-FFF2-40B4-BE49-F238E27FC236}">
                    <a16:creationId xmlns:a16="http://schemas.microsoft.com/office/drawing/2014/main" id="{9BB310A3-8640-4AC4-AC84-376E930F5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8326" name="Group 86">
              <a:extLst>
                <a:ext uri="{FF2B5EF4-FFF2-40B4-BE49-F238E27FC236}">
                  <a16:creationId xmlns:a16="http://schemas.microsoft.com/office/drawing/2014/main" id="{0E808C2F-EFE9-4F3C-AE7F-0F799E5BD10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91200" y="2895600"/>
              <a:ext cx="381000" cy="304800"/>
              <a:chOff x="1248" y="2736"/>
              <a:chExt cx="240" cy="192"/>
            </a:xfrm>
          </p:grpSpPr>
          <p:sp>
            <p:nvSpPr>
              <p:cNvPr id="98990" name="Line 87">
                <a:extLst>
                  <a:ext uri="{FF2B5EF4-FFF2-40B4-BE49-F238E27FC236}">
                    <a16:creationId xmlns:a16="http://schemas.microsoft.com/office/drawing/2014/main" id="{CA0D39AB-3ECD-447C-BADF-A8421DC24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91" name="Line 88">
                <a:extLst>
                  <a:ext uri="{FF2B5EF4-FFF2-40B4-BE49-F238E27FC236}">
                    <a16:creationId xmlns:a16="http://schemas.microsoft.com/office/drawing/2014/main" id="{419451EE-E76F-48CB-A5CB-5868E9FE7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92" name="Line 89">
                <a:extLst>
                  <a:ext uri="{FF2B5EF4-FFF2-40B4-BE49-F238E27FC236}">
                    <a16:creationId xmlns:a16="http://schemas.microsoft.com/office/drawing/2014/main" id="{8ABB9183-ACD3-49E9-989B-507AC2D46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8327" name="Text Box 98">
              <a:extLst>
                <a:ext uri="{FF2B5EF4-FFF2-40B4-BE49-F238E27FC236}">
                  <a16:creationId xmlns:a16="http://schemas.microsoft.com/office/drawing/2014/main" id="{587C747A-6B16-494E-AE6E-60993A399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1752600"/>
              <a:ext cx="1741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AP: Access Point</a:t>
              </a:r>
            </a:p>
          </p:txBody>
        </p:sp>
        <p:sp>
          <p:nvSpPr>
            <p:cNvPr id="98328" name="Oval 52">
              <a:extLst>
                <a:ext uri="{FF2B5EF4-FFF2-40B4-BE49-F238E27FC236}">
                  <a16:creationId xmlns:a16="http://schemas.microsoft.com/office/drawing/2014/main" id="{639A310B-4881-4CA0-94A4-5F0D69D99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191000"/>
              <a:ext cx="3048000" cy="18288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>
                <a:ea typeface="Gulim" panose="020B0600000101010101" pitchFamily="34" charset="-127"/>
              </a:endParaRPr>
            </a:p>
          </p:txBody>
        </p:sp>
        <p:grpSp>
          <p:nvGrpSpPr>
            <p:cNvPr id="98329" name="Group 32">
              <a:extLst>
                <a:ext uri="{FF2B5EF4-FFF2-40B4-BE49-F238E27FC236}">
                  <a16:creationId xmlns:a16="http://schemas.microsoft.com/office/drawing/2014/main" id="{E90D39EF-95A9-4CCD-9BEC-4B00CFC485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3600" y="4648200"/>
              <a:ext cx="381000" cy="304800"/>
              <a:chOff x="1248" y="2736"/>
              <a:chExt cx="240" cy="192"/>
            </a:xfrm>
          </p:grpSpPr>
          <p:sp>
            <p:nvSpPr>
              <p:cNvPr id="98987" name="Line 33">
                <a:extLst>
                  <a:ext uri="{FF2B5EF4-FFF2-40B4-BE49-F238E27FC236}">
                    <a16:creationId xmlns:a16="http://schemas.microsoft.com/office/drawing/2014/main" id="{39C001A4-4000-443C-81F3-2BF707F71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88" name="Line 34">
                <a:extLst>
                  <a:ext uri="{FF2B5EF4-FFF2-40B4-BE49-F238E27FC236}">
                    <a16:creationId xmlns:a16="http://schemas.microsoft.com/office/drawing/2014/main" id="{6A195842-2C9E-411E-89B7-A38CA7D2D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89" name="Line 35">
                <a:extLst>
                  <a:ext uri="{FF2B5EF4-FFF2-40B4-BE49-F238E27FC236}">
                    <a16:creationId xmlns:a16="http://schemas.microsoft.com/office/drawing/2014/main" id="{E7BEFF54-BD49-4754-A3F5-ED5428618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8330" name="Group 100">
              <a:extLst>
                <a:ext uri="{FF2B5EF4-FFF2-40B4-BE49-F238E27FC236}">
                  <a16:creationId xmlns:a16="http://schemas.microsoft.com/office/drawing/2014/main" id="{64A6E1E6-8916-4FE6-A420-15282F07B4A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019800" y="5334000"/>
              <a:ext cx="381000" cy="304800"/>
              <a:chOff x="1248" y="2736"/>
              <a:chExt cx="240" cy="192"/>
            </a:xfrm>
          </p:grpSpPr>
          <p:sp>
            <p:nvSpPr>
              <p:cNvPr id="98984" name="Line 101">
                <a:extLst>
                  <a:ext uri="{FF2B5EF4-FFF2-40B4-BE49-F238E27FC236}">
                    <a16:creationId xmlns:a16="http://schemas.microsoft.com/office/drawing/2014/main" id="{7FBCAD60-12B7-4F0F-9B8B-E6F903C48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85" name="Line 102">
                <a:extLst>
                  <a:ext uri="{FF2B5EF4-FFF2-40B4-BE49-F238E27FC236}">
                    <a16:creationId xmlns:a16="http://schemas.microsoft.com/office/drawing/2014/main" id="{505335ED-8529-4263-B9C1-F8B04F9FF5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86" name="Line 103">
                <a:extLst>
                  <a:ext uri="{FF2B5EF4-FFF2-40B4-BE49-F238E27FC236}">
                    <a16:creationId xmlns:a16="http://schemas.microsoft.com/office/drawing/2014/main" id="{FB59FBF0-4A0D-485C-BFA4-FC87A8A175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8331" name="Oval 53">
              <a:extLst>
                <a:ext uri="{FF2B5EF4-FFF2-40B4-BE49-F238E27FC236}">
                  <a16:creationId xmlns:a16="http://schemas.microsoft.com/office/drawing/2014/main" id="{DD83431C-DA7B-452C-9E77-D9C27683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4267200"/>
              <a:ext cx="3048000" cy="182880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>
                <a:ea typeface="Gulim" panose="020B0600000101010101" pitchFamily="34" charset="-127"/>
              </a:endParaRPr>
            </a:p>
          </p:txBody>
        </p:sp>
        <p:grpSp>
          <p:nvGrpSpPr>
            <p:cNvPr id="98332" name="Group 36">
              <a:extLst>
                <a:ext uri="{FF2B5EF4-FFF2-40B4-BE49-F238E27FC236}">
                  <a16:creationId xmlns:a16="http://schemas.microsoft.com/office/drawing/2014/main" id="{1957E757-E026-4323-8F00-8B5EC2288B4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965325" y="5013325"/>
              <a:ext cx="381000" cy="304800"/>
              <a:chOff x="1248" y="2736"/>
              <a:chExt cx="240" cy="192"/>
            </a:xfrm>
          </p:grpSpPr>
          <p:sp>
            <p:nvSpPr>
              <p:cNvPr id="98981" name="Line 37">
                <a:extLst>
                  <a:ext uri="{FF2B5EF4-FFF2-40B4-BE49-F238E27FC236}">
                    <a16:creationId xmlns:a16="http://schemas.microsoft.com/office/drawing/2014/main" id="{057577E7-188A-47AF-ABF7-F3B02B902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82" name="Line 38">
                <a:extLst>
                  <a:ext uri="{FF2B5EF4-FFF2-40B4-BE49-F238E27FC236}">
                    <a16:creationId xmlns:a16="http://schemas.microsoft.com/office/drawing/2014/main" id="{F01E8AC4-4F2A-4503-A5BF-9BB501DFF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83" name="Line 39">
                <a:extLst>
                  <a:ext uri="{FF2B5EF4-FFF2-40B4-BE49-F238E27FC236}">
                    <a16:creationId xmlns:a16="http://schemas.microsoft.com/office/drawing/2014/main" id="{3DAEABB6-5301-49D7-A4A8-77763AF28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98333" name="Picture 104">
              <a:extLst>
                <a:ext uri="{FF2B5EF4-FFF2-40B4-BE49-F238E27FC236}">
                  <a16:creationId xmlns:a16="http://schemas.microsoft.com/office/drawing/2014/main" id="{20A333CA-C76D-476C-BE54-FD0112A35A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7325" y="4403725"/>
              <a:ext cx="4699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34" name="Picture 106">
              <a:extLst>
                <a:ext uri="{FF2B5EF4-FFF2-40B4-BE49-F238E27FC236}">
                  <a16:creationId xmlns:a16="http://schemas.microsoft.com/office/drawing/2014/main" id="{E8B73AB4-E6C4-4DAA-AB64-0CCBC9A2A1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0125" y="5318125"/>
              <a:ext cx="4699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8335" name="Group 107">
              <a:extLst>
                <a:ext uri="{FF2B5EF4-FFF2-40B4-BE49-F238E27FC236}">
                  <a16:creationId xmlns:a16="http://schemas.microsoft.com/office/drawing/2014/main" id="{112003BE-8262-4D36-9EA1-452C9371A8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7725" y="4632325"/>
              <a:ext cx="381000" cy="304800"/>
              <a:chOff x="1248" y="2736"/>
              <a:chExt cx="240" cy="192"/>
            </a:xfrm>
          </p:grpSpPr>
          <p:sp>
            <p:nvSpPr>
              <p:cNvPr id="98978" name="Line 108">
                <a:extLst>
                  <a:ext uri="{FF2B5EF4-FFF2-40B4-BE49-F238E27FC236}">
                    <a16:creationId xmlns:a16="http://schemas.microsoft.com/office/drawing/2014/main" id="{F0387430-4E11-426F-BD4E-B9C96A705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79" name="Line 109">
                <a:extLst>
                  <a:ext uri="{FF2B5EF4-FFF2-40B4-BE49-F238E27FC236}">
                    <a16:creationId xmlns:a16="http://schemas.microsoft.com/office/drawing/2014/main" id="{4BB8F6D8-1A15-4F48-BC96-3523CD14B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80" name="Line 110">
                <a:extLst>
                  <a:ext uri="{FF2B5EF4-FFF2-40B4-BE49-F238E27FC236}">
                    <a16:creationId xmlns:a16="http://schemas.microsoft.com/office/drawing/2014/main" id="{B13EBFF8-4C18-4FBC-9DDE-606CA9A7ED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8336" name="Group 111">
              <a:extLst>
                <a:ext uri="{FF2B5EF4-FFF2-40B4-BE49-F238E27FC236}">
                  <a16:creationId xmlns:a16="http://schemas.microsoft.com/office/drawing/2014/main" id="{7B62FF53-9347-4E4A-A3C9-115EDB554D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325" y="5089525"/>
              <a:ext cx="381000" cy="304800"/>
              <a:chOff x="1248" y="2736"/>
              <a:chExt cx="240" cy="192"/>
            </a:xfrm>
          </p:grpSpPr>
          <p:sp>
            <p:nvSpPr>
              <p:cNvPr id="98975" name="Line 112">
                <a:extLst>
                  <a:ext uri="{FF2B5EF4-FFF2-40B4-BE49-F238E27FC236}">
                    <a16:creationId xmlns:a16="http://schemas.microsoft.com/office/drawing/2014/main" id="{64534F1B-5842-45DE-8267-C5AE95A925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76" name="Line 113">
                <a:extLst>
                  <a:ext uri="{FF2B5EF4-FFF2-40B4-BE49-F238E27FC236}">
                    <a16:creationId xmlns:a16="http://schemas.microsoft.com/office/drawing/2014/main" id="{222C081A-7F3A-4BEF-B3C0-EDB480D2F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977" name="Line 114">
                <a:extLst>
                  <a:ext uri="{FF2B5EF4-FFF2-40B4-BE49-F238E27FC236}">
                    <a16:creationId xmlns:a16="http://schemas.microsoft.com/office/drawing/2014/main" id="{E43CAEEE-5D35-4348-AB41-F722B050E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8337" name="Group 240">
              <a:extLst>
                <a:ext uri="{FF2B5EF4-FFF2-40B4-BE49-F238E27FC236}">
                  <a16:creationId xmlns:a16="http://schemas.microsoft.com/office/drawing/2014/main" id="{ADAFE276-3292-429F-9AF0-C341C7F6EA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0" y="4800600"/>
              <a:ext cx="469900" cy="685800"/>
              <a:chOff x="3360" y="3024"/>
              <a:chExt cx="296" cy="432"/>
            </a:xfrm>
          </p:grpSpPr>
          <p:sp>
            <p:nvSpPr>
              <p:cNvPr id="98871" name="Freeform 136">
                <a:extLst>
                  <a:ext uri="{FF2B5EF4-FFF2-40B4-BE49-F238E27FC236}">
                    <a16:creationId xmlns:a16="http://schemas.microsoft.com/office/drawing/2014/main" id="{3F91F58B-3B64-489D-AE7E-9FF3A153E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8"/>
                <a:ext cx="9" cy="5"/>
              </a:xfrm>
              <a:custGeom>
                <a:avLst/>
                <a:gdLst>
                  <a:gd name="T0" fmla="*/ 0 w 206"/>
                  <a:gd name="T1" fmla="*/ 0 h 84"/>
                  <a:gd name="T2" fmla="*/ 0 w 206"/>
                  <a:gd name="T3" fmla="*/ 0 h 84"/>
                  <a:gd name="T4" fmla="*/ 0 w 206"/>
                  <a:gd name="T5" fmla="*/ 0 h 84"/>
                  <a:gd name="T6" fmla="*/ 0 w 206"/>
                  <a:gd name="T7" fmla="*/ 0 h 84"/>
                  <a:gd name="T8" fmla="*/ 0 w 206"/>
                  <a:gd name="T9" fmla="*/ 0 h 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84"/>
                  <a:gd name="T17" fmla="*/ 206 w 206"/>
                  <a:gd name="T18" fmla="*/ 84 h 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84">
                    <a:moveTo>
                      <a:pt x="0" y="67"/>
                    </a:moveTo>
                    <a:lnTo>
                      <a:pt x="199" y="0"/>
                    </a:lnTo>
                    <a:lnTo>
                      <a:pt x="206" y="17"/>
                    </a:lnTo>
                    <a:lnTo>
                      <a:pt x="7" y="84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72" name="Freeform 137">
                <a:extLst>
                  <a:ext uri="{FF2B5EF4-FFF2-40B4-BE49-F238E27FC236}">
                    <a16:creationId xmlns:a16="http://schemas.microsoft.com/office/drawing/2014/main" id="{3458A18B-8B1F-4757-AB5F-2CF8BC53A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3450"/>
                <a:ext cx="3" cy="6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"/>
                  <a:gd name="T37" fmla="*/ 0 h 108"/>
                  <a:gd name="T38" fmla="*/ 82 w 82"/>
                  <a:gd name="T39" fmla="*/ 108 h 10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" h="108">
                    <a:moveTo>
                      <a:pt x="45" y="0"/>
                    </a:moveTo>
                    <a:lnTo>
                      <a:pt x="80" y="77"/>
                    </a:lnTo>
                    <a:lnTo>
                      <a:pt x="82" y="87"/>
                    </a:lnTo>
                    <a:lnTo>
                      <a:pt x="80" y="95"/>
                    </a:lnTo>
                    <a:lnTo>
                      <a:pt x="74" y="102"/>
                    </a:lnTo>
                    <a:lnTo>
                      <a:pt x="66" y="106"/>
                    </a:lnTo>
                    <a:lnTo>
                      <a:pt x="57" y="108"/>
                    </a:lnTo>
                    <a:lnTo>
                      <a:pt x="49" y="106"/>
                    </a:lnTo>
                    <a:lnTo>
                      <a:pt x="41" y="102"/>
                    </a:lnTo>
                    <a:lnTo>
                      <a:pt x="35" y="93"/>
                    </a:lnTo>
                    <a:lnTo>
                      <a:pt x="0" y="16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73" name="Freeform 138">
                <a:extLst>
                  <a:ext uri="{FF2B5EF4-FFF2-40B4-BE49-F238E27FC236}">
                    <a16:creationId xmlns:a16="http://schemas.microsoft.com/office/drawing/2014/main" id="{9557089B-01DE-4382-AB10-C187BEB44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33"/>
                <a:ext cx="13" cy="18"/>
              </a:xfrm>
              <a:custGeom>
                <a:avLst/>
                <a:gdLst>
                  <a:gd name="T0" fmla="*/ 0 w 293"/>
                  <a:gd name="T1" fmla="*/ 0 h 319"/>
                  <a:gd name="T2" fmla="*/ 0 w 293"/>
                  <a:gd name="T3" fmla="*/ 0 h 319"/>
                  <a:gd name="T4" fmla="*/ 0 w 293"/>
                  <a:gd name="T5" fmla="*/ 0 h 319"/>
                  <a:gd name="T6" fmla="*/ 0 w 293"/>
                  <a:gd name="T7" fmla="*/ 0 h 319"/>
                  <a:gd name="T8" fmla="*/ 0 w 293"/>
                  <a:gd name="T9" fmla="*/ 0 h 319"/>
                  <a:gd name="T10" fmla="*/ 0 w 293"/>
                  <a:gd name="T11" fmla="*/ 0 h 319"/>
                  <a:gd name="T12" fmla="*/ 0 w 293"/>
                  <a:gd name="T13" fmla="*/ 0 h 319"/>
                  <a:gd name="T14" fmla="*/ 0 w 293"/>
                  <a:gd name="T15" fmla="*/ 0 h 319"/>
                  <a:gd name="T16" fmla="*/ 0 w 293"/>
                  <a:gd name="T17" fmla="*/ 0 h 319"/>
                  <a:gd name="T18" fmla="*/ 0 w 293"/>
                  <a:gd name="T19" fmla="*/ 0 h 319"/>
                  <a:gd name="T20" fmla="*/ 0 w 293"/>
                  <a:gd name="T21" fmla="*/ 0 h 319"/>
                  <a:gd name="T22" fmla="*/ 0 w 293"/>
                  <a:gd name="T23" fmla="*/ 0 h 319"/>
                  <a:gd name="T24" fmla="*/ 0 w 293"/>
                  <a:gd name="T25" fmla="*/ 0 h 319"/>
                  <a:gd name="T26" fmla="*/ 0 w 293"/>
                  <a:gd name="T27" fmla="*/ 0 h 319"/>
                  <a:gd name="T28" fmla="*/ 0 w 293"/>
                  <a:gd name="T29" fmla="*/ 0 h 319"/>
                  <a:gd name="T30" fmla="*/ 0 w 293"/>
                  <a:gd name="T31" fmla="*/ 0 h 319"/>
                  <a:gd name="T32" fmla="*/ 0 w 293"/>
                  <a:gd name="T33" fmla="*/ 0 h 319"/>
                  <a:gd name="T34" fmla="*/ 0 w 293"/>
                  <a:gd name="T35" fmla="*/ 0 h 319"/>
                  <a:gd name="T36" fmla="*/ 0 w 293"/>
                  <a:gd name="T37" fmla="*/ 0 h 319"/>
                  <a:gd name="T38" fmla="*/ 0 w 293"/>
                  <a:gd name="T39" fmla="*/ 0 h 319"/>
                  <a:gd name="T40" fmla="*/ 0 w 293"/>
                  <a:gd name="T41" fmla="*/ 0 h 319"/>
                  <a:gd name="T42" fmla="*/ 0 w 293"/>
                  <a:gd name="T43" fmla="*/ 0 h 319"/>
                  <a:gd name="T44" fmla="*/ 0 w 293"/>
                  <a:gd name="T45" fmla="*/ 0 h 319"/>
                  <a:gd name="T46" fmla="*/ 0 w 293"/>
                  <a:gd name="T47" fmla="*/ 0 h 319"/>
                  <a:gd name="T48" fmla="*/ 0 w 293"/>
                  <a:gd name="T49" fmla="*/ 0 h 319"/>
                  <a:gd name="T50" fmla="*/ 0 w 293"/>
                  <a:gd name="T51" fmla="*/ 0 h 319"/>
                  <a:gd name="T52" fmla="*/ 0 w 293"/>
                  <a:gd name="T53" fmla="*/ 0 h 319"/>
                  <a:gd name="T54" fmla="*/ 0 w 293"/>
                  <a:gd name="T55" fmla="*/ 0 h 319"/>
                  <a:gd name="T56" fmla="*/ 0 w 293"/>
                  <a:gd name="T57" fmla="*/ 0 h 319"/>
                  <a:gd name="T58" fmla="*/ 0 w 293"/>
                  <a:gd name="T59" fmla="*/ 0 h 319"/>
                  <a:gd name="T60" fmla="*/ 0 w 293"/>
                  <a:gd name="T61" fmla="*/ 0 h 319"/>
                  <a:gd name="T62" fmla="*/ 0 w 293"/>
                  <a:gd name="T63" fmla="*/ 0 h 319"/>
                  <a:gd name="T64" fmla="*/ 0 w 293"/>
                  <a:gd name="T65" fmla="*/ 0 h 319"/>
                  <a:gd name="T66" fmla="*/ 0 w 293"/>
                  <a:gd name="T67" fmla="*/ 0 h 319"/>
                  <a:gd name="T68" fmla="*/ 0 w 293"/>
                  <a:gd name="T69" fmla="*/ 0 h 319"/>
                  <a:gd name="T70" fmla="*/ 0 w 293"/>
                  <a:gd name="T71" fmla="*/ 0 h 319"/>
                  <a:gd name="T72" fmla="*/ 0 w 293"/>
                  <a:gd name="T73" fmla="*/ 0 h 319"/>
                  <a:gd name="T74" fmla="*/ 0 w 293"/>
                  <a:gd name="T75" fmla="*/ 0 h 319"/>
                  <a:gd name="T76" fmla="*/ 0 w 293"/>
                  <a:gd name="T77" fmla="*/ 0 h 319"/>
                  <a:gd name="T78" fmla="*/ 0 w 293"/>
                  <a:gd name="T79" fmla="*/ 0 h 319"/>
                  <a:gd name="T80" fmla="*/ 0 w 293"/>
                  <a:gd name="T81" fmla="*/ 0 h 31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93"/>
                  <a:gd name="T124" fmla="*/ 0 h 319"/>
                  <a:gd name="T125" fmla="*/ 293 w 293"/>
                  <a:gd name="T126" fmla="*/ 319 h 31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93" h="319">
                    <a:moveTo>
                      <a:pt x="247" y="317"/>
                    </a:moveTo>
                    <a:lnTo>
                      <a:pt x="261" y="307"/>
                    </a:lnTo>
                    <a:lnTo>
                      <a:pt x="275" y="287"/>
                    </a:lnTo>
                    <a:lnTo>
                      <a:pt x="285" y="256"/>
                    </a:lnTo>
                    <a:lnTo>
                      <a:pt x="292" y="218"/>
                    </a:lnTo>
                    <a:lnTo>
                      <a:pt x="293" y="173"/>
                    </a:lnTo>
                    <a:lnTo>
                      <a:pt x="288" y="120"/>
                    </a:lnTo>
                    <a:lnTo>
                      <a:pt x="274" y="62"/>
                    </a:lnTo>
                    <a:lnTo>
                      <a:pt x="251" y="0"/>
                    </a:lnTo>
                    <a:lnTo>
                      <a:pt x="235" y="5"/>
                    </a:lnTo>
                    <a:lnTo>
                      <a:pt x="219" y="10"/>
                    </a:lnTo>
                    <a:lnTo>
                      <a:pt x="204" y="17"/>
                    </a:lnTo>
                    <a:lnTo>
                      <a:pt x="188" y="22"/>
                    </a:lnTo>
                    <a:lnTo>
                      <a:pt x="172" y="28"/>
                    </a:lnTo>
                    <a:lnTo>
                      <a:pt x="157" y="34"/>
                    </a:lnTo>
                    <a:lnTo>
                      <a:pt x="140" y="40"/>
                    </a:lnTo>
                    <a:lnTo>
                      <a:pt x="125" y="45"/>
                    </a:lnTo>
                    <a:lnTo>
                      <a:pt x="110" y="52"/>
                    </a:lnTo>
                    <a:lnTo>
                      <a:pt x="94" y="58"/>
                    </a:lnTo>
                    <a:lnTo>
                      <a:pt x="78" y="63"/>
                    </a:lnTo>
                    <a:lnTo>
                      <a:pt x="63" y="69"/>
                    </a:lnTo>
                    <a:lnTo>
                      <a:pt x="47" y="75"/>
                    </a:lnTo>
                    <a:lnTo>
                      <a:pt x="31" y="81"/>
                    </a:lnTo>
                    <a:lnTo>
                      <a:pt x="15" y="86"/>
                    </a:lnTo>
                    <a:lnTo>
                      <a:pt x="0" y="92"/>
                    </a:lnTo>
                    <a:lnTo>
                      <a:pt x="15" y="122"/>
                    </a:lnTo>
                    <a:lnTo>
                      <a:pt x="30" y="152"/>
                    </a:lnTo>
                    <a:lnTo>
                      <a:pt x="48" y="177"/>
                    </a:lnTo>
                    <a:lnTo>
                      <a:pt x="65" y="201"/>
                    </a:lnTo>
                    <a:lnTo>
                      <a:pt x="82" y="222"/>
                    </a:lnTo>
                    <a:lnTo>
                      <a:pt x="101" y="242"/>
                    </a:lnTo>
                    <a:lnTo>
                      <a:pt x="119" y="259"/>
                    </a:lnTo>
                    <a:lnTo>
                      <a:pt x="136" y="274"/>
                    </a:lnTo>
                    <a:lnTo>
                      <a:pt x="154" y="287"/>
                    </a:lnTo>
                    <a:lnTo>
                      <a:pt x="171" y="297"/>
                    </a:lnTo>
                    <a:lnTo>
                      <a:pt x="186" y="306"/>
                    </a:lnTo>
                    <a:lnTo>
                      <a:pt x="202" y="312"/>
                    </a:lnTo>
                    <a:lnTo>
                      <a:pt x="215" y="316"/>
                    </a:lnTo>
                    <a:lnTo>
                      <a:pt x="227" y="318"/>
                    </a:lnTo>
                    <a:lnTo>
                      <a:pt x="238" y="319"/>
                    </a:lnTo>
                    <a:lnTo>
                      <a:pt x="247" y="31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74" name="Freeform 139">
                <a:extLst>
                  <a:ext uri="{FF2B5EF4-FFF2-40B4-BE49-F238E27FC236}">
                    <a16:creationId xmlns:a16="http://schemas.microsoft.com/office/drawing/2014/main" id="{ED6DE0B2-49AF-44B1-AE6C-3E27A6C55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9"/>
                <a:ext cx="60" cy="139"/>
              </a:xfrm>
              <a:custGeom>
                <a:avLst/>
                <a:gdLst>
                  <a:gd name="T0" fmla="*/ 0 w 1314"/>
                  <a:gd name="T1" fmla="*/ 0 h 2506"/>
                  <a:gd name="T2" fmla="*/ 0 w 1314"/>
                  <a:gd name="T3" fmla="*/ 0 h 2506"/>
                  <a:gd name="T4" fmla="*/ 0 w 1314"/>
                  <a:gd name="T5" fmla="*/ 0 h 2506"/>
                  <a:gd name="T6" fmla="*/ 0 w 1314"/>
                  <a:gd name="T7" fmla="*/ 0 h 2506"/>
                  <a:gd name="T8" fmla="*/ 0 w 1314"/>
                  <a:gd name="T9" fmla="*/ 0 h 25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4"/>
                  <a:gd name="T16" fmla="*/ 0 h 2506"/>
                  <a:gd name="T17" fmla="*/ 1314 w 1314"/>
                  <a:gd name="T18" fmla="*/ 2506 h 25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4" h="2506">
                    <a:moveTo>
                      <a:pt x="198" y="0"/>
                    </a:moveTo>
                    <a:lnTo>
                      <a:pt x="0" y="66"/>
                    </a:lnTo>
                    <a:lnTo>
                      <a:pt x="1064" y="2506"/>
                    </a:lnTo>
                    <a:lnTo>
                      <a:pt x="1314" y="2421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75" name="Freeform 140">
                <a:extLst>
                  <a:ext uri="{FF2B5EF4-FFF2-40B4-BE49-F238E27FC236}">
                    <a16:creationId xmlns:a16="http://schemas.microsoft.com/office/drawing/2014/main" id="{CABBB07A-8312-49E5-AEF4-AB971B4A2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3292"/>
                <a:ext cx="11" cy="10"/>
              </a:xfrm>
              <a:custGeom>
                <a:avLst/>
                <a:gdLst>
                  <a:gd name="T0" fmla="*/ 0 w 235"/>
                  <a:gd name="T1" fmla="*/ 0 h 179"/>
                  <a:gd name="T2" fmla="*/ 0 w 235"/>
                  <a:gd name="T3" fmla="*/ 0 h 179"/>
                  <a:gd name="T4" fmla="*/ 0 w 235"/>
                  <a:gd name="T5" fmla="*/ 0 h 179"/>
                  <a:gd name="T6" fmla="*/ 0 w 235"/>
                  <a:gd name="T7" fmla="*/ 0 h 179"/>
                  <a:gd name="T8" fmla="*/ 0 w 235"/>
                  <a:gd name="T9" fmla="*/ 0 h 179"/>
                  <a:gd name="T10" fmla="*/ 0 w 235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179"/>
                  <a:gd name="T20" fmla="*/ 235 w 235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179">
                    <a:moveTo>
                      <a:pt x="235" y="111"/>
                    </a:moveTo>
                    <a:lnTo>
                      <a:pt x="36" y="179"/>
                    </a:lnTo>
                    <a:lnTo>
                      <a:pt x="0" y="97"/>
                    </a:lnTo>
                    <a:lnTo>
                      <a:pt x="70" y="0"/>
                    </a:lnTo>
                    <a:lnTo>
                      <a:pt x="199" y="30"/>
                    </a:lnTo>
                    <a:lnTo>
                      <a:pt x="235" y="111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76" name="Freeform 141">
                <a:extLst>
                  <a:ext uri="{FF2B5EF4-FFF2-40B4-BE49-F238E27FC236}">
                    <a16:creationId xmlns:a16="http://schemas.microsoft.com/office/drawing/2014/main" id="{B4FDD8C6-2CBA-4483-B42B-044AB04EA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103"/>
                <a:ext cx="208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6"/>
                    </a:moveTo>
                    <a:lnTo>
                      <a:pt x="3650" y="0"/>
                    </a:lnTo>
                    <a:lnTo>
                      <a:pt x="4569" y="1998"/>
                    </a:lnTo>
                    <a:lnTo>
                      <a:pt x="873" y="3641"/>
                    </a:lnTo>
                    <a:lnTo>
                      <a:pt x="0" y="162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77" name="Freeform 142">
                <a:extLst>
                  <a:ext uri="{FF2B5EF4-FFF2-40B4-BE49-F238E27FC236}">
                    <a16:creationId xmlns:a16="http://schemas.microsoft.com/office/drawing/2014/main" id="{E9DD2D81-D5A9-47DF-AC90-E4AF901596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5" y="3045"/>
                <a:ext cx="271" cy="393"/>
              </a:xfrm>
              <a:custGeom>
                <a:avLst/>
                <a:gdLst>
                  <a:gd name="T0" fmla="*/ 0 w 5957"/>
                  <a:gd name="T1" fmla="*/ 0 h 7066"/>
                  <a:gd name="T2" fmla="*/ 0 w 5957"/>
                  <a:gd name="T3" fmla="*/ 0 h 7066"/>
                  <a:gd name="T4" fmla="*/ 0 w 5957"/>
                  <a:gd name="T5" fmla="*/ 0 h 7066"/>
                  <a:gd name="T6" fmla="*/ 0 w 5957"/>
                  <a:gd name="T7" fmla="*/ 0 h 7066"/>
                  <a:gd name="T8" fmla="*/ 0 w 5957"/>
                  <a:gd name="T9" fmla="*/ 0 h 7066"/>
                  <a:gd name="T10" fmla="*/ 0 w 5957"/>
                  <a:gd name="T11" fmla="*/ 0 h 7066"/>
                  <a:gd name="T12" fmla="*/ 0 w 5957"/>
                  <a:gd name="T13" fmla="*/ 0 h 7066"/>
                  <a:gd name="T14" fmla="*/ 0 w 5957"/>
                  <a:gd name="T15" fmla="*/ 0 h 7066"/>
                  <a:gd name="T16" fmla="*/ 0 w 5957"/>
                  <a:gd name="T17" fmla="*/ 0 h 7066"/>
                  <a:gd name="T18" fmla="*/ 0 w 5957"/>
                  <a:gd name="T19" fmla="*/ 0 h 7066"/>
                  <a:gd name="T20" fmla="*/ 0 w 5957"/>
                  <a:gd name="T21" fmla="*/ 0 h 7066"/>
                  <a:gd name="T22" fmla="*/ 0 w 5957"/>
                  <a:gd name="T23" fmla="*/ 0 h 7066"/>
                  <a:gd name="T24" fmla="*/ 0 w 5957"/>
                  <a:gd name="T25" fmla="*/ 0 h 7066"/>
                  <a:gd name="T26" fmla="*/ 0 w 5957"/>
                  <a:gd name="T27" fmla="*/ 0 h 7066"/>
                  <a:gd name="T28" fmla="*/ 0 w 5957"/>
                  <a:gd name="T29" fmla="*/ 0 h 7066"/>
                  <a:gd name="T30" fmla="*/ 0 w 5957"/>
                  <a:gd name="T31" fmla="*/ 0 h 7066"/>
                  <a:gd name="T32" fmla="*/ 0 w 5957"/>
                  <a:gd name="T33" fmla="*/ 0 h 7066"/>
                  <a:gd name="T34" fmla="*/ 0 w 5957"/>
                  <a:gd name="T35" fmla="*/ 0 h 7066"/>
                  <a:gd name="T36" fmla="*/ 0 w 5957"/>
                  <a:gd name="T37" fmla="*/ 0 h 7066"/>
                  <a:gd name="T38" fmla="*/ 0 w 5957"/>
                  <a:gd name="T39" fmla="*/ 0 h 7066"/>
                  <a:gd name="T40" fmla="*/ 0 w 5957"/>
                  <a:gd name="T41" fmla="*/ 0 h 7066"/>
                  <a:gd name="T42" fmla="*/ 0 w 5957"/>
                  <a:gd name="T43" fmla="*/ 0 h 7066"/>
                  <a:gd name="T44" fmla="*/ 0 w 5957"/>
                  <a:gd name="T45" fmla="*/ 0 h 7066"/>
                  <a:gd name="T46" fmla="*/ 0 w 5957"/>
                  <a:gd name="T47" fmla="*/ 0 h 7066"/>
                  <a:gd name="T48" fmla="*/ 0 w 5957"/>
                  <a:gd name="T49" fmla="*/ 0 h 7066"/>
                  <a:gd name="T50" fmla="*/ 0 w 5957"/>
                  <a:gd name="T51" fmla="*/ 0 h 7066"/>
                  <a:gd name="T52" fmla="*/ 0 w 5957"/>
                  <a:gd name="T53" fmla="*/ 0 h 7066"/>
                  <a:gd name="T54" fmla="*/ 0 w 5957"/>
                  <a:gd name="T55" fmla="*/ 0 h 7066"/>
                  <a:gd name="T56" fmla="*/ 0 w 5957"/>
                  <a:gd name="T57" fmla="*/ 0 h 7066"/>
                  <a:gd name="T58" fmla="*/ 0 w 5957"/>
                  <a:gd name="T59" fmla="*/ 0 h 7066"/>
                  <a:gd name="T60" fmla="*/ 0 w 5957"/>
                  <a:gd name="T61" fmla="*/ 0 h 7066"/>
                  <a:gd name="T62" fmla="*/ 0 w 5957"/>
                  <a:gd name="T63" fmla="*/ 0 h 7066"/>
                  <a:gd name="T64" fmla="*/ 0 w 5957"/>
                  <a:gd name="T65" fmla="*/ 0 h 7066"/>
                  <a:gd name="T66" fmla="*/ 0 w 5957"/>
                  <a:gd name="T67" fmla="*/ 0 h 7066"/>
                  <a:gd name="T68" fmla="*/ 0 w 5957"/>
                  <a:gd name="T69" fmla="*/ 0 h 7066"/>
                  <a:gd name="T70" fmla="*/ 0 w 5957"/>
                  <a:gd name="T71" fmla="*/ 0 h 7066"/>
                  <a:gd name="T72" fmla="*/ 0 w 5957"/>
                  <a:gd name="T73" fmla="*/ 0 h 706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6"/>
                  <a:gd name="T113" fmla="*/ 5957 w 5957"/>
                  <a:gd name="T114" fmla="*/ 7066 h 706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6">
                    <a:moveTo>
                      <a:pt x="2496" y="7056"/>
                    </a:moveTo>
                    <a:lnTo>
                      <a:pt x="5894" y="5433"/>
                    </a:lnTo>
                    <a:lnTo>
                      <a:pt x="5912" y="5421"/>
                    </a:lnTo>
                    <a:lnTo>
                      <a:pt x="5927" y="5407"/>
                    </a:lnTo>
                    <a:lnTo>
                      <a:pt x="5941" y="5389"/>
                    </a:lnTo>
                    <a:lnTo>
                      <a:pt x="5950" y="5369"/>
                    </a:lnTo>
                    <a:lnTo>
                      <a:pt x="5955" y="5348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5"/>
                    </a:lnTo>
                    <a:lnTo>
                      <a:pt x="3492" y="47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9"/>
                    </a:lnTo>
                    <a:lnTo>
                      <a:pt x="3420" y="3"/>
                    </a:lnTo>
                    <a:lnTo>
                      <a:pt x="3399" y="0"/>
                    </a:lnTo>
                    <a:lnTo>
                      <a:pt x="3377" y="3"/>
                    </a:lnTo>
                    <a:lnTo>
                      <a:pt x="3357" y="9"/>
                    </a:lnTo>
                    <a:lnTo>
                      <a:pt x="63" y="1487"/>
                    </a:lnTo>
                    <a:lnTo>
                      <a:pt x="45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6"/>
                    </a:lnTo>
                    <a:lnTo>
                      <a:pt x="9" y="1637"/>
                    </a:lnTo>
                    <a:lnTo>
                      <a:pt x="2350" y="7000"/>
                    </a:lnTo>
                    <a:lnTo>
                      <a:pt x="2361" y="7018"/>
                    </a:lnTo>
                    <a:lnTo>
                      <a:pt x="2376" y="7034"/>
                    </a:lnTo>
                    <a:lnTo>
                      <a:pt x="2393" y="7048"/>
                    </a:lnTo>
                    <a:lnTo>
                      <a:pt x="2412" y="7057"/>
                    </a:lnTo>
                    <a:lnTo>
                      <a:pt x="2433" y="7064"/>
                    </a:lnTo>
                    <a:lnTo>
                      <a:pt x="2454" y="7066"/>
                    </a:lnTo>
                    <a:lnTo>
                      <a:pt x="2476" y="7064"/>
                    </a:lnTo>
                    <a:lnTo>
                      <a:pt x="2496" y="705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78" name="Freeform 143">
                <a:extLst>
                  <a:ext uri="{FF2B5EF4-FFF2-40B4-BE49-F238E27FC236}">
                    <a16:creationId xmlns:a16="http://schemas.microsoft.com/office/drawing/2014/main" id="{479A16D8-4543-480A-A690-E22C0E581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096"/>
                <a:ext cx="51" cy="121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7" y="2127"/>
                    </a:moveTo>
                    <a:lnTo>
                      <a:pt x="0" y="131"/>
                    </a:lnTo>
                    <a:lnTo>
                      <a:pt x="33" y="0"/>
                    </a:lnTo>
                    <a:lnTo>
                      <a:pt x="70" y="14"/>
                    </a:lnTo>
                    <a:lnTo>
                      <a:pt x="106" y="29"/>
                    </a:lnTo>
                    <a:lnTo>
                      <a:pt x="143" y="44"/>
                    </a:lnTo>
                    <a:lnTo>
                      <a:pt x="180" y="61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8" y="159"/>
                    </a:lnTo>
                    <a:lnTo>
                      <a:pt x="393" y="181"/>
                    </a:lnTo>
                    <a:lnTo>
                      <a:pt x="428" y="204"/>
                    </a:lnTo>
                    <a:lnTo>
                      <a:pt x="461" y="228"/>
                    </a:lnTo>
                    <a:lnTo>
                      <a:pt x="495" y="252"/>
                    </a:lnTo>
                    <a:lnTo>
                      <a:pt x="528" y="279"/>
                    </a:lnTo>
                    <a:lnTo>
                      <a:pt x="560" y="305"/>
                    </a:lnTo>
                    <a:lnTo>
                      <a:pt x="592" y="333"/>
                    </a:lnTo>
                    <a:lnTo>
                      <a:pt x="624" y="361"/>
                    </a:lnTo>
                    <a:lnTo>
                      <a:pt x="654" y="389"/>
                    </a:lnTo>
                    <a:lnTo>
                      <a:pt x="684" y="419"/>
                    </a:lnTo>
                    <a:lnTo>
                      <a:pt x="713" y="450"/>
                    </a:lnTo>
                    <a:lnTo>
                      <a:pt x="742" y="481"/>
                    </a:lnTo>
                    <a:lnTo>
                      <a:pt x="769" y="513"/>
                    </a:lnTo>
                    <a:lnTo>
                      <a:pt x="796" y="545"/>
                    </a:lnTo>
                    <a:lnTo>
                      <a:pt x="822" y="578"/>
                    </a:lnTo>
                    <a:lnTo>
                      <a:pt x="847" y="612"/>
                    </a:lnTo>
                    <a:lnTo>
                      <a:pt x="871" y="647"/>
                    </a:lnTo>
                    <a:lnTo>
                      <a:pt x="895" y="681"/>
                    </a:lnTo>
                    <a:lnTo>
                      <a:pt x="917" y="717"/>
                    </a:lnTo>
                    <a:lnTo>
                      <a:pt x="939" y="754"/>
                    </a:lnTo>
                    <a:lnTo>
                      <a:pt x="959" y="791"/>
                    </a:lnTo>
                    <a:lnTo>
                      <a:pt x="979" y="828"/>
                    </a:lnTo>
                    <a:lnTo>
                      <a:pt x="997" y="866"/>
                    </a:lnTo>
                    <a:lnTo>
                      <a:pt x="1026" y="938"/>
                    </a:lnTo>
                    <a:lnTo>
                      <a:pt x="1053" y="1015"/>
                    </a:lnTo>
                    <a:lnTo>
                      <a:pt x="1075" y="1096"/>
                    </a:lnTo>
                    <a:lnTo>
                      <a:pt x="1095" y="1180"/>
                    </a:lnTo>
                    <a:lnTo>
                      <a:pt x="1110" y="1267"/>
                    </a:lnTo>
                    <a:lnTo>
                      <a:pt x="1121" y="1356"/>
                    </a:lnTo>
                    <a:lnTo>
                      <a:pt x="1130" y="1446"/>
                    </a:lnTo>
                    <a:lnTo>
                      <a:pt x="1134" y="1536"/>
                    </a:lnTo>
                    <a:lnTo>
                      <a:pt x="1134" y="1626"/>
                    </a:lnTo>
                    <a:lnTo>
                      <a:pt x="1131" y="1716"/>
                    </a:lnTo>
                    <a:lnTo>
                      <a:pt x="1122" y="1802"/>
                    </a:lnTo>
                    <a:lnTo>
                      <a:pt x="1111" y="1886"/>
                    </a:lnTo>
                    <a:lnTo>
                      <a:pt x="1096" y="1967"/>
                    </a:lnTo>
                    <a:lnTo>
                      <a:pt x="1076" y="2044"/>
                    </a:lnTo>
                    <a:lnTo>
                      <a:pt x="1053" y="2115"/>
                    </a:lnTo>
                    <a:lnTo>
                      <a:pt x="1025" y="2180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79" name="Freeform 144">
                <a:extLst>
                  <a:ext uri="{FF2B5EF4-FFF2-40B4-BE49-F238E27FC236}">
                    <a16:creationId xmlns:a16="http://schemas.microsoft.com/office/drawing/2014/main" id="{6DC3BC70-3F37-499F-A5EC-F019611BD5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3082"/>
                <a:ext cx="207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5"/>
                    </a:moveTo>
                    <a:lnTo>
                      <a:pt x="3650" y="0"/>
                    </a:lnTo>
                    <a:lnTo>
                      <a:pt x="4569" y="1997"/>
                    </a:lnTo>
                    <a:lnTo>
                      <a:pt x="873" y="3641"/>
                    </a:lnTo>
                    <a:lnTo>
                      <a:pt x="0" y="1625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0" name="Freeform 145">
                <a:extLst>
                  <a:ext uri="{FF2B5EF4-FFF2-40B4-BE49-F238E27FC236}">
                    <a16:creationId xmlns:a16="http://schemas.microsoft.com/office/drawing/2014/main" id="{ECCE2DA5-140B-42BE-B7C6-CE0E4A467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271" cy="393"/>
              </a:xfrm>
              <a:custGeom>
                <a:avLst/>
                <a:gdLst>
                  <a:gd name="T0" fmla="*/ 0 w 5957"/>
                  <a:gd name="T1" fmla="*/ 0 h 7065"/>
                  <a:gd name="T2" fmla="*/ 0 w 5957"/>
                  <a:gd name="T3" fmla="*/ 0 h 7065"/>
                  <a:gd name="T4" fmla="*/ 0 w 5957"/>
                  <a:gd name="T5" fmla="*/ 0 h 7065"/>
                  <a:gd name="T6" fmla="*/ 0 w 5957"/>
                  <a:gd name="T7" fmla="*/ 0 h 7065"/>
                  <a:gd name="T8" fmla="*/ 0 w 5957"/>
                  <a:gd name="T9" fmla="*/ 0 h 7065"/>
                  <a:gd name="T10" fmla="*/ 0 w 5957"/>
                  <a:gd name="T11" fmla="*/ 0 h 7065"/>
                  <a:gd name="T12" fmla="*/ 0 w 5957"/>
                  <a:gd name="T13" fmla="*/ 0 h 7065"/>
                  <a:gd name="T14" fmla="*/ 0 w 5957"/>
                  <a:gd name="T15" fmla="*/ 0 h 7065"/>
                  <a:gd name="T16" fmla="*/ 0 w 5957"/>
                  <a:gd name="T17" fmla="*/ 0 h 7065"/>
                  <a:gd name="T18" fmla="*/ 0 w 5957"/>
                  <a:gd name="T19" fmla="*/ 0 h 7065"/>
                  <a:gd name="T20" fmla="*/ 0 w 5957"/>
                  <a:gd name="T21" fmla="*/ 0 h 7065"/>
                  <a:gd name="T22" fmla="*/ 0 w 5957"/>
                  <a:gd name="T23" fmla="*/ 0 h 7065"/>
                  <a:gd name="T24" fmla="*/ 0 w 5957"/>
                  <a:gd name="T25" fmla="*/ 0 h 7065"/>
                  <a:gd name="T26" fmla="*/ 0 w 5957"/>
                  <a:gd name="T27" fmla="*/ 0 h 7065"/>
                  <a:gd name="T28" fmla="*/ 0 w 5957"/>
                  <a:gd name="T29" fmla="*/ 0 h 7065"/>
                  <a:gd name="T30" fmla="*/ 0 w 5957"/>
                  <a:gd name="T31" fmla="*/ 0 h 7065"/>
                  <a:gd name="T32" fmla="*/ 0 w 5957"/>
                  <a:gd name="T33" fmla="*/ 0 h 7065"/>
                  <a:gd name="T34" fmla="*/ 0 w 5957"/>
                  <a:gd name="T35" fmla="*/ 0 h 7065"/>
                  <a:gd name="T36" fmla="*/ 0 w 5957"/>
                  <a:gd name="T37" fmla="*/ 0 h 7065"/>
                  <a:gd name="T38" fmla="*/ 0 w 5957"/>
                  <a:gd name="T39" fmla="*/ 0 h 7065"/>
                  <a:gd name="T40" fmla="*/ 0 w 5957"/>
                  <a:gd name="T41" fmla="*/ 0 h 7065"/>
                  <a:gd name="T42" fmla="*/ 0 w 5957"/>
                  <a:gd name="T43" fmla="*/ 0 h 7065"/>
                  <a:gd name="T44" fmla="*/ 0 w 5957"/>
                  <a:gd name="T45" fmla="*/ 0 h 7065"/>
                  <a:gd name="T46" fmla="*/ 0 w 5957"/>
                  <a:gd name="T47" fmla="*/ 0 h 7065"/>
                  <a:gd name="T48" fmla="*/ 0 w 5957"/>
                  <a:gd name="T49" fmla="*/ 0 h 7065"/>
                  <a:gd name="T50" fmla="*/ 0 w 5957"/>
                  <a:gd name="T51" fmla="*/ 0 h 7065"/>
                  <a:gd name="T52" fmla="*/ 0 w 5957"/>
                  <a:gd name="T53" fmla="*/ 0 h 7065"/>
                  <a:gd name="T54" fmla="*/ 0 w 5957"/>
                  <a:gd name="T55" fmla="*/ 0 h 7065"/>
                  <a:gd name="T56" fmla="*/ 0 w 5957"/>
                  <a:gd name="T57" fmla="*/ 0 h 7065"/>
                  <a:gd name="T58" fmla="*/ 0 w 5957"/>
                  <a:gd name="T59" fmla="*/ 0 h 7065"/>
                  <a:gd name="T60" fmla="*/ 0 w 5957"/>
                  <a:gd name="T61" fmla="*/ 0 h 7065"/>
                  <a:gd name="T62" fmla="*/ 0 w 5957"/>
                  <a:gd name="T63" fmla="*/ 0 h 7065"/>
                  <a:gd name="T64" fmla="*/ 0 w 5957"/>
                  <a:gd name="T65" fmla="*/ 0 h 7065"/>
                  <a:gd name="T66" fmla="*/ 0 w 5957"/>
                  <a:gd name="T67" fmla="*/ 0 h 7065"/>
                  <a:gd name="T68" fmla="*/ 0 w 5957"/>
                  <a:gd name="T69" fmla="*/ 0 h 7065"/>
                  <a:gd name="T70" fmla="*/ 0 w 5957"/>
                  <a:gd name="T71" fmla="*/ 0 h 7065"/>
                  <a:gd name="T72" fmla="*/ 0 w 5957"/>
                  <a:gd name="T73" fmla="*/ 0 h 70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5"/>
                  <a:gd name="T113" fmla="*/ 5957 w 5957"/>
                  <a:gd name="T114" fmla="*/ 7065 h 70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5">
                    <a:moveTo>
                      <a:pt x="2497" y="7056"/>
                    </a:moveTo>
                    <a:lnTo>
                      <a:pt x="5894" y="5432"/>
                    </a:lnTo>
                    <a:lnTo>
                      <a:pt x="5912" y="5421"/>
                    </a:lnTo>
                    <a:lnTo>
                      <a:pt x="5928" y="5406"/>
                    </a:lnTo>
                    <a:lnTo>
                      <a:pt x="5941" y="5388"/>
                    </a:lnTo>
                    <a:lnTo>
                      <a:pt x="5950" y="5368"/>
                    </a:lnTo>
                    <a:lnTo>
                      <a:pt x="5955" y="5347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4"/>
                    </a:lnTo>
                    <a:lnTo>
                      <a:pt x="3492" y="46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8"/>
                    </a:lnTo>
                    <a:lnTo>
                      <a:pt x="3420" y="2"/>
                    </a:lnTo>
                    <a:lnTo>
                      <a:pt x="3399" y="0"/>
                    </a:lnTo>
                    <a:lnTo>
                      <a:pt x="3377" y="2"/>
                    </a:lnTo>
                    <a:lnTo>
                      <a:pt x="3357" y="8"/>
                    </a:lnTo>
                    <a:lnTo>
                      <a:pt x="63" y="1486"/>
                    </a:lnTo>
                    <a:lnTo>
                      <a:pt x="45" y="1497"/>
                    </a:lnTo>
                    <a:lnTo>
                      <a:pt x="30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5"/>
                    </a:lnTo>
                    <a:lnTo>
                      <a:pt x="9" y="1636"/>
                    </a:lnTo>
                    <a:lnTo>
                      <a:pt x="2351" y="6999"/>
                    </a:lnTo>
                    <a:lnTo>
                      <a:pt x="2362" y="7018"/>
                    </a:lnTo>
                    <a:lnTo>
                      <a:pt x="2377" y="7034"/>
                    </a:lnTo>
                    <a:lnTo>
                      <a:pt x="2394" y="7048"/>
                    </a:lnTo>
                    <a:lnTo>
                      <a:pt x="2413" y="7057"/>
                    </a:lnTo>
                    <a:lnTo>
                      <a:pt x="2434" y="7063"/>
                    </a:lnTo>
                    <a:lnTo>
                      <a:pt x="2455" y="7065"/>
                    </a:lnTo>
                    <a:lnTo>
                      <a:pt x="2477" y="7063"/>
                    </a:lnTo>
                    <a:lnTo>
                      <a:pt x="2497" y="70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1" name="Freeform 146">
                <a:extLst>
                  <a:ext uri="{FF2B5EF4-FFF2-40B4-BE49-F238E27FC236}">
                    <a16:creationId xmlns:a16="http://schemas.microsoft.com/office/drawing/2014/main" id="{E2C27DCF-3E64-466F-9E6C-E630DD47CC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2" cy="99"/>
              </a:xfrm>
              <a:custGeom>
                <a:avLst/>
                <a:gdLst>
                  <a:gd name="T0" fmla="*/ 0 w 3562"/>
                  <a:gd name="T1" fmla="*/ 0 h 1773"/>
                  <a:gd name="T2" fmla="*/ 0 w 3562"/>
                  <a:gd name="T3" fmla="*/ 0 h 1773"/>
                  <a:gd name="T4" fmla="*/ 0 w 3562"/>
                  <a:gd name="T5" fmla="*/ 0 h 1773"/>
                  <a:gd name="T6" fmla="*/ 0 w 3562"/>
                  <a:gd name="T7" fmla="*/ 0 h 1773"/>
                  <a:gd name="T8" fmla="*/ 0 w 3562"/>
                  <a:gd name="T9" fmla="*/ 0 h 1773"/>
                  <a:gd name="T10" fmla="*/ 0 w 3562"/>
                  <a:gd name="T11" fmla="*/ 0 h 1773"/>
                  <a:gd name="T12" fmla="*/ 0 w 3562"/>
                  <a:gd name="T13" fmla="*/ 0 h 1773"/>
                  <a:gd name="T14" fmla="*/ 0 w 3562"/>
                  <a:gd name="T15" fmla="*/ 0 h 1773"/>
                  <a:gd name="T16" fmla="*/ 0 w 3562"/>
                  <a:gd name="T17" fmla="*/ 0 h 1773"/>
                  <a:gd name="T18" fmla="*/ 0 w 3562"/>
                  <a:gd name="T19" fmla="*/ 0 h 1773"/>
                  <a:gd name="T20" fmla="*/ 0 w 3562"/>
                  <a:gd name="T21" fmla="*/ 0 h 1773"/>
                  <a:gd name="T22" fmla="*/ 0 w 3562"/>
                  <a:gd name="T23" fmla="*/ 0 h 1773"/>
                  <a:gd name="T24" fmla="*/ 0 w 3562"/>
                  <a:gd name="T25" fmla="*/ 0 h 1773"/>
                  <a:gd name="T26" fmla="*/ 0 w 3562"/>
                  <a:gd name="T27" fmla="*/ 0 h 1773"/>
                  <a:gd name="T28" fmla="*/ 0 w 3562"/>
                  <a:gd name="T29" fmla="*/ 0 h 1773"/>
                  <a:gd name="T30" fmla="*/ 0 w 3562"/>
                  <a:gd name="T31" fmla="*/ 0 h 1773"/>
                  <a:gd name="T32" fmla="*/ 0 w 3562"/>
                  <a:gd name="T33" fmla="*/ 0 h 1773"/>
                  <a:gd name="T34" fmla="*/ 0 w 3562"/>
                  <a:gd name="T35" fmla="*/ 0 h 1773"/>
                  <a:gd name="T36" fmla="*/ 0 w 3562"/>
                  <a:gd name="T37" fmla="*/ 0 h 1773"/>
                  <a:gd name="T38" fmla="*/ 0 w 3562"/>
                  <a:gd name="T39" fmla="*/ 0 h 1773"/>
                  <a:gd name="T40" fmla="*/ 0 w 3562"/>
                  <a:gd name="T41" fmla="*/ 0 h 177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62"/>
                  <a:gd name="T64" fmla="*/ 0 h 1773"/>
                  <a:gd name="T65" fmla="*/ 3562 w 3562"/>
                  <a:gd name="T66" fmla="*/ 1773 h 177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62" h="1773">
                    <a:moveTo>
                      <a:pt x="3562" y="1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68" y="1773"/>
                    </a:lnTo>
                    <a:lnTo>
                      <a:pt x="3562" y="183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2" name="Freeform 147">
                <a:extLst>
                  <a:ext uri="{FF2B5EF4-FFF2-40B4-BE49-F238E27FC236}">
                    <a16:creationId xmlns:a16="http://schemas.microsoft.com/office/drawing/2014/main" id="{164EE585-3B9C-4236-9DC7-199B134BD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7"/>
              </a:xfrm>
              <a:custGeom>
                <a:avLst/>
                <a:gdLst>
                  <a:gd name="T0" fmla="*/ 0 w 3550"/>
                  <a:gd name="T1" fmla="*/ 0 h 1748"/>
                  <a:gd name="T2" fmla="*/ 0 w 3550"/>
                  <a:gd name="T3" fmla="*/ 0 h 1748"/>
                  <a:gd name="T4" fmla="*/ 0 w 3550"/>
                  <a:gd name="T5" fmla="*/ 0 h 1748"/>
                  <a:gd name="T6" fmla="*/ 0 w 3550"/>
                  <a:gd name="T7" fmla="*/ 0 h 1748"/>
                  <a:gd name="T8" fmla="*/ 0 w 3550"/>
                  <a:gd name="T9" fmla="*/ 0 h 1748"/>
                  <a:gd name="T10" fmla="*/ 0 w 3550"/>
                  <a:gd name="T11" fmla="*/ 0 h 1748"/>
                  <a:gd name="T12" fmla="*/ 0 w 3550"/>
                  <a:gd name="T13" fmla="*/ 0 h 1748"/>
                  <a:gd name="T14" fmla="*/ 0 w 3550"/>
                  <a:gd name="T15" fmla="*/ 0 h 1748"/>
                  <a:gd name="T16" fmla="*/ 0 w 3550"/>
                  <a:gd name="T17" fmla="*/ 0 h 1748"/>
                  <a:gd name="T18" fmla="*/ 0 w 3550"/>
                  <a:gd name="T19" fmla="*/ 0 h 1748"/>
                  <a:gd name="T20" fmla="*/ 0 w 3550"/>
                  <a:gd name="T21" fmla="*/ 0 h 1748"/>
                  <a:gd name="T22" fmla="*/ 0 w 3550"/>
                  <a:gd name="T23" fmla="*/ 0 h 1748"/>
                  <a:gd name="T24" fmla="*/ 0 w 3550"/>
                  <a:gd name="T25" fmla="*/ 0 h 1748"/>
                  <a:gd name="T26" fmla="*/ 0 w 3550"/>
                  <a:gd name="T27" fmla="*/ 0 h 1748"/>
                  <a:gd name="T28" fmla="*/ 0 w 3550"/>
                  <a:gd name="T29" fmla="*/ 0 h 1748"/>
                  <a:gd name="T30" fmla="*/ 0 w 3550"/>
                  <a:gd name="T31" fmla="*/ 0 h 1748"/>
                  <a:gd name="T32" fmla="*/ 0 w 3550"/>
                  <a:gd name="T33" fmla="*/ 0 h 1748"/>
                  <a:gd name="T34" fmla="*/ 0 w 3550"/>
                  <a:gd name="T35" fmla="*/ 0 h 1748"/>
                  <a:gd name="T36" fmla="*/ 0 w 3550"/>
                  <a:gd name="T37" fmla="*/ 0 h 1748"/>
                  <a:gd name="T38" fmla="*/ 0 w 3550"/>
                  <a:gd name="T39" fmla="*/ 0 h 1748"/>
                  <a:gd name="T40" fmla="*/ 0 w 3550"/>
                  <a:gd name="T41" fmla="*/ 0 h 1748"/>
                  <a:gd name="T42" fmla="*/ 0 w 3550"/>
                  <a:gd name="T43" fmla="*/ 0 h 1748"/>
                  <a:gd name="T44" fmla="*/ 0 w 3550"/>
                  <a:gd name="T45" fmla="*/ 0 h 1748"/>
                  <a:gd name="T46" fmla="*/ 0 w 3550"/>
                  <a:gd name="T47" fmla="*/ 0 h 1748"/>
                  <a:gd name="T48" fmla="*/ 0 w 3550"/>
                  <a:gd name="T49" fmla="*/ 0 h 1748"/>
                  <a:gd name="T50" fmla="*/ 0 w 3550"/>
                  <a:gd name="T51" fmla="*/ 0 h 1748"/>
                  <a:gd name="T52" fmla="*/ 0 w 3550"/>
                  <a:gd name="T53" fmla="*/ 0 h 1748"/>
                  <a:gd name="T54" fmla="*/ 0 w 3550"/>
                  <a:gd name="T55" fmla="*/ 0 h 1748"/>
                  <a:gd name="T56" fmla="*/ 0 w 3550"/>
                  <a:gd name="T57" fmla="*/ 0 h 1748"/>
                  <a:gd name="T58" fmla="*/ 0 w 3550"/>
                  <a:gd name="T59" fmla="*/ 0 h 1748"/>
                  <a:gd name="T60" fmla="*/ 0 w 3550"/>
                  <a:gd name="T61" fmla="*/ 0 h 1748"/>
                  <a:gd name="T62" fmla="*/ 0 w 3550"/>
                  <a:gd name="T63" fmla="*/ 0 h 1748"/>
                  <a:gd name="T64" fmla="*/ 0 w 3550"/>
                  <a:gd name="T65" fmla="*/ 0 h 1748"/>
                  <a:gd name="T66" fmla="*/ 0 w 3550"/>
                  <a:gd name="T67" fmla="*/ 0 h 1748"/>
                  <a:gd name="T68" fmla="*/ 0 w 3550"/>
                  <a:gd name="T69" fmla="*/ 0 h 1748"/>
                  <a:gd name="T70" fmla="*/ 0 w 3550"/>
                  <a:gd name="T71" fmla="*/ 0 h 1748"/>
                  <a:gd name="T72" fmla="*/ 0 w 3550"/>
                  <a:gd name="T73" fmla="*/ 0 h 1748"/>
                  <a:gd name="T74" fmla="*/ 0 w 3550"/>
                  <a:gd name="T75" fmla="*/ 0 h 1748"/>
                  <a:gd name="T76" fmla="*/ 0 w 3550"/>
                  <a:gd name="T77" fmla="*/ 0 h 1748"/>
                  <a:gd name="T78" fmla="*/ 0 w 3550"/>
                  <a:gd name="T79" fmla="*/ 0 h 1748"/>
                  <a:gd name="T80" fmla="*/ 0 w 3550"/>
                  <a:gd name="T81" fmla="*/ 0 h 1748"/>
                  <a:gd name="T82" fmla="*/ 0 w 3550"/>
                  <a:gd name="T83" fmla="*/ 0 h 1748"/>
                  <a:gd name="T84" fmla="*/ 0 w 3550"/>
                  <a:gd name="T85" fmla="*/ 0 h 1748"/>
                  <a:gd name="T86" fmla="*/ 0 w 3550"/>
                  <a:gd name="T87" fmla="*/ 0 h 1748"/>
                  <a:gd name="T88" fmla="*/ 0 w 3550"/>
                  <a:gd name="T89" fmla="*/ 0 h 1748"/>
                  <a:gd name="T90" fmla="*/ 0 w 3550"/>
                  <a:gd name="T91" fmla="*/ 0 h 1748"/>
                  <a:gd name="T92" fmla="*/ 0 w 3550"/>
                  <a:gd name="T93" fmla="*/ 0 h 1748"/>
                  <a:gd name="T94" fmla="*/ 0 w 3550"/>
                  <a:gd name="T95" fmla="*/ 0 h 174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50"/>
                  <a:gd name="T145" fmla="*/ 0 h 1748"/>
                  <a:gd name="T146" fmla="*/ 3550 w 3550"/>
                  <a:gd name="T147" fmla="*/ 1748 h 174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50" h="1748">
                    <a:moveTo>
                      <a:pt x="3550" y="163"/>
                    </a:moveTo>
                    <a:lnTo>
                      <a:pt x="3545" y="153"/>
                    </a:lnTo>
                    <a:lnTo>
                      <a:pt x="3541" y="144"/>
                    </a:lnTo>
                    <a:lnTo>
                      <a:pt x="3538" y="137"/>
                    </a:lnTo>
                    <a:lnTo>
                      <a:pt x="3533" y="130"/>
                    </a:lnTo>
                    <a:lnTo>
                      <a:pt x="3529" y="120"/>
                    </a:lnTo>
                    <a:lnTo>
                      <a:pt x="3523" y="108"/>
                    </a:lnTo>
                    <a:lnTo>
                      <a:pt x="3514" y="90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1" y="1665"/>
                    </a:lnTo>
                    <a:lnTo>
                      <a:pt x="26" y="1673"/>
                    </a:lnTo>
                    <a:lnTo>
                      <a:pt x="31" y="1685"/>
                    </a:lnTo>
                    <a:lnTo>
                      <a:pt x="37" y="1699"/>
                    </a:lnTo>
                    <a:lnTo>
                      <a:pt x="46" y="1719"/>
                    </a:lnTo>
                    <a:lnTo>
                      <a:pt x="57" y="1748"/>
                    </a:lnTo>
                    <a:lnTo>
                      <a:pt x="162" y="1700"/>
                    </a:lnTo>
                    <a:lnTo>
                      <a:pt x="259" y="1656"/>
                    </a:lnTo>
                    <a:lnTo>
                      <a:pt x="348" y="1616"/>
                    </a:lnTo>
                    <a:lnTo>
                      <a:pt x="430" y="1579"/>
                    </a:lnTo>
                    <a:lnTo>
                      <a:pt x="508" y="1543"/>
                    </a:lnTo>
                    <a:lnTo>
                      <a:pt x="579" y="1511"/>
                    </a:lnTo>
                    <a:lnTo>
                      <a:pt x="648" y="1480"/>
                    </a:lnTo>
                    <a:lnTo>
                      <a:pt x="713" y="1451"/>
                    </a:lnTo>
                    <a:lnTo>
                      <a:pt x="776" y="1422"/>
                    </a:lnTo>
                    <a:lnTo>
                      <a:pt x="837" y="1395"/>
                    </a:lnTo>
                    <a:lnTo>
                      <a:pt x="898" y="1367"/>
                    </a:lnTo>
                    <a:lnTo>
                      <a:pt x="959" y="1340"/>
                    </a:lnTo>
                    <a:lnTo>
                      <a:pt x="1021" y="1311"/>
                    </a:lnTo>
                    <a:lnTo>
                      <a:pt x="1085" y="1282"/>
                    </a:lnTo>
                    <a:lnTo>
                      <a:pt x="1153" y="1251"/>
                    </a:lnTo>
                    <a:lnTo>
                      <a:pt x="1223" y="1220"/>
                    </a:lnTo>
                    <a:lnTo>
                      <a:pt x="1299" y="1186"/>
                    </a:lnTo>
                    <a:lnTo>
                      <a:pt x="1379" y="1149"/>
                    </a:lnTo>
                    <a:lnTo>
                      <a:pt x="1466" y="1110"/>
                    </a:lnTo>
                    <a:lnTo>
                      <a:pt x="1560" y="1067"/>
                    </a:lnTo>
                    <a:lnTo>
                      <a:pt x="1662" y="1020"/>
                    </a:lnTo>
                    <a:lnTo>
                      <a:pt x="1772" y="971"/>
                    </a:lnTo>
                    <a:lnTo>
                      <a:pt x="1892" y="916"/>
                    </a:lnTo>
                    <a:lnTo>
                      <a:pt x="2024" y="857"/>
                    </a:lnTo>
                    <a:lnTo>
                      <a:pt x="2166" y="792"/>
                    </a:lnTo>
                    <a:lnTo>
                      <a:pt x="2320" y="722"/>
                    </a:lnTo>
                    <a:lnTo>
                      <a:pt x="2488" y="646"/>
                    </a:lnTo>
                    <a:lnTo>
                      <a:pt x="2668" y="564"/>
                    </a:lnTo>
                    <a:lnTo>
                      <a:pt x="2864" y="474"/>
                    </a:lnTo>
                    <a:lnTo>
                      <a:pt x="3075" y="378"/>
                    </a:lnTo>
                    <a:lnTo>
                      <a:pt x="3304" y="275"/>
                    </a:lnTo>
                    <a:lnTo>
                      <a:pt x="3550" y="163"/>
                    </a:lnTo>
                    <a:close/>
                  </a:path>
                </a:pathLst>
              </a:custGeom>
              <a:solidFill>
                <a:srgbClr val="BF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3" name="Freeform 148">
                <a:extLst>
                  <a:ext uri="{FF2B5EF4-FFF2-40B4-BE49-F238E27FC236}">
                    <a16:creationId xmlns:a16="http://schemas.microsoft.com/office/drawing/2014/main" id="{50B08E35-7A7F-4699-A1F7-DD9AE0368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6"/>
              </a:xfrm>
              <a:custGeom>
                <a:avLst/>
                <a:gdLst>
                  <a:gd name="T0" fmla="*/ 0 w 3539"/>
                  <a:gd name="T1" fmla="*/ 0 h 1724"/>
                  <a:gd name="T2" fmla="*/ 0 w 3539"/>
                  <a:gd name="T3" fmla="*/ 0 h 1724"/>
                  <a:gd name="T4" fmla="*/ 0 w 3539"/>
                  <a:gd name="T5" fmla="*/ 0 h 1724"/>
                  <a:gd name="T6" fmla="*/ 0 w 3539"/>
                  <a:gd name="T7" fmla="*/ 0 h 1724"/>
                  <a:gd name="T8" fmla="*/ 0 w 3539"/>
                  <a:gd name="T9" fmla="*/ 0 h 1724"/>
                  <a:gd name="T10" fmla="*/ 0 w 3539"/>
                  <a:gd name="T11" fmla="*/ 0 h 1724"/>
                  <a:gd name="T12" fmla="*/ 0 w 3539"/>
                  <a:gd name="T13" fmla="*/ 0 h 1724"/>
                  <a:gd name="T14" fmla="*/ 0 w 3539"/>
                  <a:gd name="T15" fmla="*/ 0 h 1724"/>
                  <a:gd name="T16" fmla="*/ 0 w 3539"/>
                  <a:gd name="T17" fmla="*/ 0 h 1724"/>
                  <a:gd name="T18" fmla="*/ 0 w 3539"/>
                  <a:gd name="T19" fmla="*/ 0 h 1724"/>
                  <a:gd name="T20" fmla="*/ 0 w 3539"/>
                  <a:gd name="T21" fmla="*/ 0 h 1724"/>
                  <a:gd name="T22" fmla="*/ 0 w 3539"/>
                  <a:gd name="T23" fmla="*/ 0 h 1724"/>
                  <a:gd name="T24" fmla="*/ 0 w 3539"/>
                  <a:gd name="T25" fmla="*/ 0 h 1724"/>
                  <a:gd name="T26" fmla="*/ 0 w 3539"/>
                  <a:gd name="T27" fmla="*/ 0 h 1724"/>
                  <a:gd name="T28" fmla="*/ 0 w 3539"/>
                  <a:gd name="T29" fmla="*/ 0 h 1724"/>
                  <a:gd name="T30" fmla="*/ 0 w 3539"/>
                  <a:gd name="T31" fmla="*/ 0 h 1724"/>
                  <a:gd name="T32" fmla="*/ 0 w 3539"/>
                  <a:gd name="T33" fmla="*/ 0 h 1724"/>
                  <a:gd name="T34" fmla="*/ 0 w 3539"/>
                  <a:gd name="T35" fmla="*/ 0 h 1724"/>
                  <a:gd name="T36" fmla="*/ 0 w 3539"/>
                  <a:gd name="T37" fmla="*/ 0 h 1724"/>
                  <a:gd name="T38" fmla="*/ 0 w 3539"/>
                  <a:gd name="T39" fmla="*/ 0 h 1724"/>
                  <a:gd name="T40" fmla="*/ 0 w 3539"/>
                  <a:gd name="T41" fmla="*/ 0 h 1724"/>
                  <a:gd name="T42" fmla="*/ 0 w 3539"/>
                  <a:gd name="T43" fmla="*/ 0 h 1724"/>
                  <a:gd name="T44" fmla="*/ 0 w 3539"/>
                  <a:gd name="T45" fmla="*/ 0 h 1724"/>
                  <a:gd name="T46" fmla="*/ 0 w 3539"/>
                  <a:gd name="T47" fmla="*/ 0 h 1724"/>
                  <a:gd name="T48" fmla="*/ 0 w 3539"/>
                  <a:gd name="T49" fmla="*/ 0 h 1724"/>
                  <a:gd name="T50" fmla="*/ 0 w 3539"/>
                  <a:gd name="T51" fmla="*/ 0 h 1724"/>
                  <a:gd name="T52" fmla="*/ 0 w 3539"/>
                  <a:gd name="T53" fmla="*/ 0 h 1724"/>
                  <a:gd name="T54" fmla="*/ 0 w 3539"/>
                  <a:gd name="T55" fmla="*/ 0 h 1724"/>
                  <a:gd name="T56" fmla="*/ 0 w 3539"/>
                  <a:gd name="T57" fmla="*/ 0 h 1724"/>
                  <a:gd name="T58" fmla="*/ 0 w 3539"/>
                  <a:gd name="T59" fmla="*/ 0 h 1724"/>
                  <a:gd name="T60" fmla="*/ 0 w 3539"/>
                  <a:gd name="T61" fmla="*/ 0 h 1724"/>
                  <a:gd name="T62" fmla="*/ 0 w 3539"/>
                  <a:gd name="T63" fmla="*/ 0 h 1724"/>
                  <a:gd name="T64" fmla="*/ 0 w 3539"/>
                  <a:gd name="T65" fmla="*/ 0 h 1724"/>
                  <a:gd name="T66" fmla="*/ 0 w 3539"/>
                  <a:gd name="T67" fmla="*/ 0 h 1724"/>
                  <a:gd name="T68" fmla="*/ 0 w 3539"/>
                  <a:gd name="T69" fmla="*/ 0 h 1724"/>
                  <a:gd name="T70" fmla="*/ 0 w 3539"/>
                  <a:gd name="T71" fmla="*/ 0 h 1724"/>
                  <a:gd name="T72" fmla="*/ 0 w 3539"/>
                  <a:gd name="T73" fmla="*/ 0 h 1724"/>
                  <a:gd name="T74" fmla="*/ 0 w 3539"/>
                  <a:gd name="T75" fmla="*/ 0 h 1724"/>
                  <a:gd name="T76" fmla="*/ 0 w 3539"/>
                  <a:gd name="T77" fmla="*/ 0 h 1724"/>
                  <a:gd name="T78" fmla="*/ 0 w 3539"/>
                  <a:gd name="T79" fmla="*/ 0 h 1724"/>
                  <a:gd name="T80" fmla="*/ 0 w 3539"/>
                  <a:gd name="T81" fmla="*/ 0 h 1724"/>
                  <a:gd name="T82" fmla="*/ 0 w 3539"/>
                  <a:gd name="T83" fmla="*/ 0 h 1724"/>
                  <a:gd name="T84" fmla="*/ 0 w 3539"/>
                  <a:gd name="T85" fmla="*/ 0 h 1724"/>
                  <a:gd name="T86" fmla="*/ 0 w 3539"/>
                  <a:gd name="T87" fmla="*/ 0 h 1724"/>
                  <a:gd name="T88" fmla="*/ 0 w 3539"/>
                  <a:gd name="T89" fmla="*/ 0 h 1724"/>
                  <a:gd name="T90" fmla="*/ 0 w 3539"/>
                  <a:gd name="T91" fmla="*/ 0 h 1724"/>
                  <a:gd name="T92" fmla="*/ 0 w 3539"/>
                  <a:gd name="T93" fmla="*/ 0 h 1724"/>
                  <a:gd name="T94" fmla="*/ 0 w 3539"/>
                  <a:gd name="T95" fmla="*/ 0 h 172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39"/>
                  <a:gd name="T145" fmla="*/ 0 h 1724"/>
                  <a:gd name="T146" fmla="*/ 3539 w 3539"/>
                  <a:gd name="T147" fmla="*/ 1724 h 172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39" h="1724">
                    <a:moveTo>
                      <a:pt x="3539" y="143"/>
                    </a:moveTo>
                    <a:lnTo>
                      <a:pt x="3534" y="135"/>
                    </a:lnTo>
                    <a:lnTo>
                      <a:pt x="3531" y="129"/>
                    </a:lnTo>
                    <a:lnTo>
                      <a:pt x="3529" y="123"/>
                    </a:lnTo>
                    <a:lnTo>
                      <a:pt x="3526" y="117"/>
                    </a:lnTo>
                    <a:lnTo>
                      <a:pt x="3523" y="110"/>
                    </a:lnTo>
                    <a:lnTo>
                      <a:pt x="3518" y="99"/>
                    </a:lnTo>
                    <a:lnTo>
                      <a:pt x="3511" y="84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6"/>
                    </a:lnTo>
                    <a:lnTo>
                      <a:pt x="16" y="1652"/>
                    </a:lnTo>
                    <a:lnTo>
                      <a:pt x="19" y="1658"/>
                    </a:lnTo>
                    <a:lnTo>
                      <a:pt x="22" y="1666"/>
                    </a:lnTo>
                    <a:lnTo>
                      <a:pt x="26" y="1674"/>
                    </a:lnTo>
                    <a:lnTo>
                      <a:pt x="31" y="1686"/>
                    </a:lnTo>
                    <a:lnTo>
                      <a:pt x="37" y="1702"/>
                    </a:lnTo>
                    <a:lnTo>
                      <a:pt x="46" y="1724"/>
                    </a:lnTo>
                    <a:lnTo>
                      <a:pt x="151" y="1676"/>
                    </a:lnTo>
                    <a:lnTo>
                      <a:pt x="248" y="1633"/>
                    </a:lnTo>
                    <a:lnTo>
                      <a:pt x="337" y="1592"/>
                    </a:lnTo>
                    <a:lnTo>
                      <a:pt x="419" y="1555"/>
                    </a:lnTo>
                    <a:lnTo>
                      <a:pt x="497" y="1520"/>
                    </a:lnTo>
                    <a:lnTo>
                      <a:pt x="568" y="1488"/>
                    </a:lnTo>
                    <a:lnTo>
                      <a:pt x="637" y="1457"/>
                    </a:lnTo>
                    <a:lnTo>
                      <a:pt x="702" y="1427"/>
                    </a:lnTo>
                    <a:lnTo>
                      <a:pt x="765" y="1399"/>
                    </a:lnTo>
                    <a:lnTo>
                      <a:pt x="826" y="1372"/>
                    </a:lnTo>
                    <a:lnTo>
                      <a:pt x="886" y="1344"/>
                    </a:lnTo>
                    <a:lnTo>
                      <a:pt x="948" y="1316"/>
                    </a:lnTo>
                    <a:lnTo>
                      <a:pt x="1010" y="1288"/>
                    </a:lnTo>
                    <a:lnTo>
                      <a:pt x="1074" y="1259"/>
                    </a:lnTo>
                    <a:lnTo>
                      <a:pt x="1141" y="1229"/>
                    </a:lnTo>
                    <a:lnTo>
                      <a:pt x="1212" y="1197"/>
                    </a:lnTo>
                    <a:lnTo>
                      <a:pt x="1287" y="1163"/>
                    </a:lnTo>
                    <a:lnTo>
                      <a:pt x="1368" y="1126"/>
                    </a:lnTo>
                    <a:lnTo>
                      <a:pt x="1455" y="1087"/>
                    </a:lnTo>
                    <a:lnTo>
                      <a:pt x="1548" y="1045"/>
                    </a:lnTo>
                    <a:lnTo>
                      <a:pt x="1650" y="998"/>
                    </a:lnTo>
                    <a:lnTo>
                      <a:pt x="1761" y="949"/>
                    </a:lnTo>
                    <a:lnTo>
                      <a:pt x="1881" y="894"/>
                    </a:lnTo>
                    <a:lnTo>
                      <a:pt x="2013" y="835"/>
                    </a:lnTo>
                    <a:lnTo>
                      <a:pt x="2154" y="771"/>
                    </a:lnTo>
                    <a:lnTo>
                      <a:pt x="2308" y="700"/>
                    </a:lnTo>
                    <a:lnTo>
                      <a:pt x="2477" y="625"/>
                    </a:lnTo>
                    <a:lnTo>
                      <a:pt x="2657" y="543"/>
                    </a:lnTo>
                    <a:lnTo>
                      <a:pt x="2853" y="453"/>
                    </a:lnTo>
                    <a:lnTo>
                      <a:pt x="3064" y="357"/>
                    </a:lnTo>
                    <a:lnTo>
                      <a:pt x="3293" y="254"/>
                    </a:lnTo>
                    <a:lnTo>
                      <a:pt x="3539" y="143"/>
                    </a:lnTo>
                    <a:close/>
                  </a:path>
                </a:pathLst>
              </a:custGeom>
              <a:solidFill>
                <a:srgbClr val="C9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4" name="Freeform 149">
                <a:extLst>
                  <a:ext uri="{FF2B5EF4-FFF2-40B4-BE49-F238E27FC236}">
                    <a16:creationId xmlns:a16="http://schemas.microsoft.com/office/drawing/2014/main" id="{33641698-A85A-46DC-8152-92C082B0E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4"/>
              </a:xfrm>
              <a:custGeom>
                <a:avLst/>
                <a:gdLst>
                  <a:gd name="T0" fmla="*/ 0 w 3526"/>
                  <a:gd name="T1" fmla="*/ 0 h 1698"/>
                  <a:gd name="T2" fmla="*/ 0 w 3526"/>
                  <a:gd name="T3" fmla="*/ 0 h 1698"/>
                  <a:gd name="T4" fmla="*/ 0 w 3526"/>
                  <a:gd name="T5" fmla="*/ 0 h 1698"/>
                  <a:gd name="T6" fmla="*/ 0 w 3526"/>
                  <a:gd name="T7" fmla="*/ 0 h 1698"/>
                  <a:gd name="T8" fmla="*/ 0 w 3526"/>
                  <a:gd name="T9" fmla="*/ 0 h 1698"/>
                  <a:gd name="T10" fmla="*/ 0 w 3526"/>
                  <a:gd name="T11" fmla="*/ 0 h 1698"/>
                  <a:gd name="T12" fmla="*/ 0 w 3526"/>
                  <a:gd name="T13" fmla="*/ 0 h 1698"/>
                  <a:gd name="T14" fmla="*/ 0 w 3526"/>
                  <a:gd name="T15" fmla="*/ 0 h 1698"/>
                  <a:gd name="T16" fmla="*/ 0 w 3526"/>
                  <a:gd name="T17" fmla="*/ 0 h 1698"/>
                  <a:gd name="T18" fmla="*/ 0 w 3526"/>
                  <a:gd name="T19" fmla="*/ 0 h 1698"/>
                  <a:gd name="T20" fmla="*/ 0 w 3526"/>
                  <a:gd name="T21" fmla="*/ 0 h 1698"/>
                  <a:gd name="T22" fmla="*/ 0 w 3526"/>
                  <a:gd name="T23" fmla="*/ 0 h 1698"/>
                  <a:gd name="T24" fmla="*/ 0 w 3526"/>
                  <a:gd name="T25" fmla="*/ 0 h 1698"/>
                  <a:gd name="T26" fmla="*/ 0 w 3526"/>
                  <a:gd name="T27" fmla="*/ 0 h 1698"/>
                  <a:gd name="T28" fmla="*/ 0 w 3526"/>
                  <a:gd name="T29" fmla="*/ 0 h 1698"/>
                  <a:gd name="T30" fmla="*/ 0 w 3526"/>
                  <a:gd name="T31" fmla="*/ 0 h 1698"/>
                  <a:gd name="T32" fmla="*/ 0 w 3526"/>
                  <a:gd name="T33" fmla="*/ 0 h 1698"/>
                  <a:gd name="T34" fmla="*/ 0 w 3526"/>
                  <a:gd name="T35" fmla="*/ 0 h 1698"/>
                  <a:gd name="T36" fmla="*/ 0 w 3526"/>
                  <a:gd name="T37" fmla="*/ 0 h 1698"/>
                  <a:gd name="T38" fmla="*/ 0 w 3526"/>
                  <a:gd name="T39" fmla="*/ 0 h 1698"/>
                  <a:gd name="T40" fmla="*/ 0 w 3526"/>
                  <a:gd name="T41" fmla="*/ 0 h 1698"/>
                  <a:gd name="T42" fmla="*/ 0 w 3526"/>
                  <a:gd name="T43" fmla="*/ 0 h 1698"/>
                  <a:gd name="T44" fmla="*/ 0 w 3526"/>
                  <a:gd name="T45" fmla="*/ 0 h 1698"/>
                  <a:gd name="T46" fmla="*/ 0 w 3526"/>
                  <a:gd name="T47" fmla="*/ 0 h 1698"/>
                  <a:gd name="T48" fmla="*/ 0 w 3526"/>
                  <a:gd name="T49" fmla="*/ 0 h 1698"/>
                  <a:gd name="T50" fmla="*/ 0 w 3526"/>
                  <a:gd name="T51" fmla="*/ 0 h 1698"/>
                  <a:gd name="T52" fmla="*/ 0 w 3526"/>
                  <a:gd name="T53" fmla="*/ 0 h 1698"/>
                  <a:gd name="T54" fmla="*/ 0 w 3526"/>
                  <a:gd name="T55" fmla="*/ 0 h 1698"/>
                  <a:gd name="T56" fmla="*/ 0 w 3526"/>
                  <a:gd name="T57" fmla="*/ 0 h 1698"/>
                  <a:gd name="T58" fmla="*/ 0 w 3526"/>
                  <a:gd name="T59" fmla="*/ 0 h 1698"/>
                  <a:gd name="T60" fmla="*/ 0 w 3526"/>
                  <a:gd name="T61" fmla="*/ 0 h 1698"/>
                  <a:gd name="T62" fmla="*/ 0 w 3526"/>
                  <a:gd name="T63" fmla="*/ 0 h 1698"/>
                  <a:gd name="T64" fmla="*/ 0 w 3526"/>
                  <a:gd name="T65" fmla="*/ 0 h 1698"/>
                  <a:gd name="T66" fmla="*/ 0 w 3526"/>
                  <a:gd name="T67" fmla="*/ 0 h 1698"/>
                  <a:gd name="T68" fmla="*/ 0 w 3526"/>
                  <a:gd name="T69" fmla="*/ 0 h 1698"/>
                  <a:gd name="T70" fmla="*/ 0 w 3526"/>
                  <a:gd name="T71" fmla="*/ 0 h 1698"/>
                  <a:gd name="T72" fmla="*/ 0 w 3526"/>
                  <a:gd name="T73" fmla="*/ 0 h 1698"/>
                  <a:gd name="T74" fmla="*/ 0 w 3526"/>
                  <a:gd name="T75" fmla="*/ 0 h 1698"/>
                  <a:gd name="T76" fmla="*/ 0 w 3526"/>
                  <a:gd name="T77" fmla="*/ 0 h 1698"/>
                  <a:gd name="T78" fmla="*/ 0 w 3526"/>
                  <a:gd name="T79" fmla="*/ 0 h 1698"/>
                  <a:gd name="T80" fmla="*/ 0 w 3526"/>
                  <a:gd name="T81" fmla="*/ 0 h 1698"/>
                  <a:gd name="T82" fmla="*/ 0 w 3526"/>
                  <a:gd name="T83" fmla="*/ 0 h 1698"/>
                  <a:gd name="T84" fmla="*/ 0 w 3526"/>
                  <a:gd name="T85" fmla="*/ 0 h 1698"/>
                  <a:gd name="T86" fmla="*/ 0 w 3526"/>
                  <a:gd name="T87" fmla="*/ 0 h 16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26"/>
                  <a:gd name="T133" fmla="*/ 0 h 1698"/>
                  <a:gd name="T134" fmla="*/ 3526 w 3526"/>
                  <a:gd name="T135" fmla="*/ 1698 h 16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26" h="1698">
                    <a:moveTo>
                      <a:pt x="3526" y="123"/>
                    </a:moveTo>
                    <a:lnTo>
                      <a:pt x="3522" y="112"/>
                    </a:lnTo>
                    <a:lnTo>
                      <a:pt x="3518" y="103"/>
                    </a:lnTo>
                    <a:lnTo>
                      <a:pt x="3513" y="9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5" y="1671"/>
                    </a:lnTo>
                    <a:lnTo>
                      <a:pt x="36" y="1698"/>
                    </a:lnTo>
                    <a:lnTo>
                      <a:pt x="141" y="1651"/>
                    </a:lnTo>
                    <a:lnTo>
                      <a:pt x="237" y="1608"/>
                    </a:lnTo>
                    <a:lnTo>
                      <a:pt x="326" y="1568"/>
                    </a:lnTo>
                    <a:lnTo>
                      <a:pt x="409" y="1530"/>
                    </a:lnTo>
                    <a:lnTo>
                      <a:pt x="486" y="1496"/>
                    </a:lnTo>
                    <a:lnTo>
                      <a:pt x="558" y="1463"/>
                    </a:lnTo>
                    <a:lnTo>
                      <a:pt x="626" y="1433"/>
                    </a:lnTo>
                    <a:lnTo>
                      <a:pt x="691" y="1403"/>
                    </a:lnTo>
                    <a:lnTo>
                      <a:pt x="754" y="1375"/>
                    </a:lnTo>
                    <a:lnTo>
                      <a:pt x="815" y="1347"/>
                    </a:lnTo>
                    <a:lnTo>
                      <a:pt x="875" y="1320"/>
                    </a:lnTo>
                    <a:lnTo>
                      <a:pt x="936" y="1292"/>
                    </a:lnTo>
                    <a:lnTo>
                      <a:pt x="999" y="1264"/>
                    </a:lnTo>
                    <a:lnTo>
                      <a:pt x="1063" y="1236"/>
                    </a:lnTo>
                    <a:lnTo>
                      <a:pt x="1130" y="1205"/>
                    </a:lnTo>
                    <a:lnTo>
                      <a:pt x="1201" y="1173"/>
                    </a:lnTo>
                    <a:lnTo>
                      <a:pt x="1276" y="1140"/>
                    </a:lnTo>
                    <a:lnTo>
                      <a:pt x="1357" y="1103"/>
                    </a:lnTo>
                    <a:lnTo>
                      <a:pt x="1443" y="1064"/>
                    </a:lnTo>
                    <a:lnTo>
                      <a:pt x="1537" y="1022"/>
                    </a:lnTo>
                    <a:lnTo>
                      <a:pt x="1639" y="975"/>
                    </a:lnTo>
                    <a:lnTo>
                      <a:pt x="1749" y="926"/>
                    </a:lnTo>
                    <a:lnTo>
                      <a:pt x="1870" y="872"/>
                    </a:lnTo>
                    <a:lnTo>
                      <a:pt x="2000" y="813"/>
                    </a:lnTo>
                    <a:lnTo>
                      <a:pt x="2143" y="749"/>
                    </a:lnTo>
                    <a:lnTo>
                      <a:pt x="2297" y="679"/>
                    </a:lnTo>
                    <a:lnTo>
                      <a:pt x="2464" y="603"/>
                    </a:lnTo>
                    <a:lnTo>
                      <a:pt x="2646" y="521"/>
                    </a:lnTo>
                    <a:lnTo>
                      <a:pt x="2841" y="432"/>
                    </a:lnTo>
                    <a:lnTo>
                      <a:pt x="3053" y="337"/>
                    </a:lnTo>
                    <a:lnTo>
                      <a:pt x="3281" y="234"/>
                    </a:lnTo>
                    <a:lnTo>
                      <a:pt x="3526" y="123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5" name="Freeform 150">
                <a:extLst>
                  <a:ext uri="{FF2B5EF4-FFF2-40B4-BE49-F238E27FC236}">
                    <a16:creationId xmlns:a16="http://schemas.microsoft.com/office/drawing/2014/main" id="{C10C404D-143A-4608-A38C-8FBDB5898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3"/>
              </a:xfrm>
              <a:custGeom>
                <a:avLst/>
                <a:gdLst>
                  <a:gd name="T0" fmla="*/ 0 w 3515"/>
                  <a:gd name="T1" fmla="*/ 0 h 1674"/>
                  <a:gd name="T2" fmla="*/ 0 w 3515"/>
                  <a:gd name="T3" fmla="*/ 0 h 1674"/>
                  <a:gd name="T4" fmla="*/ 0 w 3515"/>
                  <a:gd name="T5" fmla="*/ 0 h 1674"/>
                  <a:gd name="T6" fmla="*/ 0 w 3515"/>
                  <a:gd name="T7" fmla="*/ 0 h 1674"/>
                  <a:gd name="T8" fmla="*/ 0 w 3515"/>
                  <a:gd name="T9" fmla="*/ 0 h 1674"/>
                  <a:gd name="T10" fmla="*/ 0 w 3515"/>
                  <a:gd name="T11" fmla="*/ 0 h 1674"/>
                  <a:gd name="T12" fmla="*/ 0 w 3515"/>
                  <a:gd name="T13" fmla="*/ 0 h 1674"/>
                  <a:gd name="T14" fmla="*/ 0 w 3515"/>
                  <a:gd name="T15" fmla="*/ 0 h 1674"/>
                  <a:gd name="T16" fmla="*/ 0 w 3515"/>
                  <a:gd name="T17" fmla="*/ 0 h 1674"/>
                  <a:gd name="T18" fmla="*/ 0 w 3515"/>
                  <a:gd name="T19" fmla="*/ 0 h 1674"/>
                  <a:gd name="T20" fmla="*/ 0 w 3515"/>
                  <a:gd name="T21" fmla="*/ 0 h 1674"/>
                  <a:gd name="T22" fmla="*/ 0 w 3515"/>
                  <a:gd name="T23" fmla="*/ 0 h 1674"/>
                  <a:gd name="T24" fmla="*/ 0 w 3515"/>
                  <a:gd name="T25" fmla="*/ 0 h 1674"/>
                  <a:gd name="T26" fmla="*/ 0 w 3515"/>
                  <a:gd name="T27" fmla="*/ 0 h 1674"/>
                  <a:gd name="T28" fmla="*/ 0 w 3515"/>
                  <a:gd name="T29" fmla="*/ 0 h 1674"/>
                  <a:gd name="T30" fmla="*/ 0 w 3515"/>
                  <a:gd name="T31" fmla="*/ 0 h 1674"/>
                  <a:gd name="T32" fmla="*/ 0 w 3515"/>
                  <a:gd name="T33" fmla="*/ 0 h 1674"/>
                  <a:gd name="T34" fmla="*/ 0 w 3515"/>
                  <a:gd name="T35" fmla="*/ 0 h 1674"/>
                  <a:gd name="T36" fmla="*/ 0 w 3515"/>
                  <a:gd name="T37" fmla="*/ 0 h 1674"/>
                  <a:gd name="T38" fmla="*/ 0 w 3515"/>
                  <a:gd name="T39" fmla="*/ 0 h 1674"/>
                  <a:gd name="T40" fmla="*/ 0 w 3515"/>
                  <a:gd name="T41" fmla="*/ 0 h 1674"/>
                  <a:gd name="T42" fmla="*/ 0 w 3515"/>
                  <a:gd name="T43" fmla="*/ 0 h 1674"/>
                  <a:gd name="T44" fmla="*/ 0 w 3515"/>
                  <a:gd name="T45" fmla="*/ 0 h 1674"/>
                  <a:gd name="T46" fmla="*/ 0 w 3515"/>
                  <a:gd name="T47" fmla="*/ 0 h 1674"/>
                  <a:gd name="T48" fmla="*/ 0 w 3515"/>
                  <a:gd name="T49" fmla="*/ 0 h 1674"/>
                  <a:gd name="T50" fmla="*/ 0 w 3515"/>
                  <a:gd name="T51" fmla="*/ 0 h 1674"/>
                  <a:gd name="T52" fmla="*/ 0 w 3515"/>
                  <a:gd name="T53" fmla="*/ 0 h 1674"/>
                  <a:gd name="T54" fmla="*/ 0 w 3515"/>
                  <a:gd name="T55" fmla="*/ 0 h 1674"/>
                  <a:gd name="T56" fmla="*/ 0 w 3515"/>
                  <a:gd name="T57" fmla="*/ 0 h 1674"/>
                  <a:gd name="T58" fmla="*/ 0 w 3515"/>
                  <a:gd name="T59" fmla="*/ 0 h 1674"/>
                  <a:gd name="T60" fmla="*/ 0 w 3515"/>
                  <a:gd name="T61" fmla="*/ 0 h 1674"/>
                  <a:gd name="T62" fmla="*/ 0 w 3515"/>
                  <a:gd name="T63" fmla="*/ 0 h 1674"/>
                  <a:gd name="T64" fmla="*/ 0 w 3515"/>
                  <a:gd name="T65" fmla="*/ 0 h 1674"/>
                  <a:gd name="T66" fmla="*/ 0 w 3515"/>
                  <a:gd name="T67" fmla="*/ 0 h 1674"/>
                  <a:gd name="T68" fmla="*/ 0 w 3515"/>
                  <a:gd name="T69" fmla="*/ 0 h 1674"/>
                  <a:gd name="T70" fmla="*/ 0 w 3515"/>
                  <a:gd name="T71" fmla="*/ 0 h 1674"/>
                  <a:gd name="T72" fmla="*/ 0 w 3515"/>
                  <a:gd name="T73" fmla="*/ 0 h 1674"/>
                  <a:gd name="T74" fmla="*/ 0 w 3515"/>
                  <a:gd name="T75" fmla="*/ 0 h 1674"/>
                  <a:gd name="T76" fmla="*/ 0 w 3515"/>
                  <a:gd name="T77" fmla="*/ 0 h 1674"/>
                  <a:gd name="T78" fmla="*/ 0 w 3515"/>
                  <a:gd name="T79" fmla="*/ 0 h 1674"/>
                  <a:gd name="T80" fmla="*/ 0 w 3515"/>
                  <a:gd name="T81" fmla="*/ 0 h 1674"/>
                  <a:gd name="T82" fmla="*/ 0 w 3515"/>
                  <a:gd name="T83" fmla="*/ 0 h 1674"/>
                  <a:gd name="T84" fmla="*/ 0 w 3515"/>
                  <a:gd name="T85" fmla="*/ 0 h 1674"/>
                  <a:gd name="T86" fmla="*/ 0 w 3515"/>
                  <a:gd name="T87" fmla="*/ 0 h 167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15"/>
                  <a:gd name="T133" fmla="*/ 0 h 1674"/>
                  <a:gd name="T134" fmla="*/ 3515 w 3515"/>
                  <a:gd name="T135" fmla="*/ 1674 h 1674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15" h="1674">
                    <a:moveTo>
                      <a:pt x="3515" y="103"/>
                    </a:moveTo>
                    <a:lnTo>
                      <a:pt x="3513" y="96"/>
                    </a:lnTo>
                    <a:lnTo>
                      <a:pt x="3511" y="91"/>
                    </a:lnTo>
                    <a:lnTo>
                      <a:pt x="3508" y="8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2" y="1644"/>
                    </a:lnTo>
                    <a:lnTo>
                      <a:pt x="15" y="1649"/>
                    </a:lnTo>
                    <a:lnTo>
                      <a:pt x="18" y="1657"/>
                    </a:lnTo>
                    <a:lnTo>
                      <a:pt x="25" y="1674"/>
                    </a:lnTo>
                    <a:lnTo>
                      <a:pt x="130" y="1627"/>
                    </a:lnTo>
                    <a:lnTo>
                      <a:pt x="225" y="1583"/>
                    </a:lnTo>
                    <a:lnTo>
                      <a:pt x="315" y="1543"/>
                    </a:lnTo>
                    <a:lnTo>
                      <a:pt x="398" y="1506"/>
                    </a:lnTo>
                    <a:lnTo>
                      <a:pt x="474" y="1472"/>
                    </a:lnTo>
                    <a:lnTo>
                      <a:pt x="547" y="1439"/>
                    </a:lnTo>
                    <a:lnTo>
                      <a:pt x="615" y="1408"/>
                    </a:lnTo>
                    <a:lnTo>
                      <a:pt x="679" y="1379"/>
                    </a:lnTo>
                    <a:lnTo>
                      <a:pt x="743" y="1352"/>
                    </a:lnTo>
                    <a:lnTo>
                      <a:pt x="804" y="1324"/>
                    </a:lnTo>
                    <a:lnTo>
                      <a:pt x="864" y="1297"/>
                    </a:lnTo>
                    <a:lnTo>
                      <a:pt x="925" y="1269"/>
                    </a:lnTo>
                    <a:lnTo>
                      <a:pt x="987" y="1241"/>
                    </a:lnTo>
                    <a:lnTo>
                      <a:pt x="1052" y="1212"/>
                    </a:lnTo>
                    <a:lnTo>
                      <a:pt x="1119" y="1182"/>
                    </a:lnTo>
                    <a:lnTo>
                      <a:pt x="1189" y="1150"/>
                    </a:lnTo>
                    <a:lnTo>
                      <a:pt x="1265" y="1116"/>
                    </a:lnTo>
                    <a:lnTo>
                      <a:pt x="1345" y="1081"/>
                    </a:lnTo>
                    <a:lnTo>
                      <a:pt x="1432" y="1042"/>
                    </a:lnTo>
                    <a:lnTo>
                      <a:pt x="1526" y="999"/>
                    </a:lnTo>
                    <a:lnTo>
                      <a:pt x="1628" y="953"/>
                    </a:lnTo>
                    <a:lnTo>
                      <a:pt x="1738" y="903"/>
                    </a:lnTo>
                    <a:lnTo>
                      <a:pt x="1859" y="850"/>
                    </a:lnTo>
                    <a:lnTo>
                      <a:pt x="1989" y="791"/>
                    </a:lnTo>
                    <a:lnTo>
                      <a:pt x="2132" y="726"/>
                    </a:lnTo>
                    <a:lnTo>
                      <a:pt x="2286" y="657"/>
                    </a:lnTo>
                    <a:lnTo>
                      <a:pt x="2453" y="582"/>
                    </a:lnTo>
                    <a:lnTo>
                      <a:pt x="2635" y="500"/>
                    </a:lnTo>
                    <a:lnTo>
                      <a:pt x="2830" y="412"/>
                    </a:lnTo>
                    <a:lnTo>
                      <a:pt x="3042" y="316"/>
                    </a:lnTo>
                    <a:lnTo>
                      <a:pt x="3269" y="214"/>
                    </a:lnTo>
                    <a:lnTo>
                      <a:pt x="3515" y="103"/>
                    </a:lnTo>
                    <a:close/>
                  </a:path>
                </a:pathLst>
              </a:custGeom>
              <a:solidFill>
                <a:srgbClr val="D6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6" name="Freeform 151">
                <a:extLst>
                  <a:ext uri="{FF2B5EF4-FFF2-40B4-BE49-F238E27FC236}">
                    <a16:creationId xmlns:a16="http://schemas.microsoft.com/office/drawing/2014/main" id="{D571910A-7A2B-4983-9950-C8140D305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59" cy="92"/>
              </a:xfrm>
              <a:custGeom>
                <a:avLst/>
                <a:gdLst>
                  <a:gd name="T0" fmla="*/ 0 w 3503"/>
                  <a:gd name="T1" fmla="*/ 0 h 1649"/>
                  <a:gd name="T2" fmla="*/ 0 w 3503"/>
                  <a:gd name="T3" fmla="*/ 0 h 1649"/>
                  <a:gd name="T4" fmla="*/ 0 w 3503"/>
                  <a:gd name="T5" fmla="*/ 0 h 1649"/>
                  <a:gd name="T6" fmla="*/ 0 w 3503"/>
                  <a:gd name="T7" fmla="*/ 0 h 1649"/>
                  <a:gd name="T8" fmla="*/ 0 w 3503"/>
                  <a:gd name="T9" fmla="*/ 0 h 1649"/>
                  <a:gd name="T10" fmla="*/ 0 w 3503"/>
                  <a:gd name="T11" fmla="*/ 0 h 1649"/>
                  <a:gd name="T12" fmla="*/ 0 w 3503"/>
                  <a:gd name="T13" fmla="*/ 0 h 1649"/>
                  <a:gd name="T14" fmla="*/ 0 w 3503"/>
                  <a:gd name="T15" fmla="*/ 0 h 1649"/>
                  <a:gd name="T16" fmla="*/ 0 w 3503"/>
                  <a:gd name="T17" fmla="*/ 0 h 1649"/>
                  <a:gd name="T18" fmla="*/ 0 w 3503"/>
                  <a:gd name="T19" fmla="*/ 0 h 1649"/>
                  <a:gd name="T20" fmla="*/ 0 w 3503"/>
                  <a:gd name="T21" fmla="*/ 0 h 1649"/>
                  <a:gd name="T22" fmla="*/ 0 w 3503"/>
                  <a:gd name="T23" fmla="*/ 0 h 1649"/>
                  <a:gd name="T24" fmla="*/ 0 w 3503"/>
                  <a:gd name="T25" fmla="*/ 0 h 1649"/>
                  <a:gd name="T26" fmla="*/ 0 w 3503"/>
                  <a:gd name="T27" fmla="*/ 0 h 1649"/>
                  <a:gd name="T28" fmla="*/ 0 w 3503"/>
                  <a:gd name="T29" fmla="*/ 0 h 1649"/>
                  <a:gd name="T30" fmla="*/ 0 w 3503"/>
                  <a:gd name="T31" fmla="*/ 0 h 1649"/>
                  <a:gd name="T32" fmla="*/ 0 w 3503"/>
                  <a:gd name="T33" fmla="*/ 0 h 1649"/>
                  <a:gd name="T34" fmla="*/ 0 w 3503"/>
                  <a:gd name="T35" fmla="*/ 0 h 1649"/>
                  <a:gd name="T36" fmla="*/ 0 w 3503"/>
                  <a:gd name="T37" fmla="*/ 0 h 1649"/>
                  <a:gd name="T38" fmla="*/ 0 w 3503"/>
                  <a:gd name="T39" fmla="*/ 0 h 1649"/>
                  <a:gd name="T40" fmla="*/ 0 w 3503"/>
                  <a:gd name="T41" fmla="*/ 0 h 16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03"/>
                  <a:gd name="T64" fmla="*/ 0 h 1649"/>
                  <a:gd name="T65" fmla="*/ 3503 w 3503"/>
                  <a:gd name="T66" fmla="*/ 1649 h 16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03" h="1649">
                    <a:moveTo>
                      <a:pt x="3503" y="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9"/>
                    </a:lnTo>
                    <a:lnTo>
                      <a:pt x="3503" y="8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7" name="Freeform 152">
                <a:extLst>
                  <a:ext uri="{FF2B5EF4-FFF2-40B4-BE49-F238E27FC236}">
                    <a16:creationId xmlns:a16="http://schemas.microsoft.com/office/drawing/2014/main" id="{88BFAE28-F0F8-432A-B149-5AF78BD17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064"/>
                <a:ext cx="2" cy="3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7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8" name="Freeform 153">
                <a:extLst>
                  <a:ext uri="{FF2B5EF4-FFF2-40B4-BE49-F238E27FC236}">
                    <a16:creationId xmlns:a16="http://schemas.microsoft.com/office/drawing/2014/main" id="{F7E76D20-3E3A-42C0-936F-26872C0B3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064"/>
                <a:ext cx="160" cy="90"/>
              </a:xfrm>
              <a:custGeom>
                <a:avLst/>
                <a:gdLst>
                  <a:gd name="T0" fmla="*/ 0 w 3529"/>
                  <a:gd name="T1" fmla="*/ 0 h 1614"/>
                  <a:gd name="T2" fmla="*/ 0 w 3529"/>
                  <a:gd name="T3" fmla="*/ 0 h 1614"/>
                  <a:gd name="T4" fmla="*/ 0 w 3529"/>
                  <a:gd name="T5" fmla="*/ 0 h 1614"/>
                  <a:gd name="T6" fmla="*/ 0 w 3529"/>
                  <a:gd name="T7" fmla="*/ 0 h 1614"/>
                  <a:gd name="T8" fmla="*/ 0 w 3529"/>
                  <a:gd name="T9" fmla="*/ 0 h 1614"/>
                  <a:gd name="T10" fmla="*/ 0 w 3529"/>
                  <a:gd name="T11" fmla="*/ 0 h 16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29"/>
                  <a:gd name="T19" fmla="*/ 0 h 1614"/>
                  <a:gd name="T20" fmla="*/ 3529 w 3529"/>
                  <a:gd name="T21" fmla="*/ 1614 h 16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29" h="1614">
                    <a:moveTo>
                      <a:pt x="8" y="1596"/>
                    </a:moveTo>
                    <a:lnTo>
                      <a:pt x="0" y="1577"/>
                    </a:lnTo>
                    <a:lnTo>
                      <a:pt x="3513" y="0"/>
                    </a:lnTo>
                    <a:lnTo>
                      <a:pt x="3529" y="38"/>
                    </a:lnTo>
                    <a:lnTo>
                      <a:pt x="16" y="1614"/>
                    </a:lnTo>
                    <a:lnTo>
                      <a:pt x="8" y="1596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89" name="Freeform 154">
                <a:extLst>
                  <a:ext uri="{FF2B5EF4-FFF2-40B4-BE49-F238E27FC236}">
                    <a16:creationId xmlns:a16="http://schemas.microsoft.com/office/drawing/2014/main" id="{20B193AB-5A97-4D62-8971-1F2FF1DC2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152"/>
                <a:ext cx="1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28" y="37"/>
                    </a:moveTo>
                    <a:lnTo>
                      <a:pt x="19" y="40"/>
                    </a:lnTo>
                    <a:lnTo>
                      <a:pt x="12" y="37"/>
                    </a:lnTo>
                    <a:lnTo>
                      <a:pt x="6" y="33"/>
                    </a:lnTo>
                    <a:lnTo>
                      <a:pt x="2" y="26"/>
                    </a:lnTo>
                    <a:lnTo>
                      <a:pt x="0" y="19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2" y="0"/>
                    </a:lnTo>
                    <a:lnTo>
                      <a:pt x="28" y="37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0" name="Freeform 155">
                <a:extLst>
                  <a:ext uri="{FF2B5EF4-FFF2-40B4-BE49-F238E27FC236}">
                    <a16:creationId xmlns:a16="http://schemas.microsoft.com/office/drawing/2014/main" id="{EB675F12-43CB-4881-9590-739B0B87F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3075"/>
                <a:ext cx="2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6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1" name="Freeform 156">
                <a:extLst>
                  <a:ext uri="{FF2B5EF4-FFF2-40B4-BE49-F238E27FC236}">
                    <a16:creationId xmlns:a16="http://schemas.microsoft.com/office/drawing/2014/main" id="{3EFF62E7-D001-4ACF-BC32-839DB1F64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075"/>
                <a:ext cx="161" cy="91"/>
              </a:xfrm>
              <a:custGeom>
                <a:avLst/>
                <a:gdLst>
                  <a:gd name="T0" fmla="*/ 0 w 3547"/>
                  <a:gd name="T1" fmla="*/ 0 h 1633"/>
                  <a:gd name="T2" fmla="*/ 0 w 3547"/>
                  <a:gd name="T3" fmla="*/ 0 h 1633"/>
                  <a:gd name="T4" fmla="*/ 0 w 3547"/>
                  <a:gd name="T5" fmla="*/ 0 h 1633"/>
                  <a:gd name="T6" fmla="*/ 0 w 3547"/>
                  <a:gd name="T7" fmla="*/ 0 h 1633"/>
                  <a:gd name="T8" fmla="*/ 0 w 3547"/>
                  <a:gd name="T9" fmla="*/ 0 h 1633"/>
                  <a:gd name="T10" fmla="*/ 0 w 3547"/>
                  <a:gd name="T11" fmla="*/ 0 h 16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47"/>
                  <a:gd name="T19" fmla="*/ 0 h 1633"/>
                  <a:gd name="T20" fmla="*/ 3547 w 3547"/>
                  <a:gd name="T21" fmla="*/ 1633 h 163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47" h="1633">
                    <a:moveTo>
                      <a:pt x="8" y="1614"/>
                    </a:moveTo>
                    <a:lnTo>
                      <a:pt x="0" y="1595"/>
                    </a:lnTo>
                    <a:lnTo>
                      <a:pt x="3531" y="0"/>
                    </a:lnTo>
                    <a:lnTo>
                      <a:pt x="3547" y="38"/>
                    </a:lnTo>
                    <a:lnTo>
                      <a:pt x="17" y="1633"/>
                    </a:lnTo>
                    <a:lnTo>
                      <a:pt x="8" y="161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2" name="Freeform 157">
                <a:extLst>
                  <a:ext uri="{FF2B5EF4-FFF2-40B4-BE49-F238E27FC236}">
                    <a16:creationId xmlns:a16="http://schemas.microsoft.com/office/drawing/2014/main" id="{A4E4FEE6-3356-4F16-8BAC-64354E4EF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164"/>
                <a:ext cx="2" cy="2"/>
              </a:xfrm>
              <a:custGeom>
                <a:avLst/>
                <a:gdLst>
                  <a:gd name="T0" fmla="*/ 0 w 29"/>
                  <a:gd name="T1" fmla="*/ 0 h 40"/>
                  <a:gd name="T2" fmla="*/ 0 w 29"/>
                  <a:gd name="T3" fmla="*/ 0 h 40"/>
                  <a:gd name="T4" fmla="*/ 0 w 29"/>
                  <a:gd name="T5" fmla="*/ 0 h 40"/>
                  <a:gd name="T6" fmla="*/ 0 w 29"/>
                  <a:gd name="T7" fmla="*/ 0 h 40"/>
                  <a:gd name="T8" fmla="*/ 0 w 29"/>
                  <a:gd name="T9" fmla="*/ 0 h 40"/>
                  <a:gd name="T10" fmla="*/ 0 w 29"/>
                  <a:gd name="T11" fmla="*/ 0 h 40"/>
                  <a:gd name="T12" fmla="*/ 0 w 29"/>
                  <a:gd name="T13" fmla="*/ 0 h 40"/>
                  <a:gd name="T14" fmla="*/ 0 w 29"/>
                  <a:gd name="T15" fmla="*/ 0 h 40"/>
                  <a:gd name="T16" fmla="*/ 0 w 29"/>
                  <a:gd name="T17" fmla="*/ 0 h 40"/>
                  <a:gd name="T18" fmla="*/ 0 w 29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40"/>
                  <a:gd name="T32" fmla="*/ 29 w 29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40">
                    <a:moveTo>
                      <a:pt x="29" y="38"/>
                    </a:moveTo>
                    <a:lnTo>
                      <a:pt x="19" y="40"/>
                    </a:lnTo>
                    <a:lnTo>
                      <a:pt x="12" y="38"/>
                    </a:lnTo>
                    <a:lnTo>
                      <a:pt x="6" y="34"/>
                    </a:lnTo>
                    <a:lnTo>
                      <a:pt x="2" y="27"/>
                    </a:lnTo>
                    <a:lnTo>
                      <a:pt x="0" y="19"/>
                    </a:lnTo>
                    <a:lnTo>
                      <a:pt x="1" y="12"/>
                    </a:lnTo>
                    <a:lnTo>
                      <a:pt x="5" y="6"/>
                    </a:lnTo>
                    <a:lnTo>
                      <a:pt x="12" y="0"/>
                    </a:lnTo>
                    <a:lnTo>
                      <a:pt x="29" y="38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3" name="Freeform 158">
                <a:extLst>
                  <a:ext uri="{FF2B5EF4-FFF2-40B4-BE49-F238E27FC236}">
                    <a16:creationId xmlns:a16="http://schemas.microsoft.com/office/drawing/2014/main" id="{2296E0F3-141A-4A5F-9168-B3C821AAA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3169"/>
                <a:ext cx="50" cy="122"/>
              </a:xfrm>
              <a:custGeom>
                <a:avLst/>
                <a:gdLst>
                  <a:gd name="T0" fmla="*/ 0 w 1103"/>
                  <a:gd name="T1" fmla="*/ 0 h 2201"/>
                  <a:gd name="T2" fmla="*/ 0 w 1103"/>
                  <a:gd name="T3" fmla="*/ 0 h 2201"/>
                  <a:gd name="T4" fmla="*/ 0 w 1103"/>
                  <a:gd name="T5" fmla="*/ 0 h 2201"/>
                  <a:gd name="T6" fmla="*/ 0 w 1103"/>
                  <a:gd name="T7" fmla="*/ 0 h 2201"/>
                  <a:gd name="T8" fmla="*/ 0 w 1103"/>
                  <a:gd name="T9" fmla="*/ 0 h 2201"/>
                  <a:gd name="T10" fmla="*/ 0 w 1103"/>
                  <a:gd name="T11" fmla="*/ 0 h 2201"/>
                  <a:gd name="T12" fmla="*/ 0 w 1103"/>
                  <a:gd name="T13" fmla="*/ 0 h 2201"/>
                  <a:gd name="T14" fmla="*/ 0 w 1103"/>
                  <a:gd name="T15" fmla="*/ 0 h 2201"/>
                  <a:gd name="T16" fmla="*/ 0 w 1103"/>
                  <a:gd name="T17" fmla="*/ 0 h 2201"/>
                  <a:gd name="T18" fmla="*/ 0 w 1103"/>
                  <a:gd name="T19" fmla="*/ 0 h 2201"/>
                  <a:gd name="T20" fmla="*/ 0 w 1103"/>
                  <a:gd name="T21" fmla="*/ 0 h 2201"/>
                  <a:gd name="T22" fmla="*/ 0 w 1103"/>
                  <a:gd name="T23" fmla="*/ 0 h 2201"/>
                  <a:gd name="T24" fmla="*/ 0 w 1103"/>
                  <a:gd name="T25" fmla="*/ 0 h 2201"/>
                  <a:gd name="T26" fmla="*/ 0 w 1103"/>
                  <a:gd name="T27" fmla="*/ 0 h 2201"/>
                  <a:gd name="T28" fmla="*/ 0 w 1103"/>
                  <a:gd name="T29" fmla="*/ 0 h 2201"/>
                  <a:gd name="T30" fmla="*/ 0 w 1103"/>
                  <a:gd name="T31" fmla="*/ 0 h 2201"/>
                  <a:gd name="T32" fmla="*/ 0 w 1103"/>
                  <a:gd name="T33" fmla="*/ 0 h 2201"/>
                  <a:gd name="T34" fmla="*/ 0 w 1103"/>
                  <a:gd name="T35" fmla="*/ 0 h 2201"/>
                  <a:gd name="T36" fmla="*/ 0 w 1103"/>
                  <a:gd name="T37" fmla="*/ 0 h 2201"/>
                  <a:gd name="T38" fmla="*/ 0 w 1103"/>
                  <a:gd name="T39" fmla="*/ 0 h 2201"/>
                  <a:gd name="T40" fmla="*/ 0 w 1103"/>
                  <a:gd name="T41" fmla="*/ 0 h 2201"/>
                  <a:gd name="T42" fmla="*/ 0 w 1103"/>
                  <a:gd name="T43" fmla="*/ 0 h 2201"/>
                  <a:gd name="T44" fmla="*/ 0 w 1103"/>
                  <a:gd name="T45" fmla="*/ 0 h 2201"/>
                  <a:gd name="T46" fmla="*/ 0 w 1103"/>
                  <a:gd name="T47" fmla="*/ 0 h 2201"/>
                  <a:gd name="T48" fmla="*/ 0 w 1103"/>
                  <a:gd name="T49" fmla="*/ 0 h 2201"/>
                  <a:gd name="T50" fmla="*/ 0 w 1103"/>
                  <a:gd name="T51" fmla="*/ 0 h 2201"/>
                  <a:gd name="T52" fmla="*/ 0 w 1103"/>
                  <a:gd name="T53" fmla="*/ 0 h 2201"/>
                  <a:gd name="T54" fmla="*/ 0 w 1103"/>
                  <a:gd name="T55" fmla="*/ 0 h 2201"/>
                  <a:gd name="T56" fmla="*/ 0 w 1103"/>
                  <a:gd name="T57" fmla="*/ 0 h 2201"/>
                  <a:gd name="T58" fmla="*/ 0 w 1103"/>
                  <a:gd name="T59" fmla="*/ 0 h 2201"/>
                  <a:gd name="T60" fmla="*/ 0 w 1103"/>
                  <a:gd name="T61" fmla="*/ 0 h 2201"/>
                  <a:gd name="T62" fmla="*/ 0 w 1103"/>
                  <a:gd name="T63" fmla="*/ 0 h 2201"/>
                  <a:gd name="T64" fmla="*/ 0 w 1103"/>
                  <a:gd name="T65" fmla="*/ 0 h 2201"/>
                  <a:gd name="T66" fmla="*/ 0 w 1103"/>
                  <a:gd name="T67" fmla="*/ 0 h 2201"/>
                  <a:gd name="T68" fmla="*/ 0 w 1103"/>
                  <a:gd name="T69" fmla="*/ 0 h 2201"/>
                  <a:gd name="T70" fmla="*/ 0 w 1103"/>
                  <a:gd name="T71" fmla="*/ 0 h 2201"/>
                  <a:gd name="T72" fmla="*/ 0 w 1103"/>
                  <a:gd name="T73" fmla="*/ 0 h 2201"/>
                  <a:gd name="T74" fmla="*/ 0 w 1103"/>
                  <a:gd name="T75" fmla="*/ 0 h 2201"/>
                  <a:gd name="T76" fmla="*/ 0 w 1103"/>
                  <a:gd name="T77" fmla="*/ 0 h 2201"/>
                  <a:gd name="T78" fmla="*/ 0 w 1103"/>
                  <a:gd name="T79" fmla="*/ 0 h 2201"/>
                  <a:gd name="T80" fmla="*/ 0 w 1103"/>
                  <a:gd name="T81" fmla="*/ 0 h 2201"/>
                  <a:gd name="T82" fmla="*/ 0 w 1103"/>
                  <a:gd name="T83" fmla="*/ 0 h 2201"/>
                  <a:gd name="T84" fmla="*/ 0 w 1103"/>
                  <a:gd name="T85" fmla="*/ 0 h 2201"/>
                  <a:gd name="T86" fmla="*/ 0 w 1103"/>
                  <a:gd name="T87" fmla="*/ 0 h 2201"/>
                  <a:gd name="T88" fmla="*/ 0 w 1103"/>
                  <a:gd name="T89" fmla="*/ 0 h 2201"/>
                  <a:gd name="T90" fmla="*/ 0 w 1103"/>
                  <a:gd name="T91" fmla="*/ 0 h 2201"/>
                  <a:gd name="T92" fmla="*/ 0 w 1103"/>
                  <a:gd name="T93" fmla="*/ 0 h 2201"/>
                  <a:gd name="T94" fmla="*/ 0 w 1103"/>
                  <a:gd name="T95" fmla="*/ 0 h 2201"/>
                  <a:gd name="T96" fmla="*/ 0 w 1103"/>
                  <a:gd name="T97" fmla="*/ 0 h 2201"/>
                  <a:gd name="T98" fmla="*/ 0 w 1103"/>
                  <a:gd name="T99" fmla="*/ 0 h 2201"/>
                  <a:gd name="T100" fmla="*/ 0 w 1103"/>
                  <a:gd name="T101" fmla="*/ 0 h 2201"/>
                  <a:gd name="T102" fmla="*/ 0 w 1103"/>
                  <a:gd name="T103" fmla="*/ 0 h 22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1"/>
                  <a:gd name="T158" fmla="*/ 1103 w 1103"/>
                  <a:gd name="T159" fmla="*/ 2201 h 220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1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1"/>
                    </a:lnTo>
                    <a:lnTo>
                      <a:pt x="1031" y="2186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80" y="2058"/>
                    </a:lnTo>
                    <a:lnTo>
                      <a:pt x="745" y="2036"/>
                    </a:lnTo>
                    <a:lnTo>
                      <a:pt x="711" y="2012"/>
                    </a:lnTo>
                    <a:lnTo>
                      <a:pt x="677" y="1988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9" y="1911"/>
                    </a:lnTo>
                    <a:lnTo>
                      <a:pt x="547" y="1884"/>
                    </a:lnTo>
                    <a:lnTo>
                      <a:pt x="515" y="1856"/>
                    </a:lnTo>
                    <a:lnTo>
                      <a:pt x="485" y="1827"/>
                    </a:lnTo>
                    <a:lnTo>
                      <a:pt x="455" y="1797"/>
                    </a:lnTo>
                    <a:lnTo>
                      <a:pt x="426" y="1767"/>
                    </a:lnTo>
                    <a:lnTo>
                      <a:pt x="397" y="1736"/>
                    </a:lnTo>
                    <a:lnTo>
                      <a:pt x="370" y="1705"/>
                    </a:lnTo>
                    <a:lnTo>
                      <a:pt x="342" y="1672"/>
                    </a:lnTo>
                    <a:lnTo>
                      <a:pt x="316" y="1638"/>
                    </a:lnTo>
                    <a:lnTo>
                      <a:pt x="291" y="1604"/>
                    </a:lnTo>
                    <a:lnTo>
                      <a:pt x="267" y="1571"/>
                    </a:lnTo>
                    <a:lnTo>
                      <a:pt x="243" y="1536"/>
                    </a:lnTo>
                    <a:lnTo>
                      <a:pt x="221" y="1500"/>
                    </a:lnTo>
                    <a:lnTo>
                      <a:pt x="199" y="1463"/>
                    </a:lnTo>
                    <a:lnTo>
                      <a:pt x="178" y="1427"/>
                    </a:lnTo>
                    <a:lnTo>
                      <a:pt x="158" y="1389"/>
                    </a:lnTo>
                    <a:lnTo>
                      <a:pt x="140" y="1351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70" y="1164"/>
                    </a:lnTo>
                    <a:lnTo>
                      <a:pt x="49" y="1083"/>
                    </a:lnTo>
                    <a:lnTo>
                      <a:pt x="32" y="997"/>
                    </a:lnTo>
                    <a:lnTo>
                      <a:pt x="19" y="910"/>
                    </a:lnTo>
                    <a:lnTo>
                      <a:pt x="8" y="822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1"/>
                    </a:lnTo>
                    <a:lnTo>
                      <a:pt x="8" y="463"/>
                    </a:lnTo>
                    <a:lnTo>
                      <a:pt x="18" y="375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9" y="136"/>
                    </a:lnTo>
                    <a:lnTo>
                      <a:pt x="94" y="65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4" name="Freeform 159">
                <a:extLst>
                  <a:ext uri="{FF2B5EF4-FFF2-40B4-BE49-F238E27FC236}">
                    <a16:creationId xmlns:a16="http://schemas.microsoft.com/office/drawing/2014/main" id="{C5CBB41E-3E43-415B-8B3F-C3DA9D1A3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3169"/>
                <a:ext cx="50" cy="122"/>
              </a:xfrm>
              <a:custGeom>
                <a:avLst/>
                <a:gdLst>
                  <a:gd name="T0" fmla="*/ 0 w 1103"/>
                  <a:gd name="T1" fmla="*/ 0 h 2202"/>
                  <a:gd name="T2" fmla="*/ 0 w 1103"/>
                  <a:gd name="T3" fmla="*/ 0 h 2202"/>
                  <a:gd name="T4" fmla="*/ 0 w 1103"/>
                  <a:gd name="T5" fmla="*/ 0 h 2202"/>
                  <a:gd name="T6" fmla="*/ 0 w 1103"/>
                  <a:gd name="T7" fmla="*/ 0 h 2202"/>
                  <a:gd name="T8" fmla="*/ 0 w 1103"/>
                  <a:gd name="T9" fmla="*/ 0 h 2202"/>
                  <a:gd name="T10" fmla="*/ 0 w 1103"/>
                  <a:gd name="T11" fmla="*/ 0 h 2202"/>
                  <a:gd name="T12" fmla="*/ 0 w 1103"/>
                  <a:gd name="T13" fmla="*/ 0 h 2202"/>
                  <a:gd name="T14" fmla="*/ 0 w 1103"/>
                  <a:gd name="T15" fmla="*/ 0 h 2202"/>
                  <a:gd name="T16" fmla="*/ 0 w 1103"/>
                  <a:gd name="T17" fmla="*/ 0 h 2202"/>
                  <a:gd name="T18" fmla="*/ 0 w 1103"/>
                  <a:gd name="T19" fmla="*/ 0 h 2202"/>
                  <a:gd name="T20" fmla="*/ 0 w 1103"/>
                  <a:gd name="T21" fmla="*/ 0 h 2202"/>
                  <a:gd name="T22" fmla="*/ 0 w 1103"/>
                  <a:gd name="T23" fmla="*/ 0 h 2202"/>
                  <a:gd name="T24" fmla="*/ 0 w 1103"/>
                  <a:gd name="T25" fmla="*/ 0 h 2202"/>
                  <a:gd name="T26" fmla="*/ 0 w 1103"/>
                  <a:gd name="T27" fmla="*/ 0 h 2202"/>
                  <a:gd name="T28" fmla="*/ 0 w 1103"/>
                  <a:gd name="T29" fmla="*/ 0 h 2202"/>
                  <a:gd name="T30" fmla="*/ 0 w 1103"/>
                  <a:gd name="T31" fmla="*/ 0 h 2202"/>
                  <a:gd name="T32" fmla="*/ 0 w 1103"/>
                  <a:gd name="T33" fmla="*/ 0 h 2202"/>
                  <a:gd name="T34" fmla="*/ 0 w 1103"/>
                  <a:gd name="T35" fmla="*/ 0 h 2202"/>
                  <a:gd name="T36" fmla="*/ 0 w 1103"/>
                  <a:gd name="T37" fmla="*/ 0 h 2202"/>
                  <a:gd name="T38" fmla="*/ 0 w 1103"/>
                  <a:gd name="T39" fmla="*/ 0 h 2202"/>
                  <a:gd name="T40" fmla="*/ 0 w 1103"/>
                  <a:gd name="T41" fmla="*/ 0 h 2202"/>
                  <a:gd name="T42" fmla="*/ 0 w 1103"/>
                  <a:gd name="T43" fmla="*/ 0 h 2202"/>
                  <a:gd name="T44" fmla="*/ 0 w 1103"/>
                  <a:gd name="T45" fmla="*/ 0 h 2202"/>
                  <a:gd name="T46" fmla="*/ 0 w 1103"/>
                  <a:gd name="T47" fmla="*/ 0 h 2202"/>
                  <a:gd name="T48" fmla="*/ 0 w 1103"/>
                  <a:gd name="T49" fmla="*/ 0 h 2202"/>
                  <a:gd name="T50" fmla="*/ 0 w 1103"/>
                  <a:gd name="T51" fmla="*/ 0 h 2202"/>
                  <a:gd name="T52" fmla="*/ 0 w 1103"/>
                  <a:gd name="T53" fmla="*/ 0 h 2202"/>
                  <a:gd name="T54" fmla="*/ 0 w 1103"/>
                  <a:gd name="T55" fmla="*/ 0 h 2202"/>
                  <a:gd name="T56" fmla="*/ 0 w 1103"/>
                  <a:gd name="T57" fmla="*/ 0 h 2202"/>
                  <a:gd name="T58" fmla="*/ 0 w 1103"/>
                  <a:gd name="T59" fmla="*/ 0 h 2202"/>
                  <a:gd name="T60" fmla="*/ 0 w 1103"/>
                  <a:gd name="T61" fmla="*/ 0 h 2202"/>
                  <a:gd name="T62" fmla="*/ 0 w 1103"/>
                  <a:gd name="T63" fmla="*/ 0 h 2202"/>
                  <a:gd name="T64" fmla="*/ 0 w 1103"/>
                  <a:gd name="T65" fmla="*/ 0 h 2202"/>
                  <a:gd name="T66" fmla="*/ 0 w 1103"/>
                  <a:gd name="T67" fmla="*/ 0 h 2202"/>
                  <a:gd name="T68" fmla="*/ 0 w 1103"/>
                  <a:gd name="T69" fmla="*/ 0 h 2202"/>
                  <a:gd name="T70" fmla="*/ 0 w 1103"/>
                  <a:gd name="T71" fmla="*/ 0 h 2202"/>
                  <a:gd name="T72" fmla="*/ 0 w 1103"/>
                  <a:gd name="T73" fmla="*/ 0 h 2202"/>
                  <a:gd name="T74" fmla="*/ 0 w 1103"/>
                  <a:gd name="T75" fmla="*/ 0 h 2202"/>
                  <a:gd name="T76" fmla="*/ 0 w 1103"/>
                  <a:gd name="T77" fmla="*/ 0 h 2202"/>
                  <a:gd name="T78" fmla="*/ 0 w 1103"/>
                  <a:gd name="T79" fmla="*/ 0 h 2202"/>
                  <a:gd name="T80" fmla="*/ 0 w 1103"/>
                  <a:gd name="T81" fmla="*/ 0 h 2202"/>
                  <a:gd name="T82" fmla="*/ 0 w 1103"/>
                  <a:gd name="T83" fmla="*/ 0 h 2202"/>
                  <a:gd name="T84" fmla="*/ 0 w 1103"/>
                  <a:gd name="T85" fmla="*/ 0 h 2202"/>
                  <a:gd name="T86" fmla="*/ 0 w 1103"/>
                  <a:gd name="T87" fmla="*/ 0 h 2202"/>
                  <a:gd name="T88" fmla="*/ 0 w 1103"/>
                  <a:gd name="T89" fmla="*/ 0 h 2202"/>
                  <a:gd name="T90" fmla="*/ 0 w 1103"/>
                  <a:gd name="T91" fmla="*/ 0 h 2202"/>
                  <a:gd name="T92" fmla="*/ 0 w 1103"/>
                  <a:gd name="T93" fmla="*/ 0 h 2202"/>
                  <a:gd name="T94" fmla="*/ 0 w 1103"/>
                  <a:gd name="T95" fmla="*/ 0 h 2202"/>
                  <a:gd name="T96" fmla="*/ 0 w 1103"/>
                  <a:gd name="T97" fmla="*/ 0 h 2202"/>
                  <a:gd name="T98" fmla="*/ 0 w 1103"/>
                  <a:gd name="T99" fmla="*/ 0 h 2202"/>
                  <a:gd name="T100" fmla="*/ 0 w 1103"/>
                  <a:gd name="T101" fmla="*/ 0 h 2202"/>
                  <a:gd name="T102" fmla="*/ 0 w 1103"/>
                  <a:gd name="T103" fmla="*/ 0 h 220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2"/>
                  <a:gd name="T158" fmla="*/ 1103 w 1103"/>
                  <a:gd name="T159" fmla="*/ 2202 h 220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2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2"/>
                    </a:lnTo>
                    <a:lnTo>
                      <a:pt x="1030" y="2187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79" y="2058"/>
                    </a:lnTo>
                    <a:lnTo>
                      <a:pt x="745" y="2036"/>
                    </a:lnTo>
                    <a:lnTo>
                      <a:pt x="711" y="2013"/>
                    </a:lnTo>
                    <a:lnTo>
                      <a:pt x="676" y="1989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8" y="1912"/>
                    </a:lnTo>
                    <a:lnTo>
                      <a:pt x="547" y="1884"/>
                    </a:lnTo>
                    <a:lnTo>
                      <a:pt x="515" y="1857"/>
                    </a:lnTo>
                    <a:lnTo>
                      <a:pt x="485" y="1827"/>
                    </a:lnTo>
                    <a:lnTo>
                      <a:pt x="455" y="1798"/>
                    </a:lnTo>
                    <a:lnTo>
                      <a:pt x="425" y="1767"/>
                    </a:lnTo>
                    <a:lnTo>
                      <a:pt x="397" y="1737"/>
                    </a:lnTo>
                    <a:lnTo>
                      <a:pt x="369" y="1705"/>
                    </a:lnTo>
                    <a:lnTo>
                      <a:pt x="342" y="1672"/>
                    </a:lnTo>
                    <a:lnTo>
                      <a:pt x="316" y="1639"/>
                    </a:lnTo>
                    <a:lnTo>
                      <a:pt x="291" y="1605"/>
                    </a:lnTo>
                    <a:lnTo>
                      <a:pt x="266" y="1571"/>
                    </a:lnTo>
                    <a:lnTo>
                      <a:pt x="243" y="1536"/>
                    </a:lnTo>
                    <a:lnTo>
                      <a:pt x="220" y="1500"/>
                    </a:lnTo>
                    <a:lnTo>
                      <a:pt x="199" y="1464"/>
                    </a:lnTo>
                    <a:lnTo>
                      <a:pt x="178" y="1428"/>
                    </a:lnTo>
                    <a:lnTo>
                      <a:pt x="158" y="1390"/>
                    </a:lnTo>
                    <a:lnTo>
                      <a:pt x="140" y="1352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69" y="1164"/>
                    </a:lnTo>
                    <a:lnTo>
                      <a:pt x="49" y="1083"/>
                    </a:lnTo>
                    <a:lnTo>
                      <a:pt x="32" y="998"/>
                    </a:lnTo>
                    <a:lnTo>
                      <a:pt x="18" y="910"/>
                    </a:lnTo>
                    <a:lnTo>
                      <a:pt x="8" y="823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2"/>
                    </a:lnTo>
                    <a:lnTo>
                      <a:pt x="8" y="463"/>
                    </a:lnTo>
                    <a:lnTo>
                      <a:pt x="17" y="376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8" y="136"/>
                    </a:lnTo>
                    <a:lnTo>
                      <a:pt x="94" y="66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5" name="Freeform 160">
                <a:extLst>
                  <a:ext uri="{FF2B5EF4-FFF2-40B4-BE49-F238E27FC236}">
                    <a16:creationId xmlns:a16="http://schemas.microsoft.com/office/drawing/2014/main" id="{615B9C5A-F4ED-4975-B396-34C1F5C97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2" cy="121"/>
              </a:xfrm>
              <a:custGeom>
                <a:avLst/>
                <a:gdLst>
                  <a:gd name="T0" fmla="*/ 0 w 1133"/>
                  <a:gd name="T1" fmla="*/ 0 h 2181"/>
                  <a:gd name="T2" fmla="*/ 0 w 1133"/>
                  <a:gd name="T3" fmla="*/ 0 h 2181"/>
                  <a:gd name="T4" fmla="*/ 0 w 1133"/>
                  <a:gd name="T5" fmla="*/ 0 h 2181"/>
                  <a:gd name="T6" fmla="*/ 0 w 1133"/>
                  <a:gd name="T7" fmla="*/ 0 h 2181"/>
                  <a:gd name="T8" fmla="*/ 0 w 1133"/>
                  <a:gd name="T9" fmla="*/ 0 h 2181"/>
                  <a:gd name="T10" fmla="*/ 0 w 1133"/>
                  <a:gd name="T11" fmla="*/ 0 h 2181"/>
                  <a:gd name="T12" fmla="*/ 0 w 1133"/>
                  <a:gd name="T13" fmla="*/ 0 h 2181"/>
                  <a:gd name="T14" fmla="*/ 0 w 1133"/>
                  <a:gd name="T15" fmla="*/ 0 h 2181"/>
                  <a:gd name="T16" fmla="*/ 0 w 1133"/>
                  <a:gd name="T17" fmla="*/ 0 h 2181"/>
                  <a:gd name="T18" fmla="*/ 0 w 1133"/>
                  <a:gd name="T19" fmla="*/ 0 h 2181"/>
                  <a:gd name="T20" fmla="*/ 0 w 1133"/>
                  <a:gd name="T21" fmla="*/ 0 h 2181"/>
                  <a:gd name="T22" fmla="*/ 0 w 1133"/>
                  <a:gd name="T23" fmla="*/ 0 h 2181"/>
                  <a:gd name="T24" fmla="*/ 0 w 1133"/>
                  <a:gd name="T25" fmla="*/ 0 h 2181"/>
                  <a:gd name="T26" fmla="*/ 0 w 1133"/>
                  <a:gd name="T27" fmla="*/ 0 h 2181"/>
                  <a:gd name="T28" fmla="*/ 0 w 1133"/>
                  <a:gd name="T29" fmla="*/ 0 h 2181"/>
                  <a:gd name="T30" fmla="*/ 0 w 1133"/>
                  <a:gd name="T31" fmla="*/ 0 h 2181"/>
                  <a:gd name="T32" fmla="*/ 0 w 1133"/>
                  <a:gd name="T33" fmla="*/ 0 h 2181"/>
                  <a:gd name="T34" fmla="*/ 0 w 1133"/>
                  <a:gd name="T35" fmla="*/ 0 h 2181"/>
                  <a:gd name="T36" fmla="*/ 0 w 1133"/>
                  <a:gd name="T37" fmla="*/ 0 h 2181"/>
                  <a:gd name="T38" fmla="*/ 0 w 1133"/>
                  <a:gd name="T39" fmla="*/ 0 h 2181"/>
                  <a:gd name="T40" fmla="*/ 0 w 1133"/>
                  <a:gd name="T41" fmla="*/ 0 h 2181"/>
                  <a:gd name="T42" fmla="*/ 0 w 1133"/>
                  <a:gd name="T43" fmla="*/ 0 h 2181"/>
                  <a:gd name="T44" fmla="*/ 0 w 1133"/>
                  <a:gd name="T45" fmla="*/ 0 h 2181"/>
                  <a:gd name="T46" fmla="*/ 0 w 1133"/>
                  <a:gd name="T47" fmla="*/ 0 h 2181"/>
                  <a:gd name="T48" fmla="*/ 0 w 1133"/>
                  <a:gd name="T49" fmla="*/ 0 h 2181"/>
                  <a:gd name="T50" fmla="*/ 0 w 1133"/>
                  <a:gd name="T51" fmla="*/ 0 h 2181"/>
                  <a:gd name="T52" fmla="*/ 0 w 1133"/>
                  <a:gd name="T53" fmla="*/ 0 h 2181"/>
                  <a:gd name="T54" fmla="*/ 0 w 1133"/>
                  <a:gd name="T55" fmla="*/ 0 h 2181"/>
                  <a:gd name="T56" fmla="*/ 0 w 1133"/>
                  <a:gd name="T57" fmla="*/ 0 h 2181"/>
                  <a:gd name="T58" fmla="*/ 0 w 1133"/>
                  <a:gd name="T59" fmla="*/ 0 h 2181"/>
                  <a:gd name="T60" fmla="*/ 0 w 1133"/>
                  <a:gd name="T61" fmla="*/ 0 h 2181"/>
                  <a:gd name="T62" fmla="*/ 0 w 1133"/>
                  <a:gd name="T63" fmla="*/ 0 h 2181"/>
                  <a:gd name="T64" fmla="*/ 0 w 1133"/>
                  <a:gd name="T65" fmla="*/ 0 h 2181"/>
                  <a:gd name="T66" fmla="*/ 0 w 1133"/>
                  <a:gd name="T67" fmla="*/ 0 h 2181"/>
                  <a:gd name="T68" fmla="*/ 0 w 1133"/>
                  <a:gd name="T69" fmla="*/ 0 h 2181"/>
                  <a:gd name="T70" fmla="*/ 0 w 1133"/>
                  <a:gd name="T71" fmla="*/ 0 h 2181"/>
                  <a:gd name="T72" fmla="*/ 0 w 1133"/>
                  <a:gd name="T73" fmla="*/ 0 h 2181"/>
                  <a:gd name="T74" fmla="*/ 0 w 1133"/>
                  <a:gd name="T75" fmla="*/ 0 h 2181"/>
                  <a:gd name="T76" fmla="*/ 0 w 1133"/>
                  <a:gd name="T77" fmla="*/ 0 h 2181"/>
                  <a:gd name="T78" fmla="*/ 0 w 1133"/>
                  <a:gd name="T79" fmla="*/ 0 h 2181"/>
                  <a:gd name="T80" fmla="*/ 0 w 1133"/>
                  <a:gd name="T81" fmla="*/ 0 h 2181"/>
                  <a:gd name="T82" fmla="*/ 0 w 1133"/>
                  <a:gd name="T83" fmla="*/ 0 h 2181"/>
                  <a:gd name="T84" fmla="*/ 0 w 1133"/>
                  <a:gd name="T85" fmla="*/ 0 h 2181"/>
                  <a:gd name="T86" fmla="*/ 0 w 1133"/>
                  <a:gd name="T87" fmla="*/ 0 h 2181"/>
                  <a:gd name="T88" fmla="*/ 0 w 1133"/>
                  <a:gd name="T89" fmla="*/ 0 h 2181"/>
                  <a:gd name="T90" fmla="*/ 0 w 1133"/>
                  <a:gd name="T91" fmla="*/ 0 h 2181"/>
                  <a:gd name="T92" fmla="*/ 0 w 1133"/>
                  <a:gd name="T93" fmla="*/ 0 h 2181"/>
                  <a:gd name="T94" fmla="*/ 0 w 1133"/>
                  <a:gd name="T95" fmla="*/ 0 h 2181"/>
                  <a:gd name="T96" fmla="*/ 0 w 1133"/>
                  <a:gd name="T97" fmla="*/ 0 h 2181"/>
                  <a:gd name="T98" fmla="*/ 0 w 1133"/>
                  <a:gd name="T99" fmla="*/ 0 h 2181"/>
                  <a:gd name="T100" fmla="*/ 0 w 1133"/>
                  <a:gd name="T101" fmla="*/ 0 h 2181"/>
                  <a:gd name="T102" fmla="*/ 0 w 1133"/>
                  <a:gd name="T103" fmla="*/ 0 h 218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3"/>
                  <a:gd name="T157" fmla="*/ 0 h 2181"/>
                  <a:gd name="T158" fmla="*/ 1133 w 1133"/>
                  <a:gd name="T159" fmla="*/ 2181 h 218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3" h="2181">
                    <a:moveTo>
                      <a:pt x="917" y="2127"/>
                    </a:moveTo>
                    <a:lnTo>
                      <a:pt x="0" y="131"/>
                    </a:lnTo>
                    <a:lnTo>
                      <a:pt x="32" y="0"/>
                    </a:lnTo>
                    <a:lnTo>
                      <a:pt x="69" y="14"/>
                    </a:lnTo>
                    <a:lnTo>
                      <a:pt x="106" y="29"/>
                    </a:lnTo>
                    <a:lnTo>
                      <a:pt x="142" y="44"/>
                    </a:lnTo>
                    <a:lnTo>
                      <a:pt x="179" y="60"/>
                    </a:lnTo>
                    <a:lnTo>
                      <a:pt x="216" y="78"/>
                    </a:lnTo>
                    <a:lnTo>
                      <a:pt x="252" y="96"/>
                    </a:lnTo>
                    <a:lnTo>
                      <a:pt x="287" y="116"/>
                    </a:lnTo>
                    <a:lnTo>
                      <a:pt x="323" y="136"/>
                    </a:lnTo>
                    <a:lnTo>
                      <a:pt x="358" y="159"/>
                    </a:lnTo>
                    <a:lnTo>
                      <a:pt x="392" y="181"/>
                    </a:lnTo>
                    <a:lnTo>
                      <a:pt x="427" y="204"/>
                    </a:lnTo>
                    <a:lnTo>
                      <a:pt x="461" y="228"/>
                    </a:lnTo>
                    <a:lnTo>
                      <a:pt x="494" y="252"/>
                    </a:lnTo>
                    <a:lnTo>
                      <a:pt x="527" y="279"/>
                    </a:lnTo>
                    <a:lnTo>
                      <a:pt x="560" y="305"/>
                    </a:lnTo>
                    <a:lnTo>
                      <a:pt x="591" y="332"/>
                    </a:lnTo>
                    <a:lnTo>
                      <a:pt x="623" y="361"/>
                    </a:lnTo>
                    <a:lnTo>
                      <a:pt x="653" y="389"/>
                    </a:lnTo>
                    <a:lnTo>
                      <a:pt x="683" y="419"/>
                    </a:lnTo>
                    <a:lnTo>
                      <a:pt x="713" y="449"/>
                    </a:lnTo>
                    <a:lnTo>
                      <a:pt x="741" y="481"/>
                    </a:lnTo>
                    <a:lnTo>
                      <a:pt x="769" y="513"/>
                    </a:lnTo>
                    <a:lnTo>
                      <a:pt x="795" y="545"/>
                    </a:lnTo>
                    <a:lnTo>
                      <a:pt x="822" y="578"/>
                    </a:lnTo>
                    <a:lnTo>
                      <a:pt x="846" y="612"/>
                    </a:lnTo>
                    <a:lnTo>
                      <a:pt x="871" y="647"/>
                    </a:lnTo>
                    <a:lnTo>
                      <a:pt x="894" y="681"/>
                    </a:lnTo>
                    <a:lnTo>
                      <a:pt x="917" y="717"/>
                    </a:lnTo>
                    <a:lnTo>
                      <a:pt x="938" y="754"/>
                    </a:lnTo>
                    <a:lnTo>
                      <a:pt x="958" y="791"/>
                    </a:lnTo>
                    <a:lnTo>
                      <a:pt x="978" y="828"/>
                    </a:lnTo>
                    <a:lnTo>
                      <a:pt x="996" y="866"/>
                    </a:lnTo>
                    <a:lnTo>
                      <a:pt x="1026" y="938"/>
                    </a:lnTo>
                    <a:lnTo>
                      <a:pt x="1052" y="1015"/>
                    </a:lnTo>
                    <a:lnTo>
                      <a:pt x="1075" y="1096"/>
                    </a:lnTo>
                    <a:lnTo>
                      <a:pt x="1094" y="1180"/>
                    </a:lnTo>
                    <a:lnTo>
                      <a:pt x="1109" y="1266"/>
                    </a:lnTo>
                    <a:lnTo>
                      <a:pt x="1121" y="1356"/>
                    </a:lnTo>
                    <a:lnTo>
                      <a:pt x="1129" y="1446"/>
                    </a:lnTo>
                    <a:lnTo>
                      <a:pt x="1133" y="1536"/>
                    </a:lnTo>
                    <a:lnTo>
                      <a:pt x="1133" y="1626"/>
                    </a:lnTo>
                    <a:lnTo>
                      <a:pt x="1130" y="1716"/>
                    </a:lnTo>
                    <a:lnTo>
                      <a:pt x="1122" y="1802"/>
                    </a:lnTo>
                    <a:lnTo>
                      <a:pt x="1110" y="1886"/>
                    </a:lnTo>
                    <a:lnTo>
                      <a:pt x="1095" y="1967"/>
                    </a:lnTo>
                    <a:lnTo>
                      <a:pt x="1076" y="2043"/>
                    </a:lnTo>
                    <a:lnTo>
                      <a:pt x="1052" y="2115"/>
                    </a:lnTo>
                    <a:lnTo>
                      <a:pt x="1025" y="2181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6" name="Freeform 161">
                <a:extLst>
                  <a:ext uri="{FF2B5EF4-FFF2-40B4-BE49-F238E27FC236}">
                    <a16:creationId xmlns:a16="http://schemas.microsoft.com/office/drawing/2014/main" id="{1A645B97-4814-4FA0-8B88-923E8DF68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1" cy="122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8" y="2126"/>
                    </a:moveTo>
                    <a:lnTo>
                      <a:pt x="0" y="130"/>
                    </a:lnTo>
                    <a:lnTo>
                      <a:pt x="33" y="0"/>
                    </a:lnTo>
                    <a:lnTo>
                      <a:pt x="70" y="13"/>
                    </a:lnTo>
                    <a:lnTo>
                      <a:pt x="107" y="28"/>
                    </a:lnTo>
                    <a:lnTo>
                      <a:pt x="143" y="43"/>
                    </a:lnTo>
                    <a:lnTo>
                      <a:pt x="180" y="60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9" y="158"/>
                    </a:lnTo>
                    <a:lnTo>
                      <a:pt x="393" y="180"/>
                    </a:lnTo>
                    <a:lnTo>
                      <a:pt x="428" y="203"/>
                    </a:lnTo>
                    <a:lnTo>
                      <a:pt x="462" y="227"/>
                    </a:lnTo>
                    <a:lnTo>
                      <a:pt x="495" y="252"/>
                    </a:lnTo>
                    <a:lnTo>
                      <a:pt x="528" y="278"/>
                    </a:lnTo>
                    <a:lnTo>
                      <a:pt x="561" y="304"/>
                    </a:lnTo>
                    <a:lnTo>
                      <a:pt x="592" y="332"/>
                    </a:lnTo>
                    <a:lnTo>
                      <a:pt x="624" y="360"/>
                    </a:lnTo>
                    <a:lnTo>
                      <a:pt x="654" y="389"/>
                    </a:lnTo>
                    <a:lnTo>
                      <a:pt x="684" y="418"/>
                    </a:lnTo>
                    <a:lnTo>
                      <a:pt x="714" y="449"/>
                    </a:lnTo>
                    <a:lnTo>
                      <a:pt x="742" y="480"/>
                    </a:lnTo>
                    <a:lnTo>
                      <a:pt x="770" y="512"/>
                    </a:lnTo>
                    <a:lnTo>
                      <a:pt x="796" y="545"/>
                    </a:lnTo>
                    <a:lnTo>
                      <a:pt x="823" y="577"/>
                    </a:lnTo>
                    <a:lnTo>
                      <a:pt x="847" y="611"/>
                    </a:lnTo>
                    <a:lnTo>
                      <a:pt x="872" y="646"/>
                    </a:lnTo>
                    <a:lnTo>
                      <a:pt x="895" y="681"/>
                    </a:lnTo>
                    <a:lnTo>
                      <a:pt x="918" y="717"/>
                    </a:lnTo>
                    <a:lnTo>
                      <a:pt x="939" y="754"/>
                    </a:lnTo>
                    <a:lnTo>
                      <a:pt x="959" y="790"/>
                    </a:lnTo>
                    <a:lnTo>
                      <a:pt x="979" y="827"/>
                    </a:lnTo>
                    <a:lnTo>
                      <a:pt x="997" y="865"/>
                    </a:lnTo>
                    <a:lnTo>
                      <a:pt x="1027" y="937"/>
                    </a:lnTo>
                    <a:lnTo>
                      <a:pt x="1053" y="1014"/>
                    </a:lnTo>
                    <a:lnTo>
                      <a:pt x="1076" y="1095"/>
                    </a:lnTo>
                    <a:lnTo>
                      <a:pt x="1095" y="1179"/>
                    </a:lnTo>
                    <a:lnTo>
                      <a:pt x="1110" y="1266"/>
                    </a:lnTo>
                    <a:lnTo>
                      <a:pt x="1122" y="1355"/>
                    </a:lnTo>
                    <a:lnTo>
                      <a:pt x="1130" y="1445"/>
                    </a:lnTo>
                    <a:lnTo>
                      <a:pt x="1134" y="1536"/>
                    </a:lnTo>
                    <a:lnTo>
                      <a:pt x="1134" y="1625"/>
                    </a:lnTo>
                    <a:lnTo>
                      <a:pt x="1131" y="1715"/>
                    </a:lnTo>
                    <a:lnTo>
                      <a:pt x="1123" y="1801"/>
                    </a:lnTo>
                    <a:lnTo>
                      <a:pt x="1111" y="1886"/>
                    </a:lnTo>
                    <a:lnTo>
                      <a:pt x="1096" y="1966"/>
                    </a:lnTo>
                    <a:lnTo>
                      <a:pt x="1077" y="2043"/>
                    </a:lnTo>
                    <a:lnTo>
                      <a:pt x="1053" y="2115"/>
                    </a:lnTo>
                    <a:lnTo>
                      <a:pt x="1026" y="2180"/>
                    </a:lnTo>
                    <a:lnTo>
                      <a:pt x="918" y="2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7" name="Freeform 162">
                <a:extLst>
                  <a:ext uri="{FF2B5EF4-FFF2-40B4-BE49-F238E27FC236}">
                    <a16:creationId xmlns:a16="http://schemas.microsoft.com/office/drawing/2014/main" id="{4E313EC7-FE06-457D-AD44-B95117FBBE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4"/>
                <a:ext cx="164" cy="228"/>
              </a:xfrm>
              <a:custGeom>
                <a:avLst/>
                <a:gdLst>
                  <a:gd name="T0" fmla="*/ 0 w 3622"/>
                  <a:gd name="T1" fmla="*/ 0 h 4112"/>
                  <a:gd name="T2" fmla="*/ 0 w 3622"/>
                  <a:gd name="T3" fmla="*/ 0 h 4112"/>
                  <a:gd name="T4" fmla="*/ 0 w 3622"/>
                  <a:gd name="T5" fmla="*/ 0 h 4112"/>
                  <a:gd name="T6" fmla="*/ 0 w 3622"/>
                  <a:gd name="T7" fmla="*/ 0 h 4112"/>
                  <a:gd name="T8" fmla="*/ 0 w 3622"/>
                  <a:gd name="T9" fmla="*/ 0 h 4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2"/>
                  <a:gd name="T17" fmla="*/ 3622 w 3622"/>
                  <a:gd name="T18" fmla="*/ 4112 h 4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2">
                    <a:moveTo>
                      <a:pt x="1404" y="4112"/>
                    </a:moveTo>
                    <a:lnTo>
                      <a:pt x="3622" y="3023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8" name="Freeform 163">
                <a:extLst>
                  <a:ext uri="{FF2B5EF4-FFF2-40B4-BE49-F238E27FC236}">
                    <a16:creationId xmlns:a16="http://schemas.microsoft.com/office/drawing/2014/main" id="{E1F4767B-51A8-4EFE-B44C-62AA2600D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1"/>
                <a:ext cx="164" cy="228"/>
              </a:xfrm>
              <a:custGeom>
                <a:avLst/>
                <a:gdLst>
                  <a:gd name="T0" fmla="*/ 0 w 3622"/>
                  <a:gd name="T1" fmla="*/ 0 h 4113"/>
                  <a:gd name="T2" fmla="*/ 0 w 3622"/>
                  <a:gd name="T3" fmla="*/ 0 h 4113"/>
                  <a:gd name="T4" fmla="*/ 0 w 3622"/>
                  <a:gd name="T5" fmla="*/ 0 h 4113"/>
                  <a:gd name="T6" fmla="*/ 0 w 3622"/>
                  <a:gd name="T7" fmla="*/ 0 h 4113"/>
                  <a:gd name="T8" fmla="*/ 0 w 3622"/>
                  <a:gd name="T9" fmla="*/ 0 h 41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3"/>
                  <a:gd name="T17" fmla="*/ 3622 w 3622"/>
                  <a:gd name="T18" fmla="*/ 4113 h 41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3">
                    <a:moveTo>
                      <a:pt x="1404" y="4113"/>
                    </a:moveTo>
                    <a:lnTo>
                      <a:pt x="3622" y="3024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3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99" name="Freeform 164">
                <a:extLst>
                  <a:ext uri="{FF2B5EF4-FFF2-40B4-BE49-F238E27FC236}">
                    <a16:creationId xmlns:a16="http://schemas.microsoft.com/office/drawing/2014/main" id="{4C61E461-7CB4-40C8-A939-2CB941C6B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146"/>
                <a:ext cx="157" cy="218"/>
              </a:xfrm>
              <a:custGeom>
                <a:avLst/>
                <a:gdLst>
                  <a:gd name="T0" fmla="*/ 0 w 3446"/>
                  <a:gd name="T1" fmla="*/ 0 h 3913"/>
                  <a:gd name="T2" fmla="*/ 0 w 3446"/>
                  <a:gd name="T3" fmla="*/ 0 h 3913"/>
                  <a:gd name="T4" fmla="*/ 0 w 3446"/>
                  <a:gd name="T5" fmla="*/ 0 h 3913"/>
                  <a:gd name="T6" fmla="*/ 0 w 3446"/>
                  <a:gd name="T7" fmla="*/ 0 h 3913"/>
                  <a:gd name="T8" fmla="*/ 0 w 3446"/>
                  <a:gd name="T9" fmla="*/ 0 h 39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46"/>
                  <a:gd name="T16" fmla="*/ 0 h 3913"/>
                  <a:gd name="T17" fmla="*/ 3446 w 3446"/>
                  <a:gd name="T18" fmla="*/ 3913 h 39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46" h="3913">
                    <a:moveTo>
                      <a:pt x="1335" y="3913"/>
                    </a:moveTo>
                    <a:lnTo>
                      <a:pt x="3446" y="2878"/>
                    </a:lnTo>
                    <a:lnTo>
                      <a:pt x="2111" y="0"/>
                    </a:lnTo>
                    <a:lnTo>
                      <a:pt x="0" y="942"/>
                    </a:lnTo>
                    <a:lnTo>
                      <a:pt x="1335" y="3913"/>
                    </a:lnTo>
                    <a:close/>
                  </a:path>
                </a:pathLst>
              </a:custGeom>
              <a:solidFill>
                <a:srgbClr val="1A78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0" name="Freeform 165">
                <a:extLst>
                  <a:ext uri="{FF2B5EF4-FFF2-40B4-BE49-F238E27FC236}">
                    <a16:creationId xmlns:a16="http://schemas.microsoft.com/office/drawing/2014/main" id="{8C8F34CC-116D-4EA0-A828-FC29A566B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109"/>
                <a:ext cx="19" cy="19"/>
              </a:xfrm>
              <a:custGeom>
                <a:avLst/>
                <a:gdLst>
                  <a:gd name="T0" fmla="*/ 0 w 431"/>
                  <a:gd name="T1" fmla="*/ 0 h 343"/>
                  <a:gd name="T2" fmla="*/ 0 w 431"/>
                  <a:gd name="T3" fmla="*/ 0 h 343"/>
                  <a:gd name="T4" fmla="*/ 0 w 431"/>
                  <a:gd name="T5" fmla="*/ 0 h 343"/>
                  <a:gd name="T6" fmla="*/ 0 w 431"/>
                  <a:gd name="T7" fmla="*/ 0 h 343"/>
                  <a:gd name="T8" fmla="*/ 0 w 431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1"/>
                  <a:gd name="T16" fmla="*/ 0 h 343"/>
                  <a:gd name="T17" fmla="*/ 431 w 431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1" h="343">
                    <a:moveTo>
                      <a:pt x="431" y="186"/>
                    </a:moveTo>
                    <a:lnTo>
                      <a:pt x="79" y="343"/>
                    </a:lnTo>
                    <a:lnTo>
                      <a:pt x="0" y="157"/>
                    </a:lnTo>
                    <a:lnTo>
                      <a:pt x="352" y="0"/>
                    </a:lnTo>
                    <a:lnTo>
                      <a:pt x="431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1" name="Freeform 166">
                <a:extLst>
                  <a:ext uri="{FF2B5EF4-FFF2-40B4-BE49-F238E27FC236}">
                    <a16:creationId xmlns:a16="http://schemas.microsoft.com/office/drawing/2014/main" id="{709F0CC3-1E0D-4912-A55F-F71EC3B854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112"/>
                <a:ext cx="16" cy="15"/>
              </a:xfrm>
              <a:custGeom>
                <a:avLst/>
                <a:gdLst>
                  <a:gd name="T0" fmla="*/ 0 w 347"/>
                  <a:gd name="T1" fmla="*/ 0 h 257"/>
                  <a:gd name="T2" fmla="*/ 0 w 347"/>
                  <a:gd name="T3" fmla="*/ 0 h 257"/>
                  <a:gd name="T4" fmla="*/ 0 w 347"/>
                  <a:gd name="T5" fmla="*/ 0 h 257"/>
                  <a:gd name="T6" fmla="*/ 0 w 347"/>
                  <a:gd name="T7" fmla="*/ 0 h 257"/>
                  <a:gd name="T8" fmla="*/ 0 w 347"/>
                  <a:gd name="T9" fmla="*/ 0 h 2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7"/>
                  <a:gd name="T16" fmla="*/ 0 h 257"/>
                  <a:gd name="T17" fmla="*/ 347 w 347"/>
                  <a:gd name="T18" fmla="*/ 257 h 2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7" h="257">
                    <a:moveTo>
                      <a:pt x="347" y="126"/>
                    </a:moveTo>
                    <a:lnTo>
                      <a:pt x="53" y="257"/>
                    </a:lnTo>
                    <a:lnTo>
                      <a:pt x="0" y="132"/>
                    </a:lnTo>
                    <a:lnTo>
                      <a:pt x="294" y="0"/>
                    </a:lnTo>
                    <a:lnTo>
                      <a:pt x="347" y="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2" name="Freeform 167">
                <a:extLst>
                  <a:ext uri="{FF2B5EF4-FFF2-40B4-BE49-F238E27FC236}">
                    <a16:creationId xmlns:a16="http://schemas.microsoft.com/office/drawing/2014/main" id="{C2801A84-E449-41C9-B586-D80836A98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5" y="73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3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4" y="232"/>
                    </a:lnTo>
                    <a:lnTo>
                      <a:pt x="60" y="228"/>
                    </a:lnTo>
                    <a:lnTo>
                      <a:pt x="56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5" y="7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3" name="Freeform 168">
                <a:extLst>
                  <a:ext uri="{FF2B5EF4-FFF2-40B4-BE49-F238E27FC236}">
                    <a16:creationId xmlns:a16="http://schemas.microsoft.com/office/drawing/2014/main" id="{702460B1-C5C5-47E9-924D-ADBA341AB5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2" y="0"/>
                    </a:lnTo>
                    <a:lnTo>
                      <a:pt x="146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4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4" name="Freeform 169">
                <a:extLst>
                  <a:ext uri="{FF2B5EF4-FFF2-40B4-BE49-F238E27FC236}">
                    <a16:creationId xmlns:a16="http://schemas.microsoft.com/office/drawing/2014/main" id="{245B160D-BFA8-4C19-92C9-88A7F6391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3113"/>
                <a:ext cx="6" cy="8"/>
              </a:xfrm>
              <a:custGeom>
                <a:avLst/>
                <a:gdLst>
                  <a:gd name="T0" fmla="*/ 0 w 118"/>
                  <a:gd name="T1" fmla="*/ 0 h 154"/>
                  <a:gd name="T2" fmla="*/ 0 w 118"/>
                  <a:gd name="T3" fmla="*/ 0 h 154"/>
                  <a:gd name="T4" fmla="*/ 0 w 118"/>
                  <a:gd name="T5" fmla="*/ 0 h 154"/>
                  <a:gd name="T6" fmla="*/ 0 w 118"/>
                  <a:gd name="T7" fmla="*/ 0 h 154"/>
                  <a:gd name="T8" fmla="*/ 0 w 118"/>
                  <a:gd name="T9" fmla="*/ 0 h 154"/>
                  <a:gd name="T10" fmla="*/ 0 w 118"/>
                  <a:gd name="T11" fmla="*/ 0 h 154"/>
                  <a:gd name="T12" fmla="*/ 0 w 118"/>
                  <a:gd name="T13" fmla="*/ 0 h 154"/>
                  <a:gd name="T14" fmla="*/ 0 w 118"/>
                  <a:gd name="T15" fmla="*/ 0 h 154"/>
                  <a:gd name="T16" fmla="*/ 0 w 118"/>
                  <a:gd name="T17" fmla="*/ 0 h 154"/>
                  <a:gd name="T18" fmla="*/ 0 w 118"/>
                  <a:gd name="T19" fmla="*/ 0 h 154"/>
                  <a:gd name="T20" fmla="*/ 0 w 118"/>
                  <a:gd name="T21" fmla="*/ 0 h 154"/>
                  <a:gd name="T22" fmla="*/ 0 w 118"/>
                  <a:gd name="T23" fmla="*/ 0 h 154"/>
                  <a:gd name="T24" fmla="*/ 0 w 118"/>
                  <a:gd name="T25" fmla="*/ 0 h 154"/>
                  <a:gd name="T26" fmla="*/ 0 w 118"/>
                  <a:gd name="T27" fmla="*/ 0 h 154"/>
                  <a:gd name="T28" fmla="*/ 0 w 118"/>
                  <a:gd name="T29" fmla="*/ 0 h 154"/>
                  <a:gd name="T30" fmla="*/ 0 w 118"/>
                  <a:gd name="T31" fmla="*/ 0 h 154"/>
                  <a:gd name="T32" fmla="*/ 0 w 118"/>
                  <a:gd name="T33" fmla="*/ 0 h 154"/>
                  <a:gd name="T34" fmla="*/ 0 w 118"/>
                  <a:gd name="T35" fmla="*/ 0 h 154"/>
                  <a:gd name="T36" fmla="*/ 0 w 118"/>
                  <a:gd name="T37" fmla="*/ 0 h 154"/>
                  <a:gd name="T38" fmla="*/ 0 w 118"/>
                  <a:gd name="T39" fmla="*/ 0 h 154"/>
                  <a:gd name="T40" fmla="*/ 0 w 118"/>
                  <a:gd name="T41" fmla="*/ 0 h 154"/>
                  <a:gd name="T42" fmla="*/ 0 w 118"/>
                  <a:gd name="T43" fmla="*/ 0 h 154"/>
                  <a:gd name="T44" fmla="*/ 0 w 118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8"/>
                  <a:gd name="T70" fmla="*/ 0 h 154"/>
                  <a:gd name="T71" fmla="*/ 118 w 118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8" h="154">
                    <a:moveTo>
                      <a:pt x="88" y="6"/>
                    </a:moveTo>
                    <a:lnTo>
                      <a:pt x="116" y="77"/>
                    </a:lnTo>
                    <a:lnTo>
                      <a:pt x="118" y="85"/>
                    </a:lnTo>
                    <a:lnTo>
                      <a:pt x="118" y="95"/>
                    </a:lnTo>
                    <a:lnTo>
                      <a:pt x="116" y="103"/>
                    </a:lnTo>
                    <a:lnTo>
                      <a:pt x="112" y="108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7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7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3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5" name="Freeform 170">
                <a:extLst>
                  <a:ext uri="{FF2B5EF4-FFF2-40B4-BE49-F238E27FC236}">
                    <a16:creationId xmlns:a16="http://schemas.microsoft.com/office/drawing/2014/main" id="{371B41E6-70FC-40CF-A01C-CF1D227D71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3099"/>
                <a:ext cx="13" cy="16"/>
              </a:xfrm>
              <a:custGeom>
                <a:avLst/>
                <a:gdLst>
                  <a:gd name="T0" fmla="*/ 0 w 287"/>
                  <a:gd name="T1" fmla="*/ 0 h 280"/>
                  <a:gd name="T2" fmla="*/ 0 w 287"/>
                  <a:gd name="T3" fmla="*/ 0 h 280"/>
                  <a:gd name="T4" fmla="*/ 0 w 287"/>
                  <a:gd name="T5" fmla="*/ 0 h 280"/>
                  <a:gd name="T6" fmla="*/ 0 w 287"/>
                  <a:gd name="T7" fmla="*/ 0 h 280"/>
                  <a:gd name="T8" fmla="*/ 0 w 287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7"/>
                  <a:gd name="T16" fmla="*/ 0 h 280"/>
                  <a:gd name="T17" fmla="*/ 287 w 287"/>
                  <a:gd name="T18" fmla="*/ 280 h 2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7" h="280">
                    <a:moveTo>
                      <a:pt x="287" y="186"/>
                    </a:moveTo>
                    <a:lnTo>
                      <a:pt x="78" y="280"/>
                    </a:lnTo>
                    <a:lnTo>
                      <a:pt x="0" y="93"/>
                    </a:lnTo>
                    <a:lnTo>
                      <a:pt x="210" y="0"/>
                    </a:lnTo>
                    <a:lnTo>
                      <a:pt x="287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6" name="Freeform 171">
                <a:extLst>
                  <a:ext uri="{FF2B5EF4-FFF2-40B4-BE49-F238E27FC236}">
                    <a16:creationId xmlns:a16="http://schemas.microsoft.com/office/drawing/2014/main" id="{318C2A4B-E034-427D-907E-2EB0348B9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2"/>
                <a:ext cx="11" cy="12"/>
              </a:xfrm>
              <a:custGeom>
                <a:avLst/>
                <a:gdLst>
                  <a:gd name="T0" fmla="*/ 0 w 227"/>
                  <a:gd name="T1" fmla="*/ 0 h 203"/>
                  <a:gd name="T2" fmla="*/ 0 w 227"/>
                  <a:gd name="T3" fmla="*/ 0 h 203"/>
                  <a:gd name="T4" fmla="*/ 0 w 227"/>
                  <a:gd name="T5" fmla="*/ 0 h 203"/>
                  <a:gd name="T6" fmla="*/ 0 w 227"/>
                  <a:gd name="T7" fmla="*/ 0 h 203"/>
                  <a:gd name="T8" fmla="*/ 0 w 227"/>
                  <a:gd name="T9" fmla="*/ 0 h 2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203"/>
                  <a:gd name="T17" fmla="*/ 227 w 227"/>
                  <a:gd name="T18" fmla="*/ 203 h 2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203">
                    <a:moveTo>
                      <a:pt x="227" y="125"/>
                    </a:moveTo>
                    <a:lnTo>
                      <a:pt x="53" y="203"/>
                    </a:lnTo>
                    <a:lnTo>
                      <a:pt x="0" y="78"/>
                    </a:lnTo>
                    <a:lnTo>
                      <a:pt x="175" y="0"/>
                    </a:lnTo>
                    <a:lnTo>
                      <a:pt x="227" y="125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7" name="Freeform 172">
                <a:extLst>
                  <a:ext uri="{FF2B5EF4-FFF2-40B4-BE49-F238E27FC236}">
                    <a16:creationId xmlns:a16="http://schemas.microsoft.com/office/drawing/2014/main" id="{C39E572E-ECA1-4959-9BFA-BDB695CA4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4" y="72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2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3" y="232"/>
                    </a:lnTo>
                    <a:lnTo>
                      <a:pt x="59" y="227"/>
                    </a:lnTo>
                    <a:lnTo>
                      <a:pt x="55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8" name="Freeform 173">
                <a:extLst>
                  <a:ext uri="{FF2B5EF4-FFF2-40B4-BE49-F238E27FC236}">
                    <a16:creationId xmlns:a16="http://schemas.microsoft.com/office/drawing/2014/main" id="{3B4E2F58-BBF5-4649-92EF-C7823D0FF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1" y="0"/>
                    </a:lnTo>
                    <a:lnTo>
                      <a:pt x="145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3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09" name="Freeform 174">
                <a:extLst>
                  <a:ext uri="{FF2B5EF4-FFF2-40B4-BE49-F238E27FC236}">
                    <a16:creationId xmlns:a16="http://schemas.microsoft.com/office/drawing/2014/main" id="{1046E989-DE03-4A7D-B041-2FED611F9C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103"/>
                <a:ext cx="6" cy="8"/>
              </a:xfrm>
              <a:custGeom>
                <a:avLst/>
                <a:gdLst>
                  <a:gd name="T0" fmla="*/ 0 w 119"/>
                  <a:gd name="T1" fmla="*/ 0 h 154"/>
                  <a:gd name="T2" fmla="*/ 0 w 119"/>
                  <a:gd name="T3" fmla="*/ 0 h 154"/>
                  <a:gd name="T4" fmla="*/ 0 w 119"/>
                  <a:gd name="T5" fmla="*/ 0 h 154"/>
                  <a:gd name="T6" fmla="*/ 0 w 119"/>
                  <a:gd name="T7" fmla="*/ 0 h 154"/>
                  <a:gd name="T8" fmla="*/ 0 w 119"/>
                  <a:gd name="T9" fmla="*/ 0 h 154"/>
                  <a:gd name="T10" fmla="*/ 0 w 119"/>
                  <a:gd name="T11" fmla="*/ 0 h 154"/>
                  <a:gd name="T12" fmla="*/ 0 w 119"/>
                  <a:gd name="T13" fmla="*/ 0 h 154"/>
                  <a:gd name="T14" fmla="*/ 0 w 119"/>
                  <a:gd name="T15" fmla="*/ 0 h 154"/>
                  <a:gd name="T16" fmla="*/ 0 w 119"/>
                  <a:gd name="T17" fmla="*/ 0 h 154"/>
                  <a:gd name="T18" fmla="*/ 0 w 119"/>
                  <a:gd name="T19" fmla="*/ 0 h 154"/>
                  <a:gd name="T20" fmla="*/ 0 w 119"/>
                  <a:gd name="T21" fmla="*/ 0 h 154"/>
                  <a:gd name="T22" fmla="*/ 0 w 119"/>
                  <a:gd name="T23" fmla="*/ 0 h 154"/>
                  <a:gd name="T24" fmla="*/ 0 w 119"/>
                  <a:gd name="T25" fmla="*/ 0 h 154"/>
                  <a:gd name="T26" fmla="*/ 0 w 119"/>
                  <a:gd name="T27" fmla="*/ 0 h 154"/>
                  <a:gd name="T28" fmla="*/ 0 w 119"/>
                  <a:gd name="T29" fmla="*/ 0 h 154"/>
                  <a:gd name="T30" fmla="*/ 0 w 119"/>
                  <a:gd name="T31" fmla="*/ 0 h 154"/>
                  <a:gd name="T32" fmla="*/ 0 w 119"/>
                  <a:gd name="T33" fmla="*/ 0 h 154"/>
                  <a:gd name="T34" fmla="*/ 0 w 119"/>
                  <a:gd name="T35" fmla="*/ 0 h 154"/>
                  <a:gd name="T36" fmla="*/ 0 w 119"/>
                  <a:gd name="T37" fmla="*/ 0 h 154"/>
                  <a:gd name="T38" fmla="*/ 0 w 119"/>
                  <a:gd name="T39" fmla="*/ 0 h 154"/>
                  <a:gd name="T40" fmla="*/ 0 w 119"/>
                  <a:gd name="T41" fmla="*/ 0 h 154"/>
                  <a:gd name="T42" fmla="*/ 0 w 119"/>
                  <a:gd name="T43" fmla="*/ 0 h 154"/>
                  <a:gd name="T44" fmla="*/ 0 w 119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9"/>
                  <a:gd name="T70" fmla="*/ 0 h 154"/>
                  <a:gd name="T71" fmla="*/ 119 w 119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9" h="154">
                    <a:moveTo>
                      <a:pt x="88" y="6"/>
                    </a:moveTo>
                    <a:lnTo>
                      <a:pt x="116" y="78"/>
                    </a:lnTo>
                    <a:lnTo>
                      <a:pt x="118" y="86"/>
                    </a:lnTo>
                    <a:lnTo>
                      <a:pt x="119" y="95"/>
                    </a:lnTo>
                    <a:lnTo>
                      <a:pt x="117" y="103"/>
                    </a:lnTo>
                    <a:lnTo>
                      <a:pt x="112" y="109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8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8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2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0" name="Freeform 175">
                <a:extLst>
                  <a:ext uri="{FF2B5EF4-FFF2-40B4-BE49-F238E27FC236}">
                    <a16:creationId xmlns:a16="http://schemas.microsoft.com/office/drawing/2014/main" id="{FD685DFD-294C-44AB-B3B7-BBDA43851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3092"/>
                <a:ext cx="4" cy="6"/>
              </a:xfrm>
              <a:custGeom>
                <a:avLst/>
                <a:gdLst>
                  <a:gd name="T0" fmla="*/ 0 w 100"/>
                  <a:gd name="T1" fmla="*/ 0 h 104"/>
                  <a:gd name="T2" fmla="*/ 0 w 100"/>
                  <a:gd name="T3" fmla="*/ 0 h 104"/>
                  <a:gd name="T4" fmla="*/ 0 w 100"/>
                  <a:gd name="T5" fmla="*/ 0 h 104"/>
                  <a:gd name="T6" fmla="*/ 0 w 100"/>
                  <a:gd name="T7" fmla="*/ 0 h 104"/>
                  <a:gd name="T8" fmla="*/ 0 w 100"/>
                  <a:gd name="T9" fmla="*/ 0 h 104"/>
                  <a:gd name="T10" fmla="*/ 0 w 100"/>
                  <a:gd name="T11" fmla="*/ 0 h 104"/>
                  <a:gd name="T12" fmla="*/ 0 w 100"/>
                  <a:gd name="T13" fmla="*/ 0 h 104"/>
                  <a:gd name="T14" fmla="*/ 0 w 100"/>
                  <a:gd name="T15" fmla="*/ 0 h 104"/>
                  <a:gd name="T16" fmla="*/ 0 w 100"/>
                  <a:gd name="T17" fmla="*/ 0 h 104"/>
                  <a:gd name="T18" fmla="*/ 0 w 100"/>
                  <a:gd name="T19" fmla="*/ 0 h 104"/>
                  <a:gd name="T20" fmla="*/ 0 w 100"/>
                  <a:gd name="T21" fmla="*/ 0 h 104"/>
                  <a:gd name="T22" fmla="*/ 0 w 100"/>
                  <a:gd name="T23" fmla="*/ 0 h 104"/>
                  <a:gd name="T24" fmla="*/ 0 w 100"/>
                  <a:gd name="T25" fmla="*/ 0 h 104"/>
                  <a:gd name="T26" fmla="*/ 0 w 100"/>
                  <a:gd name="T27" fmla="*/ 0 h 104"/>
                  <a:gd name="T28" fmla="*/ 0 w 100"/>
                  <a:gd name="T29" fmla="*/ 0 h 104"/>
                  <a:gd name="T30" fmla="*/ 0 w 100"/>
                  <a:gd name="T31" fmla="*/ 0 h 104"/>
                  <a:gd name="T32" fmla="*/ 0 w 100"/>
                  <a:gd name="T33" fmla="*/ 0 h 104"/>
                  <a:gd name="T34" fmla="*/ 0 w 100"/>
                  <a:gd name="T35" fmla="*/ 0 h 104"/>
                  <a:gd name="T36" fmla="*/ 0 w 100"/>
                  <a:gd name="T37" fmla="*/ 0 h 104"/>
                  <a:gd name="T38" fmla="*/ 0 w 100"/>
                  <a:gd name="T39" fmla="*/ 0 h 104"/>
                  <a:gd name="T40" fmla="*/ 0 w 100"/>
                  <a:gd name="T41" fmla="*/ 0 h 104"/>
                  <a:gd name="T42" fmla="*/ 0 w 100"/>
                  <a:gd name="T43" fmla="*/ 0 h 104"/>
                  <a:gd name="T44" fmla="*/ 0 w 100"/>
                  <a:gd name="T45" fmla="*/ 0 h 104"/>
                  <a:gd name="T46" fmla="*/ 0 w 100"/>
                  <a:gd name="T47" fmla="*/ 0 h 104"/>
                  <a:gd name="T48" fmla="*/ 0 w 100"/>
                  <a:gd name="T49" fmla="*/ 0 h 104"/>
                  <a:gd name="T50" fmla="*/ 0 w 100"/>
                  <a:gd name="T51" fmla="*/ 0 h 104"/>
                  <a:gd name="T52" fmla="*/ 0 w 100"/>
                  <a:gd name="T53" fmla="*/ 0 h 104"/>
                  <a:gd name="T54" fmla="*/ 0 w 100"/>
                  <a:gd name="T55" fmla="*/ 0 h 104"/>
                  <a:gd name="T56" fmla="*/ 0 w 100"/>
                  <a:gd name="T57" fmla="*/ 0 h 104"/>
                  <a:gd name="T58" fmla="*/ 0 w 100"/>
                  <a:gd name="T59" fmla="*/ 0 h 104"/>
                  <a:gd name="T60" fmla="*/ 0 w 100"/>
                  <a:gd name="T61" fmla="*/ 0 h 104"/>
                  <a:gd name="T62" fmla="*/ 0 w 100"/>
                  <a:gd name="T63" fmla="*/ 0 h 104"/>
                  <a:gd name="T64" fmla="*/ 0 w 100"/>
                  <a:gd name="T65" fmla="*/ 0 h 10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4"/>
                  <a:gd name="T101" fmla="*/ 100 w 100"/>
                  <a:gd name="T102" fmla="*/ 104 h 10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4">
                    <a:moveTo>
                      <a:pt x="50" y="104"/>
                    </a:moveTo>
                    <a:lnTo>
                      <a:pt x="40" y="103"/>
                    </a:lnTo>
                    <a:lnTo>
                      <a:pt x="31" y="99"/>
                    </a:lnTo>
                    <a:lnTo>
                      <a:pt x="23" y="95"/>
                    </a:lnTo>
                    <a:lnTo>
                      <a:pt x="15" y="89"/>
                    </a:lnTo>
                    <a:lnTo>
                      <a:pt x="8" y="80"/>
                    </a:lnTo>
                    <a:lnTo>
                      <a:pt x="4" y="72"/>
                    </a:lnTo>
                    <a:lnTo>
                      <a:pt x="1" y="62"/>
                    </a:lnTo>
                    <a:lnTo>
                      <a:pt x="0" y="52"/>
                    </a:lnTo>
                    <a:lnTo>
                      <a:pt x="1" y="41"/>
                    </a:lnTo>
                    <a:lnTo>
                      <a:pt x="4" y="32"/>
                    </a:lnTo>
                    <a:lnTo>
                      <a:pt x="8" y="23"/>
                    </a:lnTo>
                    <a:lnTo>
                      <a:pt x="15" y="15"/>
                    </a:lnTo>
                    <a:lnTo>
                      <a:pt x="23" y="9"/>
                    </a:lnTo>
                    <a:lnTo>
                      <a:pt x="31" y="5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70" y="5"/>
                    </a:lnTo>
                    <a:lnTo>
                      <a:pt x="78" y="9"/>
                    </a:lnTo>
                    <a:lnTo>
                      <a:pt x="86" y="15"/>
                    </a:lnTo>
                    <a:lnTo>
                      <a:pt x="92" y="23"/>
                    </a:lnTo>
                    <a:lnTo>
                      <a:pt x="96" y="32"/>
                    </a:lnTo>
                    <a:lnTo>
                      <a:pt x="99" y="41"/>
                    </a:lnTo>
                    <a:lnTo>
                      <a:pt x="100" y="52"/>
                    </a:lnTo>
                    <a:lnTo>
                      <a:pt x="99" y="62"/>
                    </a:lnTo>
                    <a:lnTo>
                      <a:pt x="96" y="72"/>
                    </a:lnTo>
                    <a:lnTo>
                      <a:pt x="92" y="80"/>
                    </a:lnTo>
                    <a:lnTo>
                      <a:pt x="86" y="89"/>
                    </a:lnTo>
                    <a:lnTo>
                      <a:pt x="78" y="95"/>
                    </a:lnTo>
                    <a:lnTo>
                      <a:pt x="70" y="99"/>
                    </a:lnTo>
                    <a:lnTo>
                      <a:pt x="60" y="103"/>
                    </a:lnTo>
                    <a:lnTo>
                      <a:pt x="50" y="104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1" name="Freeform 176">
                <a:extLst>
                  <a:ext uri="{FF2B5EF4-FFF2-40B4-BE49-F238E27FC236}">
                    <a16:creationId xmlns:a16="http://schemas.microsoft.com/office/drawing/2014/main" id="{4CC51ECE-DF5E-4443-A1A6-F5D94F62E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131"/>
                <a:ext cx="5" cy="5"/>
              </a:xfrm>
              <a:custGeom>
                <a:avLst/>
                <a:gdLst>
                  <a:gd name="T0" fmla="*/ 0 w 100"/>
                  <a:gd name="T1" fmla="*/ 0 h 103"/>
                  <a:gd name="T2" fmla="*/ 0 w 100"/>
                  <a:gd name="T3" fmla="*/ 0 h 103"/>
                  <a:gd name="T4" fmla="*/ 0 w 100"/>
                  <a:gd name="T5" fmla="*/ 0 h 103"/>
                  <a:gd name="T6" fmla="*/ 0 w 100"/>
                  <a:gd name="T7" fmla="*/ 0 h 103"/>
                  <a:gd name="T8" fmla="*/ 0 w 100"/>
                  <a:gd name="T9" fmla="*/ 0 h 103"/>
                  <a:gd name="T10" fmla="*/ 0 w 100"/>
                  <a:gd name="T11" fmla="*/ 0 h 103"/>
                  <a:gd name="T12" fmla="*/ 0 w 100"/>
                  <a:gd name="T13" fmla="*/ 0 h 103"/>
                  <a:gd name="T14" fmla="*/ 0 w 100"/>
                  <a:gd name="T15" fmla="*/ 0 h 103"/>
                  <a:gd name="T16" fmla="*/ 0 w 100"/>
                  <a:gd name="T17" fmla="*/ 0 h 103"/>
                  <a:gd name="T18" fmla="*/ 0 w 100"/>
                  <a:gd name="T19" fmla="*/ 0 h 103"/>
                  <a:gd name="T20" fmla="*/ 0 w 100"/>
                  <a:gd name="T21" fmla="*/ 0 h 103"/>
                  <a:gd name="T22" fmla="*/ 0 w 100"/>
                  <a:gd name="T23" fmla="*/ 0 h 103"/>
                  <a:gd name="T24" fmla="*/ 0 w 100"/>
                  <a:gd name="T25" fmla="*/ 0 h 103"/>
                  <a:gd name="T26" fmla="*/ 0 w 100"/>
                  <a:gd name="T27" fmla="*/ 0 h 103"/>
                  <a:gd name="T28" fmla="*/ 0 w 100"/>
                  <a:gd name="T29" fmla="*/ 0 h 103"/>
                  <a:gd name="T30" fmla="*/ 0 w 100"/>
                  <a:gd name="T31" fmla="*/ 0 h 103"/>
                  <a:gd name="T32" fmla="*/ 0 w 100"/>
                  <a:gd name="T33" fmla="*/ 0 h 103"/>
                  <a:gd name="T34" fmla="*/ 0 w 100"/>
                  <a:gd name="T35" fmla="*/ 0 h 103"/>
                  <a:gd name="T36" fmla="*/ 0 w 100"/>
                  <a:gd name="T37" fmla="*/ 0 h 103"/>
                  <a:gd name="T38" fmla="*/ 0 w 100"/>
                  <a:gd name="T39" fmla="*/ 0 h 103"/>
                  <a:gd name="T40" fmla="*/ 0 w 100"/>
                  <a:gd name="T41" fmla="*/ 0 h 103"/>
                  <a:gd name="T42" fmla="*/ 0 w 100"/>
                  <a:gd name="T43" fmla="*/ 0 h 103"/>
                  <a:gd name="T44" fmla="*/ 0 w 100"/>
                  <a:gd name="T45" fmla="*/ 0 h 103"/>
                  <a:gd name="T46" fmla="*/ 0 w 100"/>
                  <a:gd name="T47" fmla="*/ 0 h 103"/>
                  <a:gd name="T48" fmla="*/ 0 w 100"/>
                  <a:gd name="T49" fmla="*/ 0 h 103"/>
                  <a:gd name="T50" fmla="*/ 0 w 100"/>
                  <a:gd name="T51" fmla="*/ 0 h 103"/>
                  <a:gd name="T52" fmla="*/ 0 w 100"/>
                  <a:gd name="T53" fmla="*/ 0 h 103"/>
                  <a:gd name="T54" fmla="*/ 0 w 100"/>
                  <a:gd name="T55" fmla="*/ 0 h 103"/>
                  <a:gd name="T56" fmla="*/ 0 w 100"/>
                  <a:gd name="T57" fmla="*/ 0 h 103"/>
                  <a:gd name="T58" fmla="*/ 0 w 100"/>
                  <a:gd name="T59" fmla="*/ 0 h 103"/>
                  <a:gd name="T60" fmla="*/ 0 w 100"/>
                  <a:gd name="T61" fmla="*/ 0 h 103"/>
                  <a:gd name="T62" fmla="*/ 0 w 100"/>
                  <a:gd name="T63" fmla="*/ 0 h 103"/>
                  <a:gd name="T64" fmla="*/ 0 w 100"/>
                  <a:gd name="T65" fmla="*/ 0 h 1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3"/>
                  <a:gd name="T101" fmla="*/ 100 w 100"/>
                  <a:gd name="T102" fmla="*/ 103 h 10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3">
                    <a:moveTo>
                      <a:pt x="50" y="103"/>
                    </a:moveTo>
                    <a:lnTo>
                      <a:pt x="39" y="102"/>
                    </a:lnTo>
                    <a:lnTo>
                      <a:pt x="30" y="99"/>
                    </a:lnTo>
                    <a:lnTo>
                      <a:pt x="22" y="95"/>
                    </a:lnTo>
                    <a:lnTo>
                      <a:pt x="14" y="88"/>
                    </a:lnTo>
                    <a:lnTo>
                      <a:pt x="8" y="80"/>
                    </a:lnTo>
                    <a:lnTo>
                      <a:pt x="4" y="71"/>
                    </a:lnTo>
                    <a:lnTo>
                      <a:pt x="1" y="62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4" y="31"/>
                    </a:lnTo>
                    <a:lnTo>
                      <a:pt x="8" y="23"/>
                    </a:lnTo>
                    <a:lnTo>
                      <a:pt x="14" y="15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39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69" y="4"/>
                    </a:lnTo>
                    <a:lnTo>
                      <a:pt x="77" y="8"/>
                    </a:lnTo>
                    <a:lnTo>
                      <a:pt x="85" y="15"/>
                    </a:lnTo>
                    <a:lnTo>
                      <a:pt x="91" y="23"/>
                    </a:lnTo>
                    <a:lnTo>
                      <a:pt x="96" y="31"/>
                    </a:lnTo>
                    <a:lnTo>
                      <a:pt x="99" y="41"/>
                    </a:lnTo>
                    <a:lnTo>
                      <a:pt x="100" y="51"/>
                    </a:lnTo>
                    <a:lnTo>
                      <a:pt x="99" y="62"/>
                    </a:lnTo>
                    <a:lnTo>
                      <a:pt x="96" y="71"/>
                    </a:lnTo>
                    <a:lnTo>
                      <a:pt x="91" y="80"/>
                    </a:lnTo>
                    <a:lnTo>
                      <a:pt x="85" y="88"/>
                    </a:lnTo>
                    <a:lnTo>
                      <a:pt x="77" y="95"/>
                    </a:lnTo>
                    <a:lnTo>
                      <a:pt x="69" y="99"/>
                    </a:lnTo>
                    <a:lnTo>
                      <a:pt x="60" y="102"/>
                    </a:lnTo>
                    <a:lnTo>
                      <a:pt x="50" y="10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2" name="Freeform 177">
                <a:extLst>
                  <a:ext uri="{FF2B5EF4-FFF2-40B4-BE49-F238E27FC236}">
                    <a16:creationId xmlns:a16="http://schemas.microsoft.com/office/drawing/2014/main" id="{A95B8558-B838-4333-B93A-4EB22C865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094"/>
                <a:ext cx="2" cy="3"/>
              </a:xfrm>
              <a:custGeom>
                <a:avLst/>
                <a:gdLst>
                  <a:gd name="T0" fmla="*/ 0 w 55"/>
                  <a:gd name="T1" fmla="*/ 0 h 57"/>
                  <a:gd name="T2" fmla="*/ 0 w 55"/>
                  <a:gd name="T3" fmla="*/ 0 h 57"/>
                  <a:gd name="T4" fmla="*/ 0 w 55"/>
                  <a:gd name="T5" fmla="*/ 0 h 57"/>
                  <a:gd name="T6" fmla="*/ 0 w 55"/>
                  <a:gd name="T7" fmla="*/ 0 h 57"/>
                  <a:gd name="T8" fmla="*/ 0 w 55"/>
                  <a:gd name="T9" fmla="*/ 0 h 57"/>
                  <a:gd name="T10" fmla="*/ 0 w 55"/>
                  <a:gd name="T11" fmla="*/ 0 h 57"/>
                  <a:gd name="T12" fmla="*/ 0 w 55"/>
                  <a:gd name="T13" fmla="*/ 0 h 57"/>
                  <a:gd name="T14" fmla="*/ 0 w 55"/>
                  <a:gd name="T15" fmla="*/ 0 h 57"/>
                  <a:gd name="T16" fmla="*/ 0 w 55"/>
                  <a:gd name="T17" fmla="*/ 0 h 57"/>
                  <a:gd name="T18" fmla="*/ 0 w 55"/>
                  <a:gd name="T19" fmla="*/ 0 h 57"/>
                  <a:gd name="T20" fmla="*/ 0 w 55"/>
                  <a:gd name="T21" fmla="*/ 0 h 57"/>
                  <a:gd name="T22" fmla="*/ 0 w 55"/>
                  <a:gd name="T23" fmla="*/ 0 h 57"/>
                  <a:gd name="T24" fmla="*/ 0 w 55"/>
                  <a:gd name="T25" fmla="*/ 0 h 57"/>
                  <a:gd name="T26" fmla="*/ 0 w 55"/>
                  <a:gd name="T27" fmla="*/ 0 h 57"/>
                  <a:gd name="T28" fmla="*/ 0 w 55"/>
                  <a:gd name="T29" fmla="*/ 0 h 57"/>
                  <a:gd name="T30" fmla="*/ 0 w 55"/>
                  <a:gd name="T31" fmla="*/ 0 h 57"/>
                  <a:gd name="T32" fmla="*/ 0 w 55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7"/>
                  <a:gd name="T53" fmla="*/ 55 w 55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7">
                    <a:moveTo>
                      <a:pt x="28" y="57"/>
                    </a:moveTo>
                    <a:lnTo>
                      <a:pt x="16" y="55"/>
                    </a:lnTo>
                    <a:lnTo>
                      <a:pt x="8" y="49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7"/>
                    </a:lnTo>
                    <a:lnTo>
                      <a:pt x="8" y="8"/>
                    </a:lnTo>
                    <a:lnTo>
                      <a:pt x="16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7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9"/>
                    </a:lnTo>
                    <a:lnTo>
                      <a:pt x="39" y="55"/>
                    </a:lnTo>
                    <a:lnTo>
                      <a:pt x="28" y="57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3" name="Freeform 178">
                <a:extLst>
                  <a:ext uri="{FF2B5EF4-FFF2-40B4-BE49-F238E27FC236}">
                    <a16:creationId xmlns:a16="http://schemas.microsoft.com/office/drawing/2014/main" id="{450D7D2E-7A91-43C6-A986-C0FB86F2F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133"/>
                <a:ext cx="2" cy="3"/>
              </a:xfrm>
              <a:custGeom>
                <a:avLst/>
                <a:gdLst>
                  <a:gd name="T0" fmla="*/ 0 w 55"/>
                  <a:gd name="T1" fmla="*/ 0 h 56"/>
                  <a:gd name="T2" fmla="*/ 0 w 55"/>
                  <a:gd name="T3" fmla="*/ 0 h 56"/>
                  <a:gd name="T4" fmla="*/ 0 w 55"/>
                  <a:gd name="T5" fmla="*/ 0 h 56"/>
                  <a:gd name="T6" fmla="*/ 0 w 55"/>
                  <a:gd name="T7" fmla="*/ 0 h 56"/>
                  <a:gd name="T8" fmla="*/ 0 w 55"/>
                  <a:gd name="T9" fmla="*/ 0 h 56"/>
                  <a:gd name="T10" fmla="*/ 0 w 55"/>
                  <a:gd name="T11" fmla="*/ 0 h 56"/>
                  <a:gd name="T12" fmla="*/ 0 w 55"/>
                  <a:gd name="T13" fmla="*/ 0 h 56"/>
                  <a:gd name="T14" fmla="*/ 0 w 55"/>
                  <a:gd name="T15" fmla="*/ 0 h 56"/>
                  <a:gd name="T16" fmla="*/ 0 w 55"/>
                  <a:gd name="T17" fmla="*/ 0 h 56"/>
                  <a:gd name="T18" fmla="*/ 0 w 55"/>
                  <a:gd name="T19" fmla="*/ 0 h 56"/>
                  <a:gd name="T20" fmla="*/ 0 w 55"/>
                  <a:gd name="T21" fmla="*/ 0 h 56"/>
                  <a:gd name="T22" fmla="*/ 0 w 55"/>
                  <a:gd name="T23" fmla="*/ 0 h 56"/>
                  <a:gd name="T24" fmla="*/ 0 w 55"/>
                  <a:gd name="T25" fmla="*/ 0 h 56"/>
                  <a:gd name="T26" fmla="*/ 0 w 55"/>
                  <a:gd name="T27" fmla="*/ 0 h 56"/>
                  <a:gd name="T28" fmla="*/ 0 w 55"/>
                  <a:gd name="T29" fmla="*/ 0 h 56"/>
                  <a:gd name="T30" fmla="*/ 0 w 55"/>
                  <a:gd name="T31" fmla="*/ 0 h 56"/>
                  <a:gd name="T32" fmla="*/ 0 w 55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6"/>
                  <a:gd name="T53" fmla="*/ 55 w 55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6">
                    <a:moveTo>
                      <a:pt x="28" y="56"/>
                    </a:moveTo>
                    <a:lnTo>
                      <a:pt x="17" y="54"/>
                    </a:lnTo>
                    <a:lnTo>
                      <a:pt x="9" y="48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6"/>
                    </a:lnTo>
                    <a:lnTo>
                      <a:pt x="9" y="8"/>
                    </a:lnTo>
                    <a:lnTo>
                      <a:pt x="17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6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8"/>
                    </a:lnTo>
                    <a:lnTo>
                      <a:pt x="39" y="54"/>
                    </a:lnTo>
                    <a:lnTo>
                      <a:pt x="28" y="5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4" name="Freeform 179">
                <a:extLst>
                  <a:ext uri="{FF2B5EF4-FFF2-40B4-BE49-F238E27FC236}">
                    <a16:creationId xmlns:a16="http://schemas.microsoft.com/office/drawing/2014/main" id="{C36E4BBD-D749-4B35-BF23-A9A3C29BB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076"/>
                <a:ext cx="29" cy="29"/>
              </a:xfrm>
              <a:custGeom>
                <a:avLst/>
                <a:gdLst>
                  <a:gd name="T0" fmla="*/ 0 w 624"/>
                  <a:gd name="T1" fmla="*/ 0 h 522"/>
                  <a:gd name="T2" fmla="*/ 0 w 624"/>
                  <a:gd name="T3" fmla="*/ 0 h 522"/>
                  <a:gd name="T4" fmla="*/ 0 w 624"/>
                  <a:gd name="T5" fmla="*/ 0 h 522"/>
                  <a:gd name="T6" fmla="*/ 0 w 624"/>
                  <a:gd name="T7" fmla="*/ 0 h 522"/>
                  <a:gd name="T8" fmla="*/ 0 w 624"/>
                  <a:gd name="T9" fmla="*/ 0 h 5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522"/>
                  <a:gd name="T17" fmla="*/ 624 w 624"/>
                  <a:gd name="T18" fmla="*/ 522 h 5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522">
                    <a:moveTo>
                      <a:pt x="498" y="0"/>
                    </a:moveTo>
                    <a:lnTo>
                      <a:pt x="0" y="222"/>
                    </a:lnTo>
                    <a:lnTo>
                      <a:pt x="125" y="522"/>
                    </a:lnTo>
                    <a:lnTo>
                      <a:pt x="624" y="301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5" name="Freeform 180">
                <a:extLst>
                  <a:ext uri="{FF2B5EF4-FFF2-40B4-BE49-F238E27FC236}">
                    <a16:creationId xmlns:a16="http://schemas.microsoft.com/office/drawing/2014/main" id="{EAD7FCF1-4103-4672-B1CA-84FFD8D42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7"/>
                <a:ext cx="27" cy="27"/>
              </a:xfrm>
              <a:custGeom>
                <a:avLst/>
                <a:gdLst>
                  <a:gd name="T0" fmla="*/ 0 w 589"/>
                  <a:gd name="T1" fmla="*/ 0 h 484"/>
                  <a:gd name="T2" fmla="*/ 0 w 589"/>
                  <a:gd name="T3" fmla="*/ 0 h 484"/>
                  <a:gd name="T4" fmla="*/ 0 w 589"/>
                  <a:gd name="T5" fmla="*/ 0 h 484"/>
                  <a:gd name="T6" fmla="*/ 0 w 589"/>
                  <a:gd name="T7" fmla="*/ 0 h 484"/>
                  <a:gd name="T8" fmla="*/ 0 w 589"/>
                  <a:gd name="T9" fmla="*/ 0 h 4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84"/>
                  <a:gd name="T17" fmla="*/ 589 w 589"/>
                  <a:gd name="T18" fmla="*/ 484 h 4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84">
                    <a:moveTo>
                      <a:pt x="474" y="0"/>
                    </a:moveTo>
                    <a:lnTo>
                      <a:pt x="0" y="211"/>
                    </a:lnTo>
                    <a:lnTo>
                      <a:pt x="114" y="484"/>
                    </a:lnTo>
                    <a:lnTo>
                      <a:pt x="589" y="27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6" name="Freeform 181">
                <a:extLst>
                  <a:ext uri="{FF2B5EF4-FFF2-40B4-BE49-F238E27FC236}">
                    <a16:creationId xmlns:a16="http://schemas.microsoft.com/office/drawing/2014/main" id="{9AC2D4CF-A0C2-49CA-9292-43F177078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8"/>
                <a:ext cx="27" cy="26"/>
              </a:xfrm>
              <a:custGeom>
                <a:avLst/>
                <a:gdLst>
                  <a:gd name="T0" fmla="*/ 0 w 583"/>
                  <a:gd name="T1" fmla="*/ 0 h 471"/>
                  <a:gd name="T2" fmla="*/ 0 w 583"/>
                  <a:gd name="T3" fmla="*/ 0 h 471"/>
                  <a:gd name="T4" fmla="*/ 0 w 583"/>
                  <a:gd name="T5" fmla="*/ 0 h 471"/>
                  <a:gd name="T6" fmla="*/ 0 w 583"/>
                  <a:gd name="T7" fmla="*/ 0 h 471"/>
                  <a:gd name="T8" fmla="*/ 0 w 583"/>
                  <a:gd name="T9" fmla="*/ 0 h 4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471"/>
                  <a:gd name="T17" fmla="*/ 583 w 583"/>
                  <a:gd name="T18" fmla="*/ 471 h 4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471">
                    <a:moveTo>
                      <a:pt x="473" y="0"/>
                    </a:moveTo>
                    <a:lnTo>
                      <a:pt x="0" y="211"/>
                    </a:lnTo>
                    <a:lnTo>
                      <a:pt x="108" y="471"/>
                    </a:lnTo>
                    <a:lnTo>
                      <a:pt x="583" y="260"/>
                    </a:lnTo>
                    <a:lnTo>
                      <a:pt x="473" y="0"/>
                    </a:lnTo>
                    <a:close/>
                  </a:path>
                </a:pathLst>
              </a:custGeom>
              <a:solidFill>
                <a:srgbClr val="87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7" name="Freeform 182">
                <a:extLst>
                  <a:ext uri="{FF2B5EF4-FFF2-40B4-BE49-F238E27FC236}">
                    <a16:creationId xmlns:a16="http://schemas.microsoft.com/office/drawing/2014/main" id="{2372B466-6BD8-4B36-AFCA-E0EE7BACA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3"/>
              </a:xfrm>
              <a:custGeom>
                <a:avLst/>
                <a:gdLst>
                  <a:gd name="T0" fmla="*/ 0 w 227"/>
                  <a:gd name="T1" fmla="*/ 0 h 234"/>
                  <a:gd name="T2" fmla="*/ 0 w 227"/>
                  <a:gd name="T3" fmla="*/ 0 h 234"/>
                  <a:gd name="T4" fmla="*/ 0 w 227"/>
                  <a:gd name="T5" fmla="*/ 0 h 234"/>
                  <a:gd name="T6" fmla="*/ 0 w 227"/>
                  <a:gd name="T7" fmla="*/ 0 h 234"/>
                  <a:gd name="T8" fmla="*/ 0 w 227"/>
                  <a:gd name="T9" fmla="*/ 0 h 234"/>
                  <a:gd name="T10" fmla="*/ 0 w 227"/>
                  <a:gd name="T11" fmla="*/ 0 h 234"/>
                  <a:gd name="T12" fmla="*/ 0 w 227"/>
                  <a:gd name="T13" fmla="*/ 0 h 234"/>
                  <a:gd name="T14" fmla="*/ 0 w 227"/>
                  <a:gd name="T15" fmla="*/ 0 h 234"/>
                  <a:gd name="T16" fmla="*/ 0 w 227"/>
                  <a:gd name="T17" fmla="*/ 0 h 234"/>
                  <a:gd name="T18" fmla="*/ 0 w 227"/>
                  <a:gd name="T19" fmla="*/ 0 h 234"/>
                  <a:gd name="T20" fmla="*/ 0 w 227"/>
                  <a:gd name="T21" fmla="*/ 0 h 234"/>
                  <a:gd name="T22" fmla="*/ 0 w 227"/>
                  <a:gd name="T23" fmla="*/ 0 h 234"/>
                  <a:gd name="T24" fmla="*/ 0 w 227"/>
                  <a:gd name="T25" fmla="*/ 0 h 234"/>
                  <a:gd name="T26" fmla="*/ 0 w 227"/>
                  <a:gd name="T27" fmla="*/ 0 h 234"/>
                  <a:gd name="T28" fmla="*/ 0 w 227"/>
                  <a:gd name="T29" fmla="*/ 0 h 234"/>
                  <a:gd name="T30" fmla="*/ 0 w 227"/>
                  <a:gd name="T31" fmla="*/ 0 h 234"/>
                  <a:gd name="T32" fmla="*/ 0 w 227"/>
                  <a:gd name="T33" fmla="*/ 0 h 234"/>
                  <a:gd name="T34" fmla="*/ 0 w 227"/>
                  <a:gd name="T35" fmla="*/ 0 h 234"/>
                  <a:gd name="T36" fmla="*/ 0 w 227"/>
                  <a:gd name="T37" fmla="*/ 0 h 234"/>
                  <a:gd name="T38" fmla="*/ 0 w 227"/>
                  <a:gd name="T39" fmla="*/ 0 h 234"/>
                  <a:gd name="T40" fmla="*/ 0 w 227"/>
                  <a:gd name="T41" fmla="*/ 0 h 234"/>
                  <a:gd name="T42" fmla="*/ 0 w 227"/>
                  <a:gd name="T43" fmla="*/ 0 h 234"/>
                  <a:gd name="T44" fmla="*/ 0 w 227"/>
                  <a:gd name="T45" fmla="*/ 0 h 234"/>
                  <a:gd name="T46" fmla="*/ 0 w 227"/>
                  <a:gd name="T47" fmla="*/ 0 h 234"/>
                  <a:gd name="T48" fmla="*/ 0 w 227"/>
                  <a:gd name="T49" fmla="*/ 0 h 234"/>
                  <a:gd name="T50" fmla="*/ 0 w 227"/>
                  <a:gd name="T51" fmla="*/ 0 h 234"/>
                  <a:gd name="T52" fmla="*/ 0 w 227"/>
                  <a:gd name="T53" fmla="*/ 0 h 234"/>
                  <a:gd name="T54" fmla="*/ 0 w 227"/>
                  <a:gd name="T55" fmla="*/ 0 h 234"/>
                  <a:gd name="T56" fmla="*/ 0 w 227"/>
                  <a:gd name="T57" fmla="*/ 0 h 234"/>
                  <a:gd name="T58" fmla="*/ 0 w 227"/>
                  <a:gd name="T59" fmla="*/ 0 h 234"/>
                  <a:gd name="T60" fmla="*/ 0 w 227"/>
                  <a:gd name="T61" fmla="*/ 0 h 234"/>
                  <a:gd name="T62" fmla="*/ 0 w 227"/>
                  <a:gd name="T63" fmla="*/ 0 h 234"/>
                  <a:gd name="T64" fmla="*/ 0 w 227"/>
                  <a:gd name="T65" fmla="*/ 0 h 23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"/>
                  <a:gd name="T100" fmla="*/ 0 h 234"/>
                  <a:gd name="T101" fmla="*/ 227 w 227"/>
                  <a:gd name="T102" fmla="*/ 234 h 23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" h="234">
                    <a:moveTo>
                      <a:pt x="159" y="223"/>
                    </a:moveTo>
                    <a:lnTo>
                      <a:pt x="137" y="231"/>
                    </a:lnTo>
                    <a:lnTo>
                      <a:pt x="115" y="234"/>
                    </a:lnTo>
                    <a:lnTo>
                      <a:pt x="93" y="232"/>
                    </a:lnTo>
                    <a:lnTo>
                      <a:pt x="73" y="225"/>
                    </a:lnTo>
                    <a:lnTo>
                      <a:pt x="54" y="215"/>
                    </a:lnTo>
                    <a:lnTo>
                      <a:pt x="36" y="201"/>
                    </a:lnTo>
                    <a:lnTo>
                      <a:pt x="22" y="184"/>
                    </a:lnTo>
                    <a:lnTo>
                      <a:pt x="11" y="163"/>
                    </a:lnTo>
                    <a:lnTo>
                      <a:pt x="4" y="141"/>
                    </a:lnTo>
                    <a:lnTo>
                      <a:pt x="0" y="118"/>
                    </a:lnTo>
                    <a:lnTo>
                      <a:pt x="3" y="96"/>
                    </a:lnTo>
                    <a:lnTo>
                      <a:pt x="9" y="74"/>
                    </a:lnTo>
                    <a:lnTo>
                      <a:pt x="19" y="55"/>
                    </a:lnTo>
                    <a:lnTo>
                      <a:pt x="32" y="37"/>
                    </a:lnTo>
                    <a:lnTo>
                      <a:pt x="48" y="22"/>
                    </a:lnTo>
                    <a:lnTo>
                      <a:pt x="69" y="10"/>
                    </a:lnTo>
                    <a:lnTo>
                      <a:pt x="90" y="3"/>
                    </a:lnTo>
                    <a:lnTo>
                      <a:pt x="113" y="0"/>
                    </a:lnTo>
                    <a:lnTo>
                      <a:pt x="134" y="2"/>
                    </a:lnTo>
                    <a:lnTo>
                      <a:pt x="156" y="8"/>
                    </a:lnTo>
                    <a:lnTo>
                      <a:pt x="174" y="19"/>
                    </a:lnTo>
                    <a:lnTo>
                      <a:pt x="191" y="32"/>
                    </a:lnTo>
                    <a:lnTo>
                      <a:pt x="206" y="49"/>
                    </a:lnTo>
                    <a:lnTo>
                      <a:pt x="217" y="70"/>
                    </a:lnTo>
                    <a:lnTo>
                      <a:pt x="224" y="93"/>
                    </a:lnTo>
                    <a:lnTo>
                      <a:pt x="227" y="116"/>
                    </a:lnTo>
                    <a:lnTo>
                      <a:pt x="225" y="138"/>
                    </a:lnTo>
                    <a:lnTo>
                      <a:pt x="219" y="159"/>
                    </a:lnTo>
                    <a:lnTo>
                      <a:pt x="209" y="179"/>
                    </a:lnTo>
                    <a:lnTo>
                      <a:pt x="195" y="197"/>
                    </a:lnTo>
                    <a:lnTo>
                      <a:pt x="179" y="212"/>
                    </a:lnTo>
                    <a:lnTo>
                      <a:pt x="159" y="223"/>
                    </a:lnTo>
                    <a:close/>
                  </a:path>
                </a:pathLst>
              </a:custGeom>
              <a:solidFill>
                <a:srgbClr val="E333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8" name="Freeform 183">
                <a:extLst>
                  <a:ext uri="{FF2B5EF4-FFF2-40B4-BE49-F238E27FC236}">
                    <a16:creationId xmlns:a16="http://schemas.microsoft.com/office/drawing/2014/main" id="{4F3CC025-BAF0-4F35-9A4D-4194FFFF2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2"/>
              </a:xfrm>
              <a:custGeom>
                <a:avLst/>
                <a:gdLst>
                  <a:gd name="T0" fmla="*/ 0 w 208"/>
                  <a:gd name="T1" fmla="*/ 0 h 214"/>
                  <a:gd name="T2" fmla="*/ 0 w 208"/>
                  <a:gd name="T3" fmla="*/ 0 h 214"/>
                  <a:gd name="T4" fmla="*/ 0 w 208"/>
                  <a:gd name="T5" fmla="*/ 0 h 214"/>
                  <a:gd name="T6" fmla="*/ 0 w 208"/>
                  <a:gd name="T7" fmla="*/ 0 h 214"/>
                  <a:gd name="T8" fmla="*/ 0 w 208"/>
                  <a:gd name="T9" fmla="*/ 0 h 214"/>
                  <a:gd name="T10" fmla="*/ 0 w 208"/>
                  <a:gd name="T11" fmla="*/ 0 h 214"/>
                  <a:gd name="T12" fmla="*/ 0 w 208"/>
                  <a:gd name="T13" fmla="*/ 0 h 214"/>
                  <a:gd name="T14" fmla="*/ 0 w 208"/>
                  <a:gd name="T15" fmla="*/ 0 h 214"/>
                  <a:gd name="T16" fmla="*/ 0 w 208"/>
                  <a:gd name="T17" fmla="*/ 0 h 214"/>
                  <a:gd name="T18" fmla="*/ 0 w 208"/>
                  <a:gd name="T19" fmla="*/ 0 h 214"/>
                  <a:gd name="T20" fmla="*/ 0 w 208"/>
                  <a:gd name="T21" fmla="*/ 0 h 214"/>
                  <a:gd name="T22" fmla="*/ 0 w 208"/>
                  <a:gd name="T23" fmla="*/ 0 h 214"/>
                  <a:gd name="T24" fmla="*/ 0 w 208"/>
                  <a:gd name="T25" fmla="*/ 0 h 214"/>
                  <a:gd name="T26" fmla="*/ 0 w 208"/>
                  <a:gd name="T27" fmla="*/ 0 h 214"/>
                  <a:gd name="T28" fmla="*/ 0 w 208"/>
                  <a:gd name="T29" fmla="*/ 0 h 214"/>
                  <a:gd name="T30" fmla="*/ 0 w 208"/>
                  <a:gd name="T31" fmla="*/ 0 h 214"/>
                  <a:gd name="T32" fmla="*/ 0 w 208"/>
                  <a:gd name="T33" fmla="*/ 0 h 214"/>
                  <a:gd name="T34" fmla="*/ 0 w 208"/>
                  <a:gd name="T35" fmla="*/ 0 h 214"/>
                  <a:gd name="T36" fmla="*/ 0 w 208"/>
                  <a:gd name="T37" fmla="*/ 0 h 214"/>
                  <a:gd name="T38" fmla="*/ 0 w 208"/>
                  <a:gd name="T39" fmla="*/ 0 h 214"/>
                  <a:gd name="T40" fmla="*/ 0 w 208"/>
                  <a:gd name="T41" fmla="*/ 0 h 214"/>
                  <a:gd name="T42" fmla="*/ 0 w 208"/>
                  <a:gd name="T43" fmla="*/ 0 h 214"/>
                  <a:gd name="T44" fmla="*/ 0 w 208"/>
                  <a:gd name="T45" fmla="*/ 0 h 214"/>
                  <a:gd name="T46" fmla="*/ 0 w 208"/>
                  <a:gd name="T47" fmla="*/ 0 h 214"/>
                  <a:gd name="T48" fmla="*/ 0 w 208"/>
                  <a:gd name="T49" fmla="*/ 0 h 214"/>
                  <a:gd name="T50" fmla="*/ 0 w 208"/>
                  <a:gd name="T51" fmla="*/ 0 h 214"/>
                  <a:gd name="T52" fmla="*/ 0 w 208"/>
                  <a:gd name="T53" fmla="*/ 0 h 214"/>
                  <a:gd name="T54" fmla="*/ 0 w 208"/>
                  <a:gd name="T55" fmla="*/ 0 h 214"/>
                  <a:gd name="T56" fmla="*/ 0 w 208"/>
                  <a:gd name="T57" fmla="*/ 0 h 214"/>
                  <a:gd name="T58" fmla="*/ 0 w 208"/>
                  <a:gd name="T59" fmla="*/ 0 h 214"/>
                  <a:gd name="T60" fmla="*/ 0 w 208"/>
                  <a:gd name="T61" fmla="*/ 0 h 214"/>
                  <a:gd name="T62" fmla="*/ 0 w 208"/>
                  <a:gd name="T63" fmla="*/ 0 h 214"/>
                  <a:gd name="T64" fmla="*/ 0 w 208"/>
                  <a:gd name="T65" fmla="*/ 0 h 21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8"/>
                  <a:gd name="T100" fmla="*/ 0 h 214"/>
                  <a:gd name="T101" fmla="*/ 208 w 208"/>
                  <a:gd name="T102" fmla="*/ 214 h 21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8" h="214">
                    <a:moveTo>
                      <a:pt x="146" y="206"/>
                    </a:moveTo>
                    <a:lnTo>
                      <a:pt x="125" y="212"/>
                    </a:lnTo>
                    <a:lnTo>
                      <a:pt x="105" y="214"/>
                    </a:lnTo>
                    <a:lnTo>
                      <a:pt x="84" y="212"/>
                    </a:lnTo>
                    <a:lnTo>
                      <a:pt x="66" y="206"/>
                    </a:lnTo>
                    <a:lnTo>
                      <a:pt x="48" y="196"/>
                    </a:lnTo>
                    <a:lnTo>
                      <a:pt x="31" y="183"/>
                    </a:lnTo>
                    <a:lnTo>
                      <a:pt x="18" y="168"/>
                    </a:lnTo>
                    <a:lnTo>
                      <a:pt x="8" y="149"/>
                    </a:lnTo>
                    <a:lnTo>
                      <a:pt x="2" y="129"/>
                    </a:lnTo>
                    <a:lnTo>
                      <a:pt x="0" y="108"/>
                    </a:lnTo>
                    <a:lnTo>
                      <a:pt x="2" y="86"/>
                    </a:lnTo>
                    <a:lnTo>
                      <a:pt x="8" y="67"/>
                    </a:lnTo>
                    <a:lnTo>
                      <a:pt x="17" y="49"/>
                    </a:lnTo>
                    <a:lnTo>
                      <a:pt x="29" y="33"/>
                    </a:lnTo>
                    <a:lnTo>
                      <a:pt x="45" y="19"/>
                    </a:lnTo>
                    <a:lnTo>
                      <a:pt x="63" y="8"/>
                    </a:lnTo>
                    <a:lnTo>
                      <a:pt x="83" y="2"/>
                    </a:lnTo>
                    <a:lnTo>
                      <a:pt x="104" y="0"/>
                    </a:lnTo>
                    <a:lnTo>
                      <a:pt x="123" y="2"/>
                    </a:lnTo>
                    <a:lnTo>
                      <a:pt x="142" y="7"/>
                    </a:lnTo>
                    <a:lnTo>
                      <a:pt x="161" y="17"/>
                    </a:lnTo>
                    <a:lnTo>
                      <a:pt x="176" y="30"/>
                    </a:lnTo>
                    <a:lnTo>
                      <a:pt x="189" y="45"/>
                    </a:lnTo>
                    <a:lnTo>
                      <a:pt x="200" y="63"/>
                    </a:lnTo>
                    <a:lnTo>
                      <a:pt x="206" y="84"/>
                    </a:lnTo>
                    <a:lnTo>
                      <a:pt x="208" y="105"/>
                    </a:lnTo>
                    <a:lnTo>
                      <a:pt x="206" y="127"/>
                    </a:lnTo>
                    <a:lnTo>
                      <a:pt x="201" y="147"/>
                    </a:lnTo>
                    <a:lnTo>
                      <a:pt x="191" y="164"/>
                    </a:lnTo>
                    <a:lnTo>
                      <a:pt x="179" y="181"/>
                    </a:lnTo>
                    <a:lnTo>
                      <a:pt x="164" y="195"/>
                    </a:lnTo>
                    <a:lnTo>
                      <a:pt x="146" y="206"/>
                    </a:lnTo>
                    <a:close/>
                  </a:path>
                </a:pathLst>
              </a:custGeom>
              <a:solidFill>
                <a:srgbClr val="EB5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19" name="Freeform 184">
                <a:extLst>
                  <a:ext uri="{FF2B5EF4-FFF2-40B4-BE49-F238E27FC236}">
                    <a16:creationId xmlns:a16="http://schemas.microsoft.com/office/drawing/2014/main" id="{49BD8F70-40C3-4918-AF56-DC5A5663E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89"/>
                  <a:gd name="T1" fmla="*/ 0 h 194"/>
                  <a:gd name="T2" fmla="*/ 0 w 189"/>
                  <a:gd name="T3" fmla="*/ 0 h 194"/>
                  <a:gd name="T4" fmla="*/ 0 w 189"/>
                  <a:gd name="T5" fmla="*/ 0 h 194"/>
                  <a:gd name="T6" fmla="*/ 0 w 189"/>
                  <a:gd name="T7" fmla="*/ 0 h 194"/>
                  <a:gd name="T8" fmla="*/ 0 w 189"/>
                  <a:gd name="T9" fmla="*/ 0 h 194"/>
                  <a:gd name="T10" fmla="*/ 0 w 189"/>
                  <a:gd name="T11" fmla="*/ 0 h 194"/>
                  <a:gd name="T12" fmla="*/ 0 w 189"/>
                  <a:gd name="T13" fmla="*/ 0 h 194"/>
                  <a:gd name="T14" fmla="*/ 0 w 189"/>
                  <a:gd name="T15" fmla="*/ 0 h 194"/>
                  <a:gd name="T16" fmla="*/ 0 w 189"/>
                  <a:gd name="T17" fmla="*/ 0 h 194"/>
                  <a:gd name="T18" fmla="*/ 0 w 189"/>
                  <a:gd name="T19" fmla="*/ 0 h 194"/>
                  <a:gd name="T20" fmla="*/ 0 w 189"/>
                  <a:gd name="T21" fmla="*/ 0 h 194"/>
                  <a:gd name="T22" fmla="*/ 0 w 189"/>
                  <a:gd name="T23" fmla="*/ 0 h 194"/>
                  <a:gd name="T24" fmla="*/ 0 w 189"/>
                  <a:gd name="T25" fmla="*/ 0 h 194"/>
                  <a:gd name="T26" fmla="*/ 0 w 189"/>
                  <a:gd name="T27" fmla="*/ 0 h 194"/>
                  <a:gd name="T28" fmla="*/ 0 w 189"/>
                  <a:gd name="T29" fmla="*/ 0 h 194"/>
                  <a:gd name="T30" fmla="*/ 0 w 189"/>
                  <a:gd name="T31" fmla="*/ 0 h 194"/>
                  <a:gd name="T32" fmla="*/ 0 w 189"/>
                  <a:gd name="T33" fmla="*/ 0 h 194"/>
                  <a:gd name="T34" fmla="*/ 0 w 189"/>
                  <a:gd name="T35" fmla="*/ 0 h 194"/>
                  <a:gd name="T36" fmla="*/ 0 w 189"/>
                  <a:gd name="T37" fmla="*/ 0 h 194"/>
                  <a:gd name="T38" fmla="*/ 0 w 189"/>
                  <a:gd name="T39" fmla="*/ 0 h 194"/>
                  <a:gd name="T40" fmla="*/ 0 w 189"/>
                  <a:gd name="T41" fmla="*/ 0 h 194"/>
                  <a:gd name="T42" fmla="*/ 0 w 189"/>
                  <a:gd name="T43" fmla="*/ 0 h 194"/>
                  <a:gd name="T44" fmla="*/ 0 w 189"/>
                  <a:gd name="T45" fmla="*/ 0 h 194"/>
                  <a:gd name="T46" fmla="*/ 0 w 189"/>
                  <a:gd name="T47" fmla="*/ 0 h 194"/>
                  <a:gd name="T48" fmla="*/ 0 w 189"/>
                  <a:gd name="T49" fmla="*/ 0 h 194"/>
                  <a:gd name="T50" fmla="*/ 0 w 189"/>
                  <a:gd name="T51" fmla="*/ 0 h 194"/>
                  <a:gd name="T52" fmla="*/ 0 w 189"/>
                  <a:gd name="T53" fmla="*/ 0 h 194"/>
                  <a:gd name="T54" fmla="*/ 0 w 189"/>
                  <a:gd name="T55" fmla="*/ 0 h 194"/>
                  <a:gd name="T56" fmla="*/ 0 w 189"/>
                  <a:gd name="T57" fmla="*/ 0 h 194"/>
                  <a:gd name="T58" fmla="*/ 0 w 189"/>
                  <a:gd name="T59" fmla="*/ 0 h 194"/>
                  <a:gd name="T60" fmla="*/ 0 w 189"/>
                  <a:gd name="T61" fmla="*/ 0 h 194"/>
                  <a:gd name="T62" fmla="*/ 0 w 189"/>
                  <a:gd name="T63" fmla="*/ 0 h 194"/>
                  <a:gd name="T64" fmla="*/ 0 w 189"/>
                  <a:gd name="T65" fmla="*/ 0 h 1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9"/>
                  <a:gd name="T100" fmla="*/ 0 h 194"/>
                  <a:gd name="T101" fmla="*/ 189 w 189"/>
                  <a:gd name="T102" fmla="*/ 194 h 1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9" h="194">
                    <a:moveTo>
                      <a:pt x="131" y="187"/>
                    </a:moveTo>
                    <a:lnTo>
                      <a:pt x="113" y="193"/>
                    </a:lnTo>
                    <a:lnTo>
                      <a:pt x="95" y="194"/>
                    </a:lnTo>
                    <a:lnTo>
                      <a:pt x="76" y="192"/>
                    </a:lnTo>
                    <a:lnTo>
                      <a:pt x="59" y="187"/>
                    </a:lnTo>
                    <a:lnTo>
                      <a:pt x="44" y="178"/>
                    </a:lnTo>
                    <a:lnTo>
                      <a:pt x="29" y="167"/>
                    </a:lnTo>
                    <a:lnTo>
                      <a:pt x="17" y="152"/>
                    </a:lnTo>
                    <a:lnTo>
                      <a:pt x="8" y="135"/>
                    </a:lnTo>
                    <a:lnTo>
                      <a:pt x="2" y="116"/>
                    </a:lnTo>
                    <a:lnTo>
                      <a:pt x="0" y="97"/>
                    </a:lnTo>
                    <a:lnTo>
                      <a:pt x="2" y="79"/>
                    </a:lnTo>
                    <a:lnTo>
                      <a:pt x="7" y="61"/>
                    </a:lnTo>
                    <a:lnTo>
                      <a:pt x="15" y="45"/>
                    </a:lnTo>
                    <a:lnTo>
                      <a:pt x="26" y="30"/>
                    </a:lnTo>
                    <a:lnTo>
                      <a:pt x="41" y="17"/>
                    </a:lnTo>
                    <a:lnTo>
                      <a:pt x="57" y="8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2" y="1"/>
                    </a:lnTo>
                    <a:lnTo>
                      <a:pt x="130" y="7"/>
                    </a:lnTo>
                    <a:lnTo>
                      <a:pt x="146" y="15"/>
                    </a:lnTo>
                    <a:lnTo>
                      <a:pt x="160" y="27"/>
                    </a:lnTo>
                    <a:lnTo>
                      <a:pt x="172" y="41"/>
                    </a:lnTo>
                    <a:lnTo>
                      <a:pt x="181" y="58"/>
                    </a:lnTo>
                    <a:lnTo>
                      <a:pt x="187" y="77"/>
                    </a:lnTo>
                    <a:lnTo>
                      <a:pt x="189" y="96"/>
                    </a:lnTo>
                    <a:lnTo>
                      <a:pt x="188" y="114"/>
                    </a:lnTo>
                    <a:lnTo>
                      <a:pt x="182" y="132"/>
                    </a:lnTo>
                    <a:lnTo>
                      <a:pt x="174" y="149"/>
                    </a:lnTo>
                    <a:lnTo>
                      <a:pt x="163" y="165"/>
                    </a:lnTo>
                    <a:lnTo>
                      <a:pt x="149" y="177"/>
                    </a:lnTo>
                    <a:lnTo>
                      <a:pt x="131" y="187"/>
                    </a:lnTo>
                    <a:close/>
                  </a:path>
                </a:pathLst>
              </a:custGeom>
              <a:solidFill>
                <a:srgbClr val="F087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0" name="Freeform 185">
                <a:extLst>
                  <a:ext uri="{FF2B5EF4-FFF2-40B4-BE49-F238E27FC236}">
                    <a16:creationId xmlns:a16="http://schemas.microsoft.com/office/drawing/2014/main" id="{A106D75A-40BA-4DF6-9506-52EB32E72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71"/>
                  <a:gd name="T1" fmla="*/ 0 h 177"/>
                  <a:gd name="T2" fmla="*/ 0 w 171"/>
                  <a:gd name="T3" fmla="*/ 0 h 177"/>
                  <a:gd name="T4" fmla="*/ 0 w 171"/>
                  <a:gd name="T5" fmla="*/ 0 h 177"/>
                  <a:gd name="T6" fmla="*/ 0 w 171"/>
                  <a:gd name="T7" fmla="*/ 0 h 177"/>
                  <a:gd name="T8" fmla="*/ 0 w 171"/>
                  <a:gd name="T9" fmla="*/ 0 h 177"/>
                  <a:gd name="T10" fmla="*/ 0 w 171"/>
                  <a:gd name="T11" fmla="*/ 0 h 177"/>
                  <a:gd name="T12" fmla="*/ 0 w 171"/>
                  <a:gd name="T13" fmla="*/ 0 h 177"/>
                  <a:gd name="T14" fmla="*/ 0 w 171"/>
                  <a:gd name="T15" fmla="*/ 0 h 177"/>
                  <a:gd name="T16" fmla="*/ 0 w 171"/>
                  <a:gd name="T17" fmla="*/ 0 h 177"/>
                  <a:gd name="T18" fmla="*/ 0 w 171"/>
                  <a:gd name="T19" fmla="*/ 0 h 177"/>
                  <a:gd name="T20" fmla="*/ 0 w 171"/>
                  <a:gd name="T21" fmla="*/ 0 h 177"/>
                  <a:gd name="T22" fmla="*/ 0 w 171"/>
                  <a:gd name="T23" fmla="*/ 0 h 177"/>
                  <a:gd name="T24" fmla="*/ 0 w 171"/>
                  <a:gd name="T25" fmla="*/ 0 h 177"/>
                  <a:gd name="T26" fmla="*/ 0 w 171"/>
                  <a:gd name="T27" fmla="*/ 0 h 177"/>
                  <a:gd name="T28" fmla="*/ 0 w 171"/>
                  <a:gd name="T29" fmla="*/ 0 h 177"/>
                  <a:gd name="T30" fmla="*/ 0 w 171"/>
                  <a:gd name="T31" fmla="*/ 0 h 177"/>
                  <a:gd name="T32" fmla="*/ 0 w 171"/>
                  <a:gd name="T33" fmla="*/ 0 h 177"/>
                  <a:gd name="T34" fmla="*/ 0 w 171"/>
                  <a:gd name="T35" fmla="*/ 0 h 177"/>
                  <a:gd name="T36" fmla="*/ 0 w 171"/>
                  <a:gd name="T37" fmla="*/ 0 h 177"/>
                  <a:gd name="T38" fmla="*/ 0 w 171"/>
                  <a:gd name="T39" fmla="*/ 0 h 177"/>
                  <a:gd name="T40" fmla="*/ 0 w 171"/>
                  <a:gd name="T41" fmla="*/ 0 h 177"/>
                  <a:gd name="T42" fmla="*/ 0 w 171"/>
                  <a:gd name="T43" fmla="*/ 0 h 177"/>
                  <a:gd name="T44" fmla="*/ 0 w 171"/>
                  <a:gd name="T45" fmla="*/ 0 h 177"/>
                  <a:gd name="T46" fmla="*/ 0 w 171"/>
                  <a:gd name="T47" fmla="*/ 0 h 177"/>
                  <a:gd name="T48" fmla="*/ 0 w 171"/>
                  <a:gd name="T49" fmla="*/ 0 h 177"/>
                  <a:gd name="T50" fmla="*/ 0 w 171"/>
                  <a:gd name="T51" fmla="*/ 0 h 177"/>
                  <a:gd name="T52" fmla="*/ 0 w 171"/>
                  <a:gd name="T53" fmla="*/ 0 h 177"/>
                  <a:gd name="T54" fmla="*/ 0 w 171"/>
                  <a:gd name="T55" fmla="*/ 0 h 177"/>
                  <a:gd name="T56" fmla="*/ 0 w 171"/>
                  <a:gd name="T57" fmla="*/ 0 h 177"/>
                  <a:gd name="T58" fmla="*/ 0 w 171"/>
                  <a:gd name="T59" fmla="*/ 0 h 177"/>
                  <a:gd name="T60" fmla="*/ 0 w 171"/>
                  <a:gd name="T61" fmla="*/ 0 h 177"/>
                  <a:gd name="T62" fmla="*/ 0 w 171"/>
                  <a:gd name="T63" fmla="*/ 0 h 177"/>
                  <a:gd name="T64" fmla="*/ 0 w 171"/>
                  <a:gd name="T65" fmla="*/ 0 h 1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1"/>
                  <a:gd name="T100" fmla="*/ 0 h 177"/>
                  <a:gd name="T101" fmla="*/ 171 w 171"/>
                  <a:gd name="T102" fmla="*/ 177 h 17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1" h="177">
                    <a:moveTo>
                      <a:pt x="120" y="170"/>
                    </a:moveTo>
                    <a:lnTo>
                      <a:pt x="104" y="175"/>
                    </a:lnTo>
                    <a:lnTo>
                      <a:pt x="87" y="177"/>
                    </a:lnTo>
                    <a:lnTo>
                      <a:pt x="70" y="176"/>
                    </a:lnTo>
                    <a:lnTo>
                      <a:pt x="54" y="171"/>
                    </a:lnTo>
                    <a:lnTo>
                      <a:pt x="40" y="163"/>
                    </a:lnTo>
                    <a:lnTo>
                      <a:pt x="27" y="152"/>
                    </a:lnTo>
                    <a:lnTo>
                      <a:pt x="15" y="139"/>
                    </a:lnTo>
                    <a:lnTo>
                      <a:pt x="7" y="124"/>
                    </a:lnTo>
                    <a:lnTo>
                      <a:pt x="2" y="107"/>
                    </a:lnTo>
                    <a:lnTo>
                      <a:pt x="0" y="90"/>
                    </a:lnTo>
                    <a:lnTo>
                      <a:pt x="2" y="72"/>
                    </a:lnTo>
                    <a:lnTo>
                      <a:pt x="7" y="56"/>
                    </a:lnTo>
                    <a:lnTo>
                      <a:pt x="14" y="41"/>
                    </a:lnTo>
                    <a:lnTo>
                      <a:pt x="25" y="28"/>
                    </a:lnTo>
                    <a:lnTo>
                      <a:pt x="37" y="16"/>
                    </a:lnTo>
                    <a:lnTo>
                      <a:pt x="52" y="8"/>
                    </a:lnTo>
                    <a:lnTo>
                      <a:pt x="68" y="2"/>
                    </a:lnTo>
                    <a:lnTo>
                      <a:pt x="85" y="0"/>
                    </a:lnTo>
                    <a:lnTo>
                      <a:pt x="102" y="2"/>
                    </a:lnTo>
                    <a:lnTo>
                      <a:pt x="117" y="7"/>
                    </a:lnTo>
                    <a:lnTo>
                      <a:pt x="132" y="15"/>
                    </a:lnTo>
                    <a:lnTo>
                      <a:pt x="145" y="25"/>
                    </a:lnTo>
                    <a:lnTo>
                      <a:pt x="156" y="38"/>
                    </a:lnTo>
                    <a:lnTo>
                      <a:pt x="164" y="53"/>
                    </a:lnTo>
                    <a:lnTo>
                      <a:pt x="169" y="70"/>
                    </a:lnTo>
                    <a:lnTo>
                      <a:pt x="171" y="88"/>
                    </a:lnTo>
                    <a:lnTo>
                      <a:pt x="169" y="105"/>
                    </a:lnTo>
                    <a:lnTo>
                      <a:pt x="165" y="121"/>
                    </a:lnTo>
                    <a:lnTo>
                      <a:pt x="158" y="136"/>
                    </a:lnTo>
                    <a:lnTo>
                      <a:pt x="148" y="150"/>
                    </a:lnTo>
                    <a:lnTo>
                      <a:pt x="136" y="162"/>
                    </a:lnTo>
                    <a:lnTo>
                      <a:pt x="120" y="170"/>
                    </a:lnTo>
                    <a:close/>
                  </a:path>
                </a:pathLst>
              </a:custGeom>
              <a:solidFill>
                <a:srgbClr val="F5AE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1" name="Freeform 186">
                <a:extLst>
                  <a:ext uri="{FF2B5EF4-FFF2-40B4-BE49-F238E27FC236}">
                    <a16:creationId xmlns:a16="http://schemas.microsoft.com/office/drawing/2014/main" id="{53AD5DCF-EC61-4C69-A210-E07E42B6E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7" cy="9"/>
              </a:xfrm>
              <a:custGeom>
                <a:avLst/>
                <a:gdLst>
                  <a:gd name="T0" fmla="*/ 0 w 152"/>
                  <a:gd name="T1" fmla="*/ 0 h 156"/>
                  <a:gd name="T2" fmla="*/ 0 w 152"/>
                  <a:gd name="T3" fmla="*/ 0 h 156"/>
                  <a:gd name="T4" fmla="*/ 0 w 152"/>
                  <a:gd name="T5" fmla="*/ 0 h 156"/>
                  <a:gd name="T6" fmla="*/ 0 w 152"/>
                  <a:gd name="T7" fmla="*/ 0 h 156"/>
                  <a:gd name="T8" fmla="*/ 0 w 152"/>
                  <a:gd name="T9" fmla="*/ 0 h 156"/>
                  <a:gd name="T10" fmla="*/ 0 w 152"/>
                  <a:gd name="T11" fmla="*/ 0 h 156"/>
                  <a:gd name="T12" fmla="*/ 0 w 152"/>
                  <a:gd name="T13" fmla="*/ 0 h 156"/>
                  <a:gd name="T14" fmla="*/ 0 w 152"/>
                  <a:gd name="T15" fmla="*/ 0 h 156"/>
                  <a:gd name="T16" fmla="*/ 0 w 152"/>
                  <a:gd name="T17" fmla="*/ 0 h 156"/>
                  <a:gd name="T18" fmla="*/ 0 w 152"/>
                  <a:gd name="T19" fmla="*/ 0 h 156"/>
                  <a:gd name="T20" fmla="*/ 0 w 152"/>
                  <a:gd name="T21" fmla="*/ 0 h 156"/>
                  <a:gd name="T22" fmla="*/ 0 w 152"/>
                  <a:gd name="T23" fmla="*/ 0 h 156"/>
                  <a:gd name="T24" fmla="*/ 0 w 152"/>
                  <a:gd name="T25" fmla="*/ 0 h 156"/>
                  <a:gd name="T26" fmla="*/ 0 w 152"/>
                  <a:gd name="T27" fmla="*/ 0 h 156"/>
                  <a:gd name="T28" fmla="*/ 0 w 152"/>
                  <a:gd name="T29" fmla="*/ 0 h 156"/>
                  <a:gd name="T30" fmla="*/ 0 w 152"/>
                  <a:gd name="T31" fmla="*/ 0 h 156"/>
                  <a:gd name="T32" fmla="*/ 0 w 152"/>
                  <a:gd name="T33" fmla="*/ 0 h 156"/>
                  <a:gd name="T34" fmla="*/ 0 w 152"/>
                  <a:gd name="T35" fmla="*/ 0 h 156"/>
                  <a:gd name="T36" fmla="*/ 0 w 152"/>
                  <a:gd name="T37" fmla="*/ 0 h 156"/>
                  <a:gd name="T38" fmla="*/ 0 w 152"/>
                  <a:gd name="T39" fmla="*/ 0 h 156"/>
                  <a:gd name="T40" fmla="*/ 0 w 152"/>
                  <a:gd name="T41" fmla="*/ 0 h 156"/>
                  <a:gd name="T42" fmla="*/ 0 w 152"/>
                  <a:gd name="T43" fmla="*/ 0 h 156"/>
                  <a:gd name="T44" fmla="*/ 0 w 152"/>
                  <a:gd name="T45" fmla="*/ 0 h 156"/>
                  <a:gd name="T46" fmla="*/ 0 w 152"/>
                  <a:gd name="T47" fmla="*/ 0 h 156"/>
                  <a:gd name="T48" fmla="*/ 0 w 152"/>
                  <a:gd name="T49" fmla="*/ 0 h 156"/>
                  <a:gd name="T50" fmla="*/ 0 w 152"/>
                  <a:gd name="T51" fmla="*/ 0 h 156"/>
                  <a:gd name="T52" fmla="*/ 0 w 152"/>
                  <a:gd name="T53" fmla="*/ 0 h 156"/>
                  <a:gd name="T54" fmla="*/ 0 w 152"/>
                  <a:gd name="T55" fmla="*/ 0 h 156"/>
                  <a:gd name="T56" fmla="*/ 0 w 152"/>
                  <a:gd name="T57" fmla="*/ 0 h 156"/>
                  <a:gd name="T58" fmla="*/ 0 w 152"/>
                  <a:gd name="T59" fmla="*/ 0 h 156"/>
                  <a:gd name="T60" fmla="*/ 0 w 152"/>
                  <a:gd name="T61" fmla="*/ 0 h 156"/>
                  <a:gd name="T62" fmla="*/ 0 w 152"/>
                  <a:gd name="T63" fmla="*/ 0 h 156"/>
                  <a:gd name="T64" fmla="*/ 0 w 152"/>
                  <a:gd name="T65" fmla="*/ 0 h 1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52"/>
                  <a:gd name="T100" fmla="*/ 0 h 156"/>
                  <a:gd name="T101" fmla="*/ 152 w 152"/>
                  <a:gd name="T102" fmla="*/ 156 h 1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52" h="156">
                    <a:moveTo>
                      <a:pt x="106" y="149"/>
                    </a:moveTo>
                    <a:lnTo>
                      <a:pt x="92" y="155"/>
                    </a:lnTo>
                    <a:lnTo>
                      <a:pt x="77" y="156"/>
                    </a:lnTo>
                    <a:lnTo>
                      <a:pt x="63" y="155"/>
                    </a:lnTo>
                    <a:lnTo>
                      <a:pt x="48" y="150"/>
                    </a:lnTo>
                    <a:lnTo>
                      <a:pt x="35" y="143"/>
                    </a:lnTo>
                    <a:lnTo>
                      <a:pt x="24" y="133"/>
                    </a:lnTo>
                    <a:lnTo>
                      <a:pt x="14" y="122"/>
                    </a:lnTo>
                    <a:lnTo>
                      <a:pt x="6" y="108"/>
                    </a:lnTo>
                    <a:lnTo>
                      <a:pt x="2" y="93"/>
                    </a:lnTo>
                    <a:lnTo>
                      <a:pt x="0" y="78"/>
                    </a:lnTo>
                    <a:lnTo>
                      <a:pt x="1" y="63"/>
                    </a:lnTo>
                    <a:lnTo>
                      <a:pt x="5" y="49"/>
                    </a:lnTo>
                    <a:lnTo>
                      <a:pt x="13" y="35"/>
                    </a:lnTo>
                    <a:lnTo>
                      <a:pt x="22" y="24"/>
                    </a:lnTo>
                    <a:lnTo>
                      <a:pt x="33" y="13"/>
                    </a:lnTo>
                    <a:lnTo>
                      <a:pt x="46" y="6"/>
                    </a:lnTo>
                    <a:lnTo>
                      <a:pt x="60" y="1"/>
                    </a:lnTo>
                    <a:lnTo>
                      <a:pt x="76" y="0"/>
                    </a:lnTo>
                    <a:lnTo>
                      <a:pt x="90" y="1"/>
                    </a:lnTo>
                    <a:lnTo>
                      <a:pt x="104" y="5"/>
                    </a:lnTo>
                    <a:lnTo>
                      <a:pt x="118" y="11"/>
                    </a:lnTo>
                    <a:lnTo>
                      <a:pt x="129" y="21"/>
                    </a:lnTo>
                    <a:lnTo>
                      <a:pt x="139" y="32"/>
                    </a:lnTo>
                    <a:lnTo>
                      <a:pt x="146" y="46"/>
                    </a:lnTo>
                    <a:lnTo>
                      <a:pt x="150" y="61"/>
                    </a:lnTo>
                    <a:lnTo>
                      <a:pt x="152" y="77"/>
                    </a:lnTo>
                    <a:lnTo>
                      <a:pt x="151" y="91"/>
                    </a:lnTo>
                    <a:lnTo>
                      <a:pt x="147" y="106"/>
                    </a:lnTo>
                    <a:lnTo>
                      <a:pt x="140" y="120"/>
                    </a:lnTo>
                    <a:lnTo>
                      <a:pt x="131" y="131"/>
                    </a:lnTo>
                    <a:lnTo>
                      <a:pt x="120" y="142"/>
                    </a:lnTo>
                    <a:lnTo>
                      <a:pt x="106" y="149"/>
                    </a:lnTo>
                    <a:close/>
                  </a:path>
                </a:pathLst>
              </a:custGeom>
              <a:solidFill>
                <a:srgbClr val="FAD6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2" name="Freeform 187">
                <a:extLst>
                  <a:ext uri="{FF2B5EF4-FFF2-40B4-BE49-F238E27FC236}">
                    <a16:creationId xmlns:a16="http://schemas.microsoft.com/office/drawing/2014/main" id="{E050FE6A-E66F-4E73-B107-DE5C8D987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6" cy="8"/>
              </a:xfrm>
              <a:custGeom>
                <a:avLst/>
                <a:gdLst>
                  <a:gd name="T0" fmla="*/ 0 w 134"/>
                  <a:gd name="T1" fmla="*/ 0 h 139"/>
                  <a:gd name="T2" fmla="*/ 0 w 134"/>
                  <a:gd name="T3" fmla="*/ 0 h 139"/>
                  <a:gd name="T4" fmla="*/ 0 w 134"/>
                  <a:gd name="T5" fmla="*/ 0 h 139"/>
                  <a:gd name="T6" fmla="*/ 0 w 134"/>
                  <a:gd name="T7" fmla="*/ 0 h 139"/>
                  <a:gd name="T8" fmla="*/ 0 w 134"/>
                  <a:gd name="T9" fmla="*/ 0 h 139"/>
                  <a:gd name="T10" fmla="*/ 0 w 134"/>
                  <a:gd name="T11" fmla="*/ 0 h 139"/>
                  <a:gd name="T12" fmla="*/ 0 w 134"/>
                  <a:gd name="T13" fmla="*/ 0 h 139"/>
                  <a:gd name="T14" fmla="*/ 0 w 134"/>
                  <a:gd name="T15" fmla="*/ 0 h 139"/>
                  <a:gd name="T16" fmla="*/ 0 w 134"/>
                  <a:gd name="T17" fmla="*/ 0 h 139"/>
                  <a:gd name="T18" fmla="*/ 0 w 134"/>
                  <a:gd name="T19" fmla="*/ 0 h 139"/>
                  <a:gd name="T20" fmla="*/ 0 w 134"/>
                  <a:gd name="T21" fmla="*/ 0 h 139"/>
                  <a:gd name="T22" fmla="*/ 0 w 134"/>
                  <a:gd name="T23" fmla="*/ 0 h 139"/>
                  <a:gd name="T24" fmla="*/ 0 w 134"/>
                  <a:gd name="T25" fmla="*/ 0 h 139"/>
                  <a:gd name="T26" fmla="*/ 0 w 134"/>
                  <a:gd name="T27" fmla="*/ 0 h 139"/>
                  <a:gd name="T28" fmla="*/ 0 w 134"/>
                  <a:gd name="T29" fmla="*/ 0 h 139"/>
                  <a:gd name="T30" fmla="*/ 0 w 134"/>
                  <a:gd name="T31" fmla="*/ 0 h 139"/>
                  <a:gd name="T32" fmla="*/ 0 w 134"/>
                  <a:gd name="T33" fmla="*/ 0 h 139"/>
                  <a:gd name="T34" fmla="*/ 0 w 134"/>
                  <a:gd name="T35" fmla="*/ 0 h 139"/>
                  <a:gd name="T36" fmla="*/ 0 w 134"/>
                  <a:gd name="T37" fmla="*/ 0 h 139"/>
                  <a:gd name="T38" fmla="*/ 0 w 134"/>
                  <a:gd name="T39" fmla="*/ 0 h 139"/>
                  <a:gd name="T40" fmla="*/ 0 w 134"/>
                  <a:gd name="T41" fmla="*/ 0 h 139"/>
                  <a:gd name="T42" fmla="*/ 0 w 134"/>
                  <a:gd name="T43" fmla="*/ 0 h 139"/>
                  <a:gd name="T44" fmla="*/ 0 w 134"/>
                  <a:gd name="T45" fmla="*/ 0 h 139"/>
                  <a:gd name="T46" fmla="*/ 0 w 134"/>
                  <a:gd name="T47" fmla="*/ 0 h 139"/>
                  <a:gd name="T48" fmla="*/ 0 w 134"/>
                  <a:gd name="T49" fmla="*/ 0 h 139"/>
                  <a:gd name="T50" fmla="*/ 0 w 134"/>
                  <a:gd name="T51" fmla="*/ 0 h 139"/>
                  <a:gd name="T52" fmla="*/ 0 w 134"/>
                  <a:gd name="T53" fmla="*/ 0 h 139"/>
                  <a:gd name="T54" fmla="*/ 0 w 134"/>
                  <a:gd name="T55" fmla="*/ 0 h 139"/>
                  <a:gd name="T56" fmla="*/ 0 w 134"/>
                  <a:gd name="T57" fmla="*/ 0 h 139"/>
                  <a:gd name="T58" fmla="*/ 0 w 134"/>
                  <a:gd name="T59" fmla="*/ 0 h 139"/>
                  <a:gd name="T60" fmla="*/ 0 w 134"/>
                  <a:gd name="T61" fmla="*/ 0 h 139"/>
                  <a:gd name="T62" fmla="*/ 0 w 134"/>
                  <a:gd name="T63" fmla="*/ 0 h 139"/>
                  <a:gd name="T64" fmla="*/ 0 w 134"/>
                  <a:gd name="T65" fmla="*/ 0 h 13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139"/>
                  <a:gd name="T101" fmla="*/ 134 w 134"/>
                  <a:gd name="T102" fmla="*/ 139 h 13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139">
                    <a:moveTo>
                      <a:pt x="93" y="134"/>
                    </a:moveTo>
                    <a:lnTo>
                      <a:pt x="80" y="138"/>
                    </a:lnTo>
                    <a:lnTo>
                      <a:pt x="68" y="139"/>
                    </a:lnTo>
                    <a:lnTo>
                      <a:pt x="55" y="138"/>
                    </a:lnTo>
                    <a:lnTo>
                      <a:pt x="42" y="134"/>
                    </a:lnTo>
                    <a:lnTo>
                      <a:pt x="30" y="127"/>
                    </a:lnTo>
                    <a:lnTo>
                      <a:pt x="20" y="119"/>
                    </a:lnTo>
                    <a:lnTo>
                      <a:pt x="12" y="109"/>
                    </a:lnTo>
                    <a:lnTo>
                      <a:pt x="5" y="97"/>
                    </a:lnTo>
                    <a:lnTo>
                      <a:pt x="1" y="83"/>
                    </a:lnTo>
                    <a:lnTo>
                      <a:pt x="0" y="70"/>
                    </a:lnTo>
                    <a:lnTo>
                      <a:pt x="1" y="57"/>
                    </a:lnTo>
                    <a:lnTo>
                      <a:pt x="5" y="44"/>
                    </a:lnTo>
                    <a:lnTo>
                      <a:pt x="11" y="31"/>
                    </a:lnTo>
                    <a:lnTo>
                      <a:pt x="19" y="21"/>
                    </a:lnTo>
                    <a:lnTo>
                      <a:pt x="28" y="12"/>
                    </a:lnTo>
                    <a:lnTo>
                      <a:pt x="40" y="5"/>
                    </a:lnTo>
                    <a:lnTo>
                      <a:pt x="54" y="1"/>
                    </a:lnTo>
                    <a:lnTo>
                      <a:pt x="66" y="0"/>
                    </a:lnTo>
                    <a:lnTo>
                      <a:pt x="79" y="1"/>
                    </a:lnTo>
                    <a:lnTo>
                      <a:pt x="91" y="5"/>
                    </a:lnTo>
                    <a:lnTo>
                      <a:pt x="104" y="11"/>
                    </a:lnTo>
                    <a:lnTo>
                      <a:pt x="114" y="20"/>
                    </a:lnTo>
                    <a:lnTo>
                      <a:pt x="122" y="29"/>
                    </a:lnTo>
                    <a:lnTo>
                      <a:pt x="129" y="42"/>
                    </a:lnTo>
                    <a:lnTo>
                      <a:pt x="133" y="56"/>
                    </a:lnTo>
                    <a:lnTo>
                      <a:pt x="134" y="68"/>
                    </a:lnTo>
                    <a:lnTo>
                      <a:pt x="133" y="82"/>
                    </a:lnTo>
                    <a:lnTo>
                      <a:pt x="129" y="95"/>
                    </a:lnTo>
                    <a:lnTo>
                      <a:pt x="123" y="107"/>
                    </a:lnTo>
                    <a:lnTo>
                      <a:pt x="115" y="118"/>
                    </a:lnTo>
                    <a:lnTo>
                      <a:pt x="106" y="126"/>
                    </a:lnTo>
                    <a:lnTo>
                      <a:pt x="93" y="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3" name="Freeform 188">
                <a:extLst>
                  <a:ext uri="{FF2B5EF4-FFF2-40B4-BE49-F238E27FC236}">
                    <a16:creationId xmlns:a16="http://schemas.microsoft.com/office/drawing/2014/main" id="{4ED2A539-50AD-4AF6-84F8-35F8A60A89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93"/>
                <a:ext cx="1" cy="2"/>
              </a:xfrm>
              <a:custGeom>
                <a:avLst/>
                <a:gdLst>
                  <a:gd name="T0" fmla="*/ 0 w 21"/>
                  <a:gd name="T1" fmla="*/ 0 h 33"/>
                  <a:gd name="T2" fmla="*/ 0 w 21"/>
                  <a:gd name="T3" fmla="*/ 0 h 33"/>
                  <a:gd name="T4" fmla="*/ 0 w 21"/>
                  <a:gd name="T5" fmla="*/ 0 h 33"/>
                  <a:gd name="T6" fmla="*/ 0 w 21"/>
                  <a:gd name="T7" fmla="*/ 0 h 33"/>
                  <a:gd name="T8" fmla="*/ 0 w 21"/>
                  <a:gd name="T9" fmla="*/ 0 h 33"/>
                  <a:gd name="T10" fmla="*/ 0 w 21"/>
                  <a:gd name="T11" fmla="*/ 0 h 33"/>
                  <a:gd name="T12" fmla="*/ 0 w 21"/>
                  <a:gd name="T13" fmla="*/ 0 h 33"/>
                  <a:gd name="T14" fmla="*/ 0 w 21"/>
                  <a:gd name="T15" fmla="*/ 0 h 33"/>
                  <a:gd name="T16" fmla="*/ 0 w 21"/>
                  <a:gd name="T17" fmla="*/ 0 h 33"/>
                  <a:gd name="T18" fmla="*/ 0 w 21"/>
                  <a:gd name="T19" fmla="*/ 0 h 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33"/>
                  <a:gd name="T32" fmla="*/ 21 w 21"/>
                  <a:gd name="T33" fmla="*/ 33 h 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33">
                    <a:moveTo>
                      <a:pt x="11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5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8" y="31"/>
                    </a:lnTo>
                    <a:lnTo>
                      <a:pt x="14" y="33"/>
                    </a:lnTo>
                    <a:lnTo>
                      <a:pt x="21" y="3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4" name="Freeform 189">
                <a:extLst>
                  <a:ext uri="{FF2B5EF4-FFF2-40B4-BE49-F238E27FC236}">
                    <a16:creationId xmlns:a16="http://schemas.microsoft.com/office/drawing/2014/main" id="{6B146206-8B9A-4803-A15C-1E87261A8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89"/>
                <a:ext cx="3" cy="6"/>
              </a:xfrm>
              <a:custGeom>
                <a:avLst/>
                <a:gdLst>
                  <a:gd name="T0" fmla="*/ 0 w 75"/>
                  <a:gd name="T1" fmla="*/ 0 h 98"/>
                  <a:gd name="T2" fmla="*/ 0 w 75"/>
                  <a:gd name="T3" fmla="*/ 0 h 98"/>
                  <a:gd name="T4" fmla="*/ 0 w 75"/>
                  <a:gd name="T5" fmla="*/ 0 h 98"/>
                  <a:gd name="T6" fmla="*/ 0 w 75"/>
                  <a:gd name="T7" fmla="*/ 0 h 98"/>
                  <a:gd name="T8" fmla="*/ 0 w 75"/>
                  <a:gd name="T9" fmla="*/ 0 h 98"/>
                  <a:gd name="T10" fmla="*/ 0 w 75"/>
                  <a:gd name="T11" fmla="*/ 0 h 98"/>
                  <a:gd name="T12" fmla="*/ 0 w 75"/>
                  <a:gd name="T13" fmla="*/ 0 h 98"/>
                  <a:gd name="T14" fmla="*/ 0 w 75"/>
                  <a:gd name="T15" fmla="*/ 0 h 98"/>
                  <a:gd name="T16" fmla="*/ 0 w 75"/>
                  <a:gd name="T17" fmla="*/ 0 h 98"/>
                  <a:gd name="T18" fmla="*/ 0 w 75"/>
                  <a:gd name="T19" fmla="*/ 0 h 98"/>
                  <a:gd name="T20" fmla="*/ 0 w 75"/>
                  <a:gd name="T21" fmla="*/ 0 h 98"/>
                  <a:gd name="T22" fmla="*/ 0 w 75"/>
                  <a:gd name="T23" fmla="*/ 0 h 98"/>
                  <a:gd name="T24" fmla="*/ 0 w 75"/>
                  <a:gd name="T25" fmla="*/ 0 h 98"/>
                  <a:gd name="T26" fmla="*/ 0 w 75"/>
                  <a:gd name="T27" fmla="*/ 0 h 98"/>
                  <a:gd name="T28" fmla="*/ 0 w 75"/>
                  <a:gd name="T29" fmla="*/ 0 h 98"/>
                  <a:gd name="T30" fmla="*/ 0 w 75"/>
                  <a:gd name="T31" fmla="*/ 0 h 98"/>
                  <a:gd name="T32" fmla="*/ 0 w 75"/>
                  <a:gd name="T33" fmla="*/ 0 h 98"/>
                  <a:gd name="T34" fmla="*/ 0 w 75"/>
                  <a:gd name="T35" fmla="*/ 0 h 98"/>
                  <a:gd name="T36" fmla="*/ 0 w 75"/>
                  <a:gd name="T37" fmla="*/ 0 h 98"/>
                  <a:gd name="T38" fmla="*/ 0 w 75"/>
                  <a:gd name="T39" fmla="*/ 0 h 98"/>
                  <a:gd name="T40" fmla="*/ 0 w 75"/>
                  <a:gd name="T41" fmla="*/ 0 h 9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"/>
                  <a:gd name="T64" fmla="*/ 0 h 98"/>
                  <a:gd name="T65" fmla="*/ 75 w 75"/>
                  <a:gd name="T66" fmla="*/ 98 h 9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" h="98">
                    <a:moveTo>
                      <a:pt x="40" y="12"/>
                    </a:moveTo>
                    <a:lnTo>
                      <a:pt x="40" y="12"/>
                    </a:lnTo>
                    <a:lnTo>
                      <a:pt x="42" y="22"/>
                    </a:lnTo>
                    <a:lnTo>
                      <a:pt x="42" y="28"/>
                    </a:lnTo>
                    <a:lnTo>
                      <a:pt x="39" y="37"/>
                    </a:lnTo>
                    <a:lnTo>
                      <a:pt x="36" y="43"/>
                    </a:lnTo>
                    <a:lnTo>
                      <a:pt x="30" y="49"/>
                    </a:lnTo>
                    <a:lnTo>
                      <a:pt x="21" y="57"/>
                    </a:lnTo>
                    <a:lnTo>
                      <a:pt x="12" y="61"/>
                    </a:lnTo>
                    <a:lnTo>
                      <a:pt x="0" y="66"/>
                    </a:lnTo>
                    <a:lnTo>
                      <a:pt x="10" y="98"/>
                    </a:lnTo>
                    <a:lnTo>
                      <a:pt x="26" y="92"/>
                    </a:lnTo>
                    <a:lnTo>
                      <a:pt x="39" y="84"/>
                    </a:lnTo>
                    <a:lnTo>
                      <a:pt x="50" y="74"/>
                    </a:lnTo>
                    <a:lnTo>
                      <a:pt x="63" y="64"/>
                    </a:lnTo>
                    <a:lnTo>
                      <a:pt x="70" y="49"/>
                    </a:lnTo>
                    <a:lnTo>
                      <a:pt x="75" y="34"/>
                    </a:lnTo>
                    <a:lnTo>
                      <a:pt x="75" y="18"/>
                    </a:lnTo>
                    <a:lnTo>
                      <a:pt x="71" y="0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5" name="Freeform 190">
                <a:extLst>
                  <a:ext uri="{FF2B5EF4-FFF2-40B4-BE49-F238E27FC236}">
                    <a16:creationId xmlns:a16="http://schemas.microsoft.com/office/drawing/2014/main" id="{29E945A6-F386-4FD6-80B6-4CD70A0AA4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" y="3087"/>
                <a:ext cx="5" cy="3"/>
              </a:xfrm>
              <a:custGeom>
                <a:avLst/>
                <a:gdLst>
                  <a:gd name="T0" fmla="*/ 0 w 108"/>
                  <a:gd name="T1" fmla="*/ 0 h 49"/>
                  <a:gd name="T2" fmla="*/ 0 w 108"/>
                  <a:gd name="T3" fmla="*/ 0 h 49"/>
                  <a:gd name="T4" fmla="*/ 0 w 108"/>
                  <a:gd name="T5" fmla="*/ 0 h 49"/>
                  <a:gd name="T6" fmla="*/ 0 w 108"/>
                  <a:gd name="T7" fmla="*/ 0 h 49"/>
                  <a:gd name="T8" fmla="*/ 0 w 108"/>
                  <a:gd name="T9" fmla="*/ 0 h 49"/>
                  <a:gd name="T10" fmla="*/ 0 w 108"/>
                  <a:gd name="T11" fmla="*/ 0 h 49"/>
                  <a:gd name="T12" fmla="*/ 0 w 108"/>
                  <a:gd name="T13" fmla="*/ 0 h 49"/>
                  <a:gd name="T14" fmla="*/ 0 w 108"/>
                  <a:gd name="T15" fmla="*/ 0 h 49"/>
                  <a:gd name="T16" fmla="*/ 0 w 108"/>
                  <a:gd name="T17" fmla="*/ 0 h 49"/>
                  <a:gd name="T18" fmla="*/ 0 w 108"/>
                  <a:gd name="T19" fmla="*/ 0 h 49"/>
                  <a:gd name="T20" fmla="*/ 0 w 108"/>
                  <a:gd name="T21" fmla="*/ 0 h 49"/>
                  <a:gd name="T22" fmla="*/ 0 w 108"/>
                  <a:gd name="T23" fmla="*/ 0 h 49"/>
                  <a:gd name="T24" fmla="*/ 0 w 108"/>
                  <a:gd name="T25" fmla="*/ 0 h 49"/>
                  <a:gd name="T26" fmla="*/ 0 w 108"/>
                  <a:gd name="T27" fmla="*/ 0 h 49"/>
                  <a:gd name="T28" fmla="*/ 0 w 108"/>
                  <a:gd name="T29" fmla="*/ 0 h 49"/>
                  <a:gd name="T30" fmla="*/ 0 w 108"/>
                  <a:gd name="T31" fmla="*/ 0 h 49"/>
                  <a:gd name="T32" fmla="*/ 0 w 108"/>
                  <a:gd name="T33" fmla="*/ 0 h 49"/>
                  <a:gd name="T34" fmla="*/ 0 w 108"/>
                  <a:gd name="T35" fmla="*/ 0 h 49"/>
                  <a:gd name="T36" fmla="*/ 0 w 108"/>
                  <a:gd name="T37" fmla="*/ 0 h 49"/>
                  <a:gd name="T38" fmla="*/ 0 w 108"/>
                  <a:gd name="T39" fmla="*/ 0 h 49"/>
                  <a:gd name="T40" fmla="*/ 0 w 108"/>
                  <a:gd name="T41" fmla="*/ 0 h 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49"/>
                  <a:gd name="T65" fmla="*/ 108 w 108"/>
                  <a:gd name="T66" fmla="*/ 49 h 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49">
                    <a:moveTo>
                      <a:pt x="20" y="43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6" y="35"/>
                    </a:lnTo>
                    <a:lnTo>
                      <a:pt x="45" y="33"/>
                    </a:lnTo>
                    <a:lnTo>
                      <a:pt x="54" y="33"/>
                    </a:lnTo>
                    <a:lnTo>
                      <a:pt x="62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49"/>
                    </a:lnTo>
                    <a:lnTo>
                      <a:pt x="108" y="37"/>
                    </a:lnTo>
                    <a:lnTo>
                      <a:pt x="98" y="22"/>
                    </a:lnTo>
                    <a:lnTo>
                      <a:pt x="87" y="11"/>
                    </a:lnTo>
                    <a:lnTo>
                      <a:pt x="74" y="4"/>
                    </a:lnTo>
                    <a:lnTo>
                      <a:pt x="58" y="0"/>
                    </a:lnTo>
                    <a:lnTo>
                      <a:pt x="41" y="0"/>
                    </a:lnTo>
                    <a:lnTo>
                      <a:pt x="26" y="3"/>
                    </a:lnTo>
                    <a:lnTo>
                      <a:pt x="13" y="9"/>
                    </a:lnTo>
                    <a:lnTo>
                      <a:pt x="0" y="18"/>
                    </a:lnTo>
                    <a:lnTo>
                      <a:pt x="20" y="43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6" name="Freeform 191">
                <a:extLst>
                  <a:ext uri="{FF2B5EF4-FFF2-40B4-BE49-F238E27FC236}">
                    <a16:creationId xmlns:a16="http://schemas.microsoft.com/office/drawing/2014/main" id="{CBD91DC7-63A9-4F60-B708-DBAA7CDD8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8"/>
                <a:ext cx="3" cy="8"/>
              </a:xfrm>
              <a:custGeom>
                <a:avLst/>
                <a:gdLst>
                  <a:gd name="T0" fmla="*/ 0 w 69"/>
                  <a:gd name="T1" fmla="*/ 0 h 129"/>
                  <a:gd name="T2" fmla="*/ 0 w 69"/>
                  <a:gd name="T3" fmla="*/ 0 h 129"/>
                  <a:gd name="T4" fmla="*/ 0 w 69"/>
                  <a:gd name="T5" fmla="*/ 0 h 129"/>
                  <a:gd name="T6" fmla="*/ 0 w 69"/>
                  <a:gd name="T7" fmla="*/ 0 h 129"/>
                  <a:gd name="T8" fmla="*/ 0 w 69"/>
                  <a:gd name="T9" fmla="*/ 0 h 129"/>
                  <a:gd name="T10" fmla="*/ 0 w 69"/>
                  <a:gd name="T11" fmla="*/ 0 h 129"/>
                  <a:gd name="T12" fmla="*/ 0 w 69"/>
                  <a:gd name="T13" fmla="*/ 0 h 129"/>
                  <a:gd name="T14" fmla="*/ 0 w 69"/>
                  <a:gd name="T15" fmla="*/ 0 h 129"/>
                  <a:gd name="T16" fmla="*/ 0 w 69"/>
                  <a:gd name="T17" fmla="*/ 0 h 129"/>
                  <a:gd name="T18" fmla="*/ 0 w 69"/>
                  <a:gd name="T19" fmla="*/ 0 h 129"/>
                  <a:gd name="T20" fmla="*/ 0 w 69"/>
                  <a:gd name="T21" fmla="*/ 0 h 129"/>
                  <a:gd name="T22" fmla="*/ 0 w 69"/>
                  <a:gd name="T23" fmla="*/ 0 h 129"/>
                  <a:gd name="T24" fmla="*/ 0 w 69"/>
                  <a:gd name="T25" fmla="*/ 0 h 129"/>
                  <a:gd name="T26" fmla="*/ 0 w 69"/>
                  <a:gd name="T27" fmla="*/ 0 h 129"/>
                  <a:gd name="T28" fmla="*/ 0 w 69"/>
                  <a:gd name="T29" fmla="*/ 0 h 129"/>
                  <a:gd name="T30" fmla="*/ 0 w 69"/>
                  <a:gd name="T31" fmla="*/ 0 h 129"/>
                  <a:gd name="T32" fmla="*/ 0 w 69"/>
                  <a:gd name="T33" fmla="*/ 0 h 129"/>
                  <a:gd name="T34" fmla="*/ 0 w 69"/>
                  <a:gd name="T35" fmla="*/ 0 h 129"/>
                  <a:gd name="T36" fmla="*/ 0 w 69"/>
                  <a:gd name="T37" fmla="*/ 0 h 129"/>
                  <a:gd name="T38" fmla="*/ 0 w 69"/>
                  <a:gd name="T39" fmla="*/ 0 h 129"/>
                  <a:gd name="T40" fmla="*/ 0 w 69"/>
                  <a:gd name="T41" fmla="*/ 0 h 1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29"/>
                  <a:gd name="T65" fmla="*/ 69 w 69"/>
                  <a:gd name="T66" fmla="*/ 129 h 1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29">
                    <a:moveTo>
                      <a:pt x="36" y="112"/>
                    </a:moveTo>
                    <a:lnTo>
                      <a:pt x="36" y="112"/>
                    </a:lnTo>
                    <a:lnTo>
                      <a:pt x="33" y="104"/>
                    </a:lnTo>
                    <a:lnTo>
                      <a:pt x="32" y="95"/>
                    </a:lnTo>
                    <a:lnTo>
                      <a:pt x="34" y="83"/>
                    </a:lnTo>
                    <a:lnTo>
                      <a:pt x="38" y="69"/>
                    </a:lnTo>
                    <a:lnTo>
                      <a:pt x="44" y="58"/>
                    </a:lnTo>
                    <a:lnTo>
                      <a:pt x="52" y="44"/>
                    </a:lnTo>
                    <a:lnTo>
                      <a:pt x="60" y="34"/>
                    </a:lnTo>
                    <a:lnTo>
                      <a:pt x="69" y="25"/>
                    </a:lnTo>
                    <a:lnTo>
                      <a:pt x="49" y="0"/>
                    </a:lnTo>
                    <a:lnTo>
                      <a:pt x="37" y="11"/>
                    </a:lnTo>
                    <a:lnTo>
                      <a:pt x="25" y="25"/>
                    </a:lnTo>
                    <a:lnTo>
                      <a:pt x="16" y="41"/>
                    </a:lnTo>
                    <a:lnTo>
                      <a:pt x="8" y="57"/>
                    </a:lnTo>
                    <a:lnTo>
                      <a:pt x="2" y="75"/>
                    </a:lnTo>
                    <a:lnTo>
                      <a:pt x="0" y="92"/>
                    </a:lnTo>
                    <a:lnTo>
                      <a:pt x="1" y="112"/>
                    </a:lnTo>
                    <a:lnTo>
                      <a:pt x="8" y="129"/>
                    </a:lnTo>
                    <a:lnTo>
                      <a:pt x="36" y="1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7" name="Freeform 192">
                <a:extLst>
                  <a:ext uri="{FF2B5EF4-FFF2-40B4-BE49-F238E27FC236}">
                    <a16:creationId xmlns:a16="http://schemas.microsoft.com/office/drawing/2014/main" id="{8ADAF8A8-B78C-4730-8EEB-86468A340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95"/>
                <a:ext cx="5" cy="4"/>
              </a:xfrm>
              <a:custGeom>
                <a:avLst/>
                <a:gdLst>
                  <a:gd name="T0" fmla="*/ 0 w 117"/>
                  <a:gd name="T1" fmla="*/ 0 h 76"/>
                  <a:gd name="T2" fmla="*/ 0 w 117"/>
                  <a:gd name="T3" fmla="*/ 0 h 76"/>
                  <a:gd name="T4" fmla="*/ 0 w 117"/>
                  <a:gd name="T5" fmla="*/ 0 h 76"/>
                  <a:gd name="T6" fmla="*/ 0 w 117"/>
                  <a:gd name="T7" fmla="*/ 0 h 76"/>
                  <a:gd name="T8" fmla="*/ 0 w 117"/>
                  <a:gd name="T9" fmla="*/ 0 h 76"/>
                  <a:gd name="T10" fmla="*/ 0 w 117"/>
                  <a:gd name="T11" fmla="*/ 0 h 76"/>
                  <a:gd name="T12" fmla="*/ 0 w 117"/>
                  <a:gd name="T13" fmla="*/ 0 h 76"/>
                  <a:gd name="T14" fmla="*/ 0 w 117"/>
                  <a:gd name="T15" fmla="*/ 0 h 76"/>
                  <a:gd name="T16" fmla="*/ 0 w 117"/>
                  <a:gd name="T17" fmla="*/ 0 h 76"/>
                  <a:gd name="T18" fmla="*/ 0 w 117"/>
                  <a:gd name="T19" fmla="*/ 0 h 76"/>
                  <a:gd name="T20" fmla="*/ 0 w 117"/>
                  <a:gd name="T21" fmla="*/ 0 h 76"/>
                  <a:gd name="T22" fmla="*/ 0 w 117"/>
                  <a:gd name="T23" fmla="*/ 0 h 76"/>
                  <a:gd name="T24" fmla="*/ 0 w 117"/>
                  <a:gd name="T25" fmla="*/ 0 h 76"/>
                  <a:gd name="T26" fmla="*/ 0 w 117"/>
                  <a:gd name="T27" fmla="*/ 0 h 76"/>
                  <a:gd name="T28" fmla="*/ 0 w 117"/>
                  <a:gd name="T29" fmla="*/ 0 h 76"/>
                  <a:gd name="T30" fmla="*/ 0 w 117"/>
                  <a:gd name="T31" fmla="*/ 0 h 76"/>
                  <a:gd name="T32" fmla="*/ 0 w 117"/>
                  <a:gd name="T33" fmla="*/ 0 h 76"/>
                  <a:gd name="T34" fmla="*/ 0 w 117"/>
                  <a:gd name="T35" fmla="*/ 0 h 76"/>
                  <a:gd name="T36" fmla="*/ 0 w 117"/>
                  <a:gd name="T37" fmla="*/ 0 h 76"/>
                  <a:gd name="T38" fmla="*/ 0 w 117"/>
                  <a:gd name="T39" fmla="*/ 0 h 76"/>
                  <a:gd name="T40" fmla="*/ 0 w 117"/>
                  <a:gd name="T41" fmla="*/ 0 h 7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6"/>
                  <a:gd name="T65" fmla="*/ 117 w 117"/>
                  <a:gd name="T66" fmla="*/ 76 h 7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6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3" y="43"/>
                    </a:lnTo>
                    <a:lnTo>
                      <a:pt x="72" y="42"/>
                    </a:lnTo>
                    <a:lnTo>
                      <a:pt x="62" y="36"/>
                    </a:lnTo>
                    <a:lnTo>
                      <a:pt x="52" y="30"/>
                    </a:lnTo>
                    <a:lnTo>
                      <a:pt x="43" y="23"/>
                    </a:lnTo>
                    <a:lnTo>
                      <a:pt x="35" y="13"/>
                    </a:lnTo>
                    <a:lnTo>
                      <a:pt x="28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0" y="46"/>
                    </a:lnTo>
                    <a:lnTo>
                      <a:pt x="33" y="57"/>
                    </a:lnTo>
                    <a:lnTo>
                      <a:pt x="48" y="66"/>
                    </a:lnTo>
                    <a:lnTo>
                      <a:pt x="64" y="73"/>
                    </a:lnTo>
                    <a:lnTo>
                      <a:pt x="81" y="76"/>
                    </a:lnTo>
                    <a:lnTo>
                      <a:pt x="98" y="76"/>
                    </a:lnTo>
                    <a:lnTo>
                      <a:pt x="117" y="72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8" name="Freeform 193">
                <a:extLst>
                  <a:ext uri="{FF2B5EF4-FFF2-40B4-BE49-F238E27FC236}">
                    <a16:creationId xmlns:a16="http://schemas.microsoft.com/office/drawing/2014/main" id="{B96AC155-F500-43C8-AC05-EA42B8DA0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4"/>
                <a:ext cx="4" cy="5"/>
              </a:xfrm>
              <a:custGeom>
                <a:avLst/>
                <a:gdLst>
                  <a:gd name="T0" fmla="*/ 0 w 79"/>
                  <a:gd name="T1" fmla="*/ 0 h 88"/>
                  <a:gd name="T2" fmla="*/ 0 w 79"/>
                  <a:gd name="T3" fmla="*/ 0 h 88"/>
                  <a:gd name="T4" fmla="*/ 0 w 79"/>
                  <a:gd name="T5" fmla="*/ 0 h 88"/>
                  <a:gd name="T6" fmla="*/ 0 w 79"/>
                  <a:gd name="T7" fmla="*/ 0 h 88"/>
                  <a:gd name="T8" fmla="*/ 0 w 79"/>
                  <a:gd name="T9" fmla="*/ 0 h 88"/>
                  <a:gd name="T10" fmla="*/ 0 w 79"/>
                  <a:gd name="T11" fmla="*/ 0 h 88"/>
                  <a:gd name="T12" fmla="*/ 0 w 79"/>
                  <a:gd name="T13" fmla="*/ 0 h 88"/>
                  <a:gd name="T14" fmla="*/ 0 w 79"/>
                  <a:gd name="T15" fmla="*/ 0 h 88"/>
                  <a:gd name="T16" fmla="*/ 0 w 79"/>
                  <a:gd name="T17" fmla="*/ 0 h 88"/>
                  <a:gd name="T18" fmla="*/ 0 w 79"/>
                  <a:gd name="T19" fmla="*/ 0 h 88"/>
                  <a:gd name="T20" fmla="*/ 0 w 79"/>
                  <a:gd name="T21" fmla="*/ 0 h 88"/>
                  <a:gd name="T22" fmla="*/ 0 w 79"/>
                  <a:gd name="T23" fmla="*/ 0 h 88"/>
                  <a:gd name="T24" fmla="*/ 0 w 79"/>
                  <a:gd name="T25" fmla="*/ 0 h 88"/>
                  <a:gd name="T26" fmla="*/ 0 w 79"/>
                  <a:gd name="T27" fmla="*/ 0 h 88"/>
                  <a:gd name="T28" fmla="*/ 0 w 79"/>
                  <a:gd name="T29" fmla="*/ 0 h 88"/>
                  <a:gd name="T30" fmla="*/ 0 w 79"/>
                  <a:gd name="T31" fmla="*/ 0 h 88"/>
                  <a:gd name="T32" fmla="*/ 0 w 79"/>
                  <a:gd name="T33" fmla="*/ 0 h 88"/>
                  <a:gd name="T34" fmla="*/ 0 w 79"/>
                  <a:gd name="T35" fmla="*/ 0 h 88"/>
                  <a:gd name="T36" fmla="*/ 0 w 79"/>
                  <a:gd name="T37" fmla="*/ 0 h 8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9"/>
                  <a:gd name="T58" fmla="*/ 0 h 88"/>
                  <a:gd name="T59" fmla="*/ 79 w 79"/>
                  <a:gd name="T60" fmla="*/ 88 h 8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9" h="88">
                    <a:moveTo>
                      <a:pt x="47" y="0"/>
                    </a:moveTo>
                    <a:lnTo>
                      <a:pt x="46" y="8"/>
                    </a:lnTo>
                    <a:lnTo>
                      <a:pt x="44" y="15"/>
                    </a:lnTo>
                    <a:lnTo>
                      <a:pt x="40" y="24"/>
                    </a:lnTo>
                    <a:lnTo>
                      <a:pt x="35" y="32"/>
                    </a:lnTo>
                    <a:lnTo>
                      <a:pt x="28" y="39"/>
                    </a:lnTo>
                    <a:lnTo>
                      <a:pt x="21" y="46"/>
                    </a:lnTo>
                    <a:lnTo>
                      <a:pt x="11" y="52"/>
                    </a:lnTo>
                    <a:lnTo>
                      <a:pt x="0" y="57"/>
                    </a:lnTo>
                    <a:lnTo>
                      <a:pt x="10" y="88"/>
                    </a:lnTo>
                    <a:lnTo>
                      <a:pt x="25" y="82"/>
                    </a:lnTo>
                    <a:lnTo>
                      <a:pt x="40" y="73"/>
                    </a:lnTo>
                    <a:lnTo>
                      <a:pt x="51" y="64"/>
                    </a:lnTo>
                    <a:lnTo>
                      <a:pt x="61" y="53"/>
                    </a:lnTo>
                    <a:lnTo>
                      <a:pt x="68" y="41"/>
                    </a:lnTo>
                    <a:lnTo>
                      <a:pt x="74" y="28"/>
                    </a:lnTo>
                    <a:lnTo>
                      <a:pt x="78" y="14"/>
                    </a:lnTo>
                    <a:lnTo>
                      <a:pt x="79" y="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29" name="Freeform 194">
                <a:extLst>
                  <a:ext uri="{FF2B5EF4-FFF2-40B4-BE49-F238E27FC236}">
                    <a16:creationId xmlns:a16="http://schemas.microsoft.com/office/drawing/2014/main" id="{4916DDCD-7656-4CD8-9FE0-9EF3DD3AB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7"/>
                <a:ext cx="2" cy="1"/>
              </a:xfrm>
              <a:custGeom>
                <a:avLst/>
                <a:gdLst>
                  <a:gd name="T0" fmla="*/ 0 w 32"/>
                  <a:gd name="T1" fmla="*/ 0 h 18"/>
                  <a:gd name="T2" fmla="*/ 0 w 32"/>
                  <a:gd name="T3" fmla="*/ 0 h 18"/>
                  <a:gd name="T4" fmla="*/ 0 w 32"/>
                  <a:gd name="T5" fmla="*/ 0 h 18"/>
                  <a:gd name="T6" fmla="*/ 0 w 32"/>
                  <a:gd name="T7" fmla="*/ 0 h 18"/>
                  <a:gd name="T8" fmla="*/ 0 w 32"/>
                  <a:gd name="T9" fmla="*/ 0 h 18"/>
                  <a:gd name="T10" fmla="*/ 0 w 32"/>
                  <a:gd name="T11" fmla="*/ 0 h 18"/>
                  <a:gd name="T12" fmla="*/ 0 w 32"/>
                  <a:gd name="T13" fmla="*/ 0 h 18"/>
                  <a:gd name="T14" fmla="*/ 0 w 32"/>
                  <a:gd name="T15" fmla="*/ 0 h 18"/>
                  <a:gd name="T16" fmla="*/ 0 w 32"/>
                  <a:gd name="T17" fmla="*/ 0 h 18"/>
                  <a:gd name="T18" fmla="*/ 0 w 32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8"/>
                  <a:gd name="T32" fmla="*/ 32 w 32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8">
                    <a:moveTo>
                      <a:pt x="32" y="18"/>
                    </a:moveTo>
                    <a:lnTo>
                      <a:pt x="31" y="11"/>
                    </a:lnTo>
                    <a:lnTo>
                      <a:pt x="28" y="6"/>
                    </a:lnTo>
                    <a:lnTo>
                      <a:pt x="23" y="3"/>
                    </a:lnTo>
                    <a:lnTo>
                      <a:pt x="17" y="0"/>
                    </a:lnTo>
                    <a:lnTo>
                      <a:pt x="11" y="2"/>
                    </a:lnTo>
                    <a:lnTo>
                      <a:pt x="6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32" y="18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0" name="Freeform 195">
                <a:extLst>
                  <a:ext uri="{FF2B5EF4-FFF2-40B4-BE49-F238E27FC236}">
                    <a16:creationId xmlns:a16="http://schemas.microsoft.com/office/drawing/2014/main" id="{9BFAE54C-9E34-450B-9468-FF37016052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4"/>
                <a:ext cx="1" cy="2"/>
              </a:xfrm>
              <a:custGeom>
                <a:avLst/>
                <a:gdLst>
                  <a:gd name="T0" fmla="*/ 0 w 22"/>
                  <a:gd name="T1" fmla="*/ 0 h 32"/>
                  <a:gd name="T2" fmla="*/ 0 w 22"/>
                  <a:gd name="T3" fmla="*/ 0 h 32"/>
                  <a:gd name="T4" fmla="*/ 0 w 22"/>
                  <a:gd name="T5" fmla="*/ 0 h 32"/>
                  <a:gd name="T6" fmla="*/ 0 w 22"/>
                  <a:gd name="T7" fmla="*/ 0 h 32"/>
                  <a:gd name="T8" fmla="*/ 0 w 22"/>
                  <a:gd name="T9" fmla="*/ 0 h 32"/>
                  <a:gd name="T10" fmla="*/ 0 w 22"/>
                  <a:gd name="T11" fmla="*/ 0 h 32"/>
                  <a:gd name="T12" fmla="*/ 0 w 22"/>
                  <a:gd name="T13" fmla="*/ 0 h 32"/>
                  <a:gd name="T14" fmla="*/ 0 w 22"/>
                  <a:gd name="T15" fmla="*/ 0 h 32"/>
                  <a:gd name="T16" fmla="*/ 0 w 22"/>
                  <a:gd name="T17" fmla="*/ 0 h 32"/>
                  <a:gd name="T18" fmla="*/ 0 w 22"/>
                  <a:gd name="T19" fmla="*/ 0 h 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"/>
                  <a:gd name="T31" fmla="*/ 0 h 32"/>
                  <a:gd name="T32" fmla="*/ 22 w 22"/>
                  <a:gd name="T33" fmla="*/ 32 h 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" h="32">
                    <a:moveTo>
                      <a:pt x="12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9" y="30"/>
                    </a:lnTo>
                    <a:lnTo>
                      <a:pt x="15" y="32"/>
                    </a:lnTo>
                    <a:lnTo>
                      <a:pt x="22" y="3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1" name="Freeform 196">
                <a:extLst>
                  <a:ext uri="{FF2B5EF4-FFF2-40B4-BE49-F238E27FC236}">
                    <a16:creationId xmlns:a16="http://schemas.microsoft.com/office/drawing/2014/main" id="{E88BA134-76F1-40E5-A451-FFAD86E9F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0"/>
                <a:ext cx="4" cy="5"/>
              </a:xfrm>
              <a:custGeom>
                <a:avLst/>
                <a:gdLst>
                  <a:gd name="T0" fmla="*/ 0 w 74"/>
                  <a:gd name="T1" fmla="*/ 0 h 99"/>
                  <a:gd name="T2" fmla="*/ 0 w 74"/>
                  <a:gd name="T3" fmla="*/ 0 h 99"/>
                  <a:gd name="T4" fmla="*/ 0 w 74"/>
                  <a:gd name="T5" fmla="*/ 0 h 99"/>
                  <a:gd name="T6" fmla="*/ 0 w 74"/>
                  <a:gd name="T7" fmla="*/ 0 h 99"/>
                  <a:gd name="T8" fmla="*/ 0 w 74"/>
                  <a:gd name="T9" fmla="*/ 0 h 99"/>
                  <a:gd name="T10" fmla="*/ 0 w 74"/>
                  <a:gd name="T11" fmla="*/ 0 h 99"/>
                  <a:gd name="T12" fmla="*/ 0 w 74"/>
                  <a:gd name="T13" fmla="*/ 0 h 99"/>
                  <a:gd name="T14" fmla="*/ 0 w 74"/>
                  <a:gd name="T15" fmla="*/ 0 h 99"/>
                  <a:gd name="T16" fmla="*/ 0 w 74"/>
                  <a:gd name="T17" fmla="*/ 0 h 99"/>
                  <a:gd name="T18" fmla="*/ 0 w 74"/>
                  <a:gd name="T19" fmla="*/ 0 h 99"/>
                  <a:gd name="T20" fmla="*/ 0 w 74"/>
                  <a:gd name="T21" fmla="*/ 0 h 99"/>
                  <a:gd name="T22" fmla="*/ 0 w 74"/>
                  <a:gd name="T23" fmla="*/ 0 h 99"/>
                  <a:gd name="T24" fmla="*/ 0 w 74"/>
                  <a:gd name="T25" fmla="*/ 0 h 99"/>
                  <a:gd name="T26" fmla="*/ 0 w 74"/>
                  <a:gd name="T27" fmla="*/ 0 h 99"/>
                  <a:gd name="T28" fmla="*/ 0 w 74"/>
                  <a:gd name="T29" fmla="*/ 0 h 99"/>
                  <a:gd name="T30" fmla="*/ 0 w 74"/>
                  <a:gd name="T31" fmla="*/ 0 h 99"/>
                  <a:gd name="T32" fmla="*/ 0 w 74"/>
                  <a:gd name="T33" fmla="*/ 0 h 99"/>
                  <a:gd name="T34" fmla="*/ 0 w 74"/>
                  <a:gd name="T35" fmla="*/ 0 h 99"/>
                  <a:gd name="T36" fmla="*/ 0 w 74"/>
                  <a:gd name="T37" fmla="*/ 0 h 99"/>
                  <a:gd name="T38" fmla="*/ 0 w 74"/>
                  <a:gd name="T39" fmla="*/ 0 h 99"/>
                  <a:gd name="T40" fmla="*/ 0 w 74"/>
                  <a:gd name="T41" fmla="*/ 0 h 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4"/>
                  <a:gd name="T64" fmla="*/ 0 h 99"/>
                  <a:gd name="T65" fmla="*/ 74 w 74"/>
                  <a:gd name="T66" fmla="*/ 99 h 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4" h="99">
                    <a:moveTo>
                      <a:pt x="39" y="13"/>
                    </a:moveTo>
                    <a:lnTo>
                      <a:pt x="39" y="12"/>
                    </a:lnTo>
                    <a:lnTo>
                      <a:pt x="41" y="22"/>
                    </a:lnTo>
                    <a:lnTo>
                      <a:pt x="41" y="30"/>
                    </a:lnTo>
                    <a:lnTo>
                      <a:pt x="38" y="37"/>
                    </a:lnTo>
                    <a:lnTo>
                      <a:pt x="35" y="43"/>
                    </a:lnTo>
                    <a:lnTo>
                      <a:pt x="28" y="51"/>
                    </a:lnTo>
                    <a:lnTo>
                      <a:pt x="20" y="58"/>
                    </a:lnTo>
                    <a:lnTo>
                      <a:pt x="11" y="62"/>
                    </a:lnTo>
                    <a:lnTo>
                      <a:pt x="0" y="68"/>
                    </a:lnTo>
                    <a:lnTo>
                      <a:pt x="10" y="99"/>
                    </a:lnTo>
                    <a:lnTo>
                      <a:pt x="25" y="94"/>
                    </a:lnTo>
                    <a:lnTo>
                      <a:pt x="38" y="85"/>
                    </a:lnTo>
                    <a:lnTo>
                      <a:pt x="51" y="76"/>
                    </a:lnTo>
                    <a:lnTo>
                      <a:pt x="62" y="64"/>
                    </a:lnTo>
                    <a:lnTo>
                      <a:pt x="69" y="52"/>
                    </a:lnTo>
                    <a:lnTo>
                      <a:pt x="74" y="36"/>
                    </a:lnTo>
                    <a:lnTo>
                      <a:pt x="74" y="18"/>
                    </a:lnTo>
                    <a:lnTo>
                      <a:pt x="70" y="1"/>
                    </a:lnTo>
                    <a:lnTo>
                      <a:pt x="70" y="0"/>
                    </a:lnTo>
                    <a:lnTo>
                      <a:pt x="39" y="13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2" name="Freeform 197">
                <a:extLst>
                  <a:ext uri="{FF2B5EF4-FFF2-40B4-BE49-F238E27FC236}">
                    <a16:creationId xmlns:a16="http://schemas.microsoft.com/office/drawing/2014/main" id="{549DA692-34BD-4F8E-82E3-70E4FF8C0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88"/>
                <a:ext cx="5" cy="3"/>
              </a:xfrm>
              <a:custGeom>
                <a:avLst/>
                <a:gdLst>
                  <a:gd name="T0" fmla="*/ 0 w 108"/>
                  <a:gd name="T1" fmla="*/ 0 h 50"/>
                  <a:gd name="T2" fmla="*/ 0 w 108"/>
                  <a:gd name="T3" fmla="*/ 0 h 50"/>
                  <a:gd name="T4" fmla="*/ 0 w 108"/>
                  <a:gd name="T5" fmla="*/ 0 h 50"/>
                  <a:gd name="T6" fmla="*/ 0 w 108"/>
                  <a:gd name="T7" fmla="*/ 0 h 50"/>
                  <a:gd name="T8" fmla="*/ 0 w 108"/>
                  <a:gd name="T9" fmla="*/ 0 h 50"/>
                  <a:gd name="T10" fmla="*/ 0 w 108"/>
                  <a:gd name="T11" fmla="*/ 0 h 50"/>
                  <a:gd name="T12" fmla="*/ 0 w 108"/>
                  <a:gd name="T13" fmla="*/ 0 h 50"/>
                  <a:gd name="T14" fmla="*/ 0 w 108"/>
                  <a:gd name="T15" fmla="*/ 0 h 50"/>
                  <a:gd name="T16" fmla="*/ 0 w 108"/>
                  <a:gd name="T17" fmla="*/ 0 h 50"/>
                  <a:gd name="T18" fmla="*/ 0 w 108"/>
                  <a:gd name="T19" fmla="*/ 0 h 50"/>
                  <a:gd name="T20" fmla="*/ 0 w 108"/>
                  <a:gd name="T21" fmla="*/ 0 h 50"/>
                  <a:gd name="T22" fmla="*/ 0 w 108"/>
                  <a:gd name="T23" fmla="*/ 0 h 50"/>
                  <a:gd name="T24" fmla="*/ 0 w 108"/>
                  <a:gd name="T25" fmla="*/ 0 h 50"/>
                  <a:gd name="T26" fmla="*/ 0 w 108"/>
                  <a:gd name="T27" fmla="*/ 0 h 50"/>
                  <a:gd name="T28" fmla="*/ 0 w 108"/>
                  <a:gd name="T29" fmla="*/ 0 h 50"/>
                  <a:gd name="T30" fmla="*/ 0 w 108"/>
                  <a:gd name="T31" fmla="*/ 0 h 50"/>
                  <a:gd name="T32" fmla="*/ 0 w 108"/>
                  <a:gd name="T33" fmla="*/ 0 h 50"/>
                  <a:gd name="T34" fmla="*/ 0 w 108"/>
                  <a:gd name="T35" fmla="*/ 0 h 50"/>
                  <a:gd name="T36" fmla="*/ 0 w 108"/>
                  <a:gd name="T37" fmla="*/ 0 h 50"/>
                  <a:gd name="T38" fmla="*/ 0 w 108"/>
                  <a:gd name="T39" fmla="*/ 0 h 50"/>
                  <a:gd name="T40" fmla="*/ 0 w 108"/>
                  <a:gd name="T41" fmla="*/ 0 h 5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50"/>
                  <a:gd name="T65" fmla="*/ 108 w 108"/>
                  <a:gd name="T66" fmla="*/ 50 h 5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50">
                    <a:moveTo>
                      <a:pt x="20" y="44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7" y="35"/>
                    </a:lnTo>
                    <a:lnTo>
                      <a:pt x="46" y="34"/>
                    </a:lnTo>
                    <a:lnTo>
                      <a:pt x="54" y="34"/>
                    </a:lnTo>
                    <a:lnTo>
                      <a:pt x="61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50"/>
                    </a:lnTo>
                    <a:lnTo>
                      <a:pt x="108" y="37"/>
                    </a:lnTo>
                    <a:lnTo>
                      <a:pt x="99" y="22"/>
                    </a:lnTo>
                    <a:lnTo>
                      <a:pt x="88" y="12"/>
                    </a:lnTo>
                    <a:lnTo>
                      <a:pt x="73" y="4"/>
                    </a:lnTo>
                    <a:lnTo>
                      <a:pt x="58" y="0"/>
                    </a:lnTo>
                    <a:lnTo>
                      <a:pt x="42" y="0"/>
                    </a:lnTo>
                    <a:lnTo>
                      <a:pt x="26" y="3"/>
                    </a:lnTo>
                    <a:lnTo>
                      <a:pt x="13" y="10"/>
                    </a:lnTo>
                    <a:lnTo>
                      <a:pt x="0" y="18"/>
                    </a:lnTo>
                    <a:lnTo>
                      <a:pt x="0" y="17"/>
                    </a:lnTo>
                    <a:lnTo>
                      <a:pt x="20" y="4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3" name="Freeform 198">
                <a:extLst>
                  <a:ext uri="{FF2B5EF4-FFF2-40B4-BE49-F238E27FC236}">
                    <a16:creationId xmlns:a16="http://schemas.microsoft.com/office/drawing/2014/main" id="{2B7FB444-7ADC-4EB9-B764-198BF034C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9"/>
                <a:ext cx="4" cy="7"/>
              </a:xfrm>
              <a:custGeom>
                <a:avLst/>
                <a:gdLst>
                  <a:gd name="T0" fmla="*/ 0 w 69"/>
                  <a:gd name="T1" fmla="*/ 0 h 131"/>
                  <a:gd name="T2" fmla="*/ 0 w 69"/>
                  <a:gd name="T3" fmla="*/ 0 h 131"/>
                  <a:gd name="T4" fmla="*/ 0 w 69"/>
                  <a:gd name="T5" fmla="*/ 0 h 131"/>
                  <a:gd name="T6" fmla="*/ 0 w 69"/>
                  <a:gd name="T7" fmla="*/ 0 h 131"/>
                  <a:gd name="T8" fmla="*/ 0 w 69"/>
                  <a:gd name="T9" fmla="*/ 0 h 131"/>
                  <a:gd name="T10" fmla="*/ 0 w 69"/>
                  <a:gd name="T11" fmla="*/ 0 h 131"/>
                  <a:gd name="T12" fmla="*/ 0 w 69"/>
                  <a:gd name="T13" fmla="*/ 0 h 131"/>
                  <a:gd name="T14" fmla="*/ 0 w 69"/>
                  <a:gd name="T15" fmla="*/ 0 h 131"/>
                  <a:gd name="T16" fmla="*/ 0 w 69"/>
                  <a:gd name="T17" fmla="*/ 0 h 131"/>
                  <a:gd name="T18" fmla="*/ 0 w 69"/>
                  <a:gd name="T19" fmla="*/ 0 h 131"/>
                  <a:gd name="T20" fmla="*/ 0 w 69"/>
                  <a:gd name="T21" fmla="*/ 0 h 131"/>
                  <a:gd name="T22" fmla="*/ 0 w 69"/>
                  <a:gd name="T23" fmla="*/ 0 h 131"/>
                  <a:gd name="T24" fmla="*/ 0 w 69"/>
                  <a:gd name="T25" fmla="*/ 0 h 131"/>
                  <a:gd name="T26" fmla="*/ 0 w 69"/>
                  <a:gd name="T27" fmla="*/ 0 h 131"/>
                  <a:gd name="T28" fmla="*/ 0 w 69"/>
                  <a:gd name="T29" fmla="*/ 0 h 131"/>
                  <a:gd name="T30" fmla="*/ 0 w 69"/>
                  <a:gd name="T31" fmla="*/ 0 h 131"/>
                  <a:gd name="T32" fmla="*/ 0 w 69"/>
                  <a:gd name="T33" fmla="*/ 0 h 131"/>
                  <a:gd name="T34" fmla="*/ 0 w 69"/>
                  <a:gd name="T35" fmla="*/ 0 h 131"/>
                  <a:gd name="T36" fmla="*/ 0 w 69"/>
                  <a:gd name="T37" fmla="*/ 0 h 131"/>
                  <a:gd name="T38" fmla="*/ 0 w 69"/>
                  <a:gd name="T39" fmla="*/ 0 h 131"/>
                  <a:gd name="T40" fmla="*/ 0 w 69"/>
                  <a:gd name="T41" fmla="*/ 0 h 13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31"/>
                  <a:gd name="T65" fmla="*/ 69 w 69"/>
                  <a:gd name="T66" fmla="*/ 131 h 13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31">
                    <a:moveTo>
                      <a:pt x="36" y="114"/>
                    </a:moveTo>
                    <a:lnTo>
                      <a:pt x="36" y="114"/>
                    </a:lnTo>
                    <a:lnTo>
                      <a:pt x="34" y="107"/>
                    </a:lnTo>
                    <a:lnTo>
                      <a:pt x="33" y="96"/>
                    </a:lnTo>
                    <a:lnTo>
                      <a:pt x="35" y="83"/>
                    </a:lnTo>
                    <a:lnTo>
                      <a:pt x="38" y="72"/>
                    </a:lnTo>
                    <a:lnTo>
                      <a:pt x="44" y="59"/>
                    </a:lnTo>
                    <a:lnTo>
                      <a:pt x="52" y="46"/>
                    </a:lnTo>
                    <a:lnTo>
                      <a:pt x="60" y="36"/>
                    </a:lnTo>
                    <a:lnTo>
                      <a:pt x="69" y="27"/>
                    </a:lnTo>
                    <a:lnTo>
                      <a:pt x="49" y="0"/>
                    </a:lnTo>
                    <a:lnTo>
                      <a:pt x="36" y="13"/>
                    </a:lnTo>
                    <a:lnTo>
                      <a:pt x="25" y="27"/>
                    </a:lnTo>
                    <a:lnTo>
                      <a:pt x="15" y="42"/>
                    </a:lnTo>
                    <a:lnTo>
                      <a:pt x="7" y="59"/>
                    </a:lnTo>
                    <a:lnTo>
                      <a:pt x="2" y="77"/>
                    </a:lnTo>
                    <a:lnTo>
                      <a:pt x="0" y="94"/>
                    </a:lnTo>
                    <a:lnTo>
                      <a:pt x="1" y="113"/>
                    </a:lnTo>
                    <a:lnTo>
                      <a:pt x="7" y="131"/>
                    </a:lnTo>
                    <a:lnTo>
                      <a:pt x="36" y="11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4" name="Freeform 199">
                <a:extLst>
                  <a:ext uri="{FF2B5EF4-FFF2-40B4-BE49-F238E27FC236}">
                    <a16:creationId xmlns:a16="http://schemas.microsoft.com/office/drawing/2014/main" id="{8F7EA963-EB75-4C6D-B484-C3530CC1F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095"/>
                <a:ext cx="5" cy="4"/>
              </a:xfrm>
              <a:custGeom>
                <a:avLst/>
                <a:gdLst>
                  <a:gd name="T0" fmla="*/ 0 w 117"/>
                  <a:gd name="T1" fmla="*/ 0 h 77"/>
                  <a:gd name="T2" fmla="*/ 0 w 117"/>
                  <a:gd name="T3" fmla="*/ 0 h 77"/>
                  <a:gd name="T4" fmla="*/ 0 w 117"/>
                  <a:gd name="T5" fmla="*/ 0 h 77"/>
                  <a:gd name="T6" fmla="*/ 0 w 117"/>
                  <a:gd name="T7" fmla="*/ 0 h 77"/>
                  <a:gd name="T8" fmla="*/ 0 w 117"/>
                  <a:gd name="T9" fmla="*/ 0 h 77"/>
                  <a:gd name="T10" fmla="*/ 0 w 117"/>
                  <a:gd name="T11" fmla="*/ 0 h 77"/>
                  <a:gd name="T12" fmla="*/ 0 w 117"/>
                  <a:gd name="T13" fmla="*/ 0 h 77"/>
                  <a:gd name="T14" fmla="*/ 0 w 117"/>
                  <a:gd name="T15" fmla="*/ 0 h 77"/>
                  <a:gd name="T16" fmla="*/ 0 w 117"/>
                  <a:gd name="T17" fmla="*/ 0 h 77"/>
                  <a:gd name="T18" fmla="*/ 0 w 117"/>
                  <a:gd name="T19" fmla="*/ 0 h 77"/>
                  <a:gd name="T20" fmla="*/ 0 w 117"/>
                  <a:gd name="T21" fmla="*/ 0 h 77"/>
                  <a:gd name="T22" fmla="*/ 0 w 117"/>
                  <a:gd name="T23" fmla="*/ 0 h 77"/>
                  <a:gd name="T24" fmla="*/ 0 w 117"/>
                  <a:gd name="T25" fmla="*/ 0 h 77"/>
                  <a:gd name="T26" fmla="*/ 0 w 117"/>
                  <a:gd name="T27" fmla="*/ 0 h 77"/>
                  <a:gd name="T28" fmla="*/ 0 w 117"/>
                  <a:gd name="T29" fmla="*/ 0 h 77"/>
                  <a:gd name="T30" fmla="*/ 0 w 117"/>
                  <a:gd name="T31" fmla="*/ 0 h 77"/>
                  <a:gd name="T32" fmla="*/ 0 w 117"/>
                  <a:gd name="T33" fmla="*/ 0 h 77"/>
                  <a:gd name="T34" fmla="*/ 0 w 117"/>
                  <a:gd name="T35" fmla="*/ 0 h 77"/>
                  <a:gd name="T36" fmla="*/ 0 w 117"/>
                  <a:gd name="T37" fmla="*/ 0 h 77"/>
                  <a:gd name="T38" fmla="*/ 0 w 117"/>
                  <a:gd name="T39" fmla="*/ 0 h 77"/>
                  <a:gd name="T40" fmla="*/ 0 w 117"/>
                  <a:gd name="T41" fmla="*/ 0 h 7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7"/>
                  <a:gd name="T65" fmla="*/ 117 w 117"/>
                  <a:gd name="T66" fmla="*/ 77 h 7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7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5" y="43"/>
                    </a:lnTo>
                    <a:lnTo>
                      <a:pt x="75" y="41"/>
                    </a:lnTo>
                    <a:lnTo>
                      <a:pt x="63" y="37"/>
                    </a:lnTo>
                    <a:lnTo>
                      <a:pt x="54" y="29"/>
                    </a:lnTo>
                    <a:lnTo>
                      <a:pt x="44" y="22"/>
                    </a:lnTo>
                    <a:lnTo>
                      <a:pt x="36" y="13"/>
                    </a:lnTo>
                    <a:lnTo>
                      <a:pt x="29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1" y="45"/>
                    </a:lnTo>
                    <a:lnTo>
                      <a:pt x="34" y="57"/>
                    </a:lnTo>
                    <a:lnTo>
                      <a:pt x="49" y="66"/>
                    </a:lnTo>
                    <a:lnTo>
                      <a:pt x="64" y="73"/>
                    </a:lnTo>
                    <a:lnTo>
                      <a:pt x="81" y="77"/>
                    </a:lnTo>
                    <a:lnTo>
                      <a:pt x="98" y="77"/>
                    </a:lnTo>
                    <a:lnTo>
                      <a:pt x="117" y="73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5" name="Freeform 200">
                <a:extLst>
                  <a:ext uri="{FF2B5EF4-FFF2-40B4-BE49-F238E27FC236}">
                    <a16:creationId xmlns:a16="http://schemas.microsoft.com/office/drawing/2014/main" id="{CC869278-6603-421B-B9C1-AED0456C2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3094"/>
                <a:ext cx="3" cy="5"/>
              </a:xfrm>
              <a:custGeom>
                <a:avLst/>
                <a:gdLst>
                  <a:gd name="T0" fmla="*/ 0 w 81"/>
                  <a:gd name="T1" fmla="*/ 0 h 90"/>
                  <a:gd name="T2" fmla="*/ 0 w 81"/>
                  <a:gd name="T3" fmla="*/ 0 h 90"/>
                  <a:gd name="T4" fmla="*/ 0 w 81"/>
                  <a:gd name="T5" fmla="*/ 0 h 90"/>
                  <a:gd name="T6" fmla="*/ 0 w 81"/>
                  <a:gd name="T7" fmla="*/ 0 h 90"/>
                  <a:gd name="T8" fmla="*/ 0 w 81"/>
                  <a:gd name="T9" fmla="*/ 0 h 90"/>
                  <a:gd name="T10" fmla="*/ 0 w 81"/>
                  <a:gd name="T11" fmla="*/ 0 h 90"/>
                  <a:gd name="T12" fmla="*/ 0 w 81"/>
                  <a:gd name="T13" fmla="*/ 0 h 90"/>
                  <a:gd name="T14" fmla="*/ 0 w 81"/>
                  <a:gd name="T15" fmla="*/ 0 h 90"/>
                  <a:gd name="T16" fmla="*/ 0 w 81"/>
                  <a:gd name="T17" fmla="*/ 0 h 90"/>
                  <a:gd name="T18" fmla="*/ 0 w 81"/>
                  <a:gd name="T19" fmla="*/ 0 h 90"/>
                  <a:gd name="T20" fmla="*/ 0 w 81"/>
                  <a:gd name="T21" fmla="*/ 0 h 90"/>
                  <a:gd name="T22" fmla="*/ 0 w 81"/>
                  <a:gd name="T23" fmla="*/ 0 h 90"/>
                  <a:gd name="T24" fmla="*/ 0 w 81"/>
                  <a:gd name="T25" fmla="*/ 0 h 90"/>
                  <a:gd name="T26" fmla="*/ 0 w 81"/>
                  <a:gd name="T27" fmla="*/ 0 h 90"/>
                  <a:gd name="T28" fmla="*/ 0 w 81"/>
                  <a:gd name="T29" fmla="*/ 0 h 90"/>
                  <a:gd name="T30" fmla="*/ 0 w 81"/>
                  <a:gd name="T31" fmla="*/ 0 h 90"/>
                  <a:gd name="T32" fmla="*/ 0 w 81"/>
                  <a:gd name="T33" fmla="*/ 0 h 90"/>
                  <a:gd name="T34" fmla="*/ 0 w 81"/>
                  <a:gd name="T35" fmla="*/ 0 h 90"/>
                  <a:gd name="T36" fmla="*/ 0 w 81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90"/>
                  <a:gd name="T59" fmla="*/ 81 w 81"/>
                  <a:gd name="T60" fmla="*/ 90 h 9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90">
                    <a:moveTo>
                      <a:pt x="48" y="0"/>
                    </a:moveTo>
                    <a:lnTo>
                      <a:pt x="47" y="8"/>
                    </a:lnTo>
                    <a:lnTo>
                      <a:pt x="44" y="18"/>
                    </a:lnTo>
                    <a:lnTo>
                      <a:pt x="41" y="26"/>
                    </a:lnTo>
                    <a:lnTo>
                      <a:pt x="36" y="34"/>
                    </a:lnTo>
                    <a:lnTo>
                      <a:pt x="31" y="40"/>
                    </a:lnTo>
                    <a:lnTo>
                      <a:pt x="22" y="47"/>
                    </a:lnTo>
                    <a:lnTo>
                      <a:pt x="12" y="54"/>
                    </a:lnTo>
                    <a:lnTo>
                      <a:pt x="0" y="58"/>
                    </a:lnTo>
                    <a:lnTo>
                      <a:pt x="10" y="90"/>
                    </a:lnTo>
                    <a:lnTo>
                      <a:pt x="27" y="83"/>
                    </a:lnTo>
                    <a:lnTo>
                      <a:pt x="40" y="75"/>
                    </a:lnTo>
                    <a:lnTo>
                      <a:pt x="51" y="65"/>
                    </a:lnTo>
                    <a:lnTo>
                      <a:pt x="62" y="55"/>
                    </a:lnTo>
                    <a:lnTo>
                      <a:pt x="70" y="41"/>
                    </a:lnTo>
                    <a:lnTo>
                      <a:pt x="75" y="28"/>
                    </a:lnTo>
                    <a:lnTo>
                      <a:pt x="78" y="17"/>
                    </a:lnTo>
                    <a:lnTo>
                      <a:pt x="81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6" name="Freeform 201">
                <a:extLst>
                  <a:ext uri="{FF2B5EF4-FFF2-40B4-BE49-F238E27FC236}">
                    <a16:creationId xmlns:a16="http://schemas.microsoft.com/office/drawing/2014/main" id="{88B4B8F1-885D-408C-A015-BC45D72FD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7"/>
                <a:ext cx="2" cy="1"/>
              </a:xfrm>
              <a:custGeom>
                <a:avLst/>
                <a:gdLst>
                  <a:gd name="T0" fmla="*/ 0 w 33"/>
                  <a:gd name="T1" fmla="*/ 0 h 19"/>
                  <a:gd name="T2" fmla="*/ 0 w 33"/>
                  <a:gd name="T3" fmla="*/ 0 h 19"/>
                  <a:gd name="T4" fmla="*/ 0 w 33"/>
                  <a:gd name="T5" fmla="*/ 0 h 19"/>
                  <a:gd name="T6" fmla="*/ 0 w 33"/>
                  <a:gd name="T7" fmla="*/ 0 h 19"/>
                  <a:gd name="T8" fmla="*/ 0 w 33"/>
                  <a:gd name="T9" fmla="*/ 0 h 19"/>
                  <a:gd name="T10" fmla="*/ 0 w 33"/>
                  <a:gd name="T11" fmla="*/ 0 h 19"/>
                  <a:gd name="T12" fmla="*/ 0 w 33"/>
                  <a:gd name="T13" fmla="*/ 0 h 19"/>
                  <a:gd name="T14" fmla="*/ 0 w 33"/>
                  <a:gd name="T15" fmla="*/ 0 h 19"/>
                  <a:gd name="T16" fmla="*/ 0 w 33"/>
                  <a:gd name="T17" fmla="*/ 0 h 19"/>
                  <a:gd name="T18" fmla="*/ 0 w 33"/>
                  <a:gd name="T19" fmla="*/ 0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3"/>
                  <a:gd name="T31" fmla="*/ 0 h 19"/>
                  <a:gd name="T32" fmla="*/ 33 w 33"/>
                  <a:gd name="T33" fmla="*/ 19 h 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3" h="19">
                    <a:moveTo>
                      <a:pt x="33" y="19"/>
                    </a:moveTo>
                    <a:lnTo>
                      <a:pt x="32" y="12"/>
                    </a:lnTo>
                    <a:lnTo>
                      <a:pt x="28" y="6"/>
                    </a:lnTo>
                    <a:lnTo>
                      <a:pt x="23" y="2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6" y="3"/>
                    </a:lnTo>
                    <a:lnTo>
                      <a:pt x="2" y="7"/>
                    </a:lnTo>
                    <a:lnTo>
                      <a:pt x="0" y="15"/>
                    </a:lnTo>
                    <a:lnTo>
                      <a:pt x="33" y="19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7" name="Freeform 202">
                <a:extLst>
                  <a:ext uri="{FF2B5EF4-FFF2-40B4-BE49-F238E27FC236}">
                    <a16:creationId xmlns:a16="http://schemas.microsoft.com/office/drawing/2014/main" id="{C1295D24-7F05-4B07-9FC9-233AE2435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" y="3240"/>
                <a:ext cx="1" cy="1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5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8" name="Freeform 203">
                <a:extLst>
                  <a:ext uri="{FF2B5EF4-FFF2-40B4-BE49-F238E27FC236}">
                    <a16:creationId xmlns:a16="http://schemas.microsoft.com/office/drawing/2014/main" id="{F4C64F59-9356-4849-B318-4C9B12315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1"/>
                <a:ext cx="10" cy="20"/>
              </a:xfrm>
              <a:custGeom>
                <a:avLst/>
                <a:gdLst>
                  <a:gd name="T0" fmla="*/ 0 w 218"/>
                  <a:gd name="T1" fmla="*/ 0 h 365"/>
                  <a:gd name="T2" fmla="*/ 0 w 218"/>
                  <a:gd name="T3" fmla="*/ 0 h 365"/>
                  <a:gd name="T4" fmla="*/ 0 w 218"/>
                  <a:gd name="T5" fmla="*/ 0 h 365"/>
                  <a:gd name="T6" fmla="*/ 0 w 218"/>
                  <a:gd name="T7" fmla="*/ 0 h 365"/>
                  <a:gd name="T8" fmla="*/ 0 w 218"/>
                  <a:gd name="T9" fmla="*/ 0 h 365"/>
                  <a:gd name="T10" fmla="*/ 0 w 218"/>
                  <a:gd name="T11" fmla="*/ 0 h 365"/>
                  <a:gd name="T12" fmla="*/ 0 w 218"/>
                  <a:gd name="T13" fmla="*/ 0 h 365"/>
                  <a:gd name="T14" fmla="*/ 0 w 218"/>
                  <a:gd name="T15" fmla="*/ 0 h 365"/>
                  <a:gd name="T16" fmla="*/ 0 w 218"/>
                  <a:gd name="T17" fmla="*/ 0 h 365"/>
                  <a:gd name="T18" fmla="*/ 0 w 218"/>
                  <a:gd name="T19" fmla="*/ 0 h 365"/>
                  <a:gd name="T20" fmla="*/ 0 w 218"/>
                  <a:gd name="T21" fmla="*/ 0 h 365"/>
                  <a:gd name="T22" fmla="*/ 0 w 218"/>
                  <a:gd name="T23" fmla="*/ 0 h 365"/>
                  <a:gd name="T24" fmla="*/ 0 w 218"/>
                  <a:gd name="T25" fmla="*/ 0 h 365"/>
                  <a:gd name="T26" fmla="*/ 0 w 218"/>
                  <a:gd name="T27" fmla="*/ 0 h 365"/>
                  <a:gd name="T28" fmla="*/ 0 w 218"/>
                  <a:gd name="T29" fmla="*/ 0 h 365"/>
                  <a:gd name="T30" fmla="*/ 0 w 218"/>
                  <a:gd name="T31" fmla="*/ 0 h 365"/>
                  <a:gd name="T32" fmla="*/ 0 w 218"/>
                  <a:gd name="T33" fmla="*/ 0 h 365"/>
                  <a:gd name="T34" fmla="*/ 0 w 218"/>
                  <a:gd name="T35" fmla="*/ 0 h 365"/>
                  <a:gd name="T36" fmla="*/ 0 w 218"/>
                  <a:gd name="T37" fmla="*/ 0 h 365"/>
                  <a:gd name="T38" fmla="*/ 0 w 218"/>
                  <a:gd name="T39" fmla="*/ 0 h 365"/>
                  <a:gd name="T40" fmla="*/ 0 w 218"/>
                  <a:gd name="T41" fmla="*/ 0 h 365"/>
                  <a:gd name="T42" fmla="*/ 0 w 218"/>
                  <a:gd name="T43" fmla="*/ 0 h 365"/>
                  <a:gd name="T44" fmla="*/ 0 w 218"/>
                  <a:gd name="T45" fmla="*/ 0 h 365"/>
                  <a:gd name="T46" fmla="*/ 0 w 218"/>
                  <a:gd name="T47" fmla="*/ 0 h 365"/>
                  <a:gd name="T48" fmla="*/ 0 w 218"/>
                  <a:gd name="T49" fmla="*/ 0 h 365"/>
                  <a:gd name="T50" fmla="*/ 0 w 218"/>
                  <a:gd name="T51" fmla="*/ 0 h 365"/>
                  <a:gd name="T52" fmla="*/ 0 w 218"/>
                  <a:gd name="T53" fmla="*/ 0 h 365"/>
                  <a:gd name="T54" fmla="*/ 0 w 218"/>
                  <a:gd name="T55" fmla="*/ 0 h 365"/>
                  <a:gd name="T56" fmla="*/ 0 w 218"/>
                  <a:gd name="T57" fmla="*/ 0 h 365"/>
                  <a:gd name="T58" fmla="*/ 0 w 218"/>
                  <a:gd name="T59" fmla="*/ 0 h 365"/>
                  <a:gd name="T60" fmla="*/ 0 w 218"/>
                  <a:gd name="T61" fmla="*/ 0 h 365"/>
                  <a:gd name="T62" fmla="*/ 0 w 218"/>
                  <a:gd name="T63" fmla="*/ 0 h 365"/>
                  <a:gd name="T64" fmla="*/ 0 w 218"/>
                  <a:gd name="T65" fmla="*/ 0 h 365"/>
                  <a:gd name="T66" fmla="*/ 0 w 218"/>
                  <a:gd name="T67" fmla="*/ 0 h 365"/>
                  <a:gd name="T68" fmla="*/ 0 w 218"/>
                  <a:gd name="T69" fmla="*/ 0 h 365"/>
                  <a:gd name="T70" fmla="*/ 0 w 218"/>
                  <a:gd name="T71" fmla="*/ 0 h 365"/>
                  <a:gd name="T72" fmla="*/ 0 w 218"/>
                  <a:gd name="T73" fmla="*/ 0 h 3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18"/>
                  <a:gd name="T112" fmla="*/ 0 h 365"/>
                  <a:gd name="T113" fmla="*/ 218 w 218"/>
                  <a:gd name="T114" fmla="*/ 365 h 3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18" h="365">
                    <a:moveTo>
                      <a:pt x="0" y="0"/>
                    </a:moveTo>
                    <a:lnTo>
                      <a:pt x="0" y="0"/>
                    </a:lnTo>
                    <a:lnTo>
                      <a:pt x="1" y="29"/>
                    </a:lnTo>
                    <a:lnTo>
                      <a:pt x="3" y="56"/>
                    </a:lnTo>
                    <a:lnTo>
                      <a:pt x="8" y="84"/>
                    </a:lnTo>
                    <a:lnTo>
                      <a:pt x="15" y="110"/>
                    </a:lnTo>
                    <a:lnTo>
                      <a:pt x="22" y="135"/>
                    </a:lnTo>
                    <a:lnTo>
                      <a:pt x="31" y="162"/>
                    </a:lnTo>
                    <a:lnTo>
                      <a:pt x="41" y="187"/>
                    </a:lnTo>
                    <a:lnTo>
                      <a:pt x="55" y="211"/>
                    </a:lnTo>
                    <a:lnTo>
                      <a:pt x="68" y="235"/>
                    </a:lnTo>
                    <a:lnTo>
                      <a:pt x="84" y="258"/>
                    </a:lnTo>
                    <a:lnTo>
                      <a:pt x="102" y="278"/>
                    </a:lnTo>
                    <a:lnTo>
                      <a:pt x="119" y="298"/>
                    </a:lnTo>
                    <a:lnTo>
                      <a:pt x="138" y="317"/>
                    </a:lnTo>
                    <a:lnTo>
                      <a:pt x="159" y="335"/>
                    </a:lnTo>
                    <a:lnTo>
                      <a:pt x="180" y="352"/>
                    </a:lnTo>
                    <a:lnTo>
                      <a:pt x="204" y="365"/>
                    </a:lnTo>
                    <a:lnTo>
                      <a:pt x="218" y="340"/>
                    </a:lnTo>
                    <a:lnTo>
                      <a:pt x="196" y="326"/>
                    </a:lnTo>
                    <a:lnTo>
                      <a:pt x="177" y="311"/>
                    </a:lnTo>
                    <a:lnTo>
                      <a:pt x="157" y="296"/>
                    </a:lnTo>
                    <a:lnTo>
                      <a:pt x="139" y="277"/>
                    </a:lnTo>
                    <a:lnTo>
                      <a:pt x="122" y="259"/>
                    </a:lnTo>
                    <a:lnTo>
                      <a:pt x="107" y="239"/>
                    </a:lnTo>
                    <a:lnTo>
                      <a:pt x="92" y="218"/>
                    </a:lnTo>
                    <a:lnTo>
                      <a:pt x="79" y="197"/>
                    </a:lnTo>
                    <a:lnTo>
                      <a:pt x="68" y="174"/>
                    </a:lnTo>
                    <a:lnTo>
                      <a:pt x="58" y="151"/>
                    </a:lnTo>
                    <a:lnTo>
                      <a:pt x="49" y="127"/>
                    </a:lnTo>
                    <a:lnTo>
                      <a:pt x="41" y="102"/>
                    </a:lnTo>
                    <a:lnTo>
                      <a:pt x="36" y="77"/>
                    </a:lnTo>
                    <a:lnTo>
                      <a:pt x="31" y="52"/>
                    </a:lnTo>
                    <a:lnTo>
                      <a:pt x="29" y="27"/>
                    </a:lnTo>
                    <a:lnTo>
                      <a:pt x="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39" name="Freeform 204">
                <a:extLst>
                  <a:ext uri="{FF2B5EF4-FFF2-40B4-BE49-F238E27FC236}">
                    <a16:creationId xmlns:a16="http://schemas.microsoft.com/office/drawing/2014/main" id="{D5D0F536-48B0-4CB6-A02E-319E69327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16"/>
                <a:ext cx="2" cy="5"/>
              </a:xfrm>
              <a:custGeom>
                <a:avLst/>
                <a:gdLst>
                  <a:gd name="T0" fmla="*/ 0 w 37"/>
                  <a:gd name="T1" fmla="*/ 0 h 92"/>
                  <a:gd name="T2" fmla="*/ 0 w 37"/>
                  <a:gd name="T3" fmla="*/ 0 h 92"/>
                  <a:gd name="T4" fmla="*/ 0 w 37"/>
                  <a:gd name="T5" fmla="*/ 0 h 92"/>
                  <a:gd name="T6" fmla="*/ 0 w 37"/>
                  <a:gd name="T7" fmla="*/ 0 h 92"/>
                  <a:gd name="T8" fmla="*/ 0 w 37"/>
                  <a:gd name="T9" fmla="*/ 0 h 92"/>
                  <a:gd name="T10" fmla="*/ 0 w 37"/>
                  <a:gd name="T11" fmla="*/ 0 h 92"/>
                  <a:gd name="T12" fmla="*/ 0 w 37"/>
                  <a:gd name="T13" fmla="*/ 0 h 92"/>
                  <a:gd name="T14" fmla="*/ 0 w 37"/>
                  <a:gd name="T15" fmla="*/ 0 h 92"/>
                  <a:gd name="T16" fmla="*/ 0 w 37"/>
                  <a:gd name="T17" fmla="*/ 0 h 92"/>
                  <a:gd name="T18" fmla="*/ 0 w 37"/>
                  <a:gd name="T19" fmla="*/ 0 h 92"/>
                  <a:gd name="T20" fmla="*/ 0 w 37"/>
                  <a:gd name="T21" fmla="*/ 0 h 92"/>
                  <a:gd name="T22" fmla="*/ 0 w 37"/>
                  <a:gd name="T23" fmla="*/ 0 h 92"/>
                  <a:gd name="T24" fmla="*/ 0 w 37"/>
                  <a:gd name="T25" fmla="*/ 0 h 92"/>
                  <a:gd name="T26" fmla="*/ 0 w 37"/>
                  <a:gd name="T27" fmla="*/ 0 h 92"/>
                  <a:gd name="T28" fmla="*/ 0 w 37"/>
                  <a:gd name="T29" fmla="*/ 0 h 92"/>
                  <a:gd name="T30" fmla="*/ 0 w 37"/>
                  <a:gd name="T31" fmla="*/ 0 h 92"/>
                  <a:gd name="T32" fmla="*/ 0 w 37"/>
                  <a:gd name="T33" fmla="*/ 0 h 92"/>
                  <a:gd name="T34" fmla="*/ 0 w 37"/>
                  <a:gd name="T35" fmla="*/ 0 h 92"/>
                  <a:gd name="T36" fmla="*/ 0 w 37"/>
                  <a:gd name="T37" fmla="*/ 0 h 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7"/>
                  <a:gd name="T58" fmla="*/ 0 h 92"/>
                  <a:gd name="T59" fmla="*/ 37 w 37"/>
                  <a:gd name="T60" fmla="*/ 92 h 9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7" h="92">
                    <a:moveTo>
                      <a:pt x="9" y="0"/>
                    </a:moveTo>
                    <a:lnTo>
                      <a:pt x="7" y="10"/>
                    </a:lnTo>
                    <a:lnTo>
                      <a:pt x="5" y="23"/>
                    </a:lnTo>
                    <a:lnTo>
                      <a:pt x="4" y="33"/>
                    </a:lnTo>
                    <a:lnTo>
                      <a:pt x="2" y="45"/>
                    </a:lnTo>
                    <a:lnTo>
                      <a:pt x="1" y="58"/>
                    </a:lnTo>
                    <a:lnTo>
                      <a:pt x="1" y="69"/>
                    </a:lnTo>
                    <a:lnTo>
                      <a:pt x="0" y="80"/>
                    </a:lnTo>
                    <a:lnTo>
                      <a:pt x="0" y="92"/>
                    </a:lnTo>
                    <a:lnTo>
                      <a:pt x="28" y="92"/>
                    </a:lnTo>
                    <a:lnTo>
                      <a:pt x="28" y="82"/>
                    </a:lnTo>
                    <a:lnTo>
                      <a:pt x="29" y="71"/>
                    </a:lnTo>
                    <a:lnTo>
                      <a:pt x="29" y="60"/>
                    </a:lnTo>
                    <a:lnTo>
                      <a:pt x="30" y="49"/>
                    </a:lnTo>
                    <a:lnTo>
                      <a:pt x="32" y="38"/>
                    </a:lnTo>
                    <a:lnTo>
                      <a:pt x="33" y="27"/>
                    </a:lnTo>
                    <a:lnTo>
                      <a:pt x="35" y="17"/>
                    </a:lnTo>
                    <a:lnTo>
                      <a:pt x="37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0" name="Freeform 205">
                <a:extLst>
                  <a:ext uri="{FF2B5EF4-FFF2-40B4-BE49-F238E27FC236}">
                    <a16:creationId xmlns:a16="http://schemas.microsoft.com/office/drawing/2014/main" id="{756E5D3F-73A5-4D14-97F5-036777F1F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0"/>
                <a:ext cx="1" cy="1"/>
              </a:xfrm>
              <a:custGeom>
                <a:avLst/>
                <a:gdLst>
                  <a:gd name="T0" fmla="*/ 0 w 28"/>
                  <a:gd name="T1" fmla="*/ 0 h 18"/>
                  <a:gd name="T2" fmla="*/ 0 w 28"/>
                  <a:gd name="T3" fmla="*/ 0 h 18"/>
                  <a:gd name="T4" fmla="*/ 0 w 28"/>
                  <a:gd name="T5" fmla="*/ 0 h 18"/>
                  <a:gd name="T6" fmla="*/ 0 w 28"/>
                  <a:gd name="T7" fmla="*/ 0 h 18"/>
                  <a:gd name="T8" fmla="*/ 0 w 28"/>
                  <a:gd name="T9" fmla="*/ 0 h 18"/>
                  <a:gd name="T10" fmla="*/ 0 w 28"/>
                  <a:gd name="T11" fmla="*/ 0 h 18"/>
                  <a:gd name="T12" fmla="*/ 0 w 28"/>
                  <a:gd name="T13" fmla="*/ 0 h 18"/>
                  <a:gd name="T14" fmla="*/ 0 w 28"/>
                  <a:gd name="T15" fmla="*/ 0 h 18"/>
                  <a:gd name="T16" fmla="*/ 0 w 28"/>
                  <a:gd name="T17" fmla="*/ 0 h 18"/>
                  <a:gd name="T18" fmla="*/ 0 w 28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18"/>
                  <a:gd name="T32" fmla="*/ 28 w 28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18">
                    <a:moveTo>
                      <a:pt x="28" y="18"/>
                    </a:moveTo>
                    <a:lnTo>
                      <a:pt x="28" y="11"/>
                    </a:lnTo>
                    <a:lnTo>
                      <a:pt x="26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8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1" name="Freeform 206">
                <a:extLst>
                  <a:ext uri="{FF2B5EF4-FFF2-40B4-BE49-F238E27FC236}">
                    <a16:creationId xmlns:a16="http://schemas.microsoft.com/office/drawing/2014/main" id="{4A500FBB-A280-4CC9-8451-AF9C00B4E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233"/>
                <a:ext cx="1" cy="2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4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2" name="Freeform 207">
                <a:extLst>
                  <a:ext uri="{FF2B5EF4-FFF2-40B4-BE49-F238E27FC236}">
                    <a16:creationId xmlns:a16="http://schemas.microsoft.com/office/drawing/2014/main" id="{A299177E-C9EA-4B33-8DF2-4CAE25BE57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5" cy="11"/>
              </a:xfrm>
              <a:custGeom>
                <a:avLst/>
                <a:gdLst>
                  <a:gd name="T0" fmla="*/ 0 w 115"/>
                  <a:gd name="T1" fmla="*/ 0 h 181"/>
                  <a:gd name="T2" fmla="*/ 0 w 115"/>
                  <a:gd name="T3" fmla="*/ 0 h 181"/>
                  <a:gd name="T4" fmla="*/ 0 w 115"/>
                  <a:gd name="T5" fmla="*/ 0 h 181"/>
                  <a:gd name="T6" fmla="*/ 0 w 115"/>
                  <a:gd name="T7" fmla="*/ 0 h 181"/>
                  <a:gd name="T8" fmla="*/ 0 w 115"/>
                  <a:gd name="T9" fmla="*/ 0 h 181"/>
                  <a:gd name="T10" fmla="*/ 0 w 115"/>
                  <a:gd name="T11" fmla="*/ 0 h 181"/>
                  <a:gd name="T12" fmla="*/ 0 w 115"/>
                  <a:gd name="T13" fmla="*/ 0 h 181"/>
                  <a:gd name="T14" fmla="*/ 0 w 115"/>
                  <a:gd name="T15" fmla="*/ 0 h 181"/>
                  <a:gd name="T16" fmla="*/ 0 w 115"/>
                  <a:gd name="T17" fmla="*/ 0 h 181"/>
                  <a:gd name="T18" fmla="*/ 0 w 115"/>
                  <a:gd name="T19" fmla="*/ 0 h 181"/>
                  <a:gd name="T20" fmla="*/ 0 w 115"/>
                  <a:gd name="T21" fmla="*/ 0 h 181"/>
                  <a:gd name="T22" fmla="*/ 0 w 115"/>
                  <a:gd name="T23" fmla="*/ 0 h 181"/>
                  <a:gd name="T24" fmla="*/ 0 w 115"/>
                  <a:gd name="T25" fmla="*/ 0 h 181"/>
                  <a:gd name="T26" fmla="*/ 0 w 115"/>
                  <a:gd name="T27" fmla="*/ 0 h 181"/>
                  <a:gd name="T28" fmla="*/ 0 w 115"/>
                  <a:gd name="T29" fmla="*/ 0 h 181"/>
                  <a:gd name="T30" fmla="*/ 0 w 115"/>
                  <a:gd name="T31" fmla="*/ 0 h 181"/>
                  <a:gd name="T32" fmla="*/ 0 w 115"/>
                  <a:gd name="T33" fmla="*/ 0 h 181"/>
                  <a:gd name="T34" fmla="*/ 0 w 115"/>
                  <a:gd name="T35" fmla="*/ 0 h 181"/>
                  <a:gd name="T36" fmla="*/ 0 w 115"/>
                  <a:gd name="T37" fmla="*/ 0 h 181"/>
                  <a:gd name="T38" fmla="*/ 0 w 115"/>
                  <a:gd name="T39" fmla="*/ 0 h 181"/>
                  <a:gd name="T40" fmla="*/ 0 w 115"/>
                  <a:gd name="T41" fmla="*/ 0 h 181"/>
                  <a:gd name="T42" fmla="*/ 0 w 115"/>
                  <a:gd name="T43" fmla="*/ 0 h 181"/>
                  <a:gd name="T44" fmla="*/ 0 w 115"/>
                  <a:gd name="T45" fmla="*/ 0 h 181"/>
                  <a:gd name="T46" fmla="*/ 0 w 115"/>
                  <a:gd name="T47" fmla="*/ 0 h 181"/>
                  <a:gd name="T48" fmla="*/ 0 w 115"/>
                  <a:gd name="T49" fmla="*/ 0 h 181"/>
                  <a:gd name="T50" fmla="*/ 0 w 115"/>
                  <a:gd name="T51" fmla="*/ 0 h 181"/>
                  <a:gd name="T52" fmla="*/ 0 w 115"/>
                  <a:gd name="T53" fmla="*/ 0 h 181"/>
                  <a:gd name="T54" fmla="*/ 0 w 115"/>
                  <a:gd name="T55" fmla="*/ 0 h 181"/>
                  <a:gd name="T56" fmla="*/ 0 w 115"/>
                  <a:gd name="T57" fmla="*/ 0 h 181"/>
                  <a:gd name="T58" fmla="*/ 0 w 115"/>
                  <a:gd name="T59" fmla="*/ 0 h 181"/>
                  <a:gd name="T60" fmla="*/ 0 w 115"/>
                  <a:gd name="T61" fmla="*/ 0 h 181"/>
                  <a:gd name="T62" fmla="*/ 0 w 115"/>
                  <a:gd name="T63" fmla="*/ 0 h 181"/>
                  <a:gd name="T64" fmla="*/ 0 w 115"/>
                  <a:gd name="T65" fmla="*/ 0 h 181"/>
                  <a:gd name="T66" fmla="*/ 0 w 115"/>
                  <a:gd name="T67" fmla="*/ 0 h 181"/>
                  <a:gd name="T68" fmla="*/ 0 w 115"/>
                  <a:gd name="T69" fmla="*/ 0 h 181"/>
                  <a:gd name="T70" fmla="*/ 0 w 115"/>
                  <a:gd name="T71" fmla="*/ 0 h 181"/>
                  <a:gd name="T72" fmla="*/ 0 w 115"/>
                  <a:gd name="T73" fmla="*/ 0 h 18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5"/>
                  <a:gd name="T112" fmla="*/ 0 h 181"/>
                  <a:gd name="T113" fmla="*/ 115 w 115"/>
                  <a:gd name="T114" fmla="*/ 181 h 18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5" h="181">
                    <a:moveTo>
                      <a:pt x="0" y="0"/>
                    </a:moveTo>
                    <a:lnTo>
                      <a:pt x="0" y="0"/>
                    </a:lnTo>
                    <a:lnTo>
                      <a:pt x="0" y="13"/>
                    </a:lnTo>
                    <a:lnTo>
                      <a:pt x="2" y="27"/>
                    </a:lnTo>
                    <a:lnTo>
                      <a:pt x="4" y="40"/>
                    </a:lnTo>
                    <a:lnTo>
                      <a:pt x="7" y="53"/>
                    </a:lnTo>
                    <a:lnTo>
                      <a:pt x="11" y="68"/>
                    </a:lnTo>
                    <a:lnTo>
                      <a:pt x="15" y="80"/>
                    </a:lnTo>
                    <a:lnTo>
                      <a:pt x="21" y="92"/>
                    </a:lnTo>
                    <a:lnTo>
                      <a:pt x="28" y="104"/>
                    </a:lnTo>
                    <a:lnTo>
                      <a:pt x="34" y="116"/>
                    </a:lnTo>
                    <a:lnTo>
                      <a:pt x="42" y="126"/>
                    </a:lnTo>
                    <a:lnTo>
                      <a:pt x="50" y="138"/>
                    </a:lnTo>
                    <a:lnTo>
                      <a:pt x="59" y="147"/>
                    </a:lnTo>
                    <a:lnTo>
                      <a:pt x="68" y="157"/>
                    </a:lnTo>
                    <a:lnTo>
                      <a:pt x="80" y="165"/>
                    </a:lnTo>
                    <a:lnTo>
                      <a:pt x="90" y="173"/>
                    </a:lnTo>
                    <a:lnTo>
                      <a:pt x="101" y="181"/>
                    </a:lnTo>
                    <a:lnTo>
                      <a:pt x="115" y="156"/>
                    </a:lnTo>
                    <a:lnTo>
                      <a:pt x="106" y="149"/>
                    </a:lnTo>
                    <a:lnTo>
                      <a:pt x="96" y="142"/>
                    </a:lnTo>
                    <a:lnTo>
                      <a:pt x="87" y="136"/>
                    </a:lnTo>
                    <a:lnTo>
                      <a:pt x="80" y="126"/>
                    </a:lnTo>
                    <a:lnTo>
                      <a:pt x="70" y="119"/>
                    </a:lnTo>
                    <a:lnTo>
                      <a:pt x="64" y="109"/>
                    </a:lnTo>
                    <a:lnTo>
                      <a:pt x="58" y="101"/>
                    </a:lnTo>
                    <a:lnTo>
                      <a:pt x="52" y="89"/>
                    </a:lnTo>
                    <a:lnTo>
                      <a:pt x="46" y="80"/>
                    </a:lnTo>
                    <a:lnTo>
                      <a:pt x="42" y="69"/>
                    </a:lnTo>
                    <a:lnTo>
                      <a:pt x="38" y="58"/>
                    </a:lnTo>
                    <a:lnTo>
                      <a:pt x="34" y="47"/>
                    </a:lnTo>
                    <a:lnTo>
                      <a:pt x="33" y="35"/>
                    </a:lnTo>
                    <a:lnTo>
                      <a:pt x="31" y="23"/>
                    </a:lnTo>
                    <a:lnTo>
                      <a:pt x="29" y="11"/>
                    </a:lnTo>
                    <a:lnTo>
                      <a:pt x="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3" name="Freeform 208">
                <a:extLst>
                  <a:ext uri="{FF2B5EF4-FFF2-40B4-BE49-F238E27FC236}">
                    <a16:creationId xmlns:a16="http://schemas.microsoft.com/office/drawing/2014/main" id="{8ED5D321-557D-48CB-BB26-02233C9CA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2"/>
                <a:ext cx="1" cy="2"/>
              </a:xfrm>
              <a:custGeom>
                <a:avLst/>
                <a:gdLst>
                  <a:gd name="T0" fmla="*/ 0 w 33"/>
                  <a:gd name="T1" fmla="*/ 0 h 47"/>
                  <a:gd name="T2" fmla="*/ 0 w 33"/>
                  <a:gd name="T3" fmla="*/ 0 h 47"/>
                  <a:gd name="T4" fmla="*/ 0 w 33"/>
                  <a:gd name="T5" fmla="*/ 0 h 47"/>
                  <a:gd name="T6" fmla="*/ 0 w 33"/>
                  <a:gd name="T7" fmla="*/ 0 h 47"/>
                  <a:gd name="T8" fmla="*/ 0 w 33"/>
                  <a:gd name="T9" fmla="*/ 0 h 47"/>
                  <a:gd name="T10" fmla="*/ 0 w 33"/>
                  <a:gd name="T11" fmla="*/ 0 h 47"/>
                  <a:gd name="T12" fmla="*/ 0 w 33"/>
                  <a:gd name="T13" fmla="*/ 0 h 47"/>
                  <a:gd name="T14" fmla="*/ 0 w 33"/>
                  <a:gd name="T15" fmla="*/ 0 h 47"/>
                  <a:gd name="T16" fmla="*/ 0 w 33"/>
                  <a:gd name="T17" fmla="*/ 0 h 47"/>
                  <a:gd name="T18" fmla="*/ 0 w 33"/>
                  <a:gd name="T19" fmla="*/ 0 h 47"/>
                  <a:gd name="T20" fmla="*/ 0 w 33"/>
                  <a:gd name="T21" fmla="*/ 0 h 47"/>
                  <a:gd name="T22" fmla="*/ 0 w 33"/>
                  <a:gd name="T23" fmla="*/ 0 h 47"/>
                  <a:gd name="T24" fmla="*/ 0 w 33"/>
                  <a:gd name="T25" fmla="*/ 0 h 47"/>
                  <a:gd name="T26" fmla="*/ 0 w 33"/>
                  <a:gd name="T27" fmla="*/ 0 h 47"/>
                  <a:gd name="T28" fmla="*/ 0 w 33"/>
                  <a:gd name="T29" fmla="*/ 0 h 47"/>
                  <a:gd name="T30" fmla="*/ 0 w 33"/>
                  <a:gd name="T31" fmla="*/ 0 h 47"/>
                  <a:gd name="T32" fmla="*/ 0 w 33"/>
                  <a:gd name="T33" fmla="*/ 0 h 47"/>
                  <a:gd name="T34" fmla="*/ 0 w 33"/>
                  <a:gd name="T35" fmla="*/ 0 h 47"/>
                  <a:gd name="T36" fmla="*/ 0 w 33"/>
                  <a:gd name="T37" fmla="*/ 0 h 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"/>
                  <a:gd name="T58" fmla="*/ 0 h 47"/>
                  <a:gd name="T59" fmla="*/ 33 w 33"/>
                  <a:gd name="T60" fmla="*/ 47 h 4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" h="47">
                    <a:moveTo>
                      <a:pt x="4" y="0"/>
                    </a:moveTo>
                    <a:lnTo>
                      <a:pt x="3" y="6"/>
                    </a:lnTo>
                    <a:lnTo>
                      <a:pt x="2" y="11"/>
                    </a:lnTo>
                    <a:lnTo>
                      <a:pt x="1" y="18"/>
                    </a:lnTo>
                    <a:lnTo>
                      <a:pt x="1" y="23"/>
                    </a:lnTo>
                    <a:lnTo>
                      <a:pt x="0" y="30"/>
                    </a:lnTo>
                    <a:lnTo>
                      <a:pt x="0" y="36"/>
                    </a:lnTo>
                    <a:lnTo>
                      <a:pt x="0" y="41"/>
                    </a:lnTo>
                    <a:lnTo>
                      <a:pt x="0" y="47"/>
                    </a:lnTo>
                    <a:lnTo>
                      <a:pt x="29" y="47"/>
                    </a:lnTo>
                    <a:lnTo>
                      <a:pt x="29" y="41"/>
                    </a:lnTo>
                    <a:lnTo>
                      <a:pt x="29" y="36"/>
                    </a:lnTo>
                    <a:lnTo>
                      <a:pt x="29" y="32"/>
                    </a:lnTo>
                    <a:lnTo>
                      <a:pt x="30" y="26"/>
                    </a:lnTo>
                    <a:lnTo>
                      <a:pt x="30" y="20"/>
                    </a:lnTo>
                    <a:lnTo>
                      <a:pt x="31" y="17"/>
                    </a:lnTo>
                    <a:lnTo>
                      <a:pt x="32" y="12"/>
                    </a:lnTo>
                    <a:lnTo>
                      <a:pt x="33" y="7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4" name="Freeform 209">
                <a:extLst>
                  <a:ext uri="{FF2B5EF4-FFF2-40B4-BE49-F238E27FC236}">
                    <a16:creationId xmlns:a16="http://schemas.microsoft.com/office/drawing/2014/main" id="{EF574F9C-3682-466B-B82B-D6DCC26F3A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1" cy="1"/>
              </a:xfrm>
              <a:custGeom>
                <a:avLst/>
                <a:gdLst>
                  <a:gd name="T0" fmla="*/ 0 w 29"/>
                  <a:gd name="T1" fmla="*/ 0 h 18"/>
                  <a:gd name="T2" fmla="*/ 0 w 29"/>
                  <a:gd name="T3" fmla="*/ 0 h 18"/>
                  <a:gd name="T4" fmla="*/ 0 w 29"/>
                  <a:gd name="T5" fmla="*/ 0 h 18"/>
                  <a:gd name="T6" fmla="*/ 0 w 29"/>
                  <a:gd name="T7" fmla="*/ 0 h 18"/>
                  <a:gd name="T8" fmla="*/ 0 w 29"/>
                  <a:gd name="T9" fmla="*/ 0 h 18"/>
                  <a:gd name="T10" fmla="*/ 0 w 29"/>
                  <a:gd name="T11" fmla="*/ 0 h 18"/>
                  <a:gd name="T12" fmla="*/ 0 w 29"/>
                  <a:gd name="T13" fmla="*/ 0 h 18"/>
                  <a:gd name="T14" fmla="*/ 0 w 29"/>
                  <a:gd name="T15" fmla="*/ 0 h 18"/>
                  <a:gd name="T16" fmla="*/ 0 w 29"/>
                  <a:gd name="T17" fmla="*/ 0 h 18"/>
                  <a:gd name="T18" fmla="*/ 0 w 29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18"/>
                  <a:gd name="T32" fmla="*/ 29 w 29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18">
                    <a:moveTo>
                      <a:pt x="29" y="18"/>
                    </a:moveTo>
                    <a:lnTo>
                      <a:pt x="29" y="11"/>
                    </a:lnTo>
                    <a:lnTo>
                      <a:pt x="27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9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5" name="Freeform 210">
                <a:extLst>
                  <a:ext uri="{FF2B5EF4-FFF2-40B4-BE49-F238E27FC236}">
                    <a16:creationId xmlns:a16="http://schemas.microsoft.com/office/drawing/2014/main" id="{32542E81-01D2-4140-AD60-7F0A25E73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5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6" name="Freeform 211">
                <a:extLst>
                  <a:ext uri="{FF2B5EF4-FFF2-40B4-BE49-F238E27FC236}">
                    <a16:creationId xmlns:a16="http://schemas.microsoft.com/office/drawing/2014/main" id="{01F289FE-8127-4EA1-8BEE-0C34AE4ED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7" cy="15"/>
              </a:xfrm>
              <a:custGeom>
                <a:avLst/>
                <a:gdLst>
                  <a:gd name="T0" fmla="*/ 0 w 164"/>
                  <a:gd name="T1" fmla="*/ 0 h 274"/>
                  <a:gd name="T2" fmla="*/ 0 w 164"/>
                  <a:gd name="T3" fmla="*/ 0 h 274"/>
                  <a:gd name="T4" fmla="*/ 0 w 164"/>
                  <a:gd name="T5" fmla="*/ 0 h 274"/>
                  <a:gd name="T6" fmla="*/ 0 w 164"/>
                  <a:gd name="T7" fmla="*/ 0 h 274"/>
                  <a:gd name="T8" fmla="*/ 0 w 164"/>
                  <a:gd name="T9" fmla="*/ 0 h 274"/>
                  <a:gd name="T10" fmla="*/ 0 w 164"/>
                  <a:gd name="T11" fmla="*/ 0 h 274"/>
                  <a:gd name="T12" fmla="*/ 0 w 164"/>
                  <a:gd name="T13" fmla="*/ 0 h 274"/>
                  <a:gd name="T14" fmla="*/ 0 w 164"/>
                  <a:gd name="T15" fmla="*/ 0 h 274"/>
                  <a:gd name="T16" fmla="*/ 0 w 164"/>
                  <a:gd name="T17" fmla="*/ 0 h 274"/>
                  <a:gd name="T18" fmla="*/ 0 w 164"/>
                  <a:gd name="T19" fmla="*/ 0 h 274"/>
                  <a:gd name="T20" fmla="*/ 0 w 164"/>
                  <a:gd name="T21" fmla="*/ 0 h 274"/>
                  <a:gd name="T22" fmla="*/ 0 w 164"/>
                  <a:gd name="T23" fmla="*/ 0 h 274"/>
                  <a:gd name="T24" fmla="*/ 0 w 164"/>
                  <a:gd name="T25" fmla="*/ 0 h 274"/>
                  <a:gd name="T26" fmla="*/ 0 w 164"/>
                  <a:gd name="T27" fmla="*/ 0 h 274"/>
                  <a:gd name="T28" fmla="*/ 0 w 164"/>
                  <a:gd name="T29" fmla="*/ 0 h 274"/>
                  <a:gd name="T30" fmla="*/ 0 w 164"/>
                  <a:gd name="T31" fmla="*/ 0 h 274"/>
                  <a:gd name="T32" fmla="*/ 0 w 164"/>
                  <a:gd name="T33" fmla="*/ 0 h 274"/>
                  <a:gd name="T34" fmla="*/ 0 w 164"/>
                  <a:gd name="T35" fmla="*/ 0 h 274"/>
                  <a:gd name="T36" fmla="*/ 0 w 164"/>
                  <a:gd name="T37" fmla="*/ 0 h 274"/>
                  <a:gd name="T38" fmla="*/ 0 w 164"/>
                  <a:gd name="T39" fmla="*/ 0 h 274"/>
                  <a:gd name="T40" fmla="*/ 0 w 164"/>
                  <a:gd name="T41" fmla="*/ 0 h 274"/>
                  <a:gd name="T42" fmla="*/ 0 w 164"/>
                  <a:gd name="T43" fmla="*/ 0 h 274"/>
                  <a:gd name="T44" fmla="*/ 0 w 164"/>
                  <a:gd name="T45" fmla="*/ 0 h 274"/>
                  <a:gd name="T46" fmla="*/ 0 w 164"/>
                  <a:gd name="T47" fmla="*/ 0 h 274"/>
                  <a:gd name="T48" fmla="*/ 0 w 164"/>
                  <a:gd name="T49" fmla="*/ 0 h 274"/>
                  <a:gd name="T50" fmla="*/ 0 w 164"/>
                  <a:gd name="T51" fmla="*/ 0 h 274"/>
                  <a:gd name="T52" fmla="*/ 0 w 164"/>
                  <a:gd name="T53" fmla="*/ 0 h 274"/>
                  <a:gd name="T54" fmla="*/ 0 w 164"/>
                  <a:gd name="T55" fmla="*/ 0 h 274"/>
                  <a:gd name="T56" fmla="*/ 0 w 164"/>
                  <a:gd name="T57" fmla="*/ 0 h 274"/>
                  <a:gd name="T58" fmla="*/ 0 w 164"/>
                  <a:gd name="T59" fmla="*/ 0 h 274"/>
                  <a:gd name="T60" fmla="*/ 0 w 164"/>
                  <a:gd name="T61" fmla="*/ 0 h 274"/>
                  <a:gd name="T62" fmla="*/ 0 w 164"/>
                  <a:gd name="T63" fmla="*/ 0 h 274"/>
                  <a:gd name="T64" fmla="*/ 0 w 164"/>
                  <a:gd name="T65" fmla="*/ 0 h 274"/>
                  <a:gd name="T66" fmla="*/ 0 w 164"/>
                  <a:gd name="T67" fmla="*/ 0 h 274"/>
                  <a:gd name="T68" fmla="*/ 0 w 164"/>
                  <a:gd name="T69" fmla="*/ 0 h 274"/>
                  <a:gd name="T70" fmla="*/ 0 w 164"/>
                  <a:gd name="T71" fmla="*/ 0 h 274"/>
                  <a:gd name="T72" fmla="*/ 0 w 164"/>
                  <a:gd name="T73" fmla="*/ 0 h 27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4"/>
                  <a:gd name="T112" fmla="*/ 0 h 274"/>
                  <a:gd name="T113" fmla="*/ 164 w 164"/>
                  <a:gd name="T114" fmla="*/ 274 h 27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4" h="274">
                    <a:moveTo>
                      <a:pt x="164" y="274"/>
                    </a:moveTo>
                    <a:lnTo>
                      <a:pt x="164" y="274"/>
                    </a:lnTo>
                    <a:lnTo>
                      <a:pt x="162" y="253"/>
                    </a:lnTo>
                    <a:lnTo>
                      <a:pt x="160" y="233"/>
                    </a:lnTo>
                    <a:lnTo>
                      <a:pt x="157" y="211"/>
                    </a:lnTo>
                    <a:lnTo>
                      <a:pt x="153" y="190"/>
                    </a:lnTo>
                    <a:lnTo>
                      <a:pt x="147" y="170"/>
                    </a:lnTo>
                    <a:lnTo>
                      <a:pt x="139" y="152"/>
                    </a:lnTo>
                    <a:lnTo>
                      <a:pt x="130" y="135"/>
                    </a:lnTo>
                    <a:lnTo>
                      <a:pt x="122" y="116"/>
                    </a:lnTo>
                    <a:lnTo>
                      <a:pt x="112" y="98"/>
                    </a:lnTo>
                    <a:lnTo>
                      <a:pt x="100" y="82"/>
                    </a:lnTo>
                    <a:lnTo>
                      <a:pt x="87" y="65"/>
                    </a:lnTo>
                    <a:lnTo>
                      <a:pt x="73" y="50"/>
                    </a:lnTo>
                    <a:lnTo>
                      <a:pt x="59" y="35"/>
                    </a:lnTo>
                    <a:lnTo>
                      <a:pt x="43" y="23"/>
                    </a:lnTo>
                    <a:lnTo>
                      <a:pt x="27" y="10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5" y="29"/>
                    </a:lnTo>
                    <a:lnTo>
                      <a:pt x="30" y="40"/>
                    </a:lnTo>
                    <a:lnTo>
                      <a:pt x="45" y="52"/>
                    </a:lnTo>
                    <a:lnTo>
                      <a:pt x="59" y="65"/>
                    </a:lnTo>
                    <a:lnTo>
                      <a:pt x="71" y="80"/>
                    </a:lnTo>
                    <a:lnTo>
                      <a:pt x="83" y="94"/>
                    </a:lnTo>
                    <a:lnTo>
                      <a:pt x="94" y="110"/>
                    </a:lnTo>
                    <a:lnTo>
                      <a:pt x="104" y="126"/>
                    </a:lnTo>
                    <a:lnTo>
                      <a:pt x="112" y="143"/>
                    </a:lnTo>
                    <a:lnTo>
                      <a:pt x="119" y="161"/>
                    </a:lnTo>
                    <a:lnTo>
                      <a:pt x="126" y="179"/>
                    </a:lnTo>
                    <a:lnTo>
                      <a:pt x="132" y="197"/>
                    </a:lnTo>
                    <a:lnTo>
                      <a:pt x="136" y="216"/>
                    </a:lnTo>
                    <a:lnTo>
                      <a:pt x="139" y="235"/>
                    </a:lnTo>
                    <a:lnTo>
                      <a:pt x="141" y="255"/>
                    </a:lnTo>
                    <a:lnTo>
                      <a:pt x="141" y="274"/>
                    </a:lnTo>
                    <a:lnTo>
                      <a:pt x="164" y="2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7" name="Freeform 212">
                <a:extLst>
                  <a:ext uri="{FF2B5EF4-FFF2-40B4-BE49-F238E27FC236}">
                    <a16:creationId xmlns:a16="http://schemas.microsoft.com/office/drawing/2014/main" id="{A743D636-B5C7-45B4-9942-6EB11EE3F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4"/>
              </a:xfrm>
              <a:custGeom>
                <a:avLst/>
                <a:gdLst>
                  <a:gd name="T0" fmla="*/ 0 w 29"/>
                  <a:gd name="T1" fmla="*/ 0 h 68"/>
                  <a:gd name="T2" fmla="*/ 0 w 29"/>
                  <a:gd name="T3" fmla="*/ 0 h 68"/>
                  <a:gd name="T4" fmla="*/ 0 w 29"/>
                  <a:gd name="T5" fmla="*/ 0 h 68"/>
                  <a:gd name="T6" fmla="*/ 0 w 29"/>
                  <a:gd name="T7" fmla="*/ 0 h 68"/>
                  <a:gd name="T8" fmla="*/ 0 w 29"/>
                  <a:gd name="T9" fmla="*/ 0 h 68"/>
                  <a:gd name="T10" fmla="*/ 0 w 29"/>
                  <a:gd name="T11" fmla="*/ 0 h 68"/>
                  <a:gd name="T12" fmla="*/ 0 w 29"/>
                  <a:gd name="T13" fmla="*/ 0 h 68"/>
                  <a:gd name="T14" fmla="*/ 0 w 29"/>
                  <a:gd name="T15" fmla="*/ 0 h 68"/>
                  <a:gd name="T16" fmla="*/ 0 w 29"/>
                  <a:gd name="T17" fmla="*/ 0 h 68"/>
                  <a:gd name="T18" fmla="*/ 0 w 29"/>
                  <a:gd name="T19" fmla="*/ 0 h 68"/>
                  <a:gd name="T20" fmla="*/ 0 w 29"/>
                  <a:gd name="T21" fmla="*/ 0 h 68"/>
                  <a:gd name="T22" fmla="*/ 0 w 29"/>
                  <a:gd name="T23" fmla="*/ 0 h 68"/>
                  <a:gd name="T24" fmla="*/ 0 w 29"/>
                  <a:gd name="T25" fmla="*/ 0 h 68"/>
                  <a:gd name="T26" fmla="*/ 0 w 29"/>
                  <a:gd name="T27" fmla="*/ 0 h 68"/>
                  <a:gd name="T28" fmla="*/ 0 w 29"/>
                  <a:gd name="T29" fmla="*/ 0 h 68"/>
                  <a:gd name="T30" fmla="*/ 0 w 29"/>
                  <a:gd name="T31" fmla="*/ 0 h 68"/>
                  <a:gd name="T32" fmla="*/ 0 w 29"/>
                  <a:gd name="T33" fmla="*/ 0 h 68"/>
                  <a:gd name="T34" fmla="*/ 0 w 29"/>
                  <a:gd name="T35" fmla="*/ 0 h 68"/>
                  <a:gd name="T36" fmla="*/ 0 w 29"/>
                  <a:gd name="T37" fmla="*/ 0 h 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9"/>
                  <a:gd name="T58" fmla="*/ 0 h 68"/>
                  <a:gd name="T59" fmla="*/ 29 w 29"/>
                  <a:gd name="T60" fmla="*/ 68 h 6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9" h="68">
                    <a:moveTo>
                      <a:pt x="21" y="68"/>
                    </a:moveTo>
                    <a:lnTo>
                      <a:pt x="22" y="60"/>
                    </a:lnTo>
                    <a:lnTo>
                      <a:pt x="24" y="52"/>
                    </a:lnTo>
                    <a:lnTo>
                      <a:pt x="25" y="43"/>
                    </a:lnTo>
                    <a:lnTo>
                      <a:pt x="26" y="34"/>
                    </a:lnTo>
                    <a:lnTo>
                      <a:pt x="28" y="25"/>
                    </a:lnTo>
                    <a:lnTo>
                      <a:pt x="28" y="17"/>
                    </a:lnTo>
                    <a:lnTo>
                      <a:pt x="29" y="8"/>
                    </a:lnTo>
                    <a:lnTo>
                      <a:pt x="29" y="0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5" y="17"/>
                    </a:lnTo>
                    <a:lnTo>
                      <a:pt x="5" y="25"/>
                    </a:lnTo>
                    <a:lnTo>
                      <a:pt x="5" y="32"/>
                    </a:lnTo>
                    <a:lnTo>
                      <a:pt x="4" y="41"/>
                    </a:lnTo>
                    <a:lnTo>
                      <a:pt x="3" y="48"/>
                    </a:lnTo>
                    <a:lnTo>
                      <a:pt x="1" y="56"/>
                    </a:lnTo>
                    <a:lnTo>
                      <a:pt x="0" y="64"/>
                    </a:lnTo>
                    <a:lnTo>
                      <a:pt x="21" y="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8" name="Freeform 213">
                <a:extLst>
                  <a:ext uri="{FF2B5EF4-FFF2-40B4-BE49-F238E27FC236}">
                    <a16:creationId xmlns:a16="http://schemas.microsoft.com/office/drawing/2014/main" id="{5C67B7BD-20F5-45F4-B4F0-2E3B4AC13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1"/>
              </a:xfrm>
              <a:custGeom>
                <a:avLst/>
                <a:gdLst>
                  <a:gd name="T0" fmla="*/ 0 w 21"/>
                  <a:gd name="T1" fmla="*/ 0 h 12"/>
                  <a:gd name="T2" fmla="*/ 0 w 21"/>
                  <a:gd name="T3" fmla="*/ 0 h 12"/>
                  <a:gd name="T4" fmla="*/ 0 w 21"/>
                  <a:gd name="T5" fmla="*/ 0 h 12"/>
                  <a:gd name="T6" fmla="*/ 0 w 21"/>
                  <a:gd name="T7" fmla="*/ 0 h 12"/>
                  <a:gd name="T8" fmla="*/ 0 w 21"/>
                  <a:gd name="T9" fmla="*/ 0 h 12"/>
                  <a:gd name="T10" fmla="*/ 0 w 2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2"/>
                  <a:gd name="T20" fmla="*/ 21 w 2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2">
                    <a:moveTo>
                      <a:pt x="0" y="0"/>
                    </a:moveTo>
                    <a:lnTo>
                      <a:pt x="3" y="8"/>
                    </a:lnTo>
                    <a:lnTo>
                      <a:pt x="10" y="12"/>
                    </a:lnTo>
                    <a:lnTo>
                      <a:pt x="17" y="11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49" name="Freeform 214">
                <a:extLst>
                  <a:ext uri="{FF2B5EF4-FFF2-40B4-BE49-F238E27FC236}">
                    <a16:creationId xmlns:a16="http://schemas.microsoft.com/office/drawing/2014/main" id="{98BE1CEB-2A87-4678-9DA5-3A1A3A558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8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6"/>
                    </a:lnTo>
                    <a:lnTo>
                      <a:pt x="0" y="14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0" name="Freeform 215">
                <a:extLst>
                  <a:ext uri="{FF2B5EF4-FFF2-40B4-BE49-F238E27FC236}">
                    <a16:creationId xmlns:a16="http://schemas.microsoft.com/office/drawing/2014/main" id="{2B46EBAB-9753-4488-B8C5-A379F9C0F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128"/>
                <a:ext cx="4" cy="8"/>
              </a:xfrm>
              <a:custGeom>
                <a:avLst/>
                <a:gdLst>
                  <a:gd name="T0" fmla="*/ 0 w 86"/>
                  <a:gd name="T1" fmla="*/ 0 h 136"/>
                  <a:gd name="T2" fmla="*/ 0 w 86"/>
                  <a:gd name="T3" fmla="*/ 0 h 136"/>
                  <a:gd name="T4" fmla="*/ 0 w 86"/>
                  <a:gd name="T5" fmla="*/ 0 h 136"/>
                  <a:gd name="T6" fmla="*/ 0 w 86"/>
                  <a:gd name="T7" fmla="*/ 0 h 136"/>
                  <a:gd name="T8" fmla="*/ 0 w 86"/>
                  <a:gd name="T9" fmla="*/ 0 h 136"/>
                  <a:gd name="T10" fmla="*/ 0 w 86"/>
                  <a:gd name="T11" fmla="*/ 0 h 136"/>
                  <a:gd name="T12" fmla="*/ 0 w 86"/>
                  <a:gd name="T13" fmla="*/ 0 h 136"/>
                  <a:gd name="T14" fmla="*/ 0 w 86"/>
                  <a:gd name="T15" fmla="*/ 0 h 136"/>
                  <a:gd name="T16" fmla="*/ 0 w 86"/>
                  <a:gd name="T17" fmla="*/ 0 h 136"/>
                  <a:gd name="T18" fmla="*/ 0 w 86"/>
                  <a:gd name="T19" fmla="*/ 0 h 136"/>
                  <a:gd name="T20" fmla="*/ 0 w 86"/>
                  <a:gd name="T21" fmla="*/ 0 h 136"/>
                  <a:gd name="T22" fmla="*/ 0 w 86"/>
                  <a:gd name="T23" fmla="*/ 0 h 136"/>
                  <a:gd name="T24" fmla="*/ 0 w 86"/>
                  <a:gd name="T25" fmla="*/ 0 h 136"/>
                  <a:gd name="T26" fmla="*/ 0 w 86"/>
                  <a:gd name="T27" fmla="*/ 0 h 136"/>
                  <a:gd name="T28" fmla="*/ 0 w 86"/>
                  <a:gd name="T29" fmla="*/ 0 h 136"/>
                  <a:gd name="T30" fmla="*/ 0 w 86"/>
                  <a:gd name="T31" fmla="*/ 0 h 136"/>
                  <a:gd name="T32" fmla="*/ 0 w 86"/>
                  <a:gd name="T33" fmla="*/ 0 h 136"/>
                  <a:gd name="T34" fmla="*/ 0 w 86"/>
                  <a:gd name="T35" fmla="*/ 0 h 136"/>
                  <a:gd name="T36" fmla="*/ 0 w 86"/>
                  <a:gd name="T37" fmla="*/ 0 h 136"/>
                  <a:gd name="T38" fmla="*/ 0 w 86"/>
                  <a:gd name="T39" fmla="*/ 0 h 136"/>
                  <a:gd name="T40" fmla="*/ 0 w 86"/>
                  <a:gd name="T41" fmla="*/ 0 h 1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6"/>
                  <a:gd name="T64" fmla="*/ 0 h 136"/>
                  <a:gd name="T65" fmla="*/ 86 w 86"/>
                  <a:gd name="T66" fmla="*/ 136 h 1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6" h="136">
                    <a:moveTo>
                      <a:pt x="86" y="136"/>
                    </a:moveTo>
                    <a:lnTo>
                      <a:pt x="86" y="136"/>
                    </a:lnTo>
                    <a:lnTo>
                      <a:pt x="85" y="116"/>
                    </a:lnTo>
                    <a:lnTo>
                      <a:pt x="81" y="95"/>
                    </a:lnTo>
                    <a:lnTo>
                      <a:pt x="76" y="76"/>
                    </a:lnTo>
                    <a:lnTo>
                      <a:pt x="66" y="58"/>
                    </a:lnTo>
                    <a:lnTo>
                      <a:pt x="55" y="41"/>
                    </a:lnTo>
                    <a:lnTo>
                      <a:pt x="42" y="26"/>
                    </a:lnTo>
                    <a:lnTo>
                      <a:pt x="27" y="12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4" y="29"/>
                    </a:lnTo>
                    <a:lnTo>
                      <a:pt x="28" y="40"/>
                    </a:lnTo>
                    <a:lnTo>
                      <a:pt x="39" y="54"/>
                    </a:lnTo>
                    <a:lnTo>
                      <a:pt x="48" y="69"/>
                    </a:lnTo>
                    <a:lnTo>
                      <a:pt x="55" y="85"/>
                    </a:lnTo>
                    <a:lnTo>
                      <a:pt x="60" y="102"/>
                    </a:lnTo>
                    <a:lnTo>
                      <a:pt x="64" y="118"/>
                    </a:lnTo>
                    <a:lnTo>
                      <a:pt x="65" y="136"/>
                    </a:lnTo>
                    <a:lnTo>
                      <a:pt x="86" y="1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1" name="Freeform 216">
                <a:extLst>
                  <a:ext uri="{FF2B5EF4-FFF2-40B4-BE49-F238E27FC236}">
                    <a16:creationId xmlns:a16="http://schemas.microsoft.com/office/drawing/2014/main" id="{27B54D18-F23A-4504-95DD-B5B18CB4E8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6"/>
                <a:ext cx="1" cy="2"/>
              </a:xfrm>
              <a:custGeom>
                <a:avLst/>
                <a:gdLst>
                  <a:gd name="T0" fmla="*/ 0 w 24"/>
                  <a:gd name="T1" fmla="*/ 0 h 35"/>
                  <a:gd name="T2" fmla="*/ 0 w 24"/>
                  <a:gd name="T3" fmla="*/ 0 h 35"/>
                  <a:gd name="T4" fmla="*/ 0 w 24"/>
                  <a:gd name="T5" fmla="*/ 0 h 35"/>
                  <a:gd name="T6" fmla="*/ 0 w 24"/>
                  <a:gd name="T7" fmla="*/ 0 h 35"/>
                  <a:gd name="T8" fmla="*/ 0 w 24"/>
                  <a:gd name="T9" fmla="*/ 0 h 35"/>
                  <a:gd name="T10" fmla="*/ 0 w 24"/>
                  <a:gd name="T11" fmla="*/ 0 h 35"/>
                  <a:gd name="T12" fmla="*/ 0 w 24"/>
                  <a:gd name="T13" fmla="*/ 0 h 35"/>
                  <a:gd name="T14" fmla="*/ 0 w 24"/>
                  <a:gd name="T15" fmla="*/ 0 h 35"/>
                  <a:gd name="T16" fmla="*/ 0 w 24"/>
                  <a:gd name="T17" fmla="*/ 0 h 35"/>
                  <a:gd name="T18" fmla="*/ 0 w 24"/>
                  <a:gd name="T19" fmla="*/ 0 h 35"/>
                  <a:gd name="T20" fmla="*/ 0 w 24"/>
                  <a:gd name="T21" fmla="*/ 0 h 35"/>
                  <a:gd name="T22" fmla="*/ 0 w 24"/>
                  <a:gd name="T23" fmla="*/ 0 h 35"/>
                  <a:gd name="T24" fmla="*/ 0 w 24"/>
                  <a:gd name="T25" fmla="*/ 0 h 35"/>
                  <a:gd name="T26" fmla="*/ 0 w 24"/>
                  <a:gd name="T27" fmla="*/ 0 h 35"/>
                  <a:gd name="T28" fmla="*/ 0 w 24"/>
                  <a:gd name="T29" fmla="*/ 0 h 35"/>
                  <a:gd name="T30" fmla="*/ 0 w 24"/>
                  <a:gd name="T31" fmla="*/ 0 h 35"/>
                  <a:gd name="T32" fmla="*/ 0 w 24"/>
                  <a:gd name="T33" fmla="*/ 0 h 35"/>
                  <a:gd name="T34" fmla="*/ 0 w 24"/>
                  <a:gd name="T35" fmla="*/ 0 h 35"/>
                  <a:gd name="T36" fmla="*/ 0 w 24"/>
                  <a:gd name="T37" fmla="*/ 0 h 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4"/>
                  <a:gd name="T58" fmla="*/ 0 h 35"/>
                  <a:gd name="T59" fmla="*/ 24 w 24"/>
                  <a:gd name="T60" fmla="*/ 35 h 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4" h="35">
                    <a:moveTo>
                      <a:pt x="21" y="35"/>
                    </a:moveTo>
                    <a:lnTo>
                      <a:pt x="22" y="30"/>
                    </a:lnTo>
                    <a:lnTo>
                      <a:pt x="22" y="26"/>
                    </a:lnTo>
                    <a:lnTo>
                      <a:pt x="23" y="21"/>
                    </a:lnTo>
                    <a:lnTo>
                      <a:pt x="23" y="18"/>
                    </a:lnTo>
                    <a:lnTo>
                      <a:pt x="24" y="15"/>
                    </a:lnTo>
                    <a:lnTo>
                      <a:pt x="24" y="9"/>
                    </a:lnTo>
                    <a:lnTo>
                      <a:pt x="24" y="5"/>
                    </a:lnTo>
                    <a:lnTo>
                      <a:pt x="24" y="0"/>
                    </a:lnTo>
                    <a:lnTo>
                      <a:pt x="3" y="0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3" y="11"/>
                    </a:lnTo>
                    <a:lnTo>
                      <a:pt x="2" y="14"/>
                    </a:lnTo>
                    <a:lnTo>
                      <a:pt x="2" y="19"/>
                    </a:lnTo>
                    <a:lnTo>
                      <a:pt x="1" y="24"/>
                    </a:lnTo>
                    <a:lnTo>
                      <a:pt x="1" y="28"/>
                    </a:lnTo>
                    <a:lnTo>
                      <a:pt x="0" y="31"/>
                    </a:lnTo>
                    <a:lnTo>
                      <a:pt x="21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2" name="Freeform 217">
                <a:extLst>
                  <a:ext uri="{FF2B5EF4-FFF2-40B4-BE49-F238E27FC236}">
                    <a16:creationId xmlns:a16="http://schemas.microsoft.com/office/drawing/2014/main" id="{AA4639E5-9F4C-4BFA-A9CA-9C68192BF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5"/>
                <a:ext cx="1" cy="1"/>
              </a:xfrm>
              <a:custGeom>
                <a:avLst/>
                <a:gdLst>
                  <a:gd name="T0" fmla="*/ 0 w 21"/>
                  <a:gd name="T1" fmla="*/ 0 h 13"/>
                  <a:gd name="T2" fmla="*/ 0 w 21"/>
                  <a:gd name="T3" fmla="*/ 0 h 13"/>
                  <a:gd name="T4" fmla="*/ 0 w 21"/>
                  <a:gd name="T5" fmla="*/ 0 h 13"/>
                  <a:gd name="T6" fmla="*/ 0 w 21"/>
                  <a:gd name="T7" fmla="*/ 0 h 13"/>
                  <a:gd name="T8" fmla="*/ 0 w 21"/>
                  <a:gd name="T9" fmla="*/ 0 h 13"/>
                  <a:gd name="T10" fmla="*/ 0 w 21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3"/>
                  <a:gd name="T20" fmla="*/ 21 w 21"/>
                  <a:gd name="T21" fmla="*/ 13 h 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3">
                    <a:moveTo>
                      <a:pt x="0" y="0"/>
                    </a:moveTo>
                    <a:lnTo>
                      <a:pt x="2" y="9"/>
                    </a:lnTo>
                    <a:lnTo>
                      <a:pt x="10" y="13"/>
                    </a:lnTo>
                    <a:lnTo>
                      <a:pt x="17" y="12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3" name="Freeform 218">
                <a:extLst>
                  <a:ext uri="{FF2B5EF4-FFF2-40B4-BE49-F238E27FC236}">
                    <a16:creationId xmlns:a16="http://schemas.microsoft.com/office/drawing/2014/main" id="{7F393E2E-C628-40F5-9704-E5D299DA1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3" cy="137"/>
              </a:xfrm>
              <a:custGeom>
                <a:avLst/>
                <a:gdLst>
                  <a:gd name="T0" fmla="*/ 0 w 1169"/>
                  <a:gd name="T1" fmla="*/ 0 h 2481"/>
                  <a:gd name="T2" fmla="*/ 0 w 1169"/>
                  <a:gd name="T3" fmla="*/ 0 h 2481"/>
                  <a:gd name="T4" fmla="*/ 0 w 1169"/>
                  <a:gd name="T5" fmla="*/ 0 h 2481"/>
                  <a:gd name="T6" fmla="*/ 0 w 1169"/>
                  <a:gd name="T7" fmla="*/ 0 h 2481"/>
                  <a:gd name="T8" fmla="*/ 0 w 1169"/>
                  <a:gd name="T9" fmla="*/ 0 h 2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69"/>
                  <a:gd name="T16" fmla="*/ 0 h 2481"/>
                  <a:gd name="T17" fmla="*/ 1169 w 1169"/>
                  <a:gd name="T18" fmla="*/ 2481 h 24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69" h="2481">
                    <a:moveTo>
                      <a:pt x="166" y="0"/>
                    </a:moveTo>
                    <a:lnTo>
                      <a:pt x="0" y="73"/>
                    </a:lnTo>
                    <a:lnTo>
                      <a:pt x="959" y="2481"/>
                    </a:lnTo>
                    <a:lnTo>
                      <a:pt x="1169" y="238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4" name="Freeform 219">
                <a:extLst>
                  <a:ext uri="{FF2B5EF4-FFF2-40B4-BE49-F238E27FC236}">
                    <a16:creationId xmlns:a16="http://schemas.microsoft.com/office/drawing/2014/main" id="{CE7A7A1F-A871-4BB4-A146-96ABC8E4E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2" cy="137"/>
              </a:xfrm>
              <a:custGeom>
                <a:avLst/>
                <a:gdLst>
                  <a:gd name="T0" fmla="*/ 0 w 1140"/>
                  <a:gd name="T1" fmla="*/ 0 h 2467"/>
                  <a:gd name="T2" fmla="*/ 0 w 1140"/>
                  <a:gd name="T3" fmla="*/ 0 h 2467"/>
                  <a:gd name="T4" fmla="*/ 0 w 1140"/>
                  <a:gd name="T5" fmla="*/ 0 h 2467"/>
                  <a:gd name="T6" fmla="*/ 0 w 1140"/>
                  <a:gd name="T7" fmla="*/ 0 h 2467"/>
                  <a:gd name="T8" fmla="*/ 0 w 1140"/>
                  <a:gd name="T9" fmla="*/ 0 h 2467"/>
                  <a:gd name="T10" fmla="*/ 0 w 1140"/>
                  <a:gd name="T11" fmla="*/ 0 h 2467"/>
                  <a:gd name="T12" fmla="*/ 0 w 1140"/>
                  <a:gd name="T13" fmla="*/ 0 h 2467"/>
                  <a:gd name="T14" fmla="*/ 0 w 1140"/>
                  <a:gd name="T15" fmla="*/ 0 h 2467"/>
                  <a:gd name="T16" fmla="*/ 0 w 1140"/>
                  <a:gd name="T17" fmla="*/ 0 h 2467"/>
                  <a:gd name="T18" fmla="*/ 0 w 1140"/>
                  <a:gd name="T19" fmla="*/ 0 h 2467"/>
                  <a:gd name="T20" fmla="*/ 0 w 1140"/>
                  <a:gd name="T21" fmla="*/ 0 h 2467"/>
                  <a:gd name="T22" fmla="*/ 0 w 1140"/>
                  <a:gd name="T23" fmla="*/ 0 h 2467"/>
                  <a:gd name="T24" fmla="*/ 0 w 1140"/>
                  <a:gd name="T25" fmla="*/ 0 h 2467"/>
                  <a:gd name="T26" fmla="*/ 0 w 1140"/>
                  <a:gd name="T27" fmla="*/ 0 h 2467"/>
                  <a:gd name="T28" fmla="*/ 0 w 1140"/>
                  <a:gd name="T29" fmla="*/ 0 h 2467"/>
                  <a:gd name="T30" fmla="*/ 0 w 1140"/>
                  <a:gd name="T31" fmla="*/ 0 h 2467"/>
                  <a:gd name="T32" fmla="*/ 0 w 1140"/>
                  <a:gd name="T33" fmla="*/ 0 h 2467"/>
                  <a:gd name="T34" fmla="*/ 0 w 1140"/>
                  <a:gd name="T35" fmla="*/ 0 h 2467"/>
                  <a:gd name="T36" fmla="*/ 0 w 1140"/>
                  <a:gd name="T37" fmla="*/ 0 h 2467"/>
                  <a:gd name="T38" fmla="*/ 0 w 1140"/>
                  <a:gd name="T39" fmla="*/ 0 h 2467"/>
                  <a:gd name="T40" fmla="*/ 0 w 1140"/>
                  <a:gd name="T41" fmla="*/ 0 h 2467"/>
                  <a:gd name="T42" fmla="*/ 0 w 1140"/>
                  <a:gd name="T43" fmla="*/ 0 h 2467"/>
                  <a:gd name="T44" fmla="*/ 0 w 1140"/>
                  <a:gd name="T45" fmla="*/ 0 h 2467"/>
                  <a:gd name="T46" fmla="*/ 0 w 1140"/>
                  <a:gd name="T47" fmla="*/ 0 h 2467"/>
                  <a:gd name="T48" fmla="*/ 0 w 1140"/>
                  <a:gd name="T49" fmla="*/ 0 h 2467"/>
                  <a:gd name="T50" fmla="*/ 0 w 1140"/>
                  <a:gd name="T51" fmla="*/ 0 h 2467"/>
                  <a:gd name="T52" fmla="*/ 0 w 1140"/>
                  <a:gd name="T53" fmla="*/ 0 h 2467"/>
                  <a:gd name="T54" fmla="*/ 0 w 1140"/>
                  <a:gd name="T55" fmla="*/ 0 h 2467"/>
                  <a:gd name="T56" fmla="*/ 0 w 1140"/>
                  <a:gd name="T57" fmla="*/ 0 h 2467"/>
                  <a:gd name="T58" fmla="*/ 0 w 1140"/>
                  <a:gd name="T59" fmla="*/ 0 h 2467"/>
                  <a:gd name="T60" fmla="*/ 0 w 1140"/>
                  <a:gd name="T61" fmla="*/ 0 h 2467"/>
                  <a:gd name="T62" fmla="*/ 0 w 1140"/>
                  <a:gd name="T63" fmla="*/ 0 h 2467"/>
                  <a:gd name="T64" fmla="*/ 0 w 1140"/>
                  <a:gd name="T65" fmla="*/ 0 h 2467"/>
                  <a:gd name="T66" fmla="*/ 0 w 1140"/>
                  <a:gd name="T67" fmla="*/ 0 h 2467"/>
                  <a:gd name="T68" fmla="*/ 0 w 1140"/>
                  <a:gd name="T69" fmla="*/ 0 h 2467"/>
                  <a:gd name="T70" fmla="*/ 0 w 1140"/>
                  <a:gd name="T71" fmla="*/ 0 h 2467"/>
                  <a:gd name="T72" fmla="*/ 0 w 1140"/>
                  <a:gd name="T73" fmla="*/ 0 h 2467"/>
                  <a:gd name="T74" fmla="*/ 0 w 1140"/>
                  <a:gd name="T75" fmla="*/ 0 h 2467"/>
                  <a:gd name="T76" fmla="*/ 0 w 1140"/>
                  <a:gd name="T77" fmla="*/ 0 h 2467"/>
                  <a:gd name="T78" fmla="*/ 0 w 1140"/>
                  <a:gd name="T79" fmla="*/ 0 h 2467"/>
                  <a:gd name="T80" fmla="*/ 0 w 1140"/>
                  <a:gd name="T81" fmla="*/ 0 h 2467"/>
                  <a:gd name="T82" fmla="*/ 0 w 1140"/>
                  <a:gd name="T83" fmla="*/ 0 h 2467"/>
                  <a:gd name="T84" fmla="*/ 0 w 1140"/>
                  <a:gd name="T85" fmla="*/ 0 h 2467"/>
                  <a:gd name="T86" fmla="*/ 0 w 1140"/>
                  <a:gd name="T87" fmla="*/ 0 h 246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40"/>
                  <a:gd name="T133" fmla="*/ 0 h 2467"/>
                  <a:gd name="T134" fmla="*/ 1140 w 1140"/>
                  <a:gd name="T135" fmla="*/ 2467 h 2467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40" h="2467">
                    <a:moveTo>
                      <a:pt x="140" y="0"/>
                    </a:moveTo>
                    <a:lnTo>
                      <a:pt x="126" y="6"/>
                    </a:lnTo>
                    <a:lnTo>
                      <a:pt x="114" y="10"/>
                    </a:lnTo>
                    <a:lnTo>
                      <a:pt x="104" y="14"/>
                    </a:lnTo>
                    <a:lnTo>
                      <a:pt x="94" y="19"/>
                    </a:lnTo>
                    <a:lnTo>
                      <a:pt x="81" y="24"/>
                    </a:lnTo>
                    <a:lnTo>
                      <a:pt x="61" y="32"/>
                    </a:lnTo>
                    <a:lnTo>
                      <a:pt x="36" y="44"/>
                    </a:lnTo>
                    <a:lnTo>
                      <a:pt x="0" y="61"/>
                    </a:lnTo>
                    <a:lnTo>
                      <a:pt x="29" y="132"/>
                    </a:lnTo>
                    <a:lnTo>
                      <a:pt x="55" y="199"/>
                    </a:lnTo>
                    <a:lnTo>
                      <a:pt x="81" y="260"/>
                    </a:lnTo>
                    <a:lnTo>
                      <a:pt x="103" y="317"/>
                    </a:lnTo>
                    <a:lnTo>
                      <a:pt x="125" y="370"/>
                    </a:lnTo>
                    <a:lnTo>
                      <a:pt x="144" y="419"/>
                    </a:lnTo>
                    <a:lnTo>
                      <a:pt x="163" y="467"/>
                    </a:lnTo>
                    <a:lnTo>
                      <a:pt x="181" y="511"/>
                    </a:lnTo>
                    <a:lnTo>
                      <a:pt x="198" y="554"/>
                    </a:lnTo>
                    <a:lnTo>
                      <a:pt x="215" y="596"/>
                    </a:lnTo>
                    <a:lnTo>
                      <a:pt x="232" y="637"/>
                    </a:lnTo>
                    <a:lnTo>
                      <a:pt x="249" y="680"/>
                    </a:lnTo>
                    <a:lnTo>
                      <a:pt x="265" y="723"/>
                    </a:lnTo>
                    <a:lnTo>
                      <a:pt x="284" y="766"/>
                    </a:lnTo>
                    <a:lnTo>
                      <a:pt x="302" y="812"/>
                    </a:lnTo>
                    <a:lnTo>
                      <a:pt x="322" y="861"/>
                    </a:lnTo>
                    <a:lnTo>
                      <a:pt x="342" y="913"/>
                    </a:lnTo>
                    <a:lnTo>
                      <a:pt x="364" y="968"/>
                    </a:lnTo>
                    <a:lnTo>
                      <a:pt x="388" y="1029"/>
                    </a:lnTo>
                    <a:lnTo>
                      <a:pt x="414" y="1093"/>
                    </a:lnTo>
                    <a:lnTo>
                      <a:pt x="442" y="1164"/>
                    </a:lnTo>
                    <a:lnTo>
                      <a:pt x="473" y="1239"/>
                    </a:lnTo>
                    <a:lnTo>
                      <a:pt x="505" y="1323"/>
                    </a:lnTo>
                    <a:lnTo>
                      <a:pt x="542" y="1412"/>
                    </a:lnTo>
                    <a:lnTo>
                      <a:pt x="581" y="1511"/>
                    </a:lnTo>
                    <a:lnTo>
                      <a:pt x="623" y="1618"/>
                    </a:lnTo>
                    <a:lnTo>
                      <a:pt x="669" y="1733"/>
                    </a:lnTo>
                    <a:lnTo>
                      <a:pt x="719" y="1858"/>
                    </a:lnTo>
                    <a:lnTo>
                      <a:pt x="773" y="1993"/>
                    </a:lnTo>
                    <a:lnTo>
                      <a:pt x="832" y="2140"/>
                    </a:lnTo>
                    <a:lnTo>
                      <a:pt x="895" y="2297"/>
                    </a:lnTo>
                    <a:lnTo>
                      <a:pt x="962" y="2467"/>
                    </a:lnTo>
                    <a:lnTo>
                      <a:pt x="972" y="2462"/>
                    </a:lnTo>
                    <a:lnTo>
                      <a:pt x="982" y="2458"/>
                    </a:lnTo>
                    <a:lnTo>
                      <a:pt x="989" y="2455"/>
                    </a:lnTo>
                    <a:lnTo>
                      <a:pt x="996" y="2452"/>
                    </a:lnTo>
                    <a:lnTo>
                      <a:pt x="1003" y="2449"/>
                    </a:lnTo>
                    <a:lnTo>
                      <a:pt x="1009" y="2445"/>
                    </a:lnTo>
                    <a:lnTo>
                      <a:pt x="1015" y="2442"/>
                    </a:lnTo>
                    <a:lnTo>
                      <a:pt x="1022" y="2439"/>
                    </a:lnTo>
                    <a:lnTo>
                      <a:pt x="1030" y="2436"/>
                    </a:lnTo>
                    <a:lnTo>
                      <a:pt x="1040" y="2432"/>
                    </a:lnTo>
                    <a:lnTo>
                      <a:pt x="1050" y="2428"/>
                    </a:lnTo>
                    <a:lnTo>
                      <a:pt x="1063" y="2422"/>
                    </a:lnTo>
                    <a:lnTo>
                      <a:pt x="1077" y="2416"/>
                    </a:lnTo>
                    <a:lnTo>
                      <a:pt x="1095" y="2409"/>
                    </a:lnTo>
                    <a:lnTo>
                      <a:pt x="1116" y="2399"/>
                    </a:lnTo>
                    <a:lnTo>
                      <a:pt x="1140" y="2390"/>
                    </a:lnTo>
                    <a:lnTo>
                      <a:pt x="1110" y="2318"/>
                    </a:lnTo>
                    <a:lnTo>
                      <a:pt x="1081" y="2251"/>
                    </a:lnTo>
                    <a:lnTo>
                      <a:pt x="1056" y="2190"/>
                    </a:lnTo>
                    <a:lnTo>
                      <a:pt x="1033" y="2134"/>
                    </a:lnTo>
                    <a:lnTo>
                      <a:pt x="1011" y="2082"/>
                    </a:lnTo>
                    <a:lnTo>
                      <a:pt x="991" y="2032"/>
                    </a:lnTo>
                    <a:lnTo>
                      <a:pt x="970" y="1985"/>
                    </a:lnTo>
                    <a:lnTo>
                      <a:pt x="952" y="1940"/>
                    </a:lnTo>
                    <a:lnTo>
                      <a:pt x="935" y="1897"/>
                    </a:lnTo>
                    <a:lnTo>
                      <a:pt x="916" y="1856"/>
                    </a:lnTo>
                    <a:lnTo>
                      <a:pt x="899" y="1814"/>
                    </a:lnTo>
                    <a:lnTo>
                      <a:pt x="882" y="1773"/>
                    </a:lnTo>
                    <a:lnTo>
                      <a:pt x="864" y="1730"/>
                    </a:lnTo>
                    <a:lnTo>
                      <a:pt x="846" y="1686"/>
                    </a:lnTo>
                    <a:lnTo>
                      <a:pt x="826" y="1640"/>
                    </a:lnTo>
                    <a:lnTo>
                      <a:pt x="807" y="1592"/>
                    </a:lnTo>
                    <a:lnTo>
                      <a:pt x="785" y="1541"/>
                    </a:lnTo>
                    <a:lnTo>
                      <a:pt x="762" y="1485"/>
                    </a:lnTo>
                    <a:lnTo>
                      <a:pt x="738" y="1426"/>
                    </a:lnTo>
                    <a:lnTo>
                      <a:pt x="710" y="1362"/>
                    </a:lnTo>
                    <a:lnTo>
                      <a:pt x="682" y="1292"/>
                    </a:lnTo>
                    <a:lnTo>
                      <a:pt x="650" y="1216"/>
                    </a:lnTo>
                    <a:lnTo>
                      <a:pt x="615" y="1134"/>
                    </a:lnTo>
                    <a:lnTo>
                      <a:pt x="578" y="1044"/>
                    </a:lnTo>
                    <a:lnTo>
                      <a:pt x="537" y="947"/>
                    </a:lnTo>
                    <a:lnTo>
                      <a:pt x="493" y="842"/>
                    </a:lnTo>
                    <a:lnTo>
                      <a:pt x="445" y="727"/>
                    </a:lnTo>
                    <a:lnTo>
                      <a:pt x="393" y="603"/>
                    </a:lnTo>
                    <a:lnTo>
                      <a:pt x="337" y="469"/>
                    </a:lnTo>
                    <a:lnTo>
                      <a:pt x="276" y="324"/>
                    </a:lnTo>
                    <a:lnTo>
                      <a:pt x="210" y="167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5" name="Freeform 220">
                <a:extLst>
                  <a:ext uri="{FF2B5EF4-FFF2-40B4-BE49-F238E27FC236}">
                    <a16:creationId xmlns:a16="http://schemas.microsoft.com/office/drawing/2014/main" id="{8F20115B-592E-46C5-A3D0-2BA22DD9C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50" cy="136"/>
              </a:xfrm>
              <a:custGeom>
                <a:avLst/>
                <a:gdLst>
                  <a:gd name="T0" fmla="*/ 0 w 1109"/>
                  <a:gd name="T1" fmla="*/ 0 h 2454"/>
                  <a:gd name="T2" fmla="*/ 0 w 1109"/>
                  <a:gd name="T3" fmla="*/ 0 h 2454"/>
                  <a:gd name="T4" fmla="*/ 0 w 1109"/>
                  <a:gd name="T5" fmla="*/ 0 h 2454"/>
                  <a:gd name="T6" fmla="*/ 0 w 1109"/>
                  <a:gd name="T7" fmla="*/ 0 h 2454"/>
                  <a:gd name="T8" fmla="*/ 0 w 1109"/>
                  <a:gd name="T9" fmla="*/ 0 h 2454"/>
                  <a:gd name="T10" fmla="*/ 0 w 1109"/>
                  <a:gd name="T11" fmla="*/ 0 h 2454"/>
                  <a:gd name="T12" fmla="*/ 0 w 1109"/>
                  <a:gd name="T13" fmla="*/ 0 h 2454"/>
                  <a:gd name="T14" fmla="*/ 0 w 1109"/>
                  <a:gd name="T15" fmla="*/ 0 h 2454"/>
                  <a:gd name="T16" fmla="*/ 0 w 1109"/>
                  <a:gd name="T17" fmla="*/ 0 h 2454"/>
                  <a:gd name="T18" fmla="*/ 0 w 1109"/>
                  <a:gd name="T19" fmla="*/ 0 h 2454"/>
                  <a:gd name="T20" fmla="*/ 0 w 1109"/>
                  <a:gd name="T21" fmla="*/ 0 h 2454"/>
                  <a:gd name="T22" fmla="*/ 0 w 1109"/>
                  <a:gd name="T23" fmla="*/ 0 h 2454"/>
                  <a:gd name="T24" fmla="*/ 0 w 1109"/>
                  <a:gd name="T25" fmla="*/ 0 h 2454"/>
                  <a:gd name="T26" fmla="*/ 0 w 1109"/>
                  <a:gd name="T27" fmla="*/ 0 h 2454"/>
                  <a:gd name="T28" fmla="*/ 0 w 1109"/>
                  <a:gd name="T29" fmla="*/ 0 h 2454"/>
                  <a:gd name="T30" fmla="*/ 0 w 1109"/>
                  <a:gd name="T31" fmla="*/ 0 h 2454"/>
                  <a:gd name="T32" fmla="*/ 0 w 1109"/>
                  <a:gd name="T33" fmla="*/ 0 h 2454"/>
                  <a:gd name="T34" fmla="*/ 0 w 1109"/>
                  <a:gd name="T35" fmla="*/ 0 h 2454"/>
                  <a:gd name="T36" fmla="*/ 0 w 1109"/>
                  <a:gd name="T37" fmla="*/ 0 h 2454"/>
                  <a:gd name="T38" fmla="*/ 0 w 1109"/>
                  <a:gd name="T39" fmla="*/ 0 h 2454"/>
                  <a:gd name="T40" fmla="*/ 0 w 1109"/>
                  <a:gd name="T41" fmla="*/ 0 h 2454"/>
                  <a:gd name="T42" fmla="*/ 0 w 1109"/>
                  <a:gd name="T43" fmla="*/ 0 h 2454"/>
                  <a:gd name="T44" fmla="*/ 0 w 1109"/>
                  <a:gd name="T45" fmla="*/ 0 h 2454"/>
                  <a:gd name="T46" fmla="*/ 0 w 1109"/>
                  <a:gd name="T47" fmla="*/ 0 h 2454"/>
                  <a:gd name="T48" fmla="*/ 0 w 1109"/>
                  <a:gd name="T49" fmla="*/ 0 h 2454"/>
                  <a:gd name="T50" fmla="*/ 0 w 1109"/>
                  <a:gd name="T51" fmla="*/ 0 h 2454"/>
                  <a:gd name="T52" fmla="*/ 0 w 1109"/>
                  <a:gd name="T53" fmla="*/ 0 h 2454"/>
                  <a:gd name="T54" fmla="*/ 0 w 1109"/>
                  <a:gd name="T55" fmla="*/ 0 h 2454"/>
                  <a:gd name="T56" fmla="*/ 0 w 1109"/>
                  <a:gd name="T57" fmla="*/ 0 h 2454"/>
                  <a:gd name="T58" fmla="*/ 0 w 1109"/>
                  <a:gd name="T59" fmla="*/ 0 h 2454"/>
                  <a:gd name="T60" fmla="*/ 0 w 1109"/>
                  <a:gd name="T61" fmla="*/ 0 h 2454"/>
                  <a:gd name="T62" fmla="*/ 0 w 1109"/>
                  <a:gd name="T63" fmla="*/ 0 h 2454"/>
                  <a:gd name="T64" fmla="*/ 0 w 1109"/>
                  <a:gd name="T65" fmla="*/ 0 h 2454"/>
                  <a:gd name="T66" fmla="*/ 0 w 1109"/>
                  <a:gd name="T67" fmla="*/ 0 h 2454"/>
                  <a:gd name="T68" fmla="*/ 0 w 1109"/>
                  <a:gd name="T69" fmla="*/ 0 h 2454"/>
                  <a:gd name="T70" fmla="*/ 0 w 1109"/>
                  <a:gd name="T71" fmla="*/ 0 h 2454"/>
                  <a:gd name="T72" fmla="*/ 0 w 1109"/>
                  <a:gd name="T73" fmla="*/ 0 h 2454"/>
                  <a:gd name="T74" fmla="*/ 0 w 1109"/>
                  <a:gd name="T75" fmla="*/ 0 h 2454"/>
                  <a:gd name="T76" fmla="*/ 0 w 1109"/>
                  <a:gd name="T77" fmla="*/ 0 h 2454"/>
                  <a:gd name="T78" fmla="*/ 0 w 1109"/>
                  <a:gd name="T79" fmla="*/ 0 h 245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109"/>
                  <a:gd name="T121" fmla="*/ 0 h 2454"/>
                  <a:gd name="T122" fmla="*/ 1109 w 1109"/>
                  <a:gd name="T123" fmla="*/ 2454 h 245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109" h="2454">
                    <a:moveTo>
                      <a:pt x="113" y="0"/>
                    </a:moveTo>
                    <a:lnTo>
                      <a:pt x="100" y="4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6" y="15"/>
                    </a:lnTo>
                    <a:lnTo>
                      <a:pt x="65" y="19"/>
                    </a:lnTo>
                    <a:lnTo>
                      <a:pt x="49" y="26"/>
                    </a:lnTo>
                    <a:lnTo>
                      <a:pt x="29" y="36"/>
                    </a:lnTo>
                    <a:lnTo>
                      <a:pt x="0" y="49"/>
                    </a:lnTo>
                    <a:lnTo>
                      <a:pt x="29" y="120"/>
                    </a:lnTo>
                    <a:lnTo>
                      <a:pt x="56" y="187"/>
                    </a:lnTo>
                    <a:lnTo>
                      <a:pt x="81" y="248"/>
                    </a:lnTo>
                    <a:lnTo>
                      <a:pt x="103" y="305"/>
                    </a:lnTo>
                    <a:lnTo>
                      <a:pt x="125" y="358"/>
                    </a:lnTo>
                    <a:lnTo>
                      <a:pt x="145" y="407"/>
                    </a:lnTo>
                    <a:lnTo>
                      <a:pt x="164" y="455"/>
                    </a:lnTo>
                    <a:lnTo>
                      <a:pt x="182" y="499"/>
                    </a:lnTo>
                    <a:lnTo>
                      <a:pt x="199" y="542"/>
                    </a:lnTo>
                    <a:lnTo>
                      <a:pt x="216" y="584"/>
                    </a:lnTo>
                    <a:lnTo>
                      <a:pt x="233" y="625"/>
                    </a:lnTo>
                    <a:lnTo>
                      <a:pt x="249" y="667"/>
                    </a:lnTo>
                    <a:lnTo>
                      <a:pt x="267" y="711"/>
                    </a:lnTo>
                    <a:lnTo>
                      <a:pt x="284" y="754"/>
                    </a:lnTo>
                    <a:lnTo>
                      <a:pt x="302" y="800"/>
                    </a:lnTo>
                    <a:lnTo>
                      <a:pt x="323" y="849"/>
                    </a:lnTo>
                    <a:lnTo>
                      <a:pt x="343" y="900"/>
                    </a:lnTo>
                    <a:lnTo>
                      <a:pt x="366" y="956"/>
                    </a:lnTo>
                    <a:lnTo>
                      <a:pt x="389" y="1016"/>
                    </a:lnTo>
                    <a:lnTo>
                      <a:pt x="415" y="1081"/>
                    </a:lnTo>
                    <a:lnTo>
                      <a:pt x="443" y="1151"/>
                    </a:lnTo>
                    <a:lnTo>
                      <a:pt x="474" y="1227"/>
                    </a:lnTo>
                    <a:lnTo>
                      <a:pt x="507" y="1311"/>
                    </a:lnTo>
                    <a:lnTo>
                      <a:pt x="544" y="1400"/>
                    </a:lnTo>
                    <a:lnTo>
                      <a:pt x="583" y="1499"/>
                    </a:lnTo>
                    <a:lnTo>
                      <a:pt x="626" y="1606"/>
                    </a:lnTo>
                    <a:lnTo>
                      <a:pt x="672" y="1721"/>
                    </a:lnTo>
                    <a:lnTo>
                      <a:pt x="723" y="1846"/>
                    </a:lnTo>
                    <a:lnTo>
                      <a:pt x="777" y="1981"/>
                    </a:lnTo>
                    <a:lnTo>
                      <a:pt x="835" y="2128"/>
                    </a:lnTo>
                    <a:lnTo>
                      <a:pt x="898" y="2285"/>
                    </a:lnTo>
                    <a:lnTo>
                      <a:pt x="966" y="2454"/>
                    </a:lnTo>
                    <a:lnTo>
                      <a:pt x="982" y="2447"/>
                    </a:lnTo>
                    <a:lnTo>
                      <a:pt x="994" y="2442"/>
                    </a:lnTo>
                    <a:lnTo>
                      <a:pt x="1003" y="2436"/>
                    </a:lnTo>
                    <a:lnTo>
                      <a:pt x="1014" y="2432"/>
                    </a:lnTo>
                    <a:lnTo>
                      <a:pt x="1029" y="2426"/>
                    </a:lnTo>
                    <a:lnTo>
                      <a:pt x="1047" y="2417"/>
                    </a:lnTo>
                    <a:lnTo>
                      <a:pt x="1073" y="2407"/>
                    </a:lnTo>
                    <a:lnTo>
                      <a:pt x="1109" y="2392"/>
                    </a:lnTo>
                    <a:lnTo>
                      <a:pt x="1080" y="2320"/>
                    </a:lnTo>
                    <a:lnTo>
                      <a:pt x="1052" y="2254"/>
                    </a:lnTo>
                    <a:lnTo>
                      <a:pt x="1027" y="2193"/>
                    </a:lnTo>
                    <a:lnTo>
                      <a:pt x="1003" y="2136"/>
                    </a:lnTo>
                    <a:lnTo>
                      <a:pt x="981" y="2083"/>
                    </a:lnTo>
                    <a:lnTo>
                      <a:pt x="960" y="2035"/>
                    </a:lnTo>
                    <a:lnTo>
                      <a:pt x="941" y="1987"/>
                    </a:lnTo>
                    <a:lnTo>
                      <a:pt x="922" y="1943"/>
                    </a:lnTo>
                    <a:lnTo>
                      <a:pt x="905" y="1900"/>
                    </a:lnTo>
                    <a:lnTo>
                      <a:pt x="887" y="1858"/>
                    </a:lnTo>
                    <a:lnTo>
                      <a:pt x="869" y="1817"/>
                    </a:lnTo>
                    <a:lnTo>
                      <a:pt x="852" y="1774"/>
                    </a:lnTo>
                    <a:lnTo>
                      <a:pt x="835" y="1732"/>
                    </a:lnTo>
                    <a:lnTo>
                      <a:pt x="816" y="1688"/>
                    </a:lnTo>
                    <a:lnTo>
                      <a:pt x="797" y="1643"/>
                    </a:lnTo>
                    <a:lnTo>
                      <a:pt x="778" y="1594"/>
                    </a:lnTo>
                    <a:lnTo>
                      <a:pt x="756" y="1542"/>
                    </a:lnTo>
                    <a:lnTo>
                      <a:pt x="733" y="1488"/>
                    </a:lnTo>
                    <a:lnTo>
                      <a:pt x="708" y="1428"/>
                    </a:lnTo>
                    <a:lnTo>
                      <a:pt x="681" y="1363"/>
                    </a:lnTo>
                    <a:lnTo>
                      <a:pt x="652" y="1294"/>
                    </a:lnTo>
                    <a:lnTo>
                      <a:pt x="621" y="1218"/>
                    </a:lnTo>
                    <a:lnTo>
                      <a:pt x="586" y="1136"/>
                    </a:lnTo>
                    <a:lnTo>
                      <a:pt x="549" y="1046"/>
                    </a:lnTo>
                    <a:lnTo>
                      <a:pt x="508" y="948"/>
                    </a:lnTo>
                    <a:lnTo>
                      <a:pt x="464" y="842"/>
                    </a:lnTo>
                    <a:lnTo>
                      <a:pt x="417" y="728"/>
                    </a:lnTo>
                    <a:lnTo>
                      <a:pt x="364" y="604"/>
                    </a:lnTo>
                    <a:lnTo>
                      <a:pt x="308" y="469"/>
                    </a:lnTo>
                    <a:lnTo>
                      <a:pt x="248" y="325"/>
                    </a:lnTo>
                    <a:lnTo>
                      <a:pt x="183" y="16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6" name="Freeform 221">
                <a:extLst>
                  <a:ext uri="{FF2B5EF4-FFF2-40B4-BE49-F238E27FC236}">
                    <a16:creationId xmlns:a16="http://schemas.microsoft.com/office/drawing/2014/main" id="{43CC2281-038A-4733-BE47-7DE99E19E2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49" cy="136"/>
              </a:xfrm>
              <a:custGeom>
                <a:avLst/>
                <a:gdLst>
                  <a:gd name="T0" fmla="*/ 0 w 1078"/>
                  <a:gd name="T1" fmla="*/ 0 h 2440"/>
                  <a:gd name="T2" fmla="*/ 0 w 1078"/>
                  <a:gd name="T3" fmla="*/ 0 h 2440"/>
                  <a:gd name="T4" fmla="*/ 0 w 1078"/>
                  <a:gd name="T5" fmla="*/ 0 h 2440"/>
                  <a:gd name="T6" fmla="*/ 0 w 1078"/>
                  <a:gd name="T7" fmla="*/ 0 h 2440"/>
                  <a:gd name="T8" fmla="*/ 0 w 1078"/>
                  <a:gd name="T9" fmla="*/ 0 h 2440"/>
                  <a:gd name="T10" fmla="*/ 0 w 1078"/>
                  <a:gd name="T11" fmla="*/ 0 h 2440"/>
                  <a:gd name="T12" fmla="*/ 0 w 1078"/>
                  <a:gd name="T13" fmla="*/ 0 h 2440"/>
                  <a:gd name="T14" fmla="*/ 0 w 1078"/>
                  <a:gd name="T15" fmla="*/ 0 h 2440"/>
                  <a:gd name="T16" fmla="*/ 0 w 1078"/>
                  <a:gd name="T17" fmla="*/ 0 h 2440"/>
                  <a:gd name="T18" fmla="*/ 0 w 1078"/>
                  <a:gd name="T19" fmla="*/ 0 h 2440"/>
                  <a:gd name="T20" fmla="*/ 0 w 1078"/>
                  <a:gd name="T21" fmla="*/ 0 h 2440"/>
                  <a:gd name="T22" fmla="*/ 0 w 1078"/>
                  <a:gd name="T23" fmla="*/ 0 h 2440"/>
                  <a:gd name="T24" fmla="*/ 0 w 1078"/>
                  <a:gd name="T25" fmla="*/ 0 h 2440"/>
                  <a:gd name="T26" fmla="*/ 0 w 1078"/>
                  <a:gd name="T27" fmla="*/ 0 h 2440"/>
                  <a:gd name="T28" fmla="*/ 0 w 1078"/>
                  <a:gd name="T29" fmla="*/ 0 h 2440"/>
                  <a:gd name="T30" fmla="*/ 0 w 1078"/>
                  <a:gd name="T31" fmla="*/ 0 h 2440"/>
                  <a:gd name="T32" fmla="*/ 0 w 1078"/>
                  <a:gd name="T33" fmla="*/ 0 h 2440"/>
                  <a:gd name="T34" fmla="*/ 0 w 1078"/>
                  <a:gd name="T35" fmla="*/ 0 h 2440"/>
                  <a:gd name="T36" fmla="*/ 0 w 1078"/>
                  <a:gd name="T37" fmla="*/ 0 h 2440"/>
                  <a:gd name="T38" fmla="*/ 0 w 1078"/>
                  <a:gd name="T39" fmla="*/ 0 h 2440"/>
                  <a:gd name="T40" fmla="*/ 0 w 1078"/>
                  <a:gd name="T41" fmla="*/ 0 h 2440"/>
                  <a:gd name="T42" fmla="*/ 0 w 1078"/>
                  <a:gd name="T43" fmla="*/ 0 h 2440"/>
                  <a:gd name="T44" fmla="*/ 0 w 1078"/>
                  <a:gd name="T45" fmla="*/ 0 h 2440"/>
                  <a:gd name="T46" fmla="*/ 0 w 1078"/>
                  <a:gd name="T47" fmla="*/ 0 h 2440"/>
                  <a:gd name="T48" fmla="*/ 0 w 1078"/>
                  <a:gd name="T49" fmla="*/ 0 h 2440"/>
                  <a:gd name="T50" fmla="*/ 0 w 1078"/>
                  <a:gd name="T51" fmla="*/ 0 h 2440"/>
                  <a:gd name="T52" fmla="*/ 0 w 1078"/>
                  <a:gd name="T53" fmla="*/ 0 h 2440"/>
                  <a:gd name="T54" fmla="*/ 0 w 1078"/>
                  <a:gd name="T55" fmla="*/ 0 h 2440"/>
                  <a:gd name="T56" fmla="*/ 0 w 1078"/>
                  <a:gd name="T57" fmla="*/ 0 h 2440"/>
                  <a:gd name="T58" fmla="*/ 0 w 1078"/>
                  <a:gd name="T59" fmla="*/ 0 h 2440"/>
                  <a:gd name="T60" fmla="*/ 0 w 1078"/>
                  <a:gd name="T61" fmla="*/ 0 h 2440"/>
                  <a:gd name="T62" fmla="*/ 0 w 1078"/>
                  <a:gd name="T63" fmla="*/ 0 h 2440"/>
                  <a:gd name="T64" fmla="*/ 0 w 1078"/>
                  <a:gd name="T65" fmla="*/ 0 h 2440"/>
                  <a:gd name="T66" fmla="*/ 0 w 1078"/>
                  <a:gd name="T67" fmla="*/ 0 h 2440"/>
                  <a:gd name="T68" fmla="*/ 0 w 1078"/>
                  <a:gd name="T69" fmla="*/ 0 h 2440"/>
                  <a:gd name="T70" fmla="*/ 0 w 1078"/>
                  <a:gd name="T71" fmla="*/ 0 h 2440"/>
                  <a:gd name="T72" fmla="*/ 0 w 1078"/>
                  <a:gd name="T73" fmla="*/ 0 h 2440"/>
                  <a:gd name="T74" fmla="*/ 0 w 1078"/>
                  <a:gd name="T75" fmla="*/ 0 h 2440"/>
                  <a:gd name="T76" fmla="*/ 0 w 1078"/>
                  <a:gd name="T77" fmla="*/ 0 h 2440"/>
                  <a:gd name="T78" fmla="*/ 0 w 1078"/>
                  <a:gd name="T79" fmla="*/ 0 h 244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78"/>
                  <a:gd name="T121" fmla="*/ 0 h 2440"/>
                  <a:gd name="T122" fmla="*/ 1078 w 1078"/>
                  <a:gd name="T123" fmla="*/ 2440 h 2440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78" h="2440">
                    <a:moveTo>
                      <a:pt x="86" y="0"/>
                    </a:moveTo>
                    <a:lnTo>
                      <a:pt x="77" y="3"/>
                    </a:lnTo>
                    <a:lnTo>
                      <a:pt x="71" y="6"/>
                    </a:lnTo>
                    <a:lnTo>
                      <a:pt x="65" y="8"/>
                    </a:lnTo>
                    <a:lnTo>
                      <a:pt x="59" y="10"/>
                    </a:lnTo>
                    <a:lnTo>
                      <a:pt x="49" y="14"/>
                    </a:lnTo>
                    <a:lnTo>
                      <a:pt x="38" y="20"/>
                    </a:lnTo>
                    <a:lnTo>
                      <a:pt x="22" y="27"/>
                    </a:lnTo>
                    <a:lnTo>
                      <a:pt x="0" y="37"/>
                    </a:lnTo>
                    <a:lnTo>
                      <a:pt x="30" y="108"/>
                    </a:lnTo>
                    <a:lnTo>
                      <a:pt x="57" y="175"/>
                    </a:lnTo>
                    <a:lnTo>
                      <a:pt x="81" y="236"/>
                    </a:lnTo>
                    <a:lnTo>
                      <a:pt x="104" y="293"/>
                    </a:lnTo>
                    <a:lnTo>
                      <a:pt x="126" y="345"/>
                    </a:lnTo>
                    <a:lnTo>
                      <a:pt x="145" y="395"/>
                    </a:lnTo>
                    <a:lnTo>
                      <a:pt x="165" y="442"/>
                    </a:lnTo>
                    <a:lnTo>
                      <a:pt x="182" y="487"/>
                    </a:lnTo>
                    <a:lnTo>
                      <a:pt x="199" y="530"/>
                    </a:lnTo>
                    <a:lnTo>
                      <a:pt x="217" y="572"/>
                    </a:lnTo>
                    <a:lnTo>
                      <a:pt x="234" y="613"/>
                    </a:lnTo>
                    <a:lnTo>
                      <a:pt x="250" y="655"/>
                    </a:lnTo>
                    <a:lnTo>
                      <a:pt x="268" y="698"/>
                    </a:lnTo>
                    <a:lnTo>
                      <a:pt x="286" y="742"/>
                    </a:lnTo>
                    <a:lnTo>
                      <a:pt x="304" y="788"/>
                    </a:lnTo>
                    <a:lnTo>
                      <a:pt x="324" y="837"/>
                    </a:lnTo>
                    <a:lnTo>
                      <a:pt x="345" y="888"/>
                    </a:lnTo>
                    <a:lnTo>
                      <a:pt x="368" y="944"/>
                    </a:lnTo>
                    <a:lnTo>
                      <a:pt x="391" y="1003"/>
                    </a:lnTo>
                    <a:lnTo>
                      <a:pt x="418" y="1069"/>
                    </a:lnTo>
                    <a:lnTo>
                      <a:pt x="445" y="1138"/>
                    </a:lnTo>
                    <a:lnTo>
                      <a:pt x="476" y="1215"/>
                    </a:lnTo>
                    <a:lnTo>
                      <a:pt x="509" y="1297"/>
                    </a:lnTo>
                    <a:lnTo>
                      <a:pt x="546" y="1388"/>
                    </a:lnTo>
                    <a:lnTo>
                      <a:pt x="585" y="1486"/>
                    </a:lnTo>
                    <a:lnTo>
                      <a:pt x="628" y="1593"/>
                    </a:lnTo>
                    <a:lnTo>
                      <a:pt x="675" y="1707"/>
                    </a:lnTo>
                    <a:lnTo>
                      <a:pt x="725" y="1833"/>
                    </a:lnTo>
                    <a:lnTo>
                      <a:pt x="780" y="1968"/>
                    </a:lnTo>
                    <a:lnTo>
                      <a:pt x="838" y="2113"/>
                    </a:lnTo>
                    <a:lnTo>
                      <a:pt x="901" y="2270"/>
                    </a:lnTo>
                    <a:lnTo>
                      <a:pt x="969" y="2440"/>
                    </a:lnTo>
                    <a:lnTo>
                      <a:pt x="982" y="2435"/>
                    </a:lnTo>
                    <a:lnTo>
                      <a:pt x="990" y="2431"/>
                    </a:lnTo>
                    <a:lnTo>
                      <a:pt x="998" y="2426"/>
                    </a:lnTo>
                    <a:lnTo>
                      <a:pt x="1006" y="2423"/>
                    </a:lnTo>
                    <a:lnTo>
                      <a:pt x="1016" y="2419"/>
                    </a:lnTo>
                    <a:lnTo>
                      <a:pt x="1031" y="2413"/>
                    </a:lnTo>
                    <a:lnTo>
                      <a:pt x="1050" y="2404"/>
                    </a:lnTo>
                    <a:lnTo>
                      <a:pt x="1078" y="2394"/>
                    </a:lnTo>
                    <a:lnTo>
                      <a:pt x="1048" y="2322"/>
                    </a:lnTo>
                    <a:lnTo>
                      <a:pt x="1020" y="2256"/>
                    </a:lnTo>
                    <a:lnTo>
                      <a:pt x="995" y="2195"/>
                    </a:lnTo>
                    <a:lnTo>
                      <a:pt x="973" y="2138"/>
                    </a:lnTo>
                    <a:lnTo>
                      <a:pt x="950" y="2085"/>
                    </a:lnTo>
                    <a:lnTo>
                      <a:pt x="930" y="2035"/>
                    </a:lnTo>
                    <a:lnTo>
                      <a:pt x="910" y="1989"/>
                    </a:lnTo>
                    <a:lnTo>
                      <a:pt x="892" y="1944"/>
                    </a:lnTo>
                    <a:lnTo>
                      <a:pt x="875" y="1901"/>
                    </a:lnTo>
                    <a:lnTo>
                      <a:pt x="857" y="1859"/>
                    </a:lnTo>
                    <a:lnTo>
                      <a:pt x="840" y="1817"/>
                    </a:lnTo>
                    <a:lnTo>
                      <a:pt x="823" y="1775"/>
                    </a:lnTo>
                    <a:lnTo>
                      <a:pt x="805" y="1733"/>
                    </a:lnTo>
                    <a:lnTo>
                      <a:pt x="787" y="1688"/>
                    </a:lnTo>
                    <a:lnTo>
                      <a:pt x="768" y="1643"/>
                    </a:lnTo>
                    <a:lnTo>
                      <a:pt x="748" y="1595"/>
                    </a:lnTo>
                    <a:lnTo>
                      <a:pt x="727" y="1543"/>
                    </a:lnTo>
                    <a:lnTo>
                      <a:pt x="703" y="1487"/>
                    </a:lnTo>
                    <a:lnTo>
                      <a:pt x="679" y="1428"/>
                    </a:lnTo>
                    <a:lnTo>
                      <a:pt x="652" y="1364"/>
                    </a:lnTo>
                    <a:lnTo>
                      <a:pt x="624" y="1294"/>
                    </a:lnTo>
                    <a:lnTo>
                      <a:pt x="592" y="1218"/>
                    </a:lnTo>
                    <a:lnTo>
                      <a:pt x="557" y="1135"/>
                    </a:lnTo>
                    <a:lnTo>
                      <a:pt x="521" y="1045"/>
                    </a:lnTo>
                    <a:lnTo>
                      <a:pt x="480" y="948"/>
                    </a:lnTo>
                    <a:lnTo>
                      <a:pt x="436" y="843"/>
                    </a:lnTo>
                    <a:lnTo>
                      <a:pt x="388" y="728"/>
                    </a:lnTo>
                    <a:lnTo>
                      <a:pt x="337" y="604"/>
                    </a:lnTo>
                    <a:lnTo>
                      <a:pt x="281" y="469"/>
                    </a:lnTo>
                    <a:lnTo>
                      <a:pt x="221" y="324"/>
                    </a:lnTo>
                    <a:lnTo>
                      <a:pt x="155" y="16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7" name="Freeform 222">
                <a:extLst>
                  <a:ext uri="{FF2B5EF4-FFF2-40B4-BE49-F238E27FC236}">
                    <a16:creationId xmlns:a16="http://schemas.microsoft.com/office/drawing/2014/main" id="{B8890808-52D2-4FE4-B98E-49EF57318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8" cy="135"/>
              </a:xfrm>
              <a:custGeom>
                <a:avLst/>
                <a:gdLst>
                  <a:gd name="T0" fmla="*/ 0 w 1046"/>
                  <a:gd name="T1" fmla="*/ 0 h 2428"/>
                  <a:gd name="T2" fmla="*/ 0 w 1046"/>
                  <a:gd name="T3" fmla="*/ 0 h 2428"/>
                  <a:gd name="T4" fmla="*/ 0 w 1046"/>
                  <a:gd name="T5" fmla="*/ 0 h 2428"/>
                  <a:gd name="T6" fmla="*/ 0 w 1046"/>
                  <a:gd name="T7" fmla="*/ 0 h 2428"/>
                  <a:gd name="T8" fmla="*/ 0 w 1046"/>
                  <a:gd name="T9" fmla="*/ 0 h 2428"/>
                  <a:gd name="T10" fmla="*/ 0 w 1046"/>
                  <a:gd name="T11" fmla="*/ 0 h 2428"/>
                  <a:gd name="T12" fmla="*/ 0 w 1046"/>
                  <a:gd name="T13" fmla="*/ 0 h 2428"/>
                  <a:gd name="T14" fmla="*/ 0 w 1046"/>
                  <a:gd name="T15" fmla="*/ 0 h 2428"/>
                  <a:gd name="T16" fmla="*/ 0 w 1046"/>
                  <a:gd name="T17" fmla="*/ 0 h 2428"/>
                  <a:gd name="T18" fmla="*/ 0 w 1046"/>
                  <a:gd name="T19" fmla="*/ 0 h 2428"/>
                  <a:gd name="T20" fmla="*/ 0 w 1046"/>
                  <a:gd name="T21" fmla="*/ 0 h 2428"/>
                  <a:gd name="T22" fmla="*/ 0 w 1046"/>
                  <a:gd name="T23" fmla="*/ 0 h 2428"/>
                  <a:gd name="T24" fmla="*/ 0 w 1046"/>
                  <a:gd name="T25" fmla="*/ 0 h 2428"/>
                  <a:gd name="T26" fmla="*/ 0 w 1046"/>
                  <a:gd name="T27" fmla="*/ 0 h 2428"/>
                  <a:gd name="T28" fmla="*/ 0 w 1046"/>
                  <a:gd name="T29" fmla="*/ 0 h 2428"/>
                  <a:gd name="T30" fmla="*/ 0 w 1046"/>
                  <a:gd name="T31" fmla="*/ 0 h 2428"/>
                  <a:gd name="T32" fmla="*/ 0 w 1046"/>
                  <a:gd name="T33" fmla="*/ 0 h 2428"/>
                  <a:gd name="T34" fmla="*/ 0 w 1046"/>
                  <a:gd name="T35" fmla="*/ 0 h 2428"/>
                  <a:gd name="T36" fmla="*/ 0 w 1046"/>
                  <a:gd name="T37" fmla="*/ 0 h 2428"/>
                  <a:gd name="T38" fmla="*/ 0 w 1046"/>
                  <a:gd name="T39" fmla="*/ 0 h 2428"/>
                  <a:gd name="T40" fmla="*/ 0 w 1046"/>
                  <a:gd name="T41" fmla="*/ 0 h 2428"/>
                  <a:gd name="T42" fmla="*/ 0 w 1046"/>
                  <a:gd name="T43" fmla="*/ 0 h 2428"/>
                  <a:gd name="T44" fmla="*/ 0 w 1046"/>
                  <a:gd name="T45" fmla="*/ 0 h 2428"/>
                  <a:gd name="T46" fmla="*/ 0 w 1046"/>
                  <a:gd name="T47" fmla="*/ 0 h 2428"/>
                  <a:gd name="T48" fmla="*/ 0 w 1046"/>
                  <a:gd name="T49" fmla="*/ 0 h 2428"/>
                  <a:gd name="T50" fmla="*/ 0 w 1046"/>
                  <a:gd name="T51" fmla="*/ 0 h 2428"/>
                  <a:gd name="T52" fmla="*/ 0 w 1046"/>
                  <a:gd name="T53" fmla="*/ 0 h 2428"/>
                  <a:gd name="T54" fmla="*/ 0 w 1046"/>
                  <a:gd name="T55" fmla="*/ 0 h 2428"/>
                  <a:gd name="T56" fmla="*/ 0 w 1046"/>
                  <a:gd name="T57" fmla="*/ 0 h 2428"/>
                  <a:gd name="T58" fmla="*/ 0 w 1046"/>
                  <a:gd name="T59" fmla="*/ 0 h 2428"/>
                  <a:gd name="T60" fmla="*/ 0 w 1046"/>
                  <a:gd name="T61" fmla="*/ 0 h 2428"/>
                  <a:gd name="T62" fmla="*/ 0 w 1046"/>
                  <a:gd name="T63" fmla="*/ 0 h 2428"/>
                  <a:gd name="T64" fmla="*/ 0 w 1046"/>
                  <a:gd name="T65" fmla="*/ 0 h 2428"/>
                  <a:gd name="T66" fmla="*/ 0 w 1046"/>
                  <a:gd name="T67" fmla="*/ 0 h 2428"/>
                  <a:gd name="T68" fmla="*/ 0 w 1046"/>
                  <a:gd name="T69" fmla="*/ 0 h 2428"/>
                  <a:gd name="T70" fmla="*/ 0 w 1046"/>
                  <a:gd name="T71" fmla="*/ 0 h 2428"/>
                  <a:gd name="T72" fmla="*/ 0 w 1046"/>
                  <a:gd name="T73" fmla="*/ 0 h 2428"/>
                  <a:gd name="T74" fmla="*/ 0 w 1046"/>
                  <a:gd name="T75" fmla="*/ 0 h 2428"/>
                  <a:gd name="T76" fmla="*/ 0 w 1046"/>
                  <a:gd name="T77" fmla="*/ 0 h 2428"/>
                  <a:gd name="T78" fmla="*/ 0 w 1046"/>
                  <a:gd name="T79" fmla="*/ 0 h 242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46"/>
                  <a:gd name="T121" fmla="*/ 0 h 2428"/>
                  <a:gd name="T122" fmla="*/ 1046 w 1046"/>
                  <a:gd name="T123" fmla="*/ 2428 h 242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46" h="2428">
                    <a:moveTo>
                      <a:pt x="58" y="0"/>
                    </a:moveTo>
                    <a:lnTo>
                      <a:pt x="52" y="2"/>
                    </a:lnTo>
                    <a:lnTo>
                      <a:pt x="47" y="4"/>
                    </a:lnTo>
                    <a:lnTo>
                      <a:pt x="43" y="5"/>
                    </a:lnTo>
                    <a:lnTo>
                      <a:pt x="39" y="7"/>
                    </a:lnTo>
                    <a:lnTo>
                      <a:pt x="33" y="10"/>
                    </a:lnTo>
                    <a:lnTo>
                      <a:pt x="25" y="13"/>
                    </a:lnTo>
                    <a:lnTo>
                      <a:pt x="15" y="18"/>
                    </a:lnTo>
                    <a:lnTo>
                      <a:pt x="0" y="25"/>
                    </a:lnTo>
                    <a:lnTo>
                      <a:pt x="29" y="97"/>
                    </a:lnTo>
                    <a:lnTo>
                      <a:pt x="56" y="164"/>
                    </a:lnTo>
                    <a:lnTo>
                      <a:pt x="80" y="225"/>
                    </a:lnTo>
                    <a:lnTo>
                      <a:pt x="104" y="282"/>
                    </a:lnTo>
                    <a:lnTo>
                      <a:pt x="125" y="334"/>
                    </a:lnTo>
                    <a:lnTo>
                      <a:pt x="145" y="384"/>
                    </a:lnTo>
                    <a:lnTo>
                      <a:pt x="164" y="430"/>
                    </a:lnTo>
                    <a:lnTo>
                      <a:pt x="182" y="475"/>
                    </a:lnTo>
                    <a:lnTo>
                      <a:pt x="199" y="518"/>
                    </a:lnTo>
                    <a:lnTo>
                      <a:pt x="217" y="560"/>
                    </a:lnTo>
                    <a:lnTo>
                      <a:pt x="233" y="601"/>
                    </a:lnTo>
                    <a:lnTo>
                      <a:pt x="250" y="643"/>
                    </a:lnTo>
                    <a:lnTo>
                      <a:pt x="268" y="686"/>
                    </a:lnTo>
                    <a:lnTo>
                      <a:pt x="285" y="730"/>
                    </a:lnTo>
                    <a:lnTo>
                      <a:pt x="305" y="776"/>
                    </a:lnTo>
                    <a:lnTo>
                      <a:pt x="324" y="825"/>
                    </a:lnTo>
                    <a:lnTo>
                      <a:pt x="344" y="876"/>
                    </a:lnTo>
                    <a:lnTo>
                      <a:pt x="367" y="932"/>
                    </a:lnTo>
                    <a:lnTo>
                      <a:pt x="391" y="991"/>
                    </a:lnTo>
                    <a:lnTo>
                      <a:pt x="418" y="1056"/>
                    </a:lnTo>
                    <a:lnTo>
                      <a:pt x="445" y="1126"/>
                    </a:lnTo>
                    <a:lnTo>
                      <a:pt x="477" y="1203"/>
                    </a:lnTo>
                    <a:lnTo>
                      <a:pt x="511" y="1285"/>
                    </a:lnTo>
                    <a:lnTo>
                      <a:pt x="546" y="1376"/>
                    </a:lnTo>
                    <a:lnTo>
                      <a:pt x="586" y="1474"/>
                    </a:lnTo>
                    <a:lnTo>
                      <a:pt x="629" y="1580"/>
                    </a:lnTo>
                    <a:lnTo>
                      <a:pt x="676" y="1695"/>
                    </a:lnTo>
                    <a:lnTo>
                      <a:pt x="726" y="1821"/>
                    </a:lnTo>
                    <a:lnTo>
                      <a:pt x="781" y="1956"/>
                    </a:lnTo>
                    <a:lnTo>
                      <a:pt x="840" y="2101"/>
                    </a:lnTo>
                    <a:lnTo>
                      <a:pt x="903" y="2258"/>
                    </a:lnTo>
                    <a:lnTo>
                      <a:pt x="972" y="2428"/>
                    </a:lnTo>
                    <a:lnTo>
                      <a:pt x="980" y="2424"/>
                    </a:lnTo>
                    <a:lnTo>
                      <a:pt x="986" y="2421"/>
                    </a:lnTo>
                    <a:lnTo>
                      <a:pt x="991" y="2419"/>
                    </a:lnTo>
                    <a:lnTo>
                      <a:pt x="997" y="2415"/>
                    </a:lnTo>
                    <a:lnTo>
                      <a:pt x="1004" y="2412"/>
                    </a:lnTo>
                    <a:lnTo>
                      <a:pt x="1013" y="2408"/>
                    </a:lnTo>
                    <a:lnTo>
                      <a:pt x="1028" y="2403"/>
                    </a:lnTo>
                    <a:lnTo>
                      <a:pt x="1046" y="2395"/>
                    </a:lnTo>
                    <a:lnTo>
                      <a:pt x="1017" y="2324"/>
                    </a:lnTo>
                    <a:lnTo>
                      <a:pt x="989" y="2257"/>
                    </a:lnTo>
                    <a:lnTo>
                      <a:pt x="964" y="2196"/>
                    </a:lnTo>
                    <a:lnTo>
                      <a:pt x="941" y="2139"/>
                    </a:lnTo>
                    <a:lnTo>
                      <a:pt x="920" y="2086"/>
                    </a:lnTo>
                    <a:lnTo>
                      <a:pt x="899" y="2037"/>
                    </a:lnTo>
                    <a:lnTo>
                      <a:pt x="880" y="1990"/>
                    </a:lnTo>
                    <a:lnTo>
                      <a:pt x="861" y="1946"/>
                    </a:lnTo>
                    <a:lnTo>
                      <a:pt x="843" y="1903"/>
                    </a:lnTo>
                    <a:lnTo>
                      <a:pt x="826" y="1861"/>
                    </a:lnTo>
                    <a:lnTo>
                      <a:pt x="809" y="1819"/>
                    </a:lnTo>
                    <a:lnTo>
                      <a:pt x="792" y="1778"/>
                    </a:lnTo>
                    <a:lnTo>
                      <a:pt x="774" y="1734"/>
                    </a:lnTo>
                    <a:lnTo>
                      <a:pt x="756" y="1691"/>
                    </a:lnTo>
                    <a:lnTo>
                      <a:pt x="737" y="1645"/>
                    </a:lnTo>
                    <a:lnTo>
                      <a:pt x="718" y="1596"/>
                    </a:lnTo>
                    <a:lnTo>
                      <a:pt x="696" y="1545"/>
                    </a:lnTo>
                    <a:lnTo>
                      <a:pt x="673" y="1490"/>
                    </a:lnTo>
                    <a:lnTo>
                      <a:pt x="648" y="1430"/>
                    </a:lnTo>
                    <a:lnTo>
                      <a:pt x="622" y="1365"/>
                    </a:lnTo>
                    <a:lnTo>
                      <a:pt x="593" y="1296"/>
                    </a:lnTo>
                    <a:lnTo>
                      <a:pt x="562" y="1220"/>
                    </a:lnTo>
                    <a:lnTo>
                      <a:pt x="528" y="1138"/>
                    </a:lnTo>
                    <a:lnTo>
                      <a:pt x="490" y="1047"/>
                    </a:lnTo>
                    <a:lnTo>
                      <a:pt x="450" y="950"/>
                    </a:lnTo>
                    <a:lnTo>
                      <a:pt x="407" y="843"/>
                    </a:lnTo>
                    <a:lnTo>
                      <a:pt x="359" y="730"/>
                    </a:lnTo>
                    <a:lnTo>
                      <a:pt x="308" y="605"/>
                    </a:lnTo>
                    <a:lnTo>
                      <a:pt x="251" y="470"/>
                    </a:lnTo>
                    <a:lnTo>
                      <a:pt x="192" y="325"/>
                    </a:lnTo>
                    <a:lnTo>
                      <a:pt x="127" y="16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8" name="Freeform 223">
                <a:extLst>
                  <a:ext uri="{FF2B5EF4-FFF2-40B4-BE49-F238E27FC236}">
                    <a16:creationId xmlns:a16="http://schemas.microsoft.com/office/drawing/2014/main" id="{1CBEBEE5-C780-4A36-9CBC-FB81C7F6F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6" cy="134"/>
              </a:xfrm>
              <a:custGeom>
                <a:avLst/>
                <a:gdLst>
                  <a:gd name="T0" fmla="*/ 0 w 1017"/>
                  <a:gd name="T1" fmla="*/ 0 h 2414"/>
                  <a:gd name="T2" fmla="*/ 0 w 1017"/>
                  <a:gd name="T3" fmla="*/ 0 h 2414"/>
                  <a:gd name="T4" fmla="*/ 0 w 1017"/>
                  <a:gd name="T5" fmla="*/ 0 h 2414"/>
                  <a:gd name="T6" fmla="*/ 0 w 1017"/>
                  <a:gd name="T7" fmla="*/ 0 h 2414"/>
                  <a:gd name="T8" fmla="*/ 0 w 1017"/>
                  <a:gd name="T9" fmla="*/ 0 h 2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7"/>
                  <a:gd name="T16" fmla="*/ 0 h 2414"/>
                  <a:gd name="T17" fmla="*/ 1017 w 1017"/>
                  <a:gd name="T18" fmla="*/ 2414 h 24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7" h="2414">
                    <a:moveTo>
                      <a:pt x="32" y="0"/>
                    </a:moveTo>
                    <a:lnTo>
                      <a:pt x="0" y="13"/>
                    </a:lnTo>
                    <a:lnTo>
                      <a:pt x="977" y="2414"/>
                    </a:lnTo>
                    <a:lnTo>
                      <a:pt x="1017" y="239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59" name="Freeform 224">
                <a:extLst>
                  <a:ext uri="{FF2B5EF4-FFF2-40B4-BE49-F238E27FC236}">
                    <a16:creationId xmlns:a16="http://schemas.microsoft.com/office/drawing/2014/main" id="{CC08E960-6AFA-4799-BC57-8D01C83C0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8"/>
                <a:ext cx="8" cy="6"/>
              </a:xfrm>
              <a:custGeom>
                <a:avLst/>
                <a:gdLst>
                  <a:gd name="T0" fmla="*/ 0 w 173"/>
                  <a:gd name="T1" fmla="*/ 0 h 95"/>
                  <a:gd name="T2" fmla="*/ 0 w 173"/>
                  <a:gd name="T3" fmla="*/ 0 h 95"/>
                  <a:gd name="T4" fmla="*/ 0 w 173"/>
                  <a:gd name="T5" fmla="*/ 0 h 95"/>
                  <a:gd name="T6" fmla="*/ 0 w 173"/>
                  <a:gd name="T7" fmla="*/ 0 h 95"/>
                  <a:gd name="T8" fmla="*/ 0 w 173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"/>
                  <a:gd name="T16" fmla="*/ 0 h 95"/>
                  <a:gd name="T17" fmla="*/ 173 w 173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" h="95">
                    <a:moveTo>
                      <a:pt x="173" y="20"/>
                    </a:moveTo>
                    <a:lnTo>
                      <a:pt x="7" y="95"/>
                    </a:lnTo>
                    <a:lnTo>
                      <a:pt x="0" y="75"/>
                    </a:lnTo>
                    <a:lnTo>
                      <a:pt x="166" y="0"/>
                    </a:lnTo>
                    <a:lnTo>
                      <a:pt x="173" y="2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0" name="Freeform 225">
                <a:extLst>
                  <a:ext uri="{FF2B5EF4-FFF2-40B4-BE49-F238E27FC236}">
                    <a16:creationId xmlns:a16="http://schemas.microsoft.com/office/drawing/2014/main" id="{9B677D45-7A16-45AC-B2A5-D43575F63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9" cy="10"/>
              </a:xfrm>
              <a:custGeom>
                <a:avLst/>
                <a:gdLst>
                  <a:gd name="T0" fmla="*/ 0 w 200"/>
                  <a:gd name="T1" fmla="*/ 0 h 179"/>
                  <a:gd name="T2" fmla="*/ 0 w 200"/>
                  <a:gd name="T3" fmla="*/ 0 h 179"/>
                  <a:gd name="T4" fmla="*/ 0 w 200"/>
                  <a:gd name="T5" fmla="*/ 0 h 179"/>
                  <a:gd name="T6" fmla="*/ 0 w 200"/>
                  <a:gd name="T7" fmla="*/ 0 h 179"/>
                  <a:gd name="T8" fmla="*/ 0 w 200"/>
                  <a:gd name="T9" fmla="*/ 0 h 179"/>
                  <a:gd name="T10" fmla="*/ 0 w 200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0"/>
                  <a:gd name="T19" fmla="*/ 0 h 179"/>
                  <a:gd name="T20" fmla="*/ 200 w 200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0" h="179">
                    <a:moveTo>
                      <a:pt x="200" y="106"/>
                    </a:moveTo>
                    <a:lnTo>
                      <a:pt x="33" y="179"/>
                    </a:lnTo>
                    <a:lnTo>
                      <a:pt x="0" y="100"/>
                    </a:lnTo>
                    <a:lnTo>
                      <a:pt x="58" y="0"/>
                    </a:lnTo>
                    <a:lnTo>
                      <a:pt x="168" y="26"/>
                    </a:lnTo>
                    <a:lnTo>
                      <a:pt x="200" y="106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1" name="Freeform 226">
                <a:extLst>
                  <a:ext uri="{FF2B5EF4-FFF2-40B4-BE49-F238E27FC236}">
                    <a16:creationId xmlns:a16="http://schemas.microsoft.com/office/drawing/2014/main" id="{E0C4914C-C760-4BD3-A061-BCC11D966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8" cy="10"/>
              </a:xfrm>
              <a:custGeom>
                <a:avLst/>
                <a:gdLst>
                  <a:gd name="T0" fmla="*/ 0 w 173"/>
                  <a:gd name="T1" fmla="*/ 0 h 177"/>
                  <a:gd name="T2" fmla="*/ 0 w 173"/>
                  <a:gd name="T3" fmla="*/ 0 h 177"/>
                  <a:gd name="T4" fmla="*/ 0 w 173"/>
                  <a:gd name="T5" fmla="*/ 0 h 177"/>
                  <a:gd name="T6" fmla="*/ 0 w 173"/>
                  <a:gd name="T7" fmla="*/ 0 h 177"/>
                  <a:gd name="T8" fmla="*/ 0 w 173"/>
                  <a:gd name="T9" fmla="*/ 0 h 177"/>
                  <a:gd name="T10" fmla="*/ 0 w 173"/>
                  <a:gd name="T11" fmla="*/ 0 h 177"/>
                  <a:gd name="T12" fmla="*/ 0 w 173"/>
                  <a:gd name="T13" fmla="*/ 0 h 177"/>
                  <a:gd name="T14" fmla="*/ 0 w 173"/>
                  <a:gd name="T15" fmla="*/ 0 h 177"/>
                  <a:gd name="T16" fmla="*/ 0 w 173"/>
                  <a:gd name="T17" fmla="*/ 0 h 177"/>
                  <a:gd name="T18" fmla="*/ 0 w 173"/>
                  <a:gd name="T19" fmla="*/ 0 h 177"/>
                  <a:gd name="T20" fmla="*/ 0 w 173"/>
                  <a:gd name="T21" fmla="*/ 0 h 177"/>
                  <a:gd name="T22" fmla="*/ 0 w 173"/>
                  <a:gd name="T23" fmla="*/ 0 h 177"/>
                  <a:gd name="T24" fmla="*/ 0 w 173"/>
                  <a:gd name="T25" fmla="*/ 0 h 177"/>
                  <a:gd name="T26" fmla="*/ 0 w 173"/>
                  <a:gd name="T27" fmla="*/ 0 h 177"/>
                  <a:gd name="T28" fmla="*/ 0 w 173"/>
                  <a:gd name="T29" fmla="*/ 0 h 177"/>
                  <a:gd name="T30" fmla="*/ 0 w 173"/>
                  <a:gd name="T31" fmla="*/ 0 h 177"/>
                  <a:gd name="T32" fmla="*/ 0 w 173"/>
                  <a:gd name="T33" fmla="*/ 0 h 177"/>
                  <a:gd name="T34" fmla="*/ 0 w 173"/>
                  <a:gd name="T35" fmla="*/ 0 h 177"/>
                  <a:gd name="T36" fmla="*/ 0 w 173"/>
                  <a:gd name="T37" fmla="*/ 0 h 177"/>
                  <a:gd name="T38" fmla="*/ 0 w 173"/>
                  <a:gd name="T39" fmla="*/ 0 h 177"/>
                  <a:gd name="T40" fmla="*/ 0 w 173"/>
                  <a:gd name="T41" fmla="*/ 0 h 177"/>
                  <a:gd name="T42" fmla="*/ 0 w 173"/>
                  <a:gd name="T43" fmla="*/ 0 h 177"/>
                  <a:gd name="T44" fmla="*/ 0 w 173"/>
                  <a:gd name="T45" fmla="*/ 0 h 177"/>
                  <a:gd name="T46" fmla="*/ 0 w 173"/>
                  <a:gd name="T47" fmla="*/ 0 h 177"/>
                  <a:gd name="T48" fmla="*/ 0 w 173"/>
                  <a:gd name="T49" fmla="*/ 0 h 177"/>
                  <a:gd name="T50" fmla="*/ 0 w 173"/>
                  <a:gd name="T51" fmla="*/ 0 h 177"/>
                  <a:gd name="T52" fmla="*/ 0 w 173"/>
                  <a:gd name="T53" fmla="*/ 0 h 177"/>
                  <a:gd name="T54" fmla="*/ 0 w 173"/>
                  <a:gd name="T55" fmla="*/ 0 h 177"/>
                  <a:gd name="T56" fmla="*/ 0 w 173"/>
                  <a:gd name="T57" fmla="*/ 0 h 177"/>
                  <a:gd name="T58" fmla="*/ 0 w 173"/>
                  <a:gd name="T59" fmla="*/ 0 h 177"/>
                  <a:gd name="T60" fmla="*/ 0 w 173"/>
                  <a:gd name="T61" fmla="*/ 0 h 177"/>
                  <a:gd name="T62" fmla="*/ 0 w 173"/>
                  <a:gd name="T63" fmla="*/ 0 h 177"/>
                  <a:gd name="T64" fmla="*/ 0 w 173"/>
                  <a:gd name="T65" fmla="*/ 0 h 177"/>
                  <a:gd name="T66" fmla="*/ 0 w 173"/>
                  <a:gd name="T67" fmla="*/ 0 h 177"/>
                  <a:gd name="T68" fmla="*/ 0 w 173"/>
                  <a:gd name="T69" fmla="*/ 0 h 177"/>
                  <a:gd name="T70" fmla="*/ 0 w 173"/>
                  <a:gd name="T71" fmla="*/ 0 h 177"/>
                  <a:gd name="T72" fmla="*/ 0 w 173"/>
                  <a:gd name="T73" fmla="*/ 0 h 177"/>
                  <a:gd name="T74" fmla="*/ 0 w 173"/>
                  <a:gd name="T75" fmla="*/ 0 h 177"/>
                  <a:gd name="T76" fmla="*/ 0 w 173"/>
                  <a:gd name="T77" fmla="*/ 0 h 177"/>
                  <a:gd name="T78" fmla="*/ 0 w 173"/>
                  <a:gd name="T79" fmla="*/ 0 h 177"/>
                  <a:gd name="T80" fmla="*/ 0 w 173"/>
                  <a:gd name="T81" fmla="*/ 0 h 17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73"/>
                  <a:gd name="T124" fmla="*/ 0 h 177"/>
                  <a:gd name="T125" fmla="*/ 173 w 173"/>
                  <a:gd name="T126" fmla="*/ 177 h 17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73" h="177">
                    <a:moveTo>
                      <a:pt x="173" y="116"/>
                    </a:moveTo>
                    <a:lnTo>
                      <a:pt x="159" y="122"/>
                    </a:lnTo>
                    <a:lnTo>
                      <a:pt x="147" y="126"/>
                    </a:lnTo>
                    <a:lnTo>
                      <a:pt x="137" y="131"/>
                    </a:lnTo>
                    <a:lnTo>
                      <a:pt x="127" y="135"/>
                    </a:lnTo>
                    <a:lnTo>
                      <a:pt x="114" y="141"/>
                    </a:lnTo>
                    <a:lnTo>
                      <a:pt x="94" y="150"/>
                    </a:lnTo>
                    <a:lnTo>
                      <a:pt x="69" y="161"/>
                    </a:lnTo>
                    <a:lnTo>
                      <a:pt x="33" y="177"/>
                    </a:lnTo>
                    <a:lnTo>
                      <a:pt x="30" y="168"/>
                    </a:lnTo>
                    <a:lnTo>
                      <a:pt x="27" y="161"/>
                    </a:lnTo>
                    <a:lnTo>
                      <a:pt x="25" y="156"/>
                    </a:lnTo>
                    <a:lnTo>
                      <a:pt x="23" y="150"/>
                    </a:lnTo>
                    <a:lnTo>
                      <a:pt x="20" y="141"/>
                    </a:lnTo>
                    <a:lnTo>
                      <a:pt x="16" y="131"/>
                    </a:lnTo>
                    <a:lnTo>
                      <a:pt x="9" y="117"/>
                    </a:lnTo>
                    <a:lnTo>
                      <a:pt x="0" y="97"/>
                    </a:lnTo>
                    <a:lnTo>
                      <a:pt x="7" y="86"/>
                    </a:lnTo>
                    <a:lnTo>
                      <a:pt x="11" y="78"/>
                    </a:lnTo>
                    <a:lnTo>
                      <a:pt x="15" y="70"/>
                    </a:lnTo>
                    <a:lnTo>
                      <a:pt x="19" y="63"/>
                    </a:lnTo>
                    <a:lnTo>
                      <a:pt x="24" y="54"/>
                    </a:lnTo>
                    <a:lnTo>
                      <a:pt x="31" y="41"/>
                    </a:lnTo>
                    <a:lnTo>
                      <a:pt x="40" y="24"/>
                    </a:lnTo>
                    <a:lnTo>
                      <a:pt x="52" y="0"/>
                    </a:lnTo>
                    <a:lnTo>
                      <a:pt x="63" y="3"/>
                    </a:lnTo>
                    <a:lnTo>
                      <a:pt x="70" y="6"/>
                    </a:lnTo>
                    <a:lnTo>
                      <a:pt x="76" y="8"/>
                    </a:lnTo>
                    <a:lnTo>
                      <a:pt x="83" y="11"/>
                    </a:lnTo>
                    <a:lnTo>
                      <a:pt x="91" y="15"/>
                    </a:lnTo>
                    <a:lnTo>
                      <a:pt x="102" y="20"/>
                    </a:lnTo>
                    <a:lnTo>
                      <a:pt x="119" y="27"/>
                    </a:lnTo>
                    <a:lnTo>
                      <a:pt x="140" y="37"/>
                    </a:lnTo>
                    <a:lnTo>
                      <a:pt x="144" y="44"/>
                    </a:lnTo>
                    <a:lnTo>
                      <a:pt x="146" y="50"/>
                    </a:lnTo>
                    <a:lnTo>
                      <a:pt x="149" y="56"/>
                    </a:lnTo>
                    <a:lnTo>
                      <a:pt x="151" y="61"/>
                    </a:lnTo>
                    <a:lnTo>
                      <a:pt x="154" y="69"/>
                    </a:lnTo>
                    <a:lnTo>
                      <a:pt x="159" y="80"/>
                    </a:lnTo>
                    <a:lnTo>
                      <a:pt x="165" y="95"/>
                    </a:lnTo>
                    <a:lnTo>
                      <a:pt x="173" y="116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2" name="Freeform 227">
                <a:extLst>
                  <a:ext uri="{FF2B5EF4-FFF2-40B4-BE49-F238E27FC236}">
                    <a16:creationId xmlns:a16="http://schemas.microsoft.com/office/drawing/2014/main" id="{D0412335-37FA-403E-BE4E-051F7DA5C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6" cy="9"/>
              </a:xfrm>
              <a:custGeom>
                <a:avLst/>
                <a:gdLst>
                  <a:gd name="T0" fmla="*/ 0 w 142"/>
                  <a:gd name="T1" fmla="*/ 0 h 175"/>
                  <a:gd name="T2" fmla="*/ 0 w 142"/>
                  <a:gd name="T3" fmla="*/ 0 h 175"/>
                  <a:gd name="T4" fmla="*/ 0 w 142"/>
                  <a:gd name="T5" fmla="*/ 0 h 175"/>
                  <a:gd name="T6" fmla="*/ 0 w 142"/>
                  <a:gd name="T7" fmla="*/ 0 h 175"/>
                  <a:gd name="T8" fmla="*/ 0 w 142"/>
                  <a:gd name="T9" fmla="*/ 0 h 175"/>
                  <a:gd name="T10" fmla="*/ 0 w 142"/>
                  <a:gd name="T11" fmla="*/ 0 h 175"/>
                  <a:gd name="T12" fmla="*/ 0 w 142"/>
                  <a:gd name="T13" fmla="*/ 0 h 175"/>
                  <a:gd name="T14" fmla="*/ 0 w 142"/>
                  <a:gd name="T15" fmla="*/ 0 h 175"/>
                  <a:gd name="T16" fmla="*/ 0 w 142"/>
                  <a:gd name="T17" fmla="*/ 0 h 175"/>
                  <a:gd name="T18" fmla="*/ 0 w 142"/>
                  <a:gd name="T19" fmla="*/ 0 h 175"/>
                  <a:gd name="T20" fmla="*/ 0 w 142"/>
                  <a:gd name="T21" fmla="*/ 0 h 175"/>
                  <a:gd name="T22" fmla="*/ 0 w 142"/>
                  <a:gd name="T23" fmla="*/ 0 h 175"/>
                  <a:gd name="T24" fmla="*/ 0 w 142"/>
                  <a:gd name="T25" fmla="*/ 0 h 175"/>
                  <a:gd name="T26" fmla="*/ 0 w 142"/>
                  <a:gd name="T27" fmla="*/ 0 h 175"/>
                  <a:gd name="T28" fmla="*/ 0 w 142"/>
                  <a:gd name="T29" fmla="*/ 0 h 175"/>
                  <a:gd name="T30" fmla="*/ 0 w 142"/>
                  <a:gd name="T31" fmla="*/ 0 h 175"/>
                  <a:gd name="T32" fmla="*/ 0 w 142"/>
                  <a:gd name="T33" fmla="*/ 0 h 175"/>
                  <a:gd name="T34" fmla="*/ 0 w 142"/>
                  <a:gd name="T35" fmla="*/ 0 h 175"/>
                  <a:gd name="T36" fmla="*/ 0 w 142"/>
                  <a:gd name="T37" fmla="*/ 0 h 175"/>
                  <a:gd name="T38" fmla="*/ 0 w 142"/>
                  <a:gd name="T39" fmla="*/ 0 h 175"/>
                  <a:gd name="T40" fmla="*/ 0 w 142"/>
                  <a:gd name="T41" fmla="*/ 0 h 175"/>
                  <a:gd name="T42" fmla="*/ 0 w 142"/>
                  <a:gd name="T43" fmla="*/ 0 h 175"/>
                  <a:gd name="T44" fmla="*/ 0 w 142"/>
                  <a:gd name="T45" fmla="*/ 0 h 175"/>
                  <a:gd name="T46" fmla="*/ 0 w 142"/>
                  <a:gd name="T47" fmla="*/ 0 h 175"/>
                  <a:gd name="T48" fmla="*/ 0 w 142"/>
                  <a:gd name="T49" fmla="*/ 0 h 175"/>
                  <a:gd name="T50" fmla="*/ 0 w 142"/>
                  <a:gd name="T51" fmla="*/ 0 h 175"/>
                  <a:gd name="T52" fmla="*/ 0 w 142"/>
                  <a:gd name="T53" fmla="*/ 0 h 175"/>
                  <a:gd name="T54" fmla="*/ 0 w 142"/>
                  <a:gd name="T55" fmla="*/ 0 h 175"/>
                  <a:gd name="T56" fmla="*/ 0 w 142"/>
                  <a:gd name="T57" fmla="*/ 0 h 175"/>
                  <a:gd name="T58" fmla="*/ 0 w 142"/>
                  <a:gd name="T59" fmla="*/ 0 h 175"/>
                  <a:gd name="T60" fmla="*/ 0 w 142"/>
                  <a:gd name="T61" fmla="*/ 0 h 175"/>
                  <a:gd name="T62" fmla="*/ 0 w 142"/>
                  <a:gd name="T63" fmla="*/ 0 h 175"/>
                  <a:gd name="T64" fmla="*/ 0 w 142"/>
                  <a:gd name="T65" fmla="*/ 0 h 175"/>
                  <a:gd name="T66" fmla="*/ 0 w 142"/>
                  <a:gd name="T67" fmla="*/ 0 h 175"/>
                  <a:gd name="T68" fmla="*/ 0 w 142"/>
                  <a:gd name="T69" fmla="*/ 0 h 175"/>
                  <a:gd name="T70" fmla="*/ 0 w 142"/>
                  <a:gd name="T71" fmla="*/ 0 h 175"/>
                  <a:gd name="T72" fmla="*/ 0 w 142"/>
                  <a:gd name="T73" fmla="*/ 0 h 175"/>
                  <a:gd name="T74" fmla="*/ 0 w 142"/>
                  <a:gd name="T75" fmla="*/ 0 h 175"/>
                  <a:gd name="T76" fmla="*/ 0 w 142"/>
                  <a:gd name="T77" fmla="*/ 0 h 175"/>
                  <a:gd name="T78" fmla="*/ 0 w 142"/>
                  <a:gd name="T79" fmla="*/ 0 h 175"/>
                  <a:gd name="T80" fmla="*/ 0 w 142"/>
                  <a:gd name="T81" fmla="*/ 0 h 17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175"/>
                  <a:gd name="T125" fmla="*/ 142 w 142"/>
                  <a:gd name="T126" fmla="*/ 175 h 17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175">
                    <a:moveTo>
                      <a:pt x="142" y="126"/>
                    </a:moveTo>
                    <a:lnTo>
                      <a:pt x="131" y="131"/>
                    </a:lnTo>
                    <a:lnTo>
                      <a:pt x="122" y="135"/>
                    </a:lnTo>
                    <a:lnTo>
                      <a:pt x="115" y="137"/>
                    </a:lnTo>
                    <a:lnTo>
                      <a:pt x="107" y="141"/>
                    </a:lnTo>
                    <a:lnTo>
                      <a:pt x="96" y="145"/>
                    </a:lnTo>
                    <a:lnTo>
                      <a:pt x="81" y="152"/>
                    </a:lnTo>
                    <a:lnTo>
                      <a:pt x="61" y="161"/>
                    </a:lnTo>
                    <a:lnTo>
                      <a:pt x="32" y="175"/>
                    </a:lnTo>
                    <a:lnTo>
                      <a:pt x="29" y="165"/>
                    </a:lnTo>
                    <a:lnTo>
                      <a:pt x="26" y="159"/>
                    </a:lnTo>
                    <a:lnTo>
                      <a:pt x="24" y="153"/>
                    </a:lnTo>
                    <a:lnTo>
                      <a:pt x="22" y="146"/>
                    </a:lnTo>
                    <a:lnTo>
                      <a:pt x="19" y="139"/>
                    </a:lnTo>
                    <a:lnTo>
                      <a:pt x="15" y="128"/>
                    </a:lnTo>
                    <a:lnTo>
                      <a:pt x="8" y="114"/>
                    </a:lnTo>
                    <a:lnTo>
                      <a:pt x="0" y="95"/>
                    </a:lnTo>
                    <a:lnTo>
                      <a:pt x="5" y="84"/>
                    </a:lnTo>
                    <a:lnTo>
                      <a:pt x="9" y="76"/>
                    </a:lnTo>
                    <a:lnTo>
                      <a:pt x="12" y="68"/>
                    </a:lnTo>
                    <a:lnTo>
                      <a:pt x="16" y="61"/>
                    </a:lnTo>
                    <a:lnTo>
                      <a:pt x="20" y="53"/>
                    </a:lnTo>
                    <a:lnTo>
                      <a:pt x="26" y="40"/>
                    </a:lnTo>
                    <a:lnTo>
                      <a:pt x="34" y="23"/>
                    </a:lnTo>
                    <a:lnTo>
                      <a:pt x="45" y="0"/>
                    </a:lnTo>
                    <a:lnTo>
                      <a:pt x="53" y="4"/>
                    </a:lnTo>
                    <a:lnTo>
                      <a:pt x="59" y="8"/>
                    </a:lnTo>
                    <a:lnTo>
                      <a:pt x="63" y="11"/>
                    </a:lnTo>
                    <a:lnTo>
                      <a:pt x="68" y="15"/>
                    </a:lnTo>
                    <a:lnTo>
                      <a:pt x="74" y="19"/>
                    </a:lnTo>
                    <a:lnTo>
                      <a:pt x="83" y="25"/>
                    </a:lnTo>
                    <a:lnTo>
                      <a:pt x="94" y="34"/>
                    </a:lnTo>
                    <a:lnTo>
                      <a:pt x="111" y="46"/>
                    </a:lnTo>
                    <a:lnTo>
                      <a:pt x="115" y="55"/>
                    </a:lnTo>
                    <a:lnTo>
                      <a:pt x="117" y="60"/>
                    </a:lnTo>
                    <a:lnTo>
                      <a:pt x="120" y="65"/>
                    </a:lnTo>
                    <a:lnTo>
                      <a:pt x="122" y="71"/>
                    </a:lnTo>
                    <a:lnTo>
                      <a:pt x="125" y="79"/>
                    </a:lnTo>
                    <a:lnTo>
                      <a:pt x="129" y="89"/>
                    </a:lnTo>
                    <a:lnTo>
                      <a:pt x="135" y="105"/>
                    </a:lnTo>
                    <a:lnTo>
                      <a:pt x="142" y="126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3" name="Freeform 228">
                <a:extLst>
                  <a:ext uri="{FF2B5EF4-FFF2-40B4-BE49-F238E27FC236}">
                    <a16:creationId xmlns:a16="http://schemas.microsoft.com/office/drawing/2014/main" id="{41DB6D46-77C3-478F-B129-A6AAF15F9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5" cy="9"/>
              </a:xfrm>
              <a:custGeom>
                <a:avLst/>
                <a:gdLst>
                  <a:gd name="T0" fmla="*/ 0 w 116"/>
                  <a:gd name="T1" fmla="*/ 0 h 172"/>
                  <a:gd name="T2" fmla="*/ 0 w 116"/>
                  <a:gd name="T3" fmla="*/ 0 h 172"/>
                  <a:gd name="T4" fmla="*/ 0 w 116"/>
                  <a:gd name="T5" fmla="*/ 0 h 172"/>
                  <a:gd name="T6" fmla="*/ 0 w 116"/>
                  <a:gd name="T7" fmla="*/ 0 h 172"/>
                  <a:gd name="T8" fmla="*/ 0 w 116"/>
                  <a:gd name="T9" fmla="*/ 0 h 172"/>
                  <a:gd name="T10" fmla="*/ 0 w 116"/>
                  <a:gd name="T11" fmla="*/ 0 h 172"/>
                  <a:gd name="T12" fmla="*/ 0 w 116"/>
                  <a:gd name="T13" fmla="*/ 0 h 172"/>
                  <a:gd name="T14" fmla="*/ 0 w 116"/>
                  <a:gd name="T15" fmla="*/ 0 h 172"/>
                  <a:gd name="T16" fmla="*/ 0 w 116"/>
                  <a:gd name="T17" fmla="*/ 0 h 172"/>
                  <a:gd name="T18" fmla="*/ 0 w 116"/>
                  <a:gd name="T19" fmla="*/ 0 h 172"/>
                  <a:gd name="T20" fmla="*/ 0 w 116"/>
                  <a:gd name="T21" fmla="*/ 0 h 172"/>
                  <a:gd name="T22" fmla="*/ 0 w 116"/>
                  <a:gd name="T23" fmla="*/ 0 h 172"/>
                  <a:gd name="T24" fmla="*/ 0 w 116"/>
                  <a:gd name="T25" fmla="*/ 0 h 172"/>
                  <a:gd name="T26" fmla="*/ 0 w 116"/>
                  <a:gd name="T27" fmla="*/ 0 h 172"/>
                  <a:gd name="T28" fmla="*/ 0 w 116"/>
                  <a:gd name="T29" fmla="*/ 0 h 172"/>
                  <a:gd name="T30" fmla="*/ 0 w 116"/>
                  <a:gd name="T31" fmla="*/ 0 h 172"/>
                  <a:gd name="T32" fmla="*/ 0 w 116"/>
                  <a:gd name="T33" fmla="*/ 0 h 172"/>
                  <a:gd name="T34" fmla="*/ 0 w 116"/>
                  <a:gd name="T35" fmla="*/ 0 h 172"/>
                  <a:gd name="T36" fmla="*/ 0 w 116"/>
                  <a:gd name="T37" fmla="*/ 0 h 172"/>
                  <a:gd name="T38" fmla="*/ 0 w 116"/>
                  <a:gd name="T39" fmla="*/ 0 h 172"/>
                  <a:gd name="T40" fmla="*/ 0 w 116"/>
                  <a:gd name="T41" fmla="*/ 0 h 172"/>
                  <a:gd name="T42" fmla="*/ 0 w 116"/>
                  <a:gd name="T43" fmla="*/ 0 h 172"/>
                  <a:gd name="T44" fmla="*/ 0 w 116"/>
                  <a:gd name="T45" fmla="*/ 0 h 172"/>
                  <a:gd name="T46" fmla="*/ 0 w 116"/>
                  <a:gd name="T47" fmla="*/ 0 h 172"/>
                  <a:gd name="T48" fmla="*/ 0 w 116"/>
                  <a:gd name="T49" fmla="*/ 0 h 172"/>
                  <a:gd name="T50" fmla="*/ 0 w 116"/>
                  <a:gd name="T51" fmla="*/ 0 h 172"/>
                  <a:gd name="T52" fmla="*/ 0 w 116"/>
                  <a:gd name="T53" fmla="*/ 0 h 172"/>
                  <a:gd name="T54" fmla="*/ 0 w 116"/>
                  <a:gd name="T55" fmla="*/ 0 h 172"/>
                  <a:gd name="T56" fmla="*/ 0 w 116"/>
                  <a:gd name="T57" fmla="*/ 0 h 172"/>
                  <a:gd name="T58" fmla="*/ 0 w 116"/>
                  <a:gd name="T59" fmla="*/ 0 h 172"/>
                  <a:gd name="T60" fmla="*/ 0 w 116"/>
                  <a:gd name="T61" fmla="*/ 0 h 172"/>
                  <a:gd name="T62" fmla="*/ 0 w 116"/>
                  <a:gd name="T63" fmla="*/ 0 h 172"/>
                  <a:gd name="T64" fmla="*/ 0 w 116"/>
                  <a:gd name="T65" fmla="*/ 0 h 172"/>
                  <a:gd name="T66" fmla="*/ 0 w 116"/>
                  <a:gd name="T67" fmla="*/ 0 h 172"/>
                  <a:gd name="T68" fmla="*/ 0 w 116"/>
                  <a:gd name="T69" fmla="*/ 0 h 172"/>
                  <a:gd name="T70" fmla="*/ 0 w 116"/>
                  <a:gd name="T71" fmla="*/ 0 h 172"/>
                  <a:gd name="T72" fmla="*/ 0 w 116"/>
                  <a:gd name="T73" fmla="*/ 0 h 172"/>
                  <a:gd name="T74" fmla="*/ 0 w 116"/>
                  <a:gd name="T75" fmla="*/ 0 h 172"/>
                  <a:gd name="T76" fmla="*/ 0 w 116"/>
                  <a:gd name="T77" fmla="*/ 0 h 172"/>
                  <a:gd name="T78" fmla="*/ 0 w 116"/>
                  <a:gd name="T79" fmla="*/ 0 h 172"/>
                  <a:gd name="T80" fmla="*/ 0 w 116"/>
                  <a:gd name="T81" fmla="*/ 0 h 17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6"/>
                  <a:gd name="T124" fmla="*/ 0 h 172"/>
                  <a:gd name="T125" fmla="*/ 116 w 116"/>
                  <a:gd name="T126" fmla="*/ 172 h 17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6" h="172">
                    <a:moveTo>
                      <a:pt x="116" y="136"/>
                    </a:moveTo>
                    <a:lnTo>
                      <a:pt x="107" y="139"/>
                    </a:lnTo>
                    <a:lnTo>
                      <a:pt x="101" y="141"/>
                    </a:lnTo>
                    <a:lnTo>
                      <a:pt x="95" y="144"/>
                    </a:lnTo>
                    <a:lnTo>
                      <a:pt x="88" y="146"/>
                    </a:lnTo>
                    <a:lnTo>
                      <a:pt x="80" y="150"/>
                    </a:lnTo>
                    <a:lnTo>
                      <a:pt x="69" y="155"/>
                    </a:lnTo>
                    <a:lnTo>
                      <a:pt x="54" y="162"/>
                    </a:lnTo>
                    <a:lnTo>
                      <a:pt x="32" y="172"/>
                    </a:lnTo>
                    <a:lnTo>
                      <a:pt x="29" y="163"/>
                    </a:lnTo>
                    <a:lnTo>
                      <a:pt x="26" y="156"/>
                    </a:lnTo>
                    <a:lnTo>
                      <a:pt x="24" y="151"/>
                    </a:lnTo>
                    <a:lnTo>
                      <a:pt x="22" y="144"/>
                    </a:lnTo>
                    <a:lnTo>
                      <a:pt x="19" y="136"/>
                    </a:lnTo>
                    <a:lnTo>
                      <a:pt x="15" y="126"/>
                    </a:lnTo>
                    <a:lnTo>
                      <a:pt x="8" y="112"/>
                    </a:lnTo>
                    <a:lnTo>
                      <a:pt x="0" y="93"/>
                    </a:lnTo>
                    <a:lnTo>
                      <a:pt x="5" y="82"/>
                    </a:lnTo>
                    <a:lnTo>
                      <a:pt x="8" y="74"/>
                    </a:lnTo>
                    <a:lnTo>
                      <a:pt x="11" y="67"/>
                    </a:lnTo>
                    <a:lnTo>
                      <a:pt x="14" y="60"/>
                    </a:lnTo>
                    <a:lnTo>
                      <a:pt x="18" y="51"/>
                    </a:lnTo>
                    <a:lnTo>
                      <a:pt x="23" y="39"/>
                    </a:lnTo>
                    <a:lnTo>
                      <a:pt x="31" y="22"/>
                    </a:lnTo>
                    <a:lnTo>
                      <a:pt x="40" y="0"/>
                    </a:lnTo>
                    <a:lnTo>
                      <a:pt x="46" y="5"/>
                    </a:lnTo>
                    <a:lnTo>
                      <a:pt x="50" y="9"/>
                    </a:lnTo>
                    <a:lnTo>
                      <a:pt x="53" y="14"/>
                    </a:lnTo>
                    <a:lnTo>
                      <a:pt x="56" y="18"/>
                    </a:lnTo>
                    <a:lnTo>
                      <a:pt x="60" y="23"/>
                    </a:lnTo>
                    <a:lnTo>
                      <a:pt x="65" y="30"/>
                    </a:lnTo>
                    <a:lnTo>
                      <a:pt x="73" y="41"/>
                    </a:lnTo>
                    <a:lnTo>
                      <a:pt x="83" y="56"/>
                    </a:lnTo>
                    <a:lnTo>
                      <a:pt x="87" y="64"/>
                    </a:lnTo>
                    <a:lnTo>
                      <a:pt x="89" y="69"/>
                    </a:lnTo>
                    <a:lnTo>
                      <a:pt x="92" y="75"/>
                    </a:lnTo>
                    <a:lnTo>
                      <a:pt x="95" y="81"/>
                    </a:lnTo>
                    <a:lnTo>
                      <a:pt x="98" y="88"/>
                    </a:lnTo>
                    <a:lnTo>
                      <a:pt x="102" y="99"/>
                    </a:lnTo>
                    <a:lnTo>
                      <a:pt x="108" y="115"/>
                    </a:lnTo>
                    <a:lnTo>
                      <a:pt x="116" y="136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4" name="Freeform 229">
                <a:extLst>
                  <a:ext uri="{FF2B5EF4-FFF2-40B4-BE49-F238E27FC236}">
                    <a16:creationId xmlns:a16="http://schemas.microsoft.com/office/drawing/2014/main" id="{5028153E-9CBD-4A9B-A05C-5158464A4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4" cy="9"/>
              </a:xfrm>
              <a:custGeom>
                <a:avLst/>
                <a:gdLst>
                  <a:gd name="T0" fmla="*/ 0 w 88"/>
                  <a:gd name="T1" fmla="*/ 0 h 170"/>
                  <a:gd name="T2" fmla="*/ 0 w 88"/>
                  <a:gd name="T3" fmla="*/ 0 h 170"/>
                  <a:gd name="T4" fmla="*/ 0 w 88"/>
                  <a:gd name="T5" fmla="*/ 0 h 170"/>
                  <a:gd name="T6" fmla="*/ 0 w 88"/>
                  <a:gd name="T7" fmla="*/ 0 h 170"/>
                  <a:gd name="T8" fmla="*/ 0 w 88"/>
                  <a:gd name="T9" fmla="*/ 0 h 170"/>
                  <a:gd name="T10" fmla="*/ 0 w 88"/>
                  <a:gd name="T11" fmla="*/ 0 h 170"/>
                  <a:gd name="T12" fmla="*/ 0 w 88"/>
                  <a:gd name="T13" fmla="*/ 0 h 170"/>
                  <a:gd name="T14" fmla="*/ 0 w 88"/>
                  <a:gd name="T15" fmla="*/ 0 h 170"/>
                  <a:gd name="T16" fmla="*/ 0 w 88"/>
                  <a:gd name="T17" fmla="*/ 0 h 170"/>
                  <a:gd name="T18" fmla="*/ 0 w 88"/>
                  <a:gd name="T19" fmla="*/ 0 h 170"/>
                  <a:gd name="T20" fmla="*/ 0 w 88"/>
                  <a:gd name="T21" fmla="*/ 0 h 170"/>
                  <a:gd name="T22" fmla="*/ 0 w 88"/>
                  <a:gd name="T23" fmla="*/ 0 h 170"/>
                  <a:gd name="T24" fmla="*/ 0 w 88"/>
                  <a:gd name="T25" fmla="*/ 0 h 170"/>
                  <a:gd name="T26" fmla="*/ 0 w 88"/>
                  <a:gd name="T27" fmla="*/ 0 h 170"/>
                  <a:gd name="T28" fmla="*/ 0 w 88"/>
                  <a:gd name="T29" fmla="*/ 0 h 170"/>
                  <a:gd name="T30" fmla="*/ 0 w 88"/>
                  <a:gd name="T31" fmla="*/ 0 h 170"/>
                  <a:gd name="T32" fmla="*/ 0 w 88"/>
                  <a:gd name="T33" fmla="*/ 0 h 170"/>
                  <a:gd name="T34" fmla="*/ 0 w 88"/>
                  <a:gd name="T35" fmla="*/ 0 h 170"/>
                  <a:gd name="T36" fmla="*/ 0 w 88"/>
                  <a:gd name="T37" fmla="*/ 0 h 170"/>
                  <a:gd name="T38" fmla="*/ 0 w 88"/>
                  <a:gd name="T39" fmla="*/ 0 h 170"/>
                  <a:gd name="T40" fmla="*/ 0 w 88"/>
                  <a:gd name="T41" fmla="*/ 0 h 170"/>
                  <a:gd name="T42" fmla="*/ 0 w 88"/>
                  <a:gd name="T43" fmla="*/ 0 h 170"/>
                  <a:gd name="T44" fmla="*/ 0 w 88"/>
                  <a:gd name="T45" fmla="*/ 0 h 170"/>
                  <a:gd name="T46" fmla="*/ 0 w 88"/>
                  <a:gd name="T47" fmla="*/ 0 h 170"/>
                  <a:gd name="T48" fmla="*/ 0 w 88"/>
                  <a:gd name="T49" fmla="*/ 0 h 170"/>
                  <a:gd name="T50" fmla="*/ 0 w 88"/>
                  <a:gd name="T51" fmla="*/ 0 h 170"/>
                  <a:gd name="T52" fmla="*/ 0 w 88"/>
                  <a:gd name="T53" fmla="*/ 0 h 170"/>
                  <a:gd name="T54" fmla="*/ 0 w 88"/>
                  <a:gd name="T55" fmla="*/ 0 h 170"/>
                  <a:gd name="T56" fmla="*/ 0 w 88"/>
                  <a:gd name="T57" fmla="*/ 0 h 170"/>
                  <a:gd name="T58" fmla="*/ 0 w 88"/>
                  <a:gd name="T59" fmla="*/ 0 h 170"/>
                  <a:gd name="T60" fmla="*/ 0 w 88"/>
                  <a:gd name="T61" fmla="*/ 0 h 170"/>
                  <a:gd name="T62" fmla="*/ 0 w 88"/>
                  <a:gd name="T63" fmla="*/ 0 h 170"/>
                  <a:gd name="T64" fmla="*/ 0 w 88"/>
                  <a:gd name="T65" fmla="*/ 0 h 170"/>
                  <a:gd name="T66" fmla="*/ 0 w 88"/>
                  <a:gd name="T67" fmla="*/ 0 h 170"/>
                  <a:gd name="T68" fmla="*/ 0 w 88"/>
                  <a:gd name="T69" fmla="*/ 0 h 170"/>
                  <a:gd name="T70" fmla="*/ 0 w 88"/>
                  <a:gd name="T71" fmla="*/ 0 h 170"/>
                  <a:gd name="T72" fmla="*/ 0 w 88"/>
                  <a:gd name="T73" fmla="*/ 0 h 17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88"/>
                  <a:gd name="T112" fmla="*/ 0 h 170"/>
                  <a:gd name="T113" fmla="*/ 88 w 88"/>
                  <a:gd name="T114" fmla="*/ 170 h 17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88" h="170">
                    <a:moveTo>
                      <a:pt x="88" y="145"/>
                    </a:moveTo>
                    <a:lnTo>
                      <a:pt x="81" y="147"/>
                    </a:lnTo>
                    <a:lnTo>
                      <a:pt x="77" y="150"/>
                    </a:lnTo>
                    <a:lnTo>
                      <a:pt x="73" y="151"/>
                    </a:lnTo>
                    <a:lnTo>
                      <a:pt x="69" y="153"/>
                    </a:lnTo>
                    <a:lnTo>
                      <a:pt x="64" y="155"/>
                    </a:lnTo>
                    <a:lnTo>
                      <a:pt x="57" y="158"/>
                    </a:lnTo>
                    <a:lnTo>
                      <a:pt x="47" y="163"/>
                    </a:lnTo>
                    <a:lnTo>
                      <a:pt x="32" y="170"/>
                    </a:lnTo>
                    <a:lnTo>
                      <a:pt x="29" y="161"/>
                    </a:lnTo>
                    <a:lnTo>
                      <a:pt x="26" y="154"/>
                    </a:lnTo>
                    <a:lnTo>
                      <a:pt x="24" y="148"/>
                    </a:lnTo>
                    <a:lnTo>
                      <a:pt x="22" y="142"/>
                    </a:lnTo>
                    <a:lnTo>
                      <a:pt x="19" y="134"/>
                    </a:lnTo>
                    <a:lnTo>
                      <a:pt x="15" y="123"/>
                    </a:lnTo>
                    <a:lnTo>
                      <a:pt x="8" y="109"/>
                    </a:lnTo>
                    <a:lnTo>
                      <a:pt x="0" y="89"/>
                    </a:lnTo>
                    <a:lnTo>
                      <a:pt x="4" y="79"/>
                    </a:lnTo>
                    <a:lnTo>
                      <a:pt x="7" y="71"/>
                    </a:lnTo>
                    <a:lnTo>
                      <a:pt x="9" y="65"/>
                    </a:lnTo>
                    <a:lnTo>
                      <a:pt x="12" y="58"/>
                    </a:lnTo>
                    <a:lnTo>
                      <a:pt x="15" y="49"/>
                    </a:lnTo>
                    <a:lnTo>
                      <a:pt x="19" y="38"/>
                    </a:lnTo>
                    <a:lnTo>
                      <a:pt x="26" y="22"/>
                    </a:lnTo>
                    <a:lnTo>
                      <a:pt x="34" y="0"/>
                    </a:lnTo>
                    <a:lnTo>
                      <a:pt x="40" y="11"/>
                    </a:lnTo>
                    <a:lnTo>
                      <a:pt x="43" y="21"/>
                    </a:lnTo>
                    <a:lnTo>
                      <a:pt x="47" y="36"/>
                    </a:lnTo>
                    <a:lnTo>
                      <a:pt x="55" y="65"/>
                    </a:lnTo>
                    <a:lnTo>
                      <a:pt x="59" y="74"/>
                    </a:lnTo>
                    <a:lnTo>
                      <a:pt x="61" y="79"/>
                    </a:lnTo>
                    <a:lnTo>
                      <a:pt x="64" y="84"/>
                    </a:lnTo>
                    <a:lnTo>
                      <a:pt x="66" y="90"/>
                    </a:lnTo>
                    <a:lnTo>
                      <a:pt x="69" y="98"/>
                    </a:lnTo>
                    <a:lnTo>
                      <a:pt x="73" y="108"/>
                    </a:lnTo>
                    <a:lnTo>
                      <a:pt x="79" y="124"/>
                    </a:lnTo>
                    <a:lnTo>
                      <a:pt x="88" y="145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5" name="Freeform 230">
                <a:extLst>
                  <a:ext uri="{FF2B5EF4-FFF2-40B4-BE49-F238E27FC236}">
                    <a16:creationId xmlns:a16="http://schemas.microsoft.com/office/drawing/2014/main" id="{66CDE20B-DFCE-4EE5-BADD-0F217BF6E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3"/>
                <a:ext cx="2" cy="9"/>
              </a:xfrm>
              <a:custGeom>
                <a:avLst/>
                <a:gdLst>
                  <a:gd name="T0" fmla="*/ 0 w 59"/>
                  <a:gd name="T1" fmla="*/ 0 h 167"/>
                  <a:gd name="T2" fmla="*/ 0 w 59"/>
                  <a:gd name="T3" fmla="*/ 0 h 167"/>
                  <a:gd name="T4" fmla="*/ 0 w 59"/>
                  <a:gd name="T5" fmla="*/ 0 h 167"/>
                  <a:gd name="T6" fmla="*/ 0 w 59"/>
                  <a:gd name="T7" fmla="*/ 0 h 167"/>
                  <a:gd name="T8" fmla="*/ 0 w 59"/>
                  <a:gd name="T9" fmla="*/ 0 h 167"/>
                  <a:gd name="T10" fmla="*/ 0 w 59"/>
                  <a:gd name="T11" fmla="*/ 0 h 1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167"/>
                  <a:gd name="T20" fmla="*/ 59 w 59"/>
                  <a:gd name="T21" fmla="*/ 167 h 1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167">
                    <a:moveTo>
                      <a:pt x="59" y="155"/>
                    </a:moveTo>
                    <a:lnTo>
                      <a:pt x="33" y="167"/>
                    </a:lnTo>
                    <a:lnTo>
                      <a:pt x="0" y="87"/>
                    </a:lnTo>
                    <a:lnTo>
                      <a:pt x="29" y="0"/>
                    </a:lnTo>
                    <a:lnTo>
                      <a:pt x="26" y="76"/>
                    </a:lnTo>
                    <a:lnTo>
                      <a:pt x="59" y="155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6" name="Freeform 231">
                <a:extLst>
                  <a:ext uri="{FF2B5EF4-FFF2-40B4-BE49-F238E27FC236}">
                    <a16:creationId xmlns:a16="http://schemas.microsoft.com/office/drawing/2014/main" id="{B567C58D-E989-47A6-95CF-1F75BEDB8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4"/>
                <a:ext cx="8" cy="4"/>
              </a:xfrm>
              <a:custGeom>
                <a:avLst/>
                <a:gdLst>
                  <a:gd name="T0" fmla="*/ 0 w 172"/>
                  <a:gd name="T1" fmla="*/ 0 h 81"/>
                  <a:gd name="T2" fmla="*/ 0 w 172"/>
                  <a:gd name="T3" fmla="*/ 0 h 81"/>
                  <a:gd name="T4" fmla="*/ 0 w 172"/>
                  <a:gd name="T5" fmla="*/ 0 h 81"/>
                  <a:gd name="T6" fmla="*/ 0 w 172"/>
                  <a:gd name="T7" fmla="*/ 0 h 81"/>
                  <a:gd name="T8" fmla="*/ 0 w 172"/>
                  <a:gd name="T9" fmla="*/ 0 h 81"/>
                  <a:gd name="T10" fmla="*/ 0 w 172"/>
                  <a:gd name="T11" fmla="*/ 0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2"/>
                  <a:gd name="T19" fmla="*/ 0 h 81"/>
                  <a:gd name="T20" fmla="*/ 172 w 172"/>
                  <a:gd name="T21" fmla="*/ 81 h 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2" h="81">
                    <a:moveTo>
                      <a:pt x="170" y="4"/>
                    </a:moveTo>
                    <a:lnTo>
                      <a:pt x="168" y="0"/>
                    </a:lnTo>
                    <a:lnTo>
                      <a:pt x="0" y="73"/>
                    </a:lnTo>
                    <a:lnTo>
                      <a:pt x="4" y="81"/>
                    </a:lnTo>
                    <a:lnTo>
                      <a:pt x="172" y="8"/>
                    </a:lnTo>
                    <a:lnTo>
                      <a:pt x="170" y="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7" name="Freeform 232">
                <a:extLst>
                  <a:ext uri="{FF2B5EF4-FFF2-40B4-BE49-F238E27FC236}">
                    <a16:creationId xmlns:a16="http://schemas.microsoft.com/office/drawing/2014/main" id="{61763CA1-236D-4B95-B7F3-8A840C4DE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2"/>
                <a:ext cx="10" cy="6"/>
              </a:xfrm>
              <a:custGeom>
                <a:avLst/>
                <a:gdLst>
                  <a:gd name="T0" fmla="*/ 0 w 216"/>
                  <a:gd name="T1" fmla="*/ 0 h 103"/>
                  <a:gd name="T2" fmla="*/ 0 w 216"/>
                  <a:gd name="T3" fmla="*/ 0 h 103"/>
                  <a:gd name="T4" fmla="*/ 0 w 216"/>
                  <a:gd name="T5" fmla="*/ 0 h 103"/>
                  <a:gd name="T6" fmla="*/ 0 w 216"/>
                  <a:gd name="T7" fmla="*/ 0 h 103"/>
                  <a:gd name="T8" fmla="*/ 0 w 216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"/>
                  <a:gd name="T16" fmla="*/ 0 h 103"/>
                  <a:gd name="T17" fmla="*/ 216 w 216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" h="103">
                    <a:moveTo>
                      <a:pt x="216" y="12"/>
                    </a:moveTo>
                    <a:lnTo>
                      <a:pt x="4" y="103"/>
                    </a:lnTo>
                    <a:lnTo>
                      <a:pt x="0" y="93"/>
                    </a:lnTo>
                    <a:lnTo>
                      <a:pt x="211" y="0"/>
                    </a:lnTo>
                    <a:lnTo>
                      <a:pt x="216" y="12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8" name="Freeform 233">
                <a:extLst>
                  <a:ext uri="{FF2B5EF4-FFF2-40B4-BE49-F238E27FC236}">
                    <a16:creationId xmlns:a16="http://schemas.microsoft.com/office/drawing/2014/main" id="{0D466111-3CB9-4C41-98C0-9072C89FF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1" cy="16"/>
              </a:xfrm>
              <a:custGeom>
                <a:avLst/>
                <a:gdLst>
                  <a:gd name="T0" fmla="*/ 0 w 250"/>
                  <a:gd name="T1" fmla="*/ 0 h 298"/>
                  <a:gd name="T2" fmla="*/ 0 w 250"/>
                  <a:gd name="T3" fmla="*/ 0 h 298"/>
                  <a:gd name="T4" fmla="*/ 0 w 250"/>
                  <a:gd name="T5" fmla="*/ 0 h 298"/>
                  <a:gd name="T6" fmla="*/ 0 w 250"/>
                  <a:gd name="T7" fmla="*/ 0 h 298"/>
                  <a:gd name="T8" fmla="*/ 0 w 250"/>
                  <a:gd name="T9" fmla="*/ 0 h 298"/>
                  <a:gd name="T10" fmla="*/ 0 w 250"/>
                  <a:gd name="T11" fmla="*/ 0 h 298"/>
                  <a:gd name="T12" fmla="*/ 0 w 250"/>
                  <a:gd name="T13" fmla="*/ 0 h 298"/>
                  <a:gd name="T14" fmla="*/ 0 w 250"/>
                  <a:gd name="T15" fmla="*/ 0 h 298"/>
                  <a:gd name="T16" fmla="*/ 0 w 250"/>
                  <a:gd name="T17" fmla="*/ 0 h 298"/>
                  <a:gd name="T18" fmla="*/ 0 w 250"/>
                  <a:gd name="T19" fmla="*/ 0 h 298"/>
                  <a:gd name="T20" fmla="*/ 0 w 250"/>
                  <a:gd name="T21" fmla="*/ 0 h 298"/>
                  <a:gd name="T22" fmla="*/ 0 w 250"/>
                  <a:gd name="T23" fmla="*/ 0 h 298"/>
                  <a:gd name="T24" fmla="*/ 0 w 250"/>
                  <a:gd name="T25" fmla="*/ 0 h 298"/>
                  <a:gd name="T26" fmla="*/ 0 w 250"/>
                  <a:gd name="T27" fmla="*/ 0 h 298"/>
                  <a:gd name="T28" fmla="*/ 0 w 250"/>
                  <a:gd name="T29" fmla="*/ 0 h 298"/>
                  <a:gd name="T30" fmla="*/ 0 w 250"/>
                  <a:gd name="T31" fmla="*/ 0 h 298"/>
                  <a:gd name="T32" fmla="*/ 0 w 250"/>
                  <a:gd name="T33" fmla="*/ 0 h 298"/>
                  <a:gd name="T34" fmla="*/ 0 w 250"/>
                  <a:gd name="T35" fmla="*/ 0 h 298"/>
                  <a:gd name="T36" fmla="*/ 0 w 250"/>
                  <a:gd name="T37" fmla="*/ 0 h 298"/>
                  <a:gd name="T38" fmla="*/ 0 w 250"/>
                  <a:gd name="T39" fmla="*/ 0 h 298"/>
                  <a:gd name="T40" fmla="*/ 0 w 250"/>
                  <a:gd name="T41" fmla="*/ 0 h 298"/>
                  <a:gd name="T42" fmla="*/ 0 w 250"/>
                  <a:gd name="T43" fmla="*/ 0 h 298"/>
                  <a:gd name="T44" fmla="*/ 0 w 250"/>
                  <a:gd name="T45" fmla="*/ 0 h 298"/>
                  <a:gd name="T46" fmla="*/ 0 w 250"/>
                  <a:gd name="T47" fmla="*/ 0 h 298"/>
                  <a:gd name="T48" fmla="*/ 0 w 250"/>
                  <a:gd name="T49" fmla="*/ 0 h 298"/>
                  <a:gd name="T50" fmla="*/ 0 w 250"/>
                  <a:gd name="T51" fmla="*/ 0 h 298"/>
                  <a:gd name="T52" fmla="*/ 0 w 250"/>
                  <a:gd name="T53" fmla="*/ 0 h 298"/>
                  <a:gd name="T54" fmla="*/ 0 w 250"/>
                  <a:gd name="T55" fmla="*/ 0 h 298"/>
                  <a:gd name="T56" fmla="*/ 0 w 250"/>
                  <a:gd name="T57" fmla="*/ 0 h 298"/>
                  <a:gd name="T58" fmla="*/ 0 w 250"/>
                  <a:gd name="T59" fmla="*/ 0 h 298"/>
                  <a:gd name="T60" fmla="*/ 0 w 250"/>
                  <a:gd name="T61" fmla="*/ 0 h 298"/>
                  <a:gd name="T62" fmla="*/ 0 w 250"/>
                  <a:gd name="T63" fmla="*/ 0 h 298"/>
                  <a:gd name="T64" fmla="*/ 0 w 250"/>
                  <a:gd name="T65" fmla="*/ 0 h 298"/>
                  <a:gd name="T66" fmla="*/ 0 w 250"/>
                  <a:gd name="T67" fmla="*/ 0 h 298"/>
                  <a:gd name="T68" fmla="*/ 0 w 250"/>
                  <a:gd name="T69" fmla="*/ 0 h 298"/>
                  <a:gd name="T70" fmla="*/ 0 w 250"/>
                  <a:gd name="T71" fmla="*/ 0 h 298"/>
                  <a:gd name="T72" fmla="*/ 0 w 250"/>
                  <a:gd name="T73" fmla="*/ 0 h 298"/>
                  <a:gd name="T74" fmla="*/ 0 w 250"/>
                  <a:gd name="T75" fmla="*/ 0 h 298"/>
                  <a:gd name="T76" fmla="*/ 0 w 250"/>
                  <a:gd name="T77" fmla="*/ 0 h 298"/>
                  <a:gd name="T78" fmla="*/ 0 w 250"/>
                  <a:gd name="T79" fmla="*/ 0 h 298"/>
                  <a:gd name="T80" fmla="*/ 0 w 250"/>
                  <a:gd name="T81" fmla="*/ 0 h 2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50"/>
                  <a:gd name="T124" fmla="*/ 0 h 298"/>
                  <a:gd name="T125" fmla="*/ 250 w 250"/>
                  <a:gd name="T126" fmla="*/ 298 h 29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50" h="298">
                    <a:moveTo>
                      <a:pt x="207" y="296"/>
                    </a:moveTo>
                    <a:lnTo>
                      <a:pt x="219" y="286"/>
                    </a:lnTo>
                    <a:lnTo>
                      <a:pt x="232" y="267"/>
                    </a:lnTo>
                    <a:lnTo>
                      <a:pt x="242" y="241"/>
                    </a:lnTo>
                    <a:lnTo>
                      <a:pt x="248" y="206"/>
                    </a:lnTo>
                    <a:lnTo>
                      <a:pt x="250" y="165"/>
                    </a:lnTo>
                    <a:lnTo>
                      <a:pt x="245" y="116"/>
                    </a:lnTo>
                    <a:lnTo>
                      <a:pt x="233" y="62"/>
                    </a:lnTo>
                    <a:lnTo>
                      <a:pt x="211" y="0"/>
                    </a:lnTo>
                    <a:lnTo>
                      <a:pt x="198" y="6"/>
                    </a:lnTo>
                    <a:lnTo>
                      <a:pt x="185" y="12"/>
                    </a:lnTo>
                    <a:lnTo>
                      <a:pt x="171" y="17"/>
                    </a:lnTo>
                    <a:lnTo>
                      <a:pt x="158" y="24"/>
                    </a:lnTo>
                    <a:lnTo>
                      <a:pt x="145" y="29"/>
                    </a:lnTo>
                    <a:lnTo>
                      <a:pt x="132" y="35"/>
                    </a:lnTo>
                    <a:lnTo>
                      <a:pt x="118" y="41"/>
                    </a:lnTo>
                    <a:lnTo>
                      <a:pt x="106" y="46"/>
                    </a:lnTo>
                    <a:lnTo>
                      <a:pt x="93" y="52"/>
                    </a:lnTo>
                    <a:lnTo>
                      <a:pt x="80" y="57"/>
                    </a:lnTo>
                    <a:lnTo>
                      <a:pt x="66" y="64"/>
                    </a:lnTo>
                    <a:lnTo>
                      <a:pt x="53" y="69"/>
                    </a:lnTo>
                    <a:lnTo>
                      <a:pt x="40" y="75"/>
                    </a:lnTo>
                    <a:lnTo>
                      <a:pt x="27" y="81"/>
                    </a:lnTo>
                    <a:lnTo>
                      <a:pt x="13" y="87"/>
                    </a:lnTo>
                    <a:lnTo>
                      <a:pt x="0" y="92"/>
                    </a:lnTo>
                    <a:lnTo>
                      <a:pt x="13" y="123"/>
                    </a:lnTo>
                    <a:lnTo>
                      <a:pt x="28" y="150"/>
                    </a:lnTo>
                    <a:lnTo>
                      <a:pt x="42" y="175"/>
                    </a:lnTo>
                    <a:lnTo>
                      <a:pt x="57" y="198"/>
                    </a:lnTo>
                    <a:lnTo>
                      <a:pt x="73" y="218"/>
                    </a:lnTo>
                    <a:lnTo>
                      <a:pt x="87" y="236"/>
                    </a:lnTo>
                    <a:lnTo>
                      <a:pt x="102" y="250"/>
                    </a:lnTo>
                    <a:lnTo>
                      <a:pt x="117" y="263"/>
                    </a:lnTo>
                    <a:lnTo>
                      <a:pt x="132" y="274"/>
                    </a:lnTo>
                    <a:lnTo>
                      <a:pt x="145" y="283"/>
                    </a:lnTo>
                    <a:lnTo>
                      <a:pt x="158" y="289"/>
                    </a:lnTo>
                    <a:lnTo>
                      <a:pt x="170" y="294"/>
                    </a:lnTo>
                    <a:lnTo>
                      <a:pt x="182" y="297"/>
                    </a:lnTo>
                    <a:lnTo>
                      <a:pt x="192" y="298"/>
                    </a:lnTo>
                    <a:lnTo>
                      <a:pt x="200" y="298"/>
                    </a:lnTo>
                    <a:lnTo>
                      <a:pt x="207" y="296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69" name="Freeform 234">
                <a:extLst>
                  <a:ext uri="{FF2B5EF4-FFF2-40B4-BE49-F238E27FC236}">
                    <a16:creationId xmlns:a16="http://schemas.microsoft.com/office/drawing/2014/main" id="{6C3340F1-E9BC-4F78-8EDB-EAFA3A75C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0" cy="16"/>
              </a:xfrm>
              <a:custGeom>
                <a:avLst/>
                <a:gdLst>
                  <a:gd name="T0" fmla="*/ 0 w 226"/>
                  <a:gd name="T1" fmla="*/ 0 h 287"/>
                  <a:gd name="T2" fmla="*/ 0 w 226"/>
                  <a:gd name="T3" fmla="*/ 0 h 287"/>
                  <a:gd name="T4" fmla="*/ 0 w 226"/>
                  <a:gd name="T5" fmla="*/ 0 h 287"/>
                  <a:gd name="T6" fmla="*/ 0 w 226"/>
                  <a:gd name="T7" fmla="*/ 0 h 287"/>
                  <a:gd name="T8" fmla="*/ 0 w 226"/>
                  <a:gd name="T9" fmla="*/ 0 h 287"/>
                  <a:gd name="T10" fmla="*/ 0 w 226"/>
                  <a:gd name="T11" fmla="*/ 0 h 287"/>
                  <a:gd name="T12" fmla="*/ 0 w 226"/>
                  <a:gd name="T13" fmla="*/ 0 h 287"/>
                  <a:gd name="T14" fmla="*/ 0 w 226"/>
                  <a:gd name="T15" fmla="*/ 0 h 287"/>
                  <a:gd name="T16" fmla="*/ 0 w 226"/>
                  <a:gd name="T17" fmla="*/ 0 h 287"/>
                  <a:gd name="T18" fmla="*/ 0 w 226"/>
                  <a:gd name="T19" fmla="*/ 0 h 287"/>
                  <a:gd name="T20" fmla="*/ 0 w 226"/>
                  <a:gd name="T21" fmla="*/ 0 h 287"/>
                  <a:gd name="T22" fmla="*/ 0 w 226"/>
                  <a:gd name="T23" fmla="*/ 0 h 287"/>
                  <a:gd name="T24" fmla="*/ 0 w 226"/>
                  <a:gd name="T25" fmla="*/ 0 h 287"/>
                  <a:gd name="T26" fmla="*/ 0 w 226"/>
                  <a:gd name="T27" fmla="*/ 0 h 287"/>
                  <a:gd name="T28" fmla="*/ 0 w 226"/>
                  <a:gd name="T29" fmla="*/ 0 h 287"/>
                  <a:gd name="T30" fmla="*/ 0 w 226"/>
                  <a:gd name="T31" fmla="*/ 0 h 287"/>
                  <a:gd name="T32" fmla="*/ 0 w 226"/>
                  <a:gd name="T33" fmla="*/ 0 h 287"/>
                  <a:gd name="T34" fmla="*/ 0 w 226"/>
                  <a:gd name="T35" fmla="*/ 0 h 287"/>
                  <a:gd name="T36" fmla="*/ 0 w 226"/>
                  <a:gd name="T37" fmla="*/ 0 h 287"/>
                  <a:gd name="T38" fmla="*/ 0 w 226"/>
                  <a:gd name="T39" fmla="*/ 0 h 287"/>
                  <a:gd name="T40" fmla="*/ 0 w 226"/>
                  <a:gd name="T41" fmla="*/ 0 h 287"/>
                  <a:gd name="T42" fmla="*/ 0 w 226"/>
                  <a:gd name="T43" fmla="*/ 0 h 287"/>
                  <a:gd name="T44" fmla="*/ 0 w 226"/>
                  <a:gd name="T45" fmla="*/ 0 h 287"/>
                  <a:gd name="T46" fmla="*/ 0 w 226"/>
                  <a:gd name="T47" fmla="*/ 0 h 287"/>
                  <a:gd name="T48" fmla="*/ 0 w 226"/>
                  <a:gd name="T49" fmla="*/ 0 h 287"/>
                  <a:gd name="T50" fmla="*/ 0 w 226"/>
                  <a:gd name="T51" fmla="*/ 0 h 287"/>
                  <a:gd name="T52" fmla="*/ 0 w 226"/>
                  <a:gd name="T53" fmla="*/ 0 h 287"/>
                  <a:gd name="T54" fmla="*/ 0 w 226"/>
                  <a:gd name="T55" fmla="*/ 0 h 287"/>
                  <a:gd name="T56" fmla="*/ 0 w 226"/>
                  <a:gd name="T57" fmla="*/ 0 h 287"/>
                  <a:gd name="T58" fmla="*/ 0 w 226"/>
                  <a:gd name="T59" fmla="*/ 0 h 287"/>
                  <a:gd name="T60" fmla="*/ 0 w 226"/>
                  <a:gd name="T61" fmla="*/ 0 h 287"/>
                  <a:gd name="T62" fmla="*/ 0 w 226"/>
                  <a:gd name="T63" fmla="*/ 0 h 287"/>
                  <a:gd name="T64" fmla="*/ 0 w 226"/>
                  <a:gd name="T65" fmla="*/ 0 h 287"/>
                  <a:gd name="T66" fmla="*/ 0 w 226"/>
                  <a:gd name="T67" fmla="*/ 0 h 287"/>
                  <a:gd name="T68" fmla="*/ 0 w 226"/>
                  <a:gd name="T69" fmla="*/ 0 h 287"/>
                  <a:gd name="T70" fmla="*/ 0 w 226"/>
                  <a:gd name="T71" fmla="*/ 0 h 287"/>
                  <a:gd name="T72" fmla="*/ 0 w 226"/>
                  <a:gd name="T73" fmla="*/ 0 h 287"/>
                  <a:gd name="T74" fmla="*/ 0 w 226"/>
                  <a:gd name="T75" fmla="*/ 0 h 287"/>
                  <a:gd name="T76" fmla="*/ 0 w 226"/>
                  <a:gd name="T77" fmla="*/ 0 h 287"/>
                  <a:gd name="T78" fmla="*/ 0 w 226"/>
                  <a:gd name="T79" fmla="*/ 0 h 287"/>
                  <a:gd name="T80" fmla="*/ 0 w 226"/>
                  <a:gd name="T81" fmla="*/ 0 h 28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26"/>
                  <a:gd name="T124" fmla="*/ 0 h 287"/>
                  <a:gd name="T125" fmla="*/ 226 w 226"/>
                  <a:gd name="T126" fmla="*/ 287 h 28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26" h="287">
                    <a:moveTo>
                      <a:pt x="199" y="285"/>
                    </a:moveTo>
                    <a:lnTo>
                      <a:pt x="209" y="276"/>
                    </a:lnTo>
                    <a:lnTo>
                      <a:pt x="217" y="259"/>
                    </a:lnTo>
                    <a:lnTo>
                      <a:pt x="224" y="234"/>
                    </a:lnTo>
                    <a:lnTo>
                      <a:pt x="226" y="202"/>
                    </a:lnTo>
                    <a:lnTo>
                      <a:pt x="223" y="162"/>
                    </a:lnTo>
                    <a:lnTo>
                      <a:pt x="214" y="115"/>
                    </a:lnTo>
                    <a:lnTo>
                      <a:pt x="200" y="61"/>
                    </a:lnTo>
                    <a:lnTo>
                      <a:pt x="178" y="0"/>
                    </a:lnTo>
                    <a:lnTo>
                      <a:pt x="166" y="5"/>
                    </a:lnTo>
                    <a:lnTo>
                      <a:pt x="155" y="10"/>
                    </a:lnTo>
                    <a:lnTo>
                      <a:pt x="144" y="15"/>
                    </a:lnTo>
                    <a:lnTo>
                      <a:pt x="134" y="20"/>
                    </a:lnTo>
                    <a:lnTo>
                      <a:pt x="123" y="24"/>
                    </a:lnTo>
                    <a:lnTo>
                      <a:pt x="111" y="30"/>
                    </a:lnTo>
                    <a:lnTo>
                      <a:pt x="100" y="34"/>
                    </a:lnTo>
                    <a:lnTo>
                      <a:pt x="89" y="39"/>
                    </a:lnTo>
                    <a:lnTo>
                      <a:pt x="78" y="44"/>
                    </a:lnTo>
                    <a:lnTo>
                      <a:pt x="67" y="49"/>
                    </a:lnTo>
                    <a:lnTo>
                      <a:pt x="55" y="54"/>
                    </a:lnTo>
                    <a:lnTo>
                      <a:pt x="45" y="58"/>
                    </a:lnTo>
                    <a:lnTo>
                      <a:pt x="34" y="63"/>
                    </a:lnTo>
                    <a:lnTo>
                      <a:pt x="23" y="69"/>
                    </a:lnTo>
                    <a:lnTo>
                      <a:pt x="11" y="73"/>
                    </a:lnTo>
                    <a:lnTo>
                      <a:pt x="0" y="78"/>
                    </a:lnTo>
                    <a:lnTo>
                      <a:pt x="13" y="109"/>
                    </a:lnTo>
                    <a:lnTo>
                      <a:pt x="28" y="136"/>
                    </a:lnTo>
                    <a:lnTo>
                      <a:pt x="42" y="161"/>
                    </a:lnTo>
                    <a:lnTo>
                      <a:pt x="56" y="184"/>
                    </a:lnTo>
                    <a:lnTo>
                      <a:pt x="72" y="204"/>
                    </a:lnTo>
                    <a:lnTo>
                      <a:pt x="86" y="221"/>
                    </a:lnTo>
                    <a:lnTo>
                      <a:pt x="101" y="236"/>
                    </a:lnTo>
                    <a:lnTo>
                      <a:pt x="115" y="250"/>
                    </a:lnTo>
                    <a:lnTo>
                      <a:pt x="129" y="260"/>
                    </a:lnTo>
                    <a:lnTo>
                      <a:pt x="142" y="270"/>
                    </a:lnTo>
                    <a:lnTo>
                      <a:pt x="155" y="276"/>
                    </a:lnTo>
                    <a:lnTo>
                      <a:pt x="166" y="282"/>
                    </a:lnTo>
                    <a:lnTo>
                      <a:pt x="177" y="285"/>
                    </a:lnTo>
                    <a:lnTo>
                      <a:pt x="186" y="287"/>
                    </a:lnTo>
                    <a:lnTo>
                      <a:pt x="193" y="287"/>
                    </a:lnTo>
                    <a:lnTo>
                      <a:pt x="199" y="285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70" name="Freeform 235">
                <a:extLst>
                  <a:ext uri="{FF2B5EF4-FFF2-40B4-BE49-F238E27FC236}">
                    <a16:creationId xmlns:a16="http://schemas.microsoft.com/office/drawing/2014/main" id="{101820FD-AD0C-445F-BCE7-8D08C90D7E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4"/>
                <a:ext cx="9" cy="15"/>
              </a:xfrm>
              <a:custGeom>
                <a:avLst/>
                <a:gdLst>
                  <a:gd name="T0" fmla="*/ 0 w 202"/>
                  <a:gd name="T1" fmla="*/ 0 h 274"/>
                  <a:gd name="T2" fmla="*/ 0 w 202"/>
                  <a:gd name="T3" fmla="*/ 0 h 274"/>
                  <a:gd name="T4" fmla="*/ 0 w 202"/>
                  <a:gd name="T5" fmla="*/ 0 h 274"/>
                  <a:gd name="T6" fmla="*/ 0 w 202"/>
                  <a:gd name="T7" fmla="*/ 0 h 274"/>
                  <a:gd name="T8" fmla="*/ 0 w 202"/>
                  <a:gd name="T9" fmla="*/ 0 h 274"/>
                  <a:gd name="T10" fmla="*/ 0 w 202"/>
                  <a:gd name="T11" fmla="*/ 0 h 274"/>
                  <a:gd name="T12" fmla="*/ 0 w 202"/>
                  <a:gd name="T13" fmla="*/ 0 h 274"/>
                  <a:gd name="T14" fmla="*/ 0 w 202"/>
                  <a:gd name="T15" fmla="*/ 0 h 274"/>
                  <a:gd name="T16" fmla="*/ 0 w 202"/>
                  <a:gd name="T17" fmla="*/ 0 h 274"/>
                  <a:gd name="T18" fmla="*/ 0 w 202"/>
                  <a:gd name="T19" fmla="*/ 0 h 274"/>
                  <a:gd name="T20" fmla="*/ 0 w 202"/>
                  <a:gd name="T21" fmla="*/ 0 h 274"/>
                  <a:gd name="T22" fmla="*/ 0 w 202"/>
                  <a:gd name="T23" fmla="*/ 0 h 274"/>
                  <a:gd name="T24" fmla="*/ 0 w 202"/>
                  <a:gd name="T25" fmla="*/ 0 h 274"/>
                  <a:gd name="T26" fmla="*/ 0 w 202"/>
                  <a:gd name="T27" fmla="*/ 0 h 274"/>
                  <a:gd name="T28" fmla="*/ 0 w 202"/>
                  <a:gd name="T29" fmla="*/ 0 h 274"/>
                  <a:gd name="T30" fmla="*/ 0 w 202"/>
                  <a:gd name="T31" fmla="*/ 0 h 274"/>
                  <a:gd name="T32" fmla="*/ 0 w 202"/>
                  <a:gd name="T33" fmla="*/ 0 h 274"/>
                  <a:gd name="T34" fmla="*/ 0 w 202"/>
                  <a:gd name="T35" fmla="*/ 0 h 274"/>
                  <a:gd name="T36" fmla="*/ 0 w 202"/>
                  <a:gd name="T37" fmla="*/ 0 h 274"/>
                  <a:gd name="T38" fmla="*/ 0 w 202"/>
                  <a:gd name="T39" fmla="*/ 0 h 274"/>
                  <a:gd name="T40" fmla="*/ 0 w 202"/>
                  <a:gd name="T41" fmla="*/ 0 h 274"/>
                  <a:gd name="T42" fmla="*/ 0 w 202"/>
                  <a:gd name="T43" fmla="*/ 0 h 274"/>
                  <a:gd name="T44" fmla="*/ 0 w 202"/>
                  <a:gd name="T45" fmla="*/ 0 h 274"/>
                  <a:gd name="T46" fmla="*/ 0 w 202"/>
                  <a:gd name="T47" fmla="*/ 0 h 274"/>
                  <a:gd name="T48" fmla="*/ 0 w 202"/>
                  <a:gd name="T49" fmla="*/ 0 h 274"/>
                  <a:gd name="T50" fmla="*/ 0 w 202"/>
                  <a:gd name="T51" fmla="*/ 0 h 274"/>
                  <a:gd name="T52" fmla="*/ 0 w 202"/>
                  <a:gd name="T53" fmla="*/ 0 h 274"/>
                  <a:gd name="T54" fmla="*/ 0 w 202"/>
                  <a:gd name="T55" fmla="*/ 0 h 274"/>
                  <a:gd name="T56" fmla="*/ 0 w 202"/>
                  <a:gd name="T57" fmla="*/ 0 h 274"/>
                  <a:gd name="T58" fmla="*/ 0 w 202"/>
                  <a:gd name="T59" fmla="*/ 0 h 274"/>
                  <a:gd name="T60" fmla="*/ 0 w 202"/>
                  <a:gd name="T61" fmla="*/ 0 h 274"/>
                  <a:gd name="T62" fmla="*/ 0 w 202"/>
                  <a:gd name="T63" fmla="*/ 0 h 274"/>
                  <a:gd name="T64" fmla="*/ 0 w 202"/>
                  <a:gd name="T65" fmla="*/ 0 h 2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2"/>
                  <a:gd name="T100" fmla="*/ 0 h 274"/>
                  <a:gd name="T101" fmla="*/ 202 w 202"/>
                  <a:gd name="T102" fmla="*/ 274 h 2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2" h="274">
                    <a:moveTo>
                      <a:pt x="189" y="273"/>
                    </a:moveTo>
                    <a:lnTo>
                      <a:pt x="196" y="265"/>
                    </a:lnTo>
                    <a:lnTo>
                      <a:pt x="201" y="251"/>
                    </a:lnTo>
                    <a:lnTo>
                      <a:pt x="202" y="227"/>
                    </a:lnTo>
                    <a:lnTo>
                      <a:pt x="200" y="197"/>
                    </a:lnTo>
                    <a:lnTo>
                      <a:pt x="193" y="159"/>
                    </a:lnTo>
                    <a:lnTo>
                      <a:pt x="182" y="114"/>
                    </a:lnTo>
                    <a:lnTo>
                      <a:pt x="165" y="60"/>
                    </a:lnTo>
                    <a:lnTo>
                      <a:pt x="142" y="0"/>
                    </a:lnTo>
                    <a:lnTo>
                      <a:pt x="125" y="7"/>
                    </a:lnTo>
                    <a:lnTo>
                      <a:pt x="107" y="14"/>
                    </a:lnTo>
                    <a:lnTo>
                      <a:pt x="89" y="23"/>
                    </a:lnTo>
                    <a:lnTo>
                      <a:pt x="72" y="30"/>
                    </a:lnTo>
                    <a:lnTo>
                      <a:pt x="53" y="39"/>
                    </a:lnTo>
                    <a:lnTo>
                      <a:pt x="36" y="46"/>
                    </a:lnTo>
                    <a:lnTo>
                      <a:pt x="18" y="54"/>
                    </a:lnTo>
                    <a:lnTo>
                      <a:pt x="0" y="62"/>
                    </a:lnTo>
                    <a:lnTo>
                      <a:pt x="14" y="92"/>
                    </a:lnTo>
                    <a:lnTo>
                      <a:pt x="28" y="120"/>
                    </a:lnTo>
                    <a:lnTo>
                      <a:pt x="41" y="145"/>
                    </a:lnTo>
                    <a:lnTo>
                      <a:pt x="57" y="168"/>
                    </a:lnTo>
                    <a:lnTo>
                      <a:pt x="71" y="188"/>
                    </a:lnTo>
                    <a:lnTo>
                      <a:pt x="85" y="206"/>
                    </a:lnTo>
                    <a:lnTo>
                      <a:pt x="98" y="221"/>
                    </a:lnTo>
                    <a:lnTo>
                      <a:pt x="113" y="235"/>
                    </a:lnTo>
                    <a:lnTo>
                      <a:pt x="126" y="246"/>
                    </a:lnTo>
                    <a:lnTo>
                      <a:pt x="138" y="256"/>
                    </a:lnTo>
                    <a:lnTo>
                      <a:pt x="149" y="262"/>
                    </a:lnTo>
                    <a:lnTo>
                      <a:pt x="160" y="268"/>
                    </a:lnTo>
                    <a:lnTo>
                      <a:pt x="170" y="272"/>
                    </a:lnTo>
                    <a:lnTo>
                      <a:pt x="178" y="274"/>
                    </a:lnTo>
                    <a:lnTo>
                      <a:pt x="184" y="274"/>
                    </a:lnTo>
                    <a:lnTo>
                      <a:pt x="189" y="273"/>
                    </a:lnTo>
                    <a:close/>
                  </a:path>
                </a:pathLst>
              </a:custGeom>
              <a:solidFill>
                <a:srgbClr val="474F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71" name="Freeform 236">
                <a:extLst>
                  <a:ext uri="{FF2B5EF4-FFF2-40B4-BE49-F238E27FC236}">
                    <a16:creationId xmlns:a16="http://schemas.microsoft.com/office/drawing/2014/main" id="{B85E9EB9-8B60-4266-BFAF-0B3684466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9" cy="14"/>
              </a:xfrm>
              <a:custGeom>
                <a:avLst/>
                <a:gdLst>
                  <a:gd name="T0" fmla="*/ 0 w 186"/>
                  <a:gd name="T1" fmla="*/ 0 h 264"/>
                  <a:gd name="T2" fmla="*/ 0 w 186"/>
                  <a:gd name="T3" fmla="*/ 0 h 264"/>
                  <a:gd name="T4" fmla="*/ 0 w 186"/>
                  <a:gd name="T5" fmla="*/ 0 h 264"/>
                  <a:gd name="T6" fmla="*/ 0 w 186"/>
                  <a:gd name="T7" fmla="*/ 0 h 264"/>
                  <a:gd name="T8" fmla="*/ 0 w 186"/>
                  <a:gd name="T9" fmla="*/ 0 h 264"/>
                  <a:gd name="T10" fmla="*/ 0 w 186"/>
                  <a:gd name="T11" fmla="*/ 0 h 264"/>
                  <a:gd name="T12" fmla="*/ 0 w 186"/>
                  <a:gd name="T13" fmla="*/ 0 h 264"/>
                  <a:gd name="T14" fmla="*/ 0 w 186"/>
                  <a:gd name="T15" fmla="*/ 0 h 264"/>
                  <a:gd name="T16" fmla="*/ 0 w 186"/>
                  <a:gd name="T17" fmla="*/ 0 h 264"/>
                  <a:gd name="T18" fmla="*/ 0 w 186"/>
                  <a:gd name="T19" fmla="*/ 0 h 264"/>
                  <a:gd name="T20" fmla="*/ 0 w 186"/>
                  <a:gd name="T21" fmla="*/ 0 h 264"/>
                  <a:gd name="T22" fmla="*/ 0 w 186"/>
                  <a:gd name="T23" fmla="*/ 0 h 264"/>
                  <a:gd name="T24" fmla="*/ 0 w 186"/>
                  <a:gd name="T25" fmla="*/ 0 h 264"/>
                  <a:gd name="T26" fmla="*/ 0 w 186"/>
                  <a:gd name="T27" fmla="*/ 0 h 264"/>
                  <a:gd name="T28" fmla="*/ 0 w 186"/>
                  <a:gd name="T29" fmla="*/ 0 h 264"/>
                  <a:gd name="T30" fmla="*/ 0 w 186"/>
                  <a:gd name="T31" fmla="*/ 0 h 264"/>
                  <a:gd name="T32" fmla="*/ 0 w 186"/>
                  <a:gd name="T33" fmla="*/ 0 h 264"/>
                  <a:gd name="T34" fmla="*/ 0 w 186"/>
                  <a:gd name="T35" fmla="*/ 0 h 264"/>
                  <a:gd name="T36" fmla="*/ 0 w 186"/>
                  <a:gd name="T37" fmla="*/ 0 h 264"/>
                  <a:gd name="T38" fmla="*/ 0 w 186"/>
                  <a:gd name="T39" fmla="*/ 0 h 264"/>
                  <a:gd name="T40" fmla="*/ 0 w 186"/>
                  <a:gd name="T41" fmla="*/ 0 h 264"/>
                  <a:gd name="T42" fmla="*/ 0 w 186"/>
                  <a:gd name="T43" fmla="*/ 0 h 264"/>
                  <a:gd name="T44" fmla="*/ 0 w 186"/>
                  <a:gd name="T45" fmla="*/ 0 h 264"/>
                  <a:gd name="T46" fmla="*/ 0 w 186"/>
                  <a:gd name="T47" fmla="*/ 0 h 264"/>
                  <a:gd name="T48" fmla="*/ 0 w 186"/>
                  <a:gd name="T49" fmla="*/ 0 h 264"/>
                  <a:gd name="T50" fmla="*/ 0 w 186"/>
                  <a:gd name="T51" fmla="*/ 0 h 264"/>
                  <a:gd name="T52" fmla="*/ 0 w 186"/>
                  <a:gd name="T53" fmla="*/ 0 h 264"/>
                  <a:gd name="T54" fmla="*/ 0 w 186"/>
                  <a:gd name="T55" fmla="*/ 0 h 264"/>
                  <a:gd name="T56" fmla="*/ 0 w 186"/>
                  <a:gd name="T57" fmla="*/ 0 h 264"/>
                  <a:gd name="T58" fmla="*/ 0 w 186"/>
                  <a:gd name="T59" fmla="*/ 0 h 264"/>
                  <a:gd name="T60" fmla="*/ 0 w 186"/>
                  <a:gd name="T61" fmla="*/ 0 h 264"/>
                  <a:gd name="T62" fmla="*/ 0 w 186"/>
                  <a:gd name="T63" fmla="*/ 0 h 264"/>
                  <a:gd name="T64" fmla="*/ 0 w 186"/>
                  <a:gd name="T65" fmla="*/ 0 h 2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6"/>
                  <a:gd name="T100" fmla="*/ 0 h 264"/>
                  <a:gd name="T101" fmla="*/ 186 w 186"/>
                  <a:gd name="T102" fmla="*/ 264 h 26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6" h="264">
                    <a:moveTo>
                      <a:pt x="180" y="263"/>
                    </a:moveTo>
                    <a:lnTo>
                      <a:pt x="185" y="256"/>
                    </a:lnTo>
                    <a:lnTo>
                      <a:pt x="186" y="243"/>
                    </a:lnTo>
                    <a:lnTo>
                      <a:pt x="183" y="222"/>
                    </a:lnTo>
                    <a:lnTo>
                      <a:pt x="177" y="193"/>
                    </a:lnTo>
                    <a:lnTo>
                      <a:pt x="166" y="157"/>
                    </a:lnTo>
                    <a:lnTo>
                      <a:pt x="151" y="113"/>
                    </a:lnTo>
                    <a:lnTo>
                      <a:pt x="131" y="60"/>
                    </a:lnTo>
                    <a:lnTo>
                      <a:pt x="108" y="0"/>
                    </a:lnTo>
                    <a:lnTo>
                      <a:pt x="94" y="7"/>
                    </a:lnTo>
                    <a:lnTo>
                      <a:pt x="80" y="13"/>
                    </a:lnTo>
                    <a:lnTo>
                      <a:pt x="67" y="18"/>
                    </a:lnTo>
                    <a:lnTo>
                      <a:pt x="54" y="24"/>
                    </a:lnTo>
                    <a:lnTo>
                      <a:pt x="40" y="30"/>
                    </a:lnTo>
                    <a:lnTo>
                      <a:pt x="27" y="36"/>
                    </a:lnTo>
                    <a:lnTo>
                      <a:pt x="13" y="41"/>
                    </a:lnTo>
                    <a:lnTo>
                      <a:pt x="0" y="48"/>
                    </a:lnTo>
                    <a:lnTo>
                      <a:pt x="13" y="78"/>
                    </a:lnTo>
                    <a:lnTo>
                      <a:pt x="26" y="106"/>
                    </a:lnTo>
                    <a:lnTo>
                      <a:pt x="40" y="131"/>
                    </a:lnTo>
                    <a:lnTo>
                      <a:pt x="55" y="154"/>
                    </a:lnTo>
                    <a:lnTo>
                      <a:pt x="69" y="174"/>
                    </a:lnTo>
                    <a:lnTo>
                      <a:pt x="83" y="192"/>
                    </a:lnTo>
                    <a:lnTo>
                      <a:pt x="96" y="208"/>
                    </a:lnTo>
                    <a:lnTo>
                      <a:pt x="110" y="222"/>
                    </a:lnTo>
                    <a:lnTo>
                      <a:pt x="122" y="233"/>
                    </a:lnTo>
                    <a:lnTo>
                      <a:pt x="134" y="243"/>
                    </a:lnTo>
                    <a:lnTo>
                      <a:pt x="145" y="250"/>
                    </a:lnTo>
                    <a:lnTo>
                      <a:pt x="155" y="256"/>
                    </a:lnTo>
                    <a:lnTo>
                      <a:pt x="164" y="261"/>
                    </a:lnTo>
                    <a:lnTo>
                      <a:pt x="171" y="263"/>
                    </a:lnTo>
                    <a:lnTo>
                      <a:pt x="176" y="264"/>
                    </a:lnTo>
                    <a:lnTo>
                      <a:pt x="180" y="26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72" name="Freeform 237">
                <a:extLst>
                  <a:ext uri="{FF2B5EF4-FFF2-40B4-BE49-F238E27FC236}">
                    <a16:creationId xmlns:a16="http://schemas.microsoft.com/office/drawing/2014/main" id="{24E1CC14-7A76-447A-A60E-C3F4D9E77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8" cy="14"/>
              </a:xfrm>
              <a:custGeom>
                <a:avLst/>
                <a:gdLst>
                  <a:gd name="T0" fmla="*/ 0 w 173"/>
                  <a:gd name="T1" fmla="*/ 0 h 251"/>
                  <a:gd name="T2" fmla="*/ 0 w 173"/>
                  <a:gd name="T3" fmla="*/ 0 h 251"/>
                  <a:gd name="T4" fmla="*/ 0 w 173"/>
                  <a:gd name="T5" fmla="*/ 0 h 251"/>
                  <a:gd name="T6" fmla="*/ 0 w 173"/>
                  <a:gd name="T7" fmla="*/ 0 h 251"/>
                  <a:gd name="T8" fmla="*/ 0 w 173"/>
                  <a:gd name="T9" fmla="*/ 0 h 251"/>
                  <a:gd name="T10" fmla="*/ 0 w 173"/>
                  <a:gd name="T11" fmla="*/ 0 h 251"/>
                  <a:gd name="T12" fmla="*/ 0 w 173"/>
                  <a:gd name="T13" fmla="*/ 0 h 251"/>
                  <a:gd name="T14" fmla="*/ 0 w 173"/>
                  <a:gd name="T15" fmla="*/ 0 h 251"/>
                  <a:gd name="T16" fmla="*/ 0 w 173"/>
                  <a:gd name="T17" fmla="*/ 0 h 251"/>
                  <a:gd name="T18" fmla="*/ 0 w 173"/>
                  <a:gd name="T19" fmla="*/ 0 h 251"/>
                  <a:gd name="T20" fmla="*/ 0 w 173"/>
                  <a:gd name="T21" fmla="*/ 0 h 251"/>
                  <a:gd name="T22" fmla="*/ 0 w 173"/>
                  <a:gd name="T23" fmla="*/ 0 h 251"/>
                  <a:gd name="T24" fmla="*/ 0 w 173"/>
                  <a:gd name="T25" fmla="*/ 0 h 251"/>
                  <a:gd name="T26" fmla="*/ 0 w 173"/>
                  <a:gd name="T27" fmla="*/ 0 h 251"/>
                  <a:gd name="T28" fmla="*/ 0 w 173"/>
                  <a:gd name="T29" fmla="*/ 0 h 251"/>
                  <a:gd name="T30" fmla="*/ 0 w 173"/>
                  <a:gd name="T31" fmla="*/ 0 h 251"/>
                  <a:gd name="T32" fmla="*/ 0 w 173"/>
                  <a:gd name="T33" fmla="*/ 0 h 251"/>
                  <a:gd name="T34" fmla="*/ 0 w 173"/>
                  <a:gd name="T35" fmla="*/ 0 h 251"/>
                  <a:gd name="T36" fmla="*/ 0 w 173"/>
                  <a:gd name="T37" fmla="*/ 0 h 251"/>
                  <a:gd name="T38" fmla="*/ 0 w 173"/>
                  <a:gd name="T39" fmla="*/ 0 h 251"/>
                  <a:gd name="T40" fmla="*/ 0 w 173"/>
                  <a:gd name="T41" fmla="*/ 0 h 251"/>
                  <a:gd name="T42" fmla="*/ 0 w 173"/>
                  <a:gd name="T43" fmla="*/ 0 h 251"/>
                  <a:gd name="T44" fmla="*/ 0 w 173"/>
                  <a:gd name="T45" fmla="*/ 0 h 251"/>
                  <a:gd name="T46" fmla="*/ 0 w 173"/>
                  <a:gd name="T47" fmla="*/ 0 h 251"/>
                  <a:gd name="T48" fmla="*/ 0 w 173"/>
                  <a:gd name="T49" fmla="*/ 0 h 251"/>
                  <a:gd name="T50" fmla="*/ 0 w 173"/>
                  <a:gd name="T51" fmla="*/ 0 h 251"/>
                  <a:gd name="T52" fmla="*/ 0 w 173"/>
                  <a:gd name="T53" fmla="*/ 0 h 251"/>
                  <a:gd name="T54" fmla="*/ 0 w 173"/>
                  <a:gd name="T55" fmla="*/ 0 h 251"/>
                  <a:gd name="T56" fmla="*/ 0 w 173"/>
                  <a:gd name="T57" fmla="*/ 0 h 251"/>
                  <a:gd name="T58" fmla="*/ 0 w 173"/>
                  <a:gd name="T59" fmla="*/ 0 h 251"/>
                  <a:gd name="T60" fmla="*/ 0 w 173"/>
                  <a:gd name="T61" fmla="*/ 0 h 251"/>
                  <a:gd name="T62" fmla="*/ 0 w 173"/>
                  <a:gd name="T63" fmla="*/ 0 h 251"/>
                  <a:gd name="T64" fmla="*/ 0 w 173"/>
                  <a:gd name="T65" fmla="*/ 0 h 25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3"/>
                  <a:gd name="T100" fmla="*/ 0 h 251"/>
                  <a:gd name="T101" fmla="*/ 173 w 173"/>
                  <a:gd name="T102" fmla="*/ 251 h 25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3" h="251">
                    <a:moveTo>
                      <a:pt x="171" y="251"/>
                    </a:moveTo>
                    <a:lnTo>
                      <a:pt x="173" y="245"/>
                    </a:lnTo>
                    <a:lnTo>
                      <a:pt x="170" y="233"/>
                    </a:lnTo>
                    <a:lnTo>
                      <a:pt x="164" y="214"/>
                    </a:lnTo>
                    <a:lnTo>
                      <a:pt x="153" y="187"/>
                    </a:lnTo>
                    <a:lnTo>
                      <a:pt x="137" y="153"/>
                    </a:lnTo>
                    <a:lnTo>
                      <a:pt x="119" y="110"/>
                    </a:lnTo>
                    <a:lnTo>
                      <a:pt x="97" y="60"/>
                    </a:lnTo>
                    <a:lnTo>
                      <a:pt x="72" y="0"/>
                    </a:lnTo>
                    <a:lnTo>
                      <a:pt x="63" y="4"/>
                    </a:lnTo>
                    <a:lnTo>
                      <a:pt x="54" y="7"/>
                    </a:lnTo>
                    <a:lnTo>
                      <a:pt x="45" y="11"/>
                    </a:lnTo>
                    <a:lnTo>
                      <a:pt x="36" y="16"/>
                    </a:lnTo>
                    <a:lnTo>
                      <a:pt x="27" y="20"/>
                    </a:lnTo>
                    <a:lnTo>
                      <a:pt x="18" y="23"/>
                    </a:lnTo>
                    <a:lnTo>
                      <a:pt x="9" y="27"/>
                    </a:lnTo>
                    <a:lnTo>
                      <a:pt x="0" y="31"/>
                    </a:lnTo>
                    <a:lnTo>
                      <a:pt x="13" y="62"/>
                    </a:lnTo>
                    <a:lnTo>
                      <a:pt x="26" y="89"/>
                    </a:lnTo>
                    <a:lnTo>
                      <a:pt x="41" y="115"/>
                    </a:lnTo>
                    <a:lnTo>
                      <a:pt x="54" y="138"/>
                    </a:lnTo>
                    <a:lnTo>
                      <a:pt x="68" y="159"/>
                    </a:lnTo>
                    <a:lnTo>
                      <a:pt x="81" y="177"/>
                    </a:lnTo>
                    <a:lnTo>
                      <a:pt x="95" y="193"/>
                    </a:lnTo>
                    <a:lnTo>
                      <a:pt x="107" y="206"/>
                    </a:lnTo>
                    <a:lnTo>
                      <a:pt x="119" y="218"/>
                    </a:lnTo>
                    <a:lnTo>
                      <a:pt x="130" y="229"/>
                    </a:lnTo>
                    <a:lnTo>
                      <a:pt x="141" y="236"/>
                    </a:lnTo>
                    <a:lnTo>
                      <a:pt x="150" y="242"/>
                    </a:lnTo>
                    <a:lnTo>
                      <a:pt x="157" y="246"/>
                    </a:lnTo>
                    <a:lnTo>
                      <a:pt x="163" y="250"/>
                    </a:lnTo>
                    <a:lnTo>
                      <a:pt x="168" y="251"/>
                    </a:lnTo>
                    <a:lnTo>
                      <a:pt x="171" y="251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73" name="Freeform 238">
                <a:extLst>
                  <a:ext uri="{FF2B5EF4-FFF2-40B4-BE49-F238E27FC236}">
                    <a16:creationId xmlns:a16="http://schemas.microsoft.com/office/drawing/2014/main" id="{637AF52F-6C15-461D-B401-A48B87319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436"/>
                <a:ext cx="7" cy="13"/>
              </a:xfrm>
              <a:custGeom>
                <a:avLst/>
                <a:gdLst>
                  <a:gd name="T0" fmla="*/ 0 w 163"/>
                  <a:gd name="T1" fmla="*/ 0 h 240"/>
                  <a:gd name="T2" fmla="*/ 0 w 163"/>
                  <a:gd name="T3" fmla="*/ 0 h 240"/>
                  <a:gd name="T4" fmla="*/ 0 w 163"/>
                  <a:gd name="T5" fmla="*/ 0 h 240"/>
                  <a:gd name="T6" fmla="*/ 0 w 163"/>
                  <a:gd name="T7" fmla="*/ 0 h 240"/>
                  <a:gd name="T8" fmla="*/ 0 w 163"/>
                  <a:gd name="T9" fmla="*/ 0 h 240"/>
                  <a:gd name="T10" fmla="*/ 0 w 163"/>
                  <a:gd name="T11" fmla="*/ 0 h 240"/>
                  <a:gd name="T12" fmla="*/ 0 w 163"/>
                  <a:gd name="T13" fmla="*/ 0 h 240"/>
                  <a:gd name="T14" fmla="*/ 0 w 163"/>
                  <a:gd name="T15" fmla="*/ 0 h 240"/>
                  <a:gd name="T16" fmla="*/ 0 w 163"/>
                  <a:gd name="T17" fmla="*/ 0 h 240"/>
                  <a:gd name="T18" fmla="*/ 0 w 163"/>
                  <a:gd name="T19" fmla="*/ 0 h 240"/>
                  <a:gd name="T20" fmla="*/ 0 w 163"/>
                  <a:gd name="T21" fmla="*/ 0 h 240"/>
                  <a:gd name="T22" fmla="*/ 0 w 163"/>
                  <a:gd name="T23" fmla="*/ 0 h 240"/>
                  <a:gd name="T24" fmla="*/ 0 w 163"/>
                  <a:gd name="T25" fmla="*/ 0 h 240"/>
                  <a:gd name="T26" fmla="*/ 0 w 163"/>
                  <a:gd name="T27" fmla="*/ 0 h 240"/>
                  <a:gd name="T28" fmla="*/ 0 w 163"/>
                  <a:gd name="T29" fmla="*/ 0 h 240"/>
                  <a:gd name="T30" fmla="*/ 0 w 163"/>
                  <a:gd name="T31" fmla="*/ 0 h 240"/>
                  <a:gd name="T32" fmla="*/ 0 w 163"/>
                  <a:gd name="T33" fmla="*/ 0 h 240"/>
                  <a:gd name="T34" fmla="*/ 0 w 163"/>
                  <a:gd name="T35" fmla="*/ 0 h 240"/>
                  <a:gd name="T36" fmla="*/ 0 w 163"/>
                  <a:gd name="T37" fmla="*/ 0 h 240"/>
                  <a:gd name="T38" fmla="*/ 0 w 163"/>
                  <a:gd name="T39" fmla="*/ 0 h 240"/>
                  <a:gd name="T40" fmla="*/ 0 w 163"/>
                  <a:gd name="T41" fmla="*/ 0 h 240"/>
                  <a:gd name="T42" fmla="*/ 0 w 163"/>
                  <a:gd name="T43" fmla="*/ 0 h 240"/>
                  <a:gd name="T44" fmla="*/ 0 w 163"/>
                  <a:gd name="T45" fmla="*/ 0 h 240"/>
                  <a:gd name="T46" fmla="*/ 0 w 163"/>
                  <a:gd name="T47" fmla="*/ 0 h 240"/>
                  <a:gd name="T48" fmla="*/ 0 w 163"/>
                  <a:gd name="T49" fmla="*/ 0 h 240"/>
                  <a:gd name="T50" fmla="*/ 0 w 163"/>
                  <a:gd name="T51" fmla="*/ 0 h 240"/>
                  <a:gd name="T52" fmla="*/ 0 w 163"/>
                  <a:gd name="T53" fmla="*/ 0 h 240"/>
                  <a:gd name="T54" fmla="*/ 0 w 163"/>
                  <a:gd name="T55" fmla="*/ 0 h 240"/>
                  <a:gd name="T56" fmla="*/ 0 w 163"/>
                  <a:gd name="T57" fmla="*/ 0 h 240"/>
                  <a:gd name="T58" fmla="*/ 0 w 163"/>
                  <a:gd name="T59" fmla="*/ 0 h 240"/>
                  <a:gd name="T60" fmla="*/ 0 w 163"/>
                  <a:gd name="T61" fmla="*/ 0 h 240"/>
                  <a:gd name="T62" fmla="*/ 0 w 163"/>
                  <a:gd name="T63" fmla="*/ 0 h 240"/>
                  <a:gd name="T64" fmla="*/ 0 w 163"/>
                  <a:gd name="T65" fmla="*/ 0 h 2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63"/>
                  <a:gd name="T100" fmla="*/ 0 h 240"/>
                  <a:gd name="T101" fmla="*/ 163 w 163"/>
                  <a:gd name="T102" fmla="*/ 240 h 24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63" h="240">
                    <a:moveTo>
                      <a:pt x="163" y="240"/>
                    </a:moveTo>
                    <a:lnTo>
                      <a:pt x="162" y="235"/>
                    </a:lnTo>
                    <a:lnTo>
                      <a:pt x="156" y="225"/>
                    </a:lnTo>
                    <a:lnTo>
                      <a:pt x="145" y="208"/>
                    </a:lnTo>
                    <a:lnTo>
                      <a:pt x="129" y="183"/>
                    </a:lnTo>
                    <a:lnTo>
                      <a:pt x="110" y="150"/>
                    </a:lnTo>
                    <a:lnTo>
                      <a:pt x="89" y="110"/>
                    </a:lnTo>
                    <a:lnTo>
                      <a:pt x="64" y="59"/>
                    </a:lnTo>
                    <a:lnTo>
                      <a:pt x="39" y="0"/>
                    </a:lnTo>
                    <a:lnTo>
                      <a:pt x="34" y="2"/>
                    </a:lnTo>
                    <a:lnTo>
                      <a:pt x="28" y="5"/>
                    </a:lnTo>
                    <a:lnTo>
                      <a:pt x="24" y="7"/>
                    </a:lnTo>
                    <a:lnTo>
                      <a:pt x="19" y="9"/>
                    </a:lnTo>
                    <a:lnTo>
                      <a:pt x="14" y="11"/>
                    </a:lnTo>
                    <a:lnTo>
                      <a:pt x="10" y="13"/>
                    </a:lnTo>
                    <a:lnTo>
                      <a:pt x="5" y="15"/>
                    </a:lnTo>
                    <a:lnTo>
                      <a:pt x="0" y="17"/>
                    </a:lnTo>
                    <a:lnTo>
                      <a:pt x="13" y="48"/>
                    </a:lnTo>
                    <a:lnTo>
                      <a:pt x="26" y="75"/>
                    </a:lnTo>
                    <a:lnTo>
                      <a:pt x="41" y="102"/>
                    </a:lnTo>
                    <a:lnTo>
                      <a:pt x="54" y="124"/>
                    </a:lnTo>
                    <a:lnTo>
                      <a:pt x="68" y="145"/>
                    </a:lnTo>
                    <a:lnTo>
                      <a:pt x="82" y="163"/>
                    </a:lnTo>
                    <a:lnTo>
                      <a:pt x="94" y="180"/>
                    </a:lnTo>
                    <a:lnTo>
                      <a:pt x="106" y="193"/>
                    </a:lnTo>
                    <a:lnTo>
                      <a:pt x="117" y="205"/>
                    </a:lnTo>
                    <a:lnTo>
                      <a:pt x="127" y="215"/>
                    </a:lnTo>
                    <a:lnTo>
                      <a:pt x="138" y="224"/>
                    </a:lnTo>
                    <a:lnTo>
                      <a:pt x="146" y="230"/>
                    </a:lnTo>
                    <a:lnTo>
                      <a:pt x="152" y="234"/>
                    </a:lnTo>
                    <a:lnTo>
                      <a:pt x="158" y="238"/>
                    </a:lnTo>
                    <a:lnTo>
                      <a:pt x="161" y="240"/>
                    </a:lnTo>
                    <a:lnTo>
                      <a:pt x="163" y="240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74" name="Freeform 239">
                <a:extLst>
                  <a:ext uri="{FF2B5EF4-FFF2-40B4-BE49-F238E27FC236}">
                    <a16:creationId xmlns:a16="http://schemas.microsoft.com/office/drawing/2014/main" id="{871DAC85-E48E-4145-A57A-BA356046F6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449"/>
                <a:ext cx="2" cy="5"/>
              </a:xfrm>
              <a:custGeom>
                <a:avLst/>
                <a:gdLst>
                  <a:gd name="T0" fmla="*/ 0 w 48"/>
                  <a:gd name="T1" fmla="*/ 0 h 99"/>
                  <a:gd name="T2" fmla="*/ 0 w 48"/>
                  <a:gd name="T3" fmla="*/ 0 h 99"/>
                  <a:gd name="T4" fmla="*/ 0 w 48"/>
                  <a:gd name="T5" fmla="*/ 0 h 99"/>
                  <a:gd name="T6" fmla="*/ 0 w 48"/>
                  <a:gd name="T7" fmla="*/ 0 h 99"/>
                  <a:gd name="T8" fmla="*/ 0 w 48"/>
                  <a:gd name="T9" fmla="*/ 0 h 99"/>
                  <a:gd name="T10" fmla="*/ 0 w 48"/>
                  <a:gd name="T11" fmla="*/ 0 h 99"/>
                  <a:gd name="T12" fmla="*/ 0 w 48"/>
                  <a:gd name="T13" fmla="*/ 0 h 99"/>
                  <a:gd name="T14" fmla="*/ 0 w 48"/>
                  <a:gd name="T15" fmla="*/ 0 h 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8"/>
                  <a:gd name="T25" fmla="*/ 0 h 99"/>
                  <a:gd name="T26" fmla="*/ 48 w 48"/>
                  <a:gd name="T27" fmla="*/ 99 h 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8" h="99">
                    <a:moveTo>
                      <a:pt x="13" y="0"/>
                    </a:moveTo>
                    <a:lnTo>
                      <a:pt x="44" y="76"/>
                    </a:lnTo>
                    <a:lnTo>
                      <a:pt x="48" y="92"/>
                    </a:lnTo>
                    <a:lnTo>
                      <a:pt x="46" y="99"/>
                    </a:lnTo>
                    <a:lnTo>
                      <a:pt x="39" y="96"/>
                    </a:lnTo>
                    <a:lnTo>
                      <a:pt x="31" y="83"/>
                    </a:lnTo>
                    <a:lnTo>
                      <a:pt x="0" y="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338" name="Group 241">
              <a:extLst>
                <a:ext uri="{FF2B5EF4-FFF2-40B4-BE49-F238E27FC236}">
                  <a16:creationId xmlns:a16="http://schemas.microsoft.com/office/drawing/2014/main" id="{B4FF8073-3319-40D3-B9FF-DAA15F7D62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7000" y="4343400"/>
              <a:ext cx="469900" cy="685800"/>
              <a:chOff x="3360" y="3024"/>
              <a:chExt cx="296" cy="432"/>
            </a:xfrm>
          </p:grpSpPr>
          <p:sp>
            <p:nvSpPr>
              <p:cNvPr id="98767" name="Freeform 242">
                <a:extLst>
                  <a:ext uri="{FF2B5EF4-FFF2-40B4-BE49-F238E27FC236}">
                    <a16:creationId xmlns:a16="http://schemas.microsoft.com/office/drawing/2014/main" id="{6D9435DC-6CF5-41A8-96FB-C2C9E557D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8"/>
                <a:ext cx="9" cy="5"/>
              </a:xfrm>
              <a:custGeom>
                <a:avLst/>
                <a:gdLst>
                  <a:gd name="T0" fmla="*/ 0 w 206"/>
                  <a:gd name="T1" fmla="*/ 0 h 84"/>
                  <a:gd name="T2" fmla="*/ 0 w 206"/>
                  <a:gd name="T3" fmla="*/ 0 h 84"/>
                  <a:gd name="T4" fmla="*/ 0 w 206"/>
                  <a:gd name="T5" fmla="*/ 0 h 84"/>
                  <a:gd name="T6" fmla="*/ 0 w 206"/>
                  <a:gd name="T7" fmla="*/ 0 h 84"/>
                  <a:gd name="T8" fmla="*/ 0 w 206"/>
                  <a:gd name="T9" fmla="*/ 0 h 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84"/>
                  <a:gd name="T17" fmla="*/ 206 w 206"/>
                  <a:gd name="T18" fmla="*/ 84 h 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84">
                    <a:moveTo>
                      <a:pt x="0" y="67"/>
                    </a:moveTo>
                    <a:lnTo>
                      <a:pt x="199" y="0"/>
                    </a:lnTo>
                    <a:lnTo>
                      <a:pt x="206" y="17"/>
                    </a:lnTo>
                    <a:lnTo>
                      <a:pt x="7" y="84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68" name="Freeform 243">
                <a:extLst>
                  <a:ext uri="{FF2B5EF4-FFF2-40B4-BE49-F238E27FC236}">
                    <a16:creationId xmlns:a16="http://schemas.microsoft.com/office/drawing/2014/main" id="{45D7E065-0D4E-48A8-BF1A-5BB10DC38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3450"/>
                <a:ext cx="3" cy="6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"/>
                  <a:gd name="T37" fmla="*/ 0 h 108"/>
                  <a:gd name="T38" fmla="*/ 82 w 82"/>
                  <a:gd name="T39" fmla="*/ 108 h 10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" h="108">
                    <a:moveTo>
                      <a:pt x="45" y="0"/>
                    </a:moveTo>
                    <a:lnTo>
                      <a:pt x="80" y="77"/>
                    </a:lnTo>
                    <a:lnTo>
                      <a:pt x="82" y="87"/>
                    </a:lnTo>
                    <a:lnTo>
                      <a:pt x="80" y="95"/>
                    </a:lnTo>
                    <a:lnTo>
                      <a:pt x="74" y="102"/>
                    </a:lnTo>
                    <a:lnTo>
                      <a:pt x="66" y="106"/>
                    </a:lnTo>
                    <a:lnTo>
                      <a:pt x="57" y="108"/>
                    </a:lnTo>
                    <a:lnTo>
                      <a:pt x="49" y="106"/>
                    </a:lnTo>
                    <a:lnTo>
                      <a:pt x="41" y="102"/>
                    </a:lnTo>
                    <a:lnTo>
                      <a:pt x="35" y="93"/>
                    </a:lnTo>
                    <a:lnTo>
                      <a:pt x="0" y="16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69" name="Freeform 244">
                <a:extLst>
                  <a:ext uri="{FF2B5EF4-FFF2-40B4-BE49-F238E27FC236}">
                    <a16:creationId xmlns:a16="http://schemas.microsoft.com/office/drawing/2014/main" id="{ACB49937-0270-4BE9-B53B-4A196EEEE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33"/>
                <a:ext cx="13" cy="18"/>
              </a:xfrm>
              <a:custGeom>
                <a:avLst/>
                <a:gdLst>
                  <a:gd name="T0" fmla="*/ 0 w 293"/>
                  <a:gd name="T1" fmla="*/ 0 h 319"/>
                  <a:gd name="T2" fmla="*/ 0 w 293"/>
                  <a:gd name="T3" fmla="*/ 0 h 319"/>
                  <a:gd name="T4" fmla="*/ 0 w 293"/>
                  <a:gd name="T5" fmla="*/ 0 h 319"/>
                  <a:gd name="T6" fmla="*/ 0 w 293"/>
                  <a:gd name="T7" fmla="*/ 0 h 319"/>
                  <a:gd name="T8" fmla="*/ 0 w 293"/>
                  <a:gd name="T9" fmla="*/ 0 h 319"/>
                  <a:gd name="T10" fmla="*/ 0 w 293"/>
                  <a:gd name="T11" fmla="*/ 0 h 319"/>
                  <a:gd name="T12" fmla="*/ 0 w 293"/>
                  <a:gd name="T13" fmla="*/ 0 h 319"/>
                  <a:gd name="T14" fmla="*/ 0 w 293"/>
                  <a:gd name="T15" fmla="*/ 0 h 319"/>
                  <a:gd name="T16" fmla="*/ 0 w 293"/>
                  <a:gd name="T17" fmla="*/ 0 h 319"/>
                  <a:gd name="T18" fmla="*/ 0 w 293"/>
                  <a:gd name="T19" fmla="*/ 0 h 319"/>
                  <a:gd name="T20" fmla="*/ 0 w 293"/>
                  <a:gd name="T21" fmla="*/ 0 h 319"/>
                  <a:gd name="T22" fmla="*/ 0 w 293"/>
                  <a:gd name="T23" fmla="*/ 0 h 319"/>
                  <a:gd name="T24" fmla="*/ 0 w 293"/>
                  <a:gd name="T25" fmla="*/ 0 h 319"/>
                  <a:gd name="T26" fmla="*/ 0 w 293"/>
                  <a:gd name="T27" fmla="*/ 0 h 319"/>
                  <a:gd name="T28" fmla="*/ 0 w 293"/>
                  <a:gd name="T29" fmla="*/ 0 h 319"/>
                  <a:gd name="T30" fmla="*/ 0 w 293"/>
                  <a:gd name="T31" fmla="*/ 0 h 319"/>
                  <a:gd name="T32" fmla="*/ 0 w 293"/>
                  <a:gd name="T33" fmla="*/ 0 h 319"/>
                  <a:gd name="T34" fmla="*/ 0 w 293"/>
                  <a:gd name="T35" fmla="*/ 0 h 319"/>
                  <a:gd name="T36" fmla="*/ 0 w 293"/>
                  <a:gd name="T37" fmla="*/ 0 h 319"/>
                  <a:gd name="T38" fmla="*/ 0 w 293"/>
                  <a:gd name="T39" fmla="*/ 0 h 319"/>
                  <a:gd name="T40" fmla="*/ 0 w 293"/>
                  <a:gd name="T41" fmla="*/ 0 h 319"/>
                  <a:gd name="T42" fmla="*/ 0 w 293"/>
                  <a:gd name="T43" fmla="*/ 0 h 319"/>
                  <a:gd name="T44" fmla="*/ 0 w 293"/>
                  <a:gd name="T45" fmla="*/ 0 h 319"/>
                  <a:gd name="T46" fmla="*/ 0 w 293"/>
                  <a:gd name="T47" fmla="*/ 0 h 319"/>
                  <a:gd name="T48" fmla="*/ 0 w 293"/>
                  <a:gd name="T49" fmla="*/ 0 h 319"/>
                  <a:gd name="T50" fmla="*/ 0 w 293"/>
                  <a:gd name="T51" fmla="*/ 0 h 319"/>
                  <a:gd name="T52" fmla="*/ 0 w 293"/>
                  <a:gd name="T53" fmla="*/ 0 h 319"/>
                  <a:gd name="T54" fmla="*/ 0 w 293"/>
                  <a:gd name="T55" fmla="*/ 0 h 319"/>
                  <a:gd name="T56" fmla="*/ 0 w 293"/>
                  <a:gd name="T57" fmla="*/ 0 h 319"/>
                  <a:gd name="T58" fmla="*/ 0 w 293"/>
                  <a:gd name="T59" fmla="*/ 0 h 319"/>
                  <a:gd name="T60" fmla="*/ 0 w 293"/>
                  <a:gd name="T61" fmla="*/ 0 h 319"/>
                  <a:gd name="T62" fmla="*/ 0 w 293"/>
                  <a:gd name="T63" fmla="*/ 0 h 319"/>
                  <a:gd name="T64" fmla="*/ 0 w 293"/>
                  <a:gd name="T65" fmla="*/ 0 h 319"/>
                  <a:gd name="T66" fmla="*/ 0 w 293"/>
                  <a:gd name="T67" fmla="*/ 0 h 319"/>
                  <a:gd name="T68" fmla="*/ 0 w 293"/>
                  <a:gd name="T69" fmla="*/ 0 h 319"/>
                  <a:gd name="T70" fmla="*/ 0 w 293"/>
                  <a:gd name="T71" fmla="*/ 0 h 319"/>
                  <a:gd name="T72" fmla="*/ 0 w 293"/>
                  <a:gd name="T73" fmla="*/ 0 h 319"/>
                  <a:gd name="T74" fmla="*/ 0 w 293"/>
                  <a:gd name="T75" fmla="*/ 0 h 319"/>
                  <a:gd name="T76" fmla="*/ 0 w 293"/>
                  <a:gd name="T77" fmla="*/ 0 h 319"/>
                  <a:gd name="T78" fmla="*/ 0 w 293"/>
                  <a:gd name="T79" fmla="*/ 0 h 319"/>
                  <a:gd name="T80" fmla="*/ 0 w 293"/>
                  <a:gd name="T81" fmla="*/ 0 h 31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93"/>
                  <a:gd name="T124" fmla="*/ 0 h 319"/>
                  <a:gd name="T125" fmla="*/ 293 w 293"/>
                  <a:gd name="T126" fmla="*/ 319 h 31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93" h="319">
                    <a:moveTo>
                      <a:pt x="247" y="317"/>
                    </a:moveTo>
                    <a:lnTo>
                      <a:pt x="261" y="307"/>
                    </a:lnTo>
                    <a:lnTo>
                      <a:pt x="275" y="287"/>
                    </a:lnTo>
                    <a:lnTo>
                      <a:pt x="285" y="256"/>
                    </a:lnTo>
                    <a:lnTo>
                      <a:pt x="292" y="218"/>
                    </a:lnTo>
                    <a:lnTo>
                      <a:pt x="293" y="173"/>
                    </a:lnTo>
                    <a:lnTo>
                      <a:pt x="288" y="120"/>
                    </a:lnTo>
                    <a:lnTo>
                      <a:pt x="274" y="62"/>
                    </a:lnTo>
                    <a:lnTo>
                      <a:pt x="251" y="0"/>
                    </a:lnTo>
                    <a:lnTo>
                      <a:pt x="235" y="5"/>
                    </a:lnTo>
                    <a:lnTo>
                      <a:pt x="219" y="10"/>
                    </a:lnTo>
                    <a:lnTo>
                      <a:pt x="204" y="17"/>
                    </a:lnTo>
                    <a:lnTo>
                      <a:pt x="188" y="22"/>
                    </a:lnTo>
                    <a:lnTo>
                      <a:pt x="172" y="28"/>
                    </a:lnTo>
                    <a:lnTo>
                      <a:pt x="157" y="34"/>
                    </a:lnTo>
                    <a:lnTo>
                      <a:pt x="140" y="40"/>
                    </a:lnTo>
                    <a:lnTo>
                      <a:pt x="125" y="45"/>
                    </a:lnTo>
                    <a:lnTo>
                      <a:pt x="110" y="52"/>
                    </a:lnTo>
                    <a:lnTo>
                      <a:pt x="94" y="58"/>
                    </a:lnTo>
                    <a:lnTo>
                      <a:pt x="78" y="63"/>
                    </a:lnTo>
                    <a:lnTo>
                      <a:pt x="63" y="69"/>
                    </a:lnTo>
                    <a:lnTo>
                      <a:pt x="47" y="75"/>
                    </a:lnTo>
                    <a:lnTo>
                      <a:pt x="31" y="81"/>
                    </a:lnTo>
                    <a:lnTo>
                      <a:pt x="15" y="86"/>
                    </a:lnTo>
                    <a:lnTo>
                      <a:pt x="0" y="92"/>
                    </a:lnTo>
                    <a:lnTo>
                      <a:pt x="15" y="122"/>
                    </a:lnTo>
                    <a:lnTo>
                      <a:pt x="30" y="152"/>
                    </a:lnTo>
                    <a:lnTo>
                      <a:pt x="48" y="177"/>
                    </a:lnTo>
                    <a:lnTo>
                      <a:pt x="65" y="201"/>
                    </a:lnTo>
                    <a:lnTo>
                      <a:pt x="82" y="222"/>
                    </a:lnTo>
                    <a:lnTo>
                      <a:pt x="101" y="242"/>
                    </a:lnTo>
                    <a:lnTo>
                      <a:pt x="119" y="259"/>
                    </a:lnTo>
                    <a:lnTo>
                      <a:pt x="136" y="274"/>
                    </a:lnTo>
                    <a:lnTo>
                      <a:pt x="154" y="287"/>
                    </a:lnTo>
                    <a:lnTo>
                      <a:pt x="171" y="297"/>
                    </a:lnTo>
                    <a:lnTo>
                      <a:pt x="186" y="306"/>
                    </a:lnTo>
                    <a:lnTo>
                      <a:pt x="202" y="312"/>
                    </a:lnTo>
                    <a:lnTo>
                      <a:pt x="215" y="316"/>
                    </a:lnTo>
                    <a:lnTo>
                      <a:pt x="227" y="318"/>
                    </a:lnTo>
                    <a:lnTo>
                      <a:pt x="238" y="319"/>
                    </a:lnTo>
                    <a:lnTo>
                      <a:pt x="247" y="31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0" name="Freeform 245">
                <a:extLst>
                  <a:ext uri="{FF2B5EF4-FFF2-40B4-BE49-F238E27FC236}">
                    <a16:creationId xmlns:a16="http://schemas.microsoft.com/office/drawing/2014/main" id="{5DC0547A-FC00-43B8-8119-3BF27EDB5B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9"/>
                <a:ext cx="60" cy="139"/>
              </a:xfrm>
              <a:custGeom>
                <a:avLst/>
                <a:gdLst>
                  <a:gd name="T0" fmla="*/ 0 w 1314"/>
                  <a:gd name="T1" fmla="*/ 0 h 2506"/>
                  <a:gd name="T2" fmla="*/ 0 w 1314"/>
                  <a:gd name="T3" fmla="*/ 0 h 2506"/>
                  <a:gd name="T4" fmla="*/ 0 w 1314"/>
                  <a:gd name="T5" fmla="*/ 0 h 2506"/>
                  <a:gd name="T6" fmla="*/ 0 w 1314"/>
                  <a:gd name="T7" fmla="*/ 0 h 2506"/>
                  <a:gd name="T8" fmla="*/ 0 w 1314"/>
                  <a:gd name="T9" fmla="*/ 0 h 25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4"/>
                  <a:gd name="T16" fmla="*/ 0 h 2506"/>
                  <a:gd name="T17" fmla="*/ 1314 w 1314"/>
                  <a:gd name="T18" fmla="*/ 2506 h 25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4" h="2506">
                    <a:moveTo>
                      <a:pt x="198" y="0"/>
                    </a:moveTo>
                    <a:lnTo>
                      <a:pt x="0" y="66"/>
                    </a:lnTo>
                    <a:lnTo>
                      <a:pt x="1064" y="2506"/>
                    </a:lnTo>
                    <a:lnTo>
                      <a:pt x="1314" y="2421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1" name="Freeform 246">
                <a:extLst>
                  <a:ext uri="{FF2B5EF4-FFF2-40B4-BE49-F238E27FC236}">
                    <a16:creationId xmlns:a16="http://schemas.microsoft.com/office/drawing/2014/main" id="{7C26DD5B-554C-4669-BA21-0C7B9E719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3292"/>
                <a:ext cx="11" cy="10"/>
              </a:xfrm>
              <a:custGeom>
                <a:avLst/>
                <a:gdLst>
                  <a:gd name="T0" fmla="*/ 0 w 235"/>
                  <a:gd name="T1" fmla="*/ 0 h 179"/>
                  <a:gd name="T2" fmla="*/ 0 w 235"/>
                  <a:gd name="T3" fmla="*/ 0 h 179"/>
                  <a:gd name="T4" fmla="*/ 0 w 235"/>
                  <a:gd name="T5" fmla="*/ 0 h 179"/>
                  <a:gd name="T6" fmla="*/ 0 w 235"/>
                  <a:gd name="T7" fmla="*/ 0 h 179"/>
                  <a:gd name="T8" fmla="*/ 0 w 235"/>
                  <a:gd name="T9" fmla="*/ 0 h 179"/>
                  <a:gd name="T10" fmla="*/ 0 w 235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179"/>
                  <a:gd name="T20" fmla="*/ 235 w 235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179">
                    <a:moveTo>
                      <a:pt x="235" y="111"/>
                    </a:moveTo>
                    <a:lnTo>
                      <a:pt x="36" y="179"/>
                    </a:lnTo>
                    <a:lnTo>
                      <a:pt x="0" y="97"/>
                    </a:lnTo>
                    <a:lnTo>
                      <a:pt x="70" y="0"/>
                    </a:lnTo>
                    <a:lnTo>
                      <a:pt x="199" y="30"/>
                    </a:lnTo>
                    <a:lnTo>
                      <a:pt x="235" y="111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2" name="Freeform 247">
                <a:extLst>
                  <a:ext uri="{FF2B5EF4-FFF2-40B4-BE49-F238E27FC236}">
                    <a16:creationId xmlns:a16="http://schemas.microsoft.com/office/drawing/2014/main" id="{005115FE-31B1-4C8E-901B-EF497ADD9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103"/>
                <a:ext cx="208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6"/>
                    </a:moveTo>
                    <a:lnTo>
                      <a:pt x="3650" y="0"/>
                    </a:lnTo>
                    <a:lnTo>
                      <a:pt x="4569" y="1998"/>
                    </a:lnTo>
                    <a:lnTo>
                      <a:pt x="873" y="3641"/>
                    </a:lnTo>
                    <a:lnTo>
                      <a:pt x="0" y="162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3" name="Freeform 248">
                <a:extLst>
                  <a:ext uri="{FF2B5EF4-FFF2-40B4-BE49-F238E27FC236}">
                    <a16:creationId xmlns:a16="http://schemas.microsoft.com/office/drawing/2014/main" id="{050202CB-EA60-4B46-BF78-A08A7A48BC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5" y="3045"/>
                <a:ext cx="271" cy="393"/>
              </a:xfrm>
              <a:custGeom>
                <a:avLst/>
                <a:gdLst>
                  <a:gd name="T0" fmla="*/ 0 w 5957"/>
                  <a:gd name="T1" fmla="*/ 0 h 7066"/>
                  <a:gd name="T2" fmla="*/ 0 w 5957"/>
                  <a:gd name="T3" fmla="*/ 0 h 7066"/>
                  <a:gd name="T4" fmla="*/ 0 w 5957"/>
                  <a:gd name="T5" fmla="*/ 0 h 7066"/>
                  <a:gd name="T6" fmla="*/ 0 w 5957"/>
                  <a:gd name="T7" fmla="*/ 0 h 7066"/>
                  <a:gd name="T8" fmla="*/ 0 w 5957"/>
                  <a:gd name="T9" fmla="*/ 0 h 7066"/>
                  <a:gd name="T10" fmla="*/ 0 w 5957"/>
                  <a:gd name="T11" fmla="*/ 0 h 7066"/>
                  <a:gd name="T12" fmla="*/ 0 w 5957"/>
                  <a:gd name="T13" fmla="*/ 0 h 7066"/>
                  <a:gd name="T14" fmla="*/ 0 w 5957"/>
                  <a:gd name="T15" fmla="*/ 0 h 7066"/>
                  <a:gd name="T16" fmla="*/ 0 w 5957"/>
                  <a:gd name="T17" fmla="*/ 0 h 7066"/>
                  <a:gd name="T18" fmla="*/ 0 w 5957"/>
                  <a:gd name="T19" fmla="*/ 0 h 7066"/>
                  <a:gd name="T20" fmla="*/ 0 w 5957"/>
                  <a:gd name="T21" fmla="*/ 0 h 7066"/>
                  <a:gd name="T22" fmla="*/ 0 w 5957"/>
                  <a:gd name="T23" fmla="*/ 0 h 7066"/>
                  <a:gd name="T24" fmla="*/ 0 w 5957"/>
                  <a:gd name="T25" fmla="*/ 0 h 7066"/>
                  <a:gd name="T26" fmla="*/ 0 w 5957"/>
                  <a:gd name="T27" fmla="*/ 0 h 7066"/>
                  <a:gd name="T28" fmla="*/ 0 w 5957"/>
                  <a:gd name="T29" fmla="*/ 0 h 7066"/>
                  <a:gd name="T30" fmla="*/ 0 w 5957"/>
                  <a:gd name="T31" fmla="*/ 0 h 7066"/>
                  <a:gd name="T32" fmla="*/ 0 w 5957"/>
                  <a:gd name="T33" fmla="*/ 0 h 7066"/>
                  <a:gd name="T34" fmla="*/ 0 w 5957"/>
                  <a:gd name="T35" fmla="*/ 0 h 7066"/>
                  <a:gd name="T36" fmla="*/ 0 w 5957"/>
                  <a:gd name="T37" fmla="*/ 0 h 7066"/>
                  <a:gd name="T38" fmla="*/ 0 w 5957"/>
                  <a:gd name="T39" fmla="*/ 0 h 7066"/>
                  <a:gd name="T40" fmla="*/ 0 w 5957"/>
                  <a:gd name="T41" fmla="*/ 0 h 7066"/>
                  <a:gd name="T42" fmla="*/ 0 w 5957"/>
                  <a:gd name="T43" fmla="*/ 0 h 7066"/>
                  <a:gd name="T44" fmla="*/ 0 w 5957"/>
                  <a:gd name="T45" fmla="*/ 0 h 7066"/>
                  <a:gd name="T46" fmla="*/ 0 w 5957"/>
                  <a:gd name="T47" fmla="*/ 0 h 7066"/>
                  <a:gd name="T48" fmla="*/ 0 w 5957"/>
                  <a:gd name="T49" fmla="*/ 0 h 7066"/>
                  <a:gd name="T50" fmla="*/ 0 w 5957"/>
                  <a:gd name="T51" fmla="*/ 0 h 7066"/>
                  <a:gd name="T52" fmla="*/ 0 w 5957"/>
                  <a:gd name="T53" fmla="*/ 0 h 7066"/>
                  <a:gd name="T54" fmla="*/ 0 w 5957"/>
                  <a:gd name="T55" fmla="*/ 0 h 7066"/>
                  <a:gd name="T56" fmla="*/ 0 w 5957"/>
                  <a:gd name="T57" fmla="*/ 0 h 7066"/>
                  <a:gd name="T58" fmla="*/ 0 w 5957"/>
                  <a:gd name="T59" fmla="*/ 0 h 7066"/>
                  <a:gd name="T60" fmla="*/ 0 w 5957"/>
                  <a:gd name="T61" fmla="*/ 0 h 7066"/>
                  <a:gd name="T62" fmla="*/ 0 w 5957"/>
                  <a:gd name="T63" fmla="*/ 0 h 7066"/>
                  <a:gd name="T64" fmla="*/ 0 w 5957"/>
                  <a:gd name="T65" fmla="*/ 0 h 7066"/>
                  <a:gd name="T66" fmla="*/ 0 w 5957"/>
                  <a:gd name="T67" fmla="*/ 0 h 7066"/>
                  <a:gd name="T68" fmla="*/ 0 w 5957"/>
                  <a:gd name="T69" fmla="*/ 0 h 7066"/>
                  <a:gd name="T70" fmla="*/ 0 w 5957"/>
                  <a:gd name="T71" fmla="*/ 0 h 7066"/>
                  <a:gd name="T72" fmla="*/ 0 w 5957"/>
                  <a:gd name="T73" fmla="*/ 0 h 706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6"/>
                  <a:gd name="T113" fmla="*/ 5957 w 5957"/>
                  <a:gd name="T114" fmla="*/ 7066 h 706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6">
                    <a:moveTo>
                      <a:pt x="2496" y="7056"/>
                    </a:moveTo>
                    <a:lnTo>
                      <a:pt x="5894" y="5433"/>
                    </a:lnTo>
                    <a:lnTo>
                      <a:pt x="5912" y="5421"/>
                    </a:lnTo>
                    <a:lnTo>
                      <a:pt x="5927" y="5407"/>
                    </a:lnTo>
                    <a:lnTo>
                      <a:pt x="5941" y="5389"/>
                    </a:lnTo>
                    <a:lnTo>
                      <a:pt x="5950" y="5369"/>
                    </a:lnTo>
                    <a:lnTo>
                      <a:pt x="5955" y="5348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5"/>
                    </a:lnTo>
                    <a:lnTo>
                      <a:pt x="3492" y="47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9"/>
                    </a:lnTo>
                    <a:lnTo>
                      <a:pt x="3420" y="3"/>
                    </a:lnTo>
                    <a:lnTo>
                      <a:pt x="3399" y="0"/>
                    </a:lnTo>
                    <a:lnTo>
                      <a:pt x="3377" y="3"/>
                    </a:lnTo>
                    <a:lnTo>
                      <a:pt x="3357" y="9"/>
                    </a:lnTo>
                    <a:lnTo>
                      <a:pt x="63" y="1487"/>
                    </a:lnTo>
                    <a:lnTo>
                      <a:pt x="45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6"/>
                    </a:lnTo>
                    <a:lnTo>
                      <a:pt x="9" y="1637"/>
                    </a:lnTo>
                    <a:lnTo>
                      <a:pt x="2350" y="7000"/>
                    </a:lnTo>
                    <a:lnTo>
                      <a:pt x="2361" y="7018"/>
                    </a:lnTo>
                    <a:lnTo>
                      <a:pt x="2376" y="7034"/>
                    </a:lnTo>
                    <a:lnTo>
                      <a:pt x="2393" y="7048"/>
                    </a:lnTo>
                    <a:lnTo>
                      <a:pt x="2412" y="7057"/>
                    </a:lnTo>
                    <a:lnTo>
                      <a:pt x="2433" y="7064"/>
                    </a:lnTo>
                    <a:lnTo>
                      <a:pt x="2454" y="7066"/>
                    </a:lnTo>
                    <a:lnTo>
                      <a:pt x="2476" y="7064"/>
                    </a:lnTo>
                    <a:lnTo>
                      <a:pt x="2496" y="705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4" name="Freeform 249">
                <a:extLst>
                  <a:ext uri="{FF2B5EF4-FFF2-40B4-BE49-F238E27FC236}">
                    <a16:creationId xmlns:a16="http://schemas.microsoft.com/office/drawing/2014/main" id="{EC58AE43-8A6A-4E95-8943-205C1FE12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096"/>
                <a:ext cx="51" cy="121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7" y="2127"/>
                    </a:moveTo>
                    <a:lnTo>
                      <a:pt x="0" y="131"/>
                    </a:lnTo>
                    <a:lnTo>
                      <a:pt x="33" y="0"/>
                    </a:lnTo>
                    <a:lnTo>
                      <a:pt x="70" y="14"/>
                    </a:lnTo>
                    <a:lnTo>
                      <a:pt x="106" y="29"/>
                    </a:lnTo>
                    <a:lnTo>
                      <a:pt x="143" y="44"/>
                    </a:lnTo>
                    <a:lnTo>
                      <a:pt x="180" y="61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8" y="159"/>
                    </a:lnTo>
                    <a:lnTo>
                      <a:pt x="393" y="181"/>
                    </a:lnTo>
                    <a:lnTo>
                      <a:pt x="428" y="204"/>
                    </a:lnTo>
                    <a:lnTo>
                      <a:pt x="461" y="228"/>
                    </a:lnTo>
                    <a:lnTo>
                      <a:pt x="495" y="252"/>
                    </a:lnTo>
                    <a:lnTo>
                      <a:pt x="528" y="279"/>
                    </a:lnTo>
                    <a:lnTo>
                      <a:pt x="560" y="305"/>
                    </a:lnTo>
                    <a:lnTo>
                      <a:pt x="592" y="333"/>
                    </a:lnTo>
                    <a:lnTo>
                      <a:pt x="624" y="361"/>
                    </a:lnTo>
                    <a:lnTo>
                      <a:pt x="654" y="389"/>
                    </a:lnTo>
                    <a:lnTo>
                      <a:pt x="684" y="419"/>
                    </a:lnTo>
                    <a:lnTo>
                      <a:pt x="713" y="450"/>
                    </a:lnTo>
                    <a:lnTo>
                      <a:pt x="742" y="481"/>
                    </a:lnTo>
                    <a:lnTo>
                      <a:pt x="769" y="513"/>
                    </a:lnTo>
                    <a:lnTo>
                      <a:pt x="796" y="545"/>
                    </a:lnTo>
                    <a:lnTo>
                      <a:pt x="822" y="578"/>
                    </a:lnTo>
                    <a:lnTo>
                      <a:pt x="847" y="612"/>
                    </a:lnTo>
                    <a:lnTo>
                      <a:pt x="871" y="647"/>
                    </a:lnTo>
                    <a:lnTo>
                      <a:pt x="895" y="681"/>
                    </a:lnTo>
                    <a:lnTo>
                      <a:pt x="917" y="717"/>
                    </a:lnTo>
                    <a:lnTo>
                      <a:pt x="939" y="754"/>
                    </a:lnTo>
                    <a:lnTo>
                      <a:pt x="959" y="791"/>
                    </a:lnTo>
                    <a:lnTo>
                      <a:pt x="979" y="828"/>
                    </a:lnTo>
                    <a:lnTo>
                      <a:pt x="997" y="866"/>
                    </a:lnTo>
                    <a:lnTo>
                      <a:pt x="1026" y="938"/>
                    </a:lnTo>
                    <a:lnTo>
                      <a:pt x="1053" y="1015"/>
                    </a:lnTo>
                    <a:lnTo>
                      <a:pt x="1075" y="1096"/>
                    </a:lnTo>
                    <a:lnTo>
                      <a:pt x="1095" y="1180"/>
                    </a:lnTo>
                    <a:lnTo>
                      <a:pt x="1110" y="1267"/>
                    </a:lnTo>
                    <a:lnTo>
                      <a:pt x="1121" y="1356"/>
                    </a:lnTo>
                    <a:lnTo>
                      <a:pt x="1130" y="1446"/>
                    </a:lnTo>
                    <a:lnTo>
                      <a:pt x="1134" y="1536"/>
                    </a:lnTo>
                    <a:lnTo>
                      <a:pt x="1134" y="1626"/>
                    </a:lnTo>
                    <a:lnTo>
                      <a:pt x="1131" y="1716"/>
                    </a:lnTo>
                    <a:lnTo>
                      <a:pt x="1122" y="1802"/>
                    </a:lnTo>
                    <a:lnTo>
                      <a:pt x="1111" y="1886"/>
                    </a:lnTo>
                    <a:lnTo>
                      <a:pt x="1096" y="1967"/>
                    </a:lnTo>
                    <a:lnTo>
                      <a:pt x="1076" y="2044"/>
                    </a:lnTo>
                    <a:lnTo>
                      <a:pt x="1053" y="2115"/>
                    </a:lnTo>
                    <a:lnTo>
                      <a:pt x="1025" y="2180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5" name="Freeform 250">
                <a:extLst>
                  <a:ext uri="{FF2B5EF4-FFF2-40B4-BE49-F238E27FC236}">
                    <a16:creationId xmlns:a16="http://schemas.microsoft.com/office/drawing/2014/main" id="{BDED11B7-F9FF-4CFA-8C46-DAFC930EF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3082"/>
                <a:ext cx="207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5"/>
                    </a:moveTo>
                    <a:lnTo>
                      <a:pt x="3650" y="0"/>
                    </a:lnTo>
                    <a:lnTo>
                      <a:pt x="4569" y="1997"/>
                    </a:lnTo>
                    <a:lnTo>
                      <a:pt x="873" y="3641"/>
                    </a:lnTo>
                    <a:lnTo>
                      <a:pt x="0" y="1625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6" name="Freeform 251">
                <a:extLst>
                  <a:ext uri="{FF2B5EF4-FFF2-40B4-BE49-F238E27FC236}">
                    <a16:creationId xmlns:a16="http://schemas.microsoft.com/office/drawing/2014/main" id="{7055DF6D-39DF-4AF7-B1D7-0D9889297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271" cy="393"/>
              </a:xfrm>
              <a:custGeom>
                <a:avLst/>
                <a:gdLst>
                  <a:gd name="T0" fmla="*/ 0 w 5957"/>
                  <a:gd name="T1" fmla="*/ 0 h 7065"/>
                  <a:gd name="T2" fmla="*/ 0 w 5957"/>
                  <a:gd name="T3" fmla="*/ 0 h 7065"/>
                  <a:gd name="T4" fmla="*/ 0 w 5957"/>
                  <a:gd name="T5" fmla="*/ 0 h 7065"/>
                  <a:gd name="T6" fmla="*/ 0 w 5957"/>
                  <a:gd name="T7" fmla="*/ 0 h 7065"/>
                  <a:gd name="T8" fmla="*/ 0 w 5957"/>
                  <a:gd name="T9" fmla="*/ 0 h 7065"/>
                  <a:gd name="T10" fmla="*/ 0 w 5957"/>
                  <a:gd name="T11" fmla="*/ 0 h 7065"/>
                  <a:gd name="T12" fmla="*/ 0 w 5957"/>
                  <a:gd name="T13" fmla="*/ 0 h 7065"/>
                  <a:gd name="T14" fmla="*/ 0 w 5957"/>
                  <a:gd name="T15" fmla="*/ 0 h 7065"/>
                  <a:gd name="T16" fmla="*/ 0 w 5957"/>
                  <a:gd name="T17" fmla="*/ 0 h 7065"/>
                  <a:gd name="T18" fmla="*/ 0 w 5957"/>
                  <a:gd name="T19" fmla="*/ 0 h 7065"/>
                  <a:gd name="T20" fmla="*/ 0 w 5957"/>
                  <a:gd name="T21" fmla="*/ 0 h 7065"/>
                  <a:gd name="T22" fmla="*/ 0 w 5957"/>
                  <a:gd name="T23" fmla="*/ 0 h 7065"/>
                  <a:gd name="T24" fmla="*/ 0 w 5957"/>
                  <a:gd name="T25" fmla="*/ 0 h 7065"/>
                  <a:gd name="T26" fmla="*/ 0 w 5957"/>
                  <a:gd name="T27" fmla="*/ 0 h 7065"/>
                  <a:gd name="T28" fmla="*/ 0 w 5957"/>
                  <a:gd name="T29" fmla="*/ 0 h 7065"/>
                  <a:gd name="T30" fmla="*/ 0 w 5957"/>
                  <a:gd name="T31" fmla="*/ 0 h 7065"/>
                  <a:gd name="T32" fmla="*/ 0 w 5957"/>
                  <a:gd name="T33" fmla="*/ 0 h 7065"/>
                  <a:gd name="T34" fmla="*/ 0 w 5957"/>
                  <a:gd name="T35" fmla="*/ 0 h 7065"/>
                  <a:gd name="T36" fmla="*/ 0 w 5957"/>
                  <a:gd name="T37" fmla="*/ 0 h 7065"/>
                  <a:gd name="T38" fmla="*/ 0 w 5957"/>
                  <a:gd name="T39" fmla="*/ 0 h 7065"/>
                  <a:gd name="T40" fmla="*/ 0 w 5957"/>
                  <a:gd name="T41" fmla="*/ 0 h 7065"/>
                  <a:gd name="T42" fmla="*/ 0 w 5957"/>
                  <a:gd name="T43" fmla="*/ 0 h 7065"/>
                  <a:gd name="T44" fmla="*/ 0 w 5957"/>
                  <a:gd name="T45" fmla="*/ 0 h 7065"/>
                  <a:gd name="T46" fmla="*/ 0 w 5957"/>
                  <a:gd name="T47" fmla="*/ 0 h 7065"/>
                  <a:gd name="T48" fmla="*/ 0 w 5957"/>
                  <a:gd name="T49" fmla="*/ 0 h 7065"/>
                  <a:gd name="T50" fmla="*/ 0 w 5957"/>
                  <a:gd name="T51" fmla="*/ 0 h 7065"/>
                  <a:gd name="T52" fmla="*/ 0 w 5957"/>
                  <a:gd name="T53" fmla="*/ 0 h 7065"/>
                  <a:gd name="T54" fmla="*/ 0 w 5957"/>
                  <a:gd name="T55" fmla="*/ 0 h 7065"/>
                  <a:gd name="T56" fmla="*/ 0 w 5957"/>
                  <a:gd name="T57" fmla="*/ 0 h 7065"/>
                  <a:gd name="T58" fmla="*/ 0 w 5957"/>
                  <a:gd name="T59" fmla="*/ 0 h 7065"/>
                  <a:gd name="T60" fmla="*/ 0 w 5957"/>
                  <a:gd name="T61" fmla="*/ 0 h 7065"/>
                  <a:gd name="T62" fmla="*/ 0 w 5957"/>
                  <a:gd name="T63" fmla="*/ 0 h 7065"/>
                  <a:gd name="T64" fmla="*/ 0 w 5957"/>
                  <a:gd name="T65" fmla="*/ 0 h 7065"/>
                  <a:gd name="T66" fmla="*/ 0 w 5957"/>
                  <a:gd name="T67" fmla="*/ 0 h 7065"/>
                  <a:gd name="T68" fmla="*/ 0 w 5957"/>
                  <a:gd name="T69" fmla="*/ 0 h 7065"/>
                  <a:gd name="T70" fmla="*/ 0 w 5957"/>
                  <a:gd name="T71" fmla="*/ 0 h 7065"/>
                  <a:gd name="T72" fmla="*/ 0 w 5957"/>
                  <a:gd name="T73" fmla="*/ 0 h 70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5"/>
                  <a:gd name="T113" fmla="*/ 5957 w 5957"/>
                  <a:gd name="T114" fmla="*/ 7065 h 70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5">
                    <a:moveTo>
                      <a:pt x="2497" y="7056"/>
                    </a:moveTo>
                    <a:lnTo>
                      <a:pt x="5894" y="5432"/>
                    </a:lnTo>
                    <a:lnTo>
                      <a:pt x="5912" y="5421"/>
                    </a:lnTo>
                    <a:lnTo>
                      <a:pt x="5928" y="5406"/>
                    </a:lnTo>
                    <a:lnTo>
                      <a:pt x="5941" y="5388"/>
                    </a:lnTo>
                    <a:lnTo>
                      <a:pt x="5950" y="5368"/>
                    </a:lnTo>
                    <a:lnTo>
                      <a:pt x="5955" y="5347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4"/>
                    </a:lnTo>
                    <a:lnTo>
                      <a:pt x="3492" y="46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8"/>
                    </a:lnTo>
                    <a:lnTo>
                      <a:pt x="3420" y="2"/>
                    </a:lnTo>
                    <a:lnTo>
                      <a:pt x="3399" y="0"/>
                    </a:lnTo>
                    <a:lnTo>
                      <a:pt x="3377" y="2"/>
                    </a:lnTo>
                    <a:lnTo>
                      <a:pt x="3357" y="8"/>
                    </a:lnTo>
                    <a:lnTo>
                      <a:pt x="63" y="1486"/>
                    </a:lnTo>
                    <a:lnTo>
                      <a:pt x="45" y="1497"/>
                    </a:lnTo>
                    <a:lnTo>
                      <a:pt x="30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5"/>
                    </a:lnTo>
                    <a:lnTo>
                      <a:pt x="9" y="1636"/>
                    </a:lnTo>
                    <a:lnTo>
                      <a:pt x="2351" y="6999"/>
                    </a:lnTo>
                    <a:lnTo>
                      <a:pt x="2362" y="7018"/>
                    </a:lnTo>
                    <a:lnTo>
                      <a:pt x="2377" y="7034"/>
                    </a:lnTo>
                    <a:lnTo>
                      <a:pt x="2394" y="7048"/>
                    </a:lnTo>
                    <a:lnTo>
                      <a:pt x="2413" y="7057"/>
                    </a:lnTo>
                    <a:lnTo>
                      <a:pt x="2434" y="7063"/>
                    </a:lnTo>
                    <a:lnTo>
                      <a:pt x="2455" y="7065"/>
                    </a:lnTo>
                    <a:lnTo>
                      <a:pt x="2477" y="7063"/>
                    </a:lnTo>
                    <a:lnTo>
                      <a:pt x="2497" y="70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7" name="Freeform 252">
                <a:extLst>
                  <a:ext uri="{FF2B5EF4-FFF2-40B4-BE49-F238E27FC236}">
                    <a16:creationId xmlns:a16="http://schemas.microsoft.com/office/drawing/2014/main" id="{D19B4816-8413-413D-9D5F-F2DF2BAA75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2" cy="99"/>
              </a:xfrm>
              <a:custGeom>
                <a:avLst/>
                <a:gdLst>
                  <a:gd name="T0" fmla="*/ 0 w 3562"/>
                  <a:gd name="T1" fmla="*/ 0 h 1773"/>
                  <a:gd name="T2" fmla="*/ 0 w 3562"/>
                  <a:gd name="T3" fmla="*/ 0 h 1773"/>
                  <a:gd name="T4" fmla="*/ 0 w 3562"/>
                  <a:gd name="T5" fmla="*/ 0 h 1773"/>
                  <a:gd name="T6" fmla="*/ 0 w 3562"/>
                  <a:gd name="T7" fmla="*/ 0 h 1773"/>
                  <a:gd name="T8" fmla="*/ 0 w 3562"/>
                  <a:gd name="T9" fmla="*/ 0 h 1773"/>
                  <a:gd name="T10" fmla="*/ 0 w 3562"/>
                  <a:gd name="T11" fmla="*/ 0 h 1773"/>
                  <a:gd name="T12" fmla="*/ 0 w 3562"/>
                  <a:gd name="T13" fmla="*/ 0 h 1773"/>
                  <a:gd name="T14" fmla="*/ 0 w 3562"/>
                  <a:gd name="T15" fmla="*/ 0 h 1773"/>
                  <a:gd name="T16" fmla="*/ 0 w 3562"/>
                  <a:gd name="T17" fmla="*/ 0 h 1773"/>
                  <a:gd name="T18" fmla="*/ 0 w 3562"/>
                  <a:gd name="T19" fmla="*/ 0 h 1773"/>
                  <a:gd name="T20" fmla="*/ 0 w 3562"/>
                  <a:gd name="T21" fmla="*/ 0 h 1773"/>
                  <a:gd name="T22" fmla="*/ 0 w 3562"/>
                  <a:gd name="T23" fmla="*/ 0 h 1773"/>
                  <a:gd name="T24" fmla="*/ 0 w 3562"/>
                  <a:gd name="T25" fmla="*/ 0 h 1773"/>
                  <a:gd name="T26" fmla="*/ 0 w 3562"/>
                  <a:gd name="T27" fmla="*/ 0 h 1773"/>
                  <a:gd name="T28" fmla="*/ 0 w 3562"/>
                  <a:gd name="T29" fmla="*/ 0 h 1773"/>
                  <a:gd name="T30" fmla="*/ 0 w 3562"/>
                  <a:gd name="T31" fmla="*/ 0 h 1773"/>
                  <a:gd name="T32" fmla="*/ 0 w 3562"/>
                  <a:gd name="T33" fmla="*/ 0 h 1773"/>
                  <a:gd name="T34" fmla="*/ 0 w 3562"/>
                  <a:gd name="T35" fmla="*/ 0 h 1773"/>
                  <a:gd name="T36" fmla="*/ 0 w 3562"/>
                  <a:gd name="T37" fmla="*/ 0 h 1773"/>
                  <a:gd name="T38" fmla="*/ 0 w 3562"/>
                  <a:gd name="T39" fmla="*/ 0 h 1773"/>
                  <a:gd name="T40" fmla="*/ 0 w 3562"/>
                  <a:gd name="T41" fmla="*/ 0 h 177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62"/>
                  <a:gd name="T64" fmla="*/ 0 h 1773"/>
                  <a:gd name="T65" fmla="*/ 3562 w 3562"/>
                  <a:gd name="T66" fmla="*/ 1773 h 177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62" h="1773">
                    <a:moveTo>
                      <a:pt x="3562" y="1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68" y="1773"/>
                    </a:lnTo>
                    <a:lnTo>
                      <a:pt x="3562" y="183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8" name="Freeform 253">
                <a:extLst>
                  <a:ext uri="{FF2B5EF4-FFF2-40B4-BE49-F238E27FC236}">
                    <a16:creationId xmlns:a16="http://schemas.microsoft.com/office/drawing/2014/main" id="{A2F97BF5-6F4B-48A0-8031-2B361B9FC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7"/>
              </a:xfrm>
              <a:custGeom>
                <a:avLst/>
                <a:gdLst>
                  <a:gd name="T0" fmla="*/ 0 w 3550"/>
                  <a:gd name="T1" fmla="*/ 0 h 1748"/>
                  <a:gd name="T2" fmla="*/ 0 w 3550"/>
                  <a:gd name="T3" fmla="*/ 0 h 1748"/>
                  <a:gd name="T4" fmla="*/ 0 w 3550"/>
                  <a:gd name="T5" fmla="*/ 0 h 1748"/>
                  <a:gd name="T6" fmla="*/ 0 w 3550"/>
                  <a:gd name="T7" fmla="*/ 0 h 1748"/>
                  <a:gd name="T8" fmla="*/ 0 w 3550"/>
                  <a:gd name="T9" fmla="*/ 0 h 1748"/>
                  <a:gd name="T10" fmla="*/ 0 w 3550"/>
                  <a:gd name="T11" fmla="*/ 0 h 1748"/>
                  <a:gd name="T12" fmla="*/ 0 w 3550"/>
                  <a:gd name="T13" fmla="*/ 0 h 1748"/>
                  <a:gd name="T14" fmla="*/ 0 w 3550"/>
                  <a:gd name="T15" fmla="*/ 0 h 1748"/>
                  <a:gd name="T16" fmla="*/ 0 w 3550"/>
                  <a:gd name="T17" fmla="*/ 0 h 1748"/>
                  <a:gd name="T18" fmla="*/ 0 w 3550"/>
                  <a:gd name="T19" fmla="*/ 0 h 1748"/>
                  <a:gd name="T20" fmla="*/ 0 w 3550"/>
                  <a:gd name="T21" fmla="*/ 0 h 1748"/>
                  <a:gd name="T22" fmla="*/ 0 w 3550"/>
                  <a:gd name="T23" fmla="*/ 0 h 1748"/>
                  <a:gd name="T24" fmla="*/ 0 w 3550"/>
                  <a:gd name="T25" fmla="*/ 0 h 1748"/>
                  <a:gd name="T26" fmla="*/ 0 w 3550"/>
                  <a:gd name="T27" fmla="*/ 0 h 1748"/>
                  <a:gd name="T28" fmla="*/ 0 w 3550"/>
                  <a:gd name="T29" fmla="*/ 0 h 1748"/>
                  <a:gd name="T30" fmla="*/ 0 w 3550"/>
                  <a:gd name="T31" fmla="*/ 0 h 1748"/>
                  <a:gd name="T32" fmla="*/ 0 w 3550"/>
                  <a:gd name="T33" fmla="*/ 0 h 1748"/>
                  <a:gd name="T34" fmla="*/ 0 w 3550"/>
                  <a:gd name="T35" fmla="*/ 0 h 1748"/>
                  <a:gd name="T36" fmla="*/ 0 w 3550"/>
                  <a:gd name="T37" fmla="*/ 0 h 1748"/>
                  <a:gd name="T38" fmla="*/ 0 w 3550"/>
                  <a:gd name="T39" fmla="*/ 0 h 1748"/>
                  <a:gd name="T40" fmla="*/ 0 w 3550"/>
                  <a:gd name="T41" fmla="*/ 0 h 1748"/>
                  <a:gd name="T42" fmla="*/ 0 w 3550"/>
                  <a:gd name="T43" fmla="*/ 0 h 1748"/>
                  <a:gd name="T44" fmla="*/ 0 w 3550"/>
                  <a:gd name="T45" fmla="*/ 0 h 1748"/>
                  <a:gd name="T46" fmla="*/ 0 w 3550"/>
                  <a:gd name="T47" fmla="*/ 0 h 1748"/>
                  <a:gd name="T48" fmla="*/ 0 w 3550"/>
                  <a:gd name="T49" fmla="*/ 0 h 1748"/>
                  <a:gd name="T50" fmla="*/ 0 w 3550"/>
                  <a:gd name="T51" fmla="*/ 0 h 1748"/>
                  <a:gd name="T52" fmla="*/ 0 w 3550"/>
                  <a:gd name="T53" fmla="*/ 0 h 1748"/>
                  <a:gd name="T54" fmla="*/ 0 w 3550"/>
                  <a:gd name="T55" fmla="*/ 0 h 1748"/>
                  <a:gd name="T56" fmla="*/ 0 w 3550"/>
                  <a:gd name="T57" fmla="*/ 0 h 1748"/>
                  <a:gd name="T58" fmla="*/ 0 w 3550"/>
                  <a:gd name="T59" fmla="*/ 0 h 1748"/>
                  <a:gd name="T60" fmla="*/ 0 w 3550"/>
                  <a:gd name="T61" fmla="*/ 0 h 1748"/>
                  <a:gd name="T62" fmla="*/ 0 w 3550"/>
                  <a:gd name="T63" fmla="*/ 0 h 1748"/>
                  <a:gd name="T64" fmla="*/ 0 w 3550"/>
                  <a:gd name="T65" fmla="*/ 0 h 1748"/>
                  <a:gd name="T66" fmla="*/ 0 w 3550"/>
                  <a:gd name="T67" fmla="*/ 0 h 1748"/>
                  <a:gd name="T68" fmla="*/ 0 w 3550"/>
                  <a:gd name="T69" fmla="*/ 0 h 1748"/>
                  <a:gd name="T70" fmla="*/ 0 w 3550"/>
                  <a:gd name="T71" fmla="*/ 0 h 1748"/>
                  <a:gd name="T72" fmla="*/ 0 w 3550"/>
                  <a:gd name="T73" fmla="*/ 0 h 1748"/>
                  <a:gd name="T74" fmla="*/ 0 w 3550"/>
                  <a:gd name="T75" fmla="*/ 0 h 1748"/>
                  <a:gd name="T76" fmla="*/ 0 w 3550"/>
                  <a:gd name="T77" fmla="*/ 0 h 1748"/>
                  <a:gd name="T78" fmla="*/ 0 w 3550"/>
                  <a:gd name="T79" fmla="*/ 0 h 1748"/>
                  <a:gd name="T80" fmla="*/ 0 w 3550"/>
                  <a:gd name="T81" fmla="*/ 0 h 1748"/>
                  <a:gd name="T82" fmla="*/ 0 w 3550"/>
                  <a:gd name="T83" fmla="*/ 0 h 1748"/>
                  <a:gd name="T84" fmla="*/ 0 w 3550"/>
                  <a:gd name="T85" fmla="*/ 0 h 1748"/>
                  <a:gd name="T86" fmla="*/ 0 w 3550"/>
                  <a:gd name="T87" fmla="*/ 0 h 1748"/>
                  <a:gd name="T88" fmla="*/ 0 w 3550"/>
                  <a:gd name="T89" fmla="*/ 0 h 1748"/>
                  <a:gd name="T90" fmla="*/ 0 w 3550"/>
                  <a:gd name="T91" fmla="*/ 0 h 1748"/>
                  <a:gd name="T92" fmla="*/ 0 w 3550"/>
                  <a:gd name="T93" fmla="*/ 0 h 1748"/>
                  <a:gd name="T94" fmla="*/ 0 w 3550"/>
                  <a:gd name="T95" fmla="*/ 0 h 174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50"/>
                  <a:gd name="T145" fmla="*/ 0 h 1748"/>
                  <a:gd name="T146" fmla="*/ 3550 w 3550"/>
                  <a:gd name="T147" fmla="*/ 1748 h 174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50" h="1748">
                    <a:moveTo>
                      <a:pt x="3550" y="163"/>
                    </a:moveTo>
                    <a:lnTo>
                      <a:pt x="3545" y="153"/>
                    </a:lnTo>
                    <a:lnTo>
                      <a:pt x="3541" y="144"/>
                    </a:lnTo>
                    <a:lnTo>
                      <a:pt x="3538" y="137"/>
                    </a:lnTo>
                    <a:lnTo>
                      <a:pt x="3533" y="130"/>
                    </a:lnTo>
                    <a:lnTo>
                      <a:pt x="3529" y="120"/>
                    </a:lnTo>
                    <a:lnTo>
                      <a:pt x="3523" y="108"/>
                    </a:lnTo>
                    <a:lnTo>
                      <a:pt x="3514" y="90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1" y="1665"/>
                    </a:lnTo>
                    <a:lnTo>
                      <a:pt x="26" y="1673"/>
                    </a:lnTo>
                    <a:lnTo>
                      <a:pt x="31" y="1685"/>
                    </a:lnTo>
                    <a:lnTo>
                      <a:pt x="37" y="1699"/>
                    </a:lnTo>
                    <a:lnTo>
                      <a:pt x="46" y="1719"/>
                    </a:lnTo>
                    <a:lnTo>
                      <a:pt x="57" y="1748"/>
                    </a:lnTo>
                    <a:lnTo>
                      <a:pt x="162" y="1700"/>
                    </a:lnTo>
                    <a:lnTo>
                      <a:pt x="259" y="1656"/>
                    </a:lnTo>
                    <a:lnTo>
                      <a:pt x="348" y="1616"/>
                    </a:lnTo>
                    <a:lnTo>
                      <a:pt x="430" y="1579"/>
                    </a:lnTo>
                    <a:lnTo>
                      <a:pt x="508" y="1543"/>
                    </a:lnTo>
                    <a:lnTo>
                      <a:pt x="579" y="1511"/>
                    </a:lnTo>
                    <a:lnTo>
                      <a:pt x="648" y="1480"/>
                    </a:lnTo>
                    <a:lnTo>
                      <a:pt x="713" y="1451"/>
                    </a:lnTo>
                    <a:lnTo>
                      <a:pt x="776" y="1422"/>
                    </a:lnTo>
                    <a:lnTo>
                      <a:pt x="837" y="1395"/>
                    </a:lnTo>
                    <a:lnTo>
                      <a:pt x="898" y="1367"/>
                    </a:lnTo>
                    <a:lnTo>
                      <a:pt x="959" y="1340"/>
                    </a:lnTo>
                    <a:lnTo>
                      <a:pt x="1021" y="1311"/>
                    </a:lnTo>
                    <a:lnTo>
                      <a:pt x="1085" y="1282"/>
                    </a:lnTo>
                    <a:lnTo>
                      <a:pt x="1153" y="1251"/>
                    </a:lnTo>
                    <a:lnTo>
                      <a:pt x="1223" y="1220"/>
                    </a:lnTo>
                    <a:lnTo>
                      <a:pt x="1299" y="1186"/>
                    </a:lnTo>
                    <a:lnTo>
                      <a:pt x="1379" y="1149"/>
                    </a:lnTo>
                    <a:lnTo>
                      <a:pt x="1466" y="1110"/>
                    </a:lnTo>
                    <a:lnTo>
                      <a:pt x="1560" y="1067"/>
                    </a:lnTo>
                    <a:lnTo>
                      <a:pt x="1662" y="1020"/>
                    </a:lnTo>
                    <a:lnTo>
                      <a:pt x="1772" y="971"/>
                    </a:lnTo>
                    <a:lnTo>
                      <a:pt x="1892" y="916"/>
                    </a:lnTo>
                    <a:lnTo>
                      <a:pt x="2024" y="857"/>
                    </a:lnTo>
                    <a:lnTo>
                      <a:pt x="2166" y="792"/>
                    </a:lnTo>
                    <a:lnTo>
                      <a:pt x="2320" y="722"/>
                    </a:lnTo>
                    <a:lnTo>
                      <a:pt x="2488" y="646"/>
                    </a:lnTo>
                    <a:lnTo>
                      <a:pt x="2668" y="564"/>
                    </a:lnTo>
                    <a:lnTo>
                      <a:pt x="2864" y="474"/>
                    </a:lnTo>
                    <a:lnTo>
                      <a:pt x="3075" y="378"/>
                    </a:lnTo>
                    <a:lnTo>
                      <a:pt x="3304" y="275"/>
                    </a:lnTo>
                    <a:lnTo>
                      <a:pt x="3550" y="163"/>
                    </a:lnTo>
                    <a:close/>
                  </a:path>
                </a:pathLst>
              </a:custGeom>
              <a:solidFill>
                <a:srgbClr val="BF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79" name="Freeform 254">
                <a:extLst>
                  <a:ext uri="{FF2B5EF4-FFF2-40B4-BE49-F238E27FC236}">
                    <a16:creationId xmlns:a16="http://schemas.microsoft.com/office/drawing/2014/main" id="{7FA4C5DA-940E-4E8B-99C2-19032F171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6"/>
              </a:xfrm>
              <a:custGeom>
                <a:avLst/>
                <a:gdLst>
                  <a:gd name="T0" fmla="*/ 0 w 3539"/>
                  <a:gd name="T1" fmla="*/ 0 h 1724"/>
                  <a:gd name="T2" fmla="*/ 0 w 3539"/>
                  <a:gd name="T3" fmla="*/ 0 h 1724"/>
                  <a:gd name="T4" fmla="*/ 0 w 3539"/>
                  <a:gd name="T5" fmla="*/ 0 h 1724"/>
                  <a:gd name="T6" fmla="*/ 0 w 3539"/>
                  <a:gd name="T7" fmla="*/ 0 h 1724"/>
                  <a:gd name="T8" fmla="*/ 0 w 3539"/>
                  <a:gd name="T9" fmla="*/ 0 h 1724"/>
                  <a:gd name="T10" fmla="*/ 0 w 3539"/>
                  <a:gd name="T11" fmla="*/ 0 h 1724"/>
                  <a:gd name="T12" fmla="*/ 0 w 3539"/>
                  <a:gd name="T13" fmla="*/ 0 h 1724"/>
                  <a:gd name="T14" fmla="*/ 0 w 3539"/>
                  <a:gd name="T15" fmla="*/ 0 h 1724"/>
                  <a:gd name="T16" fmla="*/ 0 w 3539"/>
                  <a:gd name="T17" fmla="*/ 0 h 1724"/>
                  <a:gd name="T18" fmla="*/ 0 w 3539"/>
                  <a:gd name="T19" fmla="*/ 0 h 1724"/>
                  <a:gd name="T20" fmla="*/ 0 w 3539"/>
                  <a:gd name="T21" fmla="*/ 0 h 1724"/>
                  <a:gd name="T22" fmla="*/ 0 w 3539"/>
                  <a:gd name="T23" fmla="*/ 0 h 1724"/>
                  <a:gd name="T24" fmla="*/ 0 w 3539"/>
                  <a:gd name="T25" fmla="*/ 0 h 1724"/>
                  <a:gd name="T26" fmla="*/ 0 w 3539"/>
                  <a:gd name="T27" fmla="*/ 0 h 1724"/>
                  <a:gd name="T28" fmla="*/ 0 w 3539"/>
                  <a:gd name="T29" fmla="*/ 0 h 1724"/>
                  <a:gd name="T30" fmla="*/ 0 w 3539"/>
                  <a:gd name="T31" fmla="*/ 0 h 1724"/>
                  <a:gd name="T32" fmla="*/ 0 w 3539"/>
                  <a:gd name="T33" fmla="*/ 0 h 1724"/>
                  <a:gd name="T34" fmla="*/ 0 w 3539"/>
                  <a:gd name="T35" fmla="*/ 0 h 1724"/>
                  <a:gd name="T36" fmla="*/ 0 w 3539"/>
                  <a:gd name="T37" fmla="*/ 0 h 1724"/>
                  <a:gd name="T38" fmla="*/ 0 w 3539"/>
                  <a:gd name="T39" fmla="*/ 0 h 1724"/>
                  <a:gd name="T40" fmla="*/ 0 w 3539"/>
                  <a:gd name="T41" fmla="*/ 0 h 1724"/>
                  <a:gd name="T42" fmla="*/ 0 w 3539"/>
                  <a:gd name="T43" fmla="*/ 0 h 1724"/>
                  <a:gd name="T44" fmla="*/ 0 w 3539"/>
                  <a:gd name="T45" fmla="*/ 0 h 1724"/>
                  <a:gd name="T46" fmla="*/ 0 w 3539"/>
                  <a:gd name="T47" fmla="*/ 0 h 1724"/>
                  <a:gd name="T48" fmla="*/ 0 w 3539"/>
                  <a:gd name="T49" fmla="*/ 0 h 1724"/>
                  <a:gd name="T50" fmla="*/ 0 w 3539"/>
                  <a:gd name="T51" fmla="*/ 0 h 1724"/>
                  <a:gd name="T52" fmla="*/ 0 w 3539"/>
                  <a:gd name="T53" fmla="*/ 0 h 1724"/>
                  <a:gd name="T54" fmla="*/ 0 w 3539"/>
                  <a:gd name="T55" fmla="*/ 0 h 1724"/>
                  <a:gd name="T56" fmla="*/ 0 w 3539"/>
                  <a:gd name="T57" fmla="*/ 0 h 1724"/>
                  <a:gd name="T58" fmla="*/ 0 w 3539"/>
                  <a:gd name="T59" fmla="*/ 0 h 1724"/>
                  <a:gd name="T60" fmla="*/ 0 w 3539"/>
                  <a:gd name="T61" fmla="*/ 0 h 1724"/>
                  <a:gd name="T62" fmla="*/ 0 w 3539"/>
                  <a:gd name="T63" fmla="*/ 0 h 1724"/>
                  <a:gd name="T64" fmla="*/ 0 w 3539"/>
                  <a:gd name="T65" fmla="*/ 0 h 1724"/>
                  <a:gd name="T66" fmla="*/ 0 w 3539"/>
                  <a:gd name="T67" fmla="*/ 0 h 1724"/>
                  <a:gd name="T68" fmla="*/ 0 w 3539"/>
                  <a:gd name="T69" fmla="*/ 0 h 1724"/>
                  <a:gd name="T70" fmla="*/ 0 w 3539"/>
                  <a:gd name="T71" fmla="*/ 0 h 1724"/>
                  <a:gd name="T72" fmla="*/ 0 w 3539"/>
                  <a:gd name="T73" fmla="*/ 0 h 1724"/>
                  <a:gd name="T74" fmla="*/ 0 w 3539"/>
                  <a:gd name="T75" fmla="*/ 0 h 1724"/>
                  <a:gd name="T76" fmla="*/ 0 w 3539"/>
                  <a:gd name="T77" fmla="*/ 0 h 1724"/>
                  <a:gd name="T78" fmla="*/ 0 w 3539"/>
                  <a:gd name="T79" fmla="*/ 0 h 1724"/>
                  <a:gd name="T80" fmla="*/ 0 w 3539"/>
                  <a:gd name="T81" fmla="*/ 0 h 1724"/>
                  <a:gd name="T82" fmla="*/ 0 w 3539"/>
                  <a:gd name="T83" fmla="*/ 0 h 1724"/>
                  <a:gd name="T84" fmla="*/ 0 w 3539"/>
                  <a:gd name="T85" fmla="*/ 0 h 1724"/>
                  <a:gd name="T86" fmla="*/ 0 w 3539"/>
                  <a:gd name="T87" fmla="*/ 0 h 1724"/>
                  <a:gd name="T88" fmla="*/ 0 w 3539"/>
                  <a:gd name="T89" fmla="*/ 0 h 1724"/>
                  <a:gd name="T90" fmla="*/ 0 w 3539"/>
                  <a:gd name="T91" fmla="*/ 0 h 1724"/>
                  <a:gd name="T92" fmla="*/ 0 w 3539"/>
                  <a:gd name="T93" fmla="*/ 0 h 1724"/>
                  <a:gd name="T94" fmla="*/ 0 w 3539"/>
                  <a:gd name="T95" fmla="*/ 0 h 172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39"/>
                  <a:gd name="T145" fmla="*/ 0 h 1724"/>
                  <a:gd name="T146" fmla="*/ 3539 w 3539"/>
                  <a:gd name="T147" fmla="*/ 1724 h 172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39" h="1724">
                    <a:moveTo>
                      <a:pt x="3539" y="143"/>
                    </a:moveTo>
                    <a:lnTo>
                      <a:pt x="3534" y="135"/>
                    </a:lnTo>
                    <a:lnTo>
                      <a:pt x="3531" y="129"/>
                    </a:lnTo>
                    <a:lnTo>
                      <a:pt x="3529" y="123"/>
                    </a:lnTo>
                    <a:lnTo>
                      <a:pt x="3526" y="117"/>
                    </a:lnTo>
                    <a:lnTo>
                      <a:pt x="3523" y="110"/>
                    </a:lnTo>
                    <a:lnTo>
                      <a:pt x="3518" y="99"/>
                    </a:lnTo>
                    <a:lnTo>
                      <a:pt x="3511" y="84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6"/>
                    </a:lnTo>
                    <a:lnTo>
                      <a:pt x="16" y="1652"/>
                    </a:lnTo>
                    <a:lnTo>
                      <a:pt x="19" y="1658"/>
                    </a:lnTo>
                    <a:lnTo>
                      <a:pt x="22" y="1666"/>
                    </a:lnTo>
                    <a:lnTo>
                      <a:pt x="26" y="1674"/>
                    </a:lnTo>
                    <a:lnTo>
                      <a:pt x="31" y="1686"/>
                    </a:lnTo>
                    <a:lnTo>
                      <a:pt x="37" y="1702"/>
                    </a:lnTo>
                    <a:lnTo>
                      <a:pt x="46" y="1724"/>
                    </a:lnTo>
                    <a:lnTo>
                      <a:pt x="151" y="1676"/>
                    </a:lnTo>
                    <a:lnTo>
                      <a:pt x="248" y="1633"/>
                    </a:lnTo>
                    <a:lnTo>
                      <a:pt x="337" y="1592"/>
                    </a:lnTo>
                    <a:lnTo>
                      <a:pt x="419" y="1555"/>
                    </a:lnTo>
                    <a:lnTo>
                      <a:pt x="497" y="1520"/>
                    </a:lnTo>
                    <a:lnTo>
                      <a:pt x="568" y="1488"/>
                    </a:lnTo>
                    <a:lnTo>
                      <a:pt x="637" y="1457"/>
                    </a:lnTo>
                    <a:lnTo>
                      <a:pt x="702" y="1427"/>
                    </a:lnTo>
                    <a:lnTo>
                      <a:pt x="765" y="1399"/>
                    </a:lnTo>
                    <a:lnTo>
                      <a:pt x="826" y="1372"/>
                    </a:lnTo>
                    <a:lnTo>
                      <a:pt x="886" y="1344"/>
                    </a:lnTo>
                    <a:lnTo>
                      <a:pt x="948" y="1316"/>
                    </a:lnTo>
                    <a:lnTo>
                      <a:pt x="1010" y="1288"/>
                    </a:lnTo>
                    <a:lnTo>
                      <a:pt x="1074" y="1259"/>
                    </a:lnTo>
                    <a:lnTo>
                      <a:pt x="1141" y="1229"/>
                    </a:lnTo>
                    <a:lnTo>
                      <a:pt x="1212" y="1197"/>
                    </a:lnTo>
                    <a:lnTo>
                      <a:pt x="1287" y="1163"/>
                    </a:lnTo>
                    <a:lnTo>
                      <a:pt x="1368" y="1126"/>
                    </a:lnTo>
                    <a:lnTo>
                      <a:pt x="1455" y="1087"/>
                    </a:lnTo>
                    <a:lnTo>
                      <a:pt x="1548" y="1045"/>
                    </a:lnTo>
                    <a:lnTo>
                      <a:pt x="1650" y="998"/>
                    </a:lnTo>
                    <a:lnTo>
                      <a:pt x="1761" y="949"/>
                    </a:lnTo>
                    <a:lnTo>
                      <a:pt x="1881" y="894"/>
                    </a:lnTo>
                    <a:lnTo>
                      <a:pt x="2013" y="835"/>
                    </a:lnTo>
                    <a:lnTo>
                      <a:pt x="2154" y="771"/>
                    </a:lnTo>
                    <a:lnTo>
                      <a:pt x="2308" y="700"/>
                    </a:lnTo>
                    <a:lnTo>
                      <a:pt x="2477" y="625"/>
                    </a:lnTo>
                    <a:lnTo>
                      <a:pt x="2657" y="543"/>
                    </a:lnTo>
                    <a:lnTo>
                      <a:pt x="2853" y="453"/>
                    </a:lnTo>
                    <a:lnTo>
                      <a:pt x="3064" y="357"/>
                    </a:lnTo>
                    <a:lnTo>
                      <a:pt x="3293" y="254"/>
                    </a:lnTo>
                    <a:lnTo>
                      <a:pt x="3539" y="143"/>
                    </a:lnTo>
                    <a:close/>
                  </a:path>
                </a:pathLst>
              </a:custGeom>
              <a:solidFill>
                <a:srgbClr val="C9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0" name="Freeform 255">
                <a:extLst>
                  <a:ext uri="{FF2B5EF4-FFF2-40B4-BE49-F238E27FC236}">
                    <a16:creationId xmlns:a16="http://schemas.microsoft.com/office/drawing/2014/main" id="{DB17A80D-997C-44F9-9B3B-1D5E3D48F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4"/>
              </a:xfrm>
              <a:custGeom>
                <a:avLst/>
                <a:gdLst>
                  <a:gd name="T0" fmla="*/ 0 w 3526"/>
                  <a:gd name="T1" fmla="*/ 0 h 1698"/>
                  <a:gd name="T2" fmla="*/ 0 w 3526"/>
                  <a:gd name="T3" fmla="*/ 0 h 1698"/>
                  <a:gd name="T4" fmla="*/ 0 w 3526"/>
                  <a:gd name="T5" fmla="*/ 0 h 1698"/>
                  <a:gd name="T6" fmla="*/ 0 w 3526"/>
                  <a:gd name="T7" fmla="*/ 0 h 1698"/>
                  <a:gd name="T8" fmla="*/ 0 w 3526"/>
                  <a:gd name="T9" fmla="*/ 0 h 1698"/>
                  <a:gd name="T10" fmla="*/ 0 w 3526"/>
                  <a:gd name="T11" fmla="*/ 0 h 1698"/>
                  <a:gd name="T12" fmla="*/ 0 w 3526"/>
                  <a:gd name="T13" fmla="*/ 0 h 1698"/>
                  <a:gd name="T14" fmla="*/ 0 w 3526"/>
                  <a:gd name="T15" fmla="*/ 0 h 1698"/>
                  <a:gd name="T16" fmla="*/ 0 w 3526"/>
                  <a:gd name="T17" fmla="*/ 0 h 1698"/>
                  <a:gd name="T18" fmla="*/ 0 w 3526"/>
                  <a:gd name="T19" fmla="*/ 0 h 1698"/>
                  <a:gd name="T20" fmla="*/ 0 w 3526"/>
                  <a:gd name="T21" fmla="*/ 0 h 1698"/>
                  <a:gd name="T22" fmla="*/ 0 w 3526"/>
                  <a:gd name="T23" fmla="*/ 0 h 1698"/>
                  <a:gd name="T24" fmla="*/ 0 w 3526"/>
                  <a:gd name="T25" fmla="*/ 0 h 1698"/>
                  <a:gd name="T26" fmla="*/ 0 w 3526"/>
                  <a:gd name="T27" fmla="*/ 0 h 1698"/>
                  <a:gd name="T28" fmla="*/ 0 w 3526"/>
                  <a:gd name="T29" fmla="*/ 0 h 1698"/>
                  <a:gd name="T30" fmla="*/ 0 w 3526"/>
                  <a:gd name="T31" fmla="*/ 0 h 1698"/>
                  <a:gd name="T32" fmla="*/ 0 w 3526"/>
                  <a:gd name="T33" fmla="*/ 0 h 1698"/>
                  <a:gd name="T34" fmla="*/ 0 w 3526"/>
                  <a:gd name="T35" fmla="*/ 0 h 1698"/>
                  <a:gd name="T36" fmla="*/ 0 w 3526"/>
                  <a:gd name="T37" fmla="*/ 0 h 1698"/>
                  <a:gd name="T38" fmla="*/ 0 w 3526"/>
                  <a:gd name="T39" fmla="*/ 0 h 1698"/>
                  <a:gd name="T40" fmla="*/ 0 w 3526"/>
                  <a:gd name="T41" fmla="*/ 0 h 1698"/>
                  <a:gd name="T42" fmla="*/ 0 w 3526"/>
                  <a:gd name="T43" fmla="*/ 0 h 1698"/>
                  <a:gd name="T44" fmla="*/ 0 w 3526"/>
                  <a:gd name="T45" fmla="*/ 0 h 1698"/>
                  <a:gd name="T46" fmla="*/ 0 w 3526"/>
                  <a:gd name="T47" fmla="*/ 0 h 1698"/>
                  <a:gd name="T48" fmla="*/ 0 w 3526"/>
                  <a:gd name="T49" fmla="*/ 0 h 1698"/>
                  <a:gd name="T50" fmla="*/ 0 w 3526"/>
                  <a:gd name="T51" fmla="*/ 0 h 1698"/>
                  <a:gd name="T52" fmla="*/ 0 w 3526"/>
                  <a:gd name="T53" fmla="*/ 0 h 1698"/>
                  <a:gd name="T54" fmla="*/ 0 w 3526"/>
                  <a:gd name="T55" fmla="*/ 0 h 1698"/>
                  <a:gd name="T56" fmla="*/ 0 w 3526"/>
                  <a:gd name="T57" fmla="*/ 0 h 1698"/>
                  <a:gd name="T58" fmla="*/ 0 w 3526"/>
                  <a:gd name="T59" fmla="*/ 0 h 1698"/>
                  <a:gd name="T60" fmla="*/ 0 w 3526"/>
                  <a:gd name="T61" fmla="*/ 0 h 1698"/>
                  <a:gd name="T62" fmla="*/ 0 w 3526"/>
                  <a:gd name="T63" fmla="*/ 0 h 1698"/>
                  <a:gd name="T64" fmla="*/ 0 w 3526"/>
                  <a:gd name="T65" fmla="*/ 0 h 1698"/>
                  <a:gd name="T66" fmla="*/ 0 w 3526"/>
                  <a:gd name="T67" fmla="*/ 0 h 1698"/>
                  <a:gd name="T68" fmla="*/ 0 w 3526"/>
                  <a:gd name="T69" fmla="*/ 0 h 1698"/>
                  <a:gd name="T70" fmla="*/ 0 w 3526"/>
                  <a:gd name="T71" fmla="*/ 0 h 1698"/>
                  <a:gd name="T72" fmla="*/ 0 w 3526"/>
                  <a:gd name="T73" fmla="*/ 0 h 1698"/>
                  <a:gd name="T74" fmla="*/ 0 w 3526"/>
                  <a:gd name="T75" fmla="*/ 0 h 1698"/>
                  <a:gd name="T76" fmla="*/ 0 w 3526"/>
                  <a:gd name="T77" fmla="*/ 0 h 1698"/>
                  <a:gd name="T78" fmla="*/ 0 w 3526"/>
                  <a:gd name="T79" fmla="*/ 0 h 1698"/>
                  <a:gd name="T80" fmla="*/ 0 w 3526"/>
                  <a:gd name="T81" fmla="*/ 0 h 1698"/>
                  <a:gd name="T82" fmla="*/ 0 w 3526"/>
                  <a:gd name="T83" fmla="*/ 0 h 1698"/>
                  <a:gd name="T84" fmla="*/ 0 w 3526"/>
                  <a:gd name="T85" fmla="*/ 0 h 1698"/>
                  <a:gd name="T86" fmla="*/ 0 w 3526"/>
                  <a:gd name="T87" fmla="*/ 0 h 16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26"/>
                  <a:gd name="T133" fmla="*/ 0 h 1698"/>
                  <a:gd name="T134" fmla="*/ 3526 w 3526"/>
                  <a:gd name="T135" fmla="*/ 1698 h 16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26" h="1698">
                    <a:moveTo>
                      <a:pt x="3526" y="123"/>
                    </a:moveTo>
                    <a:lnTo>
                      <a:pt x="3522" y="112"/>
                    </a:lnTo>
                    <a:lnTo>
                      <a:pt x="3518" y="103"/>
                    </a:lnTo>
                    <a:lnTo>
                      <a:pt x="3513" y="9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5" y="1671"/>
                    </a:lnTo>
                    <a:lnTo>
                      <a:pt x="36" y="1698"/>
                    </a:lnTo>
                    <a:lnTo>
                      <a:pt x="141" y="1651"/>
                    </a:lnTo>
                    <a:lnTo>
                      <a:pt x="237" y="1608"/>
                    </a:lnTo>
                    <a:lnTo>
                      <a:pt x="326" y="1568"/>
                    </a:lnTo>
                    <a:lnTo>
                      <a:pt x="409" y="1530"/>
                    </a:lnTo>
                    <a:lnTo>
                      <a:pt x="486" y="1496"/>
                    </a:lnTo>
                    <a:lnTo>
                      <a:pt x="558" y="1463"/>
                    </a:lnTo>
                    <a:lnTo>
                      <a:pt x="626" y="1433"/>
                    </a:lnTo>
                    <a:lnTo>
                      <a:pt x="691" y="1403"/>
                    </a:lnTo>
                    <a:lnTo>
                      <a:pt x="754" y="1375"/>
                    </a:lnTo>
                    <a:lnTo>
                      <a:pt x="815" y="1347"/>
                    </a:lnTo>
                    <a:lnTo>
                      <a:pt x="875" y="1320"/>
                    </a:lnTo>
                    <a:lnTo>
                      <a:pt x="936" y="1292"/>
                    </a:lnTo>
                    <a:lnTo>
                      <a:pt x="999" y="1264"/>
                    </a:lnTo>
                    <a:lnTo>
                      <a:pt x="1063" y="1236"/>
                    </a:lnTo>
                    <a:lnTo>
                      <a:pt x="1130" y="1205"/>
                    </a:lnTo>
                    <a:lnTo>
                      <a:pt x="1201" y="1173"/>
                    </a:lnTo>
                    <a:lnTo>
                      <a:pt x="1276" y="1140"/>
                    </a:lnTo>
                    <a:lnTo>
                      <a:pt x="1357" y="1103"/>
                    </a:lnTo>
                    <a:lnTo>
                      <a:pt x="1443" y="1064"/>
                    </a:lnTo>
                    <a:lnTo>
                      <a:pt x="1537" y="1022"/>
                    </a:lnTo>
                    <a:lnTo>
                      <a:pt x="1639" y="975"/>
                    </a:lnTo>
                    <a:lnTo>
                      <a:pt x="1749" y="926"/>
                    </a:lnTo>
                    <a:lnTo>
                      <a:pt x="1870" y="872"/>
                    </a:lnTo>
                    <a:lnTo>
                      <a:pt x="2000" y="813"/>
                    </a:lnTo>
                    <a:lnTo>
                      <a:pt x="2143" y="749"/>
                    </a:lnTo>
                    <a:lnTo>
                      <a:pt x="2297" y="679"/>
                    </a:lnTo>
                    <a:lnTo>
                      <a:pt x="2464" y="603"/>
                    </a:lnTo>
                    <a:lnTo>
                      <a:pt x="2646" y="521"/>
                    </a:lnTo>
                    <a:lnTo>
                      <a:pt x="2841" y="432"/>
                    </a:lnTo>
                    <a:lnTo>
                      <a:pt x="3053" y="337"/>
                    </a:lnTo>
                    <a:lnTo>
                      <a:pt x="3281" y="234"/>
                    </a:lnTo>
                    <a:lnTo>
                      <a:pt x="3526" y="123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1" name="Freeform 256">
                <a:extLst>
                  <a:ext uri="{FF2B5EF4-FFF2-40B4-BE49-F238E27FC236}">
                    <a16:creationId xmlns:a16="http://schemas.microsoft.com/office/drawing/2014/main" id="{418DE7C7-BFF0-42B5-BD13-E828E3CB88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3"/>
              </a:xfrm>
              <a:custGeom>
                <a:avLst/>
                <a:gdLst>
                  <a:gd name="T0" fmla="*/ 0 w 3515"/>
                  <a:gd name="T1" fmla="*/ 0 h 1674"/>
                  <a:gd name="T2" fmla="*/ 0 w 3515"/>
                  <a:gd name="T3" fmla="*/ 0 h 1674"/>
                  <a:gd name="T4" fmla="*/ 0 w 3515"/>
                  <a:gd name="T5" fmla="*/ 0 h 1674"/>
                  <a:gd name="T6" fmla="*/ 0 w 3515"/>
                  <a:gd name="T7" fmla="*/ 0 h 1674"/>
                  <a:gd name="T8" fmla="*/ 0 w 3515"/>
                  <a:gd name="T9" fmla="*/ 0 h 1674"/>
                  <a:gd name="T10" fmla="*/ 0 w 3515"/>
                  <a:gd name="T11" fmla="*/ 0 h 1674"/>
                  <a:gd name="T12" fmla="*/ 0 w 3515"/>
                  <a:gd name="T13" fmla="*/ 0 h 1674"/>
                  <a:gd name="T14" fmla="*/ 0 w 3515"/>
                  <a:gd name="T15" fmla="*/ 0 h 1674"/>
                  <a:gd name="T16" fmla="*/ 0 w 3515"/>
                  <a:gd name="T17" fmla="*/ 0 h 1674"/>
                  <a:gd name="T18" fmla="*/ 0 w 3515"/>
                  <a:gd name="T19" fmla="*/ 0 h 1674"/>
                  <a:gd name="T20" fmla="*/ 0 w 3515"/>
                  <a:gd name="T21" fmla="*/ 0 h 1674"/>
                  <a:gd name="T22" fmla="*/ 0 w 3515"/>
                  <a:gd name="T23" fmla="*/ 0 h 1674"/>
                  <a:gd name="T24" fmla="*/ 0 w 3515"/>
                  <a:gd name="T25" fmla="*/ 0 h 1674"/>
                  <a:gd name="T26" fmla="*/ 0 w 3515"/>
                  <a:gd name="T27" fmla="*/ 0 h 1674"/>
                  <a:gd name="T28" fmla="*/ 0 w 3515"/>
                  <a:gd name="T29" fmla="*/ 0 h 1674"/>
                  <a:gd name="T30" fmla="*/ 0 w 3515"/>
                  <a:gd name="T31" fmla="*/ 0 h 1674"/>
                  <a:gd name="T32" fmla="*/ 0 w 3515"/>
                  <a:gd name="T33" fmla="*/ 0 h 1674"/>
                  <a:gd name="T34" fmla="*/ 0 w 3515"/>
                  <a:gd name="T35" fmla="*/ 0 h 1674"/>
                  <a:gd name="T36" fmla="*/ 0 w 3515"/>
                  <a:gd name="T37" fmla="*/ 0 h 1674"/>
                  <a:gd name="T38" fmla="*/ 0 w 3515"/>
                  <a:gd name="T39" fmla="*/ 0 h 1674"/>
                  <a:gd name="T40" fmla="*/ 0 w 3515"/>
                  <a:gd name="T41" fmla="*/ 0 h 1674"/>
                  <a:gd name="T42" fmla="*/ 0 w 3515"/>
                  <a:gd name="T43" fmla="*/ 0 h 1674"/>
                  <a:gd name="T44" fmla="*/ 0 w 3515"/>
                  <a:gd name="T45" fmla="*/ 0 h 1674"/>
                  <a:gd name="T46" fmla="*/ 0 w 3515"/>
                  <a:gd name="T47" fmla="*/ 0 h 1674"/>
                  <a:gd name="T48" fmla="*/ 0 w 3515"/>
                  <a:gd name="T49" fmla="*/ 0 h 1674"/>
                  <a:gd name="T50" fmla="*/ 0 w 3515"/>
                  <a:gd name="T51" fmla="*/ 0 h 1674"/>
                  <a:gd name="T52" fmla="*/ 0 w 3515"/>
                  <a:gd name="T53" fmla="*/ 0 h 1674"/>
                  <a:gd name="T54" fmla="*/ 0 w 3515"/>
                  <a:gd name="T55" fmla="*/ 0 h 1674"/>
                  <a:gd name="T56" fmla="*/ 0 w 3515"/>
                  <a:gd name="T57" fmla="*/ 0 h 1674"/>
                  <a:gd name="T58" fmla="*/ 0 w 3515"/>
                  <a:gd name="T59" fmla="*/ 0 h 1674"/>
                  <a:gd name="T60" fmla="*/ 0 w 3515"/>
                  <a:gd name="T61" fmla="*/ 0 h 1674"/>
                  <a:gd name="T62" fmla="*/ 0 w 3515"/>
                  <a:gd name="T63" fmla="*/ 0 h 1674"/>
                  <a:gd name="T64" fmla="*/ 0 w 3515"/>
                  <a:gd name="T65" fmla="*/ 0 h 1674"/>
                  <a:gd name="T66" fmla="*/ 0 w 3515"/>
                  <a:gd name="T67" fmla="*/ 0 h 1674"/>
                  <a:gd name="T68" fmla="*/ 0 w 3515"/>
                  <a:gd name="T69" fmla="*/ 0 h 1674"/>
                  <a:gd name="T70" fmla="*/ 0 w 3515"/>
                  <a:gd name="T71" fmla="*/ 0 h 1674"/>
                  <a:gd name="T72" fmla="*/ 0 w 3515"/>
                  <a:gd name="T73" fmla="*/ 0 h 1674"/>
                  <a:gd name="T74" fmla="*/ 0 w 3515"/>
                  <a:gd name="T75" fmla="*/ 0 h 1674"/>
                  <a:gd name="T76" fmla="*/ 0 w 3515"/>
                  <a:gd name="T77" fmla="*/ 0 h 1674"/>
                  <a:gd name="T78" fmla="*/ 0 w 3515"/>
                  <a:gd name="T79" fmla="*/ 0 h 1674"/>
                  <a:gd name="T80" fmla="*/ 0 w 3515"/>
                  <a:gd name="T81" fmla="*/ 0 h 1674"/>
                  <a:gd name="T82" fmla="*/ 0 w 3515"/>
                  <a:gd name="T83" fmla="*/ 0 h 1674"/>
                  <a:gd name="T84" fmla="*/ 0 w 3515"/>
                  <a:gd name="T85" fmla="*/ 0 h 1674"/>
                  <a:gd name="T86" fmla="*/ 0 w 3515"/>
                  <a:gd name="T87" fmla="*/ 0 h 167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15"/>
                  <a:gd name="T133" fmla="*/ 0 h 1674"/>
                  <a:gd name="T134" fmla="*/ 3515 w 3515"/>
                  <a:gd name="T135" fmla="*/ 1674 h 1674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15" h="1674">
                    <a:moveTo>
                      <a:pt x="3515" y="103"/>
                    </a:moveTo>
                    <a:lnTo>
                      <a:pt x="3513" y="96"/>
                    </a:lnTo>
                    <a:lnTo>
                      <a:pt x="3511" y="91"/>
                    </a:lnTo>
                    <a:lnTo>
                      <a:pt x="3508" y="8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2" y="1644"/>
                    </a:lnTo>
                    <a:lnTo>
                      <a:pt x="15" y="1649"/>
                    </a:lnTo>
                    <a:lnTo>
                      <a:pt x="18" y="1657"/>
                    </a:lnTo>
                    <a:lnTo>
                      <a:pt x="25" y="1674"/>
                    </a:lnTo>
                    <a:lnTo>
                      <a:pt x="130" y="1627"/>
                    </a:lnTo>
                    <a:lnTo>
                      <a:pt x="225" y="1583"/>
                    </a:lnTo>
                    <a:lnTo>
                      <a:pt x="315" y="1543"/>
                    </a:lnTo>
                    <a:lnTo>
                      <a:pt x="398" y="1506"/>
                    </a:lnTo>
                    <a:lnTo>
                      <a:pt x="474" y="1472"/>
                    </a:lnTo>
                    <a:lnTo>
                      <a:pt x="547" y="1439"/>
                    </a:lnTo>
                    <a:lnTo>
                      <a:pt x="615" y="1408"/>
                    </a:lnTo>
                    <a:lnTo>
                      <a:pt x="679" y="1379"/>
                    </a:lnTo>
                    <a:lnTo>
                      <a:pt x="743" y="1352"/>
                    </a:lnTo>
                    <a:lnTo>
                      <a:pt x="804" y="1324"/>
                    </a:lnTo>
                    <a:lnTo>
                      <a:pt x="864" y="1297"/>
                    </a:lnTo>
                    <a:lnTo>
                      <a:pt x="925" y="1269"/>
                    </a:lnTo>
                    <a:lnTo>
                      <a:pt x="987" y="1241"/>
                    </a:lnTo>
                    <a:lnTo>
                      <a:pt x="1052" y="1212"/>
                    </a:lnTo>
                    <a:lnTo>
                      <a:pt x="1119" y="1182"/>
                    </a:lnTo>
                    <a:lnTo>
                      <a:pt x="1189" y="1150"/>
                    </a:lnTo>
                    <a:lnTo>
                      <a:pt x="1265" y="1116"/>
                    </a:lnTo>
                    <a:lnTo>
                      <a:pt x="1345" y="1081"/>
                    </a:lnTo>
                    <a:lnTo>
                      <a:pt x="1432" y="1042"/>
                    </a:lnTo>
                    <a:lnTo>
                      <a:pt x="1526" y="999"/>
                    </a:lnTo>
                    <a:lnTo>
                      <a:pt x="1628" y="953"/>
                    </a:lnTo>
                    <a:lnTo>
                      <a:pt x="1738" y="903"/>
                    </a:lnTo>
                    <a:lnTo>
                      <a:pt x="1859" y="850"/>
                    </a:lnTo>
                    <a:lnTo>
                      <a:pt x="1989" y="791"/>
                    </a:lnTo>
                    <a:lnTo>
                      <a:pt x="2132" y="726"/>
                    </a:lnTo>
                    <a:lnTo>
                      <a:pt x="2286" y="657"/>
                    </a:lnTo>
                    <a:lnTo>
                      <a:pt x="2453" y="582"/>
                    </a:lnTo>
                    <a:lnTo>
                      <a:pt x="2635" y="500"/>
                    </a:lnTo>
                    <a:lnTo>
                      <a:pt x="2830" y="412"/>
                    </a:lnTo>
                    <a:lnTo>
                      <a:pt x="3042" y="316"/>
                    </a:lnTo>
                    <a:lnTo>
                      <a:pt x="3269" y="214"/>
                    </a:lnTo>
                    <a:lnTo>
                      <a:pt x="3515" y="103"/>
                    </a:lnTo>
                    <a:close/>
                  </a:path>
                </a:pathLst>
              </a:custGeom>
              <a:solidFill>
                <a:srgbClr val="D6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2" name="Freeform 257">
                <a:extLst>
                  <a:ext uri="{FF2B5EF4-FFF2-40B4-BE49-F238E27FC236}">
                    <a16:creationId xmlns:a16="http://schemas.microsoft.com/office/drawing/2014/main" id="{23C91B94-DCD2-4D7A-B3B2-6B80637C5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59" cy="92"/>
              </a:xfrm>
              <a:custGeom>
                <a:avLst/>
                <a:gdLst>
                  <a:gd name="T0" fmla="*/ 0 w 3503"/>
                  <a:gd name="T1" fmla="*/ 0 h 1649"/>
                  <a:gd name="T2" fmla="*/ 0 w 3503"/>
                  <a:gd name="T3" fmla="*/ 0 h 1649"/>
                  <a:gd name="T4" fmla="*/ 0 w 3503"/>
                  <a:gd name="T5" fmla="*/ 0 h 1649"/>
                  <a:gd name="T6" fmla="*/ 0 w 3503"/>
                  <a:gd name="T7" fmla="*/ 0 h 1649"/>
                  <a:gd name="T8" fmla="*/ 0 w 3503"/>
                  <a:gd name="T9" fmla="*/ 0 h 1649"/>
                  <a:gd name="T10" fmla="*/ 0 w 3503"/>
                  <a:gd name="T11" fmla="*/ 0 h 1649"/>
                  <a:gd name="T12" fmla="*/ 0 w 3503"/>
                  <a:gd name="T13" fmla="*/ 0 h 1649"/>
                  <a:gd name="T14" fmla="*/ 0 w 3503"/>
                  <a:gd name="T15" fmla="*/ 0 h 1649"/>
                  <a:gd name="T16" fmla="*/ 0 w 3503"/>
                  <a:gd name="T17" fmla="*/ 0 h 1649"/>
                  <a:gd name="T18" fmla="*/ 0 w 3503"/>
                  <a:gd name="T19" fmla="*/ 0 h 1649"/>
                  <a:gd name="T20" fmla="*/ 0 w 3503"/>
                  <a:gd name="T21" fmla="*/ 0 h 1649"/>
                  <a:gd name="T22" fmla="*/ 0 w 3503"/>
                  <a:gd name="T23" fmla="*/ 0 h 1649"/>
                  <a:gd name="T24" fmla="*/ 0 w 3503"/>
                  <a:gd name="T25" fmla="*/ 0 h 1649"/>
                  <a:gd name="T26" fmla="*/ 0 w 3503"/>
                  <a:gd name="T27" fmla="*/ 0 h 1649"/>
                  <a:gd name="T28" fmla="*/ 0 w 3503"/>
                  <a:gd name="T29" fmla="*/ 0 h 1649"/>
                  <a:gd name="T30" fmla="*/ 0 w 3503"/>
                  <a:gd name="T31" fmla="*/ 0 h 1649"/>
                  <a:gd name="T32" fmla="*/ 0 w 3503"/>
                  <a:gd name="T33" fmla="*/ 0 h 1649"/>
                  <a:gd name="T34" fmla="*/ 0 w 3503"/>
                  <a:gd name="T35" fmla="*/ 0 h 1649"/>
                  <a:gd name="T36" fmla="*/ 0 w 3503"/>
                  <a:gd name="T37" fmla="*/ 0 h 1649"/>
                  <a:gd name="T38" fmla="*/ 0 w 3503"/>
                  <a:gd name="T39" fmla="*/ 0 h 1649"/>
                  <a:gd name="T40" fmla="*/ 0 w 3503"/>
                  <a:gd name="T41" fmla="*/ 0 h 16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03"/>
                  <a:gd name="T64" fmla="*/ 0 h 1649"/>
                  <a:gd name="T65" fmla="*/ 3503 w 3503"/>
                  <a:gd name="T66" fmla="*/ 1649 h 16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03" h="1649">
                    <a:moveTo>
                      <a:pt x="3503" y="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9"/>
                    </a:lnTo>
                    <a:lnTo>
                      <a:pt x="3503" y="8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3" name="Freeform 258">
                <a:extLst>
                  <a:ext uri="{FF2B5EF4-FFF2-40B4-BE49-F238E27FC236}">
                    <a16:creationId xmlns:a16="http://schemas.microsoft.com/office/drawing/2014/main" id="{76A4C02D-F21A-4CFF-8FAC-02D2FB980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064"/>
                <a:ext cx="2" cy="3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7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4" name="Freeform 259">
                <a:extLst>
                  <a:ext uri="{FF2B5EF4-FFF2-40B4-BE49-F238E27FC236}">
                    <a16:creationId xmlns:a16="http://schemas.microsoft.com/office/drawing/2014/main" id="{33FEC29F-D86C-4CCA-916B-90B1B16DA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064"/>
                <a:ext cx="160" cy="90"/>
              </a:xfrm>
              <a:custGeom>
                <a:avLst/>
                <a:gdLst>
                  <a:gd name="T0" fmla="*/ 0 w 3529"/>
                  <a:gd name="T1" fmla="*/ 0 h 1614"/>
                  <a:gd name="T2" fmla="*/ 0 w 3529"/>
                  <a:gd name="T3" fmla="*/ 0 h 1614"/>
                  <a:gd name="T4" fmla="*/ 0 w 3529"/>
                  <a:gd name="T5" fmla="*/ 0 h 1614"/>
                  <a:gd name="T6" fmla="*/ 0 w 3529"/>
                  <a:gd name="T7" fmla="*/ 0 h 1614"/>
                  <a:gd name="T8" fmla="*/ 0 w 3529"/>
                  <a:gd name="T9" fmla="*/ 0 h 1614"/>
                  <a:gd name="T10" fmla="*/ 0 w 3529"/>
                  <a:gd name="T11" fmla="*/ 0 h 16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29"/>
                  <a:gd name="T19" fmla="*/ 0 h 1614"/>
                  <a:gd name="T20" fmla="*/ 3529 w 3529"/>
                  <a:gd name="T21" fmla="*/ 1614 h 16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29" h="1614">
                    <a:moveTo>
                      <a:pt x="8" y="1596"/>
                    </a:moveTo>
                    <a:lnTo>
                      <a:pt x="0" y="1577"/>
                    </a:lnTo>
                    <a:lnTo>
                      <a:pt x="3513" y="0"/>
                    </a:lnTo>
                    <a:lnTo>
                      <a:pt x="3529" y="38"/>
                    </a:lnTo>
                    <a:lnTo>
                      <a:pt x="16" y="1614"/>
                    </a:lnTo>
                    <a:lnTo>
                      <a:pt x="8" y="1596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5" name="Freeform 260">
                <a:extLst>
                  <a:ext uri="{FF2B5EF4-FFF2-40B4-BE49-F238E27FC236}">
                    <a16:creationId xmlns:a16="http://schemas.microsoft.com/office/drawing/2014/main" id="{96FB1CD0-2792-42D3-8F7D-F8EEC446A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152"/>
                <a:ext cx="1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28" y="37"/>
                    </a:moveTo>
                    <a:lnTo>
                      <a:pt x="19" y="40"/>
                    </a:lnTo>
                    <a:lnTo>
                      <a:pt x="12" y="37"/>
                    </a:lnTo>
                    <a:lnTo>
                      <a:pt x="6" y="33"/>
                    </a:lnTo>
                    <a:lnTo>
                      <a:pt x="2" y="26"/>
                    </a:lnTo>
                    <a:lnTo>
                      <a:pt x="0" y="19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2" y="0"/>
                    </a:lnTo>
                    <a:lnTo>
                      <a:pt x="28" y="37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6" name="Freeform 261">
                <a:extLst>
                  <a:ext uri="{FF2B5EF4-FFF2-40B4-BE49-F238E27FC236}">
                    <a16:creationId xmlns:a16="http://schemas.microsoft.com/office/drawing/2014/main" id="{17B9FAE2-236E-4581-ADF0-A53453EB1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3075"/>
                <a:ext cx="2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6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7" name="Freeform 262">
                <a:extLst>
                  <a:ext uri="{FF2B5EF4-FFF2-40B4-BE49-F238E27FC236}">
                    <a16:creationId xmlns:a16="http://schemas.microsoft.com/office/drawing/2014/main" id="{0DCCD741-F723-4A19-8FF5-7F72DAE37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075"/>
                <a:ext cx="161" cy="91"/>
              </a:xfrm>
              <a:custGeom>
                <a:avLst/>
                <a:gdLst>
                  <a:gd name="T0" fmla="*/ 0 w 3547"/>
                  <a:gd name="T1" fmla="*/ 0 h 1633"/>
                  <a:gd name="T2" fmla="*/ 0 w 3547"/>
                  <a:gd name="T3" fmla="*/ 0 h 1633"/>
                  <a:gd name="T4" fmla="*/ 0 w 3547"/>
                  <a:gd name="T5" fmla="*/ 0 h 1633"/>
                  <a:gd name="T6" fmla="*/ 0 w 3547"/>
                  <a:gd name="T7" fmla="*/ 0 h 1633"/>
                  <a:gd name="T8" fmla="*/ 0 w 3547"/>
                  <a:gd name="T9" fmla="*/ 0 h 1633"/>
                  <a:gd name="T10" fmla="*/ 0 w 3547"/>
                  <a:gd name="T11" fmla="*/ 0 h 16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47"/>
                  <a:gd name="T19" fmla="*/ 0 h 1633"/>
                  <a:gd name="T20" fmla="*/ 3547 w 3547"/>
                  <a:gd name="T21" fmla="*/ 1633 h 163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47" h="1633">
                    <a:moveTo>
                      <a:pt x="8" y="1614"/>
                    </a:moveTo>
                    <a:lnTo>
                      <a:pt x="0" y="1595"/>
                    </a:lnTo>
                    <a:lnTo>
                      <a:pt x="3531" y="0"/>
                    </a:lnTo>
                    <a:lnTo>
                      <a:pt x="3547" y="38"/>
                    </a:lnTo>
                    <a:lnTo>
                      <a:pt x="17" y="1633"/>
                    </a:lnTo>
                    <a:lnTo>
                      <a:pt x="8" y="161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8" name="Freeform 263">
                <a:extLst>
                  <a:ext uri="{FF2B5EF4-FFF2-40B4-BE49-F238E27FC236}">
                    <a16:creationId xmlns:a16="http://schemas.microsoft.com/office/drawing/2014/main" id="{EC2DC7FB-2797-4A0D-A717-D719E654D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164"/>
                <a:ext cx="2" cy="2"/>
              </a:xfrm>
              <a:custGeom>
                <a:avLst/>
                <a:gdLst>
                  <a:gd name="T0" fmla="*/ 0 w 29"/>
                  <a:gd name="T1" fmla="*/ 0 h 40"/>
                  <a:gd name="T2" fmla="*/ 0 w 29"/>
                  <a:gd name="T3" fmla="*/ 0 h 40"/>
                  <a:gd name="T4" fmla="*/ 0 w 29"/>
                  <a:gd name="T5" fmla="*/ 0 h 40"/>
                  <a:gd name="T6" fmla="*/ 0 w 29"/>
                  <a:gd name="T7" fmla="*/ 0 h 40"/>
                  <a:gd name="T8" fmla="*/ 0 w 29"/>
                  <a:gd name="T9" fmla="*/ 0 h 40"/>
                  <a:gd name="T10" fmla="*/ 0 w 29"/>
                  <a:gd name="T11" fmla="*/ 0 h 40"/>
                  <a:gd name="T12" fmla="*/ 0 w 29"/>
                  <a:gd name="T13" fmla="*/ 0 h 40"/>
                  <a:gd name="T14" fmla="*/ 0 w 29"/>
                  <a:gd name="T15" fmla="*/ 0 h 40"/>
                  <a:gd name="T16" fmla="*/ 0 w 29"/>
                  <a:gd name="T17" fmla="*/ 0 h 40"/>
                  <a:gd name="T18" fmla="*/ 0 w 29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40"/>
                  <a:gd name="T32" fmla="*/ 29 w 29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40">
                    <a:moveTo>
                      <a:pt x="29" y="38"/>
                    </a:moveTo>
                    <a:lnTo>
                      <a:pt x="19" y="40"/>
                    </a:lnTo>
                    <a:lnTo>
                      <a:pt x="12" y="38"/>
                    </a:lnTo>
                    <a:lnTo>
                      <a:pt x="6" y="34"/>
                    </a:lnTo>
                    <a:lnTo>
                      <a:pt x="2" y="27"/>
                    </a:lnTo>
                    <a:lnTo>
                      <a:pt x="0" y="19"/>
                    </a:lnTo>
                    <a:lnTo>
                      <a:pt x="1" y="12"/>
                    </a:lnTo>
                    <a:lnTo>
                      <a:pt x="5" y="6"/>
                    </a:lnTo>
                    <a:lnTo>
                      <a:pt x="12" y="0"/>
                    </a:lnTo>
                    <a:lnTo>
                      <a:pt x="29" y="38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89" name="Freeform 264">
                <a:extLst>
                  <a:ext uri="{FF2B5EF4-FFF2-40B4-BE49-F238E27FC236}">
                    <a16:creationId xmlns:a16="http://schemas.microsoft.com/office/drawing/2014/main" id="{33F05B80-CD26-4FB2-853B-DC2222541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3169"/>
                <a:ext cx="50" cy="122"/>
              </a:xfrm>
              <a:custGeom>
                <a:avLst/>
                <a:gdLst>
                  <a:gd name="T0" fmla="*/ 0 w 1103"/>
                  <a:gd name="T1" fmla="*/ 0 h 2201"/>
                  <a:gd name="T2" fmla="*/ 0 w 1103"/>
                  <a:gd name="T3" fmla="*/ 0 h 2201"/>
                  <a:gd name="T4" fmla="*/ 0 w 1103"/>
                  <a:gd name="T5" fmla="*/ 0 h 2201"/>
                  <a:gd name="T6" fmla="*/ 0 w 1103"/>
                  <a:gd name="T7" fmla="*/ 0 h 2201"/>
                  <a:gd name="T8" fmla="*/ 0 w 1103"/>
                  <a:gd name="T9" fmla="*/ 0 h 2201"/>
                  <a:gd name="T10" fmla="*/ 0 w 1103"/>
                  <a:gd name="T11" fmla="*/ 0 h 2201"/>
                  <a:gd name="T12" fmla="*/ 0 w 1103"/>
                  <a:gd name="T13" fmla="*/ 0 h 2201"/>
                  <a:gd name="T14" fmla="*/ 0 w 1103"/>
                  <a:gd name="T15" fmla="*/ 0 h 2201"/>
                  <a:gd name="T16" fmla="*/ 0 w 1103"/>
                  <a:gd name="T17" fmla="*/ 0 h 2201"/>
                  <a:gd name="T18" fmla="*/ 0 w 1103"/>
                  <a:gd name="T19" fmla="*/ 0 h 2201"/>
                  <a:gd name="T20" fmla="*/ 0 w 1103"/>
                  <a:gd name="T21" fmla="*/ 0 h 2201"/>
                  <a:gd name="T22" fmla="*/ 0 w 1103"/>
                  <a:gd name="T23" fmla="*/ 0 h 2201"/>
                  <a:gd name="T24" fmla="*/ 0 w 1103"/>
                  <a:gd name="T25" fmla="*/ 0 h 2201"/>
                  <a:gd name="T26" fmla="*/ 0 w 1103"/>
                  <a:gd name="T27" fmla="*/ 0 h 2201"/>
                  <a:gd name="T28" fmla="*/ 0 w 1103"/>
                  <a:gd name="T29" fmla="*/ 0 h 2201"/>
                  <a:gd name="T30" fmla="*/ 0 w 1103"/>
                  <a:gd name="T31" fmla="*/ 0 h 2201"/>
                  <a:gd name="T32" fmla="*/ 0 w 1103"/>
                  <a:gd name="T33" fmla="*/ 0 h 2201"/>
                  <a:gd name="T34" fmla="*/ 0 w 1103"/>
                  <a:gd name="T35" fmla="*/ 0 h 2201"/>
                  <a:gd name="T36" fmla="*/ 0 w 1103"/>
                  <a:gd name="T37" fmla="*/ 0 h 2201"/>
                  <a:gd name="T38" fmla="*/ 0 w 1103"/>
                  <a:gd name="T39" fmla="*/ 0 h 2201"/>
                  <a:gd name="T40" fmla="*/ 0 w 1103"/>
                  <a:gd name="T41" fmla="*/ 0 h 2201"/>
                  <a:gd name="T42" fmla="*/ 0 w 1103"/>
                  <a:gd name="T43" fmla="*/ 0 h 2201"/>
                  <a:gd name="T44" fmla="*/ 0 w 1103"/>
                  <a:gd name="T45" fmla="*/ 0 h 2201"/>
                  <a:gd name="T46" fmla="*/ 0 w 1103"/>
                  <a:gd name="T47" fmla="*/ 0 h 2201"/>
                  <a:gd name="T48" fmla="*/ 0 w 1103"/>
                  <a:gd name="T49" fmla="*/ 0 h 2201"/>
                  <a:gd name="T50" fmla="*/ 0 w 1103"/>
                  <a:gd name="T51" fmla="*/ 0 h 2201"/>
                  <a:gd name="T52" fmla="*/ 0 w 1103"/>
                  <a:gd name="T53" fmla="*/ 0 h 2201"/>
                  <a:gd name="T54" fmla="*/ 0 w 1103"/>
                  <a:gd name="T55" fmla="*/ 0 h 2201"/>
                  <a:gd name="T56" fmla="*/ 0 w 1103"/>
                  <a:gd name="T57" fmla="*/ 0 h 2201"/>
                  <a:gd name="T58" fmla="*/ 0 w 1103"/>
                  <a:gd name="T59" fmla="*/ 0 h 2201"/>
                  <a:gd name="T60" fmla="*/ 0 w 1103"/>
                  <a:gd name="T61" fmla="*/ 0 h 2201"/>
                  <a:gd name="T62" fmla="*/ 0 w 1103"/>
                  <a:gd name="T63" fmla="*/ 0 h 2201"/>
                  <a:gd name="T64" fmla="*/ 0 w 1103"/>
                  <a:gd name="T65" fmla="*/ 0 h 2201"/>
                  <a:gd name="T66" fmla="*/ 0 w 1103"/>
                  <a:gd name="T67" fmla="*/ 0 h 2201"/>
                  <a:gd name="T68" fmla="*/ 0 w 1103"/>
                  <a:gd name="T69" fmla="*/ 0 h 2201"/>
                  <a:gd name="T70" fmla="*/ 0 w 1103"/>
                  <a:gd name="T71" fmla="*/ 0 h 2201"/>
                  <a:gd name="T72" fmla="*/ 0 w 1103"/>
                  <a:gd name="T73" fmla="*/ 0 h 2201"/>
                  <a:gd name="T74" fmla="*/ 0 w 1103"/>
                  <a:gd name="T75" fmla="*/ 0 h 2201"/>
                  <a:gd name="T76" fmla="*/ 0 w 1103"/>
                  <a:gd name="T77" fmla="*/ 0 h 2201"/>
                  <a:gd name="T78" fmla="*/ 0 w 1103"/>
                  <a:gd name="T79" fmla="*/ 0 h 2201"/>
                  <a:gd name="T80" fmla="*/ 0 w 1103"/>
                  <a:gd name="T81" fmla="*/ 0 h 2201"/>
                  <a:gd name="T82" fmla="*/ 0 w 1103"/>
                  <a:gd name="T83" fmla="*/ 0 h 2201"/>
                  <a:gd name="T84" fmla="*/ 0 w 1103"/>
                  <a:gd name="T85" fmla="*/ 0 h 2201"/>
                  <a:gd name="T86" fmla="*/ 0 w 1103"/>
                  <a:gd name="T87" fmla="*/ 0 h 2201"/>
                  <a:gd name="T88" fmla="*/ 0 w 1103"/>
                  <a:gd name="T89" fmla="*/ 0 h 2201"/>
                  <a:gd name="T90" fmla="*/ 0 w 1103"/>
                  <a:gd name="T91" fmla="*/ 0 h 2201"/>
                  <a:gd name="T92" fmla="*/ 0 w 1103"/>
                  <a:gd name="T93" fmla="*/ 0 h 2201"/>
                  <a:gd name="T94" fmla="*/ 0 w 1103"/>
                  <a:gd name="T95" fmla="*/ 0 h 2201"/>
                  <a:gd name="T96" fmla="*/ 0 w 1103"/>
                  <a:gd name="T97" fmla="*/ 0 h 2201"/>
                  <a:gd name="T98" fmla="*/ 0 w 1103"/>
                  <a:gd name="T99" fmla="*/ 0 h 2201"/>
                  <a:gd name="T100" fmla="*/ 0 w 1103"/>
                  <a:gd name="T101" fmla="*/ 0 h 2201"/>
                  <a:gd name="T102" fmla="*/ 0 w 1103"/>
                  <a:gd name="T103" fmla="*/ 0 h 22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1"/>
                  <a:gd name="T158" fmla="*/ 1103 w 1103"/>
                  <a:gd name="T159" fmla="*/ 2201 h 220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1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1"/>
                    </a:lnTo>
                    <a:lnTo>
                      <a:pt x="1031" y="2186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80" y="2058"/>
                    </a:lnTo>
                    <a:lnTo>
                      <a:pt x="745" y="2036"/>
                    </a:lnTo>
                    <a:lnTo>
                      <a:pt x="711" y="2012"/>
                    </a:lnTo>
                    <a:lnTo>
                      <a:pt x="677" y="1988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9" y="1911"/>
                    </a:lnTo>
                    <a:lnTo>
                      <a:pt x="547" y="1884"/>
                    </a:lnTo>
                    <a:lnTo>
                      <a:pt x="515" y="1856"/>
                    </a:lnTo>
                    <a:lnTo>
                      <a:pt x="485" y="1827"/>
                    </a:lnTo>
                    <a:lnTo>
                      <a:pt x="455" y="1797"/>
                    </a:lnTo>
                    <a:lnTo>
                      <a:pt x="426" y="1767"/>
                    </a:lnTo>
                    <a:lnTo>
                      <a:pt x="397" y="1736"/>
                    </a:lnTo>
                    <a:lnTo>
                      <a:pt x="370" y="1705"/>
                    </a:lnTo>
                    <a:lnTo>
                      <a:pt x="342" y="1672"/>
                    </a:lnTo>
                    <a:lnTo>
                      <a:pt x="316" y="1638"/>
                    </a:lnTo>
                    <a:lnTo>
                      <a:pt x="291" y="1604"/>
                    </a:lnTo>
                    <a:lnTo>
                      <a:pt x="267" y="1571"/>
                    </a:lnTo>
                    <a:lnTo>
                      <a:pt x="243" y="1536"/>
                    </a:lnTo>
                    <a:lnTo>
                      <a:pt x="221" y="1500"/>
                    </a:lnTo>
                    <a:lnTo>
                      <a:pt x="199" y="1463"/>
                    </a:lnTo>
                    <a:lnTo>
                      <a:pt x="178" y="1427"/>
                    </a:lnTo>
                    <a:lnTo>
                      <a:pt x="158" y="1389"/>
                    </a:lnTo>
                    <a:lnTo>
                      <a:pt x="140" y="1351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70" y="1164"/>
                    </a:lnTo>
                    <a:lnTo>
                      <a:pt x="49" y="1083"/>
                    </a:lnTo>
                    <a:lnTo>
                      <a:pt x="32" y="997"/>
                    </a:lnTo>
                    <a:lnTo>
                      <a:pt x="19" y="910"/>
                    </a:lnTo>
                    <a:lnTo>
                      <a:pt x="8" y="822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1"/>
                    </a:lnTo>
                    <a:lnTo>
                      <a:pt x="8" y="463"/>
                    </a:lnTo>
                    <a:lnTo>
                      <a:pt x="18" y="375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9" y="136"/>
                    </a:lnTo>
                    <a:lnTo>
                      <a:pt x="94" y="65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0" name="Freeform 265">
                <a:extLst>
                  <a:ext uri="{FF2B5EF4-FFF2-40B4-BE49-F238E27FC236}">
                    <a16:creationId xmlns:a16="http://schemas.microsoft.com/office/drawing/2014/main" id="{55BC4EE3-9E27-4FFF-B2CF-8212C11CF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3169"/>
                <a:ext cx="50" cy="122"/>
              </a:xfrm>
              <a:custGeom>
                <a:avLst/>
                <a:gdLst>
                  <a:gd name="T0" fmla="*/ 0 w 1103"/>
                  <a:gd name="T1" fmla="*/ 0 h 2202"/>
                  <a:gd name="T2" fmla="*/ 0 w 1103"/>
                  <a:gd name="T3" fmla="*/ 0 h 2202"/>
                  <a:gd name="T4" fmla="*/ 0 w 1103"/>
                  <a:gd name="T5" fmla="*/ 0 h 2202"/>
                  <a:gd name="T6" fmla="*/ 0 w 1103"/>
                  <a:gd name="T7" fmla="*/ 0 h 2202"/>
                  <a:gd name="T8" fmla="*/ 0 w 1103"/>
                  <a:gd name="T9" fmla="*/ 0 h 2202"/>
                  <a:gd name="T10" fmla="*/ 0 w 1103"/>
                  <a:gd name="T11" fmla="*/ 0 h 2202"/>
                  <a:gd name="T12" fmla="*/ 0 w 1103"/>
                  <a:gd name="T13" fmla="*/ 0 h 2202"/>
                  <a:gd name="T14" fmla="*/ 0 w 1103"/>
                  <a:gd name="T15" fmla="*/ 0 h 2202"/>
                  <a:gd name="T16" fmla="*/ 0 w 1103"/>
                  <a:gd name="T17" fmla="*/ 0 h 2202"/>
                  <a:gd name="T18" fmla="*/ 0 w 1103"/>
                  <a:gd name="T19" fmla="*/ 0 h 2202"/>
                  <a:gd name="T20" fmla="*/ 0 w 1103"/>
                  <a:gd name="T21" fmla="*/ 0 h 2202"/>
                  <a:gd name="T22" fmla="*/ 0 w 1103"/>
                  <a:gd name="T23" fmla="*/ 0 h 2202"/>
                  <a:gd name="T24" fmla="*/ 0 w 1103"/>
                  <a:gd name="T25" fmla="*/ 0 h 2202"/>
                  <a:gd name="T26" fmla="*/ 0 w 1103"/>
                  <a:gd name="T27" fmla="*/ 0 h 2202"/>
                  <a:gd name="T28" fmla="*/ 0 w 1103"/>
                  <a:gd name="T29" fmla="*/ 0 h 2202"/>
                  <a:gd name="T30" fmla="*/ 0 w 1103"/>
                  <a:gd name="T31" fmla="*/ 0 h 2202"/>
                  <a:gd name="T32" fmla="*/ 0 w 1103"/>
                  <a:gd name="T33" fmla="*/ 0 h 2202"/>
                  <a:gd name="T34" fmla="*/ 0 w 1103"/>
                  <a:gd name="T35" fmla="*/ 0 h 2202"/>
                  <a:gd name="T36" fmla="*/ 0 w 1103"/>
                  <a:gd name="T37" fmla="*/ 0 h 2202"/>
                  <a:gd name="T38" fmla="*/ 0 w 1103"/>
                  <a:gd name="T39" fmla="*/ 0 h 2202"/>
                  <a:gd name="T40" fmla="*/ 0 w 1103"/>
                  <a:gd name="T41" fmla="*/ 0 h 2202"/>
                  <a:gd name="T42" fmla="*/ 0 w 1103"/>
                  <a:gd name="T43" fmla="*/ 0 h 2202"/>
                  <a:gd name="T44" fmla="*/ 0 w 1103"/>
                  <a:gd name="T45" fmla="*/ 0 h 2202"/>
                  <a:gd name="T46" fmla="*/ 0 w 1103"/>
                  <a:gd name="T47" fmla="*/ 0 h 2202"/>
                  <a:gd name="T48" fmla="*/ 0 w 1103"/>
                  <a:gd name="T49" fmla="*/ 0 h 2202"/>
                  <a:gd name="T50" fmla="*/ 0 w 1103"/>
                  <a:gd name="T51" fmla="*/ 0 h 2202"/>
                  <a:gd name="T52" fmla="*/ 0 w 1103"/>
                  <a:gd name="T53" fmla="*/ 0 h 2202"/>
                  <a:gd name="T54" fmla="*/ 0 w 1103"/>
                  <a:gd name="T55" fmla="*/ 0 h 2202"/>
                  <a:gd name="T56" fmla="*/ 0 w 1103"/>
                  <a:gd name="T57" fmla="*/ 0 h 2202"/>
                  <a:gd name="T58" fmla="*/ 0 w 1103"/>
                  <a:gd name="T59" fmla="*/ 0 h 2202"/>
                  <a:gd name="T60" fmla="*/ 0 w 1103"/>
                  <a:gd name="T61" fmla="*/ 0 h 2202"/>
                  <a:gd name="T62" fmla="*/ 0 w 1103"/>
                  <a:gd name="T63" fmla="*/ 0 h 2202"/>
                  <a:gd name="T64" fmla="*/ 0 w 1103"/>
                  <a:gd name="T65" fmla="*/ 0 h 2202"/>
                  <a:gd name="T66" fmla="*/ 0 w 1103"/>
                  <a:gd name="T67" fmla="*/ 0 h 2202"/>
                  <a:gd name="T68" fmla="*/ 0 w 1103"/>
                  <a:gd name="T69" fmla="*/ 0 h 2202"/>
                  <a:gd name="T70" fmla="*/ 0 w 1103"/>
                  <a:gd name="T71" fmla="*/ 0 h 2202"/>
                  <a:gd name="T72" fmla="*/ 0 w 1103"/>
                  <a:gd name="T73" fmla="*/ 0 h 2202"/>
                  <a:gd name="T74" fmla="*/ 0 w 1103"/>
                  <a:gd name="T75" fmla="*/ 0 h 2202"/>
                  <a:gd name="T76" fmla="*/ 0 w 1103"/>
                  <a:gd name="T77" fmla="*/ 0 h 2202"/>
                  <a:gd name="T78" fmla="*/ 0 w 1103"/>
                  <a:gd name="T79" fmla="*/ 0 h 2202"/>
                  <a:gd name="T80" fmla="*/ 0 w 1103"/>
                  <a:gd name="T81" fmla="*/ 0 h 2202"/>
                  <a:gd name="T82" fmla="*/ 0 w 1103"/>
                  <a:gd name="T83" fmla="*/ 0 h 2202"/>
                  <a:gd name="T84" fmla="*/ 0 w 1103"/>
                  <a:gd name="T85" fmla="*/ 0 h 2202"/>
                  <a:gd name="T86" fmla="*/ 0 w 1103"/>
                  <a:gd name="T87" fmla="*/ 0 h 2202"/>
                  <a:gd name="T88" fmla="*/ 0 w 1103"/>
                  <a:gd name="T89" fmla="*/ 0 h 2202"/>
                  <a:gd name="T90" fmla="*/ 0 w 1103"/>
                  <a:gd name="T91" fmla="*/ 0 h 2202"/>
                  <a:gd name="T92" fmla="*/ 0 w 1103"/>
                  <a:gd name="T93" fmla="*/ 0 h 2202"/>
                  <a:gd name="T94" fmla="*/ 0 w 1103"/>
                  <a:gd name="T95" fmla="*/ 0 h 2202"/>
                  <a:gd name="T96" fmla="*/ 0 w 1103"/>
                  <a:gd name="T97" fmla="*/ 0 h 2202"/>
                  <a:gd name="T98" fmla="*/ 0 w 1103"/>
                  <a:gd name="T99" fmla="*/ 0 h 2202"/>
                  <a:gd name="T100" fmla="*/ 0 w 1103"/>
                  <a:gd name="T101" fmla="*/ 0 h 2202"/>
                  <a:gd name="T102" fmla="*/ 0 w 1103"/>
                  <a:gd name="T103" fmla="*/ 0 h 220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2"/>
                  <a:gd name="T158" fmla="*/ 1103 w 1103"/>
                  <a:gd name="T159" fmla="*/ 2202 h 220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2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2"/>
                    </a:lnTo>
                    <a:lnTo>
                      <a:pt x="1030" y="2187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79" y="2058"/>
                    </a:lnTo>
                    <a:lnTo>
                      <a:pt x="745" y="2036"/>
                    </a:lnTo>
                    <a:lnTo>
                      <a:pt x="711" y="2013"/>
                    </a:lnTo>
                    <a:lnTo>
                      <a:pt x="676" y="1989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8" y="1912"/>
                    </a:lnTo>
                    <a:lnTo>
                      <a:pt x="547" y="1884"/>
                    </a:lnTo>
                    <a:lnTo>
                      <a:pt x="515" y="1857"/>
                    </a:lnTo>
                    <a:lnTo>
                      <a:pt x="485" y="1827"/>
                    </a:lnTo>
                    <a:lnTo>
                      <a:pt x="455" y="1798"/>
                    </a:lnTo>
                    <a:lnTo>
                      <a:pt x="425" y="1767"/>
                    </a:lnTo>
                    <a:lnTo>
                      <a:pt x="397" y="1737"/>
                    </a:lnTo>
                    <a:lnTo>
                      <a:pt x="369" y="1705"/>
                    </a:lnTo>
                    <a:lnTo>
                      <a:pt x="342" y="1672"/>
                    </a:lnTo>
                    <a:lnTo>
                      <a:pt x="316" y="1639"/>
                    </a:lnTo>
                    <a:lnTo>
                      <a:pt x="291" y="1605"/>
                    </a:lnTo>
                    <a:lnTo>
                      <a:pt x="266" y="1571"/>
                    </a:lnTo>
                    <a:lnTo>
                      <a:pt x="243" y="1536"/>
                    </a:lnTo>
                    <a:lnTo>
                      <a:pt x="220" y="1500"/>
                    </a:lnTo>
                    <a:lnTo>
                      <a:pt x="199" y="1464"/>
                    </a:lnTo>
                    <a:lnTo>
                      <a:pt x="178" y="1428"/>
                    </a:lnTo>
                    <a:lnTo>
                      <a:pt x="158" y="1390"/>
                    </a:lnTo>
                    <a:lnTo>
                      <a:pt x="140" y="1352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69" y="1164"/>
                    </a:lnTo>
                    <a:lnTo>
                      <a:pt x="49" y="1083"/>
                    </a:lnTo>
                    <a:lnTo>
                      <a:pt x="32" y="998"/>
                    </a:lnTo>
                    <a:lnTo>
                      <a:pt x="18" y="910"/>
                    </a:lnTo>
                    <a:lnTo>
                      <a:pt x="8" y="823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2"/>
                    </a:lnTo>
                    <a:lnTo>
                      <a:pt x="8" y="463"/>
                    </a:lnTo>
                    <a:lnTo>
                      <a:pt x="17" y="376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8" y="136"/>
                    </a:lnTo>
                    <a:lnTo>
                      <a:pt x="94" y="66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1" name="Freeform 266">
                <a:extLst>
                  <a:ext uri="{FF2B5EF4-FFF2-40B4-BE49-F238E27FC236}">
                    <a16:creationId xmlns:a16="http://schemas.microsoft.com/office/drawing/2014/main" id="{B18403F1-BAA8-44EF-AFFD-A4597F322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2" cy="121"/>
              </a:xfrm>
              <a:custGeom>
                <a:avLst/>
                <a:gdLst>
                  <a:gd name="T0" fmla="*/ 0 w 1133"/>
                  <a:gd name="T1" fmla="*/ 0 h 2181"/>
                  <a:gd name="T2" fmla="*/ 0 w 1133"/>
                  <a:gd name="T3" fmla="*/ 0 h 2181"/>
                  <a:gd name="T4" fmla="*/ 0 w 1133"/>
                  <a:gd name="T5" fmla="*/ 0 h 2181"/>
                  <a:gd name="T6" fmla="*/ 0 w 1133"/>
                  <a:gd name="T7" fmla="*/ 0 h 2181"/>
                  <a:gd name="T8" fmla="*/ 0 w 1133"/>
                  <a:gd name="T9" fmla="*/ 0 h 2181"/>
                  <a:gd name="T10" fmla="*/ 0 w 1133"/>
                  <a:gd name="T11" fmla="*/ 0 h 2181"/>
                  <a:gd name="T12" fmla="*/ 0 w 1133"/>
                  <a:gd name="T13" fmla="*/ 0 h 2181"/>
                  <a:gd name="T14" fmla="*/ 0 w 1133"/>
                  <a:gd name="T15" fmla="*/ 0 h 2181"/>
                  <a:gd name="T16" fmla="*/ 0 w 1133"/>
                  <a:gd name="T17" fmla="*/ 0 h 2181"/>
                  <a:gd name="T18" fmla="*/ 0 w 1133"/>
                  <a:gd name="T19" fmla="*/ 0 h 2181"/>
                  <a:gd name="T20" fmla="*/ 0 w 1133"/>
                  <a:gd name="T21" fmla="*/ 0 h 2181"/>
                  <a:gd name="T22" fmla="*/ 0 w 1133"/>
                  <a:gd name="T23" fmla="*/ 0 h 2181"/>
                  <a:gd name="T24" fmla="*/ 0 w 1133"/>
                  <a:gd name="T25" fmla="*/ 0 h 2181"/>
                  <a:gd name="T26" fmla="*/ 0 w 1133"/>
                  <a:gd name="T27" fmla="*/ 0 h 2181"/>
                  <a:gd name="T28" fmla="*/ 0 w 1133"/>
                  <a:gd name="T29" fmla="*/ 0 h 2181"/>
                  <a:gd name="T30" fmla="*/ 0 w 1133"/>
                  <a:gd name="T31" fmla="*/ 0 h 2181"/>
                  <a:gd name="T32" fmla="*/ 0 w 1133"/>
                  <a:gd name="T33" fmla="*/ 0 h 2181"/>
                  <a:gd name="T34" fmla="*/ 0 w 1133"/>
                  <a:gd name="T35" fmla="*/ 0 h 2181"/>
                  <a:gd name="T36" fmla="*/ 0 w 1133"/>
                  <a:gd name="T37" fmla="*/ 0 h 2181"/>
                  <a:gd name="T38" fmla="*/ 0 w 1133"/>
                  <a:gd name="T39" fmla="*/ 0 h 2181"/>
                  <a:gd name="T40" fmla="*/ 0 w 1133"/>
                  <a:gd name="T41" fmla="*/ 0 h 2181"/>
                  <a:gd name="T42" fmla="*/ 0 w 1133"/>
                  <a:gd name="T43" fmla="*/ 0 h 2181"/>
                  <a:gd name="T44" fmla="*/ 0 w 1133"/>
                  <a:gd name="T45" fmla="*/ 0 h 2181"/>
                  <a:gd name="T46" fmla="*/ 0 w 1133"/>
                  <a:gd name="T47" fmla="*/ 0 h 2181"/>
                  <a:gd name="T48" fmla="*/ 0 w 1133"/>
                  <a:gd name="T49" fmla="*/ 0 h 2181"/>
                  <a:gd name="T50" fmla="*/ 0 w 1133"/>
                  <a:gd name="T51" fmla="*/ 0 h 2181"/>
                  <a:gd name="T52" fmla="*/ 0 w 1133"/>
                  <a:gd name="T53" fmla="*/ 0 h 2181"/>
                  <a:gd name="T54" fmla="*/ 0 w 1133"/>
                  <a:gd name="T55" fmla="*/ 0 h 2181"/>
                  <a:gd name="T56" fmla="*/ 0 w 1133"/>
                  <a:gd name="T57" fmla="*/ 0 h 2181"/>
                  <a:gd name="T58" fmla="*/ 0 w 1133"/>
                  <a:gd name="T59" fmla="*/ 0 h 2181"/>
                  <a:gd name="T60" fmla="*/ 0 w 1133"/>
                  <a:gd name="T61" fmla="*/ 0 h 2181"/>
                  <a:gd name="T62" fmla="*/ 0 w 1133"/>
                  <a:gd name="T63" fmla="*/ 0 h 2181"/>
                  <a:gd name="T64" fmla="*/ 0 w 1133"/>
                  <a:gd name="T65" fmla="*/ 0 h 2181"/>
                  <a:gd name="T66" fmla="*/ 0 w 1133"/>
                  <a:gd name="T67" fmla="*/ 0 h 2181"/>
                  <a:gd name="T68" fmla="*/ 0 w 1133"/>
                  <a:gd name="T69" fmla="*/ 0 h 2181"/>
                  <a:gd name="T70" fmla="*/ 0 w 1133"/>
                  <a:gd name="T71" fmla="*/ 0 h 2181"/>
                  <a:gd name="T72" fmla="*/ 0 w 1133"/>
                  <a:gd name="T73" fmla="*/ 0 h 2181"/>
                  <a:gd name="T74" fmla="*/ 0 w 1133"/>
                  <a:gd name="T75" fmla="*/ 0 h 2181"/>
                  <a:gd name="T76" fmla="*/ 0 w 1133"/>
                  <a:gd name="T77" fmla="*/ 0 h 2181"/>
                  <a:gd name="T78" fmla="*/ 0 w 1133"/>
                  <a:gd name="T79" fmla="*/ 0 h 2181"/>
                  <a:gd name="T80" fmla="*/ 0 w 1133"/>
                  <a:gd name="T81" fmla="*/ 0 h 2181"/>
                  <a:gd name="T82" fmla="*/ 0 w 1133"/>
                  <a:gd name="T83" fmla="*/ 0 h 2181"/>
                  <a:gd name="T84" fmla="*/ 0 w 1133"/>
                  <a:gd name="T85" fmla="*/ 0 h 2181"/>
                  <a:gd name="T86" fmla="*/ 0 w 1133"/>
                  <a:gd name="T87" fmla="*/ 0 h 2181"/>
                  <a:gd name="T88" fmla="*/ 0 w 1133"/>
                  <a:gd name="T89" fmla="*/ 0 h 2181"/>
                  <a:gd name="T90" fmla="*/ 0 w 1133"/>
                  <a:gd name="T91" fmla="*/ 0 h 2181"/>
                  <a:gd name="T92" fmla="*/ 0 w 1133"/>
                  <a:gd name="T93" fmla="*/ 0 h 2181"/>
                  <a:gd name="T94" fmla="*/ 0 w 1133"/>
                  <a:gd name="T95" fmla="*/ 0 h 2181"/>
                  <a:gd name="T96" fmla="*/ 0 w 1133"/>
                  <a:gd name="T97" fmla="*/ 0 h 2181"/>
                  <a:gd name="T98" fmla="*/ 0 w 1133"/>
                  <a:gd name="T99" fmla="*/ 0 h 2181"/>
                  <a:gd name="T100" fmla="*/ 0 w 1133"/>
                  <a:gd name="T101" fmla="*/ 0 h 2181"/>
                  <a:gd name="T102" fmla="*/ 0 w 1133"/>
                  <a:gd name="T103" fmla="*/ 0 h 218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3"/>
                  <a:gd name="T157" fmla="*/ 0 h 2181"/>
                  <a:gd name="T158" fmla="*/ 1133 w 1133"/>
                  <a:gd name="T159" fmla="*/ 2181 h 218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3" h="2181">
                    <a:moveTo>
                      <a:pt x="917" y="2127"/>
                    </a:moveTo>
                    <a:lnTo>
                      <a:pt x="0" y="131"/>
                    </a:lnTo>
                    <a:lnTo>
                      <a:pt x="32" y="0"/>
                    </a:lnTo>
                    <a:lnTo>
                      <a:pt x="69" y="14"/>
                    </a:lnTo>
                    <a:lnTo>
                      <a:pt x="106" y="29"/>
                    </a:lnTo>
                    <a:lnTo>
                      <a:pt x="142" y="44"/>
                    </a:lnTo>
                    <a:lnTo>
                      <a:pt x="179" y="60"/>
                    </a:lnTo>
                    <a:lnTo>
                      <a:pt x="216" y="78"/>
                    </a:lnTo>
                    <a:lnTo>
                      <a:pt x="252" y="96"/>
                    </a:lnTo>
                    <a:lnTo>
                      <a:pt x="287" y="116"/>
                    </a:lnTo>
                    <a:lnTo>
                      <a:pt x="323" y="136"/>
                    </a:lnTo>
                    <a:lnTo>
                      <a:pt x="358" y="159"/>
                    </a:lnTo>
                    <a:lnTo>
                      <a:pt x="392" y="181"/>
                    </a:lnTo>
                    <a:lnTo>
                      <a:pt x="427" y="204"/>
                    </a:lnTo>
                    <a:lnTo>
                      <a:pt x="461" y="228"/>
                    </a:lnTo>
                    <a:lnTo>
                      <a:pt x="494" y="252"/>
                    </a:lnTo>
                    <a:lnTo>
                      <a:pt x="527" y="279"/>
                    </a:lnTo>
                    <a:lnTo>
                      <a:pt x="560" y="305"/>
                    </a:lnTo>
                    <a:lnTo>
                      <a:pt x="591" y="332"/>
                    </a:lnTo>
                    <a:lnTo>
                      <a:pt x="623" y="361"/>
                    </a:lnTo>
                    <a:lnTo>
                      <a:pt x="653" y="389"/>
                    </a:lnTo>
                    <a:lnTo>
                      <a:pt x="683" y="419"/>
                    </a:lnTo>
                    <a:lnTo>
                      <a:pt x="713" y="449"/>
                    </a:lnTo>
                    <a:lnTo>
                      <a:pt x="741" y="481"/>
                    </a:lnTo>
                    <a:lnTo>
                      <a:pt x="769" y="513"/>
                    </a:lnTo>
                    <a:lnTo>
                      <a:pt x="795" y="545"/>
                    </a:lnTo>
                    <a:lnTo>
                      <a:pt x="822" y="578"/>
                    </a:lnTo>
                    <a:lnTo>
                      <a:pt x="846" y="612"/>
                    </a:lnTo>
                    <a:lnTo>
                      <a:pt x="871" y="647"/>
                    </a:lnTo>
                    <a:lnTo>
                      <a:pt x="894" y="681"/>
                    </a:lnTo>
                    <a:lnTo>
                      <a:pt x="917" y="717"/>
                    </a:lnTo>
                    <a:lnTo>
                      <a:pt x="938" y="754"/>
                    </a:lnTo>
                    <a:lnTo>
                      <a:pt x="958" y="791"/>
                    </a:lnTo>
                    <a:lnTo>
                      <a:pt x="978" y="828"/>
                    </a:lnTo>
                    <a:lnTo>
                      <a:pt x="996" y="866"/>
                    </a:lnTo>
                    <a:lnTo>
                      <a:pt x="1026" y="938"/>
                    </a:lnTo>
                    <a:lnTo>
                      <a:pt x="1052" y="1015"/>
                    </a:lnTo>
                    <a:lnTo>
                      <a:pt x="1075" y="1096"/>
                    </a:lnTo>
                    <a:lnTo>
                      <a:pt x="1094" y="1180"/>
                    </a:lnTo>
                    <a:lnTo>
                      <a:pt x="1109" y="1266"/>
                    </a:lnTo>
                    <a:lnTo>
                      <a:pt x="1121" y="1356"/>
                    </a:lnTo>
                    <a:lnTo>
                      <a:pt x="1129" y="1446"/>
                    </a:lnTo>
                    <a:lnTo>
                      <a:pt x="1133" y="1536"/>
                    </a:lnTo>
                    <a:lnTo>
                      <a:pt x="1133" y="1626"/>
                    </a:lnTo>
                    <a:lnTo>
                      <a:pt x="1130" y="1716"/>
                    </a:lnTo>
                    <a:lnTo>
                      <a:pt x="1122" y="1802"/>
                    </a:lnTo>
                    <a:lnTo>
                      <a:pt x="1110" y="1886"/>
                    </a:lnTo>
                    <a:lnTo>
                      <a:pt x="1095" y="1967"/>
                    </a:lnTo>
                    <a:lnTo>
                      <a:pt x="1076" y="2043"/>
                    </a:lnTo>
                    <a:lnTo>
                      <a:pt x="1052" y="2115"/>
                    </a:lnTo>
                    <a:lnTo>
                      <a:pt x="1025" y="2181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2" name="Freeform 267">
                <a:extLst>
                  <a:ext uri="{FF2B5EF4-FFF2-40B4-BE49-F238E27FC236}">
                    <a16:creationId xmlns:a16="http://schemas.microsoft.com/office/drawing/2014/main" id="{2D8E8C2D-6729-4A40-B055-04B5D5ECC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1" cy="122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8" y="2126"/>
                    </a:moveTo>
                    <a:lnTo>
                      <a:pt x="0" y="130"/>
                    </a:lnTo>
                    <a:lnTo>
                      <a:pt x="33" y="0"/>
                    </a:lnTo>
                    <a:lnTo>
                      <a:pt x="70" y="13"/>
                    </a:lnTo>
                    <a:lnTo>
                      <a:pt x="107" y="28"/>
                    </a:lnTo>
                    <a:lnTo>
                      <a:pt x="143" y="43"/>
                    </a:lnTo>
                    <a:lnTo>
                      <a:pt x="180" y="60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9" y="158"/>
                    </a:lnTo>
                    <a:lnTo>
                      <a:pt x="393" y="180"/>
                    </a:lnTo>
                    <a:lnTo>
                      <a:pt x="428" y="203"/>
                    </a:lnTo>
                    <a:lnTo>
                      <a:pt x="462" y="227"/>
                    </a:lnTo>
                    <a:lnTo>
                      <a:pt x="495" y="252"/>
                    </a:lnTo>
                    <a:lnTo>
                      <a:pt x="528" y="278"/>
                    </a:lnTo>
                    <a:lnTo>
                      <a:pt x="561" y="304"/>
                    </a:lnTo>
                    <a:lnTo>
                      <a:pt x="592" y="332"/>
                    </a:lnTo>
                    <a:lnTo>
                      <a:pt x="624" y="360"/>
                    </a:lnTo>
                    <a:lnTo>
                      <a:pt x="654" y="389"/>
                    </a:lnTo>
                    <a:lnTo>
                      <a:pt x="684" y="418"/>
                    </a:lnTo>
                    <a:lnTo>
                      <a:pt x="714" y="449"/>
                    </a:lnTo>
                    <a:lnTo>
                      <a:pt x="742" y="480"/>
                    </a:lnTo>
                    <a:lnTo>
                      <a:pt x="770" y="512"/>
                    </a:lnTo>
                    <a:lnTo>
                      <a:pt x="796" y="545"/>
                    </a:lnTo>
                    <a:lnTo>
                      <a:pt x="823" y="577"/>
                    </a:lnTo>
                    <a:lnTo>
                      <a:pt x="847" y="611"/>
                    </a:lnTo>
                    <a:lnTo>
                      <a:pt x="872" y="646"/>
                    </a:lnTo>
                    <a:lnTo>
                      <a:pt x="895" y="681"/>
                    </a:lnTo>
                    <a:lnTo>
                      <a:pt x="918" y="717"/>
                    </a:lnTo>
                    <a:lnTo>
                      <a:pt x="939" y="754"/>
                    </a:lnTo>
                    <a:lnTo>
                      <a:pt x="959" y="790"/>
                    </a:lnTo>
                    <a:lnTo>
                      <a:pt x="979" y="827"/>
                    </a:lnTo>
                    <a:lnTo>
                      <a:pt x="997" y="865"/>
                    </a:lnTo>
                    <a:lnTo>
                      <a:pt x="1027" y="937"/>
                    </a:lnTo>
                    <a:lnTo>
                      <a:pt x="1053" y="1014"/>
                    </a:lnTo>
                    <a:lnTo>
                      <a:pt x="1076" y="1095"/>
                    </a:lnTo>
                    <a:lnTo>
                      <a:pt x="1095" y="1179"/>
                    </a:lnTo>
                    <a:lnTo>
                      <a:pt x="1110" y="1266"/>
                    </a:lnTo>
                    <a:lnTo>
                      <a:pt x="1122" y="1355"/>
                    </a:lnTo>
                    <a:lnTo>
                      <a:pt x="1130" y="1445"/>
                    </a:lnTo>
                    <a:lnTo>
                      <a:pt x="1134" y="1536"/>
                    </a:lnTo>
                    <a:lnTo>
                      <a:pt x="1134" y="1625"/>
                    </a:lnTo>
                    <a:lnTo>
                      <a:pt x="1131" y="1715"/>
                    </a:lnTo>
                    <a:lnTo>
                      <a:pt x="1123" y="1801"/>
                    </a:lnTo>
                    <a:lnTo>
                      <a:pt x="1111" y="1886"/>
                    </a:lnTo>
                    <a:lnTo>
                      <a:pt x="1096" y="1966"/>
                    </a:lnTo>
                    <a:lnTo>
                      <a:pt x="1077" y="2043"/>
                    </a:lnTo>
                    <a:lnTo>
                      <a:pt x="1053" y="2115"/>
                    </a:lnTo>
                    <a:lnTo>
                      <a:pt x="1026" y="2180"/>
                    </a:lnTo>
                    <a:lnTo>
                      <a:pt x="918" y="2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3" name="Freeform 268">
                <a:extLst>
                  <a:ext uri="{FF2B5EF4-FFF2-40B4-BE49-F238E27FC236}">
                    <a16:creationId xmlns:a16="http://schemas.microsoft.com/office/drawing/2014/main" id="{DA341B99-9AD3-4C48-9B83-C4C7E8B95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4"/>
                <a:ext cx="164" cy="228"/>
              </a:xfrm>
              <a:custGeom>
                <a:avLst/>
                <a:gdLst>
                  <a:gd name="T0" fmla="*/ 0 w 3622"/>
                  <a:gd name="T1" fmla="*/ 0 h 4112"/>
                  <a:gd name="T2" fmla="*/ 0 w 3622"/>
                  <a:gd name="T3" fmla="*/ 0 h 4112"/>
                  <a:gd name="T4" fmla="*/ 0 w 3622"/>
                  <a:gd name="T5" fmla="*/ 0 h 4112"/>
                  <a:gd name="T6" fmla="*/ 0 w 3622"/>
                  <a:gd name="T7" fmla="*/ 0 h 4112"/>
                  <a:gd name="T8" fmla="*/ 0 w 3622"/>
                  <a:gd name="T9" fmla="*/ 0 h 4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2"/>
                  <a:gd name="T17" fmla="*/ 3622 w 3622"/>
                  <a:gd name="T18" fmla="*/ 4112 h 4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2">
                    <a:moveTo>
                      <a:pt x="1404" y="4112"/>
                    </a:moveTo>
                    <a:lnTo>
                      <a:pt x="3622" y="3023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4" name="Freeform 269">
                <a:extLst>
                  <a:ext uri="{FF2B5EF4-FFF2-40B4-BE49-F238E27FC236}">
                    <a16:creationId xmlns:a16="http://schemas.microsoft.com/office/drawing/2014/main" id="{E1BC6659-5992-4C3C-A1AC-58B0E04D4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1"/>
                <a:ext cx="164" cy="228"/>
              </a:xfrm>
              <a:custGeom>
                <a:avLst/>
                <a:gdLst>
                  <a:gd name="T0" fmla="*/ 0 w 3622"/>
                  <a:gd name="T1" fmla="*/ 0 h 4113"/>
                  <a:gd name="T2" fmla="*/ 0 w 3622"/>
                  <a:gd name="T3" fmla="*/ 0 h 4113"/>
                  <a:gd name="T4" fmla="*/ 0 w 3622"/>
                  <a:gd name="T5" fmla="*/ 0 h 4113"/>
                  <a:gd name="T6" fmla="*/ 0 w 3622"/>
                  <a:gd name="T7" fmla="*/ 0 h 4113"/>
                  <a:gd name="T8" fmla="*/ 0 w 3622"/>
                  <a:gd name="T9" fmla="*/ 0 h 41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3"/>
                  <a:gd name="T17" fmla="*/ 3622 w 3622"/>
                  <a:gd name="T18" fmla="*/ 4113 h 41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3">
                    <a:moveTo>
                      <a:pt x="1404" y="4113"/>
                    </a:moveTo>
                    <a:lnTo>
                      <a:pt x="3622" y="3024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3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5" name="Freeform 270">
                <a:extLst>
                  <a:ext uri="{FF2B5EF4-FFF2-40B4-BE49-F238E27FC236}">
                    <a16:creationId xmlns:a16="http://schemas.microsoft.com/office/drawing/2014/main" id="{A6E13D01-E8AC-47BE-BEE1-E381C3B9ED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146"/>
                <a:ext cx="157" cy="218"/>
              </a:xfrm>
              <a:custGeom>
                <a:avLst/>
                <a:gdLst>
                  <a:gd name="T0" fmla="*/ 0 w 3446"/>
                  <a:gd name="T1" fmla="*/ 0 h 3913"/>
                  <a:gd name="T2" fmla="*/ 0 w 3446"/>
                  <a:gd name="T3" fmla="*/ 0 h 3913"/>
                  <a:gd name="T4" fmla="*/ 0 w 3446"/>
                  <a:gd name="T5" fmla="*/ 0 h 3913"/>
                  <a:gd name="T6" fmla="*/ 0 w 3446"/>
                  <a:gd name="T7" fmla="*/ 0 h 3913"/>
                  <a:gd name="T8" fmla="*/ 0 w 3446"/>
                  <a:gd name="T9" fmla="*/ 0 h 39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46"/>
                  <a:gd name="T16" fmla="*/ 0 h 3913"/>
                  <a:gd name="T17" fmla="*/ 3446 w 3446"/>
                  <a:gd name="T18" fmla="*/ 3913 h 39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46" h="3913">
                    <a:moveTo>
                      <a:pt x="1335" y="3913"/>
                    </a:moveTo>
                    <a:lnTo>
                      <a:pt x="3446" y="2878"/>
                    </a:lnTo>
                    <a:lnTo>
                      <a:pt x="2111" y="0"/>
                    </a:lnTo>
                    <a:lnTo>
                      <a:pt x="0" y="942"/>
                    </a:lnTo>
                    <a:lnTo>
                      <a:pt x="1335" y="3913"/>
                    </a:lnTo>
                    <a:close/>
                  </a:path>
                </a:pathLst>
              </a:custGeom>
              <a:solidFill>
                <a:srgbClr val="1A78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6" name="Freeform 271">
                <a:extLst>
                  <a:ext uri="{FF2B5EF4-FFF2-40B4-BE49-F238E27FC236}">
                    <a16:creationId xmlns:a16="http://schemas.microsoft.com/office/drawing/2014/main" id="{B0A5F5B0-4B21-47FC-87F7-94BB5F11C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109"/>
                <a:ext cx="19" cy="19"/>
              </a:xfrm>
              <a:custGeom>
                <a:avLst/>
                <a:gdLst>
                  <a:gd name="T0" fmla="*/ 0 w 431"/>
                  <a:gd name="T1" fmla="*/ 0 h 343"/>
                  <a:gd name="T2" fmla="*/ 0 w 431"/>
                  <a:gd name="T3" fmla="*/ 0 h 343"/>
                  <a:gd name="T4" fmla="*/ 0 w 431"/>
                  <a:gd name="T5" fmla="*/ 0 h 343"/>
                  <a:gd name="T6" fmla="*/ 0 w 431"/>
                  <a:gd name="T7" fmla="*/ 0 h 343"/>
                  <a:gd name="T8" fmla="*/ 0 w 431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1"/>
                  <a:gd name="T16" fmla="*/ 0 h 343"/>
                  <a:gd name="T17" fmla="*/ 431 w 431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1" h="343">
                    <a:moveTo>
                      <a:pt x="431" y="186"/>
                    </a:moveTo>
                    <a:lnTo>
                      <a:pt x="79" y="343"/>
                    </a:lnTo>
                    <a:lnTo>
                      <a:pt x="0" y="157"/>
                    </a:lnTo>
                    <a:lnTo>
                      <a:pt x="352" y="0"/>
                    </a:lnTo>
                    <a:lnTo>
                      <a:pt x="431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7" name="Freeform 272">
                <a:extLst>
                  <a:ext uri="{FF2B5EF4-FFF2-40B4-BE49-F238E27FC236}">
                    <a16:creationId xmlns:a16="http://schemas.microsoft.com/office/drawing/2014/main" id="{82681245-664F-43FD-8855-8725B8128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112"/>
                <a:ext cx="16" cy="15"/>
              </a:xfrm>
              <a:custGeom>
                <a:avLst/>
                <a:gdLst>
                  <a:gd name="T0" fmla="*/ 0 w 347"/>
                  <a:gd name="T1" fmla="*/ 0 h 257"/>
                  <a:gd name="T2" fmla="*/ 0 w 347"/>
                  <a:gd name="T3" fmla="*/ 0 h 257"/>
                  <a:gd name="T4" fmla="*/ 0 w 347"/>
                  <a:gd name="T5" fmla="*/ 0 h 257"/>
                  <a:gd name="T6" fmla="*/ 0 w 347"/>
                  <a:gd name="T7" fmla="*/ 0 h 257"/>
                  <a:gd name="T8" fmla="*/ 0 w 347"/>
                  <a:gd name="T9" fmla="*/ 0 h 2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7"/>
                  <a:gd name="T16" fmla="*/ 0 h 257"/>
                  <a:gd name="T17" fmla="*/ 347 w 347"/>
                  <a:gd name="T18" fmla="*/ 257 h 2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7" h="257">
                    <a:moveTo>
                      <a:pt x="347" y="126"/>
                    </a:moveTo>
                    <a:lnTo>
                      <a:pt x="53" y="257"/>
                    </a:lnTo>
                    <a:lnTo>
                      <a:pt x="0" y="132"/>
                    </a:lnTo>
                    <a:lnTo>
                      <a:pt x="294" y="0"/>
                    </a:lnTo>
                    <a:lnTo>
                      <a:pt x="347" y="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8" name="Freeform 273">
                <a:extLst>
                  <a:ext uri="{FF2B5EF4-FFF2-40B4-BE49-F238E27FC236}">
                    <a16:creationId xmlns:a16="http://schemas.microsoft.com/office/drawing/2014/main" id="{D31F381E-9664-45BF-9312-44F74FFD3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5" y="73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3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4" y="232"/>
                    </a:lnTo>
                    <a:lnTo>
                      <a:pt x="60" y="228"/>
                    </a:lnTo>
                    <a:lnTo>
                      <a:pt x="56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5" y="7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99" name="Freeform 274">
                <a:extLst>
                  <a:ext uri="{FF2B5EF4-FFF2-40B4-BE49-F238E27FC236}">
                    <a16:creationId xmlns:a16="http://schemas.microsoft.com/office/drawing/2014/main" id="{A6A3518F-C902-4C22-9804-7803072E9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2" y="0"/>
                    </a:lnTo>
                    <a:lnTo>
                      <a:pt x="146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4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0" name="Freeform 275">
                <a:extLst>
                  <a:ext uri="{FF2B5EF4-FFF2-40B4-BE49-F238E27FC236}">
                    <a16:creationId xmlns:a16="http://schemas.microsoft.com/office/drawing/2014/main" id="{F7A7501D-0539-44B2-9971-F96CD0812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3113"/>
                <a:ext cx="6" cy="8"/>
              </a:xfrm>
              <a:custGeom>
                <a:avLst/>
                <a:gdLst>
                  <a:gd name="T0" fmla="*/ 0 w 118"/>
                  <a:gd name="T1" fmla="*/ 0 h 154"/>
                  <a:gd name="T2" fmla="*/ 0 w 118"/>
                  <a:gd name="T3" fmla="*/ 0 h 154"/>
                  <a:gd name="T4" fmla="*/ 0 w 118"/>
                  <a:gd name="T5" fmla="*/ 0 h 154"/>
                  <a:gd name="T6" fmla="*/ 0 w 118"/>
                  <a:gd name="T7" fmla="*/ 0 h 154"/>
                  <a:gd name="T8" fmla="*/ 0 w 118"/>
                  <a:gd name="T9" fmla="*/ 0 h 154"/>
                  <a:gd name="T10" fmla="*/ 0 w 118"/>
                  <a:gd name="T11" fmla="*/ 0 h 154"/>
                  <a:gd name="T12" fmla="*/ 0 w 118"/>
                  <a:gd name="T13" fmla="*/ 0 h 154"/>
                  <a:gd name="T14" fmla="*/ 0 w 118"/>
                  <a:gd name="T15" fmla="*/ 0 h 154"/>
                  <a:gd name="T16" fmla="*/ 0 w 118"/>
                  <a:gd name="T17" fmla="*/ 0 h 154"/>
                  <a:gd name="T18" fmla="*/ 0 w 118"/>
                  <a:gd name="T19" fmla="*/ 0 h 154"/>
                  <a:gd name="T20" fmla="*/ 0 w 118"/>
                  <a:gd name="T21" fmla="*/ 0 h 154"/>
                  <a:gd name="T22" fmla="*/ 0 w 118"/>
                  <a:gd name="T23" fmla="*/ 0 h 154"/>
                  <a:gd name="T24" fmla="*/ 0 w 118"/>
                  <a:gd name="T25" fmla="*/ 0 h 154"/>
                  <a:gd name="T26" fmla="*/ 0 w 118"/>
                  <a:gd name="T27" fmla="*/ 0 h 154"/>
                  <a:gd name="T28" fmla="*/ 0 w 118"/>
                  <a:gd name="T29" fmla="*/ 0 h 154"/>
                  <a:gd name="T30" fmla="*/ 0 w 118"/>
                  <a:gd name="T31" fmla="*/ 0 h 154"/>
                  <a:gd name="T32" fmla="*/ 0 w 118"/>
                  <a:gd name="T33" fmla="*/ 0 h 154"/>
                  <a:gd name="T34" fmla="*/ 0 w 118"/>
                  <a:gd name="T35" fmla="*/ 0 h 154"/>
                  <a:gd name="T36" fmla="*/ 0 w 118"/>
                  <a:gd name="T37" fmla="*/ 0 h 154"/>
                  <a:gd name="T38" fmla="*/ 0 w 118"/>
                  <a:gd name="T39" fmla="*/ 0 h 154"/>
                  <a:gd name="T40" fmla="*/ 0 w 118"/>
                  <a:gd name="T41" fmla="*/ 0 h 154"/>
                  <a:gd name="T42" fmla="*/ 0 w 118"/>
                  <a:gd name="T43" fmla="*/ 0 h 154"/>
                  <a:gd name="T44" fmla="*/ 0 w 118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8"/>
                  <a:gd name="T70" fmla="*/ 0 h 154"/>
                  <a:gd name="T71" fmla="*/ 118 w 118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8" h="154">
                    <a:moveTo>
                      <a:pt x="88" y="6"/>
                    </a:moveTo>
                    <a:lnTo>
                      <a:pt x="116" y="77"/>
                    </a:lnTo>
                    <a:lnTo>
                      <a:pt x="118" y="85"/>
                    </a:lnTo>
                    <a:lnTo>
                      <a:pt x="118" y="95"/>
                    </a:lnTo>
                    <a:lnTo>
                      <a:pt x="116" y="103"/>
                    </a:lnTo>
                    <a:lnTo>
                      <a:pt x="112" y="108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7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7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3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1" name="Freeform 276">
                <a:extLst>
                  <a:ext uri="{FF2B5EF4-FFF2-40B4-BE49-F238E27FC236}">
                    <a16:creationId xmlns:a16="http://schemas.microsoft.com/office/drawing/2014/main" id="{D459E5C4-DC0F-41B1-B255-D6F64DED3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3099"/>
                <a:ext cx="13" cy="16"/>
              </a:xfrm>
              <a:custGeom>
                <a:avLst/>
                <a:gdLst>
                  <a:gd name="T0" fmla="*/ 0 w 287"/>
                  <a:gd name="T1" fmla="*/ 0 h 280"/>
                  <a:gd name="T2" fmla="*/ 0 w 287"/>
                  <a:gd name="T3" fmla="*/ 0 h 280"/>
                  <a:gd name="T4" fmla="*/ 0 w 287"/>
                  <a:gd name="T5" fmla="*/ 0 h 280"/>
                  <a:gd name="T6" fmla="*/ 0 w 287"/>
                  <a:gd name="T7" fmla="*/ 0 h 280"/>
                  <a:gd name="T8" fmla="*/ 0 w 287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7"/>
                  <a:gd name="T16" fmla="*/ 0 h 280"/>
                  <a:gd name="T17" fmla="*/ 287 w 287"/>
                  <a:gd name="T18" fmla="*/ 280 h 2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7" h="280">
                    <a:moveTo>
                      <a:pt x="287" y="186"/>
                    </a:moveTo>
                    <a:lnTo>
                      <a:pt x="78" y="280"/>
                    </a:lnTo>
                    <a:lnTo>
                      <a:pt x="0" y="93"/>
                    </a:lnTo>
                    <a:lnTo>
                      <a:pt x="210" y="0"/>
                    </a:lnTo>
                    <a:lnTo>
                      <a:pt x="287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2" name="Freeform 277">
                <a:extLst>
                  <a:ext uri="{FF2B5EF4-FFF2-40B4-BE49-F238E27FC236}">
                    <a16:creationId xmlns:a16="http://schemas.microsoft.com/office/drawing/2014/main" id="{A9C870AD-1A7B-4D62-AAF8-DDCB3B41F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2"/>
                <a:ext cx="11" cy="12"/>
              </a:xfrm>
              <a:custGeom>
                <a:avLst/>
                <a:gdLst>
                  <a:gd name="T0" fmla="*/ 0 w 227"/>
                  <a:gd name="T1" fmla="*/ 0 h 203"/>
                  <a:gd name="T2" fmla="*/ 0 w 227"/>
                  <a:gd name="T3" fmla="*/ 0 h 203"/>
                  <a:gd name="T4" fmla="*/ 0 w 227"/>
                  <a:gd name="T5" fmla="*/ 0 h 203"/>
                  <a:gd name="T6" fmla="*/ 0 w 227"/>
                  <a:gd name="T7" fmla="*/ 0 h 203"/>
                  <a:gd name="T8" fmla="*/ 0 w 227"/>
                  <a:gd name="T9" fmla="*/ 0 h 2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203"/>
                  <a:gd name="T17" fmla="*/ 227 w 227"/>
                  <a:gd name="T18" fmla="*/ 203 h 2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203">
                    <a:moveTo>
                      <a:pt x="227" y="125"/>
                    </a:moveTo>
                    <a:lnTo>
                      <a:pt x="53" y="203"/>
                    </a:lnTo>
                    <a:lnTo>
                      <a:pt x="0" y="78"/>
                    </a:lnTo>
                    <a:lnTo>
                      <a:pt x="175" y="0"/>
                    </a:lnTo>
                    <a:lnTo>
                      <a:pt x="227" y="125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3" name="Freeform 278">
                <a:extLst>
                  <a:ext uri="{FF2B5EF4-FFF2-40B4-BE49-F238E27FC236}">
                    <a16:creationId xmlns:a16="http://schemas.microsoft.com/office/drawing/2014/main" id="{6F0EE928-9561-473C-A210-E7E8B30CA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4" y="72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2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3" y="232"/>
                    </a:lnTo>
                    <a:lnTo>
                      <a:pt x="59" y="227"/>
                    </a:lnTo>
                    <a:lnTo>
                      <a:pt x="55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4" name="Freeform 279">
                <a:extLst>
                  <a:ext uri="{FF2B5EF4-FFF2-40B4-BE49-F238E27FC236}">
                    <a16:creationId xmlns:a16="http://schemas.microsoft.com/office/drawing/2014/main" id="{090C9089-5FA1-4E03-AF7D-8FF6F82B1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1" y="0"/>
                    </a:lnTo>
                    <a:lnTo>
                      <a:pt x="145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3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5" name="Freeform 280">
                <a:extLst>
                  <a:ext uri="{FF2B5EF4-FFF2-40B4-BE49-F238E27FC236}">
                    <a16:creationId xmlns:a16="http://schemas.microsoft.com/office/drawing/2014/main" id="{D9012685-D599-45AA-8E2A-443F85AF5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103"/>
                <a:ext cx="6" cy="8"/>
              </a:xfrm>
              <a:custGeom>
                <a:avLst/>
                <a:gdLst>
                  <a:gd name="T0" fmla="*/ 0 w 119"/>
                  <a:gd name="T1" fmla="*/ 0 h 154"/>
                  <a:gd name="T2" fmla="*/ 0 w 119"/>
                  <a:gd name="T3" fmla="*/ 0 h 154"/>
                  <a:gd name="T4" fmla="*/ 0 w 119"/>
                  <a:gd name="T5" fmla="*/ 0 h 154"/>
                  <a:gd name="T6" fmla="*/ 0 w 119"/>
                  <a:gd name="T7" fmla="*/ 0 h 154"/>
                  <a:gd name="T8" fmla="*/ 0 w 119"/>
                  <a:gd name="T9" fmla="*/ 0 h 154"/>
                  <a:gd name="T10" fmla="*/ 0 w 119"/>
                  <a:gd name="T11" fmla="*/ 0 h 154"/>
                  <a:gd name="T12" fmla="*/ 0 w 119"/>
                  <a:gd name="T13" fmla="*/ 0 h 154"/>
                  <a:gd name="T14" fmla="*/ 0 w 119"/>
                  <a:gd name="T15" fmla="*/ 0 h 154"/>
                  <a:gd name="T16" fmla="*/ 0 w 119"/>
                  <a:gd name="T17" fmla="*/ 0 h 154"/>
                  <a:gd name="T18" fmla="*/ 0 w 119"/>
                  <a:gd name="T19" fmla="*/ 0 h 154"/>
                  <a:gd name="T20" fmla="*/ 0 w 119"/>
                  <a:gd name="T21" fmla="*/ 0 h 154"/>
                  <a:gd name="T22" fmla="*/ 0 w 119"/>
                  <a:gd name="T23" fmla="*/ 0 h 154"/>
                  <a:gd name="T24" fmla="*/ 0 w 119"/>
                  <a:gd name="T25" fmla="*/ 0 h 154"/>
                  <a:gd name="T26" fmla="*/ 0 w 119"/>
                  <a:gd name="T27" fmla="*/ 0 h 154"/>
                  <a:gd name="T28" fmla="*/ 0 w 119"/>
                  <a:gd name="T29" fmla="*/ 0 h 154"/>
                  <a:gd name="T30" fmla="*/ 0 w 119"/>
                  <a:gd name="T31" fmla="*/ 0 h 154"/>
                  <a:gd name="T32" fmla="*/ 0 w 119"/>
                  <a:gd name="T33" fmla="*/ 0 h 154"/>
                  <a:gd name="T34" fmla="*/ 0 w 119"/>
                  <a:gd name="T35" fmla="*/ 0 h 154"/>
                  <a:gd name="T36" fmla="*/ 0 w 119"/>
                  <a:gd name="T37" fmla="*/ 0 h 154"/>
                  <a:gd name="T38" fmla="*/ 0 w 119"/>
                  <a:gd name="T39" fmla="*/ 0 h 154"/>
                  <a:gd name="T40" fmla="*/ 0 w 119"/>
                  <a:gd name="T41" fmla="*/ 0 h 154"/>
                  <a:gd name="T42" fmla="*/ 0 w 119"/>
                  <a:gd name="T43" fmla="*/ 0 h 154"/>
                  <a:gd name="T44" fmla="*/ 0 w 119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9"/>
                  <a:gd name="T70" fmla="*/ 0 h 154"/>
                  <a:gd name="T71" fmla="*/ 119 w 119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9" h="154">
                    <a:moveTo>
                      <a:pt x="88" y="6"/>
                    </a:moveTo>
                    <a:lnTo>
                      <a:pt x="116" y="78"/>
                    </a:lnTo>
                    <a:lnTo>
                      <a:pt x="118" y="86"/>
                    </a:lnTo>
                    <a:lnTo>
                      <a:pt x="119" y="95"/>
                    </a:lnTo>
                    <a:lnTo>
                      <a:pt x="117" y="103"/>
                    </a:lnTo>
                    <a:lnTo>
                      <a:pt x="112" y="109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8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8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2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6" name="Freeform 281">
                <a:extLst>
                  <a:ext uri="{FF2B5EF4-FFF2-40B4-BE49-F238E27FC236}">
                    <a16:creationId xmlns:a16="http://schemas.microsoft.com/office/drawing/2014/main" id="{14087585-0C81-4202-A8EB-1B9D19031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3092"/>
                <a:ext cx="4" cy="6"/>
              </a:xfrm>
              <a:custGeom>
                <a:avLst/>
                <a:gdLst>
                  <a:gd name="T0" fmla="*/ 0 w 100"/>
                  <a:gd name="T1" fmla="*/ 0 h 104"/>
                  <a:gd name="T2" fmla="*/ 0 w 100"/>
                  <a:gd name="T3" fmla="*/ 0 h 104"/>
                  <a:gd name="T4" fmla="*/ 0 w 100"/>
                  <a:gd name="T5" fmla="*/ 0 h 104"/>
                  <a:gd name="T6" fmla="*/ 0 w 100"/>
                  <a:gd name="T7" fmla="*/ 0 h 104"/>
                  <a:gd name="T8" fmla="*/ 0 w 100"/>
                  <a:gd name="T9" fmla="*/ 0 h 104"/>
                  <a:gd name="T10" fmla="*/ 0 w 100"/>
                  <a:gd name="T11" fmla="*/ 0 h 104"/>
                  <a:gd name="T12" fmla="*/ 0 w 100"/>
                  <a:gd name="T13" fmla="*/ 0 h 104"/>
                  <a:gd name="T14" fmla="*/ 0 w 100"/>
                  <a:gd name="T15" fmla="*/ 0 h 104"/>
                  <a:gd name="T16" fmla="*/ 0 w 100"/>
                  <a:gd name="T17" fmla="*/ 0 h 104"/>
                  <a:gd name="T18" fmla="*/ 0 w 100"/>
                  <a:gd name="T19" fmla="*/ 0 h 104"/>
                  <a:gd name="T20" fmla="*/ 0 w 100"/>
                  <a:gd name="T21" fmla="*/ 0 h 104"/>
                  <a:gd name="T22" fmla="*/ 0 w 100"/>
                  <a:gd name="T23" fmla="*/ 0 h 104"/>
                  <a:gd name="T24" fmla="*/ 0 w 100"/>
                  <a:gd name="T25" fmla="*/ 0 h 104"/>
                  <a:gd name="T26" fmla="*/ 0 w 100"/>
                  <a:gd name="T27" fmla="*/ 0 h 104"/>
                  <a:gd name="T28" fmla="*/ 0 w 100"/>
                  <a:gd name="T29" fmla="*/ 0 h 104"/>
                  <a:gd name="T30" fmla="*/ 0 w 100"/>
                  <a:gd name="T31" fmla="*/ 0 h 104"/>
                  <a:gd name="T32" fmla="*/ 0 w 100"/>
                  <a:gd name="T33" fmla="*/ 0 h 104"/>
                  <a:gd name="T34" fmla="*/ 0 w 100"/>
                  <a:gd name="T35" fmla="*/ 0 h 104"/>
                  <a:gd name="T36" fmla="*/ 0 w 100"/>
                  <a:gd name="T37" fmla="*/ 0 h 104"/>
                  <a:gd name="T38" fmla="*/ 0 w 100"/>
                  <a:gd name="T39" fmla="*/ 0 h 104"/>
                  <a:gd name="T40" fmla="*/ 0 w 100"/>
                  <a:gd name="T41" fmla="*/ 0 h 104"/>
                  <a:gd name="T42" fmla="*/ 0 w 100"/>
                  <a:gd name="T43" fmla="*/ 0 h 104"/>
                  <a:gd name="T44" fmla="*/ 0 w 100"/>
                  <a:gd name="T45" fmla="*/ 0 h 104"/>
                  <a:gd name="T46" fmla="*/ 0 w 100"/>
                  <a:gd name="T47" fmla="*/ 0 h 104"/>
                  <a:gd name="T48" fmla="*/ 0 w 100"/>
                  <a:gd name="T49" fmla="*/ 0 h 104"/>
                  <a:gd name="T50" fmla="*/ 0 w 100"/>
                  <a:gd name="T51" fmla="*/ 0 h 104"/>
                  <a:gd name="T52" fmla="*/ 0 w 100"/>
                  <a:gd name="T53" fmla="*/ 0 h 104"/>
                  <a:gd name="T54" fmla="*/ 0 w 100"/>
                  <a:gd name="T55" fmla="*/ 0 h 104"/>
                  <a:gd name="T56" fmla="*/ 0 w 100"/>
                  <a:gd name="T57" fmla="*/ 0 h 104"/>
                  <a:gd name="T58" fmla="*/ 0 w 100"/>
                  <a:gd name="T59" fmla="*/ 0 h 104"/>
                  <a:gd name="T60" fmla="*/ 0 w 100"/>
                  <a:gd name="T61" fmla="*/ 0 h 104"/>
                  <a:gd name="T62" fmla="*/ 0 w 100"/>
                  <a:gd name="T63" fmla="*/ 0 h 104"/>
                  <a:gd name="T64" fmla="*/ 0 w 100"/>
                  <a:gd name="T65" fmla="*/ 0 h 10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4"/>
                  <a:gd name="T101" fmla="*/ 100 w 100"/>
                  <a:gd name="T102" fmla="*/ 104 h 10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4">
                    <a:moveTo>
                      <a:pt x="50" y="104"/>
                    </a:moveTo>
                    <a:lnTo>
                      <a:pt x="40" y="103"/>
                    </a:lnTo>
                    <a:lnTo>
                      <a:pt x="31" y="99"/>
                    </a:lnTo>
                    <a:lnTo>
                      <a:pt x="23" y="95"/>
                    </a:lnTo>
                    <a:lnTo>
                      <a:pt x="15" y="89"/>
                    </a:lnTo>
                    <a:lnTo>
                      <a:pt x="8" y="80"/>
                    </a:lnTo>
                    <a:lnTo>
                      <a:pt x="4" y="72"/>
                    </a:lnTo>
                    <a:lnTo>
                      <a:pt x="1" y="62"/>
                    </a:lnTo>
                    <a:lnTo>
                      <a:pt x="0" y="52"/>
                    </a:lnTo>
                    <a:lnTo>
                      <a:pt x="1" y="41"/>
                    </a:lnTo>
                    <a:lnTo>
                      <a:pt x="4" y="32"/>
                    </a:lnTo>
                    <a:lnTo>
                      <a:pt x="8" y="23"/>
                    </a:lnTo>
                    <a:lnTo>
                      <a:pt x="15" y="15"/>
                    </a:lnTo>
                    <a:lnTo>
                      <a:pt x="23" y="9"/>
                    </a:lnTo>
                    <a:lnTo>
                      <a:pt x="31" y="5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70" y="5"/>
                    </a:lnTo>
                    <a:lnTo>
                      <a:pt x="78" y="9"/>
                    </a:lnTo>
                    <a:lnTo>
                      <a:pt x="86" y="15"/>
                    </a:lnTo>
                    <a:lnTo>
                      <a:pt x="92" y="23"/>
                    </a:lnTo>
                    <a:lnTo>
                      <a:pt x="96" y="32"/>
                    </a:lnTo>
                    <a:lnTo>
                      <a:pt x="99" y="41"/>
                    </a:lnTo>
                    <a:lnTo>
                      <a:pt x="100" y="52"/>
                    </a:lnTo>
                    <a:lnTo>
                      <a:pt x="99" y="62"/>
                    </a:lnTo>
                    <a:lnTo>
                      <a:pt x="96" y="72"/>
                    </a:lnTo>
                    <a:lnTo>
                      <a:pt x="92" y="80"/>
                    </a:lnTo>
                    <a:lnTo>
                      <a:pt x="86" y="89"/>
                    </a:lnTo>
                    <a:lnTo>
                      <a:pt x="78" y="95"/>
                    </a:lnTo>
                    <a:lnTo>
                      <a:pt x="70" y="99"/>
                    </a:lnTo>
                    <a:lnTo>
                      <a:pt x="60" y="103"/>
                    </a:lnTo>
                    <a:lnTo>
                      <a:pt x="50" y="104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7" name="Freeform 282">
                <a:extLst>
                  <a:ext uri="{FF2B5EF4-FFF2-40B4-BE49-F238E27FC236}">
                    <a16:creationId xmlns:a16="http://schemas.microsoft.com/office/drawing/2014/main" id="{B30B3238-C694-48DB-B71F-63057FBAB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131"/>
                <a:ext cx="5" cy="5"/>
              </a:xfrm>
              <a:custGeom>
                <a:avLst/>
                <a:gdLst>
                  <a:gd name="T0" fmla="*/ 0 w 100"/>
                  <a:gd name="T1" fmla="*/ 0 h 103"/>
                  <a:gd name="T2" fmla="*/ 0 w 100"/>
                  <a:gd name="T3" fmla="*/ 0 h 103"/>
                  <a:gd name="T4" fmla="*/ 0 w 100"/>
                  <a:gd name="T5" fmla="*/ 0 h 103"/>
                  <a:gd name="T6" fmla="*/ 0 w 100"/>
                  <a:gd name="T7" fmla="*/ 0 h 103"/>
                  <a:gd name="T8" fmla="*/ 0 w 100"/>
                  <a:gd name="T9" fmla="*/ 0 h 103"/>
                  <a:gd name="T10" fmla="*/ 0 w 100"/>
                  <a:gd name="T11" fmla="*/ 0 h 103"/>
                  <a:gd name="T12" fmla="*/ 0 w 100"/>
                  <a:gd name="T13" fmla="*/ 0 h 103"/>
                  <a:gd name="T14" fmla="*/ 0 w 100"/>
                  <a:gd name="T15" fmla="*/ 0 h 103"/>
                  <a:gd name="T16" fmla="*/ 0 w 100"/>
                  <a:gd name="T17" fmla="*/ 0 h 103"/>
                  <a:gd name="T18" fmla="*/ 0 w 100"/>
                  <a:gd name="T19" fmla="*/ 0 h 103"/>
                  <a:gd name="T20" fmla="*/ 0 w 100"/>
                  <a:gd name="T21" fmla="*/ 0 h 103"/>
                  <a:gd name="T22" fmla="*/ 0 w 100"/>
                  <a:gd name="T23" fmla="*/ 0 h 103"/>
                  <a:gd name="T24" fmla="*/ 0 w 100"/>
                  <a:gd name="T25" fmla="*/ 0 h 103"/>
                  <a:gd name="T26" fmla="*/ 0 w 100"/>
                  <a:gd name="T27" fmla="*/ 0 h 103"/>
                  <a:gd name="T28" fmla="*/ 0 w 100"/>
                  <a:gd name="T29" fmla="*/ 0 h 103"/>
                  <a:gd name="T30" fmla="*/ 0 w 100"/>
                  <a:gd name="T31" fmla="*/ 0 h 103"/>
                  <a:gd name="T32" fmla="*/ 0 w 100"/>
                  <a:gd name="T33" fmla="*/ 0 h 103"/>
                  <a:gd name="T34" fmla="*/ 0 w 100"/>
                  <a:gd name="T35" fmla="*/ 0 h 103"/>
                  <a:gd name="T36" fmla="*/ 0 w 100"/>
                  <a:gd name="T37" fmla="*/ 0 h 103"/>
                  <a:gd name="T38" fmla="*/ 0 w 100"/>
                  <a:gd name="T39" fmla="*/ 0 h 103"/>
                  <a:gd name="T40" fmla="*/ 0 w 100"/>
                  <a:gd name="T41" fmla="*/ 0 h 103"/>
                  <a:gd name="T42" fmla="*/ 0 w 100"/>
                  <a:gd name="T43" fmla="*/ 0 h 103"/>
                  <a:gd name="T44" fmla="*/ 0 w 100"/>
                  <a:gd name="T45" fmla="*/ 0 h 103"/>
                  <a:gd name="T46" fmla="*/ 0 w 100"/>
                  <a:gd name="T47" fmla="*/ 0 h 103"/>
                  <a:gd name="T48" fmla="*/ 0 w 100"/>
                  <a:gd name="T49" fmla="*/ 0 h 103"/>
                  <a:gd name="T50" fmla="*/ 0 w 100"/>
                  <a:gd name="T51" fmla="*/ 0 h 103"/>
                  <a:gd name="T52" fmla="*/ 0 w 100"/>
                  <a:gd name="T53" fmla="*/ 0 h 103"/>
                  <a:gd name="T54" fmla="*/ 0 w 100"/>
                  <a:gd name="T55" fmla="*/ 0 h 103"/>
                  <a:gd name="T56" fmla="*/ 0 w 100"/>
                  <a:gd name="T57" fmla="*/ 0 h 103"/>
                  <a:gd name="T58" fmla="*/ 0 w 100"/>
                  <a:gd name="T59" fmla="*/ 0 h 103"/>
                  <a:gd name="T60" fmla="*/ 0 w 100"/>
                  <a:gd name="T61" fmla="*/ 0 h 103"/>
                  <a:gd name="T62" fmla="*/ 0 w 100"/>
                  <a:gd name="T63" fmla="*/ 0 h 103"/>
                  <a:gd name="T64" fmla="*/ 0 w 100"/>
                  <a:gd name="T65" fmla="*/ 0 h 1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3"/>
                  <a:gd name="T101" fmla="*/ 100 w 100"/>
                  <a:gd name="T102" fmla="*/ 103 h 10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3">
                    <a:moveTo>
                      <a:pt x="50" y="103"/>
                    </a:moveTo>
                    <a:lnTo>
                      <a:pt x="39" y="102"/>
                    </a:lnTo>
                    <a:lnTo>
                      <a:pt x="30" y="99"/>
                    </a:lnTo>
                    <a:lnTo>
                      <a:pt x="22" y="95"/>
                    </a:lnTo>
                    <a:lnTo>
                      <a:pt x="14" y="88"/>
                    </a:lnTo>
                    <a:lnTo>
                      <a:pt x="8" y="80"/>
                    </a:lnTo>
                    <a:lnTo>
                      <a:pt x="4" y="71"/>
                    </a:lnTo>
                    <a:lnTo>
                      <a:pt x="1" y="62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4" y="31"/>
                    </a:lnTo>
                    <a:lnTo>
                      <a:pt x="8" y="23"/>
                    </a:lnTo>
                    <a:lnTo>
                      <a:pt x="14" y="15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39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69" y="4"/>
                    </a:lnTo>
                    <a:lnTo>
                      <a:pt x="77" y="8"/>
                    </a:lnTo>
                    <a:lnTo>
                      <a:pt x="85" y="15"/>
                    </a:lnTo>
                    <a:lnTo>
                      <a:pt x="91" y="23"/>
                    </a:lnTo>
                    <a:lnTo>
                      <a:pt x="96" y="31"/>
                    </a:lnTo>
                    <a:lnTo>
                      <a:pt x="99" y="41"/>
                    </a:lnTo>
                    <a:lnTo>
                      <a:pt x="100" y="51"/>
                    </a:lnTo>
                    <a:lnTo>
                      <a:pt x="99" y="62"/>
                    </a:lnTo>
                    <a:lnTo>
                      <a:pt x="96" y="71"/>
                    </a:lnTo>
                    <a:lnTo>
                      <a:pt x="91" y="80"/>
                    </a:lnTo>
                    <a:lnTo>
                      <a:pt x="85" y="88"/>
                    </a:lnTo>
                    <a:lnTo>
                      <a:pt x="77" y="95"/>
                    </a:lnTo>
                    <a:lnTo>
                      <a:pt x="69" y="99"/>
                    </a:lnTo>
                    <a:lnTo>
                      <a:pt x="60" y="102"/>
                    </a:lnTo>
                    <a:lnTo>
                      <a:pt x="50" y="10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8" name="Freeform 283">
                <a:extLst>
                  <a:ext uri="{FF2B5EF4-FFF2-40B4-BE49-F238E27FC236}">
                    <a16:creationId xmlns:a16="http://schemas.microsoft.com/office/drawing/2014/main" id="{22ED54FD-8266-4E7C-8C65-B5DDDDC01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094"/>
                <a:ext cx="2" cy="3"/>
              </a:xfrm>
              <a:custGeom>
                <a:avLst/>
                <a:gdLst>
                  <a:gd name="T0" fmla="*/ 0 w 55"/>
                  <a:gd name="T1" fmla="*/ 0 h 57"/>
                  <a:gd name="T2" fmla="*/ 0 w 55"/>
                  <a:gd name="T3" fmla="*/ 0 h 57"/>
                  <a:gd name="T4" fmla="*/ 0 w 55"/>
                  <a:gd name="T5" fmla="*/ 0 h 57"/>
                  <a:gd name="T6" fmla="*/ 0 w 55"/>
                  <a:gd name="T7" fmla="*/ 0 h 57"/>
                  <a:gd name="T8" fmla="*/ 0 w 55"/>
                  <a:gd name="T9" fmla="*/ 0 h 57"/>
                  <a:gd name="T10" fmla="*/ 0 w 55"/>
                  <a:gd name="T11" fmla="*/ 0 h 57"/>
                  <a:gd name="T12" fmla="*/ 0 w 55"/>
                  <a:gd name="T13" fmla="*/ 0 h 57"/>
                  <a:gd name="T14" fmla="*/ 0 w 55"/>
                  <a:gd name="T15" fmla="*/ 0 h 57"/>
                  <a:gd name="T16" fmla="*/ 0 w 55"/>
                  <a:gd name="T17" fmla="*/ 0 h 57"/>
                  <a:gd name="T18" fmla="*/ 0 w 55"/>
                  <a:gd name="T19" fmla="*/ 0 h 57"/>
                  <a:gd name="T20" fmla="*/ 0 w 55"/>
                  <a:gd name="T21" fmla="*/ 0 h 57"/>
                  <a:gd name="T22" fmla="*/ 0 w 55"/>
                  <a:gd name="T23" fmla="*/ 0 h 57"/>
                  <a:gd name="T24" fmla="*/ 0 w 55"/>
                  <a:gd name="T25" fmla="*/ 0 h 57"/>
                  <a:gd name="T26" fmla="*/ 0 w 55"/>
                  <a:gd name="T27" fmla="*/ 0 h 57"/>
                  <a:gd name="T28" fmla="*/ 0 w 55"/>
                  <a:gd name="T29" fmla="*/ 0 h 57"/>
                  <a:gd name="T30" fmla="*/ 0 w 55"/>
                  <a:gd name="T31" fmla="*/ 0 h 57"/>
                  <a:gd name="T32" fmla="*/ 0 w 55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7"/>
                  <a:gd name="T53" fmla="*/ 55 w 55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7">
                    <a:moveTo>
                      <a:pt x="28" y="57"/>
                    </a:moveTo>
                    <a:lnTo>
                      <a:pt x="16" y="55"/>
                    </a:lnTo>
                    <a:lnTo>
                      <a:pt x="8" y="49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7"/>
                    </a:lnTo>
                    <a:lnTo>
                      <a:pt x="8" y="8"/>
                    </a:lnTo>
                    <a:lnTo>
                      <a:pt x="16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7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9"/>
                    </a:lnTo>
                    <a:lnTo>
                      <a:pt x="39" y="55"/>
                    </a:lnTo>
                    <a:lnTo>
                      <a:pt x="28" y="57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09" name="Freeform 284">
                <a:extLst>
                  <a:ext uri="{FF2B5EF4-FFF2-40B4-BE49-F238E27FC236}">
                    <a16:creationId xmlns:a16="http://schemas.microsoft.com/office/drawing/2014/main" id="{C9326DA6-AD0D-41D4-8CC0-25D7844193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133"/>
                <a:ext cx="2" cy="3"/>
              </a:xfrm>
              <a:custGeom>
                <a:avLst/>
                <a:gdLst>
                  <a:gd name="T0" fmla="*/ 0 w 55"/>
                  <a:gd name="T1" fmla="*/ 0 h 56"/>
                  <a:gd name="T2" fmla="*/ 0 w 55"/>
                  <a:gd name="T3" fmla="*/ 0 h 56"/>
                  <a:gd name="T4" fmla="*/ 0 w 55"/>
                  <a:gd name="T5" fmla="*/ 0 h 56"/>
                  <a:gd name="T6" fmla="*/ 0 w 55"/>
                  <a:gd name="T7" fmla="*/ 0 h 56"/>
                  <a:gd name="T8" fmla="*/ 0 w 55"/>
                  <a:gd name="T9" fmla="*/ 0 h 56"/>
                  <a:gd name="T10" fmla="*/ 0 w 55"/>
                  <a:gd name="T11" fmla="*/ 0 h 56"/>
                  <a:gd name="T12" fmla="*/ 0 w 55"/>
                  <a:gd name="T13" fmla="*/ 0 h 56"/>
                  <a:gd name="T14" fmla="*/ 0 w 55"/>
                  <a:gd name="T15" fmla="*/ 0 h 56"/>
                  <a:gd name="T16" fmla="*/ 0 w 55"/>
                  <a:gd name="T17" fmla="*/ 0 h 56"/>
                  <a:gd name="T18" fmla="*/ 0 w 55"/>
                  <a:gd name="T19" fmla="*/ 0 h 56"/>
                  <a:gd name="T20" fmla="*/ 0 w 55"/>
                  <a:gd name="T21" fmla="*/ 0 h 56"/>
                  <a:gd name="T22" fmla="*/ 0 w 55"/>
                  <a:gd name="T23" fmla="*/ 0 h 56"/>
                  <a:gd name="T24" fmla="*/ 0 w 55"/>
                  <a:gd name="T25" fmla="*/ 0 h 56"/>
                  <a:gd name="T26" fmla="*/ 0 w 55"/>
                  <a:gd name="T27" fmla="*/ 0 h 56"/>
                  <a:gd name="T28" fmla="*/ 0 w 55"/>
                  <a:gd name="T29" fmla="*/ 0 h 56"/>
                  <a:gd name="T30" fmla="*/ 0 w 55"/>
                  <a:gd name="T31" fmla="*/ 0 h 56"/>
                  <a:gd name="T32" fmla="*/ 0 w 55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6"/>
                  <a:gd name="T53" fmla="*/ 55 w 55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6">
                    <a:moveTo>
                      <a:pt x="28" y="56"/>
                    </a:moveTo>
                    <a:lnTo>
                      <a:pt x="17" y="54"/>
                    </a:lnTo>
                    <a:lnTo>
                      <a:pt x="9" y="48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6"/>
                    </a:lnTo>
                    <a:lnTo>
                      <a:pt x="9" y="8"/>
                    </a:lnTo>
                    <a:lnTo>
                      <a:pt x="17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6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8"/>
                    </a:lnTo>
                    <a:lnTo>
                      <a:pt x="39" y="54"/>
                    </a:lnTo>
                    <a:lnTo>
                      <a:pt x="28" y="5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0" name="Freeform 285">
                <a:extLst>
                  <a:ext uri="{FF2B5EF4-FFF2-40B4-BE49-F238E27FC236}">
                    <a16:creationId xmlns:a16="http://schemas.microsoft.com/office/drawing/2014/main" id="{AEEC7F69-3949-400D-A3B0-78B78BCC3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076"/>
                <a:ext cx="29" cy="29"/>
              </a:xfrm>
              <a:custGeom>
                <a:avLst/>
                <a:gdLst>
                  <a:gd name="T0" fmla="*/ 0 w 624"/>
                  <a:gd name="T1" fmla="*/ 0 h 522"/>
                  <a:gd name="T2" fmla="*/ 0 w 624"/>
                  <a:gd name="T3" fmla="*/ 0 h 522"/>
                  <a:gd name="T4" fmla="*/ 0 w 624"/>
                  <a:gd name="T5" fmla="*/ 0 h 522"/>
                  <a:gd name="T6" fmla="*/ 0 w 624"/>
                  <a:gd name="T7" fmla="*/ 0 h 522"/>
                  <a:gd name="T8" fmla="*/ 0 w 624"/>
                  <a:gd name="T9" fmla="*/ 0 h 5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522"/>
                  <a:gd name="T17" fmla="*/ 624 w 624"/>
                  <a:gd name="T18" fmla="*/ 522 h 5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522">
                    <a:moveTo>
                      <a:pt x="498" y="0"/>
                    </a:moveTo>
                    <a:lnTo>
                      <a:pt x="0" y="222"/>
                    </a:lnTo>
                    <a:lnTo>
                      <a:pt x="125" y="522"/>
                    </a:lnTo>
                    <a:lnTo>
                      <a:pt x="624" y="301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1" name="Freeform 286">
                <a:extLst>
                  <a:ext uri="{FF2B5EF4-FFF2-40B4-BE49-F238E27FC236}">
                    <a16:creationId xmlns:a16="http://schemas.microsoft.com/office/drawing/2014/main" id="{99096C09-DAFB-4C0D-851B-E57441218A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7"/>
                <a:ext cx="27" cy="27"/>
              </a:xfrm>
              <a:custGeom>
                <a:avLst/>
                <a:gdLst>
                  <a:gd name="T0" fmla="*/ 0 w 589"/>
                  <a:gd name="T1" fmla="*/ 0 h 484"/>
                  <a:gd name="T2" fmla="*/ 0 w 589"/>
                  <a:gd name="T3" fmla="*/ 0 h 484"/>
                  <a:gd name="T4" fmla="*/ 0 w 589"/>
                  <a:gd name="T5" fmla="*/ 0 h 484"/>
                  <a:gd name="T6" fmla="*/ 0 w 589"/>
                  <a:gd name="T7" fmla="*/ 0 h 484"/>
                  <a:gd name="T8" fmla="*/ 0 w 589"/>
                  <a:gd name="T9" fmla="*/ 0 h 4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84"/>
                  <a:gd name="T17" fmla="*/ 589 w 589"/>
                  <a:gd name="T18" fmla="*/ 484 h 4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84">
                    <a:moveTo>
                      <a:pt x="474" y="0"/>
                    </a:moveTo>
                    <a:lnTo>
                      <a:pt x="0" y="211"/>
                    </a:lnTo>
                    <a:lnTo>
                      <a:pt x="114" y="484"/>
                    </a:lnTo>
                    <a:lnTo>
                      <a:pt x="589" y="27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2" name="Freeform 287">
                <a:extLst>
                  <a:ext uri="{FF2B5EF4-FFF2-40B4-BE49-F238E27FC236}">
                    <a16:creationId xmlns:a16="http://schemas.microsoft.com/office/drawing/2014/main" id="{1E4C1A02-B6A8-4BF7-9459-5C0412A54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8"/>
                <a:ext cx="27" cy="26"/>
              </a:xfrm>
              <a:custGeom>
                <a:avLst/>
                <a:gdLst>
                  <a:gd name="T0" fmla="*/ 0 w 583"/>
                  <a:gd name="T1" fmla="*/ 0 h 471"/>
                  <a:gd name="T2" fmla="*/ 0 w 583"/>
                  <a:gd name="T3" fmla="*/ 0 h 471"/>
                  <a:gd name="T4" fmla="*/ 0 w 583"/>
                  <a:gd name="T5" fmla="*/ 0 h 471"/>
                  <a:gd name="T6" fmla="*/ 0 w 583"/>
                  <a:gd name="T7" fmla="*/ 0 h 471"/>
                  <a:gd name="T8" fmla="*/ 0 w 583"/>
                  <a:gd name="T9" fmla="*/ 0 h 4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471"/>
                  <a:gd name="T17" fmla="*/ 583 w 583"/>
                  <a:gd name="T18" fmla="*/ 471 h 4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471">
                    <a:moveTo>
                      <a:pt x="473" y="0"/>
                    </a:moveTo>
                    <a:lnTo>
                      <a:pt x="0" y="211"/>
                    </a:lnTo>
                    <a:lnTo>
                      <a:pt x="108" y="471"/>
                    </a:lnTo>
                    <a:lnTo>
                      <a:pt x="583" y="260"/>
                    </a:lnTo>
                    <a:lnTo>
                      <a:pt x="473" y="0"/>
                    </a:lnTo>
                    <a:close/>
                  </a:path>
                </a:pathLst>
              </a:custGeom>
              <a:solidFill>
                <a:srgbClr val="87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3" name="Freeform 288">
                <a:extLst>
                  <a:ext uri="{FF2B5EF4-FFF2-40B4-BE49-F238E27FC236}">
                    <a16:creationId xmlns:a16="http://schemas.microsoft.com/office/drawing/2014/main" id="{10CF9DE9-8013-4425-82B1-BD8419EED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3"/>
              </a:xfrm>
              <a:custGeom>
                <a:avLst/>
                <a:gdLst>
                  <a:gd name="T0" fmla="*/ 0 w 227"/>
                  <a:gd name="T1" fmla="*/ 0 h 234"/>
                  <a:gd name="T2" fmla="*/ 0 w 227"/>
                  <a:gd name="T3" fmla="*/ 0 h 234"/>
                  <a:gd name="T4" fmla="*/ 0 w 227"/>
                  <a:gd name="T5" fmla="*/ 0 h 234"/>
                  <a:gd name="T6" fmla="*/ 0 w 227"/>
                  <a:gd name="T7" fmla="*/ 0 h 234"/>
                  <a:gd name="T8" fmla="*/ 0 w 227"/>
                  <a:gd name="T9" fmla="*/ 0 h 234"/>
                  <a:gd name="T10" fmla="*/ 0 w 227"/>
                  <a:gd name="T11" fmla="*/ 0 h 234"/>
                  <a:gd name="T12" fmla="*/ 0 w 227"/>
                  <a:gd name="T13" fmla="*/ 0 h 234"/>
                  <a:gd name="T14" fmla="*/ 0 w 227"/>
                  <a:gd name="T15" fmla="*/ 0 h 234"/>
                  <a:gd name="T16" fmla="*/ 0 w 227"/>
                  <a:gd name="T17" fmla="*/ 0 h 234"/>
                  <a:gd name="T18" fmla="*/ 0 w 227"/>
                  <a:gd name="T19" fmla="*/ 0 h 234"/>
                  <a:gd name="T20" fmla="*/ 0 w 227"/>
                  <a:gd name="T21" fmla="*/ 0 h 234"/>
                  <a:gd name="T22" fmla="*/ 0 w 227"/>
                  <a:gd name="T23" fmla="*/ 0 h 234"/>
                  <a:gd name="T24" fmla="*/ 0 w 227"/>
                  <a:gd name="T25" fmla="*/ 0 h 234"/>
                  <a:gd name="T26" fmla="*/ 0 w 227"/>
                  <a:gd name="T27" fmla="*/ 0 h 234"/>
                  <a:gd name="T28" fmla="*/ 0 w 227"/>
                  <a:gd name="T29" fmla="*/ 0 h 234"/>
                  <a:gd name="T30" fmla="*/ 0 w 227"/>
                  <a:gd name="T31" fmla="*/ 0 h 234"/>
                  <a:gd name="T32" fmla="*/ 0 w 227"/>
                  <a:gd name="T33" fmla="*/ 0 h 234"/>
                  <a:gd name="T34" fmla="*/ 0 w 227"/>
                  <a:gd name="T35" fmla="*/ 0 h 234"/>
                  <a:gd name="T36" fmla="*/ 0 w 227"/>
                  <a:gd name="T37" fmla="*/ 0 h 234"/>
                  <a:gd name="T38" fmla="*/ 0 w 227"/>
                  <a:gd name="T39" fmla="*/ 0 h 234"/>
                  <a:gd name="T40" fmla="*/ 0 w 227"/>
                  <a:gd name="T41" fmla="*/ 0 h 234"/>
                  <a:gd name="T42" fmla="*/ 0 w 227"/>
                  <a:gd name="T43" fmla="*/ 0 h 234"/>
                  <a:gd name="T44" fmla="*/ 0 w 227"/>
                  <a:gd name="T45" fmla="*/ 0 h 234"/>
                  <a:gd name="T46" fmla="*/ 0 w 227"/>
                  <a:gd name="T47" fmla="*/ 0 h 234"/>
                  <a:gd name="T48" fmla="*/ 0 w 227"/>
                  <a:gd name="T49" fmla="*/ 0 h 234"/>
                  <a:gd name="T50" fmla="*/ 0 w 227"/>
                  <a:gd name="T51" fmla="*/ 0 h 234"/>
                  <a:gd name="T52" fmla="*/ 0 w 227"/>
                  <a:gd name="T53" fmla="*/ 0 h 234"/>
                  <a:gd name="T54" fmla="*/ 0 w 227"/>
                  <a:gd name="T55" fmla="*/ 0 h 234"/>
                  <a:gd name="T56" fmla="*/ 0 w 227"/>
                  <a:gd name="T57" fmla="*/ 0 h 234"/>
                  <a:gd name="T58" fmla="*/ 0 w 227"/>
                  <a:gd name="T59" fmla="*/ 0 h 234"/>
                  <a:gd name="T60" fmla="*/ 0 w 227"/>
                  <a:gd name="T61" fmla="*/ 0 h 234"/>
                  <a:gd name="T62" fmla="*/ 0 w 227"/>
                  <a:gd name="T63" fmla="*/ 0 h 234"/>
                  <a:gd name="T64" fmla="*/ 0 w 227"/>
                  <a:gd name="T65" fmla="*/ 0 h 23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"/>
                  <a:gd name="T100" fmla="*/ 0 h 234"/>
                  <a:gd name="T101" fmla="*/ 227 w 227"/>
                  <a:gd name="T102" fmla="*/ 234 h 23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" h="234">
                    <a:moveTo>
                      <a:pt x="159" y="223"/>
                    </a:moveTo>
                    <a:lnTo>
                      <a:pt x="137" y="231"/>
                    </a:lnTo>
                    <a:lnTo>
                      <a:pt x="115" y="234"/>
                    </a:lnTo>
                    <a:lnTo>
                      <a:pt x="93" y="232"/>
                    </a:lnTo>
                    <a:lnTo>
                      <a:pt x="73" y="225"/>
                    </a:lnTo>
                    <a:lnTo>
                      <a:pt x="54" y="215"/>
                    </a:lnTo>
                    <a:lnTo>
                      <a:pt x="36" y="201"/>
                    </a:lnTo>
                    <a:lnTo>
                      <a:pt x="22" y="184"/>
                    </a:lnTo>
                    <a:lnTo>
                      <a:pt x="11" y="163"/>
                    </a:lnTo>
                    <a:lnTo>
                      <a:pt x="4" y="141"/>
                    </a:lnTo>
                    <a:lnTo>
                      <a:pt x="0" y="118"/>
                    </a:lnTo>
                    <a:lnTo>
                      <a:pt x="3" y="96"/>
                    </a:lnTo>
                    <a:lnTo>
                      <a:pt x="9" y="74"/>
                    </a:lnTo>
                    <a:lnTo>
                      <a:pt x="19" y="55"/>
                    </a:lnTo>
                    <a:lnTo>
                      <a:pt x="32" y="37"/>
                    </a:lnTo>
                    <a:lnTo>
                      <a:pt x="48" y="22"/>
                    </a:lnTo>
                    <a:lnTo>
                      <a:pt x="69" y="10"/>
                    </a:lnTo>
                    <a:lnTo>
                      <a:pt x="90" y="3"/>
                    </a:lnTo>
                    <a:lnTo>
                      <a:pt x="113" y="0"/>
                    </a:lnTo>
                    <a:lnTo>
                      <a:pt x="134" y="2"/>
                    </a:lnTo>
                    <a:lnTo>
                      <a:pt x="156" y="8"/>
                    </a:lnTo>
                    <a:lnTo>
                      <a:pt x="174" y="19"/>
                    </a:lnTo>
                    <a:lnTo>
                      <a:pt x="191" y="32"/>
                    </a:lnTo>
                    <a:lnTo>
                      <a:pt x="206" y="49"/>
                    </a:lnTo>
                    <a:lnTo>
                      <a:pt x="217" y="70"/>
                    </a:lnTo>
                    <a:lnTo>
                      <a:pt x="224" y="93"/>
                    </a:lnTo>
                    <a:lnTo>
                      <a:pt x="227" y="116"/>
                    </a:lnTo>
                    <a:lnTo>
                      <a:pt x="225" y="138"/>
                    </a:lnTo>
                    <a:lnTo>
                      <a:pt x="219" y="159"/>
                    </a:lnTo>
                    <a:lnTo>
                      <a:pt x="209" y="179"/>
                    </a:lnTo>
                    <a:lnTo>
                      <a:pt x="195" y="197"/>
                    </a:lnTo>
                    <a:lnTo>
                      <a:pt x="179" y="212"/>
                    </a:lnTo>
                    <a:lnTo>
                      <a:pt x="159" y="223"/>
                    </a:lnTo>
                    <a:close/>
                  </a:path>
                </a:pathLst>
              </a:custGeom>
              <a:solidFill>
                <a:srgbClr val="E333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4" name="Freeform 289">
                <a:extLst>
                  <a:ext uri="{FF2B5EF4-FFF2-40B4-BE49-F238E27FC236}">
                    <a16:creationId xmlns:a16="http://schemas.microsoft.com/office/drawing/2014/main" id="{CE18458F-E4D7-46CA-9631-5AD23C5C9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2"/>
              </a:xfrm>
              <a:custGeom>
                <a:avLst/>
                <a:gdLst>
                  <a:gd name="T0" fmla="*/ 0 w 208"/>
                  <a:gd name="T1" fmla="*/ 0 h 214"/>
                  <a:gd name="T2" fmla="*/ 0 w 208"/>
                  <a:gd name="T3" fmla="*/ 0 h 214"/>
                  <a:gd name="T4" fmla="*/ 0 w 208"/>
                  <a:gd name="T5" fmla="*/ 0 h 214"/>
                  <a:gd name="T6" fmla="*/ 0 w 208"/>
                  <a:gd name="T7" fmla="*/ 0 h 214"/>
                  <a:gd name="T8" fmla="*/ 0 w 208"/>
                  <a:gd name="T9" fmla="*/ 0 h 214"/>
                  <a:gd name="T10" fmla="*/ 0 w 208"/>
                  <a:gd name="T11" fmla="*/ 0 h 214"/>
                  <a:gd name="T12" fmla="*/ 0 w 208"/>
                  <a:gd name="T13" fmla="*/ 0 h 214"/>
                  <a:gd name="T14" fmla="*/ 0 w 208"/>
                  <a:gd name="T15" fmla="*/ 0 h 214"/>
                  <a:gd name="T16" fmla="*/ 0 w 208"/>
                  <a:gd name="T17" fmla="*/ 0 h 214"/>
                  <a:gd name="T18" fmla="*/ 0 w 208"/>
                  <a:gd name="T19" fmla="*/ 0 h 214"/>
                  <a:gd name="T20" fmla="*/ 0 w 208"/>
                  <a:gd name="T21" fmla="*/ 0 h 214"/>
                  <a:gd name="T22" fmla="*/ 0 w 208"/>
                  <a:gd name="T23" fmla="*/ 0 h 214"/>
                  <a:gd name="T24" fmla="*/ 0 w 208"/>
                  <a:gd name="T25" fmla="*/ 0 h 214"/>
                  <a:gd name="T26" fmla="*/ 0 w 208"/>
                  <a:gd name="T27" fmla="*/ 0 h 214"/>
                  <a:gd name="T28" fmla="*/ 0 w 208"/>
                  <a:gd name="T29" fmla="*/ 0 h 214"/>
                  <a:gd name="T30" fmla="*/ 0 w 208"/>
                  <a:gd name="T31" fmla="*/ 0 h 214"/>
                  <a:gd name="T32" fmla="*/ 0 w 208"/>
                  <a:gd name="T33" fmla="*/ 0 h 214"/>
                  <a:gd name="T34" fmla="*/ 0 w 208"/>
                  <a:gd name="T35" fmla="*/ 0 h 214"/>
                  <a:gd name="T36" fmla="*/ 0 w 208"/>
                  <a:gd name="T37" fmla="*/ 0 h 214"/>
                  <a:gd name="T38" fmla="*/ 0 w 208"/>
                  <a:gd name="T39" fmla="*/ 0 h 214"/>
                  <a:gd name="T40" fmla="*/ 0 w 208"/>
                  <a:gd name="T41" fmla="*/ 0 h 214"/>
                  <a:gd name="T42" fmla="*/ 0 w 208"/>
                  <a:gd name="T43" fmla="*/ 0 h 214"/>
                  <a:gd name="T44" fmla="*/ 0 w 208"/>
                  <a:gd name="T45" fmla="*/ 0 h 214"/>
                  <a:gd name="T46" fmla="*/ 0 w 208"/>
                  <a:gd name="T47" fmla="*/ 0 h 214"/>
                  <a:gd name="T48" fmla="*/ 0 w 208"/>
                  <a:gd name="T49" fmla="*/ 0 h 214"/>
                  <a:gd name="T50" fmla="*/ 0 w 208"/>
                  <a:gd name="T51" fmla="*/ 0 h 214"/>
                  <a:gd name="T52" fmla="*/ 0 w 208"/>
                  <a:gd name="T53" fmla="*/ 0 h 214"/>
                  <a:gd name="T54" fmla="*/ 0 w 208"/>
                  <a:gd name="T55" fmla="*/ 0 h 214"/>
                  <a:gd name="T56" fmla="*/ 0 w 208"/>
                  <a:gd name="T57" fmla="*/ 0 h 214"/>
                  <a:gd name="T58" fmla="*/ 0 w 208"/>
                  <a:gd name="T59" fmla="*/ 0 h 214"/>
                  <a:gd name="T60" fmla="*/ 0 w 208"/>
                  <a:gd name="T61" fmla="*/ 0 h 214"/>
                  <a:gd name="T62" fmla="*/ 0 w 208"/>
                  <a:gd name="T63" fmla="*/ 0 h 214"/>
                  <a:gd name="T64" fmla="*/ 0 w 208"/>
                  <a:gd name="T65" fmla="*/ 0 h 21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8"/>
                  <a:gd name="T100" fmla="*/ 0 h 214"/>
                  <a:gd name="T101" fmla="*/ 208 w 208"/>
                  <a:gd name="T102" fmla="*/ 214 h 21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8" h="214">
                    <a:moveTo>
                      <a:pt x="146" y="206"/>
                    </a:moveTo>
                    <a:lnTo>
                      <a:pt x="125" y="212"/>
                    </a:lnTo>
                    <a:lnTo>
                      <a:pt x="105" y="214"/>
                    </a:lnTo>
                    <a:lnTo>
                      <a:pt x="84" y="212"/>
                    </a:lnTo>
                    <a:lnTo>
                      <a:pt x="66" y="206"/>
                    </a:lnTo>
                    <a:lnTo>
                      <a:pt x="48" y="196"/>
                    </a:lnTo>
                    <a:lnTo>
                      <a:pt x="31" y="183"/>
                    </a:lnTo>
                    <a:lnTo>
                      <a:pt x="18" y="168"/>
                    </a:lnTo>
                    <a:lnTo>
                      <a:pt x="8" y="149"/>
                    </a:lnTo>
                    <a:lnTo>
                      <a:pt x="2" y="129"/>
                    </a:lnTo>
                    <a:lnTo>
                      <a:pt x="0" y="108"/>
                    </a:lnTo>
                    <a:lnTo>
                      <a:pt x="2" y="86"/>
                    </a:lnTo>
                    <a:lnTo>
                      <a:pt x="8" y="67"/>
                    </a:lnTo>
                    <a:lnTo>
                      <a:pt x="17" y="49"/>
                    </a:lnTo>
                    <a:lnTo>
                      <a:pt x="29" y="33"/>
                    </a:lnTo>
                    <a:lnTo>
                      <a:pt x="45" y="19"/>
                    </a:lnTo>
                    <a:lnTo>
                      <a:pt x="63" y="8"/>
                    </a:lnTo>
                    <a:lnTo>
                      <a:pt x="83" y="2"/>
                    </a:lnTo>
                    <a:lnTo>
                      <a:pt x="104" y="0"/>
                    </a:lnTo>
                    <a:lnTo>
                      <a:pt x="123" y="2"/>
                    </a:lnTo>
                    <a:lnTo>
                      <a:pt x="142" y="7"/>
                    </a:lnTo>
                    <a:lnTo>
                      <a:pt x="161" y="17"/>
                    </a:lnTo>
                    <a:lnTo>
                      <a:pt x="176" y="30"/>
                    </a:lnTo>
                    <a:lnTo>
                      <a:pt x="189" y="45"/>
                    </a:lnTo>
                    <a:lnTo>
                      <a:pt x="200" y="63"/>
                    </a:lnTo>
                    <a:lnTo>
                      <a:pt x="206" y="84"/>
                    </a:lnTo>
                    <a:lnTo>
                      <a:pt x="208" y="105"/>
                    </a:lnTo>
                    <a:lnTo>
                      <a:pt x="206" y="127"/>
                    </a:lnTo>
                    <a:lnTo>
                      <a:pt x="201" y="147"/>
                    </a:lnTo>
                    <a:lnTo>
                      <a:pt x="191" y="164"/>
                    </a:lnTo>
                    <a:lnTo>
                      <a:pt x="179" y="181"/>
                    </a:lnTo>
                    <a:lnTo>
                      <a:pt x="164" y="195"/>
                    </a:lnTo>
                    <a:lnTo>
                      <a:pt x="146" y="206"/>
                    </a:lnTo>
                    <a:close/>
                  </a:path>
                </a:pathLst>
              </a:custGeom>
              <a:solidFill>
                <a:srgbClr val="EB5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5" name="Freeform 290">
                <a:extLst>
                  <a:ext uri="{FF2B5EF4-FFF2-40B4-BE49-F238E27FC236}">
                    <a16:creationId xmlns:a16="http://schemas.microsoft.com/office/drawing/2014/main" id="{A2E4977F-81C8-4411-A98C-DCBFA7CE7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89"/>
                  <a:gd name="T1" fmla="*/ 0 h 194"/>
                  <a:gd name="T2" fmla="*/ 0 w 189"/>
                  <a:gd name="T3" fmla="*/ 0 h 194"/>
                  <a:gd name="T4" fmla="*/ 0 w 189"/>
                  <a:gd name="T5" fmla="*/ 0 h 194"/>
                  <a:gd name="T6" fmla="*/ 0 w 189"/>
                  <a:gd name="T7" fmla="*/ 0 h 194"/>
                  <a:gd name="T8" fmla="*/ 0 w 189"/>
                  <a:gd name="T9" fmla="*/ 0 h 194"/>
                  <a:gd name="T10" fmla="*/ 0 w 189"/>
                  <a:gd name="T11" fmla="*/ 0 h 194"/>
                  <a:gd name="T12" fmla="*/ 0 w 189"/>
                  <a:gd name="T13" fmla="*/ 0 h 194"/>
                  <a:gd name="T14" fmla="*/ 0 w 189"/>
                  <a:gd name="T15" fmla="*/ 0 h 194"/>
                  <a:gd name="T16" fmla="*/ 0 w 189"/>
                  <a:gd name="T17" fmla="*/ 0 h 194"/>
                  <a:gd name="T18" fmla="*/ 0 w 189"/>
                  <a:gd name="T19" fmla="*/ 0 h 194"/>
                  <a:gd name="T20" fmla="*/ 0 w 189"/>
                  <a:gd name="T21" fmla="*/ 0 h 194"/>
                  <a:gd name="T22" fmla="*/ 0 w 189"/>
                  <a:gd name="T23" fmla="*/ 0 h 194"/>
                  <a:gd name="T24" fmla="*/ 0 w 189"/>
                  <a:gd name="T25" fmla="*/ 0 h 194"/>
                  <a:gd name="T26" fmla="*/ 0 w 189"/>
                  <a:gd name="T27" fmla="*/ 0 h 194"/>
                  <a:gd name="T28" fmla="*/ 0 w 189"/>
                  <a:gd name="T29" fmla="*/ 0 h 194"/>
                  <a:gd name="T30" fmla="*/ 0 w 189"/>
                  <a:gd name="T31" fmla="*/ 0 h 194"/>
                  <a:gd name="T32" fmla="*/ 0 w 189"/>
                  <a:gd name="T33" fmla="*/ 0 h 194"/>
                  <a:gd name="T34" fmla="*/ 0 w 189"/>
                  <a:gd name="T35" fmla="*/ 0 h 194"/>
                  <a:gd name="T36" fmla="*/ 0 w 189"/>
                  <a:gd name="T37" fmla="*/ 0 h 194"/>
                  <a:gd name="T38" fmla="*/ 0 w 189"/>
                  <a:gd name="T39" fmla="*/ 0 h 194"/>
                  <a:gd name="T40" fmla="*/ 0 w 189"/>
                  <a:gd name="T41" fmla="*/ 0 h 194"/>
                  <a:gd name="T42" fmla="*/ 0 w 189"/>
                  <a:gd name="T43" fmla="*/ 0 h 194"/>
                  <a:gd name="T44" fmla="*/ 0 w 189"/>
                  <a:gd name="T45" fmla="*/ 0 h 194"/>
                  <a:gd name="T46" fmla="*/ 0 w 189"/>
                  <a:gd name="T47" fmla="*/ 0 h 194"/>
                  <a:gd name="T48" fmla="*/ 0 w 189"/>
                  <a:gd name="T49" fmla="*/ 0 h 194"/>
                  <a:gd name="T50" fmla="*/ 0 w 189"/>
                  <a:gd name="T51" fmla="*/ 0 h 194"/>
                  <a:gd name="T52" fmla="*/ 0 w 189"/>
                  <a:gd name="T53" fmla="*/ 0 h 194"/>
                  <a:gd name="T54" fmla="*/ 0 w 189"/>
                  <a:gd name="T55" fmla="*/ 0 h 194"/>
                  <a:gd name="T56" fmla="*/ 0 w 189"/>
                  <a:gd name="T57" fmla="*/ 0 h 194"/>
                  <a:gd name="T58" fmla="*/ 0 w 189"/>
                  <a:gd name="T59" fmla="*/ 0 h 194"/>
                  <a:gd name="T60" fmla="*/ 0 w 189"/>
                  <a:gd name="T61" fmla="*/ 0 h 194"/>
                  <a:gd name="T62" fmla="*/ 0 w 189"/>
                  <a:gd name="T63" fmla="*/ 0 h 194"/>
                  <a:gd name="T64" fmla="*/ 0 w 189"/>
                  <a:gd name="T65" fmla="*/ 0 h 1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9"/>
                  <a:gd name="T100" fmla="*/ 0 h 194"/>
                  <a:gd name="T101" fmla="*/ 189 w 189"/>
                  <a:gd name="T102" fmla="*/ 194 h 1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9" h="194">
                    <a:moveTo>
                      <a:pt x="131" y="187"/>
                    </a:moveTo>
                    <a:lnTo>
                      <a:pt x="113" y="193"/>
                    </a:lnTo>
                    <a:lnTo>
                      <a:pt x="95" y="194"/>
                    </a:lnTo>
                    <a:lnTo>
                      <a:pt x="76" y="192"/>
                    </a:lnTo>
                    <a:lnTo>
                      <a:pt x="59" y="187"/>
                    </a:lnTo>
                    <a:lnTo>
                      <a:pt x="44" y="178"/>
                    </a:lnTo>
                    <a:lnTo>
                      <a:pt x="29" y="167"/>
                    </a:lnTo>
                    <a:lnTo>
                      <a:pt x="17" y="152"/>
                    </a:lnTo>
                    <a:lnTo>
                      <a:pt x="8" y="135"/>
                    </a:lnTo>
                    <a:lnTo>
                      <a:pt x="2" y="116"/>
                    </a:lnTo>
                    <a:lnTo>
                      <a:pt x="0" y="97"/>
                    </a:lnTo>
                    <a:lnTo>
                      <a:pt x="2" y="79"/>
                    </a:lnTo>
                    <a:lnTo>
                      <a:pt x="7" y="61"/>
                    </a:lnTo>
                    <a:lnTo>
                      <a:pt x="15" y="45"/>
                    </a:lnTo>
                    <a:lnTo>
                      <a:pt x="26" y="30"/>
                    </a:lnTo>
                    <a:lnTo>
                      <a:pt x="41" y="17"/>
                    </a:lnTo>
                    <a:lnTo>
                      <a:pt x="57" y="8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2" y="1"/>
                    </a:lnTo>
                    <a:lnTo>
                      <a:pt x="130" y="7"/>
                    </a:lnTo>
                    <a:lnTo>
                      <a:pt x="146" y="15"/>
                    </a:lnTo>
                    <a:lnTo>
                      <a:pt x="160" y="27"/>
                    </a:lnTo>
                    <a:lnTo>
                      <a:pt x="172" y="41"/>
                    </a:lnTo>
                    <a:lnTo>
                      <a:pt x="181" y="58"/>
                    </a:lnTo>
                    <a:lnTo>
                      <a:pt x="187" y="77"/>
                    </a:lnTo>
                    <a:lnTo>
                      <a:pt x="189" y="96"/>
                    </a:lnTo>
                    <a:lnTo>
                      <a:pt x="188" y="114"/>
                    </a:lnTo>
                    <a:lnTo>
                      <a:pt x="182" y="132"/>
                    </a:lnTo>
                    <a:lnTo>
                      <a:pt x="174" y="149"/>
                    </a:lnTo>
                    <a:lnTo>
                      <a:pt x="163" y="165"/>
                    </a:lnTo>
                    <a:lnTo>
                      <a:pt x="149" y="177"/>
                    </a:lnTo>
                    <a:lnTo>
                      <a:pt x="131" y="187"/>
                    </a:lnTo>
                    <a:close/>
                  </a:path>
                </a:pathLst>
              </a:custGeom>
              <a:solidFill>
                <a:srgbClr val="F087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6" name="Freeform 291">
                <a:extLst>
                  <a:ext uri="{FF2B5EF4-FFF2-40B4-BE49-F238E27FC236}">
                    <a16:creationId xmlns:a16="http://schemas.microsoft.com/office/drawing/2014/main" id="{750AFA25-048B-450B-BEEC-7F968C602D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71"/>
                  <a:gd name="T1" fmla="*/ 0 h 177"/>
                  <a:gd name="T2" fmla="*/ 0 w 171"/>
                  <a:gd name="T3" fmla="*/ 0 h 177"/>
                  <a:gd name="T4" fmla="*/ 0 w 171"/>
                  <a:gd name="T5" fmla="*/ 0 h 177"/>
                  <a:gd name="T6" fmla="*/ 0 w 171"/>
                  <a:gd name="T7" fmla="*/ 0 h 177"/>
                  <a:gd name="T8" fmla="*/ 0 w 171"/>
                  <a:gd name="T9" fmla="*/ 0 h 177"/>
                  <a:gd name="T10" fmla="*/ 0 w 171"/>
                  <a:gd name="T11" fmla="*/ 0 h 177"/>
                  <a:gd name="T12" fmla="*/ 0 w 171"/>
                  <a:gd name="T13" fmla="*/ 0 h 177"/>
                  <a:gd name="T14" fmla="*/ 0 w 171"/>
                  <a:gd name="T15" fmla="*/ 0 h 177"/>
                  <a:gd name="T16" fmla="*/ 0 w 171"/>
                  <a:gd name="T17" fmla="*/ 0 h 177"/>
                  <a:gd name="T18" fmla="*/ 0 w 171"/>
                  <a:gd name="T19" fmla="*/ 0 h 177"/>
                  <a:gd name="T20" fmla="*/ 0 w 171"/>
                  <a:gd name="T21" fmla="*/ 0 h 177"/>
                  <a:gd name="T22" fmla="*/ 0 w 171"/>
                  <a:gd name="T23" fmla="*/ 0 h 177"/>
                  <a:gd name="T24" fmla="*/ 0 w 171"/>
                  <a:gd name="T25" fmla="*/ 0 h 177"/>
                  <a:gd name="T26" fmla="*/ 0 w 171"/>
                  <a:gd name="T27" fmla="*/ 0 h 177"/>
                  <a:gd name="T28" fmla="*/ 0 w 171"/>
                  <a:gd name="T29" fmla="*/ 0 h 177"/>
                  <a:gd name="T30" fmla="*/ 0 w 171"/>
                  <a:gd name="T31" fmla="*/ 0 h 177"/>
                  <a:gd name="T32" fmla="*/ 0 w 171"/>
                  <a:gd name="T33" fmla="*/ 0 h 177"/>
                  <a:gd name="T34" fmla="*/ 0 w 171"/>
                  <a:gd name="T35" fmla="*/ 0 h 177"/>
                  <a:gd name="T36" fmla="*/ 0 w 171"/>
                  <a:gd name="T37" fmla="*/ 0 h 177"/>
                  <a:gd name="T38" fmla="*/ 0 w 171"/>
                  <a:gd name="T39" fmla="*/ 0 h 177"/>
                  <a:gd name="T40" fmla="*/ 0 w 171"/>
                  <a:gd name="T41" fmla="*/ 0 h 177"/>
                  <a:gd name="T42" fmla="*/ 0 w 171"/>
                  <a:gd name="T43" fmla="*/ 0 h 177"/>
                  <a:gd name="T44" fmla="*/ 0 w 171"/>
                  <a:gd name="T45" fmla="*/ 0 h 177"/>
                  <a:gd name="T46" fmla="*/ 0 w 171"/>
                  <a:gd name="T47" fmla="*/ 0 h 177"/>
                  <a:gd name="T48" fmla="*/ 0 w 171"/>
                  <a:gd name="T49" fmla="*/ 0 h 177"/>
                  <a:gd name="T50" fmla="*/ 0 w 171"/>
                  <a:gd name="T51" fmla="*/ 0 h 177"/>
                  <a:gd name="T52" fmla="*/ 0 w 171"/>
                  <a:gd name="T53" fmla="*/ 0 h 177"/>
                  <a:gd name="T54" fmla="*/ 0 w 171"/>
                  <a:gd name="T55" fmla="*/ 0 h 177"/>
                  <a:gd name="T56" fmla="*/ 0 w 171"/>
                  <a:gd name="T57" fmla="*/ 0 h 177"/>
                  <a:gd name="T58" fmla="*/ 0 w 171"/>
                  <a:gd name="T59" fmla="*/ 0 h 177"/>
                  <a:gd name="T60" fmla="*/ 0 w 171"/>
                  <a:gd name="T61" fmla="*/ 0 h 177"/>
                  <a:gd name="T62" fmla="*/ 0 w 171"/>
                  <a:gd name="T63" fmla="*/ 0 h 177"/>
                  <a:gd name="T64" fmla="*/ 0 w 171"/>
                  <a:gd name="T65" fmla="*/ 0 h 1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1"/>
                  <a:gd name="T100" fmla="*/ 0 h 177"/>
                  <a:gd name="T101" fmla="*/ 171 w 171"/>
                  <a:gd name="T102" fmla="*/ 177 h 17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1" h="177">
                    <a:moveTo>
                      <a:pt x="120" y="170"/>
                    </a:moveTo>
                    <a:lnTo>
                      <a:pt x="104" y="175"/>
                    </a:lnTo>
                    <a:lnTo>
                      <a:pt x="87" y="177"/>
                    </a:lnTo>
                    <a:lnTo>
                      <a:pt x="70" y="176"/>
                    </a:lnTo>
                    <a:lnTo>
                      <a:pt x="54" y="171"/>
                    </a:lnTo>
                    <a:lnTo>
                      <a:pt x="40" y="163"/>
                    </a:lnTo>
                    <a:lnTo>
                      <a:pt x="27" y="152"/>
                    </a:lnTo>
                    <a:lnTo>
                      <a:pt x="15" y="139"/>
                    </a:lnTo>
                    <a:lnTo>
                      <a:pt x="7" y="124"/>
                    </a:lnTo>
                    <a:lnTo>
                      <a:pt x="2" y="107"/>
                    </a:lnTo>
                    <a:lnTo>
                      <a:pt x="0" y="90"/>
                    </a:lnTo>
                    <a:lnTo>
                      <a:pt x="2" y="72"/>
                    </a:lnTo>
                    <a:lnTo>
                      <a:pt x="7" y="56"/>
                    </a:lnTo>
                    <a:lnTo>
                      <a:pt x="14" y="41"/>
                    </a:lnTo>
                    <a:lnTo>
                      <a:pt x="25" y="28"/>
                    </a:lnTo>
                    <a:lnTo>
                      <a:pt x="37" y="16"/>
                    </a:lnTo>
                    <a:lnTo>
                      <a:pt x="52" y="8"/>
                    </a:lnTo>
                    <a:lnTo>
                      <a:pt x="68" y="2"/>
                    </a:lnTo>
                    <a:lnTo>
                      <a:pt x="85" y="0"/>
                    </a:lnTo>
                    <a:lnTo>
                      <a:pt x="102" y="2"/>
                    </a:lnTo>
                    <a:lnTo>
                      <a:pt x="117" y="7"/>
                    </a:lnTo>
                    <a:lnTo>
                      <a:pt x="132" y="15"/>
                    </a:lnTo>
                    <a:lnTo>
                      <a:pt x="145" y="25"/>
                    </a:lnTo>
                    <a:lnTo>
                      <a:pt x="156" y="38"/>
                    </a:lnTo>
                    <a:lnTo>
                      <a:pt x="164" y="53"/>
                    </a:lnTo>
                    <a:lnTo>
                      <a:pt x="169" y="70"/>
                    </a:lnTo>
                    <a:lnTo>
                      <a:pt x="171" y="88"/>
                    </a:lnTo>
                    <a:lnTo>
                      <a:pt x="169" y="105"/>
                    </a:lnTo>
                    <a:lnTo>
                      <a:pt x="165" y="121"/>
                    </a:lnTo>
                    <a:lnTo>
                      <a:pt x="158" y="136"/>
                    </a:lnTo>
                    <a:lnTo>
                      <a:pt x="148" y="150"/>
                    </a:lnTo>
                    <a:lnTo>
                      <a:pt x="136" y="162"/>
                    </a:lnTo>
                    <a:lnTo>
                      <a:pt x="120" y="170"/>
                    </a:lnTo>
                    <a:close/>
                  </a:path>
                </a:pathLst>
              </a:custGeom>
              <a:solidFill>
                <a:srgbClr val="F5AE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7" name="Freeform 292">
                <a:extLst>
                  <a:ext uri="{FF2B5EF4-FFF2-40B4-BE49-F238E27FC236}">
                    <a16:creationId xmlns:a16="http://schemas.microsoft.com/office/drawing/2014/main" id="{3FE5721D-B556-43CC-83FA-58931520F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7" cy="9"/>
              </a:xfrm>
              <a:custGeom>
                <a:avLst/>
                <a:gdLst>
                  <a:gd name="T0" fmla="*/ 0 w 152"/>
                  <a:gd name="T1" fmla="*/ 0 h 156"/>
                  <a:gd name="T2" fmla="*/ 0 w 152"/>
                  <a:gd name="T3" fmla="*/ 0 h 156"/>
                  <a:gd name="T4" fmla="*/ 0 w 152"/>
                  <a:gd name="T5" fmla="*/ 0 h 156"/>
                  <a:gd name="T6" fmla="*/ 0 w 152"/>
                  <a:gd name="T7" fmla="*/ 0 h 156"/>
                  <a:gd name="T8" fmla="*/ 0 w 152"/>
                  <a:gd name="T9" fmla="*/ 0 h 156"/>
                  <a:gd name="T10" fmla="*/ 0 w 152"/>
                  <a:gd name="T11" fmla="*/ 0 h 156"/>
                  <a:gd name="T12" fmla="*/ 0 w 152"/>
                  <a:gd name="T13" fmla="*/ 0 h 156"/>
                  <a:gd name="T14" fmla="*/ 0 w 152"/>
                  <a:gd name="T15" fmla="*/ 0 h 156"/>
                  <a:gd name="T16" fmla="*/ 0 w 152"/>
                  <a:gd name="T17" fmla="*/ 0 h 156"/>
                  <a:gd name="T18" fmla="*/ 0 w 152"/>
                  <a:gd name="T19" fmla="*/ 0 h 156"/>
                  <a:gd name="T20" fmla="*/ 0 w 152"/>
                  <a:gd name="T21" fmla="*/ 0 h 156"/>
                  <a:gd name="T22" fmla="*/ 0 w 152"/>
                  <a:gd name="T23" fmla="*/ 0 h 156"/>
                  <a:gd name="T24" fmla="*/ 0 w 152"/>
                  <a:gd name="T25" fmla="*/ 0 h 156"/>
                  <a:gd name="T26" fmla="*/ 0 w 152"/>
                  <a:gd name="T27" fmla="*/ 0 h 156"/>
                  <a:gd name="T28" fmla="*/ 0 w 152"/>
                  <a:gd name="T29" fmla="*/ 0 h 156"/>
                  <a:gd name="T30" fmla="*/ 0 w 152"/>
                  <a:gd name="T31" fmla="*/ 0 h 156"/>
                  <a:gd name="T32" fmla="*/ 0 w 152"/>
                  <a:gd name="T33" fmla="*/ 0 h 156"/>
                  <a:gd name="T34" fmla="*/ 0 w 152"/>
                  <a:gd name="T35" fmla="*/ 0 h 156"/>
                  <a:gd name="T36" fmla="*/ 0 w 152"/>
                  <a:gd name="T37" fmla="*/ 0 h 156"/>
                  <a:gd name="T38" fmla="*/ 0 w 152"/>
                  <a:gd name="T39" fmla="*/ 0 h 156"/>
                  <a:gd name="T40" fmla="*/ 0 w 152"/>
                  <a:gd name="T41" fmla="*/ 0 h 156"/>
                  <a:gd name="T42" fmla="*/ 0 w 152"/>
                  <a:gd name="T43" fmla="*/ 0 h 156"/>
                  <a:gd name="T44" fmla="*/ 0 w 152"/>
                  <a:gd name="T45" fmla="*/ 0 h 156"/>
                  <a:gd name="T46" fmla="*/ 0 w 152"/>
                  <a:gd name="T47" fmla="*/ 0 h 156"/>
                  <a:gd name="T48" fmla="*/ 0 w 152"/>
                  <a:gd name="T49" fmla="*/ 0 h 156"/>
                  <a:gd name="T50" fmla="*/ 0 w 152"/>
                  <a:gd name="T51" fmla="*/ 0 h 156"/>
                  <a:gd name="T52" fmla="*/ 0 w 152"/>
                  <a:gd name="T53" fmla="*/ 0 h 156"/>
                  <a:gd name="T54" fmla="*/ 0 w 152"/>
                  <a:gd name="T55" fmla="*/ 0 h 156"/>
                  <a:gd name="T56" fmla="*/ 0 w 152"/>
                  <a:gd name="T57" fmla="*/ 0 h 156"/>
                  <a:gd name="T58" fmla="*/ 0 w 152"/>
                  <a:gd name="T59" fmla="*/ 0 h 156"/>
                  <a:gd name="T60" fmla="*/ 0 w 152"/>
                  <a:gd name="T61" fmla="*/ 0 h 156"/>
                  <a:gd name="T62" fmla="*/ 0 w 152"/>
                  <a:gd name="T63" fmla="*/ 0 h 156"/>
                  <a:gd name="T64" fmla="*/ 0 w 152"/>
                  <a:gd name="T65" fmla="*/ 0 h 1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52"/>
                  <a:gd name="T100" fmla="*/ 0 h 156"/>
                  <a:gd name="T101" fmla="*/ 152 w 152"/>
                  <a:gd name="T102" fmla="*/ 156 h 1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52" h="156">
                    <a:moveTo>
                      <a:pt x="106" y="149"/>
                    </a:moveTo>
                    <a:lnTo>
                      <a:pt x="92" y="155"/>
                    </a:lnTo>
                    <a:lnTo>
                      <a:pt x="77" y="156"/>
                    </a:lnTo>
                    <a:lnTo>
                      <a:pt x="63" y="155"/>
                    </a:lnTo>
                    <a:lnTo>
                      <a:pt x="48" y="150"/>
                    </a:lnTo>
                    <a:lnTo>
                      <a:pt x="35" y="143"/>
                    </a:lnTo>
                    <a:lnTo>
                      <a:pt x="24" y="133"/>
                    </a:lnTo>
                    <a:lnTo>
                      <a:pt x="14" y="122"/>
                    </a:lnTo>
                    <a:lnTo>
                      <a:pt x="6" y="108"/>
                    </a:lnTo>
                    <a:lnTo>
                      <a:pt x="2" y="93"/>
                    </a:lnTo>
                    <a:lnTo>
                      <a:pt x="0" y="78"/>
                    </a:lnTo>
                    <a:lnTo>
                      <a:pt x="1" y="63"/>
                    </a:lnTo>
                    <a:lnTo>
                      <a:pt x="5" y="49"/>
                    </a:lnTo>
                    <a:lnTo>
                      <a:pt x="13" y="35"/>
                    </a:lnTo>
                    <a:lnTo>
                      <a:pt x="22" y="24"/>
                    </a:lnTo>
                    <a:lnTo>
                      <a:pt x="33" y="13"/>
                    </a:lnTo>
                    <a:lnTo>
                      <a:pt x="46" y="6"/>
                    </a:lnTo>
                    <a:lnTo>
                      <a:pt x="60" y="1"/>
                    </a:lnTo>
                    <a:lnTo>
                      <a:pt x="76" y="0"/>
                    </a:lnTo>
                    <a:lnTo>
                      <a:pt x="90" y="1"/>
                    </a:lnTo>
                    <a:lnTo>
                      <a:pt x="104" y="5"/>
                    </a:lnTo>
                    <a:lnTo>
                      <a:pt x="118" y="11"/>
                    </a:lnTo>
                    <a:lnTo>
                      <a:pt x="129" y="21"/>
                    </a:lnTo>
                    <a:lnTo>
                      <a:pt x="139" y="32"/>
                    </a:lnTo>
                    <a:lnTo>
                      <a:pt x="146" y="46"/>
                    </a:lnTo>
                    <a:lnTo>
                      <a:pt x="150" y="61"/>
                    </a:lnTo>
                    <a:lnTo>
                      <a:pt x="152" y="77"/>
                    </a:lnTo>
                    <a:lnTo>
                      <a:pt x="151" y="91"/>
                    </a:lnTo>
                    <a:lnTo>
                      <a:pt x="147" y="106"/>
                    </a:lnTo>
                    <a:lnTo>
                      <a:pt x="140" y="120"/>
                    </a:lnTo>
                    <a:lnTo>
                      <a:pt x="131" y="131"/>
                    </a:lnTo>
                    <a:lnTo>
                      <a:pt x="120" y="142"/>
                    </a:lnTo>
                    <a:lnTo>
                      <a:pt x="106" y="149"/>
                    </a:lnTo>
                    <a:close/>
                  </a:path>
                </a:pathLst>
              </a:custGeom>
              <a:solidFill>
                <a:srgbClr val="FAD6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8" name="Freeform 293">
                <a:extLst>
                  <a:ext uri="{FF2B5EF4-FFF2-40B4-BE49-F238E27FC236}">
                    <a16:creationId xmlns:a16="http://schemas.microsoft.com/office/drawing/2014/main" id="{AE98B272-5F73-407B-806B-3BCB147AF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6" cy="8"/>
              </a:xfrm>
              <a:custGeom>
                <a:avLst/>
                <a:gdLst>
                  <a:gd name="T0" fmla="*/ 0 w 134"/>
                  <a:gd name="T1" fmla="*/ 0 h 139"/>
                  <a:gd name="T2" fmla="*/ 0 w 134"/>
                  <a:gd name="T3" fmla="*/ 0 h 139"/>
                  <a:gd name="T4" fmla="*/ 0 w 134"/>
                  <a:gd name="T5" fmla="*/ 0 h 139"/>
                  <a:gd name="T6" fmla="*/ 0 w 134"/>
                  <a:gd name="T7" fmla="*/ 0 h 139"/>
                  <a:gd name="T8" fmla="*/ 0 w 134"/>
                  <a:gd name="T9" fmla="*/ 0 h 139"/>
                  <a:gd name="T10" fmla="*/ 0 w 134"/>
                  <a:gd name="T11" fmla="*/ 0 h 139"/>
                  <a:gd name="T12" fmla="*/ 0 w 134"/>
                  <a:gd name="T13" fmla="*/ 0 h 139"/>
                  <a:gd name="T14" fmla="*/ 0 w 134"/>
                  <a:gd name="T15" fmla="*/ 0 h 139"/>
                  <a:gd name="T16" fmla="*/ 0 w 134"/>
                  <a:gd name="T17" fmla="*/ 0 h 139"/>
                  <a:gd name="T18" fmla="*/ 0 w 134"/>
                  <a:gd name="T19" fmla="*/ 0 h 139"/>
                  <a:gd name="T20" fmla="*/ 0 w 134"/>
                  <a:gd name="T21" fmla="*/ 0 h 139"/>
                  <a:gd name="T22" fmla="*/ 0 w 134"/>
                  <a:gd name="T23" fmla="*/ 0 h 139"/>
                  <a:gd name="T24" fmla="*/ 0 w 134"/>
                  <a:gd name="T25" fmla="*/ 0 h 139"/>
                  <a:gd name="T26" fmla="*/ 0 w 134"/>
                  <a:gd name="T27" fmla="*/ 0 h 139"/>
                  <a:gd name="T28" fmla="*/ 0 w 134"/>
                  <a:gd name="T29" fmla="*/ 0 h 139"/>
                  <a:gd name="T30" fmla="*/ 0 w 134"/>
                  <a:gd name="T31" fmla="*/ 0 h 139"/>
                  <a:gd name="T32" fmla="*/ 0 w 134"/>
                  <a:gd name="T33" fmla="*/ 0 h 139"/>
                  <a:gd name="T34" fmla="*/ 0 w 134"/>
                  <a:gd name="T35" fmla="*/ 0 h 139"/>
                  <a:gd name="T36" fmla="*/ 0 w 134"/>
                  <a:gd name="T37" fmla="*/ 0 h 139"/>
                  <a:gd name="T38" fmla="*/ 0 w 134"/>
                  <a:gd name="T39" fmla="*/ 0 h 139"/>
                  <a:gd name="T40" fmla="*/ 0 w 134"/>
                  <a:gd name="T41" fmla="*/ 0 h 139"/>
                  <a:gd name="T42" fmla="*/ 0 w 134"/>
                  <a:gd name="T43" fmla="*/ 0 h 139"/>
                  <a:gd name="T44" fmla="*/ 0 w 134"/>
                  <a:gd name="T45" fmla="*/ 0 h 139"/>
                  <a:gd name="T46" fmla="*/ 0 w 134"/>
                  <a:gd name="T47" fmla="*/ 0 h 139"/>
                  <a:gd name="T48" fmla="*/ 0 w 134"/>
                  <a:gd name="T49" fmla="*/ 0 h 139"/>
                  <a:gd name="T50" fmla="*/ 0 w 134"/>
                  <a:gd name="T51" fmla="*/ 0 h 139"/>
                  <a:gd name="T52" fmla="*/ 0 w 134"/>
                  <a:gd name="T53" fmla="*/ 0 h 139"/>
                  <a:gd name="T54" fmla="*/ 0 w 134"/>
                  <a:gd name="T55" fmla="*/ 0 h 139"/>
                  <a:gd name="T56" fmla="*/ 0 w 134"/>
                  <a:gd name="T57" fmla="*/ 0 h 139"/>
                  <a:gd name="T58" fmla="*/ 0 w 134"/>
                  <a:gd name="T59" fmla="*/ 0 h 139"/>
                  <a:gd name="T60" fmla="*/ 0 w 134"/>
                  <a:gd name="T61" fmla="*/ 0 h 139"/>
                  <a:gd name="T62" fmla="*/ 0 w 134"/>
                  <a:gd name="T63" fmla="*/ 0 h 139"/>
                  <a:gd name="T64" fmla="*/ 0 w 134"/>
                  <a:gd name="T65" fmla="*/ 0 h 13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139"/>
                  <a:gd name="T101" fmla="*/ 134 w 134"/>
                  <a:gd name="T102" fmla="*/ 139 h 13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139">
                    <a:moveTo>
                      <a:pt x="93" y="134"/>
                    </a:moveTo>
                    <a:lnTo>
                      <a:pt x="80" y="138"/>
                    </a:lnTo>
                    <a:lnTo>
                      <a:pt x="68" y="139"/>
                    </a:lnTo>
                    <a:lnTo>
                      <a:pt x="55" y="138"/>
                    </a:lnTo>
                    <a:lnTo>
                      <a:pt x="42" y="134"/>
                    </a:lnTo>
                    <a:lnTo>
                      <a:pt x="30" y="127"/>
                    </a:lnTo>
                    <a:lnTo>
                      <a:pt x="20" y="119"/>
                    </a:lnTo>
                    <a:lnTo>
                      <a:pt x="12" y="109"/>
                    </a:lnTo>
                    <a:lnTo>
                      <a:pt x="5" y="97"/>
                    </a:lnTo>
                    <a:lnTo>
                      <a:pt x="1" y="83"/>
                    </a:lnTo>
                    <a:lnTo>
                      <a:pt x="0" y="70"/>
                    </a:lnTo>
                    <a:lnTo>
                      <a:pt x="1" y="57"/>
                    </a:lnTo>
                    <a:lnTo>
                      <a:pt x="5" y="44"/>
                    </a:lnTo>
                    <a:lnTo>
                      <a:pt x="11" y="31"/>
                    </a:lnTo>
                    <a:lnTo>
                      <a:pt x="19" y="21"/>
                    </a:lnTo>
                    <a:lnTo>
                      <a:pt x="28" y="12"/>
                    </a:lnTo>
                    <a:lnTo>
                      <a:pt x="40" y="5"/>
                    </a:lnTo>
                    <a:lnTo>
                      <a:pt x="54" y="1"/>
                    </a:lnTo>
                    <a:lnTo>
                      <a:pt x="66" y="0"/>
                    </a:lnTo>
                    <a:lnTo>
                      <a:pt x="79" y="1"/>
                    </a:lnTo>
                    <a:lnTo>
                      <a:pt x="91" y="5"/>
                    </a:lnTo>
                    <a:lnTo>
                      <a:pt x="104" y="11"/>
                    </a:lnTo>
                    <a:lnTo>
                      <a:pt x="114" y="20"/>
                    </a:lnTo>
                    <a:lnTo>
                      <a:pt x="122" y="29"/>
                    </a:lnTo>
                    <a:lnTo>
                      <a:pt x="129" y="42"/>
                    </a:lnTo>
                    <a:lnTo>
                      <a:pt x="133" y="56"/>
                    </a:lnTo>
                    <a:lnTo>
                      <a:pt x="134" y="68"/>
                    </a:lnTo>
                    <a:lnTo>
                      <a:pt x="133" y="82"/>
                    </a:lnTo>
                    <a:lnTo>
                      <a:pt x="129" y="95"/>
                    </a:lnTo>
                    <a:lnTo>
                      <a:pt x="123" y="107"/>
                    </a:lnTo>
                    <a:lnTo>
                      <a:pt x="115" y="118"/>
                    </a:lnTo>
                    <a:lnTo>
                      <a:pt x="106" y="126"/>
                    </a:lnTo>
                    <a:lnTo>
                      <a:pt x="93" y="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19" name="Freeform 294">
                <a:extLst>
                  <a:ext uri="{FF2B5EF4-FFF2-40B4-BE49-F238E27FC236}">
                    <a16:creationId xmlns:a16="http://schemas.microsoft.com/office/drawing/2014/main" id="{F689E3B7-1736-485D-9526-F9995B226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93"/>
                <a:ext cx="1" cy="2"/>
              </a:xfrm>
              <a:custGeom>
                <a:avLst/>
                <a:gdLst>
                  <a:gd name="T0" fmla="*/ 0 w 21"/>
                  <a:gd name="T1" fmla="*/ 0 h 33"/>
                  <a:gd name="T2" fmla="*/ 0 w 21"/>
                  <a:gd name="T3" fmla="*/ 0 h 33"/>
                  <a:gd name="T4" fmla="*/ 0 w 21"/>
                  <a:gd name="T5" fmla="*/ 0 h 33"/>
                  <a:gd name="T6" fmla="*/ 0 w 21"/>
                  <a:gd name="T7" fmla="*/ 0 h 33"/>
                  <a:gd name="T8" fmla="*/ 0 w 21"/>
                  <a:gd name="T9" fmla="*/ 0 h 33"/>
                  <a:gd name="T10" fmla="*/ 0 w 21"/>
                  <a:gd name="T11" fmla="*/ 0 h 33"/>
                  <a:gd name="T12" fmla="*/ 0 w 21"/>
                  <a:gd name="T13" fmla="*/ 0 h 33"/>
                  <a:gd name="T14" fmla="*/ 0 w 21"/>
                  <a:gd name="T15" fmla="*/ 0 h 33"/>
                  <a:gd name="T16" fmla="*/ 0 w 21"/>
                  <a:gd name="T17" fmla="*/ 0 h 33"/>
                  <a:gd name="T18" fmla="*/ 0 w 21"/>
                  <a:gd name="T19" fmla="*/ 0 h 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33"/>
                  <a:gd name="T32" fmla="*/ 21 w 21"/>
                  <a:gd name="T33" fmla="*/ 33 h 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33">
                    <a:moveTo>
                      <a:pt x="11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5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8" y="31"/>
                    </a:lnTo>
                    <a:lnTo>
                      <a:pt x="14" y="33"/>
                    </a:lnTo>
                    <a:lnTo>
                      <a:pt x="21" y="3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0" name="Freeform 295">
                <a:extLst>
                  <a:ext uri="{FF2B5EF4-FFF2-40B4-BE49-F238E27FC236}">
                    <a16:creationId xmlns:a16="http://schemas.microsoft.com/office/drawing/2014/main" id="{18457E0E-C5E0-4B9E-94E2-4D6F29421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89"/>
                <a:ext cx="3" cy="6"/>
              </a:xfrm>
              <a:custGeom>
                <a:avLst/>
                <a:gdLst>
                  <a:gd name="T0" fmla="*/ 0 w 75"/>
                  <a:gd name="T1" fmla="*/ 0 h 98"/>
                  <a:gd name="T2" fmla="*/ 0 w 75"/>
                  <a:gd name="T3" fmla="*/ 0 h 98"/>
                  <a:gd name="T4" fmla="*/ 0 w 75"/>
                  <a:gd name="T5" fmla="*/ 0 h 98"/>
                  <a:gd name="T6" fmla="*/ 0 w 75"/>
                  <a:gd name="T7" fmla="*/ 0 h 98"/>
                  <a:gd name="T8" fmla="*/ 0 w 75"/>
                  <a:gd name="T9" fmla="*/ 0 h 98"/>
                  <a:gd name="T10" fmla="*/ 0 w 75"/>
                  <a:gd name="T11" fmla="*/ 0 h 98"/>
                  <a:gd name="T12" fmla="*/ 0 w 75"/>
                  <a:gd name="T13" fmla="*/ 0 h 98"/>
                  <a:gd name="T14" fmla="*/ 0 w 75"/>
                  <a:gd name="T15" fmla="*/ 0 h 98"/>
                  <a:gd name="T16" fmla="*/ 0 w 75"/>
                  <a:gd name="T17" fmla="*/ 0 h 98"/>
                  <a:gd name="T18" fmla="*/ 0 w 75"/>
                  <a:gd name="T19" fmla="*/ 0 h 98"/>
                  <a:gd name="T20" fmla="*/ 0 w 75"/>
                  <a:gd name="T21" fmla="*/ 0 h 98"/>
                  <a:gd name="T22" fmla="*/ 0 w 75"/>
                  <a:gd name="T23" fmla="*/ 0 h 98"/>
                  <a:gd name="T24" fmla="*/ 0 w 75"/>
                  <a:gd name="T25" fmla="*/ 0 h 98"/>
                  <a:gd name="T26" fmla="*/ 0 w 75"/>
                  <a:gd name="T27" fmla="*/ 0 h 98"/>
                  <a:gd name="T28" fmla="*/ 0 w 75"/>
                  <a:gd name="T29" fmla="*/ 0 h 98"/>
                  <a:gd name="T30" fmla="*/ 0 w 75"/>
                  <a:gd name="T31" fmla="*/ 0 h 98"/>
                  <a:gd name="T32" fmla="*/ 0 w 75"/>
                  <a:gd name="T33" fmla="*/ 0 h 98"/>
                  <a:gd name="T34" fmla="*/ 0 w 75"/>
                  <a:gd name="T35" fmla="*/ 0 h 98"/>
                  <a:gd name="T36" fmla="*/ 0 w 75"/>
                  <a:gd name="T37" fmla="*/ 0 h 98"/>
                  <a:gd name="T38" fmla="*/ 0 w 75"/>
                  <a:gd name="T39" fmla="*/ 0 h 98"/>
                  <a:gd name="T40" fmla="*/ 0 w 75"/>
                  <a:gd name="T41" fmla="*/ 0 h 9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"/>
                  <a:gd name="T64" fmla="*/ 0 h 98"/>
                  <a:gd name="T65" fmla="*/ 75 w 75"/>
                  <a:gd name="T66" fmla="*/ 98 h 9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" h="98">
                    <a:moveTo>
                      <a:pt x="40" y="12"/>
                    </a:moveTo>
                    <a:lnTo>
                      <a:pt x="40" y="12"/>
                    </a:lnTo>
                    <a:lnTo>
                      <a:pt x="42" y="22"/>
                    </a:lnTo>
                    <a:lnTo>
                      <a:pt x="42" y="28"/>
                    </a:lnTo>
                    <a:lnTo>
                      <a:pt x="39" y="37"/>
                    </a:lnTo>
                    <a:lnTo>
                      <a:pt x="36" y="43"/>
                    </a:lnTo>
                    <a:lnTo>
                      <a:pt x="30" y="49"/>
                    </a:lnTo>
                    <a:lnTo>
                      <a:pt x="21" y="57"/>
                    </a:lnTo>
                    <a:lnTo>
                      <a:pt x="12" y="61"/>
                    </a:lnTo>
                    <a:lnTo>
                      <a:pt x="0" y="66"/>
                    </a:lnTo>
                    <a:lnTo>
                      <a:pt x="10" y="98"/>
                    </a:lnTo>
                    <a:lnTo>
                      <a:pt x="26" y="92"/>
                    </a:lnTo>
                    <a:lnTo>
                      <a:pt x="39" y="84"/>
                    </a:lnTo>
                    <a:lnTo>
                      <a:pt x="50" y="74"/>
                    </a:lnTo>
                    <a:lnTo>
                      <a:pt x="63" y="64"/>
                    </a:lnTo>
                    <a:lnTo>
                      <a:pt x="70" y="49"/>
                    </a:lnTo>
                    <a:lnTo>
                      <a:pt x="75" y="34"/>
                    </a:lnTo>
                    <a:lnTo>
                      <a:pt x="75" y="18"/>
                    </a:lnTo>
                    <a:lnTo>
                      <a:pt x="71" y="0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1" name="Freeform 296">
                <a:extLst>
                  <a:ext uri="{FF2B5EF4-FFF2-40B4-BE49-F238E27FC236}">
                    <a16:creationId xmlns:a16="http://schemas.microsoft.com/office/drawing/2014/main" id="{B1A36DE4-4A21-4B2C-86D1-6A6F92E01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" y="3087"/>
                <a:ext cx="5" cy="3"/>
              </a:xfrm>
              <a:custGeom>
                <a:avLst/>
                <a:gdLst>
                  <a:gd name="T0" fmla="*/ 0 w 108"/>
                  <a:gd name="T1" fmla="*/ 0 h 49"/>
                  <a:gd name="T2" fmla="*/ 0 w 108"/>
                  <a:gd name="T3" fmla="*/ 0 h 49"/>
                  <a:gd name="T4" fmla="*/ 0 w 108"/>
                  <a:gd name="T5" fmla="*/ 0 h 49"/>
                  <a:gd name="T6" fmla="*/ 0 w 108"/>
                  <a:gd name="T7" fmla="*/ 0 h 49"/>
                  <a:gd name="T8" fmla="*/ 0 w 108"/>
                  <a:gd name="T9" fmla="*/ 0 h 49"/>
                  <a:gd name="T10" fmla="*/ 0 w 108"/>
                  <a:gd name="T11" fmla="*/ 0 h 49"/>
                  <a:gd name="T12" fmla="*/ 0 w 108"/>
                  <a:gd name="T13" fmla="*/ 0 h 49"/>
                  <a:gd name="T14" fmla="*/ 0 w 108"/>
                  <a:gd name="T15" fmla="*/ 0 h 49"/>
                  <a:gd name="T16" fmla="*/ 0 w 108"/>
                  <a:gd name="T17" fmla="*/ 0 h 49"/>
                  <a:gd name="T18" fmla="*/ 0 w 108"/>
                  <a:gd name="T19" fmla="*/ 0 h 49"/>
                  <a:gd name="T20" fmla="*/ 0 w 108"/>
                  <a:gd name="T21" fmla="*/ 0 h 49"/>
                  <a:gd name="T22" fmla="*/ 0 w 108"/>
                  <a:gd name="T23" fmla="*/ 0 h 49"/>
                  <a:gd name="T24" fmla="*/ 0 w 108"/>
                  <a:gd name="T25" fmla="*/ 0 h 49"/>
                  <a:gd name="T26" fmla="*/ 0 w 108"/>
                  <a:gd name="T27" fmla="*/ 0 h 49"/>
                  <a:gd name="T28" fmla="*/ 0 w 108"/>
                  <a:gd name="T29" fmla="*/ 0 h 49"/>
                  <a:gd name="T30" fmla="*/ 0 w 108"/>
                  <a:gd name="T31" fmla="*/ 0 h 49"/>
                  <a:gd name="T32" fmla="*/ 0 w 108"/>
                  <a:gd name="T33" fmla="*/ 0 h 49"/>
                  <a:gd name="T34" fmla="*/ 0 w 108"/>
                  <a:gd name="T35" fmla="*/ 0 h 49"/>
                  <a:gd name="T36" fmla="*/ 0 w 108"/>
                  <a:gd name="T37" fmla="*/ 0 h 49"/>
                  <a:gd name="T38" fmla="*/ 0 w 108"/>
                  <a:gd name="T39" fmla="*/ 0 h 49"/>
                  <a:gd name="T40" fmla="*/ 0 w 108"/>
                  <a:gd name="T41" fmla="*/ 0 h 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49"/>
                  <a:gd name="T65" fmla="*/ 108 w 108"/>
                  <a:gd name="T66" fmla="*/ 49 h 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49">
                    <a:moveTo>
                      <a:pt x="20" y="43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6" y="35"/>
                    </a:lnTo>
                    <a:lnTo>
                      <a:pt x="45" y="33"/>
                    </a:lnTo>
                    <a:lnTo>
                      <a:pt x="54" y="33"/>
                    </a:lnTo>
                    <a:lnTo>
                      <a:pt x="62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49"/>
                    </a:lnTo>
                    <a:lnTo>
                      <a:pt x="108" y="37"/>
                    </a:lnTo>
                    <a:lnTo>
                      <a:pt x="98" y="22"/>
                    </a:lnTo>
                    <a:lnTo>
                      <a:pt x="87" y="11"/>
                    </a:lnTo>
                    <a:lnTo>
                      <a:pt x="74" y="4"/>
                    </a:lnTo>
                    <a:lnTo>
                      <a:pt x="58" y="0"/>
                    </a:lnTo>
                    <a:lnTo>
                      <a:pt x="41" y="0"/>
                    </a:lnTo>
                    <a:lnTo>
                      <a:pt x="26" y="3"/>
                    </a:lnTo>
                    <a:lnTo>
                      <a:pt x="13" y="9"/>
                    </a:lnTo>
                    <a:lnTo>
                      <a:pt x="0" y="18"/>
                    </a:lnTo>
                    <a:lnTo>
                      <a:pt x="20" y="43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2" name="Freeform 297">
                <a:extLst>
                  <a:ext uri="{FF2B5EF4-FFF2-40B4-BE49-F238E27FC236}">
                    <a16:creationId xmlns:a16="http://schemas.microsoft.com/office/drawing/2014/main" id="{8BFC90DD-0D48-452F-A659-5AB919FE9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8"/>
                <a:ext cx="3" cy="8"/>
              </a:xfrm>
              <a:custGeom>
                <a:avLst/>
                <a:gdLst>
                  <a:gd name="T0" fmla="*/ 0 w 69"/>
                  <a:gd name="T1" fmla="*/ 0 h 129"/>
                  <a:gd name="T2" fmla="*/ 0 w 69"/>
                  <a:gd name="T3" fmla="*/ 0 h 129"/>
                  <a:gd name="T4" fmla="*/ 0 w 69"/>
                  <a:gd name="T5" fmla="*/ 0 h 129"/>
                  <a:gd name="T6" fmla="*/ 0 w 69"/>
                  <a:gd name="T7" fmla="*/ 0 h 129"/>
                  <a:gd name="T8" fmla="*/ 0 w 69"/>
                  <a:gd name="T9" fmla="*/ 0 h 129"/>
                  <a:gd name="T10" fmla="*/ 0 w 69"/>
                  <a:gd name="T11" fmla="*/ 0 h 129"/>
                  <a:gd name="T12" fmla="*/ 0 w 69"/>
                  <a:gd name="T13" fmla="*/ 0 h 129"/>
                  <a:gd name="T14" fmla="*/ 0 w 69"/>
                  <a:gd name="T15" fmla="*/ 0 h 129"/>
                  <a:gd name="T16" fmla="*/ 0 w 69"/>
                  <a:gd name="T17" fmla="*/ 0 h 129"/>
                  <a:gd name="T18" fmla="*/ 0 w 69"/>
                  <a:gd name="T19" fmla="*/ 0 h 129"/>
                  <a:gd name="T20" fmla="*/ 0 w 69"/>
                  <a:gd name="T21" fmla="*/ 0 h 129"/>
                  <a:gd name="T22" fmla="*/ 0 w 69"/>
                  <a:gd name="T23" fmla="*/ 0 h 129"/>
                  <a:gd name="T24" fmla="*/ 0 w 69"/>
                  <a:gd name="T25" fmla="*/ 0 h 129"/>
                  <a:gd name="T26" fmla="*/ 0 w 69"/>
                  <a:gd name="T27" fmla="*/ 0 h 129"/>
                  <a:gd name="T28" fmla="*/ 0 w 69"/>
                  <a:gd name="T29" fmla="*/ 0 h 129"/>
                  <a:gd name="T30" fmla="*/ 0 w 69"/>
                  <a:gd name="T31" fmla="*/ 0 h 129"/>
                  <a:gd name="T32" fmla="*/ 0 w 69"/>
                  <a:gd name="T33" fmla="*/ 0 h 129"/>
                  <a:gd name="T34" fmla="*/ 0 w 69"/>
                  <a:gd name="T35" fmla="*/ 0 h 129"/>
                  <a:gd name="T36" fmla="*/ 0 w 69"/>
                  <a:gd name="T37" fmla="*/ 0 h 129"/>
                  <a:gd name="T38" fmla="*/ 0 w 69"/>
                  <a:gd name="T39" fmla="*/ 0 h 129"/>
                  <a:gd name="T40" fmla="*/ 0 w 69"/>
                  <a:gd name="T41" fmla="*/ 0 h 1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29"/>
                  <a:gd name="T65" fmla="*/ 69 w 69"/>
                  <a:gd name="T66" fmla="*/ 129 h 1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29">
                    <a:moveTo>
                      <a:pt x="36" y="112"/>
                    </a:moveTo>
                    <a:lnTo>
                      <a:pt x="36" y="112"/>
                    </a:lnTo>
                    <a:lnTo>
                      <a:pt x="33" y="104"/>
                    </a:lnTo>
                    <a:lnTo>
                      <a:pt x="32" y="95"/>
                    </a:lnTo>
                    <a:lnTo>
                      <a:pt x="34" y="83"/>
                    </a:lnTo>
                    <a:lnTo>
                      <a:pt x="38" y="69"/>
                    </a:lnTo>
                    <a:lnTo>
                      <a:pt x="44" y="58"/>
                    </a:lnTo>
                    <a:lnTo>
                      <a:pt x="52" y="44"/>
                    </a:lnTo>
                    <a:lnTo>
                      <a:pt x="60" y="34"/>
                    </a:lnTo>
                    <a:lnTo>
                      <a:pt x="69" y="25"/>
                    </a:lnTo>
                    <a:lnTo>
                      <a:pt x="49" y="0"/>
                    </a:lnTo>
                    <a:lnTo>
                      <a:pt x="37" y="11"/>
                    </a:lnTo>
                    <a:lnTo>
                      <a:pt x="25" y="25"/>
                    </a:lnTo>
                    <a:lnTo>
                      <a:pt x="16" y="41"/>
                    </a:lnTo>
                    <a:lnTo>
                      <a:pt x="8" y="57"/>
                    </a:lnTo>
                    <a:lnTo>
                      <a:pt x="2" y="75"/>
                    </a:lnTo>
                    <a:lnTo>
                      <a:pt x="0" y="92"/>
                    </a:lnTo>
                    <a:lnTo>
                      <a:pt x="1" y="112"/>
                    </a:lnTo>
                    <a:lnTo>
                      <a:pt x="8" y="129"/>
                    </a:lnTo>
                    <a:lnTo>
                      <a:pt x="36" y="1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3" name="Freeform 298">
                <a:extLst>
                  <a:ext uri="{FF2B5EF4-FFF2-40B4-BE49-F238E27FC236}">
                    <a16:creationId xmlns:a16="http://schemas.microsoft.com/office/drawing/2014/main" id="{C4BFB589-13F6-464D-9E09-FE504160C5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95"/>
                <a:ext cx="5" cy="4"/>
              </a:xfrm>
              <a:custGeom>
                <a:avLst/>
                <a:gdLst>
                  <a:gd name="T0" fmla="*/ 0 w 117"/>
                  <a:gd name="T1" fmla="*/ 0 h 76"/>
                  <a:gd name="T2" fmla="*/ 0 w 117"/>
                  <a:gd name="T3" fmla="*/ 0 h 76"/>
                  <a:gd name="T4" fmla="*/ 0 w 117"/>
                  <a:gd name="T5" fmla="*/ 0 h 76"/>
                  <a:gd name="T6" fmla="*/ 0 w 117"/>
                  <a:gd name="T7" fmla="*/ 0 h 76"/>
                  <a:gd name="T8" fmla="*/ 0 w 117"/>
                  <a:gd name="T9" fmla="*/ 0 h 76"/>
                  <a:gd name="T10" fmla="*/ 0 w 117"/>
                  <a:gd name="T11" fmla="*/ 0 h 76"/>
                  <a:gd name="T12" fmla="*/ 0 w 117"/>
                  <a:gd name="T13" fmla="*/ 0 h 76"/>
                  <a:gd name="T14" fmla="*/ 0 w 117"/>
                  <a:gd name="T15" fmla="*/ 0 h 76"/>
                  <a:gd name="T16" fmla="*/ 0 w 117"/>
                  <a:gd name="T17" fmla="*/ 0 h 76"/>
                  <a:gd name="T18" fmla="*/ 0 w 117"/>
                  <a:gd name="T19" fmla="*/ 0 h 76"/>
                  <a:gd name="T20" fmla="*/ 0 w 117"/>
                  <a:gd name="T21" fmla="*/ 0 h 76"/>
                  <a:gd name="T22" fmla="*/ 0 w 117"/>
                  <a:gd name="T23" fmla="*/ 0 h 76"/>
                  <a:gd name="T24" fmla="*/ 0 w 117"/>
                  <a:gd name="T25" fmla="*/ 0 h 76"/>
                  <a:gd name="T26" fmla="*/ 0 w 117"/>
                  <a:gd name="T27" fmla="*/ 0 h 76"/>
                  <a:gd name="T28" fmla="*/ 0 w 117"/>
                  <a:gd name="T29" fmla="*/ 0 h 76"/>
                  <a:gd name="T30" fmla="*/ 0 w 117"/>
                  <a:gd name="T31" fmla="*/ 0 h 76"/>
                  <a:gd name="T32" fmla="*/ 0 w 117"/>
                  <a:gd name="T33" fmla="*/ 0 h 76"/>
                  <a:gd name="T34" fmla="*/ 0 w 117"/>
                  <a:gd name="T35" fmla="*/ 0 h 76"/>
                  <a:gd name="T36" fmla="*/ 0 w 117"/>
                  <a:gd name="T37" fmla="*/ 0 h 76"/>
                  <a:gd name="T38" fmla="*/ 0 w 117"/>
                  <a:gd name="T39" fmla="*/ 0 h 76"/>
                  <a:gd name="T40" fmla="*/ 0 w 117"/>
                  <a:gd name="T41" fmla="*/ 0 h 7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6"/>
                  <a:gd name="T65" fmla="*/ 117 w 117"/>
                  <a:gd name="T66" fmla="*/ 76 h 7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6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3" y="43"/>
                    </a:lnTo>
                    <a:lnTo>
                      <a:pt x="72" y="42"/>
                    </a:lnTo>
                    <a:lnTo>
                      <a:pt x="62" y="36"/>
                    </a:lnTo>
                    <a:lnTo>
                      <a:pt x="52" y="30"/>
                    </a:lnTo>
                    <a:lnTo>
                      <a:pt x="43" y="23"/>
                    </a:lnTo>
                    <a:lnTo>
                      <a:pt x="35" y="13"/>
                    </a:lnTo>
                    <a:lnTo>
                      <a:pt x="28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0" y="46"/>
                    </a:lnTo>
                    <a:lnTo>
                      <a:pt x="33" y="57"/>
                    </a:lnTo>
                    <a:lnTo>
                      <a:pt x="48" y="66"/>
                    </a:lnTo>
                    <a:lnTo>
                      <a:pt x="64" y="73"/>
                    </a:lnTo>
                    <a:lnTo>
                      <a:pt x="81" y="76"/>
                    </a:lnTo>
                    <a:lnTo>
                      <a:pt x="98" y="76"/>
                    </a:lnTo>
                    <a:lnTo>
                      <a:pt x="117" y="72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4" name="Freeform 299">
                <a:extLst>
                  <a:ext uri="{FF2B5EF4-FFF2-40B4-BE49-F238E27FC236}">
                    <a16:creationId xmlns:a16="http://schemas.microsoft.com/office/drawing/2014/main" id="{73C995D0-974B-41E2-9330-A63E8A6D2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4"/>
                <a:ext cx="4" cy="5"/>
              </a:xfrm>
              <a:custGeom>
                <a:avLst/>
                <a:gdLst>
                  <a:gd name="T0" fmla="*/ 0 w 79"/>
                  <a:gd name="T1" fmla="*/ 0 h 88"/>
                  <a:gd name="T2" fmla="*/ 0 w 79"/>
                  <a:gd name="T3" fmla="*/ 0 h 88"/>
                  <a:gd name="T4" fmla="*/ 0 w 79"/>
                  <a:gd name="T5" fmla="*/ 0 h 88"/>
                  <a:gd name="T6" fmla="*/ 0 w 79"/>
                  <a:gd name="T7" fmla="*/ 0 h 88"/>
                  <a:gd name="T8" fmla="*/ 0 w 79"/>
                  <a:gd name="T9" fmla="*/ 0 h 88"/>
                  <a:gd name="T10" fmla="*/ 0 w 79"/>
                  <a:gd name="T11" fmla="*/ 0 h 88"/>
                  <a:gd name="T12" fmla="*/ 0 w 79"/>
                  <a:gd name="T13" fmla="*/ 0 h 88"/>
                  <a:gd name="T14" fmla="*/ 0 w 79"/>
                  <a:gd name="T15" fmla="*/ 0 h 88"/>
                  <a:gd name="T16" fmla="*/ 0 w 79"/>
                  <a:gd name="T17" fmla="*/ 0 h 88"/>
                  <a:gd name="T18" fmla="*/ 0 w 79"/>
                  <a:gd name="T19" fmla="*/ 0 h 88"/>
                  <a:gd name="T20" fmla="*/ 0 w 79"/>
                  <a:gd name="T21" fmla="*/ 0 h 88"/>
                  <a:gd name="T22" fmla="*/ 0 w 79"/>
                  <a:gd name="T23" fmla="*/ 0 h 88"/>
                  <a:gd name="T24" fmla="*/ 0 w 79"/>
                  <a:gd name="T25" fmla="*/ 0 h 88"/>
                  <a:gd name="T26" fmla="*/ 0 w 79"/>
                  <a:gd name="T27" fmla="*/ 0 h 88"/>
                  <a:gd name="T28" fmla="*/ 0 w 79"/>
                  <a:gd name="T29" fmla="*/ 0 h 88"/>
                  <a:gd name="T30" fmla="*/ 0 w 79"/>
                  <a:gd name="T31" fmla="*/ 0 h 88"/>
                  <a:gd name="T32" fmla="*/ 0 w 79"/>
                  <a:gd name="T33" fmla="*/ 0 h 88"/>
                  <a:gd name="T34" fmla="*/ 0 w 79"/>
                  <a:gd name="T35" fmla="*/ 0 h 88"/>
                  <a:gd name="T36" fmla="*/ 0 w 79"/>
                  <a:gd name="T37" fmla="*/ 0 h 8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9"/>
                  <a:gd name="T58" fmla="*/ 0 h 88"/>
                  <a:gd name="T59" fmla="*/ 79 w 79"/>
                  <a:gd name="T60" fmla="*/ 88 h 8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9" h="88">
                    <a:moveTo>
                      <a:pt x="47" y="0"/>
                    </a:moveTo>
                    <a:lnTo>
                      <a:pt x="46" y="8"/>
                    </a:lnTo>
                    <a:lnTo>
                      <a:pt x="44" y="15"/>
                    </a:lnTo>
                    <a:lnTo>
                      <a:pt x="40" y="24"/>
                    </a:lnTo>
                    <a:lnTo>
                      <a:pt x="35" y="32"/>
                    </a:lnTo>
                    <a:lnTo>
                      <a:pt x="28" y="39"/>
                    </a:lnTo>
                    <a:lnTo>
                      <a:pt x="21" y="46"/>
                    </a:lnTo>
                    <a:lnTo>
                      <a:pt x="11" y="52"/>
                    </a:lnTo>
                    <a:lnTo>
                      <a:pt x="0" y="57"/>
                    </a:lnTo>
                    <a:lnTo>
                      <a:pt x="10" y="88"/>
                    </a:lnTo>
                    <a:lnTo>
                      <a:pt x="25" y="82"/>
                    </a:lnTo>
                    <a:lnTo>
                      <a:pt x="40" y="73"/>
                    </a:lnTo>
                    <a:lnTo>
                      <a:pt x="51" y="64"/>
                    </a:lnTo>
                    <a:lnTo>
                      <a:pt x="61" y="53"/>
                    </a:lnTo>
                    <a:lnTo>
                      <a:pt x="68" y="41"/>
                    </a:lnTo>
                    <a:lnTo>
                      <a:pt x="74" y="28"/>
                    </a:lnTo>
                    <a:lnTo>
                      <a:pt x="78" y="14"/>
                    </a:lnTo>
                    <a:lnTo>
                      <a:pt x="79" y="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5" name="Freeform 300">
                <a:extLst>
                  <a:ext uri="{FF2B5EF4-FFF2-40B4-BE49-F238E27FC236}">
                    <a16:creationId xmlns:a16="http://schemas.microsoft.com/office/drawing/2014/main" id="{9E99BD21-2DBB-43A6-98B6-8488DFCF3F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7"/>
                <a:ext cx="2" cy="1"/>
              </a:xfrm>
              <a:custGeom>
                <a:avLst/>
                <a:gdLst>
                  <a:gd name="T0" fmla="*/ 0 w 32"/>
                  <a:gd name="T1" fmla="*/ 0 h 18"/>
                  <a:gd name="T2" fmla="*/ 0 w 32"/>
                  <a:gd name="T3" fmla="*/ 0 h 18"/>
                  <a:gd name="T4" fmla="*/ 0 w 32"/>
                  <a:gd name="T5" fmla="*/ 0 h 18"/>
                  <a:gd name="T6" fmla="*/ 0 w 32"/>
                  <a:gd name="T7" fmla="*/ 0 h 18"/>
                  <a:gd name="T8" fmla="*/ 0 w 32"/>
                  <a:gd name="T9" fmla="*/ 0 h 18"/>
                  <a:gd name="T10" fmla="*/ 0 w 32"/>
                  <a:gd name="T11" fmla="*/ 0 h 18"/>
                  <a:gd name="T12" fmla="*/ 0 w 32"/>
                  <a:gd name="T13" fmla="*/ 0 h 18"/>
                  <a:gd name="T14" fmla="*/ 0 w 32"/>
                  <a:gd name="T15" fmla="*/ 0 h 18"/>
                  <a:gd name="T16" fmla="*/ 0 w 32"/>
                  <a:gd name="T17" fmla="*/ 0 h 18"/>
                  <a:gd name="T18" fmla="*/ 0 w 32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8"/>
                  <a:gd name="T32" fmla="*/ 32 w 32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8">
                    <a:moveTo>
                      <a:pt x="32" y="18"/>
                    </a:moveTo>
                    <a:lnTo>
                      <a:pt x="31" y="11"/>
                    </a:lnTo>
                    <a:lnTo>
                      <a:pt x="28" y="6"/>
                    </a:lnTo>
                    <a:lnTo>
                      <a:pt x="23" y="3"/>
                    </a:lnTo>
                    <a:lnTo>
                      <a:pt x="17" y="0"/>
                    </a:lnTo>
                    <a:lnTo>
                      <a:pt x="11" y="2"/>
                    </a:lnTo>
                    <a:lnTo>
                      <a:pt x="6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32" y="18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6" name="Freeform 301">
                <a:extLst>
                  <a:ext uri="{FF2B5EF4-FFF2-40B4-BE49-F238E27FC236}">
                    <a16:creationId xmlns:a16="http://schemas.microsoft.com/office/drawing/2014/main" id="{F646E39A-0C6B-483E-8CEA-45A387E0C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4"/>
                <a:ext cx="1" cy="2"/>
              </a:xfrm>
              <a:custGeom>
                <a:avLst/>
                <a:gdLst>
                  <a:gd name="T0" fmla="*/ 0 w 22"/>
                  <a:gd name="T1" fmla="*/ 0 h 32"/>
                  <a:gd name="T2" fmla="*/ 0 w 22"/>
                  <a:gd name="T3" fmla="*/ 0 h 32"/>
                  <a:gd name="T4" fmla="*/ 0 w 22"/>
                  <a:gd name="T5" fmla="*/ 0 h 32"/>
                  <a:gd name="T6" fmla="*/ 0 w 22"/>
                  <a:gd name="T7" fmla="*/ 0 h 32"/>
                  <a:gd name="T8" fmla="*/ 0 w 22"/>
                  <a:gd name="T9" fmla="*/ 0 h 32"/>
                  <a:gd name="T10" fmla="*/ 0 w 22"/>
                  <a:gd name="T11" fmla="*/ 0 h 32"/>
                  <a:gd name="T12" fmla="*/ 0 w 22"/>
                  <a:gd name="T13" fmla="*/ 0 h 32"/>
                  <a:gd name="T14" fmla="*/ 0 w 22"/>
                  <a:gd name="T15" fmla="*/ 0 h 32"/>
                  <a:gd name="T16" fmla="*/ 0 w 22"/>
                  <a:gd name="T17" fmla="*/ 0 h 32"/>
                  <a:gd name="T18" fmla="*/ 0 w 22"/>
                  <a:gd name="T19" fmla="*/ 0 h 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"/>
                  <a:gd name="T31" fmla="*/ 0 h 32"/>
                  <a:gd name="T32" fmla="*/ 22 w 22"/>
                  <a:gd name="T33" fmla="*/ 32 h 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" h="32">
                    <a:moveTo>
                      <a:pt x="12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9" y="30"/>
                    </a:lnTo>
                    <a:lnTo>
                      <a:pt x="15" y="32"/>
                    </a:lnTo>
                    <a:lnTo>
                      <a:pt x="22" y="3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7" name="Freeform 302">
                <a:extLst>
                  <a:ext uri="{FF2B5EF4-FFF2-40B4-BE49-F238E27FC236}">
                    <a16:creationId xmlns:a16="http://schemas.microsoft.com/office/drawing/2014/main" id="{14CF3772-472E-4D19-8895-6432C79EBA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0"/>
                <a:ext cx="4" cy="5"/>
              </a:xfrm>
              <a:custGeom>
                <a:avLst/>
                <a:gdLst>
                  <a:gd name="T0" fmla="*/ 0 w 74"/>
                  <a:gd name="T1" fmla="*/ 0 h 99"/>
                  <a:gd name="T2" fmla="*/ 0 w 74"/>
                  <a:gd name="T3" fmla="*/ 0 h 99"/>
                  <a:gd name="T4" fmla="*/ 0 w 74"/>
                  <a:gd name="T5" fmla="*/ 0 h 99"/>
                  <a:gd name="T6" fmla="*/ 0 w 74"/>
                  <a:gd name="T7" fmla="*/ 0 h 99"/>
                  <a:gd name="T8" fmla="*/ 0 w 74"/>
                  <a:gd name="T9" fmla="*/ 0 h 99"/>
                  <a:gd name="T10" fmla="*/ 0 w 74"/>
                  <a:gd name="T11" fmla="*/ 0 h 99"/>
                  <a:gd name="T12" fmla="*/ 0 w 74"/>
                  <a:gd name="T13" fmla="*/ 0 h 99"/>
                  <a:gd name="T14" fmla="*/ 0 w 74"/>
                  <a:gd name="T15" fmla="*/ 0 h 99"/>
                  <a:gd name="T16" fmla="*/ 0 w 74"/>
                  <a:gd name="T17" fmla="*/ 0 h 99"/>
                  <a:gd name="T18" fmla="*/ 0 w 74"/>
                  <a:gd name="T19" fmla="*/ 0 h 99"/>
                  <a:gd name="T20" fmla="*/ 0 w 74"/>
                  <a:gd name="T21" fmla="*/ 0 h 99"/>
                  <a:gd name="T22" fmla="*/ 0 w 74"/>
                  <a:gd name="T23" fmla="*/ 0 h 99"/>
                  <a:gd name="T24" fmla="*/ 0 w 74"/>
                  <a:gd name="T25" fmla="*/ 0 h 99"/>
                  <a:gd name="T26" fmla="*/ 0 w 74"/>
                  <a:gd name="T27" fmla="*/ 0 h 99"/>
                  <a:gd name="T28" fmla="*/ 0 w 74"/>
                  <a:gd name="T29" fmla="*/ 0 h 99"/>
                  <a:gd name="T30" fmla="*/ 0 w 74"/>
                  <a:gd name="T31" fmla="*/ 0 h 99"/>
                  <a:gd name="T32" fmla="*/ 0 w 74"/>
                  <a:gd name="T33" fmla="*/ 0 h 99"/>
                  <a:gd name="T34" fmla="*/ 0 w 74"/>
                  <a:gd name="T35" fmla="*/ 0 h 99"/>
                  <a:gd name="T36" fmla="*/ 0 w 74"/>
                  <a:gd name="T37" fmla="*/ 0 h 99"/>
                  <a:gd name="T38" fmla="*/ 0 w 74"/>
                  <a:gd name="T39" fmla="*/ 0 h 99"/>
                  <a:gd name="T40" fmla="*/ 0 w 74"/>
                  <a:gd name="T41" fmla="*/ 0 h 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4"/>
                  <a:gd name="T64" fmla="*/ 0 h 99"/>
                  <a:gd name="T65" fmla="*/ 74 w 74"/>
                  <a:gd name="T66" fmla="*/ 99 h 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4" h="99">
                    <a:moveTo>
                      <a:pt x="39" y="13"/>
                    </a:moveTo>
                    <a:lnTo>
                      <a:pt x="39" y="12"/>
                    </a:lnTo>
                    <a:lnTo>
                      <a:pt x="41" y="22"/>
                    </a:lnTo>
                    <a:lnTo>
                      <a:pt x="41" y="30"/>
                    </a:lnTo>
                    <a:lnTo>
                      <a:pt x="38" y="37"/>
                    </a:lnTo>
                    <a:lnTo>
                      <a:pt x="35" y="43"/>
                    </a:lnTo>
                    <a:lnTo>
                      <a:pt x="28" y="51"/>
                    </a:lnTo>
                    <a:lnTo>
                      <a:pt x="20" y="58"/>
                    </a:lnTo>
                    <a:lnTo>
                      <a:pt x="11" y="62"/>
                    </a:lnTo>
                    <a:lnTo>
                      <a:pt x="0" y="68"/>
                    </a:lnTo>
                    <a:lnTo>
                      <a:pt x="10" y="99"/>
                    </a:lnTo>
                    <a:lnTo>
                      <a:pt x="25" y="94"/>
                    </a:lnTo>
                    <a:lnTo>
                      <a:pt x="38" y="85"/>
                    </a:lnTo>
                    <a:lnTo>
                      <a:pt x="51" y="76"/>
                    </a:lnTo>
                    <a:lnTo>
                      <a:pt x="62" y="64"/>
                    </a:lnTo>
                    <a:lnTo>
                      <a:pt x="69" y="52"/>
                    </a:lnTo>
                    <a:lnTo>
                      <a:pt x="74" y="36"/>
                    </a:lnTo>
                    <a:lnTo>
                      <a:pt x="74" y="18"/>
                    </a:lnTo>
                    <a:lnTo>
                      <a:pt x="70" y="1"/>
                    </a:lnTo>
                    <a:lnTo>
                      <a:pt x="70" y="0"/>
                    </a:lnTo>
                    <a:lnTo>
                      <a:pt x="39" y="13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8" name="Freeform 303">
                <a:extLst>
                  <a:ext uri="{FF2B5EF4-FFF2-40B4-BE49-F238E27FC236}">
                    <a16:creationId xmlns:a16="http://schemas.microsoft.com/office/drawing/2014/main" id="{6A0F22F1-153A-4138-BF12-14EC1A675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88"/>
                <a:ext cx="5" cy="3"/>
              </a:xfrm>
              <a:custGeom>
                <a:avLst/>
                <a:gdLst>
                  <a:gd name="T0" fmla="*/ 0 w 108"/>
                  <a:gd name="T1" fmla="*/ 0 h 50"/>
                  <a:gd name="T2" fmla="*/ 0 w 108"/>
                  <a:gd name="T3" fmla="*/ 0 h 50"/>
                  <a:gd name="T4" fmla="*/ 0 w 108"/>
                  <a:gd name="T5" fmla="*/ 0 h 50"/>
                  <a:gd name="T6" fmla="*/ 0 w 108"/>
                  <a:gd name="T7" fmla="*/ 0 h 50"/>
                  <a:gd name="T8" fmla="*/ 0 w 108"/>
                  <a:gd name="T9" fmla="*/ 0 h 50"/>
                  <a:gd name="T10" fmla="*/ 0 w 108"/>
                  <a:gd name="T11" fmla="*/ 0 h 50"/>
                  <a:gd name="T12" fmla="*/ 0 w 108"/>
                  <a:gd name="T13" fmla="*/ 0 h 50"/>
                  <a:gd name="T14" fmla="*/ 0 w 108"/>
                  <a:gd name="T15" fmla="*/ 0 h 50"/>
                  <a:gd name="T16" fmla="*/ 0 w 108"/>
                  <a:gd name="T17" fmla="*/ 0 h 50"/>
                  <a:gd name="T18" fmla="*/ 0 w 108"/>
                  <a:gd name="T19" fmla="*/ 0 h 50"/>
                  <a:gd name="T20" fmla="*/ 0 w 108"/>
                  <a:gd name="T21" fmla="*/ 0 h 50"/>
                  <a:gd name="T22" fmla="*/ 0 w 108"/>
                  <a:gd name="T23" fmla="*/ 0 h 50"/>
                  <a:gd name="T24" fmla="*/ 0 w 108"/>
                  <a:gd name="T25" fmla="*/ 0 h 50"/>
                  <a:gd name="T26" fmla="*/ 0 w 108"/>
                  <a:gd name="T27" fmla="*/ 0 h 50"/>
                  <a:gd name="T28" fmla="*/ 0 w 108"/>
                  <a:gd name="T29" fmla="*/ 0 h 50"/>
                  <a:gd name="T30" fmla="*/ 0 w 108"/>
                  <a:gd name="T31" fmla="*/ 0 h 50"/>
                  <a:gd name="T32" fmla="*/ 0 w 108"/>
                  <a:gd name="T33" fmla="*/ 0 h 50"/>
                  <a:gd name="T34" fmla="*/ 0 w 108"/>
                  <a:gd name="T35" fmla="*/ 0 h 50"/>
                  <a:gd name="T36" fmla="*/ 0 w 108"/>
                  <a:gd name="T37" fmla="*/ 0 h 50"/>
                  <a:gd name="T38" fmla="*/ 0 w 108"/>
                  <a:gd name="T39" fmla="*/ 0 h 50"/>
                  <a:gd name="T40" fmla="*/ 0 w 108"/>
                  <a:gd name="T41" fmla="*/ 0 h 5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50"/>
                  <a:gd name="T65" fmla="*/ 108 w 108"/>
                  <a:gd name="T66" fmla="*/ 50 h 5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50">
                    <a:moveTo>
                      <a:pt x="20" y="44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7" y="35"/>
                    </a:lnTo>
                    <a:lnTo>
                      <a:pt x="46" y="34"/>
                    </a:lnTo>
                    <a:lnTo>
                      <a:pt x="54" y="34"/>
                    </a:lnTo>
                    <a:lnTo>
                      <a:pt x="61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50"/>
                    </a:lnTo>
                    <a:lnTo>
                      <a:pt x="108" y="37"/>
                    </a:lnTo>
                    <a:lnTo>
                      <a:pt x="99" y="22"/>
                    </a:lnTo>
                    <a:lnTo>
                      <a:pt x="88" y="12"/>
                    </a:lnTo>
                    <a:lnTo>
                      <a:pt x="73" y="4"/>
                    </a:lnTo>
                    <a:lnTo>
                      <a:pt x="58" y="0"/>
                    </a:lnTo>
                    <a:lnTo>
                      <a:pt x="42" y="0"/>
                    </a:lnTo>
                    <a:lnTo>
                      <a:pt x="26" y="3"/>
                    </a:lnTo>
                    <a:lnTo>
                      <a:pt x="13" y="10"/>
                    </a:lnTo>
                    <a:lnTo>
                      <a:pt x="0" y="18"/>
                    </a:lnTo>
                    <a:lnTo>
                      <a:pt x="0" y="17"/>
                    </a:lnTo>
                    <a:lnTo>
                      <a:pt x="20" y="4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29" name="Freeform 304">
                <a:extLst>
                  <a:ext uri="{FF2B5EF4-FFF2-40B4-BE49-F238E27FC236}">
                    <a16:creationId xmlns:a16="http://schemas.microsoft.com/office/drawing/2014/main" id="{9F4F77B4-9556-43A6-8692-E2EA4316D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9"/>
                <a:ext cx="4" cy="7"/>
              </a:xfrm>
              <a:custGeom>
                <a:avLst/>
                <a:gdLst>
                  <a:gd name="T0" fmla="*/ 0 w 69"/>
                  <a:gd name="T1" fmla="*/ 0 h 131"/>
                  <a:gd name="T2" fmla="*/ 0 w 69"/>
                  <a:gd name="T3" fmla="*/ 0 h 131"/>
                  <a:gd name="T4" fmla="*/ 0 w 69"/>
                  <a:gd name="T5" fmla="*/ 0 h 131"/>
                  <a:gd name="T6" fmla="*/ 0 w 69"/>
                  <a:gd name="T7" fmla="*/ 0 h 131"/>
                  <a:gd name="T8" fmla="*/ 0 w 69"/>
                  <a:gd name="T9" fmla="*/ 0 h 131"/>
                  <a:gd name="T10" fmla="*/ 0 w 69"/>
                  <a:gd name="T11" fmla="*/ 0 h 131"/>
                  <a:gd name="T12" fmla="*/ 0 w 69"/>
                  <a:gd name="T13" fmla="*/ 0 h 131"/>
                  <a:gd name="T14" fmla="*/ 0 w 69"/>
                  <a:gd name="T15" fmla="*/ 0 h 131"/>
                  <a:gd name="T16" fmla="*/ 0 w 69"/>
                  <a:gd name="T17" fmla="*/ 0 h 131"/>
                  <a:gd name="T18" fmla="*/ 0 w 69"/>
                  <a:gd name="T19" fmla="*/ 0 h 131"/>
                  <a:gd name="T20" fmla="*/ 0 w 69"/>
                  <a:gd name="T21" fmla="*/ 0 h 131"/>
                  <a:gd name="T22" fmla="*/ 0 w 69"/>
                  <a:gd name="T23" fmla="*/ 0 h 131"/>
                  <a:gd name="T24" fmla="*/ 0 w 69"/>
                  <a:gd name="T25" fmla="*/ 0 h 131"/>
                  <a:gd name="T26" fmla="*/ 0 w 69"/>
                  <a:gd name="T27" fmla="*/ 0 h 131"/>
                  <a:gd name="T28" fmla="*/ 0 w 69"/>
                  <a:gd name="T29" fmla="*/ 0 h 131"/>
                  <a:gd name="T30" fmla="*/ 0 w 69"/>
                  <a:gd name="T31" fmla="*/ 0 h 131"/>
                  <a:gd name="T32" fmla="*/ 0 w 69"/>
                  <a:gd name="T33" fmla="*/ 0 h 131"/>
                  <a:gd name="T34" fmla="*/ 0 w 69"/>
                  <a:gd name="T35" fmla="*/ 0 h 131"/>
                  <a:gd name="T36" fmla="*/ 0 w 69"/>
                  <a:gd name="T37" fmla="*/ 0 h 131"/>
                  <a:gd name="T38" fmla="*/ 0 w 69"/>
                  <a:gd name="T39" fmla="*/ 0 h 131"/>
                  <a:gd name="T40" fmla="*/ 0 w 69"/>
                  <a:gd name="T41" fmla="*/ 0 h 13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31"/>
                  <a:gd name="T65" fmla="*/ 69 w 69"/>
                  <a:gd name="T66" fmla="*/ 131 h 13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31">
                    <a:moveTo>
                      <a:pt x="36" y="114"/>
                    </a:moveTo>
                    <a:lnTo>
                      <a:pt x="36" y="114"/>
                    </a:lnTo>
                    <a:lnTo>
                      <a:pt x="34" y="107"/>
                    </a:lnTo>
                    <a:lnTo>
                      <a:pt x="33" y="96"/>
                    </a:lnTo>
                    <a:lnTo>
                      <a:pt x="35" y="83"/>
                    </a:lnTo>
                    <a:lnTo>
                      <a:pt x="38" y="72"/>
                    </a:lnTo>
                    <a:lnTo>
                      <a:pt x="44" y="59"/>
                    </a:lnTo>
                    <a:lnTo>
                      <a:pt x="52" y="46"/>
                    </a:lnTo>
                    <a:lnTo>
                      <a:pt x="60" y="36"/>
                    </a:lnTo>
                    <a:lnTo>
                      <a:pt x="69" y="27"/>
                    </a:lnTo>
                    <a:lnTo>
                      <a:pt x="49" y="0"/>
                    </a:lnTo>
                    <a:lnTo>
                      <a:pt x="36" y="13"/>
                    </a:lnTo>
                    <a:lnTo>
                      <a:pt x="25" y="27"/>
                    </a:lnTo>
                    <a:lnTo>
                      <a:pt x="15" y="42"/>
                    </a:lnTo>
                    <a:lnTo>
                      <a:pt x="7" y="59"/>
                    </a:lnTo>
                    <a:lnTo>
                      <a:pt x="2" y="77"/>
                    </a:lnTo>
                    <a:lnTo>
                      <a:pt x="0" y="94"/>
                    </a:lnTo>
                    <a:lnTo>
                      <a:pt x="1" y="113"/>
                    </a:lnTo>
                    <a:lnTo>
                      <a:pt x="7" y="131"/>
                    </a:lnTo>
                    <a:lnTo>
                      <a:pt x="36" y="11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0" name="Freeform 305">
                <a:extLst>
                  <a:ext uri="{FF2B5EF4-FFF2-40B4-BE49-F238E27FC236}">
                    <a16:creationId xmlns:a16="http://schemas.microsoft.com/office/drawing/2014/main" id="{8C325AAE-3B48-4750-97EC-DB7969851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095"/>
                <a:ext cx="5" cy="4"/>
              </a:xfrm>
              <a:custGeom>
                <a:avLst/>
                <a:gdLst>
                  <a:gd name="T0" fmla="*/ 0 w 117"/>
                  <a:gd name="T1" fmla="*/ 0 h 77"/>
                  <a:gd name="T2" fmla="*/ 0 w 117"/>
                  <a:gd name="T3" fmla="*/ 0 h 77"/>
                  <a:gd name="T4" fmla="*/ 0 w 117"/>
                  <a:gd name="T5" fmla="*/ 0 h 77"/>
                  <a:gd name="T6" fmla="*/ 0 w 117"/>
                  <a:gd name="T7" fmla="*/ 0 h 77"/>
                  <a:gd name="T8" fmla="*/ 0 w 117"/>
                  <a:gd name="T9" fmla="*/ 0 h 77"/>
                  <a:gd name="T10" fmla="*/ 0 w 117"/>
                  <a:gd name="T11" fmla="*/ 0 h 77"/>
                  <a:gd name="T12" fmla="*/ 0 w 117"/>
                  <a:gd name="T13" fmla="*/ 0 h 77"/>
                  <a:gd name="T14" fmla="*/ 0 w 117"/>
                  <a:gd name="T15" fmla="*/ 0 h 77"/>
                  <a:gd name="T16" fmla="*/ 0 w 117"/>
                  <a:gd name="T17" fmla="*/ 0 h 77"/>
                  <a:gd name="T18" fmla="*/ 0 w 117"/>
                  <a:gd name="T19" fmla="*/ 0 h 77"/>
                  <a:gd name="T20" fmla="*/ 0 w 117"/>
                  <a:gd name="T21" fmla="*/ 0 h 77"/>
                  <a:gd name="T22" fmla="*/ 0 w 117"/>
                  <a:gd name="T23" fmla="*/ 0 h 77"/>
                  <a:gd name="T24" fmla="*/ 0 w 117"/>
                  <a:gd name="T25" fmla="*/ 0 h 77"/>
                  <a:gd name="T26" fmla="*/ 0 w 117"/>
                  <a:gd name="T27" fmla="*/ 0 h 77"/>
                  <a:gd name="T28" fmla="*/ 0 w 117"/>
                  <a:gd name="T29" fmla="*/ 0 h 77"/>
                  <a:gd name="T30" fmla="*/ 0 w 117"/>
                  <a:gd name="T31" fmla="*/ 0 h 77"/>
                  <a:gd name="T32" fmla="*/ 0 w 117"/>
                  <a:gd name="T33" fmla="*/ 0 h 77"/>
                  <a:gd name="T34" fmla="*/ 0 w 117"/>
                  <a:gd name="T35" fmla="*/ 0 h 77"/>
                  <a:gd name="T36" fmla="*/ 0 w 117"/>
                  <a:gd name="T37" fmla="*/ 0 h 77"/>
                  <a:gd name="T38" fmla="*/ 0 w 117"/>
                  <a:gd name="T39" fmla="*/ 0 h 77"/>
                  <a:gd name="T40" fmla="*/ 0 w 117"/>
                  <a:gd name="T41" fmla="*/ 0 h 7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7"/>
                  <a:gd name="T65" fmla="*/ 117 w 117"/>
                  <a:gd name="T66" fmla="*/ 77 h 7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7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5" y="43"/>
                    </a:lnTo>
                    <a:lnTo>
                      <a:pt x="75" y="41"/>
                    </a:lnTo>
                    <a:lnTo>
                      <a:pt x="63" y="37"/>
                    </a:lnTo>
                    <a:lnTo>
                      <a:pt x="54" y="29"/>
                    </a:lnTo>
                    <a:lnTo>
                      <a:pt x="44" y="22"/>
                    </a:lnTo>
                    <a:lnTo>
                      <a:pt x="36" y="13"/>
                    </a:lnTo>
                    <a:lnTo>
                      <a:pt x="29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1" y="45"/>
                    </a:lnTo>
                    <a:lnTo>
                      <a:pt x="34" y="57"/>
                    </a:lnTo>
                    <a:lnTo>
                      <a:pt x="49" y="66"/>
                    </a:lnTo>
                    <a:lnTo>
                      <a:pt x="64" y="73"/>
                    </a:lnTo>
                    <a:lnTo>
                      <a:pt x="81" y="77"/>
                    </a:lnTo>
                    <a:lnTo>
                      <a:pt x="98" y="77"/>
                    </a:lnTo>
                    <a:lnTo>
                      <a:pt x="117" y="73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1" name="Freeform 306">
                <a:extLst>
                  <a:ext uri="{FF2B5EF4-FFF2-40B4-BE49-F238E27FC236}">
                    <a16:creationId xmlns:a16="http://schemas.microsoft.com/office/drawing/2014/main" id="{D881F009-E405-4D01-A916-7BFFE6B6E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3094"/>
                <a:ext cx="3" cy="5"/>
              </a:xfrm>
              <a:custGeom>
                <a:avLst/>
                <a:gdLst>
                  <a:gd name="T0" fmla="*/ 0 w 81"/>
                  <a:gd name="T1" fmla="*/ 0 h 90"/>
                  <a:gd name="T2" fmla="*/ 0 w 81"/>
                  <a:gd name="T3" fmla="*/ 0 h 90"/>
                  <a:gd name="T4" fmla="*/ 0 w 81"/>
                  <a:gd name="T5" fmla="*/ 0 h 90"/>
                  <a:gd name="T6" fmla="*/ 0 w 81"/>
                  <a:gd name="T7" fmla="*/ 0 h 90"/>
                  <a:gd name="T8" fmla="*/ 0 w 81"/>
                  <a:gd name="T9" fmla="*/ 0 h 90"/>
                  <a:gd name="T10" fmla="*/ 0 w 81"/>
                  <a:gd name="T11" fmla="*/ 0 h 90"/>
                  <a:gd name="T12" fmla="*/ 0 w 81"/>
                  <a:gd name="T13" fmla="*/ 0 h 90"/>
                  <a:gd name="T14" fmla="*/ 0 w 81"/>
                  <a:gd name="T15" fmla="*/ 0 h 90"/>
                  <a:gd name="T16" fmla="*/ 0 w 81"/>
                  <a:gd name="T17" fmla="*/ 0 h 90"/>
                  <a:gd name="T18" fmla="*/ 0 w 81"/>
                  <a:gd name="T19" fmla="*/ 0 h 90"/>
                  <a:gd name="T20" fmla="*/ 0 w 81"/>
                  <a:gd name="T21" fmla="*/ 0 h 90"/>
                  <a:gd name="T22" fmla="*/ 0 w 81"/>
                  <a:gd name="T23" fmla="*/ 0 h 90"/>
                  <a:gd name="T24" fmla="*/ 0 w 81"/>
                  <a:gd name="T25" fmla="*/ 0 h 90"/>
                  <a:gd name="T26" fmla="*/ 0 w 81"/>
                  <a:gd name="T27" fmla="*/ 0 h 90"/>
                  <a:gd name="T28" fmla="*/ 0 w 81"/>
                  <a:gd name="T29" fmla="*/ 0 h 90"/>
                  <a:gd name="T30" fmla="*/ 0 w 81"/>
                  <a:gd name="T31" fmla="*/ 0 h 90"/>
                  <a:gd name="T32" fmla="*/ 0 w 81"/>
                  <a:gd name="T33" fmla="*/ 0 h 90"/>
                  <a:gd name="T34" fmla="*/ 0 w 81"/>
                  <a:gd name="T35" fmla="*/ 0 h 90"/>
                  <a:gd name="T36" fmla="*/ 0 w 81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90"/>
                  <a:gd name="T59" fmla="*/ 81 w 81"/>
                  <a:gd name="T60" fmla="*/ 90 h 9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90">
                    <a:moveTo>
                      <a:pt x="48" y="0"/>
                    </a:moveTo>
                    <a:lnTo>
                      <a:pt x="47" y="8"/>
                    </a:lnTo>
                    <a:lnTo>
                      <a:pt x="44" y="18"/>
                    </a:lnTo>
                    <a:lnTo>
                      <a:pt x="41" y="26"/>
                    </a:lnTo>
                    <a:lnTo>
                      <a:pt x="36" y="34"/>
                    </a:lnTo>
                    <a:lnTo>
                      <a:pt x="31" y="40"/>
                    </a:lnTo>
                    <a:lnTo>
                      <a:pt x="22" y="47"/>
                    </a:lnTo>
                    <a:lnTo>
                      <a:pt x="12" y="54"/>
                    </a:lnTo>
                    <a:lnTo>
                      <a:pt x="0" y="58"/>
                    </a:lnTo>
                    <a:lnTo>
                      <a:pt x="10" y="90"/>
                    </a:lnTo>
                    <a:lnTo>
                      <a:pt x="27" y="83"/>
                    </a:lnTo>
                    <a:lnTo>
                      <a:pt x="40" y="75"/>
                    </a:lnTo>
                    <a:lnTo>
                      <a:pt x="51" y="65"/>
                    </a:lnTo>
                    <a:lnTo>
                      <a:pt x="62" y="55"/>
                    </a:lnTo>
                    <a:lnTo>
                      <a:pt x="70" y="41"/>
                    </a:lnTo>
                    <a:lnTo>
                      <a:pt x="75" y="28"/>
                    </a:lnTo>
                    <a:lnTo>
                      <a:pt x="78" y="17"/>
                    </a:lnTo>
                    <a:lnTo>
                      <a:pt x="81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2" name="Freeform 307">
                <a:extLst>
                  <a:ext uri="{FF2B5EF4-FFF2-40B4-BE49-F238E27FC236}">
                    <a16:creationId xmlns:a16="http://schemas.microsoft.com/office/drawing/2014/main" id="{5FAE4AF0-1D66-4BFA-B472-6C57A9F70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7"/>
                <a:ext cx="2" cy="1"/>
              </a:xfrm>
              <a:custGeom>
                <a:avLst/>
                <a:gdLst>
                  <a:gd name="T0" fmla="*/ 0 w 33"/>
                  <a:gd name="T1" fmla="*/ 0 h 19"/>
                  <a:gd name="T2" fmla="*/ 0 w 33"/>
                  <a:gd name="T3" fmla="*/ 0 h 19"/>
                  <a:gd name="T4" fmla="*/ 0 w 33"/>
                  <a:gd name="T5" fmla="*/ 0 h 19"/>
                  <a:gd name="T6" fmla="*/ 0 w 33"/>
                  <a:gd name="T7" fmla="*/ 0 h 19"/>
                  <a:gd name="T8" fmla="*/ 0 w 33"/>
                  <a:gd name="T9" fmla="*/ 0 h 19"/>
                  <a:gd name="T10" fmla="*/ 0 w 33"/>
                  <a:gd name="T11" fmla="*/ 0 h 19"/>
                  <a:gd name="T12" fmla="*/ 0 w 33"/>
                  <a:gd name="T13" fmla="*/ 0 h 19"/>
                  <a:gd name="T14" fmla="*/ 0 w 33"/>
                  <a:gd name="T15" fmla="*/ 0 h 19"/>
                  <a:gd name="T16" fmla="*/ 0 w 33"/>
                  <a:gd name="T17" fmla="*/ 0 h 19"/>
                  <a:gd name="T18" fmla="*/ 0 w 33"/>
                  <a:gd name="T19" fmla="*/ 0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3"/>
                  <a:gd name="T31" fmla="*/ 0 h 19"/>
                  <a:gd name="T32" fmla="*/ 33 w 33"/>
                  <a:gd name="T33" fmla="*/ 19 h 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3" h="19">
                    <a:moveTo>
                      <a:pt x="33" y="19"/>
                    </a:moveTo>
                    <a:lnTo>
                      <a:pt x="32" y="12"/>
                    </a:lnTo>
                    <a:lnTo>
                      <a:pt x="28" y="6"/>
                    </a:lnTo>
                    <a:lnTo>
                      <a:pt x="23" y="2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6" y="3"/>
                    </a:lnTo>
                    <a:lnTo>
                      <a:pt x="2" y="7"/>
                    </a:lnTo>
                    <a:lnTo>
                      <a:pt x="0" y="15"/>
                    </a:lnTo>
                    <a:lnTo>
                      <a:pt x="33" y="19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3" name="Freeform 308">
                <a:extLst>
                  <a:ext uri="{FF2B5EF4-FFF2-40B4-BE49-F238E27FC236}">
                    <a16:creationId xmlns:a16="http://schemas.microsoft.com/office/drawing/2014/main" id="{CA231FCC-CC02-47CF-B7B3-1C09A2AA3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" y="3240"/>
                <a:ext cx="1" cy="1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5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4" name="Freeform 309">
                <a:extLst>
                  <a:ext uri="{FF2B5EF4-FFF2-40B4-BE49-F238E27FC236}">
                    <a16:creationId xmlns:a16="http://schemas.microsoft.com/office/drawing/2014/main" id="{0469286A-5788-49D3-9357-CE48BA0C3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1"/>
                <a:ext cx="10" cy="20"/>
              </a:xfrm>
              <a:custGeom>
                <a:avLst/>
                <a:gdLst>
                  <a:gd name="T0" fmla="*/ 0 w 218"/>
                  <a:gd name="T1" fmla="*/ 0 h 365"/>
                  <a:gd name="T2" fmla="*/ 0 w 218"/>
                  <a:gd name="T3" fmla="*/ 0 h 365"/>
                  <a:gd name="T4" fmla="*/ 0 w 218"/>
                  <a:gd name="T5" fmla="*/ 0 h 365"/>
                  <a:gd name="T6" fmla="*/ 0 w 218"/>
                  <a:gd name="T7" fmla="*/ 0 h 365"/>
                  <a:gd name="T8" fmla="*/ 0 w 218"/>
                  <a:gd name="T9" fmla="*/ 0 h 365"/>
                  <a:gd name="T10" fmla="*/ 0 w 218"/>
                  <a:gd name="T11" fmla="*/ 0 h 365"/>
                  <a:gd name="T12" fmla="*/ 0 w 218"/>
                  <a:gd name="T13" fmla="*/ 0 h 365"/>
                  <a:gd name="T14" fmla="*/ 0 w 218"/>
                  <a:gd name="T15" fmla="*/ 0 h 365"/>
                  <a:gd name="T16" fmla="*/ 0 w 218"/>
                  <a:gd name="T17" fmla="*/ 0 h 365"/>
                  <a:gd name="T18" fmla="*/ 0 w 218"/>
                  <a:gd name="T19" fmla="*/ 0 h 365"/>
                  <a:gd name="T20" fmla="*/ 0 w 218"/>
                  <a:gd name="T21" fmla="*/ 0 h 365"/>
                  <a:gd name="T22" fmla="*/ 0 w 218"/>
                  <a:gd name="T23" fmla="*/ 0 h 365"/>
                  <a:gd name="T24" fmla="*/ 0 w 218"/>
                  <a:gd name="T25" fmla="*/ 0 h 365"/>
                  <a:gd name="T26" fmla="*/ 0 w 218"/>
                  <a:gd name="T27" fmla="*/ 0 h 365"/>
                  <a:gd name="T28" fmla="*/ 0 w 218"/>
                  <a:gd name="T29" fmla="*/ 0 h 365"/>
                  <a:gd name="T30" fmla="*/ 0 w 218"/>
                  <a:gd name="T31" fmla="*/ 0 h 365"/>
                  <a:gd name="T32" fmla="*/ 0 w 218"/>
                  <a:gd name="T33" fmla="*/ 0 h 365"/>
                  <a:gd name="T34" fmla="*/ 0 w 218"/>
                  <a:gd name="T35" fmla="*/ 0 h 365"/>
                  <a:gd name="T36" fmla="*/ 0 w 218"/>
                  <a:gd name="T37" fmla="*/ 0 h 365"/>
                  <a:gd name="T38" fmla="*/ 0 w 218"/>
                  <a:gd name="T39" fmla="*/ 0 h 365"/>
                  <a:gd name="T40" fmla="*/ 0 w 218"/>
                  <a:gd name="T41" fmla="*/ 0 h 365"/>
                  <a:gd name="T42" fmla="*/ 0 w 218"/>
                  <a:gd name="T43" fmla="*/ 0 h 365"/>
                  <a:gd name="T44" fmla="*/ 0 w 218"/>
                  <a:gd name="T45" fmla="*/ 0 h 365"/>
                  <a:gd name="T46" fmla="*/ 0 w 218"/>
                  <a:gd name="T47" fmla="*/ 0 h 365"/>
                  <a:gd name="T48" fmla="*/ 0 w 218"/>
                  <a:gd name="T49" fmla="*/ 0 h 365"/>
                  <a:gd name="T50" fmla="*/ 0 w 218"/>
                  <a:gd name="T51" fmla="*/ 0 h 365"/>
                  <a:gd name="T52" fmla="*/ 0 w 218"/>
                  <a:gd name="T53" fmla="*/ 0 h 365"/>
                  <a:gd name="T54" fmla="*/ 0 w 218"/>
                  <a:gd name="T55" fmla="*/ 0 h 365"/>
                  <a:gd name="T56" fmla="*/ 0 w 218"/>
                  <a:gd name="T57" fmla="*/ 0 h 365"/>
                  <a:gd name="T58" fmla="*/ 0 w 218"/>
                  <a:gd name="T59" fmla="*/ 0 h 365"/>
                  <a:gd name="T60" fmla="*/ 0 w 218"/>
                  <a:gd name="T61" fmla="*/ 0 h 365"/>
                  <a:gd name="T62" fmla="*/ 0 w 218"/>
                  <a:gd name="T63" fmla="*/ 0 h 365"/>
                  <a:gd name="T64" fmla="*/ 0 w 218"/>
                  <a:gd name="T65" fmla="*/ 0 h 365"/>
                  <a:gd name="T66" fmla="*/ 0 w 218"/>
                  <a:gd name="T67" fmla="*/ 0 h 365"/>
                  <a:gd name="T68" fmla="*/ 0 w 218"/>
                  <a:gd name="T69" fmla="*/ 0 h 365"/>
                  <a:gd name="T70" fmla="*/ 0 w 218"/>
                  <a:gd name="T71" fmla="*/ 0 h 365"/>
                  <a:gd name="T72" fmla="*/ 0 w 218"/>
                  <a:gd name="T73" fmla="*/ 0 h 3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18"/>
                  <a:gd name="T112" fmla="*/ 0 h 365"/>
                  <a:gd name="T113" fmla="*/ 218 w 218"/>
                  <a:gd name="T114" fmla="*/ 365 h 3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18" h="365">
                    <a:moveTo>
                      <a:pt x="0" y="0"/>
                    </a:moveTo>
                    <a:lnTo>
                      <a:pt x="0" y="0"/>
                    </a:lnTo>
                    <a:lnTo>
                      <a:pt x="1" y="29"/>
                    </a:lnTo>
                    <a:lnTo>
                      <a:pt x="3" y="56"/>
                    </a:lnTo>
                    <a:lnTo>
                      <a:pt x="8" y="84"/>
                    </a:lnTo>
                    <a:lnTo>
                      <a:pt x="15" y="110"/>
                    </a:lnTo>
                    <a:lnTo>
                      <a:pt x="22" y="135"/>
                    </a:lnTo>
                    <a:lnTo>
                      <a:pt x="31" y="162"/>
                    </a:lnTo>
                    <a:lnTo>
                      <a:pt x="41" y="187"/>
                    </a:lnTo>
                    <a:lnTo>
                      <a:pt x="55" y="211"/>
                    </a:lnTo>
                    <a:lnTo>
                      <a:pt x="68" y="235"/>
                    </a:lnTo>
                    <a:lnTo>
                      <a:pt x="84" y="258"/>
                    </a:lnTo>
                    <a:lnTo>
                      <a:pt x="102" y="278"/>
                    </a:lnTo>
                    <a:lnTo>
                      <a:pt x="119" y="298"/>
                    </a:lnTo>
                    <a:lnTo>
                      <a:pt x="138" y="317"/>
                    </a:lnTo>
                    <a:lnTo>
                      <a:pt x="159" y="335"/>
                    </a:lnTo>
                    <a:lnTo>
                      <a:pt x="180" y="352"/>
                    </a:lnTo>
                    <a:lnTo>
                      <a:pt x="204" y="365"/>
                    </a:lnTo>
                    <a:lnTo>
                      <a:pt x="218" y="340"/>
                    </a:lnTo>
                    <a:lnTo>
                      <a:pt x="196" y="326"/>
                    </a:lnTo>
                    <a:lnTo>
                      <a:pt x="177" y="311"/>
                    </a:lnTo>
                    <a:lnTo>
                      <a:pt x="157" y="296"/>
                    </a:lnTo>
                    <a:lnTo>
                      <a:pt x="139" y="277"/>
                    </a:lnTo>
                    <a:lnTo>
                      <a:pt x="122" y="259"/>
                    </a:lnTo>
                    <a:lnTo>
                      <a:pt x="107" y="239"/>
                    </a:lnTo>
                    <a:lnTo>
                      <a:pt x="92" y="218"/>
                    </a:lnTo>
                    <a:lnTo>
                      <a:pt x="79" y="197"/>
                    </a:lnTo>
                    <a:lnTo>
                      <a:pt x="68" y="174"/>
                    </a:lnTo>
                    <a:lnTo>
                      <a:pt x="58" y="151"/>
                    </a:lnTo>
                    <a:lnTo>
                      <a:pt x="49" y="127"/>
                    </a:lnTo>
                    <a:lnTo>
                      <a:pt x="41" y="102"/>
                    </a:lnTo>
                    <a:lnTo>
                      <a:pt x="36" y="77"/>
                    </a:lnTo>
                    <a:lnTo>
                      <a:pt x="31" y="52"/>
                    </a:lnTo>
                    <a:lnTo>
                      <a:pt x="29" y="27"/>
                    </a:lnTo>
                    <a:lnTo>
                      <a:pt x="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5" name="Freeform 310">
                <a:extLst>
                  <a:ext uri="{FF2B5EF4-FFF2-40B4-BE49-F238E27FC236}">
                    <a16:creationId xmlns:a16="http://schemas.microsoft.com/office/drawing/2014/main" id="{673B021C-5C7C-4831-B8D8-9CA296D25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16"/>
                <a:ext cx="2" cy="5"/>
              </a:xfrm>
              <a:custGeom>
                <a:avLst/>
                <a:gdLst>
                  <a:gd name="T0" fmla="*/ 0 w 37"/>
                  <a:gd name="T1" fmla="*/ 0 h 92"/>
                  <a:gd name="T2" fmla="*/ 0 w 37"/>
                  <a:gd name="T3" fmla="*/ 0 h 92"/>
                  <a:gd name="T4" fmla="*/ 0 w 37"/>
                  <a:gd name="T5" fmla="*/ 0 h 92"/>
                  <a:gd name="T6" fmla="*/ 0 w 37"/>
                  <a:gd name="T7" fmla="*/ 0 h 92"/>
                  <a:gd name="T8" fmla="*/ 0 w 37"/>
                  <a:gd name="T9" fmla="*/ 0 h 92"/>
                  <a:gd name="T10" fmla="*/ 0 w 37"/>
                  <a:gd name="T11" fmla="*/ 0 h 92"/>
                  <a:gd name="T12" fmla="*/ 0 w 37"/>
                  <a:gd name="T13" fmla="*/ 0 h 92"/>
                  <a:gd name="T14" fmla="*/ 0 w 37"/>
                  <a:gd name="T15" fmla="*/ 0 h 92"/>
                  <a:gd name="T16" fmla="*/ 0 w 37"/>
                  <a:gd name="T17" fmla="*/ 0 h 92"/>
                  <a:gd name="T18" fmla="*/ 0 w 37"/>
                  <a:gd name="T19" fmla="*/ 0 h 92"/>
                  <a:gd name="T20" fmla="*/ 0 w 37"/>
                  <a:gd name="T21" fmla="*/ 0 h 92"/>
                  <a:gd name="T22" fmla="*/ 0 w 37"/>
                  <a:gd name="T23" fmla="*/ 0 h 92"/>
                  <a:gd name="T24" fmla="*/ 0 w 37"/>
                  <a:gd name="T25" fmla="*/ 0 h 92"/>
                  <a:gd name="T26" fmla="*/ 0 w 37"/>
                  <a:gd name="T27" fmla="*/ 0 h 92"/>
                  <a:gd name="T28" fmla="*/ 0 w 37"/>
                  <a:gd name="T29" fmla="*/ 0 h 92"/>
                  <a:gd name="T30" fmla="*/ 0 w 37"/>
                  <a:gd name="T31" fmla="*/ 0 h 92"/>
                  <a:gd name="T32" fmla="*/ 0 w 37"/>
                  <a:gd name="T33" fmla="*/ 0 h 92"/>
                  <a:gd name="T34" fmla="*/ 0 w 37"/>
                  <a:gd name="T35" fmla="*/ 0 h 92"/>
                  <a:gd name="T36" fmla="*/ 0 w 37"/>
                  <a:gd name="T37" fmla="*/ 0 h 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7"/>
                  <a:gd name="T58" fmla="*/ 0 h 92"/>
                  <a:gd name="T59" fmla="*/ 37 w 37"/>
                  <a:gd name="T60" fmla="*/ 92 h 9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7" h="92">
                    <a:moveTo>
                      <a:pt x="9" y="0"/>
                    </a:moveTo>
                    <a:lnTo>
                      <a:pt x="7" y="10"/>
                    </a:lnTo>
                    <a:lnTo>
                      <a:pt x="5" y="23"/>
                    </a:lnTo>
                    <a:lnTo>
                      <a:pt x="4" y="33"/>
                    </a:lnTo>
                    <a:lnTo>
                      <a:pt x="2" y="45"/>
                    </a:lnTo>
                    <a:lnTo>
                      <a:pt x="1" y="58"/>
                    </a:lnTo>
                    <a:lnTo>
                      <a:pt x="1" y="69"/>
                    </a:lnTo>
                    <a:lnTo>
                      <a:pt x="0" y="80"/>
                    </a:lnTo>
                    <a:lnTo>
                      <a:pt x="0" y="92"/>
                    </a:lnTo>
                    <a:lnTo>
                      <a:pt x="28" y="92"/>
                    </a:lnTo>
                    <a:lnTo>
                      <a:pt x="28" y="82"/>
                    </a:lnTo>
                    <a:lnTo>
                      <a:pt x="29" y="71"/>
                    </a:lnTo>
                    <a:lnTo>
                      <a:pt x="29" y="60"/>
                    </a:lnTo>
                    <a:lnTo>
                      <a:pt x="30" y="49"/>
                    </a:lnTo>
                    <a:lnTo>
                      <a:pt x="32" y="38"/>
                    </a:lnTo>
                    <a:lnTo>
                      <a:pt x="33" y="27"/>
                    </a:lnTo>
                    <a:lnTo>
                      <a:pt x="35" y="17"/>
                    </a:lnTo>
                    <a:lnTo>
                      <a:pt x="37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6" name="Freeform 311">
                <a:extLst>
                  <a:ext uri="{FF2B5EF4-FFF2-40B4-BE49-F238E27FC236}">
                    <a16:creationId xmlns:a16="http://schemas.microsoft.com/office/drawing/2014/main" id="{FEFB6C56-5D0B-46D8-A0D6-C5494C6B7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0"/>
                <a:ext cx="1" cy="1"/>
              </a:xfrm>
              <a:custGeom>
                <a:avLst/>
                <a:gdLst>
                  <a:gd name="T0" fmla="*/ 0 w 28"/>
                  <a:gd name="T1" fmla="*/ 0 h 18"/>
                  <a:gd name="T2" fmla="*/ 0 w 28"/>
                  <a:gd name="T3" fmla="*/ 0 h 18"/>
                  <a:gd name="T4" fmla="*/ 0 w 28"/>
                  <a:gd name="T5" fmla="*/ 0 h 18"/>
                  <a:gd name="T6" fmla="*/ 0 w 28"/>
                  <a:gd name="T7" fmla="*/ 0 h 18"/>
                  <a:gd name="T8" fmla="*/ 0 w 28"/>
                  <a:gd name="T9" fmla="*/ 0 h 18"/>
                  <a:gd name="T10" fmla="*/ 0 w 28"/>
                  <a:gd name="T11" fmla="*/ 0 h 18"/>
                  <a:gd name="T12" fmla="*/ 0 w 28"/>
                  <a:gd name="T13" fmla="*/ 0 h 18"/>
                  <a:gd name="T14" fmla="*/ 0 w 28"/>
                  <a:gd name="T15" fmla="*/ 0 h 18"/>
                  <a:gd name="T16" fmla="*/ 0 w 28"/>
                  <a:gd name="T17" fmla="*/ 0 h 18"/>
                  <a:gd name="T18" fmla="*/ 0 w 28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18"/>
                  <a:gd name="T32" fmla="*/ 28 w 28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18">
                    <a:moveTo>
                      <a:pt x="28" y="18"/>
                    </a:moveTo>
                    <a:lnTo>
                      <a:pt x="28" y="11"/>
                    </a:lnTo>
                    <a:lnTo>
                      <a:pt x="26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8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7" name="Freeform 312">
                <a:extLst>
                  <a:ext uri="{FF2B5EF4-FFF2-40B4-BE49-F238E27FC236}">
                    <a16:creationId xmlns:a16="http://schemas.microsoft.com/office/drawing/2014/main" id="{4A92CC56-F031-4F1F-AEE7-E5892D00B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233"/>
                <a:ext cx="1" cy="2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4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8" name="Freeform 313">
                <a:extLst>
                  <a:ext uri="{FF2B5EF4-FFF2-40B4-BE49-F238E27FC236}">
                    <a16:creationId xmlns:a16="http://schemas.microsoft.com/office/drawing/2014/main" id="{D031BB24-3499-484F-B198-4B93054B2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5" cy="11"/>
              </a:xfrm>
              <a:custGeom>
                <a:avLst/>
                <a:gdLst>
                  <a:gd name="T0" fmla="*/ 0 w 115"/>
                  <a:gd name="T1" fmla="*/ 0 h 181"/>
                  <a:gd name="T2" fmla="*/ 0 w 115"/>
                  <a:gd name="T3" fmla="*/ 0 h 181"/>
                  <a:gd name="T4" fmla="*/ 0 w 115"/>
                  <a:gd name="T5" fmla="*/ 0 h 181"/>
                  <a:gd name="T6" fmla="*/ 0 w 115"/>
                  <a:gd name="T7" fmla="*/ 0 h 181"/>
                  <a:gd name="T8" fmla="*/ 0 w 115"/>
                  <a:gd name="T9" fmla="*/ 0 h 181"/>
                  <a:gd name="T10" fmla="*/ 0 w 115"/>
                  <a:gd name="T11" fmla="*/ 0 h 181"/>
                  <a:gd name="T12" fmla="*/ 0 w 115"/>
                  <a:gd name="T13" fmla="*/ 0 h 181"/>
                  <a:gd name="T14" fmla="*/ 0 w 115"/>
                  <a:gd name="T15" fmla="*/ 0 h 181"/>
                  <a:gd name="T16" fmla="*/ 0 w 115"/>
                  <a:gd name="T17" fmla="*/ 0 h 181"/>
                  <a:gd name="T18" fmla="*/ 0 w 115"/>
                  <a:gd name="T19" fmla="*/ 0 h 181"/>
                  <a:gd name="T20" fmla="*/ 0 w 115"/>
                  <a:gd name="T21" fmla="*/ 0 h 181"/>
                  <a:gd name="T22" fmla="*/ 0 w 115"/>
                  <a:gd name="T23" fmla="*/ 0 h 181"/>
                  <a:gd name="T24" fmla="*/ 0 w 115"/>
                  <a:gd name="T25" fmla="*/ 0 h 181"/>
                  <a:gd name="T26" fmla="*/ 0 w 115"/>
                  <a:gd name="T27" fmla="*/ 0 h 181"/>
                  <a:gd name="T28" fmla="*/ 0 w 115"/>
                  <a:gd name="T29" fmla="*/ 0 h 181"/>
                  <a:gd name="T30" fmla="*/ 0 w 115"/>
                  <a:gd name="T31" fmla="*/ 0 h 181"/>
                  <a:gd name="T32" fmla="*/ 0 w 115"/>
                  <a:gd name="T33" fmla="*/ 0 h 181"/>
                  <a:gd name="T34" fmla="*/ 0 w 115"/>
                  <a:gd name="T35" fmla="*/ 0 h 181"/>
                  <a:gd name="T36" fmla="*/ 0 w 115"/>
                  <a:gd name="T37" fmla="*/ 0 h 181"/>
                  <a:gd name="T38" fmla="*/ 0 w 115"/>
                  <a:gd name="T39" fmla="*/ 0 h 181"/>
                  <a:gd name="T40" fmla="*/ 0 w 115"/>
                  <a:gd name="T41" fmla="*/ 0 h 181"/>
                  <a:gd name="T42" fmla="*/ 0 w 115"/>
                  <a:gd name="T43" fmla="*/ 0 h 181"/>
                  <a:gd name="T44" fmla="*/ 0 w 115"/>
                  <a:gd name="T45" fmla="*/ 0 h 181"/>
                  <a:gd name="T46" fmla="*/ 0 w 115"/>
                  <a:gd name="T47" fmla="*/ 0 h 181"/>
                  <a:gd name="T48" fmla="*/ 0 w 115"/>
                  <a:gd name="T49" fmla="*/ 0 h 181"/>
                  <a:gd name="T50" fmla="*/ 0 w 115"/>
                  <a:gd name="T51" fmla="*/ 0 h 181"/>
                  <a:gd name="T52" fmla="*/ 0 w 115"/>
                  <a:gd name="T53" fmla="*/ 0 h 181"/>
                  <a:gd name="T54" fmla="*/ 0 w 115"/>
                  <a:gd name="T55" fmla="*/ 0 h 181"/>
                  <a:gd name="T56" fmla="*/ 0 w 115"/>
                  <a:gd name="T57" fmla="*/ 0 h 181"/>
                  <a:gd name="T58" fmla="*/ 0 w 115"/>
                  <a:gd name="T59" fmla="*/ 0 h 181"/>
                  <a:gd name="T60" fmla="*/ 0 w 115"/>
                  <a:gd name="T61" fmla="*/ 0 h 181"/>
                  <a:gd name="T62" fmla="*/ 0 w 115"/>
                  <a:gd name="T63" fmla="*/ 0 h 181"/>
                  <a:gd name="T64" fmla="*/ 0 w 115"/>
                  <a:gd name="T65" fmla="*/ 0 h 181"/>
                  <a:gd name="T66" fmla="*/ 0 w 115"/>
                  <a:gd name="T67" fmla="*/ 0 h 181"/>
                  <a:gd name="T68" fmla="*/ 0 w 115"/>
                  <a:gd name="T69" fmla="*/ 0 h 181"/>
                  <a:gd name="T70" fmla="*/ 0 w 115"/>
                  <a:gd name="T71" fmla="*/ 0 h 181"/>
                  <a:gd name="T72" fmla="*/ 0 w 115"/>
                  <a:gd name="T73" fmla="*/ 0 h 18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5"/>
                  <a:gd name="T112" fmla="*/ 0 h 181"/>
                  <a:gd name="T113" fmla="*/ 115 w 115"/>
                  <a:gd name="T114" fmla="*/ 181 h 18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5" h="181">
                    <a:moveTo>
                      <a:pt x="0" y="0"/>
                    </a:moveTo>
                    <a:lnTo>
                      <a:pt x="0" y="0"/>
                    </a:lnTo>
                    <a:lnTo>
                      <a:pt x="0" y="13"/>
                    </a:lnTo>
                    <a:lnTo>
                      <a:pt x="2" y="27"/>
                    </a:lnTo>
                    <a:lnTo>
                      <a:pt x="4" y="40"/>
                    </a:lnTo>
                    <a:lnTo>
                      <a:pt x="7" y="53"/>
                    </a:lnTo>
                    <a:lnTo>
                      <a:pt x="11" y="68"/>
                    </a:lnTo>
                    <a:lnTo>
                      <a:pt x="15" y="80"/>
                    </a:lnTo>
                    <a:lnTo>
                      <a:pt x="21" y="92"/>
                    </a:lnTo>
                    <a:lnTo>
                      <a:pt x="28" y="104"/>
                    </a:lnTo>
                    <a:lnTo>
                      <a:pt x="34" y="116"/>
                    </a:lnTo>
                    <a:lnTo>
                      <a:pt x="42" y="126"/>
                    </a:lnTo>
                    <a:lnTo>
                      <a:pt x="50" y="138"/>
                    </a:lnTo>
                    <a:lnTo>
                      <a:pt x="59" y="147"/>
                    </a:lnTo>
                    <a:lnTo>
                      <a:pt x="68" y="157"/>
                    </a:lnTo>
                    <a:lnTo>
                      <a:pt x="80" y="165"/>
                    </a:lnTo>
                    <a:lnTo>
                      <a:pt x="90" y="173"/>
                    </a:lnTo>
                    <a:lnTo>
                      <a:pt x="101" y="181"/>
                    </a:lnTo>
                    <a:lnTo>
                      <a:pt x="115" y="156"/>
                    </a:lnTo>
                    <a:lnTo>
                      <a:pt x="106" y="149"/>
                    </a:lnTo>
                    <a:lnTo>
                      <a:pt x="96" y="142"/>
                    </a:lnTo>
                    <a:lnTo>
                      <a:pt x="87" y="136"/>
                    </a:lnTo>
                    <a:lnTo>
                      <a:pt x="80" y="126"/>
                    </a:lnTo>
                    <a:lnTo>
                      <a:pt x="70" y="119"/>
                    </a:lnTo>
                    <a:lnTo>
                      <a:pt x="64" y="109"/>
                    </a:lnTo>
                    <a:lnTo>
                      <a:pt x="58" y="101"/>
                    </a:lnTo>
                    <a:lnTo>
                      <a:pt x="52" y="89"/>
                    </a:lnTo>
                    <a:lnTo>
                      <a:pt x="46" y="80"/>
                    </a:lnTo>
                    <a:lnTo>
                      <a:pt x="42" y="69"/>
                    </a:lnTo>
                    <a:lnTo>
                      <a:pt x="38" y="58"/>
                    </a:lnTo>
                    <a:lnTo>
                      <a:pt x="34" y="47"/>
                    </a:lnTo>
                    <a:lnTo>
                      <a:pt x="33" y="35"/>
                    </a:lnTo>
                    <a:lnTo>
                      <a:pt x="31" y="23"/>
                    </a:lnTo>
                    <a:lnTo>
                      <a:pt x="29" y="11"/>
                    </a:lnTo>
                    <a:lnTo>
                      <a:pt x="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39" name="Freeform 314">
                <a:extLst>
                  <a:ext uri="{FF2B5EF4-FFF2-40B4-BE49-F238E27FC236}">
                    <a16:creationId xmlns:a16="http://schemas.microsoft.com/office/drawing/2014/main" id="{7AB81EB9-5BA3-482E-8F89-30DF7EB9B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2"/>
                <a:ext cx="1" cy="2"/>
              </a:xfrm>
              <a:custGeom>
                <a:avLst/>
                <a:gdLst>
                  <a:gd name="T0" fmla="*/ 0 w 33"/>
                  <a:gd name="T1" fmla="*/ 0 h 47"/>
                  <a:gd name="T2" fmla="*/ 0 w 33"/>
                  <a:gd name="T3" fmla="*/ 0 h 47"/>
                  <a:gd name="T4" fmla="*/ 0 w 33"/>
                  <a:gd name="T5" fmla="*/ 0 h 47"/>
                  <a:gd name="T6" fmla="*/ 0 w 33"/>
                  <a:gd name="T7" fmla="*/ 0 h 47"/>
                  <a:gd name="T8" fmla="*/ 0 w 33"/>
                  <a:gd name="T9" fmla="*/ 0 h 47"/>
                  <a:gd name="T10" fmla="*/ 0 w 33"/>
                  <a:gd name="T11" fmla="*/ 0 h 47"/>
                  <a:gd name="T12" fmla="*/ 0 w 33"/>
                  <a:gd name="T13" fmla="*/ 0 h 47"/>
                  <a:gd name="T14" fmla="*/ 0 w 33"/>
                  <a:gd name="T15" fmla="*/ 0 h 47"/>
                  <a:gd name="T16" fmla="*/ 0 w 33"/>
                  <a:gd name="T17" fmla="*/ 0 h 47"/>
                  <a:gd name="T18" fmla="*/ 0 w 33"/>
                  <a:gd name="T19" fmla="*/ 0 h 47"/>
                  <a:gd name="T20" fmla="*/ 0 w 33"/>
                  <a:gd name="T21" fmla="*/ 0 h 47"/>
                  <a:gd name="T22" fmla="*/ 0 w 33"/>
                  <a:gd name="T23" fmla="*/ 0 h 47"/>
                  <a:gd name="T24" fmla="*/ 0 w 33"/>
                  <a:gd name="T25" fmla="*/ 0 h 47"/>
                  <a:gd name="T26" fmla="*/ 0 w 33"/>
                  <a:gd name="T27" fmla="*/ 0 h 47"/>
                  <a:gd name="T28" fmla="*/ 0 w 33"/>
                  <a:gd name="T29" fmla="*/ 0 h 47"/>
                  <a:gd name="T30" fmla="*/ 0 w 33"/>
                  <a:gd name="T31" fmla="*/ 0 h 47"/>
                  <a:gd name="T32" fmla="*/ 0 w 33"/>
                  <a:gd name="T33" fmla="*/ 0 h 47"/>
                  <a:gd name="T34" fmla="*/ 0 w 33"/>
                  <a:gd name="T35" fmla="*/ 0 h 47"/>
                  <a:gd name="T36" fmla="*/ 0 w 33"/>
                  <a:gd name="T37" fmla="*/ 0 h 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"/>
                  <a:gd name="T58" fmla="*/ 0 h 47"/>
                  <a:gd name="T59" fmla="*/ 33 w 33"/>
                  <a:gd name="T60" fmla="*/ 47 h 4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" h="47">
                    <a:moveTo>
                      <a:pt x="4" y="0"/>
                    </a:moveTo>
                    <a:lnTo>
                      <a:pt x="3" y="6"/>
                    </a:lnTo>
                    <a:lnTo>
                      <a:pt x="2" y="11"/>
                    </a:lnTo>
                    <a:lnTo>
                      <a:pt x="1" y="18"/>
                    </a:lnTo>
                    <a:lnTo>
                      <a:pt x="1" y="23"/>
                    </a:lnTo>
                    <a:lnTo>
                      <a:pt x="0" y="30"/>
                    </a:lnTo>
                    <a:lnTo>
                      <a:pt x="0" y="36"/>
                    </a:lnTo>
                    <a:lnTo>
                      <a:pt x="0" y="41"/>
                    </a:lnTo>
                    <a:lnTo>
                      <a:pt x="0" y="47"/>
                    </a:lnTo>
                    <a:lnTo>
                      <a:pt x="29" y="47"/>
                    </a:lnTo>
                    <a:lnTo>
                      <a:pt x="29" y="41"/>
                    </a:lnTo>
                    <a:lnTo>
                      <a:pt x="29" y="36"/>
                    </a:lnTo>
                    <a:lnTo>
                      <a:pt x="29" y="32"/>
                    </a:lnTo>
                    <a:lnTo>
                      <a:pt x="30" y="26"/>
                    </a:lnTo>
                    <a:lnTo>
                      <a:pt x="30" y="20"/>
                    </a:lnTo>
                    <a:lnTo>
                      <a:pt x="31" y="17"/>
                    </a:lnTo>
                    <a:lnTo>
                      <a:pt x="32" y="12"/>
                    </a:lnTo>
                    <a:lnTo>
                      <a:pt x="33" y="7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0" name="Freeform 315">
                <a:extLst>
                  <a:ext uri="{FF2B5EF4-FFF2-40B4-BE49-F238E27FC236}">
                    <a16:creationId xmlns:a16="http://schemas.microsoft.com/office/drawing/2014/main" id="{331D00C9-462A-45C6-84A3-D49A458D3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1" cy="1"/>
              </a:xfrm>
              <a:custGeom>
                <a:avLst/>
                <a:gdLst>
                  <a:gd name="T0" fmla="*/ 0 w 29"/>
                  <a:gd name="T1" fmla="*/ 0 h 18"/>
                  <a:gd name="T2" fmla="*/ 0 w 29"/>
                  <a:gd name="T3" fmla="*/ 0 h 18"/>
                  <a:gd name="T4" fmla="*/ 0 w 29"/>
                  <a:gd name="T5" fmla="*/ 0 h 18"/>
                  <a:gd name="T6" fmla="*/ 0 w 29"/>
                  <a:gd name="T7" fmla="*/ 0 h 18"/>
                  <a:gd name="T8" fmla="*/ 0 w 29"/>
                  <a:gd name="T9" fmla="*/ 0 h 18"/>
                  <a:gd name="T10" fmla="*/ 0 w 29"/>
                  <a:gd name="T11" fmla="*/ 0 h 18"/>
                  <a:gd name="T12" fmla="*/ 0 w 29"/>
                  <a:gd name="T13" fmla="*/ 0 h 18"/>
                  <a:gd name="T14" fmla="*/ 0 w 29"/>
                  <a:gd name="T15" fmla="*/ 0 h 18"/>
                  <a:gd name="T16" fmla="*/ 0 w 29"/>
                  <a:gd name="T17" fmla="*/ 0 h 18"/>
                  <a:gd name="T18" fmla="*/ 0 w 29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18"/>
                  <a:gd name="T32" fmla="*/ 29 w 29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18">
                    <a:moveTo>
                      <a:pt x="29" y="18"/>
                    </a:moveTo>
                    <a:lnTo>
                      <a:pt x="29" y="11"/>
                    </a:lnTo>
                    <a:lnTo>
                      <a:pt x="27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9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1" name="Freeform 316">
                <a:extLst>
                  <a:ext uri="{FF2B5EF4-FFF2-40B4-BE49-F238E27FC236}">
                    <a16:creationId xmlns:a16="http://schemas.microsoft.com/office/drawing/2014/main" id="{98F07298-7AC7-4FBC-8C32-9229058C3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5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2" name="Freeform 317">
                <a:extLst>
                  <a:ext uri="{FF2B5EF4-FFF2-40B4-BE49-F238E27FC236}">
                    <a16:creationId xmlns:a16="http://schemas.microsoft.com/office/drawing/2014/main" id="{9B4835D4-B875-4AA7-A71B-FC264C3E40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7" cy="15"/>
              </a:xfrm>
              <a:custGeom>
                <a:avLst/>
                <a:gdLst>
                  <a:gd name="T0" fmla="*/ 0 w 164"/>
                  <a:gd name="T1" fmla="*/ 0 h 274"/>
                  <a:gd name="T2" fmla="*/ 0 w 164"/>
                  <a:gd name="T3" fmla="*/ 0 h 274"/>
                  <a:gd name="T4" fmla="*/ 0 w 164"/>
                  <a:gd name="T5" fmla="*/ 0 h 274"/>
                  <a:gd name="T6" fmla="*/ 0 w 164"/>
                  <a:gd name="T7" fmla="*/ 0 h 274"/>
                  <a:gd name="T8" fmla="*/ 0 w 164"/>
                  <a:gd name="T9" fmla="*/ 0 h 274"/>
                  <a:gd name="T10" fmla="*/ 0 w 164"/>
                  <a:gd name="T11" fmla="*/ 0 h 274"/>
                  <a:gd name="T12" fmla="*/ 0 w 164"/>
                  <a:gd name="T13" fmla="*/ 0 h 274"/>
                  <a:gd name="T14" fmla="*/ 0 w 164"/>
                  <a:gd name="T15" fmla="*/ 0 h 274"/>
                  <a:gd name="T16" fmla="*/ 0 w 164"/>
                  <a:gd name="T17" fmla="*/ 0 h 274"/>
                  <a:gd name="T18" fmla="*/ 0 w 164"/>
                  <a:gd name="T19" fmla="*/ 0 h 274"/>
                  <a:gd name="T20" fmla="*/ 0 w 164"/>
                  <a:gd name="T21" fmla="*/ 0 h 274"/>
                  <a:gd name="T22" fmla="*/ 0 w 164"/>
                  <a:gd name="T23" fmla="*/ 0 h 274"/>
                  <a:gd name="T24" fmla="*/ 0 w 164"/>
                  <a:gd name="T25" fmla="*/ 0 h 274"/>
                  <a:gd name="T26" fmla="*/ 0 w 164"/>
                  <a:gd name="T27" fmla="*/ 0 h 274"/>
                  <a:gd name="T28" fmla="*/ 0 w 164"/>
                  <a:gd name="T29" fmla="*/ 0 h 274"/>
                  <a:gd name="T30" fmla="*/ 0 w 164"/>
                  <a:gd name="T31" fmla="*/ 0 h 274"/>
                  <a:gd name="T32" fmla="*/ 0 w 164"/>
                  <a:gd name="T33" fmla="*/ 0 h 274"/>
                  <a:gd name="T34" fmla="*/ 0 w 164"/>
                  <a:gd name="T35" fmla="*/ 0 h 274"/>
                  <a:gd name="T36" fmla="*/ 0 w 164"/>
                  <a:gd name="T37" fmla="*/ 0 h 274"/>
                  <a:gd name="T38" fmla="*/ 0 w 164"/>
                  <a:gd name="T39" fmla="*/ 0 h 274"/>
                  <a:gd name="T40" fmla="*/ 0 w 164"/>
                  <a:gd name="T41" fmla="*/ 0 h 274"/>
                  <a:gd name="T42" fmla="*/ 0 w 164"/>
                  <a:gd name="T43" fmla="*/ 0 h 274"/>
                  <a:gd name="T44" fmla="*/ 0 w 164"/>
                  <a:gd name="T45" fmla="*/ 0 h 274"/>
                  <a:gd name="T46" fmla="*/ 0 w 164"/>
                  <a:gd name="T47" fmla="*/ 0 h 274"/>
                  <a:gd name="T48" fmla="*/ 0 w 164"/>
                  <a:gd name="T49" fmla="*/ 0 h 274"/>
                  <a:gd name="T50" fmla="*/ 0 w 164"/>
                  <a:gd name="T51" fmla="*/ 0 h 274"/>
                  <a:gd name="T52" fmla="*/ 0 w 164"/>
                  <a:gd name="T53" fmla="*/ 0 h 274"/>
                  <a:gd name="T54" fmla="*/ 0 w 164"/>
                  <a:gd name="T55" fmla="*/ 0 h 274"/>
                  <a:gd name="T56" fmla="*/ 0 w 164"/>
                  <a:gd name="T57" fmla="*/ 0 h 274"/>
                  <a:gd name="T58" fmla="*/ 0 w 164"/>
                  <a:gd name="T59" fmla="*/ 0 h 274"/>
                  <a:gd name="T60" fmla="*/ 0 w 164"/>
                  <a:gd name="T61" fmla="*/ 0 h 274"/>
                  <a:gd name="T62" fmla="*/ 0 w 164"/>
                  <a:gd name="T63" fmla="*/ 0 h 274"/>
                  <a:gd name="T64" fmla="*/ 0 w 164"/>
                  <a:gd name="T65" fmla="*/ 0 h 274"/>
                  <a:gd name="T66" fmla="*/ 0 w 164"/>
                  <a:gd name="T67" fmla="*/ 0 h 274"/>
                  <a:gd name="T68" fmla="*/ 0 w 164"/>
                  <a:gd name="T69" fmla="*/ 0 h 274"/>
                  <a:gd name="T70" fmla="*/ 0 w 164"/>
                  <a:gd name="T71" fmla="*/ 0 h 274"/>
                  <a:gd name="T72" fmla="*/ 0 w 164"/>
                  <a:gd name="T73" fmla="*/ 0 h 27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4"/>
                  <a:gd name="T112" fmla="*/ 0 h 274"/>
                  <a:gd name="T113" fmla="*/ 164 w 164"/>
                  <a:gd name="T114" fmla="*/ 274 h 27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4" h="274">
                    <a:moveTo>
                      <a:pt x="164" y="274"/>
                    </a:moveTo>
                    <a:lnTo>
                      <a:pt x="164" y="274"/>
                    </a:lnTo>
                    <a:lnTo>
                      <a:pt x="162" y="253"/>
                    </a:lnTo>
                    <a:lnTo>
                      <a:pt x="160" y="233"/>
                    </a:lnTo>
                    <a:lnTo>
                      <a:pt x="157" y="211"/>
                    </a:lnTo>
                    <a:lnTo>
                      <a:pt x="153" y="190"/>
                    </a:lnTo>
                    <a:lnTo>
                      <a:pt x="147" y="170"/>
                    </a:lnTo>
                    <a:lnTo>
                      <a:pt x="139" y="152"/>
                    </a:lnTo>
                    <a:lnTo>
                      <a:pt x="130" y="135"/>
                    </a:lnTo>
                    <a:lnTo>
                      <a:pt x="122" y="116"/>
                    </a:lnTo>
                    <a:lnTo>
                      <a:pt x="112" y="98"/>
                    </a:lnTo>
                    <a:lnTo>
                      <a:pt x="100" y="82"/>
                    </a:lnTo>
                    <a:lnTo>
                      <a:pt x="87" y="65"/>
                    </a:lnTo>
                    <a:lnTo>
                      <a:pt x="73" y="50"/>
                    </a:lnTo>
                    <a:lnTo>
                      <a:pt x="59" y="35"/>
                    </a:lnTo>
                    <a:lnTo>
                      <a:pt x="43" y="23"/>
                    </a:lnTo>
                    <a:lnTo>
                      <a:pt x="27" y="10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5" y="29"/>
                    </a:lnTo>
                    <a:lnTo>
                      <a:pt x="30" y="40"/>
                    </a:lnTo>
                    <a:lnTo>
                      <a:pt x="45" y="52"/>
                    </a:lnTo>
                    <a:lnTo>
                      <a:pt x="59" y="65"/>
                    </a:lnTo>
                    <a:lnTo>
                      <a:pt x="71" y="80"/>
                    </a:lnTo>
                    <a:lnTo>
                      <a:pt x="83" y="94"/>
                    </a:lnTo>
                    <a:lnTo>
                      <a:pt x="94" y="110"/>
                    </a:lnTo>
                    <a:lnTo>
                      <a:pt x="104" y="126"/>
                    </a:lnTo>
                    <a:lnTo>
                      <a:pt x="112" y="143"/>
                    </a:lnTo>
                    <a:lnTo>
                      <a:pt x="119" y="161"/>
                    </a:lnTo>
                    <a:lnTo>
                      <a:pt x="126" y="179"/>
                    </a:lnTo>
                    <a:lnTo>
                      <a:pt x="132" y="197"/>
                    </a:lnTo>
                    <a:lnTo>
                      <a:pt x="136" y="216"/>
                    </a:lnTo>
                    <a:lnTo>
                      <a:pt x="139" y="235"/>
                    </a:lnTo>
                    <a:lnTo>
                      <a:pt x="141" y="255"/>
                    </a:lnTo>
                    <a:lnTo>
                      <a:pt x="141" y="274"/>
                    </a:lnTo>
                    <a:lnTo>
                      <a:pt x="164" y="2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3" name="Freeform 318">
                <a:extLst>
                  <a:ext uri="{FF2B5EF4-FFF2-40B4-BE49-F238E27FC236}">
                    <a16:creationId xmlns:a16="http://schemas.microsoft.com/office/drawing/2014/main" id="{31F8EBC7-1338-431B-A2D4-0B264818A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4"/>
              </a:xfrm>
              <a:custGeom>
                <a:avLst/>
                <a:gdLst>
                  <a:gd name="T0" fmla="*/ 0 w 29"/>
                  <a:gd name="T1" fmla="*/ 0 h 68"/>
                  <a:gd name="T2" fmla="*/ 0 w 29"/>
                  <a:gd name="T3" fmla="*/ 0 h 68"/>
                  <a:gd name="T4" fmla="*/ 0 w 29"/>
                  <a:gd name="T5" fmla="*/ 0 h 68"/>
                  <a:gd name="T6" fmla="*/ 0 w 29"/>
                  <a:gd name="T7" fmla="*/ 0 h 68"/>
                  <a:gd name="T8" fmla="*/ 0 w 29"/>
                  <a:gd name="T9" fmla="*/ 0 h 68"/>
                  <a:gd name="T10" fmla="*/ 0 w 29"/>
                  <a:gd name="T11" fmla="*/ 0 h 68"/>
                  <a:gd name="T12" fmla="*/ 0 w 29"/>
                  <a:gd name="T13" fmla="*/ 0 h 68"/>
                  <a:gd name="T14" fmla="*/ 0 w 29"/>
                  <a:gd name="T15" fmla="*/ 0 h 68"/>
                  <a:gd name="T16" fmla="*/ 0 w 29"/>
                  <a:gd name="T17" fmla="*/ 0 h 68"/>
                  <a:gd name="T18" fmla="*/ 0 w 29"/>
                  <a:gd name="T19" fmla="*/ 0 h 68"/>
                  <a:gd name="T20" fmla="*/ 0 w 29"/>
                  <a:gd name="T21" fmla="*/ 0 h 68"/>
                  <a:gd name="T22" fmla="*/ 0 w 29"/>
                  <a:gd name="T23" fmla="*/ 0 h 68"/>
                  <a:gd name="T24" fmla="*/ 0 w 29"/>
                  <a:gd name="T25" fmla="*/ 0 h 68"/>
                  <a:gd name="T26" fmla="*/ 0 w 29"/>
                  <a:gd name="T27" fmla="*/ 0 h 68"/>
                  <a:gd name="T28" fmla="*/ 0 w 29"/>
                  <a:gd name="T29" fmla="*/ 0 h 68"/>
                  <a:gd name="T30" fmla="*/ 0 w 29"/>
                  <a:gd name="T31" fmla="*/ 0 h 68"/>
                  <a:gd name="T32" fmla="*/ 0 w 29"/>
                  <a:gd name="T33" fmla="*/ 0 h 68"/>
                  <a:gd name="T34" fmla="*/ 0 w 29"/>
                  <a:gd name="T35" fmla="*/ 0 h 68"/>
                  <a:gd name="T36" fmla="*/ 0 w 29"/>
                  <a:gd name="T37" fmla="*/ 0 h 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9"/>
                  <a:gd name="T58" fmla="*/ 0 h 68"/>
                  <a:gd name="T59" fmla="*/ 29 w 29"/>
                  <a:gd name="T60" fmla="*/ 68 h 6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9" h="68">
                    <a:moveTo>
                      <a:pt x="21" y="68"/>
                    </a:moveTo>
                    <a:lnTo>
                      <a:pt x="22" y="60"/>
                    </a:lnTo>
                    <a:lnTo>
                      <a:pt x="24" y="52"/>
                    </a:lnTo>
                    <a:lnTo>
                      <a:pt x="25" y="43"/>
                    </a:lnTo>
                    <a:lnTo>
                      <a:pt x="26" y="34"/>
                    </a:lnTo>
                    <a:lnTo>
                      <a:pt x="28" y="25"/>
                    </a:lnTo>
                    <a:lnTo>
                      <a:pt x="28" y="17"/>
                    </a:lnTo>
                    <a:lnTo>
                      <a:pt x="29" y="8"/>
                    </a:lnTo>
                    <a:lnTo>
                      <a:pt x="29" y="0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5" y="17"/>
                    </a:lnTo>
                    <a:lnTo>
                      <a:pt x="5" y="25"/>
                    </a:lnTo>
                    <a:lnTo>
                      <a:pt x="5" y="32"/>
                    </a:lnTo>
                    <a:lnTo>
                      <a:pt x="4" y="41"/>
                    </a:lnTo>
                    <a:lnTo>
                      <a:pt x="3" y="48"/>
                    </a:lnTo>
                    <a:lnTo>
                      <a:pt x="1" y="56"/>
                    </a:lnTo>
                    <a:lnTo>
                      <a:pt x="0" y="64"/>
                    </a:lnTo>
                    <a:lnTo>
                      <a:pt x="21" y="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4" name="Freeform 319">
                <a:extLst>
                  <a:ext uri="{FF2B5EF4-FFF2-40B4-BE49-F238E27FC236}">
                    <a16:creationId xmlns:a16="http://schemas.microsoft.com/office/drawing/2014/main" id="{30096036-E04D-40C6-835D-5C4A1F2ED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1"/>
              </a:xfrm>
              <a:custGeom>
                <a:avLst/>
                <a:gdLst>
                  <a:gd name="T0" fmla="*/ 0 w 21"/>
                  <a:gd name="T1" fmla="*/ 0 h 12"/>
                  <a:gd name="T2" fmla="*/ 0 w 21"/>
                  <a:gd name="T3" fmla="*/ 0 h 12"/>
                  <a:gd name="T4" fmla="*/ 0 w 21"/>
                  <a:gd name="T5" fmla="*/ 0 h 12"/>
                  <a:gd name="T6" fmla="*/ 0 w 21"/>
                  <a:gd name="T7" fmla="*/ 0 h 12"/>
                  <a:gd name="T8" fmla="*/ 0 w 21"/>
                  <a:gd name="T9" fmla="*/ 0 h 12"/>
                  <a:gd name="T10" fmla="*/ 0 w 2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2"/>
                  <a:gd name="T20" fmla="*/ 21 w 2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2">
                    <a:moveTo>
                      <a:pt x="0" y="0"/>
                    </a:moveTo>
                    <a:lnTo>
                      <a:pt x="3" y="8"/>
                    </a:lnTo>
                    <a:lnTo>
                      <a:pt x="10" y="12"/>
                    </a:lnTo>
                    <a:lnTo>
                      <a:pt x="17" y="11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5" name="Freeform 320">
                <a:extLst>
                  <a:ext uri="{FF2B5EF4-FFF2-40B4-BE49-F238E27FC236}">
                    <a16:creationId xmlns:a16="http://schemas.microsoft.com/office/drawing/2014/main" id="{5C80A801-3684-4CFB-B290-7A8A1B9AE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8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6"/>
                    </a:lnTo>
                    <a:lnTo>
                      <a:pt x="0" y="14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6" name="Freeform 321">
                <a:extLst>
                  <a:ext uri="{FF2B5EF4-FFF2-40B4-BE49-F238E27FC236}">
                    <a16:creationId xmlns:a16="http://schemas.microsoft.com/office/drawing/2014/main" id="{61783B64-33DF-40BF-B1AB-7050C0685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128"/>
                <a:ext cx="4" cy="8"/>
              </a:xfrm>
              <a:custGeom>
                <a:avLst/>
                <a:gdLst>
                  <a:gd name="T0" fmla="*/ 0 w 86"/>
                  <a:gd name="T1" fmla="*/ 0 h 136"/>
                  <a:gd name="T2" fmla="*/ 0 w 86"/>
                  <a:gd name="T3" fmla="*/ 0 h 136"/>
                  <a:gd name="T4" fmla="*/ 0 w 86"/>
                  <a:gd name="T5" fmla="*/ 0 h 136"/>
                  <a:gd name="T6" fmla="*/ 0 w 86"/>
                  <a:gd name="T7" fmla="*/ 0 h 136"/>
                  <a:gd name="T8" fmla="*/ 0 w 86"/>
                  <a:gd name="T9" fmla="*/ 0 h 136"/>
                  <a:gd name="T10" fmla="*/ 0 w 86"/>
                  <a:gd name="T11" fmla="*/ 0 h 136"/>
                  <a:gd name="T12" fmla="*/ 0 w 86"/>
                  <a:gd name="T13" fmla="*/ 0 h 136"/>
                  <a:gd name="T14" fmla="*/ 0 w 86"/>
                  <a:gd name="T15" fmla="*/ 0 h 136"/>
                  <a:gd name="T16" fmla="*/ 0 w 86"/>
                  <a:gd name="T17" fmla="*/ 0 h 136"/>
                  <a:gd name="T18" fmla="*/ 0 w 86"/>
                  <a:gd name="T19" fmla="*/ 0 h 136"/>
                  <a:gd name="T20" fmla="*/ 0 w 86"/>
                  <a:gd name="T21" fmla="*/ 0 h 136"/>
                  <a:gd name="T22" fmla="*/ 0 w 86"/>
                  <a:gd name="T23" fmla="*/ 0 h 136"/>
                  <a:gd name="T24" fmla="*/ 0 w 86"/>
                  <a:gd name="T25" fmla="*/ 0 h 136"/>
                  <a:gd name="T26" fmla="*/ 0 w 86"/>
                  <a:gd name="T27" fmla="*/ 0 h 136"/>
                  <a:gd name="T28" fmla="*/ 0 w 86"/>
                  <a:gd name="T29" fmla="*/ 0 h 136"/>
                  <a:gd name="T30" fmla="*/ 0 w 86"/>
                  <a:gd name="T31" fmla="*/ 0 h 136"/>
                  <a:gd name="T32" fmla="*/ 0 w 86"/>
                  <a:gd name="T33" fmla="*/ 0 h 136"/>
                  <a:gd name="T34" fmla="*/ 0 w 86"/>
                  <a:gd name="T35" fmla="*/ 0 h 136"/>
                  <a:gd name="T36" fmla="*/ 0 w 86"/>
                  <a:gd name="T37" fmla="*/ 0 h 136"/>
                  <a:gd name="T38" fmla="*/ 0 w 86"/>
                  <a:gd name="T39" fmla="*/ 0 h 136"/>
                  <a:gd name="T40" fmla="*/ 0 w 86"/>
                  <a:gd name="T41" fmla="*/ 0 h 1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6"/>
                  <a:gd name="T64" fmla="*/ 0 h 136"/>
                  <a:gd name="T65" fmla="*/ 86 w 86"/>
                  <a:gd name="T66" fmla="*/ 136 h 1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6" h="136">
                    <a:moveTo>
                      <a:pt x="86" y="136"/>
                    </a:moveTo>
                    <a:lnTo>
                      <a:pt x="86" y="136"/>
                    </a:lnTo>
                    <a:lnTo>
                      <a:pt x="85" y="116"/>
                    </a:lnTo>
                    <a:lnTo>
                      <a:pt x="81" y="95"/>
                    </a:lnTo>
                    <a:lnTo>
                      <a:pt x="76" y="76"/>
                    </a:lnTo>
                    <a:lnTo>
                      <a:pt x="66" y="58"/>
                    </a:lnTo>
                    <a:lnTo>
                      <a:pt x="55" y="41"/>
                    </a:lnTo>
                    <a:lnTo>
                      <a:pt x="42" y="26"/>
                    </a:lnTo>
                    <a:lnTo>
                      <a:pt x="27" y="12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4" y="29"/>
                    </a:lnTo>
                    <a:lnTo>
                      <a:pt x="28" y="40"/>
                    </a:lnTo>
                    <a:lnTo>
                      <a:pt x="39" y="54"/>
                    </a:lnTo>
                    <a:lnTo>
                      <a:pt x="48" y="69"/>
                    </a:lnTo>
                    <a:lnTo>
                      <a:pt x="55" y="85"/>
                    </a:lnTo>
                    <a:lnTo>
                      <a:pt x="60" y="102"/>
                    </a:lnTo>
                    <a:lnTo>
                      <a:pt x="64" y="118"/>
                    </a:lnTo>
                    <a:lnTo>
                      <a:pt x="65" y="136"/>
                    </a:lnTo>
                    <a:lnTo>
                      <a:pt x="86" y="1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7" name="Freeform 322">
                <a:extLst>
                  <a:ext uri="{FF2B5EF4-FFF2-40B4-BE49-F238E27FC236}">
                    <a16:creationId xmlns:a16="http://schemas.microsoft.com/office/drawing/2014/main" id="{F549AC55-9C22-41FC-ACF3-39CC25132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6"/>
                <a:ext cx="1" cy="2"/>
              </a:xfrm>
              <a:custGeom>
                <a:avLst/>
                <a:gdLst>
                  <a:gd name="T0" fmla="*/ 0 w 24"/>
                  <a:gd name="T1" fmla="*/ 0 h 35"/>
                  <a:gd name="T2" fmla="*/ 0 w 24"/>
                  <a:gd name="T3" fmla="*/ 0 h 35"/>
                  <a:gd name="T4" fmla="*/ 0 w 24"/>
                  <a:gd name="T5" fmla="*/ 0 h 35"/>
                  <a:gd name="T6" fmla="*/ 0 w 24"/>
                  <a:gd name="T7" fmla="*/ 0 h 35"/>
                  <a:gd name="T8" fmla="*/ 0 w 24"/>
                  <a:gd name="T9" fmla="*/ 0 h 35"/>
                  <a:gd name="T10" fmla="*/ 0 w 24"/>
                  <a:gd name="T11" fmla="*/ 0 h 35"/>
                  <a:gd name="T12" fmla="*/ 0 w 24"/>
                  <a:gd name="T13" fmla="*/ 0 h 35"/>
                  <a:gd name="T14" fmla="*/ 0 w 24"/>
                  <a:gd name="T15" fmla="*/ 0 h 35"/>
                  <a:gd name="T16" fmla="*/ 0 w 24"/>
                  <a:gd name="T17" fmla="*/ 0 h 35"/>
                  <a:gd name="T18" fmla="*/ 0 w 24"/>
                  <a:gd name="T19" fmla="*/ 0 h 35"/>
                  <a:gd name="T20" fmla="*/ 0 w 24"/>
                  <a:gd name="T21" fmla="*/ 0 h 35"/>
                  <a:gd name="T22" fmla="*/ 0 w 24"/>
                  <a:gd name="T23" fmla="*/ 0 h 35"/>
                  <a:gd name="T24" fmla="*/ 0 w 24"/>
                  <a:gd name="T25" fmla="*/ 0 h 35"/>
                  <a:gd name="T26" fmla="*/ 0 w 24"/>
                  <a:gd name="T27" fmla="*/ 0 h 35"/>
                  <a:gd name="T28" fmla="*/ 0 w 24"/>
                  <a:gd name="T29" fmla="*/ 0 h 35"/>
                  <a:gd name="T30" fmla="*/ 0 w 24"/>
                  <a:gd name="T31" fmla="*/ 0 h 35"/>
                  <a:gd name="T32" fmla="*/ 0 w 24"/>
                  <a:gd name="T33" fmla="*/ 0 h 35"/>
                  <a:gd name="T34" fmla="*/ 0 w 24"/>
                  <a:gd name="T35" fmla="*/ 0 h 35"/>
                  <a:gd name="T36" fmla="*/ 0 w 24"/>
                  <a:gd name="T37" fmla="*/ 0 h 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4"/>
                  <a:gd name="T58" fmla="*/ 0 h 35"/>
                  <a:gd name="T59" fmla="*/ 24 w 24"/>
                  <a:gd name="T60" fmla="*/ 35 h 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4" h="35">
                    <a:moveTo>
                      <a:pt x="21" y="35"/>
                    </a:moveTo>
                    <a:lnTo>
                      <a:pt x="22" y="30"/>
                    </a:lnTo>
                    <a:lnTo>
                      <a:pt x="22" y="26"/>
                    </a:lnTo>
                    <a:lnTo>
                      <a:pt x="23" y="21"/>
                    </a:lnTo>
                    <a:lnTo>
                      <a:pt x="23" y="18"/>
                    </a:lnTo>
                    <a:lnTo>
                      <a:pt x="24" y="15"/>
                    </a:lnTo>
                    <a:lnTo>
                      <a:pt x="24" y="9"/>
                    </a:lnTo>
                    <a:lnTo>
                      <a:pt x="24" y="5"/>
                    </a:lnTo>
                    <a:lnTo>
                      <a:pt x="24" y="0"/>
                    </a:lnTo>
                    <a:lnTo>
                      <a:pt x="3" y="0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3" y="11"/>
                    </a:lnTo>
                    <a:lnTo>
                      <a:pt x="2" y="14"/>
                    </a:lnTo>
                    <a:lnTo>
                      <a:pt x="2" y="19"/>
                    </a:lnTo>
                    <a:lnTo>
                      <a:pt x="1" y="24"/>
                    </a:lnTo>
                    <a:lnTo>
                      <a:pt x="1" y="28"/>
                    </a:lnTo>
                    <a:lnTo>
                      <a:pt x="0" y="31"/>
                    </a:lnTo>
                    <a:lnTo>
                      <a:pt x="21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8" name="Freeform 323">
                <a:extLst>
                  <a:ext uri="{FF2B5EF4-FFF2-40B4-BE49-F238E27FC236}">
                    <a16:creationId xmlns:a16="http://schemas.microsoft.com/office/drawing/2014/main" id="{E17826D7-A0D9-4797-9C62-7E436BA6F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5"/>
                <a:ext cx="1" cy="1"/>
              </a:xfrm>
              <a:custGeom>
                <a:avLst/>
                <a:gdLst>
                  <a:gd name="T0" fmla="*/ 0 w 21"/>
                  <a:gd name="T1" fmla="*/ 0 h 13"/>
                  <a:gd name="T2" fmla="*/ 0 w 21"/>
                  <a:gd name="T3" fmla="*/ 0 h 13"/>
                  <a:gd name="T4" fmla="*/ 0 w 21"/>
                  <a:gd name="T5" fmla="*/ 0 h 13"/>
                  <a:gd name="T6" fmla="*/ 0 w 21"/>
                  <a:gd name="T7" fmla="*/ 0 h 13"/>
                  <a:gd name="T8" fmla="*/ 0 w 21"/>
                  <a:gd name="T9" fmla="*/ 0 h 13"/>
                  <a:gd name="T10" fmla="*/ 0 w 21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3"/>
                  <a:gd name="T20" fmla="*/ 21 w 21"/>
                  <a:gd name="T21" fmla="*/ 13 h 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3">
                    <a:moveTo>
                      <a:pt x="0" y="0"/>
                    </a:moveTo>
                    <a:lnTo>
                      <a:pt x="2" y="9"/>
                    </a:lnTo>
                    <a:lnTo>
                      <a:pt x="10" y="13"/>
                    </a:lnTo>
                    <a:lnTo>
                      <a:pt x="17" y="12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49" name="Freeform 324">
                <a:extLst>
                  <a:ext uri="{FF2B5EF4-FFF2-40B4-BE49-F238E27FC236}">
                    <a16:creationId xmlns:a16="http://schemas.microsoft.com/office/drawing/2014/main" id="{D5DD13F2-7F12-4681-A483-DCF20ECB8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3" cy="137"/>
              </a:xfrm>
              <a:custGeom>
                <a:avLst/>
                <a:gdLst>
                  <a:gd name="T0" fmla="*/ 0 w 1169"/>
                  <a:gd name="T1" fmla="*/ 0 h 2481"/>
                  <a:gd name="T2" fmla="*/ 0 w 1169"/>
                  <a:gd name="T3" fmla="*/ 0 h 2481"/>
                  <a:gd name="T4" fmla="*/ 0 w 1169"/>
                  <a:gd name="T5" fmla="*/ 0 h 2481"/>
                  <a:gd name="T6" fmla="*/ 0 w 1169"/>
                  <a:gd name="T7" fmla="*/ 0 h 2481"/>
                  <a:gd name="T8" fmla="*/ 0 w 1169"/>
                  <a:gd name="T9" fmla="*/ 0 h 2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69"/>
                  <a:gd name="T16" fmla="*/ 0 h 2481"/>
                  <a:gd name="T17" fmla="*/ 1169 w 1169"/>
                  <a:gd name="T18" fmla="*/ 2481 h 24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69" h="2481">
                    <a:moveTo>
                      <a:pt x="166" y="0"/>
                    </a:moveTo>
                    <a:lnTo>
                      <a:pt x="0" y="73"/>
                    </a:lnTo>
                    <a:lnTo>
                      <a:pt x="959" y="2481"/>
                    </a:lnTo>
                    <a:lnTo>
                      <a:pt x="1169" y="238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0" name="Freeform 325">
                <a:extLst>
                  <a:ext uri="{FF2B5EF4-FFF2-40B4-BE49-F238E27FC236}">
                    <a16:creationId xmlns:a16="http://schemas.microsoft.com/office/drawing/2014/main" id="{D86BBA99-6D8F-4C97-B31B-2771C4B65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2" cy="137"/>
              </a:xfrm>
              <a:custGeom>
                <a:avLst/>
                <a:gdLst>
                  <a:gd name="T0" fmla="*/ 0 w 1140"/>
                  <a:gd name="T1" fmla="*/ 0 h 2467"/>
                  <a:gd name="T2" fmla="*/ 0 w 1140"/>
                  <a:gd name="T3" fmla="*/ 0 h 2467"/>
                  <a:gd name="T4" fmla="*/ 0 w 1140"/>
                  <a:gd name="T5" fmla="*/ 0 h 2467"/>
                  <a:gd name="T6" fmla="*/ 0 w 1140"/>
                  <a:gd name="T7" fmla="*/ 0 h 2467"/>
                  <a:gd name="T8" fmla="*/ 0 w 1140"/>
                  <a:gd name="T9" fmla="*/ 0 h 2467"/>
                  <a:gd name="T10" fmla="*/ 0 w 1140"/>
                  <a:gd name="T11" fmla="*/ 0 h 2467"/>
                  <a:gd name="T12" fmla="*/ 0 w 1140"/>
                  <a:gd name="T13" fmla="*/ 0 h 2467"/>
                  <a:gd name="T14" fmla="*/ 0 w 1140"/>
                  <a:gd name="T15" fmla="*/ 0 h 2467"/>
                  <a:gd name="T16" fmla="*/ 0 w 1140"/>
                  <a:gd name="T17" fmla="*/ 0 h 2467"/>
                  <a:gd name="T18" fmla="*/ 0 w 1140"/>
                  <a:gd name="T19" fmla="*/ 0 h 2467"/>
                  <a:gd name="T20" fmla="*/ 0 w 1140"/>
                  <a:gd name="T21" fmla="*/ 0 h 2467"/>
                  <a:gd name="T22" fmla="*/ 0 w 1140"/>
                  <a:gd name="T23" fmla="*/ 0 h 2467"/>
                  <a:gd name="T24" fmla="*/ 0 w 1140"/>
                  <a:gd name="T25" fmla="*/ 0 h 2467"/>
                  <a:gd name="T26" fmla="*/ 0 w 1140"/>
                  <a:gd name="T27" fmla="*/ 0 h 2467"/>
                  <a:gd name="T28" fmla="*/ 0 w 1140"/>
                  <a:gd name="T29" fmla="*/ 0 h 2467"/>
                  <a:gd name="T30" fmla="*/ 0 w 1140"/>
                  <a:gd name="T31" fmla="*/ 0 h 2467"/>
                  <a:gd name="T32" fmla="*/ 0 w 1140"/>
                  <a:gd name="T33" fmla="*/ 0 h 2467"/>
                  <a:gd name="T34" fmla="*/ 0 w 1140"/>
                  <a:gd name="T35" fmla="*/ 0 h 2467"/>
                  <a:gd name="T36" fmla="*/ 0 w 1140"/>
                  <a:gd name="T37" fmla="*/ 0 h 2467"/>
                  <a:gd name="T38" fmla="*/ 0 w 1140"/>
                  <a:gd name="T39" fmla="*/ 0 h 2467"/>
                  <a:gd name="T40" fmla="*/ 0 w 1140"/>
                  <a:gd name="T41" fmla="*/ 0 h 2467"/>
                  <a:gd name="T42" fmla="*/ 0 w 1140"/>
                  <a:gd name="T43" fmla="*/ 0 h 2467"/>
                  <a:gd name="T44" fmla="*/ 0 w 1140"/>
                  <a:gd name="T45" fmla="*/ 0 h 2467"/>
                  <a:gd name="T46" fmla="*/ 0 w 1140"/>
                  <a:gd name="T47" fmla="*/ 0 h 2467"/>
                  <a:gd name="T48" fmla="*/ 0 w 1140"/>
                  <a:gd name="T49" fmla="*/ 0 h 2467"/>
                  <a:gd name="T50" fmla="*/ 0 w 1140"/>
                  <a:gd name="T51" fmla="*/ 0 h 2467"/>
                  <a:gd name="T52" fmla="*/ 0 w 1140"/>
                  <a:gd name="T53" fmla="*/ 0 h 2467"/>
                  <a:gd name="T54" fmla="*/ 0 w 1140"/>
                  <a:gd name="T55" fmla="*/ 0 h 2467"/>
                  <a:gd name="T56" fmla="*/ 0 w 1140"/>
                  <a:gd name="T57" fmla="*/ 0 h 2467"/>
                  <a:gd name="T58" fmla="*/ 0 w 1140"/>
                  <a:gd name="T59" fmla="*/ 0 h 2467"/>
                  <a:gd name="T60" fmla="*/ 0 w 1140"/>
                  <a:gd name="T61" fmla="*/ 0 h 2467"/>
                  <a:gd name="T62" fmla="*/ 0 w 1140"/>
                  <a:gd name="T63" fmla="*/ 0 h 2467"/>
                  <a:gd name="T64" fmla="*/ 0 w 1140"/>
                  <a:gd name="T65" fmla="*/ 0 h 2467"/>
                  <a:gd name="T66" fmla="*/ 0 w 1140"/>
                  <a:gd name="T67" fmla="*/ 0 h 2467"/>
                  <a:gd name="T68" fmla="*/ 0 w 1140"/>
                  <a:gd name="T69" fmla="*/ 0 h 2467"/>
                  <a:gd name="T70" fmla="*/ 0 w 1140"/>
                  <a:gd name="T71" fmla="*/ 0 h 2467"/>
                  <a:gd name="T72" fmla="*/ 0 w 1140"/>
                  <a:gd name="T73" fmla="*/ 0 h 2467"/>
                  <a:gd name="T74" fmla="*/ 0 w 1140"/>
                  <a:gd name="T75" fmla="*/ 0 h 2467"/>
                  <a:gd name="T76" fmla="*/ 0 w 1140"/>
                  <a:gd name="T77" fmla="*/ 0 h 2467"/>
                  <a:gd name="T78" fmla="*/ 0 w 1140"/>
                  <a:gd name="T79" fmla="*/ 0 h 2467"/>
                  <a:gd name="T80" fmla="*/ 0 w 1140"/>
                  <a:gd name="T81" fmla="*/ 0 h 2467"/>
                  <a:gd name="T82" fmla="*/ 0 w 1140"/>
                  <a:gd name="T83" fmla="*/ 0 h 2467"/>
                  <a:gd name="T84" fmla="*/ 0 w 1140"/>
                  <a:gd name="T85" fmla="*/ 0 h 2467"/>
                  <a:gd name="T86" fmla="*/ 0 w 1140"/>
                  <a:gd name="T87" fmla="*/ 0 h 246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40"/>
                  <a:gd name="T133" fmla="*/ 0 h 2467"/>
                  <a:gd name="T134" fmla="*/ 1140 w 1140"/>
                  <a:gd name="T135" fmla="*/ 2467 h 2467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40" h="2467">
                    <a:moveTo>
                      <a:pt x="140" y="0"/>
                    </a:moveTo>
                    <a:lnTo>
                      <a:pt x="126" y="6"/>
                    </a:lnTo>
                    <a:lnTo>
                      <a:pt x="114" y="10"/>
                    </a:lnTo>
                    <a:lnTo>
                      <a:pt x="104" y="14"/>
                    </a:lnTo>
                    <a:lnTo>
                      <a:pt x="94" y="19"/>
                    </a:lnTo>
                    <a:lnTo>
                      <a:pt x="81" y="24"/>
                    </a:lnTo>
                    <a:lnTo>
                      <a:pt x="61" y="32"/>
                    </a:lnTo>
                    <a:lnTo>
                      <a:pt x="36" y="44"/>
                    </a:lnTo>
                    <a:lnTo>
                      <a:pt x="0" y="61"/>
                    </a:lnTo>
                    <a:lnTo>
                      <a:pt x="29" y="132"/>
                    </a:lnTo>
                    <a:lnTo>
                      <a:pt x="55" y="199"/>
                    </a:lnTo>
                    <a:lnTo>
                      <a:pt x="81" y="260"/>
                    </a:lnTo>
                    <a:lnTo>
                      <a:pt x="103" y="317"/>
                    </a:lnTo>
                    <a:lnTo>
                      <a:pt x="125" y="370"/>
                    </a:lnTo>
                    <a:lnTo>
                      <a:pt x="144" y="419"/>
                    </a:lnTo>
                    <a:lnTo>
                      <a:pt x="163" y="467"/>
                    </a:lnTo>
                    <a:lnTo>
                      <a:pt x="181" y="511"/>
                    </a:lnTo>
                    <a:lnTo>
                      <a:pt x="198" y="554"/>
                    </a:lnTo>
                    <a:lnTo>
                      <a:pt x="215" y="596"/>
                    </a:lnTo>
                    <a:lnTo>
                      <a:pt x="232" y="637"/>
                    </a:lnTo>
                    <a:lnTo>
                      <a:pt x="249" y="680"/>
                    </a:lnTo>
                    <a:lnTo>
                      <a:pt x="265" y="723"/>
                    </a:lnTo>
                    <a:lnTo>
                      <a:pt x="284" y="766"/>
                    </a:lnTo>
                    <a:lnTo>
                      <a:pt x="302" y="812"/>
                    </a:lnTo>
                    <a:lnTo>
                      <a:pt x="322" y="861"/>
                    </a:lnTo>
                    <a:lnTo>
                      <a:pt x="342" y="913"/>
                    </a:lnTo>
                    <a:lnTo>
                      <a:pt x="364" y="968"/>
                    </a:lnTo>
                    <a:lnTo>
                      <a:pt x="388" y="1029"/>
                    </a:lnTo>
                    <a:lnTo>
                      <a:pt x="414" y="1093"/>
                    </a:lnTo>
                    <a:lnTo>
                      <a:pt x="442" y="1164"/>
                    </a:lnTo>
                    <a:lnTo>
                      <a:pt x="473" y="1239"/>
                    </a:lnTo>
                    <a:lnTo>
                      <a:pt x="505" y="1323"/>
                    </a:lnTo>
                    <a:lnTo>
                      <a:pt x="542" y="1412"/>
                    </a:lnTo>
                    <a:lnTo>
                      <a:pt x="581" y="1511"/>
                    </a:lnTo>
                    <a:lnTo>
                      <a:pt x="623" y="1618"/>
                    </a:lnTo>
                    <a:lnTo>
                      <a:pt x="669" y="1733"/>
                    </a:lnTo>
                    <a:lnTo>
                      <a:pt x="719" y="1858"/>
                    </a:lnTo>
                    <a:lnTo>
                      <a:pt x="773" y="1993"/>
                    </a:lnTo>
                    <a:lnTo>
                      <a:pt x="832" y="2140"/>
                    </a:lnTo>
                    <a:lnTo>
                      <a:pt x="895" y="2297"/>
                    </a:lnTo>
                    <a:lnTo>
                      <a:pt x="962" y="2467"/>
                    </a:lnTo>
                    <a:lnTo>
                      <a:pt x="972" y="2462"/>
                    </a:lnTo>
                    <a:lnTo>
                      <a:pt x="982" y="2458"/>
                    </a:lnTo>
                    <a:lnTo>
                      <a:pt x="989" y="2455"/>
                    </a:lnTo>
                    <a:lnTo>
                      <a:pt x="996" y="2452"/>
                    </a:lnTo>
                    <a:lnTo>
                      <a:pt x="1003" y="2449"/>
                    </a:lnTo>
                    <a:lnTo>
                      <a:pt x="1009" y="2445"/>
                    </a:lnTo>
                    <a:lnTo>
                      <a:pt x="1015" y="2442"/>
                    </a:lnTo>
                    <a:lnTo>
                      <a:pt x="1022" y="2439"/>
                    </a:lnTo>
                    <a:lnTo>
                      <a:pt x="1030" y="2436"/>
                    </a:lnTo>
                    <a:lnTo>
                      <a:pt x="1040" y="2432"/>
                    </a:lnTo>
                    <a:lnTo>
                      <a:pt x="1050" y="2428"/>
                    </a:lnTo>
                    <a:lnTo>
                      <a:pt x="1063" y="2422"/>
                    </a:lnTo>
                    <a:lnTo>
                      <a:pt x="1077" y="2416"/>
                    </a:lnTo>
                    <a:lnTo>
                      <a:pt x="1095" y="2409"/>
                    </a:lnTo>
                    <a:lnTo>
                      <a:pt x="1116" y="2399"/>
                    </a:lnTo>
                    <a:lnTo>
                      <a:pt x="1140" y="2390"/>
                    </a:lnTo>
                    <a:lnTo>
                      <a:pt x="1110" y="2318"/>
                    </a:lnTo>
                    <a:lnTo>
                      <a:pt x="1081" y="2251"/>
                    </a:lnTo>
                    <a:lnTo>
                      <a:pt x="1056" y="2190"/>
                    </a:lnTo>
                    <a:lnTo>
                      <a:pt x="1033" y="2134"/>
                    </a:lnTo>
                    <a:lnTo>
                      <a:pt x="1011" y="2082"/>
                    </a:lnTo>
                    <a:lnTo>
                      <a:pt x="991" y="2032"/>
                    </a:lnTo>
                    <a:lnTo>
                      <a:pt x="970" y="1985"/>
                    </a:lnTo>
                    <a:lnTo>
                      <a:pt x="952" y="1940"/>
                    </a:lnTo>
                    <a:lnTo>
                      <a:pt x="935" y="1897"/>
                    </a:lnTo>
                    <a:lnTo>
                      <a:pt x="916" y="1856"/>
                    </a:lnTo>
                    <a:lnTo>
                      <a:pt x="899" y="1814"/>
                    </a:lnTo>
                    <a:lnTo>
                      <a:pt x="882" y="1773"/>
                    </a:lnTo>
                    <a:lnTo>
                      <a:pt x="864" y="1730"/>
                    </a:lnTo>
                    <a:lnTo>
                      <a:pt x="846" y="1686"/>
                    </a:lnTo>
                    <a:lnTo>
                      <a:pt x="826" y="1640"/>
                    </a:lnTo>
                    <a:lnTo>
                      <a:pt x="807" y="1592"/>
                    </a:lnTo>
                    <a:lnTo>
                      <a:pt x="785" y="1541"/>
                    </a:lnTo>
                    <a:lnTo>
                      <a:pt x="762" y="1485"/>
                    </a:lnTo>
                    <a:lnTo>
                      <a:pt x="738" y="1426"/>
                    </a:lnTo>
                    <a:lnTo>
                      <a:pt x="710" y="1362"/>
                    </a:lnTo>
                    <a:lnTo>
                      <a:pt x="682" y="1292"/>
                    </a:lnTo>
                    <a:lnTo>
                      <a:pt x="650" y="1216"/>
                    </a:lnTo>
                    <a:lnTo>
                      <a:pt x="615" y="1134"/>
                    </a:lnTo>
                    <a:lnTo>
                      <a:pt x="578" y="1044"/>
                    </a:lnTo>
                    <a:lnTo>
                      <a:pt x="537" y="947"/>
                    </a:lnTo>
                    <a:lnTo>
                      <a:pt x="493" y="842"/>
                    </a:lnTo>
                    <a:lnTo>
                      <a:pt x="445" y="727"/>
                    </a:lnTo>
                    <a:lnTo>
                      <a:pt x="393" y="603"/>
                    </a:lnTo>
                    <a:lnTo>
                      <a:pt x="337" y="469"/>
                    </a:lnTo>
                    <a:lnTo>
                      <a:pt x="276" y="324"/>
                    </a:lnTo>
                    <a:lnTo>
                      <a:pt x="210" y="167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1" name="Freeform 326">
                <a:extLst>
                  <a:ext uri="{FF2B5EF4-FFF2-40B4-BE49-F238E27FC236}">
                    <a16:creationId xmlns:a16="http://schemas.microsoft.com/office/drawing/2014/main" id="{501695F1-7F44-445A-9BC3-957D8E2F0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50" cy="136"/>
              </a:xfrm>
              <a:custGeom>
                <a:avLst/>
                <a:gdLst>
                  <a:gd name="T0" fmla="*/ 0 w 1109"/>
                  <a:gd name="T1" fmla="*/ 0 h 2454"/>
                  <a:gd name="T2" fmla="*/ 0 w 1109"/>
                  <a:gd name="T3" fmla="*/ 0 h 2454"/>
                  <a:gd name="T4" fmla="*/ 0 w 1109"/>
                  <a:gd name="T5" fmla="*/ 0 h 2454"/>
                  <a:gd name="T6" fmla="*/ 0 w 1109"/>
                  <a:gd name="T7" fmla="*/ 0 h 2454"/>
                  <a:gd name="T8" fmla="*/ 0 w 1109"/>
                  <a:gd name="T9" fmla="*/ 0 h 2454"/>
                  <a:gd name="T10" fmla="*/ 0 w 1109"/>
                  <a:gd name="T11" fmla="*/ 0 h 2454"/>
                  <a:gd name="T12" fmla="*/ 0 w 1109"/>
                  <a:gd name="T13" fmla="*/ 0 h 2454"/>
                  <a:gd name="T14" fmla="*/ 0 w 1109"/>
                  <a:gd name="T15" fmla="*/ 0 h 2454"/>
                  <a:gd name="T16" fmla="*/ 0 w 1109"/>
                  <a:gd name="T17" fmla="*/ 0 h 2454"/>
                  <a:gd name="T18" fmla="*/ 0 w 1109"/>
                  <a:gd name="T19" fmla="*/ 0 h 2454"/>
                  <a:gd name="T20" fmla="*/ 0 w 1109"/>
                  <a:gd name="T21" fmla="*/ 0 h 2454"/>
                  <a:gd name="T22" fmla="*/ 0 w 1109"/>
                  <a:gd name="T23" fmla="*/ 0 h 2454"/>
                  <a:gd name="T24" fmla="*/ 0 w 1109"/>
                  <a:gd name="T25" fmla="*/ 0 h 2454"/>
                  <a:gd name="T26" fmla="*/ 0 w 1109"/>
                  <a:gd name="T27" fmla="*/ 0 h 2454"/>
                  <a:gd name="T28" fmla="*/ 0 w 1109"/>
                  <a:gd name="T29" fmla="*/ 0 h 2454"/>
                  <a:gd name="T30" fmla="*/ 0 w 1109"/>
                  <a:gd name="T31" fmla="*/ 0 h 2454"/>
                  <a:gd name="T32" fmla="*/ 0 w 1109"/>
                  <a:gd name="T33" fmla="*/ 0 h 2454"/>
                  <a:gd name="T34" fmla="*/ 0 w 1109"/>
                  <a:gd name="T35" fmla="*/ 0 h 2454"/>
                  <a:gd name="T36" fmla="*/ 0 w 1109"/>
                  <a:gd name="T37" fmla="*/ 0 h 2454"/>
                  <a:gd name="T38" fmla="*/ 0 w 1109"/>
                  <a:gd name="T39" fmla="*/ 0 h 2454"/>
                  <a:gd name="T40" fmla="*/ 0 w 1109"/>
                  <a:gd name="T41" fmla="*/ 0 h 2454"/>
                  <a:gd name="T42" fmla="*/ 0 w 1109"/>
                  <a:gd name="T43" fmla="*/ 0 h 2454"/>
                  <a:gd name="T44" fmla="*/ 0 w 1109"/>
                  <a:gd name="T45" fmla="*/ 0 h 2454"/>
                  <a:gd name="T46" fmla="*/ 0 w 1109"/>
                  <a:gd name="T47" fmla="*/ 0 h 2454"/>
                  <a:gd name="T48" fmla="*/ 0 w 1109"/>
                  <a:gd name="T49" fmla="*/ 0 h 2454"/>
                  <a:gd name="T50" fmla="*/ 0 w 1109"/>
                  <a:gd name="T51" fmla="*/ 0 h 2454"/>
                  <a:gd name="T52" fmla="*/ 0 w 1109"/>
                  <a:gd name="T53" fmla="*/ 0 h 2454"/>
                  <a:gd name="T54" fmla="*/ 0 w 1109"/>
                  <a:gd name="T55" fmla="*/ 0 h 2454"/>
                  <a:gd name="T56" fmla="*/ 0 w 1109"/>
                  <a:gd name="T57" fmla="*/ 0 h 2454"/>
                  <a:gd name="T58" fmla="*/ 0 w 1109"/>
                  <a:gd name="T59" fmla="*/ 0 h 2454"/>
                  <a:gd name="T60" fmla="*/ 0 w 1109"/>
                  <a:gd name="T61" fmla="*/ 0 h 2454"/>
                  <a:gd name="T62" fmla="*/ 0 w 1109"/>
                  <a:gd name="T63" fmla="*/ 0 h 2454"/>
                  <a:gd name="T64" fmla="*/ 0 w 1109"/>
                  <a:gd name="T65" fmla="*/ 0 h 2454"/>
                  <a:gd name="T66" fmla="*/ 0 w 1109"/>
                  <a:gd name="T67" fmla="*/ 0 h 2454"/>
                  <a:gd name="T68" fmla="*/ 0 w 1109"/>
                  <a:gd name="T69" fmla="*/ 0 h 2454"/>
                  <a:gd name="T70" fmla="*/ 0 w 1109"/>
                  <a:gd name="T71" fmla="*/ 0 h 2454"/>
                  <a:gd name="T72" fmla="*/ 0 w 1109"/>
                  <a:gd name="T73" fmla="*/ 0 h 2454"/>
                  <a:gd name="T74" fmla="*/ 0 w 1109"/>
                  <a:gd name="T75" fmla="*/ 0 h 2454"/>
                  <a:gd name="T76" fmla="*/ 0 w 1109"/>
                  <a:gd name="T77" fmla="*/ 0 h 2454"/>
                  <a:gd name="T78" fmla="*/ 0 w 1109"/>
                  <a:gd name="T79" fmla="*/ 0 h 245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109"/>
                  <a:gd name="T121" fmla="*/ 0 h 2454"/>
                  <a:gd name="T122" fmla="*/ 1109 w 1109"/>
                  <a:gd name="T123" fmla="*/ 2454 h 245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109" h="2454">
                    <a:moveTo>
                      <a:pt x="113" y="0"/>
                    </a:moveTo>
                    <a:lnTo>
                      <a:pt x="100" y="4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6" y="15"/>
                    </a:lnTo>
                    <a:lnTo>
                      <a:pt x="65" y="19"/>
                    </a:lnTo>
                    <a:lnTo>
                      <a:pt x="49" y="26"/>
                    </a:lnTo>
                    <a:lnTo>
                      <a:pt x="29" y="36"/>
                    </a:lnTo>
                    <a:lnTo>
                      <a:pt x="0" y="49"/>
                    </a:lnTo>
                    <a:lnTo>
                      <a:pt x="29" y="120"/>
                    </a:lnTo>
                    <a:lnTo>
                      <a:pt x="56" y="187"/>
                    </a:lnTo>
                    <a:lnTo>
                      <a:pt x="81" y="248"/>
                    </a:lnTo>
                    <a:lnTo>
                      <a:pt x="103" y="305"/>
                    </a:lnTo>
                    <a:lnTo>
                      <a:pt x="125" y="358"/>
                    </a:lnTo>
                    <a:lnTo>
                      <a:pt x="145" y="407"/>
                    </a:lnTo>
                    <a:lnTo>
                      <a:pt x="164" y="455"/>
                    </a:lnTo>
                    <a:lnTo>
                      <a:pt x="182" y="499"/>
                    </a:lnTo>
                    <a:lnTo>
                      <a:pt x="199" y="542"/>
                    </a:lnTo>
                    <a:lnTo>
                      <a:pt x="216" y="584"/>
                    </a:lnTo>
                    <a:lnTo>
                      <a:pt x="233" y="625"/>
                    </a:lnTo>
                    <a:lnTo>
                      <a:pt x="249" y="667"/>
                    </a:lnTo>
                    <a:lnTo>
                      <a:pt x="267" y="711"/>
                    </a:lnTo>
                    <a:lnTo>
                      <a:pt x="284" y="754"/>
                    </a:lnTo>
                    <a:lnTo>
                      <a:pt x="302" y="800"/>
                    </a:lnTo>
                    <a:lnTo>
                      <a:pt x="323" y="849"/>
                    </a:lnTo>
                    <a:lnTo>
                      <a:pt x="343" y="900"/>
                    </a:lnTo>
                    <a:lnTo>
                      <a:pt x="366" y="956"/>
                    </a:lnTo>
                    <a:lnTo>
                      <a:pt x="389" y="1016"/>
                    </a:lnTo>
                    <a:lnTo>
                      <a:pt x="415" y="1081"/>
                    </a:lnTo>
                    <a:lnTo>
                      <a:pt x="443" y="1151"/>
                    </a:lnTo>
                    <a:lnTo>
                      <a:pt x="474" y="1227"/>
                    </a:lnTo>
                    <a:lnTo>
                      <a:pt x="507" y="1311"/>
                    </a:lnTo>
                    <a:lnTo>
                      <a:pt x="544" y="1400"/>
                    </a:lnTo>
                    <a:lnTo>
                      <a:pt x="583" y="1499"/>
                    </a:lnTo>
                    <a:lnTo>
                      <a:pt x="626" y="1606"/>
                    </a:lnTo>
                    <a:lnTo>
                      <a:pt x="672" y="1721"/>
                    </a:lnTo>
                    <a:lnTo>
                      <a:pt x="723" y="1846"/>
                    </a:lnTo>
                    <a:lnTo>
                      <a:pt x="777" y="1981"/>
                    </a:lnTo>
                    <a:lnTo>
                      <a:pt x="835" y="2128"/>
                    </a:lnTo>
                    <a:lnTo>
                      <a:pt x="898" y="2285"/>
                    </a:lnTo>
                    <a:lnTo>
                      <a:pt x="966" y="2454"/>
                    </a:lnTo>
                    <a:lnTo>
                      <a:pt x="982" y="2447"/>
                    </a:lnTo>
                    <a:lnTo>
                      <a:pt x="994" y="2442"/>
                    </a:lnTo>
                    <a:lnTo>
                      <a:pt x="1003" y="2436"/>
                    </a:lnTo>
                    <a:lnTo>
                      <a:pt x="1014" y="2432"/>
                    </a:lnTo>
                    <a:lnTo>
                      <a:pt x="1029" y="2426"/>
                    </a:lnTo>
                    <a:lnTo>
                      <a:pt x="1047" y="2417"/>
                    </a:lnTo>
                    <a:lnTo>
                      <a:pt x="1073" y="2407"/>
                    </a:lnTo>
                    <a:lnTo>
                      <a:pt x="1109" y="2392"/>
                    </a:lnTo>
                    <a:lnTo>
                      <a:pt x="1080" y="2320"/>
                    </a:lnTo>
                    <a:lnTo>
                      <a:pt x="1052" y="2254"/>
                    </a:lnTo>
                    <a:lnTo>
                      <a:pt x="1027" y="2193"/>
                    </a:lnTo>
                    <a:lnTo>
                      <a:pt x="1003" y="2136"/>
                    </a:lnTo>
                    <a:lnTo>
                      <a:pt x="981" y="2083"/>
                    </a:lnTo>
                    <a:lnTo>
                      <a:pt x="960" y="2035"/>
                    </a:lnTo>
                    <a:lnTo>
                      <a:pt x="941" y="1987"/>
                    </a:lnTo>
                    <a:lnTo>
                      <a:pt x="922" y="1943"/>
                    </a:lnTo>
                    <a:lnTo>
                      <a:pt x="905" y="1900"/>
                    </a:lnTo>
                    <a:lnTo>
                      <a:pt x="887" y="1858"/>
                    </a:lnTo>
                    <a:lnTo>
                      <a:pt x="869" y="1817"/>
                    </a:lnTo>
                    <a:lnTo>
                      <a:pt x="852" y="1774"/>
                    </a:lnTo>
                    <a:lnTo>
                      <a:pt x="835" y="1732"/>
                    </a:lnTo>
                    <a:lnTo>
                      <a:pt x="816" y="1688"/>
                    </a:lnTo>
                    <a:lnTo>
                      <a:pt x="797" y="1643"/>
                    </a:lnTo>
                    <a:lnTo>
                      <a:pt x="778" y="1594"/>
                    </a:lnTo>
                    <a:lnTo>
                      <a:pt x="756" y="1542"/>
                    </a:lnTo>
                    <a:lnTo>
                      <a:pt x="733" y="1488"/>
                    </a:lnTo>
                    <a:lnTo>
                      <a:pt x="708" y="1428"/>
                    </a:lnTo>
                    <a:lnTo>
                      <a:pt x="681" y="1363"/>
                    </a:lnTo>
                    <a:lnTo>
                      <a:pt x="652" y="1294"/>
                    </a:lnTo>
                    <a:lnTo>
                      <a:pt x="621" y="1218"/>
                    </a:lnTo>
                    <a:lnTo>
                      <a:pt x="586" y="1136"/>
                    </a:lnTo>
                    <a:lnTo>
                      <a:pt x="549" y="1046"/>
                    </a:lnTo>
                    <a:lnTo>
                      <a:pt x="508" y="948"/>
                    </a:lnTo>
                    <a:lnTo>
                      <a:pt x="464" y="842"/>
                    </a:lnTo>
                    <a:lnTo>
                      <a:pt x="417" y="728"/>
                    </a:lnTo>
                    <a:lnTo>
                      <a:pt x="364" y="604"/>
                    </a:lnTo>
                    <a:lnTo>
                      <a:pt x="308" y="469"/>
                    </a:lnTo>
                    <a:lnTo>
                      <a:pt x="248" y="325"/>
                    </a:lnTo>
                    <a:lnTo>
                      <a:pt x="183" y="16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2" name="Freeform 327">
                <a:extLst>
                  <a:ext uri="{FF2B5EF4-FFF2-40B4-BE49-F238E27FC236}">
                    <a16:creationId xmlns:a16="http://schemas.microsoft.com/office/drawing/2014/main" id="{F0947F09-9900-4F33-95B7-07FE15B73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49" cy="136"/>
              </a:xfrm>
              <a:custGeom>
                <a:avLst/>
                <a:gdLst>
                  <a:gd name="T0" fmla="*/ 0 w 1078"/>
                  <a:gd name="T1" fmla="*/ 0 h 2440"/>
                  <a:gd name="T2" fmla="*/ 0 w 1078"/>
                  <a:gd name="T3" fmla="*/ 0 h 2440"/>
                  <a:gd name="T4" fmla="*/ 0 w 1078"/>
                  <a:gd name="T5" fmla="*/ 0 h 2440"/>
                  <a:gd name="T6" fmla="*/ 0 w 1078"/>
                  <a:gd name="T7" fmla="*/ 0 h 2440"/>
                  <a:gd name="T8" fmla="*/ 0 w 1078"/>
                  <a:gd name="T9" fmla="*/ 0 h 2440"/>
                  <a:gd name="T10" fmla="*/ 0 w 1078"/>
                  <a:gd name="T11" fmla="*/ 0 h 2440"/>
                  <a:gd name="T12" fmla="*/ 0 w 1078"/>
                  <a:gd name="T13" fmla="*/ 0 h 2440"/>
                  <a:gd name="T14" fmla="*/ 0 w 1078"/>
                  <a:gd name="T15" fmla="*/ 0 h 2440"/>
                  <a:gd name="T16" fmla="*/ 0 w 1078"/>
                  <a:gd name="T17" fmla="*/ 0 h 2440"/>
                  <a:gd name="T18" fmla="*/ 0 w 1078"/>
                  <a:gd name="T19" fmla="*/ 0 h 2440"/>
                  <a:gd name="T20" fmla="*/ 0 w 1078"/>
                  <a:gd name="T21" fmla="*/ 0 h 2440"/>
                  <a:gd name="T22" fmla="*/ 0 w 1078"/>
                  <a:gd name="T23" fmla="*/ 0 h 2440"/>
                  <a:gd name="T24" fmla="*/ 0 w 1078"/>
                  <a:gd name="T25" fmla="*/ 0 h 2440"/>
                  <a:gd name="T26" fmla="*/ 0 w 1078"/>
                  <a:gd name="T27" fmla="*/ 0 h 2440"/>
                  <a:gd name="T28" fmla="*/ 0 w 1078"/>
                  <a:gd name="T29" fmla="*/ 0 h 2440"/>
                  <a:gd name="T30" fmla="*/ 0 w 1078"/>
                  <a:gd name="T31" fmla="*/ 0 h 2440"/>
                  <a:gd name="T32" fmla="*/ 0 w 1078"/>
                  <a:gd name="T33" fmla="*/ 0 h 2440"/>
                  <a:gd name="T34" fmla="*/ 0 w 1078"/>
                  <a:gd name="T35" fmla="*/ 0 h 2440"/>
                  <a:gd name="T36" fmla="*/ 0 w 1078"/>
                  <a:gd name="T37" fmla="*/ 0 h 2440"/>
                  <a:gd name="T38" fmla="*/ 0 w 1078"/>
                  <a:gd name="T39" fmla="*/ 0 h 2440"/>
                  <a:gd name="T40" fmla="*/ 0 w 1078"/>
                  <a:gd name="T41" fmla="*/ 0 h 2440"/>
                  <a:gd name="T42" fmla="*/ 0 w 1078"/>
                  <a:gd name="T43" fmla="*/ 0 h 2440"/>
                  <a:gd name="T44" fmla="*/ 0 w 1078"/>
                  <a:gd name="T45" fmla="*/ 0 h 2440"/>
                  <a:gd name="T46" fmla="*/ 0 w 1078"/>
                  <a:gd name="T47" fmla="*/ 0 h 2440"/>
                  <a:gd name="T48" fmla="*/ 0 w 1078"/>
                  <a:gd name="T49" fmla="*/ 0 h 2440"/>
                  <a:gd name="T50" fmla="*/ 0 w 1078"/>
                  <a:gd name="T51" fmla="*/ 0 h 2440"/>
                  <a:gd name="T52" fmla="*/ 0 w 1078"/>
                  <a:gd name="T53" fmla="*/ 0 h 2440"/>
                  <a:gd name="T54" fmla="*/ 0 w 1078"/>
                  <a:gd name="T55" fmla="*/ 0 h 2440"/>
                  <a:gd name="T56" fmla="*/ 0 w 1078"/>
                  <a:gd name="T57" fmla="*/ 0 h 2440"/>
                  <a:gd name="T58" fmla="*/ 0 w 1078"/>
                  <a:gd name="T59" fmla="*/ 0 h 2440"/>
                  <a:gd name="T60" fmla="*/ 0 w 1078"/>
                  <a:gd name="T61" fmla="*/ 0 h 2440"/>
                  <a:gd name="T62" fmla="*/ 0 w 1078"/>
                  <a:gd name="T63" fmla="*/ 0 h 2440"/>
                  <a:gd name="T64" fmla="*/ 0 w 1078"/>
                  <a:gd name="T65" fmla="*/ 0 h 2440"/>
                  <a:gd name="T66" fmla="*/ 0 w 1078"/>
                  <a:gd name="T67" fmla="*/ 0 h 2440"/>
                  <a:gd name="T68" fmla="*/ 0 w 1078"/>
                  <a:gd name="T69" fmla="*/ 0 h 2440"/>
                  <a:gd name="T70" fmla="*/ 0 w 1078"/>
                  <a:gd name="T71" fmla="*/ 0 h 2440"/>
                  <a:gd name="T72" fmla="*/ 0 w 1078"/>
                  <a:gd name="T73" fmla="*/ 0 h 2440"/>
                  <a:gd name="T74" fmla="*/ 0 w 1078"/>
                  <a:gd name="T75" fmla="*/ 0 h 2440"/>
                  <a:gd name="T76" fmla="*/ 0 w 1078"/>
                  <a:gd name="T77" fmla="*/ 0 h 2440"/>
                  <a:gd name="T78" fmla="*/ 0 w 1078"/>
                  <a:gd name="T79" fmla="*/ 0 h 244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78"/>
                  <a:gd name="T121" fmla="*/ 0 h 2440"/>
                  <a:gd name="T122" fmla="*/ 1078 w 1078"/>
                  <a:gd name="T123" fmla="*/ 2440 h 2440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78" h="2440">
                    <a:moveTo>
                      <a:pt x="86" y="0"/>
                    </a:moveTo>
                    <a:lnTo>
                      <a:pt x="77" y="3"/>
                    </a:lnTo>
                    <a:lnTo>
                      <a:pt x="71" y="6"/>
                    </a:lnTo>
                    <a:lnTo>
                      <a:pt x="65" y="8"/>
                    </a:lnTo>
                    <a:lnTo>
                      <a:pt x="59" y="10"/>
                    </a:lnTo>
                    <a:lnTo>
                      <a:pt x="49" y="14"/>
                    </a:lnTo>
                    <a:lnTo>
                      <a:pt x="38" y="20"/>
                    </a:lnTo>
                    <a:lnTo>
                      <a:pt x="22" y="27"/>
                    </a:lnTo>
                    <a:lnTo>
                      <a:pt x="0" y="37"/>
                    </a:lnTo>
                    <a:lnTo>
                      <a:pt x="30" y="108"/>
                    </a:lnTo>
                    <a:lnTo>
                      <a:pt x="57" y="175"/>
                    </a:lnTo>
                    <a:lnTo>
                      <a:pt x="81" y="236"/>
                    </a:lnTo>
                    <a:lnTo>
                      <a:pt x="104" y="293"/>
                    </a:lnTo>
                    <a:lnTo>
                      <a:pt x="126" y="345"/>
                    </a:lnTo>
                    <a:lnTo>
                      <a:pt x="145" y="395"/>
                    </a:lnTo>
                    <a:lnTo>
                      <a:pt x="165" y="442"/>
                    </a:lnTo>
                    <a:lnTo>
                      <a:pt x="182" y="487"/>
                    </a:lnTo>
                    <a:lnTo>
                      <a:pt x="199" y="530"/>
                    </a:lnTo>
                    <a:lnTo>
                      <a:pt x="217" y="572"/>
                    </a:lnTo>
                    <a:lnTo>
                      <a:pt x="234" y="613"/>
                    </a:lnTo>
                    <a:lnTo>
                      <a:pt x="250" y="655"/>
                    </a:lnTo>
                    <a:lnTo>
                      <a:pt x="268" y="698"/>
                    </a:lnTo>
                    <a:lnTo>
                      <a:pt x="286" y="742"/>
                    </a:lnTo>
                    <a:lnTo>
                      <a:pt x="304" y="788"/>
                    </a:lnTo>
                    <a:lnTo>
                      <a:pt x="324" y="837"/>
                    </a:lnTo>
                    <a:lnTo>
                      <a:pt x="345" y="888"/>
                    </a:lnTo>
                    <a:lnTo>
                      <a:pt x="368" y="944"/>
                    </a:lnTo>
                    <a:lnTo>
                      <a:pt x="391" y="1003"/>
                    </a:lnTo>
                    <a:lnTo>
                      <a:pt x="418" y="1069"/>
                    </a:lnTo>
                    <a:lnTo>
                      <a:pt x="445" y="1138"/>
                    </a:lnTo>
                    <a:lnTo>
                      <a:pt x="476" y="1215"/>
                    </a:lnTo>
                    <a:lnTo>
                      <a:pt x="509" y="1297"/>
                    </a:lnTo>
                    <a:lnTo>
                      <a:pt x="546" y="1388"/>
                    </a:lnTo>
                    <a:lnTo>
                      <a:pt x="585" y="1486"/>
                    </a:lnTo>
                    <a:lnTo>
                      <a:pt x="628" y="1593"/>
                    </a:lnTo>
                    <a:lnTo>
                      <a:pt x="675" y="1707"/>
                    </a:lnTo>
                    <a:lnTo>
                      <a:pt x="725" y="1833"/>
                    </a:lnTo>
                    <a:lnTo>
                      <a:pt x="780" y="1968"/>
                    </a:lnTo>
                    <a:lnTo>
                      <a:pt x="838" y="2113"/>
                    </a:lnTo>
                    <a:lnTo>
                      <a:pt x="901" y="2270"/>
                    </a:lnTo>
                    <a:lnTo>
                      <a:pt x="969" y="2440"/>
                    </a:lnTo>
                    <a:lnTo>
                      <a:pt x="982" y="2435"/>
                    </a:lnTo>
                    <a:lnTo>
                      <a:pt x="990" y="2431"/>
                    </a:lnTo>
                    <a:lnTo>
                      <a:pt x="998" y="2426"/>
                    </a:lnTo>
                    <a:lnTo>
                      <a:pt x="1006" y="2423"/>
                    </a:lnTo>
                    <a:lnTo>
                      <a:pt x="1016" y="2419"/>
                    </a:lnTo>
                    <a:lnTo>
                      <a:pt x="1031" y="2413"/>
                    </a:lnTo>
                    <a:lnTo>
                      <a:pt x="1050" y="2404"/>
                    </a:lnTo>
                    <a:lnTo>
                      <a:pt x="1078" y="2394"/>
                    </a:lnTo>
                    <a:lnTo>
                      <a:pt x="1048" y="2322"/>
                    </a:lnTo>
                    <a:lnTo>
                      <a:pt x="1020" y="2256"/>
                    </a:lnTo>
                    <a:lnTo>
                      <a:pt x="995" y="2195"/>
                    </a:lnTo>
                    <a:lnTo>
                      <a:pt x="973" y="2138"/>
                    </a:lnTo>
                    <a:lnTo>
                      <a:pt x="950" y="2085"/>
                    </a:lnTo>
                    <a:lnTo>
                      <a:pt x="930" y="2035"/>
                    </a:lnTo>
                    <a:lnTo>
                      <a:pt x="910" y="1989"/>
                    </a:lnTo>
                    <a:lnTo>
                      <a:pt x="892" y="1944"/>
                    </a:lnTo>
                    <a:lnTo>
                      <a:pt x="875" y="1901"/>
                    </a:lnTo>
                    <a:lnTo>
                      <a:pt x="857" y="1859"/>
                    </a:lnTo>
                    <a:lnTo>
                      <a:pt x="840" y="1817"/>
                    </a:lnTo>
                    <a:lnTo>
                      <a:pt x="823" y="1775"/>
                    </a:lnTo>
                    <a:lnTo>
                      <a:pt x="805" y="1733"/>
                    </a:lnTo>
                    <a:lnTo>
                      <a:pt x="787" y="1688"/>
                    </a:lnTo>
                    <a:lnTo>
                      <a:pt x="768" y="1643"/>
                    </a:lnTo>
                    <a:lnTo>
                      <a:pt x="748" y="1595"/>
                    </a:lnTo>
                    <a:lnTo>
                      <a:pt x="727" y="1543"/>
                    </a:lnTo>
                    <a:lnTo>
                      <a:pt x="703" y="1487"/>
                    </a:lnTo>
                    <a:lnTo>
                      <a:pt x="679" y="1428"/>
                    </a:lnTo>
                    <a:lnTo>
                      <a:pt x="652" y="1364"/>
                    </a:lnTo>
                    <a:lnTo>
                      <a:pt x="624" y="1294"/>
                    </a:lnTo>
                    <a:lnTo>
                      <a:pt x="592" y="1218"/>
                    </a:lnTo>
                    <a:lnTo>
                      <a:pt x="557" y="1135"/>
                    </a:lnTo>
                    <a:lnTo>
                      <a:pt x="521" y="1045"/>
                    </a:lnTo>
                    <a:lnTo>
                      <a:pt x="480" y="948"/>
                    </a:lnTo>
                    <a:lnTo>
                      <a:pt x="436" y="843"/>
                    </a:lnTo>
                    <a:lnTo>
                      <a:pt x="388" y="728"/>
                    </a:lnTo>
                    <a:lnTo>
                      <a:pt x="337" y="604"/>
                    </a:lnTo>
                    <a:lnTo>
                      <a:pt x="281" y="469"/>
                    </a:lnTo>
                    <a:lnTo>
                      <a:pt x="221" y="324"/>
                    </a:lnTo>
                    <a:lnTo>
                      <a:pt x="155" y="16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3" name="Freeform 328">
                <a:extLst>
                  <a:ext uri="{FF2B5EF4-FFF2-40B4-BE49-F238E27FC236}">
                    <a16:creationId xmlns:a16="http://schemas.microsoft.com/office/drawing/2014/main" id="{99D8CD72-9AD7-4236-8479-269F560F0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8" cy="135"/>
              </a:xfrm>
              <a:custGeom>
                <a:avLst/>
                <a:gdLst>
                  <a:gd name="T0" fmla="*/ 0 w 1046"/>
                  <a:gd name="T1" fmla="*/ 0 h 2428"/>
                  <a:gd name="T2" fmla="*/ 0 w 1046"/>
                  <a:gd name="T3" fmla="*/ 0 h 2428"/>
                  <a:gd name="T4" fmla="*/ 0 w 1046"/>
                  <a:gd name="T5" fmla="*/ 0 h 2428"/>
                  <a:gd name="T6" fmla="*/ 0 w 1046"/>
                  <a:gd name="T7" fmla="*/ 0 h 2428"/>
                  <a:gd name="T8" fmla="*/ 0 w 1046"/>
                  <a:gd name="T9" fmla="*/ 0 h 2428"/>
                  <a:gd name="T10" fmla="*/ 0 w 1046"/>
                  <a:gd name="T11" fmla="*/ 0 h 2428"/>
                  <a:gd name="T12" fmla="*/ 0 w 1046"/>
                  <a:gd name="T13" fmla="*/ 0 h 2428"/>
                  <a:gd name="T14" fmla="*/ 0 w 1046"/>
                  <a:gd name="T15" fmla="*/ 0 h 2428"/>
                  <a:gd name="T16" fmla="*/ 0 w 1046"/>
                  <a:gd name="T17" fmla="*/ 0 h 2428"/>
                  <a:gd name="T18" fmla="*/ 0 w 1046"/>
                  <a:gd name="T19" fmla="*/ 0 h 2428"/>
                  <a:gd name="T20" fmla="*/ 0 w 1046"/>
                  <a:gd name="T21" fmla="*/ 0 h 2428"/>
                  <a:gd name="T22" fmla="*/ 0 w 1046"/>
                  <a:gd name="T23" fmla="*/ 0 h 2428"/>
                  <a:gd name="T24" fmla="*/ 0 w 1046"/>
                  <a:gd name="T25" fmla="*/ 0 h 2428"/>
                  <a:gd name="T26" fmla="*/ 0 w 1046"/>
                  <a:gd name="T27" fmla="*/ 0 h 2428"/>
                  <a:gd name="T28" fmla="*/ 0 w 1046"/>
                  <a:gd name="T29" fmla="*/ 0 h 2428"/>
                  <a:gd name="T30" fmla="*/ 0 w 1046"/>
                  <a:gd name="T31" fmla="*/ 0 h 2428"/>
                  <a:gd name="T32" fmla="*/ 0 w 1046"/>
                  <a:gd name="T33" fmla="*/ 0 h 2428"/>
                  <a:gd name="T34" fmla="*/ 0 w 1046"/>
                  <a:gd name="T35" fmla="*/ 0 h 2428"/>
                  <a:gd name="T36" fmla="*/ 0 w 1046"/>
                  <a:gd name="T37" fmla="*/ 0 h 2428"/>
                  <a:gd name="T38" fmla="*/ 0 w 1046"/>
                  <a:gd name="T39" fmla="*/ 0 h 2428"/>
                  <a:gd name="T40" fmla="*/ 0 w 1046"/>
                  <a:gd name="T41" fmla="*/ 0 h 2428"/>
                  <a:gd name="T42" fmla="*/ 0 w 1046"/>
                  <a:gd name="T43" fmla="*/ 0 h 2428"/>
                  <a:gd name="T44" fmla="*/ 0 w 1046"/>
                  <a:gd name="T45" fmla="*/ 0 h 2428"/>
                  <a:gd name="T46" fmla="*/ 0 w 1046"/>
                  <a:gd name="T47" fmla="*/ 0 h 2428"/>
                  <a:gd name="T48" fmla="*/ 0 w 1046"/>
                  <a:gd name="T49" fmla="*/ 0 h 2428"/>
                  <a:gd name="T50" fmla="*/ 0 w 1046"/>
                  <a:gd name="T51" fmla="*/ 0 h 2428"/>
                  <a:gd name="T52" fmla="*/ 0 w 1046"/>
                  <a:gd name="T53" fmla="*/ 0 h 2428"/>
                  <a:gd name="T54" fmla="*/ 0 w 1046"/>
                  <a:gd name="T55" fmla="*/ 0 h 2428"/>
                  <a:gd name="T56" fmla="*/ 0 w 1046"/>
                  <a:gd name="T57" fmla="*/ 0 h 2428"/>
                  <a:gd name="T58" fmla="*/ 0 w 1046"/>
                  <a:gd name="T59" fmla="*/ 0 h 2428"/>
                  <a:gd name="T60" fmla="*/ 0 w 1046"/>
                  <a:gd name="T61" fmla="*/ 0 h 2428"/>
                  <a:gd name="T62" fmla="*/ 0 w 1046"/>
                  <a:gd name="T63" fmla="*/ 0 h 2428"/>
                  <a:gd name="T64" fmla="*/ 0 w 1046"/>
                  <a:gd name="T65" fmla="*/ 0 h 2428"/>
                  <a:gd name="T66" fmla="*/ 0 w 1046"/>
                  <a:gd name="T67" fmla="*/ 0 h 2428"/>
                  <a:gd name="T68" fmla="*/ 0 w 1046"/>
                  <a:gd name="T69" fmla="*/ 0 h 2428"/>
                  <a:gd name="T70" fmla="*/ 0 w 1046"/>
                  <a:gd name="T71" fmla="*/ 0 h 2428"/>
                  <a:gd name="T72" fmla="*/ 0 w 1046"/>
                  <a:gd name="T73" fmla="*/ 0 h 2428"/>
                  <a:gd name="T74" fmla="*/ 0 w 1046"/>
                  <a:gd name="T75" fmla="*/ 0 h 2428"/>
                  <a:gd name="T76" fmla="*/ 0 w 1046"/>
                  <a:gd name="T77" fmla="*/ 0 h 2428"/>
                  <a:gd name="T78" fmla="*/ 0 w 1046"/>
                  <a:gd name="T79" fmla="*/ 0 h 242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46"/>
                  <a:gd name="T121" fmla="*/ 0 h 2428"/>
                  <a:gd name="T122" fmla="*/ 1046 w 1046"/>
                  <a:gd name="T123" fmla="*/ 2428 h 242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46" h="2428">
                    <a:moveTo>
                      <a:pt x="58" y="0"/>
                    </a:moveTo>
                    <a:lnTo>
                      <a:pt x="52" y="2"/>
                    </a:lnTo>
                    <a:lnTo>
                      <a:pt x="47" y="4"/>
                    </a:lnTo>
                    <a:lnTo>
                      <a:pt x="43" y="5"/>
                    </a:lnTo>
                    <a:lnTo>
                      <a:pt x="39" y="7"/>
                    </a:lnTo>
                    <a:lnTo>
                      <a:pt x="33" y="10"/>
                    </a:lnTo>
                    <a:lnTo>
                      <a:pt x="25" y="13"/>
                    </a:lnTo>
                    <a:lnTo>
                      <a:pt x="15" y="18"/>
                    </a:lnTo>
                    <a:lnTo>
                      <a:pt x="0" y="25"/>
                    </a:lnTo>
                    <a:lnTo>
                      <a:pt x="29" y="97"/>
                    </a:lnTo>
                    <a:lnTo>
                      <a:pt x="56" y="164"/>
                    </a:lnTo>
                    <a:lnTo>
                      <a:pt x="80" y="225"/>
                    </a:lnTo>
                    <a:lnTo>
                      <a:pt x="104" y="282"/>
                    </a:lnTo>
                    <a:lnTo>
                      <a:pt x="125" y="334"/>
                    </a:lnTo>
                    <a:lnTo>
                      <a:pt x="145" y="384"/>
                    </a:lnTo>
                    <a:lnTo>
                      <a:pt x="164" y="430"/>
                    </a:lnTo>
                    <a:lnTo>
                      <a:pt x="182" y="475"/>
                    </a:lnTo>
                    <a:lnTo>
                      <a:pt x="199" y="518"/>
                    </a:lnTo>
                    <a:lnTo>
                      <a:pt x="217" y="560"/>
                    </a:lnTo>
                    <a:lnTo>
                      <a:pt x="233" y="601"/>
                    </a:lnTo>
                    <a:lnTo>
                      <a:pt x="250" y="643"/>
                    </a:lnTo>
                    <a:lnTo>
                      <a:pt x="268" y="686"/>
                    </a:lnTo>
                    <a:lnTo>
                      <a:pt x="285" y="730"/>
                    </a:lnTo>
                    <a:lnTo>
                      <a:pt x="305" y="776"/>
                    </a:lnTo>
                    <a:lnTo>
                      <a:pt x="324" y="825"/>
                    </a:lnTo>
                    <a:lnTo>
                      <a:pt x="344" y="876"/>
                    </a:lnTo>
                    <a:lnTo>
                      <a:pt x="367" y="932"/>
                    </a:lnTo>
                    <a:lnTo>
                      <a:pt x="391" y="991"/>
                    </a:lnTo>
                    <a:lnTo>
                      <a:pt x="418" y="1056"/>
                    </a:lnTo>
                    <a:lnTo>
                      <a:pt x="445" y="1126"/>
                    </a:lnTo>
                    <a:lnTo>
                      <a:pt x="477" y="1203"/>
                    </a:lnTo>
                    <a:lnTo>
                      <a:pt x="511" y="1285"/>
                    </a:lnTo>
                    <a:lnTo>
                      <a:pt x="546" y="1376"/>
                    </a:lnTo>
                    <a:lnTo>
                      <a:pt x="586" y="1474"/>
                    </a:lnTo>
                    <a:lnTo>
                      <a:pt x="629" y="1580"/>
                    </a:lnTo>
                    <a:lnTo>
                      <a:pt x="676" y="1695"/>
                    </a:lnTo>
                    <a:lnTo>
                      <a:pt x="726" y="1821"/>
                    </a:lnTo>
                    <a:lnTo>
                      <a:pt x="781" y="1956"/>
                    </a:lnTo>
                    <a:lnTo>
                      <a:pt x="840" y="2101"/>
                    </a:lnTo>
                    <a:lnTo>
                      <a:pt x="903" y="2258"/>
                    </a:lnTo>
                    <a:lnTo>
                      <a:pt x="972" y="2428"/>
                    </a:lnTo>
                    <a:lnTo>
                      <a:pt x="980" y="2424"/>
                    </a:lnTo>
                    <a:lnTo>
                      <a:pt x="986" y="2421"/>
                    </a:lnTo>
                    <a:lnTo>
                      <a:pt x="991" y="2419"/>
                    </a:lnTo>
                    <a:lnTo>
                      <a:pt x="997" y="2415"/>
                    </a:lnTo>
                    <a:lnTo>
                      <a:pt x="1004" y="2412"/>
                    </a:lnTo>
                    <a:lnTo>
                      <a:pt x="1013" y="2408"/>
                    </a:lnTo>
                    <a:lnTo>
                      <a:pt x="1028" y="2403"/>
                    </a:lnTo>
                    <a:lnTo>
                      <a:pt x="1046" y="2395"/>
                    </a:lnTo>
                    <a:lnTo>
                      <a:pt x="1017" y="2324"/>
                    </a:lnTo>
                    <a:lnTo>
                      <a:pt x="989" y="2257"/>
                    </a:lnTo>
                    <a:lnTo>
                      <a:pt x="964" y="2196"/>
                    </a:lnTo>
                    <a:lnTo>
                      <a:pt x="941" y="2139"/>
                    </a:lnTo>
                    <a:lnTo>
                      <a:pt x="920" y="2086"/>
                    </a:lnTo>
                    <a:lnTo>
                      <a:pt x="899" y="2037"/>
                    </a:lnTo>
                    <a:lnTo>
                      <a:pt x="880" y="1990"/>
                    </a:lnTo>
                    <a:lnTo>
                      <a:pt x="861" y="1946"/>
                    </a:lnTo>
                    <a:lnTo>
                      <a:pt x="843" y="1903"/>
                    </a:lnTo>
                    <a:lnTo>
                      <a:pt x="826" y="1861"/>
                    </a:lnTo>
                    <a:lnTo>
                      <a:pt x="809" y="1819"/>
                    </a:lnTo>
                    <a:lnTo>
                      <a:pt x="792" y="1778"/>
                    </a:lnTo>
                    <a:lnTo>
                      <a:pt x="774" y="1734"/>
                    </a:lnTo>
                    <a:lnTo>
                      <a:pt x="756" y="1691"/>
                    </a:lnTo>
                    <a:lnTo>
                      <a:pt x="737" y="1645"/>
                    </a:lnTo>
                    <a:lnTo>
                      <a:pt x="718" y="1596"/>
                    </a:lnTo>
                    <a:lnTo>
                      <a:pt x="696" y="1545"/>
                    </a:lnTo>
                    <a:lnTo>
                      <a:pt x="673" y="1490"/>
                    </a:lnTo>
                    <a:lnTo>
                      <a:pt x="648" y="1430"/>
                    </a:lnTo>
                    <a:lnTo>
                      <a:pt x="622" y="1365"/>
                    </a:lnTo>
                    <a:lnTo>
                      <a:pt x="593" y="1296"/>
                    </a:lnTo>
                    <a:lnTo>
                      <a:pt x="562" y="1220"/>
                    </a:lnTo>
                    <a:lnTo>
                      <a:pt x="528" y="1138"/>
                    </a:lnTo>
                    <a:lnTo>
                      <a:pt x="490" y="1047"/>
                    </a:lnTo>
                    <a:lnTo>
                      <a:pt x="450" y="950"/>
                    </a:lnTo>
                    <a:lnTo>
                      <a:pt x="407" y="843"/>
                    </a:lnTo>
                    <a:lnTo>
                      <a:pt x="359" y="730"/>
                    </a:lnTo>
                    <a:lnTo>
                      <a:pt x="308" y="605"/>
                    </a:lnTo>
                    <a:lnTo>
                      <a:pt x="251" y="470"/>
                    </a:lnTo>
                    <a:lnTo>
                      <a:pt x="192" y="325"/>
                    </a:lnTo>
                    <a:lnTo>
                      <a:pt x="127" y="16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4" name="Freeform 329">
                <a:extLst>
                  <a:ext uri="{FF2B5EF4-FFF2-40B4-BE49-F238E27FC236}">
                    <a16:creationId xmlns:a16="http://schemas.microsoft.com/office/drawing/2014/main" id="{C68CEBFD-5C9C-4224-8B70-71AEDCBF9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6" cy="134"/>
              </a:xfrm>
              <a:custGeom>
                <a:avLst/>
                <a:gdLst>
                  <a:gd name="T0" fmla="*/ 0 w 1017"/>
                  <a:gd name="T1" fmla="*/ 0 h 2414"/>
                  <a:gd name="T2" fmla="*/ 0 w 1017"/>
                  <a:gd name="T3" fmla="*/ 0 h 2414"/>
                  <a:gd name="T4" fmla="*/ 0 w 1017"/>
                  <a:gd name="T5" fmla="*/ 0 h 2414"/>
                  <a:gd name="T6" fmla="*/ 0 w 1017"/>
                  <a:gd name="T7" fmla="*/ 0 h 2414"/>
                  <a:gd name="T8" fmla="*/ 0 w 1017"/>
                  <a:gd name="T9" fmla="*/ 0 h 2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7"/>
                  <a:gd name="T16" fmla="*/ 0 h 2414"/>
                  <a:gd name="T17" fmla="*/ 1017 w 1017"/>
                  <a:gd name="T18" fmla="*/ 2414 h 24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7" h="2414">
                    <a:moveTo>
                      <a:pt x="32" y="0"/>
                    </a:moveTo>
                    <a:lnTo>
                      <a:pt x="0" y="13"/>
                    </a:lnTo>
                    <a:lnTo>
                      <a:pt x="977" y="2414"/>
                    </a:lnTo>
                    <a:lnTo>
                      <a:pt x="1017" y="239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5" name="Freeform 330">
                <a:extLst>
                  <a:ext uri="{FF2B5EF4-FFF2-40B4-BE49-F238E27FC236}">
                    <a16:creationId xmlns:a16="http://schemas.microsoft.com/office/drawing/2014/main" id="{4204A159-E2FD-4E2B-9FCC-CB0E58FAB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8"/>
                <a:ext cx="8" cy="6"/>
              </a:xfrm>
              <a:custGeom>
                <a:avLst/>
                <a:gdLst>
                  <a:gd name="T0" fmla="*/ 0 w 173"/>
                  <a:gd name="T1" fmla="*/ 0 h 95"/>
                  <a:gd name="T2" fmla="*/ 0 w 173"/>
                  <a:gd name="T3" fmla="*/ 0 h 95"/>
                  <a:gd name="T4" fmla="*/ 0 w 173"/>
                  <a:gd name="T5" fmla="*/ 0 h 95"/>
                  <a:gd name="T6" fmla="*/ 0 w 173"/>
                  <a:gd name="T7" fmla="*/ 0 h 95"/>
                  <a:gd name="T8" fmla="*/ 0 w 173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"/>
                  <a:gd name="T16" fmla="*/ 0 h 95"/>
                  <a:gd name="T17" fmla="*/ 173 w 173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" h="95">
                    <a:moveTo>
                      <a:pt x="173" y="20"/>
                    </a:moveTo>
                    <a:lnTo>
                      <a:pt x="7" y="95"/>
                    </a:lnTo>
                    <a:lnTo>
                      <a:pt x="0" y="75"/>
                    </a:lnTo>
                    <a:lnTo>
                      <a:pt x="166" y="0"/>
                    </a:lnTo>
                    <a:lnTo>
                      <a:pt x="173" y="2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6" name="Freeform 331">
                <a:extLst>
                  <a:ext uri="{FF2B5EF4-FFF2-40B4-BE49-F238E27FC236}">
                    <a16:creationId xmlns:a16="http://schemas.microsoft.com/office/drawing/2014/main" id="{133C3353-4329-45E9-8470-2F32D67FCF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9" cy="10"/>
              </a:xfrm>
              <a:custGeom>
                <a:avLst/>
                <a:gdLst>
                  <a:gd name="T0" fmla="*/ 0 w 200"/>
                  <a:gd name="T1" fmla="*/ 0 h 179"/>
                  <a:gd name="T2" fmla="*/ 0 w 200"/>
                  <a:gd name="T3" fmla="*/ 0 h 179"/>
                  <a:gd name="T4" fmla="*/ 0 w 200"/>
                  <a:gd name="T5" fmla="*/ 0 h 179"/>
                  <a:gd name="T6" fmla="*/ 0 w 200"/>
                  <a:gd name="T7" fmla="*/ 0 h 179"/>
                  <a:gd name="T8" fmla="*/ 0 w 200"/>
                  <a:gd name="T9" fmla="*/ 0 h 179"/>
                  <a:gd name="T10" fmla="*/ 0 w 200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0"/>
                  <a:gd name="T19" fmla="*/ 0 h 179"/>
                  <a:gd name="T20" fmla="*/ 200 w 200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0" h="179">
                    <a:moveTo>
                      <a:pt x="200" y="106"/>
                    </a:moveTo>
                    <a:lnTo>
                      <a:pt x="33" y="179"/>
                    </a:lnTo>
                    <a:lnTo>
                      <a:pt x="0" y="100"/>
                    </a:lnTo>
                    <a:lnTo>
                      <a:pt x="58" y="0"/>
                    </a:lnTo>
                    <a:lnTo>
                      <a:pt x="168" y="26"/>
                    </a:lnTo>
                    <a:lnTo>
                      <a:pt x="200" y="106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7" name="Freeform 332">
                <a:extLst>
                  <a:ext uri="{FF2B5EF4-FFF2-40B4-BE49-F238E27FC236}">
                    <a16:creationId xmlns:a16="http://schemas.microsoft.com/office/drawing/2014/main" id="{B69378FD-1508-44CC-A2AB-66E114B25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8" cy="10"/>
              </a:xfrm>
              <a:custGeom>
                <a:avLst/>
                <a:gdLst>
                  <a:gd name="T0" fmla="*/ 0 w 173"/>
                  <a:gd name="T1" fmla="*/ 0 h 177"/>
                  <a:gd name="T2" fmla="*/ 0 w 173"/>
                  <a:gd name="T3" fmla="*/ 0 h 177"/>
                  <a:gd name="T4" fmla="*/ 0 w 173"/>
                  <a:gd name="T5" fmla="*/ 0 h 177"/>
                  <a:gd name="T6" fmla="*/ 0 w 173"/>
                  <a:gd name="T7" fmla="*/ 0 h 177"/>
                  <a:gd name="T8" fmla="*/ 0 w 173"/>
                  <a:gd name="T9" fmla="*/ 0 h 177"/>
                  <a:gd name="T10" fmla="*/ 0 w 173"/>
                  <a:gd name="T11" fmla="*/ 0 h 177"/>
                  <a:gd name="T12" fmla="*/ 0 w 173"/>
                  <a:gd name="T13" fmla="*/ 0 h 177"/>
                  <a:gd name="T14" fmla="*/ 0 w 173"/>
                  <a:gd name="T15" fmla="*/ 0 h 177"/>
                  <a:gd name="T16" fmla="*/ 0 w 173"/>
                  <a:gd name="T17" fmla="*/ 0 h 177"/>
                  <a:gd name="T18" fmla="*/ 0 w 173"/>
                  <a:gd name="T19" fmla="*/ 0 h 177"/>
                  <a:gd name="T20" fmla="*/ 0 w 173"/>
                  <a:gd name="T21" fmla="*/ 0 h 177"/>
                  <a:gd name="T22" fmla="*/ 0 w 173"/>
                  <a:gd name="T23" fmla="*/ 0 h 177"/>
                  <a:gd name="T24" fmla="*/ 0 w 173"/>
                  <a:gd name="T25" fmla="*/ 0 h 177"/>
                  <a:gd name="T26" fmla="*/ 0 w 173"/>
                  <a:gd name="T27" fmla="*/ 0 h 177"/>
                  <a:gd name="T28" fmla="*/ 0 w 173"/>
                  <a:gd name="T29" fmla="*/ 0 h 177"/>
                  <a:gd name="T30" fmla="*/ 0 w 173"/>
                  <a:gd name="T31" fmla="*/ 0 h 177"/>
                  <a:gd name="T32" fmla="*/ 0 w 173"/>
                  <a:gd name="T33" fmla="*/ 0 h 177"/>
                  <a:gd name="T34" fmla="*/ 0 w 173"/>
                  <a:gd name="T35" fmla="*/ 0 h 177"/>
                  <a:gd name="T36" fmla="*/ 0 w 173"/>
                  <a:gd name="T37" fmla="*/ 0 h 177"/>
                  <a:gd name="T38" fmla="*/ 0 w 173"/>
                  <a:gd name="T39" fmla="*/ 0 h 177"/>
                  <a:gd name="T40" fmla="*/ 0 w 173"/>
                  <a:gd name="T41" fmla="*/ 0 h 177"/>
                  <a:gd name="T42" fmla="*/ 0 w 173"/>
                  <a:gd name="T43" fmla="*/ 0 h 177"/>
                  <a:gd name="T44" fmla="*/ 0 w 173"/>
                  <a:gd name="T45" fmla="*/ 0 h 177"/>
                  <a:gd name="T46" fmla="*/ 0 w 173"/>
                  <a:gd name="T47" fmla="*/ 0 h 177"/>
                  <a:gd name="T48" fmla="*/ 0 w 173"/>
                  <a:gd name="T49" fmla="*/ 0 h 177"/>
                  <a:gd name="T50" fmla="*/ 0 w 173"/>
                  <a:gd name="T51" fmla="*/ 0 h 177"/>
                  <a:gd name="T52" fmla="*/ 0 w 173"/>
                  <a:gd name="T53" fmla="*/ 0 h 177"/>
                  <a:gd name="T54" fmla="*/ 0 w 173"/>
                  <a:gd name="T55" fmla="*/ 0 h 177"/>
                  <a:gd name="T56" fmla="*/ 0 w 173"/>
                  <a:gd name="T57" fmla="*/ 0 h 177"/>
                  <a:gd name="T58" fmla="*/ 0 w 173"/>
                  <a:gd name="T59" fmla="*/ 0 h 177"/>
                  <a:gd name="T60" fmla="*/ 0 w 173"/>
                  <a:gd name="T61" fmla="*/ 0 h 177"/>
                  <a:gd name="T62" fmla="*/ 0 w 173"/>
                  <a:gd name="T63" fmla="*/ 0 h 177"/>
                  <a:gd name="T64" fmla="*/ 0 w 173"/>
                  <a:gd name="T65" fmla="*/ 0 h 177"/>
                  <a:gd name="T66" fmla="*/ 0 w 173"/>
                  <a:gd name="T67" fmla="*/ 0 h 177"/>
                  <a:gd name="T68" fmla="*/ 0 w 173"/>
                  <a:gd name="T69" fmla="*/ 0 h 177"/>
                  <a:gd name="T70" fmla="*/ 0 w 173"/>
                  <a:gd name="T71" fmla="*/ 0 h 177"/>
                  <a:gd name="T72" fmla="*/ 0 w 173"/>
                  <a:gd name="T73" fmla="*/ 0 h 177"/>
                  <a:gd name="T74" fmla="*/ 0 w 173"/>
                  <a:gd name="T75" fmla="*/ 0 h 177"/>
                  <a:gd name="T76" fmla="*/ 0 w 173"/>
                  <a:gd name="T77" fmla="*/ 0 h 177"/>
                  <a:gd name="T78" fmla="*/ 0 w 173"/>
                  <a:gd name="T79" fmla="*/ 0 h 177"/>
                  <a:gd name="T80" fmla="*/ 0 w 173"/>
                  <a:gd name="T81" fmla="*/ 0 h 17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73"/>
                  <a:gd name="T124" fmla="*/ 0 h 177"/>
                  <a:gd name="T125" fmla="*/ 173 w 173"/>
                  <a:gd name="T126" fmla="*/ 177 h 17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73" h="177">
                    <a:moveTo>
                      <a:pt x="173" y="116"/>
                    </a:moveTo>
                    <a:lnTo>
                      <a:pt x="159" y="122"/>
                    </a:lnTo>
                    <a:lnTo>
                      <a:pt x="147" y="126"/>
                    </a:lnTo>
                    <a:lnTo>
                      <a:pt x="137" y="131"/>
                    </a:lnTo>
                    <a:lnTo>
                      <a:pt x="127" y="135"/>
                    </a:lnTo>
                    <a:lnTo>
                      <a:pt x="114" y="141"/>
                    </a:lnTo>
                    <a:lnTo>
                      <a:pt x="94" y="150"/>
                    </a:lnTo>
                    <a:lnTo>
                      <a:pt x="69" y="161"/>
                    </a:lnTo>
                    <a:lnTo>
                      <a:pt x="33" y="177"/>
                    </a:lnTo>
                    <a:lnTo>
                      <a:pt x="30" y="168"/>
                    </a:lnTo>
                    <a:lnTo>
                      <a:pt x="27" y="161"/>
                    </a:lnTo>
                    <a:lnTo>
                      <a:pt x="25" y="156"/>
                    </a:lnTo>
                    <a:lnTo>
                      <a:pt x="23" y="150"/>
                    </a:lnTo>
                    <a:lnTo>
                      <a:pt x="20" y="141"/>
                    </a:lnTo>
                    <a:lnTo>
                      <a:pt x="16" y="131"/>
                    </a:lnTo>
                    <a:lnTo>
                      <a:pt x="9" y="117"/>
                    </a:lnTo>
                    <a:lnTo>
                      <a:pt x="0" y="97"/>
                    </a:lnTo>
                    <a:lnTo>
                      <a:pt x="7" y="86"/>
                    </a:lnTo>
                    <a:lnTo>
                      <a:pt x="11" y="78"/>
                    </a:lnTo>
                    <a:lnTo>
                      <a:pt x="15" y="70"/>
                    </a:lnTo>
                    <a:lnTo>
                      <a:pt x="19" y="63"/>
                    </a:lnTo>
                    <a:lnTo>
                      <a:pt x="24" y="54"/>
                    </a:lnTo>
                    <a:lnTo>
                      <a:pt x="31" y="41"/>
                    </a:lnTo>
                    <a:lnTo>
                      <a:pt x="40" y="24"/>
                    </a:lnTo>
                    <a:lnTo>
                      <a:pt x="52" y="0"/>
                    </a:lnTo>
                    <a:lnTo>
                      <a:pt x="63" y="3"/>
                    </a:lnTo>
                    <a:lnTo>
                      <a:pt x="70" y="6"/>
                    </a:lnTo>
                    <a:lnTo>
                      <a:pt x="76" y="8"/>
                    </a:lnTo>
                    <a:lnTo>
                      <a:pt x="83" y="11"/>
                    </a:lnTo>
                    <a:lnTo>
                      <a:pt x="91" y="15"/>
                    </a:lnTo>
                    <a:lnTo>
                      <a:pt x="102" y="20"/>
                    </a:lnTo>
                    <a:lnTo>
                      <a:pt x="119" y="27"/>
                    </a:lnTo>
                    <a:lnTo>
                      <a:pt x="140" y="37"/>
                    </a:lnTo>
                    <a:lnTo>
                      <a:pt x="144" y="44"/>
                    </a:lnTo>
                    <a:lnTo>
                      <a:pt x="146" y="50"/>
                    </a:lnTo>
                    <a:lnTo>
                      <a:pt x="149" y="56"/>
                    </a:lnTo>
                    <a:lnTo>
                      <a:pt x="151" y="61"/>
                    </a:lnTo>
                    <a:lnTo>
                      <a:pt x="154" y="69"/>
                    </a:lnTo>
                    <a:lnTo>
                      <a:pt x="159" y="80"/>
                    </a:lnTo>
                    <a:lnTo>
                      <a:pt x="165" y="95"/>
                    </a:lnTo>
                    <a:lnTo>
                      <a:pt x="173" y="116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8" name="Freeform 333">
                <a:extLst>
                  <a:ext uri="{FF2B5EF4-FFF2-40B4-BE49-F238E27FC236}">
                    <a16:creationId xmlns:a16="http://schemas.microsoft.com/office/drawing/2014/main" id="{DEF7858B-4277-42E7-A81E-81F94D30F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6" cy="9"/>
              </a:xfrm>
              <a:custGeom>
                <a:avLst/>
                <a:gdLst>
                  <a:gd name="T0" fmla="*/ 0 w 142"/>
                  <a:gd name="T1" fmla="*/ 0 h 175"/>
                  <a:gd name="T2" fmla="*/ 0 w 142"/>
                  <a:gd name="T3" fmla="*/ 0 h 175"/>
                  <a:gd name="T4" fmla="*/ 0 w 142"/>
                  <a:gd name="T5" fmla="*/ 0 h 175"/>
                  <a:gd name="T6" fmla="*/ 0 w 142"/>
                  <a:gd name="T7" fmla="*/ 0 h 175"/>
                  <a:gd name="T8" fmla="*/ 0 w 142"/>
                  <a:gd name="T9" fmla="*/ 0 h 175"/>
                  <a:gd name="T10" fmla="*/ 0 w 142"/>
                  <a:gd name="T11" fmla="*/ 0 h 175"/>
                  <a:gd name="T12" fmla="*/ 0 w 142"/>
                  <a:gd name="T13" fmla="*/ 0 h 175"/>
                  <a:gd name="T14" fmla="*/ 0 w 142"/>
                  <a:gd name="T15" fmla="*/ 0 h 175"/>
                  <a:gd name="T16" fmla="*/ 0 w 142"/>
                  <a:gd name="T17" fmla="*/ 0 h 175"/>
                  <a:gd name="T18" fmla="*/ 0 w 142"/>
                  <a:gd name="T19" fmla="*/ 0 h 175"/>
                  <a:gd name="T20" fmla="*/ 0 w 142"/>
                  <a:gd name="T21" fmla="*/ 0 h 175"/>
                  <a:gd name="T22" fmla="*/ 0 w 142"/>
                  <a:gd name="T23" fmla="*/ 0 h 175"/>
                  <a:gd name="T24" fmla="*/ 0 w 142"/>
                  <a:gd name="T25" fmla="*/ 0 h 175"/>
                  <a:gd name="T26" fmla="*/ 0 w 142"/>
                  <a:gd name="T27" fmla="*/ 0 h 175"/>
                  <a:gd name="T28" fmla="*/ 0 w 142"/>
                  <a:gd name="T29" fmla="*/ 0 h 175"/>
                  <a:gd name="T30" fmla="*/ 0 w 142"/>
                  <a:gd name="T31" fmla="*/ 0 h 175"/>
                  <a:gd name="T32" fmla="*/ 0 w 142"/>
                  <a:gd name="T33" fmla="*/ 0 h 175"/>
                  <a:gd name="T34" fmla="*/ 0 w 142"/>
                  <a:gd name="T35" fmla="*/ 0 h 175"/>
                  <a:gd name="T36" fmla="*/ 0 w 142"/>
                  <a:gd name="T37" fmla="*/ 0 h 175"/>
                  <a:gd name="T38" fmla="*/ 0 w 142"/>
                  <a:gd name="T39" fmla="*/ 0 h 175"/>
                  <a:gd name="T40" fmla="*/ 0 w 142"/>
                  <a:gd name="T41" fmla="*/ 0 h 175"/>
                  <a:gd name="T42" fmla="*/ 0 w 142"/>
                  <a:gd name="T43" fmla="*/ 0 h 175"/>
                  <a:gd name="T44" fmla="*/ 0 w 142"/>
                  <a:gd name="T45" fmla="*/ 0 h 175"/>
                  <a:gd name="T46" fmla="*/ 0 w 142"/>
                  <a:gd name="T47" fmla="*/ 0 h 175"/>
                  <a:gd name="T48" fmla="*/ 0 w 142"/>
                  <a:gd name="T49" fmla="*/ 0 h 175"/>
                  <a:gd name="T50" fmla="*/ 0 w 142"/>
                  <a:gd name="T51" fmla="*/ 0 h 175"/>
                  <a:gd name="T52" fmla="*/ 0 w 142"/>
                  <a:gd name="T53" fmla="*/ 0 h 175"/>
                  <a:gd name="T54" fmla="*/ 0 w 142"/>
                  <a:gd name="T55" fmla="*/ 0 h 175"/>
                  <a:gd name="T56" fmla="*/ 0 w 142"/>
                  <a:gd name="T57" fmla="*/ 0 h 175"/>
                  <a:gd name="T58" fmla="*/ 0 w 142"/>
                  <a:gd name="T59" fmla="*/ 0 h 175"/>
                  <a:gd name="T60" fmla="*/ 0 w 142"/>
                  <a:gd name="T61" fmla="*/ 0 h 175"/>
                  <a:gd name="T62" fmla="*/ 0 w 142"/>
                  <a:gd name="T63" fmla="*/ 0 h 175"/>
                  <a:gd name="T64" fmla="*/ 0 w 142"/>
                  <a:gd name="T65" fmla="*/ 0 h 175"/>
                  <a:gd name="T66" fmla="*/ 0 w 142"/>
                  <a:gd name="T67" fmla="*/ 0 h 175"/>
                  <a:gd name="T68" fmla="*/ 0 w 142"/>
                  <a:gd name="T69" fmla="*/ 0 h 175"/>
                  <a:gd name="T70" fmla="*/ 0 w 142"/>
                  <a:gd name="T71" fmla="*/ 0 h 175"/>
                  <a:gd name="T72" fmla="*/ 0 w 142"/>
                  <a:gd name="T73" fmla="*/ 0 h 175"/>
                  <a:gd name="T74" fmla="*/ 0 w 142"/>
                  <a:gd name="T75" fmla="*/ 0 h 175"/>
                  <a:gd name="T76" fmla="*/ 0 w 142"/>
                  <a:gd name="T77" fmla="*/ 0 h 175"/>
                  <a:gd name="T78" fmla="*/ 0 w 142"/>
                  <a:gd name="T79" fmla="*/ 0 h 175"/>
                  <a:gd name="T80" fmla="*/ 0 w 142"/>
                  <a:gd name="T81" fmla="*/ 0 h 17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175"/>
                  <a:gd name="T125" fmla="*/ 142 w 142"/>
                  <a:gd name="T126" fmla="*/ 175 h 17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175">
                    <a:moveTo>
                      <a:pt x="142" y="126"/>
                    </a:moveTo>
                    <a:lnTo>
                      <a:pt x="131" y="131"/>
                    </a:lnTo>
                    <a:lnTo>
                      <a:pt x="122" y="135"/>
                    </a:lnTo>
                    <a:lnTo>
                      <a:pt x="115" y="137"/>
                    </a:lnTo>
                    <a:lnTo>
                      <a:pt x="107" y="141"/>
                    </a:lnTo>
                    <a:lnTo>
                      <a:pt x="96" y="145"/>
                    </a:lnTo>
                    <a:lnTo>
                      <a:pt x="81" y="152"/>
                    </a:lnTo>
                    <a:lnTo>
                      <a:pt x="61" y="161"/>
                    </a:lnTo>
                    <a:lnTo>
                      <a:pt x="32" y="175"/>
                    </a:lnTo>
                    <a:lnTo>
                      <a:pt x="29" y="165"/>
                    </a:lnTo>
                    <a:lnTo>
                      <a:pt x="26" y="159"/>
                    </a:lnTo>
                    <a:lnTo>
                      <a:pt x="24" y="153"/>
                    </a:lnTo>
                    <a:lnTo>
                      <a:pt x="22" y="146"/>
                    </a:lnTo>
                    <a:lnTo>
                      <a:pt x="19" y="139"/>
                    </a:lnTo>
                    <a:lnTo>
                      <a:pt x="15" y="128"/>
                    </a:lnTo>
                    <a:lnTo>
                      <a:pt x="8" y="114"/>
                    </a:lnTo>
                    <a:lnTo>
                      <a:pt x="0" y="95"/>
                    </a:lnTo>
                    <a:lnTo>
                      <a:pt x="5" y="84"/>
                    </a:lnTo>
                    <a:lnTo>
                      <a:pt x="9" y="76"/>
                    </a:lnTo>
                    <a:lnTo>
                      <a:pt x="12" y="68"/>
                    </a:lnTo>
                    <a:lnTo>
                      <a:pt x="16" y="61"/>
                    </a:lnTo>
                    <a:lnTo>
                      <a:pt x="20" y="53"/>
                    </a:lnTo>
                    <a:lnTo>
                      <a:pt x="26" y="40"/>
                    </a:lnTo>
                    <a:lnTo>
                      <a:pt x="34" y="23"/>
                    </a:lnTo>
                    <a:lnTo>
                      <a:pt x="45" y="0"/>
                    </a:lnTo>
                    <a:lnTo>
                      <a:pt x="53" y="4"/>
                    </a:lnTo>
                    <a:lnTo>
                      <a:pt x="59" y="8"/>
                    </a:lnTo>
                    <a:lnTo>
                      <a:pt x="63" y="11"/>
                    </a:lnTo>
                    <a:lnTo>
                      <a:pt x="68" y="15"/>
                    </a:lnTo>
                    <a:lnTo>
                      <a:pt x="74" y="19"/>
                    </a:lnTo>
                    <a:lnTo>
                      <a:pt x="83" y="25"/>
                    </a:lnTo>
                    <a:lnTo>
                      <a:pt x="94" y="34"/>
                    </a:lnTo>
                    <a:lnTo>
                      <a:pt x="111" y="46"/>
                    </a:lnTo>
                    <a:lnTo>
                      <a:pt x="115" y="55"/>
                    </a:lnTo>
                    <a:lnTo>
                      <a:pt x="117" y="60"/>
                    </a:lnTo>
                    <a:lnTo>
                      <a:pt x="120" y="65"/>
                    </a:lnTo>
                    <a:lnTo>
                      <a:pt x="122" y="71"/>
                    </a:lnTo>
                    <a:lnTo>
                      <a:pt x="125" y="79"/>
                    </a:lnTo>
                    <a:lnTo>
                      <a:pt x="129" y="89"/>
                    </a:lnTo>
                    <a:lnTo>
                      <a:pt x="135" y="105"/>
                    </a:lnTo>
                    <a:lnTo>
                      <a:pt x="142" y="126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59" name="Freeform 334">
                <a:extLst>
                  <a:ext uri="{FF2B5EF4-FFF2-40B4-BE49-F238E27FC236}">
                    <a16:creationId xmlns:a16="http://schemas.microsoft.com/office/drawing/2014/main" id="{254AE124-0B61-4C92-BDF4-CA6CA247C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5" cy="9"/>
              </a:xfrm>
              <a:custGeom>
                <a:avLst/>
                <a:gdLst>
                  <a:gd name="T0" fmla="*/ 0 w 116"/>
                  <a:gd name="T1" fmla="*/ 0 h 172"/>
                  <a:gd name="T2" fmla="*/ 0 w 116"/>
                  <a:gd name="T3" fmla="*/ 0 h 172"/>
                  <a:gd name="T4" fmla="*/ 0 w 116"/>
                  <a:gd name="T5" fmla="*/ 0 h 172"/>
                  <a:gd name="T6" fmla="*/ 0 w 116"/>
                  <a:gd name="T7" fmla="*/ 0 h 172"/>
                  <a:gd name="T8" fmla="*/ 0 w 116"/>
                  <a:gd name="T9" fmla="*/ 0 h 172"/>
                  <a:gd name="T10" fmla="*/ 0 w 116"/>
                  <a:gd name="T11" fmla="*/ 0 h 172"/>
                  <a:gd name="T12" fmla="*/ 0 w 116"/>
                  <a:gd name="T13" fmla="*/ 0 h 172"/>
                  <a:gd name="T14" fmla="*/ 0 w 116"/>
                  <a:gd name="T15" fmla="*/ 0 h 172"/>
                  <a:gd name="T16" fmla="*/ 0 w 116"/>
                  <a:gd name="T17" fmla="*/ 0 h 172"/>
                  <a:gd name="T18" fmla="*/ 0 w 116"/>
                  <a:gd name="T19" fmla="*/ 0 h 172"/>
                  <a:gd name="T20" fmla="*/ 0 w 116"/>
                  <a:gd name="T21" fmla="*/ 0 h 172"/>
                  <a:gd name="T22" fmla="*/ 0 w 116"/>
                  <a:gd name="T23" fmla="*/ 0 h 172"/>
                  <a:gd name="T24" fmla="*/ 0 w 116"/>
                  <a:gd name="T25" fmla="*/ 0 h 172"/>
                  <a:gd name="T26" fmla="*/ 0 w 116"/>
                  <a:gd name="T27" fmla="*/ 0 h 172"/>
                  <a:gd name="T28" fmla="*/ 0 w 116"/>
                  <a:gd name="T29" fmla="*/ 0 h 172"/>
                  <a:gd name="T30" fmla="*/ 0 w 116"/>
                  <a:gd name="T31" fmla="*/ 0 h 172"/>
                  <a:gd name="T32" fmla="*/ 0 w 116"/>
                  <a:gd name="T33" fmla="*/ 0 h 172"/>
                  <a:gd name="T34" fmla="*/ 0 w 116"/>
                  <a:gd name="T35" fmla="*/ 0 h 172"/>
                  <a:gd name="T36" fmla="*/ 0 w 116"/>
                  <a:gd name="T37" fmla="*/ 0 h 172"/>
                  <a:gd name="T38" fmla="*/ 0 w 116"/>
                  <a:gd name="T39" fmla="*/ 0 h 172"/>
                  <a:gd name="T40" fmla="*/ 0 w 116"/>
                  <a:gd name="T41" fmla="*/ 0 h 172"/>
                  <a:gd name="T42" fmla="*/ 0 w 116"/>
                  <a:gd name="T43" fmla="*/ 0 h 172"/>
                  <a:gd name="T44" fmla="*/ 0 w 116"/>
                  <a:gd name="T45" fmla="*/ 0 h 172"/>
                  <a:gd name="T46" fmla="*/ 0 w 116"/>
                  <a:gd name="T47" fmla="*/ 0 h 172"/>
                  <a:gd name="T48" fmla="*/ 0 w 116"/>
                  <a:gd name="T49" fmla="*/ 0 h 172"/>
                  <a:gd name="T50" fmla="*/ 0 w 116"/>
                  <a:gd name="T51" fmla="*/ 0 h 172"/>
                  <a:gd name="T52" fmla="*/ 0 w 116"/>
                  <a:gd name="T53" fmla="*/ 0 h 172"/>
                  <a:gd name="T54" fmla="*/ 0 w 116"/>
                  <a:gd name="T55" fmla="*/ 0 h 172"/>
                  <a:gd name="T56" fmla="*/ 0 w 116"/>
                  <a:gd name="T57" fmla="*/ 0 h 172"/>
                  <a:gd name="T58" fmla="*/ 0 w 116"/>
                  <a:gd name="T59" fmla="*/ 0 h 172"/>
                  <a:gd name="T60" fmla="*/ 0 w 116"/>
                  <a:gd name="T61" fmla="*/ 0 h 172"/>
                  <a:gd name="T62" fmla="*/ 0 w 116"/>
                  <a:gd name="T63" fmla="*/ 0 h 172"/>
                  <a:gd name="T64" fmla="*/ 0 w 116"/>
                  <a:gd name="T65" fmla="*/ 0 h 172"/>
                  <a:gd name="T66" fmla="*/ 0 w 116"/>
                  <a:gd name="T67" fmla="*/ 0 h 172"/>
                  <a:gd name="T68" fmla="*/ 0 w 116"/>
                  <a:gd name="T69" fmla="*/ 0 h 172"/>
                  <a:gd name="T70" fmla="*/ 0 w 116"/>
                  <a:gd name="T71" fmla="*/ 0 h 172"/>
                  <a:gd name="T72" fmla="*/ 0 w 116"/>
                  <a:gd name="T73" fmla="*/ 0 h 172"/>
                  <a:gd name="T74" fmla="*/ 0 w 116"/>
                  <a:gd name="T75" fmla="*/ 0 h 172"/>
                  <a:gd name="T76" fmla="*/ 0 w 116"/>
                  <a:gd name="T77" fmla="*/ 0 h 172"/>
                  <a:gd name="T78" fmla="*/ 0 w 116"/>
                  <a:gd name="T79" fmla="*/ 0 h 172"/>
                  <a:gd name="T80" fmla="*/ 0 w 116"/>
                  <a:gd name="T81" fmla="*/ 0 h 17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6"/>
                  <a:gd name="T124" fmla="*/ 0 h 172"/>
                  <a:gd name="T125" fmla="*/ 116 w 116"/>
                  <a:gd name="T126" fmla="*/ 172 h 17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6" h="172">
                    <a:moveTo>
                      <a:pt x="116" y="136"/>
                    </a:moveTo>
                    <a:lnTo>
                      <a:pt x="107" y="139"/>
                    </a:lnTo>
                    <a:lnTo>
                      <a:pt x="101" y="141"/>
                    </a:lnTo>
                    <a:lnTo>
                      <a:pt x="95" y="144"/>
                    </a:lnTo>
                    <a:lnTo>
                      <a:pt x="88" y="146"/>
                    </a:lnTo>
                    <a:lnTo>
                      <a:pt x="80" y="150"/>
                    </a:lnTo>
                    <a:lnTo>
                      <a:pt x="69" y="155"/>
                    </a:lnTo>
                    <a:lnTo>
                      <a:pt x="54" y="162"/>
                    </a:lnTo>
                    <a:lnTo>
                      <a:pt x="32" y="172"/>
                    </a:lnTo>
                    <a:lnTo>
                      <a:pt x="29" y="163"/>
                    </a:lnTo>
                    <a:lnTo>
                      <a:pt x="26" y="156"/>
                    </a:lnTo>
                    <a:lnTo>
                      <a:pt x="24" y="151"/>
                    </a:lnTo>
                    <a:lnTo>
                      <a:pt x="22" y="144"/>
                    </a:lnTo>
                    <a:lnTo>
                      <a:pt x="19" y="136"/>
                    </a:lnTo>
                    <a:lnTo>
                      <a:pt x="15" y="126"/>
                    </a:lnTo>
                    <a:lnTo>
                      <a:pt x="8" y="112"/>
                    </a:lnTo>
                    <a:lnTo>
                      <a:pt x="0" y="93"/>
                    </a:lnTo>
                    <a:lnTo>
                      <a:pt x="5" y="82"/>
                    </a:lnTo>
                    <a:lnTo>
                      <a:pt x="8" y="74"/>
                    </a:lnTo>
                    <a:lnTo>
                      <a:pt x="11" y="67"/>
                    </a:lnTo>
                    <a:lnTo>
                      <a:pt x="14" y="60"/>
                    </a:lnTo>
                    <a:lnTo>
                      <a:pt x="18" y="51"/>
                    </a:lnTo>
                    <a:lnTo>
                      <a:pt x="23" y="39"/>
                    </a:lnTo>
                    <a:lnTo>
                      <a:pt x="31" y="22"/>
                    </a:lnTo>
                    <a:lnTo>
                      <a:pt x="40" y="0"/>
                    </a:lnTo>
                    <a:lnTo>
                      <a:pt x="46" y="5"/>
                    </a:lnTo>
                    <a:lnTo>
                      <a:pt x="50" y="9"/>
                    </a:lnTo>
                    <a:lnTo>
                      <a:pt x="53" y="14"/>
                    </a:lnTo>
                    <a:lnTo>
                      <a:pt x="56" y="18"/>
                    </a:lnTo>
                    <a:lnTo>
                      <a:pt x="60" y="23"/>
                    </a:lnTo>
                    <a:lnTo>
                      <a:pt x="65" y="30"/>
                    </a:lnTo>
                    <a:lnTo>
                      <a:pt x="73" y="41"/>
                    </a:lnTo>
                    <a:lnTo>
                      <a:pt x="83" y="56"/>
                    </a:lnTo>
                    <a:lnTo>
                      <a:pt x="87" y="64"/>
                    </a:lnTo>
                    <a:lnTo>
                      <a:pt x="89" y="69"/>
                    </a:lnTo>
                    <a:lnTo>
                      <a:pt x="92" y="75"/>
                    </a:lnTo>
                    <a:lnTo>
                      <a:pt x="95" y="81"/>
                    </a:lnTo>
                    <a:lnTo>
                      <a:pt x="98" y="88"/>
                    </a:lnTo>
                    <a:lnTo>
                      <a:pt x="102" y="99"/>
                    </a:lnTo>
                    <a:lnTo>
                      <a:pt x="108" y="115"/>
                    </a:lnTo>
                    <a:lnTo>
                      <a:pt x="116" y="136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0" name="Freeform 335">
                <a:extLst>
                  <a:ext uri="{FF2B5EF4-FFF2-40B4-BE49-F238E27FC236}">
                    <a16:creationId xmlns:a16="http://schemas.microsoft.com/office/drawing/2014/main" id="{AC8A4DF4-6CDE-4A69-9148-B37A24E66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4" cy="9"/>
              </a:xfrm>
              <a:custGeom>
                <a:avLst/>
                <a:gdLst>
                  <a:gd name="T0" fmla="*/ 0 w 88"/>
                  <a:gd name="T1" fmla="*/ 0 h 170"/>
                  <a:gd name="T2" fmla="*/ 0 w 88"/>
                  <a:gd name="T3" fmla="*/ 0 h 170"/>
                  <a:gd name="T4" fmla="*/ 0 w 88"/>
                  <a:gd name="T5" fmla="*/ 0 h 170"/>
                  <a:gd name="T6" fmla="*/ 0 w 88"/>
                  <a:gd name="T7" fmla="*/ 0 h 170"/>
                  <a:gd name="T8" fmla="*/ 0 w 88"/>
                  <a:gd name="T9" fmla="*/ 0 h 170"/>
                  <a:gd name="T10" fmla="*/ 0 w 88"/>
                  <a:gd name="T11" fmla="*/ 0 h 170"/>
                  <a:gd name="T12" fmla="*/ 0 w 88"/>
                  <a:gd name="T13" fmla="*/ 0 h 170"/>
                  <a:gd name="T14" fmla="*/ 0 w 88"/>
                  <a:gd name="T15" fmla="*/ 0 h 170"/>
                  <a:gd name="T16" fmla="*/ 0 w 88"/>
                  <a:gd name="T17" fmla="*/ 0 h 170"/>
                  <a:gd name="T18" fmla="*/ 0 w 88"/>
                  <a:gd name="T19" fmla="*/ 0 h 170"/>
                  <a:gd name="T20" fmla="*/ 0 w 88"/>
                  <a:gd name="T21" fmla="*/ 0 h 170"/>
                  <a:gd name="T22" fmla="*/ 0 w 88"/>
                  <a:gd name="T23" fmla="*/ 0 h 170"/>
                  <a:gd name="T24" fmla="*/ 0 w 88"/>
                  <a:gd name="T25" fmla="*/ 0 h 170"/>
                  <a:gd name="T26" fmla="*/ 0 w 88"/>
                  <a:gd name="T27" fmla="*/ 0 h 170"/>
                  <a:gd name="T28" fmla="*/ 0 w 88"/>
                  <a:gd name="T29" fmla="*/ 0 h 170"/>
                  <a:gd name="T30" fmla="*/ 0 w 88"/>
                  <a:gd name="T31" fmla="*/ 0 h 170"/>
                  <a:gd name="T32" fmla="*/ 0 w 88"/>
                  <a:gd name="T33" fmla="*/ 0 h 170"/>
                  <a:gd name="T34" fmla="*/ 0 w 88"/>
                  <a:gd name="T35" fmla="*/ 0 h 170"/>
                  <a:gd name="T36" fmla="*/ 0 w 88"/>
                  <a:gd name="T37" fmla="*/ 0 h 170"/>
                  <a:gd name="T38" fmla="*/ 0 w 88"/>
                  <a:gd name="T39" fmla="*/ 0 h 170"/>
                  <a:gd name="T40" fmla="*/ 0 w 88"/>
                  <a:gd name="T41" fmla="*/ 0 h 170"/>
                  <a:gd name="T42" fmla="*/ 0 w 88"/>
                  <a:gd name="T43" fmla="*/ 0 h 170"/>
                  <a:gd name="T44" fmla="*/ 0 w 88"/>
                  <a:gd name="T45" fmla="*/ 0 h 170"/>
                  <a:gd name="T46" fmla="*/ 0 w 88"/>
                  <a:gd name="T47" fmla="*/ 0 h 170"/>
                  <a:gd name="T48" fmla="*/ 0 w 88"/>
                  <a:gd name="T49" fmla="*/ 0 h 170"/>
                  <a:gd name="T50" fmla="*/ 0 w 88"/>
                  <a:gd name="T51" fmla="*/ 0 h 170"/>
                  <a:gd name="T52" fmla="*/ 0 w 88"/>
                  <a:gd name="T53" fmla="*/ 0 h 170"/>
                  <a:gd name="T54" fmla="*/ 0 w 88"/>
                  <a:gd name="T55" fmla="*/ 0 h 170"/>
                  <a:gd name="T56" fmla="*/ 0 w 88"/>
                  <a:gd name="T57" fmla="*/ 0 h 170"/>
                  <a:gd name="T58" fmla="*/ 0 w 88"/>
                  <a:gd name="T59" fmla="*/ 0 h 170"/>
                  <a:gd name="T60" fmla="*/ 0 w 88"/>
                  <a:gd name="T61" fmla="*/ 0 h 170"/>
                  <a:gd name="T62" fmla="*/ 0 w 88"/>
                  <a:gd name="T63" fmla="*/ 0 h 170"/>
                  <a:gd name="T64" fmla="*/ 0 w 88"/>
                  <a:gd name="T65" fmla="*/ 0 h 170"/>
                  <a:gd name="T66" fmla="*/ 0 w 88"/>
                  <a:gd name="T67" fmla="*/ 0 h 170"/>
                  <a:gd name="T68" fmla="*/ 0 w 88"/>
                  <a:gd name="T69" fmla="*/ 0 h 170"/>
                  <a:gd name="T70" fmla="*/ 0 w 88"/>
                  <a:gd name="T71" fmla="*/ 0 h 170"/>
                  <a:gd name="T72" fmla="*/ 0 w 88"/>
                  <a:gd name="T73" fmla="*/ 0 h 17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88"/>
                  <a:gd name="T112" fmla="*/ 0 h 170"/>
                  <a:gd name="T113" fmla="*/ 88 w 88"/>
                  <a:gd name="T114" fmla="*/ 170 h 17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88" h="170">
                    <a:moveTo>
                      <a:pt x="88" y="145"/>
                    </a:moveTo>
                    <a:lnTo>
                      <a:pt x="81" y="147"/>
                    </a:lnTo>
                    <a:lnTo>
                      <a:pt x="77" y="150"/>
                    </a:lnTo>
                    <a:lnTo>
                      <a:pt x="73" y="151"/>
                    </a:lnTo>
                    <a:lnTo>
                      <a:pt x="69" y="153"/>
                    </a:lnTo>
                    <a:lnTo>
                      <a:pt x="64" y="155"/>
                    </a:lnTo>
                    <a:lnTo>
                      <a:pt x="57" y="158"/>
                    </a:lnTo>
                    <a:lnTo>
                      <a:pt x="47" y="163"/>
                    </a:lnTo>
                    <a:lnTo>
                      <a:pt x="32" y="170"/>
                    </a:lnTo>
                    <a:lnTo>
                      <a:pt x="29" y="161"/>
                    </a:lnTo>
                    <a:lnTo>
                      <a:pt x="26" y="154"/>
                    </a:lnTo>
                    <a:lnTo>
                      <a:pt x="24" y="148"/>
                    </a:lnTo>
                    <a:lnTo>
                      <a:pt x="22" y="142"/>
                    </a:lnTo>
                    <a:lnTo>
                      <a:pt x="19" y="134"/>
                    </a:lnTo>
                    <a:lnTo>
                      <a:pt x="15" y="123"/>
                    </a:lnTo>
                    <a:lnTo>
                      <a:pt x="8" y="109"/>
                    </a:lnTo>
                    <a:lnTo>
                      <a:pt x="0" y="89"/>
                    </a:lnTo>
                    <a:lnTo>
                      <a:pt x="4" y="79"/>
                    </a:lnTo>
                    <a:lnTo>
                      <a:pt x="7" y="71"/>
                    </a:lnTo>
                    <a:lnTo>
                      <a:pt x="9" y="65"/>
                    </a:lnTo>
                    <a:lnTo>
                      <a:pt x="12" y="58"/>
                    </a:lnTo>
                    <a:lnTo>
                      <a:pt x="15" y="49"/>
                    </a:lnTo>
                    <a:lnTo>
                      <a:pt x="19" y="38"/>
                    </a:lnTo>
                    <a:lnTo>
                      <a:pt x="26" y="22"/>
                    </a:lnTo>
                    <a:lnTo>
                      <a:pt x="34" y="0"/>
                    </a:lnTo>
                    <a:lnTo>
                      <a:pt x="40" y="11"/>
                    </a:lnTo>
                    <a:lnTo>
                      <a:pt x="43" y="21"/>
                    </a:lnTo>
                    <a:lnTo>
                      <a:pt x="47" y="36"/>
                    </a:lnTo>
                    <a:lnTo>
                      <a:pt x="55" y="65"/>
                    </a:lnTo>
                    <a:lnTo>
                      <a:pt x="59" y="74"/>
                    </a:lnTo>
                    <a:lnTo>
                      <a:pt x="61" y="79"/>
                    </a:lnTo>
                    <a:lnTo>
                      <a:pt x="64" y="84"/>
                    </a:lnTo>
                    <a:lnTo>
                      <a:pt x="66" y="90"/>
                    </a:lnTo>
                    <a:lnTo>
                      <a:pt x="69" y="98"/>
                    </a:lnTo>
                    <a:lnTo>
                      <a:pt x="73" y="108"/>
                    </a:lnTo>
                    <a:lnTo>
                      <a:pt x="79" y="124"/>
                    </a:lnTo>
                    <a:lnTo>
                      <a:pt x="88" y="145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1" name="Freeform 336">
                <a:extLst>
                  <a:ext uri="{FF2B5EF4-FFF2-40B4-BE49-F238E27FC236}">
                    <a16:creationId xmlns:a16="http://schemas.microsoft.com/office/drawing/2014/main" id="{DC34AA45-01D8-4E18-AF0D-C4FEC4259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3"/>
                <a:ext cx="2" cy="9"/>
              </a:xfrm>
              <a:custGeom>
                <a:avLst/>
                <a:gdLst>
                  <a:gd name="T0" fmla="*/ 0 w 59"/>
                  <a:gd name="T1" fmla="*/ 0 h 167"/>
                  <a:gd name="T2" fmla="*/ 0 w 59"/>
                  <a:gd name="T3" fmla="*/ 0 h 167"/>
                  <a:gd name="T4" fmla="*/ 0 w 59"/>
                  <a:gd name="T5" fmla="*/ 0 h 167"/>
                  <a:gd name="T6" fmla="*/ 0 w 59"/>
                  <a:gd name="T7" fmla="*/ 0 h 167"/>
                  <a:gd name="T8" fmla="*/ 0 w 59"/>
                  <a:gd name="T9" fmla="*/ 0 h 167"/>
                  <a:gd name="T10" fmla="*/ 0 w 59"/>
                  <a:gd name="T11" fmla="*/ 0 h 1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167"/>
                  <a:gd name="T20" fmla="*/ 59 w 59"/>
                  <a:gd name="T21" fmla="*/ 167 h 1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167">
                    <a:moveTo>
                      <a:pt x="59" y="155"/>
                    </a:moveTo>
                    <a:lnTo>
                      <a:pt x="33" y="167"/>
                    </a:lnTo>
                    <a:lnTo>
                      <a:pt x="0" y="87"/>
                    </a:lnTo>
                    <a:lnTo>
                      <a:pt x="29" y="0"/>
                    </a:lnTo>
                    <a:lnTo>
                      <a:pt x="26" y="76"/>
                    </a:lnTo>
                    <a:lnTo>
                      <a:pt x="59" y="155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2" name="Freeform 337">
                <a:extLst>
                  <a:ext uri="{FF2B5EF4-FFF2-40B4-BE49-F238E27FC236}">
                    <a16:creationId xmlns:a16="http://schemas.microsoft.com/office/drawing/2014/main" id="{D9DE2CFF-8089-4E5A-B6D3-8B54C07CA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4"/>
                <a:ext cx="8" cy="4"/>
              </a:xfrm>
              <a:custGeom>
                <a:avLst/>
                <a:gdLst>
                  <a:gd name="T0" fmla="*/ 0 w 172"/>
                  <a:gd name="T1" fmla="*/ 0 h 81"/>
                  <a:gd name="T2" fmla="*/ 0 w 172"/>
                  <a:gd name="T3" fmla="*/ 0 h 81"/>
                  <a:gd name="T4" fmla="*/ 0 w 172"/>
                  <a:gd name="T5" fmla="*/ 0 h 81"/>
                  <a:gd name="T6" fmla="*/ 0 w 172"/>
                  <a:gd name="T7" fmla="*/ 0 h 81"/>
                  <a:gd name="T8" fmla="*/ 0 w 172"/>
                  <a:gd name="T9" fmla="*/ 0 h 81"/>
                  <a:gd name="T10" fmla="*/ 0 w 172"/>
                  <a:gd name="T11" fmla="*/ 0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2"/>
                  <a:gd name="T19" fmla="*/ 0 h 81"/>
                  <a:gd name="T20" fmla="*/ 172 w 172"/>
                  <a:gd name="T21" fmla="*/ 81 h 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2" h="81">
                    <a:moveTo>
                      <a:pt x="170" y="4"/>
                    </a:moveTo>
                    <a:lnTo>
                      <a:pt x="168" y="0"/>
                    </a:lnTo>
                    <a:lnTo>
                      <a:pt x="0" y="73"/>
                    </a:lnTo>
                    <a:lnTo>
                      <a:pt x="4" y="81"/>
                    </a:lnTo>
                    <a:lnTo>
                      <a:pt x="172" y="8"/>
                    </a:lnTo>
                    <a:lnTo>
                      <a:pt x="170" y="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3" name="Freeform 338">
                <a:extLst>
                  <a:ext uri="{FF2B5EF4-FFF2-40B4-BE49-F238E27FC236}">
                    <a16:creationId xmlns:a16="http://schemas.microsoft.com/office/drawing/2014/main" id="{8ACFD346-C3B8-4D4B-B04C-F90D8816C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2"/>
                <a:ext cx="10" cy="6"/>
              </a:xfrm>
              <a:custGeom>
                <a:avLst/>
                <a:gdLst>
                  <a:gd name="T0" fmla="*/ 0 w 216"/>
                  <a:gd name="T1" fmla="*/ 0 h 103"/>
                  <a:gd name="T2" fmla="*/ 0 w 216"/>
                  <a:gd name="T3" fmla="*/ 0 h 103"/>
                  <a:gd name="T4" fmla="*/ 0 w 216"/>
                  <a:gd name="T5" fmla="*/ 0 h 103"/>
                  <a:gd name="T6" fmla="*/ 0 w 216"/>
                  <a:gd name="T7" fmla="*/ 0 h 103"/>
                  <a:gd name="T8" fmla="*/ 0 w 216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"/>
                  <a:gd name="T16" fmla="*/ 0 h 103"/>
                  <a:gd name="T17" fmla="*/ 216 w 216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" h="103">
                    <a:moveTo>
                      <a:pt x="216" y="12"/>
                    </a:moveTo>
                    <a:lnTo>
                      <a:pt x="4" y="103"/>
                    </a:lnTo>
                    <a:lnTo>
                      <a:pt x="0" y="93"/>
                    </a:lnTo>
                    <a:lnTo>
                      <a:pt x="211" y="0"/>
                    </a:lnTo>
                    <a:lnTo>
                      <a:pt x="216" y="12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4" name="Freeform 339">
                <a:extLst>
                  <a:ext uri="{FF2B5EF4-FFF2-40B4-BE49-F238E27FC236}">
                    <a16:creationId xmlns:a16="http://schemas.microsoft.com/office/drawing/2014/main" id="{75EDA89A-518A-4451-997D-2B3EF90AB9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1" cy="16"/>
              </a:xfrm>
              <a:custGeom>
                <a:avLst/>
                <a:gdLst>
                  <a:gd name="T0" fmla="*/ 0 w 250"/>
                  <a:gd name="T1" fmla="*/ 0 h 298"/>
                  <a:gd name="T2" fmla="*/ 0 w 250"/>
                  <a:gd name="T3" fmla="*/ 0 h 298"/>
                  <a:gd name="T4" fmla="*/ 0 w 250"/>
                  <a:gd name="T5" fmla="*/ 0 h 298"/>
                  <a:gd name="T6" fmla="*/ 0 w 250"/>
                  <a:gd name="T7" fmla="*/ 0 h 298"/>
                  <a:gd name="T8" fmla="*/ 0 w 250"/>
                  <a:gd name="T9" fmla="*/ 0 h 298"/>
                  <a:gd name="T10" fmla="*/ 0 w 250"/>
                  <a:gd name="T11" fmla="*/ 0 h 298"/>
                  <a:gd name="T12" fmla="*/ 0 w 250"/>
                  <a:gd name="T13" fmla="*/ 0 h 298"/>
                  <a:gd name="T14" fmla="*/ 0 w 250"/>
                  <a:gd name="T15" fmla="*/ 0 h 298"/>
                  <a:gd name="T16" fmla="*/ 0 w 250"/>
                  <a:gd name="T17" fmla="*/ 0 h 298"/>
                  <a:gd name="T18" fmla="*/ 0 w 250"/>
                  <a:gd name="T19" fmla="*/ 0 h 298"/>
                  <a:gd name="T20" fmla="*/ 0 w 250"/>
                  <a:gd name="T21" fmla="*/ 0 h 298"/>
                  <a:gd name="T22" fmla="*/ 0 w 250"/>
                  <a:gd name="T23" fmla="*/ 0 h 298"/>
                  <a:gd name="T24" fmla="*/ 0 w 250"/>
                  <a:gd name="T25" fmla="*/ 0 h 298"/>
                  <a:gd name="T26" fmla="*/ 0 w 250"/>
                  <a:gd name="T27" fmla="*/ 0 h 298"/>
                  <a:gd name="T28" fmla="*/ 0 w 250"/>
                  <a:gd name="T29" fmla="*/ 0 h 298"/>
                  <a:gd name="T30" fmla="*/ 0 w 250"/>
                  <a:gd name="T31" fmla="*/ 0 h 298"/>
                  <a:gd name="T32" fmla="*/ 0 w 250"/>
                  <a:gd name="T33" fmla="*/ 0 h 298"/>
                  <a:gd name="T34" fmla="*/ 0 w 250"/>
                  <a:gd name="T35" fmla="*/ 0 h 298"/>
                  <a:gd name="T36" fmla="*/ 0 w 250"/>
                  <a:gd name="T37" fmla="*/ 0 h 298"/>
                  <a:gd name="T38" fmla="*/ 0 w 250"/>
                  <a:gd name="T39" fmla="*/ 0 h 298"/>
                  <a:gd name="T40" fmla="*/ 0 w 250"/>
                  <a:gd name="T41" fmla="*/ 0 h 298"/>
                  <a:gd name="T42" fmla="*/ 0 w 250"/>
                  <a:gd name="T43" fmla="*/ 0 h 298"/>
                  <a:gd name="T44" fmla="*/ 0 w 250"/>
                  <a:gd name="T45" fmla="*/ 0 h 298"/>
                  <a:gd name="T46" fmla="*/ 0 w 250"/>
                  <a:gd name="T47" fmla="*/ 0 h 298"/>
                  <a:gd name="T48" fmla="*/ 0 w 250"/>
                  <a:gd name="T49" fmla="*/ 0 h 298"/>
                  <a:gd name="T50" fmla="*/ 0 w 250"/>
                  <a:gd name="T51" fmla="*/ 0 h 298"/>
                  <a:gd name="T52" fmla="*/ 0 w 250"/>
                  <a:gd name="T53" fmla="*/ 0 h 298"/>
                  <a:gd name="T54" fmla="*/ 0 w 250"/>
                  <a:gd name="T55" fmla="*/ 0 h 298"/>
                  <a:gd name="T56" fmla="*/ 0 w 250"/>
                  <a:gd name="T57" fmla="*/ 0 h 298"/>
                  <a:gd name="T58" fmla="*/ 0 w 250"/>
                  <a:gd name="T59" fmla="*/ 0 h 298"/>
                  <a:gd name="T60" fmla="*/ 0 w 250"/>
                  <a:gd name="T61" fmla="*/ 0 h 298"/>
                  <a:gd name="T62" fmla="*/ 0 w 250"/>
                  <a:gd name="T63" fmla="*/ 0 h 298"/>
                  <a:gd name="T64" fmla="*/ 0 w 250"/>
                  <a:gd name="T65" fmla="*/ 0 h 298"/>
                  <a:gd name="T66" fmla="*/ 0 w 250"/>
                  <a:gd name="T67" fmla="*/ 0 h 298"/>
                  <a:gd name="T68" fmla="*/ 0 w 250"/>
                  <a:gd name="T69" fmla="*/ 0 h 298"/>
                  <a:gd name="T70" fmla="*/ 0 w 250"/>
                  <a:gd name="T71" fmla="*/ 0 h 298"/>
                  <a:gd name="T72" fmla="*/ 0 w 250"/>
                  <a:gd name="T73" fmla="*/ 0 h 298"/>
                  <a:gd name="T74" fmla="*/ 0 w 250"/>
                  <a:gd name="T75" fmla="*/ 0 h 298"/>
                  <a:gd name="T76" fmla="*/ 0 w 250"/>
                  <a:gd name="T77" fmla="*/ 0 h 298"/>
                  <a:gd name="T78" fmla="*/ 0 w 250"/>
                  <a:gd name="T79" fmla="*/ 0 h 298"/>
                  <a:gd name="T80" fmla="*/ 0 w 250"/>
                  <a:gd name="T81" fmla="*/ 0 h 2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50"/>
                  <a:gd name="T124" fmla="*/ 0 h 298"/>
                  <a:gd name="T125" fmla="*/ 250 w 250"/>
                  <a:gd name="T126" fmla="*/ 298 h 29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50" h="298">
                    <a:moveTo>
                      <a:pt x="207" y="296"/>
                    </a:moveTo>
                    <a:lnTo>
                      <a:pt x="219" y="286"/>
                    </a:lnTo>
                    <a:lnTo>
                      <a:pt x="232" y="267"/>
                    </a:lnTo>
                    <a:lnTo>
                      <a:pt x="242" y="241"/>
                    </a:lnTo>
                    <a:lnTo>
                      <a:pt x="248" y="206"/>
                    </a:lnTo>
                    <a:lnTo>
                      <a:pt x="250" y="165"/>
                    </a:lnTo>
                    <a:lnTo>
                      <a:pt x="245" y="116"/>
                    </a:lnTo>
                    <a:lnTo>
                      <a:pt x="233" y="62"/>
                    </a:lnTo>
                    <a:lnTo>
                      <a:pt x="211" y="0"/>
                    </a:lnTo>
                    <a:lnTo>
                      <a:pt x="198" y="6"/>
                    </a:lnTo>
                    <a:lnTo>
                      <a:pt x="185" y="12"/>
                    </a:lnTo>
                    <a:lnTo>
                      <a:pt x="171" y="17"/>
                    </a:lnTo>
                    <a:lnTo>
                      <a:pt x="158" y="24"/>
                    </a:lnTo>
                    <a:lnTo>
                      <a:pt x="145" y="29"/>
                    </a:lnTo>
                    <a:lnTo>
                      <a:pt x="132" y="35"/>
                    </a:lnTo>
                    <a:lnTo>
                      <a:pt x="118" y="41"/>
                    </a:lnTo>
                    <a:lnTo>
                      <a:pt x="106" y="46"/>
                    </a:lnTo>
                    <a:lnTo>
                      <a:pt x="93" y="52"/>
                    </a:lnTo>
                    <a:lnTo>
                      <a:pt x="80" y="57"/>
                    </a:lnTo>
                    <a:lnTo>
                      <a:pt x="66" y="64"/>
                    </a:lnTo>
                    <a:lnTo>
                      <a:pt x="53" y="69"/>
                    </a:lnTo>
                    <a:lnTo>
                      <a:pt x="40" y="75"/>
                    </a:lnTo>
                    <a:lnTo>
                      <a:pt x="27" y="81"/>
                    </a:lnTo>
                    <a:lnTo>
                      <a:pt x="13" y="87"/>
                    </a:lnTo>
                    <a:lnTo>
                      <a:pt x="0" y="92"/>
                    </a:lnTo>
                    <a:lnTo>
                      <a:pt x="13" y="123"/>
                    </a:lnTo>
                    <a:lnTo>
                      <a:pt x="28" y="150"/>
                    </a:lnTo>
                    <a:lnTo>
                      <a:pt x="42" y="175"/>
                    </a:lnTo>
                    <a:lnTo>
                      <a:pt x="57" y="198"/>
                    </a:lnTo>
                    <a:lnTo>
                      <a:pt x="73" y="218"/>
                    </a:lnTo>
                    <a:lnTo>
                      <a:pt x="87" y="236"/>
                    </a:lnTo>
                    <a:lnTo>
                      <a:pt x="102" y="250"/>
                    </a:lnTo>
                    <a:lnTo>
                      <a:pt x="117" y="263"/>
                    </a:lnTo>
                    <a:lnTo>
                      <a:pt x="132" y="274"/>
                    </a:lnTo>
                    <a:lnTo>
                      <a:pt x="145" y="283"/>
                    </a:lnTo>
                    <a:lnTo>
                      <a:pt x="158" y="289"/>
                    </a:lnTo>
                    <a:lnTo>
                      <a:pt x="170" y="294"/>
                    </a:lnTo>
                    <a:lnTo>
                      <a:pt x="182" y="297"/>
                    </a:lnTo>
                    <a:lnTo>
                      <a:pt x="192" y="298"/>
                    </a:lnTo>
                    <a:lnTo>
                      <a:pt x="200" y="298"/>
                    </a:lnTo>
                    <a:lnTo>
                      <a:pt x="207" y="296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5" name="Freeform 340">
                <a:extLst>
                  <a:ext uri="{FF2B5EF4-FFF2-40B4-BE49-F238E27FC236}">
                    <a16:creationId xmlns:a16="http://schemas.microsoft.com/office/drawing/2014/main" id="{B482671F-6A7B-40DA-83AD-86F62104B8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0" cy="16"/>
              </a:xfrm>
              <a:custGeom>
                <a:avLst/>
                <a:gdLst>
                  <a:gd name="T0" fmla="*/ 0 w 226"/>
                  <a:gd name="T1" fmla="*/ 0 h 287"/>
                  <a:gd name="T2" fmla="*/ 0 w 226"/>
                  <a:gd name="T3" fmla="*/ 0 h 287"/>
                  <a:gd name="T4" fmla="*/ 0 w 226"/>
                  <a:gd name="T5" fmla="*/ 0 h 287"/>
                  <a:gd name="T6" fmla="*/ 0 w 226"/>
                  <a:gd name="T7" fmla="*/ 0 h 287"/>
                  <a:gd name="T8" fmla="*/ 0 w 226"/>
                  <a:gd name="T9" fmla="*/ 0 h 287"/>
                  <a:gd name="T10" fmla="*/ 0 w 226"/>
                  <a:gd name="T11" fmla="*/ 0 h 287"/>
                  <a:gd name="T12" fmla="*/ 0 w 226"/>
                  <a:gd name="T13" fmla="*/ 0 h 287"/>
                  <a:gd name="T14" fmla="*/ 0 w 226"/>
                  <a:gd name="T15" fmla="*/ 0 h 287"/>
                  <a:gd name="T16" fmla="*/ 0 w 226"/>
                  <a:gd name="T17" fmla="*/ 0 h 287"/>
                  <a:gd name="T18" fmla="*/ 0 w 226"/>
                  <a:gd name="T19" fmla="*/ 0 h 287"/>
                  <a:gd name="T20" fmla="*/ 0 w 226"/>
                  <a:gd name="T21" fmla="*/ 0 h 287"/>
                  <a:gd name="T22" fmla="*/ 0 w 226"/>
                  <a:gd name="T23" fmla="*/ 0 h 287"/>
                  <a:gd name="T24" fmla="*/ 0 w 226"/>
                  <a:gd name="T25" fmla="*/ 0 h 287"/>
                  <a:gd name="T26" fmla="*/ 0 w 226"/>
                  <a:gd name="T27" fmla="*/ 0 h 287"/>
                  <a:gd name="T28" fmla="*/ 0 w 226"/>
                  <a:gd name="T29" fmla="*/ 0 h 287"/>
                  <a:gd name="T30" fmla="*/ 0 w 226"/>
                  <a:gd name="T31" fmla="*/ 0 h 287"/>
                  <a:gd name="T32" fmla="*/ 0 w 226"/>
                  <a:gd name="T33" fmla="*/ 0 h 287"/>
                  <a:gd name="T34" fmla="*/ 0 w 226"/>
                  <a:gd name="T35" fmla="*/ 0 h 287"/>
                  <a:gd name="T36" fmla="*/ 0 w 226"/>
                  <a:gd name="T37" fmla="*/ 0 h 287"/>
                  <a:gd name="T38" fmla="*/ 0 w 226"/>
                  <a:gd name="T39" fmla="*/ 0 h 287"/>
                  <a:gd name="T40" fmla="*/ 0 w 226"/>
                  <a:gd name="T41" fmla="*/ 0 h 287"/>
                  <a:gd name="T42" fmla="*/ 0 w 226"/>
                  <a:gd name="T43" fmla="*/ 0 h 287"/>
                  <a:gd name="T44" fmla="*/ 0 w 226"/>
                  <a:gd name="T45" fmla="*/ 0 h 287"/>
                  <a:gd name="T46" fmla="*/ 0 w 226"/>
                  <a:gd name="T47" fmla="*/ 0 h 287"/>
                  <a:gd name="T48" fmla="*/ 0 w 226"/>
                  <a:gd name="T49" fmla="*/ 0 h 287"/>
                  <a:gd name="T50" fmla="*/ 0 w 226"/>
                  <a:gd name="T51" fmla="*/ 0 h 287"/>
                  <a:gd name="T52" fmla="*/ 0 w 226"/>
                  <a:gd name="T53" fmla="*/ 0 h 287"/>
                  <a:gd name="T54" fmla="*/ 0 w 226"/>
                  <a:gd name="T55" fmla="*/ 0 h 287"/>
                  <a:gd name="T56" fmla="*/ 0 w 226"/>
                  <a:gd name="T57" fmla="*/ 0 h 287"/>
                  <a:gd name="T58" fmla="*/ 0 w 226"/>
                  <a:gd name="T59" fmla="*/ 0 h 287"/>
                  <a:gd name="T60" fmla="*/ 0 w 226"/>
                  <a:gd name="T61" fmla="*/ 0 h 287"/>
                  <a:gd name="T62" fmla="*/ 0 w 226"/>
                  <a:gd name="T63" fmla="*/ 0 h 287"/>
                  <a:gd name="T64" fmla="*/ 0 w 226"/>
                  <a:gd name="T65" fmla="*/ 0 h 287"/>
                  <a:gd name="T66" fmla="*/ 0 w 226"/>
                  <a:gd name="T67" fmla="*/ 0 h 287"/>
                  <a:gd name="T68" fmla="*/ 0 w 226"/>
                  <a:gd name="T69" fmla="*/ 0 h 287"/>
                  <a:gd name="T70" fmla="*/ 0 w 226"/>
                  <a:gd name="T71" fmla="*/ 0 h 287"/>
                  <a:gd name="T72" fmla="*/ 0 w 226"/>
                  <a:gd name="T73" fmla="*/ 0 h 287"/>
                  <a:gd name="T74" fmla="*/ 0 w 226"/>
                  <a:gd name="T75" fmla="*/ 0 h 287"/>
                  <a:gd name="T76" fmla="*/ 0 w 226"/>
                  <a:gd name="T77" fmla="*/ 0 h 287"/>
                  <a:gd name="T78" fmla="*/ 0 w 226"/>
                  <a:gd name="T79" fmla="*/ 0 h 287"/>
                  <a:gd name="T80" fmla="*/ 0 w 226"/>
                  <a:gd name="T81" fmla="*/ 0 h 28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26"/>
                  <a:gd name="T124" fmla="*/ 0 h 287"/>
                  <a:gd name="T125" fmla="*/ 226 w 226"/>
                  <a:gd name="T126" fmla="*/ 287 h 28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26" h="287">
                    <a:moveTo>
                      <a:pt x="199" y="285"/>
                    </a:moveTo>
                    <a:lnTo>
                      <a:pt x="209" y="276"/>
                    </a:lnTo>
                    <a:lnTo>
                      <a:pt x="217" y="259"/>
                    </a:lnTo>
                    <a:lnTo>
                      <a:pt x="224" y="234"/>
                    </a:lnTo>
                    <a:lnTo>
                      <a:pt x="226" y="202"/>
                    </a:lnTo>
                    <a:lnTo>
                      <a:pt x="223" y="162"/>
                    </a:lnTo>
                    <a:lnTo>
                      <a:pt x="214" y="115"/>
                    </a:lnTo>
                    <a:lnTo>
                      <a:pt x="200" y="61"/>
                    </a:lnTo>
                    <a:lnTo>
                      <a:pt x="178" y="0"/>
                    </a:lnTo>
                    <a:lnTo>
                      <a:pt x="166" y="5"/>
                    </a:lnTo>
                    <a:lnTo>
                      <a:pt x="155" y="10"/>
                    </a:lnTo>
                    <a:lnTo>
                      <a:pt x="144" y="15"/>
                    </a:lnTo>
                    <a:lnTo>
                      <a:pt x="134" y="20"/>
                    </a:lnTo>
                    <a:lnTo>
                      <a:pt x="123" y="24"/>
                    </a:lnTo>
                    <a:lnTo>
                      <a:pt x="111" y="30"/>
                    </a:lnTo>
                    <a:lnTo>
                      <a:pt x="100" y="34"/>
                    </a:lnTo>
                    <a:lnTo>
                      <a:pt x="89" y="39"/>
                    </a:lnTo>
                    <a:lnTo>
                      <a:pt x="78" y="44"/>
                    </a:lnTo>
                    <a:lnTo>
                      <a:pt x="67" y="49"/>
                    </a:lnTo>
                    <a:lnTo>
                      <a:pt x="55" y="54"/>
                    </a:lnTo>
                    <a:lnTo>
                      <a:pt x="45" y="58"/>
                    </a:lnTo>
                    <a:lnTo>
                      <a:pt x="34" y="63"/>
                    </a:lnTo>
                    <a:lnTo>
                      <a:pt x="23" y="69"/>
                    </a:lnTo>
                    <a:lnTo>
                      <a:pt x="11" y="73"/>
                    </a:lnTo>
                    <a:lnTo>
                      <a:pt x="0" y="78"/>
                    </a:lnTo>
                    <a:lnTo>
                      <a:pt x="13" y="109"/>
                    </a:lnTo>
                    <a:lnTo>
                      <a:pt x="28" y="136"/>
                    </a:lnTo>
                    <a:lnTo>
                      <a:pt x="42" y="161"/>
                    </a:lnTo>
                    <a:lnTo>
                      <a:pt x="56" y="184"/>
                    </a:lnTo>
                    <a:lnTo>
                      <a:pt x="72" y="204"/>
                    </a:lnTo>
                    <a:lnTo>
                      <a:pt x="86" y="221"/>
                    </a:lnTo>
                    <a:lnTo>
                      <a:pt x="101" y="236"/>
                    </a:lnTo>
                    <a:lnTo>
                      <a:pt x="115" y="250"/>
                    </a:lnTo>
                    <a:lnTo>
                      <a:pt x="129" y="260"/>
                    </a:lnTo>
                    <a:lnTo>
                      <a:pt x="142" y="270"/>
                    </a:lnTo>
                    <a:lnTo>
                      <a:pt x="155" y="276"/>
                    </a:lnTo>
                    <a:lnTo>
                      <a:pt x="166" y="282"/>
                    </a:lnTo>
                    <a:lnTo>
                      <a:pt x="177" y="285"/>
                    </a:lnTo>
                    <a:lnTo>
                      <a:pt x="186" y="287"/>
                    </a:lnTo>
                    <a:lnTo>
                      <a:pt x="193" y="287"/>
                    </a:lnTo>
                    <a:lnTo>
                      <a:pt x="199" y="285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6" name="Freeform 341">
                <a:extLst>
                  <a:ext uri="{FF2B5EF4-FFF2-40B4-BE49-F238E27FC236}">
                    <a16:creationId xmlns:a16="http://schemas.microsoft.com/office/drawing/2014/main" id="{EF02A26A-52EF-4291-8670-E3AA38DC27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4"/>
                <a:ext cx="9" cy="15"/>
              </a:xfrm>
              <a:custGeom>
                <a:avLst/>
                <a:gdLst>
                  <a:gd name="T0" fmla="*/ 0 w 202"/>
                  <a:gd name="T1" fmla="*/ 0 h 274"/>
                  <a:gd name="T2" fmla="*/ 0 w 202"/>
                  <a:gd name="T3" fmla="*/ 0 h 274"/>
                  <a:gd name="T4" fmla="*/ 0 w 202"/>
                  <a:gd name="T5" fmla="*/ 0 h 274"/>
                  <a:gd name="T6" fmla="*/ 0 w 202"/>
                  <a:gd name="T7" fmla="*/ 0 h 274"/>
                  <a:gd name="T8" fmla="*/ 0 w 202"/>
                  <a:gd name="T9" fmla="*/ 0 h 274"/>
                  <a:gd name="T10" fmla="*/ 0 w 202"/>
                  <a:gd name="T11" fmla="*/ 0 h 274"/>
                  <a:gd name="T12" fmla="*/ 0 w 202"/>
                  <a:gd name="T13" fmla="*/ 0 h 274"/>
                  <a:gd name="T14" fmla="*/ 0 w 202"/>
                  <a:gd name="T15" fmla="*/ 0 h 274"/>
                  <a:gd name="T16" fmla="*/ 0 w 202"/>
                  <a:gd name="T17" fmla="*/ 0 h 274"/>
                  <a:gd name="T18" fmla="*/ 0 w 202"/>
                  <a:gd name="T19" fmla="*/ 0 h 274"/>
                  <a:gd name="T20" fmla="*/ 0 w 202"/>
                  <a:gd name="T21" fmla="*/ 0 h 274"/>
                  <a:gd name="T22" fmla="*/ 0 w 202"/>
                  <a:gd name="T23" fmla="*/ 0 h 274"/>
                  <a:gd name="T24" fmla="*/ 0 w 202"/>
                  <a:gd name="T25" fmla="*/ 0 h 274"/>
                  <a:gd name="T26" fmla="*/ 0 w 202"/>
                  <a:gd name="T27" fmla="*/ 0 h 274"/>
                  <a:gd name="T28" fmla="*/ 0 w 202"/>
                  <a:gd name="T29" fmla="*/ 0 h 274"/>
                  <a:gd name="T30" fmla="*/ 0 w 202"/>
                  <a:gd name="T31" fmla="*/ 0 h 274"/>
                  <a:gd name="T32" fmla="*/ 0 w 202"/>
                  <a:gd name="T33" fmla="*/ 0 h 274"/>
                  <a:gd name="T34" fmla="*/ 0 w 202"/>
                  <a:gd name="T35" fmla="*/ 0 h 274"/>
                  <a:gd name="T36" fmla="*/ 0 w 202"/>
                  <a:gd name="T37" fmla="*/ 0 h 274"/>
                  <a:gd name="T38" fmla="*/ 0 w 202"/>
                  <a:gd name="T39" fmla="*/ 0 h 274"/>
                  <a:gd name="T40" fmla="*/ 0 w 202"/>
                  <a:gd name="T41" fmla="*/ 0 h 274"/>
                  <a:gd name="T42" fmla="*/ 0 w 202"/>
                  <a:gd name="T43" fmla="*/ 0 h 274"/>
                  <a:gd name="T44" fmla="*/ 0 w 202"/>
                  <a:gd name="T45" fmla="*/ 0 h 274"/>
                  <a:gd name="T46" fmla="*/ 0 w 202"/>
                  <a:gd name="T47" fmla="*/ 0 h 274"/>
                  <a:gd name="T48" fmla="*/ 0 w 202"/>
                  <a:gd name="T49" fmla="*/ 0 h 274"/>
                  <a:gd name="T50" fmla="*/ 0 w 202"/>
                  <a:gd name="T51" fmla="*/ 0 h 274"/>
                  <a:gd name="T52" fmla="*/ 0 w 202"/>
                  <a:gd name="T53" fmla="*/ 0 h 274"/>
                  <a:gd name="T54" fmla="*/ 0 w 202"/>
                  <a:gd name="T55" fmla="*/ 0 h 274"/>
                  <a:gd name="T56" fmla="*/ 0 w 202"/>
                  <a:gd name="T57" fmla="*/ 0 h 274"/>
                  <a:gd name="T58" fmla="*/ 0 w 202"/>
                  <a:gd name="T59" fmla="*/ 0 h 274"/>
                  <a:gd name="T60" fmla="*/ 0 w 202"/>
                  <a:gd name="T61" fmla="*/ 0 h 274"/>
                  <a:gd name="T62" fmla="*/ 0 w 202"/>
                  <a:gd name="T63" fmla="*/ 0 h 274"/>
                  <a:gd name="T64" fmla="*/ 0 w 202"/>
                  <a:gd name="T65" fmla="*/ 0 h 2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2"/>
                  <a:gd name="T100" fmla="*/ 0 h 274"/>
                  <a:gd name="T101" fmla="*/ 202 w 202"/>
                  <a:gd name="T102" fmla="*/ 274 h 2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2" h="274">
                    <a:moveTo>
                      <a:pt x="189" y="273"/>
                    </a:moveTo>
                    <a:lnTo>
                      <a:pt x="196" y="265"/>
                    </a:lnTo>
                    <a:lnTo>
                      <a:pt x="201" y="251"/>
                    </a:lnTo>
                    <a:lnTo>
                      <a:pt x="202" y="227"/>
                    </a:lnTo>
                    <a:lnTo>
                      <a:pt x="200" y="197"/>
                    </a:lnTo>
                    <a:lnTo>
                      <a:pt x="193" y="159"/>
                    </a:lnTo>
                    <a:lnTo>
                      <a:pt x="182" y="114"/>
                    </a:lnTo>
                    <a:lnTo>
                      <a:pt x="165" y="60"/>
                    </a:lnTo>
                    <a:lnTo>
                      <a:pt x="142" y="0"/>
                    </a:lnTo>
                    <a:lnTo>
                      <a:pt x="125" y="7"/>
                    </a:lnTo>
                    <a:lnTo>
                      <a:pt x="107" y="14"/>
                    </a:lnTo>
                    <a:lnTo>
                      <a:pt x="89" y="23"/>
                    </a:lnTo>
                    <a:lnTo>
                      <a:pt x="72" y="30"/>
                    </a:lnTo>
                    <a:lnTo>
                      <a:pt x="53" y="39"/>
                    </a:lnTo>
                    <a:lnTo>
                      <a:pt x="36" y="46"/>
                    </a:lnTo>
                    <a:lnTo>
                      <a:pt x="18" y="54"/>
                    </a:lnTo>
                    <a:lnTo>
                      <a:pt x="0" y="62"/>
                    </a:lnTo>
                    <a:lnTo>
                      <a:pt x="14" y="92"/>
                    </a:lnTo>
                    <a:lnTo>
                      <a:pt x="28" y="120"/>
                    </a:lnTo>
                    <a:lnTo>
                      <a:pt x="41" y="145"/>
                    </a:lnTo>
                    <a:lnTo>
                      <a:pt x="57" y="168"/>
                    </a:lnTo>
                    <a:lnTo>
                      <a:pt x="71" y="188"/>
                    </a:lnTo>
                    <a:lnTo>
                      <a:pt x="85" y="206"/>
                    </a:lnTo>
                    <a:lnTo>
                      <a:pt x="98" y="221"/>
                    </a:lnTo>
                    <a:lnTo>
                      <a:pt x="113" y="235"/>
                    </a:lnTo>
                    <a:lnTo>
                      <a:pt x="126" y="246"/>
                    </a:lnTo>
                    <a:lnTo>
                      <a:pt x="138" y="256"/>
                    </a:lnTo>
                    <a:lnTo>
                      <a:pt x="149" y="262"/>
                    </a:lnTo>
                    <a:lnTo>
                      <a:pt x="160" y="268"/>
                    </a:lnTo>
                    <a:lnTo>
                      <a:pt x="170" y="272"/>
                    </a:lnTo>
                    <a:lnTo>
                      <a:pt x="178" y="274"/>
                    </a:lnTo>
                    <a:lnTo>
                      <a:pt x="184" y="274"/>
                    </a:lnTo>
                    <a:lnTo>
                      <a:pt x="189" y="273"/>
                    </a:lnTo>
                    <a:close/>
                  </a:path>
                </a:pathLst>
              </a:custGeom>
              <a:solidFill>
                <a:srgbClr val="474F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7" name="Freeform 342">
                <a:extLst>
                  <a:ext uri="{FF2B5EF4-FFF2-40B4-BE49-F238E27FC236}">
                    <a16:creationId xmlns:a16="http://schemas.microsoft.com/office/drawing/2014/main" id="{95B88854-1542-45C4-B7C1-2F7AF5BEE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9" cy="14"/>
              </a:xfrm>
              <a:custGeom>
                <a:avLst/>
                <a:gdLst>
                  <a:gd name="T0" fmla="*/ 0 w 186"/>
                  <a:gd name="T1" fmla="*/ 0 h 264"/>
                  <a:gd name="T2" fmla="*/ 0 w 186"/>
                  <a:gd name="T3" fmla="*/ 0 h 264"/>
                  <a:gd name="T4" fmla="*/ 0 w 186"/>
                  <a:gd name="T5" fmla="*/ 0 h 264"/>
                  <a:gd name="T6" fmla="*/ 0 w 186"/>
                  <a:gd name="T7" fmla="*/ 0 h 264"/>
                  <a:gd name="T8" fmla="*/ 0 w 186"/>
                  <a:gd name="T9" fmla="*/ 0 h 264"/>
                  <a:gd name="T10" fmla="*/ 0 w 186"/>
                  <a:gd name="T11" fmla="*/ 0 h 264"/>
                  <a:gd name="T12" fmla="*/ 0 w 186"/>
                  <a:gd name="T13" fmla="*/ 0 h 264"/>
                  <a:gd name="T14" fmla="*/ 0 w 186"/>
                  <a:gd name="T15" fmla="*/ 0 h 264"/>
                  <a:gd name="T16" fmla="*/ 0 w 186"/>
                  <a:gd name="T17" fmla="*/ 0 h 264"/>
                  <a:gd name="T18" fmla="*/ 0 w 186"/>
                  <a:gd name="T19" fmla="*/ 0 h 264"/>
                  <a:gd name="T20" fmla="*/ 0 w 186"/>
                  <a:gd name="T21" fmla="*/ 0 h 264"/>
                  <a:gd name="T22" fmla="*/ 0 w 186"/>
                  <a:gd name="T23" fmla="*/ 0 h 264"/>
                  <a:gd name="T24" fmla="*/ 0 w 186"/>
                  <a:gd name="T25" fmla="*/ 0 h 264"/>
                  <a:gd name="T26" fmla="*/ 0 w 186"/>
                  <a:gd name="T27" fmla="*/ 0 h 264"/>
                  <a:gd name="T28" fmla="*/ 0 w 186"/>
                  <a:gd name="T29" fmla="*/ 0 h 264"/>
                  <a:gd name="T30" fmla="*/ 0 w 186"/>
                  <a:gd name="T31" fmla="*/ 0 h 264"/>
                  <a:gd name="T32" fmla="*/ 0 w 186"/>
                  <a:gd name="T33" fmla="*/ 0 h 264"/>
                  <a:gd name="T34" fmla="*/ 0 w 186"/>
                  <a:gd name="T35" fmla="*/ 0 h 264"/>
                  <a:gd name="T36" fmla="*/ 0 w 186"/>
                  <a:gd name="T37" fmla="*/ 0 h 264"/>
                  <a:gd name="T38" fmla="*/ 0 w 186"/>
                  <a:gd name="T39" fmla="*/ 0 h 264"/>
                  <a:gd name="T40" fmla="*/ 0 w 186"/>
                  <a:gd name="T41" fmla="*/ 0 h 264"/>
                  <a:gd name="T42" fmla="*/ 0 w 186"/>
                  <a:gd name="T43" fmla="*/ 0 h 264"/>
                  <a:gd name="T44" fmla="*/ 0 w 186"/>
                  <a:gd name="T45" fmla="*/ 0 h 264"/>
                  <a:gd name="T46" fmla="*/ 0 w 186"/>
                  <a:gd name="T47" fmla="*/ 0 h 264"/>
                  <a:gd name="T48" fmla="*/ 0 w 186"/>
                  <a:gd name="T49" fmla="*/ 0 h 264"/>
                  <a:gd name="T50" fmla="*/ 0 w 186"/>
                  <a:gd name="T51" fmla="*/ 0 h 264"/>
                  <a:gd name="T52" fmla="*/ 0 w 186"/>
                  <a:gd name="T53" fmla="*/ 0 h 264"/>
                  <a:gd name="T54" fmla="*/ 0 w 186"/>
                  <a:gd name="T55" fmla="*/ 0 h 264"/>
                  <a:gd name="T56" fmla="*/ 0 w 186"/>
                  <a:gd name="T57" fmla="*/ 0 h 264"/>
                  <a:gd name="T58" fmla="*/ 0 w 186"/>
                  <a:gd name="T59" fmla="*/ 0 h 264"/>
                  <a:gd name="T60" fmla="*/ 0 w 186"/>
                  <a:gd name="T61" fmla="*/ 0 h 264"/>
                  <a:gd name="T62" fmla="*/ 0 w 186"/>
                  <a:gd name="T63" fmla="*/ 0 h 264"/>
                  <a:gd name="T64" fmla="*/ 0 w 186"/>
                  <a:gd name="T65" fmla="*/ 0 h 2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6"/>
                  <a:gd name="T100" fmla="*/ 0 h 264"/>
                  <a:gd name="T101" fmla="*/ 186 w 186"/>
                  <a:gd name="T102" fmla="*/ 264 h 26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6" h="264">
                    <a:moveTo>
                      <a:pt x="180" y="263"/>
                    </a:moveTo>
                    <a:lnTo>
                      <a:pt x="185" y="256"/>
                    </a:lnTo>
                    <a:lnTo>
                      <a:pt x="186" y="243"/>
                    </a:lnTo>
                    <a:lnTo>
                      <a:pt x="183" y="222"/>
                    </a:lnTo>
                    <a:lnTo>
                      <a:pt x="177" y="193"/>
                    </a:lnTo>
                    <a:lnTo>
                      <a:pt x="166" y="157"/>
                    </a:lnTo>
                    <a:lnTo>
                      <a:pt x="151" y="113"/>
                    </a:lnTo>
                    <a:lnTo>
                      <a:pt x="131" y="60"/>
                    </a:lnTo>
                    <a:lnTo>
                      <a:pt x="108" y="0"/>
                    </a:lnTo>
                    <a:lnTo>
                      <a:pt x="94" y="7"/>
                    </a:lnTo>
                    <a:lnTo>
                      <a:pt x="80" y="13"/>
                    </a:lnTo>
                    <a:lnTo>
                      <a:pt x="67" y="18"/>
                    </a:lnTo>
                    <a:lnTo>
                      <a:pt x="54" y="24"/>
                    </a:lnTo>
                    <a:lnTo>
                      <a:pt x="40" y="30"/>
                    </a:lnTo>
                    <a:lnTo>
                      <a:pt x="27" y="36"/>
                    </a:lnTo>
                    <a:lnTo>
                      <a:pt x="13" y="41"/>
                    </a:lnTo>
                    <a:lnTo>
                      <a:pt x="0" y="48"/>
                    </a:lnTo>
                    <a:lnTo>
                      <a:pt x="13" y="78"/>
                    </a:lnTo>
                    <a:lnTo>
                      <a:pt x="26" y="106"/>
                    </a:lnTo>
                    <a:lnTo>
                      <a:pt x="40" y="131"/>
                    </a:lnTo>
                    <a:lnTo>
                      <a:pt x="55" y="154"/>
                    </a:lnTo>
                    <a:lnTo>
                      <a:pt x="69" y="174"/>
                    </a:lnTo>
                    <a:lnTo>
                      <a:pt x="83" y="192"/>
                    </a:lnTo>
                    <a:lnTo>
                      <a:pt x="96" y="208"/>
                    </a:lnTo>
                    <a:lnTo>
                      <a:pt x="110" y="222"/>
                    </a:lnTo>
                    <a:lnTo>
                      <a:pt x="122" y="233"/>
                    </a:lnTo>
                    <a:lnTo>
                      <a:pt x="134" y="243"/>
                    </a:lnTo>
                    <a:lnTo>
                      <a:pt x="145" y="250"/>
                    </a:lnTo>
                    <a:lnTo>
                      <a:pt x="155" y="256"/>
                    </a:lnTo>
                    <a:lnTo>
                      <a:pt x="164" y="261"/>
                    </a:lnTo>
                    <a:lnTo>
                      <a:pt x="171" y="263"/>
                    </a:lnTo>
                    <a:lnTo>
                      <a:pt x="176" y="264"/>
                    </a:lnTo>
                    <a:lnTo>
                      <a:pt x="180" y="26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8" name="Freeform 343">
                <a:extLst>
                  <a:ext uri="{FF2B5EF4-FFF2-40B4-BE49-F238E27FC236}">
                    <a16:creationId xmlns:a16="http://schemas.microsoft.com/office/drawing/2014/main" id="{AEF71D82-698F-473E-8CD2-1EE924789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8" cy="14"/>
              </a:xfrm>
              <a:custGeom>
                <a:avLst/>
                <a:gdLst>
                  <a:gd name="T0" fmla="*/ 0 w 173"/>
                  <a:gd name="T1" fmla="*/ 0 h 251"/>
                  <a:gd name="T2" fmla="*/ 0 w 173"/>
                  <a:gd name="T3" fmla="*/ 0 h 251"/>
                  <a:gd name="T4" fmla="*/ 0 w 173"/>
                  <a:gd name="T5" fmla="*/ 0 h 251"/>
                  <a:gd name="T6" fmla="*/ 0 w 173"/>
                  <a:gd name="T7" fmla="*/ 0 h 251"/>
                  <a:gd name="T8" fmla="*/ 0 w 173"/>
                  <a:gd name="T9" fmla="*/ 0 h 251"/>
                  <a:gd name="T10" fmla="*/ 0 w 173"/>
                  <a:gd name="T11" fmla="*/ 0 h 251"/>
                  <a:gd name="T12" fmla="*/ 0 w 173"/>
                  <a:gd name="T13" fmla="*/ 0 h 251"/>
                  <a:gd name="T14" fmla="*/ 0 w 173"/>
                  <a:gd name="T15" fmla="*/ 0 h 251"/>
                  <a:gd name="T16" fmla="*/ 0 w 173"/>
                  <a:gd name="T17" fmla="*/ 0 h 251"/>
                  <a:gd name="T18" fmla="*/ 0 w 173"/>
                  <a:gd name="T19" fmla="*/ 0 h 251"/>
                  <a:gd name="T20" fmla="*/ 0 w 173"/>
                  <a:gd name="T21" fmla="*/ 0 h 251"/>
                  <a:gd name="T22" fmla="*/ 0 w 173"/>
                  <a:gd name="T23" fmla="*/ 0 h 251"/>
                  <a:gd name="T24" fmla="*/ 0 w 173"/>
                  <a:gd name="T25" fmla="*/ 0 h 251"/>
                  <a:gd name="T26" fmla="*/ 0 w 173"/>
                  <a:gd name="T27" fmla="*/ 0 h 251"/>
                  <a:gd name="T28" fmla="*/ 0 w 173"/>
                  <a:gd name="T29" fmla="*/ 0 h 251"/>
                  <a:gd name="T30" fmla="*/ 0 w 173"/>
                  <a:gd name="T31" fmla="*/ 0 h 251"/>
                  <a:gd name="T32" fmla="*/ 0 w 173"/>
                  <a:gd name="T33" fmla="*/ 0 h 251"/>
                  <a:gd name="T34" fmla="*/ 0 w 173"/>
                  <a:gd name="T35" fmla="*/ 0 h 251"/>
                  <a:gd name="T36" fmla="*/ 0 w 173"/>
                  <a:gd name="T37" fmla="*/ 0 h 251"/>
                  <a:gd name="T38" fmla="*/ 0 w 173"/>
                  <a:gd name="T39" fmla="*/ 0 h 251"/>
                  <a:gd name="T40" fmla="*/ 0 w 173"/>
                  <a:gd name="T41" fmla="*/ 0 h 251"/>
                  <a:gd name="T42" fmla="*/ 0 w 173"/>
                  <a:gd name="T43" fmla="*/ 0 h 251"/>
                  <a:gd name="T44" fmla="*/ 0 w 173"/>
                  <a:gd name="T45" fmla="*/ 0 h 251"/>
                  <a:gd name="T46" fmla="*/ 0 w 173"/>
                  <a:gd name="T47" fmla="*/ 0 h 251"/>
                  <a:gd name="T48" fmla="*/ 0 w 173"/>
                  <a:gd name="T49" fmla="*/ 0 h 251"/>
                  <a:gd name="T50" fmla="*/ 0 w 173"/>
                  <a:gd name="T51" fmla="*/ 0 h 251"/>
                  <a:gd name="T52" fmla="*/ 0 w 173"/>
                  <a:gd name="T53" fmla="*/ 0 h 251"/>
                  <a:gd name="T54" fmla="*/ 0 w 173"/>
                  <a:gd name="T55" fmla="*/ 0 h 251"/>
                  <a:gd name="T56" fmla="*/ 0 w 173"/>
                  <a:gd name="T57" fmla="*/ 0 h 251"/>
                  <a:gd name="T58" fmla="*/ 0 w 173"/>
                  <a:gd name="T59" fmla="*/ 0 h 251"/>
                  <a:gd name="T60" fmla="*/ 0 w 173"/>
                  <a:gd name="T61" fmla="*/ 0 h 251"/>
                  <a:gd name="T62" fmla="*/ 0 w 173"/>
                  <a:gd name="T63" fmla="*/ 0 h 251"/>
                  <a:gd name="T64" fmla="*/ 0 w 173"/>
                  <a:gd name="T65" fmla="*/ 0 h 25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3"/>
                  <a:gd name="T100" fmla="*/ 0 h 251"/>
                  <a:gd name="T101" fmla="*/ 173 w 173"/>
                  <a:gd name="T102" fmla="*/ 251 h 25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3" h="251">
                    <a:moveTo>
                      <a:pt x="171" y="251"/>
                    </a:moveTo>
                    <a:lnTo>
                      <a:pt x="173" y="245"/>
                    </a:lnTo>
                    <a:lnTo>
                      <a:pt x="170" y="233"/>
                    </a:lnTo>
                    <a:lnTo>
                      <a:pt x="164" y="214"/>
                    </a:lnTo>
                    <a:lnTo>
                      <a:pt x="153" y="187"/>
                    </a:lnTo>
                    <a:lnTo>
                      <a:pt x="137" y="153"/>
                    </a:lnTo>
                    <a:lnTo>
                      <a:pt x="119" y="110"/>
                    </a:lnTo>
                    <a:lnTo>
                      <a:pt x="97" y="60"/>
                    </a:lnTo>
                    <a:lnTo>
                      <a:pt x="72" y="0"/>
                    </a:lnTo>
                    <a:lnTo>
                      <a:pt x="63" y="4"/>
                    </a:lnTo>
                    <a:lnTo>
                      <a:pt x="54" y="7"/>
                    </a:lnTo>
                    <a:lnTo>
                      <a:pt x="45" y="11"/>
                    </a:lnTo>
                    <a:lnTo>
                      <a:pt x="36" y="16"/>
                    </a:lnTo>
                    <a:lnTo>
                      <a:pt x="27" y="20"/>
                    </a:lnTo>
                    <a:lnTo>
                      <a:pt x="18" y="23"/>
                    </a:lnTo>
                    <a:lnTo>
                      <a:pt x="9" y="27"/>
                    </a:lnTo>
                    <a:lnTo>
                      <a:pt x="0" y="31"/>
                    </a:lnTo>
                    <a:lnTo>
                      <a:pt x="13" y="62"/>
                    </a:lnTo>
                    <a:lnTo>
                      <a:pt x="26" y="89"/>
                    </a:lnTo>
                    <a:lnTo>
                      <a:pt x="41" y="115"/>
                    </a:lnTo>
                    <a:lnTo>
                      <a:pt x="54" y="138"/>
                    </a:lnTo>
                    <a:lnTo>
                      <a:pt x="68" y="159"/>
                    </a:lnTo>
                    <a:lnTo>
                      <a:pt x="81" y="177"/>
                    </a:lnTo>
                    <a:lnTo>
                      <a:pt x="95" y="193"/>
                    </a:lnTo>
                    <a:lnTo>
                      <a:pt x="107" y="206"/>
                    </a:lnTo>
                    <a:lnTo>
                      <a:pt x="119" y="218"/>
                    </a:lnTo>
                    <a:lnTo>
                      <a:pt x="130" y="229"/>
                    </a:lnTo>
                    <a:lnTo>
                      <a:pt x="141" y="236"/>
                    </a:lnTo>
                    <a:lnTo>
                      <a:pt x="150" y="242"/>
                    </a:lnTo>
                    <a:lnTo>
                      <a:pt x="157" y="246"/>
                    </a:lnTo>
                    <a:lnTo>
                      <a:pt x="163" y="250"/>
                    </a:lnTo>
                    <a:lnTo>
                      <a:pt x="168" y="251"/>
                    </a:lnTo>
                    <a:lnTo>
                      <a:pt x="171" y="251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69" name="Freeform 344">
                <a:extLst>
                  <a:ext uri="{FF2B5EF4-FFF2-40B4-BE49-F238E27FC236}">
                    <a16:creationId xmlns:a16="http://schemas.microsoft.com/office/drawing/2014/main" id="{778EC79C-BB19-40F2-90A4-5C199245C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436"/>
                <a:ext cx="7" cy="13"/>
              </a:xfrm>
              <a:custGeom>
                <a:avLst/>
                <a:gdLst>
                  <a:gd name="T0" fmla="*/ 0 w 163"/>
                  <a:gd name="T1" fmla="*/ 0 h 240"/>
                  <a:gd name="T2" fmla="*/ 0 w 163"/>
                  <a:gd name="T3" fmla="*/ 0 h 240"/>
                  <a:gd name="T4" fmla="*/ 0 w 163"/>
                  <a:gd name="T5" fmla="*/ 0 h 240"/>
                  <a:gd name="T6" fmla="*/ 0 w 163"/>
                  <a:gd name="T7" fmla="*/ 0 h 240"/>
                  <a:gd name="T8" fmla="*/ 0 w 163"/>
                  <a:gd name="T9" fmla="*/ 0 h 240"/>
                  <a:gd name="T10" fmla="*/ 0 w 163"/>
                  <a:gd name="T11" fmla="*/ 0 h 240"/>
                  <a:gd name="T12" fmla="*/ 0 w 163"/>
                  <a:gd name="T13" fmla="*/ 0 h 240"/>
                  <a:gd name="T14" fmla="*/ 0 w 163"/>
                  <a:gd name="T15" fmla="*/ 0 h 240"/>
                  <a:gd name="T16" fmla="*/ 0 w 163"/>
                  <a:gd name="T17" fmla="*/ 0 h 240"/>
                  <a:gd name="T18" fmla="*/ 0 w 163"/>
                  <a:gd name="T19" fmla="*/ 0 h 240"/>
                  <a:gd name="T20" fmla="*/ 0 w 163"/>
                  <a:gd name="T21" fmla="*/ 0 h 240"/>
                  <a:gd name="T22" fmla="*/ 0 w 163"/>
                  <a:gd name="T23" fmla="*/ 0 h 240"/>
                  <a:gd name="T24" fmla="*/ 0 w 163"/>
                  <a:gd name="T25" fmla="*/ 0 h 240"/>
                  <a:gd name="T26" fmla="*/ 0 w 163"/>
                  <a:gd name="T27" fmla="*/ 0 h 240"/>
                  <a:gd name="T28" fmla="*/ 0 w 163"/>
                  <a:gd name="T29" fmla="*/ 0 h 240"/>
                  <a:gd name="T30" fmla="*/ 0 w 163"/>
                  <a:gd name="T31" fmla="*/ 0 h 240"/>
                  <a:gd name="T32" fmla="*/ 0 w 163"/>
                  <a:gd name="T33" fmla="*/ 0 h 240"/>
                  <a:gd name="T34" fmla="*/ 0 w 163"/>
                  <a:gd name="T35" fmla="*/ 0 h 240"/>
                  <a:gd name="T36" fmla="*/ 0 w 163"/>
                  <a:gd name="T37" fmla="*/ 0 h 240"/>
                  <a:gd name="T38" fmla="*/ 0 w 163"/>
                  <a:gd name="T39" fmla="*/ 0 h 240"/>
                  <a:gd name="T40" fmla="*/ 0 w 163"/>
                  <a:gd name="T41" fmla="*/ 0 h 240"/>
                  <a:gd name="T42" fmla="*/ 0 w 163"/>
                  <a:gd name="T43" fmla="*/ 0 h 240"/>
                  <a:gd name="T44" fmla="*/ 0 w 163"/>
                  <a:gd name="T45" fmla="*/ 0 h 240"/>
                  <a:gd name="T46" fmla="*/ 0 w 163"/>
                  <a:gd name="T47" fmla="*/ 0 h 240"/>
                  <a:gd name="T48" fmla="*/ 0 w 163"/>
                  <a:gd name="T49" fmla="*/ 0 h 240"/>
                  <a:gd name="T50" fmla="*/ 0 w 163"/>
                  <a:gd name="T51" fmla="*/ 0 h 240"/>
                  <a:gd name="T52" fmla="*/ 0 w 163"/>
                  <a:gd name="T53" fmla="*/ 0 h 240"/>
                  <a:gd name="T54" fmla="*/ 0 w 163"/>
                  <a:gd name="T55" fmla="*/ 0 h 240"/>
                  <a:gd name="T56" fmla="*/ 0 w 163"/>
                  <a:gd name="T57" fmla="*/ 0 h 240"/>
                  <a:gd name="T58" fmla="*/ 0 w 163"/>
                  <a:gd name="T59" fmla="*/ 0 h 240"/>
                  <a:gd name="T60" fmla="*/ 0 w 163"/>
                  <a:gd name="T61" fmla="*/ 0 h 240"/>
                  <a:gd name="T62" fmla="*/ 0 w 163"/>
                  <a:gd name="T63" fmla="*/ 0 h 240"/>
                  <a:gd name="T64" fmla="*/ 0 w 163"/>
                  <a:gd name="T65" fmla="*/ 0 h 2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63"/>
                  <a:gd name="T100" fmla="*/ 0 h 240"/>
                  <a:gd name="T101" fmla="*/ 163 w 163"/>
                  <a:gd name="T102" fmla="*/ 240 h 24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63" h="240">
                    <a:moveTo>
                      <a:pt x="163" y="240"/>
                    </a:moveTo>
                    <a:lnTo>
                      <a:pt x="162" y="235"/>
                    </a:lnTo>
                    <a:lnTo>
                      <a:pt x="156" y="225"/>
                    </a:lnTo>
                    <a:lnTo>
                      <a:pt x="145" y="208"/>
                    </a:lnTo>
                    <a:lnTo>
                      <a:pt x="129" y="183"/>
                    </a:lnTo>
                    <a:lnTo>
                      <a:pt x="110" y="150"/>
                    </a:lnTo>
                    <a:lnTo>
                      <a:pt x="89" y="110"/>
                    </a:lnTo>
                    <a:lnTo>
                      <a:pt x="64" y="59"/>
                    </a:lnTo>
                    <a:lnTo>
                      <a:pt x="39" y="0"/>
                    </a:lnTo>
                    <a:lnTo>
                      <a:pt x="34" y="2"/>
                    </a:lnTo>
                    <a:lnTo>
                      <a:pt x="28" y="5"/>
                    </a:lnTo>
                    <a:lnTo>
                      <a:pt x="24" y="7"/>
                    </a:lnTo>
                    <a:lnTo>
                      <a:pt x="19" y="9"/>
                    </a:lnTo>
                    <a:lnTo>
                      <a:pt x="14" y="11"/>
                    </a:lnTo>
                    <a:lnTo>
                      <a:pt x="10" y="13"/>
                    </a:lnTo>
                    <a:lnTo>
                      <a:pt x="5" y="15"/>
                    </a:lnTo>
                    <a:lnTo>
                      <a:pt x="0" y="17"/>
                    </a:lnTo>
                    <a:lnTo>
                      <a:pt x="13" y="48"/>
                    </a:lnTo>
                    <a:lnTo>
                      <a:pt x="26" y="75"/>
                    </a:lnTo>
                    <a:lnTo>
                      <a:pt x="41" y="102"/>
                    </a:lnTo>
                    <a:lnTo>
                      <a:pt x="54" y="124"/>
                    </a:lnTo>
                    <a:lnTo>
                      <a:pt x="68" y="145"/>
                    </a:lnTo>
                    <a:lnTo>
                      <a:pt x="82" y="163"/>
                    </a:lnTo>
                    <a:lnTo>
                      <a:pt x="94" y="180"/>
                    </a:lnTo>
                    <a:lnTo>
                      <a:pt x="106" y="193"/>
                    </a:lnTo>
                    <a:lnTo>
                      <a:pt x="117" y="205"/>
                    </a:lnTo>
                    <a:lnTo>
                      <a:pt x="127" y="215"/>
                    </a:lnTo>
                    <a:lnTo>
                      <a:pt x="138" y="224"/>
                    </a:lnTo>
                    <a:lnTo>
                      <a:pt x="146" y="230"/>
                    </a:lnTo>
                    <a:lnTo>
                      <a:pt x="152" y="234"/>
                    </a:lnTo>
                    <a:lnTo>
                      <a:pt x="158" y="238"/>
                    </a:lnTo>
                    <a:lnTo>
                      <a:pt x="161" y="240"/>
                    </a:lnTo>
                    <a:lnTo>
                      <a:pt x="163" y="240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70" name="Freeform 345">
                <a:extLst>
                  <a:ext uri="{FF2B5EF4-FFF2-40B4-BE49-F238E27FC236}">
                    <a16:creationId xmlns:a16="http://schemas.microsoft.com/office/drawing/2014/main" id="{6CCA7186-D1BA-4F6A-B853-5FF24EFB8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449"/>
                <a:ext cx="2" cy="5"/>
              </a:xfrm>
              <a:custGeom>
                <a:avLst/>
                <a:gdLst>
                  <a:gd name="T0" fmla="*/ 0 w 48"/>
                  <a:gd name="T1" fmla="*/ 0 h 99"/>
                  <a:gd name="T2" fmla="*/ 0 w 48"/>
                  <a:gd name="T3" fmla="*/ 0 h 99"/>
                  <a:gd name="T4" fmla="*/ 0 w 48"/>
                  <a:gd name="T5" fmla="*/ 0 h 99"/>
                  <a:gd name="T6" fmla="*/ 0 w 48"/>
                  <a:gd name="T7" fmla="*/ 0 h 99"/>
                  <a:gd name="T8" fmla="*/ 0 w 48"/>
                  <a:gd name="T9" fmla="*/ 0 h 99"/>
                  <a:gd name="T10" fmla="*/ 0 w 48"/>
                  <a:gd name="T11" fmla="*/ 0 h 99"/>
                  <a:gd name="T12" fmla="*/ 0 w 48"/>
                  <a:gd name="T13" fmla="*/ 0 h 99"/>
                  <a:gd name="T14" fmla="*/ 0 w 48"/>
                  <a:gd name="T15" fmla="*/ 0 h 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8"/>
                  <a:gd name="T25" fmla="*/ 0 h 99"/>
                  <a:gd name="T26" fmla="*/ 48 w 48"/>
                  <a:gd name="T27" fmla="*/ 99 h 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8" h="99">
                    <a:moveTo>
                      <a:pt x="13" y="0"/>
                    </a:moveTo>
                    <a:lnTo>
                      <a:pt x="44" y="76"/>
                    </a:lnTo>
                    <a:lnTo>
                      <a:pt x="48" y="92"/>
                    </a:lnTo>
                    <a:lnTo>
                      <a:pt x="46" y="99"/>
                    </a:lnTo>
                    <a:lnTo>
                      <a:pt x="39" y="96"/>
                    </a:lnTo>
                    <a:lnTo>
                      <a:pt x="31" y="83"/>
                    </a:lnTo>
                    <a:lnTo>
                      <a:pt x="0" y="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339" name="Group 346">
              <a:extLst>
                <a:ext uri="{FF2B5EF4-FFF2-40B4-BE49-F238E27FC236}">
                  <a16:creationId xmlns:a16="http://schemas.microsoft.com/office/drawing/2014/main" id="{E781D7D1-2067-4CBD-8576-93529F0B75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7000" y="5181600"/>
              <a:ext cx="469900" cy="685800"/>
              <a:chOff x="3360" y="3024"/>
              <a:chExt cx="296" cy="432"/>
            </a:xfrm>
          </p:grpSpPr>
          <p:sp>
            <p:nvSpPr>
              <p:cNvPr id="98663" name="Freeform 347">
                <a:extLst>
                  <a:ext uri="{FF2B5EF4-FFF2-40B4-BE49-F238E27FC236}">
                    <a16:creationId xmlns:a16="http://schemas.microsoft.com/office/drawing/2014/main" id="{FBAE1E32-2FE9-432B-82A8-7B60A359B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8"/>
                <a:ext cx="9" cy="5"/>
              </a:xfrm>
              <a:custGeom>
                <a:avLst/>
                <a:gdLst>
                  <a:gd name="T0" fmla="*/ 0 w 206"/>
                  <a:gd name="T1" fmla="*/ 0 h 84"/>
                  <a:gd name="T2" fmla="*/ 0 w 206"/>
                  <a:gd name="T3" fmla="*/ 0 h 84"/>
                  <a:gd name="T4" fmla="*/ 0 w 206"/>
                  <a:gd name="T5" fmla="*/ 0 h 84"/>
                  <a:gd name="T6" fmla="*/ 0 w 206"/>
                  <a:gd name="T7" fmla="*/ 0 h 84"/>
                  <a:gd name="T8" fmla="*/ 0 w 206"/>
                  <a:gd name="T9" fmla="*/ 0 h 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84"/>
                  <a:gd name="T17" fmla="*/ 206 w 206"/>
                  <a:gd name="T18" fmla="*/ 84 h 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84">
                    <a:moveTo>
                      <a:pt x="0" y="67"/>
                    </a:moveTo>
                    <a:lnTo>
                      <a:pt x="199" y="0"/>
                    </a:lnTo>
                    <a:lnTo>
                      <a:pt x="206" y="17"/>
                    </a:lnTo>
                    <a:lnTo>
                      <a:pt x="7" y="84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64" name="Freeform 348">
                <a:extLst>
                  <a:ext uri="{FF2B5EF4-FFF2-40B4-BE49-F238E27FC236}">
                    <a16:creationId xmlns:a16="http://schemas.microsoft.com/office/drawing/2014/main" id="{993D32F3-6BEF-4293-9D6F-97ECB1C54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3450"/>
                <a:ext cx="3" cy="6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"/>
                  <a:gd name="T37" fmla="*/ 0 h 108"/>
                  <a:gd name="T38" fmla="*/ 82 w 82"/>
                  <a:gd name="T39" fmla="*/ 108 h 10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" h="108">
                    <a:moveTo>
                      <a:pt x="45" y="0"/>
                    </a:moveTo>
                    <a:lnTo>
                      <a:pt x="80" y="77"/>
                    </a:lnTo>
                    <a:lnTo>
                      <a:pt x="82" y="87"/>
                    </a:lnTo>
                    <a:lnTo>
                      <a:pt x="80" y="95"/>
                    </a:lnTo>
                    <a:lnTo>
                      <a:pt x="74" y="102"/>
                    </a:lnTo>
                    <a:lnTo>
                      <a:pt x="66" y="106"/>
                    </a:lnTo>
                    <a:lnTo>
                      <a:pt x="57" y="108"/>
                    </a:lnTo>
                    <a:lnTo>
                      <a:pt x="49" y="106"/>
                    </a:lnTo>
                    <a:lnTo>
                      <a:pt x="41" y="102"/>
                    </a:lnTo>
                    <a:lnTo>
                      <a:pt x="35" y="93"/>
                    </a:lnTo>
                    <a:lnTo>
                      <a:pt x="0" y="16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65" name="Freeform 349">
                <a:extLst>
                  <a:ext uri="{FF2B5EF4-FFF2-40B4-BE49-F238E27FC236}">
                    <a16:creationId xmlns:a16="http://schemas.microsoft.com/office/drawing/2014/main" id="{1DD58244-E984-4994-82B9-CC3B89CCF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33"/>
                <a:ext cx="13" cy="18"/>
              </a:xfrm>
              <a:custGeom>
                <a:avLst/>
                <a:gdLst>
                  <a:gd name="T0" fmla="*/ 0 w 293"/>
                  <a:gd name="T1" fmla="*/ 0 h 319"/>
                  <a:gd name="T2" fmla="*/ 0 w 293"/>
                  <a:gd name="T3" fmla="*/ 0 h 319"/>
                  <a:gd name="T4" fmla="*/ 0 w 293"/>
                  <a:gd name="T5" fmla="*/ 0 h 319"/>
                  <a:gd name="T6" fmla="*/ 0 w 293"/>
                  <a:gd name="T7" fmla="*/ 0 h 319"/>
                  <a:gd name="T8" fmla="*/ 0 w 293"/>
                  <a:gd name="T9" fmla="*/ 0 h 319"/>
                  <a:gd name="T10" fmla="*/ 0 w 293"/>
                  <a:gd name="T11" fmla="*/ 0 h 319"/>
                  <a:gd name="T12" fmla="*/ 0 w 293"/>
                  <a:gd name="T13" fmla="*/ 0 h 319"/>
                  <a:gd name="T14" fmla="*/ 0 w 293"/>
                  <a:gd name="T15" fmla="*/ 0 h 319"/>
                  <a:gd name="T16" fmla="*/ 0 w 293"/>
                  <a:gd name="T17" fmla="*/ 0 h 319"/>
                  <a:gd name="T18" fmla="*/ 0 w 293"/>
                  <a:gd name="T19" fmla="*/ 0 h 319"/>
                  <a:gd name="T20" fmla="*/ 0 w 293"/>
                  <a:gd name="T21" fmla="*/ 0 h 319"/>
                  <a:gd name="T22" fmla="*/ 0 w 293"/>
                  <a:gd name="T23" fmla="*/ 0 h 319"/>
                  <a:gd name="T24" fmla="*/ 0 w 293"/>
                  <a:gd name="T25" fmla="*/ 0 h 319"/>
                  <a:gd name="T26" fmla="*/ 0 w 293"/>
                  <a:gd name="T27" fmla="*/ 0 h 319"/>
                  <a:gd name="T28" fmla="*/ 0 w 293"/>
                  <a:gd name="T29" fmla="*/ 0 h 319"/>
                  <a:gd name="T30" fmla="*/ 0 w 293"/>
                  <a:gd name="T31" fmla="*/ 0 h 319"/>
                  <a:gd name="T32" fmla="*/ 0 w 293"/>
                  <a:gd name="T33" fmla="*/ 0 h 319"/>
                  <a:gd name="T34" fmla="*/ 0 w 293"/>
                  <a:gd name="T35" fmla="*/ 0 h 319"/>
                  <a:gd name="T36" fmla="*/ 0 w 293"/>
                  <a:gd name="T37" fmla="*/ 0 h 319"/>
                  <a:gd name="T38" fmla="*/ 0 w 293"/>
                  <a:gd name="T39" fmla="*/ 0 h 319"/>
                  <a:gd name="T40" fmla="*/ 0 w 293"/>
                  <a:gd name="T41" fmla="*/ 0 h 319"/>
                  <a:gd name="T42" fmla="*/ 0 w 293"/>
                  <a:gd name="T43" fmla="*/ 0 h 319"/>
                  <a:gd name="T44" fmla="*/ 0 w 293"/>
                  <a:gd name="T45" fmla="*/ 0 h 319"/>
                  <a:gd name="T46" fmla="*/ 0 w 293"/>
                  <a:gd name="T47" fmla="*/ 0 h 319"/>
                  <a:gd name="T48" fmla="*/ 0 w 293"/>
                  <a:gd name="T49" fmla="*/ 0 h 319"/>
                  <a:gd name="T50" fmla="*/ 0 w 293"/>
                  <a:gd name="T51" fmla="*/ 0 h 319"/>
                  <a:gd name="T52" fmla="*/ 0 w 293"/>
                  <a:gd name="T53" fmla="*/ 0 h 319"/>
                  <a:gd name="T54" fmla="*/ 0 w 293"/>
                  <a:gd name="T55" fmla="*/ 0 h 319"/>
                  <a:gd name="T56" fmla="*/ 0 w 293"/>
                  <a:gd name="T57" fmla="*/ 0 h 319"/>
                  <a:gd name="T58" fmla="*/ 0 w 293"/>
                  <a:gd name="T59" fmla="*/ 0 h 319"/>
                  <a:gd name="T60" fmla="*/ 0 w 293"/>
                  <a:gd name="T61" fmla="*/ 0 h 319"/>
                  <a:gd name="T62" fmla="*/ 0 w 293"/>
                  <a:gd name="T63" fmla="*/ 0 h 319"/>
                  <a:gd name="T64" fmla="*/ 0 w 293"/>
                  <a:gd name="T65" fmla="*/ 0 h 319"/>
                  <a:gd name="T66" fmla="*/ 0 w 293"/>
                  <a:gd name="T67" fmla="*/ 0 h 319"/>
                  <a:gd name="T68" fmla="*/ 0 w 293"/>
                  <a:gd name="T69" fmla="*/ 0 h 319"/>
                  <a:gd name="T70" fmla="*/ 0 w 293"/>
                  <a:gd name="T71" fmla="*/ 0 h 319"/>
                  <a:gd name="T72" fmla="*/ 0 w 293"/>
                  <a:gd name="T73" fmla="*/ 0 h 319"/>
                  <a:gd name="T74" fmla="*/ 0 w 293"/>
                  <a:gd name="T75" fmla="*/ 0 h 319"/>
                  <a:gd name="T76" fmla="*/ 0 w 293"/>
                  <a:gd name="T77" fmla="*/ 0 h 319"/>
                  <a:gd name="T78" fmla="*/ 0 w 293"/>
                  <a:gd name="T79" fmla="*/ 0 h 319"/>
                  <a:gd name="T80" fmla="*/ 0 w 293"/>
                  <a:gd name="T81" fmla="*/ 0 h 31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93"/>
                  <a:gd name="T124" fmla="*/ 0 h 319"/>
                  <a:gd name="T125" fmla="*/ 293 w 293"/>
                  <a:gd name="T126" fmla="*/ 319 h 31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93" h="319">
                    <a:moveTo>
                      <a:pt x="247" y="317"/>
                    </a:moveTo>
                    <a:lnTo>
                      <a:pt x="261" y="307"/>
                    </a:lnTo>
                    <a:lnTo>
                      <a:pt x="275" y="287"/>
                    </a:lnTo>
                    <a:lnTo>
                      <a:pt x="285" y="256"/>
                    </a:lnTo>
                    <a:lnTo>
                      <a:pt x="292" y="218"/>
                    </a:lnTo>
                    <a:lnTo>
                      <a:pt x="293" y="173"/>
                    </a:lnTo>
                    <a:lnTo>
                      <a:pt x="288" y="120"/>
                    </a:lnTo>
                    <a:lnTo>
                      <a:pt x="274" y="62"/>
                    </a:lnTo>
                    <a:lnTo>
                      <a:pt x="251" y="0"/>
                    </a:lnTo>
                    <a:lnTo>
                      <a:pt x="235" y="5"/>
                    </a:lnTo>
                    <a:lnTo>
                      <a:pt x="219" y="10"/>
                    </a:lnTo>
                    <a:lnTo>
                      <a:pt x="204" y="17"/>
                    </a:lnTo>
                    <a:lnTo>
                      <a:pt x="188" y="22"/>
                    </a:lnTo>
                    <a:lnTo>
                      <a:pt x="172" y="28"/>
                    </a:lnTo>
                    <a:lnTo>
                      <a:pt x="157" y="34"/>
                    </a:lnTo>
                    <a:lnTo>
                      <a:pt x="140" y="40"/>
                    </a:lnTo>
                    <a:lnTo>
                      <a:pt x="125" y="45"/>
                    </a:lnTo>
                    <a:lnTo>
                      <a:pt x="110" y="52"/>
                    </a:lnTo>
                    <a:lnTo>
                      <a:pt x="94" y="58"/>
                    </a:lnTo>
                    <a:lnTo>
                      <a:pt x="78" y="63"/>
                    </a:lnTo>
                    <a:lnTo>
                      <a:pt x="63" y="69"/>
                    </a:lnTo>
                    <a:lnTo>
                      <a:pt x="47" y="75"/>
                    </a:lnTo>
                    <a:lnTo>
                      <a:pt x="31" y="81"/>
                    </a:lnTo>
                    <a:lnTo>
                      <a:pt x="15" y="86"/>
                    </a:lnTo>
                    <a:lnTo>
                      <a:pt x="0" y="92"/>
                    </a:lnTo>
                    <a:lnTo>
                      <a:pt x="15" y="122"/>
                    </a:lnTo>
                    <a:lnTo>
                      <a:pt x="30" y="152"/>
                    </a:lnTo>
                    <a:lnTo>
                      <a:pt x="48" y="177"/>
                    </a:lnTo>
                    <a:lnTo>
                      <a:pt x="65" y="201"/>
                    </a:lnTo>
                    <a:lnTo>
                      <a:pt x="82" y="222"/>
                    </a:lnTo>
                    <a:lnTo>
                      <a:pt x="101" y="242"/>
                    </a:lnTo>
                    <a:lnTo>
                      <a:pt x="119" y="259"/>
                    </a:lnTo>
                    <a:lnTo>
                      <a:pt x="136" y="274"/>
                    </a:lnTo>
                    <a:lnTo>
                      <a:pt x="154" y="287"/>
                    </a:lnTo>
                    <a:lnTo>
                      <a:pt x="171" y="297"/>
                    </a:lnTo>
                    <a:lnTo>
                      <a:pt x="186" y="306"/>
                    </a:lnTo>
                    <a:lnTo>
                      <a:pt x="202" y="312"/>
                    </a:lnTo>
                    <a:lnTo>
                      <a:pt x="215" y="316"/>
                    </a:lnTo>
                    <a:lnTo>
                      <a:pt x="227" y="318"/>
                    </a:lnTo>
                    <a:lnTo>
                      <a:pt x="238" y="319"/>
                    </a:lnTo>
                    <a:lnTo>
                      <a:pt x="247" y="31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66" name="Freeform 350">
                <a:extLst>
                  <a:ext uri="{FF2B5EF4-FFF2-40B4-BE49-F238E27FC236}">
                    <a16:creationId xmlns:a16="http://schemas.microsoft.com/office/drawing/2014/main" id="{46E5726A-6D1F-4C79-8D7E-25C37EA356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9"/>
                <a:ext cx="60" cy="139"/>
              </a:xfrm>
              <a:custGeom>
                <a:avLst/>
                <a:gdLst>
                  <a:gd name="T0" fmla="*/ 0 w 1314"/>
                  <a:gd name="T1" fmla="*/ 0 h 2506"/>
                  <a:gd name="T2" fmla="*/ 0 w 1314"/>
                  <a:gd name="T3" fmla="*/ 0 h 2506"/>
                  <a:gd name="T4" fmla="*/ 0 w 1314"/>
                  <a:gd name="T5" fmla="*/ 0 h 2506"/>
                  <a:gd name="T6" fmla="*/ 0 w 1314"/>
                  <a:gd name="T7" fmla="*/ 0 h 2506"/>
                  <a:gd name="T8" fmla="*/ 0 w 1314"/>
                  <a:gd name="T9" fmla="*/ 0 h 25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4"/>
                  <a:gd name="T16" fmla="*/ 0 h 2506"/>
                  <a:gd name="T17" fmla="*/ 1314 w 1314"/>
                  <a:gd name="T18" fmla="*/ 2506 h 25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4" h="2506">
                    <a:moveTo>
                      <a:pt x="198" y="0"/>
                    </a:moveTo>
                    <a:lnTo>
                      <a:pt x="0" y="66"/>
                    </a:lnTo>
                    <a:lnTo>
                      <a:pt x="1064" y="2506"/>
                    </a:lnTo>
                    <a:lnTo>
                      <a:pt x="1314" y="2421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67" name="Freeform 351">
                <a:extLst>
                  <a:ext uri="{FF2B5EF4-FFF2-40B4-BE49-F238E27FC236}">
                    <a16:creationId xmlns:a16="http://schemas.microsoft.com/office/drawing/2014/main" id="{63C063F6-269E-441B-8600-85A3CC9D0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3292"/>
                <a:ext cx="11" cy="10"/>
              </a:xfrm>
              <a:custGeom>
                <a:avLst/>
                <a:gdLst>
                  <a:gd name="T0" fmla="*/ 0 w 235"/>
                  <a:gd name="T1" fmla="*/ 0 h 179"/>
                  <a:gd name="T2" fmla="*/ 0 w 235"/>
                  <a:gd name="T3" fmla="*/ 0 h 179"/>
                  <a:gd name="T4" fmla="*/ 0 w 235"/>
                  <a:gd name="T5" fmla="*/ 0 h 179"/>
                  <a:gd name="T6" fmla="*/ 0 w 235"/>
                  <a:gd name="T7" fmla="*/ 0 h 179"/>
                  <a:gd name="T8" fmla="*/ 0 w 235"/>
                  <a:gd name="T9" fmla="*/ 0 h 179"/>
                  <a:gd name="T10" fmla="*/ 0 w 235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179"/>
                  <a:gd name="T20" fmla="*/ 235 w 235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179">
                    <a:moveTo>
                      <a:pt x="235" y="111"/>
                    </a:moveTo>
                    <a:lnTo>
                      <a:pt x="36" y="179"/>
                    </a:lnTo>
                    <a:lnTo>
                      <a:pt x="0" y="97"/>
                    </a:lnTo>
                    <a:lnTo>
                      <a:pt x="70" y="0"/>
                    </a:lnTo>
                    <a:lnTo>
                      <a:pt x="199" y="30"/>
                    </a:lnTo>
                    <a:lnTo>
                      <a:pt x="235" y="111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68" name="Freeform 352">
                <a:extLst>
                  <a:ext uri="{FF2B5EF4-FFF2-40B4-BE49-F238E27FC236}">
                    <a16:creationId xmlns:a16="http://schemas.microsoft.com/office/drawing/2014/main" id="{A5E8C5D2-4464-4EE8-B4D3-D7B7F04A0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103"/>
                <a:ext cx="208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6"/>
                    </a:moveTo>
                    <a:lnTo>
                      <a:pt x="3650" y="0"/>
                    </a:lnTo>
                    <a:lnTo>
                      <a:pt x="4569" y="1998"/>
                    </a:lnTo>
                    <a:lnTo>
                      <a:pt x="873" y="3641"/>
                    </a:lnTo>
                    <a:lnTo>
                      <a:pt x="0" y="162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69" name="Freeform 353">
                <a:extLst>
                  <a:ext uri="{FF2B5EF4-FFF2-40B4-BE49-F238E27FC236}">
                    <a16:creationId xmlns:a16="http://schemas.microsoft.com/office/drawing/2014/main" id="{DF2F1D92-0066-4B8C-93F2-003AF62A6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5" y="3045"/>
                <a:ext cx="271" cy="393"/>
              </a:xfrm>
              <a:custGeom>
                <a:avLst/>
                <a:gdLst>
                  <a:gd name="T0" fmla="*/ 0 w 5957"/>
                  <a:gd name="T1" fmla="*/ 0 h 7066"/>
                  <a:gd name="T2" fmla="*/ 0 w 5957"/>
                  <a:gd name="T3" fmla="*/ 0 h 7066"/>
                  <a:gd name="T4" fmla="*/ 0 w 5957"/>
                  <a:gd name="T5" fmla="*/ 0 h 7066"/>
                  <a:gd name="T6" fmla="*/ 0 w 5957"/>
                  <a:gd name="T7" fmla="*/ 0 h 7066"/>
                  <a:gd name="T8" fmla="*/ 0 w 5957"/>
                  <a:gd name="T9" fmla="*/ 0 h 7066"/>
                  <a:gd name="T10" fmla="*/ 0 w 5957"/>
                  <a:gd name="T11" fmla="*/ 0 h 7066"/>
                  <a:gd name="T12" fmla="*/ 0 w 5957"/>
                  <a:gd name="T13" fmla="*/ 0 h 7066"/>
                  <a:gd name="T14" fmla="*/ 0 w 5957"/>
                  <a:gd name="T15" fmla="*/ 0 h 7066"/>
                  <a:gd name="T16" fmla="*/ 0 w 5957"/>
                  <a:gd name="T17" fmla="*/ 0 h 7066"/>
                  <a:gd name="T18" fmla="*/ 0 w 5957"/>
                  <a:gd name="T19" fmla="*/ 0 h 7066"/>
                  <a:gd name="T20" fmla="*/ 0 w 5957"/>
                  <a:gd name="T21" fmla="*/ 0 h 7066"/>
                  <a:gd name="T22" fmla="*/ 0 w 5957"/>
                  <a:gd name="T23" fmla="*/ 0 h 7066"/>
                  <a:gd name="T24" fmla="*/ 0 w 5957"/>
                  <a:gd name="T25" fmla="*/ 0 h 7066"/>
                  <a:gd name="T26" fmla="*/ 0 w 5957"/>
                  <a:gd name="T27" fmla="*/ 0 h 7066"/>
                  <a:gd name="T28" fmla="*/ 0 w 5957"/>
                  <a:gd name="T29" fmla="*/ 0 h 7066"/>
                  <a:gd name="T30" fmla="*/ 0 w 5957"/>
                  <a:gd name="T31" fmla="*/ 0 h 7066"/>
                  <a:gd name="T32" fmla="*/ 0 w 5957"/>
                  <a:gd name="T33" fmla="*/ 0 h 7066"/>
                  <a:gd name="T34" fmla="*/ 0 w 5957"/>
                  <a:gd name="T35" fmla="*/ 0 h 7066"/>
                  <a:gd name="T36" fmla="*/ 0 w 5957"/>
                  <a:gd name="T37" fmla="*/ 0 h 7066"/>
                  <a:gd name="T38" fmla="*/ 0 w 5957"/>
                  <a:gd name="T39" fmla="*/ 0 h 7066"/>
                  <a:gd name="T40" fmla="*/ 0 w 5957"/>
                  <a:gd name="T41" fmla="*/ 0 h 7066"/>
                  <a:gd name="T42" fmla="*/ 0 w 5957"/>
                  <a:gd name="T43" fmla="*/ 0 h 7066"/>
                  <a:gd name="T44" fmla="*/ 0 w 5957"/>
                  <a:gd name="T45" fmla="*/ 0 h 7066"/>
                  <a:gd name="T46" fmla="*/ 0 w 5957"/>
                  <a:gd name="T47" fmla="*/ 0 h 7066"/>
                  <a:gd name="T48" fmla="*/ 0 w 5957"/>
                  <a:gd name="T49" fmla="*/ 0 h 7066"/>
                  <a:gd name="T50" fmla="*/ 0 w 5957"/>
                  <a:gd name="T51" fmla="*/ 0 h 7066"/>
                  <a:gd name="T52" fmla="*/ 0 w 5957"/>
                  <a:gd name="T53" fmla="*/ 0 h 7066"/>
                  <a:gd name="T54" fmla="*/ 0 w 5957"/>
                  <a:gd name="T55" fmla="*/ 0 h 7066"/>
                  <a:gd name="T56" fmla="*/ 0 w 5957"/>
                  <a:gd name="T57" fmla="*/ 0 h 7066"/>
                  <a:gd name="T58" fmla="*/ 0 w 5957"/>
                  <a:gd name="T59" fmla="*/ 0 h 7066"/>
                  <a:gd name="T60" fmla="*/ 0 w 5957"/>
                  <a:gd name="T61" fmla="*/ 0 h 7066"/>
                  <a:gd name="T62" fmla="*/ 0 w 5957"/>
                  <a:gd name="T63" fmla="*/ 0 h 7066"/>
                  <a:gd name="T64" fmla="*/ 0 w 5957"/>
                  <a:gd name="T65" fmla="*/ 0 h 7066"/>
                  <a:gd name="T66" fmla="*/ 0 w 5957"/>
                  <a:gd name="T67" fmla="*/ 0 h 7066"/>
                  <a:gd name="T68" fmla="*/ 0 w 5957"/>
                  <a:gd name="T69" fmla="*/ 0 h 7066"/>
                  <a:gd name="T70" fmla="*/ 0 w 5957"/>
                  <a:gd name="T71" fmla="*/ 0 h 7066"/>
                  <a:gd name="T72" fmla="*/ 0 w 5957"/>
                  <a:gd name="T73" fmla="*/ 0 h 706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6"/>
                  <a:gd name="T113" fmla="*/ 5957 w 5957"/>
                  <a:gd name="T114" fmla="*/ 7066 h 706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6">
                    <a:moveTo>
                      <a:pt x="2496" y="7056"/>
                    </a:moveTo>
                    <a:lnTo>
                      <a:pt x="5894" y="5433"/>
                    </a:lnTo>
                    <a:lnTo>
                      <a:pt x="5912" y="5421"/>
                    </a:lnTo>
                    <a:lnTo>
                      <a:pt x="5927" y="5407"/>
                    </a:lnTo>
                    <a:lnTo>
                      <a:pt x="5941" y="5389"/>
                    </a:lnTo>
                    <a:lnTo>
                      <a:pt x="5950" y="5369"/>
                    </a:lnTo>
                    <a:lnTo>
                      <a:pt x="5955" y="5348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5"/>
                    </a:lnTo>
                    <a:lnTo>
                      <a:pt x="3492" y="47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9"/>
                    </a:lnTo>
                    <a:lnTo>
                      <a:pt x="3420" y="3"/>
                    </a:lnTo>
                    <a:lnTo>
                      <a:pt x="3399" y="0"/>
                    </a:lnTo>
                    <a:lnTo>
                      <a:pt x="3377" y="3"/>
                    </a:lnTo>
                    <a:lnTo>
                      <a:pt x="3357" y="9"/>
                    </a:lnTo>
                    <a:lnTo>
                      <a:pt x="63" y="1487"/>
                    </a:lnTo>
                    <a:lnTo>
                      <a:pt x="45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6"/>
                    </a:lnTo>
                    <a:lnTo>
                      <a:pt x="9" y="1637"/>
                    </a:lnTo>
                    <a:lnTo>
                      <a:pt x="2350" y="7000"/>
                    </a:lnTo>
                    <a:lnTo>
                      <a:pt x="2361" y="7018"/>
                    </a:lnTo>
                    <a:lnTo>
                      <a:pt x="2376" y="7034"/>
                    </a:lnTo>
                    <a:lnTo>
                      <a:pt x="2393" y="7048"/>
                    </a:lnTo>
                    <a:lnTo>
                      <a:pt x="2412" y="7057"/>
                    </a:lnTo>
                    <a:lnTo>
                      <a:pt x="2433" y="7064"/>
                    </a:lnTo>
                    <a:lnTo>
                      <a:pt x="2454" y="7066"/>
                    </a:lnTo>
                    <a:lnTo>
                      <a:pt x="2476" y="7064"/>
                    </a:lnTo>
                    <a:lnTo>
                      <a:pt x="2496" y="705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0" name="Freeform 354">
                <a:extLst>
                  <a:ext uri="{FF2B5EF4-FFF2-40B4-BE49-F238E27FC236}">
                    <a16:creationId xmlns:a16="http://schemas.microsoft.com/office/drawing/2014/main" id="{6CDB58C6-378D-478C-8E41-DC2516881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096"/>
                <a:ext cx="51" cy="121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7" y="2127"/>
                    </a:moveTo>
                    <a:lnTo>
                      <a:pt x="0" y="131"/>
                    </a:lnTo>
                    <a:lnTo>
                      <a:pt x="33" y="0"/>
                    </a:lnTo>
                    <a:lnTo>
                      <a:pt x="70" y="14"/>
                    </a:lnTo>
                    <a:lnTo>
                      <a:pt x="106" y="29"/>
                    </a:lnTo>
                    <a:lnTo>
                      <a:pt x="143" y="44"/>
                    </a:lnTo>
                    <a:lnTo>
                      <a:pt x="180" y="61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8" y="159"/>
                    </a:lnTo>
                    <a:lnTo>
                      <a:pt x="393" y="181"/>
                    </a:lnTo>
                    <a:lnTo>
                      <a:pt x="428" y="204"/>
                    </a:lnTo>
                    <a:lnTo>
                      <a:pt x="461" y="228"/>
                    </a:lnTo>
                    <a:lnTo>
                      <a:pt x="495" y="252"/>
                    </a:lnTo>
                    <a:lnTo>
                      <a:pt x="528" y="279"/>
                    </a:lnTo>
                    <a:lnTo>
                      <a:pt x="560" y="305"/>
                    </a:lnTo>
                    <a:lnTo>
                      <a:pt x="592" y="333"/>
                    </a:lnTo>
                    <a:lnTo>
                      <a:pt x="624" y="361"/>
                    </a:lnTo>
                    <a:lnTo>
                      <a:pt x="654" y="389"/>
                    </a:lnTo>
                    <a:lnTo>
                      <a:pt x="684" y="419"/>
                    </a:lnTo>
                    <a:lnTo>
                      <a:pt x="713" y="450"/>
                    </a:lnTo>
                    <a:lnTo>
                      <a:pt x="742" y="481"/>
                    </a:lnTo>
                    <a:lnTo>
                      <a:pt x="769" y="513"/>
                    </a:lnTo>
                    <a:lnTo>
                      <a:pt x="796" y="545"/>
                    </a:lnTo>
                    <a:lnTo>
                      <a:pt x="822" y="578"/>
                    </a:lnTo>
                    <a:lnTo>
                      <a:pt x="847" y="612"/>
                    </a:lnTo>
                    <a:lnTo>
                      <a:pt x="871" y="647"/>
                    </a:lnTo>
                    <a:lnTo>
                      <a:pt x="895" y="681"/>
                    </a:lnTo>
                    <a:lnTo>
                      <a:pt x="917" y="717"/>
                    </a:lnTo>
                    <a:lnTo>
                      <a:pt x="939" y="754"/>
                    </a:lnTo>
                    <a:lnTo>
                      <a:pt x="959" y="791"/>
                    </a:lnTo>
                    <a:lnTo>
                      <a:pt x="979" y="828"/>
                    </a:lnTo>
                    <a:lnTo>
                      <a:pt x="997" y="866"/>
                    </a:lnTo>
                    <a:lnTo>
                      <a:pt x="1026" y="938"/>
                    </a:lnTo>
                    <a:lnTo>
                      <a:pt x="1053" y="1015"/>
                    </a:lnTo>
                    <a:lnTo>
                      <a:pt x="1075" y="1096"/>
                    </a:lnTo>
                    <a:lnTo>
                      <a:pt x="1095" y="1180"/>
                    </a:lnTo>
                    <a:lnTo>
                      <a:pt x="1110" y="1267"/>
                    </a:lnTo>
                    <a:lnTo>
                      <a:pt x="1121" y="1356"/>
                    </a:lnTo>
                    <a:lnTo>
                      <a:pt x="1130" y="1446"/>
                    </a:lnTo>
                    <a:lnTo>
                      <a:pt x="1134" y="1536"/>
                    </a:lnTo>
                    <a:lnTo>
                      <a:pt x="1134" y="1626"/>
                    </a:lnTo>
                    <a:lnTo>
                      <a:pt x="1131" y="1716"/>
                    </a:lnTo>
                    <a:lnTo>
                      <a:pt x="1122" y="1802"/>
                    </a:lnTo>
                    <a:lnTo>
                      <a:pt x="1111" y="1886"/>
                    </a:lnTo>
                    <a:lnTo>
                      <a:pt x="1096" y="1967"/>
                    </a:lnTo>
                    <a:lnTo>
                      <a:pt x="1076" y="2044"/>
                    </a:lnTo>
                    <a:lnTo>
                      <a:pt x="1053" y="2115"/>
                    </a:lnTo>
                    <a:lnTo>
                      <a:pt x="1025" y="2180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1" name="Freeform 355">
                <a:extLst>
                  <a:ext uri="{FF2B5EF4-FFF2-40B4-BE49-F238E27FC236}">
                    <a16:creationId xmlns:a16="http://schemas.microsoft.com/office/drawing/2014/main" id="{8B119AFC-B848-48D9-8E1F-F1417280A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3082"/>
                <a:ext cx="207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5"/>
                    </a:moveTo>
                    <a:lnTo>
                      <a:pt x="3650" y="0"/>
                    </a:lnTo>
                    <a:lnTo>
                      <a:pt x="4569" y="1997"/>
                    </a:lnTo>
                    <a:lnTo>
                      <a:pt x="873" y="3641"/>
                    </a:lnTo>
                    <a:lnTo>
                      <a:pt x="0" y="1625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2" name="Freeform 356">
                <a:extLst>
                  <a:ext uri="{FF2B5EF4-FFF2-40B4-BE49-F238E27FC236}">
                    <a16:creationId xmlns:a16="http://schemas.microsoft.com/office/drawing/2014/main" id="{A7D1F75D-98B1-4BF5-BABA-4B98BD924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271" cy="393"/>
              </a:xfrm>
              <a:custGeom>
                <a:avLst/>
                <a:gdLst>
                  <a:gd name="T0" fmla="*/ 0 w 5957"/>
                  <a:gd name="T1" fmla="*/ 0 h 7065"/>
                  <a:gd name="T2" fmla="*/ 0 w 5957"/>
                  <a:gd name="T3" fmla="*/ 0 h 7065"/>
                  <a:gd name="T4" fmla="*/ 0 w 5957"/>
                  <a:gd name="T5" fmla="*/ 0 h 7065"/>
                  <a:gd name="T6" fmla="*/ 0 w 5957"/>
                  <a:gd name="T7" fmla="*/ 0 h 7065"/>
                  <a:gd name="T8" fmla="*/ 0 w 5957"/>
                  <a:gd name="T9" fmla="*/ 0 h 7065"/>
                  <a:gd name="T10" fmla="*/ 0 w 5957"/>
                  <a:gd name="T11" fmla="*/ 0 h 7065"/>
                  <a:gd name="T12" fmla="*/ 0 w 5957"/>
                  <a:gd name="T13" fmla="*/ 0 h 7065"/>
                  <a:gd name="T14" fmla="*/ 0 w 5957"/>
                  <a:gd name="T15" fmla="*/ 0 h 7065"/>
                  <a:gd name="T16" fmla="*/ 0 w 5957"/>
                  <a:gd name="T17" fmla="*/ 0 h 7065"/>
                  <a:gd name="T18" fmla="*/ 0 w 5957"/>
                  <a:gd name="T19" fmla="*/ 0 h 7065"/>
                  <a:gd name="T20" fmla="*/ 0 w 5957"/>
                  <a:gd name="T21" fmla="*/ 0 h 7065"/>
                  <a:gd name="T22" fmla="*/ 0 w 5957"/>
                  <a:gd name="T23" fmla="*/ 0 h 7065"/>
                  <a:gd name="T24" fmla="*/ 0 w 5957"/>
                  <a:gd name="T25" fmla="*/ 0 h 7065"/>
                  <a:gd name="T26" fmla="*/ 0 w 5957"/>
                  <a:gd name="T27" fmla="*/ 0 h 7065"/>
                  <a:gd name="T28" fmla="*/ 0 w 5957"/>
                  <a:gd name="T29" fmla="*/ 0 h 7065"/>
                  <a:gd name="T30" fmla="*/ 0 w 5957"/>
                  <a:gd name="T31" fmla="*/ 0 h 7065"/>
                  <a:gd name="T32" fmla="*/ 0 w 5957"/>
                  <a:gd name="T33" fmla="*/ 0 h 7065"/>
                  <a:gd name="T34" fmla="*/ 0 w 5957"/>
                  <a:gd name="T35" fmla="*/ 0 h 7065"/>
                  <a:gd name="T36" fmla="*/ 0 w 5957"/>
                  <a:gd name="T37" fmla="*/ 0 h 7065"/>
                  <a:gd name="T38" fmla="*/ 0 w 5957"/>
                  <a:gd name="T39" fmla="*/ 0 h 7065"/>
                  <a:gd name="T40" fmla="*/ 0 w 5957"/>
                  <a:gd name="T41" fmla="*/ 0 h 7065"/>
                  <a:gd name="T42" fmla="*/ 0 w 5957"/>
                  <a:gd name="T43" fmla="*/ 0 h 7065"/>
                  <a:gd name="T44" fmla="*/ 0 w 5957"/>
                  <a:gd name="T45" fmla="*/ 0 h 7065"/>
                  <a:gd name="T46" fmla="*/ 0 w 5957"/>
                  <a:gd name="T47" fmla="*/ 0 h 7065"/>
                  <a:gd name="T48" fmla="*/ 0 w 5957"/>
                  <a:gd name="T49" fmla="*/ 0 h 7065"/>
                  <a:gd name="T50" fmla="*/ 0 w 5957"/>
                  <a:gd name="T51" fmla="*/ 0 h 7065"/>
                  <a:gd name="T52" fmla="*/ 0 w 5957"/>
                  <a:gd name="T53" fmla="*/ 0 h 7065"/>
                  <a:gd name="T54" fmla="*/ 0 w 5957"/>
                  <a:gd name="T55" fmla="*/ 0 h 7065"/>
                  <a:gd name="T56" fmla="*/ 0 w 5957"/>
                  <a:gd name="T57" fmla="*/ 0 h 7065"/>
                  <a:gd name="T58" fmla="*/ 0 w 5957"/>
                  <a:gd name="T59" fmla="*/ 0 h 7065"/>
                  <a:gd name="T60" fmla="*/ 0 w 5957"/>
                  <a:gd name="T61" fmla="*/ 0 h 7065"/>
                  <a:gd name="T62" fmla="*/ 0 w 5957"/>
                  <a:gd name="T63" fmla="*/ 0 h 7065"/>
                  <a:gd name="T64" fmla="*/ 0 w 5957"/>
                  <a:gd name="T65" fmla="*/ 0 h 7065"/>
                  <a:gd name="T66" fmla="*/ 0 w 5957"/>
                  <a:gd name="T67" fmla="*/ 0 h 7065"/>
                  <a:gd name="T68" fmla="*/ 0 w 5957"/>
                  <a:gd name="T69" fmla="*/ 0 h 7065"/>
                  <a:gd name="T70" fmla="*/ 0 w 5957"/>
                  <a:gd name="T71" fmla="*/ 0 h 7065"/>
                  <a:gd name="T72" fmla="*/ 0 w 5957"/>
                  <a:gd name="T73" fmla="*/ 0 h 70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5"/>
                  <a:gd name="T113" fmla="*/ 5957 w 5957"/>
                  <a:gd name="T114" fmla="*/ 7065 h 70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5">
                    <a:moveTo>
                      <a:pt x="2497" y="7056"/>
                    </a:moveTo>
                    <a:lnTo>
                      <a:pt x="5894" y="5432"/>
                    </a:lnTo>
                    <a:lnTo>
                      <a:pt x="5912" y="5421"/>
                    </a:lnTo>
                    <a:lnTo>
                      <a:pt x="5928" y="5406"/>
                    </a:lnTo>
                    <a:lnTo>
                      <a:pt x="5941" y="5388"/>
                    </a:lnTo>
                    <a:lnTo>
                      <a:pt x="5950" y="5368"/>
                    </a:lnTo>
                    <a:lnTo>
                      <a:pt x="5955" y="5347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4"/>
                    </a:lnTo>
                    <a:lnTo>
                      <a:pt x="3492" y="46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8"/>
                    </a:lnTo>
                    <a:lnTo>
                      <a:pt x="3420" y="2"/>
                    </a:lnTo>
                    <a:lnTo>
                      <a:pt x="3399" y="0"/>
                    </a:lnTo>
                    <a:lnTo>
                      <a:pt x="3377" y="2"/>
                    </a:lnTo>
                    <a:lnTo>
                      <a:pt x="3357" y="8"/>
                    </a:lnTo>
                    <a:lnTo>
                      <a:pt x="63" y="1486"/>
                    </a:lnTo>
                    <a:lnTo>
                      <a:pt x="45" y="1497"/>
                    </a:lnTo>
                    <a:lnTo>
                      <a:pt x="30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5"/>
                    </a:lnTo>
                    <a:lnTo>
                      <a:pt x="9" y="1636"/>
                    </a:lnTo>
                    <a:lnTo>
                      <a:pt x="2351" y="6999"/>
                    </a:lnTo>
                    <a:lnTo>
                      <a:pt x="2362" y="7018"/>
                    </a:lnTo>
                    <a:lnTo>
                      <a:pt x="2377" y="7034"/>
                    </a:lnTo>
                    <a:lnTo>
                      <a:pt x="2394" y="7048"/>
                    </a:lnTo>
                    <a:lnTo>
                      <a:pt x="2413" y="7057"/>
                    </a:lnTo>
                    <a:lnTo>
                      <a:pt x="2434" y="7063"/>
                    </a:lnTo>
                    <a:lnTo>
                      <a:pt x="2455" y="7065"/>
                    </a:lnTo>
                    <a:lnTo>
                      <a:pt x="2477" y="7063"/>
                    </a:lnTo>
                    <a:lnTo>
                      <a:pt x="2497" y="70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3" name="Freeform 357">
                <a:extLst>
                  <a:ext uri="{FF2B5EF4-FFF2-40B4-BE49-F238E27FC236}">
                    <a16:creationId xmlns:a16="http://schemas.microsoft.com/office/drawing/2014/main" id="{C9E7A8E5-956B-4234-82D1-D58CA74D0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2" cy="99"/>
              </a:xfrm>
              <a:custGeom>
                <a:avLst/>
                <a:gdLst>
                  <a:gd name="T0" fmla="*/ 0 w 3562"/>
                  <a:gd name="T1" fmla="*/ 0 h 1773"/>
                  <a:gd name="T2" fmla="*/ 0 w 3562"/>
                  <a:gd name="T3" fmla="*/ 0 h 1773"/>
                  <a:gd name="T4" fmla="*/ 0 w 3562"/>
                  <a:gd name="T5" fmla="*/ 0 h 1773"/>
                  <a:gd name="T6" fmla="*/ 0 w 3562"/>
                  <a:gd name="T7" fmla="*/ 0 h 1773"/>
                  <a:gd name="T8" fmla="*/ 0 w 3562"/>
                  <a:gd name="T9" fmla="*/ 0 h 1773"/>
                  <a:gd name="T10" fmla="*/ 0 w 3562"/>
                  <a:gd name="T11" fmla="*/ 0 h 1773"/>
                  <a:gd name="T12" fmla="*/ 0 w 3562"/>
                  <a:gd name="T13" fmla="*/ 0 h 1773"/>
                  <a:gd name="T14" fmla="*/ 0 w 3562"/>
                  <a:gd name="T15" fmla="*/ 0 h 1773"/>
                  <a:gd name="T16" fmla="*/ 0 w 3562"/>
                  <a:gd name="T17" fmla="*/ 0 h 1773"/>
                  <a:gd name="T18" fmla="*/ 0 w 3562"/>
                  <a:gd name="T19" fmla="*/ 0 h 1773"/>
                  <a:gd name="T20" fmla="*/ 0 w 3562"/>
                  <a:gd name="T21" fmla="*/ 0 h 1773"/>
                  <a:gd name="T22" fmla="*/ 0 w 3562"/>
                  <a:gd name="T23" fmla="*/ 0 h 1773"/>
                  <a:gd name="T24" fmla="*/ 0 w 3562"/>
                  <a:gd name="T25" fmla="*/ 0 h 1773"/>
                  <a:gd name="T26" fmla="*/ 0 w 3562"/>
                  <a:gd name="T27" fmla="*/ 0 h 1773"/>
                  <a:gd name="T28" fmla="*/ 0 w 3562"/>
                  <a:gd name="T29" fmla="*/ 0 h 1773"/>
                  <a:gd name="T30" fmla="*/ 0 w 3562"/>
                  <a:gd name="T31" fmla="*/ 0 h 1773"/>
                  <a:gd name="T32" fmla="*/ 0 w 3562"/>
                  <a:gd name="T33" fmla="*/ 0 h 1773"/>
                  <a:gd name="T34" fmla="*/ 0 w 3562"/>
                  <a:gd name="T35" fmla="*/ 0 h 1773"/>
                  <a:gd name="T36" fmla="*/ 0 w 3562"/>
                  <a:gd name="T37" fmla="*/ 0 h 1773"/>
                  <a:gd name="T38" fmla="*/ 0 w 3562"/>
                  <a:gd name="T39" fmla="*/ 0 h 1773"/>
                  <a:gd name="T40" fmla="*/ 0 w 3562"/>
                  <a:gd name="T41" fmla="*/ 0 h 177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62"/>
                  <a:gd name="T64" fmla="*/ 0 h 1773"/>
                  <a:gd name="T65" fmla="*/ 3562 w 3562"/>
                  <a:gd name="T66" fmla="*/ 1773 h 177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62" h="1773">
                    <a:moveTo>
                      <a:pt x="3562" y="1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68" y="1773"/>
                    </a:lnTo>
                    <a:lnTo>
                      <a:pt x="3562" y="183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4" name="Freeform 358">
                <a:extLst>
                  <a:ext uri="{FF2B5EF4-FFF2-40B4-BE49-F238E27FC236}">
                    <a16:creationId xmlns:a16="http://schemas.microsoft.com/office/drawing/2014/main" id="{3259175B-4D30-479C-98C7-AFA32EC1A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7"/>
              </a:xfrm>
              <a:custGeom>
                <a:avLst/>
                <a:gdLst>
                  <a:gd name="T0" fmla="*/ 0 w 3550"/>
                  <a:gd name="T1" fmla="*/ 0 h 1748"/>
                  <a:gd name="T2" fmla="*/ 0 w 3550"/>
                  <a:gd name="T3" fmla="*/ 0 h 1748"/>
                  <a:gd name="T4" fmla="*/ 0 w 3550"/>
                  <a:gd name="T5" fmla="*/ 0 h 1748"/>
                  <a:gd name="T6" fmla="*/ 0 w 3550"/>
                  <a:gd name="T7" fmla="*/ 0 h 1748"/>
                  <a:gd name="T8" fmla="*/ 0 w 3550"/>
                  <a:gd name="T9" fmla="*/ 0 h 1748"/>
                  <a:gd name="T10" fmla="*/ 0 w 3550"/>
                  <a:gd name="T11" fmla="*/ 0 h 1748"/>
                  <a:gd name="T12" fmla="*/ 0 w 3550"/>
                  <a:gd name="T13" fmla="*/ 0 h 1748"/>
                  <a:gd name="T14" fmla="*/ 0 w 3550"/>
                  <a:gd name="T15" fmla="*/ 0 h 1748"/>
                  <a:gd name="T16" fmla="*/ 0 w 3550"/>
                  <a:gd name="T17" fmla="*/ 0 h 1748"/>
                  <a:gd name="T18" fmla="*/ 0 w 3550"/>
                  <a:gd name="T19" fmla="*/ 0 h 1748"/>
                  <a:gd name="T20" fmla="*/ 0 w 3550"/>
                  <a:gd name="T21" fmla="*/ 0 h 1748"/>
                  <a:gd name="T22" fmla="*/ 0 w 3550"/>
                  <a:gd name="T23" fmla="*/ 0 h 1748"/>
                  <a:gd name="T24" fmla="*/ 0 w 3550"/>
                  <a:gd name="T25" fmla="*/ 0 h 1748"/>
                  <a:gd name="T26" fmla="*/ 0 w 3550"/>
                  <a:gd name="T27" fmla="*/ 0 h 1748"/>
                  <a:gd name="T28" fmla="*/ 0 w 3550"/>
                  <a:gd name="T29" fmla="*/ 0 h 1748"/>
                  <a:gd name="T30" fmla="*/ 0 w 3550"/>
                  <a:gd name="T31" fmla="*/ 0 h 1748"/>
                  <a:gd name="T32" fmla="*/ 0 w 3550"/>
                  <a:gd name="T33" fmla="*/ 0 h 1748"/>
                  <a:gd name="T34" fmla="*/ 0 w 3550"/>
                  <a:gd name="T35" fmla="*/ 0 h 1748"/>
                  <a:gd name="T36" fmla="*/ 0 w 3550"/>
                  <a:gd name="T37" fmla="*/ 0 h 1748"/>
                  <a:gd name="T38" fmla="*/ 0 w 3550"/>
                  <a:gd name="T39" fmla="*/ 0 h 1748"/>
                  <a:gd name="T40" fmla="*/ 0 w 3550"/>
                  <a:gd name="T41" fmla="*/ 0 h 1748"/>
                  <a:gd name="T42" fmla="*/ 0 w 3550"/>
                  <a:gd name="T43" fmla="*/ 0 h 1748"/>
                  <a:gd name="T44" fmla="*/ 0 w 3550"/>
                  <a:gd name="T45" fmla="*/ 0 h 1748"/>
                  <a:gd name="T46" fmla="*/ 0 w 3550"/>
                  <a:gd name="T47" fmla="*/ 0 h 1748"/>
                  <a:gd name="T48" fmla="*/ 0 w 3550"/>
                  <a:gd name="T49" fmla="*/ 0 h 1748"/>
                  <a:gd name="T50" fmla="*/ 0 w 3550"/>
                  <a:gd name="T51" fmla="*/ 0 h 1748"/>
                  <a:gd name="T52" fmla="*/ 0 w 3550"/>
                  <a:gd name="T53" fmla="*/ 0 h 1748"/>
                  <a:gd name="T54" fmla="*/ 0 w 3550"/>
                  <a:gd name="T55" fmla="*/ 0 h 1748"/>
                  <a:gd name="T56" fmla="*/ 0 w 3550"/>
                  <a:gd name="T57" fmla="*/ 0 h 1748"/>
                  <a:gd name="T58" fmla="*/ 0 w 3550"/>
                  <a:gd name="T59" fmla="*/ 0 h 1748"/>
                  <a:gd name="T60" fmla="*/ 0 w 3550"/>
                  <a:gd name="T61" fmla="*/ 0 h 1748"/>
                  <a:gd name="T62" fmla="*/ 0 w 3550"/>
                  <a:gd name="T63" fmla="*/ 0 h 1748"/>
                  <a:gd name="T64" fmla="*/ 0 w 3550"/>
                  <a:gd name="T65" fmla="*/ 0 h 1748"/>
                  <a:gd name="T66" fmla="*/ 0 w 3550"/>
                  <a:gd name="T67" fmla="*/ 0 h 1748"/>
                  <a:gd name="T68" fmla="*/ 0 w 3550"/>
                  <a:gd name="T69" fmla="*/ 0 h 1748"/>
                  <a:gd name="T70" fmla="*/ 0 w 3550"/>
                  <a:gd name="T71" fmla="*/ 0 h 1748"/>
                  <a:gd name="T72" fmla="*/ 0 w 3550"/>
                  <a:gd name="T73" fmla="*/ 0 h 1748"/>
                  <a:gd name="T74" fmla="*/ 0 w 3550"/>
                  <a:gd name="T75" fmla="*/ 0 h 1748"/>
                  <a:gd name="T76" fmla="*/ 0 w 3550"/>
                  <a:gd name="T77" fmla="*/ 0 h 1748"/>
                  <a:gd name="T78" fmla="*/ 0 w 3550"/>
                  <a:gd name="T79" fmla="*/ 0 h 1748"/>
                  <a:gd name="T80" fmla="*/ 0 w 3550"/>
                  <a:gd name="T81" fmla="*/ 0 h 1748"/>
                  <a:gd name="T82" fmla="*/ 0 w 3550"/>
                  <a:gd name="T83" fmla="*/ 0 h 1748"/>
                  <a:gd name="T84" fmla="*/ 0 w 3550"/>
                  <a:gd name="T85" fmla="*/ 0 h 1748"/>
                  <a:gd name="T86" fmla="*/ 0 w 3550"/>
                  <a:gd name="T87" fmla="*/ 0 h 1748"/>
                  <a:gd name="T88" fmla="*/ 0 w 3550"/>
                  <a:gd name="T89" fmla="*/ 0 h 1748"/>
                  <a:gd name="T90" fmla="*/ 0 w 3550"/>
                  <a:gd name="T91" fmla="*/ 0 h 1748"/>
                  <a:gd name="T92" fmla="*/ 0 w 3550"/>
                  <a:gd name="T93" fmla="*/ 0 h 1748"/>
                  <a:gd name="T94" fmla="*/ 0 w 3550"/>
                  <a:gd name="T95" fmla="*/ 0 h 174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50"/>
                  <a:gd name="T145" fmla="*/ 0 h 1748"/>
                  <a:gd name="T146" fmla="*/ 3550 w 3550"/>
                  <a:gd name="T147" fmla="*/ 1748 h 174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50" h="1748">
                    <a:moveTo>
                      <a:pt x="3550" y="163"/>
                    </a:moveTo>
                    <a:lnTo>
                      <a:pt x="3545" y="153"/>
                    </a:lnTo>
                    <a:lnTo>
                      <a:pt x="3541" y="144"/>
                    </a:lnTo>
                    <a:lnTo>
                      <a:pt x="3538" y="137"/>
                    </a:lnTo>
                    <a:lnTo>
                      <a:pt x="3533" y="130"/>
                    </a:lnTo>
                    <a:lnTo>
                      <a:pt x="3529" y="120"/>
                    </a:lnTo>
                    <a:lnTo>
                      <a:pt x="3523" y="108"/>
                    </a:lnTo>
                    <a:lnTo>
                      <a:pt x="3514" y="90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1" y="1665"/>
                    </a:lnTo>
                    <a:lnTo>
                      <a:pt x="26" y="1673"/>
                    </a:lnTo>
                    <a:lnTo>
                      <a:pt x="31" y="1685"/>
                    </a:lnTo>
                    <a:lnTo>
                      <a:pt x="37" y="1699"/>
                    </a:lnTo>
                    <a:lnTo>
                      <a:pt x="46" y="1719"/>
                    </a:lnTo>
                    <a:lnTo>
                      <a:pt x="57" y="1748"/>
                    </a:lnTo>
                    <a:lnTo>
                      <a:pt x="162" y="1700"/>
                    </a:lnTo>
                    <a:lnTo>
                      <a:pt x="259" y="1656"/>
                    </a:lnTo>
                    <a:lnTo>
                      <a:pt x="348" y="1616"/>
                    </a:lnTo>
                    <a:lnTo>
                      <a:pt x="430" y="1579"/>
                    </a:lnTo>
                    <a:lnTo>
                      <a:pt x="508" y="1543"/>
                    </a:lnTo>
                    <a:lnTo>
                      <a:pt x="579" y="1511"/>
                    </a:lnTo>
                    <a:lnTo>
                      <a:pt x="648" y="1480"/>
                    </a:lnTo>
                    <a:lnTo>
                      <a:pt x="713" y="1451"/>
                    </a:lnTo>
                    <a:lnTo>
                      <a:pt x="776" y="1422"/>
                    </a:lnTo>
                    <a:lnTo>
                      <a:pt x="837" y="1395"/>
                    </a:lnTo>
                    <a:lnTo>
                      <a:pt x="898" y="1367"/>
                    </a:lnTo>
                    <a:lnTo>
                      <a:pt x="959" y="1340"/>
                    </a:lnTo>
                    <a:lnTo>
                      <a:pt x="1021" y="1311"/>
                    </a:lnTo>
                    <a:lnTo>
                      <a:pt x="1085" y="1282"/>
                    </a:lnTo>
                    <a:lnTo>
                      <a:pt x="1153" y="1251"/>
                    </a:lnTo>
                    <a:lnTo>
                      <a:pt x="1223" y="1220"/>
                    </a:lnTo>
                    <a:lnTo>
                      <a:pt x="1299" y="1186"/>
                    </a:lnTo>
                    <a:lnTo>
                      <a:pt x="1379" y="1149"/>
                    </a:lnTo>
                    <a:lnTo>
                      <a:pt x="1466" y="1110"/>
                    </a:lnTo>
                    <a:lnTo>
                      <a:pt x="1560" y="1067"/>
                    </a:lnTo>
                    <a:lnTo>
                      <a:pt x="1662" y="1020"/>
                    </a:lnTo>
                    <a:lnTo>
                      <a:pt x="1772" y="971"/>
                    </a:lnTo>
                    <a:lnTo>
                      <a:pt x="1892" y="916"/>
                    </a:lnTo>
                    <a:lnTo>
                      <a:pt x="2024" y="857"/>
                    </a:lnTo>
                    <a:lnTo>
                      <a:pt x="2166" y="792"/>
                    </a:lnTo>
                    <a:lnTo>
                      <a:pt x="2320" y="722"/>
                    </a:lnTo>
                    <a:lnTo>
                      <a:pt x="2488" y="646"/>
                    </a:lnTo>
                    <a:lnTo>
                      <a:pt x="2668" y="564"/>
                    </a:lnTo>
                    <a:lnTo>
                      <a:pt x="2864" y="474"/>
                    </a:lnTo>
                    <a:lnTo>
                      <a:pt x="3075" y="378"/>
                    </a:lnTo>
                    <a:lnTo>
                      <a:pt x="3304" y="275"/>
                    </a:lnTo>
                    <a:lnTo>
                      <a:pt x="3550" y="163"/>
                    </a:lnTo>
                    <a:close/>
                  </a:path>
                </a:pathLst>
              </a:custGeom>
              <a:solidFill>
                <a:srgbClr val="BF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5" name="Freeform 359">
                <a:extLst>
                  <a:ext uri="{FF2B5EF4-FFF2-40B4-BE49-F238E27FC236}">
                    <a16:creationId xmlns:a16="http://schemas.microsoft.com/office/drawing/2014/main" id="{9BFB6597-AF05-4254-A713-576856AC8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6"/>
              </a:xfrm>
              <a:custGeom>
                <a:avLst/>
                <a:gdLst>
                  <a:gd name="T0" fmla="*/ 0 w 3539"/>
                  <a:gd name="T1" fmla="*/ 0 h 1724"/>
                  <a:gd name="T2" fmla="*/ 0 w 3539"/>
                  <a:gd name="T3" fmla="*/ 0 h 1724"/>
                  <a:gd name="T4" fmla="*/ 0 w 3539"/>
                  <a:gd name="T5" fmla="*/ 0 h 1724"/>
                  <a:gd name="T6" fmla="*/ 0 w 3539"/>
                  <a:gd name="T7" fmla="*/ 0 h 1724"/>
                  <a:gd name="T8" fmla="*/ 0 w 3539"/>
                  <a:gd name="T9" fmla="*/ 0 h 1724"/>
                  <a:gd name="T10" fmla="*/ 0 w 3539"/>
                  <a:gd name="T11" fmla="*/ 0 h 1724"/>
                  <a:gd name="T12" fmla="*/ 0 w 3539"/>
                  <a:gd name="T13" fmla="*/ 0 h 1724"/>
                  <a:gd name="T14" fmla="*/ 0 w 3539"/>
                  <a:gd name="T15" fmla="*/ 0 h 1724"/>
                  <a:gd name="T16" fmla="*/ 0 w 3539"/>
                  <a:gd name="T17" fmla="*/ 0 h 1724"/>
                  <a:gd name="T18" fmla="*/ 0 w 3539"/>
                  <a:gd name="T19" fmla="*/ 0 h 1724"/>
                  <a:gd name="T20" fmla="*/ 0 w 3539"/>
                  <a:gd name="T21" fmla="*/ 0 h 1724"/>
                  <a:gd name="T22" fmla="*/ 0 w 3539"/>
                  <a:gd name="T23" fmla="*/ 0 h 1724"/>
                  <a:gd name="T24" fmla="*/ 0 w 3539"/>
                  <a:gd name="T25" fmla="*/ 0 h 1724"/>
                  <a:gd name="T26" fmla="*/ 0 w 3539"/>
                  <a:gd name="T27" fmla="*/ 0 h 1724"/>
                  <a:gd name="T28" fmla="*/ 0 w 3539"/>
                  <a:gd name="T29" fmla="*/ 0 h 1724"/>
                  <a:gd name="T30" fmla="*/ 0 w 3539"/>
                  <a:gd name="T31" fmla="*/ 0 h 1724"/>
                  <a:gd name="T32" fmla="*/ 0 w 3539"/>
                  <a:gd name="T33" fmla="*/ 0 h 1724"/>
                  <a:gd name="T34" fmla="*/ 0 w 3539"/>
                  <a:gd name="T35" fmla="*/ 0 h 1724"/>
                  <a:gd name="T36" fmla="*/ 0 w 3539"/>
                  <a:gd name="T37" fmla="*/ 0 h 1724"/>
                  <a:gd name="T38" fmla="*/ 0 w 3539"/>
                  <a:gd name="T39" fmla="*/ 0 h 1724"/>
                  <a:gd name="T40" fmla="*/ 0 w 3539"/>
                  <a:gd name="T41" fmla="*/ 0 h 1724"/>
                  <a:gd name="T42" fmla="*/ 0 w 3539"/>
                  <a:gd name="T43" fmla="*/ 0 h 1724"/>
                  <a:gd name="T44" fmla="*/ 0 w 3539"/>
                  <a:gd name="T45" fmla="*/ 0 h 1724"/>
                  <a:gd name="T46" fmla="*/ 0 w 3539"/>
                  <a:gd name="T47" fmla="*/ 0 h 1724"/>
                  <a:gd name="T48" fmla="*/ 0 w 3539"/>
                  <a:gd name="T49" fmla="*/ 0 h 1724"/>
                  <a:gd name="T50" fmla="*/ 0 w 3539"/>
                  <a:gd name="T51" fmla="*/ 0 h 1724"/>
                  <a:gd name="T52" fmla="*/ 0 w 3539"/>
                  <a:gd name="T53" fmla="*/ 0 h 1724"/>
                  <a:gd name="T54" fmla="*/ 0 w 3539"/>
                  <a:gd name="T55" fmla="*/ 0 h 1724"/>
                  <a:gd name="T56" fmla="*/ 0 w 3539"/>
                  <a:gd name="T57" fmla="*/ 0 h 1724"/>
                  <a:gd name="T58" fmla="*/ 0 w 3539"/>
                  <a:gd name="T59" fmla="*/ 0 h 1724"/>
                  <a:gd name="T60" fmla="*/ 0 w 3539"/>
                  <a:gd name="T61" fmla="*/ 0 h 1724"/>
                  <a:gd name="T62" fmla="*/ 0 w 3539"/>
                  <a:gd name="T63" fmla="*/ 0 h 1724"/>
                  <a:gd name="T64" fmla="*/ 0 w 3539"/>
                  <a:gd name="T65" fmla="*/ 0 h 1724"/>
                  <a:gd name="T66" fmla="*/ 0 w 3539"/>
                  <a:gd name="T67" fmla="*/ 0 h 1724"/>
                  <a:gd name="T68" fmla="*/ 0 w 3539"/>
                  <a:gd name="T69" fmla="*/ 0 h 1724"/>
                  <a:gd name="T70" fmla="*/ 0 w 3539"/>
                  <a:gd name="T71" fmla="*/ 0 h 1724"/>
                  <a:gd name="T72" fmla="*/ 0 w 3539"/>
                  <a:gd name="T73" fmla="*/ 0 h 1724"/>
                  <a:gd name="T74" fmla="*/ 0 w 3539"/>
                  <a:gd name="T75" fmla="*/ 0 h 1724"/>
                  <a:gd name="T76" fmla="*/ 0 w 3539"/>
                  <a:gd name="T77" fmla="*/ 0 h 1724"/>
                  <a:gd name="T78" fmla="*/ 0 w 3539"/>
                  <a:gd name="T79" fmla="*/ 0 h 1724"/>
                  <a:gd name="T80" fmla="*/ 0 w 3539"/>
                  <a:gd name="T81" fmla="*/ 0 h 1724"/>
                  <a:gd name="T82" fmla="*/ 0 w 3539"/>
                  <a:gd name="T83" fmla="*/ 0 h 1724"/>
                  <a:gd name="T84" fmla="*/ 0 w 3539"/>
                  <a:gd name="T85" fmla="*/ 0 h 1724"/>
                  <a:gd name="T86" fmla="*/ 0 w 3539"/>
                  <a:gd name="T87" fmla="*/ 0 h 1724"/>
                  <a:gd name="T88" fmla="*/ 0 w 3539"/>
                  <a:gd name="T89" fmla="*/ 0 h 1724"/>
                  <a:gd name="T90" fmla="*/ 0 w 3539"/>
                  <a:gd name="T91" fmla="*/ 0 h 1724"/>
                  <a:gd name="T92" fmla="*/ 0 w 3539"/>
                  <a:gd name="T93" fmla="*/ 0 h 1724"/>
                  <a:gd name="T94" fmla="*/ 0 w 3539"/>
                  <a:gd name="T95" fmla="*/ 0 h 172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39"/>
                  <a:gd name="T145" fmla="*/ 0 h 1724"/>
                  <a:gd name="T146" fmla="*/ 3539 w 3539"/>
                  <a:gd name="T147" fmla="*/ 1724 h 172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39" h="1724">
                    <a:moveTo>
                      <a:pt x="3539" y="143"/>
                    </a:moveTo>
                    <a:lnTo>
                      <a:pt x="3534" y="135"/>
                    </a:lnTo>
                    <a:lnTo>
                      <a:pt x="3531" y="129"/>
                    </a:lnTo>
                    <a:lnTo>
                      <a:pt x="3529" y="123"/>
                    </a:lnTo>
                    <a:lnTo>
                      <a:pt x="3526" y="117"/>
                    </a:lnTo>
                    <a:lnTo>
                      <a:pt x="3523" y="110"/>
                    </a:lnTo>
                    <a:lnTo>
                      <a:pt x="3518" y="99"/>
                    </a:lnTo>
                    <a:lnTo>
                      <a:pt x="3511" y="84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6"/>
                    </a:lnTo>
                    <a:lnTo>
                      <a:pt x="16" y="1652"/>
                    </a:lnTo>
                    <a:lnTo>
                      <a:pt x="19" y="1658"/>
                    </a:lnTo>
                    <a:lnTo>
                      <a:pt x="22" y="1666"/>
                    </a:lnTo>
                    <a:lnTo>
                      <a:pt x="26" y="1674"/>
                    </a:lnTo>
                    <a:lnTo>
                      <a:pt x="31" y="1686"/>
                    </a:lnTo>
                    <a:lnTo>
                      <a:pt x="37" y="1702"/>
                    </a:lnTo>
                    <a:lnTo>
                      <a:pt x="46" y="1724"/>
                    </a:lnTo>
                    <a:lnTo>
                      <a:pt x="151" y="1676"/>
                    </a:lnTo>
                    <a:lnTo>
                      <a:pt x="248" y="1633"/>
                    </a:lnTo>
                    <a:lnTo>
                      <a:pt x="337" y="1592"/>
                    </a:lnTo>
                    <a:lnTo>
                      <a:pt x="419" y="1555"/>
                    </a:lnTo>
                    <a:lnTo>
                      <a:pt x="497" y="1520"/>
                    </a:lnTo>
                    <a:lnTo>
                      <a:pt x="568" y="1488"/>
                    </a:lnTo>
                    <a:lnTo>
                      <a:pt x="637" y="1457"/>
                    </a:lnTo>
                    <a:lnTo>
                      <a:pt x="702" y="1427"/>
                    </a:lnTo>
                    <a:lnTo>
                      <a:pt x="765" y="1399"/>
                    </a:lnTo>
                    <a:lnTo>
                      <a:pt x="826" y="1372"/>
                    </a:lnTo>
                    <a:lnTo>
                      <a:pt x="886" y="1344"/>
                    </a:lnTo>
                    <a:lnTo>
                      <a:pt x="948" y="1316"/>
                    </a:lnTo>
                    <a:lnTo>
                      <a:pt x="1010" y="1288"/>
                    </a:lnTo>
                    <a:lnTo>
                      <a:pt x="1074" y="1259"/>
                    </a:lnTo>
                    <a:lnTo>
                      <a:pt x="1141" y="1229"/>
                    </a:lnTo>
                    <a:lnTo>
                      <a:pt x="1212" y="1197"/>
                    </a:lnTo>
                    <a:lnTo>
                      <a:pt x="1287" y="1163"/>
                    </a:lnTo>
                    <a:lnTo>
                      <a:pt x="1368" y="1126"/>
                    </a:lnTo>
                    <a:lnTo>
                      <a:pt x="1455" y="1087"/>
                    </a:lnTo>
                    <a:lnTo>
                      <a:pt x="1548" y="1045"/>
                    </a:lnTo>
                    <a:lnTo>
                      <a:pt x="1650" y="998"/>
                    </a:lnTo>
                    <a:lnTo>
                      <a:pt x="1761" y="949"/>
                    </a:lnTo>
                    <a:lnTo>
                      <a:pt x="1881" y="894"/>
                    </a:lnTo>
                    <a:lnTo>
                      <a:pt x="2013" y="835"/>
                    </a:lnTo>
                    <a:lnTo>
                      <a:pt x="2154" y="771"/>
                    </a:lnTo>
                    <a:lnTo>
                      <a:pt x="2308" y="700"/>
                    </a:lnTo>
                    <a:lnTo>
                      <a:pt x="2477" y="625"/>
                    </a:lnTo>
                    <a:lnTo>
                      <a:pt x="2657" y="543"/>
                    </a:lnTo>
                    <a:lnTo>
                      <a:pt x="2853" y="453"/>
                    </a:lnTo>
                    <a:lnTo>
                      <a:pt x="3064" y="357"/>
                    </a:lnTo>
                    <a:lnTo>
                      <a:pt x="3293" y="254"/>
                    </a:lnTo>
                    <a:lnTo>
                      <a:pt x="3539" y="143"/>
                    </a:lnTo>
                    <a:close/>
                  </a:path>
                </a:pathLst>
              </a:custGeom>
              <a:solidFill>
                <a:srgbClr val="C9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6" name="Freeform 360">
                <a:extLst>
                  <a:ext uri="{FF2B5EF4-FFF2-40B4-BE49-F238E27FC236}">
                    <a16:creationId xmlns:a16="http://schemas.microsoft.com/office/drawing/2014/main" id="{8CD159F4-A0AC-4629-ADD4-D342EC8E0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4"/>
              </a:xfrm>
              <a:custGeom>
                <a:avLst/>
                <a:gdLst>
                  <a:gd name="T0" fmla="*/ 0 w 3526"/>
                  <a:gd name="T1" fmla="*/ 0 h 1698"/>
                  <a:gd name="T2" fmla="*/ 0 w 3526"/>
                  <a:gd name="T3" fmla="*/ 0 h 1698"/>
                  <a:gd name="T4" fmla="*/ 0 w 3526"/>
                  <a:gd name="T5" fmla="*/ 0 h 1698"/>
                  <a:gd name="T6" fmla="*/ 0 w 3526"/>
                  <a:gd name="T7" fmla="*/ 0 h 1698"/>
                  <a:gd name="T8" fmla="*/ 0 w 3526"/>
                  <a:gd name="T9" fmla="*/ 0 h 1698"/>
                  <a:gd name="T10" fmla="*/ 0 w 3526"/>
                  <a:gd name="T11" fmla="*/ 0 h 1698"/>
                  <a:gd name="T12" fmla="*/ 0 w 3526"/>
                  <a:gd name="T13" fmla="*/ 0 h 1698"/>
                  <a:gd name="T14" fmla="*/ 0 w 3526"/>
                  <a:gd name="T15" fmla="*/ 0 h 1698"/>
                  <a:gd name="T16" fmla="*/ 0 w 3526"/>
                  <a:gd name="T17" fmla="*/ 0 h 1698"/>
                  <a:gd name="T18" fmla="*/ 0 w 3526"/>
                  <a:gd name="T19" fmla="*/ 0 h 1698"/>
                  <a:gd name="T20" fmla="*/ 0 w 3526"/>
                  <a:gd name="T21" fmla="*/ 0 h 1698"/>
                  <a:gd name="T22" fmla="*/ 0 w 3526"/>
                  <a:gd name="T23" fmla="*/ 0 h 1698"/>
                  <a:gd name="T24" fmla="*/ 0 w 3526"/>
                  <a:gd name="T25" fmla="*/ 0 h 1698"/>
                  <a:gd name="T26" fmla="*/ 0 w 3526"/>
                  <a:gd name="T27" fmla="*/ 0 h 1698"/>
                  <a:gd name="T28" fmla="*/ 0 w 3526"/>
                  <a:gd name="T29" fmla="*/ 0 h 1698"/>
                  <a:gd name="T30" fmla="*/ 0 w 3526"/>
                  <a:gd name="T31" fmla="*/ 0 h 1698"/>
                  <a:gd name="T32" fmla="*/ 0 w 3526"/>
                  <a:gd name="T33" fmla="*/ 0 h 1698"/>
                  <a:gd name="T34" fmla="*/ 0 w 3526"/>
                  <a:gd name="T35" fmla="*/ 0 h 1698"/>
                  <a:gd name="T36" fmla="*/ 0 w 3526"/>
                  <a:gd name="T37" fmla="*/ 0 h 1698"/>
                  <a:gd name="T38" fmla="*/ 0 w 3526"/>
                  <a:gd name="T39" fmla="*/ 0 h 1698"/>
                  <a:gd name="T40" fmla="*/ 0 w 3526"/>
                  <a:gd name="T41" fmla="*/ 0 h 1698"/>
                  <a:gd name="T42" fmla="*/ 0 w 3526"/>
                  <a:gd name="T43" fmla="*/ 0 h 1698"/>
                  <a:gd name="T44" fmla="*/ 0 w 3526"/>
                  <a:gd name="T45" fmla="*/ 0 h 1698"/>
                  <a:gd name="T46" fmla="*/ 0 w 3526"/>
                  <a:gd name="T47" fmla="*/ 0 h 1698"/>
                  <a:gd name="T48" fmla="*/ 0 w 3526"/>
                  <a:gd name="T49" fmla="*/ 0 h 1698"/>
                  <a:gd name="T50" fmla="*/ 0 w 3526"/>
                  <a:gd name="T51" fmla="*/ 0 h 1698"/>
                  <a:gd name="T52" fmla="*/ 0 w 3526"/>
                  <a:gd name="T53" fmla="*/ 0 h 1698"/>
                  <a:gd name="T54" fmla="*/ 0 w 3526"/>
                  <a:gd name="T55" fmla="*/ 0 h 1698"/>
                  <a:gd name="T56" fmla="*/ 0 w 3526"/>
                  <a:gd name="T57" fmla="*/ 0 h 1698"/>
                  <a:gd name="T58" fmla="*/ 0 w 3526"/>
                  <a:gd name="T59" fmla="*/ 0 h 1698"/>
                  <a:gd name="T60" fmla="*/ 0 w 3526"/>
                  <a:gd name="T61" fmla="*/ 0 h 1698"/>
                  <a:gd name="T62" fmla="*/ 0 w 3526"/>
                  <a:gd name="T63" fmla="*/ 0 h 1698"/>
                  <a:gd name="T64" fmla="*/ 0 w 3526"/>
                  <a:gd name="T65" fmla="*/ 0 h 1698"/>
                  <a:gd name="T66" fmla="*/ 0 w 3526"/>
                  <a:gd name="T67" fmla="*/ 0 h 1698"/>
                  <a:gd name="T68" fmla="*/ 0 w 3526"/>
                  <a:gd name="T69" fmla="*/ 0 h 1698"/>
                  <a:gd name="T70" fmla="*/ 0 w 3526"/>
                  <a:gd name="T71" fmla="*/ 0 h 1698"/>
                  <a:gd name="T72" fmla="*/ 0 w 3526"/>
                  <a:gd name="T73" fmla="*/ 0 h 1698"/>
                  <a:gd name="T74" fmla="*/ 0 w 3526"/>
                  <a:gd name="T75" fmla="*/ 0 h 1698"/>
                  <a:gd name="T76" fmla="*/ 0 w 3526"/>
                  <a:gd name="T77" fmla="*/ 0 h 1698"/>
                  <a:gd name="T78" fmla="*/ 0 w 3526"/>
                  <a:gd name="T79" fmla="*/ 0 h 1698"/>
                  <a:gd name="T80" fmla="*/ 0 w 3526"/>
                  <a:gd name="T81" fmla="*/ 0 h 1698"/>
                  <a:gd name="T82" fmla="*/ 0 w 3526"/>
                  <a:gd name="T83" fmla="*/ 0 h 1698"/>
                  <a:gd name="T84" fmla="*/ 0 w 3526"/>
                  <a:gd name="T85" fmla="*/ 0 h 1698"/>
                  <a:gd name="T86" fmla="*/ 0 w 3526"/>
                  <a:gd name="T87" fmla="*/ 0 h 16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26"/>
                  <a:gd name="T133" fmla="*/ 0 h 1698"/>
                  <a:gd name="T134" fmla="*/ 3526 w 3526"/>
                  <a:gd name="T135" fmla="*/ 1698 h 16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26" h="1698">
                    <a:moveTo>
                      <a:pt x="3526" y="123"/>
                    </a:moveTo>
                    <a:lnTo>
                      <a:pt x="3522" y="112"/>
                    </a:lnTo>
                    <a:lnTo>
                      <a:pt x="3518" y="103"/>
                    </a:lnTo>
                    <a:lnTo>
                      <a:pt x="3513" y="9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5" y="1671"/>
                    </a:lnTo>
                    <a:lnTo>
                      <a:pt x="36" y="1698"/>
                    </a:lnTo>
                    <a:lnTo>
                      <a:pt x="141" y="1651"/>
                    </a:lnTo>
                    <a:lnTo>
                      <a:pt x="237" y="1608"/>
                    </a:lnTo>
                    <a:lnTo>
                      <a:pt x="326" y="1568"/>
                    </a:lnTo>
                    <a:lnTo>
                      <a:pt x="409" y="1530"/>
                    </a:lnTo>
                    <a:lnTo>
                      <a:pt x="486" y="1496"/>
                    </a:lnTo>
                    <a:lnTo>
                      <a:pt x="558" y="1463"/>
                    </a:lnTo>
                    <a:lnTo>
                      <a:pt x="626" y="1433"/>
                    </a:lnTo>
                    <a:lnTo>
                      <a:pt x="691" y="1403"/>
                    </a:lnTo>
                    <a:lnTo>
                      <a:pt x="754" y="1375"/>
                    </a:lnTo>
                    <a:lnTo>
                      <a:pt x="815" y="1347"/>
                    </a:lnTo>
                    <a:lnTo>
                      <a:pt x="875" y="1320"/>
                    </a:lnTo>
                    <a:lnTo>
                      <a:pt x="936" y="1292"/>
                    </a:lnTo>
                    <a:lnTo>
                      <a:pt x="999" y="1264"/>
                    </a:lnTo>
                    <a:lnTo>
                      <a:pt x="1063" y="1236"/>
                    </a:lnTo>
                    <a:lnTo>
                      <a:pt x="1130" y="1205"/>
                    </a:lnTo>
                    <a:lnTo>
                      <a:pt x="1201" y="1173"/>
                    </a:lnTo>
                    <a:lnTo>
                      <a:pt x="1276" y="1140"/>
                    </a:lnTo>
                    <a:lnTo>
                      <a:pt x="1357" y="1103"/>
                    </a:lnTo>
                    <a:lnTo>
                      <a:pt x="1443" y="1064"/>
                    </a:lnTo>
                    <a:lnTo>
                      <a:pt x="1537" y="1022"/>
                    </a:lnTo>
                    <a:lnTo>
                      <a:pt x="1639" y="975"/>
                    </a:lnTo>
                    <a:lnTo>
                      <a:pt x="1749" y="926"/>
                    </a:lnTo>
                    <a:lnTo>
                      <a:pt x="1870" y="872"/>
                    </a:lnTo>
                    <a:lnTo>
                      <a:pt x="2000" y="813"/>
                    </a:lnTo>
                    <a:lnTo>
                      <a:pt x="2143" y="749"/>
                    </a:lnTo>
                    <a:lnTo>
                      <a:pt x="2297" y="679"/>
                    </a:lnTo>
                    <a:lnTo>
                      <a:pt x="2464" y="603"/>
                    </a:lnTo>
                    <a:lnTo>
                      <a:pt x="2646" y="521"/>
                    </a:lnTo>
                    <a:lnTo>
                      <a:pt x="2841" y="432"/>
                    </a:lnTo>
                    <a:lnTo>
                      <a:pt x="3053" y="337"/>
                    </a:lnTo>
                    <a:lnTo>
                      <a:pt x="3281" y="234"/>
                    </a:lnTo>
                    <a:lnTo>
                      <a:pt x="3526" y="123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7" name="Freeform 361">
                <a:extLst>
                  <a:ext uri="{FF2B5EF4-FFF2-40B4-BE49-F238E27FC236}">
                    <a16:creationId xmlns:a16="http://schemas.microsoft.com/office/drawing/2014/main" id="{CFD756DE-16F9-46E3-9A5C-6A5D6F8ED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3"/>
              </a:xfrm>
              <a:custGeom>
                <a:avLst/>
                <a:gdLst>
                  <a:gd name="T0" fmla="*/ 0 w 3515"/>
                  <a:gd name="T1" fmla="*/ 0 h 1674"/>
                  <a:gd name="T2" fmla="*/ 0 w 3515"/>
                  <a:gd name="T3" fmla="*/ 0 h 1674"/>
                  <a:gd name="T4" fmla="*/ 0 w 3515"/>
                  <a:gd name="T5" fmla="*/ 0 h 1674"/>
                  <a:gd name="T6" fmla="*/ 0 w 3515"/>
                  <a:gd name="T7" fmla="*/ 0 h 1674"/>
                  <a:gd name="T8" fmla="*/ 0 w 3515"/>
                  <a:gd name="T9" fmla="*/ 0 h 1674"/>
                  <a:gd name="T10" fmla="*/ 0 w 3515"/>
                  <a:gd name="T11" fmla="*/ 0 h 1674"/>
                  <a:gd name="T12" fmla="*/ 0 w 3515"/>
                  <a:gd name="T13" fmla="*/ 0 h 1674"/>
                  <a:gd name="T14" fmla="*/ 0 w 3515"/>
                  <a:gd name="T15" fmla="*/ 0 h 1674"/>
                  <a:gd name="T16" fmla="*/ 0 w 3515"/>
                  <a:gd name="T17" fmla="*/ 0 h 1674"/>
                  <a:gd name="T18" fmla="*/ 0 w 3515"/>
                  <a:gd name="T19" fmla="*/ 0 h 1674"/>
                  <a:gd name="T20" fmla="*/ 0 w 3515"/>
                  <a:gd name="T21" fmla="*/ 0 h 1674"/>
                  <a:gd name="T22" fmla="*/ 0 w 3515"/>
                  <a:gd name="T23" fmla="*/ 0 h 1674"/>
                  <a:gd name="T24" fmla="*/ 0 w 3515"/>
                  <a:gd name="T25" fmla="*/ 0 h 1674"/>
                  <a:gd name="T26" fmla="*/ 0 w 3515"/>
                  <a:gd name="T27" fmla="*/ 0 h 1674"/>
                  <a:gd name="T28" fmla="*/ 0 w 3515"/>
                  <a:gd name="T29" fmla="*/ 0 h 1674"/>
                  <a:gd name="T30" fmla="*/ 0 w 3515"/>
                  <a:gd name="T31" fmla="*/ 0 h 1674"/>
                  <a:gd name="T32" fmla="*/ 0 w 3515"/>
                  <a:gd name="T33" fmla="*/ 0 h 1674"/>
                  <a:gd name="T34" fmla="*/ 0 w 3515"/>
                  <a:gd name="T35" fmla="*/ 0 h 1674"/>
                  <a:gd name="T36" fmla="*/ 0 w 3515"/>
                  <a:gd name="T37" fmla="*/ 0 h 1674"/>
                  <a:gd name="T38" fmla="*/ 0 w 3515"/>
                  <a:gd name="T39" fmla="*/ 0 h 1674"/>
                  <a:gd name="T40" fmla="*/ 0 w 3515"/>
                  <a:gd name="T41" fmla="*/ 0 h 1674"/>
                  <a:gd name="T42" fmla="*/ 0 w 3515"/>
                  <a:gd name="T43" fmla="*/ 0 h 1674"/>
                  <a:gd name="T44" fmla="*/ 0 w 3515"/>
                  <a:gd name="T45" fmla="*/ 0 h 1674"/>
                  <a:gd name="T46" fmla="*/ 0 w 3515"/>
                  <a:gd name="T47" fmla="*/ 0 h 1674"/>
                  <a:gd name="T48" fmla="*/ 0 w 3515"/>
                  <a:gd name="T49" fmla="*/ 0 h 1674"/>
                  <a:gd name="T50" fmla="*/ 0 w 3515"/>
                  <a:gd name="T51" fmla="*/ 0 h 1674"/>
                  <a:gd name="T52" fmla="*/ 0 w 3515"/>
                  <a:gd name="T53" fmla="*/ 0 h 1674"/>
                  <a:gd name="T54" fmla="*/ 0 w 3515"/>
                  <a:gd name="T55" fmla="*/ 0 h 1674"/>
                  <a:gd name="T56" fmla="*/ 0 w 3515"/>
                  <a:gd name="T57" fmla="*/ 0 h 1674"/>
                  <a:gd name="T58" fmla="*/ 0 w 3515"/>
                  <a:gd name="T59" fmla="*/ 0 h 1674"/>
                  <a:gd name="T60" fmla="*/ 0 w 3515"/>
                  <a:gd name="T61" fmla="*/ 0 h 1674"/>
                  <a:gd name="T62" fmla="*/ 0 w 3515"/>
                  <a:gd name="T63" fmla="*/ 0 h 1674"/>
                  <a:gd name="T64" fmla="*/ 0 w 3515"/>
                  <a:gd name="T65" fmla="*/ 0 h 1674"/>
                  <a:gd name="T66" fmla="*/ 0 w 3515"/>
                  <a:gd name="T67" fmla="*/ 0 h 1674"/>
                  <a:gd name="T68" fmla="*/ 0 w 3515"/>
                  <a:gd name="T69" fmla="*/ 0 h 1674"/>
                  <a:gd name="T70" fmla="*/ 0 w 3515"/>
                  <a:gd name="T71" fmla="*/ 0 h 1674"/>
                  <a:gd name="T72" fmla="*/ 0 w 3515"/>
                  <a:gd name="T73" fmla="*/ 0 h 1674"/>
                  <a:gd name="T74" fmla="*/ 0 w 3515"/>
                  <a:gd name="T75" fmla="*/ 0 h 1674"/>
                  <a:gd name="T76" fmla="*/ 0 w 3515"/>
                  <a:gd name="T77" fmla="*/ 0 h 1674"/>
                  <a:gd name="T78" fmla="*/ 0 w 3515"/>
                  <a:gd name="T79" fmla="*/ 0 h 1674"/>
                  <a:gd name="T80" fmla="*/ 0 w 3515"/>
                  <a:gd name="T81" fmla="*/ 0 h 1674"/>
                  <a:gd name="T82" fmla="*/ 0 w 3515"/>
                  <a:gd name="T83" fmla="*/ 0 h 1674"/>
                  <a:gd name="T84" fmla="*/ 0 w 3515"/>
                  <a:gd name="T85" fmla="*/ 0 h 1674"/>
                  <a:gd name="T86" fmla="*/ 0 w 3515"/>
                  <a:gd name="T87" fmla="*/ 0 h 167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15"/>
                  <a:gd name="T133" fmla="*/ 0 h 1674"/>
                  <a:gd name="T134" fmla="*/ 3515 w 3515"/>
                  <a:gd name="T135" fmla="*/ 1674 h 1674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15" h="1674">
                    <a:moveTo>
                      <a:pt x="3515" y="103"/>
                    </a:moveTo>
                    <a:lnTo>
                      <a:pt x="3513" y="96"/>
                    </a:lnTo>
                    <a:lnTo>
                      <a:pt x="3511" y="91"/>
                    </a:lnTo>
                    <a:lnTo>
                      <a:pt x="3508" y="8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2" y="1644"/>
                    </a:lnTo>
                    <a:lnTo>
                      <a:pt x="15" y="1649"/>
                    </a:lnTo>
                    <a:lnTo>
                      <a:pt x="18" y="1657"/>
                    </a:lnTo>
                    <a:lnTo>
                      <a:pt x="25" y="1674"/>
                    </a:lnTo>
                    <a:lnTo>
                      <a:pt x="130" y="1627"/>
                    </a:lnTo>
                    <a:lnTo>
                      <a:pt x="225" y="1583"/>
                    </a:lnTo>
                    <a:lnTo>
                      <a:pt x="315" y="1543"/>
                    </a:lnTo>
                    <a:lnTo>
                      <a:pt x="398" y="1506"/>
                    </a:lnTo>
                    <a:lnTo>
                      <a:pt x="474" y="1472"/>
                    </a:lnTo>
                    <a:lnTo>
                      <a:pt x="547" y="1439"/>
                    </a:lnTo>
                    <a:lnTo>
                      <a:pt x="615" y="1408"/>
                    </a:lnTo>
                    <a:lnTo>
                      <a:pt x="679" y="1379"/>
                    </a:lnTo>
                    <a:lnTo>
                      <a:pt x="743" y="1352"/>
                    </a:lnTo>
                    <a:lnTo>
                      <a:pt x="804" y="1324"/>
                    </a:lnTo>
                    <a:lnTo>
                      <a:pt x="864" y="1297"/>
                    </a:lnTo>
                    <a:lnTo>
                      <a:pt x="925" y="1269"/>
                    </a:lnTo>
                    <a:lnTo>
                      <a:pt x="987" y="1241"/>
                    </a:lnTo>
                    <a:lnTo>
                      <a:pt x="1052" y="1212"/>
                    </a:lnTo>
                    <a:lnTo>
                      <a:pt x="1119" y="1182"/>
                    </a:lnTo>
                    <a:lnTo>
                      <a:pt x="1189" y="1150"/>
                    </a:lnTo>
                    <a:lnTo>
                      <a:pt x="1265" y="1116"/>
                    </a:lnTo>
                    <a:lnTo>
                      <a:pt x="1345" y="1081"/>
                    </a:lnTo>
                    <a:lnTo>
                      <a:pt x="1432" y="1042"/>
                    </a:lnTo>
                    <a:lnTo>
                      <a:pt x="1526" y="999"/>
                    </a:lnTo>
                    <a:lnTo>
                      <a:pt x="1628" y="953"/>
                    </a:lnTo>
                    <a:lnTo>
                      <a:pt x="1738" y="903"/>
                    </a:lnTo>
                    <a:lnTo>
                      <a:pt x="1859" y="850"/>
                    </a:lnTo>
                    <a:lnTo>
                      <a:pt x="1989" y="791"/>
                    </a:lnTo>
                    <a:lnTo>
                      <a:pt x="2132" y="726"/>
                    </a:lnTo>
                    <a:lnTo>
                      <a:pt x="2286" y="657"/>
                    </a:lnTo>
                    <a:lnTo>
                      <a:pt x="2453" y="582"/>
                    </a:lnTo>
                    <a:lnTo>
                      <a:pt x="2635" y="500"/>
                    </a:lnTo>
                    <a:lnTo>
                      <a:pt x="2830" y="412"/>
                    </a:lnTo>
                    <a:lnTo>
                      <a:pt x="3042" y="316"/>
                    </a:lnTo>
                    <a:lnTo>
                      <a:pt x="3269" y="214"/>
                    </a:lnTo>
                    <a:lnTo>
                      <a:pt x="3515" y="103"/>
                    </a:lnTo>
                    <a:close/>
                  </a:path>
                </a:pathLst>
              </a:custGeom>
              <a:solidFill>
                <a:srgbClr val="D6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8" name="Freeform 362">
                <a:extLst>
                  <a:ext uri="{FF2B5EF4-FFF2-40B4-BE49-F238E27FC236}">
                    <a16:creationId xmlns:a16="http://schemas.microsoft.com/office/drawing/2014/main" id="{302F008A-9188-4976-9886-B5784FC9D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59" cy="92"/>
              </a:xfrm>
              <a:custGeom>
                <a:avLst/>
                <a:gdLst>
                  <a:gd name="T0" fmla="*/ 0 w 3503"/>
                  <a:gd name="T1" fmla="*/ 0 h 1649"/>
                  <a:gd name="T2" fmla="*/ 0 w 3503"/>
                  <a:gd name="T3" fmla="*/ 0 h 1649"/>
                  <a:gd name="T4" fmla="*/ 0 w 3503"/>
                  <a:gd name="T5" fmla="*/ 0 h 1649"/>
                  <a:gd name="T6" fmla="*/ 0 w 3503"/>
                  <a:gd name="T7" fmla="*/ 0 h 1649"/>
                  <a:gd name="T8" fmla="*/ 0 w 3503"/>
                  <a:gd name="T9" fmla="*/ 0 h 1649"/>
                  <a:gd name="T10" fmla="*/ 0 w 3503"/>
                  <a:gd name="T11" fmla="*/ 0 h 1649"/>
                  <a:gd name="T12" fmla="*/ 0 w 3503"/>
                  <a:gd name="T13" fmla="*/ 0 h 1649"/>
                  <a:gd name="T14" fmla="*/ 0 w 3503"/>
                  <a:gd name="T15" fmla="*/ 0 h 1649"/>
                  <a:gd name="T16" fmla="*/ 0 w 3503"/>
                  <a:gd name="T17" fmla="*/ 0 h 1649"/>
                  <a:gd name="T18" fmla="*/ 0 w 3503"/>
                  <a:gd name="T19" fmla="*/ 0 h 1649"/>
                  <a:gd name="T20" fmla="*/ 0 w 3503"/>
                  <a:gd name="T21" fmla="*/ 0 h 1649"/>
                  <a:gd name="T22" fmla="*/ 0 w 3503"/>
                  <a:gd name="T23" fmla="*/ 0 h 1649"/>
                  <a:gd name="T24" fmla="*/ 0 w 3503"/>
                  <a:gd name="T25" fmla="*/ 0 h 1649"/>
                  <a:gd name="T26" fmla="*/ 0 w 3503"/>
                  <a:gd name="T27" fmla="*/ 0 h 1649"/>
                  <a:gd name="T28" fmla="*/ 0 w 3503"/>
                  <a:gd name="T29" fmla="*/ 0 h 1649"/>
                  <a:gd name="T30" fmla="*/ 0 w 3503"/>
                  <a:gd name="T31" fmla="*/ 0 h 1649"/>
                  <a:gd name="T32" fmla="*/ 0 w 3503"/>
                  <a:gd name="T33" fmla="*/ 0 h 1649"/>
                  <a:gd name="T34" fmla="*/ 0 w 3503"/>
                  <a:gd name="T35" fmla="*/ 0 h 1649"/>
                  <a:gd name="T36" fmla="*/ 0 w 3503"/>
                  <a:gd name="T37" fmla="*/ 0 h 1649"/>
                  <a:gd name="T38" fmla="*/ 0 w 3503"/>
                  <a:gd name="T39" fmla="*/ 0 h 1649"/>
                  <a:gd name="T40" fmla="*/ 0 w 3503"/>
                  <a:gd name="T41" fmla="*/ 0 h 16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03"/>
                  <a:gd name="T64" fmla="*/ 0 h 1649"/>
                  <a:gd name="T65" fmla="*/ 3503 w 3503"/>
                  <a:gd name="T66" fmla="*/ 1649 h 16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03" h="1649">
                    <a:moveTo>
                      <a:pt x="3503" y="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9"/>
                    </a:lnTo>
                    <a:lnTo>
                      <a:pt x="3503" y="8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79" name="Freeform 363">
                <a:extLst>
                  <a:ext uri="{FF2B5EF4-FFF2-40B4-BE49-F238E27FC236}">
                    <a16:creationId xmlns:a16="http://schemas.microsoft.com/office/drawing/2014/main" id="{469F0293-20ED-4587-A614-1D27DEDC5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064"/>
                <a:ext cx="2" cy="3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7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0" name="Freeform 364">
                <a:extLst>
                  <a:ext uri="{FF2B5EF4-FFF2-40B4-BE49-F238E27FC236}">
                    <a16:creationId xmlns:a16="http://schemas.microsoft.com/office/drawing/2014/main" id="{027919CA-1CFA-4199-85DD-039589CE9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064"/>
                <a:ext cx="160" cy="90"/>
              </a:xfrm>
              <a:custGeom>
                <a:avLst/>
                <a:gdLst>
                  <a:gd name="T0" fmla="*/ 0 w 3529"/>
                  <a:gd name="T1" fmla="*/ 0 h 1614"/>
                  <a:gd name="T2" fmla="*/ 0 w 3529"/>
                  <a:gd name="T3" fmla="*/ 0 h 1614"/>
                  <a:gd name="T4" fmla="*/ 0 w 3529"/>
                  <a:gd name="T5" fmla="*/ 0 h 1614"/>
                  <a:gd name="T6" fmla="*/ 0 w 3529"/>
                  <a:gd name="T7" fmla="*/ 0 h 1614"/>
                  <a:gd name="T8" fmla="*/ 0 w 3529"/>
                  <a:gd name="T9" fmla="*/ 0 h 1614"/>
                  <a:gd name="T10" fmla="*/ 0 w 3529"/>
                  <a:gd name="T11" fmla="*/ 0 h 16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29"/>
                  <a:gd name="T19" fmla="*/ 0 h 1614"/>
                  <a:gd name="T20" fmla="*/ 3529 w 3529"/>
                  <a:gd name="T21" fmla="*/ 1614 h 16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29" h="1614">
                    <a:moveTo>
                      <a:pt x="8" y="1596"/>
                    </a:moveTo>
                    <a:lnTo>
                      <a:pt x="0" y="1577"/>
                    </a:lnTo>
                    <a:lnTo>
                      <a:pt x="3513" y="0"/>
                    </a:lnTo>
                    <a:lnTo>
                      <a:pt x="3529" y="38"/>
                    </a:lnTo>
                    <a:lnTo>
                      <a:pt x="16" y="1614"/>
                    </a:lnTo>
                    <a:lnTo>
                      <a:pt x="8" y="1596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1" name="Freeform 365">
                <a:extLst>
                  <a:ext uri="{FF2B5EF4-FFF2-40B4-BE49-F238E27FC236}">
                    <a16:creationId xmlns:a16="http://schemas.microsoft.com/office/drawing/2014/main" id="{DC619B32-AAAC-4541-9ECF-FEEC65D5C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152"/>
                <a:ext cx="1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28" y="37"/>
                    </a:moveTo>
                    <a:lnTo>
                      <a:pt x="19" y="40"/>
                    </a:lnTo>
                    <a:lnTo>
                      <a:pt x="12" y="37"/>
                    </a:lnTo>
                    <a:lnTo>
                      <a:pt x="6" y="33"/>
                    </a:lnTo>
                    <a:lnTo>
                      <a:pt x="2" y="26"/>
                    </a:lnTo>
                    <a:lnTo>
                      <a:pt x="0" y="19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2" y="0"/>
                    </a:lnTo>
                    <a:lnTo>
                      <a:pt x="28" y="37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2" name="Freeform 366">
                <a:extLst>
                  <a:ext uri="{FF2B5EF4-FFF2-40B4-BE49-F238E27FC236}">
                    <a16:creationId xmlns:a16="http://schemas.microsoft.com/office/drawing/2014/main" id="{A3E1A6E7-C1E2-461A-BF6C-408B6E489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3075"/>
                <a:ext cx="2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6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3" name="Freeform 367">
                <a:extLst>
                  <a:ext uri="{FF2B5EF4-FFF2-40B4-BE49-F238E27FC236}">
                    <a16:creationId xmlns:a16="http://schemas.microsoft.com/office/drawing/2014/main" id="{3E974197-73D3-48BA-AF7A-3342EA995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075"/>
                <a:ext cx="161" cy="91"/>
              </a:xfrm>
              <a:custGeom>
                <a:avLst/>
                <a:gdLst>
                  <a:gd name="T0" fmla="*/ 0 w 3547"/>
                  <a:gd name="T1" fmla="*/ 0 h 1633"/>
                  <a:gd name="T2" fmla="*/ 0 w 3547"/>
                  <a:gd name="T3" fmla="*/ 0 h 1633"/>
                  <a:gd name="T4" fmla="*/ 0 w 3547"/>
                  <a:gd name="T5" fmla="*/ 0 h 1633"/>
                  <a:gd name="T6" fmla="*/ 0 w 3547"/>
                  <a:gd name="T7" fmla="*/ 0 h 1633"/>
                  <a:gd name="T8" fmla="*/ 0 w 3547"/>
                  <a:gd name="T9" fmla="*/ 0 h 1633"/>
                  <a:gd name="T10" fmla="*/ 0 w 3547"/>
                  <a:gd name="T11" fmla="*/ 0 h 16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47"/>
                  <a:gd name="T19" fmla="*/ 0 h 1633"/>
                  <a:gd name="T20" fmla="*/ 3547 w 3547"/>
                  <a:gd name="T21" fmla="*/ 1633 h 163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47" h="1633">
                    <a:moveTo>
                      <a:pt x="8" y="1614"/>
                    </a:moveTo>
                    <a:lnTo>
                      <a:pt x="0" y="1595"/>
                    </a:lnTo>
                    <a:lnTo>
                      <a:pt x="3531" y="0"/>
                    </a:lnTo>
                    <a:lnTo>
                      <a:pt x="3547" y="38"/>
                    </a:lnTo>
                    <a:lnTo>
                      <a:pt x="17" y="1633"/>
                    </a:lnTo>
                    <a:lnTo>
                      <a:pt x="8" y="161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4" name="Freeform 368">
                <a:extLst>
                  <a:ext uri="{FF2B5EF4-FFF2-40B4-BE49-F238E27FC236}">
                    <a16:creationId xmlns:a16="http://schemas.microsoft.com/office/drawing/2014/main" id="{993934FC-9649-4DBB-A4C2-FC92F9932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164"/>
                <a:ext cx="2" cy="2"/>
              </a:xfrm>
              <a:custGeom>
                <a:avLst/>
                <a:gdLst>
                  <a:gd name="T0" fmla="*/ 0 w 29"/>
                  <a:gd name="T1" fmla="*/ 0 h 40"/>
                  <a:gd name="T2" fmla="*/ 0 w 29"/>
                  <a:gd name="T3" fmla="*/ 0 h 40"/>
                  <a:gd name="T4" fmla="*/ 0 w 29"/>
                  <a:gd name="T5" fmla="*/ 0 h 40"/>
                  <a:gd name="T6" fmla="*/ 0 w 29"/>
                  <a:gd name="T7" fmla="*/ 0 h 40"/>
                  <a:gd name="T8" fmla="*/ 0 w 29"/>
                  <a:gd name="T9" fmla="*/ 0 h 40"/>
                  <a:gd name="T10" fmla="*/ 0 w 29"/>
                  <a:gd name="T11" fmla="*/ 0 h 40"/>
                  <a:gd name="T12" fmla="*/ 0 w 29"/>
                  <a:gd name="T13" fmla="*/ 0 h 40"/>
                  <a:gd name="T14" fmla="*/ 0 w 29"/>
                  <a:gd name="T15" fmla="*/ 0 h 40"/>
                  <a:gd name="T16" fmla="*/ 0 w 29"/>
                  <a:gd name="T17" fmla="*/ 0 h 40"/>
                  <a:gd name="T18" fmla="*/ 0 w 29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40"/>
                  <a:gd name="T32" fmla="*/ 29 w 29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40">
                    <a:moveTo>
                      <a:pt x="29" y="38"/>
                    </a:moveTo>
                    <a:lnTo>
                      <a:pt x="19" y="40"/>
                    </a:lnTo>
                    <a:lnTo>
                      <a:pt x="12" y="38"/>
                    </a:lnTo>
                    <a:lnTo>
                      <a:pt x="6" y="34"/>
                    </a:lnTo>
                    <a:lnTo>
                      <a:pt x="2" y="27"/>
                    </a:lnTo>
                    <a:lnTo>
                      <a:pt x="0" y="19"/>
                    </a:lnTo>
                    <a:lnTo>
                      <a:pt x="1" y="12"/>
                    </a:lnTo>
                    <a:lnTo>
                      <a:pt x="5" y="6"/>
                    </a:lnTo>
                    <a:lnTo>
                      <a:pt x="12" y="0"/>
                    </a:lnTo>
                    <a:lnTo>
                      <a:pt x="29" y="38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5" name="Freeform 369">
                <a:extLst>
                  <a:ext uri="{FF2B5EF4-FFF2-40B4-BE49-F238E27FC236}">
                    <a16:creationId xmlns:a16="http://schemas.microsoft.com/office/drawing/2014/main" id="{EBA97A1E-0681-43FD-860E-349913842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3169"/>
                <a:ext cx="50" cy="122"/>
              </a:xfrm>
              <a:custGeom>
                <a:avLst/>
                <a:gdLst>
                  <a:gd name="T0" fmla="*/ 0 w 1103"/>
                  <a:gd name="T1" fmla="*/ 0 h 2201"/>
                  <a:gd name="T2" fmla="*/ 0 w 1103"/>
                  <a:gd name="T3" fmla="*/ 0 h 2201"/>
                  <a:gd name="T4" fmla="*/ 0 w 1103"/>
                  <a:gd name="T5" fmla="*/ 0 h 2201"/>
                  <a:gd name="T6" fmla="*/ 0 w 1103"/>
                  <a:gd name="T7" fmla="*/ 0 h 2201"/>
                  <a:gd name="T8" fmla="*/ 0 w 1103"/>
                  <a:gd name="T9" fmla="*/ 0 h 2201"/>
                  <a:gd name="T10" fmla="*/ 0 w 1103"/>
                  <a:gd name="T11" fmla="*/ 0 h 2201"/>
                  <a:gd name="T12" fmla="*/ 0 w 1103"/>
                  <a:gd name="T13" fmla="*/ 0 h 2201"/>
                  <a:gd name="T14" fmla="*/ 0 w 1103"/>
                  <a:gd name="T15" fmla="*/ 0 h 2201"/>
                  <a:gd name="T16" fmla="*/ 0 w 1103"/>
                  <a:gd name="T17" fmla="*/ 0 h 2201"/>
                  <a:gd name="T18" fmla="*/ 0 w 1103"/>
                  <a:gd name="T19" fmla="*/ 0 h 2201"/>
                  <a:gd name="T20" fmla="*/ 0 w 1103"/>
                  <a:gd name="T21" fmla="*/ 0 h 2201"/>
                  <a:gd name="T22" fmla="*/ 0 w 1103"/>
                  <a:gd name="T23" fmla="*/ 0 h 2201"/>
                  <a:gd name="T24" fmla="*/ 0 w 1103"/>
                  <a:gd name="T25" fmla="*/ 0 h 2201"/>
                  <a:gd name="T26" fmla="*/ 0 w 1103"/>
                  <a:gd name="T27" fmla="*/ 0 h 2201"/>
                  <a:gd name="T28" fmla="*/ 0 w 1103"/>
                  <a:gd name="T29" fmla="*/ 0 h 2201"/>
                  <a:gd name="T30" fmla="*/ 0 w 1103"/>
                  <a:gd name="T31" fmla="*/ 0 h 2201"/>
                  <a:gd name="T32" fmla="*/ 0 w 1103"/>
                  <a:gd name="T33" fmla="*/ 0 h 2201"/>
                  <a:gd name="T34" fmla="*/ 0 w 1103"/>
                  <a:gd name="T35" fmla="*/ 0 h 2201"/>
                  <a:gd name="T36" fmla="*/ 0 w 1103"/>
                  <a:gd name="T37" fmla="*/ 0 h 2201"/>
                  <a:gd name="T38" fmla="*/ 0 w 1103"/>
                  <a:gd name="T39" fmla="*/ 0 h 2201"/>
                  <a:gd name="T40" fmla="*/ 0 w 1103"/>
                  <a:gd name="T41" fmla="*/ 0 h 2201"/>
                  <a:gd name="T42" fmla="*/ 0 w 1103"/>
                  <a:gd name="T43" fmla="*/ 0 h 2201"/>
                  <a:gd name="T44" fmla="*/ 0 w 1103"/>
                  <a:gd name="T45" fmla="*/ 0 h 2201"/>
                  <a:gd name="T46" fmla="*/ 0 w 1103"/>
                  <a:gd name="T47" fmla="*/ 0 h 2201"/>
                  <a:gd name="T48" fmla="*/ 0 w 1103"/>
                  <a:gd name="T49" fmla="*/ 0 h 2201"/>
                  <a:gd name="T50" fmla="*/ 0 w 1103"/>
                  <a:gd name="T51" fmla="*/ 0 h 2201"/>
                  <a:gd name="T52" fmla="*/ 0 w 1103"/>
                  <a:gd name="T53" fmla="*/ 0 h 2201"/>
                  <a:gd name="T54" fmla="*/ 0 w 1103"/>
                  <a:gd name="T55" fmla="*/ 0 h 2201"/>
                  <a:gd name="T56" fmla="*/ 0 w 1103"/>
                  <a:gd name="T57" fmla="*/ 0 h 2201"/>
                  <a:gd name="T58" fmla="*/ 0 w 1103"/>
                  <a:gd name="T59" fmla="*/ 0 h 2201"/>
                  <a:gd name="T60" fmla="*/ 0 w 1103"/>
                  <a:gd name="T61" fmla="*/ 0 h 2201"/>
                  <a:gd name="T62" fmla="*/ 0 w 1103"/>
                  <a:gd name="T63" fmla="*/ 0 h 2201"/>
                  <a:gd name="T64" fmla="*/ 0 w 1103"/>
                  <a:gd name="T65" fmla="*/ 0 h 2201"/>
                  <a:gd name="T66" fmla="*/ 0 w 1103"/>
                  <a:gd name="T67" fmla="*/ 0 h 2201"/>
                  <a:gd name="T68" fmla="*/ 0 w 1103"/>
                  <a:gd name="T69" fmla="*/ 0 h 2201"/>
                  <a:gd name="T70" fmla="*/ 0 w 1103"/>
                  <a:gd name="T71" fmla="*/ 0 h 2201"/>
                  <a:gd name="T72" fmla="*/ 0 w 1103"/>
                  <a:gd name="T73" fmla="*/ 0 h 2201"/>
                  <a:gd name="T74" fmla="*/ 0 w 1103"/>
                  <a:gd name="T75" fmla="*/ 0 h 2201"/>
                  <a:gd name="T76" fmla="*/ 0 w 1103"/>
                  <a:gd name="T77" fmla="*/ 0 h 2201"/>
                  <a:gd name="T78" fmla="*/ 0 w 1103"/>
                  <a:gd name="T79" fmla="*/ 0 h 2201"/>
                  <a:gd name="T80" fmla="*/ 0 w 1103"/>
                  <a:gd name="T81" fmla="*/ 0 h 2201"/>
                  <a:gd name="T82" fmla="*/ 0 w 1103"/>
                  <a:gd name="T83" fmla="*/ 0 h 2201"/>
                  <a:gd name="T84" fmla="*/ 0 w 1103"/>
                  <a:gd name="T85" fmla="*/ 0 h 2201"/>
                  <a:gd name="T86" fmla="*/ 0 w 1103"/>
                  <a:gd name="T87" fmla="*/ 0 h 2201"/>
                  <a:gd name="T88" fmla="*/ 0 w 1103"/>
                  <a:gd name="T89" fmla="*/ 0 h 2201"/>
                  <a:gd name="T90" fmla="*/ 0 w 1103"/>
                  <a:gd name="T91" fmla="*/ 0 h 2201"/>
                  <a:gd name="T92" fmla="*/ 0 w 1103"/>
                  <a:gd name="T93" fmla="*/ 0 h 2201"/>
                  <a:gd name="T94" fmla="*/ 0 w 1103"/>
                  <a:gd name="T95" fmla="*/ 0 h 2201"/>
                  <a:gd name="T96" fmla="*/ 0 w 1103"/>
                  <a:gd name="T97" fmla="*/ 0 h 2201"/>
                  <a:gd name="T98" fmla="*/ 0 w 1103"/>
                  <a:gd name="T99" fmla="*/ 0 h 2201"/>
                  <a:gd name="T100" fmla="*/ 0 w 1103"/>
                  <a:gd name="T101" fmla="*/ 0 h 2201"/>
                  <a:gd name="T102" fmla="*/ 0 w 1103"/>
                  <a:gd name="T103" fmla="*/ 0 h 22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1"/>
                  <a:gd name="T158" fmla="*/ 1103 w 1103"/>
                  <a:gd name="T159" fmla="*/ 2201 h 220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1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1"/>
                    </a:lnTo>
                    <a:lnTo>
                      <a:pt x="1031" y="2186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80" y="2058"/>
                    </a:lnTo>
                    <a:lnTo>
                      <a:pt x="745" y="2036"/>
                    </a:lnTo>
                    <a:lnTo>
                      <a:pt x="711" y="2012"/>
                    </a:lnTo>
                    <a:lnTo>
                      <a:pt x="677" y="1988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9" y="1911"/>
                    </a:lnTo>
                    <a:lnTo>
                      <a:pt x="547" y="1884"/>
                    </a:lnTo>
                    <a:lnTo>
                      <a:pt x="515" y="1856"/>
                    </a:lnTo>
                    <a:lnTo>
                      <a:pt x="485" y="1827"/>
                    </a:lnTo>
                    <a:lnTo>
                      <a:pt x="455" y="1797"/>
                    </a:lnTo>
                    <a:lnTo>
                      <a:pt x="426" y="1767"/>
                    </a:lnTo>
                    <a:lnTo>
                      <a:pt x="397" y="1736"/>
                    </a:lnTo>
                    <a:lnTo>
                      <a:pt x="370" y="1705"/>
                    </a:lnTo>
                    <a:lnTo>
                      <a:pt x="342" y="1672"/>
                    </a:lnTo>
                    <a:lnTo>
                      <a:pt x="316" y="1638"/>
                    </a:lnTo>
                    <a:lnTo>
                      <a:pt x="291" y="1604"/>
                    </a:lnTo>
                    <a:lnTo>
                      <a:pt x="267" y="1571"/>
                    </a:lnTo>
                    <a:lnTo>
                      <a:pt x="243" y="1536"/>
                    </a:lnTo>
                    <a:lnTo>
                      <a:pt x="221" y="1500"/>
                    </a:lnTo>
                    <a:lnTo>
                      <a:pt x="199" y="1463"/>
                    </a:lnTo>
                    <a:lnTo>
                      <a:pt x="178" y="1427"/>
                    </a:lnTo>
                    <a:lnTo>
                      <a:pt x="158" y="1389"/>
                    </a:lnTo>
                    <a:lnTo>
                      <a:pt x="140" y="1351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70" y="1164"/>
                    </a:lnTo>
                    <a:lnTo>
                      <a:pt x="49" y="1083"/>
                    </a:lnTo>
                    <a:lnTo>
                      <a:pt x="32" y="997"/>
                    </a:lnTo>
                    <a:lnTo>
                      <a:pt x="19" y="910"/>
                    </a:lnTo>
                    <a:lnTo>
                      <a:pt x="8" y="822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1"/>
                    </a:lnTo>
                    <a:lnTo>
                      <a:pt x="8" y="463"/>
                    </a:lnTo>
                    <a:lnTo>
                      <a:pt x="18" y="375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9" y="136"/>
                    </a:lnTo>
                    <a:lnTo>
                      <a:pt x="94" y="65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6" name="Freeform 370">
                <a:extLst>
                  <a:ext uri="{FF2B5EF4-FFF2-40B4-BE49-F238E27FC236}">
                    <a16:creationId xmlns:a16="http://schemas.microsoft.com/office/drawing/2014/main" id="{5AF6CA1F-0569-4A0D-86F4-881258242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3169"/>
                <a:ext cx="50" cy="122"/>
              </a:xfrm>
              <a:custGeom>
                <a:avLst/>
                <a:gdLst>
                  <a:gd name="T0" fmla="*/ 0 w 1103"/>
                  <a:gd name="T1" fmla="*/ 0 h 2202"/>
                  <a:gd name="T2" fmla="*/ 0 w 1103"/>
                  <a:gd name="T3" fmla="*/ 0 h 2202"/>
                  <a:gd name="T4" fmla="*/ 0 w 1103"/>
                  <a:gd name="T5" fmla="*/ 0 h 2202"/>
                  <a:gd name="T6" fmla="*/ 0 w 1103"/>
                  <a:gd name="T7" fmla="*/ 0 h 2202"/>
                  <a:gd name="T8" fmla="*/ 0 w 1103"/>
                  <a:gd name="T9" fmla="*/ 0 h 2202"/>
                  <a:gd name="T10" fmla="*/ 0 w 1103"/>
                  <a:gd name="T11" fmla="*/ 0 h 2202"/>
                  <a:gd name="T12" fmla="*/ 0 w 1103"/>
                  <a:gd name="T13" fmla="*/ 0 h 2202"/>
                  <a:gd name="T14" fmla="*/ 0 w 1103"/>
                  <a:gd name="T15" fmla="*/ 0 h 2202"/>
                  <a:gd name="T16" fmla="*/ 0 w 1103"/>
                  <a:gd name="T17" fmla="*/ 0 h 2202"/>
                  <a:gd name="T18" fmla="*/ 0 w 1103"/>
                  <a:gd name="T19" fmla="*/ 0 h 2202"/>
                  <a:gd name="T20" fmla="*/ 0 w 1103"/>
                  <a:gd name="T21" fmla="*/ 0 h 2202"/>
                  <a:gd name="T22" fmla="*/ 0 w 1103"/>
                  <a:gd name="T23" fmla="*/ 0 h 2202"/>
                  <a:gd name="T24" fmla="*/ 0 w 1103"/>
                  <a:gd name="T25" fmla="*/ 0 h 2202"/>
                  <a:gd name="T26" fmla="*/ 0 w 1103"/>
                  <a:gd name="T27" fmla="*/ 0 h 2202"/>
                  <a:gd name="T28" fmla="*/ 0 w 1103"/>
                  <a:gd name="T29" fmla="*/ 0 h 2202"/>
                  <a:gd name="T30" fmla="*/ 0 w 1103"/>
                  <a:gd name="T31" fmla="*/ 0 h 2202"/>
                  <a:gd name="T32" fmla="*/ 0 w 1103"/>
                  <a:gd name="T33" fmla="*/ 0 h 2202"/>
                  <a:gd name="T34" fmla="*/ 0 w 1103"/>
                  <a:gd name="T35" fmla="*/ 0 h 2202"/>
                  <a:gd name="T36" fmla="*/ 0 w 1103"/>
                  <a:gd name="T37" fmla="*/ 0 h 2202"/>
                  <a:gd name="T38" fmla="*/ 0 w 1103"/>
                  <a:gd name="T39" fmla="*/ 0 h 2202"/>
                  <a:gd name="T40" fmla="*/ 0 w 1103"/>
                  <a:gd name="T41" fmla="*/ 0 h 2202"/>
                  <a:gd name="T42" fmla="*/ 0 w 1103"/>
                  <a:gd name="T43" fmla="*/ 0 h 2202"/>
                  <a:gd name="T44" fmla="*/ 0 w 1103"/>
                  <a:gd name="T45" fmla="*/ 0 h 2202"/>
                  <a:gd name="T46" fmla="*/ 0 w 1103"/>
                  <a:gd name="T47" fmla="*/ 0 h 2202"/>
                  <a:gd name="T48" fmla="*/ 0 w 1103"/>
                  <a:gd name="T49" fmla="*/ 0 h 2202"/>
                  <a:gd name="T50" fmla="*/ 0 w 1103"/>
                  <a:gd name="T51" fmla="*/ 0 h 2202"/>
                  <a:gd name="T52" fmla="*/ 0 w 1103"/>
                  <a:gd name="T53" fmla="*/ 0 h 2202"/>
                  <a:gd name="T54" fmla="*/ 0 w 1103"/>
                  <a:gd name="T55" fmla="*/ 0 h 2202"/>
                  <a:gd name="T56" fmla="*/ 0 w 1103"/>
                  <a:gd name="T57" fmla="*/ 0 h 2202"/>
                  <a:gd name="T58" fmla="*/ 0 w 1103"/>
                  <a:gd name="T59" fmla="*/ 0 h 2202"/>
                  <a:gd name="T60" fmla="*/ 0 w 1103"/>
                  <a:gd name="T61" fmla="*/ 0 h 2202"/>
                  <a:gd name="T62" fmla="*/ 0 w 1103"/>
                  <a:gd name="T63" fmla="*/ 0 h 2202"/>
                  <a:gd name="T64" fmla="*/ 0 w 1103"/>
                  <a:gd name="T65" fmla="*/ 0 h 2202"/>
                  <a:gd name="T66" fmla="*/ 0 w 1103"/>
                  <a:gd name="T67" fmla="*/ 0 h 2202"/>
                  <a:gd name="T68" fmla="*/ 0 w 1103"/>
                  <a:gd name="T69" fmla="*/ 0 h 2202"/>
                  <a:gd name="T70" fmla="*/ 0 w 1103"/>
                  <a:gd name="T71" fmla="*/ 0 h 2202"/>
                  <a:gd name="T72" fmla="*/ 0 w 1103"/>
                  <a:gd name="T73" fmla="*/ 0 h 2202"/>
                  <a:gd name="T74" fmla="*/ 0 w 1103"/>
                  <a:gd name="T75" fmla="*/ 0 h 2202"/>
                  <a:gd name="T76" fmla="*/ 0 w 1103"/>
                  <a:gd name="T77" fmla="*/ 0 h 2202"/>
                  <a:gd name="T78" fmla="*/ 0 w 1103"/>
                  <a:gd name="T79" fmla="*/ 0 h 2202"/>
                  <a:gd name="T80" fmla="*/ 0 w 1103"/>
                  <a:gd name="T81" fmla="*/ 0 h 2202"/>
                  <a:gd name="T82" fmla="*/ 0 w 1103"/>
                  <a:gd name="T83" fmla="*/ 0 h 2202"/>
                  <a:gd name="T84" fmla="*/ 0 w 1103"/>
                  <a:gd name="T85" fmla="*/ 0 h 2202"/>
                  <a:gd name="T86" fmla="*/ 0 w 1103"/>
                  <a:gd name="T87" fmla="*/ 0 h 2202"/>
                  <a:gd name="T88" fmla="*/ 0 w 1103"/>
                  <a:gd name="T89" fmla="*/ 0 h 2202"/>
                  <a:gd name="T90" fmla="*/ 0 w 1103"/>
                  <a:gd name="T91" fmla="*/ 0 h 2202"/>
                  <a:gd name="T92" fmla="*/ 0 w 1103"/>
                  <a:gd name="T93" fmla="*/ 0 h 2202"/>
                  <a:gd name="T94" fmla="*/ 0 w 1103"/>
                  <a:gd name="T95" fmla="*/ 0 h 2202"/>
                  <a:gd name="T96" fmla="*/ 0 w 1103"/>
                  <a:gd name="T97" fmla="*/ 0 h 2202"/>
                  <a:gd name="T98" fmla="*/ 0 w 1103"/>
                  <a:gd name="T99" fmla="*/ 0 h 2202"/>
                  <a:gd name="T100" fmla="*/ 0 w 1103"/>
                  <a:gd name="T101" fmla="*/ 0 h 2202"/>
                  <a:gd name="T102" fmla="*/ 0 w 1103"/>
                  <a:gd name="T103" fmla="*/ 0 h 220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2"/>
                  <a:gd name="T158" fmla="*/ 1103 w 1103"/>
                  <a:gd name="T159" fmla="*/ 2202 h 220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2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2"/>
                    </a:lnTo>
                    <a:lnTo>
                      <a:pt x="1030" y="2187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79" y="2058"/>
                    </a:lnTo>
                    <a:lnTo>
                      <a:pt x="745" y="2036"/>
                    </a:lnTo>
                    <a:lnTo>
                      <a:pt x="711" y="2013"/>
                    </a:lnTo>
                    <a:lnTo>
                      <a:pt x="676" y="1989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8" y="1912"/>
                    </a:lnTo>
                    <a:lnTo>
                      <a:pt x="547" y="1884"/>
                    </a:lnTo>
                    <a:lnTo>
                      <a:pt x="515" y="1857"/>
                    </a:lnTo>
                    <a:lnTo>
                      <a:pt x="485" y="1827"/>
                    </a:lnTo>
                    <a:lnTo>
                      <a:pt x="455" y="1798"/>
                    </a:lnTo>
                    <a:lnTo>
                      <a:pt x="425" y="1767"/>
                    </a:lnTo>
                    <a:lnTo>
                      <a:pt x="397" y="1737"/>
                    </a:lnTo>
                    <a:lnTo>
                      <a:pt x="369" y="1705"/>
                    </a:lnTo>
                    <a:lnTo>
                      <a:pt x="342" y="1672"/>
                    </a:lnTo>
                    <a:lnTo>
                      <a:pt x="316" y="1639"/>
                    </a:lnTo>
                    <a:lnTo>
                      <a:pt x="291" y="1605"/>
                    </a:lnTo>
                    <a:lnTo>
                      <a:pt x="266" y="1571"/>
                    </a:lnTo>
                    <a:lnTo>
                      <a:pt x="243" y="1536"/>
                    </a:lnTo>
                    <a:lnTo>
                      <a:pt x="220" y="1500"/>
                    </a:lnTo>
                    <a:lnTo>
                      <a:pt x="199" y="1464"/>
                    </a:lnTo>
                    <a:lnTo>
                      <a:pt x="178" y="1428"/>
                    </a:lnTo>
                    <a:lnTo>
                      <a:pt x="158" y="1390"/>
                    </a:lnTo>
                    <a:lnTo>
                      <a:pt x="140" y="1352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69" y="1164"/>
                    </a:lnTo>
                    <a:lnTo>
                      <a:pt x="49" y="1083"/>
                    </a:lnTo>
                    <a:lnTo>
                      <a:pt x="32" y="998"/>
                    </a:lnTo>
                    <a:lnTo>
                      <a:pt x="18" y="910"/>
                    </a:lnTo>
                    <a:lnTo>
                      <a:pt x="8" y="823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2"/>
                    </a:lnTo>
                    <a:lnTo>
                      <a:pt x="8" y="463"/>
                    </a:lnTo>
                    <a:lnTo>
                      <a:pt x="17" y="376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8" y="136"/>
                    </a:lnTo>
                    <a:lnTo>
                      <a:pt x="94" y="66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7" name="Freeform 371">
                <a:extLst>
                  <a:ext uri="{FF2B5EF4-FFF2-40B4-BE49-F238E27FC236}">
                    <a16:creationId xmlns:a16="http://schemas.microsoft.com/office/drawing/2014/main" id="{85AFE772-CEEA-414C-A394-C1B6927D9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2" cy="121"/>
              </a:xfrm>
              <a:custGeom>
                <a:avLst/>
                <a:gdLst>
                  <a:gd name="T0" fmla="*/ 0 w 1133"/>
                  <a:gd name="T1" fmla="*/ 0 h 2181"/>
                  <a:gd name="T2" fmla="*/ 0 w 1133"/>
                  <a:gd name="T3" fmla="*/ 0 h 2181"/>
                  <a:gd name="T4" fmla="*/ 0 w 1133"/>
                  <a:gd name="T5" fmla="*/ 0 h 2181"/>
                  <a:gd name="T6" fmla="*/ 0 w 1133"/>
                  <a:gd name="T7" fmla="*/ 0 h 2181"/>
                  <a:gd name="T8" fmla="*/ 0 w 1133"/>
                  <a:gd name="T9" fmla="*/ 0 h 2181"/>
                  <a:gd name="T10" fmla="*/ 0 w 1133"/>
                  <a:gd name="T11" fmla="*/ 0 h 2181"/>
                  <a:gd name="T12" fmla="*/ 0 w 1133"/>
                  <a:gd name="T13" fmla="*/ 0 h 2181"/>
                  <a:gd name="T14" fmla="*/ 0 w 1133"/>
                  <a:gd name="T15" fmla="*/ 0 h 2181"/>
                  <a:gd name="T16" fmla="*/ 0 w 1133"/>
                  <a:gd name="T17" fmla="*/ 0 h 2181"/>
                  <a:gd name="T18" fmla="*/ 0 w 1133"/>
                  <a:gd name="T19" fmla="*/ 0 h 2181"/>
                  <a:gd name="T20" fmla="*/ 0 w 1133"/>
                  <a:gd name="T21" fmla="*/ 0 h 2181"/>
                  <a:gd name="T22" fmla="*/ 0 w 1133"/>
                  <a:gd name="T23" fmla="*/ 0 h 2181"/>
                  <a:gd name="T24" fmla="*/ 0 w 1133"/>
                  <a:gd name="T25" fmla="*/ 0 h 2181"/>
                  <a:gd name="T26" fmla="*/ 0 w 1133"/>
                  <a:gd name="T27" fmla="*/ 0 h 2181"/>
                  <a:gd name="T28" fmla="*/ 0 w 1133"/>
                  <a:gd name="T29" fmla="*/ 0 h 2181"/>
                  <a:gd name="T30" fmla="*/ 0 w 1133"/>
                  <a:gd name="T31" fmla="*/ 0 h 2181"/>
                  <a:gd name="T32" fmla="*/ 0 w 1133"/>
                  <a:gd name="T33" fmla="*/ 0 h 2181"/>
                  <a:gd name="T34" fmla="*/ 0 w 1133"/>
                  <a:gd name="T35" fmla="*/ 0 h 2181"/>
                  <a:gd name="T36" fmla="*/ 0 w 1133"/>
                  <a:gd name="T37" fmla="*/ 0 h 2181"/>
                  <a:gd name="T38" fmla="*/ 0 w 1133"/>
                  <a:gd name="T39" fmla="*/ 0 h 2181"/>
                  <a:gd name="T40" fmla="*/ 0 w 1133"/>
                  <a:gd name="T41" fmla="*/ 0 h 2181"/>
                  <a:gd name="T42" fmla="*/ 0 w 1133"/>
                  <a:gd name="T43" fmla="*/ 0 h 2181"/>
                  <a:gd name="T44" fmla="*/ 0 w 1133"/>
                  <a:gd name="T45" fmla="*/ 0 h 2181"/>
                  <a:gd name="T46" fmla="*/ 0 w 1133"/>
                  <a:gd name="T47" fmla="*/ 0 h 2181"/>
                  <a:gd name="T48" fmla="*/ 0 w 1133"/>
                  <a:gd name="T49" fmla="*/ 0 h 2181"/>
                  <a:gd name="T50" fmla="*/ 0 w 1133"/>
                  <a:gd name="T51" fmla="*/ 0 h 2181"/>
                  <a:gd name="T52" fmla="*/ 0 w 1133"/>
                  <a:gd name="T53" fmla="*/ 0 h 2181"/>
                  <a:gd name="T54" fmla="*/ 0 w 1133"/>
                  <a:gd name="T55" fmla="*/ 0 h 2181"/>
                  <a:gd name="T56" fmla="*/ 0 w 1133"/>
                  <a:gd name="T57" fmla="*/ 0 h 2181"/>
                  <a:gd name="T58" fmla="*/ 0 w 1133"/>
                  <a:gd name="T59" fmla="*/ 0 h 2181"/>
                  <a:gd name="T60" fmla="*/ 0 w 1133"/>
                  <a:gd name="T61" fmla="*/ 0 h 2181"/>
                  <a:gd name="T62" fmla="*/ 0 w 1133"/>
                  <a:gd name="T63" fmla="*/ 0 h 2181"/>
                  <a:gd name="T64" fmla="*/ 0 w 1133"/>
                  <a:gd name="T65" fmla="*/ 0 h 2181"/>
                  <a:gd name="T66" fmla="*/ 0 w 1133"/>
                  <a:gd name="T67" fmla="*/ 0 h 2181"/>
                  <a:gd name="T68" fmla="*/ 0 w 1133"/>
                  <a:gd name="T69" fmla="*/ 0 h 2181"/>
                  <a:gd name="T70" fmla="*/ 0 w 1133"/>
                  <a:gd name="T71" fmla="*/ 0 h 2181"/>
                  <a:gd name="T72" fmla="*/ 0 w 1133"/>
                  <a:gd name="T73" fmla="*/ 0 h 2181"/>
                  <a:gd name="T74" fmla="*/ 0 w 1133"/>
                  <a:gd name="T75" fmla="*/ 0 h 2181"/>
                  <a:gd name="T76" fmla="*/ 0 w 1133"/>
                  <a:gd name="T77" fmla="*/ 0 h 2181"/>
                  <a:gd name="T78" fmla="*/ 0 w 1133"/>
                  <a:gd name="T79" fmla="*/ 0 h 2181"/>
                  <a:gd name="T80" fmla="*/ 0 w 1133"/>
                  <a:gd name="T81" fmla="*/ 0 h 2181"/>
                  <a:gd name="T82" fmla="*/ 0 w 1133"/>
                  <a:gd name="T83" fmla="*/ 0 h 2181"/>
                  <a:gd name="T84" fmla="*/ 0 w 1133"/>
                  <a:gd name="T85" fmla="*/ 0 h 2181"/>
                  <a:gd name="T86" fmla="*/ 0 w 1133"/>
                  <a:gd name="T87" fmla="*/ 0 h 2181"/>
                  <a:gd name="T88" fmla="*/ 0 w 1133"/>
                  <a:gd name="T89" fmla="*/ 0 h 2181"/>
                  <a:gd name="T90" fmla="*/ 0 w 1133"/>
                  <a:gd name="T91" fmla="*/ 0 h 2181"/>
                  <a:gd name="T92" fmla="*/ 0 w 1133"/>
                  <a:gd name="T93" fmla="*/ 0 h 2181"/>
                  <a:gd name="T94" fmla="*/ 0 w 1133"/>
                  <a:gd name="T95" fmla="*/ 0 h 2181"/>
                  <a:gd name="T96" fmla="*/ 0 w 1133"/>
                  <a:gd name="T97" fmla="*/ 0 h 2181"/>
                  <a:gd name="T98" fmla="*/ 0 w 1133"/>
                  <a:gd name="T99" fmla="*/ 0 h 2181"/>
                  <a:gd name="T100" fmla="*/ 0 w 1133"/>
                  <a:gd name="T101" fmla="*/ 0 h 2181"/>
                  <a:gd name="T102" fmla="*/ 0 w 1133"/>
                  <a:gd name="T103" fmla="*/ 0 h 218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3"/>
                  <a:gd name="T157" fmla="*/ 0 h 2181"/>
                  <a:gd name="T158" fmla="*/ 1133 w 1133"/>
                  <a:gd name="T159" fmla="*/ 2181 h 218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3" h="2181">
                    <a:moveTo>
                      <a:pt x="917" y="2127"/>
                    </a:moveTo>
                    <a:lnTo>
                      <a:pt x="0" y="131"/>
                    </a:lnTo>
                    <a:lnTo>
                      <a:pt x="32" y="0"/>
                    </a:lnTo>
                    <a:lnTo>
                      <a:pt x="69" y="14"/>
                    </a:lnTo>
                    <a:lnTo>
                      <a:pt x="106" y="29"/>
                    </a:lnTo>
                    <a:lnTo>
                      <a:pt x="142" y="44"/>
                    </a:lnTo>
                    <a:lnTo>
                      <a:pt x="179" y="60"/>
                    </a:lnTo>
                    <a:lnTo>
                      <a:pt x="216" y="78"/>
                    </a:lnTo>
                    <a:lnTo>
                      <a:pt x="252" y="96"/>
                    </a:lnTo>
                    <a:lnTo>
                      <a:pt x="287" y="116"/>
                    </a:lnTo>
                    <a:lnTo>
                      <a:pt x="323" y="136"/>
                    </a:lnTo>
                    <a:lnTo>
                      <a:pt x="358" y="159"/>
                    </a:lnTo>
                    <a:lnTo>
                      <a:pt x="392" y="181"/>
                    </a:lnTo>
                    <a:lnTo>
                      <a:pt x="427" y="204"/>
                    </a:lnTo>
                    <a:lnTo>
                      <a:pt x="461" y="228"/>
                    </a:lnTo>
                    <a:lnTo>
                      <a:pt x="494" y="252"/>
                    </a:lnTo>
                    <a:lnTo>
                      <a:pt x="527" y="279"/>
                    </a:lnTo>
                    <a:lnTo>
                      <a:pt x="560" y="305"/>
                    </a:lnTo>
                    <a:lnTo>
                      <a:pt x="591" y="332"/>
                    </a:lnTo>
                    <a:lnTo>
                      <a:pt x="623" y="361"/>
                    </a:lnTo>
                    <a:lnTo>
                      <a:pt x="653" y="389"/>
                    </a:lnTo>
                    <a:lnTo>
                      <a:pt x="683" y="419"/>
                    </a:lnTo>
                    <a:lnTo>
                      <a:pt x="713" y="449"/>
                    </a:lnTo>
                    <a:lnTo>
                      <a:pt x="741" y="481"/>
                    </a:lnTo>
                    <a:lnTo>
                      <a:pt x="769" y="513"/>
                    </a:lnTo>
                    <a:lnTo>
                      <a:pt x="795" y="545"/>
                    </a:lnTo>
                    <a:lnTo>
                      <a:pt x="822" y="578"/>
                    </a:lnTo>
                    <a:lnTo>
                      <a:pt x="846" y="612"/>
                    </a:lnTo>
                    <a:lnTo>
                      <a:pt x="871" y="647"/>
                    </a:lnTo>
                    <a:lnTo>
                      <a:pt x="894" y="681"/>
                    </a:lnTo>
                    <a:lnTo>
                      <a:pt x="917" y="717"/>
                    </a:lnTo>
                    <a:lnTo>
                      <a:pt x="938" y="754"/>
                    </a:lnTo>
                    <a:lnTo>
                      <a:pt x="958" y="791"/>
                    </a:lnTo>
                    <a:lnTo>
                      <a:pt x="978" y="828"/>
                    </a:lnTo>
                    <a:lnTo>
                      <a:pt x="996" y="866"/>
                    </a:lnTo>
                    <a:lnTo>
                      <a:pt x="1026" y="938"/>
                    </a:lnTo>
                    <a:lnTo>
                      <a:pt x="1052" y="1015"/>
                    </a:lnTo>
                    <a:lnTo>
                      <a:pt x="1075" y="1096"/>
                    </a:lnTo>
                    <a:lnTo>
                      <a:pt x="1094" y="1180"/>
                    </a:lnTo>
                    <a:lnTo>
                      <a:pt x="1109" y="1266"/>
                    </a:lnTo>
                    <a:lnTo>
                      <a:pt x="1121" y="1356"/>
                    </a:lnTo>
                    <a:lnTo>
                      <a:pt x="1129" y="1446"/>
                    </a:lnTo>
                    <a:lnTo>
                      <a:pt x="1133" y="1536"/>
                    </a:lnTo>
                    <a:lnTo>
                      <a:pt x="1133" y="1626"/>
                    </a:lnTo>
                    <a:lnTo>
                      <a:pt x="1130" y="1716"/>
                    </a:lnTo>
                    <a:lnTo>
                      <a:pt x="1122" y="1802"/>
                    </a:lnTo>
                    <a:lnTo>
                      <a:pt x="1110" y="1886"/>
                    </a:lnTo>
                    <a:lnTo>
                      <a:pt x="1095" y="1967"/>
                    </a:lnTo>
                    <a:lnTo>
                      <a:pt x="1076" y="2043"/>
                    </a:lnTo>
                    <a:lnTo>
                      <a:pt x="1052" y="2115"/>
                    </a:lnTo>
                    <a:lnTo>
                      <a:pt x="1025" y="2181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8" name="Freeform 372">
                <a:extLst>
                  <a:ext uri="{FF2B5EF4-FFF2-40B4-BE49-F238E27FC236}">
                    <a16:creationId xmlns:a16="http://schemas.microsoft.com/office/drawing/2014/main" id="{2E7659FD-FC9C-4180-9F00-DE0807C00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1" cy="122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8" y="2126"/>
                    </a:moveTo>
                    <a:lnTo>
                      <a:pt x="0" y="130"/>
                    </a:lnTo>
                    <a:lnTo>
                      <a:pt x="33" y="0"/>
                    </a:lnTo>
                    <a:lnTo>
                      <a:pt x="70" y="13"/>
                    </a:lnTo>
                    <a:lnTo>
                      <a:pt x="107" y="28"/>
                    </a:lnTo>
                    <a:lnTo>
                      <a:pt x="143" y="43"/>
                    </a:lnTo>
                    <a:lnTo>
                      <a:pt x="180" y="60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9" y="158"/>
                    </a:lnTo>
                    <a:lnTo>
                      <a:pt x="393" y="180"/>
                    </a:lnTo>
                    <a:lnTo>
                      <a:pt x="428" y="203"/>
                    </a:lnTo>
                    <a:lnTo>
                      <a:pt x="462" y="227"/>
                    </a:lnTo>
                    <a:lnTo>
                      <a:pt x="495" y="252"/>
                    </a:lnTo>
                    <a:lnTo>
                      <a:pt x="528" y="278"/>
                    </a:lnTo>
                    <a:lnTo>
                      <a:pt x="561" y="304"/>
                    </a:lnTo>
                    <a:lnTo>
                      <a:pt x="592" y="332"/>
                    </a:lnTo>
                    <a:lnTo>
                      <a:pt x="624" y="360"/>
                    </a:lnTo>
                    <a:lnTo>
                      <a:pt x="654" y="389"/>
                    </a:lnTo>
                    <a:lnTo>
                      <a:pt x="684" y="418"/>
                    </a:lnTo>
                    <a:lnTo>
                      <a:pt x="714" y="449"/>
                    </a:lnTo>
                    <a:lnTo>
                      <a:pt x="742" y="480"/>
                    </a:lnTo>
                    <a:lnTo>
                      <a:pt x="770" y="512"/>
                    </a:lnTo>
                    <a:lnTo>
                      <a:pt x="796" y="545"/>
                    </a:lnTo>
                    <a:lnTo>
                      <a:pt x="823" y="577"/>
                    </a:lnTo>
                    <a:lnTo>
                      <a:pt x="847" y="611"/>
                    </a:lnTo>
                    <a:lnTo>
                      <a:pt x="872" y="646"/>
                    </a:lnTo>
                    <a:lnTo>
                      <a:pt x="895" y="681"/>
                    </a:lnTo>
                    <a:lnTo>
                      <a:pt x="918" y="717"/>
                    </a:lnTo>
                    <a:lnTo>
                      <a:pt x="939" y="754"/>
                    </a:lnTo>
                    <a:lnTo>
                      <a:pt x="959" y="790"/>
                    </a:lnTo>
                    <a:lnTo>
                      <a:pt x="979" y="827"/>
                    </a:lnTo>
                    <a:lnTo>
                      <a:pt x="997" y="865"/>
                    </a:lnTo>
                    <a:lnTo>
                      <a:pt x="1027" y="937"/>
                    </a:lnTo>
                    <a:lnTo>
                      <a:pt x="1053" y="1014"/>
                    </a:lnTo>
                    <a:lnTo>
                      <a:pt x="1076" y="1095"/>
                    </a:lnTo>
                    <a:lnTo>
                      <a:pt x="1095" y="1179"/>
                    </a:lnTo>
                    <a:lnTo>
                      <a:pt x="1110" y="1266"/>
                    </a:lnTo>
                    <a:lnTo>
                      <a:pt x="1122" y="1355"/>
                    </a:lnTo>
                    <a:lnTo>
                      <a:pt x="1130" y="1445"/>
                    </a:lnTo>
                    <a:lnTo>
                      <a:pt x="1134" y="1536"/>
                    </a:lnTo>
                    <a:lnTo>
                      <a:pt x="1134" y="1625"/>
                    </a:lnTo>
                    <a:lnTo>
                      <a:pt x="1131" y="1715"/>
                    </a:lnTo>
                    <a:lnTo>
                      <a:pt x="1123" y="1801"/>
                    </a:lnTo>
                    <a:lnTo>
                      <a:pt x="1111" y="1886"/>
                    </a:lnTo>
                    <a:lnTo>
                      <a:pt x="1096" y="1966"/>
                    </a:lnTo>
                    <a:lnTo>
                      <a:pt x="1077" y="2043"/>
                    </a:lnTo>
                    <a:lnTo>
                      <a:pt x="1053" y="2115"/>
                    </a:lnTo>
                    <a:lnTo>
                      <a:pt x="1026" y="2180"/>
                    </a:lnTo>
                    <a:lnTo>
                      <a:pt x="918" y="2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89" name="Freeform 373">
                <a:extLst>
                  <a:ext uri="{FF2B5EF4-FFF2-40B4-BE49-F238E27FC236}">
                    <a16:creationId xmlns:a16="http://schemas.microsoft.com/office/drawing/2014/main" id="{13C94B9B-6AF6-42F7-B90C-7E332E038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4"/>
                <a:ext cx="164" cy="228"/>
              </a:xfrm>
              <a:custGeom>
                <a:avLst/>
                <a:gdLst>
                  <a:gd name="T0" fmla="*/ 0 w 3622"/>
                  <a:gd name="T1" fmla="*/ 0 h 4112"/>
                  <a:gd name="T2" fmla="*/ 0 w 3622"/>
                  <a:gd name="T3" fmla="*/ 0 h 4112"/>
                  <a:gd name="T4" fmla="*/ 0 w 3622"/>
                  <a:gd name="T5" fmla="*/ 0 h 4112"/>
                  <a:gd name="T6" fmla="*/ 0 w 3622"/>
                  <a:gd name="T7" fmla="*/ 0 h 4112"/>
                  <a:gd name="T8" fmla="*/ 0 w 3622"/>
                  <a:gd name="T9" fmla="*/ 0 h 4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2"/>
                  <a:gd name="T17" fmla="*/ 3622 w 3622"/>
                  <a:gd name="T18" fmla="*/ 4112 h 4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2">
                    <a:moveTo>
                      <a:pt x="1404" y="4112"/>
                    </a:moveTo>
                    <a:lnTo>
                      <a:pt x="3622" y="3023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0" name="Freeform 374">
                <a:extLst>
                  <a:ext uri="{FF2B5EF4-FFF2-40B4-BE49-F238E27FC236}">
                    <a16:creationId xmlns:a16="http://schemas.microsoft.com/office/drawing/2014/main" id="{60C5F0DA-A7A5-4D70-8D93-2EBBD289C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1"/>
                <a:ext cx="164" cy="228"/>
              </a:xfrm>
              <a:custGeom>
                <a:avLst/>
                <a:gdLst>
                  <a:gd name="T0" fmla="*/ 0 w 3622"/>
                  <a:gd name="T1" fmla="*/ 0 h 4113"/>
                  <a:gd name="T2" fmla="*/ 0 w 3622"/>
                  <a:gd name="T3" fmla="*/ 0 h 4113"/>
                  <a:gd name="T4" fmla="*/ 0 w 3622"/>
                  <a:gd name="T5" fmla="*/ 0 h 4113"/>
                  <a:gd name="T6" fmla="*/ 0 w 3622"/>
                  <a:gd name="T7" fmla="*/ 0 h 4113"/>
                  <a:gd name="T8" fmla="*/ 0 w 3622"/>
                  <a:gd name="T9" fmla="*/ 0 h 41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3"/>
                  <a:gd name="T17" fmla="*/ 3622 w 3622"/>
                  <a:gd name="T18" fmla="*/ 4113 h 41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3">
                    <a:moveTo>
                      <a:pt x="1404" y="4113"/>
                    </a:moveTo>
                    <a:lnTo>
                      <a:pt x="3622" y="3024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3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1" name="Freeform 375">
                <a:extLst>
                  <a:ext uri="{FF2B5EF4-FFF2-40B4-BE49-F238E27FC236}">
                    <a16:creationId xmlns:a16="http://schemas.microsoft.com/office/drawing/2014/main" id="{1328758E-BAE8-4A5A-B207-4753C1A32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146"/>
                <a:ext cx="157" cy="218"/>
              </a:xfrm>
              <a:custGeom>
                <a:avLst/>
                <a:gdLst>
                  <a:gd name="T0" fmla="*/ 0 w 3446"/>
                  <a:gd name="T1" fmla="*/ 0 h 3913"/>
                  <a:gd name="T2" fmla="*/ 0 w 3446"/>
                  <a:gd name="T3" fmla="*/ 0 h 3913"/>
                  <a:gd name="T4" fmla="*/ 0 w 3446"/>
                  <a:gd name="T5" fmla="*/ 0 h 3913"/>
                  <a:gd name="T6" fmla="*/ 0 w 3446"/>
                  <a:gd name="T7" fmla="*/ 0 h 3913"/>
                  <a:gd name="T8" fmla="*/ 0 w 3446"/>
                  <a:gd name="T9" fmla="*/ 0 h 39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46"/>
                  <a:gd name="T16" fmla="*/ 0 h 3913"/>
                  <a:gd name="T17" fmla="*/ 3446 w 3446"/>
                  <a:gd name="T18" fmla="*/ 3913 h 39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46" h="3913">
                    <a:moveTo>
                      <a:pt x="1335" y="3913"/>
                    </a:moveTo>
                    <a:lnTo>
                      <a:pt x="3446" y="2878"/>
                    </a:lnTo>
                    <a:lnTo>
                      <a:pt x="2111" y="0"/>
                    </a:lnTo>
                    <a:lnTo>
                      <a:pt x="0" y="942"/>
                    </a:lnTo>
                    <a:lnTo>
                      <a:pt x="1335" y="3913"/>
                    </a:lnTo>
                    <a:close/>
                  </a:path>
                </a:pathLst>
              </a:custGeom>
              <a:solidFill>
                <a:srgbClr val="1A78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2" name="Freeform 376">
                <a:extLst>
                  <a:ext uri="{FF2B5EF4-FFF2-40B4-BE49-F238E27FC236}">
                    <a16:creationId xmlns:a16="http://schemas.microsoft.com/office/drawing/2014/main" id="{87148EE7-533D-4407-88DF-8B5025C45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109"/>
                <a:ext cx="19" cy="19"/>
              </a:xfrm>
              <a:custGeom>
                <a:avLst/>
                <a:gdLst>
                  <a:gd name="T0" fmla="*/ 0 w 431"/>
                  <a:gd name="T1" fmla="*/ 0 h 343"/>
                  <a:gd name="T2" fmla="*/ 0 w 431"/>
                  <a:gd name="T3" fmla="*/ 0 h 343"/>
                  <a:gd name="T4" fmla="*/ 0 w 431"/>
                  <a:gd name="T5" fmla="*/ 0 h 343"/>
                  <a:gd name="T6" fmla="*/ 0 w 431"/>
                  <a:gd name="T7" fmla="*/ 0 h 343"/>
                  <a:gd name="T8" fmla="*/ 0 w 431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1"/>
                  <a:gd name="T16" fmla="*/ 0 h 343"/>
                  <a:gd name="T17" fmla="*/ 431 w 431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1" h="343">
                    <a:moveTo>
                      <a:pt x="431" y="186"/>
                    </a:moveTo>
                    <a:lnTo>
                      <a:pt x="79" y="343"/>
                    </a:lnTo>
                    <a:lnTo>
                      <a:pt x="0" y="157"/>
                    </a:lnTo>
                    <a:lnTo>
                      <a:pt x="352" y="0"/>
                    </a:lnTo>
                    <a:lnTo>
                      <a:pt x="431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3" name="Freeform 377">
                <a:extLst>
                  <a:ext uri="{FF2B5EF4-FFF2-40B4-BE49-F238E27FC236}">
                    <a16:creationId xmlns:a16="http://schemas.microsoft.com/office/drawing/2014/main" id="{7DD81EC2-0EE5-4870-921D-494A736A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112"/>
                <a:ext cx="16" cy="15"/>
              </a:xfrm>
              <a:custGeom>
                <a:avLst/>
                <a:gdLst>
                  <a:gd name="T0" fmla="*/ 0 w 347"/>
                  <a:gd name="T1" fmla="*/ 0 h 257"/>
                  <a:gd name="T2" fmla="*/ 0 w 347"/>
                  <a:gd name="T3" fmla="*/ 0 h 257"/>
                  <a:gd name="T4" fmla="*/ 0 w 347"/>
                  <a:gd name="T5" fmla="*/ 0 h 257"/>
                  <a:gd name="T6" fmla="*/ 0 w 347"/>
                  <a:gd name="T7" fmla="*/ 0 h 257"/>
                  <a:gd name="T8" fmla="*/ 0 w 347"/>
                  <a:gd name="T9" fmla="*/ 0 h 2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7"/>
                  <a:gd name="T16" fmla="*/ 0 h 257"/>
                  <a:gd name="T17" fmla="*/ 347 w 347"/>
                  <a:gd name="T18" fmla="*/ 257 h 2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7" h="257">
                    <a:moveTo>
                      <a:pt x="347" y="126"/>
                    </a:moveTo>
                    <a:lnTo>
                      <a:pt x="53" y="257"/>
                    </a:lnTo>
                    <a:lnTo>
                      <a:pt x="0" y="132"/>
                    </a:lnTo>
                    <a:lnTo>
                      <a:pt x="294" y="0"/>
                    </a:lnTo>
                    <a:lnTo>
                      <a:pt x="347" y="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4" name="Freeform 378">
                <a:extLst>
                  <a:ext uri="{FF2B5EF4-FFF2-40B4-BE49-F238E27FC236}">
                    <a16:creationId xmlns:a16="http://schemas.microsoft.com/office/drawing/2014/main" id="{38093A38-DD8A-4CBA-90FD-F416C6172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5" y="73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3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4" y="232"/>
                    </a:lnTo>
                    <a:lnTo>
                      <a:pt x="60" y="228"/>
                    </a:lnTo>
                    <a:lnTo>
                      <a:pt x="56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5" y="7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5" name="Freeform 379">
                <a:extLst>
                  <a:ext uri="{FF2B5EF4-FFF2-40B4-BE49-F238E27FC236}">
                    <a16:creationId xmlns:a16="http://schemas.microsoft.com/office/drawing/2014/main" id="{EAAB24B7-7D32-49CC-834E-F13E8132D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2" y="0"/>
                    </a:lnTo>
                    <a:lnTo>
                      <a:pt x="146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4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6" name="Freeform 380">
                <a:extLst>
                  <a:ext uri="{FF2B5EF4-FFF2-40B4-BE49-F238E27FC236}">
                    <a16:creationId xmlns:a16="http://schemas.microsoft.com/office/drawing/2014/main" id="{3583F7D5-E85A-495B-803F-647704A19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3113"/>
                <a:ext cx="6" cy="8"/>
              </a:xfrm>
              <a:custGeom>
                <a:avLst/>
                <a:gdLst>
                  <a:gd name="T0" fmla="*/ 0 w 118"/>
                  <a:gd name="T1" fmla="*/ 0 h 154"/>
                  <a:gd name="T2" fmla="*/ 0 w 118"/>
                  <a:gd name="T3" fmla="*/ 0 h 154"/>
                  <a:gd name="T4" fmla="*/ 0 w 118"/>
                  <a:gd name="T5" fmla="*/ 0 h 154"/>
                  <a:gd name="T6" fmla="*/ 0 w 118"/>
                  <a:gd name="T7" fmla="*/ 0 h 154"/>
                  <a:gd name="T8" fmla="*/ 0 w 118"/>
                  <a:gd name="T9" fmla="*/ 0 h 154"/>
                  <a:gd name="T10" fmla="*/ 0 w 118"/>
                  <a:gd name="T11" fmla="*/ 0 h 154"/>
                  <a:gd name="T12" fmla="*/ 0 w 118"/>
                  <a:gd name="T13" fmla="*/ 0 h 154"/>
                  <a:gd name="T14" fmla="*/ 0 w 118"/>
                  <a:gd name="T15" fmla="*/ 0 h 154"/>
                  <a:gd name="T16" fmla="*/ 0 w 118"/>
                  <a:gd name="T17" fmla="*/ 0 h 154"/>
                  <a:gd name="T18" fmla="*/ 0 w 118"/>
                  <a:gd name="T19" fmla="*/ 0 h 154"/>
                  <a:gd name="T20" fmla="*/ 0 w 118"/>
                  <a:gd name="T21" fmla="*/ 0 h 154"/>
                  <a:gd name="T22" fmla="*/ 0 w 118"/>
                  <a:gd name="T23" fmla="*/ 0 h 154"/>
                  <a:gd name="T24" fmla="*/ 0 w 118"/>
                  <a:gd name="T25" fmla="*/ 0 h 154"/>
                  <a:gd name="T26" fmla="*/ 0 w 118"/>
                  <a:gd name="T27" fmla="*/ 0 h 154"/>
                  <a:gd name="T28" fmla="*/ 0 w 118"/>
                  <a:gd name="T29" fmla="*/ 0 h 154"/>
                  <a:gd name="T30" fmla="*/ 0 w 118"/>
                  <a:gd name="T31" fmla="*/ 0 h 154"/>
                  <a:gd name="T32" fmla="*/ 0 w 118"/>
                  <a:gd name="T33" fmla="*/ 0 h 154"/>
                  <a:gd name="T34" fmla="*/ 0 w 118"/>
                  <a:gd name="T35" fmla="*/ 0 h 154"/>
                  <a:gd name="T36" fmla="*/ 0 w 118"/>
                  <a:gd name="T37" fmla="*/ 0 h 154"/>
                  <a:gd name="T38" fmla="*/ 0 w 118"/>
                  <a:gd name="T39" fmla="*/ 0 h 154"/>
                  <a:gd name="T40" fmla="*/ 0 w 118"/>
                  <a:gd name="T41" fmla="*/ 0 h 154"/>
                  <a:gd name="T42" fmla="*/ 0 w 118"/>
                  <a:gd name="T43" fmla="*/ 0 h 154"/>
                  <a:gd name="T44" fmla="*/ 0 w 118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8"/>
                  <a:gd name="T70" fmla="*/ 0 h 154"/>
                  <a:gd name="T71" fmla="*/ 118 w 118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8" h="154">
                    <a:moveTo>
                      <a:pt x="88" y="6"/>
                    </a:moveTo>
                    <a:lnTo>
                      <a:pt x="116" y="77"/>
                    </a:lnTo>
                    <a:lnTo>
                      <a:pt x="118" y="85"/>
                    </a:lnTo>
                    <a:lnTo>
                      <a:pt x="118" y="95"/>
                    </a:lnTo>
                    <a:lnTo>
                      <a:pt x="116" y="103"/>
                    </a:lnTo>
                    <a:lnTo>
                      <a:pt x="112" y="108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7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7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3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7" name="Freeform 381">
                <a:extLst>
                  <a:ext uri="{FF2B5EF4-FFF2-40B4-BE49-F238E27FC236}">
                    <a16:creationId xmlns:a16="http://schemas.microsoft.com/office/drawing/2014/main" id="{E9BF9D23-1238-4951-BA24-3DAA5A6DA5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3099"/>
                <a:ext cx="13" cy="16"/>
              </a:xfrm>
              <a:custGeom>
                <a:avLst/>
                <a:gdLst>
                  <a:gd name="T0" fmla="*/ 0 w 287"/>
                  <a:gd name="T1" fmla="*/ 0 h 280"/>
                  <a:gd name="T2" fmla="*/ 0 w 287"/>
                  <a:gd name="T3" fmla="*/ 0 h 280"/>
                  <a:gd name="T4" fmla="*/ 0 w 287"/>
                  <a:gd name="T5" fmla="*/ 0 h 280"/>
                  <a:gd name="T6" fmla="*/ 0 w 287"/>
                  <a:gd name="T7" fmla="*/ 0 h 280"/>
                  <a:gd name="T8" fmla="*/ 0 w 287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7"/>
                  <a:gd name="T16" fmla="*/ 0 h 280"/>
                  <a:gd name="T17" fmla="*/ 287 w 287"/>
                  <a:gd name="T18" fmla="*/ 280 h 2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7" h="280">
                    <a:moveTo>
                      <a:pt x="287" y="186"/>
                    </a:moveTo>
                    <a:lnTo>
                      <a:pt x="78" y="280"/>
                    </a:lnTo>
                    <a:lnTo>
                      <a:pt x="0" y="93"/>
                    </a:lnTo>
                    <a:lnTo>
                      <a:pt x="210" y="0"/>
                    </a:lnTo>
                    <a:lnTo>
                      <a:pt x="287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8" name="Freeform 382">
                <a:extLst>
                  <a:ext uri="{FF2B5EF4-FFF2-40B4-BE49-F238E27FC236}">
                    <a16:creationId xmlns:a16="http://schemas.microsoft.com/office/drawing/2014/main" id="{69F322CB-D7C6-4C02-BA19-518A8AF66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2"/>
                <a:ext cx="11" cy="12"/>
              </a:xfrm>
              <a:custGeom>
                <a:avLst/>
                <a:gdLst>
                  <a:gd name="T0" fmla="*/ 0 w 227"/>
                  <a:gd name="T1" fmla="*/ 0 h 203"/>
                  <a:gd name="T2" fmla="*/ 0 w 227"/>
                  <a:gd name="T3" fmla="*/ 0 h 203"/>
                  <a:gd name="T4" fmla="*/ 0 w 227"/>
                  <a:gd name="T5" fmla="*/ 0 h 203"/>
                  <a:gd name="T6" fmla="*/ 0 w 227"/>
                  <a:gd name="T7" fmla="*/ 0 h 203"/>
                  <a:gd name="T8" fmla="*/ 0 w 227"/>
                  <a:gd name="T9" fmla="*/ 0 h 2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203"/>
                  <a:gd name="T17" fmla="*/ 227 w 227"/>
                  <a:gd name="T18" fmla="*/ 203 h 2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203">
                    <a:moveTo>
                      <a:pt x="227" y="125"/>
                    </a:moveTo>
                    <a:lnTo>
                      <a:pt x="53" y="203"/>
                    </a:lnTo>
                    <a:lnTo>
                      <a:pt x="0" y="78"/>
                    </a:lnTo>
                    <a:lnTo>
                      <a:pt x="175" y="0"/>
                    </a:lnTo>
                    <a:lnTo>
                      <a:pt x="227" y="125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99" name="Freeform 383">
                <a:extLst>
                  <a:ext uri="{FF2B5EF4-FFF2-40B4-BE49-F238E27FC236}">
                    <a16:creationId xmlns:a16="http://schemas.microsoft.com/office/drawing/2014/main" id="{67F8256F-AC58-4517-BDAF-BB02ED7D0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4" y="72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2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3" y="232"/>
                    </a:lnTo>
                    <a:lnTo>
                      <a:pt x="59" y="227"/>
                    </a:lnTo>
                    <a:lnTo>
                      <a:pt x="55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0" name="Freeform 384">
                <a:extLst>
                  <a:ext uri="{FF2B5EF4-FFF2-40B4-BE49-F238E27FC236}">
                    <a16:creationId xmlns:a16="http://schemas.microsoft.com/office/drawing/2014/main" id="{23BA815B-4E14-498C-A647-51CDFAE2D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1" y="0"/>
                    </a:lnTo>
                    <a:lnTo>
                      <a:pt x="145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3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1" name="Freeform 385">
                <a:extLst>
                  <a:ext uri="{FF2B5EF4-FFF2-40B4-BE49-F238E27FC236}">
                    <a16:creationId xmlns:a16="http://schemas.microsoft.com/office/drawing/2014/main" id="{10007F7F-23EE-420D-97E1-206FDD417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103"/>
                <a:ext cx="6" cy="8"/>
              </a:xfrm>
              <a:custGeom>
                <a:avLst/>
                <a:gdLst>
                  <a:gd name="T0" fmla="*/ 0 w 119"/>
                  <a:gd name="T1" fmla="*/ 0 h 154"/>
                  <a:gd name="T2" fmla="*/ 0 w 119"/>
                  <a:gd name="T3" fmla="*/ 0 h 154"/>
                  <a:gd name="T4" fmla="*/ 0 w 119"/>
                  <a:gd name="T5" fmla="*/ 0 h 154"/>
                  <a:gd name="T6" fmla="*/ 0 w 119"/>
                  <a:gd name="T7" fmla="*/ 0 h 154"/>
                  <a:gd name="T8" fmla="*/ 0 w 119"/>
                  <a:gd name="T9" fmla="*/ 0 h 154"/>
                  <a:gd name="T10" fmla="*/ 0 w 119"/>
                  <a:gd name="T11" fmla="*/ 0 h 154"/>
                  <a:gd name="T12" fmla="*/ 0 w 119"/>
                  <a:gd name="T13" fmla="*/ 0 h 154"/>
                  <a:gd name="T14" fmla="*/ 0 w 119"/>
                  <a:gd name="T15" fmla="*/ 0 h 154"/>
                  <a:gd name="T16" fmla="*/ 0 w 119"/>
                  <a:gd name="T17" fmla="*/ 0 h 154"/>
                  <a:gd name="T18" fmla="*/ 0 w 119"/>
                  <a:gd name="T19" fmla="*/ 0 h 154"/>
                  <a:gd name="T20" fmla="*/ 0 w 119"/>
                  <a:gd name="T21" fmla="*/ 0 h 154"/>
                  <a:gd name="T22" fmla="*/ 0 w 119"/>
                  <a:gd name="T23" fmla="*/ 0 h 154"/>
                  <a:gd name="T24" fmla="*/ 0 w 119"/>
                  <a:gd name="T25" fmla="*/ 0 h 154"/>
                  <a:gd name="T26" fmla="*/ 0 w 119"/>
                  <a:gd name="T27" fmla="*/ 0 h 154"/>
                  <a:gd name="T28" fmla="*/ 0 w 119"/>
                  <a:gd name="T29" fmla="*/ 0 h 154"/>
                  <a:gd name="T30" fmla="*/ 0 w 119"/>
                  <a:gd name="T31" fmla="*/ 0 h 154"/>
                  <a:gd name="T32" fmla="*/ 0 w 119"/>
                  <a:gd name="T33" fmla="*/ 0 h 154"/>
                  <a:gd name="T34" fmla="*/ 0 w 119"/>
                  <a:gd name="T35" fmla="*/ 0 h 154"/>
                  <a:gd name="T36" fmla="*/ 0 w 119"/>
                  <a:gd name="T37" fmla="*/ 0 h 154"/>
                  <a:gd name="T38" fmla="*/ 0 w 119"/>
                  <a:gd name="T39" fmla="*/ 0 h 154"/>
                  <a:gd name="T40" fmla="*/ 0 w 119"/>
                  <a:gd name="T41" fmla="*/ 0 h 154"/>
                  <a:gd name="T42" fmla="*/ 0 w 119"/>
                  <a:gd name="T43" fmla="*/ 0 h 154"/>
                  <a:gd name="T44" fmla="*/ 0 w 119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9"/>
                  <a:gd name="T70" fmla="*/ 0 h 154"/>
                  <a:gd name="T71" fmla="*/ 119 w 119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9" h="154">
                    <a:moveTo>
                      <a:pt x="88" y="6"/>
                    </a:moveTo>
                    <a:lnTo>
                      <a:pt x="116" y="78"/>
                    </a:lnTo>
                    <a:lnTo>
                      <a:pt x="118" y="86"/>
                    </a:lnTo>
                    <a:lnTo>
                      <a:pt x="119" y="95"/>
                    </a:lnTo>
                    <a:lnTo>
                      <a:pt x="117" y="103"/>
                    </a:lnTo>
                    <a:lnTo>
                      <a:pt x="112" y="109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8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8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2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2" name="Freeform 386">
                <a:extLst>
                  <a:ext uri="{FF2B5EF4-FFF2-40B4-BE49-F238E27FC236}">
                    <a16:creationId xmlns:a16="http://schemas.microsoft.com/office/drawing/2014/main" id="{56EEBC99-2FBD-4F81-8A5F-349884E56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3092"/>
                <a:ext cx="4" cy="6"/>
              </a:xfrm>
              <a:custGeom>
                <a:avLst/>
                <a:gdLst>
                  <a:gd name="T0" fmla="*/ 0 w 100"/>
                  <a:gd name="T1" fmla="*/ 0 h 104"/>
                  <a:gd name="T2" fmla="*/ 0 w 100"/>
                  <a:gd name="T3" fmla="*/ 0 h 104"/>
                  <a:gd name="T4" fmla="*/ 0 w 100"/>
                  <a:gd name="T5" fmla="*/ 0 h 104"/>
                  <a:gd name="T6" fmla="*/ 0 w 100"/>
                  <a:gd name="T7" fmla="*/ 0 h 104"/>
                  <a:gd name="T8" fmla="*/ 0 w 100"/>
                  <a:gd name="T9" fmla="*/ 0 h 104"/>
                  <a:gd name="T10" fmla="*/ 0 w 100"/>
                  <a:gd name="T11" fmla="*/ 0 h 104"/>
                  <a:gd name="T12" fmla="*/ 0 w 100"/>
                  <a:gd name="T13" fmla="*/ 0 h 104"/>
                  <a:gd name="T14" fmla="*/ 0 w 100"/>
                  <a:gd name="T15" fmla="*/ 0 h 104"/>
                  <a:gd name="T16" fmla="*/ 0 w 100"/>
                  <a:gd name="T17" fmla="*/ 0 h 104"/>
                  <a:gd name="T18" fmla="*/ 0 w 100"/>
                  <a:gd name="T19" fmla="*/ 0 h 104"/>
                  <a:gd name="T20" fmla="*/ 0 w 100"/>
                  <a:gd name="T21" fmla="*/ 0 h 104"/>
                  <a:gd name="T22" fmla="*/ 0 w 100"/>
                  <a:gd name="T23" fmla="*/ 0 h 104"/>
                  <a:gd name="T24" fmla="*/ 0 w 100"/>
                  <a:gd name="T25" fmla="*/ 0 h 104"/>
                  <a:gd name="T26" fmla="*/ 0 w 100"/>
                  <a:gd name="T27" fmla="*/ 0 h 104"/>
                  <a:gd name="T28" fmla="*/ 0 w 100"/>
                  <a:gd name="T29" fmla="*/ 0 h 104"/>
                  <a:gd name="T30" fmla="*/ 0 w 100"/>
                  <a:gd name="T31" fmla="*/ 0 h 104"/>
                  <a:gd name="T32" fmla="*/ 0 w 100"/>
                  <a:gd name="T33" fmla="*/ 0 h 104"/>
                  <a:gd name="T34" fmla="*/ 0 w 100"/>
                  <a:gd name="T35" fmla="*/ 0 h 104"/>
                  <a:gd name="T36" fmla="*/ 0 w 100"/>
                  <a:gd name="T37" fmla="*/ 0 h 104"/>
                  <a:gd name="T38" fmla="*/ 0 w 100"/>
                  <a:gd name="T39" fmla="*/ 0 h 104"/>
                  <a:gd name="T40" fmla="*/ 0 w 100"/>
                  <a:gd name="T41" fmla="*/ 0 h 104"/>
                  <a:gd name="T42" fmla="*/ 0 w 100"/>
                  <a:gd name="T43" fmla="*/ 0 h 104"/>
                  <a:gd name="T44" fmla="*/ 0 w 100"/>
                  <a:gd name="T45" fmla="*/ 0 h 104"/>
                  <a:gd name="T46" fmla="*/ 0 w 100"/>
                  <a:gd name="T47" fmla="*/ 0 h 104"/>
                  <a:gd name="T48" fmla="*/ 0 w 100"/>
                  <a:gd name="T49" fmla="*/ 0 h 104"/>
                  <a:gd name="T50" fmla="*/ 0 w 100"/>
                  <a:gd name="T51" fmla="*/ 0 h 104"/>
                  <a:gd name="T52" fmla="*/ 0 w 100"/>
                  <a:gd name="T53" fmla="*/ 0 h 104"/>
                  <a:gd name="T54" fmla="*/ 0 w 100"/>
                  <a:gd name="T55" fmla="*/ 0 h 104"/>
                  <a:gd name="T56" fmla="*/ 0 w 100"/>
                  <a:gd name="T57" fmla="*/ 0 h 104"/>
                  <a:gd name="T58" fmla="*/ 0 w 100"/>
                  <a:gd name="T59" fmla="*/ 0 h 104"/>
                  <a:gd name="T60" fmla="*/ 0 w 100"/>
                  <a:gd name="T61" fmla="*/ 0 h 104"/>
                  <a:gd name="T62" fmla="*/ 0 w 100"/>
                  <a:gd name="T63" fmla="*/ 0 h 104"/>
                  <a:gd name="T64" fmla="*/ 0 w 100"/>
                  <a:gd name="T65" fmla="*/ 0 h 10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4"/>
                  <a:gd name="T101" fmla="*/ 100 w 100"/>
                  <a:gd name="T102" fmla="*/ 104 h 10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4">
                    <a:moveTo>
                      <a:pt x="50" y="104"/>
                    </a:moveTo>
                    <a:lnTo>
                      <a:pt x="40" y="103"/>
                    </a:lnTo>
                    <a:lnTo>
                      <a:pt x="31" y="99"/>
                    </a:lnTo>
                    <a:lnTo>
                      <a:pt x="23" y="95"/>
                    </a:lnTo>
                    <a:lnTo>
                      <a:pt x="15" y="89"/>
                    </a:lnTo>
                    <a:lnTo>
                      <a:pt x="8" y="80"/>
                    </a:lnTo>
                    <a:lnTo>
                      <a:pt x="4" y="72"/>
                    </a:lnTo>
                    <a:lnTo>
                      <a:pt x="1" y="62"/>
                    </a:lnTo>
                    <a:lnTo>
                      <a:pt x="0" y="52"/>
                    </a:lnTo>
                    <a:lnTo>
                      <a:pt x="1" y="41"/>
                    </a:lnTo>
                    <a:lnTo>
                      <a:pt x="4" y="32"/>
                    </a:lnTo>
                    <a:lnTo>
                      <a:pt x="8" y="23"/>
                    </a:lnTo>
                    <a:lnTo>
                      <a:pt x="15" y="15"/>
                    </a:lnTo>
                    <a:lnTo>
                      <a:pt x="23" y="9"/>
                    </a:lnTo>
                    <a:lnTo>
                      <a:pt x="31" y="5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70" y="5"/>
                    </a:lnTo>
                    <a:lnTo>
                      <a:pt x="78" y="9"/>
                    </a:lnTo>
                    <a:lnTo>
                      <a:pt x="86" y="15"/>
                    </a:lnTo>
                    <a:lnTo>
                      <a:pt x="92" y="23"/>
                    </a:lnTo>
                    <a:lnTo>
                      <a:pt x="96" y="32"/>
                    </a:lnTo>
                    <a:lnTo>
                      <a:pt x="99" y="41"/>
                    </a:lnTo>
                    <a:lnTo>
                      <a:pt x="100" y="52"/>
                    </a:lnTo>
                    <a:lnTo>
                      <a:pt x="99" y="62"/>
                    </a:lnTo>
                    <a:lnTo>
                      <a:pt x="96" y="72"/>
                    </a:lnTo>
                    <a:lnTo>
                      <a:pt x="92" y="80"/>
                    </a:lnTo>
                    <a:lnTo>
                      <a:pt x="86" y="89"/>
                    </a:lnTo>
                    <a:lnTo>
                      <a:pt x="78" y="95"/>
                    </a:lnTo>
                    <a:lnTo>
                      <a:pt x="70" y="99"/>
                    </a:lnTo>
                    <a:lnTo>
                      <a:pt x="60" y="103"/>
                    </a:lnTo>
                    <a:lnTo>
                      <a:pt x="50" y="104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3" name="Freeform 387">
                <a:extLst>
                  <a:ext uri="{FF2B5EF4-FFF2-40B4-BE49-F238E27FC236}">
                    <a16:creationId xmlns:a16="http://schemas.microsoft.com/office/drawing/2014/main" id="{4E2D1826-4BA2-4661-9099-8C12D92CCE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131"/>
                <a:ext cx="5" cy="5"/>
              </a:xfrm>
              <a:custGeom>
                <a:avLst/>
                <a:gdLst>
                  <a:gd name="T0" fmla="*/ 0 w 100"/>
                  <a:gd name="T1" fmla="*/ 0 h 103"/>
                  <a:gd name="T2" fmla="*/ 0 w 100"/>
                  <a:gd name="T3" fmla="*/ 0 h 103"/>
                  <a:gd name="T4" fmla="*/ 0 w 100"/>
                  <a:gd name="T5" fmla="*/ 0 h 103"/>
                  <a:gd name="T6" fmla="*/ 0 w 100"/>
                  <a:gd name="T7" fmla="*/ 0 h 103"/>
                  <a:gd name="T8" fmla="*/ 0 w 100"/>
                  <a:gd name="T9" fmla="*/ 0 h 103"/>
                  <a:gd name="T10" fmla="*/ 0 w 100"/>
                  <a:gd name="T11" fmla="*/ 0 h 103"/>
                  <a:gd name="T12" fmla="*/ 0 w 100"/>
                  <a:gd name="T13" fmla="*/ 0 h 103"/>
                  <a:gd name="T14" fmla="*/ 0 w 100"/>
                  <a:gd name="T15" fmla="*/ 0 h 103"/>
                  <a:gd name="T16" fmla="*/ 0 w 100"/>
                  <a:gd name="T17" fmla="*/ 0 h 103"/>
                  <a:gd name="T18" fmla="*/ 0 w 100"/>
                  <a:gd name="T19" fmla="*/ 0 h 103"/>
                  <a:gd name="T20" fmla="*/ 0 w 100"/>
                  <a:gd name="T21" fmla="*/ 0 h 103"/>
                  <a:gd name="T22" fmla="*/ 0 w 100"/>
                  <a:gd name="T23" fmla="*/ 0 h 103"/>
                  <a:gd name="T24" fmla="*/ 0 w 100"/>
                  <a:gd name="T25" fmla="*/ 0 h 103"/>
                  <a:gd name="T26" fmla="*/ 0 w 100"/>
                  <a:gd name="T27" fmla="*/ 0 h 103"/>
                  <a:gd name="T28" fmla="*/ 0 w 100"/>
                  <a:gd name="T29" fmla="*/ 0 h 103"/>
                  <a:gd name="T30" fmla="*/ 0 w 100"/>
                  <a:gd name="T31" fmla="*/ 0 h 103"/>
                  <a:gd name="T32" fmla="*/ 0 w 100"/>
                  <a:gd name="T33" fmla="*/ 0 h 103"/>
                  <a:gd name="T34" fmla="*/ 0 w 100"/>
                  <a:gd name="T35" fmla="*/ 0 h 103"/>
                  <a:gd name="T36" fmla="*/ 0 w 100"/>
                  <a:gd name="T37" fmla="*/ 0 h 103"/>
                  <a:gd name="T38" fmla="*/ 0 w 100"/>
                  <a:gd name="T39" fmla="*/ 0 h 103"/>
                  <a:gd name="T40" fmla="*/ 0 w 100"/>
                  <a:gd name="T41" fmla="*/ 0 h 103"/>
                  <a:gd name="T42" fmla="*/ 0 w 100"/>
                  <a:gd name="T43" fmla="*/ 0 h 103"/>
                  <a:gd name="T44" fmla="*/ 0 w 100"/>
                  <a:gd name="T45" fmla="*/ 0 h 103"/>
                  <a:gd name="T46" fmla="*/ 0 w 100"/>
                  <a:gd name="T47" fmla="*/ 0 h 103"/>
                  <a:gd name="T48" fmla="*/ 0 w 100"/>
                  <a:gd name="T49" fmla="*/ 0 h 103"/>
                  <a:gd name="T50" fmla="*/ 0 w 100"/>
                  <a:gd name="T51" fmla="*/ 0 h 103"/>
                  <a:gd name="T52" fmla="*/ 0 w 100"/>
                  <a:gd name="T53" fmla="*/ 0 h 103"/>
                  <a:gd name="T54" fmla="*/ 0 w 100"/>
                  <a:gd name="T55" fmla="*/ 0 h 103"/>
                  <a:gd name="T56" fmla="*/ 0 w 100"/>
                  <a:gd name="T57" fmla="*/ 0 h 103"/>
                  <a:gd name="T58" fmla="*/ 0 w 100"/>
                  <a:gd name="T59" fmla="*/ 0 h 103"/>
                  <a:gd name="T60" fmla="*/ 0 w 100"/>
                  <a:gd name="T61" fmla="*/ 0 h 103"/>
                  <a:gd name="T62" fmla="*/ 0 w 100"/>
                  <a:gd name="T63" fmla="*/ 0 h 103"/>
                  <a:gd name="T64" fmla="*/ 0 w 100"/>
                  <a:gd name="T65" fmla="*/ 0 h 1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3"/>
                  <a:gd name="T101" fmla="*/ 100 w 100"/>
                  <a:gd name="T102" fmla="*/ 103 h 10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3">
                    <a:moveTo>
                      <a:pt x="50" y="103"/>
                    </a:moveTo>
                    <a:lnTo>
                      <a:pt x="39" y="102"/>
                    </a:lnTo>
                    <a:lnTo>
                      <a:pt x="30" y="99"/>
                    </a:lnTo>
                    <a:lnTo>
                      <a:pt x="22" y="95"/>
                    </a:lnTo>
                    <a:lnTo>
                      <a:pt x="14" y="88"/>
                    </a:lnTo>
                    <a:lnTo>
                      <a:pt x="8" y="80"/>
                    </a:lnTo>
                    <a:lnTo>
                      <a:pt x="4" y="71"/>
                    </a:lnTo>
                    <a:lnTo>
                      <a:pt x="1" y="62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4" y="31"/>
                    </a:lnTo>
                    <a:lnTo>
                      <a:pt x="8" y="23"/>
                    </a:lnTo>
                    <a:lnTo>
                      <a:pt x="14" y="15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39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69" y="4"/>
                    </a:lnTo>
                    <a:lnTo>
                      <a:pt x="77" y="8"/>
                    </a:lnTo>
                    <a:lnTo>
                      <a:pt x="85" y="15"/>
                    </a:lnTo>
                    <a:lnTo>
                      <a:pt x="91" y="23"/>
                    </a:lnTo>
                    <a:lnTo>
                      <a:pt x="96" y="31"/>
                    </a:lnTo>
                    <a:lnTo>
                      <a:pt x="99" y="41"/>
                    </a:lnTo>
                    <a:lnTo>
                      <a:pt x="100" y="51"/>
                    </a:lnTo>
                    <a:lnTo>
                      <a:pt x="99" y="62"/>
                    </a:lnTo>
                    <a:lnTo>
                      <a:pt x="96" y="71"/>
                    </a:lnTo>
                    <a:lnTo>
                      <a:pt x="91" y="80"/>
                    </a:lnTo>
                    <a:lnTo>
                      <a:pt x="85" y="88"/>
                    </a:lnTo>
                    <a:lnTo>
                      <a:pt x="77" y="95"/>
                    </a:lnTo>
                    <a:lnTo>
                      <a:pt x="69" y="99"/>
                    </a:lnTo>
                    <a:lnTo>
                      <a:pt x="60" y="102"/>
                    </a:lnTo>
                    <a:lnTo>
                      <a:pt x="50" y="10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4" name="Freeform 388">
                <a:extLst>
                  <a:ext uri="{FF2B5EF4-FFF2-40B4-BE49-F238E27FC236}">
                    <a16:creationId xmlns:a16="http://schemas.microsoft.com/office/drawing/2014/main" id="{6F05D823-4B13-4C1A-B908-4ED020995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094"/>
                <a:ext cx="2" cy="3"/>
              </a:xfrm>
              <a:custGeom>
                <a:avLst/>
                <a:gdLst>
                  <a:gd name="T0" fmla="*/ 0 w 55"/>
                  <a:gd name="T1" fmla="*/ 0 h 57"/>
                  <a:gd name="T2" fmla="*/ 0 w 55"/>
                  <a:gd name="T3" fmla="*/ 0 h 57"/>
                  <a:gd name="T4" fmla="*/ 0 w 55"/>
                  <a:gd name="T5" fmla="*/ 0 h 57"/>
                  <a:gd name="T6" fmla="*/ 0 w 55"/>
                  <a:gd name="T7" fmla="*/ 0 h 57"/>
                  <a:gd name="T8" fmla="*/ 0 w 55"/>
                  <a:gd name="T9" fmla="*/ 0 h 57"/>
                  <a:gd name="T10" fmla="*/ 0 w 55"/>
                  <a:gd name="T11" fmla="*/ 0 h 57"/>
                  <a:gd name="T12" fmla="*/ 0 w 55"/>
                  <a:gd name="T13" fmla="*/ 0 h 57"/>
                  <a:gd name="T14" fmla="*/ 0 w 55"/>
                  <a:gd name="T15" fmla="*/ 0 h 57"/>
                  <a:gd name="T16" fmla="*/ 0 w 55"/>
                  <a:gd name="T17" fmla="*/ 0 h 57"/>
                  <a:gd name="T18" fmla="*/ 0 w 55"/>
                  <a:gd name="T19" fmla="*/ 0 h 57"/>
                  <a:gd name="T20" fmla="*/ 0 w 55"/>
                  <a:gd name="T21" fmla="*/ 0 h 57"/>
                  <a:gd name="T22" fmla="*/ 0 w 55"/>
                  <a:gd name="T23" fmla="*/ 0 h 57"/>
                  <a:gd name="T24" fmla="*/ 0 w 55"/>
                  <a:gd name="T25" fmla="*/ 0 h 57"/>
                  <a:gd name="T26" fmla="*/ 0 w 55"/>
                  <a:gd name="T27" fmla="*/ 0 h 57"/>
                  <a:gd name="T28" fmla="*/ 0 w 55"/>
                  <a:gd name="T29" fmla="*/ 0 h 57"/>
                  <a:gd name="T30" fmla="*/ 0 w 55"/>
                  <a:gd name="T31" fmla="*/ 0 h 57"/>
                  <a:gd name="T32" fmla="*/ 0 w 55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7"/>
                  <a:gd name="T53" fmla="*/ 55 w 55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7">
                    <a:moveTo>
                      <a:pt x="28" y="57"/>
                    </a:moveTo>
                    <a:lnTo>
                      <a:pt x="16" y="55"/>
                    </a:lnTo>
                    <a:lnTo>
                      <a:pt x="8" y="49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7"/>
                    </a:lnTo>
                    <a:lnTo>
                      <a:pt x="8" y="8"/>
                    </a:lnTo>
                    <a:lnTo>
                      <a:pt x="16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7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9"/>
                    </a:lnTo>
                    <a:lnTo>
                      <a:pt x="39" y="55"/>
                    </a:lnTo>
                    <a:lnTo>
                      <a:pt x="28" y="57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5" name="Freeform 389">
                <a:extLst>
                  <a:ext uri="{FF2B5EF4-FFF2-40B4-BE49-F238E27FC236}">
                    <a16:creationId xmlns:a16="http://schemas.microsoft.com/office/drawing/2014/main" id="{102EFC8A-AB41-499C-94D2-2694CCC50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133"/>
                <a:ext cx="2" cy="3"/>
              </a:xfrm>
              <a:custGeom>
                <a:avLst/>
                <a:gdLst>
                  <a:gd name="T0" fmla="*/ 0 w 55"/>
                  <a:gd name="T1" fmla="*/ 0 h 56"/>
                  <a:gd name="T2" fmla="*/ 0 w 55"/>
                  <a:gd name="T3" fmla="*/ 0 h 56"/>
                  <a:gd name="T4" fmla="*/ 0 w 55"/>
                  <a:gd name="T5" fmla="*/ 0 h 56"/>
                  <a:gd name="T6" fmla="*/ 0 w 55"/>
                  <a:gd name="T7" fmla="*/ 0 h 56"/>
                  <a:gd name="T8" fmla="*/ 0 w 55"/>
                  <a:gd name="T9" fmla="*/ 0 h 56"/>
                  <a:gd name="T10" fmla="*/ 0 w 55"/>
                  <a:gd name="T11" fmla="*/ 0 h 56"/>
                  <a:gd name="T12" fmla="*/ 0 w 55"/>
                  <a:gd name="T13" fmla="*/ 0 h 56"/>
                  <a:gd name="T14" fmla="*/ 0 w 55"/>
                  <a:gd name="T15" fmla="*/ 0 h 56"/>
                  <a:gd name="T16" fmla="*/ 0 w 55"/>
                  <a:gd name="T17" fmla="*/ 0 h 56"/>
                  <a:gd name="T18" fmla="*/ 0 w 55"/>
                  <a:gd name="T19" fmla="*/ 0 h 56"/>
                  <a:gd name="T20" fmla="*/ 0 w 55"/>
                  <a:gd name="T21" fmla="*/ 0 h 56"/>
                  <a:gd name="T22" fmla="*/ 0 w 55"/>
                  <a:gd name="T23" fmla="*/ 0 h 56"/>
                  <a:gd name="T24" fmla="*/ 0 w 55"/>
                  <a:gd name="T25" fmla="*/ 0 h 56"/>
                  <a:gd name="T26" fmla="*/ 0 w 55"/>
                  <a:gd name="T27" fmla="*/ 0 h 56"/>
                  <a:gd name="T28" fmla="*/ 0 w 55"/>
                  <a:gd name="T29" fmla="*/ 0 h 56"/>
                  <a:gd name="T30" fmla="*/ 0 w 55"/>
                  <a:gd name="T31" fmla="*/ 0 h 56"/>
                  <a:gd name="T32" fmla="*/ 0 w 55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6"/>
                  <a:gd name="T53" fmla="*/ 55 w 55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6">
                    <a:moveTo>
                      <a:pt x="28" y="56"/>
                    </a:moveTo>
                    <a:lnTo>
                      <a:pt x="17" y="54"/>
                    </a:lnTo>
                    <a:lnTo>
                      <a:pt x="9" y="48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6"/>
                    </a:lnTo>
                    <a:lnTo>
                      <a:pt x="9" y="8"/>
                    </a:lnTo>
                    <a:lnTo>
                      <a:pt x="17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6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8"/>
                    </a:lnTo>
                    <a:lnTo>
                      <a:pt x="39" y="54"/>
                    </a:lnTo>
                    <a:lnTo>
                      <a:pt x="28" y="5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6" name="Freeform 390">
                <a:extLst>
                  <a:ext uri="{FF2B5EF4-FFF2-40B4-BE49-F238E27FC236}">
                    <a16:creationId xmlns:a16="http://schemas.microsoft.com/office/drawing/2014/main" id="{22D87982-EE3A-4498-A64E-B5BE2A2498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076"/>
                <a:ext cx="29" cy="29"/>
              </a:xfrm>
              <a:custGeom>
                <a:avLst/>
                <a:gdLst>
                  <a:gd name="T0" fmla="*/ 0 w 624"/>
                  <a:gd name="T1" fmla="*/ 0 h 522"/>
                  <a:gd name="T2" fmla="*/ 0 w 624"/>
                  <a:gd name="T3" fmla="*/ 0 h 522"/>
                  <a:gd name="T4" fmla="*/ 0 w 624"/>
                  <a:gd name="T5" fmla="*/ 0 h 522"/>
                  <a:gd name="T6" fmla="*/ 0 w 624"/>
                  <a:gd name="T7" fmla="*/ 0 h 522"/>
                  <a:gd name="T8" fmla="*/ 0 w 624"/>
                  <a:gd name="T9" fmla="*/ 0 h 5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522"/>
                  <a:gd name="T17" fmla="*/ 624 w 624"/>
                  <a:gd name="T18" fmla="*/ 522 h 5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522">
                    <a:moveTo>
                      <a:pt x="498" y="0"/>
                    </a:moveTo>
                    <a:lnTo>
                      <a:pt x="0" y="222"/>
                    </a:lnTo>
                    <a:lnTo>
                      <a:pt x="125" y="522"/>
                    </a:lnTo>
                    <a:lnTo>
                      <a:pt x="624" y="301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7" name="Freeform 391">
                <a:extLst>
                  <a:ext uri="{FF2B5EF4-FFF2-40B4-BE49-F238E27FC236}">
                    <a16:creationId xmlns:a16="http://schemas.microsoft.com/office/drawing/2014/main" id="{154F851A-1AE6-4F80-AD4C-EE3D62948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7"/>
                <a:ext cx="27" cy="27"/>
              </a:xfrm>
              <a:custGeom>
                <a:avLst/>
                <a:gdLst>
                  <a:gd name="T0" fmla="*/ 0 w 589"/>
                  <a:gd name="T1" fmla="*/ 0 h 484"/>
                  <a:gd name="T2" fmla="*/ 0 w 589"/>
                  <a:gd name="T3" fmla="*/ 0 h 484"/>
                  <a:gd name="T4" fmla="*/ 0 w 589"/>
                  <a:gd name="T5" fmla="*/ 0 h 484"/>
                  <a:gd name="T6" fmla="*/ 0 w 589"/>
                  <a:gd name="T7" fmla="*/ 0 h 484"/>
                  <a:gd name="T8" fmla="*/ 0 w 589"/>
                  <a:gd name="T9" fmla="*/ 0 h 4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84"/>
                  <a:gd name="T17" fmla="*/ 589 w 589"/>
                  <a:gd name="T18" fmla="*/ 484 h 4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84">
                    <a:moveTo>
                      <a:pt x="474" y="0"/>
                    </a:moveTo>
                    <a:lnTo>
                      <a:pt x="0" y="211"/>
                    </a:lnTo>
                    <a:lnTo>
                      <a:pt x="114" y="484"/>
                    </a:lnTo>
                    <a:lnTo>
                      <a:pt x="589" y="27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8" name="Freeform 392">
                <a:extLst>
                  <a:ext uri="{FF2B5EF4-FFF2-40B4-BE49-F238E27FC236}">
                    <a16:creationId xmlns:a16="http://schemas.microsoft.com/office/drawing/2014/main" id="{0DCE4982-1CF2-46D8-BE45-A2BB62F39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8"/>
                <a:ext cx="27" cy="26"/>
              </a:xfrm>
              <a:custGeom>
                <a:avLst/>
                <a:gdLst>
                  <a:gd name="T0" fmla="*/ 0 w 583"/>
                  <a:gd name="T1" fmla="*/ 0 h 471"/>
                  <a:gd name="T2" fmla="*/ 0 w 583"/>
                  <a:gd name="T3" fmla="*/ 0 h 471"/>
                  <a:gd name="T4" fmla="*/ 0 w 583"/>
                  <a:gd name="T5" fmla="*/ 0 h 471"/>
                  <a:gd name="T6" fmla="*/ 0 w 583"/>
                  <a:gd name="T7" fmla="*/ 0 h 471"/>
                  <a:gd name="T8" fmla="*/ 0 w 583"/>
                  <a:gd name="T9" fmla="*/ 0 h 4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471"/>
                  <a:gd name="T17" fmla="*/ 583 w 583"/>
                  <a:gd name="T18" fmla="*/ 471 h 4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471">
                    <a:moveTo>
                      <a:pt x="473" y="0"/>
                    </a:moveTo>
                    <a:lnTo>
                      <a:pt x="0" y="211"/>
                    </a:lnTo>
                    <a:lnTo>
                      <a:pt x="108" y="471"/>
                    </a:lnTo>
                    <a:lnTo>
                      <a:pt x="583" y="260"/>
                    </a:lnTo>
                    <a:lnTo>
                      <a:pt x="473" y="0"/>
                    </a:lnTo>
                    <a:close/>
                  </a:path>
                </a:pathLst>
              </a:custGeom>
              <a:solidFill>
                <a:srgbClr val="87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09" name="Freeform 393">
                <a:extLst>
                  <a:ext uri="{FF2B5EF4-FFF2-40B4-BE49-F238E27FC236}">
                    <a16:creationId xmlns:a16="http://schemas.microsoft.com/office/drawing/2014/main" id="{EBCABB22-FB22-41DC-AC69-0FF5431BED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3"/>
              </a:xfrm>
              <a:custGeom>
                <a:avLst/>
                <a:gdLst>
                  <a:gd name="T0" fmla="*/ 0 w 227"/>
                  <a:gd name="T1" fmla="*/ 0 h 234"/>
                  <a:gd name="T2" fmla="*/ 0 w 227"/>
                  <a:gd name="T3" fmla="*/ 0 h 234"/>
                  <a:gd name="T4" fmla="*/ 0 w 227"/>
                  <a:gd name="T5" fmla="*/ 0 h 234"/>
                  <a:gd name="T6" fmla="*/ 0 w 227"/>
                  <a:gd name="T7" fmla="*/ 0 h 234"/>
                  <a:gd name="T8" fmla="*/ 0 w 227"/>
                  <a:gd name="T9" fmla="*/ 0 h 234"/>
                  <a:gd name="T10" fmla="*/ 0 w 227"/>
                  <a:gd name="T11" fmla="*/ 0 h 234"/>
                  <a:gd name="T12" fmla="*/ 0 w 227"/>
                  <a:gd name="T13" fmla="*/ 0 h 234"/>
                  <a:gd name="T14" fmla="*/ 0 w 227"/>
                  <a:gd name="T15" fmla="*/ 0 h 234"/>
                  <a:gd name="T16" fmla="*/ 0 w 227"/>
                  <a:gd name="T17" fmla="*/ 0 h 234"/>
                  <a:gd name="T18" fmla="*/ 0 w 227"/>
                  <a:gd name="T19" fmla="*/ 0 h 234"/>
                  <a:gd name="T20" fmla="*/ 0 w 227"/>
                  <a:gd name="T21" fmla="*/ 0 h 234"/>
                  <a:gd name="T22" fmla="*/ 0 w 227"/>
                  <a:gd name="T23" fmla="*/ 0 h 234"/>
                  <a:gd name="T24" fmla="*/ 0 w 227"/>
                  <a:gd name="T25" fmla="*/ 0 h 234"/>
                  <a:gd name="T26" fmla="*/ 0 w 227"/>
                  <a:gd name="T27" fmla="*/ 0 h 234"/>
                  <a:gd name="T28" fmla="*/ 0 w 227"/>
                  <a:gd name="T29" fmla="*/ 0 h 234"/>
                  <a:gd name="T30" fmla="*/ 0 w 227"/>
                  <a:gd name="T31" fmla="*/ 0 h 234"/>
                  <a:gd name="T32" fmla="*/ 0 w 227"/>
                  <a:gd name="T33" fmla="*/ 0 h 234"/>
                  <a:gd name="T34" fmla="*/ 0 w 227"/>
                  <a:gd name="T35" fmla="*/ 0 h 234"/>
                  <a:gd name="T36" fmla="*/ 0 w 227"/>
                  <a:gd name="T37" fmla="*/ 0 h 234"/>
                  <a:gd name="T38" fmla="*/ 0 w 227"/>
                  <a:gd name="T39" fmla="*/ 0 h 234"/>
                  <a:gd name="T40" fmla="*/ 0 w 227"/>
                  <a:gd name="T41" fmla="*/ 0 h 234"/>
                  <a:gd name="T42" fmla="*/ 0 w 227"/>
                  <a:gd name="T43" fmla="*/ 0 h 234"/>
                  <a:gd name="T44" fmla="*/ 0 w 227"/>
                  <a:gd name="T45" fmla="*/ 0 h 234"/>
                  <a:gd name="T46" fmla="*/ 0 w 227"/>
                  <a:gd name="T47" fmla="*/ 0 h 234"/>
                  <a:gd name="T48" fmla="*/ 0 w 227"/>
                  <a:gd name="T49" fmla="*/ 0 h 234"/>
                  <a:gd name="T50" fmla="*/ 0 w 227"/>
                  <a:gd name="T51" fmla="*/ 0 h 234"/>
                  <a:gd name="T52" fmla="*/ 0 w 227"/>
                  <a:gd name="T53" fmla="*/ 0 h 234"/>
                  <a:gd name="T54" fmla="*/ 0 w 227"/>
                  <a:gd name="T55" fmla="*/ 0 h 234"/>
                  <a:gd name="T56" fmla="*/ 0 w 227"/>
                  <a:gd name="T57" fmla="*/ 0 h 234"/>
                  <a:gd name="T58" fmla="*/ 0 w 227"/>
                  <a:gd name="T59" fmla="*/ 0 h 234"/>
                  <a:gd name="T60" fmla="*/ 0 w 227"/>
                  <a:gd name="T61" fmla="*/ 0 h 234"/>
                  <a:gd name="T62" fmla="*/ 0 w 227"/>
                  <a:gd name="T63" fmla="*/ 0 h 234"/>
                  <a:gd name="T64" fmla="*/ 0 w 227"/>
                  <a:gd name="T65" fmla="*/ 0 h 23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"/>
                  <a:gd name="T100" fmla="*/ 0 h 234"/>
                  <a:gd name="T101" fmla="*/ 227 w 227"/>
                  <a:gd name="T102" fmla="*/ 234 h 23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" h="234">
                    <a:moveTo>
                      <a:pt x="159" y="223"/>
                    </a:moveTo>
                    <a:lnTo>
                      <a:pt x="137" y="231"/>
                    </a:lnTo>
                    <a:lnTo>
                      <a:pt x="115" y="234"/>
                    </a:lnTo>
                    <a:lnTo>
                      <a:pt x="93" y="232"/>
                    </a:lnTo>
                    <a:lnTo>
                      <a:pt x="73" y="225"/>
                    </a:lnTo>
                    <a:lnTo>
                      <a:pt x="54" y="215"/>
                    </a:lnTo>
                    <a:lnTo>
                      <a:pt x="36" y="201"/>
                    </a:lnTo>
                    <a:lnTo>
                      <a:pt x="22" y="184"/>
                    </a:lnTo>
                    <a:lnTo>
                      <a:pt x="11" y="163"/>
                    </a:lnTo>
                    <a:lnTo>
                      <a:pt x="4" y="141"/>
                    </a:lnTo>
                    <a:lnTo>
                      <a:pt x="0" y="118"/>
                    </a:lnTo>
                    <a:lnTo>
                      <a:pt x="3" y="96"/>
                    </a:lnTo>
                    <a:lnTo>
                      <a:pt x="9" y="74"/>
                    </a:lnTo>
                    <a:lnTo>
                      <a:pt x="19" y="55"/>
                    </a:lnTo>
                    <a:lnTo>
                      <a:pt x="32" y="37"/>
                    </a:lnTo>
                    <a:lnTo>
                      <a:pt x="48" y="22"/>
                    </a:lnTo>
                    <a:lnTo>
                      <a:pt x="69" y="10"/>
                    </a:lnTo>
                    <a:lnTo>
                      <a:pt x="90" y="3"/>
                    </a:lnTo>
                    <a:lnTo>
                      <a:pt x="113" y="0"/>
                    </a:lnTo>
                    <a:lnTo>
                      <a:pt x="134" y="2"/>
                    </a:lnTo>
                    <a:lnTo>
                      <a:pt x="156" y="8"/>
                    </a:lnTo>
                    <a:lnTo>
                      <a:pt x="174" y="19"/>
                    </a:lnTo>
                    <a:lnTo>
                      <a:pt x="191" y="32"/>
                    </a:lnTo>
                    <a:lnTo>
                      <a:pt x="206" y="49"/>
                    </a:lnTo>
                    <a:lnTo>
                      <a:pt x="217" y="70"/>
                    </a:lnTo>
                    <a:lnTo>
                      <a:pt x="224" y="93"/>
                    </a:lnTo>
                    <a:lnTo>
                      <a:pt x="227" y="116"/>
                    </a:lnTo>
                    <a:lnTo>
                      <a:pt x="225" y="138"/>
                    </a:lnTo>
                    <a:lnTo>
                      <a:pt x="219" y="159"/>
                    </a:lnTo>
                    <a:lnTo>
                      <a:pt x="209" y="179"/>
                    </a:lnTo>
                    <a:lnTo>
                      <a:pt x="195" y="197"/>
                    </a:lnTo>
                    <a:lnTo>
                      <a:pt x="179" y="212"/>
                    </a:lnTo>
                    <a:lnTo>
                      <a:pt x="159" y="223"/>
                    </a:lnTo>
                    <a:close/>
                  </a:path>
                </a:pathLst>
              </a:custGeom>
              <a:solidFill>
                <a:srgbClr val="E333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0" name="Freeform 394">
                <a:extLst>
                  <a:ext uri="{FF2B5EF4-FFF2-40B4-BE49-F238E27FC236}">
                    <a16:creationId xmlns:a16="http://schemas.microsoft.com/office/drawing/2014/main" id="{69B3DCF5-7280-4996-B247-C13596F47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2"/>
              </a:xfrm>
              <a:custGeom>
                <a:avLst/>
                <a:gdLst>
                  <a:gd name="T0" fmla="*/ 0 w 208"/>
                  <a:gd name="T1" fmla="*/ 0 h 214"/>
                  <a:gd name="T2" fmla="*/ 0 w 208"/>
                  <a:gd name="T3" fmla="*/ 0 h 214"/>
                  <a:gd name="T4" fmla="*/ 0 w 208"/>
                  <a:gd name="T5" fmla="*/ 0 h 214"/>
                  <a:gd name="T6" fmla="*/ 0 w 208"/>
                  <a:gd name="T7" fmla="*/ 0 h 214"/>
                  <a:gd name="T8" fmla="*/ 0 w 208"/>
                  <a:gd name="T9" fmla="*/ 0 h 214"/>
                  <a:gd name="T10" fmla="*/ 0 w 208"/>
                  <a:gd name="T11" fmla="*/ 0 h 214"/>
                  <a:gd name="T12" fmla="*/ 0 w 208"/>
                  <a:gd name="T13" fmla="*/ 0 h 214"/>
                  <a:gd name="T14" fmla="*/ 0 w 208"/>
                  <a:gd name="T15" fmla="*/ 0 h 214"/>
                  <a:gd name="T16" fmla="*/ 0 w 208"/>
                  <a:gd name="T17" fmla="*/ 0 h 214"/>
                  <a:gd name="T18" fmla="*/ 0 w 208"/>
                  <a:gd name="T19" fmla="*/ 0 h 214"/>
                  <a:gd name="T20" fmla="*/ 0 w 208"/>
                  <a:gd name="T21" fmla="*/ 0 h 214"/>
                  <a:gd name="T22" fmla="*/ 0 w 208"/>
                  <a:gd name="T23" fmla="*/ 0 h 214"/>
                  <a:gd name="T24" fmla="*/ 0 w 208"/>
                  <a:gd name="T25" fmla="*/ 0 h 214"/>
                  <a:gd name="T26" fmla="*/ 0 w 208"/>
                  <a:gd name="T27" fmla="*/ 0 h 214"/>
                  <a:gd name="T28" fmla="*/ 0 w 208"/>
                  <a:gd name="T29" fmla="*/ 0 h 214"/>
                  <a:gd name="T30" fmla="*/ 0 w 208"/>
                  <a:gd name="T31" fmla="*/ 0 h 214"/>
                  <a:gd name="T32" fmla="*/ 0 w 208"/>
                  <a:gd name="T33" fmla="*/ 0 h 214"/>
                  <a:gd name="T34" fmla="*/ 0 w 208"/>
                  <a:gd name="T35" fmla="*/ 0 h 214"/>
                  <a:gd name="T36" fmla="*/ 0 w 208"/>
                  <a:gd name="T37" fmla="*/ 0 h 214"/>
                  <a:gd name="T38" fmla="*/ 0 w 208"/>
                  <a:gd name="T39" fmla="*/ 0 h 214"/>
                  <a:gd name="T40" fmla="*/ 0 w 208"/>
                  <a:gd name="T41" fmla="*/ 0 h 214"/>
                  <a:gd name="T42" fmla="*/ 0 w 208"/>
                  <a:gd name="T43" fmla="*/ 0 h 214"/>
                  <a:gd name="T44" fmla="*/ 0 w 208"/>
                  <a:gd name="T45" fmla="*/ 0 h 214"/>
                  <a:gd name="T46" fmla="*/ 0 w 208"/>
                  <a:gd name="T47" fmla="*/ 0 h 214"/>
                  <a:gd name="T48" fmla="*/ 0 w 208"/>
                  <a:gd name="T49" fmla="*/ 0 h 214"/>
                  <a:gd name="T50" fmla="*/ 0 w 208"/>
                  <a:gd name="T51" fmla="*/ 0 h 214"/>
                  <a:gd name="T52" fmla="*/ 0 w 208"/>
                  <a:gd name="T53" fmla="*/ 0 h 214"/>
                  <a:gd name="T54" fmla="*/ 0 w 208"/>
                  <a:gd name="T55" fmla="*/ 0 h 214"/>
                  <a:gd name="T56" fmla="*/ 0 w 208"/>
                  <a:gd name="T57" fmla="*/ 0 h 214"/>
                  <a:gd name="T58" fmla="*/ 0 w 208"/>
                  <a:gd name="T59" fmla="*/ 0 h 214"/>
                  <a:gd name="T60" fmla="*/ 0 w 208"/>
                  <a:gd name="T61" fmla="*/ 0 h 214"/>
                  <a:gd name="T62" fmla="*/ 0 w 208"/>
                  <a:gd name="T63" fmla="*/ 0 h 214"/>
                  <a:gd name="T64" fmla="*/ 0 w 208"/>
                  <a:gd name="T65" fmla="*/ 0 h 21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8"/>
                  <a:gd name="T100" fmla="*/ 0 h 214"/>
                  <a:gd name="T101" fmla="*/ 208 w 208"/>
                  <a:gd name="T102" fmla="*/ 214 h 21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8" h="214">
                    <a:moveTo>
                      <a:pt x="146" y="206"/>
                    </a:moveTo>
                    <a:lnTo>
                      <a:pt x="125" y="212"/>
                    </a:lnTo>
                    <a:lnTo>
                      <a:pt x="105" y="214"/>
                    </a:lnTo>
                    <a:lnTo>
                      <a:pt x="84" y="212"/>
                    </a:lnTo>
                    <a:lnTo>
                      <a:pt x="66" y="206"/>
                    </a:lnTo>
                    <a:lnTo>
                      <a:pt x="48" y="196"/>
                    </a:lnTo>
                    <a:lnTo>
                      <a:pt x="31" y="183"/>
                    </a:lnTo>
                    <a:lnTo>
                      <a:pt x="18" y="168"/>
                    </a:lnTo>
                    <a:lnTo>
                      <a:pt x="8" y="149"/>
                    </a:lnTo>
                    <a:lnTo>
                      <a:pt x="2" y="129"/>
                    </a:lnTo>
                    <a:lnTo>
                      <a:pt x="0" y="108"/>
                    </a:lnTo>
                    <a:lnTo>
                      <a:pt x="2" y="86"/>
                    </a:lnTo>
                    <a:lnTo>
                      <a:pt x="8" y="67"/>
                    </a:lnTo>
                    <a:lnTo>
                      <a:pt x="17" y="49"/>
                    </a:lnTo>
                    <a:lnTo>
                      <a:pt x="29" y="33"/>
                    </a:lnTo>
                    <a:lnTo>
                      <a:pt x="45" y="19"/>
                    </a:lnTo>
                    <a:lnTo>
                      <a:pt x="63" y="8"/>
                    </a:lnTo>
                    <a:lnTo>
                      <a:pt x="83" y="2"/>
                    </a:lnTo>
                    <a:lnTo>
                      <a:pt x="104" y="0"/>
                    </a:lnTo>
                    <a:lnTo>
                      <a:pt x="123" y="2"/>
                    </a:lnTo>
                    <a:lnTo>
                      <a:pt x="142" y="7"/>
                    </a:lnTo>
                    <a:lnTo>
                      <a:pt x="161" y="17"/>
                    </a:lnTo>
                    <a:lnTo>
                      <a:pt x="176" y="30"/>
                    </a:lnTo>
                    <a:lnTo>
                      <a:pt x="189" y="45"/>
                    </a:lnTo>
                    <a:lnTo>
                      <a:pt x="200" y="63"/>
                    </a:lnTo>
                    <a:lnTo>
                      <a:pt x="206" y="84"/>
                    </a:lnTo>
                    <a:lnTo>
                      <a:pt x="208" y="105"/>
                    </a:lnTo>
                    <a:lnTo>
                      <a:pt x="206" y="127"/>
                    </a:lnTo>
                    <a:lnTo>
                      <a:pt x="201" y="147"/>
                    </a:lnTo>
                    <a:lnTo>
                      <a:pt x="191" y="164"/>
                    </a:lnTo>
                    <a:lnTo>
                      <a:pt x="179" y="181"/>
                    </a:lnTo>
                    <a:lnTo>
                      <a:pt x="164" y="195"/>
                    </a:lnTo>
                    <a:lnTo>
                      <a:pt x="146" y="206"/>
                    </a:lnTo>
                    <a:close/>
                  </a:path>
                </a:pathLst>
              </a:custGeom>
              <a:solidFill>
                <a:srgbClr val="EB5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1" name="Freeform 395">
                <a:extLst>
                  <a:ext uri="{FF2B5EF4-FFF2-40B4-BE49-F238E27FC236}">
                    <a16:creationId xmlns:a16="http://schemas.microsoft.com/office/drawing/2014/main" id="{3214D4C9-4D59-40D2-A494-493EEF480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89"/>
                  <a:gd name="T1" fmla="*/ 0 h 194"/>
                  <a:gd name="T2" fmla="*/ 0 w 189"/>
                  <a:gd name="T3" fmla="*/ 0 h 194"/>
                  <a:gd name="T4" fmla="*/ 0 w 189"/>
                  <a:gd name="T5" fmla="*/ 0 h 194"/>
                  <a:gd name="T6" fmla="*/ 0 w 189"/>
                  <a:gd name="T7" fmla="*/ 0 h 194"/>
                  <a:gd name="T8" fmla="*/ 0 w 189"/>
                  <a:gd name="T9" fmla="*/ 0 h 194"/>
                  <a:gd name="T10" fmla="*/ 0 w 189"/>
                  <a:gd name="T11" fmla="*/ 0 h 194"/>
                  <a:gd name="T12" fmla="*/ 0 w 189"/>
                  <a:gd name="T13" fmla="*/ 0 h 194"/>
                  <a:gd name="T14" fmla="*/ 0 w 189"/>
                  <a:gd name="T15" fmla="*/ 0 h 194"/>
                  <a:gd name="T16" fmla="*/ 0 w 189"/>
                  <a:gd name="T17" fmla="*/ 0 h 194"/>
                  <a:gd name="T18" fmla="*/ 0 w 189"/>
                  <a:gd name="T19" fmla="*/ 0 h 194"/>
                  <a:gd name="T20" fmla="*/ 0 w 189"/>
                  <a:gd name="T21" fmla="*/ 0 h 194"/>
                  <a:gd name="T22" fmla="*/ 0 w 189"/>
                  <a:gd name="T23" fmla="*/ 0 h 194"/>
                  <a:gd name="T24" fmla="*/ 0 w 189"/>
                  <a:gd name="T25" fmla="*/ 0 h 194"/>
                  <a:gd name="T26" fmla="*/ 0 w 189"/>
                  <a:gd name="T27" fmla="*/ 0 h 194"/>
                  <a:gd name="T28" fmla="*/ 0 w 189"/>
                  <a:gd name="T29" fmla="*/ 0 h 194"/>
                  <a:gd name="T30" fmla="*/ 0 w 189"/>
                  <a:gd name="T31" fmla="*/ 0 h 194"/>
                  <a:gd name="T32" fmla="*/ 0 w 189"/>
                  <a:gd name="T33" fmla="*/ 0 h 194"/>
                  <a:gd name="T34" fmla="*/ 0 w 189"/>
                  <a:gd name="T35" fmla="*/ 0 h 194"/>
                  <a:gd name="T36" fmla="*/ 0 w 189"/>
                  <a:gd name="T37" fmla="*/ 0 h 194"/>
                  <a:gd name="T38" fmla="*/ 0 w 189"/>
                  <a:gd name="T39" fmla="*/ 0 h 194"/>
                  <a:gd name="T40" fmla="*/ 0 w 189"/>
                  <a:gd name="T41" fmla="*/ 0 h 194"/>
                  <a:gd name="T42" fmla="*/ 0 w 189"/>
                  <a:gd name="T43" fmla="*/ 0 h 194"/>
                  <a:gd name="T44" fmla="*/ 0 w 189"/>
                  <a:gd name="T45" fmla="*/ 0 h 194"/>
                  <a:gd name="T46" fmla="*/ 0 w 189"/>
                  <a:gd name="T47" fmla="*/ 0 h 194"/>
                  <a:gd name="T48" fmla="*/ 0 w 189"/>
                  <a:gd name="T49" fmla="*/ 0 h 194"/>
                  <a:gd name="T50" fmla="*/ 0 w 189"/>
                  <a:gd name="T51" fmla="*/ 0 h 194"/>
                  <a:gd name="T52" fmla="*/ 0 w 189"/>
                  <a:gd name="T53" fmla="*/ 0 h 194"/>
                  <a:gd name="T54" fmla="*/ 0 w 189"/>
                  <a:gd name="T55" fmla="*/ 0 h 194"/>
                  <a:gd name="T56" fmla="*/ 0 w 189"/>
                  <a:gd name="T57" fmla="*/ 0 h 194"/>
                  <a:gd name="T58" fmla="*/ 0 w 189"/>
                  <a:gd name="T59" fmla="*/ 0 h 194"/>
                  <a:gd name="T60" fmla="*/ 0 w 189"/>
                  <a:gd name="T61" fmla="*/ 0 h 194"/>
                  <a:gd name="T62" fmla="*/ 0 w 189"/>
                  <a:gd name="T63" fmla="*/ 0 h 194"/>
                  <a:gd name="T64" fmla="*/ 0 w 189"/>
                  <a:gd name="T65" fmla="*/ 0 h 1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9"/>
                  <a:gd name="T100" fmla="*/ 0 h 194"/>
                  <a:gd name="T101" fmla="*/ 189 w 189"/>
                  <a:gd name="T102" fmla="*/ 194 h 1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9" h="194">
                    <a:moveTo>
                      <a:pt x="131" y="187"/>
                    </a:moveTo>
                    <a:lnTo>
                      <a:pt x="113" y="193"/>
                    </a:lnTo>
                    <a:lnTo>
                      <a:pt x="95" y="194"/>
                    </a:lnTo>
                    <a:lnTo>
                      <a:pt x="76" y="192"/>
                    </a:lnTo>
                    <a:lnTo>
                      <a:pt x="59" y="187"/>
                    </a:lnTo>
                    <a:lnTo>
                      <a:pt x="44" y="178"/>
                    </a:lnTo>
                    <a:lnTo>
                      <a:pt x="29" y="167"/>
                    </a:lnTo>
                    <a:lnTo>
                      <a:pt x="17" y="152"/>
                    </a:lnTo>
                    <a:lnTo>
                      <a:pt x="8" y="135"/>
                    </a:lnTo>
                    <a:lnTo>
                      <a:pt x="2" y="116"/>
                    </a:lnTo>
                    <a:lnTo>
                      <a:pt x="0" y="97"/>
                    </a:lnTo>
                    <a:lnTo>
                      <a:pt x="2" y="79"/>
                    </a:lnTo>
                    <a:lnTo>
                      <a:pt x="7" y="61"/>
                    </a:lnTo>
                    <a:lnTo>
                      <a:pt x="15" y="45"/>
                    </a:lnTo>
                    <a:lnTo>
                      <a:pt x="26" y="30"/>
                    </a:lnTo>
                    <a:lnTo>
                      <a:pt x="41" y="17"/>
                    </a:lnTo>
                    <a:lnTo>
                      <a:pt x="57" y="8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2" y="1"/>
                    </a:lnTo>
                    <a:lnTo>
                      <a:pt x="130" y="7"/>
                    </a:lnTo>
                    <a:lnTo>
                      <a:pt x="146" y="15"/>
                    </a:lnTo>
                    <a:lnTo>
                      <a:pt x="160" y="27"/>
                    </a:lnTo>
                    <a:lnTo>
                      <a:pt x="172" y="41"/>
                    </a:lnTo>
                    <a:lnTo>
                      <a:pt x="181" y="58"/>
                    </a:lnTo>
                    <a:lnTo>
                      <a:pt x="187" y="77"/>
                    </a:lnTo>
                    <a:lnTo>
                      <a:pt x="189" y="96"/>
                    </a:lnTo>
                    <a:lnTo>
                      <a:pt x="188" y="114"/>
                    </a:lnTo>
                    <a:lnTo>
                      <a:pt x="182" y="132"/>
                    </a:lnTo>
                    <a:lnTo>
                      <a:pt x="174" y="149"/>
                    </a:lnTo>
                    <a:lnTo>
                      <a:pt x="163" y="165"/>
                    </a:lnTo>
                    <a:lnTo>
                      <a:pt x="149" y="177"/>
                    </a:lnTo>
                    <a:lnTo>
                      <a:pt x="131" y="187"/>
                    </a:lnTo>
                    <a:close/>
                  </a:path>
                </a:pathLst>
              </a:custGeom>
              <a:solidFill>
                <a:srgbClr val="F087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2" name="Freeform 396">
                <a:extLst>
                  <a:ext uri="{FF2B5EF4-FFF2-40B4-BE49-F238E27FC236}">
                    <a16:creationId xmlns:a16="http://schemas.microsoft.com/office/drawing/2014/main" id="{9E54A33B-F162-4416-B851-5C26C1678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71"/>
                  <a:gd name="T1" fmla="*/ 0 h 177"/>
                  <a:gd name="T2" fmla="*/ 0 w 171"/>
                  <a:gd name="T3" fmla="*/ 0 h 177"/>
                  <a:gd name="T4" fmla="*/ 0 w 171"/>
                  <a:gd name="T5" fmla="*/ 0 h 177"/>
                  <a:gd name="T6" fmla="*/ 0 w 171"/>
                  <a:gd name="T7" fmla="*/ 0 h 177"/>
                  <a:gd name="T8" fmla="*/ 0 w 171"/>
                  <a:gd name="T9" fmla="*/ 0 h 177"/>
                  <a:gd name="T10" fmla="*/ 0 w 171"/>
                  <a:gd name="T11" fmla="*/ 0 h 177"/>
                  <a:gd name="T12" fmla="*/ 0 w 171"/>
                  <a:gd name="T13" fmla="*/ 0 h 177"/>
                  <a:gd name="T14" fmla="*/ 0 w 171"/>
                  <a:gd name="T15" fmla="*/ 0 h 177"/>
                  <a:gd name="T16" fmla="*/ 0 w 171"/>
                  <a:gd name="T17" fmla="*/ 0 h 177"/>
                  <a:gd name="T18" fmla="*/ 0 w 171"/>
                  <a:gd name="T19" fmla="*/ 0 h 177"/>
                  <a:gd name="T20" fmla="*/ 0 w 171"/>
                  <a:gd name="T21" fmla="*/ 0 h 177"/>
                  <a:gd name="T22" fmla="*/ 0 w 171"/>
                  <a:gd name="T23" fmla="*/ 0 h 177"/>
                  <a:gd name="T24" fmla="*/ 0 w 171"/>
                  <a:gd name="T25" fmla="*/ 0 h 177"/>
                  <a:gd name="T26" fmla="*/ 0 w 171"/>
                  <a:gd name="T27" fmla="*/ 0 h 177"/>
                  <a:gd name="T28" fmla="*/ 0 w 171"/>
                  <a:gd name="T29" fmla="*/ 0 h 177"/>
                  <a:gd name="T30" fmla="*/ 0 w 171"/>
                  <a:gd name="T31" fmla="*/ 0 h 177"/>
                  <a:gd name="T32" fmla="*/ 0 w 171"/>
                  <a:gd name="T33" fmla="*/ 0 h 177"/>
                  <a:gd name="T34" fmla="*/ 0 w 171"/>
                  <a:gd name="T35" fmla="*/ 0 h 177"/>
                  <a:gd name="T36" fmla="*/ 0 w 171"/>
                  <a:gd name="T37" fmla="*/ 0 h 177"/>
                  <a:gd name="T38" fmla="*/ 0 w 171"/>
                  <a:gd name="T39" fmla="*/ 0 h 177"/>
                  <a:gd name="T40" fmla="*/ 0 w 171"/>
                  <a:gd name="T41" fmla="*/ 0 h 177"/>
                  <a:gd name="T42" fmla="*/ 0 w 171"/>
                  <a:gd name="T43" fmla="*/ 0 h 177"/>
                  <a:gd name="T44" fmla="*/ 0 w 171"/>
                  <a:gd name="T45" fmla="*/ 0 h 177"/>
                  <a:gd name="T46" fmla="*/ 0 w 171"/>
                  <a:gd name="T47" fmla="*/ 0 h 177"/>
                  <a:gd name="T48" fmla="*/ 0 w 171"/>
                  <a:gd name="T49" fmla="*/ 0 h 177"/>
                  <a:gd name="T50" fmla="*/ 0 w 171"/>
                  <a:gd name="T51" fmla="*/ 0 h 177"/>
                  <a:gd name="T52" fmla="*/ 0 w 171"/>
                  <a:gd name="T53" fmla="*/ 0 h 177"/>
                  <a:gd name="T54" fmla="*/ 0 w 171"/>
                  <a:gd name="T55" fmla="*/ 0 h 177"/>
                  <a:gd name="T56" fmla="*/ 0 w 171"/>
                  <a:gd name="T57" fmla="*/ 0 h 177"/>
                  <a:gd name="T58" fmla="*/ 0 w 171"/>
                  <a:gd name="T59" fmla="*/ 0 h 177"/>
                  <a:gd name="T60" fmla="*/ 0 w 171"/>
                  <a:gd name="T61" fmla="*/ 0 h 177"/>
                  <a:gd name="T62" fmla="*/ 0 w 171"/>
                  <a:gd name="T63" fmla="*/ 0 h 177"/>
                  <a:gd name="T64" fmla="*/ 0 w 171"/>
                  <a:gd name="T65" fmla="*/ 0 h 1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1"/>
                  <a:gd name="T100" fmla="*/ 0 h 177"/>
                  <a:gd name="T101" fmla="*/ 171 w 171"/>
                  <a:gd name="T102" fmla="*/ 177 h 17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1" h="177">
                    <a:moveTo>
                      <a:pt x="120" y="170"/>
                    </a:moveTo>
                    <a:lnTo>
                      <a:pt x="104" y="175"/>
                    </a:lnTo>
                    <a:lnTo>
                      <a:pt x="87" y="177"/>
                    </a:lnTo>
                    <a:lnTo>
                      <a:pt x="70" y="176"/>
                    </a:lnTo>
                    <a:lnTo>
                      <a:pt x="54" y="171"/>
                    </a:lnTo>
                    <a:lnTo>
                      <a:pt x="40" y="163"/>
                    </a:lnTo>
                    <a:lnTo>
                      <a:pt x="27" y="152"/>
                    </a:lnTo>
                    <a:lnTo>
                      <a:pt x="15" y="139"/>
                    </a:lnTo>
                    <a:lnTo>
                      <a:pt x="7" y="124"/>
                    </a:lnTo>
                    <a:lnTo>
                      <a:pt x="2" y="107"/>
                    </a:lnTo>
                    <a:lnTo>
                      <a:pt x="0" y="90"/>
                    </a:lnTo>
                    <a:lnTo>
                      <a:pt x="2" y="72"/>
                    </a:lnTo>
                    <a:lnTo>
                      <a:pt x="7" y="56"/>
                    </a:lnTo>
                    <a:lnTo>
                      <a:pt x="14" y="41"/>
                    </a:lnTo>
                    <a:lnTo>
                      <a:pt x="25" y="28"/>
                    </a:lnTo>
                    <a:lnTo>
                      <a:pt x="37" y="16"/>
                    </a:lnTo>
                    <a:lnTo>
                      <a:pt x="52" y="8"/>
                    </a:lnTo>
                    <a:lnTo>
                      <a:pt x="68" y="2"/>
                    </a:lnTo>
                    <a:lnTo>
                      <a:pt x="85" y="0"/>
                    </a:lnTo>
                    <a:lnTo>
                      <a:pt x="102" y="2"/>
                    </a:lnTo>
                    <a:lnTo>
                      <a:pt x="117" y="7"/>
                    </a:lnTo>
                    <a:lnTo>
                      <a:pt x="132" y="15"/>
                    </a:lnTo>
                    <a:lnTo>
                      <a:pt x="145" y="25"/>
                    </a:lnTo>
                    <a:lnTo>
                      <a:pt x="156" y="38"/>
                    </a:lnTo>
                    <a:lnTo>
                      <a:pt x="164" y="53"/>
                    </a:lnTo>
                    <a:lnTo>
                      <a:pt x="169" y="70"/>
                    </a:lnTo>
                    <a:lnTo>
                      <a:pt x="171" y="88"/>
                    </a:lnTo>
                    <a:lnTo>
                      <a:pt x="169" y="105"/>
                    </a:lnTo>
                    <a:lnTo>
                      <a:pt x="165" y="121"/>
                    </a:lnTo>
                    <a:lnTo>
                      <a:pt x="158" y="136"/>
                    </a:lnTo>
                    <a:lnTo>
                      <a:pt x="148" y="150"/>
                    </a:lnTo>
                    <a:lnTo>
                      <a:pt x="136" y="162"/>
                    </a:lnTo>
                    <a:lnTo>
                      <a:pt x="120" y="170"/>
                    </a:lnTo>
                    <a:close/>
                  </a:path>
                </a:pathLst>
              </a:custGeom>
              <a:solidFill>
                <a:srgbClr val="F5AE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3" name="Freeform 397">
                <a:extLst>
                  <a:ext uri="{FF2B5EF4-FFF2-40B4-BE49-F238E27FC236}">
                    <a16:creationId xmlns:a16="http://schemas.microsoft.com/office/drawing/2014/main" id="{0B0319DD-6C4B-43BB-90CD-C3C5508F3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7" cy="9"/>
              </a:xfrm>
              <a:custGeom>
                <a:avLst/>
                <a:gdLst>
                  <a:gd name="T0" fmla="*/ 0 w 152"/>
                  <a:gd name="T1" fmla="*/ 0 h 156"/>
                  <a:gd name="T2" fmla="*/ 0 w 152"/>
                  <a:gd name="T3" fmla="*/ 0 h 156"/>
                  <a:gd name="T4" fmla="*/ 0 w 152"/>
                  <a:gd name="T5" fmla="*/ 0 h 156"/>
                  <a:gd name="T6" fmla="*/ 0 w 152"/>
                  <a:gd name="T7" fmla="*/ 0 h 156"/>
                  <a:gd name="T8" fmla="*/ 0 w 152"/>
                  <a:gd name="T9" fmla="*/ 0 h 156"/>
                  <a:gd name="T10" fmla="*/ 0 w 152"/>
                  <a:gd name="T11" fmla="*/ 0 h 156"/>
                  <a:gd name="T12" fmla="*/ 0 w 152"/>
                  <a:gd name="T13" fmla="*/ 0 h 156"/>
                  <a:gd name="T14" fmla="*/ 0 w 152"/>
                  <a:gd name="T15" fmla="*/ 0 h 156"/>
                  <a:gd name="T16" fmla="*/ 0 w 152"/>
                  <a:gd name="T17" fmla="*/ 0 h 156"/>
                  <a:gd name="T18" fmla="*/ 0 w 152"/>
                  <a:gd name="T19" fmla="*/ 0 h 156"/>
                  <a:gd name="T20" fmla="*/ 0 w 152"/>
                  <a:gd name="T21" fmla="*/ 0 h 156"/>
                  <a:gd name="T22" fmla="*/ 0 w 152"/>
                  <a:gd name="T23" fmla="*/ 0 h 156"/>
                  <a:gd name="T24" fmla="*/ 0 w 152"/>
                  <a:gd name="T25" fmla="*/ 0 h 156"/>
                  <a:gd name="T26" fmla="*/ 0 w 152"/>
                  <a:gd name="T27" fmla="*/ 0 h 156"/>
                  <a:gd name="T28" fmla="*/ 0 w 152"/>
                  <a:gd name="T29" fmla="*/ 0 h 156"/>
                  <a:gd name="T30" fmla="*/ 0 w 152"/>
                  <a:gd name="T31" fmla="*/ 0 h 156"/>
                  <a:gd name="T32" fmla="*/ 0 w 152"/>
                  <a:gd name="T33" fmla="*/ 0 h 156"/>
                  <a:gd name="T34" fmla="*/ 0 w 152"/>
                  <a:gd name="T35" fmla="*/ 0 h 156"/>
                  <a:gd name="T36" fmla="*/ 0 w 152"/>
                  <a:gd name="T37" fmla="*/ 0 h 156"/>
                  <a:gd name="T38" fmla="*/ 0 w 152"/>
                  <a:gd name="T39" fmla="*/ 0 h 156"/>
                  <a:gd name="T40" fmla="*/ 0 w 152"/>
                  <a:gd name="T41" fmla="*/ 0 h 156"/>
                  <a:gd name="T42" fmla="*/ 0 w 152"/>
                  <a:gd name="T43" fmla="*/ 0 h 156"/>
                  <a:gd name="T44" fmla="*/ 0 w 152"/>
                  <a:gd name="T45" fmla="*/ 0 h 156"/>
                  <a:gd name="T46" fmla="*/ 0 w 152"/>
                  <a:gd name="T47" fmla="*/ 0 h 156"/>
                  <a:gd name="T48" fmla="*/ 0 w 152"/>
                  <a:gd name="T49" fmla="*/ 0 h 156"/>
                  <a:gd name="T50" fmla="*/ 0 w 152"/>
                  <a:gd name="T51" fmla="*/ 0 h 156"/>
                  <a:gd name="T52" fmla="*/ 0 w 152"/>
                  <a:gd name="T53" fmla="*/ 0 h 156"/>
                  <a:gd name="T54" fmla="*/ 0 w 152"/>
                  <a:gd name="T55" fmla="*/ 0 h 156"/>
                  <a:gd name="T56" fmla="*/ 0 w 152"/>
                  <a:gd name="T57" fmla="*/ 0 h 156"/>
                  <a:gd name="T58" fmla="*/ 0 w 152"/>
                  <a:gd name="T59" fmla="*/ 0 h 156"/>
                  <a:gd name="T60" fmla="*/ 0 w 152"/>
                  <a:gd name="T61" fmla="*/ 0 h 156"/>
                  <a:gd name="T62" fmla="*/ 0 w 152"/>
                  <a:gd name="T63" fmla="*/ 0 h 156"/>
                  <a:gd name="T64" fmla="*/ 0 w 152"/>
                  <a:gd name="T65" fmla="*/ 0 h 1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52"/>
                  <a:gd name="T100" fmla="*/ 0 h 156"/>
                  <a:gd name="T101" fmla="*/ 152 w 152"/>
                  <a:gd name="T102" fmla="*/ 156 h 1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52" h="156">
                    <a:moveTo>
                      <a:pt x="106" y="149"/>
                    </a:moveTo>
                    <a:lnTo>
                      <a:pt x="92" y="155"/>
                    </a:lnTo>
                    <a:lnTo>
                      <a:pt x="77" y="156"/>
                    </a:lnTo>
                    <a:lnTo>
                      <a:pt x="63" y="155"/>
                    </a:lnTo>
                    <a:lnTo>
                      <a:pt x="48" y="150"/>
                    </a:lnTo>
                    <a:lnTo>
                      <a:pt x="35" y="143"/>
                    </a:lnTo>
                    <a:lnTo>
                      <a:pt x="24" y="133"/>
                    </a:lnTo>
                    <a:lnTo>
                      <a:pt x="14" y="122"/>
                    </a:lnTo>
                    <a:lnTo>
                      <a:pt x="6" y="108"/>
                    </a:lnTo>
                    <a:lnTo>
                      <a:pt x="2" y="93"/>
                    </a:lnTo>
                    <a:lnTo>
                      <a:pt x="0" y="78"/>
                    </a:lnTo>
                    <a:lnTo>
                      <a:pt x="1" y="63"/>
                    </a:lnTo>
                    <a:lnTo>
                      <a:pt x="5" y="49"/>
                    </a:lnTo>
                    <a:lnTo>
                      <a:pt x="13" y="35"/>
                    </a:lnTo>
                    <a:lnTo>
                      <a:pt x="22" y="24"/>
                    </a:lnTo>
                    <a:lnTo>
                      <a:pt x="33" y="13"/>
                    </a:lnTo>
                    <a:lnTo>
                      <a:pt x="46" y="6"/>
                    </a:lnTo>
                    <a:lnTo>
                      <a:pt x="60" y="1"/>
                    </a:lnTo>
                    <a:lnTo>
                      <a:pt x="76" y="0"/>
                    </a:lnTo>
                    <a:lnTo>
                      <a:pt x="90" y="1"/>
                    </a:lnTo>
                    <a:lnTo>
                      <a:pt x="104" y="5"/>
                    </a:lnTo>
                    <a:lnTo>
                      <a:pt x="118" y="11"/>
                    </a:lnTo>
                    <a:lnTo>
                      <a:pt x="129" y="21"/>
                    </a:lnTo>
                    <a:lnTo>
                      <a:pt x="139" y="32"/>
                    </a:lnTo>
                    <a:lnTo>
                      <a:pt x="146" y="46"/>
                    </a:lnTo>
                    <a:lnTo>
                      <a:pt x="150" y="61"/>
                    </a:lnTo>
                    <a:lnTo>
                      <a:pt x="152" y="77"/>
                    </a:lnTo>
                    <a:lnTo>
                      <a:pt x="151" y="91"/>
                    </a:lnTo>
                    <a:lnTo>
                      <a:pt x="147" y="106"/>
                    </a:lnTo>
                    <a:lnTo>
                      <a:pt x="140" y="120"/>
                    </a:lnTo>
                    <a:lnTo>
                      <a:pt x="131" y="131"/>
                    </a:lnTo>
                    <a:lnTo>
                      <a:pt x="120" y="142"/>
                    </a:lnTo>
                    <a:lnTo>
                      <a:pt x="106" y="149"/>
                    </a:lnTo>
                    <a:close/>
                  </a:path>
                </a:pathLst>
              </a:custGeom>
              <a:solidFill>
                <a:srgbClr val="FAD6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4" name="Freeform 398">
                <a:extLst>
                  <a:ext uri="{FF2B5EF4-FFF2-40B4-BE49-F238E27FC236}">
                    <a16:creationId xmlns:a16="http://schemas.microsoft.com/office/drawing/2014/main" id="{80CB3D6B-98F3-4D6B-A1C1-357E4AF8B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6" cy="8"/>
              </a:xfrm>
              <a:custGeom>
                <a:avLst/>
                <a:gdLst>
                  <a:gd name="T0" fmla="*/ 0 w 134"/>
                  <a:gd name="T1" fmla="*/ 0 h 139"/>
                  <a:gd name="T2" fmla="*/ 0 w 134"/>
                  <a:gd name="T3" fmla="*/ 0 h 139"/>
                  <a:gd name="T4" fmla="*/ 0 w 134"/>
                  <a:gd name="T5" fmla="*/ 0 h 139"/>
                  <a:gd name="T6" fmla="*/ 0 w 134"/>
                  <a:gd name="T7" fmla="*/ 0 h 139"/>
                  <a:gd name="T8" fmla="*/ 0 w 134"/>
                  <a:gd name="T9" fmla="*/ 0 h 139"/>
                  <a:gd name="T10" fmla="*/ 0 w 134"/>
                  <a:gd name="T11" fmla="*/ 0 h 139"/>
                  <a:gd name="T12" fmla="*/ 0 w 134"/>
                  <a:gd name="T13" fmla="*/ 0 h 139"/>
                  <a:gd name="T14" fmla="*/ 0 w 134"/>
                  <a:gd name="T15" fmla="*/ 0 h 139"/>
                  <a:gd name="T16" fmla="*/ 0 w 134"/>
                  <a:gd name="T17" fmla="*/ 0 h 139"/>
                  <a:gd name="T18" fmla="*/ 0 w 134"/>
                  <a:gd name="T19" fmla="*/ 0 h 139"/>
                  <a:gd name="T20" fmla="*/ 0 w 134"/>
                  <a:gd name="T21" fmla="*/ 0 h 139"/>
                  <a:gd name="T22" fmla="*/ 0 w 134"/>
                  <a:gd name="T23" fmla="*/ 0 h 139"/>
                  <a:gd name="T24" fmla="*/ 0 w 134"/>
                  <a:gd name="T25" fmla="*/ 0 h 139"/>
                  <a:gd name="T26" fmla="*/ 0 w 134"/>
                  <a:gd name="T27" fmla="*/ 0 h 139"/>
                  <a:gd name="T28" fmla="*/ 0 w 134"/>
                  <a:gd name="T29" fmla="*/ 0 h 139"/>
                  <a:gd name="T30" fmla="*/ 0 w 134"/>
                  <a:gd name="T31" fmla="*/ 0 h 139"/>
                  <a:gd name="T32" fmla="*/ 0 w 134"/>
                  <a:gd name="T33" fmla="*/ 0 h 139"/>
                  <a:gd name="T34" fmla="*/ 0 w 134"/>
                  <a:gd name="T35" fmla="*/ 0 h 139"/>
                  <a:gd name="T36" fmla="*/ 0 w 134"/>
                  <a:gd name="T37" fmla="*/ 0 h 139"/>
                  <a:gd name="T38" fmla="*/ 0 w 134"/>
                  <a:gd name="T39" fmla="*/ 0 h 139"/>
                  <a:gd name="T40" fmla="*/ 0 w 134"/>
                  <a:gd name="T41" fmla="*/ 0 h 139"/>
                  <a:gd name="T42" fmla="*/ 0 w 134"/>
                  <a:gd name="T43" fmla="*/ 0 h 139"/>
                  <a:gd name="T44" fmla="*/ 0 w 134"/>
                  <a:gd name="T45" fmla="*/ 0 h 139"/>
                  <a:gd name="T46" fmla="*/ 0 w 134"/>
                  <a:gd name="T47" fmla="*/ 0 h 139"/>
                  <a:gd name="T48" fmla="*/ 0 w 134"/>
                  <a:gd name="T49" fmla="*/ 0 h 139"/>
                  <a:gd name="T50" fmla="*/ 0 w 134"/>
                  <a:gd name="T51" fmla="*/ 0 h 139"/>
                  <a:gd name="T52" fmla="*/ 0 w 134"/>
                  <a:gd name="T53" fmla="*/ 0 h 139"/>
                  <a:gd name="T54" fmla="*/ 0 w 134"/>
                  <a:gd name="T55" fmla="*/ 0 h 139"/>
                  <a:gd name="T56" fmla="*/ 0 w 134"/>
                  <a:gd name="T57" fmla="*/ 0 h 139"/>
                  <a:gd name="T58" fmla="*/ 0 w 134"/>
                  <a:gd name="T59" fmla="*/ 0 h 139"/>
                  <a:gd name="T60" fmla="*/ 0 w 134"/>
                  <a:gd name="T61" fmla="*/ 0 h 139"/>
                  <a:gd name="T62" fmla="*/ 0 w 134"/>
                  <a:gd name="T63" fmla="*/ 0 h 139"/>
                  <a:gd name="T64" fmla="*/ 0 w 134"/>
                  <a:gd name="T65" fmla="*/ 0 h 13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139"/>
                  <a:gd name="T101" fmla="*/ 134 w 134"/>
                  <a:gd name="T102" fmla="*/ 139 h 13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139">
                    <a:moveTo>
                      <a:pt x="93" y="134"/>
                    </a:moveTo>
                    <a:lnTo>
                      <a:pt x="80" y="138"/>
                    </a:lnTo>
                    <a:lnTo>
                      <a:pt x="68" y="139"/>
                    </a:lnTo>
                    <a:lnTo>
                      <a:pt x="55" y="138"/>
                    </a:lnTo>
                    <a:lnTo>
                      <a:pt x="42" y="134"/>
                    </a:lnTo>
                    <a:lnTo>
                      <a:pt x="30" y="127"/>
                    </a:lnTo>
                    <a:lnTo>
                      <a:pt x="20" y="119"/>
                    </a:lnTo>
                    <a:lnTo>
                      <a:pt x="12" y="109"/>
                    </a:lnTo>
                    <a:lnTo>
                      <a:pt x="5" y="97"/>
                    </a:lnTo>
                    <a:lnTo>
                      <a:pt x="1" y="83"/>
                    </a:lnTo>
                    <a:lnTo>
                      <a:pt x="0" y="70"/>
                    </a:lnTo>
                    <a:lnTo>
                      <a:pt x="1" y="57"/>
                    </a:lnTo>
                    <a:lnTo>
                      <a:pt x="5" y="44"/>
                    </a:lnTo>
                    <a:lnTo>
                      <a:pt x="11" y="31"/>
                    </a:lnTo>
                    <a:lnTo>
                      <a:pt x="19" y="21"/>
                    </a:lnTo>
                    <a:lnTo>
                      <a:pt x="28" y="12"/>
                    </a:lnTo>
                    <a:lnTo>
                      <a:pt x="40" y="5"/>
                    </a:lnTo>
                    <a:lnTo>
                      <a:pt x="54" y="1"/>
                    </a:lnTo>
                    <a:lnTo>
                      <a:pt x="66" y="0"/>
                    </a:lnTo>
                    <a:lnTo>
                      <a:pt x="79" y="1"/>
                    </a:lnTo>
                    <a:lnTo>
                      <a:pt x="91" y="5"/>
                    </a:lnTo>
                    <a:lnTo>
                      <a:pt x="104" y="11"/>
                    </a:lnTo>
                    <a:lnTo>
                      <a:pt x="114" y="20"/>
                    </a:lnTo>
                    <a:lnTo>
                      <a:pt x="122" y="29"/>
                    </a:lnTo>
                    <a:lnTo>
                      <a:pt x="129" y="42"/>
                    </a:lnTo>
                    <a:lnTo>
                      <a:pt x="133" y="56"/>
                    </a:lnTo>
                    <a:lnTo>
                      <a:pt x="134" y="68"/>
                    </a:lnTo>
                    <a:lnTo>
                      <a:pt x="133" y="82"/>
                    </a:lnTo>
                    <a:lnTo>
                      <a:pt x="129" y="95"/>
                    </a:lnTo>
                    <a:lnTo>
                      <a:pt x="123" y="107"/>
                    </a:lnTo>
                    <a:lnTo>
                      <a:pt x="115" y="118"/>
                    </a:lnTo>
                    <a:lnTo>
                      <a:pt x="106" y="126"/>
                    </a:lnTo>
                    <a:lnTo>
                      <a:pt x="93" y="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5" name="Freeform 399">
                <a:extLst>
                  <a:ext uri="{FF2B5EF4-FFF2-40B4-BE49-F238E27FC236}">
                    <a16:creationId xmlns:a16="http://schemas.microsoft.com/office/drawing/2014/main" id="{508894B0-D37F-4077-8359-FA9B434E61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93"/>
                <a:ext cx="1" cy="2"/>
              </a:xfrm>
              <a:custGeom>
                <a:avLst/>
                <a:gdLst>
                  <a:gd name="T0" fmla="*/ 0 w 21"/>
                  <a:gd name="T1" fmla="*/ 0 h 33"/>
                  <a:gd name="T2" fmla="*/ 0 w 21"/>
                  <a:gd name="T3" fmla="*/ 0 h 33"/>
                  <a:gd name="T4" fmla="*/ 0 w 21"/>
                  <a:gd name="T5" fmla="*/ 0 h 33"/>
                  <a:gd name="T6" fmla="*/ 0 w 21"/>
                  <a:gd name="T7" fmla="*/ 0 h 33"/>
                  <a:gd name="T8" fmla="*/ 0 w 21"/>
                  <a:gd name="T9" fmla="*/ 0 h 33"/>
                  <a:gd name="T10" fmla="*/ 0 w 21"/>
                  <a:gd name="T11" fmla="*/ 0 h 33"/>
                  <a:gd name="T12" fmla="*/ 0 w 21"/>
                  <a:gd name="T13" fmla="*/ 0 h 33"/>
                  <a:gd name="T14" fmla="*/ 0 w 21"/>
                  <a:gd name="T15" fmla="*/ 0 h 33"/>
                  <a:gd name="T16" fmla="*/ 0 w 21"/>
                  <a:gd name="T17" fmla="*/ 0 h 33"/>
                  <a:gd name="T18" fmla="*/ 0 w 21"/>
                  <a:gd name="T19" fmla="*/ 0 h 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33"/>
                  <a:gd name="T32" fmla="*/ 21 w 21"/>
                  <a:gd name="T33" fmla="*/ 33 h 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33">
                    <a:moveTo>
                      <a:pt x="11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5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8" y="31"/>
                    </a:lnTo>
                    <a:lnTo>
                      <a:pt x="14" y="33"/>
                    </a:lnTo>
                    <a:lnTo>
                      <a:pt x="21" y="3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6" name="Freeform 400">
                <a:extLst>
                  <a:ext uri="{FF2B5EF4-FFF2-40B4-BE49-F238E27FC236}">
                    <a16:creationId xmlns:a16="http://schemas.microsoft.com/office/drawing/2014/main" id="{E693A5BF-C180-436A-BB65-4833B06BD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89"/>
                <a:ext cx="3" cy="6"/>
              </a:xfrm>
              <a:custGeom>
                <a:avLst/>
                <a:gdLst>
                  <a:gd name="T0" fmla="*/ 0 w 75"/>
                  <a:gd name="T1" fmla="*/ 0 h 98"/>
                  <a:gd name="T2" fmla="*/ 0 w 75"/>
                  <a:gd name="T3" fmla="*/ 0 h 98"/>
                  <a:gd name="T4" fmla="*/ 0 w 75"/>
                  <a:gd name="T5" fmla="*/ 0 h 98"/>
                  <a:gd name="T6" fmla="*/ 0 w 75"/>
                  <a:gd name="T7" fmla="*/ 0 h 98"/>
                  <a:gd name="T8" fmla="*/ 0 w 75"/>
                  <a:gd name="T9" fmla="*/ 0 h 98"/>
                  <a:gd name="T10" fmla="*/ 0 w 75"/>
                  <a:gd name="T11" fmla="*/ 0 h 98"/>
                  <a:gd name="T12" fmla="*/ 0 w 75"/>
                  <a:gd name="T13" fmla="*/ 0 h 98"/>
                  <a:gd name="T14" fmla="*/ 0 w 75"/>
                  <a:gd name="T15" fmla="*/ 0 h 98"/>
                  <a:gd name="T16" fmla="*/ 0 w 75"/>
                  <a:gd name="T17" fmla="*/ 0 h 98"/>
                  <a:gd name="T18" fmla="*/ 0 w 75"/>
                  <a:gd name="T19" fmla="*/ 0 h 98"/>
                  <a:gd name="T20" fmla="*/ 0 w 75"/>
                  <a:gd name="T21" fmla="*/ 0 h 98"/>
                  <a:gd name="T22" fmla="*/ 0 w 75"/>
                  <a:gd name="T23" fmla="*/ 0 h 98"/>
                  <a:gd name="T24" fmla="*/ 0 w 75"/>
                  <a:gd name="T25" fmla="*/ 0 h 98"/>
                  <a:gd name="T26" fmla="*/ 0 w 75"/>
                  <a:gd name="T27" fmla="*/ 0 h 98"/>
                  <a:gd name="T28" fmla="*/ 0 w 75"/>
                  <a:gd name="T29" fmla="*/ 0 h 98"/>
                  <a:gd name="T30" fmla="*/ 0 w 75"/>
                  <a:gd name="T31" fmla="*/ 0 h 98"/>
                  <a:gd name="T32" fmla="*/ 0 w 75"/>
                  <a:gd name="T33" fmla="*/ 0 h 98"/>
                  <a:gd name="T34" fmla="*/ 0 w 75"/>
                  <a:gd name="T35" fmla="*/ 0 h 98"/>
                  <a:gd name="T36" fmla="*/ 0 w 75"/>
                  <a:gd name="T37" fmla="*/ 0 h 98"/>
                  <a:gd name="T38" fmla="*/ 0 w 75"/>
                  <a:gd name="T39" fmla="*/ 0 h 98"/>
                  <a:gd name="T40" fmla="*/ 0 w 75"/>
                  <a:gd name="T41" fmla="*/ 0 h 9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"/>
                  <a:gd name="T64" fmla="*/ 0 h 98"/>
                  <a:gd name="T65" fmla="*/ 75 w 75"/>
                  <a:gd name="T66" fmla="*/ 98 h 9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" h="98">
                    <a:moveTo>
                      <a:pt x="40" y="12"/>
                    </a:moveTo>
                    <a:lnTo>
                      <a:pt x="40" y="12"/>
                    </a:lnTo>
                    <a:lnTo>
                      <a:pt x="42" y="22"/>
                    </a:lnTo>
                    <a:lnTo>
                      <a:pt x="42" y="28"/>
                    </a:lnTo>
                    <a:lnTo>
                      <a:pt x="39" y="37"/>
                    </a:lnTo>
                    <a:lnTo>
                      <a:pt x="36" y="43"/>
                    </a:lnTo>
                    <a:lnTo>
                      <a:pt x="30" y="49"/>
                    </a:lnTo>
                    <a:lnTo>
                      <a:pt x="21" y="57"/>
                    </a:lnTo>
                    <a:lnTo>
                      <a:pt x="12" y="61"/>
                    </a:lnTo>
                    <a:lnTo>
                      <a:pt x="0" y="66"/>
                    </a:lnTo>
                    <a:lnTo>
                      <a:pt x="10" y="98"/>
                    </a:lnTo>
                    <a:lnTo>
                      <a:pt x="26" y="92"/>
                    </a:lnTo>
                    <a:lnTo>
                      <a:pt x="39" y="84"/>
                    </a:lnTo>
                    <a:lnTo>
                      <a:pt x="50" y="74"/>
                    </a:lnTo>
                    <a:lnTo>
                      <a:pt x="63" y="64"/>
                    </a:lnTo>
                    <a:lnTo>
                      <a:pt x="70" y="49"/>
                    </a:lnTo>
                    <a:lnTo>
                      <a:pt x="75" y="34"/>
                    </a:lnTo>
                    <a:lnTo>
                      <a:pt x="75" y="18"/>
                    </a:lnTo>
                    <a:lnTo>
                      <a:pt x="71" y="0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7" name="Freeform 401">
                <a:extLst>
                  <a:ext uri="{FF2B5EF4-FFF2-40B4-BE49-F238E27FC236}">
                    <a16:creationId xmlns:a16="http://schemas.microsoft.com/office/drawing/2014/main" id="{F386F621-D3F4-4890-84D6-2E01913C3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" y="3087"/>
                <a:ext cx="5" cy="3"/>
              </a:xfrm>
              <a:custGeom>
                <a:avLst/>
                <a:gdLst>
                  <a:gd name="T0" fmla="*/ 0 w 108"/>
                  <a:gd name="T1" fmla="*/ 0 h 49"/>
                  <a:gd name="T2" fmla="*/ 0 w 108"/>
                  <a:gd name="T3" fmla="*/ 0 h 49"/>
                  <a:gd name="T4" fmla="*/ 0 w 108"/>
                  <a:gd name="T5" fmla="*/ 0 h 49"/>
                  <a:gd name="T6" fmla="*/ 0 w 108"/>
                  <a:gd name="T7" fmla="*/ 0 h 49"/>
                  <a:gd name="T8" fmla="*/ 0 w 108"/>
                  <a:gd name="T9" fmla="*/ 0 h 49"/>
                  <a:gd name="T10" fmla="*/ 0 w 108"/>
                  <a:gd name="T11" fmla="*/ 0 h 49"/>
                  <a:gd name="T12" fmla="*/ 0 w 108"/>
                  <a:gd name="T13" fmla="*/ 0 h 49"/>
                  <a:gd name="T14" fmla="*/ 0 w 108"/>
                  <a:gd name="T15" fmla="*/ 0 h 49"/>
                  <a:gd name="T16" fmla="*/ 0 w 108"/>
                  <a:gd name="T17" fmla="*/ 0 h 49"/>
                  <a:gd name="T18" fmla="*/ 0 w 108"/>
                  <a:gd name="T19" fmla="*/ 0 h 49"/>
                  <a:gd name="T20" fmla="*/ 0 w 108"/>
                  <a:gd name="T21" fmla="*/ 0 h 49"/>
                  <a:gd name="T22" fmla="*/ 0 w 108"/>
                  <a:gd name="T23" fmla="*/ 0 h 49"/>
                  <a:gd name="T24" fmla="*/ 0 w 108"/>
                  <a:gd name="T25" fmla="*/ 0 h 49"/>
                  <a:gd name="T26" fmla="*/ 0 w 108"/>
                  <a:gd name="T27" fmla="*/ 0 h 49"/>
                  <a:gd name="T28" fmla="*/ 0 w 108"/>
                  <a:gd name="T29" fmla="*/ 0 h 49"/>
                  <a:gd name="T30" fmla="*/ 0 w 108"/>
                  <a:gd name="T31" fmla="*/ 0 h 49"/>
                  <a:gd name="T32" fmla="*/ 0 w 108"/>
                  <a:gd name="T33" fmla="*/ 0 h 49"/>
                  <a:gd name="T34" fmla="*/ 0 w 108"/>
                  <a:gd name="T35" fmla="*/ 0 h 49"/>
                  <a:gd name="T36" fmla="*/ 0 w 108"/>
                  <a:gd name="T37" fmla="*/ 0 h 49"/>
                  <a:gd name="T38" fmla="*/ 0 w 108"/>
                  <a:gd name="T39" fmla="*/ 0 h 49"/>
                  <a:gd name="T40" fmla="*/ 0 w 108"/>
                  <a:gd name="T41" fmla="*/ 0 h 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49"/>
                  <a:gd name="T65" fmla="*/ 108 w 108"/>
                  <a:gd name="T66" fmla="*/ 49 h 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49">
                    <a:moveTo>
                      <a:pt x="20" y="43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6" y="35"/>
                    </a:lnTo>
                    <a:lnTo>
                      <a:pt x="45" y="33"/>
                    </a:lnTo>
                    <a:lnTo>
                      <a:pt x="54" y="33"/>
                    </a:lnTo>
                    <a:lnTo>
                      <a:pt x="62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49"/>
                    </a:lnTo>
                    <a:lnTo>
                      <a:pt x="108" y="37"/>
                    </a:lnTo>
                    <a:lnTo>
                      <a:pt x="98" y="22"/>
                    </a:lnTo>
                    <a:lnTo>
                      <a:pt x="87" y="11"/>
                    </a:lnTo>
                    <a:lnTo>
                      <a:pt x="74" y="4"/>
                    </a:lnTo>
                    <a:lnTo>
                      <a:pt x="58" y="0"/>
                    </a:lnTo>
                    <a:lnTo>
                      <a:pt x="41" y="0"/>
                    </a:lnTo>
                    <a:lnTo>
                      <a:pt x="26" y="3"/>
                    </a:lnTo>
                    <a:lnTo>
                      <a:pt x="13" y="9"/>
                    </a:lnTo>
                    <a:lnTo>
                      <a:pt x="0" y="18"/>
                    </a:lnTo>
                    <a:lnTo>
                      <a:pt x="20" y="43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8" name="Freeform 402">
                <a:extLst>
                  <a:ext uri="{FF2B5EF4-FFF2-40B4-BE49-F238E27FC236}">
                    <a16:creationId xmlns:a16="http://schemas.microsoft.com/office/drawing/2014/main" id="{83D76AF1-137D-4CE7-BECC-B5652AFBF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8"/>
                <a:ext cx="3" cy="8"/>
              </a:xfrm>
              <a:custGeom>
                <a:avLst/>
                <a:gdLst>
                  <a:gd name="T0" fmla="*/ 0 w 69"/>
                  <a:gd name="T1" fmla="*/ 0 h 129"/>
                  <a:gd name="T2" fmla="*/ 0 w 69"/>
                  <a:gd name="T3" fmla="*/ 0 h 129"/>
                  <a:gd name="T4" fmla="*/ 0 w 69"/>
                  <a:gd name="T5" fmla="*/ 0 h 129"/>
                  <a:gd name="T6" fmla="*/ 0 w 69"/>
                  <a:gd name="T7" fmla="*/ 0 h 129"/>
                  <a:gd name="T8" fmla="*/ 0 w 69"/>
                  <a:gd name="T9" fmla="*/ 0 h 129"/>
                  <a:gd name="T10" fmla="*/ 0 w 69"/>
                  <a:gd name="T11" fmla="*/ 0 h 129"/>
                  <a:gd name="T12" fmla="*/ 0 w 69"/>
                  <a:gd name="T13" fmla="*/ 0 h 129"/>
                  <a:gd name="T14" fmla="*/ 0 w 69"/>
                  <a:gd name="T15" fmla="*/ 0 h 129"/>
                  <a:gd name="T16" fmla="*/ 0 w 69"/>
                  <a:gd name="T17" fmla="*/ 0 h 129"/>
                  <a:gd name="T18" fmla="*/ 0 w 69"/>
                  <a:gd name="T19" fmla="*/ 0 h 129"/>
                  <a:gd name="T20" fmla="*/ 0 w 69"/>
                  <a:gd name="T21" fmla="*/ 0 h 129"/>
                  <a:gd name="T22" fmla="*/ 0 w 69"/>
                  <a:gd name="T23" fmla="*/ 0 h 129"/>
                  <a:gd name="T24" fmla="*/ 0 w 69"/>
                  <a:gd name="T25" fmla="*/ 0 h 129"/>
                  <a:gd name="T26" fmla="*/ 0 w 69"/>
                  <a:gd name="T27" fmla="*/ 0 h 129"/>
                  <a:gd name="T28" fmla="*/ 0 w 69"/>
                  <a:gd name="T29" fmla="*/ 0 h 129"/>
                  <a:gd name="T30" fmla="*/ 0 w 69"/>
                  <a:gd name="T31" fmla="*/ 0 h 129"/>
                  <a:gd name="T32" fmla="*/ 0 w 69"/>
                  <a:gd name="T33" fmla="*/ 0 h 129"/>
                  <a:gd name="T34" fmla="*/ 0 w 69"/>
                  <a:gd name="T35" fmla="*/ 0 h 129"/>
                  <a:gd name="T36" fmla="*/ 0 w 69"/>
                  <a:gd name="T37" fmla="*/ 0 h 129"/>
                  <a:gd name="T38" fmla="*/ 0 w 69"/>
                  <a:gd name="T39" fmla="*/ 0 h 129"/>
                  <a:gd name="T40" fmla="*/ 0 w 69"/>
                  <a:gd name="T41" fmla="*/ 0 h 1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29"/>
                  <a:gd name="T65" fmla="*/ 69 w 69"/>
                  <a:gd name="T66" fmla="*/ 129 h 1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29">
                    <a:moveTo>
                      <a:pt x="36" y="112"/>
                    </a:moveTo>
                    <a:lnTo>
                      <a:pt x="36" y="112"/>
                    </a:lnTo>
                    <a:lnTo>
                      <a:pt x="33" y="104"/>
                    </a:lnTo>
                    <a:lnTo>
                      <a:pt x="32" y="95"/>
                    </a:lnTo>
                    <a:lnTo>
                      <a:pt x="34" y="83"/>
                    </a:lnTo>
                    <a:lnTo>
                      <a:pt x="38" y="69"/>
                    </a:lnTo>
                    <a:lnTo>
                      <a:pt x="44" y="58"/>
                    </a:lnTo>
                    <a:lnTo>
                      <a:pt x="52" y="44"/>
                    </a:lnTo>
                    <a:lnTo>
                      <a:pt x="60" y="34"/>
                    </a:lnTo>
                    <a:lnTo>
                      <a:pt x="69" y="25"/>
                    </a:lnTo>
                    <a:lnTo>
                      <a:pt x="49" y="0"/>
                    </a:lnTo>
                    <a:lnTo>
                      <a:pt x="37" y="11"/>
                    </a:lnTo>
                    <a:lnTo>
                      <a:pt x="25" y="25"/>
                    </a:lnTo>
                    <a:lnTo>
                      <a:pt x="16" y="41"/>
                    </a:lnTo>
                    <a:lnTo>
                      <a:pt x="8" y="57"/>
                    </a:lnTo>
                    <a:lnTo>
                      <a:pt x="2" y="75"/>
                    </a:lnTo>
                    <a:lnTo>
                      <a:pt x="0" y="92"/>
                    </a:lnTo>
                    <a:lnTo>
                      <a:pt x="1" y="112"/>
                    </a:lnTo>
                    <a:lnTo>
                      <a:pt x="8" y="129"/>
                    </a:lnTo>
                    <a:lnTo>
                      <a:pt x="36" y="1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19" name="Freeform 403">
                <a:extLst>
                  <a:ext uri="{FF2B5EF4-FFF2-40B4-BE49-F238E27FC236}">
                    <a16:creationId xmlns:a16="http://schemas.microsoft.com/office/drawing/2014/main" id="{2293CAAC-378E-4191-9083-348651477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95"/>
                <a:ext cx="5" cy="4"/>
              </a:xfrm>
              <a:custGeom>
                <a:avLst/>
                <a:gdLst>
                  <a:gd name="T0" fmla="*/ 0 w 117"/>
                  <a:gd name="T1" fmla="*/ 0 h 76"/>
                  <a:gd name="T2" fmla="*/ 0 w 117"/>
                  <a:gd name="T3" fmla="*/ 0 h 76"/>
                  <a:gd name="T4" fmla="*/ 0 w 117"/>
                  <a:gd name="T5" fmla="*/ 0 h 76"/>
                  <a:gd name="T6" fmla="*/ 0 w 117"/>
                  <a:gd name="T7" fmla="*/ 0 h 76"/>
                  <a:gd name="T8" fmla="*/ 0 w 117"/>
                  <a:gd name="T9" fmla="*/ 0 h 76"/>
                  <a:gd name="T10" fmla="*/ 0 w 117"/>
                  <a:gd name="T11" fmla="*/ 0 h 76"/>
                  <a:gd name="T12" fmla="*/ 0 w 117"/>
                  <a:gd name="T13" fmla="*/ 0 h 76"/>
                  <a:gd name="T14" fmla="*/ 0 w 117"/>
                  <a:gd name="T15" fmla="*/ 0 h 76"/>
                  <a:gd name="T16" fmla="*/ 0 w 117"/>
                  <a:gd name="T17" fmla="*/ 0 h 76"/>
                  <a:gd name="T18" fmla="*/ 0 w 117"/>
                  <a:gd name="T19" fmla="*/ 0 h 76"/>
                  <a:gd name="T20" fmla="*/ 0 w 117"/>
                  <a:gd name="T21" fmla="*/ 0 h 76"/>
                  <a:gd name="T22" fmla="*/ 0 w 117"/>
                  <a:gd name="T23" fmla="*/ 0 h 76"/>
                  <a:gd name="T24" fmla="*/ 0 w 117"/>
                  <a:gd name="T25" fmla="*/ 0 h 76"/>
                  <a:gd name="T26" fmla="*/ 0 w 117"/>
                  <a:gd name="T27" fmla="*/ 0 h 76"/>
                  <a:gd name="T28" fmla="*/ 0 w 117"/>
                  <a:gd name="T29" fmla="*/ 0 h 76"/>
                  <a:gd name="T30" fmla="*/ 0 w 117"/>
                  <a:gd name="T31" fmla="*/ 0 h 76"/>
                  <a:gd name="T32" fmla="*/ 0 w 117"/>
                  <a:gd name="T33" fmla="*/ 0 h 76"/>
                  <a:gd name="T34" fmla="*/ 0 w 117"/>
                  <a:gd name="T35" fmla="*/ 0 h 76"/>
                  <a:gd name="T36" fmla="*/ 0 w 117"/>
                  <a:gd name="T37" fmla="*/ 0 h 76"/>
                  <a:gd name="T38" fmla="*/ 0 w 117"/>
                  <a:gd name="T39" fmla="*/ 0 h 76"/>
                  <a:gd name="T40" fmla="*/ 0 w 117"/>
                  <a:gd name="T41" fmla="*/ 0 h 7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6"/>
                  <a:gd name="T65" fmla="*/ 117 w 117"/>
                  <a:gd name="T66" fmla="*/ 76 h 7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6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3" y="43"/>
                    </a:lnTo>
                    <a:lnTo>
                      <a:pt x="72" y="42"/>
                    </a:lnTo>
                    <a:lnTo>
                      <a:pt x="62" y="36"/>
                    </a:lnTo>
                    <a:lnTo>
                      <a:pt x="52" y="30"/>
                    </a:lnTo>
                    <a:lnTo>
                      <a:pt x="43" y="23"/>
                    </a:lnTo>
                    <a:lnTo>
                      <a:pt x="35" y="13"/>
                    </a:lnTo>
                    <a:lnTo>
                      <a:pt x="28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0" y="46"/>
                    </a:lnTo>
                    <a:lnTo>
                      <a:pt x="33" y="57"/>
                    </a:lnTo>
                    <a:lnTo>
                      <a:pt x="48" y="66"/>
                    </a:lnTo>
                    <a:lnTo>
                      <a:pt x="64" y="73"/>
                    </a:lnTo>
                    <a:lnTo>
                      <a:pt x="81" y="76"/>
                    </a:lnTo>
                    <a:lnTo>
                      <a:pt x="98" y="76"/>
                    </a:lnTo>
                    <a:lnTo>
                      <a:pt x="117" y="72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0" name="Freeform 404">
                <a:extLst>
                  <a:ext uri="{FF2B5EF4-FFF2-40B4-BE49-F238E27FC236}">
                    <a16:creationId xmlns:a16="http://schemas.microsoft.com/office/drawing/2014/main" id="{CFFA8943-9A1D-4F9D-A87E-B81EDD44D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4"/>
                <a:ext cx="4" cy="5"/>
              </a:xfrm>
              <a:custGeom>
                <a:avLst/>
                <a:gdLst>
                  <a:gd name="T0" fmla="*/ 0 w 79"/>
                  <a:gd name="T1" fmla="*/ 0 h 88"/>
                  <a:gd name="T2" fmla="*/ 0 w 79"/>
                  <a:gd name="T3" fmla="*/ 0 h 88"/>
                  <a:gd name="T4" fmla="*/ 0 w 79"/>
                  <a:gd name="T5" fmla="*/ 0 h 88"/>
                  <a:gd name="T6" fmla="*/ 0 w 79"/>
                  <a:gd name="T7" fmla="*/ 0 h 88"/>
                  <a:gd name="T8" fmla="*/ 0 w 79"/>
                  <a:gd name="T9" fmla="*/ 0 h 88"/>
                  <a:gd name="T10" fmla="*/ 0 w 79"/>
                  <a:gd name="T11" fmla="*/ 0 h 88"/>
                  <a:gd name="T12" fmla="*/ 0 w 79"/>
                  <a:gd name="T13" fmla="*/ 0 h 88"/>
                  <a:gd name="T14" fmla="*/ 0 w 79"/>
                  <a:gd name="T15" fmla="*/ 0 h 88"/>
                  <a:gd name="T16" fmla="*/ 0 w 79"/>
                  <a:gd name="T17" fmla="*/ 0 h 88"/>
                  <a:gd name="T18" fmla="*/ 0 w 79"/>
                  <a:gd name="T19" fmla="*/ 0 h 88"/>
                  <a:gd name="T20" fmla="*/ 0 w 79"/>
                  <a:gd name="T21" fmla="*/ 0 h 88"/>
                  <a:gd name="T22" fmla="*/ 0 w 79"/>
                  <a:gd name="T23" fmla="*/ 0 h 88"/>
                  <a:gd name="T24" fmla="*/ 0 w 79"/>
                  <a:gd name="T25" fmla="*/ 0 h 88"/>
                  <a:gd name="T26" fmla="*/ 0 w 79"/>
                  <a:gd name="T27" fmla="*/ 0 h 88"/>
                  <a:gd name="T28" fmla="*/ 0 w 79"/>
                  <a:gd name="T29" fmla="*/ 0 h 88"/>
                  <a:gd name="T30" fmla="*/ 0 w 79"/>
                  <a:gd name="T31" fmla="*/ 0 h 88"/>
                  <a:gd name="T32" fmla="*/ 0 w 79"/>
                  <a:gd name="T33" fmla="*/ 0 h 88"/>
                  <a:gd name="T34" fmla="*/ 0 w 79"/>
                  <a:gd name="T35" fmla="*/ 0 h 88"/>
                  <a:gd name="T36" fmla="*/ 0 w 79"/>
                  <a:gd name="T37" fmla="*/ 0 h 8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9"/>
                  <a:gd name="T58" fmla="*/ 0 h 88"/>
                  <a:gd name="T59" fmla="*/ 79 w 79"/>
                  <a:gd name="T60" fmla="*/ 88 h 8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9" h="88">
                    <a:moveTo>
                      <a:pt x="47" y="0"/>
                    </a:moveTo>
                    <a:lnTo>
                      <a:pt x="46" y="8"/>
                    </a:lnTo>
                    <a:lnTo>
                      <a:pt x="44" y="15"/>
                    </a:lnTo>
                    <a:lnTo>
                      <a:pt x="40" y="24"/>
                    </a:lnTo>
                    <a:lnTo>
                      <a:pt x="35" y="32"/>
                    </a:lnTo>
                    <a:lnTo>
                      <a:pt x="28" y="39"/>
                    </a:lnTo>
                    <a:lnTo>
                      <a:pt x="21" y="46"/>
                    </a:lnTo>
                    <a:lnTo>
                      <a:pt x="11" y="52"/>
                    </a:lnTo>
                    <a:lnTo>
                      <a:pt x="0" y="57"/>
                    </a:lnTo>
                    <a:lnTo>
                      <a:pt x="10" y="88"/>
                    </a:lnTo>
                    <a:lnTo>
                      <a:pt x="25" y="82"/>
                    </a:lnTo>
                    <a:lnTo>
                      <a:pt x="40" y="73"/>
                    </a:lnTo>
                    <a:lnTo>
                      <a:pt x="51" y="64"/>
                    </a:lnTo>
                    <a:lnTo>
                      <a:pt x="61" y="53"/>
                    </a:lnTo>
                    <a:lnTo>
                      <a:pt x="68" y="41"/>
                    </a:lnTo>
                    <a:lnTo>
                      <a:pt x="74" y="28"/>
                    </a:lnTo>
                    <a:lnTo>
                      <a:pt x="78" y="14"/>
                    </a:lnTo>
                    <a:lnTo>
                      <a:pt x="79" y="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1" name="Freeform 405">
                <a:extLst>
                  <a:ext uri="{FF2B5EF4-FFF2-40B4-BE49-F238E27FC236}">
                    <a16:creationId xmlns:a16="http://schemas.microsoft.com/office/drawing/2014/main" id="{B2321219-C81B-4AD9-BD6F-40ACCCEC7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7"/>
                <a:ext cx="2" cy="1"/>
              </a:xfrm>
              <a:custGeom>
                <a:avLst/>
                <a:gdLst>
                  <a:gd name="T0" fmla="*/ 0 w 32"/>
                  <a:gd name="T1" fmla="*/ 0 h 18"/>
                  <a:gd name="T2" fmla="*/ 0 w 32"/>
                  <a:gd name="T3" fmla="*/ 0 h 18"/>
                  <a:gd name="T4" fmla="*/ 0 w 32"/>
                  <a:gd name="T5" fmla="*/ 0 h 18"/>
                  <a:gd name="T6" fmla="*/ 0 w 32"/>
                  <a:gd name="T7" fmla="*/ 0 h 18"/>
                  <a:gd name="T8" fmla="*/ 0 w 32"/>
                  <a:gd name="T9" fmla="*/ 0 h 18"/>
                  <a:gd name="T10" fmla="*/ 0 w 32"/>
                  <a:gd name="T11" fmla="*/ 0 h 18"/>
                  <a:gd name="T12" fmla="*/ 0 w 32"/>
                  <a:gd name="T13" fmla="*/ 0 h 18"/>
                  <a:gd name="T14" fmla="*/ 0 w 32"/>
                  <a:gd name="T15" fmla="*/ 0 h 18"/>
                  <a:gd name="T16" fmla="*/ 0 w 32"/>
                  <a:gd name="T17" fmla="*/ 0 h 18"/>
                  <a:gd name="T18" fmla="*/ 0 w 32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8"/>
                  <a:gd name="T32" fmla="*/ 32 w 32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8">
                    <a:moveTo>
                      <a:pt x="32" y="18"/>
                    </a:moveTo>
                    <a:lnTo>
                      <a:pt x="31" y="11"/>
                    </a:lnTo>
                    <a:lnTo>
                      <a:pt x="28" y="6"/>
                    </a:lnTo>
                    <a:lnTo>
                      <a:pt x="23" y="3"/>
                    </a:lnTo>
                    <a:lnTo>
                      <a:pt x="17" y="0"/>
                    </a:lnTo>
                    <a:lnTo>
                      <a:pt x="11" y="2"/>
                    </a:lnTo>
                    <a:lnTo>
                      <a:pt x="6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32" y="18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2" name="Freeform 406">
                <a:extLst>
                  <a:ext uri="{FF2B5EF4-FFF2-40B4-BE49-F238E27FC236}">
                    <a16:creationId xmlns:a16="http://schemas.microsoft.com/office/drawing/2014/main" id="{095354BE-8255-4D1D-8D61-EB8B7491A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4"/>
                <a:ext cx="1" cy="2"/>
              </a:xfrm>
              <a:custGeom>
                <a:avLst/>
                <a:gdLst>
                  <a:gd name="T0" fmla="*/ 0 w 22"/>
                  <a:gd name="T1" fmla="*/ 0 h 32"/>
                  <a:gd name="T2" fmla="*/ 0 w 22"/>
                  <a:gd name="T3" fmla="*/ 0 h 32"/>
                  <a:gd name="T4" fmla="*/ 0 w 22"/>
                  <a:gd name="T5" fmla="*/ 0 h 32"/>
                  <a:gd name="T6" fmla="*/ 0 w 22"/>
                  <a:gd name="T7" fmla="*/ 0 h 32"/>
                  <a:gd name="T8" fmla="*/ 0 w 22"/>
                  <a:gd name="T9" fmla="*/ 0 h 32"/>
                  <a:gd name="T10" fmla="*/ 0 w 22"/>
                  <a:gd name="T11" fmla="*/ 0 h 32"/>
                  <a:gd name="T12" fmla="*/ 0 w 22"/>
                  <a:gd name="T13" fmla="*/ 0 h 32"/>
                  <a:gd name="T14" fmla="*/ 0 w 22"/>
                  <a:gd name="T15" fmla="*/ 0 h 32"/>
                  <a:gd name="T16" fmla="*/ 0 w 22"/>
                  <a:gd name="T17" fmla="*/ 0 h 32"/>
                  <a:gd name="T18" fmla="*/ 0 w 22"/>
                  <a:gd name="T19" fmla="*/ 0 h 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"/>
                  <a:gd name="T31" fmla="*/ 0 h 32"/>
                  <a:gd name="T32" fmla="*/ 22 w 22"/>
                  <a:gd name="T33" fmla="*/ 32 h 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" h="32">
                    <a:moveTo>
                      <a:pt x="12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9" y="30"/>
                    </a:lnTo>
                    <a:lnTo>
                      <a:pt x="15" y="32"/>
                    </a:lnTo>
                    <a:lnTo>
                      <a:pt x="22" y="3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3" name="Freeform 407">
                <a:extLst>
                  <a:ext uri="{FF2B5EF4-FFF2-40B4-BE49-F238E27FC236}">
                    <a16:creationId xmlns:a16="http://schemas.microsoft.com/office/drawing/2014/main" id="{7E568B21-75C6-481B-9D02-9B75D5C15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0"/>
                <a:ext cx="4" cy="5"/>
              </a:xfrm>
              <a:custGeom>
                <a:avLst/>
                <a:gdLst>
                  <a:gd name="T0" fmla="*/ 0 w 74"/>
                  <a:gd name="T1" fmla="*/ 0 h 99"/>
                  <a:gd name="T2" fmla="*/ 0 w 74"/>
                  <a:gd name="T3" fmla="*/ 0 h 99"/>
                  <a:gd name="T4" fmla="*/ 0 w 74"/>
                  <a:gd name="T5" fmla="*/ 0 h 99"/>
                  <a:gd name="T6" fmla="*/ 0 w 74"/>
                  <a:gd name="T7" fmla="*/ 0 h 99"/>
                  <a:gd name="T8" fmla="*/ 0 w 74"/>
                  <a:gd name="T9" fmla="*/ 0 h 99"/>
                  <a:gd name="T10" fmla="*/ 0 w 74"/>
                  <a:gd name="T11" fmla="*/ 0 h 99"/>
                  <a:gd name="T12" fmla="*/ 0 w 74"/>
                  <a:gd name="T13" fmla="*/ 0 h 99"/>
                  <a:gd name="T14" fmla="*/ 0 w 74"/>
                  <a:gd name="T15" fmla="*/ 0 h 99"/>
                  <a:gd name="T16" fmla="*/ 0 w 74"/>
                  <a:gd name="T17" fmla="*/ 0 h 99"/>
                  <a:gd name="T18" fmla="*/ 0 w 74"/>
                  <a:gd name="T19" fmla="*/ 0 h 99"/>
                  <a:gd name="T20" fmla="*/ 0 w 74"/>
                  <a:gd name="T21" fmla="*/ 0 h 99"/>
                  <a:gd name="T22" fmla="*/ 0 w 74"/>
                  <a:gd name="T23" fmla="*/ 0 h 99"/>
                  <a:gd name="T24" fmla="*/ 0 w 74"/>
                  <a:gd name="T25" fmla="*/ 0 h 99"/>
                  <a:gd name="T26" fmla="*/ 0 w 74"/>
                  <a:gd name="T27" fmla="*/ 0 h 99"/>
                  <a:gd name="T28" fmla="*/ 0 w 74"/>
                  <a:gd name="T29" fmla="*/ 0 h 99"/>
                  <a:gd name="T30" fmla="*/ 0 w 74"/>
                  <a:gd name="T31" fmla="*/ 0 h 99"/>
                  <a:gd name="T32" fmla="*/ 0 w 74"/>
                  <a:gd name="T33" fmla="*/ 0 h 99"/>
                  <a:gd name="T34" fmla="*/ 0 w 74"/>
                  <a:gd name="T35" fmla="*/ 0 h 99"/>
                  <a:gd name="T36" fmla="*/ 0 w 74"/>
                  <a:gd name="T37" fmla="*/ 0 h 99"/>
                  <a:gd name="T38" fmla="*/ 0 w 74"/>
                  <a:gd name="T39" fmla="*/ 0 h 99"/>
                  <a:gd name="T40" fmla="*/ 0 w 74"/>
                  <a:gd name="T41" fmla="*/ 0 h 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4"/>
                  <a:gd name="T64" fmla="*/ 0 h 99"/>
                  <a:gd name="T65" fmla="*/ 74 w 74"/>
                  <a:gd name="T66" fmla="*/ 99 h 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4" h="99">
                    <a:moveTo>
                      <a:pt x="39" y="13"/>
                    </a:moveTo>
                    <a:lnTo>
                      <a:pt x="39" y="12"/>
                    </a:lnTo>
                    <a:lnTo>
                      <a:pt x="41" y="22"/>
                    </a:lnTo>
                    <a:lnTo>
                      <a:pt x="41" y="30"/>
                    </a:lnTo>
                    <a:lnTo>
                      <a:pt x="38" y="37"/>
                    </a:lnTo>
                    <a:lnTo>
                      <a:pt x="35" y="43"/>
                    </a:lnTo>
                    <a:lnTo>
                      <a:pt x="28" y="51"/>
                    </a:lnTo>
                    <a:lnTo>
                      <a:pt x="20" y="58"/>
                    </a:lnTo>
                    <a:lnTo>
                      <a:pt x="11" y="62"/>
                    </a:lnTo>
                    <a:lnTo>
                      <a:pt x="0" y="68"/>
                    </a:lnTo>
                    <a:lnTo>
                      <a:pt x="10" y="99"/>
                    </a:lnTo>
                    <a:lnTo>
                      <a:pt x="25" y="94"/>
                    </a:lnTo>
                    <a:lnTo>
                      <a:pt x="38" y="85"/>
                    </a:lnTo>
                    <a:lnTo>
                      <a:pt x="51" y="76"/>
                    </a:lnTo>
                    <a:lnTo>
                      <a:pt x="62" y="64"/>
                    </a:lnTo>
                    <a:lnTo>
                      <a:pt x="69" y="52"/>
                    </a:lnTo>
                    <a:lnTo>
                      <a:pt x="74" y="36"/>
                    </a:lnTo>
                    <a:lnTo>
                      <a:pt x="74" y="18"/>
                    </a:lnTo>
                    <a:lnTo>
                      <a:pt x="70" y="1"/>
                    </a:lnTo>
                    <a:lnTo>
                      <a:pt x="70" y="0"/>
                    </a:lnTo>
                    <a:lnTo>
                      <a:pt x="39" y="13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4" name="Freeform 408">
                <a:extLst>
                  <a:ext uri="{FF2B5EF4-FFF2-40B4-BE49-F238E27FC236}">
                    <a16:creationId xmlns:a16="http://schemas.microsoft.com/office/drawing/2014/main" id="{86D5D907-4525-4D77-84BD-DE8B6E7A61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88"/>
                <a:ext cx="5" cy="3"/>
              </a:xfrm>
              <a:custGeom>
                <a:avLst/>
                <a:gdLst>
                  <a:gd name="T0" fmla="*/ 0 w 108"/>
                  <a:gd name="T1" fmla="*/ 0 h 50"/>
                  <a:gd name="T2" fmla="*/ 0 w 108"/>
                  <a:gd name="T3" fmla="*/ 0 h 50"/>
                  <a:gd name="T4" fmla="*/ 0 w 108"/>
                  <a:gd name="T5" fmla="*/ 0 h 50"/>
                  <a:gd name="T6" fmla="*/ 0 w 108"/>
                  <a:gd name="T7" fmla="*/ 0 h 50"/>
                  <a:gd name="T8" fmla="*/ 0 w 108"/>
                  <a:gd name="T9" fmla="*/ 0 h 50"/>
                  <a:gd name="T10" fmla="*/ 0 w 108"/>
                  <a:gd name="T11" fmla="*/ 0 h 50"/>
                  <a:gd name="T12" fmla="*/ 0 w 108"/>
                  <a:gd name="T13" fmla="*/ 0 h 50"/>
                  <a:gd name="T14" fmla="*/ 0 w 108"/>
                  <a:gd name="T15" fmla="*/ 0 h 50"/>
                  <a:gd name="T16" fmla="*/ 0 w 108"/>
                  <a:gd name="T17" fmla="*/ 0 h 50"/>
                  <a:gd name="T18" fmla="*/ 0 w 108"/>
                  <a:gd name="T19" fmla="*/ 0 h 50"/>
                  <a:gd name="T20" fmla="*/ 0 w 108"/>
                  <a:gd name="T21" fmla="*/ 0 h 50"/>
                  <a:gd name="T22" fmla="*/ 0 w 108"/>
                  <a:gd name="T23" fmla="*/ 0 h 50"/>
                  <a:gd name="T24" fmla="*/ 0 w 108"/>
                  <a:gd name="T25" fmla="*/ 0 h 50"/>
                  <a:gd name="T26" fmla="*/ 0 w 108"/>
                  <a:gd name="T27" fmla="*/ 0 h 50"/>
                  <a:gd name="T28" fmla="*/ 0 w 108"/>
                  <a:gd name="T29" fmla="*/ 0 h 50"/>
                  <a:gd name="T30" fmla="*/ 0 w 108"/>
                  <a:gd name="T31" fmla="*/ 0 h 50"/>
                  <a:gd name="T32" fmla="*/ 0 w 108"/>
                  <a:gd name="T33" fmla="*/ 0 h 50"/>
                  <a:gd name="T34" fmla="*/ 0 w 108"/>
                  <a:gd name="T35" fmla="*/ 0 h 50"/>
                  <a:gd name="T36" fmla="*/ 0 w 108"/>
                  <a:gd name="T37" fmla="*/ 0 h 50"/>
                  <a:gd name="T38" fmla="*/ 0 w 108"/>
                  <a:gd name="T39" fmla="*/ 0 h 50"/>
                  <a:gd name="T40" fmla="*/ 0 w 108"/>
                  <a:gd name="T41" fmla="*/ 0 h 5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50"/>
                  <a:gd name="T65" fmla="*/ 108 w 108"/>
                  <a:gd name="T66" fmla="*/ 50 h 5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50">
                    <a:moveTo>
                      <a:pt x="20" y="44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7" y="35"/>
                    </a:lnTo>
                    <a:lnTo>
                      <a:pt x="46" y="34"/>
                    </a:lnTo>
                    <a:lnTo>
                      <a:pt x="54" y="34"/>
                    </a:lnTo>
                    <a:lnTo>
                      <a:pt x="61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50"/>
                    </a:lnTo>
                    <a:lnTo>
                      <a:pt x="108" y="37"/>
                    </a:lnTo>
                    <a:lnTo>
                      <a:pt x="99" y="22"/>
                    </a:lnTo>
                    <a:lnTo>
                      <a:pt x="88" y="12"/>
                    </a:lnTo>
                    <a:lnTo>
                      <a:pt x="73" y="4"/>
                    </a:lnTo>
                    <a:lnTo>
                      <a:pt x="58" y="0"/>
                    </a:lnTo>
                    <a:lnTo>
                      <a:pt x="42" y="0"/>
                    </a:lnTo>
                    <a:lnTo>
                      <a:pt x="26" y="3"/>
                    </a:lnTo>
                    <a:lnTo>
                      <a:pt x="13" y="10"/>
                    </a:lnTo>
                    <a:lnTo>
                      <a:pt x="0" y="18"/>
                    </a:lnTo>
                    <a:lnTo>
                      <a:pt x="0" y="17"/>
                    </a:lnTo>
                    <a:lnTo>
                      <a:pt x="20" y="4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5" name="Freeform 409">
                <a:extLst>
                  <a:ext uri="{FF2B5EF4-FFF2-40B4-BE49-F238E27FC236}">
                    <a16:creationId xmlns:a16="http://schemas.microsoft.com/office/drawing/2014/main" id="{81B3B086-5826-4704-B986-56D1BEAAE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9"/>
                <a:ext cx="4" cy="7"/>
              </a:xfrm>
              <a:custGeom>
                <a:avLst/>
                <a:gdLst>
                  <a:gd name="T0" fmla="*/ 0 w 69"/>
                  <a:gd name="T1" fmla="*/ 0 h 131"/>
                  <a:gd name="T2" fmla="*/ 0 w 69"/>
                  <a:gd name="T3" fmla="*/ 0 h 131"/>
                  <a:gd name="T4" fmla="*/ 0 w 69"/>
                  <a:gd name="T5" fmla="*/ 0 h 131"/>
                  <a:gd name="T6" fmla="*/ 0 w 69"/>
                  <a:gd name="T7" fmla="*/ 0 h 131"/>
                  <a:gd name="T8" fmla="*/ 0 w 69"/>
                  <a:gd name="T9" fmla="*/ 0 h 131"/>
                  <a:gd name="T10" fmla="*/ 0 w 69"/>
                  <a:gd name="T11" fmla="*/ 0 h 131"/>
                  <a:gd name="T12" fmla="*/ 0 w 69"/>
                  <a:gd name="T13" fmla="*/ 0 h 131"/>
                  <a:gd name="T14" fmla="*/ 0 w 69"/>
                  <a:gd name="T15" fmla="*/ 0 h 131"/>
                  <a:gd name="T16" fmla="*/ 0 w 69"/>
                  <a:gd name="T17" fmla="*/ 0 h 131"/>
                  <a:gd name="T18" fmla="*/ 0 w 69"/>
                  <a:gd name="T19" fmla="*/ 0 h 131"/>
                  <a:gd name="T20" fmla="*/ 0 w 69"/>
                  <a:gd name="T21" fmla="*/ 0 h 131"/>
                  <a:gd name="T22" fmla="*/ 0 w 69"/>
                  <a:gd name="T23" fmla="*/ 0 h 131"/>
                  <a:gd name="T24" fmla="*/ 0 w 69"/>
                  <a:gd name="T25" fmla="*/ 0 h 131"/>
                  <a:gd name="T26" fmla="*/ 0 w 69"/>
                  <a:gd name="T27" fmla="*/ 0 h 131"/>
                  <a:gd name="T28" fmla="*/ 0 w 69"/>
                  <a:gd name="T29" fmla="*/ 0 h 131"/>
                  <a:gd name="T30" fmla="*/ 0 w 69"/>
                  <a:gd name="T31" fmla="*/ 0 h 131"/>
                  <a:gd name="T32" fmla="*/ 0 w 69"/>
                  <a:gd name="T33" fmla="*/ 0 h 131"/>
                  <a:gd name="T34" fmla="*/ 0 w 69"/>
                  <a:gd name="T35" fmla="*/ 0 h 131"/>
                  <a:gd name="T36" fmla="*/ 0 w 69"/>
                  <a:gd name="T37" fmla="*/ 0 h 131"/>
                  <a:gd name="T38" fmla="*/ 0 w 69"/>
                  <a:gd name="T39" fmla="*/ 0 h 131"/>
                  <a:gd name="T40" fmla="*/ 0 w 69"/>
                  <a:gd name="T41" fmla="*/ 0 h 13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31"/>
                  <a:gd name="T65" fmla="*/ 69 w 69"/>
                  <a:gd name="T66" fmla="*/ 131 h 13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31">
                    <a:moveTo>
                      <a:pt x="36" y="114"/>
                    </a:moveTo>
                    <a:lnTo>
                      <a:pt x="36" y="114"/>
                    </a:lnTo>
                    <a:lnTo>
                      <a:pt x="34" y="107"/>
                    </a:lnTo>
                    <a:lnTo>
                      <a:pt x="33" y="96"/>
                    </a:lnTo>
                    <a:lnTo>
                      <a:pt x="35" y="83"/>
                    </a:lnTo>
                    <a:lnTo>
                      <a:pt x="38" y="72"/>
                    </a:lnTo>
                    <a:lnTo>
                      <a:pt x="44" y="59"/>
                    </a:lnTo>
                    <a:lnTo>
                      <a:pt x="52" y="46"/>
                    </a:lnTo>
                    <a:lnTo>
                      <a:pt x="60" y="36"/>
                    </a:lnTo>
                    <a:lnTo>
                      <a:pt x="69" y="27"/>
                    </a:lnTo>
                    <a:lnTo>
                      <a:pt x="49" y="0"/>
                    </a:lnTo>
                    <a:lnTo>
                      <a:pt x="36" y="13"/>
                    </a:lnTo>
                    <a:lnTo>
                      <a:pt x="25" y="27"/>
                    </a:lnTo>
                    <a:lnTo>
                      <a:pt x="15" y="42"/>
                    </a:lnTo>
                    <a:lnTo>
                      <a:pt x="7" y="59"/>
                    </a:lnTo>
                    <a:lnTo>
                      <a:pt x="2" y="77"/>
                    </a:lnTo>
                    <a:lnTo>
                      <a:pt x="0" y="94"/>
                    </a:lnTo>
                    <a:lnTo>
                      <a:pt x="1" y="113"/>
                    </a:lnTo>
                    <a:lnTo>
                      <a:pt x="7" y="131"/>
                    </a:lnTo>
                    <a:lnTo>
                      <a:pt x="36" y="11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6" name="Freeform 410">
                <a:extLst>
                  <a:ext uri="{FF2B5EF4-FFF2-40B4-BE49-F238E27FC236}">
                    <a16:creationId xmlns:a16="http://schemas.microsoft.com/office/drawing/2014/main" id="{53092E37-3A32-4E3C-B657-4877591C6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095"/>
                <a:ext cx="5" cy="4"/>
              </a:xfrm>
              <a:custGeom>
                <a:avLst/>
                <a:gdLst>
                  <a:gd name="T0" fmla="*/ 0 w 117"/>
                  <a:gd name="T1" fmla="*/ 0 h 77"/>
                  <a:gd name="T2" fmla="*/ 0 w 117"/>
                  <a:gd name="T3" fmla="*/ 0 h 77"/>
                  <a:gd name="T4" fmla="*/ 0 w 117"/>
                  <a:gd name="T5" fmla="*/ 0 h 77"/>
                  <a:gd name="T6" fmla="*/ 0 w 117"/>
                  <a:gd name="T7" fmla="*/ 0 h 77"/>
                  <a:gd name="T8" fmla="*/ 0 w 117"/>
                  <a:gd name="T9" fmla="*/ 0 h 77"/>
                  <a:gd name="T10" fmla="*/ 0 w 117"/>
                  <a:gd name="T11" fmla="*/ 0 h 77"/>
                  <a:gd name="T12" fmla="*/ 0 w 117"/>
                  <a:gd name="T13" fmla="*/ 0 h 77"/>
                  <a:gd name="T14" fmla="*/ 0 w 117"/>
                  <a:gd name="T15" fmla="*/ 0 h 77"/>
                  <a:gd name="T16" fmla="*/ 0 w 117"/>
                  <a:gd name="T17" fmla="*/ 0 h 77"/>
                  <a:gd name="T18" fmla="*/ 0 w 117"/>
                  <a:gd name="T19" fmla="*/ 0 h 77"/>
                  <a:gd name="T20" fmla="*/ 0 w 117"/>
                  <a:gd name="T21" fmla="*/ 0 h 77"/>
                  <a:gd name="T22" fmla="*/ 0 w 117"/>
                  <a:gd name="T23" fmla="*/ 0 h 77"/>
                  <a:gd name="T24" fmla="*/ 0 w 117"/>
                  <a:gd name="T25" fmla="*/ 0 h 77"/>
                  <a:gd name="T26" fmla="*/ 0 w 117"/>
                  <a:gd name="T27" fmla="*/ 0 h 77"/>
                  <a:gd name="T28" fmla="*/ 0 w 117"/>
                  <a:gd name="T29" fmla="*/ 0 h 77"/>
                  <a:gd name="T30" fmla="*/ 0 w 117"/>
                  <a:gd name="T31" fmla="*/ 0 h 77"/>
                  <a:gd name="T32" fmla="*/ 0 w 117"/>
                  <a:gd name="T33" fmla="*/ 0 h 77"/>
                  <a:gd name="T34" fmla="*/ 0 w 117"/>
                  <a:gd name="T35" fmla="*/ 0 h 77"/>
                  <a:gd name="T36" fmla="*/ 0 w 117"/>
                  <a:gd name="T37" fmla="*/ 0 h 77"/>
                  <a:gd name="T38" fmla="*/ 0 w 117"/>
                  <a:gd name="T39" fmla="*/ 0 h 77"/>
                  <a:gd name="T40" fmla="*/ 0 w 117"/>
                  <a:gd name="T41" fmla="*/ 0 h 7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7"/>
                  <a:gd name="T65" fmla="*/ 117 w 117"/>
                  <a:gd name="T66" fmla="*/ 77 h 7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7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5" y="43"/>
                    </a:lnTo>
                    <a:lnTo>
                      <a:pt x="75" y="41"/>
                    </a:lnTo>
                    <a:lnTo>
                      <a:pt x="63" y="37"/>
                    </a:lnTo>
                    <a:lnTo>
                      <a:pt x="54" y="29"/>
                    </a:lnTo>
                    <a:lnTo>
                      <a:pt x="44" y="22"/>
                    </a:lnTo>
                    <a:lnTo>
                      <a:pt x="36" y="13"/>
                    </a:lnTo>
                    <a:lnTo>
                      <a:pt x="29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1" y="45"/>
                    </a:lnTo>
                    <a:lnTo>
                      <a:pt x="34" y="57"/>
                    </a:lnTo>
                    <a:lnTo>
                      <a:pt x="49" y="66"/>
                    </a:lnTo>
                    <a:lnTo>
                      <a:pt x="64" y="73"/>
                    </a:lnTo>
                    <a:lnTo>
                      <a:pt x="81" y="77"/>
                    </a:lnTo>
                    <a:lnTo>
                      <a:pt x="98" y="77"/>
                    </a:lnTo>
                    <a:lnTo>
                      <a:pt x="117" y="73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7" name="Freeform 411">
                <a:extLst>
                  <a:ext uri="{FF2B5EF4-FFF2-40B4-BE49-F238E27FC236}">
                    <a16:creationId xmlns:a16="http://schemas.microsoft.com/office/drawing/2014/main" id="{66F6038E-99E3-4550-BE64-9FF84CFD2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3094"/>
                <a:ext cx="3" cy="5"/>
              </a:xfrm>
              <a:custGeom>
                <a:avLst/>
                <a:gdLst>
                  <a:gd name="T0" fmla="*/ 0 w 81"/>
                  <a:gd name="T1" fmla="*/ 0 h 90"/>
                  <a:gd name="T2" fmla="*/ 0 w 81"/>
                  <a:gd name="T3" fmla="*/ 0 h 90"/>
                  <a:gd name="T4" fmla="*/ 0 w 81"/>
                  <a:gd name="T5" fmla="*/ 0 h 90"/>
                  <a:gd name="T6" fmla="*/ 0 w 81"/>
                  <a:gd name="T7" fmla="*/ 0 h 90"/>
                  <a:gd name="T8" fmla="*/ 0 w 81"/>
                  <a:gd name="T9" fmla="*/ 0 h 90"/>
                  <a:gd name="T10" fmla="*/ 0 w 81"/>
                  <a:gd name="T11" fmla="*/ 0 h 90"/>
                  <a:gd name="T12" fmla="*/ 0 w 81"/>
                  <a:gd name="T13" fmla="*/ 0 h 90"/>
                  <a:gd name="T14" fmla="*/ 0 w 81"/>
                  <a:gd name="T15" fmla="*/ 0 h 90"/>
                  <a:gd name="T16" fmla="*/ 0 w 81"/>
                  <a:gd name="T17" fmla="*/ 0 h 90"/>
                  <a:gd name="T18" fmla="*/ 0 w 81"/>
                  <a:gd name="T19" fmla="*/ 0 h 90"/>
                  <a:gd name="T20" fmla="*/ 0 w 81"/>
                  <a:gd name="T21" fmla="*/ 0 h 90"/>
                  <a:gd name="T22" fmla="*/ 0 w 81"/>
                  <a:gd name="T23" fmla="*/ 0 h 90"/>
                  <a:gd name="T24" fmla="*/ 0 w 81"/>
                  <a:gd name="T25" fmla="*/ 0 h 90"/>
                  <a:gd name="T26" fmla="*/ 0 w 81"/>
                  <a:gd name="T27" fmla="*/ 0 h 90"/>
                  <a:gd name="T28" fmla="*/ 0 w 81"/>
                  <a:gd name="T29" fmla="*/ 0 h 90"/>
                  <a:gd name="T30" fmla="*/ 0 w 81"/>
                  <a:gd name="T31" fmla="*/ 0 h 90"/>
                  <a:gd name="T32" fmla="*/ 0 w 81"/>
                  <a:gd name="T33" fmla="*/ 0 h 90"/>
                  <a:gd name="T34" fmla="*/ 0 w 81"/>
                  <a:gd name="T35" fmla="*/ 0 h 90"/>
                  <a:gd name="T36" fmla="*/ 0 w 81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90"/>
                  <a:gd name="T59" fmla="*/ 81 w 81"/>
                  <a:gd name="T60" fmla="*/ 90 h 9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90">
                    <a:moveTo>
                      <a:pt x="48" y="0"/>
                    </a:moveTo>
                    <a:lnTo>
                      <a:pt x="47" y="8"/>
                    </a:lnTo>
                    <a:lnTo>
                      <a:pt x="44" y="18"/>
                    </a:lnTo>
                    <a:lnTo>
                      <a:pt x="41" y="26"/>
                    </a:lnTo>
                    <a:lnTo>
                      <a:pt x="36" y="34"/>
                    </a:lnTo>
                    <a:lnTo>
                      <a:pt x="31" y="40"/>
                    </a:lnTo>
                    <a:lnTo>
                      <a:pt x="22" y="47"/>
                    </a:lnTo>
                    <a:lnTo>
                      <a:pt x="12" y="54"/>
                    </a:lnTo>
                    <a:lnTo>
                      <a:pt x="0" y="58"/>
                    </a:lnTo>
                    <a:lnTo>
                      <a:pt x="10" y="90"/>
                    </a:lnTo>
                    <a:lnTo>
                      <a:pt x="27" y="83"/>
                    </a:lnTo>
                    <a:lnTo>
                      <a:pt x="40" y="75"/>
                    </a:lnTo>
                    <a:lnTo>
                      <a:pt x="51" y="65"/>
                    </a:lnTo>
                    <a:lnTo>
                      <a:pt x="62" y="55"/>
                    </a:lnTo>
                    <a:lnTo>
                      <a:pt x="70" y="41"/>
                    </a:lnTo>
                    <a:lnTo>
                      <a:pt x="75" y="28"/>
                    </a:lnTo>
                    <a:lnTo>
                      <a:pt x="78" y="17"/>
                    </a:lnTo>
                    <a:lnTo>
                      <a:pt x="81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8" name="Freeform 412">
                <a:extLst>
                  <a:ext uri="{FF2B5EF4-FFF2-40B4-BE49-F238E27FC236}">
                    <a16:creationId xmlns:a16="http://schemas.microsoft.com/office/drawing/2014/main" id="{84EF617E-5D2B-4D84-9716-5EB2246B2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7"/>
                <a:ext cx="2" cy="1"/>
              </a:xfrm>
              <a:custGeom>
                <a:avLst/>
                <a:gdLst>
                  <a:gd name="T0" fmla="*/ 0 w 33"/>
                  <a:gd name="T1" fmla="*/ 0 h 19"/>
                  <a:gd name="T2" fmla="*/ 0 w 33"/>
                  <a:gd name="T3" fmla="*/ 0 h 19"/>
                  <a:gd name="T4" fmla="*/ 0 w 33"/>
                  <a:gd name="T5" fmla="*/ 0 h 19"/>
                  <a:gd name="T6" fmla="*/ 0 w 33"/>
                  <a:gd name="T7" fmla="*/ 0 h 19"/>
                  <a:gd name="T8" fmla="*/ 0 w 33"/>
                  <a:gd name="T9" fmla="*/ 0 h 19"/>
                  <a:gd name="T10" fmla="*/ 0 w 33"/>
                  <a:gd name="T11" fmla="*/ 0 h 19"/>
                  <a:gd name="T12" fmla="*/ 0 w 33"/>
                  <a:gd name="T13" fmla="*/ 0 h 19"/>
                  <a:gd name="T14" fmla="*/ 0 w 33"/>
                  <a:gd name="T15" fmla="*/ 0 h 19"/>
                  <a:gd name="T16" fmla="*/ 0 w 33"/>
                  <a:gd name="T17" fmla="*/ 0 h 19"/>
                  <a:gd name="T18" fmla="*/ 0 w 33"/>
                  <a:gd name="T19" fmla="*/ 0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3"/>
                  <a:gd name="T31" fmla="*/ 0 h 19"/>
                  <a:gd name="T32" fmla="*/ 33 w 33"/>
                  <a:gd name="T33" fmla="*/ 19 h 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3" h="19">
                    <a:moveTo>
                      <a:pt x="33" y="19"/>
                    </a:moveTo>
                    <a:lnTo>
                      <a:pt x="32" y="12"/>
                    </a:lnTo>
                    <a:lnTo>
                      <a:pt x="28" y="6"/>
                    </a:lnTo>
                    <a:lnTo>
                      <a:pt x="23" y="2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6" y="3"/>
                    </a:lnTo>
                    <a:lnTo>
                      <a:pt x="2" y="7"/>
                    </a:lnTo>
                    <a:lnTo>
                      <a:pt x="0" y="15"/>
                    </a:lnTo>
                    <a:lnTo>
                      <a:pt x="33" y="19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29" name="Freeform 413">
                <a:extLst>
                  <a:ext uri="{FF2B5EF4-FFF2-40B4-BE49-F238E27FC236}">
                    <a16:creationId xmlns:a16="http://schemas.microsoft.com/office/drawing/2014/main" id="{46F67A23-3D7E-465C-830F-D5A2712AA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" y="3240"/>
                <a:ext cx="1" cy="1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5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0" name="Freeform 414">
                <a:extLst>
                  <a:ext uri="{FF2B5EF4-FFF2-40B4-BE49-F238E27FC236}">
                    <a16:creationId xmlns:a16="http://schemas.microsoft.com/office/drawing/2014/main" id="{BF3C3F7D-C506-4CD6-8AC8-F7A126B1A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1"/>
                <a:ext cx="10" cy="20"/>
              </a:xfrm>
              <a:custGeom>
                <a:avLst/>
                <a:gdLst>
                  <a:gd name="T0" fmla="*/ 0 w 218"/>
                  <a:gd name="T1" fmla="*/ 0 h 365"/>
                  <a:gd name="T2" fmla="*/ 0 w 218"/>
                  <a:gd name="T3" fmla="*/ 0 h 365"/>
                  <a:gd name="T4" fmla="*/ 0 w 218"/>
                  <a:gd name="T5" fmla="*/ 0 h 365"/>
                  <a:gd name="T6" fmla="*/ 0 w 218"/>
                  <a:gd name="T7" fmla="*/ 0 h 365"/>
                  <a:gd name="T8" fmla="*/ 0 w 218"/>
                  <a:gd name="T9" fmla="*/ 0 h 365"/>
                  <a:gd name="T10" fmla="*/ 0 w 218"/>
                  <a:gd name="T11" fmla="*/ 0 h 365"/>
                  <a:gd name="T12" fmla="*/ 0 w 218"/>
                  <a:gd name="T13" fmla="*/ 0 h 365"/>
                  <a:gd name="T14" fmla="*/ 0 w 218"/>
                  <a:gd name="T15" fmla="*/ 0 h 365"/>
                  <a:gd name="T16" fmla="*/ 0 w 218"/>
                  <a:gd name="T17" fmla="*/ 0 h 365"/>
                  <a:gd name="T18" fmla="*/ 0 w 218"/>
                  <a:gd name="T19" fmla="*/ 0 h 365"/>
                  <a:gd name="T20" fmla="*/ 0 w 218"/>
                  <a:gd name="T21" fmla="*/ 0 h 365"/>
                  <a:gd name="T22" fmla="*/ 0 w 218"/>
                  <a:gd name="T23" fmla="*/ 0 h 365"/>
                  <a:gd name="T24" fmla="*/ 0 w 218"/>
                  <a:gd name="T25" fmla="*/ 0 h 365"/>
                  <a:gd name="T26" fmla="*/ 0 w 218"/>
                  <a:gd name="T27" fmla="*/ 0 h 365"/>
                  <a:gd name="T28" fmla="*/ 0 w 218"/>
                  <a:gd name="T29" fmla="*/ 0 h 365"/>
                  <a:gd name="T30" fmla="*/ 0 w 218"/>
                  <a:gd name="T31" fmla="*/ 0 h 365"/>
                  <a:gd name="T32" fmla="*/ 0 w 218"/>
                  <a:gd name="T33" fmla="*/ 0 h 365"/>
                  <a:gd name="T34" fmla="*/ 0 w 218"/>
                  <a:gd name="T35" fmla="*/ 0 h 365"/>
                  <a:gd name="T36" fmla="*/ 0 w 218"/>
                  <a:gd name="T37" fmla="*/ 0 h 365"/>
                  <a:gd name="T38" fmla="*/ 0 w 218"/>
                  <a:gd name="T39" fmla="*/ 0 h 365"/>
                  <a:gd name="T40" fmla="*/ 0 w 218"/>
                  <a:gd name="T41" fmla="*/ 0 h 365"/>
                  <a:gd name="T42" fmla="*/ 0 w 218"/>
                  <a:gd name="T43" fmla="*/ 0 h 365"/>
                  <a:gd name="T44" fmla="*/ 0 w 218"/>
                  <a:gd name="T45" fmla="*/ 0 h 365"/>
                  <a:gd name="T46" fmla="*/ 0 w 218"/>
                  <a:gd name="T47" fmla="*/ 0 h 365"/>
                  <a:gd name="T48" fmla="*/ 0 w 218"/>
                  <a:gd name="T49" fmla="*/ 0 h 365"/>
                  <a:gd name="T50" fmla="*/ 0 w 218"/>
                  <a:gd name="T51" fmla="*/ 0 h 365"/>
                  <a:gd name="T52" fmla="*/ 0 w 218"/>
                  <a:gd name="T53" fmla="*/ 0 h 365"/>
                  <a:gd name="T54" fmla="*/ 0 w 218"/>
                  <a:gd name="T55" fmla="*/ 0 h 365"/>
                  <a:gd name="T56" fmla="*/ 0 w 218"/>
                  <a:gd name="T57" fmla="*/ 0 h 365"/>
                  <a:gd name="T58" fmla="*/ 0 w 218"/>
                  <a:gd name="T59" fmla="*/ 0 h 365"/>
                  <a:gd name="T60" fmla="*/ 0 w 218"/>
                  <a:gd name="T61" fmla="*/ 0 h 365"/>
                  <a:gd name="T62" fmla="*/ 0 w 218"/>
                  <a:gd name="T63" fmla="*/ 0 h 365"/>
                  <a:gd name="T64" fmla="*/ 0 w 218"/>
                  <a:gd name="T65" fmla="*/ 0 h 365"/>
                  <a:gd name="T66" fmla="*/ 0 w 218"/>
                  <a:gd name="T67" fmla="*/ 0 h 365"/>
                  <a:gd name="T68" fmla="*/ 0 w 218"/>
                  <a:gd name="T69" fmla="*/ 0 h 365"/>
                  <a:gd name="T70" fmla="*/ 0 w 218"/>
                  <a:gd name="T71" fmla="*/ 0 h 365"/>
                  <a:gd name="T72" fmla="*/ 0 w 218"/>
                  <a:gd name="T73" fmla="*/ 0 h 3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18"/>
                  <a:gd name="T112" fmla="*/ 0 h 365"/>
                  <a:gd name="T113" fmla="*/ 218 w 218"/>
                  <a:gd name="T114" fmla="*/ 365 h 3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18" h="365">
                    <a:moveTo>
                      <a:pt x="0" y="0"/>
                    </a:moveTo>
                    <a:lnTo>
                      <a:pt x="0" y="0"/>
                    </a:lnTo>
                    <a:lnTo>
                      <a:pt x="1" y="29"/>
                    </a:lnTo>
                    <a:lnTo>
                      <a:pt x="3" y="56"/>
                    </a:lnTo>
                    <a:lnTo>
                      <a:pt x="8" y="84"/>
                    </a:lnTo>
                    <a:lnTo>
                      <a:pt x="15" y="110"/>
                    </a:lnTo>
                    <a:lnTo>
                      <a:pt x="22" y="135"/>
                    </a:lnTo>
                    <a:lnTo>
                      <a:pt x="31" y="162"/>
                    </a:lnTo>
                    <a:lnTo>
                      <a:pt x="41" y="187"/>
                    </a:lnTo>
                    <a:lnTo>
                      <a:pt x="55" y="211"/>
                    </a:lnTo>
                    <a:lnTo>
                      <a:pt x="68" y="235"/>
                    </a:lnTo>
                    <a:lnTo>
                      <a:pt x="84" y="258"/>
                    </a:lnTo>
                    <a:lnTo>
                      <a:pt x="102" y="278"/>
                    </a:lnTo>
                    <a:lnTo>
                      <a:pt x="119" y="298"/>
                    </a:lnTo>
                    <a:lnTo>
                      <a:pt x="138" y="317"/>
                    </a:lnTo>
                    <a:lnTo>
                      <a:pt x="159" y="335"/>
                    </a:lnTo>
                    <a:lnTo>
                      <a:pt x="180" y="352"/>
                    </a:lnTo>
                    <a:lnTo>
                      <a:pt x="204" y="365"/>
                    </a:lnTo>
                    <a:lnTo>
                      <a:pt x="218" y="340"/>
                    </a:lnTo>
                    <a:lnTo>
                      <a:pt x="196" y="326"/>
                    </a:lnTo>
                    <a:lnTo>
                      <a:pt x="177" y="311"/>
                    </a:lnTo>
                    <a:lnTo>
                      <a:pt x="157" y="296"/>
                    </a:lnTo>
                    <a:lnTo>
                      <a:pt x="139" y="277"/>
                    </a:lnTo>
                    <a:lnTo>
                      <a:pt x="122" y="259"/>
                    </a:lnTo>
                    <a:lnTo>
                      <a:pt x="107" y="239"/>
                    </a:lnTo>
                    <a:lnTo>
                      <a:pt x="92" y="218"/>
                    </a:lnTo>
                    <a:lnTo>
                      <a:pt x="79" y="197"/>
                    </a:lnTo>
                    <a:lnTo>
                      <a:pt x="68" y="174"/>
                    </a:lnTo>
                    <a:lnTo>
                      <a:pt x="58" y="151"/>
                    </a:lnTo>
                    <a:lnTo>
                      <a:pt x="49" y="127"/>
                    </a:lnTo>
                    <a:lnTo>
                      <a:pt x="41" y="102"/>
                    </a:lnTo>
                    <a:lnTo>
                      <a:pt x="36" y="77"/>
                    </a:lnTo>
                    <a:lnTo>
                      <a:pt x="31" y="52"/>
                    </a:lnTo>
                    <a:lnTo>
                      <a:pt x="29" y="27"/>
                    </a:lnTo>
                    <a:lnTo>
                      <a:pt x="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1" name="Freeform 415">
                <a:extLst>
                  <a:ext uri="{FF2B5EF4-FFF2-40B4-BE49-F238E27FC236}">
                    <a16:creationId xmlns:a16="http://schemas.microsoft.com/office/drawing/2014/main" id="{99CEE3D8-B3EF-4844-BA59-BA3999FC60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16"/>
                <a:ext cx="2" cy="5"/>
              </a:xfrm>
              <a:custGeom>
                <a:avLst/>
                <a:gdLst>
                  <a:gd name="T0" fmla="*/ 0 w 37"/>
                  <a:gd name="T1" fmla="*/ 0 h 92"/>
                  <a:gd name="T2" fmla="*/ 0 w 37"/>
                  <a:gd name="T3" fmla="*/ 0 h 92"/>
                  <a:gd name="T4" fmla="*/ 0 w 37"/>
                  <a:gd name="T5" fmla="*/ 0 h 92"/>
                  <a:gd name="T6" fmla="*/ 0 w 37"/>
                  <a:gd name="T7" fmla="*/ 0 h 92"/>
                  <a:gd name="T8" fmla="*/ 0 w 37"/>
                  <a:gd name="T9" fmla="*/ 0 h 92"/>
                  <a:gd name="T10" fmla="*/ 0 w 37"/>
                  <a:gd name="T11" fmla="*/ 0 h 92"/>
                  <a:gd name="T12" fmla="*/ 0 w 37"/>
                  <a:gd name="T13" fmla="*/ 0 h 92"/>
                  <a:gd name="T14" fmla="*/ 0 w 37"/>
                  <a:gd name="T15" fmla="*/ 0 h 92"/>
                  <a:gd name="T16" fmla="*/ 0 w 37"/>
                  <a:gd name="T17" fmla="*/ 0 h 92"/>
                  <a:gd name="T18" fmla="*/ 0 w 37"/>
                  <a:gd name="T19" fmla="*/ 0 h 92"/>
                  <a:gd name="T20" fmla="*/ 0 w 37"/>
                  <a:gd name="T21" fmla="*/ 0 h 92"/>
                  <a:gd name="T22" fmla="*/ 0 w 37"/>
                  <a:gd name="T23" fmla="*/ 0 h 92"/>
                  <a:gd name="T24" fmla="*/ 0 w 37"/>
                  <a:gd name="T25" fmla="*/ 0 h 92"/>
                  <a:gd name="T26" fmla="*/ 0 w 37"/>
                  <a:gd name="T27" fmla="*/ 0 h 92"/>
                  <a:gd name="T28" fmla="*/ 0 w 37"/>
                  <a:gd name="T29" fmla="*/ 0 h 92"/>
                  <a:gd name="T30" fmla="*/ 0 w 37"/>
                  <a:gd name="T31" fmla="*/ 0 h 92"/>
                  <a:gd name="T32" fmla="*/ 0 w 37"/>
                  <a:gd name="T33" fmla="*/ 0 h 92"/>
                  <a:gd name="T34" fmla="*/ 0 w 37"/>
                  <a:gd name="T35" fmla="*/ 0 h 92"/>
                  <a:gd name="T36" fmla="*/ 0 w 37"/>
                  <a:gd name="T37" fmla="*/ 0 h 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7"/>
                  <a:gd name="T58" fmla="*/ 0 h 92"/>
                  <a:gd name="T59" fmla="*/ 37 w 37"/>
                  <a:gd name="T60" fmla="*/ 92 h 9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7" h="92">
                    <a:moveTo>
                      <a:pt x="9" y="0"/>
                    </a:moveTo>
                    <a:lnTo>
                      <a:pt x="7" y="10"/>
                    </a:lnTo>
                    <a:lnTo>
                      <a:pt x="5" y="23"/>
                    </a:lnTo>
                    <a:lnTo>
                      <a:pt x="4" y="33"/>
                    </a:lnTo>
                    <a:lnTo>
                      <a:pt x="2" y="45"/>
                    </a:lnTo>
                    <a:lnTo>
                      <a:pt x="1" y="58"/>
                    </a:lnTo>
                    <a:lnTo>
                      <a:pt x="1" y="69"/>
                    </a:lnTo>
                    <a:lnTo>
                      <a:pt x="0" y="80"/>
                    </a:lnTo>
                    <a:lnTo>
                      <a:pt x="0" y="92"/>
                    </a:lnTo>
                    <a:lnTo>
                      <a:pt x="28" y="92"/>
                    </a:lnTo>
                    <a:lnTo>
                      <a:pt x="28" y="82"/>
                    </a:lnTo>
                    <a:lnTo>
                      <a:pt x="29" y="71"/>
                    </a:lnTo>
                    <a:lnTo>
                      <a:pt x="29" y="60"/>
                    </a:lnTo>
                    <a:lnTo>
                      <a:pt x="30" y="49"/>
                    </a:lnTo>
                    <a:lnTo>
                      <a:pt x="32" y="38"/>
                    </a:lnTo>
                    <a:lnTo>
                      <a:pt x="33" y="27"/>
                    </a:lnTo>
                    <a:lnTo>
                      <a:pt x="35" y="17"/>
                    </a:lnTo>
                    <a:lnTo>
                      <a:pt x="37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2" name="Freeform 416">
                <a:extLst>
                  <a:ext uri="{FF2B5EF4-FFF2-40B4-BE49-F238E27FC236}">
                    <a16:creationId xmlns:a16="http://schemas.microsoft.com/office/drawing/2014/main" id="{5EEA1437-F60D-4AAD-A0BA-E2E36C162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0"/>
                <a:ext cx="1" cy="1"/>
              </a:xfrm>
              <a:custGeom>
                <a:avLst/>
                <a:gdLst>
                  <a:gd name="T0" fmla="*/ 0 w 28"/>
                  <a:gd name="T1" fmla="*/ 0 h 18"/>
                  <a:gd name="T2" fmla="*/ 0 w 28"/>
                  <a:gd name="T3" fmla="*/ 0 h 18"/>
                  <a:gd name="T4" fmla="*/ 0 w 28"/>
                  <a:gd name="T5" fmla="*/ 0 h 18"/>
                  <a:gd name="T6" fmla="*/ 0 w 28"/>
                  <a:gd name="T7" fmla="*/ 0 h 18"/>
                  <a:gd name="T8" fmla="*/ 0 w 28"/>
                  <a:gd name="T9" fmla="*/ 0 h 18"/>
                  <a:gd name="T10" fmla="*/ 0 w 28"/>
                  <a:gd name="T11" fmla="*/ 0 h 18"/>
                  <a:gd name="T12" fmla="*/ 0 w 28"/>
                  <a:gd name="T13" fmla="*/ 0 h 18"/>
                  <a:gd name="T14" fmla="*/ 0 w 28"/>
                  <a:gd name="T15" fmla="*/ 0 h 18"/>
                  <a:gd name="T16" fmla="*/ 0 w 28"/>
                  <a:gd name="T17" fmla="*/ 0 h 18"/>
                  <a:gd name="T18" fmla="*/ 0 w 28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18"/>
                  <a:gd name="T32" fmla="*/ 28 w 28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18">
                    <a:moveTo>
                      <a:pt x="28" y="18"/>
                    </a:moveTo>
                    <a:lnTo>
                      <a:pt x="28" y="11"/>
                    </a:lnTo>
                    <a:lnTo>
                      <a:pt x="26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8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3" name="Freeform 417">
                <a:extLst>
                  <a:ext uri="{FF2B5EF4-FFF2-40B4-BE49-F238E27FC236}">
                    <a16:creationId xmlns:a16="http://schemas.microsoft.com/office/drawing/2014/main" id="{90EEF27C-96CC-4595-92B5-BA26AD012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233"/>
                <a:ext cx="1" cy="2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4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4" name="Freeform 418">
                <a:extLst>
                  <a:ext uri="{FF2B5EF4-FFF2-40B4-BE49-F238E27FC236}">
                    <a16:creationId xmlns:a16="http://schemas.microsoft.com/office/drawing/2014/main" id="{C312DE9A-F8C4-4FE7-8A75-BB445571C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5" cy="11"/>
              </a:xfrm>
              <a:custGeom>
                <a:avLst/>
                <a:gdLst>
                  <a:gd name="T0" fmla="*/ 0 w 115"/>
                  <a:gd name="T1" fmla="*/ 0 h 181"/>
                  <a:gd name="T2" fmla="*/ 0 w 115"/>
                  <a:gd name="T3" fmla="*/ 0 h 181"/>
                  <a:gd name="T4" fmla="*/ 0 w 115"/>
                  <a:gd name="T5" fmla="*/ 0 h 181"/>
                  <a:gd name="T6" fmla="*/ 0 w 115"/>
                  <a:gd name="T7" fmla="*/ 0 h 181"/>
                  <a:gd name="T8" fmla="*/ 0 w 115"/>
                  <a:gd name="T9" fmla="*/ 0 h 181"/>
                  <a:gd name="T10" fmla="*/ 0 w 115"/>
                  <a:gd name="T11" fmla="*/ 0 h 181"/>
                  <a:gd name="T12" fmla="*/ 0 w 115"/>
                  <a:gd name="T13" fmla="*/ 0 h 181"/>
                  <a:gd name="T14" fmla="*/ 0 w 115"/>
                  <a:gd name="T15" fmla="*/ 0 h 181"/>
                  <a:gd name="T16" fmla="*/ 0 w 115"/>
                  <a:gd name="T17" fmla="*/ 0 h 181"/>
                  <a:gd name="T18" fmla="*/ 0 w 115"/>
                  <a:gd name="T19" fmla="*/ 0 h 181"/>
                  <a:gd name="T20" fmla="*/ 0 w 115"/>
                  <a:gd name="T21" fmla="*/ 0 h 181"/>
                  <a:gd name="T22" fmla="*/ 0 w 115"/>
                  <a:gd name="T23" fmla="*/ 0 h 181"/>
                  <a:gd name="T24" fmla="*/ 0 w 115"/>
                  <a:gd name="T25" fmla="*/ 0 h 181"/>
                  <a:gd name="T26" fmla="*/ 0 w 115"/>
                  <a:gd name="T27" fmla="*/ 0 h 181"/>
                  <a:gd name="T28" fmla="*/ 0 w 115"/>
                  <a:gd name="T29" fmla="*/ 0 h 181"/>
                  <a:gd name="T30" fmla="*/ 0 w 115"/>
                  <a:gd name="T31" fmla="*/ 0 h 181"/>
                  <a:gd name="T32" fmla="*/ 0 w 115"/>
                  <a:gd name="T33" fmla="*/ 0 h 181"/>
                  <a:gd name="T34" fmla="*/ 0 w 115"/>
                  <a:gd name="T35" fmla="*/ 0 h 181"/>
                  <a:gd name="T36" fmla="*/ 0 w 115"/>
                  <a:gd name="T37" fmla="*/ 0 h 181"/>
                  <a:gd name="T38" fmla="*/ 0 w 115"/>
                  <a:gd name="T39" fmla="*/ 0 h 181"/>
                  <a:gd name="T40" fmla="*/ 0 w 115"/>
                  <a:gd name="T41" fmla="*/ 0 h 181"/>
                  <a:gd name="T42" fmla="*/ 0 w 115"/>
                  <a:gd name="T43" fmla="*/ 0 h 181"/>
                  <a:gd name="T44" fmla="*/ 0 w 115"/>
                  <a:gd name="T45" fmla="*/ 0 h 181"/>
                  <a:gd name="T46" fmla="*/ 0 w 115"/>
                  <a:gd name="T47" fmla="*/ 0 h 181"/>
                  <a:gd name="T48" fmla="*/ 0 w 115"/>
                  <a:gd name="T49" fmla="*/ 0 h 181"/>
                  <a:gd name="T50" fmla="*/ 0 w 115"/>
                  <a:gd name="T51" fmla="*/ 0 h 181"/>
                  <a:gd name="T52" fmla="*/ 0 w 115"/>
                  <a:gd name="T53" fmla="*/ 0 h 181"/>
                  <a:gd name="T54" fmla="*/ 0 w 115"/>
                  <a:gd name="T55" fmla="*/ 0 h 181"/>
                  <a:gd name="T56" fmla="*/ 0 w 115"/>
                  <a:gd name="T57" fmla="*/ 0 h 181"/>
                  <a:gd name="T58" fmla="*/ 0 w 115"/>
                  <a:gd name="T59" fmla="*/ 0 h 181"/>
                  <a:gd name="T60" fmla="*/ 0 w 115"/>
                  <a:gd name="T61" fmla="*/ 0 h 181"/>
                  <a:gd name="T62" fmla="*/ 0 w 115"/>
                  <a:gd name="T63" fmla="*/ 0 h 181"/>
                  <a:gd name="T64" fmla="*/ 0 w 115"/>
                  <a:gd name="T65" fmla="*/ 0 h 181"/>
                  <a:gd name="T66" fmla="*/ 0 w 115"/>
                  <a:gd name="T67" fmla="*/ 0 h 181"/>
                  <a:gd name="T68" fmla="*/ 0 w 115"/>
                  <a:gd name="T69" fmla="*/ 0 h 181"/>
                  <a:gd name="T70" fmla="*/ 0 w 115"/>
                  <a:gd name="T71" fmla="*/ 0 h 181"/>
                  <a:gd name="T72" fmla="*/ 0 w 115"/>
                  <a:gd name="T73" fmla="*/ 0 h 18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5"/>
                  <a:gd name="T112" fmla="*/ 0 h 181"/>
                  <a:gd name="T113" fmla="*/ 115 w 115"/>
                  <a:gd name="T114" fmla="*/ 181 h 18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5" h="181">
                    <a:moveTo>
                      <a:pt x="0" y="0"/>
                    </a:moveTo>
                    <a:lnTo>
                      <a:pt x="0" y="0"/>
                    </a:lnTo>
                    <a:lnTo>
                      <a:pt x="0" y="13"/>
                    </a:lnTo>
                    <a:lnTo>
                      <a:pt x="2" y="27"/>
                    </a:lnTo>
                    <a:lnTo>
                      <a:pt x="4" y="40"/>
                    </a:lnTo>
                    <a:lnTo>
                      <a:pt x="7" y="53"/>
                    </a:lnTo>
                    <a:lnTo>
                      <a:pt x="11" y="68"/>
                    </a:lnTo>
                    <a:lnTo>
                      <a:pt x="15" y="80"/>
                    </a:lnTo>
                    <a:lnTo>
                      <a:pt x="21" y="92"/>
                    </a:lnTo>
                    <a:lnTo>
                      <a:pt x="28" y="104"/>
                    </a:lnTo>
                    <a:lnTo>
                      <a:pt x="34" y="116"/>
                    </a:lnTo>
                    <a:lnTo>
                      <a:pt x="42" y="126"/>
                    </a:lnTo>
                    <a:lnTo>
                      <a:pt x="50" y="138"/>
                    </a:lnTo>
                    <a:lnTo>
                      <a:pt x="59" y="147"/>
                    </a:lnTo>
                    <a:lnTo>
                      <a:pt x="68" y="157"/>
                    </a:lnTo>
                    <a:lnTo>
                      <a:pt x="80" y="165"/>
                    </a:lnTo>
                    <a:lnTo>
                      <a:pt x="90" y="173"/>
                    </a:lnTo>
                    <a:lnTo>
                      <a:pt x="101" y="181"/>
                    </a:lnTo>
                    <a:lnTo>
                      <a:pt x="115" y="156"/>
                    </a:lnTo>
                    <a:lnTo>
                      <a:pt x="106" y="149"/>
                    </a:lnTo>
                    <a:lnTo>
                      <a:pt x="96" y="142"/>
                    </a:lnTo>
                    <a:lnTo>
                      <a:pt x="87" y="136"/>
                    </a:lnTo>
                    <a:lnTo>
                      <a:pt x="80" y="126"/>
                    </a:lnTo>
                    <a:lnTo>
                      <a:pt x="70" y="119"/>
                    </a:lnTo>
                    <a:lnTo>
                      <a:pt x="64" y="109"/>
                    </a:lnTo>
                    <a:lnTo>
                      <a:pt x="58" y="101"/>
                    </a:lnTo>
                    <a:lnTo>
                      <a:pt x="52" y="89"/>
                    </a:lnTo>
                    <a:lnTo>
                      <a:pt x="46" y="80"/>
                    </a:lnTo>
                    <a:lnTo>
                      <a:pt x="42" y="69"/>
                    </a:lnTo>
                    <a:lnTo>
                      <a:pt x="38" y="58"/>
                    </a:lnTo>
                    <a:lnTo>
                      <a:pt x="34" y="47"/>
                    </a:lnTo>
                    <a:lnTo>
                      <a:pt x="33" y="35"/>
                    </a:lnTo>
                    <a:lnTo>
                      <a:pt x="31" y="23"/>
                    </a:lnTo>
                    <a:lnTo>
                      <a:pt x="29" y="11"/>
                    </a:lnTo>
                    <a:lnTo>
                      <a:pt x="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5" name="Freeform 419">
                <a:extLst>
                  <a:ext uri="{FF2B5EF4-FFF2-40B4-BE49-F238E27FC236}">
                    <a16:creationId xmlns:a16="http://schemas.microsoft.com/office/drawing/2014/main" id="{CBD56F61-1F19-4C2E-8FBD-6BBF59BA7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2"/>
                <a:ext cx="1" cy="2"/>
              </a:xfrm>
              <a:custGeom>
                <a:avLst/>
                <a:gdLst>
                  <a:gd name="T0" fmla="*/ 0 w 33"/>
                  <a:gd name="T1" fmla="*/ 0 h 47"/>
                  <a:gd name="T2" fmla="*/ 0 w 33"/>
                  <a:gd name="T3" fmla="*/ 0 h 47"/>
                  <a:gd name="T4" fmla="*/ 0 w 33"/>
                  <a:gd name="T5" fmla="*/ 0 h 47"/>
                  <a:gd name="T6" fmla="*/ 0 w 33"/>
                  <a:gd name="T7" fmla="*/ 0 h 47"/>
                  <a:gd name="T8" fmla="*/ 0 w 33"/>
                  <a:gd name="T9" fmla="*/ 0 h 47"/>
                  <a:gd name="T10" fmla="*/ 0 w 33"/>
                  <a:gd name="T11" fmla="*/ 0 h 47"/>
                  <a:gd name="T12" fmla="*/ 0 w 33"/>
                  <a:gd name="T13" fmla="*/ 0 h 47"/>
                  <a:gd name="T14" fmla="*/ 0 w 33"/>
                  <a:gd name="T15" fmla="*/ 0 h 47"/>
                  <a:gd name="T16" fmla="*/ 0 w 33"/>
                  <a:gd name="T17" fmla="*/ 0 h 47"/>
                  <a:gd name="T18" fmla="*/ 0 w 33"/>
                  <a:gd name="T19" fmla="*/ 0 h 47"/>
                  <a:gd name="T20" fmla="*/ 0 w 33"/>
                  <a:gd name="T21" fmla="*/ 0 h 47"/>
                  <a:gd name="T22" fmla="*/ 0 w 33"/>
                  <a:gd name="T23" fmla="*/ 0 h 47"/>
                  <a:gd name="T24" fmla="*/ 0 w 33"/>
                  <a:gd name="T25" fmla="*/ 0 h 47"/>
                  <a:gd name="T26" fmla="*/ 0 w 33"/>
                  <a:gd name="T27" fmla="*/ 0 h 47"/>
                  <a:gd name="T28" fmla="*/ 0 w 33"/>
                  <a:gd name="T29" fmla="*/ 0 h 47"/>
                  <a:gd name="T30" fmla="*/ 0 w 33"/>
                  <a:gd name="T31" fmla="*/ 0 h 47"/>
                  <a:gd name="T32" fmla="*/ 0 w 33"/>
                  <a:gd name="T33" fmla="*/ 0 h 47"/>
                  <a:gd name="T34" fmla="*/ 0 w 33"/>
                  <a:gd name="T35" fmla="*/ 0 h 47"/>
                  <a:gd name="T36" fmla="*/ 0 w 33"/>
                  <a:gd name="T37" fmla="*/ 0 h 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"/>
                  <a:gd name="T58" fmla="*/ 0 h 47"/>
                  <a:gd name="T59" fmla="*/ 33 w 33"/>
                  <a:gd name="T60" fmla="*/ 47 h 4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" h="47">
                    <a:moveTo>
                      <a:pt x="4" y="0"/>
                    </a:moveTo>
                    <a:lnTo>
                      <a:pt x="3" y="6"/>
                    </a:lnTo>
                    <a:lnTo>
                      <a:pt x="2" y="11"/>
                    </a:lnTo>
                    <a:lnTo>
                      <a:pt x="1" y="18"/>
                    </a:lnTo>
                    <a:lnTo>
                      <a:pt x="1" y="23"/>
                    </a:lnTo>
                    <a:lnTo>
                      <a:pt x="0" y="30"/>
                    </a:lnTo>
                    <a:lnTo>
                      <a:pt x="0" y="36"/>
                    </a:lnTo>
                    <a:lnTo>
                      <a:pt x="0" y="41"/>
                    </a:lnTo>
                    <a:lnTo>
                      <a:pt x="0" y="47"/>
                    </a:lnTo>
                    <a:lnTo>
                      <a:pt x="29" y="47"/>
                    </a:lnTo>
                    <a:lnTo>
                      <a:pt x="29" y="41"/>
                    </a:lnTo>
                    <a:lnTo>
                      <a:pt x="29" y="36"/>
                    </a:lnTo>
                    <a:lnTo>
                      <a:pt x="29" y="32"/>
                    </a:lnTo>
                    <a:lnTo>
                      <a:pt x="30" y="26"/>
                    </a:lnTo>
                    <a:lnTo>
                      <a:pt x="30" y="20"/>
                    </a:lnTo>
                    <a:lnTo>
                      <a:pt x="31" y="17"/>
                    </a:lnTo>
                    <a:lnTo>
                      <a:pt x="32" y="12"/>
                    </a:lnTo>
                    <a:lnTo>
                      <a:pt x="33" y="7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6" name="Freeform 420">
                <a:extLst>
                  <a:ext uri="{FF2B5EF4-FFF2-40B4-BE49-F238E27FC236}">
                    <a16:creationId xmlns:a16="http://schemas.microsoft.com/office/drawing/2014/main" id="{8A8CFF7F-25BB-4C48-8105-078342782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1" cy="1"/>
              </a:xfrm>
              <a:custGeom>
                <a:avLst/>
                <a:gdLst>
                  <a:gd name="T0" fmla="*/ 0 w 29"/>
                  <a:gd name="T1" fmla="*/ 0 h 18"/>
                  <a:gd name="T2" fmla="*/ 0 w 29"/>
                  <a:gd name="T3" fmla="*/ 0 h 18"/>
                  <a:gd name="T4" fmla="*/ 0 w 29"/>
                  <a:gd name="T5" fmla="*/ 0 h 18"/>
                  <a:gd name="T6" fmla="*/ 0 w 29"/>
                  <a:gd name="T7" fmla="*/ 0 h 18"/>
                  <a:gd name="T8" fmla="*/ 0 w 29"/>
                  <a:gd name="T9" fmla="*/ 0 h 18"/>
                  <a:gd name="T10" fmla="*/ 0 w 29"/>
                  <a:gd name="T11" fmla="*/ 0 h 18"/>
                  <a:gd name="T12" fmla="*/ 0 w 29"/>
                  <a:gd name="T13" fmla="*/ 0 h 18"/>
                  <a:gd name="T14" fmla="*/ 0 w 29"/>
                  <a:gd name="T15" fmla="*/ 0 h 18"/>
                  <a:gd name="T16" fmla="*/ 0 w 29"/>
                  <a:gd name="T17" fmla="*/ 0 h 18"/>
                  <a:gd name="T18" fmla="*/ 0 w 29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18"/>
                  <a:gd name="T32" fmla="*/ 29 w 29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18">
                    <a:moveTo>
                      <a:pt x="29" y="18"/>
                    </a:moveTo>
                    <a:lnTo>
                      <a:pt x="29" y="11"/>
                    </a:lnTo>
                    <a:lnTo>
                      <a:pt x="27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9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7" name="Freeform 421">
                <a:extLst>
                  <a:ext uri="{FF2B5EF4-FFF2-40B4-BE49-F238E27FC236}">
                    <a16:creationId xmlns:a16="http://schemas.microsoft.com/office/drawing/2014/main" id="{69EFD9D6-8463-407E-BC36-7A5C7FD71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5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8" name="Freeform 422">
                <a:extLst>
                  <a:ext uri="{FF2B5EF4-FFF2-40B4-BE49-F238E27FC236}">
                    <a16:creationId xmlns:a16="http://schemas.microsoft.com/office/drawing/2014/main" id="{39226AC5-1A0F-404D-8454-D8593F0F1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7" cy="15"/>
              </a:xfrm>
              <a:custGeom>
                <a:avLst/>
                <a:gdLst>
                  <a:gd name="T0" fmla="*/ 0 w 164"/>
                  <a:gd name="T1" fmla="*/ 0 h 274"/>
                  <a:gd name="T2" fmla="*/ 0 w 164"/>
                  <a:gd name="T3" fmla="*/ 0 h 274"/>
                  <a:gd name="T4" fmla="*/ 0 w 164"/>
                  <a:gd name="T5" fmla="*/ 0 h 274"/>
                  <a:gd name="T6" fmla="*/ 0 w 164"/>
                  <a:gd name="T7" fmla="*/ 0 h 274"/>
                  <a:gd name="T8" fmla="*/ 0 w 164"/>
                  <a:gd name="T9" fmla="*/ 0 h 274"/>
                  <a:gd name="T10" fmla="*/ 0 w 164"/>
                  <a:gd name="T11" fmla="*/ 0 h 274"/>
                  <a:gd name="T12" fmla="*/ 0 w 164"/>
                  <a:gd name="T13" fmla="*/ 0 h 274"/>
                  <a:gd name="T14" fmla="*/ 0 w 164"/>
                  <a:gd name="T15" fmla="*/ 0 h 274"/>
                  <a:gd name="T16" fmla="*/ 0 w 164"/>
                  <a:gd name="T17" fmla="*/ 0 h 274"/>
                  <a:gd name="T18" fmla="*/ 0 w 164"/>
                  <a:gd name="T19" fmla="*/ 0 h 274"/>
                  <a:gd name="T20" fmla="*/ 0 w 164"/>
                  <a:gd name="T21" fmla="*/ 0 h 274"/>
                  <a:gd name="T22" fmla="*/ 0 w 164"/>
                  <a:gd name="T23" fmla="*/ 0 h 274"/>
                  <a:gd name="T24" fmla="*/ 0 w 164"/>
                  <a:gd name="T25" fmla="*/ 0 h 274"/>
                  <a:gd name="T26" fmla="*/ 0 w 164"/>
                  <a:gd name="T27" fmla="*/ 0 h 274"/>
                  <a:gd name="T28" fmla="*/ 0 w 164"/>
                  <a:gd name="T29" fmla="*/ 0 h 274"/>
                  <a:gd name="T30" fmla="*/ 0 w 164"/>
                  <a:gd name="T31" fmla="*/ 0 h 274"/>
                  <a:gd name="T32" fmla="*/ 0 w 164"/>
                  <a:gd name="T33" fmla="*/ 0 h 274"/>
                  <a:gd name="T34" fmla="*/ 0 w 164"/>
                  <a:gd name="T35" fmla="*/ 0 h 274"/>
                  <a:gd name="T36" fmla="*/ 0 w 164"/>
                  <a:gd name="T37" fmla="*/ 0 h 274"/>
                  <a:gd name="T38" fmla="*/ 0 w 164"/>
                  <a:gd name="T39" fmla="*/ 0 h 274"/>
                  <a:gd name="T40" fmla="*/ 0 w 164"/>
                  <a:gd name="T41" fmla="*/ 0 h 274"/>
                  <a:gd name="T42" fmla="*/ 0 w 164"/>
                  <a:gd name="T43" fmla="*/ 0 h 274"/>
                  <a:gd name="T44" fmla="*/ 0 w 164"/>
                  <a:gd name="T45" fmla="*/ 0 h 274"/>
                  <a:gd name="T46" fmla="*/ 0 w 164"/>
                  <a:gd name="T47" fmla="*/ 0 h 274"/>
                  <a:gd name="T48" fmla="*/ 0 w 164"/>
                  <a:gd name="T49" fmla="*/ 0 h 274"/>
                  <a:gd name="T50" fmla="*/ 0 w 164"/>
                  <a:gd name="T51" fmla="*/ 0 h 274"/>
                  <a:gd name="T52" fmla="*/ 0 w 164"/>
                  <a:gd name="T53" fmla="*/ 0 h 274"/>
                  <a:gd name="T54" fmla="*/ 0 w 164"/>
                  <a:gd name="T55" fmla="*/ 0 h 274"/>
                  <a:gd name="T56" fmla="*/ 0 w 164"/>
                  <a:gd name="T57" fmla="*/ 0 h 274"/>
                  <a:gd name="T58" fmla="*/ 0 w 164"/>
                  <a:gd name="T59" fmla="*/ 0 h 274"/>
                  <a:gd name="T60" fmla="*/ 0 w 164"/>
                  <a:gd name="T61" fmla="*/ 0 h 274"/>
                  <a:gd name="T62" fmla="*/ 0 w 164"/>
                  <a:gd name="T63" fmla="*/ 0 h 274"/>
                  <a:gd name="T64" fmla="*/ 0 w 164"/>
                  <a:gd name="T65" fmla="*/ 0 h 274"/>
                  <a:gd name="T66" fmla="*/ 0 w 164"/>
                  <a:gd name="T67" fmla="*/ 0 h 274"/>
                  <a:gd name="T68" fmla="*/ 0 w 164"/>
                  <a:gd name="T69" fmla="*/ 0 h 274"/>
                  <a:gd name="T70" fmla="*/ 0 w 164"/>
                  <a:gd name="T71" fmla="*/ 0 h 274"/>
                  <a:gd name="T72" fmla="*/ 0 w 164"/>
                  <a:gd name="T73" fmla="*/ 0 h 27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4"/>
                  <a:gd name="T112" fmla="*/ 0 h 274"/>
                  <a:gd name="T113" fmla="*/ 164 w 164"/>
                  <a:gd name="T114" fmla="*/ 274 h 27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4" h="274">
                    <a:moveTo>
                      <a:pt x="164" y="274"/>
                    </a:moveTo>
                    <a:lnTo>
                      <a:pt x="164" y="274"/>
                    </a:lnTo>
                    <a:lnTo>
                      <a:pt x="162" y="253"/>
                    </a:lnTo>
                    <a:lnTo>
                      <a:pt x="160" y="233"/>
                    </a:lnTo>
                    <a:lnTo>
                      <a:pt x="157" y="211"/>
                    </a:lnTo>
                    <a:lnTo>
                      <a:pt x="153" y="190"/>
                    </a:lnTo>
                    <a:lnTo>
                      <a:pt x="147" y="170"/>
                    </a:lnTo>
                    <a:lnTo>
                      <a:pt x="139" y="152"/>
                    </a:lnTo>
                    <a:lnTo>
                      <a:pt x="130" y="135"/>
                    </a:lnTo>
                    <a:lnTo>
                      <a:pt x="122" y="116"/>
                    </a:lnTo>
                    <a:lnTo>
                      <a:pt x="112" y="98"/>
                    </a:lnTo>
                    <a:lnTo>
                      <a:pt x="100" y="82"/>
                    </a:lnTo>
                    <a:lnTo>
                      <a:pt x="87" y="65"/>
                    </a:lnTo>
                    <a:lnTo>
                      <a:pt x="73" y="50"/>
                    </a:lnTo>
                    <a:lnTo>
                      <a:pt x="59" y="35"/>
                    </a:lnTo>
                    <a:lnTo>
                      <a:pt x="43" y="23"/>
                    </a:lnTo>
                    <a:lnTo>
                      <a:pt x="27" y="10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5" y="29"/>
                    </a:lnTo>
                    <a:lnTo>
                      <a:pt x="30" y="40"/>
                    </a:lnTo>
                    <a:lnTo>
                      <a:pt x="45" y="52"/>
                    </a:lnTo>
                    <a:lnTo>
                      <a:pt x="59" y="65"/>
                    </a:lnTo>
                    <a:lnTo>
                      <a:pt x="71" y="80"/>
                    </a:lnTo>
                    <a:lnTo>
                      <a:pt x="83" y="94"/>
                    </a:lnTo>
                    <a:lnTo>
                      <a:pt x="94" y="110"/>
                    </a:lnTo>
                    <a:lnTo>
                      <a:pt x="104" y="126"/>
                    </a:lnTo>
                    <a:lnTo>
                      <a:pt x="112" y="143"/>
                    </a:lnTo>
                    <a:lnTo>
                      <a:pt x="119" y="161"/>
                    </a:lnTo>
                    <a:lnTo>
                      <a:pt x="126" y="179"/>
                    </a:lnTo>
                    <a:lnTo>
                      <a:pt x="132" y="197"/>
                    </a:lnTo>
                    <a:lnTo>
                      <a:pt x="136" y="216"/>
                    </a:lnTo>
                    <a:lnTo>
                      <a:pt x="139" y="235"/>
                    </a:lnTo>
                    <a:lnTo>
                      <a:pt x="141" y="255"/>
                    </a:lnTo>
                    <a:lnTo>
                      <a:pt x="141" y="274"/>
                    </a:lnTo>
                    <a:lnTo>
                      <a:pt x="164" y="2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39" name="Freeform 423">
                <a:extLst>
                  <a:ext uri="{FF2B5EF4-FFF2-40B4-BE49-F238E27FC236}">
                    <a16:creationId xmlns:a16="http://schemas.microsoft.com/office/drawing/2014/main" id="{C951DA7A-20B4-487D-9F56-FE53A3A3F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4"/>
              </a:xfrm>
              <a:custGeom>
                <a:avLst/>
                <a:gdLst>
                  <a:gd name="T0" fmla="*/ 0 w 29"/>
                  <a:gd name="T1" fmla="*/ 0 h 68"/>
                  <a:gd name="T2" fmla="*/ 0 w 29"/>
                  <a:gd name="T3" fmla="*/ 0 h 68"/>
                  <a:gd name="T4" fmla="*/ 0 w 29"/>
                  <a:gd name="T5" fmla="*/ 0 h 68"/>
                  <a:gd name="T6" fmla="*/ 0 w 29"/>
                  <a:gd name="T7" fmla="*/ 0 h 68"/>
                  <a:gd name="T8" fmla="*/ 0 w 29"/>
                  <a:gd name="T9" fmla="*/ 0 h 68"/>
                  <a:gd name="T10" fmla="*/ 0 w 29"/>
                  <a:gd name="T11" fmla="*/ 0 h 68"/>
                  <a:gd name="T12" fmla="*/ 0 w 29"/>
                  <a:gd name="T13" fmla="*/ 0 h 68"/>
                  <a:gd name="T14" fmla="*/ 0 w 29"/>
                  <a:gd name="T15" fmla="*/ 0 h 68"/>
                  <a:gd name="T16" fmla="*/ 0 w 29"/>
                  <a:gd name="T17" fmla="*/ 0 h 68"/>
                  <a:gd name="T18" fmla="*/ 0 w 29"/>
                  <a:gd name="T19" fmla="*/ 0 h 68"/>
                  <a:gd name="T20" fmla="*/ 0 w 29"/>
                  <a:gd name="T21" fmla="*/ 0 h 68"/>
                  <a:gd name="T22" fmla="*/ 0 w 29"/>
                  <a:gd name="T23" fmla="*/ 0 h 68"/>
                  <a:gd name="T24" fmla="*/ 0 w 29"/>
                  <a:gd name="T25" fmla="*/ 0 h 68"/>
                  <a:gd name="T26" fmla="*/ 0 w 29"/>
                  <a:gd name="T27" fmla="*/ 0 h 68"/>
                  <a:gd name="T28" fmla="*/ 0 w 29"/>
                  <a:gd name="T29" fmla="*/ 0 h 68"/>
                  <a:gd name="T30" fmla="*/ 0 w 29"/>
                  <a:gd name="T31" fmla="*/ 0 h 68"/>
                  <a:gd name="T32" fmla="*/ 0 w 29"/>
                  <a:gd name="T33" fmla="*/ 0 h 68"/>
                  <a:gd name="T34" fmla="*/ 0 w 29"/>
                  <a:gd name="T35" fmla="*/ 0 h 68"/>
                  <a:gd name="T36" fmla="*/ 0 w 29"/>
                  <a:gd name="T37" fmla="*/ 0 h 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9"/>
                  <a:gd name="T58" fmla="*/ 0 h 68"/>
                  <a:gd name="T59" fmla="*/ 29 w 29"/>
                  <a:gd name="T60" fmla="*/ 68 h 6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9" h="68">
                    <a:moveTo>
                      <a:pt x="21" y="68"/>
                    </a:moveTo>
                    <a:lnTo>
                      <a:pt x="22" y="60"/>
                    </a:lnTo>
                    <a:lnTo>
                      <a:pt x="24" y="52"/>
                    </a:lnTo>
                    <a:lnTo>
                      <a:pt x="25" y="43"/>
                    </a:lnTo>
                    <a:lnTo>
                      <a:pt x="26" y="34"/>
                    </a:lnTo>
                    <a:lnTo>
                      <a:pt x="28" y="25"/>
                    </a:lnTo>
                    <a:lnTo>
                      <a:pt x="28" y="17"/>
                    </a:lnTo>
                    <a:lnTo>
                      <a:pt x="29" y="8"/>
                    </a:lnTo>
                    <a:lnTo>
                      <a:pt x="29" y="0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5" y="17"/>
                    </a:lnTo>
                    <a:lnTo>
                      <a:pt x="5" y="25"/>
                    </a:lnTo>
                    <a:lnTo>
                      <a:pt x="5" y="32"/>
                    </a:lnTo>
                    <a:lnTo>
                      <a:pt x="4" y="41"/>
                    </a:lnTo>
                    <a:lnTo>
                      <a:pt x="3" y="48"/>
                    </a:lnTo>
                    <a:lnTo>
                      <a:pt x="1" y="56"/>
                    </a:lnTo>
                    <a:lnTo>
                      <a:pt x="0" y="64"/>
                    </a:lnTo>
                    <a:lnTo>
                      <a:pt x="21" y="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0" name="Freeform 424">
                <a:extLst>
                  <a:ext uri="{FF2B5EF4-FFF2-40B4-BE49-F238E27FC236}">
                    <a16:creationId xmlns:a16="http://schemas.microsoft.com/office/drawing/2014/main" id="{8C517E61-77AD-4C9F-8196-F6EAAE6BA9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1"/>
              </a:xfrm>
              <a:custGeom>
                <a:avLst/>
                <a:gdLst>
                  <a:gd name="T0" fmla="*/ 0 w 21"/>
                  <a:gd name="T1" fmla="*/ 0 h 12"/>
                  <a:gd name="T2" fmla="*/ 0 w 21"/>
                  <a:gd name="T3" fmla="*/ 0 h 12"/>
                  <a:gd name="T4" fmla="*/ 0 w 21"/>
                  <a:gd name="T5" fmla="*/ 0 h 12"/>
                  <a:gd name="T6" fmla="*/ 0 w 21"/>
                  <a:gd name="T7" fmla="*/ 0 h 12"/>
                  <a:gd name="T8" fmla="*/ 0 w 21"/>
                  <a:gd name="T9" fmla="*/ 0 h 12"/>
                  <a:gd name="T10" fmla="*/ 0 w 2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2"/>
                  <a:gd name="T20" fmla="*/ 21 w 2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2">
                    <a:moveTo>
                      <a:pt x="0" y="0"/>
                    </a:moveTo>
                    <a:lnTo>
                      <a:pt x="3" y="8"/>
                    </a:lnTo>
                    <a:lnTo>
                      <a:pt x="10" y="12"/>
                    </a:lnTo>
                    <a:lnTo>
                      <a:pt x="17" y="11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1" name="Freeform 425">
                <a:extLst>
                  <a:ext uri="{FF2B5EF4-FFF2-40B4-BE49-F238E27FC236}">
                    <a16:creationId xmlns:a16="http://schemas.microsoft.com/office/drawing/2014/main" id="{2201AE30-12D9-473F-B6D0-7C541801E4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8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6"/>
                    </a:lnTo>
                    <a:lnTo>
                      <a:pt x="0" y="14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2" name="Freeform 426">
                <a:extLst>
                  <a:ext uri="{FF2B5EF4-FFF2-40B4-BE49-F238E27FC236}">
                    <a16:creationId xmlns:a16="http://schemas.microsoft.com/office/drawing/2014/main" id="{A5674B9C-7276-4311-8FE2-93620F7D3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128"/>
                <a:ext cx="4" cy="8"/>
              </a:xfrm>
              <a:custGeom>
                <a:avLst/>
                <a:gdLst>
                  <a:gd name="T0" fmla="*/ 0 w 86"/>
                  <a:gd name="T1" fmla="*/ 0 h 136"/>
                  <a:gd name="T2" fmla="*/ 0 w 86"/>
                  <a:gd name="T3" fmla="*/ 0 h 136"/>
                  <a:gd name="T4" fmla="*/ 0 w 86"/>
                  <a:gd name="T5" fmla="*/ 0 h 136"/>
                  <a:gd name="T6" fmla="*/ 0 w 86"/>
                  <a:gd name="T7" fmla="*/ 0 h 136"/>
                  <a:gd name="T8" fmla="*/ 0 w 86"/>
                  <a:gd name="T9" fmla="*/ 0 h 136"/>
                  <a:gd name="T10" fmla="*/ 0 w 86"/>
                  <a:gd name="T11" fmla="*/ 0 h 136"/>
                  <a:gd name="T12" fmla="*/ 0 w 86"/>
                  <a:gd name="T13" fmla="*/ 0 h 136"/>
                  <a:gd name="T14" fmla="*/ 0 w 86"/>
                  <a:gd name="T15" fmla="*/ 0 h 136"/>
                  <a:gd name="T16" fmla="*/ 0 w 86"/>
                  <a:gd name="T17" fmla="*/ 0 h 136"/>
                  <a:gd name="T18" fmla="*/ 0 w 86"/>
                  <a:gd name="T19" fmla="*/ 0 h 136"/>
                  <a:gd name="T20" fmla="*/ 0 w 86"/>
                  <a:gd name="T21" fmla="*/ 0 h 136"/>
                  <a:gd name="T22" fmla="*/ 0 w 86"/>
                  <a:gd name="T23" fmla="*/ 0 h 136"/>
                  <a:gd name="T24" fmla="*/ 0 w 86"/>
                  <a:gd name="T25" fmla="*/ 0 h 136"/>
                  <a:gd name="T26" fmla="*/ 0 w 86"/>
                  <a:gd name="T27" fmla="*/ 0 h 136"/>
                  <a:gd name="T28" fmla="*/ 0 w 86"/>
                  <a:gd name="T29" fmla="*/ 0 h 136"/>
                  <a:gd name="T30" fmla="*/ 0 w 86"/>
                  <a:gd name="T31" fmla="*/ 0 h 136"/>
                  <a:gd name="T32" fmla="*/ 0 w 86"/>
                  <a:gd name="T33" fmla="*/ 0 h 136"/>
                  <a:gd name="T34" fmla="*/ 0 w 86"/>
                  <a:gd name="T35" fmla="*/ 0 h 136"/>
                  <a:gd name="T36" fmla="*/ 0 w 86"/>
                  <a:gd name="T37" fmla="*/ 0 h 136"/>
                  <a:gd name="T38" fmla="*/ 0 w 86"/>
                  <a:gd name="T39" fmla="*/ 0 h 136"/>
                  <a:gd name="T40" fmla="*/ 0 w 86"/>
                  <a:gd name="T41" fmla="*/ 0 h 1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6"/>
                  <a:gd name="T64" fmla="*/ 0 h 136"/>
                  <a:gd name="T65" fmla="*/ 86 w 86"/>
                  <a:gd name="T66" fmla="*/ 136 h 1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6" h="136">
                    <a:moveTo>
                      <a:pt x="86" y="136"/>
                    </a:moveTo>
                    <a:lnTo>
                      <a:pt x="86" y="136"/>
                    </a:lnTo>
                    <a:lnTo>
                      <a:pt x="85" y="116"/>
                    </a:lnTo>
                    <a:lnTo>
                      <a:pt x="81" y="95"/>
                    </a:lnTo>
                    <a:lnTo>
                      <a:pt x="76" y="76"/>
                    </a:lnTo>
                    <a:lnTo>
                      <a:pt x="66" y="58"/>
                    </a:lnTo>
                    <a:lnTo>
                      <a:pt x="55" y="41"/>
                    </a:lnTo>
                    <a:lnTo>
                      <a:pt x="42" y="26"/>
                    </a:lnTo>
                    <a:lnTo>
                      <a:pt x="27" y="12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4" y="29"/>
                    </a:lnTo>
                    <a:lnTo>
                      <a:pt x="28" y="40"/>
                    </a:lnTo>
                    <a:lnTo>
                      <a:pt x="39" y="54"/>
                    </a:lnTo>
                    <a:lnTo>
                      <a:pt x="48" y="69"/>
                    </a:lnTo>
                    <a:lnTo>
                      <a:pt x="55" y="85"/>
                    </a:lnTo>
                    <a:lnTo>
                      <a:pt x="60" y="102"/>
                    </a:lnTo>
                    <a:lnTo>
                      <a:pt x="64" y="118"/>
                    </a:lnTo>
                    <a:lnTo>
                      <a:pt x="65" y="136"/>
                    </a:lnTo>
                    <a:lnTo>
                      <a:pt x="86" y="1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3" name="Freeform 427">
                <a:extLst>
                  <a:ext uri="{FF2B5EF4-FFF2-40B4-BE49-F238E27FC236}">
                    <a16:creationId xmlns:a16="http://schemas.microsoft.com/office/drawing/2014/main" id="{7E4CBF33-BDD3-412D-84E4-47BBF3C77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6"/>
                <a:ext cx="1" cy="2"/>
              </a:xfrm>
              <a:custGeom>
                <a:avLst/>
                <a:gdLst>
                  <a:gd name="T0" fmla="*/ 0 w 24"/>
                  <a:gd name="T1" fmla="*/ 0 h 35"/>
                  <a:gd name="T2" fmla="*/ 0 w 24"/>
                  <a:gd name="T3" fmla="*/ 0 h 35"/>
                  <a:gd name="T4" fmla="*/ 0 w 24"/>
                  <a:gd name="T5" fmla="*/ 0 h 35"/>
                  <a:gd name="T6" fmla="*/ 0 w 24"/>
                  <a:gd name="T7" fmla="*/ 0 h 35"/>
                  <a:gd name="T8" fmla="*/ 0 w 24"/>
                  <a:gd name="T9" fmla="*/ 0 h 35"/>
                  <a:gd name="T10" fmla="*/ 0 w 24"/>
                  <a:gd name="T11" fmla="*/ 0 h 35"/>
                  <a:gd name="T12" fmla="*/ 0 w 24"/>
                  <a:gd name="T13" fmla="*/ 0 h 35"/>
                  <a:gd name="T14" fmla="*/ 0 w 24"/>
                  <a:gd name="T15" fmla="*/ 0 h 35"/>
                  <a:gd name="T16" fmla="*/ 0 w 24"/>
                  <a:gd name="T17" fmla="*/ 0 h 35"/>
                  <a:gd name="T18" fmla="*/ 0 w 24"/>
                  <a:gd name="T19" fmla="*/ 0 h 35"/>
                  <a:gd name="T20" fmla="*/ 0 w 24"/>
                  <a:gd name="T21" fmla="*/ 0 h 35"/>
                  <a:gd name="T22" fmla="*/ 0 w 24"/>
                  <a:gd name="T23" fmla="*/ 0 h 35"/>
                  <a:gd name="T24" fmla="*/ 0 w 24"/>
                  <a:gd name="T25" fmla="*/ 0 h 35"/>
                  <a:gd name="T26" fmla="*/ 0 w 24"/>
                  <a:gd name="T27" fmla="*/ 0 h 35"/>
                  <a:gd name="T28" fmla="*/ 0 w 24"/>
                  <a:gd name="T29" fmla="*/ 0 h 35"/>
                  <a:gd name="T30" fmla="*/ 0 w 24"/>
                  <a:gd name="T31" fmla="*/ 0 h 35"/>
                  <a:gd name="T32" fmla="*/ 0 w 24"/>
                  <a:gd name="T33" fmla="*/ 0 h 35"/>
                  <a:gd name="T34" fmla="*/ 0 w 24"/>
                  <a:gd name="T35" fmla="*/ 0 h 35"/>
                  <a:gd name="T36" fmla="*/ 0 w 24"/>
                  <a:gd name="T37" fmla="*/ 0 h 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4"/>
                  <a:gd name="T58" fmla="*/ 0 h 35"/>
                  <a:gd name="T59" fmla="*/ 24 w 24"/>
                  <a:gd name="T60" fmla="*/ 35 h 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4" h="35">
                    <a:moveTo>
                      <a:pt x="21" y="35"/>
                    </a:moveTo>
                    <a:lnTo>
                      <a:pt x="22" y="30"/>
                    </a:lnTo>
                    <a:lnTo>
                      <a:pt x="22" y="26"/>
                    </a:lnTo>
                    <a:lnTo>
                      <a:pt x="23" y="21"/>
                    </a:lnTo>
                    <a:lnTo>
                      <a:pt x="23" y="18"/>
                    </a:lnTo>
                    <a:lnTo>
                      <a:pt x="24" y="15"/>
                    </a:lnTo>
                    <a:lnTo>
                      <a:pt x="24" y="9"/>
                    </a:lnTo>
                    <a:lnTo>
                      <a:pt x="24" y="5"/>
                    </a:lnTo>
                    <a:lnTo>
                      <a:pt x="24" y="0"/>
                    </a:lnTo>
                    <a:lnTo>
                      <a:pt x="3" y="0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3" y="11"/>
                    </a:lnTo>
                    <a:lnTo>
                      <a:pt x="2" y="14"/>
                    </a:lnTo>
                    <a:lnTo>
                      <a:pt x="2" y="19"/>
                    </a:lnTo>
                    <a:lnTo>
                      <a:pt x="1" y="24"/>
                    </a:lnTo>
                    <a:lnTo>
                      <a:pt x="1" y="28"/>
                    </a:lnTo>
                    <a:lnTo>
                      <a:pt x="0" y="31"/>
                    </a:lnTo>
                    <a:lnTo>
                      <a:pt x="21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4" name="Freeform 428">
                <a:extLst>
                  <a:ext uri="{FF2B5EF4-FFF2-40B4-BE49-F238E27FC236}">
                    <a16:creationId xmlns:a16="http://schemas.microsoft.com/office/drawing/2014/main" id="{14481BB5-2287-4B6D-BA4B-3F7201D2C0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5"/>
                <a:ext cx="1" cy="1"/>
              </a:xfrm>
              <a:custGeom>
                <a:avLst/>
                <a:gdLst>
                  <a:gd name="T0" fmla="*/ 0 w 21"/>
                  <a:gd name="T1" fmla="*/ 0 h 13"/>
                  <a:gd name="T2" fmla="*/ 0 w 21"/>
                  <a:gd name="T3" fmla="*/ 0 h 13"/>
                  <a:gd name="T4" fmla="*/ 0 w 21"/>
                  <a:gd name="T5" fmla="*/ 0 h 13"/>
                  <a:gd name="T6" fmla="*/ 0 w 21"/>
                  <a:gd name="T7" fmla="*/ 0 h 13"/>
                  <a:gd name="T8" fmla="*/ 0 w 21"/>
                  <a:gd name="T9" fmla="*/ 0 h 13"/>
                  <a:gd name="T10" fmla="*/ 0 w 21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3"/>
                  <a:gd name="T20" fmla="*/ 21 w 21"/>
                  <a:gd name="T21" fmla="*/ 13 h 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3">
                    <a:moveTo>
                      <a:pt x="0" y="0"/>
                    </a:moveTo>
                    <a:lnTo>
                      <a:pt x="2" y="9"/>
                    </a:lnTo>
                    <a:lnTo>
                      <a:pt x="10" y="13"/>
                    </a:lnTo>
                    <a:lnTo>
                      <a:pt x="17" y="12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5" name="Freeform 429">
                <a:extLst>
                  <a:ext uri="{FF2B5EF4-FFF2-40B4-BE49-F238E27FC236}">
                    <a16:creationId xmlns:a16="http://schemas.microsoft.com/office/drawing/2014/main" id="{DFECDEEE-6698-43E0-B21E-29EDFB244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3" cy="137"/>
              </a:xfrm>
              <a:custGeom>
                <a:avLst/>
                <a:gdLst>
                  <a:gd name="T0" fmla="*/ 0 w 1169"/>
                  <a:gd name="T1" fmla="*/ 0 h 2481"/>
                  <a:gd name="T2" fmla="*/ 0 w 1169"/>
                  <a:gd name="T3" fmla="*/ 0 h 2481"/>
                  <a:gd name="T4" fmla="*/ 0 w 1169"/>
                  <a:gd name="T5" fmla="*/ 0 h 2481"/>
                  <a:gd name="T6" fmla="*/ 0 w 1169"/>
                  <a:gd name="T7" fmla="*/ 0 h 2481"/>
                  <a:gd name="T8" fmla="*/ 0 w 1169"/>
                  <a:gd name="T9" fmla="*/ 0 h 2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69"/>
                  <a:gd name="T16" fmla="*/ 0 h 2481"/>
                  <a:gd name="T17" fmla="*/ 1169 w 1169"/>
                  <a:gd name="T18" fmla="*/ 2481 h 24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69" h="2481">
                    <a:moveTo>
                      <a:pt x="166" y="0"/>
                    </a:moveTo>
                    <a:lnTo>
                      <a:pt x="0" y="73"/>
                    </a:lnTo>
                    <a:lnTo>
                      <a:pt x="959" y="2481"/>
                    </a:lnTo>
                    <a:lnTo>
                      <a:pt x="1169" y="238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6" name="Freeform 430">
                <a:extLst>
                  <a:ext uri="{FF2B5EF4-FFF2-40B4-BE49-F238E27FC236}">
                    <a16:creationId xmlns:a16="http://schemas.microsoft.com/office/drawing/2014/main" id="{BA7B4DE2-930E-4E90-BD75-2F8DD28B6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2" cy="137"/>
              </a:xfrm>
              <a:custGeom>
                <a:avLst/>
                <a:gdLst>
                  <a:gd name="T0" fmla="*/ 0 w 1140"/>
                  <a:gd name="T1" fmla="*/ 0 h 2467"/>
                  <a:gd name="T2" fmla="*/ 0 w 1140"/>
                  <a:gd name="T3" fmla="*/ 0 h 2467"/>
                  <a:gd name="T4" fmla="*/ 0 w 1140"/>
                  <a:gd name="T5" fmla="*/ 0 h 2467"/>
                  <a:gd name="T6" fmla="*/ 0 w 1140"/>
                  <a:gd name="T7" fmla="*/ 0 h 2467"/>
                  <a:gd name="T8" fmla="*/ 0 w 1140"/>
                  <a:gd name="T9" fmla="*/ 0 h 2467"/>
                  <a:gd name="T10" fmla="*/ 0 w 1140"/>
                  <a:gd name="T11" fmla="*/ 0 h 2467"/>
                  <a:gd name="T12" fmla="*/ 0 w 1140"/>
                  <a:gd name="T13" fmla="*/ 0 h 2467"/>
                  <a:gd name="T14" fmla="*/ 0 w 1140"/>
                  <a:gd name="T15" fmla="*/ 0 h 2467"/>
                  <a:gd name="T16" fmla="*/ 0 w 1140"/>
                  <a:gd name="T17" fmla="*/ 0 h 2467"/>
                  <a:gd name="T18" fmla="*/ 0 w 1140"/>
                  <a:gd name="T19" fmla="*/ 0 h 2467"/>
                  <a:gd name="T20" fmla="*/ 0 w 1140"/>
                  <a:gd name="T21" fmla="*/ 0 h 2467"/>
                  <a:gd name="T22" fmla="*/ 0 w 1140"/>
                  <a:gd name="T23" fmla="*/ 0 h 2467"/>
                  <a:gd name="T24" fmla="*/ 0 w 1140"/>
                  <a:gd name="T25" fmla="*/ 0 h 2467"/>
                  <a:gd name="T26" fmla="*/ 0 w 1140"/>
                  <a:gd name="T27" fmla="*/ 0 h 2467"/>
                  <a:gd name="T28" fmla="*/ 0 w 1140"/>
                  <a:gd name="T29" fmla="*/ 0 h 2467"/>
                  <a:gd name="T30" fmla="*/ 0 w 1140"/>
                  <a:gd name="T31" fmla="*/ 0 h 2467"/>
                  <a:gd name="T32" fmla="*/ 0 w 1140"/>
                  <a:gd name="T33" fmla="*/ 0 h 2467"/>
                  <a:gd name="T34" fmla="*/ 0 w 1140"/>
                  <a:gd name="T35" fmla="*/ 0 h 2467"/>
                  <a:gd name="T36" fmla="*/ 0 w 1140"/>
                  <a:gd name="T37" fmla="*/ 0 h 2467"/>
                  <a:gd name="T38" fmla="*/ 0 w 1140"/>
                  <a:gd name="T39" fmla="*/ 0 h 2467"/>
                  <a:gd name="T40" fmla="*/ 0 w 1140"/>
                  <a:gd name="T41" fmla="*/ 0 h 2467"/>
                  <a:gd name="T42" fmla="*/ 0 w 1140"/>
                  <a:gd name="T43" fmla="*/ 0 h 2467"/>
                  <a:gd name="T44" fmla="*/ 0 w 1140"/>
                  <a:gd name="T45" fmla="*/ 0 h 2467"/>
                  <a:gd name="T46" fmla="*/ 0 w 1140"/>
                  <a:gd name="T47" fmla="*/ 0 h 2467"/>
                  <a:gd name="T48" fmla="*/ 0 w 1140"/>
                  <a:gd name="T49" fmla="*/ 0 h 2467"/>
                  <a:gd name="T50" fmla="*/ 0 w 1140"/>
                  <a:gd name="T51" fmla="*/ 0 h 2467"/>
                  <a:gd name="T52" fmla="*/ 0 w 1140"/>
                  <a:gd name="T53" fmla="*/ 0 h 2467"/>
                  <a:gd name="T54" fmla="*/ 0 w 1140"/>
                  <a:gd name="T55" fmla="*/ 0 h 2467"/>
                  <a:gd name="T56" fmla="*/ 0 w 1140"/>
                  <a:gd name="T57" fmla="*/ 0 h 2467"/>
                  <a:gd name="T58" fmla="*/ 0 w 1140"/>
                  <a:gd name="T59" fmla="*/ 0 h 2467"/>
                  <a:gd name="T60" fmla="*/ 0 w 1140"/>
                  <a:gd name="T61" fmla="*/ 0 h 2467"/>
                  <a:gd name="T62" fmla="*/ 0 w 1140"/>
                  <a:gd name="T63" fmla="*/ 0 h 2467"/>
                  <a:gd name="T64" fmla="*/ 0 w 1140"/>
                  <a:gd name="T65" fmla="*/ 0 h 2467"/>
                  <a:gd name="T66" fmla="*/ 0 w 1140"/>
                  <a:gd name="T67" fmla="*/ 0 h 2467"/>
                  <a:gd name="T68" fmla="*/ 0 w 1140"/>
                  <a:gd name="T69" fmla="*/ 0 h 2467"/>
                  <a:gd name="T70" fmla="*/ 0 w 1140"/>
                  <a:gd name="T71" fmla="*/ 0 h 2467"/>
                  <a:gd name="T72" fmla="*/ 0 w 1140"/>
                  <a:gd name="T73" fmla="*/ 0 h 2467"/>
                  <a:gd name="T74" fmla="*/ 0 w 1140"/>
                  <a:gd name="T75" fmla="*/ 0 h 2467"/>
                  <a:gd name="T76" fmla="*/ 0 w 1140"/>
                  <a:gd name="T77" fmla="*/ 0 h 2467"/>
                  <a:gd name="T78" fmla="*/ 0 w 1140"/>
                  <a:gd name="T79" fmla="*/ 0 h 2467"/>
                  <a:gd name="T80" fmla="*/ 0 w 1140"/>
                  <a:gd name="T81" fmla="*/ 0 h 2467"/>
                  <a:gd name="T82" fmla="*/ 0 w 1140"/>
                  <a:gd name="T83" fmla="*/ 0 h 2467"/>
                  <a:gd name="T84" fmla="*/ 0 w 1140"/>
                  <a:gd name="T85" fmla="*/ 0 h 2467"/>
                  <a:gd name="T86" fmla="*/ 0 w 1140"/>
                  <a:gd name="T87" fmla="*/ 0 h 246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40"/>
                  <a:gd name="T133" fmla="*/ 0 h 2467"/>
                  <a:gd name="T134" fmla="*/ 1140 w 1140"/>
                  <a:gd name="T135" fmla="*/ 2467 h 2467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40" h="2467">
                    <a:moveTo>
                      <a:pt x="140" y="0"/>
                    </a:moveTo>
                    <a:lnTo>
                      <a:pt x="126" y="6"/>
                    </a:lnTo>
                    <a:lnTo>
                      <a:pt x="114" y="10"/>
                    </a:lnTo>
                    <a:lnTo>
                      <a:pt x="104" y="14"/>
                    </a:lnTo>
                    <a:lnTo>
                      <a:pt x="94" y="19"/>
                    </a:lnTo>
                    <a:lnTo>
                      <a:pt x="81" y="24"/>
                    </a:lnTo>
                    <a:lnTo>
                      <a:pt x="61" y="32"/>
                    </a:lnTo>
                    <a:lnTo>
                      <a:pt x="36" y="44"/>
                    </a:lnTo>
                    <a:lnTo>
                      <a:pt x="0" y="61"/>
                    </a:lnTo>
                    <a:lnTo>
                      <a:pt x="29" y="132"/>
                    </a:lnTo>
                    <a:lnTo>
                      <a:pt x="55" y="199"/>
                    </a:lnTo>
                    <a:lnTo>
                      <a:pt x="81" y="260"/>
                    </a:lnTo>
                    <a:lnTo>
                      <a:pt x="103" y="317"/>
                    </a:lnTo>
                    <a:lnTo>
                      <a:pt x="125" y="370"/>
                    </a:lnTo>
                    <a:lnTo>
                      <a:pt x="144" y="419"/>
                    </a:lnTo>
                    <a:lnTo>
                      <a:pt x="163" y="467"/>
                    </a:lnTo>
                    <a:lnTo>
                      <a:pt x="181" y="511"/>
                    </a:lnTo>
                    <a:lnTo>
                      <a:pt x="198" y="554"/>
                    </a:lnTo>
                    <a:lnTo>
                      <a:pt x="215" y="596"/>
                    </a:lnTo>
                    <a:lnTo>
                      <a:pt x="232" y="637"/>
                    </a:lnTo>
                    <a:lnTo>
                      <a:pt x="249" y="680"/>
                    </a:lnTo>
                    <a:lnTo>
                      <a:pt x="265" y="723"/>
                    </a:lnTo>
                    <a:lnTo>
                      <a:pt x="284" y="766"/>
                    </a:lnTo>
                    <a:lnTo>
                      <a:pt x="302" y="812"/>
                    </a:lnTo>
                    <a:lnTo>
                      <a:pt x="322" y="861"/>
                    </a:lnTo>
                    <a:lnTo>
                      <a:pt x="342" y="913"/>
                    </a:lnTo>
                    <a:lnTo>
                      <a:pt x="364" y="968"/>
                    </a:lnTo>
                    <a:lnTo>
                      <a:pt x="388" y="1029"/>
                    </a:lnTo>
                    <a:lnTo>
                      <a:pt x="414" y="1093"/>
                    </a:lnTo>
                    <a:lnTo>
                      <a:pt x="442" y="1164"/>
                    </a:lnTo>
                    <a:lnTo>
                      <a:pt x="473" y="1239"/>
                    </a:lnTo>
                    <a:lnTo>
                      <a:pt x="505" y="1323"/>
                    </a:lnTo>
                    <a:lnTo>
                      <a:pt x="542" y="1412"/>
                    </a:lnTo>
                    <a:lnTo>
                      <a:pt x="581" y="1511"/>
                    </a:lnTo>
                    <a:lnTo>
                      <a:pt x="623" y="1618"/>
                    </a:lnTo>
                    <a:lnTo>
                      <a:pt x="669" y="1733"/>
                    </a:lnTo>
                    <a:lnTo>
                      <a:pt x="719" y="1858"/>
                    </a:lnTo>
                    <a:lnTo>
                      <a:pt x="773" y="1993"/>
                    </a:lnTo>
                    <a:lnTo>
                      <a:pt x="832" y="2140"/>
                    </a:lnTo>
                    <a:lnTo>
                      <a:pt x="895" y="2297"/>
                    </a:lnTo>
                    <a:lnTo>
                      <a:pt x="962" y="2467"/>
                    </a:lnTo>
                    <a:lnTo>
                      <a:pt x="972" y="2462"/>
                    </a:lnTo>
                    <a:lnTo>
                      <a:pt x="982" y="2458"/>
                    </a:lnTo>
                    <a:lnTo>
                      <a:pt x="989" y="2455"/>
                    </a:lnTo>
                    <a:lnTo>
                      <a:pt x="996" y="2452"/>
                    </a:lnTo>
                    <a:lnTo>
                      <a:pt x="1003" y="2449"/>
                    </a:lnTo>
                    <a:lnTo>
                      <a:pt x="1009" y="2445"/>
                    </a:lnTo>
                    <a:lnTo>
                      <a:pt x="1015" y="2442"/>
                    </a:lnTo>
                    <a:lnTo>
                      <a:pt x="1022" y="2439"/>
                    </a:lnTo>
                    <a:lnTo>
                      <a:pt x="1030" y="2436"/>
                    </a:lnTo>
                    <a:lnTo>
                      <a:pt x="1040" y="2432"/>
                    </a:lnTo>
                    <a:lnTo>
                      <a:pt x="1050" y="2428"/>
                    </a:lnTo>
                    <a:lnTo>
                      <a:pt x="1063" y="2422"/>
                    </a:lnTo>
                    <a:lnTo>
                      <a:pt x="1077" y="2416"/>
                    </a:lnTo>
                    <a:lnTo>
                      <a:pt x="1095" y="2409"/>
                    </a:lnTo>
                    <a:lnTo>
                      <a:pt x="1116" y="2399"/>
                    </a:lnTo>
                    <a:lnTo>
                      <a:pt x="1140" y="2390"/>
                    </a:lnTo>
                    <a:lnTo>
                      <a:pt x="1110" y="2318"/>
                    </a:lnTo>
                    <a:lnTo>
                      <a:pt x="1081" y="2251"/>
                    </a:lnTo>
                    <a:lnTo>
                      <a:pt x="1056" y="2190"/>
                    </a:lnTo>
                    <a:lnTo>
                      <a:pt x="1033" y="2134"/>
                    </a:lnTo>
                    <a:lnTo>
                      <a:pt x="1011" y="2082"/>
                    </a:lnTo>
                    <a:lnTo>
                      <a:pt x="991" y="2032"/>
                    </a:lnTo>
                    <a:lnTo>
                      <a:pt x="970" y="1985"/>
                    </a:lnTo>
                    <a:lnTo>
                      <a:pt x="952" y="1940"/>
                    </a:lnTo>
                    <a:lnTo>
                      <a:pt x="935" y="1897"/>
                    </a:lnTo>
                    <a:lnTo>
                      <a:pt x="916" y="1856"/>
                    </a:lnTo>
                    <a:lnTo>
                      <a:pt x="899" y="1814"/>
                    </a:lnTo>
                    <a:lnTo>
                      <a:pt x="882" y="1773"/>
                    </a:lnTo>
                    <a:lnTo>
                      <a:pt x="864" y="1730"/>
                    </a:lnTo>
                    <a:lnTo>
                      <a:pt x="846" y="1686"/>
                    </a:lnTo>
                    <a:lnTo>
                      <a:pt x="826" y="1640"/>
                    </a:lnTo>
                    <a:lnTo>
                      <a:pt x="807" y="1592"/>
                    </a:lnTo>
                    <a:lnTo>
                      <a:pt x="785" y="1541"/>
                    </a:lnTo>
                    <a:lnTo>
                      <a:pt x="762" y="1485"/>
                    </a:lnTo>
                    <a:lnTo>
                      <a:pt x="738" y="1426"/>
                    </a:lnTo>
                    <a:lnTo>
                      <a:pt x="710" y="1362"/>
                    </a:lnTo>
                    <a:lnTo>
                      <a:pt x="682" y="1292"/>
                    </a:lnTo>
                    <a:lnTo>
                      <a:pt x="650" y="1216"/>
                    </a:lnTo>
                    <a:lnTo>
                      <a:pt x="615" y="1134"/>
                    </a:lnTo>
                    <a:lnTo>
                      <a:pt x="578" y="1044"/>
                    </a:lnTo>
                    <a:lnTo>
                      <a:pt x="537" y="947"/>
                    </a:lnTo>
                    <a:lnTo>
                      <a:pt x="493" y="842"/>
                    </a:lnTo>
                    <a:lnTo>
                      <a:pt x="445" y="727"/>
                    </a:lnTo>
                    <a:lnTo>
                      <a:pt x="393" y="603"/>
                    </a:lnTo>
                    <a:lnTo>
                      <a:pt x="337" y="469"/>
                    </a:lnTo>
                    <a:lnTo>
                      <a:pt x="276" y="324"/>
                    </a:lnTo>
                    <a:lnTo>
                      <a:pt x="210" y="167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7" name="Freeform 431">
                <a:extLst>
                  <a:ext uri="{FF2B5EF4-FFF2-40B4-BE49-F238E27FC236}">
                    <a16:creationId xmlns:a16="http://schemas.microsoft.com/office/drawing/2014/main" id="{63001C91-F2E8-4F82-BA3E-2B5ADD7632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50" cy="136"/>
              </a:xfrm>
              <a:custGeom>
                <a:avLst/>
                <a:gdLst>
                  <a:gd name="T0" fmla="*/ 0 w 1109"/>
                  <a:gd name="T1" fmla="*/ 0 h 2454"/>
                  <a:gd name="T2" fmla="*/ 0 w 1109"/>
                  <a:gd name="T3" fmla="*/ 0 h 2454"/>
                  <a:gd name="T4" fmla="*/ 0 w 1109"/>
                  <a:gd name="T5" fmla="*/ 0 h 2454"/>
                  <a:gd name="T6" fmla="*/ 0 w 1109"/>
                  <a:gd name="T7" fmla="*/ 0 h 2454"/>
                  <a:gd name="T8" fmla="*/ 0 w 1109"/>
                  <a:gd name="T9" fmla="*/ 0 h 2454"/>
                  <a:gd name="T10" fmla="*/ 0 w 1109"/>
                  <a:gd name="T11" fmla="*/ 0 h 2454"/>
                  <a:gd name="T12" fmla="*/ 0 w 1109"/>
                  <a:gd name="T13" fmla="*/ 0 h 2454"/>
                  <a:gd name="T14" fmla="*/ 0 w 1109"/>
                  <a:gd name="T15" fmla="*/ 0 h 2454"/>
                  <a:gd name="T16" fmla="*/ 0 w 1109"/>
                  <a:gd name="T17" fmla="*/ 0 h 2454"/>
                  <a:gd name="T18" fmla="*/ 0 w 1109"/>
                  <a:gd name="T19" fmla="*/ 0 h 2454"/>
                  <a:gd name="T20" fmla="*/ 0 w 1109"/>
                  <a:gd name="T21" fmla="*/ 0 h 2454"/>
                  <a:gd name="T22" fmla="*/ 0 w 1109"/>
                  <a:gd name="T23" fmla="*/ 0 h 2454"/>
                  <a:gd name="T24" fmla="*/ 0 w 1109"/>
                  <a:gd name="T25" fmla="*/ 0 h 2454"/>
                  <a:gd name="T26" fmla="*/ 0 w 1109"/>
                  <a:gd name="T27" fmla="*/ 0 h 2454"/>
                  <a:gd name="T28" fmla="*/ 0 w 1109"/>
                  <a:gd name="T29" fmla="*/ 0 h 2454"/>
                  <a:gd name="T30" fmla="*/ 0 w 1109"/>
                  <a:gd name="T31" fmla="*/ 0 h 2454"/>
                  <a:gd name="T32" fmla="*/ 0 w 1109"/>
                  <a:gd name="T33" fmla="*/ 0 h 2454"/>
                  <a:gd name="T34" fmla="*/ 0 w 1109"/>
                  <a:gd name="T35" fmla="*/ 0 h 2454"/>
                  <a:gd name="T36" fmla="*/ 0 w 1109"/>
                  <a:gd name="T37" fmla="*/ 0 h 2454"/>
                  <a:gd name="T38" fmla="*/ 0 w 1109"/>
                  <a:gd name="T39" fmla="*/ 0 h 2454"/>
                  <a:gd name="T40" fmla="*/ 0 w 1109"/>
                  <a:gd name="T41" fmla="*/ 0 h 2454"/>
                  <a:gd name="T42" fmla="*/ 0 w 1109"/>
                  <a:gd name="T43" fmla="*/ 0 h 2454"/>
                  <a:gd name="T44" fmla="*/ 0 w 1109"/>
                  <a:gd name="T45" fmla="*/ 0 h 2454"/>
                  <a:gd name="T46" fmla="*/ 0 w 1109"/>
                  <a:gd name="T47" fmla="*/ 0 h 2454"/>
                  <a:gd name="T48" fmla="*/ 0 w 1109"/>
                  <a:gd name="T49" fmla="*/ 0 h 2454"/>
                  <a:gd name="T50" fmla="*/ 0 w 1109"/>
                  <a:gd name="T51" fmla="*/ 0 h 2454"/>
                  <a:gd name="T52" fmla="*/ 0 w 1109"/>
                  <a:gd name="T53" fmla="*/ 0 h 2454"/>
                  <a:gd name="T54" fmla="*/ 0 w 1109"/>
                  <a:gd name="T55" fmla="*/ 0 h 2454"/>
                  <a:gd name="T56" fmla="*/ 0 w 1109"/>
                  <a:gd name="T57" fmla="*/ 0 h 2454"/>
                  <a:gd name="T58" fmla="*/ 0 w 1109"/>
                  <a:gd name="T59" fmla="*/ 0 h 2454"/>
                  <a:gd name="T60" fmla="*/ 0 w 1109"/>
                  <a:gd name="T61" fmla="*/ 0 h 2454"/>
                  <a:gd name="T62" fmla="*/ 0 w 1109"/>
                  <a:gd name="T63" fmla="*/ 0 h 2454"/>
                  <a:gd name="T64" fmla="*/ 0 w 1109"/>
                  <a:gd name="T65" fmla="*/ 0 h 2454"/>
                  <a:gd name="T66" fmla="*/ 0 w 1109"/>
                  <a:gd name="T67" fmla="*/ 0 h 2454"/>
                  <a:gd name="T68" fmla="*/ 0 w 1109"/>
                  <a:gd name="T69" fmla="*/ 0 h 2454"/>
                  <a:gd name="T70" fmla="*/ 0 w 1109"/>
                  <a:gd name="T71" fmla="*/ 0 h 2454"/>
                  <a:gd name="T72" fmla="*/ 0 w 1109"/>
                  <a:gd name="T73" fmla="*/ 0 h 2454"/>
                  <a:gd name="T74" fmla="*/ 0 w 1109"/>
                  <a:gd name="T75" fmla="*/ 0 h 2454"/>
                  <a:gd name="T76" fmla="*/ 0 w 1109"/>
                  <a:gd name="T77" fmla="*/ 0 h 2454"/>
                  <a:gd name="T78" fmla="*/ 0 w 1109"/>
                  <a:gd name="T79" fmla="*/ 0 h 245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109"/>
                  <a:gd name="T121" fmla="*/ 0 h 2454"/>
                  <a:gd name="T122" fmla="*/ 1109 w 1109"/>
                  <a:gd name="T123" fmla="*/ 2454 h 245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109" h="2454">
                    <a:moveTo>
                      <a:pt x="113" y="0"/>
                    </a:moveTo>
                    <a:lnTo>
                      <a:pt x="100" y="4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6" y="15"/>
                    </a:lnTo>
                    <a:lnTo>
                      <a:pt x="65" y="19"/>
                    </a:lnTo>
                    <a:lnTo>
                      <a:pt x="49" y="26"/>
                    </a:lnTo>
                    <a:lnTo>
                      <a:pt x="29" y="36"/>
                    </a:lnTo>
                    <a:lnTo>
                      <a:pt x="0" y="49"/>
                    </a:lnTo>
                    <a:lnTo>
                      <a:pt x="29" y="120"/>
                    </a:lnTo>
                    <a:lnTo>
                      <a:pt x="56" y="187"/>
                    </a:lnTo>
                    <a:lnTo>
                      <a:pt x="81" y="248"/>
                    </a:lnTo>
                    <a:lnTo>
                      <a:pt x="103" y="305"/>
                    </a:lnTo>
                    <a:lnTo>
                      <a:pt x="125" y="358"/>
                    </a:lnTo>
                    <a:lnTo>
                      <a:pt x="145" y="407"/>
                    </a:lnTo>
                    <a:lnTo>
                      <a:pt x="164" y="455"/>
                    </a:lnTo>
                    <a:lnTo>
                      <a:pt x="182" y="499"/>
                    </a:lnTo>
                    <a:lnTo>
                      <a:pt x="199" y="542"/>
                    </a:lnTo>
                    <a:lnTo>
                      <a:pt x="216" y="584"/>
                    </a:lnTo>
                    <a:lnTo>
                      <a:pt x="233" y="625"/>
                    </a:lnTo>
                    <a:lnTo>
                      <a:pt x="249" y="667"/>
                    </a:lnTo>
                    <a:lnTo>
                      <a:pt x="267" y="711"/>
                    </a:lnTo>
                    <a:lnTo>
                      <a:pt x="284" y="754"/>
                    </a:lnTo>
                    <a:lnTo>
                      <a:pt x="302" y="800"/>
                    </a:lnTo>
                    <a:lnTo>
                      <a:pt x="323" y="849"/>
                    </a:lnTo>
                    <a:lnTo>
                      <a:pt x="343" y="900"/>
                    </a:lnTo>
                    <a:lnTo>
                      <a:pt x="366" y="956"/>
                    </a:lnTo>
                    <a:lnTo>
                      <a:pt x="389" y="1016"/>
                    </a:lnTo>
                    <a:lnTo>
                      <a:pt x="415" y="1081"/>
                    </a:lnTo>
                    <a:lnTo>
                      <a:pt x="443" y="1151"/>
                    </a:lnTo>
                    <a:lnTo>
                      <a:pt x="474" y="1227"/>
                    </a:lnTo>
                    <a:lnTo>
                      <a:pt x="507" y="1311"/>
                    </a:lnTo>
                    <a:lnTo>
                      <a:pt x="544" y="1400"/>
                    </a:lnTo>
                    <a:lnTo>
                      <a:pt x="583" y="1499"/>
                    </a:lnTo>
                    <a:lnTo>
                      <a:pt x="626" y="1606"/>
                    </a:lnTo>
                    <a:lnTo>
                      <a:pt x="672" y="1721"/>
                    </a:lnTo>
                    <a:lnTo>
                      <a:pt x="723" y="1846"/>
                    </a:lnTo>
                    <a:lnTo>
                      <a:pt x="777" y="1981"/>
                    </a:lnTo>
                    <a:lnTo>
                      <a:pt x="835" y="2128"/>
                    </a:lnTo>
                    <a:lnTo>
                      <a:pt x="898" y="2285"/>
                    </a:lnTo>
                    <a:lnTo>
                      <a:pt x="966" y="2454"/>
                    </a:lnTo>
                    <a:lnTo>
                      <a:pt x="982" y="2447"/>
                    </a:lnTo>
                    <a:lnTo>
                      <a:pt x="994" y="2442"/>
                    </a:lnTo>
                    <a:lnTo>
                      <a:pt x="1003" y="2436"/>
                    </a:lnTo>
                    <a:lnTo>
                      <a:pt x="1014" y="2432"/>
                    </a:lnTo>
                    <a:lnTo>
                      <a:pt x="1029" y="2426"/>
                    </a:lnTo>
                    <a:lnTo>
                      <a:pt x="1047" y="2417"/>
                    </a:lnTo>
                    <a:lnTo>
                      <a:pt x="1073" y="2407"/>
                    </a:lnTo>
                    <a:lnTo>
                      <a:pt x="1109" y="2392"/>
                    </a:lnTo>
                    <a:lnTo>
                      <a:pt x="1080" y="2320"/>
                    </a:lnTo>
                    <a:lnTo>
                      <a:pt x="1052" y="2254"/>
                    </a:lnTo>
                    <a:lnTo>
                      <a:pt x="1027" y="2193"/>
                    </a:lnTo>
                    <a:lnTo>
                      <a:pt x="1003" y="2136"/>
                    </a:lnTo>
                    <a:lnTo>
                      <a:pt x="981" y="2083"/>
                    </a:lnTo>
                    <a:lnTo>
                      <a:pt x="960" y="2035"/>
                    </a:lnTo>
                    <a:lnTo>
                      <a:pt x="941" y="1987"/>
                    </a:lnTo>
                    <a:lnTo>
                      <a:pt x="922" y="1943"/>
                    </a:lnTo>
                    <a:lnTo>
                      <a:pt x="905" y="1900"/>
                    </a:lnTo>
                    <a:lnTo>
                      <a:pt x="887" y="1858"/>
                    </a:lnTo>
                    <a:lnTo>
                      <a:pt x="869" y="1817"/>
                    </a:lnTo>
                    <a:lnTo>
                      <a:pt x="852" y="1774"/>
                    </a:lnTo>
                    <a:lnTo>
                      <a:pt x="835" y="1732"/>
                    </a:lnTo>
                    <a:lnTo>
                      <a:pt x="816" y="1688"/>
                    </a:lnTo>
                    <a:lnTo>
                      <a:pt x="797" y="1643"/>
                    </a:lnTo>
                    <a:lnTo>
                      <a:pt x="778" y="1594"/>
                    </a:lnTo>
                    <a:lnTo>
                      <a:pt x="756" y="1542"/>
                    </a:lnTo>
                    <a:lnTo>
                      <a:pt x="733" y="1488"/>
                    </a:lnTo>
                    <a:lnTo>
                      <a:pt x="708" y="1428"/>
                    </a:lnTo>
                    <a:lnTo>
                      <a:pt x="681" y="1363"/>
                    </a:lnTo>
                    <a:lnTo>
                      <a:pt x="652" y="1294"/>
                    </a:lnTo>
                    <a:lnTo>
                      <a:pt x="621" y="1218"/>
                    </a:lnTo>
                    <a:lnTo>
                      <a:pt x="586" y="1136"/>
                    </a:lnTo>
                    <a:lnTo>
                      <a:pt x="549" y="1046"/>
                    </a:lnTo>
                    <a:lnTo>
                      <a:pt x="508" y="948"/>
                    </a:lnTo>
                    <a:lnTo>
                      <a:pt x="464" y="842"/>
                    </a:lnTo>
                    <a:lnTo>
                      <a:pt x="417" y="728"/>
                    </a:lnTo>
                    <a:lnTo>
                      <a:pt x="364" y="604"/>
                    </a:lnTo>
                    <a:lnTo>
                      <a:pt x="308" y="469"/>
                    </a:lnTo>
                    <a:lnTo>
                      <a:pt x="248" y="325"/>
                    </a:lnTo>
                    <a:lnTo>
                      <a:pt x="183" y="16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8" name="Freeform 432">
                <a:extLst>
                  <a:ext uri="{FF2B5EF4-FFF2-40B4-BE49-F238E27FC236}">
                    <a16:creationId xmlns:a16="http://schemas.microsoft.com/office/drawing/2014/main" id="{A668B881-4D99-44C8-96CA-383CA7746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49" cy="136"/>
              </a:xfrm>
              <a:custGeom>
                <a:avLst/>
                <a:gdLst>
                  <a:gd name="T0" fmla="*/ 0 w 1078"/>
                  <a:gd name="T1" fmla="*/ 0 h 2440"/>
                  <a:gd name="T2" fmla="*/ 0 w 1078"/>
                  <a:gd name="T3" fmla="*/ 0 h 2440"/>
                  <a:gd name="T4" fmla="*/ 0 w 1078"/>
                  <a:gd name="T5" fmla="*/ 0 h 2440"/>
                  <a:gd name="T6" fmla="*/ 0 w 1078"/>
                  <a:gd name="T7" fmla="*/ 0 h 2440"/>
                  <a:gd name="T8" fmla="*/ 0 w 1078"/>
                  <a:gd name="T9" fmla="*/ 0 h 2440"/>
                  <a:gd name="T10" fmla="*/ 0 w 1078"/>
                  <a:gd name="T11" fmla="*/ 0 h 2440"/>
                  <a:gd name="T12" fmla="*/ 0 w 1078"/>
                  <a:gd name="T13" fmla="*/ 0 h 2440"/>
                  <a:gd name="T14" fmla="*/ 0 w 1078"/>
                  <a:gd name="T15" fmla="*/ 0 h 2440"/>
                  <a:gd name="T16" fmla="*/ 0 w 1078"/>
                  <a:gd name="T17" fmla="*/ 0 h 2440"/>
                  <a:gd name="T18" fmla="*/ 0 w 1078"/>
                  <a:gd name="T19" fmla="*/ 0 h 2440"/>
                  <a:gd name="T20" fmla="*/ 0 w 1078"/>
                  <a:gd name="T21" fmla="*/ 0 h 2440"/>
                  <a:gd name="T22" fmla="*/ 0 w 1078"/>
                  <a:gd name="T23" fmla="*/ 0 h 2440"/>
                  <a:gd name="T24" fmla="*/ 0 w 1078"/>
                  <a:gd name="T25" fmla="*/ 0 h 2440"/>
                  <a:gd name="T26" fmla="*/ 0 w 1078"/>
                  <a:gd name="T27" fmla="*/ 0 h 2440"/>
                  <a:gd name="T28" fmla="*/ 0 w 1078"/>
                  <a:gd name="T29" fmla="*/ 0 h 2440"/>
                  <a:gd name="T30" fmla="*/ 0 w 1078"/>
                  <a:gd name="T31" fmla="*/ 0 h 2440"/>
                  <a:gd name="T32" fmla="*/ 0 w 1078"/>
                  <a:gd name="T33" fmla="*/ 0 h 2440"/>
                  <a:gd name="T34" fmla="*/ 0 w 1078"/>
                  <a:gd name="T35" fmla="*/ 0 h 2440"/>
                  <a:gd name="T36" fmla="*/ 0 w 1078"/>
                  <a:gd name="T37" fmla="*/ 0 h 2440"/>
                  <a:gd name="T38" fmla="*/ 0 w 1078"/>
                  <a:gd name="T39" fmla="*/ 0 h 2440"/>
                  <a:gd name="T40" fmla="*/ 0 w 1078"/>
                  <a:gd name="T41" fmla="*/ 0 h 2440"/>
                  <a:gd name="T42" fmla="*/ 0 w 1078"/>
                  <a:gd name="T43" fmla="*/ 0 h 2440"/>
                  <a:gd name="T44" fmla="*/ 0 w 1078"/>
                  <a:gd name="T45" fmla="*/ 0 h 2440"/>
                  <a:gd name="T46" fmla="*/ 0 w 1078"/>
                  <a:gd name="T47" fmla="*/ 0 h 2440"/>
                  <a:gd name="T48" fmla="*/ 0 w 1078"/>
                  <a:gd name="T49" fmla="*/ 0 h 2440"/>
                  <a:gd name="T50" fmla="*/ 0 w 1078"/>
                  <a:gd name="T51" fmla="*/ 0 h 2440"/>
                  <a:gd name="T52" fmla="*/ 0 w 1078"/>
                  <a:gd name="T53" fmla="*/ 0 h 2440"/>
                  <a:gd name="T54" fmla="*/ 0 w 1078"/>
                  <a:gd name="T55" fmla="*/ 0 h 2440"/>
                  <a:gd name="T56" fmla="*/ 0 w 1078"/>
                  <a:gd name="T57" fmla="*/ 0 h 2440"/>
                  <a:gd name="T58" fmla="*/ 0 w 1078"/>
                  <a:gd name="T59" fmla="*/ 0 h 2440"/>
                  <a:gd name="T60" fmla="*/ 0 w 1078"/>
                  <a:gd name="T61" fmla="*/ 0 h 2440"/>
                  <a:gd name="T62" fmla="*/ 0 w 1078"/>
                  <a:gd name="T63" fmla="*/ 0 h 2440"/>
                  <a:gd name="T64" fmla="*/ 0 w 1078"/>
                  <a:gd name="T65" fmla="*/ 0 h 2440"/>
                  <a:gd name="T66" fmla="*/ 0 w 1078"/>
                  <a:gd name="T67" fmla="*/ 0 h 2440"/>
                  <a:gd name="T68" fmla="*/ 0 w 1078"/>
                  <a:gd name="T69" fmla="*/ 0 h 2440"/>
                  <a:gd name="T70" fmla="*/ 0 w 1078"/>
                  <a:gd name="T71" fmla="*/ 0 h 2440"/>
                  <a:gd name="T72" fmla="*/ 0 w 1078"/>
                  <a:gd name="T73" fmla="*/ 0 h 2440"/>
                  <a:gd name="T74" fmla="*/ 0 w 1078"/>
                  <a:gd name="T75" fmla="*/ 0 h 2440"/>
                  <a:gd name="T76" fmla="*/ 0 w 1078"/>
                  <a:gd name="T77" fmla="*/ 0 h 2440"/>
                  <a:gd name="T78" fmla="*/ 0 w 1078"/>
                  <a:gd name="T79" fmla="*/ 0 h 244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78"/>
                  <a:gd name="T121" fmla="*/ 0 h 2440"/>
                  <a:gd name="T122" fmla="*/ 1078 w 1078"/>
                  <a:gd name="T123" fmla="*/ 2440 h 2440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78" h="2440">
                    <a:moveTo>
                      <a:pt x="86" y="0"/>
                    </a:moveTo>
                    <a:lnTo>
                      <a:pt x="77" y="3"/>
                    </a:lnTo>
                    <a:lnTo>
                      <a:pt x="71" y="6"/>
                    </a:lnTo>
                    <a:lnTo>
                      <a:pt x="65" y="8"/>
                    </a:lnTo>
                    <a:lnTo>
                      <a:pt x="59" y="10"/>
                    </a:lnTo>
                    <a:lnTo>
                      <a:pt x="49" y="14"/>
                    </a:lnTo>
                    <a:lnTo>
                      <a:pt x="38" y="20"/>
                    </a:lnTo>
                    <a:lnTo>
                      <a:pt x="22" y="27"/>
                    </a:lnTo>
                    <a:lnTo>
                      <a:pt x="0" y="37"/>
                    </a:lnTo>
                    <a:lnTo>
                      <a:pt x="30" y="108"/>
                    </a:lnTo>
                    <a:lnTo>
                      <a:pt x="57" y="175"/>
                    </a:lnTo>
                    <a:lnTo>
                      <a:pt x="81" y="236"/>
                    </a:lnTo>
                    <a:lnTo>
                      <a:pt x="104" y="293"/>
                    </a:lnTo>
                    <a:lnTo>
                      <a:pt x="126" y="345"/>
                    </a:lnTo>
                    <a:lnTo>
                      <a:pt x="145" y="395"/>
                    </a:lnTo>
                    <a:lnTo>
                      <a:pt x="165" y="442"/>
                    </a:lnTo>
                    <a:lnTo>
                      <a:pt x="182" y="487"/>
                    </a:lnTo>
                    <a:lnTo>
                      <a:pt x="199" y="530"/>
                    </a:lnTo>
                    <a:lnTo>
                      <a:pt x="217" y="572"/>
                    </a:lnTo>
                    <a:lnTo>
                      <a:pt x="234" y="613"/>
                    </a:lnTo>
                    <a:lnTo>
                      <a:pt x="250" y="655"/>
                    </a:lnTo>
                    <a:lnTo>
                      <a:pt x="268" y="698"/>
                    </a:lnTo>
                    <a:lnTo>
                      <a:pt x="286" y="742"/>
                    </a:lnTo>
                    <a:lnTo>
                      <a:pt x="304" y="788"/>
                    </a:lnTo>
                    <a:lnTo>
                      <a:pt x="324" y="837"/>
                    </a:lnTo>
                    <a:lnTo>
                      <a:pt x="345" y="888"/>
                    </a:lnTo>
                    <a:lnTo>
                      <a:pt x="368" y="944"/>
                    </a:lnTo>
                    <a:lnTo>
                      <a:pt x="391" y="1003"/>
                    </a:lnTo>
                    <a:lnTo>
                      <a:pt x="418" y="1069"/>
                    </a:lnTo>
                    <a:lnTo>
                      <a:pt x="445" y="1138"/>
                    </a:lnTo>
                    <a:lnTo>
                      <a:pt x="476" y="1215"/>
                    </a:lnTo>
                    <a:lnTo>
                      <a:pt x="509" y="1297"/>
                    </a:lnTo>
                    <a:lnTo>
                      <a:pt x="546" y="1388"/>
                    </a:lnTo>
                    <a:lnTo>
                      <a:pt x="585" y="1486"/>
                    </a:lnTo>
                    <a:lnTo>
                      <a:pt x="628" y="1593"/>
                    </a:lnTo>
                    <a:lnTo>
                      <a:pt x="675" y="1707"/>
                    </a:lnTo>
                    <a:lnTo>
                      <a:pt x="725" y="1833"/>
                    </a:lnTo>
                    <a:lnTo>
                      <a:pt x="780" y="1968"/>
                    </a:lnTo>
                    <a:lnTo>
                      <a:pt x="838" y="2113"/>
                    </a:lnTo>
                    <a:lnTo>
                      <a:pt x="901" y="2270"/>
                    </a:lnTo>
                    <a:lnTo>
                      <a:pt x="969" y="2440"/>
                    </a:lnTo>
                    <a:lnTo>
                      <a:pt x="982" y="2435"/>
                    </a:lnTo>
                    <a:lnTo>
                      <a:pt x="990" y="2431"/>
                    </a:lnTo>
                    <a:lnTo>
                      <a:pt x="998" y="2426"/>
                    </a:lnTo>
                    <a:lnTo>
                      <a:pt x="1006" y="2423"/>
                    </a:lnTo>
                    <a:lnTo>
                      <a:pt x="1016" y="2419"/>
                    </a:lnTo>
                    <a:lnTo>
                      <a:pt x="1031" y="2413"/>
                    </a:lnTo>
                    <a:lnTo>
                      <a:pt x="1050" y="2404"/>
                    </a:lnTo>
                    <a:lnTo>
                      <a:pt x="1078" y="2394"/>
                    </a:lnTo>
                    <a:lnTo>
                      <a:pt x="1048" y="2322"/>
                    </a:lnTo>
                    <a:lnTo>
                      <a:pt x="1020" y="2256"/>
                    </a:lnTo>
                    <a:lnTo>
                      <a:pt x="995" y="2195"/>
                    </a:lnTo>
                    <a:lnTo>
                      <a:pt x="973" y="2138"/>
                    </a:lnTo>
                    <a:lnTo>
                      <a:pt x="950" y="2085"/>
                    </a:lnTo>
                    <a:lnTo>
                      <a:pt x="930" y="2035"/>
                    </a:lnTo>
                    <a:lnTo>
                      <a:pt x="910" y="1989"/>
                    </a:lnTo>
                    <a:lnTo>
                      <a:pt x="892" y="1944"/>
                    </a:lnTo>
                    <a:lnTo>
                      <a:pt x="875" y="1901"/>
                    </a:lnTo>
                    <a:lnTo>
                      <a:pt x="857" y="1859"/>
                    </a:lnTo>
                    <a:lnTo>
                      <a:pt x="840" y="1817"/>
                    </a:lnTo>
                    <a:lnTo>
                      <a:pt x="823" y="1775"/>
                    </a:lnTo>
                    <a:lnTo>
                      <a:pt x="805" y="1733"/>
                    </a:lnTo>
                    <a:lnTo>
                      <a:pt x="787" y="1688"/>
                    </a:lnTo>
                    <a:lnTo>
                      <a:pt x="768" y="1643"/>
                    </a:lnTo>
                    <a:lnTo>
                      <a:pt x="748" y="1595"/>
                    </a:lnTo>
                    <a:lnTo>
                      <a:pt x="727" y="1543"/>
                    </a:lnTo>
                    <a:lnTo>
                      <a:pt x="703" y="1487"/>
                    </a:lnTo>
                    <a:lnTo>
                      <a:pt x="679" y="1428"/>
                    </a:lnTo>
                    <a:lnTo>
                      <a:pt x="652" y="1364"/>
                    </a:lnTo>
                    <a:lnTo>
                      <a:pt x="624" y="1294"/>
                    </a:lnTo>
                    <a:lnTo>
                      <a:pt x="592" y="1218"/>
                    </a:lnTo>
                    <a:lnTo>
                      <a:pt x="557" y="1135"/>
                    </a:lnTo>
                    <a:lnTo>
                      <a:pt x="521" y="1045"/>
                    </a:lnTo>
                    <a:lnTo>
                      <a:pt x="480" y="948"/>
                    </a:lnTo>
                    <a:lnTo>
                      <a:pt x="436" y="843"/>
                    </a:lnTo>
                    <a:lnTo>
                      <a:pt x="388" y="728"/>
                    </a:lnTo>
                    <a:lnTo>
                      <a:pt x="337" y="604"/>
                    </a:lnTo>
                    <a:lnTo>
                      <a:pt x="281" y="469"/>
                    </a:lnTo>
                    <a:lnTo>
                      <a:pt x="221" y="324"/>
                    </a:lnTo>
                    <a:lnTo>
                      <a:pt x="155" y="16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49" name="Freeform 433">
                <a:extLst>
                  <a:ext uri="{FF2B5EF4-FFF2-40B4-BE49-F238E27FC236}">
                    <a16:creationId xmlns:a16="http://schemas.microsoft.com/office/drawing/2014/main" id="{E441C935-F835-484A-8D07-0E655284D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8" cy="135"/>
              </a:xfrm>
              <a:custGeom>
                <a:avLst/>
                <a:gdLst>
                  <a:gd name="T0" fmla="*/ 0 w 1046"/>
                  <a:gd name="T1" fmla="*/ 0 h 2428"/>
                  <a:gd name="T2" fmla="*/ 0 w 1046"/>
                  <a:gd name="T3" fmla="*/ 0 h 2428"/>
                  <a:gd name="T4" fmla="*/ 0 w 1046"/>
                  <a:gd name="T5" fmla="*/ 0 h 2428"/>
                  <a:gd name="T6" fmla="*/ 0 w 1046"/>
                  <a:gd name="T7" fmla="*/ 0 h 2428"/>
                  <a:gd name="T8" fmla="*/ 0 w 1046"/>
                  <a:gd name="T9" fmla="*/ 0 h 2428"/>
                  <a:gd name="T10" fmla="*/ 0 w 1046"/>
                  <a:gd name="T11" fmla="*/ 0 h 2428"/>
                  <a:gd name="T12" fmla="*/ 0 w 1046"/>
                  <a:gd name="T13" fmla="*/ 0 h 2428"/>
                  <a:gd name="T14" fmla="*/ 0 w 1046"/>
                  <a:gd name="T15" fmla="*/ 0 h 2428"/>
                  <a:gd name="T16" fmla="*/ 0 w 1046"/>
                  <a:gd name="T17" fmla="*/ 0 h 2428"/>
                  <a:gd name="T18" fmla="*/ 0 w 1046"/>
                  <a:gd name="T19" fmla="*/ 0 h 2428"/>
                  <a:gd name="T20" fmla="*/ 0 w 1046"/>
                  <a:gd name="T21" fmla="*/ 0 h 2428"/>
                  <a:gd name="T22" fmla="*/ 0 w 1046"/>
                  <a:gd name="T23" fmla="*/ 0 h 2428"/>
                  <a:gd name="T24" fmla="*/ 0 w 1046"/>
                  <a:gd name="T25" fmla="*/ 0 h 2428"/>
                  <a:gd name="T26" fmla="*/ 0 w 1046"/>
                  <a:gd name="T27" fmla="*/ 0 h 2428"/>
                  <a:gd name="T28" fmla="*/ 0 w 1046"/>
                  <a:gd name="T29" fmla="*/ 0 h 2428"/>
                  <a:gd name="T30" fmla="*/ 0 w 1046"/>
                  <a:gd name="T31" fmla="*/ 0 h 2428"/>
                  <a:gd name="T32" fmla="*/ 0 w 1046"/>
                  <a:gd name="T33" fmla="*/ 0 h 2428"/>
                  <a:gd name="T34" fmla="*/ 0 w 1046"/>
                  <a:gd name="T35" fmla="*/ 0 h 2428"/>
                  <a:gd name="T36" fmla="*/ 0 w 1046"/>
                  <a:gd name="T37" fmla="*/ 0 h 2428"/>
                  <a:gd name="T38" fmla="*/ 0 w 1046"/>
                  <a:gd name="T39" fmla="*/ 0 h 2428"/>
                  <a:gd name="T40" fmla="*/ 0 w 1046"/>
                  <a:gd name="T41" fmla="*/ 0 h 2428"/>
                  <a:gd name="T42" fmla="*/ 0 w 1046"/>
                  <a:gd name="T43" fmla="*/ 0 h 2428"/>
                  <a:gd name="T44" fmla="*/ 0 w 1046"/>
                  <a:gd name="T45" fmla="*/ 0 h 2428"/>
                  <a:gd name="T46" fmla="*/ 0 w 1046"/>
                  <a:gd name="T47" fmla="*/ 0 h 2428"/>
                  <a:gd name="T48" fmla="*/ 0 w 1046"/>
                  <a:gd name="T49" fmla="*/ 0 h 2428"/>
                  <a:gd name="T50" fmla="*/ 0 w 1046"/>
                  <a:gd name="T51" fmla="*/ 0 h 2428"/>
                  <a:gd name="T52" fmla="*/ 0 w 1046"/>
                  <a:gd name="T53" fmla="*/ 0 h 2428"/>
                  <a:gd name="T54" fmla="*/ 0 w 1046"/>
                  <a:gd name="T55" fmla="*/ 0 h 2428"/>
                  <a:gd name="T56" fmla="*/ 0 w 1046"/>
                  <a:gd name="T57" fmla="*/ 0 h 2428"/>
                  <a:gd name="T58" fmla="*/ 0 w 1046"/>
                  <a:gd name="T59" fmla="*/ 0 h 2428"/>
                  <a:gd name="T60" fmla="*/ 0 w 1046"/>
                  <a:gd name="T61" fmla="*/ 0 h 2428"/>
                  <a:gd name="T62" fmla="*/ 0 w 1046"/>
                  <a:gd name="T63" fmla="*/ 0 h 2428"/>
                  <a:gd name="T64" fmla="*/ 0 w 1046"/>
                  <a:gd name="T65" fmla="*/ 0 h 2428"/>
                  <a:gd name="T66" fmla="*/ 0 w 1046"/>
                  <a:gd name="T67" fmla="*/ 0 h 2428"/>
                  <a:gd name="T68" fmla="*/ 0 w 1046"/>
                  <a:gd name="T69" fmla="*/ 0 h 2428"/>
                  <a:gd name="T70" fmla="*/ 0 w 1046"/>
                  <a:gd name="T71" fmla="*/ 0 h 2428"/>
                  <a:gd name="T72" fmla="*/ 0 w 1046"/>
                  <a:gd name="T73" fmla="*/ 0 h 2428"/>
                  <a:gd name="T74" fmla="*/ 0 w 1046"/>
                  <a:gd name="T75" fmla="*/ 0 h 2428"/>
                  <a:gd name="T76" fmla="*/ 0 w 1046"/>
                  <a:gd name="T77" fmla="*/ 0 h 2428"/>
                  <a:gd name="T78" fmla="*/ 0 w 1046"/>
                  <a:gd name="T79" fmla="*/ 0 h 242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46"/>
                  <a:gd name="T121" fmla="*/ 0 h 2428"/>
                  <a:gd name="T122" fmla="*/ 1046 w 1046"/>
                  <a:gd name="T123" fmla="*/ 2428 h 242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46" h="2428">
                    <a:moveTo>
                      <a:pt x="58" y="0"/>
                    </a:moveTo>
                    <a:lnTo>
                      <a:pt x="52" y="2"/>
                    </a:lnTo>
                    <a:lnTo>
                      <a:pt x="47" y="4"/>
                    </a:lnTo>
                    <a:lnTo>
                      <a:pt x="43" y="5"/>
                    </a:lnTo>
                    <a:lnTo>
                      <a:pt x="39" y="7"/>
                    </a:lnTo>
                    <a:lnTo>
                      <a:pt x="33" y="10"/>
                    </a:lnTo>
                    <a:lnTo>
                      <a:pt x="25" y="13"/>
                    </a:lnTo>
                    <a:lnTo>
                      <a:pt x="15" y="18"/>
                    </a:lnTo>
                    <a:lnTo>
                      <a:pt x="0" y="25"/>
                    </a:lnTo>
                    <a:lnTo>
                      <a:pt x="29" y="97"/>
                    </a:lnTo>
                    <a:lnTo>
                      <a:pt x="56" y="164"/>
                    </a:lnTo>
                    <a:lnTo>
                      <a:pt x="80" y="225"/>
                    </a:lnTo>
                    <a:lnTo>
                      <a:pt x="104" y="282"/>
                    </a:lnTo>
                    <a:lnTo>
                      <a:pt x="125" y="334"/>
                    </a:lnTo>
                    <a:lnTo>
                      <a:pt x="145" y="384"/>
                    </a:lnTo>
                    <a:lnTo>
                      <a:pt x="164" y="430"/>
                    </a:lnTo>
                    <a:lnTo>
                      <a:pt x="182" y="475"/>
                    </a:lnTo>
                    <a:lnTo>
                      <a:pt x="199" y="518"/>
                    </a:lnTo>
                    <a:lnTo>
                      <a:pt x="217" y="560"/>
                    </a:lnTo>
                    <a:lnTo>
                      <a:pt x="233" y="601"/>
                    </a:lnTo>
                    <a:lnTo>
                      <a:pt x="250" y="643"/>
                    </a:lnTo>
                    <a:lnTo>
                      <a:pt x="268" y="686"/>
                    </a:lnTo>
                    <a:lnTo>
                      <a:pt x="285" y="730"/>
                    </a:lnTo>
                    <a:lnTo>
                      <a:pt x="305" y="776"/>
                    </a:lnTo>
                    <a:lnTo>
                      <a:pt x="324" y="825"/>
                    </a:lnTo>
                    <a:lnTo>
                      <a:pt x="344" y="876"/>
                    </a:lnTo>
                    <a:lnTo>
                      <a:pt x="367" y="932"/>
                    </a:lnTo>
                    <a:lnTo>
                      <a:pt x="391" y="991"/>
                    </a:lnTo>
                    <a:lnTo>
                      <a:pt x="418" y="1056"/>
                    </a:lnTo>
                    <a:lnTo>
                      <a:pt x="445" y="1126"/>
                    </a:lnTo>
                    <a:lnTo>
                      <a:pt x="477" y="1203"/>
                    </a:lnTo>
                    <a:lnTo>
                      <a:pt x="511" y="1285"/>
                    </a:lnTo>
                    <a:lnTo>
                      <a:pt x="546" y="1376"/>
                    </a:lnTo>
                    <a:lnTo>
                      <a:pt x="586" y="1474"/>
                    </a:lnTo>
                    <a:lnTo>
                      <a:pt x="629" y="1580"/>
                    </a:lnTo>
                    <a:lnTo>
                      <a:pt x="676" y="1695"/>
                    </a:lnTo>
                    <a:lnTo>
                      <a:pt x="726" y="1821"/>
                    </a:lnTo>
                    <a:lnTo>
                      <a:pt x="781" y="1956"/>
                    </a:lnTo>
                    <a:lnTo>
                      <a:pt x="840" y="2101"/>
                    </a:lnTo>
                    <a:lnTo>
                      <a:pt x="903" y="2258"/>
                    </a:lnTo>
                    <a:lnTo>
                      <a:pt x="972" y="2428"/>
                    </a:lnTo>
                    <a:lnTo>
                      <a:pt x="980" y="2424"/>
                    </a:lnTo>
                    <a:lnTo>
                      <a:pt x="986" y="2421"/>
                    </a:lnTo>
                    <a:lnTo>
                      <a:pt x="991" y="2419"/>
                    </a:lnTo>
                    <a:lnTo>
                      <a:pt x="997" y="2415"/>
                    </a:lnTo>
                    <a:lnTo>
                      <a:pt x="1004" y="2412"/>
                    </a:lnTo>
                    <a:lnTo>
                      <a:pt x="1013" y="2408"/>
                    </a:lnTo>
                    <a:lnTo>
                      <a:pt x="1028" y="2403"/>
                    </a:lnTo>
                    <a:lnTo>
                      <a:pt x="1046" y="2395"/>
                    </a:lnTo>
                    <a:lnTo>
                      <a:pt x="1017" y="2324"/>
                    </a:lnTo>
                    <a:lnTo>
                      <a:pt x="989" y="2257"/>
                    </a:lnTo>
                    <a:lnTo>
                      <a:pt x="964" y="2196"/>
                    </a:lnTo>
                    <a:lnTo>
                      <a:pt x="941" y="2139"/>
                    </a:lnTo>
                    <a:lnTo>
                      <a:pt x="920" y="2086"/>
                    </a:lnTo>
                    <a:lnTo>
                      <a:pt x="899" y="2037"/>
                    </a:lnTo>
                    <a:lnTo>
                      <a:pt x="880" y="1990"/>
                    </a:lnTo>
                    <a:lnTo>
                      <a:pt x="861" y="1946"/>
                    </a:lnTo>
                    <a:lnTo>
                      <a:pt x="843" y="1903"/>
                    </a:lnTo>
                    <a:lnTo>
                      <a:pt x="826" y="1861"/>
                    </a:lnTo>
                    <a:lnTo>
                      <a:pt x="809" y="1819"/>
                    </a:lnTo>
                    <a:lnTo>
                      <a:pt x="792" y="1778"/>
                    </a:lnTo>
                    <a:lnTo>
                      <a:pt x="774" y="1734"/>
                    </a:lnTo>
                    <a:lnTo>
                      <a:pt x="756" y="1691"/>
                    </a:lnTo>
                    <a:lnTo>
                      <a:pt x="737" y="1645"/>
                    </a:lnTo>
                    <a:lnTo>
                      <a:pt x="718" y="1596"/>
                    </a:lnTo>
                    <a:lnTo>
                      <a:pt x="696" y="1545"/>
                    </a:lnTo>
                    <a:lnTo>
                      <a:pt x="673" y="1490"/>
                    </a:lnTo>
                    <a:lnTo>
                      <a:pt x="648" y="1430"/>
                    </a:lnTo>
                    <a:lnTo>
                      <a:pt x="622" y="1365"/>
                    </a:lnTo>
                    <a:lnTo>
                      <a:pt x="593" y="1296"/>
                    </a:lnTo>
                    <a:lnTo>
                      <a:pt x="562" y="1220"/>
                    </a:lnTo>
                    <a:lnTo>
                      <a:pt x="528" y="1138"/>
                    </a:lnTo>
                    <a:lnTo>
                      <a:pt x="490" y="1047"/>
                    </a:lnTo>
                    <a:lnTo>
                      <a:pt x="450" y="950"/>
                    </a:lnTo>
                    <a:lnTo>
                      <a:pt x="407" y="843"/>
                    </a:lnTo>
                    <a:lnTo>
                      <a:pt x="359" y="730"/>
                    </a:lnTo>
                    <a:lnTo>
                      <a:pt x="308" y="605"/>
                    </a:lnTo>
                    <a:lnTo>
                      <a:pt x="251" y="470"/>
                    </a:lnTo>
                    <a:lnTo>
                      <a:pt x="192" y="325"/>
                    </a:lnTo>
                    <a:lnTo>
                      <a:pt x="127" y="16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0" name="Freeform 434">
                <a:extLst>
                  <a:ext uri="{FF2B5EF4-FFF2-40B4-BE49-F238E27FC236}">
                    <a16:creationId xmlns:a16="http://schemas.microsoft.com/office/drawing/2014/main" id="{CF1AC2B5-1CEA-4373-84CC-02B0FEA4E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6" cy="134"/>
              </a:xfrm>
              <a:custGeom>
                <a:avLst/>
                <a:gdLst>
                  <a:gd name="T0" fmla="*/ 0 w 1017"/>
                  <a:gd name="T1" fmla="*/ 0 h 2414"/>
                  <a:gd name="T2" fmla="*/ 0 w 1017"/>
                  <a:gd name="T3" fmla="*/ 0 h 2414"/>
                  <a:gd name="T4" fmla="*/ 0 w 1017"/>
                  <a:gd name="T5" fmla="*/ 0 h 2414"/>
                  <a:gd name="T6" fmla="*/ 0 w 1017"/>
                  <a:gd name="T7" fmla="*/ 0 h 2414"/>
                  <a:gd name="T8" fmla="*/ 0 w 1017"/>
                  <a:gd name="T9" fmla="*/ 0 h 2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7"/>
                  <a:gd name="T16" fmla="*/ 0 h 2414"/>
                  <a:gd name="T17" fmla="*/ 1017 w 1017"/>
                  <a:gd name="T18" fmla="*/ 2414 h 24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7" h="2414">
                    <a:moveTo>
                      <a:pt x="32" y="0"/>
                    </a:moveTo>
                    <a:lnTo>
                      <a:pt x="0" y="13"/>
                    </a:lnTo>
                    <a:lnTo>
                      <a:pt x="977" y="2414"/>
                    </a:lnTo>
                    <a:lnTo>
                      <a:pt x="1017" y="239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1" name="Freeform 435">
                <a:extLst>
                  <a:ext uri="{FF2B5EF4-FFF2-40B4-BE49-F238E27FC236}">
                    <a16:creationId xmlns:a16="http://schemas.microsoft.com/office/drawing/2014/main" id="{E0E29851-C731-49FD-8CDF-D57AAC159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8"/>
                <a:ext cx="8" cy="6"/>
              </a:xfrm>
              <a:custGeom>
                <a:avLst/>
                <a:gdLst>
                  <a:gd name="T0" fmla="*/ 0 w 173"/>
                  <a:gd name="T1" fmla="*/ 0 h 95"/>
                  <a:gd name="T2" fmla="*/ 0 w 173"/>
                  <a:gd name="T3" fmla="*/ 0 h 95"/>
                  <a:gd name="T4" fmla="*/ 0 w 173"/>
                  <a:gd name="T5" fmla="*/ 0 h 95"/>
                  <a:gd name="T6" fmla="*/ 0 w 173"/>
                  <a:gd name="T7" fmla="*/ 0 h 95"/>
                  <a:gd name="T8" fmla="*/ 0 w 173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"/>
                  <a:gd name="T16" fmla="*/ 0 h 95"/>
                  <a:gd name="T17" fmla="*/ 173 w 173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" h="95">
                    <a:moveTo>
                      <a:pt x="173" y="20"/>
                    </a:moveTo>
                    <a:lnTo>
                      <a:pt x="7" y="95"/>
                    </a:lnTo>
                    <a:lnTo>
                      <a:pt x="0" y="75"/>
                    </a:lnTo>
                    <a:lnTo>
                      <a:pt x="166" y="0"/>
                    </a:lnTo>
                    <a:lnTo>
                      <a:pt x="173" y="2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2" name="Freeform 436">
                <a:extLst>
                  <a:ext uri="{FF2B5EF4-FFF2-40B4-BE49-F238E27FC236}">
                    <a16:creationId xmlns:a16="http://schemas.microsoft.com/office/drawing/2014/main" id="{EE0112FD-3014-4B7D-8899-ECFA1ECFF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9" cy="10"/>
              </a:xfrm>
              <a:custGeom>
                <a:avLst/>
                <a:gdLst>
                  <a:gd name="T0" fmla="*/ 0 w 200"/>
                  <a:gd name="T1" fmla="*/ 0 h 179"/>
                  <a:gd name="T2" fmla="*/ 0 w 200"/>
                  <a:gd name="T3" fmla="*/ 0 h 179"/>
                  <a:gd name="T4" fmla="*/ 0 w 200"/>
                  <a:gd name="T5" fmla="*/ 0 h 179"/>
                  <a:gd name="T6" fmla="*/ 0 w 200"/>
                  <a:gd name="T7" fmla="*/ 0 h 179"/>
                  <a:gd name="T8" fmla="*/ 0 w 200"/>
                  <a:gd name="T9" fmla="*/ 0 h 179"/>
                  <a:gd name="T10" fmla="*/ 0 w 200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0"/>
                  <a:gd name="T19" fmla="*/ 0 h 179"/>
                  <a:gd name="T20" fmla="*/ 200 w 200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0" h="179">
                    <a:moveTo>
                      <a:pt x="200" y="106"/>
                    </a:moveTo>
                    <a:lnTo>
                      <a:pt x="33" y="179"/>
                    </a:lnTo>
                    <a:lnTo>
                      <a:pt x="0" y="100"/>
                    </a:lnTo>
                    <a:lnTo>
                      <a:pt x="58" y="0"/>
                    </a:lnTo>
                    <a:lnTo>
                      <a:pt x="168" y="26"/>
                    </a:lnTo>
                    <a:lnTo>
                      <a:pt x="200" y="106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3" name="Freeform 437">
                <a:extLst>
                  <a:ext uri="{FF2B5EF4-FFF2-40B4-BE49-F238E27FC236}">
                    <a16:creationId xmlns:a16="http://schemas.microsoft.com/office/drawing/2014/main" id="{BE202DC3-1CD3-493A-8E8F-5A0FFEE5C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8" cy="10"/>
              </a:xfrm>
              <a:custGeom>
                <a:avLst/>
                <a:gdLst>
                  <a:gd name="T0" fmla="*/ 0 w 173"/>
                  <a:gd name="T1" fmla="*/ 0 h 177"/>
                  <a:gd name="T2" fmla="*/ 0 w 173"/>
                  <a:gd name="T3" fmla="*/ 0 h 177"/>
                  <a:gd name="T4" fmla="*/ 0 w 173"/>
                  <a:gd name="T5" fmla="*/ 0 h 177"/>
                  <a:gd name="T6" fmla="*/ 0 w 173"/>
                  <a:gd name="T7" fmla="*/ 0 h 177"/>
                  <a:gd name="T8" fmla="*/ 0 w 173"/>
                  <a:gd name="T9" fmla="*/ 0 h 177"/>
                  <a:gd name="T10" fmla="*/ 0 w 173"/>
                  <a:gd name="T11" fmla="*/ 0 h 177"/>
                  <a:gd name="T12" fmla="*/ 0 w 173"/>
                  <a:gd name="T13" fmla="*/ 0 h 177"/>
                  <a:gd name="T14" fmla="*/ 0 w 173"/>
                  <a:gd name="T15" fmla="*/ 0 h 177"/>
                  <a:gd name="T16" fmla="*/ 0 w 173"/>
                  <a:gd name="T17" fmla="*/ 0 h 177"/>
                  <a:gd name="T18" fmla="*/ 0 w 173"/>
                  <a:gd name="T19" fmla="*/ 0 h 177"/>
                  <a:gd name="T20" fmla="*/ 0 w 173"/>
                  <a:gd name="T21" fmla="*/ 0 h 177"/>
                  <a:gd name="T22" fmla="*/ 0 w 173"/>
                  <a:gd name="T23" fmla="*/ 0 h 177"/>
                  <a:gd name="T24" fmla="*/ 0 w 173"/>
                  <a:gd name="T25" fmla="*/ 0 h 177"/>
                  <a:gd name="T26" fmla="*/ 0 w 173"/>
                  <a:gd name="T27" fmla="*/ 0 h 177"/>
                  <a:gd name="T28" fmla="*/ 0 w 173"/>
                  <a:gd name="T29" fmla="*/ 0 h 177"/>
                  <a:gd name="T30" fmla="*/ 0 w 173"/>
                  <a:gd name="T31" fmla="*/ 0 h 177"/>
                  <a:gd name="T32" fmla="*/ 0 w 173"/>
                  <a:gd name="T33" fmla="*/ 0 h 177"/>
                  <a:gd name="T34" fmla="*/ 0 w 173"/>
                  <a:gd name="T35" fmla="*/ 0 h 177"/>
                  <a:gd name="T36" fmla="*/ 0 w 173"/>
                  <a:gd name="T37" fmla="*/ 0 h 177"/>
                  <a:gd name="T38" fmla="*/ 0 w 173"/>
                  <a:gd name="T39" fmla="*/ 0 h 177"/>
                  <a:gd name="T40" fmla="*/ 0 w 173"/>
                  <a:gd name="T41" fmla="*/ 0 h 177"/>
                  <a:gd name="T42" fmla="*/ 0 w 173"/>
                  <a:gd name="T43" fmla="*/ 0 h 177"/>
                  <a:gd name="T44" fmla="*/ 0 w 173"/>
                  <a:gd name="T45" fmla="*/ 0 h 177"/>
                  <a:gd name="T46" fmla="*/ 0 w 173"/>
                  <a:gd name="T47" fmla="*/ 0 h 177"/>
                  <a:gd name="T48" fmla="*/ 0 w 173"/>
                  <a:gd name="T49" fmla="*/ 0 h 177"/>
                  <a:gd name="T50" fmla="*/ 0 w 173"/>
                  <a:gd name="T51" fmla="*/ 0 h 177"/>
                  <a:gd name="T52" fmla="*/ 0 w 173"/>
                  <a:gd name="T53" fmla="*/ 0 h 177"/>
                  <a:gd name="T54" fmla="*/ 0 w 173"/>
                  <a:gd name="T55" fmla="*/ 0 h 177"/>
                  <a:gd name="T56" fmla="*/ 0 w 173"/>
                  <a:gd name="T57" fmla="*/ 0 h 177"/>
                  <a:gd name="T58" fmla="*/ 0 w 173"/>
                  <a:gd name="T59" fmla="*/ 0 h 177"/>
                  <a:gd name="T60" fmla="*/ 0 w 173"/>
                  <a:gd name="T61" fmla="*/ 0 h 177"/>
                  <a:gd name="T62" fmla="*/ 0 w 173"/>
                  <a:gd name="T63" fmla="*/ 0 h 177"/>
                  <a:gd name="T64" fmla="*/ 0 w 173"/>
                  <a:gd name="T65" fmla="*/ 0 h 177"/>
                  <a:gd name="T66" fmla="*/ 0 w 173"/>
                  <a:gd name="T67" fmla="*/ 0 h 177"/>
                  <a:gd name="T68" fmla="*/ 0 w 173"/>
                  <a:gd name="T69" fmla="*/ 0 h 177"/>
                  <a:gd name="T70" fmla="*/ 0 w 173"/>
                  <a:gd name="T71" fmla="*/ 0 h 177"/>
                  <a:gd name="T72" fmla="*/ 0 w 173"/>
                  <a:gd name="T73" fmla="*/ 0 h 177"/>
                  <a:gd name="T74" fmla="*/ 0 w 173"/>
                  <a:gd name="T75" fmla="*/ 0 h 177"/>
                  <a:gd name="T76" fmla="*/ 0 w 173"/>
                  <a:gd name="T77" fmla="*/ 0 h 177"/>
                  <a:gd name="T78" fmla="*/ 0 w 173"/>
                  <a:gd name="T79" fmla="*/ 0 h 177"/>
                  <a:gd name="T80" fmla="*/ 0 w 173"/>
                  <a:gd name="T81" fmla="*/ 0 h 17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73"/>
                  <a:gd name="T124" fmla="*/ 0 h 177"/>
                  <a:gd name="T125" fmla="*/ 173 w 173"/>
                  <a:gd name="T126" fmla="*/ 177 h 17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73" h="177">
                    <a:moveTo>
                      <a:pt x="173" y="116"/>
                    </a:moveTo>
                    <a:lnTo>
                      <a:pt x="159" y="122"/>
                    </a:lnTo>
                    <a:lnTo>
                      <a:pt x="147" y="126"/>
                    </a:lnTo>
                    <a:lnTo>
                      <a:pt x="137" y="131"/>
                    </a:lnTo>
                    <a:lnTo>
                      <a:pt x="127" y="135"/>
                    </a:lnTo>
                    <a:lnTo>
                      <a:pt x="114" y="141"/>
                    </a:lnTo>
                    <a:lnTo>
                      <a:pt x="94" y="150"/>
                    </a:lnTo>
                    <a:lnTo>
                      <a:pt x="69" y="161"/>
                    </a:lnTo>
                    <a:lnTo>
                      <a:pt x="33" y="177"/>
                    </a:lnTo>
                    <a:lnTo>
                      <a:pt x="30" y="168"/>
                    </a:lnTo>
                    <a:lnTo>
                      <a:pt x="27" y="161"/>
                    </a:lnTo>
                    <a:lnTo>
                      <a:pt x="25" y="156"/>
                    </a:lnTo>
                    <a:lnTo>
                      <a:pt x="23" y="150"/>
                    </a:lnTo>
                    <a:lnTo>
                      <a:pt x="20" y="141"/>
                    </a:lnTo>
                    <a:lnTo>
                      <a:pt x="16" y="131"/>
                    </a:lnTo>
                    <a:lnTo>
                      <a:pt x="9" y="117"/>
                    </a:lnTo>
                    <a:lnTo>
                      <a:pt x="0" y="97"/>
                    </a:lnTo>
                    <a:lnTo>
                      <a:pt x="7" y="86"/>
                    </a:lnTo>
                    <a:lnTo>
                      <a:pt x="11" y="78"/>
                    </a:lnTo>
                    <a:lnTo>
                      <a:pt x="15" y="70"/>
                    </a:lnTo>
                    <a:lnTo>
                      <a:pt x="19" y="63"/>
                    </a:lnTo>
                    <a:lnTo>
                      <a:pt x="24" y="54"/>
                    </a:lnTo>
                    <a:lnTo>
                      <a:pt x="31" y="41"/>
                    </a:lnTo>
                    <a:lnTo>
                      <a:pt x="40" y="24"/>
                    </a:lnTo>
                    <a:lnTo>
                      <a:pt x="52" y="0"/>
                    </a:lnTo>
                    <a:lnTo>
                      <a:pt x="63" y="3"/>
                    </a:lnTo>
                    <a:lnTo>
                      <a:pt x="70" y="6"/>
                    </a:lnTo>
                    <a:lnTo>
                      <a:pt x="76" y="8"/>
                    </a:lnTo>
                    <a:lnTo>
                      <a:pt x="83" y="11"/>
                    </a:lnTo>
                    <a:lnTo>
                      <a:pt x="91" y="15"/>
                    </a:lnTo>
                    <a:lnTo>
                      <a:pt x="102" y="20"/>
                    </a:lnTo>
                    <a:lnTo>
                      <a:pt x="119" y="27"/>
                    </a:lnTo>
                    <a:lnTo>
                      <a:pt x="140" y="37"/>
                    </a:lnTo>
                    <a:lnTo>
                      <a:pt x="144" y="44"/>
                    </a:lnTo>
                    <a:lnTo>
                      <a:pt x="146" y="50"/>
                    </a:lnTo>
                    <a:lnTo>
                      <a:pt x="149" y="56"/>
                    </a:lnTo>
                    <a:lnTo>
                      <a:pt x="151" y="61"/>
                    </a:lnTo>
                    <a:lnTo>
                      <a:pt x="154" y="69"/>
                    </a:lnTo>
                    <a:lnTo>
                      <a:pt x="159" y="80"/>
                    </a:lnTo>
                    <a:lnTo>
                      <a:pt x="165" y="95"/>
                    </a:lnTo>
                    <a:lnTo>
                      <a:pt x="173" y="116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4" name="Freeform 438">
                <a:extLst>
                  <a:ext uri="{FF2B5EF4-FFF2-40B4-BE49-F238E27FC236}">
                    <a16:creationId xmlns:a16="http://schemas.microsoft.com/office/drawing/2014/main" id="{1B307D0D-0A08-4CD1-A60E-94BD4E03C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6" cy="9"/>
              </a:xfrm>
              <a:custGeom>
                <a:avLst/>
                <a:gdLst>
                  <a:gd name="T0" fmla="*/ 0 w 142"/>
                  <a:gd name="T1" fmla="*/ 0 h 175"/>
                  <a:gd name="T2" fmla="*/ 0 w 142"/>
                  <a:gd name="T3" fmla="*/ 0 h 175"/>
                  <a:gd name="T4" fmla="*/ 0 w 142"/>
                  <a:gd name="T5" fmla="*/ 0 h 175"/>
                  <a:gd name="T6" fmla="*/ 0 w 142"/>
                  <a:gd name="T7" fmla="*/ 0 h 175"/>
                  <a:gd name="T8" fmla="*/ 0 w 142"/>
                  <a:gd name="T9" fmla="*/ 0 h 175"/>
                  <a:gd name="T10" fmla="*/ 0 w 142"/>
                  <a:gd name="T11" fmla="*/ 0 h 175"/>
                  <a:gd name="T12" fmla="*/ 0 w 142"/>
                  <a:gd name="T13" fmla="*/ 0 h 175"/>
                  <a:gd name="T14" fmla="*/ 0 w 142"/>
                  <a:gd name="T15" fmla="*/ 0 h 175"/>
                  <a:gd name="T16" fmla="*/ 0 w 142"/>
                  <a:gd name="T17" fmla="*/ 0 h 175"/>
                  <a:gd name="T18" fmla="*/ 0 w 142"/>
                  <a:gd name="T19" fmla="*/ 0 h 175"/>
                  <a:gd name="T20" fmla="*/ 0 w 142"/>
                  <a:gd name="T21" fmla="*/ 0 h 175"/>
                  <a:gd name="T22" fmla="*/ 0 w 142"/>
                  <a:gd name="T23" fmla="*/ 0 h 175"/>
                  <a:gd name="T24" fmla="*/ 0 w 142"/>
                  <a:gd name="T25" fmla="*/ 0 h 175"/>
                  <a:gd name="T26" fmla="*/ 0 w 142"/>
                  <a:gd name="T27" fmla="*/ 0 h 175"/>
                  <a:gd name="T28" fmla="*/ 0 w 142"/>
                  <a:gd name="T29" fmla="*/ 0 h 175"/>
                  <a:gd name="T30" fmla="*/ 0 w 142"/>
                  <a:gd name="T31" fmla="*/ 0 h 175"/>
                  <a:gd name="T32" fmla="*/ 0 w 142"/>
                  <a:gd name="T33" fmla="*/ 0 h 175"/>
                  <a:gd name="T34" fmla="*/ 0 w 142"/>
                  <a:gd name="T35" fmla="*/ 0 h 175"/>
                  <a:gd name="T36" fmla="*/ 0 w 142"/>
                  <a:gd name="T37" fmla="*/ 0 h 175"/>
                  <a:gd name="T38" fmla="*/ 0 w 142"/>
                  <a:gd name="T39" fmla="*/ 0 h 175"/>
                  <a:gd name="T40" fmla="*/ 0 w 142"/>
                  <a:gd name="T41" fmla="*/ 0 h 175"/>
                  <a:gd name="T42" fmla="*/ 0 w 142"/>
                  <a:gd name="T43" fmla="*/ 0 h 175"/>
                  <a:gd name="T44" fmla="*/ 0 w 142"/>
                  <a:gd name="T45" fmla="*/ 0 h 175"/>
                  <a:gd name="T46" fmla="*/ 0 w 142"/>
                  <a:gd name="T47" fmla="*/ 0 h 175"/>
                  <a:gd name="T48" fmla="*/ 0 w 142"/>
                  <a:gd name="T49" fmla="*/ 0 h 175"/>
                  <a:gd name="T50" fmla="*/ 0 w 142"/>
                  <a:gd name="T51" fmla="*/ 0 h 175"/>
                  <a:gd name="T52" fmla="*/ 0 w 142"/>
                  <a:gd name="T53" fmla="*/ 0 h 175"/>
                  <a:gd name="T54" fmla="*/ 0 w 142"/>
                  <a:gd name="T55" fmla="*/ 0 h 175"/>
                  <a:gd name="T56" fmla="*/ 0 w 142"/>
                  <a:gd name="T57" fmla="*/ 0 h 175"/>
                  <a:gd name="T58" fmla="*/ 0 w 142"/>
                  <a:gd name="T59" fmla="*/ 0 h 175"/>
                  <a:gd name="T60" fmla="*/ 0 w 142"/>
                  <a:gd name="T61" fmla="*/ 0 h 175"/>
                  <a:gd name="T62" fmla="*/ 0 w 142"/>
                  <a:gd name="T63" fmla="*/ 0 h 175"/>
                  <a:gd name="T64" fmla="*/ 0 w 142"/>
                  <a:gd name="T65" fmla="*/ 0 h 175"/>
                  <a:gd name="T66" fmla="*/ 0 w 142"/>
                  <a:gd name="T67" fmla="*/ 0 h 175"/>
                  <a:gd name="T68" fmla="*/ 0 w 142"/>
                  <a:gd name="T69" fmla="*/ 0 h 175"/>
                  <a:gd name="T70" fmla="*/ 0 w 142"/>
                  <a:gd name="T71" fmla="*/ 0 h 175"/>
                  <a:gd name="T72" fmla="*/ 0 w 142"/>
                  <a:gd name="T73" fmla="*/ 0 h 175"/>
                  <a:gd name="T74" fmla="*/ 0 w 142"/>
                  <a:gd name="T75" fmla="*/ 0 h 175"/>
                  <a:gd name="T76" fmla="*/ 0 w 142"/>
                  <a:gd name="T77" fmla="*/ 0 h 175"/>
                  <a:gd name="T78" fmla="*/ 0 w 142"/>
                  <a:gd name="T79" fmla="*/ 0 h 175"/>
                  <a:gd name="T80" fmla="*/ 0 w 142"/>
                  <a:gd name="T81" fmla="*/ 0 h 17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175"/>
                  <a:gd name="T125" fmla="*/ 142 w 142"/>
                  <a:gd name="T126" fmla="*/ 175 h 17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175">
                    <a:moveTo>
                      <a:pt x="142" y="126"/>
                    </a:moveTo>
                    <a:lnTo>
                      <a:pt x="131" y="131"/>
                    </a:lnTo>
                    <a:lnTo>
                      <a:pt x="122" y="135"/>
                    </a:lnTo>
                    <a:lnTo>
                      <a:pt x="115" y="137"/>
                    </a:lnTo>
                    <a:lnTo>
                      <a:pt x="107" y="141"/>
                    </a:lnTo>
                    <a:lnTo>
                      <a:pt x="96" y="145"/>
                    </a:lnTo>
                    <a:lnTo>
                      <a:pt x="81" y="152"/>
                    </a:lnTo>
                    <a:lnTo>
                      <a:pt x="61" y="161"/>
                    </a:lnTo>
                    <a:lnTo>
                      <a:pt x="32" y="175"/>
                    </a:lnTo>
                    <a:lnTo>
                      <a:pt x="29" y="165"/>
                    </a:lnTo>
                    <a:lnTo>
                      <a:pt x="26" y="159"/>
                    </a:lnTo>
                    <a:lnTo>
                      <a:pt x="24" y="153"/>
                    </a:lnTo>
                    <a:lnTo>
                      <a:pt x="22" y="146"/>
                    </a:lnTo>
                    <a:lnTo>
                      <a:pt x="19" y="139"/>
                    </a:lnTo>
                    <a:lnTo>
                      <a:pt x="15" y="128"/>
                    </a:lnTo>
                    <a:lnTo>
                      <a:pt x="8" y="114"/>
                    </a:lnTo>
                    <a:lnTo>
                      <a:pt x="0" y="95"/>
                    </a:lnTo>
                    <a:lnTo>
                      <a:pt x="5" y="84"/>
                    </a:lnTo>
                    <a:lnTo>
                      <a:pt x="9" y="76"/>
                    </a:lnTo>
                    <a:lnTo>
                      <a:pt x="12" y="68"/>
                    </a:lnTo>
                    <a:lnTo>
                      <a:pt x="16" y="61"/>
                    </a:lnTo>
                    <a:lnTo>
                      <a:pt x="20" y="53"/>
                    </a:lnTo>
                    <a:lnTo>
                      <a:pt x="26" y="40"/>
                    </a:lnTo>
                    <a:lnTo>
                      <a:pt x="34" y="23"/>
                    </a:lnTo>
                    <a:lnTo>
                      <a:pt x="45" y="0"/>
                    </a:lnTo>
                    <a:lnTo>
                      <a:pt x="53" y="4"/>
                    </a:lnTo>
                    <a:lnTo>
                      <a:pt x="59" y="8"/>
                    </a:lnTo>
                    <a:lnTo>
                      <a:pt x="63" y="11"/>
                    </a:lnTo>
                    <a:lnTo>
                      <a:pt x="68" y="15"/>
                    </a:lnTo>
                    <a:lnTo>
                      <a:pt x="74" y="19"/>
                    </a:lnTo>
                    <a:lnTo>
                      <a:pt x="83" y="25"/>
                    </a:lnTo>
                    <a:lnTo>
                      <a:pt x="94" y="34"/>
                    </a:lnTo>
                    <a:lnTo>
                      <a:pt x="111" y="46"/>
                    </a:lnTo>
                    <a:lnTo>
                      <a:pt x="115" y="55"/>
                    </a:lnTo>
                    <a:lnTo>
                      <a:pt x="117" y="60"/>
                    </a:lnTo>
                    <a:lnTo>
                      <a:pt x="120" y="65"/>
                    </a:lnTo>
                    <a:lnTo>
                      <a:pt x="122" y="71"/>
                    </a:lnTo>
                    <a:lnTo>
                      <a:pt x="125" y="79"/>
                    </a:lnTo>
                    <a:lnTo>
                      <a:pt x="129" y="89"/>
                    </a:lnTo>
                    <a:lnTo>
                      <a:pt x="135" y="105"/>
                    </a:lnTo>
                    <a:lnTo>
                      <a:pt x="142" y="126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5" name="Freeform 439">
                <a:extLst>
                  <a:ext uri="{FF2B5EF4-FFF2-40B4-BE49-F238E27FC236}">
                    <a16:creationId xmlns:a16="http://schemas.microsoft.com/office/drawing/2014/main" id="{61F7D6D5-5FBC-4882-BAF6-60F875E8E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5" cy="9"/>
              </a:xfrm>
              <a:custGeom>
                <a:avLst/>
                <a:gdLst>
                  <a:gd name="T0" fmla="*/ 0 w 116"/>
                  <a:gd name="T1" fmla="*/ 0 h 172"/>
                  <a:gd name="T2" fmla="*/ 0 w 116"/>
                  <a:gd name="T3" fmla="*/ 0 h 172"/>
                  <a:gd name="T4" fmla="*/ 0 w 116"/>
                  <a:gd name="T5" fmla="*/ 0 h 172"/>
                  <a:gd name="T6" fmla="*/ 0 w 116"/>
                  <a:gd name="T7" fmla="*/ 0 h 172"/>
                  <a:gd name="T8" fmla="*/ 0 w 116"/>
                  <a:gd name="T9" fmla="*/ 0 h 172"/>
                  <a:gd name="T10" fmla="*/ 0 w 116"/>
                  <a:gd name="T11" fmla="*/ 0 h 172"/>
                  <a:gd name="T12" fmla="*/ 0 w 116"/>
                  <a:gd name="T13" fmla="*/ 0 h 172"/>
                  <a:gd name="T14" fmla="*/ 0 w 116"/>
                  <a:gd name="T15" fmla="*/ 0 h 172"/>
                  <a:gd name="T16" fmla="*/ 0 w 116"/>
                  <a:gd name="T17" fmla="*/ 0 h 172"/>
                  <a:gd name="T18" fmla="*/ 0 w 116"/>
                  <a:gd name="T19" fmla="*/ 0 h 172"/>
                  <a:gd name="T20" fmla="*/ 0 w 116"/>
                  <a:gd name="T21" fmla="*/ 0 h 172"/>
                  <a:gd name="T22" fmla="*/ 0 w 116"/>
                  <a:gd name="T23" fmla="*/ 0 h 172"/>
                  <a:gd name="T24" fmla="*/ 0 w 116"/>
                  <a:gd name="T25" fmla="*/ 0 h 172"/>
                  <a:gd name="T26" fmla="*/ 0 w 116"/>
                  <a:gd name="T27" fmla="*/ 0 h 172"/>
                  <a:gd name="T28" fmla="*/ 0 w 116"/>
                  <a:gd name="T29" fmla="*/ 0 h 172"/>
                  <a:gd name="T30" fmla="*/ 0 w 116"/>
                  <a:gd name="T31" fmla="*/ 0 h 172"/>
                  <a:gd name="T32" fmla="*/ 0 w 116"/>
                  <a:gd name="T33" fmla="*/ 0 h 172"/>
                  <a:gd name="T34" fmla="*/ 0 w 116"/>
                  <a:gd name="T35" fmla="*/ 0 h 172"/>
                  <a:gd name="T36" fmla="*/ 0 w 116"/>
                  <a:gd name="T37" fmla="*/ 0 h 172"/>
                  <a:gd name="T38" fmla="*/ 0 w 116"/>
                  <a:gd name="T39" fmla="*/ 0 h 172"/>
                  <a:gd name="T40" fmla="*/ 0 w 116"/>
                  <a:gd name="T41" fmla="*/ 0 h 172"/>
                  <a:gd name="T42" fmla="*/ 0 w 116"/>
                  <a:gd name="T43" fmla="*/ 0 h 172"/>
                  <a:gd name="T44" fmla="*/ 0 w 116"/>
                  <a:gd name="T45" fmla="*/ 0 h 172"/>
                  <a:gd name="T46" fmla="*/ 0 w 116"/>
                  <a:gd name="T47" fmla="*/ 0 h 172"/>
                  <a:gd name="T48" fmla="*/ 0 w 116"/>
                  <a:gd name="T49" fmla="*/ 0 h 172"/>
                  <a:gd name="T50" fmla="*/ 0 w 116"/>
                  <a:gd name="T51" fmla="*/ 0 h 172"/>
                  <a:gd name="T52" fmla="*/ 0 w 116"/>
                  <a:gd name="T53" fmla="*/ 0 h 172"/>
                  <a:gd name="T54" fmla="*/ 0 w 116"/>
                  <a:gd name="T55" fmla="*/ 0 h 172"/>
                  <a:gd name="T56" fmla="*/ 0 w 116"/>
                  <a:gd name="T57" fmla="*/ 0 h 172"/>
                  <a:gd name="T58" fmla="*/ 0 w 116"/>
                  <a:gd name="T59" fmla="*/ 0 h 172"/>
                  <a:gd name="T60" fmla="*/ 0 w 116"/>
                  <a:gd name="T61" fmla="*/ 0 h 172"/>
                  <a:gd name="T62" fmla="*/ 0 w 116"/>
                  <a:gd name="T63" fmla="*/ 0 h 172"/>
                  <a:gd name="T64" fmla="*/ 0 w 116"/>
                  <a:gd name="T65" fmla="*/ 0 h 172"/>
                  <a:gd name="T66" fmla="*/ 0 w 116"/>
                  <a:gd name="T67" fmla="*/ 0 h 172"/>
                  <a:gd name="T68" fmla="*/ 0 w 116"/>
                  <a:gd name="T69" fmla="*/ 0 h 172"/>
                  <a:gd name="T70" fmla="*/ 0 w 116"/>
                  <a:gd name="T71" fmla="*/ 0 h 172"/>
                  <a:gd name="T72" fmla="*/ 0 w 116"/>
                  <a:gd name="T73" fmla="*/ 0 h 172"/>
                  <a:gd name="T74" fmla="*/ 0 w 116"/>
                  <a:gd name="T75" fmla="*/ 0 h 172"/>
                  <a:gd name="T76" fmla="*/ 0 w 116"/>
                  <a:gd name="T77" fmla="*/ 0 h 172"/>
                  <a:gd name="T78" fmla="*/ 0 w 116"/>
                  <a:gd name="T79" fmla="*/ 0 h 172"/>
                  <a:gd name="T80" fmla="*/ 0 w 116"/>
                  <a:gd name="T81" fmla="*/ 0 h 17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6"/>
                  <a:gd name="T124" fmla="*/ 0 h 172"/>
                  <a:gd name="T125" fmla="*/ 116 w 116"/>
                  <a:gd name="T126" fmla="*/ 172 h 17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6" h="172">
                    <a:moveTo>
                      <a:pt x="116" y="136"/>
                    </a:moveTo>
                    <a:lnTo>
                      <a:pt x="107" y="139"/>
                    </a:lnTo>
                    <a:lnTo>
                      <a:pt x="101" y="141"/>
                    </a:lnTo>
                    <a:lnTo>
                      <a:pt x="95" y="144"/>
                    </a:lnTo>
                    <a:lnTo>
                      <a:pt x="88" y="146"/>
                    </a:lnTo>
                    <a:lnTo>
                      <a:pt x="80" y="150"/>
                    </a:lnTo>
                    <a:lnTo>
                      <a:pt x="69" y="155"/>
                    </a:lnTo>
                    <a:lnTo>
                      <a:pt x="54" y="162"/>
                    </a:lnTo>
                    <a:lnTo>
                      <a:pt x="32" y="172"/>
                    </a:lnTo>
                    <a:lnTo>
                      <a:pt x="29" y="163"/>
                    </a:lnTo>
                    <a:lnTo>
                      <a:pt x="26" y="156"/>
                    </a:lnTo>
                    <a:lnTo>
                      <a:pt x="24" y="151"/>
                    </a:lnTo>
                    <a:lnTo>
                      <a:pt x="22" y="144"/>
                    </a:lnTo>
                    <a:lnTo>
                      <a:pt x="19" y="136"/>
                    </a:lnTo>
                    <a:lnTo>
                      <a:pt x="15" y="126"/>
                    </a:lnTo>
                    <a:lnTo>
                      <a:pt x="8" y="112"/>
                    </a:lnTo>
                    <a:lnTo>
                      <a:pt x="0" y="93"/>
                    </a:lnTo>
                    <a:lnTo>
                      <a:pt x="5" y="82"/>
                    </a:lnTo>
                    <a:lnTo>
                      <a:pt x="8" y="74"/>
                    </a:lnTo>
                    <a:lnTo>
                      <a:pt x="11" y="67"/>
                    </a:lnTo>
                    <a:lnTo>
                      <a:pt x="14" y="60"/>
                    </a:lnTo>
                    <a:lnTo>
                      <a:pt x="18" y="51"/>
                    </a:lnTo>
                    <a:lnTo>
                      <a:pt x="23" y="39"/>
                    </a:lnTo>
                    <a:lnTo>
                      <a:pt x="31" y="22"/>
                    </a:lnTo>
                    <a:lnTo>
                      <a:pt x="40" y="0"/>
                    </a:lnTo>
                    <a:lnTo>
                      <a:pt x="46" y="5"/>
                    </a:lnTo>
                    <a:lnTo>
                      <a:pt x="50" y="9"/>
                    </a:lnTo>
                    <a:lnTo>
                      <a:pt x="53" y="14"/>
                    </a:lnTo>
                    <a:lnTo>
                      <a:pt x="56" y="18"/>
                    </a:lnTo>
                    <a:lnTo>
                      <a:pt x="60" y="23"/>
                    </a:lnTo>
                    <a:lnTo>
                      <a:pt x="65" y="30"/>
                    </a:lnTo>
                    <a:lnTo>
                      <a:pt x="73" y="41"/>
                    </a:lnTo>
                    <a:lnTo>
                      <a:pt x="83" y="56"/>
                    </a:lnTo>
                    <a:lnTo>
                      <a:pt x="87" y="64"/>
                    </a:lnTo>
                    <a:lnTo>
                      <a:pt x="89" y="69"/>
                    </a:lnTo>
                    <a:lnTo>
                      <a:pt x="92" y="75"/>
                    </a:lnTo>
                    <a:lnTo>
                      <a:pt x="95" y="81"/>
                    </a:lnTo>
                    <a:lnTo>
                      <a:pt x="98" y="88"/>
                    </a:lnTo>
                    <a:lnTo>
                      <a:pt x="102" y="99"/>
                    </a:lnTo>
                    <a:lnTo>
                      <a:pt x="108" y="115"/>
                    </a:lnTo>
                    <a:lnTo>
                      <a:pt x="116" y="136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6" name="Freeform 440">
                <a:extLst>
                  <a:ext uri="{FF2B5EF4-FFF2-40B4-BE49-F238E27FC236}">
                    <a16:creationId xmlns:a16="http://schemas.microsoft.com/office/drawing/2014/main" id="{987B7437-8BB1-40E6-8575-214CBFED0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4" cy="9"/>
              </a:xfrm>
              <a:custGeom>
                <a:avLst/>
                <a:gdLst>
                  <a:gd name="T0" fmla="*/ 0 w 88"/>
                  <a:gd name="T1" fmla="*/ 0 h 170"/>
                  <a:gd name="T2" fmla="*/ 0 w 88"/>
                  <a:gd name="T3" fmla="*/ 0 h 170"/>
                  <a:gd name="T4" fmla="*/ 0 w 88"/>
                  <a:gd name="T5" fmla="*/ 0 h 170"/>
                  <a:gd name="T6" fmla="*/ 0 w 88"/>
                  <a:gd name="T7" fmla="*/ 0 h 170"/>
                  <a:gd name="T8" fmla="*/ 0 w 88"/>
                  <a:gd name="T9" fmla="*/ 0 h 170"/>
                  <a:gd name="T10" fmla="*/ 0 w 88"/>
                  <a:gd name="T11" fmla="*/ 0 h 170"/>
                  <a:gd name="T12" fmla="*/ 0 w 88"/>
                  <a:gd name="T13" fmla="*/ 0 h 170"/>
                  <a:gd name="T14" fmla="*/ 0 w 88"/>
                  <a:gd name="T15" fmla="*/ 0 h 170"/>
                  <a:gd name="T16" fmla="*/ 0 w 88"/>
                  <a:gd name="T17" fmla="*/ 0 h 170"/>
                  <a:gd name="T18" fmla="*/ 0 w 88"/>
                  <a:gd name="T19" fmla="*/ 0 h 170"/>
                  <a:gd name="T20" fmla="*/ 0 w 88"/>
                  <a:gd name="T21" fmla="*/ 0 h 170"/>
                  <a:gd name="T22" fmla="*/ 0 w 88"/>
                  <a:gd name="T23" fmla="*/ 0 h 170"/>
                  <a:gd name="T24" fmla="*/ 0 w 88"/>
                  <a:gd name="T25" fmla="*/ 0 h 170"/>
                  <a:gd name="T26" fmla="*/ 0 w 88"/>
                  <a:gd name="T27" fmla="*/ 0 h 170"/>
                  <a:gd name="T28" fmla="*/ 0 w 88"/>
                  <a:gd name="T29" fmla="*/ 0 h 170"/>
                  <a:gd name="T30" fmla="*/ 0 w 88"/>
                  <a:gd name="T31" fmla="*/ 0 h 170"/>
                  <a:gd name="T32" fmla="*/ 0 w 88"/>
                  <a:gd name="T33" fmla="*/ 0 h 170"/>
                  <a:gd name="T34" fmla="*/ 0 w 88"/>
                  <a:gd name="T35" fmla="*/ 0 h 170"/>
                  <a:gd name="T36" fmla="*/ 0 w 88"/>
                  <a:gd name="T37" fmla="*/ 0 h 170"/>
                  <a:gd name="T38" fmla="*/ 0 w 88"/>
                  <a:gd name="T39" fmla="*/ 0 h 170"/>
                  <a:gd name="T40" fmla="*/ 0 w 88"/>
                  <a:gd name="T41" fmla="*/ 0 h 170"/>
                  <a:gd name="T42" fmla="*/ 0 w 88"/>
                  <a:gd name="T43" fmla="*/ 0 h 170"/>
                  <a:gd name="T44" fmla="*/ 0 w 88"/>
                  <a:gd name="T45" fmla="*/ 0 h 170"/>
                  <a:gd name="T46" fmla="*/ 0 w 88"/>
                  <a:gd name="T47" fmla="*/ 0 h 170"/>
                  <a:gd name="T48" fmla="*/ 0 w 88"/>
                  <a:gd name="T49" fmla="*/ 0 h 170"/>
                  <a:gd name="T50" fmla="*/ 0 w 88"/>
                  <a:gd name="T51" fmla="*/ 0 h 170"/>
                  <a:gd name="T52" fmla="*/ 0 w 88"/>
                  <a:gd name="T53" fmla="*/ 0 h 170"/>
                  <a:gd name="T54" fmla="*/ 0 w 88"/>
                  <a:gd name="T55" fmla="*/ 0 h 170"/>
                  <a:gd name="T56" fmla="*/ 0 w 88"/>
                  <a:gd name="T57" fmla="*/ 0 h 170"/>
                  <a:gd name="T58" fmla="*/ 0 w 88"/>
                  <a:gd name="T59" fmla="*/ 0 h 170"/>
                  <a:gd name="T60" fmla="*/ 0 w 88"/>
                  <a:gd name="T61" fmla="*/ 0 h 170"/>
                  <a:gd name="T62" fmla="*/ 0 w 88"/>
                  <a:gd name="T63" fmla="*/ 0 h 170"/>
                  <a:gd name="T64" fmla="*/ 0 w 88"/>
                  <a:gd name="T65" fmla="*/ 0 h 170"/>
                  <a:gd name="T66" fmla="*/ 0 w 88"/>
                  <a:gd name="T67" fmla="*/ 0 h 170"/>
                  <a:gd name="T68" fmla="*/ 0 w 88"/>
                  <a:gd name="T69" fmla="*/ 0 h 170"/>
                  <a:gd name="T70" fmla="*/ 0 w 88"/>
                  <a:gd name="T71" fmla="*/ 0 h 170"/>
                  <a:gd name="T72" fmla="*/ 0 w 88"/>
                  <a:gd name="T73" fmla="*/ 0 h 17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88"/>
                  <a:gd name="T112" fmla="*/ 0 h 170"/>
                  <a:gd name="T113" fmla="*/ 88 w 88"/>
                  <a:gd name="T114" fmla="*/ 170 h 17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88" h="170">
                    <a:moveTo>
                      <a:pt x="88" y="145"/>
                    </a:moveTo>
                    <a:lnTo>
                      <a:pt x="81" y="147"/>
                    </a:lnTo>
                    <a:lnTo>
                      <a:pt x="77" y="150"/>
                    </a:lnTo>
                    <a:lnTo>
                      <a:pt x="73" y="151"/>
                    </a:lnTo>
                    <a:lnTo>
                      <a:pt x="69" y="153"/>
                    </a:lnTo>
                    <a:lnTo>
                      <a:pt x="64" y="155"/>
                    </a:lnTo>
                    <a:lnTo>
                      <a:pt x="57" y="158"/>
                    </a:lnTo>
                    <a:lnTo>
                      <a:pt x="47" y="163"/>
                    </a:lnTo>
                    <a:lnTo>
                      <a:pt x="32" y="170"/>
                    </a:lnTo>
                    <a:lnTo>
                      <a:pt x="29" y="161"/>
                    </a:lnTo>
                    <a:lnTo>
                      <a:pt x="26" y="154"/>
                    </a:lnTo>
                    <a:lnTo>
                      <a:pt x="24" y="148"/>
                    </a:lnTo>
                    <a:lnTo>
                      <a:pt x="22" y="142"/>
                    </a:lnTo>
                    <a:lnTo>
                      <a:pt x="19" y="134"/>
                    </a:lnTo>
                    <a:lnTo>
                      <a:pt x="15" y="123"/>
                    </a:lnTo>
                    <a:lnTo>
                      <a:pt x="8" y="109"/>
                    </a:lnTo>
                    <a:lnTo>
                      <a:pt x="0" y="89"/>
                    </a:lnTo>
                    <a:lnTo>
                      <a:pt x="4" y="79"/>
                    </a:lnTo>
                    <a:lnTo>
                      <a:pt x="7" y="71"/>
                    </a:lnTo>
                    <a:lnTo>
                      <a:pt x="9" y="65"/>
                    </a:lnTo>
                    <a:lnTo>
                      <a:pt x="12" y="58"/>
                    </a:lnTo>
                    <a:lnTo>
                      <a:pt x="15" y="49"/>
                    </a:lnTo>
                    <a:lnTo>
                      <a:pt x="19" y="38"/>
                    </a:lnTo>
                    <a:lnTo>
                      <a:pt x="26" y="22"/>
                    </a:lnTo>
                    <a:lnTo>
                      <a:pt x="34" y="0"/>
                    </a:lnTo>
                    <a:lnTo>
                      <a:pt x="40" y="11"/>
                    </a:lnTo>
                    <a:lnTo>
                      <a:pt x="43" y="21"/>
                    </a:lnTo>
                    <a:lnTo>
                      <a:pt x="47" y="36"/>
                    </a:lnTo>
                    <a:lnTo>
                      <a:pt x="55" y="65"/>
                    </a:lnTo>
                    <a:lnTo>
                      <a:pt x="59" y="74"/>
                    </a:lnTo>
                    <a:lnTo>
                      <a:pt x="61" y="79"/>
                    </a:lnTo>
                    <a:lnTo>
                      <a:pt x="64" y="84"/>
                    </a:lnTo>
                    <a:lnTo>
                      <a:pt x="66" y="90"/>
                    </a:lnTo>
                    <a:lnTo>
                      <a:pt x="69" y="98"/>
                    </a:lnTo>
                    <a:lnTo>
                      <a:pt x="73" y="108"/>
                    </a:lnTo>
                    <a:lnTo>
                      <a:pt x="79" y="124"/>
                    </a:lnTo>
                    <a:lnTo>
                      <a:pt x="88" y="145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7" name="Freeform 441">
                <a:extLst>
                  <a:ext uri="{FF2B5EF4-FFF2-40B4-BE49-F238E27FC236}">
                    <a16:creationId xmlns:a16="http://schemas.microsoft.com/office/drawing/2014/main" id="{9FFD0556-CA90-4E95-954C-7AD3405DFF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3"/>
                <a:ext cx="2" cy="9"/>
              </a:xfrm>
              <a:custGeom>
                <a:avLst/>
                <a:gdLst>
                  <a:gd name="T0" fmla="*/ 0 w 59"/>
                  <a:gd name="T1" fmla="*/ 0 h 167"/>
                  <a:gd name="T2" fmla="*/ 0 w 59"/>
                  <a:gd name="T3" fmla="*/ 0 h 167"/>
                  <a:gd name="T4" fmla="*/ 0 w 59"/>
                  <a:gd name="T5" fmla="*/ 0 h 167"/>
                  <a:gd name="T6" fmla="*/ 0 w 59"/>
                  <a:gd name="T7" fmla="*/ 0 h 167"/>
                  <a:gd name="T8" fmla="*/ 0 w 59"/>
                  <a:gd name="T9" fmla="*/ 0 h 167"/>
                  <a:gd name="T10" fmla="*/ 0 w 59"/>
                  <a:gd name="T11" fmla="*/ 0 h 1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167"/>
                  <a:gd name="T20" fmla="*/ 59 w 59"/>
                  <a:gd name="T21" fmla="*/ 167 h 1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167">
                    <a:moveTo>
                      <a:pt x="59" y="155"/>
                    </a:moveTo>
                    <a:lnTo>
                      <a:pt x="33" y="167"/>
                    </a:lnTo>
                    <a:lnTo>
                      <a:pt x="0" y="87"/>
                    </a:lnTo>
                    <a:lnTo>
                      <a:pt x="29" y="0"/>
                    </a:lnTo>
                    <a:lnTo>
                      <a:pt x="26" y="76"/>
                    </a:lnTo>
                    <a:lnTo>
                      <a:pt x="59" y="155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8" name="Freeform 442">
                <a:extLst>
                  <a:ext uri="{FF2B5EF4-FFF2-40B4-BE49-F238E27FC236}">
                    <a16:creationId xmlns:a16="http://schemas.microsoft.com/office/drawing/2014/main" id="{F517D162-CA95-45DF-BE37-FB1B6D830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4"/>
                <a:ext cx="8" cy="4"/>
              </a:xfrm>
              <a:custGeom>
                <a:avLst/>
                <a:gdLst>
                  <a:gd name="T0" fmla="*/ 0 w 172"/>
                  <a:gd name="T1" fmla="*/ 0 h 81"/>
                  <a:gd name="T2" fmla="*/ 0 w 172"/>
                  <a:gd name="T3" fmla="*/ 0 h 81"/>
                  <a:gd name="T4" fmla="*/ 0 w 172"/>
                  <a:gd name="T5" fmla="*/ 0 h 81"/>
                  <a:gd name="T6" fmla="*/ 0 w 172"/>
                  <a:gd name="T7" fmla="*/ 0 h 81"/>
                  <a:gd name="T8" fmla="*/ 0 w 172"/>
                  <a:gd name="T9" fmla="*/ 0 h 81"/>
                  <a:gd name="T10" fmla="*/ 0 w 172"/>
                  <a:gd name="T11" fmla="*/ 0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2"/>
                  <a:gd name="T19" fmla="*/ 0 h 81"/>
                  <a:gd name="T20" fmla="*/ 172 w 172"/>
                  <a:gd name="T21" fmla="*/ 81 h 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2" h="81">
                    <a:moveTo>
                      <a:pt x="170" y="4"/>
                    </a:moveTo>
                    <a:lnTo>
                      <a:pt x="168" y="0"/>
                    </a:lnTo>
                    <a:lnTo>
                      <a:pt x="0" y="73"/>
                    </a:lnTo>
                    <a:lnTo>
                      <a:pt x="4" y="81"/>
                    </a:lnTo>
                    <a:lnTo>
                      <a:pt x="172" y="8"/>
                    </a:lnTo>
                    <a:lnTo>
                      <a:pt x="170" y="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59" name="Freeform 443">
                <a:extLst>
                  <a:ext uri="{FF2B5EF4-FFF2-40B4-BE49-F238E27FC236}">
                    <a16:creationId xmlns:a16="http://schemas.microsoft.com/office/drawing/2014/main" id="{0A0DAEC4-49BA-4E35-B0B3-3CE6FC4A6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2"/>
                <a:ext cx="10" cy="6"/>
              </a:xfrm>
              <a:custGeom>
                <a:avLst/>
                <a:gdLst>
                  <a:gd name="T0" fmla="*/ 0 w 216"/>
                  <a:gd name="T1" fmla="*/ 0 h 103"/>
                  <a:gd name="T2" fmla="*/ 0 w 216"/>
                  <a:gd name="T3" fmla="*/ 0 h 103"/>
                  <a:gd name="T4" fmla="*/ 0 w 216"/>
                  <a:gd name="T5" fmla="*/ 0 h 103"/>
                  <a:gd name="T6" fmla="*/ 0 w 216"/>
                  <a:gd name="T7" fmla="*/ 0 h 103"/>
                  <a:gd name="T8" fmla="*/ 0 w 216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"/>
                  <a:gd name="T16" fmla="*/ 0 h 103"/>
                  <a:gd name="T17" fmla="*/ 216 w 216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" h="103">
                    <a:moveTo>
                      <a:pt x="216" y="12"/>
                    </a:moveTo>
                    <a:lnTo>
                      <a:pt x="4" y="103"/>
                    </a:lnTo>
                    <a:lnTo>
                      <a:pt x="0" y="93"/>
                    </a:lnTo>
                    <a:lnTo>
                      <a:pt x="211" y="0"/>
                    </a:lnTo>
                    <a:lnTo>
                      <a:pt x="216" y="12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60" name="Freeform 444">
                <a:extLst>
                  <a:ext uri="{FF2B5EF4-FFF2-40B4-BE49-F238E27FC236}">
                    <a16:creationId xmlns:a16="http://schemas.microsoft.com/office/drawing/2014/main" id="{D93AE77D-06E1-49B1-95CE-AF367AC13E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1" cy="16"/>
              </a:xfrm>
              <a:custGeom>
                <a:avLst/>
                <a:gdLst>
                  <a:gd name="T0" fmla="*/ 0 w 250"/>
                  <a:gd name="T1" fmla="*/ 0 h 298"/>
                  <a:gd name="T2" fmla="*/ 0 w 250"/>
                  <a:gd name="T3" fmla="*/ 0 h 298"/>
                  <a:gd name="T4" fmla="*/ 0 w 250"/>
                  <a:gd name="T5" fmla="*/ 0 h 298"/>
                  <a:gd name="T6" fmla="*/ 0 w 250"/>
                  <a:gd name="T7" fmla="*/ 0 h 298"/>
                  <a:gd name="T8" fmla="*/ 0 w 250"/>
                  <a:gd name="T9" fmla="*/ 0 h 298"/>
                  <a:gd name="T10" fmla="*/ 0 w 250"/>
                  <a:gd name="T11" fmla="*/ 0 h 298"/>
                  <a:gd name="T12" fmla="*/ 0 w 250"/>
                  <a:gd name="T13" fmla="*/ 0 h 298"/>
                  <a:gd name="T14" fmla="*/ 0 w 250"/>
                  <a:gd name="T15" fmla="*/ 0 h 298"/>
                  <a:gd name="T16" fmla="*/ 0 w 250"/>
                  <a:gd name="T17" fmla="*/ 0 h 298"/>
                  <a:gd name="T18" fmla="*/ 0 w 250"/>
                  <a:gd name="T19" fmla="*/ 0 h 298"/>
                  <a:gd name="T20" fmla="*/ 0 w 250"/>
                  <a:gd name="T21" fmla="*/ 0 h 298"/>
                  <a:gd name="T22" fmla="*/ 0 w 250"/>
                  <a:gd name="T23" fmla="*/ 0 h 298"/>
                  <a:gd name="T24" fmla="*/ 0 w 250"/>
                  <a:gd name="T25" fmla="*/ 0 h 298"/>
                  <a:gd name="T26" fmla="*/ 0 w 250"/>
                  <a:gd name="T27" fmla="*/ 0 h 298"/>
                  <a:gd name="T28" fmla="*/ 0 w 250"/>
                  <a:gd name="T29" fmla="*/ 0 h 298"/>
                  <a:gd name="T30" fmla="*/ 0 w 250"/>
                  <a:gd name="T31" fmla="*/ 0 h 298"/>
                  <a:gd name="T32" fmla="*/ 0 w 250"/>
                  <a:gd name="T33" fmla="*/ 0 h 298"/>
                  <a:gd name="T34" fmla="*/ 0 w 250"/>
                  <a:gd name="T35" fmla="*/ 0 h 298"/>
                  <a:gd name="T36" fmla="*/ 0 w 250"/>
                  <a:gd name="T37" fmla="*/ 0 h 298"/>
                  <a:gd name="T38" fmla="*/ 0 w 250"/>
                  <a:gd name="T39" fmla="*/ 0 h 298"/>
                  <a:gd name="T40" fmla="*/ 0 w 250"/>
                  <a:gd name="T41" fmla="*/ 0 h 298"/>
                  <a:gd name="T42" fmla="*/ 0 w 250"/>
                  <a:gd name="T43" fmla="*/ 0 h 298"/>
                  <a:gd name="T44" fmla="*/ 0 w 250"/>
                  <a:gd name="T45" fmla="*/ 0 h 298"/>
                  <a:gd name="T46" fmla="*/ 0 w 250"/>
                  <a:gd name="T47" fmla="*/ 0 h 298"/>
                  <a:gd name="T48" fmla="*/ 0 w 250"/>
                  <a:gd name="T49" fmla="*/ 0 h 298"/>
                  <a:gd name="T50" fmla="*/ 0 w 250"/>
                  <a:gd name="T51" fmla="*/ 0 h 298"/>
                  <a:gd name="T52" fmla="*/ 0 w 250"/>
                  <a:gd name="T53" fmla="*/ 0 h 298"/>
                  <a:gd name="T54" fmla="*/ 0 w 250"/>
                  <a:gd name="T55" fmla="*/ 0 h 298"/>
                  <a:gd name="T56" fmla="*/ 0 w 250"/>
                  <a:gd name="T57" fmla="*/ 0 h 298"/>
                  <a:gd name="T58" fmla="*/ 0 w 250"/>
                  <a:gd name="T59" fmla="*/ 0 h 298"/>
                  <a:gd name="T60" fmla="*/ 0 w 250"/>
                  <a:gd name="T61" fmla="*/ 0 h 298"/>
                  <a:gd name="T62" fmla="*/ 0 w 250"/>
                  <a:gd name="T63" fmla="*/ 0 h 298"/>
                  <a:gd name="T64" fmla="*/ 0 w 250"/>
                  <a:gd name="T65" fmla="*/ 0 h 298"/>
                  <a:gd name="T66" fmla="*/ 0 w 250"/>
                  <a:gd name="T67" fmla="*/ 0 h 298"/>
                  <a:gd name="T68" fmla="*/ 0 w 250"/>
                  <a:gd name="T69" fmla="*/ 0 h 298"/>
                  <a:gd name="T70" fmla="*/ 0 w 250"/>
                  <a:gd name="T71" fmla="*/ 0 h 298"/>
                  <a:gd name="T72" fmla="*/ 0 w 250"/>
                  <a:gd name="T73" fmla="*/ 0 h 298"/>
                  <a:gd name="T74" fmla="*/ 0 w 250"/>
                  <a:gd name="T75" fmla="*/ 0 h 298"/>
                  <a:gd name="T76" fmla="*/ 0 w 250"/>
                  <a:gd name="T77" fmla="*/ 0 h 298"/>
                  <a:gd name="T78" fmla="*/ 0 w 250"/>
                  <a:gd name="T79" fmla="*/ 0 h 298"/>
                  <a:gd name="T80" fmla="*/ 0 w 250"/>
                  <a:gd name="T81" fmla="*/ 0 h 2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50"/>
                  <a:gd name="T124" fmla="*/ 0 h 298"/>
                  <a:gd name="T125" fmla="*/ 250 w 250"/>
                  <a:gd name="T126" fmla="*/ 298 h 29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50" h="298">
                    <a:moveTo>
                      <a:pt x="207" y="296"/>
                    </a:moveTo>
                    <a:lnTo>
                      <a:pt x="219" y="286"/>
                    </a:lnTo>
                    <a:lnTo>
                      <a:pt x="232" y="267"/>
                    </a:lnTo>
                    <a:lnTo>
                      <a:pt x="242" y="241"/>
                    </a:lnTo>
                    <a:lnTo>
                      <a:pt x="248" y="206"/>
                    </a:lnTo>
                    <a:lnTo>
                      <a:pt x="250" y="165"/>
                    </a:lnTo>
                    <a:lnTo>
                      <a:pt x="245" y="116"/>
                    </a:lnTo>
                    <a:lnTo>
                      <a:pt x="233" y="62"/>
                    </a:lnTo>
                    <a:lnTo>
                      <a:pt x="211" y="0"/>
                    </a:lnTo>
                    <a:lnTo>
                      <a:pt x="198" y="6"/>
                    </a:lnTo>
                    <a:lnTo>
                      <a:pt x="185" y="12"/>
                    </a:lnTo>
                    <a:lnTo>
                      <a:pt x="171" y="17"/>
                    </a:lnTo>
                    <a:lnTo>
                      <a:pt x="158" y="24"/>
                    </a:lnTo>
                    <a:lnTo>
                      <a:pt x="145" y="29"/>
                    </a:lnTo>
                    <a:lnTo>
                      <a:pt x="132" y="35"/>
                    </a:lnTo>
                    <a:lnTo>
                      <a:pt x="118" y="41"/>
                    </a:lnTo>
                    <a:lnTo>
                      <a:pt x="106" y="46"/>
                    </a:lnTo>
                    <a:lnTo>
                      <a:pt x="93" y="52"/>
                    </a:lnTo>
                    <a:lnTo>
                      <a:pt x="80" y="57"/>
                    </a:lnTo>
                    <a:lnTo>
                      <a:pt x="66" y="64"/>
                    </a:lnTo>
                    <a:lnTo>
                      <a:pt x="53" y="69"/>
                    </a:lnTo>
                    <a:lnTo>
                      <a:pt x="40" y="75"/>
                    </a:lnTo>
                    <a:lnTo>
                      <a:pt x="27" y="81"/>
                    </a:lnTo>
                    <a:lnTo>
                      <a:pt x="13" y="87"/>
                    </a:lnTo>
                    <a:lnTo>
                      <a:pt x="0" y="92"/>
                    </a:lnTo>
                    <a:lnTo>
                      <a:pt x="13" y="123"/>
                    </a:lnTo>
                    <a:lnTo>
                      <a:pt x="28" y="150"/>
                    </a:lnTo>
                    <a:lnTo>
                      <a:pt x="42" y="175"/>
                    </a:lnTo>
                    <a:lnTo>
                      <a:pt x="57" y="198"/>
                    </a:lnTo>
                    <a:lnTo>
                      <a:pt x="73" y="218"/>
                    </a:lnTo>
                    <a:lnTo>
                      <a:pt x="87" y="236"/>
                    </a:lnTo>
                    <a:lnTo>
                      <a:pt x="102" y="250"/>
                    </a:lnTo>
                    <a:lnTo>
                      <a:pt x="117" y="263"/>
                    </a:lnTo>
                    <a:lnTo>
                      <a:pt x="132" y="274"/>
                    </a:lnTo>
                    <a:lnTo>
                      <a:pt x="145" y="283"/>
                    </a:lnTo>
                    <a:lnTo>
                      <a:pt x="158" y="289"/>
                    </a:lnTo>
                    <a:lnTo>
                      <a:pt x="170" y="294"/>
                    </a:lnTo>
                    <a:lnTo>
                      <a:pt x="182" y="297"/>
                    </a:lnTo>
                    <a:lnTo>
                      <a:pt x="192" y="298"/>
                    </a:lnTo>
                    <a:lnTo>
                      <a:pt x="200" y="298"/>
                    </a:lnTo>
                    <a:lnTo>
                      <a:pt x="207" y="296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61" name="Freeform 445">
                <a:extLst>
                  <a:ext uri="{FF2B5EF4-FFF2-40B4-BE49-F238E27FC236}">
                    <a16:creationId xmlns:a16="http://schemas.microsoft.com/office/drawing/2014/main" id="{D8D414B7-7D69-42D2-8CC2-23DE85469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0" cy="16"/>
              </a:xfrm>
              <a:custGeom>
                <a:avLst/>
                <a:gdLst>
                  <a:gd name="T0" fmla="*/ 0 w 226"/>
                  <a:gd name="T1" fmla="*/ 0 h 287"/>
                  <a:gd name="T2" fmla="*/ 0 w 226"/>
                  <a:gd name="T3" fmla="*/ 0 h 287"/>
                  <a:gd name="T4" fmla="*/ 0 w 226"/>
                  <a:gd name="T5" fmla="*/ 0 h 287"/>
                  <a:gd name="T6" fmla="*/ 0 w 226"/>
                  <a:gd name="T7" fmla="*/ 0 h 287"/>
                  <a:gd name="T8" fmla="*/ 0 w 226"/>
                  <a:gd name="T9" fmla="*/ 0 h 287"/>
                  <a:gd name="T10" fmla="*/ 0 w 226"/>
                  <a:gd name="T11" fmla="*/ 0 h 287"/>
                  <a:gd name="T12" fmla="*/ 0 w 226"/>
                  <a:gd name="T13" fmla="*/ 0 h 287"/>
                  <a:gd name="T14" fmla="*/ 0 w 226"/>
                  <a:gd name="T15" fmla="*/ 0 h 287"/>
                  <a:gd name="T16" fmla="*/ 0 w 226"/>
                  <a:gd name="T17" fmla="*/ 0 h 287"/>
                  <a:gd name="T18" fmla="*/ 0 w 226"/>
                  <a:gd name="T19" fmla="*/ 0 h 287"/>
                  <a:gd name="T20" fmla="*/ 0 w 226"/>
                  <a:gd name="T21" fmla="*/ 0 h 287"/>
                  <a:gd name="T22" fmla="*/ 0 w 226"/>
                  <a:gd name="T23" fmla="*/ 0 h 287"/>
                  <a:gd name="T24" fmla="*/ 0 w 226"/>
                  <a:gd name="T25" fmla="*/ 0 h 287"/>
                  <a:gd name="T26" fmla="*/ 0 w 226"/>
                  <a:gd name="T27" fmla="*/ 0 h 287"/>
                  <a:gd name="T28" fmla="*/ 0 w 226"/>
                  <a:gd name="T29" fmla="*/ 0 h 287"/>
                  <a:gd name="T30" fmla="*/ 0 w 226"/>
                  <a:gd name="T31" fmla="*/ 0 h 287"/>
                  <a:gd name="T32" fmla="*/ 0 w 226"/>
                  <a:gd name="T33" fmla="*/ 0 h 287"/>
                  <a:gd name="T34" fmla="*/ 0 w 226"/>
                  <a:gd name="T35" fmla="*/ 0 h 287"/>
                  <a:gd name="T36" fmla="*/ 0 w 226"/>
                  <a:gd name="T37" fmla="*/ 0 h 287"/>
                  <a:gd name="T38" fmla="*/ 0 w 226"/>
                  <a:gd name="T39" fmla="*/ 0 h 287"/>
                  <a:gd name="T40" fmla="*/ 0 w 226"/>
                  <a:gd name="T41" fmla="*/ 0 h 287"/>
                  <a:gd name="T42" fmla="*/ 0 w 226"/>
                  <a:gd name="T43" fmla="*/ 0 h 287"/>
                  <a:gd name="T44" fmla="*/ 0 w 226"/>
                  <a:gd name="T45" fmla="*/ 0 h 287"/>
                  <a:gd name="T46" fmla="*/ 0 w 226"/>
                  <a:gd name="T47" fmla="*/ 0 h 287"/>
                  <a:gd name="T48" fmla="*/ 0 w 226"/>
                  <a:gd name="T49" fmla="*/ 0 h 287"/>
                  <a:gd name="T50" fmla="*/ 0 w 226"/>
                  <a:gd name="T51" fmla="*/ 0 h 287"/>
                  <a:gd name="T52" fmla="*/ 0 w 226"/>
                  <a:gd name="T53" fmla="*/ 0 h 287"/>
                  <a:gd name="T54" fmla="*/ 0 w 226"/>
                  <a:gd name="T55" fmla="*/ 0 h 287"/>
                  <a:gd name="T56" fmla="*/ 0 w 226"/>
                  <a:gd name="T57" fmla="*/ 0 h 287"/>
                  <a:gd name="T58" fmla="*/ 0 w 226"/>
                  <a:gd name="T59" fmla="*/ 0 h 287"/>
                  <a:gd name="T60" fmla="*/ 0 w 226"/>
                  <a:gd name="T61" fmla="*/ 0 h 287"/>
                  <a:gd name="T62" fmla="*/ 0 w 226"/>
                  <a:gd name="T63" fmla="*/ 0 h 287"/>
                  <a:gd name="T64" fmla="*/ 0 w 226"/>
                  <a:gd name="T65" fmla="*/ 0 h 287"/>
                  <a:gd name="T66" fmla="*/ 0 w 226"/>
                  <a:gd name="T67" fmla="*/ 0 h 287"/>
                  <a:gd name="T68" fmla="*/ 0 w 226"/>
                  <a:gd name="T69" fmla="*/ 0 h 287"/>
                  <a:gd name="T70" fmla="*/ 0 w 226"/>
                  <a:gd name="T71" fmla="*/ 0 h 287"/>
                  <a:gd name="T72" fmla="*/ 0 w 226"/>
                  <a:gd name="T73" fmla="*/ 0 h 287"/>
                  <a:gd name="T74" fmla="*/ 0 w 226"/>
                  <a:gd name="T75" fmla="*/ 0 h 287"/>
                  <a:gd name="T76" fmla="*/ 0 w 226"/>
                  <a:gd name="T77" fmla="*/ 0 h 287"/>
                  <a:gd name="T78" fmla="*/ 0 w 226"/>
                  <a:gd name="T79" fmla="*/ 0 h 287"/>
                  <a:gd name="T80" fmla="*/ 0 w 226"/>
                  <a:gd name="T81" fmla="*/ 0 h 28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26"/>
                  <a:gd name="T124" fmla="*/ 0 h 287"/>
                  <a:gd name="T125" fmla="*/ 226 w 226"/>
                  <a:gd name="T126" fmla="*/ 287 h 28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26" h="287">
                    <a:moveTo>
                      <a:pt x="199" y="285"/>
                    </a:moveTo>
                    <a:lnTo>
                      <a:pt x="209" y="276"/>
                    </a:lnTo>
                    <a:lnTo>
                      <a:pt x="217" y="259"/>
                    </a:lnTo>
                    <a:lnTo>
                      <a:pt x="224" y="234"/>
                    </a:lnTo>
                    <a:lnTo>
                      <a:pt x="226" y="202"/>
                    </a:lnTo>
                    <a:lnTo>
                      <a:pt x="223" y="162"/>
                    </a:lnTo>
                    <a:lnTo>
                      <a:pt x="214" y="115"/>
                    </a:lnTo>
                    <a:lnTo>
                      <a:pt x="200" y="61"/>
                    </a:lnTo>
                    <a:lnTo>
                      <a:pt x="178" y="0"/>
                    </a:lnTo>
                    <a:lnTo>
                      <a:pt x="166" y="5"/>
                    </a:lnTo>
                    <a:lnTo>
                      <a:pt x="155" y="10"/>
                    </a:lnTo>
                    <a:lnTo>
                      <a:pt x="144" y="15"/>
                    </a:lnTo>
                    <a:lnTo>
                      <a:pt x="134" y="20"/>
                    </a:lnTo>
                    <a:lnTo>
                      <a:pt x="123" y="24"/>
                    </a:lnTo>
                    <a:lnTo>
                      <a:pt x="111" y="30"/>
                    </a:lnTo>
                    <a:lnTo>
                      <a:pt x="100" y="34"/>
                    </a:lnTo>
                    <a:lnTo>
                      <a:pt x="89" y="39"/>
                    </a:lnTo>
                    <a:lnTo>
                      <a:pt x="78" y="44"/>
                    </a:lnTo>
                    <a:lnTo>
                      <a:pt x="67" y="49"/>
                    </a:lnTo>
                    <a:lnTo>
                      <a:pt x="55" y="54"/>
                    </a:lnTo>
                    <a:lnTo>
                      <a:pt x="45" y="58"/>
                    </a:lnTo>
                    <a:lnTo>
                      <a:pt x="34" y="63"/>
                    </a:lnTo>
                    <a:lnTo>
                      <a:pt x="23" y="69"/>
                    </a:lnTo>
                    <a:lnTo>
                      <a:pt x="11" y="73"/>
                    </a:lnTo>
                    <a:lnTo>
                      <a:pt x="0" y="78"/>
                    </a:lnTo>
                    <a:lnTo>
                      <a:pt x="13" y="109"/>
                    </a:lnTo>
                    <a:lnTo>
                      <a:pt x="28" y="136"/>
                    </a:lnTo>
                    <a:lnTo>
                      <a:pt x="42" y="161"/>
                    </a:lnTo>
                    <a:lnTo>
                      <a:pt x="56" y="184"/>
                    </a:lnTo>
                    <a:lnTo>
                      <a:pt x="72" y="204"/>
                    </a:lnTo>
                    <a:lnTo>
                      <a:pt x="86" y="221"/>
                    </a:lnTo>
                    <a:lnTo>
                      <a:pt x="101" y="236"/>
                    </a:lnTo>
                    <a:lnTo>
                      <a:pt x="115" y="250"/>
                    </a:lnTo>
                    <a:lnTo>
                      <a:pt x="129" y="260"/>
                    </a:lnTo>
                    <a:lnTo>
                      <a:pt x="142" y="270"/>
                    </a:lnTo>
                    <a:lnTo>
                      <a:pt x="155" y="276"/>
                    </a:lnTo>
                    <a:lnTo>
                      <a:pt x="166" y="282"/>
                    </a:lnTo>
                    <a:lnTo>
                      <a:pt x="177" y="285"/>
                    </a:lnTo>
                    <a:lnTo>
                      <a:pt x="186" y="287"/>
                    </a:lnTo>
                    <a:lnTo>
                      <a:pt x="193" y="287"/>
                    </a:lnTo>
                    <a:lnTo>
                      <a:pt x="199" y="285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62" name="Freeform 446">
                <a:extLst>
                  <a:ext uri="{FF2B5EF4-FFF2-40B4-BE49-F238E27FC236}">
                    <a16:creationId xmlns:a16="http://schemas.microsoft.com/office/drawing/2014/main" id="{D385ECE4-D028-4DC1-8C29-82FD8950D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4"/>
                <a:ext cx="9" cy="15"/>
              </a:xfrm>
              <a:custGeom>
                <a:avLst/>
                <a:gdLst>
                  <a:gd name="T0" fmla="*/ 0 w 202"/>
                  <a:gd name="T1" fmla="*/ 0 h 274"/>
                  <a:gd name="T2" fmla="*/ 0 w 202"/>
                  <a:gd name="T3" fmla="*/ 0 h 274"/>
                  <a:gd name="T4" fmla="*/ 0 w 202"/>
                  <a:gd name="T5" fmla="*/ 0 h 274"/>
                  <a:gd name="T6" fmla="*/ 0 w 202"/>
                  <a:gd name="T7" fmla="*/ 0 h 274"/>
                  <a:gd name="T8" fmla="*/ 0 w 202"/>
                  <a:gd name="T9" fmla="*/ 0 h 274"/>
                  <a:gd name="T10" fmla="*/ 0 w 202"/>
                  <a:gd name="T11" fmla="*/ 0 h 274"/>
                  <a:gd name="T12" fmla="*/ 0 w 202"/>
                  <a:gd name="T13" fmla="*/ 0 h 274"/>
                  <a:gd name="T14" fmla="*/ 0 w 202"/>
                  <a:gd name="T15" fmla="*/ 0 h 274"/>
                  <a:gd name="T16" fmla="*/ 0 w 202"/>
                  <a:gd name="T17" fmla="*/ 0 h 274"/>
                  <a:gd name="T18" fmla="*/ 0 w 202"/>
                  <a:gd name="T19" fmla="*/ 0 h 274"/>
                  <a:gd name="T20" fmla="*/ 0 w 202"/>
                  <a:gd name="T21" fmla="*/ 0 h 274"/>
                  <a:gd name="T22" fmla="*/ 0 w 202"/>
                  <a:gd name="T23" fmla="*/ 0 h 274"/>
                  <a:gd name="T24" fmla="*/ 0 w 202"/>
                  <a:gd name="T25" fmla="*/ 0 h 274"/>
                  <a:gd name="T26" fmla="*/ 0 w 202"/>
                  <a:gd name="T27" fmla="*/ 0 h 274"/>
                  <a:gd name="T28" fmla="*/ 0 w 202"/>
                  <a:gd name="T29" fmla="*/ 0 h 274"/>
                  <a:gd name="T30" fmla="*/ 0 w 202"/>
                  <a:gd name="T31" fmla="*/ 0 h 274"/>
                  <a:gd name="T32" fmla="*/ 0 w 202"/>
                  <a:gd name="T33" fmla="*/ 0 h 274"/>
                  <a:gd name="T34" fmla="*/ 0 w 202"/>
                  <a:gd name="T35" fmla="*/ 0 h 274"/>
                  <a:gd name="T36" fmla="*/ 0 w 202"/>
                  <a:gd name="T37" fmla="*/ 0 h 274"/>
                  <a:gd name="T38" fmla="*/ 0 w 202"/>
                  <a:gd name="T39" fmla="*/ 0 h 274"/>
                  <a:gd name="T40" fmla="*/ 0 w 202"/>
                  <a:gd name="T41" fmla="*/ 0 h 274"/>
                  <a:gd name="T42" fmla="*/ 0 w 202"/>
                  <a:gd name="T43" fmla="*/ 0 h 274"/>
                  <a:gd name="T44" fmla="*/ 0 w 202"/>
                  <a:gd name="T45" fmla="*/ 0 h 274"/>
                  <a:gd name="T46" fmla="*/ 0 w 202"/>
                  <a:gd name="T47" fmla="*/ 0 h 274"/>
                  <a:gd name="T48" fmla="*/ 0 w 202"/>
                  <a:gd name="T49" fmla="*/ 0 h 274"/>
                  <a:gd name="T50" fmla="*/ 0 w 202"/>
                  <a:gd name="T51" fmla="*/ 0 h 274"/>
                  <a:gd name="T52" fmla="*/ 0 w 202"/>
                  <a:gd name="T53" fmla="*/ 0 h 274"/>
                  <a:gd name="T54" fmla="*/ 0 w 202"/>
                  <a:gd name="T55" fmla="*/ 0 h 274"/>
                  <a:gd name="T56" fmla="*/ 0 w 202"/>
                  <a:gd name="T57" fmla="*/ 0 h 274"/>
                  <a:gd name="T58" fmla="*/ 0 w 202"/>
                  <a:gd name="T59" fmla="*/ 0 h 274"/>
                  <a:gd name="T60" fmla="*/ 0 w 202"/>
                  <a:gd name="T61" fmla="*/ 0 h 274"/>
                  <a:gd name="T62" fmla="*/ 0 w 202"/>
                  <a:gd name="T63" fmla="*/ 0 h 274"/>
                  <a:gd name="T64" fmla="*/ 0 w 202"/>
                  <a:gd name="T65" fmla="*/ 0 h 2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2"/>
                  <a:gd name="T100" fmla="*/ 0 h 274"/>
                  <a:gd name="T101" fmla="*/ 202 w 202"/>
                  <a:gd name="T102" fmla="*/ 274 h 2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2" h="274">
                    <a:moveTo>
                      <a:pt x="189" y="273"/>
                    </a:moveTo>
                    <a:lnTo>
                      <a:pt x="196" y="265"/>
                    </a:lnTo>
                    <a:lnTo>
                      <a:pt x="201" y="251"/>
                    </a:lnTo>
                    <a:lnTo>
                      <a:pt x="202" y="227"/>
                    </a:lnTo>
                    <a:lnTo>
                      <a:pt x="200" y="197"/>
                    </a:lnTo>
                    <a:lnTo>
                      <a:pt x="193" y="159"/>
                    </a:lnTo>
                    <a:lnTo>
                      <a:pt x="182" y="114"/>
                    </a:lnTo>
                    <a:lnTo>
                      <a:pt x="165" y="60"/>
                    </a:lnTo>
                    <a:lnTo>
                      <a:pt x="142" y="0"/>
                    </a:lnTo>
                    <a:lnTo>
                      <a:pt x="125" y="7"/>
                    </a:lnTo>
                    <a:lnTo>
                      <a:pt x="107" y="14"/>
                    </a:lnTo>
                    <a:lnTo>
                      <a:pt x="89" y="23"/>
                    </a:lnTo>
                    <a:lnTo>
                      <a:pt x="72" y="30"/>
                    </a:lnTo>
                    <a:lnTo>
                      <a:pt x="53" y="39"/>
                    </a:lnTo>
                    <a:lnTo>
                      <a:pt x="36" y="46"/>
                    </a:lnTo>
                    <a:lnTo>
                      <a:pt x="18" y="54"/>
                    </a:lnTo>
                    <a:lnTo>
                      <a:pt x="0" y="62"/>
                    </a:lnTo>
                    <a:lnTo>
                      <a:pt x="14" y="92"/>
                    </a:lnTo>
                    <a:lnTo>
                      <a:pt x="28" y="120"/>
                    </a:lnTo>
                    <a:lnTo>
                      <a:pt x="41" y="145"/>
                    </a:lnTo>
                    <a:lnTo>
                      <a:pt x="57" y="168"/>
                    </a:lnTo>
                    <a:lnTo>
                      <a:pt x="71" y="188"/>
                    </a:lnTo>
                    <a:lnTo>
                      <a:pt x="85" y="206"/>
                    </a:lnTo>
                    <a:lnTo>
                      <a:pt x="98" y="221"/>
                    </a:lnTo>
                    <a:lnTo>
                      <a:pt x="113" y="235"/>
                    </a:lnTo>
                    <a:lnTo>
                      <a:pt x="126" y="246"/>
                    </a:lnTo>
                    <a:lnTo>
                      <a:pt x="138" y="256"/>
                    </a:lnTo>
                    <a:lnTo>
                      <a:pt x="149" y="262"/>
                    </a:lnTo>
                    <a:lnTo>
                      <a:pt x="160" y="268"/>
                    </a:lnTo>
                    <a:lnTo>
                      <a:pt x="170" y="272"/>
                    </a:lnTo>
                    <a:lnTo>
                      <a:pt x="178" y="274"/>
                    </a:lnTo>
                    <a:lnTo>
                      <a:pt x="184" y="274"/>
                    </a:lnTo>
                    <a:lnTo>
                      <a:pt x="189" y="273"/>
                    </a:lnTo>
                    <a:close/>
                  </a:path>
                </a:pathLst>
              </a:custGeom>
              <a:solidFill>
                <a:srgbClr val="474F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63" name="Freeform 447">
                <a:extLst>
                  <a:ext uri="{FF2B5EF4-FFF2-40B4-BE49-F238E27FC236}">
                    <a16:creationId xmlns:a16="http://schemas.microsoft.com/office/drawing/2014/main" id="{E3EE3786-F0DC-4AD1-9F7F-C9F566530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9" cy="14"/>
              </a:xfrm>
              <a:custGeom>
                <a:avLst/>
                <a:gdLst>
                  <a:gd name="T0" fmla="*/ 0 w 186"/>
                  <a:gd name="T1" fmla="*/ 0 h 264"/>
                  <a:gd name="T2" fmla="*/ 0 w 186"/>
                  <a:gd name="T3" fmla="*/ 0 h 264"/>
                  <a:gd name="T4" fmla="*/ 0 w 186"/>
                  <a:gd name="T5" fmla="*/ 0 h 264"/>
                  <a:gd name="T6" fmla="*/ 0 w 186"/>
                  <a:gd name="T7" fmla="*/ 0 h 264"/>
                  <a:gd name="T8" fmla="*/ 0 w 186"/>
                  <a:gd name="T9" fmla="*/ 0 h 264"/>
                  <a:gd name="T10" fmla="*/ 0 w 186"/>
                  <a:gd name="T11" fmla="*/ 0 h 264"/>
                  <a:gd name="T12" fmla="*/ 0 w 186"/>
                  <a:gd name="T13" fmla="*/ 0 h 264"/>
                  <a:gd name="T14" fmla="*/ 0 w 186"/>
                  <a:gd name="T15" fmla="*/ 0 h 264"/>
                  <a:gd name="T16" fmla="*/ 0 w 186"/>
                  <a:gd name="T17" fmla="*/ 0 h 264"/>
                  <a:gd name="T18" fmla="*/ 0 w 186"/>
                  <a:gd name="T19" fmla="*/ 0 h 264"/>
                  <a:gd name="T20" fmla="*/ 0 w 186"/>
                  <a:gd name="T21" fmla="*/ 0 h 264"/>
                  <a:gd name="T22" fmla="*/ 0 w 186"/>
                  <a:gd name="T23" fmla="*/ 0 h 264"/>
                  <a:gd name="T24" fmla="*/ 0 w 186"/>
                  <a:gd name="T25" fmla="*/ 0 h 264"/>
                  <a:gd name="T26" fmla="*/ 0 w 186"/>
                  <a:gd name="T27" fmla="*/ 0 h 264"/>
                  <a:gd name="T28" fmla="*/ 0 w 186"/>
                  <a:gd name="T29" fmla="*/ 0 h 264"/>
                  <a:gd name="T30" fmla="*/ 0 w 186"/>
                  <a:gd name="T31" fmla="*/ 0 h 264"/>
                  <a:gd name="T32" fmla="*/ 0 w 186"/>
                  <a:gd name="T33" fmla="*/ 0 h 264"/>
                  <a:gd name="T34" fmla="*/ 0 w 186"/>
                  <a:gd name="T35" fmla="*/ 0 h 264"/>
                  <a:gd name="T36" fmla="*/ 0 w 186"/>
                  <a:gd name="T37" fmla="*/ 0 h 264"/>
                  <a:gd name="T38" fmla="*/ 0 w 186"/>
                  <a:gd name="T39" fmla="*/ 0 h 264"/>
                  <a:gd name="T40" fmla="*/ 0 w 186"/>
                  <a:gd name="T41" fmla="*/ 0 h 264"/>
                  <a:gd name="T42" fmla="*/ 0 w 186"/>
                  <a:gd name="T43" fmla="*/ 0 h 264"/>
                  <a:gd name="T44" fmla="*/ 0 w 186"/>
                  <a:gd name="T45" fmla="*/ 0 h 264"/>
                  <a:gd name="T46" fmla="*/ 0 w 186"/>
                  <a:gd name="T47" fmla="*/ 0 h 264"/>
                  <a:gd name="T48" fmla="*/ 0 w 186"/>
                  <a:gd name="T49" fmla="*/ 0 h 264"/>
                  <a:gd name="T50" fmla="*/ 0 w 186"/>
                  <a:gd name="T51" fmla="*/ 0 h 264"/>
                  <a:gd name="T52" fmla="*/ 0 w 186"/>
                  <a:gd name="T53" fmla="*/ 0 h 264"/>
                  <a:gd name="T54" fmla="*/ 0 w 186"/>
                  <a:gd name="T55" fmla="*/ 0 h 264"/>
                  <a:gd name="T56" fmla="*/ 0 w 186"/>
                  <a:gd name="T57" fmla="*/ 0 h 264"/>
                  <a:gd name="T58" fmla="*/ 0 w 186"/>
                  <a:gd name="T59" fmla="*/ 0 h 264"/>
                  <a:gd name="T60" fmla="*/ 0 w 186"/>
                  <a:gd name="T61" fmla="*/ 0 h 264"/>
                  <a:gd name="T62" fmla="*/ 0 w 186"/>
                  <a:gd name="T63" fmla="*/ 0 h 264"/>
                  <a:gd name="T64" fmla="*/ 0 w 186"/>
                  <a:gd name="T65" fmla="*/ 0 h 2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6"/>
                  <a:gd name="T100" fmla="*/ 0 h 264"/>
                  <a:gd name="T101" fmla="*/ 186 w 186"/>
                  <a:gd name="T102" fmla="*/ 264 h 26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6" h="264">
                    <a:moveTo>
                      <a:pt x="180" y="263"/>
                    </a:moveTo>
                    <a:lnTo>
                      <a:pt x="185" y="256"/>
                    </a:lnTo>
                    <a:lnTo>
                      <a:pt x="186" y="243"/>
                    </a:lnTo>
                    <a:lnTo>
                      <a:pt x="183" y="222"/>
                    </a:lnTo>
                    <a:lnTo>
                      <a:pt x="177" y="193"/>
                    </a:lnTo>
                    <a:lnTo>
                      <a:pt x="166" y="157"/>
                    </a:lnTo>
                    <a:lnTo>
                      <a:pt x="151" y="113"/>
                    </a:lnTo>
                    <a:lnTo>
                      <a:pt x="131" y="60"/>
                    </a:lnTo>
                    <a:lnTo>
                      <a:pt x="108" y="0"/>
                    </a:lnTo>
                    <a:lnTo>
                      <a:pt x="94" y="7"/>
                    </a:lnTo>
                    <a:lnTo>
                      <a:pt x="80" y="13"/>
                    </a:lnTo>
                    <a:lnTo>
                      <a:pt x="67" y="18"/>
                    </a:lnTo>
                    <a:lnTo>
                      <a:pt x="54" y="24"/>
                    </a:lnTo>
                    <a:lnTo>
                      <a:pt x="40" y="30"/>
                    </a:lnTo>
                    <a:lnTo>
                      <a:pt x="27" y="36"/>
                    </a:lnTo>
                    <a:lnTo>
                      <a:pt x="13" y="41"/>
                    </a:lnTo>
                    <a:lnTo>
                      <a:pt x="0" y="48"/>
                    </a:lnTo>
                    <a:lnTo>
                      <a:pt x="13" y="78"/>
                    </a:lnTo>
                    <a:lnTo>
                      <a:pt x="26" y="106"/>
                    </a:lnTo>
                    <a:lnTo>
                      <a:pt x="40" y="131"/>
                    </a:lnTo>
                    <a:lnTo>
                      <a:pt x="55" y="154"/>
                    </a:lnTo>
                    <a:lnTo>
                      <a:pt x="69" y="174"/>
                    </a:lnTo>
                    <a:lnTo>
                      <a:pt x="83" y="192"/>
                    </a:lnTo>
                    <a:lnTo>
                      <a:pt x="96" y="208"/>
                    </a:lnTo>
                    <a:lnTo>
                      <a:pt x="110" y="222"/>
                    </a:lnTo>
                    <a:lnTo>
                      <a:pt x="122" y="233"/>
                    </a:lnTo>
                    <a:lnTo>
                      <a:pt x="134" y="243"/>
                    </a:lnTo>
                    <a:lnTo>
                      <a:pt x="145" y="250"/>
                    </a:lnTo>
                    <a:lnTo>
                      <a:pt x="155" y="256"/>
                    </a:lnTo>
                    <a:lnTo>
                      <a:pt x="164" y="261"/>
                    </a:lnTo>
                    <a:lnTo>
                      <a:pt x="171" y="263"/>
                    </a:lnTo>
                    <a:lnTo>
                      <a:pt x="176" y="264"/>
                    </a:lnTo>
                    <a:lnTo>
                      <a:pt x="180" y="26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64" name="Freeform 448">
                <a:extLst>
                  <a:ext uri="{FF2B5EF4-FFF2-40B4-BE49-F238E27FC236}">
                    <a16:creationId xmlns:a16="http://schemas.microsoft.com/office/drawing/2014/main" id="{DBBC62D4-B932-432A-BB9B-A641C4DF32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8" cy="14"/>
              </a:xfrm>
              <a:custGeom>
                <a:avLst/>
                <a:gdLst>
                  <a:gd name="T0" fmla="*/ 0 w 173"/>
                  <a:gd name="T1" fmla="*/ 0 h 251"/>
                  <a:gd name="T2" fmla="*/ 0 w 173"/>
                  <a:gd name="T3" fmla="*/ 0 h 251"/>
                  <a:gd name="T4" fmla="*/ 0 w 173"/>
                  <a:gd name="T5" fmla="*/ 0 h 251"/>
                  <a:gd name="T6" fmla="*/ 0 w 173"/>
                  <a:gd name="T7" fmla="*/ 0 h 251"/>
                  <a:gd name="T8" fmla="*/ 0 w 173"/>
                  <a:gd name="T9" fmla="*/ 0 h 251"/>
                  <a:gd name="T10" fmla="*/ 0 w 173"/>
                  <a:gd name="T11" fmla="*/ 0 h 251"/>
                  <a:gd name="T12" fmla="*/ 0 w 173"/>
                  <a:gd name="T13" fmla="*/ 0 h 251"/>
                  <a:gd name="T14" fmla="*/ 0 w 173"/>
                  <a:gd name="T15" fmla="*/ 0 h 251"/>
                  <a:gd name="T16" fmla="*/ 0 w 173"/>
                  <a:gd name="T17" fmla="*/ 0 h 251"/>
                  <a:gd name="T18" fmla="*/ 0 w 173"/>
                  <a:gd name="T19" fmla="*/ 0 h 251"/>
                  <a:gd name="T20" fmla="*/ 0 w 173"/>
                  <a:gd name="T21" fmla="*/ 0 h 251"/>
                  <a:gd name="T22" fmla="*/ 0 w 173"/>
                  <a:gd name="T23" fmla="*/ 0 h 251"/>
                  <a:gd name="T24" fmla="*/ 0 w 173"/>
                  <a:gd name="T25" fmla="*/ 0 h 251"/>
                  <a:gd name="T26" fmla="*/ 0 w 173"/>
                  <a:gd name="T27" fmla="*/ 0 h 251"/>
                  <a:gd name="T28" fmla="*/ 0 w 173"/>
                  <a:gd name="T29" fmla="*/ 0 h 251"/>
                  <a:gd name="T30" fmla="*/ 0 w 173"/>
                  <a:gd name="T31" fmla="*/ 0 h 251"/>
                  <a:gd name="T32" fmla="*/ 0 w 173"/>
                  <a:gd name="T33" fmla="*/ 0 h 251"/>
                  <a:gd name="T34" fmla="*/ 0 w 173"/>
                  <a:gd name="T35" fmla="*/ 0 h 251"/>
                  <a:gd name="T36" fmla="*/ 0 w 173"/>
                  <a:gd name="T37" fmla="*/ 0 h 251"/>
                  <a:gd name="T38" fmla="*/ 0 w 173"/>
                  <a:gd name="T39" fmla="*/ 0 h 251"/>
                  <a:gd name="T40" fmla="*/ 0 w 173"/>
                  <a:gd name="T41" fmla="*/ 0 h 251"/>
                  <a:gd name="T42" fmla="*/ 0 w 173"/>
                  <a:gd name="T43" fmla="*/ 0 h 251"/>
                  <a:gd name="T44" fmla="*/ 0 w 173"/>
                  <a:gd name="T45" fmla="*/ 0 h 251"/>
                  <a:gd name="T46" fmla="*/ 0 w 173"/>
                  <a:gd name="T47" fmla="*/ 0 h 251"/>
                  <a:gd name="T48" fmla="*/ 0 w 173"/>
                  <a:gd name="T49" fmla="*/ 0 h 251"/>
                  <a:gd name="T50" fmla="*/ 0 w 173"/>
                  <a:gd name="T51" fmla="*/ 0 h 251"/>
                  <a:gd name="T52" fmla="*/ 0 w 173"/>
                  <a:gd name="T53" fmla="*/ 0 h 251"/>
                  <a:gd name="T54" fmla="*/ 0 w 173"/>
                  <a:gd name="T55" fmla="*/ 0 h 251"/>
                  <a:gd name="T56" fmla="*/ 0 w 173"/>
                  <a:gd name="T57" fmla="*/ 0 h 251"/>
                  <a:gd name="T58" fmla="*/ 0 w 173"/>
                  <a:gd name="T59" fmla="*/ 0 h 251"/>
                  <a:gd name="T60" fmla="*/ 0 w 173"/>
                  <a:gd name="T61" fmla="*/ 0 h 251"/>
                  <a:gd name="T62" fmla="*/ 0 w 173"/>
                  <a:gd name="T63" fmla="*/ 0 h 251"/>
                  <a:gd name="T64" fmla="*/ 0 w 173"/>
                  <a:gd name="T65" fmla="*/ 0 h 25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3"/>
                  <a:gd name="T100" fmla="*/ 0 h 251"/>
                  <a:gd name="T101" fmla="*/ 173 w 173"/>
                  <a:gd name="T102" fmla="*/ 251 h 25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3" h="251">
                    <a:moveTo>
                      <a:pt x="171" y="251"/>
                    </a:moveTo>
                    <a:lnTo>
                      <a:pt x="173" y="245"/>
                    </a:lnTo>
                    <a:lnTo>
                      <a:pt x="170" y="233"/>
                    </a:lnTo>
                    <a:lnTo>
                      <a:pt x="164" y="214"/>
                    </a:lnTo>
                    <a:lnTo>
                      <a:pt x="153" y="187"/>
                    </a:lnTo>
                    <a:lnTo>
                      <a:pt x="137" y="153"/>
                    </a:lnTo>
                    <a:lnTo>
                      <a:pt x="119" y="110"/>
                    </a:lnTo>
                    <a:lnTo>
                      <a:pt x="97" y="60"/>
                    </a:lnTo>
                    <a:lnTo>
                      <a:pt x="72" y="0"/>
                    </a:lnTo>
                    <a:lnTo>
                      <a:pt x="63" y="4"/>
                    </a:lnTo>
                    <a:lnTo>
                      <a:pt x="54" y="7"/>
                    </a:lnTo>
                    <a:lnTo>
                      <a:pt x="45" y="11"/>
                    </a:lnTo>
                    <a:lnTo>
                      <a:pt x="36" y="16"/>
                    </a:lnTo>
                    <a:lnTo>
                      <a:pt x="27" y="20"/>
                    </a:lnTo>
                    <a:lnTo>
                      <a:pt x="18" y="23"/>
                    </a:lnTo>
                    <a:lnTo>
                      <a:pt x="9" y="27"/>
                    </a:lnTo>
                    <a:lnTo>
                      <a:pt x="0" y="31"/>
                    </a:lnTo>
                    <a:lnTo>
                      <a:pt x="13" y="62"/>
                    </a:lnTo>
                    <a:lnTo>
                      <a:pt x="26" y="89"/>
                    </a:lnTo>
                    <a:lnTo>
                      <a:pt x="41" y="115"/>
                    </a:lnTo>
                    <a:lnTo>
                      <a:pt x="54" y="138"/>
                    </a:lnTo>
                    <a:lnTo>
                      <a:pt x="68" y="159"/>
                    </a:lnTo>
                    <a:lnTo>
                      <a:pt x="81" y="177"/>
                    </a:lnTo>
                    <a:lnTo>
                      <a:pt x="95" y="193"/>
                    </a:lnTo>
                    <a:lnTo>
                      <a:pt x="107" y="206"/>
                    </a:lnTo>
                    <a:lnTo>
                      <a:pt x="119" y="218"/>
                    </a:lnTo>
                    <a:lnTo>
                      <a:pt x="130" y="229"/>
                    </a:lnTo>
                    <a:lnTo>
                      <a:pt x="141" y="236"/>
                    </a:lnTo>
                    <a:lnTo>
                      <a:pt x="150" y="242"/>
                    </a:lnTo>
                    <a:lnTo>
                      <a:pt x="157" y="246"/>
                    </a:lnTo>
                    <a:lnTo>
                      <a:pt x="163" y="250"/>
                    </a:lnTo>
                    <a:lnTo>
                      <a:pt x="168" y="251"/>
                    </a:lnTo>
                    <a:lnTo>
                      <a:pt x="171" y="251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65" name="Freeform 449">
                <a:extLst>
                  <a:ext uri="{FF2B5EF4-FFF2-40B4-BE49-F238E27FC236}">
                    <a16:creationId xmlns:a16="http://schemas.microsoft.com/office/drawing/2014/main" id="{4A8A483D-6D40-4739-8E88-94AB21A0B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436"/>
                <a:ext cx="7" cy="13"/>
              </a:xfrm>
              <a:custGeom>
                <a:avLst/>
                <a:gdLst>
                  <a:gd name="T0" fmla="*/ 0 w 163"/>
                  <a:gd name="T1" fmla="*/ 0 h 240"/>
                  <a:gd name="T2" fmla="*/ 0 w 163"/>
                  <a:gd name="T3" fmla="*/ 0 h 240"/>
                  <a:gd name="T4" fmla="*/ 0 w 163"/>
                  <a:gd name="T5" fmla="*/ 0 h 240"/>
                  <a:gd name="T6" fmla="*/ 0 w 163"/>
                  <a:gd name="T7" fmla="*/ 0 h 240"/>
                  <a:gd name="T8" fmla="*/ 0 w 163"/>
                  <a:gd name="T9" fmla="*/ 0 h 240"/>
                  <a:gd name="T10" fmla="*/ 0 w 163"/>
                  <a:gd name="T11" fmla="*/ 0 h 240"/>
                  <a:gd name="T12" fmla="*/ 0 w 163"/>
                  <a:gd name="T13" fmla="*/ 0 h 240"/>
                  <a:gd name="T14" fmla="*/ 0 w 163"/>
                  <a:gd name="T15" fmla="*/ 0 h 240"/>
                  <a:gd name="T16" fmla="*/ 0 w 163"/>
                  <a:gd name="T17" fmla="*/ 0 h 240"/>
                  <a:gd name="T18" fmla="*/ 0 w 163"/>
                  <a:gd name="T19" fmla="*/ 0 h 240"/>
                  <a:gd name="T20" fmla="*/ 0 w 163"/>
                  <a:gd name="T21" fmla="*/ 0 h 240"/>
                  <a:gd name="T22" fmla="*/ 0 w 163"/>
                  <a:gd name="T23" fmla="*/ 0 h 240"/>
                  <a:gd name="T24" fmla="*/ 0 w 163"/>
                  <a:gd name="T25" fmla="*/ 0 h 240"/>
                  <a:gd name="T26" fmla="*/ 0 w 163"/>
                  <a:gd name="T27" fmla="*/ 0 h 240"/>
                  <a:gd name="T28" fmla="*/ 0 w 163"/>
                  <a:gd name="T29" fmla="*/ 0 h 240"/>
                  <a:gd name="T30" fmla="*/ 0 w 163"/>
                  <a:gd name="T31" fmla="*/ 0 h 240"/>
                  <a:gd name="T32" fmla="*/ 0 w 163"/>
                  <a:gd name="T33" fmla="*/ 0 h 240"/>
                  <a:gd name="T34" fmla="*/ 0 w 163"/>
                  <a:gd name="T35" fmla="*/ 0 h 240"/>
                  <a:gd name="T36" fmla="*/ 0 w 163"/>
                  <a:gd name="T37" fmla="*/ 0 h 240"/>
                  <a:gd name="T38" fmla="*/ 0 w 163"/>
                  <a:gd name="T39" fmla="*/ 0 h 240"/>
                  <a:gd name="T40" fmla="*/ 0 w 163"/>
                  <a:gd name="T41" fmla="*/ 0 h 240"/>
                  <a:gd name="T42" fmla="*/ 0 w 163"/>
                  <a:gd name="T43" fmla="*/ 0 h 240"/>
                  <a:gd name="T44" fmla="*/ 0 w 163"/>
                  <a:gd name="T45" fmla="*/ 0 h 240"/>
                  <a:gd name="T46" fmla="*/ 0 w 163"/>
                  <a:gd name="T47" fmla="*/ 0 h 240"/>
                  <a:gd name="T48" fmla="*/ 0 w 163"/>
                  <a:gd name="T49" fmla="*/ 0 h 240"/>
                  <a:gd name="T50" fmla="*/ 0 w 163"/>
                  <a:gd name="T51" fmla="*/ 0 h 240"/>
                  <a:gd name="T52" fmla="*/ 0 w 163"/>
                  <a:gd name="T53" fmla="*/ 0 h 240"/>
                  <a:gd name="T54" fmla="*/ 0 w 163"/>
                  <a:gd name="T55" fmla="*/ 0 h 240"/>
                  <a:gd name="T56" fmla="*/ 0 w 163"/>
                  <a:gd name="T57" fmla="*/ 0 h 240"/>
                  <a:gd name="T58" fmla="*/ 0 w 163"/>
                  <a:gd name="T59" fmla="*/ 0 h 240"/>
                  <a:gd name="T60" fmla="*/ 0 w 163"/>
                  <a:gd name="T61" fmla="*/ 0 h 240"/>
                  <a:gd name="T62" fmla="*/ 0 w 163"/>
                  <a:gd name="T63" fmla="*/ 0 h 240"/>
                  <a:gd name="T64" fmla="*/ 0 w 163"/>
                  <a:gd name="T65" fmla="*/ 0 h 2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63"/>
                  <a:gd name="T100" fmla="*/ 0 h 240"/>
                  <a:gd name="T101" fmla="*/ 163 w 163"/>
                  <a:gd name="T102" fmla="*/ 240 h 24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63" h="240">
                    <a:moveTo>
                      <a:pt x="163" y="240"/>
                    </a:moveTo>
                    <a:lnTo>
                      <a:pt x="162" y="235"/>
                    </a:lnTo>
                    <a:lnTo>
                      <a:pt x="156" y="225"/>
                    </a:lnTo>
                    <a:lnTo>
                      <a:pt x="145" y="208"/>
                    </a:lnTo>
                    <a:lnTo>
                      <a:pt x="129" y="183"/>
                    </a:lnTo>
                    <a:lnTo>
                      <a:pt x="110" y="150"/>
                    </a:lnTo>
                    <a:lnTo>
                      <a:pt x="89" y="110"/>
                    </a:lnTo>
                    <a:lnTo>
                      <a:pt x="64" y="59"/>
                    </a:lnTo>
                    <a:lnTo>
                      <a:pt x="39" y="0"/>
                    </a:lnTo>
                    <a:lnTo>
                      <a:pt x="34" y="2"/>
                    </a:lnTo>
                    <a:lnTo>
                      <a:pt x="28" y="5"/>
                    </a:lnTo>
                    <a:lnTo>
                      <a:pt x="24" y="7"/>
                    </a:lnTo>
                    <a:lnTo>
                      <a:pt x="19" y="9"/>
                    </a:lnTo>
                    <a:lnTo>
                      <a:pt x="14" y="11"/>
                    </a:lnTo>
                    <a:lnTo>
                      <a:pt x="10" y="13"/>
                    </a:lnTo>
                    <a:lnTo>
                      <a:pt x="5" y="15"/>
                    </a:lnTo>
                    <a:lnTo>
                      <a:pt x="0" y="17"/>
                    </a:lnTo>
                    <a:lnTo>
                      <a:pt x="13" y="48"/>
                    </a:lnTo>
                    <a:lnTo>
                      <a:pt x="26" y="75"/>
                    </a:lnTo>
                    <a:lnTo>
                      <a:pt x="41" y="102"/>
                    </a:lnTo>
                    <a:lnTo>
                      <a:pt x="54" y="124"/>
                    </a:lnTo>
                    <a:lnTo>
                      <a:pt x="68" y="145"/>
                    </a:lnTo>
                    <a:lnTo>
                      <a:pt x="82" y="163"/>
                    </a:lnTo>
                    <a:lnTo>
                      <a:pt x="94" y="180"/>
                    </a:lnTo>
                    <a:lnTo>
                      <a:pt x="106" y="193"/>
                    </a:lnTo>
                    <a:lnTo>
                      <a:pt x="117" y="205"/>
                    </a:lnTo>
                    <a:lnTo>
                      <a:pt x="127" y="215"/>
                    </a:lnTo>
                    <a:lnTo>
                      <a:pt x="138" y="224"/>
                    </a:lnTo>
                    <a:lnTo>
                      <a:pt x="146" y="230"/>
                    </a:lnTo>
                    <a:lnTo>
                      <a:pt x="152" y="234"/>
                    </a:lnTo>
                    <a:lnTo>
                      <a:pt x="158" y="238"/>
                    </a:lnTo>
                    <a:lnTo>
                      <a:pt x="161" y="240"/>
                    </a:lnTo>
                    <a:lnTo>
                      <a:pt x="163" y="240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66" name="Freeform 450">
                <a:extLst>
                  <a:ext uri="{FF2B5EF4-FFF2-40B4-BE49-F238E27FC236}">
                    <a16:creationId xmlns:a16="http://schemas.microsoft.com/office/drawing/2014/main" id="{7453F921-BCD5-42B6-B86E-72CEB24C6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449"/>
                <a:ext cx="2" cy="5"/>
              </a:xfrm>
              <a:custGeom>
                <a:avLst/>
                <a:gdLst>
                  <a:gd name="T0" fmla="*/ 0 w 48"/>
                  <a:gd name="T1" fmla="*/ 0 h 99"/>
                  <a:gd name="T2" fmla="*/ 0 w 48"/>
                  <a:gd name="T3" fmla="*/ 0 h 99"/>
                  <a:gd name="T4" fmla="*/ 0 w 48"/>
                  <a:gd name="T5" fmla="*/ 0 h 99"/>
                  <a:gd name="T6" fmla="*/ 0 w 48"/>
                  <a:gd name="T7" fmla="*/ 0 h 99"/>
                  <a:gd name="T8" fmla="*/ 0 w 48"/>
                  <a:gd name="T9" fmla="*/ 0 h 99"/>
                  <a:gd name="T10" fmla="*/ 0 w 48"/>
                  <a:gd name="T11" fmla="*/ 0 h 99"/>
                  <a:gd name="T12" fmla="*/ 0 w 48"/>
                  <a:gd name="T13" fmla="*/ 0 h 99"/>
                  <a:gd name="T14" fmla="*/ 0 w 48"/>
                  <a:gd name="T15" fmla="*/ 0 h 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8"/>
                  <a:gd name="T25" fmla="*/ 0 h 99"/>
                  <a:gd name="T26" fmla="*/ 48 w 48"/>
                  <a:gd name="T27" fmla="*/ 99 h 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8" h="99">
                    <a:moveTo>
                      <a:pt x="13" y="0"/>
                    </a:moveTo>
                    <a:lnTo>
                      <a:pt x="44" y="76"/>
                    </a:lnTo>
                    <a:lnTo>
                      <a:pt x="48" y="92"/>
                    </a:lnTo>
                    <a:lnTo>
                      <a:pt x="46" y="99"/>
                    </a:lnTo>
                    <a:lnTo>
                      <a:pt x="39" y="96"/>
                    </a:lnTo>
                    <a:lnTo>
                      <a:pt x="31" y="83"/>
                    </a:lnTo>
                    <a:lnTo>
                      <a:pt x="0" y="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340" name="Group 451">
              <a:extLst>
                <a:ext uri="{FF2B5EF4-FFF2-40B4-BE49-F238E27FC236}">
                  <a16:creationId xmlns:a16="http://schemas.microsoft.com/office/drawing/2014/main" id="{EEDAF98F-5B4B-41DC-9458-159CA2405E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4600" y="2819400"/>
              <a:ext cx="469900" cy="685800"/>
              <a:chOff x="3360" y="3024"/>
              <a:chExt cx="296" cy="432"/>
            </a:xfrm>
          </p:grpSpPr>
          <p:sp>
            <p:nvSpPr>
              <p:cNvPr id="98559" name="Freeform 452">
                <a:extLst>
                  <a:ext uri="{FF2B5EF4-FFF2-40B4-BE49-F238E27FC236}">
                    <a16:creationId xmlns:a16="http://schemas.microsoft.com/office/drawing/2014/main" id="{ED92F890-99BD-45C9-ACF5-7D236E542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8"/>
                <a:ext cx="9" cy="5"/>
              </a:xfrm>
              <a:custGeom>
                <a:avLst/>
                <a:gdLst>
                  <a:gd name="T0" fmla="*/ 0 w 206"/>
                  <a:gd name="T1" fmla="*/ 0 h 84"/>
                  <a:gd name="T2" fmla="*/ 0 w 206"/>
                  <a:gd name="T3" fmla="*/ 0 h 84"/>
                  <a:gd name="T4" fmla="*/ 0 w 206"/>
                  <a:gd name="T5" fmla="*/ 0 h 84"/>
                  <a:gd name="T6" fmla="*/ 0 w 206"/>
                  <a:gd name="T7" fmla="*/ 0 h 84"/>
                  <a:gd name="T8" fmla="*/ 0 w 206"/>
                  <a:gd name="T9" fmla="*/ 0 h 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84"/>
                  <a:gd name="T17" fmla="*/ 206 w 206"/>
                  <a:gd name="T18" fmla="*/ 84 h 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84">
                    <a:moveTo>
                      <a:pt x="0" y="67"/>
                    </a:moveTo>
                    <a:lnTo>
                      <a:pt x="199" y="0"/>
                    </a:lnTo>
                    <a:lnTo>
                      <a:pt x="206" y="17"/>
                    </a:lnTo>
                    <a:lnTo>
                      <a:pt x="7" y="84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0" name="Freeform 453">
                <a:extLst>
                  <a:ext uri="{FF2B5EF4-FFF2-40B4-BE49-F238E27FC236}">
                    <a16:creationId xmlns:a16="http://schemas.microsoft.com/office/drawing/2014/main" id="{BEBE97C3-8D26-45E9-BCEA-021D0B95C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3450"/>
                <a:ext cx="3" cy="6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"/>
                  <a:gd name="T37" fmla="*/ 0 h 108"/>
                  <a:gd name="T38" fmla="*/ 82 w 82"/>
                  <a:gd name="T39" fmla="*/ 108 h 10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" h="108">
                    <a:moveTo>
                      <a:pt x="45" y="0"/>
                    </a:moveTo>
                    <a:lnTo>
                      <a:pt x="80" y="77"/>
                    </a:lnTo>
                    <a:lnTo>
                      <a:pt x="82" y="87"/>
                    </a:lnTo>
                    <a:lnTo>
                      <a:pt x="80" y="95"/>
                    </a:lnTo>
                    <a:lnTo>
                      <a:pt x="74" y="102"/>
                    </a:lnTo>
                    <a:lnTo>
                      <a:pt x="66" y="106"/>
                    </a:lnTo>
                    <a:lnTo>
                      <a:pt x="57" y="108"/>
                    </a:lnTo>
                    <a:lnTo>
                      <a:pt x="49" y="106"/>
                    </a:lnTo>
                    <a:lnTo>
                      <a:pt x="41" y="102"/>
                    </a:lnTo>
                    <a:lnTo>
                      <a:pt x="35" y="93"/>
                    </a:lnTo>
                    <a:lnTo>
                      <a:pt x="0" y="16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1" name="Freeform 454">
                <a:extLst>
                  <a:ext uri="{FF2B5EF4-FFF2-40B4-BE49-F238E27FC236}">
                    <a16:creationId xmlns:a16="http://schemas.microsoft.com/office/drawing/2014/main" id="{48182EC8-E91F-4BD8-9C0F-B7EC4FE73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33"/>
                <a:ext cx="13" cy="18"/>
              </a:xfrm>
              <a:custGeom>
                <a:avLst/>
                <a:gdLst>
                  <a:gd name="T0" fmla="*/ 0 w 293"/>
                  <a:gd name="T1" fmla="*/ 0 h 319"/>
                  <a:gd name="T2" fmla="*/ 0 w 293"/>
                  <a:gd name="T3" fmla="*/ 0 h 319"/>
                  <a:gd name="T4" fmla="*/ 0 w 293"/>
                  <a:gd name="T5" fmla="*/ 0 h 319"/>
                  <a:gd name="T6" fmla="*/ 0 w 293"/>
                  <a:gd name="T7" fmla="*/ 0 h 319"/>
                  <a:gd name="T8" fmla="*/ 0 w 293"/>
                  <a:gd name="T9" fmla="*/ 0 h 319"/>
                  <a:gd name="T10" fmla="*/ 0 w 293"/>
                  <a:gd name="T11" fmla="*/ 0 h 319"/>
                  <a:gd name="T12" fmla="*/ 0 w 293"/>
                  <a:gd name="T13" fmla="*/ 0 h 319"/>
                  <a:gd name="T14" fmla="*/ 0 w 293"/>
                  <a:gd name="T15" fmla="*/ 0 h 319"/>
                  <a:gd name="T16" fmla="*/ 0 w 293"/>
                  <a:gd name="T17" fmla="*/ 0 h 319"/>
                  <a:gd name="T18" fmla="*/ 0 w 293"/>
                  <a:gd name="T19" fmla="*/ 0 h 319"/>
                  <a:gd name="T20" fmla="*/ 0 w 293"/>
                  <a:gd name="T21" fmla="*/ 0 h 319"/>
                  <a:gd name="T22" fmla="*/ 0 w 293"/>
                  <a:gd name="T23" fmla="*/ 0 h 319"/>
                  <a:gd name="T24" fmla="*/ 0 w 293"/>
                  <a:gd name="T25" fmla="*/ 0 h 319"/>
                  <a:gd name="T26" fmla="*/ 0 w 293"/>
                  <a:gd name="T27" fmla="*/ 0 h 319"/>
                  <a:gd name="T28" fmla="*/ 0 w 293"/>
                  <a:gd name="T29" fmla="*/ 0 h 319"/>
                  <a:gd name="T30" fmla="*/ 0 w 293"/>
                  <a:gd name="T31" fmla="*/ 0 h 319"/>
                  <a:gd name="T32" fmla="*/ 0 w 293"/>
                  <a:gd name="T33" fmla="*/ 0 h 319"/>
                  <a:gd name="T34" fmla="*/ 0 w 293"/>
                  <a:gd name="T35" fmla="*/ 0 h 319"/>
                  <a:gd name="T36" fmla="*/ 0 w 293"/>
                  <a:gd name="T37" fmla="*/ 0 h 319"/>
                  <a:gd name="T38" fmla="*/ 0 w 293"/>
                  <a:gd name="T39" fmla="*/ 0 h 319"/>
                  <a:gd name="T40" fmla="*/ 0 w 293"/>
                  <a:gd name="T41" fmla="*/ 0 h 319"/>
                  <a:gd name="T42" fmla="*/ 0 w 293"/>
                  <a:gd name="T43" fmla="*/ 0 h 319"/>
                  <a:gd name="T44" fmla="*/ 0 w 293"/>
                  <a:gd name="T45" fmla="*/ 0 h 319"/>
                  <a:gd name="T46" fmla="*/ 0 w 293"/>
                  <a:gd name="T47" fmla="*/ 0 h 319"/>
                  <a:gd name="T48" fmla="*/ 0 w 293"/>
                  <a:gd name="T49" fmla="*/ 0 h 319"/>
                  <a:gd name="T50" fmla="*/ 0 w 293"/>
                  <a:gd name="T51" fmla="*/ 0 h 319"/>
                  <a:gd name="T52" fmla="*/ 0 w 293"/>
                  <a:gd name="T53" fmla="*/ 0 h 319"/>
                  <a:gd name="T54" fmla="*/ 0 w 293"/>
                  <a:gd name="T55" fmla="*/ 0 h 319"/>
                  <a:gd name="T56" fmla="*/ 0 w 293"/>
                  <a:gd name="T57" fmla="*/ 0 h 319"/>
                  <a:gd name="T58" fmla="*/ 0 w 293"/>
                  <a:gd name="T59" fmla="*/ 0 h 319"/>
                  <a:gd name="T60" fmla="*/ 0 w 293"/>
                  <a:gd name="T61" fmla="*/ 0 h 319"/>
                  <a:gd name="T62" fmla="*/ 0 w 293"/>
                  <a:gd name="T63" fmla="*/ 0 h 319"/>
                  <a:gd name="T64" fmla="*/ 0 w 293"/>
                  <a:gd name="T65" fmla="*/ 0 h 319"/>
                  <a:gd name="T66" fmla="*/ 0 w 293"/>
                  <a:gd name="T67" fmla="*/ 0 h 319"/>
                  <a:gd name="T68" fmla="*/ 0 w 293"/>
                  <a:gd name="T69" fmla="*/ 0 h 319"/>
                  <a:gd name="T70" fmla="*/ 0 w 293"/>
                  <a:gd name="T71" fmla="*/ 0 h 319"/>
                  <a:gd name="T72" fmla="*/ 0 w 293"/>
                  <a:gd name="T73" fmla="*/ 0 h 319"/>
                  <a:gd name="T74" fmla="*/ 0 w 293"/>
                  <a:gd name="T75" fmla="*/ 0 h 319"/>
                  <a:gd name="T76" fmla="*/ 0 w 293"/>
                  <a:gd name="T77" fmla="*/ 0 h 319"/>
                  <a:gd name="T78" fmla="*/ 0 w 293"/>
                  <a:gd name="T79" fmla="*/ 0 h 319"/>
                  <a:gd name="T80" fmla="*/ 0 w 293"/>
                  <a:gd name="T81" fmla="*/ 0 h 31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93"/>
                  <a:gd name="T124" fmla="*/ 0 h 319"/>
                  <a:gd name="T125" fmla="*/ 293 w 293"/>
                  <a:gd name="T126" fmla="*/ 319 h 31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93" h="319">
                    <a:moveTo>
                      <a:pt x="247" y="317"/>
                    </a:moveTo>
                    <a:lnTo>
                      <a:pt x="261" y="307"/>
                    </a:lnTo>
                    <a:lnTo>
                      <a:pt x="275" y="287"/>
                    </a:lnTo>
                    <a:lnTo>
                      <a:pt x="285" y="256"/>
                    </a:lnTo>
                    <a:lnTo>
                      <a:pt x="292" y="218"/>
                    </a:lnTo>
                    <a:lnTo>
                      <a:pt x="293" y="173"/>
                    </a:lnTo>
                    <a:lnTo>
                      <a:pt x="288" y="120"/>
                    </a:lnTo>
                    <a:lnTo>
                      <a:pt x="274" y="62"/>
                    </a:lnTo>
                    <a:lnTo>
                      <a:pt x="251" y="0"/>
                    </a:lnTo>
                    <a:lnTo>
                      <a:pt x="235" y="5"/>
                    </a:lnTo>
                    <a:lnTo>
                      <a:pt x="219" y="10"/>
                    </a:lnTo>
                    <a:lnTo>
                      <a:pt x="204" y="17"/>
                    </a:lnTo>
                    <a:lnTo>
                      <a:pt x="188" y="22"/>
                    </a:lnTo>
                    <a:lnTo>
                      <a:pt x="172" y="28"/>
                    </a:lnTo>
                    <a:lnTo>
                      <a:pt x="157" y="34"/>
                    </a:lnTo>
                    <a:lnTo>
                      <a:pt x="140" y="40"/>
                    </a:lnTo>
                    <a:lnTo>
                      <a:pt x="125" y="45"/>
                    </a:lnTo>
                    <a:lnTo>
                      <a:pt x="110" y="52"/>
                    </a:lnTo>
                    <a:lnTo>
                      <a:pt x="94" y="58"/>
                    </a:lnTo>
                    <a:lnTo>
                      <a:pt x="78" y="63"/>
                    </a:lnTo>
                    <a:lnTo>
                      <a:pt x="63" y="69"/>
                    </a:lnTo>
                    <a:lnTo>
                      <a:pt x="47" y="75"/>
                    </a:lnTo>
                    <a:lnTo>
                      <a:pt x="31" y="81"/>
                    </a:lnTo>
                    <a:lnTo>
                      <a:pt x="15" y="86"/>
                    </a:lnTo>
                    <a:lnTo>
                      <a:pt x="0" y="92"/>
                    </a:lnTo>
                    <a:lnTo>
                      <a:pt x="15" y="122"/>
                    </a:lnTo>
                    <a:lnTo>
                      <a:pt x="30" y="152"/>
                    </a:lnTo>
                    <a:lnTo>
                      <a:pt x="48" y="177"/>
                    </a:lnTo>
                    <a:lnTo>
                      <a:pt x="65" y="201"/>
                    </a:lnTo>
                    <a:lnTo>
                      <a:pt x="82" y="222"/>
                    </a:lnTo>
                    <a:lnTo>
                      <a:pt x="101" y="242"/>
                    </a:lnTo>
                    <a:lnTo>
                      <a:pt x="119" y="259"/>
                    </a:lnTo>
                    <a:lnTo>
                      <a:pt x="136" y="274"/>
                    </a:lnTo>
                    <a:lnTo>
                      <a:pt x="154" y="287"/>
                    </a:lnTo>
                    <a:lnTo>
                      <a:pt x="171" y="297"/>
                    </a:lnTo>
                    <a:lnTo>
                      <a:pt x="186" y="306"/>
                    </a:lnTo>
                    <a:lnTo>
                      <a:pt x="202" y="312"/>
                    </a:lnTo>
                    <a:lnTo>
                      <a:pt x="215" y="316"/>
                    </a:lnTo>
                    <a:lnTo>
                      <a:pt x="227" y="318"/>
                    </a:lnTo>
                    <a:lnTo>
                      <a:pt x="238" y="319"/>
                    </a:lnTo>
                    <a:lnTo>
                      <a:pt x="247" y="31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2" name="Freeform 455">
                <a:extLst>
                  <a:ext uri="{FF2B5EF4-FFF2-40B4-BE49-F238E27FC236}">
                    <a16:creationId xmlns:a16="http://schemas.microsoft.com/office/drawing/2014/main" id="{E91AEFE2-2905-4154-B9D1-327C533A4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9"/>
                <a:ext cx="60" cy="139"/>
              </a:xfrm>
              <a:custGeom>
                <a:avLst/>
                <a:gdLst>
                  <a:gd name="T0" fmla="*/ 0 w 1314"/>
                  <a:gd name="T1" fmla="*/ 0 h 2506"/>
                  <a:gd name="T2" fmla="*/ 0 w 1314"/>
                  <a:gd name="T3" fmla="*/ 0 h 2506"/>
                  <a:gd name="T4" fmla="*/ 0 w 1314"/>
                  <a:gd name="T5" fmla="*/ 0 h 2506"/>
                  <a:gd name="T6" fmla="*/ 0 w 1314"/>
                  <a:gd name="T7" fmla="*/ 0 h 2506"/>
                  <a:gd name="T8" fmla="*/ 0 w 1314"/>
                  <a:gd name="T9" fmla="*/ 0 h 25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4"/>
                  <a:gd name="T16" fmla="*/ 0 h 2506"/>
                  <a:gd name="T17" fmla="*/ 1314 w 1314"/>
                  <a:gd name="T18" fmla="*/ 2506 h 25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4" h="2506">
                    <a:moveTo>
                      <a:pt x="198" y="0"/>
                    </a:moveTo>
                    <a:lnTo>
                      <a:pt x="0" y="66"/>
                    </a:lnTo>
                    <a:lnTo>
                      <a:pt x="1064" y="2506"/>
                    </a:lnTo>
                    <a:lnTo>
                      <a:pt x="1314" y="2421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3" name="Freeform 456">
                <a:extLst>
                  <a:ext uri="{FF2B5EF4-FFF2-40B4-BE49-F238E27FC236}">
                    <a16:creationId xmlns:a16="http://schemas.microsoft.com/office/drawing/2014/main" id="{0189573D-A8D3-4F22-8D24-446534F16C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3292"/>
                <a:ext cx="11" cy="10"/>
              </a:xfrm>
              <a:custGeom>
                <a:avLst/>
                <a:gdLst>
                  <a:gd name="T0" fmla="*/ 0 w 235"/>
                  <a:gd name="T1" fmla="*/ 0 h 179"/>
                  <a:gd name="T2" fmla="*/ 0 w 235"/>
                  <a:gd name="T3" fmla="*/ 0 h 179"/>
                  <a:gd name="T4" fmla="*/ 0 w 235"/>
                  <a:gd name="T5" fmla="*/ 0 h 179"/>
                  <a:gd name="T6" fmla="*/ 0 w 235"/>
                  <a:gd name="T7" fmla="*/ 0 h 179"/>
                  <a:gd name="T8" fmla="*/ 0 w 235"/>
                  <a:gd name="T9" fmla="*/ 0 h 179"/>
                  <a:gd name="T10" fmla="*/ 0 w 235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179"/>
                  <a:gd name="T20" fmla="*/ 235 w 235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179">
                    <a:moveTo>
                      <a:pt x="235" y="111"/>
                    </a:moveTo>
                    <a:lnTo>
                      <a:pt x="36" y="179"/>
                    </a:lnTo>
                    <a:lnTo>
                      <a:pt x="0" y="97"/>
                    </a:lnTo>
                    <a:lnTo>
                      <a:pt x="70" y="0"/>
                    </a:lnTo>
                    <a:lnTo>
                      <a:pt x="199" y="30"/>
                    </a:lnTo>
                    <a:lnTo>
                      <a:pt x="235" y="111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4" name="Freeform 457">
                <a:extLst>
                  <a:ext uri="{FF2B5EF4-FFF2-40B4-BE49-F238E27FC236}">
                    <a16:creationId xmlns:a16="http://schemas.microsoft.com/office/drawing/2014/main" id="{7B7F1653-AC98-49D7-8BA6-72FE491CB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103"/>
                <a:ext cx="208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6"/>
                    </a:moveTo>
                    <a:lnTo>
                      <a:pt x="3650" y="0"/>
                    </a:lnTo>
                    <a:lnTo>
                      <a:pt x="4569" y="1998"/>
                    </a:lnTo>
                    <a:lnTo>
                      <a:pt x="873" y="3641"/>
                    </a:lnTo>
                    <a:lnTo>
                      <a:pt x="0" y="162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5" name="Freeform 458">
                <a:extLst>
                  <a:ext uri="{FF2B5EF4-FFF2-40B4-BE49-F238E27FC236}">
                    <a16:creationId xmlns:a16="http://schemas.microsoft.com/office/drawing/2014/main" id="{2E8E25B7-EC5E-4750-85EA-9C9FEDAA0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5" y="3045"/>
                <a:ext cx="271" cy="393"/>
              </a:xfrm>
              <a:custGeom>
                <a:avLst/>
                <a:gdLst>
                  <a:gd name="T0" fmla="*/ 0 w 5957"/>
                  <a:gd name="T1" fmla="*/ 0 h 7066"/>
                  <a:gd name="T2" fmla="*/ 0 w 5957"/>
                  <a:gd name="T3" fmla="*/ 0 h 7066"/>
                  <a:gd name="T4" fmla="*/ 0 w 5957"/>
                  <a:gd name="T5" fmla="*/ 0 h 7066"/>
                  <a:gd name="T6" fmla="*/ 0 w 5957"/>
                  <a:gd name="T7" fmla="*/ 0 h 7066"/>
                  <a:gd name="T8" fmla="*/ 0 w 5957"/>
                  <a:gd name="T9" fmla="*/ 0 h 7066"/>
                  <a:gd name="T10" fmla="*/ 0 w 5957"/>
                  <a:gd name="T11" fmla="*/ 0 h 7066"/>
                  <a:gd name="T12" fmla="*/ 0 w 5957"/>
                  <a:gd name="T13" fmla="*/ 0 h 7066"/>
                  <a:gd name="T14" fmla="*/ 0 w 5957"/>
                  <a:gd name="T15" fmla="*/ 0 h 7066"/>
                  <a:gd name="T16" fmla="*/ 0 w 5957"/>
                  <a:gd name="T17" fmla="*/ 0 h 7066"/>
                  <a:gd name="T18" fmla="*/ 0 w 5957"/>
                  <a:gd name="T19" fmla="*/ 0 h 7066"/>
                  <a:gd name="T20" fmla="*/ 0 w 5957"/>
                  <a:gd name="T21" fmla="*/ 0 h 7066"/>
                  <a:gd name="T22" fmla="*/ 0 w 5957"/>
                  <a:gd name="T23" fmla="*/ 0 h 7066"/>
                  <a:gd name="T24" fmla="*/ 0 w 5957"/>
                  <a:gd name="T25" fmla="*/ 0 h 7066"/>
                  <a:gd name="T26" fmla="*/ 0 w 5957"/>
                  <a:gd name="T27" fmla="*/ 0 h 7066"/>
                  <a:gd name="T28" fmla="*/ 0 w 5957"/>
                  <a:gd name="T29" fmla="*/ 0 h 7066"/>
                  <a:gd name="T30" fmla="*/ 0 w 5957"/>
                  <a:gd name="T31" fmla="*/ 0 h 7066"/>
                  <a:gd name="T32" fmla="*/ 0 w 5957"/>
                  <a:gd name="T33" fmla="*/ 0 h 7066"/>
                  <a:gd name="T34" fmla="*/ 0 w 5957"/>
                  <a:gd name="T35" fmla="*/ 0 h 7066"/>
                  <a:gd name="T36" fmla="*/ 0 w 5957"/>
                  <a:gd name="T37" fmla="*/ 0 h 7066"/>
                  <a:gd name="T38" fmla="*/ 0 w 5957"/>
                  <a:gd name="T39" fmla="*/ 0 h 7066"/>
                  <a:gd name="T40" fmla="*/ 0 w 5957"/>
                  <a:gd name="T41" fmla="*/ 0 h 7066"/>
                  <a:gd name="T42" fmla="*/ 0 w 5957"/>
                  <a:gd name="T43" fmla="*/ 0 h 7066"/>
                  <a:gd name="T44" fmla="*/ 0 w 5957"/>
                  <a:gd name="T45" fmla="*/ 0 h 7066"/>
                  <a:gd name="T46" fmla="*/ 0 w 5957"/>
                  <a:gd name="T47" fmla="*/ 0 h 7066"/>
                  <a:gd name="T48" fmla="*/ 0 w 5957"/>
                  <a:gd name="T49" fmla="*/ 0 h 7066"/>
                  <a:gd name="T50" fmla="*/ 0 w 5957"/>
                  <a:gd name="T51" fmla="*/ 0 h 7066"/>
                  <a:gd name="T52" fmla="*/ 0 w 5957"/>
                  <a:gd name="T53" fmla="*/ 0 h 7066"/>
                  <a:gd name="T54" fmla="*/ 0 w 5957"/>
                  <a:gd name="T55" fmla="*/ 0 h 7066"/>
                  <a:gd name="T56" fmla="*/ 0 w 5957"/>
                  <a:gd name="T57" fmla="*/ 0 h 7066"/>
                  <a:gd name="T58" fmla="*/ 0 w 5957"/>
                  <a:gd name="T59" fmla="*/ 0 h 7066"/>
                  <a:gd name="T60" fmla="*/ 0 w 5957"/>
                  <a:gd name="T61" fmla="*/ 0 h 7066"/>
                  <a:gd name="T62" fmla="*/ 0 w 5957"/>
                  <a:gd name="T63" fmla="*/ 0 h 7066"/>
                  <a:gd name="T64" fmla="*/ 0 w 5957"/>
                  <a:gd name="T65" fmla="*/ 0 h 7066"/>
                  <a:gd name="T66" fmla="*/ 0 w 5957"/>
                  <a:gd name="T67" fmla="*/ 0 h 7066"/>
                  <a:gd name="T68" fmla="*/ 0 w 5957"/>
                  <a:gd name="T69" fmla="*/ 0 h 7066"/>
                  <a:gd name="T70" fmla="*/ 0 w 5957"/>
                  <a:gd name="T71" fmla="*/ 0 h 7066"/>
                  <a:gd name="T72" fmla="*/ 0 w 5957"/>
                  <a:gd name="T73" fmla="*/ 0 h 706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6"/>
                  <a:gd name="T113" fmla="*/ 5957 w 5957"/>
                  <a:gd name="T114" fmla="*/ 7066 h 706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6">
                    <a:moveTo>
                      <a:pt x="2496" y="7056"/>
                    </a:moveTo>
                    <a:lnTo>
                      <a:pt x="5894" y="5433"/>
                    </a:lnTo>
                    <a:lnTo>
                      <a:pt x="5912" y="5421"/>
                    </a:lnTo>
                    <a:lnTo>
                      <a:pt x="5927" y="5407"/>
                    </a:lnTo>
                    <a:lnTo>
                      <a:pt x="5941" y="5389"/>
                    </a:lnTo>
                    <a:lnTo>
                      <a:pt x="5950" y="5369"/>
                    </a:lnTo>
                    <a:lnTo>
                      <a:pt x="5955" y="5348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5"/>
                    </a:lnTo>
                    <a:lnTo>
                      <a:pt x="3492" y="47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9"/>
                    </a:lnTo>
                    <a:lnTo>
                      <a:pt x="3420" y="3"/>
                    </a:lnTo>
                    <a:lnTo>
                      <a:pt x="3399" y="0"/>
                    </a:lnTo>
                    <a:lnTo>
                      <a:pt x="3377" y="3"/>
                    </a:lnTo>
                    <a:lnTo>
                      <a:pt x="3357" y="9"/>
                    </a:lnTo>
                    <a:lnTo>
                      <a:pt x="63" y="1487"/>
                    </a:lnTo>
                    <a:lnTo>
                      <a:pt x="45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6"/>
                    </a:lnTo>
                    <a:lnTo>
                      <a:pt x="9" y="1637"/>
                    </a:lnTo>
                    <a:lnTo>
                      <a:pt x="2350" y="7000"/>
                    </a:lnTo>
                    <a:lnTo>
                      <a:pt x="2361" y="7018"/>
                    </a:lnTo>
                    <a:lnTo>
                      <a:pt x="2376" y="7034"/>
                    </a:lnTo>
                    <a:lnTo>
                      <a:pt x="2393" y="7048"/>
                    </a:lnTo>
                    <a:lnTo>
                      <a:pt x="2412" y="7057"/>
                    </a:lnTo>
                    <a:lnTo>
                      <a:pt x="2433" y="7064"/>
                    </a:lnTo>
                    <a:lnTo>
                      <a:pt x="2454" y="7066"/>
                    </a:lnTo>
                    <a:lnTo>
                      <a:pt x="2476" y="7064"/>
                    </a:lnTo>
                    <a:lnTo>
                      <a:pt x="2496" y="705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6" name="Freeform 459">
                <a:extLst>
                  <a:ext uri="{FF2B5EF4-FFF2-40B4-BE49-F238E27FC236}">
                    <a16:creationId xmlns:a16="http://schemas.microsoft.com/office/drawing/2014/main" id="{CDE22762-63E9-47B5-A69E-6F3313983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096"/>
                <a:ext cx="51" cy="121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7" y="2127"/>
                    </a:moveTo>
                    <a:lnTo>
                      <a:pt x="0" y="131"/>
                    </a:lnTo>
                    <a:lnTo>
                      <a:pt x="33" y="0"/>
                    </a:lnTo>
                    <a:lnTo>
                      <a:pt x="70" y="14"/>
                    </a:lnTo>
                    <a:lnTo>
                      <a:pt x="106" y="29"/>
                    </a:lnTo>
                    <a:lnTo>
                      <a:pt x="143" y="44"/>
                    </a:lnTo>
                    <a:lnTo>
                      <a:pt x="180" y="61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8" y="159"/>
                    </a:lnTo>
                    <a:lnTo>
                      <a:pt x="393" y="181"/>
                    </a:lnTo>
                    <a:lnTo>
                      <a:pt x="428" y="204"/>
                    </a:lnTo>
                    <a:lnTo>
                      <a:pt x="461" y="228"/>
                    </a:lnTo>
                    <a:lnTo>
                      <a:pt x="495" y="252"/>
                    </a:lnTo>
                    <a:lnTo>
                      <a:pt x="528" y="279"/>
                    </a:lnTo>
                    <a:lnTo>
                      <a:pt x="560" y="305"/>
                    </a:lnTo>
                    <a:lnTo>
                      <a:pt x="592" y="333"/>
                    </a:lnTo>
                    <a:lnTo>
                      <a:pt x="624" y="361"/>
                    </a:lnTo>
                    <a:lnTo>
                      <a:pt x="654" y="389"/>
                    </a:lnTo>
                    <a:lnTo>
                      <a:pt x="684" y="419"/>
                    </a:lnTo>
                    <a:lnTo>
                      <a:pt x="713" y="450"/>
                    </a:lnTo>
                    <a:lnTo>
                      <a:pt x="742" y="481"/>
                    </a:lnTo>
                    <a:lnTo>
                      <a:pt x="769" y="513"/>
                    </a:lnTo>
                    <a:lnTo>
                      <a:pt x="796" y="545"/>
                    </a:lnTo>
                    <a:lnTo>
                      <a:pt x="822" y="578"/>
                    </a:lnTo>
                    <a:lnTo>
                      <a:pt x="847" y="612"/>
                    </a:lnTo>
                    <a:lnTo>
                      <a:pt x="871" y="647"/>
                    </a:lnTo>
                    <a:lnTo>
                      <a:pt x="895" y="681"/>
                    </a:lnTo>
                    <a:lnTo>
                      <a:pt x="917" y="717"/>
                    </a:lnTo>
                    <a:lnTo>
                      <a:pt x="939" y="754"/>
                    </a:lnTo>
                    <a:lnTo>
                      <a:pt x="959" y="791"/>
                    </a:lnTo>
                    <a:lnTo>
                      <a:pt x="979" y="828"/>
                    </a:lnTo>
                    <a:lnTo>
                      <a:pt x="997" y="866"/>
                    </a:lnTo>
                    <a:lnTo>
                      <a:pt x="1026" y="938"/>
                    </a:lnTo>
                    <a:lnTo>
                      <a:pt x="1053" y="1015"/>
                    </a:lnTo>
                    <a:lnTo>
                      <a:pt x="1075" y="1096"/>
                    </a:lnTo>
                    <a:lnTo>
                      <a:pt x="1095" y="1180"/>
                    </a:lnTo>
                    <a:lnTo>
                      <a:pt x="1110" y="1267"/>
                    </a:lnTo>
                    <a:lnTo>
                      <a:pt x="1121" y="1356"/>
                    </a:lnTo>
                    <a:lnTo>
                      <a:pt x="1130" y="1446"/>
                    </a:lnTo>
                    <a:lnTo>
                      <a:pt x="1134" y="1536"/>
                    </a:lnTo>
                    <a:lnTo>
                      <a:pt x="1134" y="1626"/>
                    </a:lnTo>
                    <a:lnTo>
                      <a:pt x="1131" y="1716"/>
                    </a:lnTo>
                    <a:lnTo>
                      <a:pt x="1122" y="1802"/>
                    </a:lnTo>
                    <a:lnTo>
                      <a:pt x="1111" y="1886"/>
                    </a:lnTo>
                    <a:lnTo>
                      <a:pt x="1096" y="1967"/>
                    </a:lnTo>
                    <a:lnTo>
                      <a:pt x="1076" y="2044"/>
                    </a:lnTo>
                    <a:lnTo>
                      <a:pt x="1053" y="2115"/>
                    </a:lnTo>
                    <a:lnTo>
                      <a:pt x="1025" y="2180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7" name="Freeform 460">
                <a:extLst>
                  <a:ext uri="{FF2B5EF4-FFF2-40B4-BE49-F238E27FC236}">
                    <a16:creationId xmlns:a16="http://schemas.microsoft.com/office/drawing/2014/main" id="{CA363375-622B-41AE-8FB5-2B45D63F9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3082"/>
                <a:ext cx="207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5"/>
                    </a:moveTo>
                    <a:lnTo>
                      <a:pt x="3650" y="0"/>
                    </a:lnTo>
                    <a:lnTo>
                      <a:pt x="4569" y="1997"/>
                    </a:lnTo>
                    <a:lnTo>
                      <a:pt x="873" y="3641"/>
                    </a:lnTo>
                    <a:lnTo>
                      <a:pt x="0" y="1625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8" name="Freeform 461">
                <a:extLst>
                  <a:ext uri="{FF2B5EF4-FFF2-40B4-BE49-F238E27FC236}">
                    <a16:creationId xmlns:a16="http://schemas.microsoft.com/office/drawing/2014/main" id="{E9B90678-48C9-4800-B7E1-2577A9BDC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271" cy="393"/>
              </a:xfrm>
              <a:custGeom>
                <a:avLst/>
                <a:gdLst>
                  <a:gd name="T0" fmla="*/ 0 w 5957"/>
                  <a:gd name="T1" fmla="*/ 0 h 7065"/>
                  <a:gd name="T2" fmla="*/ 0 w 5957"/>
                  <a:gd name="T3" fmla="*/ 0 h 7065"/>
                  <a:gd name="T4" fmla="*/ 0 w 5957"/>
                  <a:gd name="T5" fmla="*/ 0 h 7065"/>
                  <a:gd name="T6" fmla="*/ 0 w 5957"/>
                  <a:gd name="T7" fmla="*/ 0 h 7065"/>
                  <a:gd name="T8" fmla="*/ 0 w 5957"/>
                  <a:gd name="T9" fmla="*/ 0 h 7065"/>
                  <a:gd name="T10" fmla="*/ 0 w 5957"/>
                  <a:gd name="T11" fmla="*/ 0 h 7065"/>
                  <a:gd name="T12" fmla="*/ 0 w 5957"/>
                  <a:gd name="T13" fmla="*/ 0 h 7065"/>
                  <a:gd name="T14" fmla="*/ 0 w 5957"/>
                  <a:gd name="T15" fmla="*/ 0 h 7065"/>
                  <a:gd name="T16" fmla="*/ 0 w 5957"/>
                  <a:gd name="T17" fmla="*/ 0 h 7065"/>
                  <a:gd name="T18" fmla="*/ 0 w 5957"/>
                  <a:gd name="T19" fmla="*/ 0 h 7065"/>
                  <a:gd name="T20" fmla="*/ 0 w 5957"/>
                  <a:gd name="T21" fmla="*/ 0 h 7065"/>
                  <a:gd name="T22" fmla="*/ 0 w 5957"/>
                  <a:gd name="T23" fmla="*/ 0 h 7065"/>
                  <a:gd name="T24" fmla="*/ 0 w 5957"/>
                  <a:gd name="T25" fmla="*/ 0 h 7065"/>
                  <a:gd name="T26" fmla="*/ 0 w 5957"/>
                  <a:gd name="T27" fmla="*/ 0 h 7065"/>
                  <a:gd name="T28" fmla="*/ 0 w 5957"/>
                  <a:gd name="T29" fmla="*/ 0 h 7065"/>
                  <a:gd name="T30" fmla="*/ 0 w 5957"/>
                  <a:gd name="T31" fmla="*/ 0 h 7065"/>
                  <a:gd name="T32" fmla="*/ 0 w 5957"/>
                  <a:gd name="T33" fmla="*/ 0 h 7065"/>
                  <a:gd name="T34" fmla="*/ 0 w 5957"/>
                  <a:gd name="T35" fmla="*/ 0 h 7065"/>
                  <a:gd name="T36" fmla="*/ 0 w 5957"/>
                  <a:gd name="T37" fmla="*/ 0 h 7065"/>
                  <a:gd name="T38" fmla="*/ 0 w 5957"/>
                  <a:gd name="T39" fmla="*/ 0 h 7065"/>
                  <a:gd name="T40" fmla="*/ 0 w 5957"/>
                  <a:gd name="T41" fmla="*/ 0 h 7065"/>
                  <a:gd name="T42" fmla="*/ 0 w 5957"/>
                  <a:gd name="T43" fmla="*/ 0 h 7065"/>
                  <a:gd name="T44" fmla="*/ 0 w 5957"/>
                  <a:gd name="T45" fmla="*/ 0 h 7065"/>
                  <a:gd name="T46" fmla="*/ 0 w 5957"/>
                  <a:gd name="T47" fmla="*/ 0 h 7065"/>
                  <a:gd name="T48" fmla="*/ 0 w 5957"/>
                  <a:gd name="T49" fmla="*/ 0 h 7065"/>
                  <a:gd name="T50" fmla="*/ 0 w 5957"/>
                  <a:gd name="T51" fmla="*/ 0 h 7065"/>
                  <a:gd name="T52" fmla="*/ 0 w 5957"/>
                  <a:gd name="T53" fmla="*/ 0 h 7065"/>
                  <a:gd name="T54" fmla="*/ 0 w 5957"/>
                  <a:gd name="T55" fmla="*/ 0 h 7065"/>
                  <a:gd name="T56" fmla="*/ 0 w 5957"/>
                  <a:gd name="T57" fmla="*/ 0 h 7065"/>
                  <a:gd name="T58" fmla="*/ 0 w 5957"/>
                  <a:gd name="T59" fmla="*/ 0 h 7065"/>
                  <a:gd name="T60" fmla="*/ 0 w 5957"/>
                  <a:gd name="T61" fmla="*/ 0 h 7065"/>
                  <a:gd name="T62" fmla="*/ 0 w 5957"/>
                  <a:gd name="T63" fmla="*/ 0 h 7065"/>
                  <a:gd name="T64" fmla="*/ 0 w 5957"/>
                  <a:gd name="T65" fmla="*/ 0 h 7065"/>
                  <a:gd name="T66" fmla="*/ 0 w 5957"/>
                  <a:gd name="T67" fmla="*/ 0 h 7065"/>
                  <a:gd name="T68" fmla="*/ 0 w 5957"/>
                  <a:gd name="T69" fmla="*/ 0 h 7065"/>
                  <a:gd name="T70" fmla="*/ 0 w 5957"/>
                  <a:gd name="T71" fmla="*/ 0 h 7065"/>
                  <a:gd name="T72" fmla="*/ 0 w 5957"/>
                  <a:gd name="T73" fmla="*/ 0 h 70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5"/>
                  <a:gd name="T113" fmla="*/ 5957 w 5957"/>
                  <a:gd name="T114" fmla="*/ 7065 h 70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5">
                    <a:moveTo>
                      <a:pt x="2497" y="7056"/>
                    </a:moveTo>
                    <a:lnTo>
                      <a:pt x="5894" y="5432"/>
                    </a:lnTo>
                    <a:lnTo>
                      <a:pt x="5912" y="5421"/>
                    </a:lnTo>
                    <a:lnTo>
                      <a:pt x="5928" y="5406"/>
                    </a:lnTo>
                    <a:lnTo>
                      <a:pt x="5941" y="5388"/>
                    </a:lnTo>
                    <a:lnTo>
                      <a:pt x="5950" y="5368"/>
                    </a:lnTo>
                    <a:lnTo>
                      <a:pt x="5955" y="5347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4"/>
                    </a:lnTo>
                    <a:lnTo>
                      <a:pt x="3492" y="46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8"/>
                    </a:lnTo>
                    <a:lnTo>
                      <a:pt x="3420" y="2"/>
                    </a:lnTo>
                    <a:lnTo>
                      <a:pt x="3399" y="0"/>
                    </a:lnTo>
                    <a:lnTo>
                      <a:pt x="3377" y="2"/>
                    </a:lnTo>
                    <a:lnTo>
                      <a:pt x="3357" y="8"/>
                    </a:lnTo>
                    <a:lnTo>
                      <a:pt x="63" y="1486"/>
                    </a:lnTo>
                    <a:lnTo>
                      <a:pt x="45" y="1497"/>
                    </a:lnTo>
                    <a:lnTo>
                      <a:pt x="30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5"/>
                    </a:lnTo>
                    <a:lnTo>
                      <a:pt x="9" y="1636"/>
                    </a:lnTo>
                    <a:lnTo>
                      <a:pt x="2351" y="6999"/>
                    </a:lnTo>
                    <a:lnTo>
                      <a:pt x="2362" y="7018"/>
                    </a:lnTo>
                    <a:lnTo>
                      <a:pt x="2377" y="7034"/>
                    </a:lnTo>
                    <a:lnTo>
                      <a:pt x="2394" y="7048"/>
                    </a:lnTo>
                    <a:lnTo>
                      <a:pt x="2413" y="7057"/>
                    </a:lnTo>
                    <a:lnTo>
                      <a:pt x="2434" y="7063"/>
                    </a:lnTo>
                    <a:lnTo>
                      <a:pt x="2455" y="7065"/>
                    </a:lnTo>
                    <a:lnTo>
                      <a:pt x="2477" y="7063"/>
                    </a:lnTo>
                    <a:lnTo>
                      <a:pt x="2497" y="70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69" name="Freeform 462">
                <a:extLst>
                  <a:ext uri="{FF2B5EF4-FFF2-40B4-BE49-F238E27FC236}">
                    <a16:creationId xmlns:a16="http://schemas.microsoft.com/office/drawing/2014/main" id="{20F9B6D0-CC82-46C3-BF42-D71B508D2B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2" cy="99"/>
              </a:xfrm>
              <a:custGeom>
                <a:avLst/>
                <a:gdLst>
                  <a:gd name="T0" fmla="*/ 0 w 3562"/>
                  <a:gd name="T1" fmla="*/ 0 h 1773"/>
                  <a:gd name="T2" fmla="*/ 0 w 3562"/>
                  <a:gd name="T3" fmla="*/ 0 h 1773"/>
                  <a:gd name="T4" fmla="*/ 0 w 3562"/>
                  <a:gd name="T5" fmla="*/ 0 h 1773"/>
                  <a:gd name="T6" fmla="*/ 0 w 3562"/>
                  <a:gd name="T7" fmla="*/ 0 h 1773"/>
                  <a:gd name="T8" fmla="*/ 0 w 3562"/>
                  <a:gd name="T9" fmla="*/ 0 h 1773"/>
                  <a:gd name="T10" fmla="*/ 0 w 3562"/>
                  <a:gd name="T11" fmla="*/ 0 h 1773"/>
                  <a:gd name="T12" fmla="*/ 0 w 3562"/>
                  <a:gd name="T13" fmla="*/ 0 h 1773"/>
                  <a:gd name="T14" fmla="*/ 0 w 3562"/>
                  <a:gd name="T15" fmla="*/ 0 h 1773"/>
                  <a:gd name="T16" fmla="*/ 0 w 3562"/>
                  <a:gd name="T17" fmla="*/ 0 h 1773"/>
                  <a:gd name="T18" fmla="*/ 0 w 3562"/>
                  <a:gd name="T19" fmla="*/ 0 h 1773"/>
                  <a:gd name="T20" fmla="*/ 0 w 3562"/>
                  <a:gd name="T21" fmla="*/ 0 h 1773"/>
                  <a:gd name="T22" fmla="*/ 0 w 3562"/>
                  <a:gd name="T23" fmla="*/ 0 h 1773"/>
                  <a:gd name="T24" fmla="*/ 0 w 3562"/>
                  <a:gd name="T25" fmla="*/ 0 h 1773"/>
                  <a:gd name="T26" fmla="*/ 0 w 3562"/>
                  <a:gd name="T27" fmla="*/ 0 h 1773"/>
                  <a:gd name="T28" fmla="*/ 0 w 3562"/>
                  <a:gd name="T29" fmla="*/ 0 h 1773"/>
                  <a:gd name="T30" fmla="*/ 0 w 3562"/>
                  <a:gd name="T31" fmla="*/ 0 h 1773"/>
                  <a:gd name="T32" fmla="*/ 0 w 3562"/>
                  <a:gd name="T33" fmla="*/ 0 h 1773"/>
                  <a:gd name="T34" fmla="*/ 0 w 3562"/>
                  <a:gd name="T35" fmla="*/ 0 h 1773"/>
                  <a:gd name="T36" fmla="*/ 0 w 3562"/>
                  <a:gd name="T37" fmla="*/ 0 h 1773"/>
                  <a:gd name="T38" fmla="*/ 0 w 3562"/>
                  <a:gd name="T39" fmla="*/ 0 h 1773"/>
                  <a:gd name="T40" fmla="*/ 0 w 3562"/>
                  <a:gd name="T41" fmla="*/ 0 h 177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62"/>
                  <a:gd name="T64" fmla="*/ 0 h 1773"/>
                  <a:gd name="T65" fmla="*/ 3562 w 3562"/>
                  <a:gd name="T66" fmla="*/ 1773 h 177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62" h="1773">
                    <a:moveTo>
                      <a:pt x="3562" y="1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68" y="1773"/>
                    </a:lnTo>
                    <a:lnTo>
                      <a:pt x="3562" y="183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0" name="Freeform 463">
                <a:extLst>
                  <a:ext uri="{FF2B5EF4-FFF2-40B4-BE49-F238E27FC236}">
                    <a16:creationId xmlns:a16="http://schemas.microsoft.com/office/drawing/2014/main" id="{7C51A712-90BE-4F6D-9061-C6202EEDA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7"/>
              </a:xfrm>
              <a:custGeom>
                <a:avLst/>
                <a:gdLst>
                  <a:gd name="T0" fmla="*/ 0 w 3550"/>
                  <a:gd name="T1" fmla="*/ 0 h 1748"/>
                  <a:gd name="T2" fmla="*/ 0 w 3550"/>
                  <a:gd name="T3" fmla="*/ 0 h 1748"/>
                  <a:gd name="T4" fmla="*/ 0 w 3550"/>
                  <a:gd name="T5" fmla="*/ 0 h 1748"/>
                  <a:gd name="T6" fmla="*/ 0 w 3550"/>
                  <a:gd name="T7" fmla="*/ 0 h 1748"/>
                  <a:gd name="T8" fmla="*/ 0 w 3550"/>
                  <a:gd name="T9" fmla="*/ 0 h 1748"/>
                  <a:gd name="T10" fmla="*/ 0 w 3550"/>
                  <a:gd name="T11" fmla="*/ 0 h 1748"/>
                  <a:gd name="T12" fmla="*/ 0 w 3550"/>
                  <a:gd name="T13" fmla="*/ 0 h 1748"/>
                  <a:gd name="T14" fmla="*/ 0 w 3550"/>
                  <a:gd name="T15" fmla="*/ 0 h 1748"/>
                  <a:gd name="T16" fmla="*/ 0 w 3550"/>
                  <a:gd name="T17" fmla="*/ 0 h 1748"/>
                  <a:gd name="T18" fmla="*/ 0 w 3550"/>
                  <a:gd name="T19" fmla="*/ 0 h 1748"/>
                  <a:gd name="T20" fmla="*/ 0 w 3550"/>
                  <a:gd name="T21" fmla="*/ 0 h 1748"/>
                  <a:gd name="T22" fmla="*/ 0 w 3550"/>
                  <a:gd name="T23" fmla="*/ 0 h 1748"/>
                  <a:gd name="T24" fmla="*/ 0 w 3550"/>
                  <a:gd name="T25" fmla="*/ 0 h 1748"/>
                  <a:gd name="T26" fmla="*/ 0 w 3550"/>
                  <a:gd name="T27" fmla="*/ 0 h 1748"/>
                  <a:gd name="T28" fmla="*/ 0 w 3550"/>
                  <a:gd name="T29" fmla="*/ 0 h 1748"/>
                  <a:gd name="T30" fmla="*/ 0 w 3550"/>
                  <a:gd name="T31" fmla="*/ 0 h 1748"/>
                  <a:gd name="T32" fmla="*/ 0 w 3550"/>
                  <a:gd name="T33" fmla="*/ 0 h 1748"/>
                  <a:gd name="T34" fmla="*/ 0 w 3550"/>
                  <a:gd name="T35" fmla="*/ 0 h 1748"/>
                  <a:gd name="T36" fmla="*/ 0 w 3550"/>
                  <a:gd name="T37" fmla="*/ 0 h 1748"/>
                  <a:gd name="T38" fmla="*/ 0 w 3550"/>
                  <a:gd name="T39" fmla="*/ 0 h 1748"/>
                  <a:gd name="T40" fmla="*/ 0 w 3550"/>
                  <a:gd name="T41" fmla="*/ 0 h 1748"/>
                  <a:gd name="T42" fmla="*/ 0 w 3550"/>
                  <a:gd name="T43" fmla="*/ 0 h 1748"/>
                  <a:gd name="T44" fmla="*/ 0 w 3550"/>
                  <a:gd name="T45" fmla="*/ 0 h 1748"/>
                  <a:gd name="T46" fmla="*/ 0 w 3550"/>
                  <a:gd name="T47" fmla="*/ 0 h 1748"/>
                  <a:gd name="T48" fmla="*/ 0 w 3550"/>
                  <a:gd name="T49" fmla="*/ 0 h 1748"/>
                  <a:gd name="T50" fmla="*/ 0 w 3550"/>
                  <a:gd name="T51" fmla="*/ 0 h 1748"/>
                  <a:gd name="T52" fmla="*/ 0 w 3550"/>
                  <a:gd name="T53" fmla="*/ 0 h 1748"/>
                  <a:gd name="T54" fmla="*/ 0 w 3550"/>
                  <a:gd name="T55" fmla="*/ 0 h 1748"/>
                  <a:gd name="T56" fmla="*/ 0 w 3550"/>
                  <a:gd name="T57" fmla="*/ 0 h 1748"/>
                  <a:gd name="T58" fmla="*/ 0 w 3550"/>
                  <a:gd name="T59" fmla="*/ 0 h 1748"/>
                  <a:gd name="T60" fmla="*/ 0 w 3550"/>
                  <a:gd name="T61" fmla="*/ 0 h 1748"/>
                  <a:gd name="T62" fmla="*/ 0 w 3550"/>
                  <a:gd name="T63" fmla="*/ 0 h 1748"/>
                  <a:gd name="T64" fmla="*/ 0 w 3550"/>
                  <a:gd name="T65" fmla="*/ 0 h 1748"/>
                  <a:gd name="T66" fmla="*/ 0 w 3550"/>
                  <a:gd name="T67" fmla="*/ 0 h 1748"/>
                  <a:gd name="T68" fmla="*/ 0 w 3550"/>
                  <a:gd name="T69" fmla="*/ 0 h 1748"/>
                  <a:gd name="T70" fmla="*/ 0 w 3550"/>
                  <a:gd name="T71" fmla="*/ 0 h 1748"/>
                  <a:gd name="T72" fmla="*/ 0 w 3550"/>
                  <a:gd name="T73" fmla="*/ 0 h 1748"/>
                  <a:gd name="T74" fmla="*/ 0 w 3550"/>
                  <a:gd name="T75" fmla="*/ 0 h 1748"/>
                  <a:gd name="T76" fmla="*/ 0 w 3550"/>
                  <a:gd name="T77" fmla="*/ 0 h 1748"/>
                  <a:gd name="T78" fmla="*/ 0 w 3550"/>
                  <a:gd name="T79" fmla="*/ 0 h 1748"/>
                  <a:gd name="T80" fmla="*/ 0 w 3550"/>
                  <a:gd name="T81" fmla="*/ 0 h 1748"/>
                  <a:gd name="T82" fmla="*/ 0 w 3550"/>
                  <a:gd name="T83" fmla="*/ 0 h 1748"/>
                  <a:gd name="T84" fmla="*/ 0 w 3550"/>
                  <a:gd name="T85" fmla="*/ 0 h 1748"/>
                  <a:gd name="T86" fmla="*/ 0 w 3550"/>
                  <a:gd name="T87" fmla="*/ 0 h 1748"/>
                  <a:gd name="T88" fmla="*/ 0 w 3550"/>
                  <a:gd name="T89" fmla="*/ 0 h 1748"/>
                  <a:gd name="T90" fmla="*/ 0 w 3550"/>
                  <a:gd name="T91" fmla="*/ 0 h 1748"/>
                  <a:gd name="T92" fmla="*/ 0 w 3550"/>
                  <a:gd name="T93" fmla="*/ 0 h 1748"/>
                  <a:gd name="T94" fmla="*/ 0 w 3550"/>
                  <a:gd name="T95" fmla="*/ 0 h 174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50"/>
                  <a:gd name="T145" fmla="*/ 0 h 1748"/>
                  <a:gd name="T146" fmla="*/ 3550 w 3550"/>
                  <a:gd name="T147" fmla="*/ 1748 h 174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50" h="1748">
                    <a:moveTo>
                      <a:pt x="3550" y="163"/>
                    </a:moveTo>
                    <a:lnTo>
                      <a:pt x="3545" y="153"/>
                    </a:lnTo>
                    <a:lnTo>
                      <a:pt x="3541" y="144"/>
                    </a:lnTo>
                    <a:lnTo>
                      <a:pt x="3538" y="137"/>
                    </a:lnTo>
                    <a:lnTo>
                      <a:pt x="3533" y="130"/>
                    </a:lnTo>
                    <a:lnTo>
                      <a:pt x="3529" y="120"/>
                    </a:lnTo>
                    <a:lnTo>
                      <a:pt x="3523" y="108"/>
                    </a:lnTo>
                    <a:lnTo>
                      <a:pt x="3514" y="90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1" y="1665"/>
                    </a:lnTo>
                    <a:lnTo>
                      <a:pt x="26" y="1673"/>
                    </a:lnTo>
                    <a:lnTo>
                      <a:pt x="31" y="1685"/>
                    </a:lnTo>
                    <a:lnTo>
                      <a:pt x="37" y="1699"/>
                    </a:lnTo>
                    <a:lnTo>
                      <a:pt x="46" y="1719"/>
                    </a:lnTo>
                    <a:lnTo>
                      <a:pt x="57" y="1748"/>
                    </a:lnTo>
                    <a:lnTo>
                      <a:pt x="162" y="1700"/>
                    </a:lnTo>
                    <a:lnTo>
                      <a:pt x="259" y="1656"/>
                    </a:lnTo>
                    <a:lnTo>
                      <a:pt x="348" y="1616"/>
                    </a:lnTo>
                    <a:lnTo>
                      <a:pt x="430" y="1579"/>
                    </a:lnTo>
                    <a:lnTo>
                      <a:pt x="508" y="1543"/>
                    </a:lnTo>
                    <a:lnTo>
                      <a:pt x="579" y="1511"/>
                    </a:lnTo>
                    <a:lnTo>
                      <a:pt x="648" y="1480"/>
                    </a:lnTo>
                    <a:lnTo>
                      <a:pt x="713" y="1451"/>
                    </a:lnTo>
                    <a:lnTo>
                      <a:pt x="776" y="1422"/>
                    </a:lnTo>
                    <a:lnTo>
                      <a:pt x="837" y="1395"/>
                    </a:lnTo>
                    <a:lnTo>
                      <a:pt x="898" y="1367"/>
                    </a:lnTo>
                    <a:lnTo>
                      <a:pt x="959" y="1340"/>
                    </a:lnTo>
                    <a:lnTo>
                      <a:pt x="1021" y="1311"/>
                    </a:lnTo>
                    <a:lnTo>
                      <a:pt x="1085" y="1282"/>
                    </a:lnTo>
                    <a:lnTo>
                      <a:pt x="1153" y="1251"/>
                    </a:lnTo>
                    <a:lnTo>
                      <a:pt x="1223" y="1220"/>
                    </a:lnTo>
                    <a:lnTo>
                      <a:pt x="1299" y="1186"/>
                    </a:lnTo>
                    <a:lnTo>
                      <a:pt x="1379" y="1149"/>
                    </a:lnTo>
                    <a:lnTo>
                      <a:pt x="1466" y="1110"/>
                    </a:lnTo>
                    <a:lnTo>
                      <a:pt x="1560" y="1067"/>
                    </a:lnTo>
                    <a:lnTo>
                      <a:pt x="1662" y="1020"/>
                    </a:lnTo>
                    <a:lnTo>
                      <a:pt x="1772" y="971"/>
                    </a:lnTo>
                    <a:lnTo>
                      <a:pt x="1892" y="916"/>
                    </a:lnTo>
                    <a:lnTo>
                      <a:pt x="2024" y="857"/>
                    </a:lnTo>
                    <a:lnTo>
                      <a:pt x="2166" y="792"/>
                    </a:lnTo>
                    <a:lnTo>
                      <a:pt x="2320" y="722"/>
                    </a:lnTo>
                    <a:lnTo>
                      <a:pt x="2488" y="646"/>
                    </a:lnTo>
                    <a:lnTo>
                      <a:pt x="2668" y="564"/>
                    </a:lnTo>
                    <a:lnTo>
                      <a:pt x="2864" y="474"/>
                    </a:lnTo>
                    <a:lnTo>
                      <a:pt x="3075" y="378"/>
                    </a:lnTo>
                    <a:lnTo>
                      <a:pt x="3304" y="275"/>
                    </a:lnTo>
                    <a:lnTo>
                      <a:pt x="3550" y="163"/>
                    </a:lnTo>
                    <a:close/>
                  </a:path>
                </a:pathLst>
              </a:custGeom>
              <a:solidFill>
                <a:srgbClr val="BF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1" name="Freeform 464">
                <a:extLst>
                  <a:ext uri="{FF2B5EF4-FFF2-40B4-BE49-F238E27FC236}">
                    <a16:creationId xmlns:a16="http://schemas.microsoft.com/office/drawing/2014/main" id="{FC1CDD8B-9FE6-4147-BBBC-946DD15FF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6"/>
              </a:xfrm>
              <a:custGeom>
                <a:avLst/>
                <a:gdLst>
                  <a:gd name="T0" fmla="*/ 0 w 3539"/>
                  <a:gd name="T1" fmla="*/ 0 h 1724"/>
                  <a:gd name="T2" fmla="*/ 0 w 3539"/>
                  <a:gd name="T3" fmla="*/ 0 h 1724"/>
                  <a:gd name="T4" fmla="*/ 0 w 3539"/>
                  <a:gd name="T5" fmla="*/ 0 h 1724"/>
                  <a:gd name="T6" fmla="*/ 0 w 3539"/>
                  <a:gd name="T7" fmla="*/ 0 h 1724"/>
                  <a:gd name="T8" fmla="*/ 0 w 3539"/>
                  <a:gd name="T9" fmla="*/ 0 h 1724"/>
                  <a:gd name="T10" fmla="*/ 0 w 3539"/>
                  <a:gd name="T11" fmla="*/ 0 h 1724"/>
                  <a:gd name="T12" fmla="*/ 0 w 3539"/>
                  <a:gd name="T13" fmla="*/ 0 h 1724"/>
                  <a:gd name="T14" fmla="*/ 0 w 3539"/>
                  <a:gd name="T15" fmla="*/ 0 h 1724"/>
                  <a:gd name="T16" fmla="*/ 0 w 3539"/>
                  <a:gd name="T17" fmla="*/ 0 h 1724"/>
                  <a:gd name="T18" fmla="*/ 0 w 3539"/>
                  <a:gd name="T19" fmla="*/ 0 h 1724"/>
                  <a:gd name="T20" fmla="*/ 0 w 3539"/>
                  <a:gd name="T21" fmla="*/ 0 h 1724"/>
                  <a:gd name="T22" fmla="*/ 0 w 3539"/>
                  <a:gd name="T23" fmla="*/ 0 h 1724"/>
                  <a:gd name="T24" fmla="*/ 0 w 3539"/>
                  <a:gd name="T25" fmla="*/ 0 h 1724"/>
                  <a:gd name="T26" fmla="*/ 0 w 3539"/>
                  <a:gd name="T27" fmla="*/ 0 h 1724"/>
                  <a:gd name="T28" fmla="*/ 0 w 3539"/>
                  <a:gd name="T29" fmla="*/ 0 h 1724"/>
                  <a:gd name="T30" fmla="*/ 0 w 3539"/>
                  <a:gd name="T31" fmla="*/ 0 h 1724"/>
                  <a:gd name="T32" fmla="*/ 0 w 3539"/>
                  <a:gd name="T33" fmla="*/ 0 h 1724"/>
                  <a:gd name="T34" fmla="*/ 0 w 3539"/>
                  <a:gd name="T35" fmla="*/ 0 h 1724"/>
                  <a:gd name="T36" fmla="*/ 0 w 3539"/>
                  <a:gd name="T37" fmla="*/ 0 h 1724"/>
                  <a:gd name="T38" fmla="*/ 0 w 3539"/>
                  <a:gd name="T39" fmla="*/ 0 h 1724"/>
                  <a:gd name="T40" fmla="*/ 0 w 3539"/>
                  <a:gd name="T41" fmla="*/ 0 h 1724"/>
                  <a:gd name="T42" fmla="*/ 0 w 3539"/>
                  <a:gd name="T43" fmla="*/ 0 h 1724"/>
                  <a:gd name="T44" fmla="*/ 0 w 3539"/>
                  <a:gd name="T45" fmla="*/ 0 h 1724"/>
                  <a:gd name="T46" fmla="*/ 0 w 3539"/>
                  <a:gd name="T47" fmla="*/ 0 h 1724"/>
                  <a:gd name="T48" fmla="*/ 0 w 3539"/>
                  <a:gd name="T49" fmla="*/ 0 h 1724"/>
                  <a:gd name="T50" fmla="*/ 0 w 3539"/>
                  <a:gd name="T51" fmla="*/ 0 h 1724"/>
                  <a:gd name="T52" fmla="*/ 0 w 3539"/>
                  <a:gd name="T53" fmla="*/ 0 h 1724"/>
                  <a:gd name="T54" fmla="*/ 0 w 3539"/>
                  <a:gd name="T55" fmla="*/ 0 h 1724"/>
                  <a:gd name="T56" fmla="*/ 0 w 3539"/>
                  <a:gd name="T57" fmla="*/ 0 h 1724"/>
                  <a:gd name="T58" fmla="*/ 0 w 3539"/>
                  <a:gd name="T59" fmla="*/ 0 h 1724"/>
                  <a:gd name="T60" fmla="*/ 0 w 3539"/>
                  <a:gd name="T61" fmla="*/ 0 h 1724"/>
                  <a:gd name="T62" fmla="*/ 0 w 3539"/>
                  <a:gd name="T63" fmla="*/ 0 h 1724"/>
                  <a:gd name="T64" fmla="*/ 0 w 3539"/>
                  <a:gd name="T65" fmla="*/ 0 h 1724"/>
                  <a:gd name="T66" fmla="*/ 0 w 3539"/>
                  <a:gd name="T67" fmla="*/ 0 h 1724"/>
                  <a:gd name="T68" fmla="*/ 0 w 3539"/>
                  <a:gd name="T69" fmla="*/ 0 h 1724"/>
                  <a:gd name="T70" fmla="*/ 0 w 3539"/>
                  <a:gd name="T71" fmla="*/ 0 h 1724"/>
                  <a:gd name="T72" fmla="*/ 0 w 3539"/>
                  <a:gd name="T73" fmla="*/ 0 h 1724"/>
                  <a:gd name="T74" fmla="*/ 0 w 3539"/>
                  <a:gd name="T75" fmla="*/ 0 h 1724"/>
                  <a:gd name="T76" fmla="*/ 0 w 3539"/>
                  <a:gd name="T77" fmla="*/ 0 h 1724"/>
                  <a:gd name="T78" fmla="*/ 0 w 3539"/>
                  <a:gd name="T79" fmla="*/ 0 h 1724"/>
                  <a:gd name="T80" fmla="*/ 0 w 3539"/>
                  <a:gd name="T81" fmla="*/ 0 h 1724"/>
                  <a:gd name="T82" fmla="*/ 0 w 3539"/>
                  <a:gd name="T83" fmla="*/ 0 h 1724"/>
                  <a:gd name="T84" fmla="*/ 0 w 3539"/>
                  <a:gd name="T85" fmla="*/ 0 h 1724"/>
                  <a:gd name="T86" fmla="*/ 0 w 3539"/>
                  <a:gd name="T87" fmla="*/ 0 h 1724"/>
                  <a:gd name="T88" fmla="*/ 0 w 3539"/>
                  <a:gd name="T89" fmla="*/ 0 h 1724"/>
                  <a:gd name="T90" fmla="*/ 0 w 3539"/>
                  <a:gd name="T91" fmla="*/ 0 h 1724"/>
                  <a:gd name="T92" fmla="*/ 0 w 3539"/>
                  <a:gd name="T93" fmla="*/ 0 h 1724"/>
                  <a:gd name="T94" fmla="*/ 0 w 3539"/>
                  <a:gd name="T95" fmla="*/ 0 h 172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39"/>
                  <a:gd name="T145" fmla="*/ 0 h 1724"/>
                  <a:gd name="T146" fmla="*/ 3539 w 3539"/>
                  <a:gd name="T147" fmla="*/ 1724 h 172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39" h="1724">
                    <a:moveTo>
                      <a:pt x="3539" y="143"/>
                    </a:moveTo>
                    <a:lnTo>
                      <a:pt x="3534" y="135"/>
                    </a:lnTo>
                    <a:lnTo>
                      <a:pt x="3531" y="129"/>
                    </a:lnTo>
                    <a:lnTo>
                      <a:pt x="3529" y="123"/>
                    </a:lnTo>
                    <a:lnTo>
                      <a:pt x="3526" y="117"/>
                    </a:lnTo>
                    <a:lnTo>
                      <a:pt x="3523" y="110"/>
                    </a:lnTo>
                    <a:lnTo>
                      <a:pt x="3518" y="99"/>
                    </a:lnTo>
                    <a:lnTo>
                      <a:pt x="3511" y="84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6"/>
                    </a:lnTo>
                    <a:lnTo>
                      <a:pt x="16" y="1652"/>
                    </a:lnTo>
                    <a:lnTo>
                      <a:pt x="19" y="1658"/>
                    </a:lnTo>
                    <a:lnTo>
                      <a:pt x="22" y="1666"/>
                    </a:lnTo>
                    <a:lnTo>
                      <a:pt x="26" y="1674"/>
                    </a:lnTo>
                    <a:lnTo>
                      <a:pt x="31" y="1686"/>
                    </a:lnTo>
                    <a:lnTo>
                      <a:pt x="37" y="1702"/>
                    </a:lnTo>
                    <a:lnTo>
                      <a:pt x="46" y="1724"/>
                    </a:lnTo>
                    <a:lnTo>
                      <a:pt x="151" y="1676"/>
                    </a:lnTo>
                    <a:lnTo>
                      <a:pt x="248" y="1633"/>
                    </a:lnTo>
                    <a:lnTo>
                      <a:pt x="337" y="1592"/>
                    </a:lnTo>
                    <a:lnTo>
                      <a:pt x="419" y="1555"/>
                    </a:lnTo>
                    <a:lnTo>
                      <a:pt x="497" y="1520"/>
                    </a:lnTo>
                    <a:lnTo>
                      <a:pt x="568" y="1488"/>
                    </a:lnTo>
                    <a:lnTo>
                      <a:pt x="637" y="1457"/>
                    </a:lnTo>
                    <a:lnTo>
                      <a:pt x="702" y="1427"/>
                    </a:lnTo>
                    <a:lnTo>
                      <a:pt x="765" y="1399"/>
                    </a:lnTo>
                    <a:lnTo>
                      <a:pt x="826" y="1372"/>
                    </a:lnTo>
                    <a:lnTo>
                      <a:pt x="886" y="1344"/>
                    </a:lnTo>
                    <a:lnTo>
                      <a:pt x="948" y="1316"/>
                    </a:lnTo>
                    <a:lnTo>
                      <a:pt x="1010" y="1288"/>
                    </a:lnTo>
                    <a:lnTo>
                      <a:pt x="1074" y="1259"/>
                    </a:lnTo>
                    <a:lnTo>
                      <a:pt x="1141" y="1229"/>
                    </a:lnTo>
                    <a:lnTo>
                      <a:pt x="1212" y="1197"/>
                    </a:lnTo>
                    <a:lnTo>
                      <a:pt x="1287" y="1163"/>
                    </a:lnTo>
                    <a:lnTo>
                      <a:pt x="1368" y="1126"/>
                    </a:lnTo>
                    <a:lnTo>
                      <a:pt x="1455" y="1087"/>
                    </a:lnTo>
                    <a:lnTo>
                      <a:pt x="1548" y="1045"/>
                    </a:lnTo>
                    <a:lnTo>
                      <a:pt x="1650" y="998"/>
                    </a:lnTo>
                    <a:lnTo>
                      <a:pt x="1761" y="949"/>
                    </a:lnTo>
                    <a:lnTo>
                      <a:pt x="1881" y="894"/>
                    </a:lnTo>
                    <a:lnTo>
                      <a:pt x="2013" y="835"/>
                    </a:lnTo>
                    <a:lnTo>
                      <a:pt x="2154" y="771"/>
                    </a:lnTo>
                    <a:lnTo>
                      <a:pt x="2308" y="700"/>
                    </a:lnTo>
                    <a:lnTo>
                      <a:pt x="2477" y="625"/>
                    </a:lnTo>
                    <a:lnTo>
                      <a:pt x="2657" y="543"/>
                    </a:lnTo>
                    <a:lnTo>
                      <a:pt x="2853" y="453"/>
                    </a:lnTo>
                    <a:lnTo>
                      <a:pt x="3064" y="357"/>
                    </a:lnTo>
                    <a:lnTo>
                      <a:pt x="3293" y="254"/>
                    </a:lnTo>
                    <a:lnTo>
                      <a:pt x="3539" y="143"/>
                    </a:lnTo>
                    <a:close/>
                  </a:path>
                </a:pathLst>
              </a:custGeom>
              <a:solidFill>
                <a:srgbClr val="C9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2" name="Freeform 465">
                <a:extLst>
                  <a:ext uri="{FF2B5EF4-FFF2-40B4-BE49-F238E27FC236}">
                    <a16:creationId xmlns:a16="http://schemas.microsoft.com/office/drawing/2014/main" id="{E083F6F4-1AEA-4971-A3BA-D003B745F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4"/>
              </a:xfrm>
              <a:custGeom>
                <a:avLst/>
                <a:gdLst>
                  <a:gd name="T0" fmla="*/ 0 w 3526"/>
                  <a:gd name="T1" fmla="*/ 0 h 1698"/>
                  <a:gd name="T2" fmla="*/ 0 w 3526"/>
                  <a:gd name="T3" fmla="*/ 0 h 1698"/>
                  <a:gd name="T4" fmla="*/ 0 w 3526"/>
                  <a:gd name="T5" fmla="*/ 0 h 1698"/>
                  <a:gd name="T6" fmla="*/ 0 w 3526"/>
                  <a:gd name="T7" fmla="*/ 0 h 1698"/>
                  <a:gd name="T8" fmla="*/ 0 w 3526"/>
                  <a:gd name="T9" fmla="*/ 0 h 1698"/>
                  <a:gd name="T10" fmla="*/ 0 w 3526"/>
                  <a:gd name="T11" fmla="*/ 0 h 1698"/>
                  <a:gd name="T12" fmla="*/ 0 w 3526"/>
                  <a:gd name="T13" fmla="*/ 0 h 1698"/>
                  <a:gd name="T14" fmla="*/ 0 w 3526"/>
                  <a:gd name="T15" fmla="*/ 0 h 1698"/>
                  <a:gd name="T16" fmla="*/ 0 w 3526"/>
                  <a:gd name="T17" fmla="*/ 0 h 1698"/>
                  <a:gd name="T18" fmla="*/ 0 w 3526"/>
                  <a:gd name="T19" fmla="*/ 0 h 1698"/>
                  <a:gd name="T20" fmla="*/ 0 w 3526"/>
                  <a:gd name="T21" fmla="*/ 0 h 1698"/>
                  <a:gd name="T22" fmla="*/ 0 w 3526"/>
                  <a:gd name="T23" fmla="*/ 0 h 1698"/>
                  <a:gd name="T24" fmla="*/ 0 w 3526"/>
                  <a:gd name="T25" fmla="*/ 0 h 1698"/>
                  <a:gd name="T26" fmla="*/ 0 w 3526"/>
                  <a:gd name="T27" fmla="*/ 0 h 1698"/>
                  <a:gd name="T28" fmla="*/ 0 w 3526"/>
                  <a:gd name="T29" fmla="*/ 0 h 1698"/>
                  <a:gd name="T30" fmla="*/ 0 w 3526"/>
                  <a:gd name="T31" fmla="*/ 0 h 1698"/>
                  <a:gd name="T32" fmla="*/ 0 w 3526"/>
                  <a:gd name="T33" fmla="*/ 0 h 1698"/>
                  <a:gd name="T34" fmla="*/ 0 w 3526"/>
                  <a:gd name="T35" fmla="*/ 0 h 1698"/>
                  <a:gd name="T36" fmla="*/ 0 w 3526"/>
                  <a:gd name="T37" fmla="*/ 0 h 1698"/>
                  <a:gd name="T38" fmla="*/ 0 w 3526"/>
                  <a:gd name="T39" fmla="*/ 0 h 1698"/>
                  <a:gd name="T40" fmla="*/ 0 w 3526"/>
                  <a:gd name="T41" fmla="*/ 0 h 1698"/>
                  <a:gd name="T42" fmla="*/ 0 w 3526"/>
                  <a:gd name="T43" fmla="*/ 0 h 1698"/>
                  <a:gd name="T44" fmla="*/ 0 w 3526"/>
                  <a:gd name="T45" fmla="*/ 0 h 1698"/>
                  <a:gd name="T46" fmla="*/ 0 w 3526"/>
                  <a:gd name="T47" fmla="*/ 0 h 1698"/>
                  <a:gd name="T48" fmla="*/ 0 w 3526"/>
                  <a:gd name="T49" fmla="*/ 0 h 1698"/>
                  <a:gd name="T50" fmla="*/ 0 w 3526"/>
                  <a:gd name="T51" fmla="*/ 0 h 1698"/>
                  <a:gd name="T52" fmla="*/ 0 w 3526"/>
                  <a:gd name="T53" fmla="*/ 0 h 1698"/>
                  <a:gd name="T54" fmla="*/ 0 w 3526"/>
                  <a:gd name="T55" fmla="*/ 0 h 1698"/>
                  <a:gd name="T56" fmla="*/ 0 w 3526"/>
                  <a:gd name="T57" fmla="*/ 0 h 1698"/>
                  <a:gd name="T58" fmla="*/ 0 w 3526"/>
                  <a:gd name="T59" fmla="*/ 0 h 1698"/>
                  <a:gd name="T60" fmla="*/ 0 w 3526"/>
                  <a:gd name="T61" fmla="*/ 0 h 1698"/>
                  <a:gd name="T62" fmla="*/ 0 w 3526"/>
                  <a:gd name="T63" fmla="*/ 0 h 1698"/>
                  <a:gd name="T64" fmla="*/ 0 w 3526"/>
                  <a:gd name="T65" fmla="*/ 0 h 1698"/>
                  <a:gd name="T66" fmla="*/ 0 w 3526"/>
                  <a:gd name="T67" fmla="*/ 0 h 1698"/>
                  <a:gd name="T68" fmla="*/ 0 w 3526"/>
                  <a:gd name="T69" fmla="*/ 0 h 1698"/>
                  <a:gd name="T70" fmla="*/ 0 w 3526"/>
                  <a:gd name="T71" fmla="*/ 0 h 1698"/>
                  <a:gd name="T72" fmla="*/ 0 w 3526"/>
                  <a:gd name="T73" fmla="*/ 0 h 1698"/>
                  <a:gd name="T74" fmla="*/ 0 w 3526"/>
                  <a:gd name="T75" fmla="*/ 0 h 1698"/>
                  <a:gd name="T76" fmla="*/ 0 w 3526"/>
                  <a:gd name="T77" fmla="*/ 0 h 1698"/>
                  <a:gd name="T78" fmla="*/ 0 w 3526"/>
                  <a:gd name="T79" fmla="*/ 0 h 1698"/>
                  <a:gd name="T80" fmla="*/ 0 w 3526"/>
                  <a:gd name="T81" fmla="*/ 0 h 1698"/>
                  <a:gd name="T82" fmla="*/ 0 w 3526"/>
                  <a:gd name="T83" fmla="*/ 0 h 1698"/>
                  <a:gd name="T84" fmla="*/ 0 w 3526"/>
                  <a:gd name="T85" fmla="*/ 0 h 1698"/>
                  <a:gd name="T86" fmla="*/ 0 w 3526"/>
                  <a:gd name="T87" fmla="*/ 0 h 16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26"/>
                  <a:gd name="T133" fmla="*/ 0 h 1698"/>
                  <a:gd name="T134" fmla="*/ 3526 w 3526"/>
                  <a:gd name="T135" fmla="*/ 1698 h 16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26" h="1698">
                    <a:moveTo>
                      <a:pt x="3526" y="123"/>
                    </a:moveTo>
                    <a:lnTo>
                      <a:pt x="3522" y="112"/>
                    </a:lnTo>
                    <a:lnTo>
                      <a:pt x="3518" y="103"/>
                    </a:lnTo>
                    <a:lnTo>
                      <a:pt x="3513" y="9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5" y="1671"/>
                    </a:lnTo>
                    <a:lnTo>
                      <a:pt x="36" y="1698"/>
                    </a:lnTo>
                    <a:lnTo>
                      <a:pt x="141" y="1651"/>
                    </a:lnTo>
                    <a:lnTo>
                      <a:pt x="237" y="1608"/>
                    </a:lnTo>
                    <a:lnTo>
                      <a:pt x="326" y="1568"/>
                    </a:lnTo>
                    <a:lnTo>
                      <a:pt x="409" y="1530"/>
                    </a:lnTo>
                    <a:lnTo>
                      <a:pt x="486" y="1496"/>
                    </a:lnTo>
                    <a:lnTo>
                      <a:pt x="558" y="1463"/>
                    </a:lnTo>
                    <a:lnTo>
                      <a:pt x="626" y="1433"/>
                    </a:lnTo>
                    <a:lnTo>
                      <a:pt x="691" y="1403"/>
                    </a:lnTo>
                    <a:lnTo>
                      <a:pt x="754" y="1375"/>
                    </a:lnTo>
                    <a:lnTo>
                      <a:pt x="815" y="1347"/>
                    </a:lnTo>
                    <a:lnTo>
                      <a:pt x="875" y="1320"/>
                    </a:lnTo>
                    <a:lnTo>
                      <a:pt x="936" y="1292"/>
                    </a:lnTo>
                    <a:lnTo>
                      <a:pt x="999" y="1264"/>
                    </a:lnTo>
                    <a:lnTo>
                      <a:pt x="1063" y="1236"/>
                    </a:lnTo>
                    <a:lnTo>
                      <a:pt x="1130" y="1205"/>
                    </a:lnTo>
                    <a:lnTo>
                      <a:pt x="1201" y="1173"/>
                    </a:lnTo>
                    <a:lnTo>
                      <a:pt x="1276" y="1140"/>
                    </a:lnTo>
                    <a:lnTo>
                      <a:pt x="1357" y="1103"/>
                    </a:lnTo>
                    <a:lnTo>
                      <a:pt x="1443" y="1064"/>
                    </a:lnTo>
                    <a:lnTo>
                      <a:pt x="1537" y="1022"/>
                    </a:lnTo>
                    <a:lnTo>
                      <a:pt x="1639" y="975"/>
                    </a:lnTo>
                    <a:lnTo>
                      <a:pt x="1749" y="926"/>
                    </a:lnTo>
                    <a:lnTo>
                      <a:pt x="1870" y="872"/>
                    </a:lnTo>
                    <a:lnTo>
                      <a:pt x="2000" y="813"/>
                    </a:lnTo>
                    <a:lnTo>
                      <a:pt x="2143" y="749"/>
                    </a:lnTo>
                    <a:lnTo>
                      <a:pt x="2297" y="679"/>
                    </a:lnTo>
                    <a:lnTo>
                      <a:pt x="2464" y="603"/>
                    </a:lnTo>
                    <a:lnTo>
                      <a:pt x="2646" y="521"/>
                    </a:lnTo>
                    <a:lnTo>
                      <a:pt x="2841" y="432"/>
                    </a:lnTo>
                    <a:lnTo>
                      <a:pt x="3053" y="337"/>
                    </a:lnTo>
                    <a:lnTo>
                      <a:pt x="3281" y="234"/>
                    </a:lnTo>
                    <a:lnTo>
                      <a:pt x="3526" y="123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3" name="Freeform 466">
                <a:extLst>
                  <a:ext uri="{FF2B5EF4-FFF2-40B4-BE49-F238E27FC236}">
                    <a16:creationId xmlns:a16="http://schemas.microsoft.com/office/drawing/2014/main" id="{197D1AD3-55B1-4424-87F9-F0FABADA63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3"/>
              </a:xfrm>
              <a:custGeom>
                <a:avLst/>
                <a:gdLst>
                  <a:gd name="T0" fmla="*/ 0 w 3515"/>
                  <a:gd name="T1" fmla="*/ 0 h 1674"/>
                  <a:gd name="T2" fmla="*/ 0 w 3515"/>
                  <a:gd name="T3" fmla="*/ 0 h 1674"/>
                  <a:gd name="T4" fmla="*/ 0 w 3515"/>
                  <a:gd name="T5" fmla="*/ 0 h 1674"/>
                  <a:gd name="T6" fmla="*/ 0 w 3515"/>
                  <a:gd name="T7" fmla="*/ 0 h 1674"/>
                  <a:gd name="T8" fmla="*/ 0 w 3515"/>
                  <a:gd name="T9" fmla="*/ 0 h 1674"/>
                  <a:gd name="T10" fmla="*/ 0 w 3515"/>
                  <a:gd name="T11" fmla="*/ 0 h 1674"/>
                  <a:gd name="T12" fmla="*/ 0 w 3515"/>
                  <a:gd name="T13" fmla="*/ 0 h 1674"/>
                  <a:gd name="T14" fmla="*/ 0 w 3515"/>
                  <a:gd name="T15" fmla="*/ 0 h 1674"/>
                  <a:gd name="T16" fmla="*/ 0 w 3515"/>
                  <a:gd name="T17" fmla="*/ 0 h 1674"/>
                  <a:gd name="T18" fmla="*/ 0 w 3515"/>
                  <a:gd name="T19" fmla="*/ 0 h 1674"/>
                  <a:gd name="T20" fmla="*/ 0 w 3515"/>
                  <a:gd name="T21" fmla="*/ 0 h 1674"/>
                  <a:gd name="T22" fmla="*/ 0 w 3515"/>
                  <a:gd name="T23" fmla="*/ 0 h 1674"/>
                  <a:gd name="T24" fmla="*/ 0 w 3515"/>
                  <a:gd name="T25" fmla="*/ 0 h 1674"/>
                  <a:gd name="T26" fmla="*/ 0 w 3515"/>
                  <a:gd name="T27" fmla="*/ 0 h 1674"/>
                  <a:gd name="T28" fmla="*/ 0 w 3515"/>
                  <a:gd name="T29" fmla="*/ 0 h 1674"/>
                  <a:gd name="T30" fmla="*/ 0 w 3515"/>
                  <a:gd name="T31" fmla="*/ 0 h 1674"/>
                  <a:gd name="T32" fmla="*/ 0 w 3515"/>
                  <a:gd name="T33" fmla="*/ 0 h 1674"/>
                  <a:gd name="T34" fmla="*/ 0 w 3515"/>
                  <a:gd name="T35" fmla="*/ 0 h 1674"/>
                  <a:gd name="T36" fmla="*/ 0 w 3515"/>
                  <a:gd name="T37" fmla="*/ 0 h 1674"/>
                  <a:gd name="T38" fmla="*/ 0 w 3515"/>
                  <a:gd name="T39" fmla="*/ 0 h 1674"/>
                  <a:gd name="T40" fmla="*/ 0 w 3515"/>
                  <a:gd name="T41" fmla="*/ 0 h 1674"/>
                  <a:gd name="T42" fmla="*/ 0 w 3515"/>
                  <a:gd name="T43" fmla="*/ 0 h 1674"/>
                  <a:gd name="T44" fmla="*/ 0 w 3515"/>
                  <a:gd name="T45" fmla="*/ 0 h 1674"/>
                  <a:gd name="T46" fmla="*/ 0 w 3515"/>
                  <a:gd name="T47" fmla="*/ 0 h 1674"/>
                  <a:gd name="T48" fmla="*/ 0 w 3515"/>
                  <a:gd name="T49" fmla="*/ 0 h 1674"/>
                  <a:gd name="T50" fmla="*/ 0 w 3515"/>
                  <a:gd name="T51" fmla="*/ 0 h 1674"/>
                  <a:gd name="T52" fmla="*/ 0 w 3515"/>
                  <a:gd name="T53" fmla="*/ 0 h 1674"/>
                  <a:gd name="T54" fmla="*/ 0 w 3515"/>
                  <a:gd name="T55" fmla="*/ 0 h 1674"/>
                  <a:gd name="T56" fmla="*/ 0 w 3515"/>
                  <a:gd name="T57" fmla="*/ 0 h 1674"/>
                  <a:gd name="T58" fmla="*/ 0 w 3515"/>
                  <a:gd name="T59" fmla="*/ 0 h 1674"/>
                  <a:gd name="T60" fmla="*/ 0 w 3515"/>
                  <a:gd name="T61" fmla="*/ 0 h 1674"/>
                  <a:gd name="T62" fmla="*/ 0 w 3515"/>
                  <a:gd name="T63" fmla="*/ 0 h 1674"/>
                  <a:gd name="T64" fmla="*/ 0 w 3515"/>
                  <a:gd name="T65" fmla="*/ 0 h 1674"/>
                  <a:gd name="T66" fmla="*/ 0 w 3515"/>
                  <a:gd name="T67" fmla="*/ 0 h 1674"/>
                  <a:gd name="T68" fmla="*/ 0 w 3515"/>
                  <a:gd name="T69" fmla="*/ 0 h 1674"/>
                  <a:gd name="T70" fmla="*/ 0 w 3515"/>
                  <a:gd name="T71" fmla="*/ 0 h 1674"/>
                  <a:gd name="T72" fmla="*/ 0 w 3515"/>
                  <a:gd name="T73" fmla="*/ 0 h 1674"/>
                  <a:gd name="T74" fmla="*/ 0 w 3515"/>
                  <a:gd name="T75" fmla="*/ 0 h 1674"/>
                  <a:gd name="T76" fmla="*/ 0 w 3515"/>
                  <a:gd name="T77" fmla="*/ 0 h 1674"/>
                  <a:gd name="T78" fmla="*/ 0 w 3515"/>
                  <a:gd name="T79" fmla="*/ 0 h 1674"/>
                  <a:gd name="T80" fmla="*/ 0 w 3515"/>
                  <a:gd name="T81" fmla="*/ 0 h 1674"/>
                  <a:gd name="T82" fmla="*/ 0 w 3515"/>
                  <a:gd name="T83" fmla="*/ 0 h 1674"/>
                  <a:gd name="T84" fmla="*/ 0 w 3515"/>
                  <a:gd name="T85" fmla="*/ 0 h 1674"/>
                  <a:gd name="T86" fmla="*/ 0 w 3515"/>
                  <a:gd name="T87" fmla="*/ 0 h 167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15"/>
                  <a:gd name="T133" fmla="*/ 0 h 1674"/>
                  <a:gd name="T134" fmla="*/ 3515 w 3515"/>
                  <a:gd name="T135" fmla="*/ 1674 h 1674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15" h="1674">
                    <a:moveTo>
                      <a:pt x="3515" y="103"/>
                    </a:moveTo>
                    <a:lnTo>
                      <a:pt x="3513" y="96"/>
                    </a:lnTo>
                    <a:lnTo>
                      <a:pt x="3511" y="91"/>
                    </a:lnTo>
                    <a:lnTo>
                      <a:pt x="3508" y="8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2" y="1644"/>
                    </a:lnTo>
                    <a:lnTo>
                      <a:pt x="15" y="1649"/>
                    </a:lnTo>
                    <a:lnTo>
                      <a:pt x="18" y="1657"/>
                    </a:lnTo>
                    <a:lnTo>
                      <a:pt x="25" y="1674"/>
                    </a:lnTo>
                    <a:lnTo>
                      <a:pt x="130" y="1627"/>
                    </a:lnTo>
                    <a:lnTo>
                      <a:pt x="225" y="1583"/>
                    </a:lnTo>
                    <a:lnTo>
                      <a:pt x="315" y="1543"/>
                    </a:lnTo>
                    <a:lnTo>
                      <a:pt x="398" y="1506"/>
                    </a:lnTo>
                    <a:lnTo>
                      <a:pt x="474" y="1472"/>
                    </a:lnTo>
                    <a:lnTo>
                      <a:pt x="547" y="1439"/>
                    </a:lnTo>
                    <a:lnTo>
                      <a:pt x="615" y="1408"/>
                    </a:lnTo>
                    <a:lnTo>
                      <a:pt x="679" y="1379"/>
                    </a:lnTo>
                    <a:lnTo>
                      <a:pt x="743" y="1352"/>
                    </a:lnTo>
                    <a:lnTo>
                      <a:pt x="804" y="1324"/>
                    </a:lnTo>
                    <a:lnTo>
                      <a:pt x="864" y="1297"/>
                    </a:lnTo>
                    <a:lnTo>
                      <a:pt x="925" y="1269"/>
                    </a:lnTo>
                    <a:lnTo>
                      <a:pt x="987" y="1241"/>
                    </a:lnTo>
                    <a:lnTo>
                      <a:pt x="1052" y="1212"/>
                    </a:lnTo>
                    <a:lnTo>
                      <a:pt x="1119" y="1182"/>
                    </a:lnTo>
                    <a:lnTo>
                      <a:pt x="1189" y="1150"/>
                    </a:lnTo>
                    <a:lnTo>
                      <a:pt x="1265" y="1116"/>
                    </a:lnTo>
                    <a:lnTo>
                      <a:pt x="1345" y="1081"/>
                    </a:lnTo>
                    <a:lnTo>
                      <a:pt x="1432" y="1042"/>
                    </a:lnTo>
                    <a:lnTo>
                      <a:pt x="1526" y="999"/>
                    </a:lnTo>
                    <a:lnTo>
                      <a:pt x="1628" y="953"/>
                    </a:lnTo>
                    <a:lnTo>
                      <a:pt x="1738" y="903"/>
                    </a:lnTo>
                    <a:lnTo>
                      <a:pt x="1859" y="850"/>
                    </a:lnTo>
                    <a:lnTo>
                      <a:pt x="1989" y="791"/>
                    </a:lnTo>
                    <a:lnTo>
                      <a:pt x="2132" y="726"/>
                    </a:lnTo>
                    <a:lnTo>
                      <a:pt x="2286" y="657"/>
                    </a:lnTo>
                    <a:lnTo>
                      <a:pt x="2453" y="582"/>
                    </a:lnTo>
                    <a:lnTo>
                      <a:pt x="2635" y="500"/>
                    </a:lnTo>
                    <a:lnTo>
                      <a:pt x="2830" y="412"/>
                    </a:lnTo>
                    <a:lnTo>
                      <a:pt x="3042" y="316"/>
                    </a:lnTo>
                    <a:lnTo>
                      <a:pt x="3269" y="214"/>
                    </a:lnTo>
                    <a:lnTo>
                      <a:pt x="3515" y="103"/>
                    </a:lnTo>
                    <a:close/>
                  </a:path>
                </a:pathLst>
              </a:custGeom>
              <a:solidFill>
                <a:srgbClr val="D6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4" name="Freeform 467">
                <a:extLst>
                  <a:ext uri="{FF2B5EF4-FFF2-40B4-BE49-F238E27FC236}">
                    <a16:creationId xmlns:a16="http://schemas.microsoft.com/office/drawing/2014/main" id="{4D3926AD-B780-4D25-B360-392C6834D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59" cy="92"/>
              </a:xfrm>
              <a:custGeom>
                <a:avLst/>
                <a:gdLst>
                  <a:gd name="T0" fmla="*/ 0 w 3503"/>
                  <a:gd name="T1" fmla="*/ 0 h 1649"/>
                  <a:gd name="T2" fmla="*/ 0 w 3503"/>
                  <a:gd name="T3" fmla="*/ 0 h 1649"/>
                  <a:gd name="T4" fmla="*/ 0 w 3503"/>
                  <a:gd name="T5" fmla="*/ 0 h 1649"/>
                  <a:gd name="T6" fmla="*/ 0 w 3503"/>
                  <a:gd name="T7" fmla="*/ 0 h 1649"/>
                  <a:gd name="T8" fmla="*/ 0 w 3503"/>
                  <a:gd name="T9" fmla="*/ 0 h 1649"/>
                  <a:gd name="T10" fmla="*/ 0 w 3503"/>
                  <a:gd name="T11" fmla="*/ 0 h 1649"/>
                  <a:gd name="T12" fmla="*/ 0 w 3503"/>
                  <a:gd name="T13" fmla="*/ 0 h 1649"/>
                  <a:gd name="T14" fmla="*/ 0 w 3503"/>
                  <a:gd name="T15" fmla="*/ 0 h 1649"/>
                  <a:gd name="T16" fmla="*/ 0 w 3503"/>
                  <a:gd name="T17" fmla="*/ 0 h 1649"/>
                  <a:gd name="T18" fmla="*/ 0 w 3503"/>
                  <a:gd name="T19" fmla="*/ 0 h 1649"/>
                  <a:gd name="T20" fmla="*/ 0 w 3503"/>
                  <a:gd name="T21" fmla="*/ 0 h 1649"/>
                  <a:gd name="T22" fmla="*/ 0 w 3503"/>
                  <a:gd name="T23" fmla="*/ 0 h 1649"/>
                  <a:gd name="T24" fmla="*/ 0 w 3503"/>
                  <a:gd name="T25" fmla="*/ 0 h 1649"/>
                  <a:gd name="T26" fmla="*/ 0 w 3503"/>
                  <a:gd name="T27" fmla="*/ 0 h 1649"/>
                  <a:gd name="T28" fmla="*/ 0 w 3503"/>
                  <a:gd name="T29" fmla="*/ 0 h 1649"/>
                  <a:gd name="T30" fmla="*/ 0 w 3503"/>
                  <a:gd name="T31" fmla="*/ 0 h 1649"/>
                  <a:gd name="T32" fmla="*/ 0 w 3503"/>
                  <a:gd name="T33" fmla="*/ 0 h 1649"/>
                  <a:gd name="T34" fmla="*/ 0 w 3503"/>
                  <a:gd name="T35" fmla="*/ 0 h 1649"/>
                  <a:gd name="T36" fmla="*/ 0 w 3503"/>
                  <a:gd name="T37" fmla="*/ 0 h 1649"/>
                  <a:gd name="T38" fmla="*/ 0 w 3503"/>
                  <a:gd name="T39" fmla="*/ 0 h 1649"/>
                  <a:gd name="T40" fmla="*/ 0 w 3503"/>
                  <a:gd name="T41" fmla="*/ 0 h 16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03"/>
                  <a:gd name="T64" fmla="*/ 0 h 1649"/>
                  <a:gd name="T65" fmla="*/ 3503 w 3503"/>
                  <a:gd name="T66" fmla="*/ 1649 h 16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03" h="1649">
                    <a:moveTo>
                      <a:pt x="3503" y="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9"/>
                    </a:lnTo>
                    <a:lnTo>
                      <a:pt x="3503" y="8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5" name="Freeform 468">
                <a:extLst>
                  <a:ext uri="{FF2B5EF4-FFF2-40B4-BE49-F238E27FC236}">
                    <a16:creationId xmlns:a16="http://schemas.microsoft.com/office/drawing/2014/main" id="{AD1C997E-F970-42EC-9E74-095ADF9C9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064"/>
                <a:ext cx="2" cy="3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7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6" name="Freeform 469">
                <a:extLst>
                  <a:ext uri="{FF2B5EF4-FFF2-40B4-BE49-F238E27FC236}">
                    <a16:creationId xmlns:a16="http://schemas.microsoft.com/office/drawing/2014/main" id="{DD046D9D-8D3B-4E4A-8BA6-59C3E0DB4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064"/>
                <a:ext cx="160" cy="90"/>
              </a:xfrm>
              <a:custGeom>
                <a:avLst/>
                <a:gdLst>
                  <a:gd name="T0" fmla="*/ 0 w 3529"/>
                  <a:gd name="T1" fmla="*/ 0 h 1614"/>
                  <a:gd name="T2" fmla="*/ 0 w 3529"/>
                  <a:gd name="T3" fmla="*/ 0 h 1614"/>
                  <a:gd name="T4" fmla="*/ 0 w 3529"/>
                  <a:gd name="T5" fmla="*/ 0 h 1614"/>
                  <a:gd name="T6" fmla="*/ 0 w 3529"/>
                  <a:gd name="T7" fmla="*/ 0 h 1614"/>
                  <a:gd name="T8" fmla="*/ 0 w 3529"/>
                  <a:gd name="T9" fmla="*/ 0 h 1614"/>
                  <a:gd name="T10" fmla="*/ 0 w 3529"/>
                  <a:gd name="T11" fmla="*/ 0 h 16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29"/>
                  <a:gd name="T19" fmla="*/ 0 h 1614"/>
                  <a:gd name="T20" fmla="*/ 3529 w 3529"/>
                  <a:gd name="T21" fmla="*/ 1614 h 16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29" h="1614">
                    <a:moveTo>
                      <a:pt x="8" y="1596"/>
                    </a:moveTo>
                    <a:lnTo>
                      <a:pt x="0" y="1577"/>
                    </a:lnTo>
                    <a:lnTo>
                      <a:pt x="3513" y="0"/>
                    </a:lnTo>
                    <a:lnTo>
                      <a:pt x="3529" y="38"/>
                    </a:lnTo>
                    <a:lnTo>
                      <a:pt x="16" y="1614"/>
                    </a:lnTo>
                    <a:lnTo>
                      <a:pt x="8" y="1596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7" name="Freeform 470">
                <a:extLst>
                  <a:ext uri="{FF2B5EF4-FFF2-40B4-BE49-F238E27FC236}">
                    <a16:creationId xmlns:a16="http://schemas.microsoft.com/office/drawing/2014/main" id="{B3D2250D-A458-4413-AABE-FB2787B43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152"/>
                <a:ext cx="1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28" y="37"/>
                    </a:moveTo>
                    <a:lnTo>
                      <a:pt x="19" y="40"/>
                    </a:lnTo>
                    <a:lnTo>
                      <a:pt x="12" y="37"/>
                    </a:lnTo>
                    <a:lnTo>
                      <a:pt x="6" y="33"/>
                    </a:lnTo>
                    <a:lnTo>
                      <a:pt x="2" y="26"/>
                    </a:lnTo>
                    <a:lnTo>
                      <a:pt x="0" y="19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2" y="0"/>
                    </a:lnTo>
                    <a:lnTo>
                      <a:pt x="28" y="37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8" name="Freeform 471">
                <a:extLst>
                  <a:ext uri="{FF2B5EF4-FFF2-40B4-BE49-F238E27FC236}">
                    <a16:creationId xmlns:a16="http://schemas.microsoft.com/office/drawing/2014/main" id="{DA05B55D-1F15-4EC6-B3B5-3FC7290C1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3075"/>
                <a:ext cx="2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6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79" name="Freeform 472">
                <a:extLst>
                  <a:ext uri="{FF2B5EF4-FFF2-40B4-BE49-F238E27FC236}">
                    <a16:creationId xmlns:a16="http://schemas.microsoft.com/office/drawing/2014/main" id="{E3FC5AA3-98AF-4531-806E-4D44FF538D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075"/>
                <a:ext cx="161" cy="91"/>
              </a:xfrm>
              <a:custGeom>
                <a:avLst/>
                <a:gdLst>
                  <a:gd name="T0" fmla="*/ 0 w 3547"/>
                  <a:gd name="T1" fmla="*/ 0 h 1633"/>
                  <a:gd name="T2" fmla="*/ 0 w 3547"/>
                  <a:gd name="T3" fmla="*/ 0 h 1633"/>
                  <a:gd name="T4" fmla="*/ 0 w 3547"/>
                  <a:gd name="T5" fmla="*/ 0 h 1633"/>
                  <a:gd name="T6" fmla="*/ 0 w 3547"/>
                  <a:gd name="T7" fmla="*/ 0 h 1633"/>
                  <a:gd name="T8" fmla="*/ 0 w 3547"/>
                  <a:gd name="T9" fmla="*/ 0 h 1633"/>
                  <a:gd name="T10" fmla="*/ 0 w 3547"/>
                  <a:gd name="T11" fmla="*/ 0 h 16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47"/>
                  <a:gd name="T19" fmla="*/ 0 h 1633"/>
                  <a:gd name="T20" fmla="*/ 3547 w 3547"/>
                  <a:gd name="T21" fmla="*/ 1633 h 163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47" h="1633">
                    <a:moveTo>
                      <a:pt x="8" y="1614"/>
                    </a:moveTo>
                    <a:lnTo>
                      <a:pt x="0" y="1595"/>
                    </a:lnTo>
                    <a:lnTo>
                      <a:pt x="3531" y="0"/>
                    </a:lnTo>
                    <a:lnTo>
                      <a:pt x="3547" y="38"/>
                    </a:lnTo>
                    <a:lnTo>
                      <a:pt x="17" y="1633"/>
                    </a:lnTo>
                    <a:lnTo>
                      <a:pt x="8" y="161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0" name="Freeform 473">
                <a:extLst>
                  <a:ext uri="{FF2B5EF4-FFF2-40B4-BE49-F238E27FC236}">
                    <a16:creationId xmlns:a16="http://schemas.microsoft.com/office/drawing/2014/main" id="{3C93DCED-0BA4-4BFB-96D3-DBE27DC144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164"/>
                <a:ext cx="2" cy="2"/>
              </a:xfrm>
              <a:custGeom>
                <a:avLst/>
                <a:gdLst>
                  <a:gd name="T0" fmla="*/ 0 w 29"/>
                  <a:gd name="T1" fmla="*/ 0 h 40"/>
                  <a:gd name="T2" fmla="*/ 0 w 29"/>
                  <a:gd name="T3" fmla="*/ 0 h 40"/>
                  <a:gd name="T4" fmla="*/ 0 w 29"/>
                  <a:gd name="T5" fmla="*/ 0 h 40"/>
                  <a:gd name="T6" fmla="*/ 0 w 29"/>
                  <a:gd name="T7" fmla="*/ 0 h 40"/>
                  <a:gd name="T8" fmla="*/ 0 w 29"/>
                  <a:gd name="T9" fmla="*/ 0 h 40"/>
                  <a:gd name="T10" fmla="*/ 0 w 29"/>
                  <a:gd name="T11" fmla="*/ 0 h 40"/>
                  <a:gd name="T12" fmla="*/ 0 w 29"/>
                  <a:gd name="T13" fmla="*/ 0 h 40"/>
                  <a:gd name="T14" fmla="*/ 0 w 29"/>
                  <a:gd name="T15" fmla="*/ 0 h 40"/>
                  <a:gd name="T16" fmla="*/ 0 w 29"/>
                  <a:gd name="T17" fmla="*/ 0 h 40"/>
                  <a:gd name="T18" fmla="*/ 0 w 29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40"/>
                  <a:gd name="T32" fmla="*/ 29 w 29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40">
                    <a:moveTo>
                      <a:pt x="29" y="38"/>
                    </a:moveTo>
                    <a:lnTo>
                      <a:pt x="19" y="40"/>
                    </a:lnTo>
                    <a:lnTo>
                      <a:pt x="12" y="38"/>
                    </a:lnTo>
                    <a:lnTo>
                      <a:pt x="6" y="34"/>
                    </a:lnTo>
                    <a:lnTo>
                      <a:pt x="2" y="27"/>
                    </a:lnTo>
                    <a:lnTo>
                      <a:pt x="0" y="19"/>
                    </a:lnTo>
                    <a:lnTo>
                      <a:pt x="1" y="12"/>
                    </a:lnTo>
                    <a:lnTo>
                      <a:pt x="5" y="6"/>
                    </a:lnTo>
                    <a:lnTo>
                      <a:pt x="12" y="0"/>
                    </a:lnTo>
                    <a:lnTo>
                      <a:pt x="29" y="38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1" name="Freeform 474">
                <a:extLst>
                  <a:ext uri="{FF2B5EF4-FFF2-40B4-BE49-F238E27FC236}">
                    <a16:creationId xmlns:a16="http://schemas.microsoft.com/office/drawing/2014/main" id="{BDCFE020-E0FB-4007-BB87-FB7EC3F68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3169"/>
                <a:ext cx="50" cy="122"/>
              </a:xfrm>
              <a:custGeom>
                <a:avLst/>
                <a:gdLst>
                  <a:gd name="T0" fmla="*/ 0 w 1103"/>
                  <a:gd name="T1" fmla="*/ 0 h 2201"/>
                  <a:gd name="T2" fmla="*/ 0 w 1103"/>
                  <a:gd name="T3" fmla="*/ 0 h 2201"/>
                  <a:gd name="T4" fmla="*/ 0 w 1103"/>
                  <a:gd name="T5" fmla="*/ 0 h 2201"/>
                  <a:gd name="T6" fmla="*/ 0 w 1103"/>
                  <a:gd name="T7" fmla="*/ 0 h 2201"/>
                  <a:gd name="T8" fmla="*/ 0 w 1103"/>
                  <a:gd name="T9" fmla="*/ 0 h 2201"/>
                  <a:gd name="T10" fmla="*/ 0 w 1103"/>
                  <a:gd name="T11" fmla="*/ 0 h 2201"/>
                  <a:gd name="T12" fmla="*/ 0 w 1103"/>
                  <a:gd name="T13" fmla="*/ 0 h 2201"/>
                  <a:gd name="T14" fmla="*/ 0 w 1103"/>
                  <a:gd name="T15" fmla="*/ 0 h 2201"/>
                  <a:gd name="T16" fmla="*/ 0 w 1103"/>
                  <a:gd name="T17" fmla="*/ 0 h 2201"/>
                  <a:gd name="T18" fmla="*/ 0 w 1103"/>
                  <a:gd name="T19" fmla="*/ 0 h 2201"/>
                  <a:gd name="T20" fmla="*/ 0 w 1103"/>
                  <a:gd name="T21" fmla="*/ 0 h 2201"/>
                  <a:gd name="T22" fmla="*/ 0 w 1103"/>
                  <a:gd name="T23" fmla="*/ 0 h 2201"/>
                  <a:gd name="T24" fmla="*/ 0 w 1103"/>
                  <a:gd name="T25" fmla="*/ 0 h 2201"/>
                  <a:gd name="T26" fmla="*/ 0 w 1103"/>
                  <a:gd name="T27" fmla="*/ 0 h 2201"/>
                  <a:gd name="T28" fmla="*/ 0 w 1103"/>
                  <a:gd name="T29" fmla="*/ 0 h 2201"/>
                  <a:gd name="T30" fmla="*/ 0 w 1103"/>
                  <a:gd name="T31" fmla="*/ 0 h 2201"/>
                  <a:gd name="T32" fmla="*/ 0 w 1103"/>
                  <a:gd name="T33" fmla="*/ 0 h 2201"/>
                  <a:gd name="T34" fmla="*/ 0 w 1103"/>
                  <a:gd name="T35" fmla="*/ 0 h 2201"/>
                  <a:gd name="T36" fmla="*/ 0 w 1103"/>
                  <a:gd name="T37" fmla="*/ 0 h 2201"/>
                  <a:gd name="T38" fmla="*/ 0 w 1103"/>
                  <a:gd name="T39" fmla="*/ 0 h 2201"/>
                  <a:gd name="T40" fmla="*/ 0 w 1103"/>
                  <a:gd name="T41" fmla="*/ 0 h 2201"/>
                  <a:gd name="T42" fmla="*/ 0 w 1103"/>
                  <a:gd name="T43" fmla="*/ 0 h 2201"/>
                  <a:gd name="T44" fmla="*/ 0 w 1103"/>
                  <a:gd name="T45" fmla="*/ 0 h 2201"/>
                  <a:gd name="T46" fmla="*/ 0 w 1103"/>
                  <a:gd name="T47" fmla="*/ 0 h 2201"/>
                  <a:gd name="T48" fmla="*/ 0 w 1103"/>
                  <a:gd name="T49" fmla="*/ 0 h 2201"/>
                  <a:gd name="T50" fmla="*/ 0 w 1103"/>
                  <a:gd name="T51" fmla="*/ 0 h 2201"/>
                  <a:gd name="T52" fmla="*/ 0 w 1103"/>
                  <a:gd name="T53" fmla="*/ 0 h 2201"/>
                  <a:gd name="T54" fmla="*/ 0 w 1103"/>
                  <a:gd name="T55" fmla="*/ 0 h 2201"/>
                  <a:gd name="T56" fmla="*/ 0 w 1103"/>
                  <a:gd name="T57" fmla="*/ 0 h 2201"/>
                  <a:gd name="T58" fmla="*/ 0 w 1103"/>
                  <a:gd name="T59" fmla="*/ 0 h 2201"/>
                  <a:gd name="T60" fmla="*/ 0 w 1103"/>
                  <a:gd name="T61" fmla="*/ 0 h 2201"/>
                  <a:gd name="T62" fmla="*/ 0 w 1103"/>
                  <a:gd name="T63" fmla="*/ 0 h 2201"/>
                  <a:gd name="T64" fmla="*/ 0 w 1103"/>
                  <a:gd name="T65" fmla="*/ 0 h 2201"/>
                  <a:gd name="T66" fmla="*/ 0 w 1103"/>
                  <a:gd name="T67" fmla="*/ 0 h 2201"/>
                  <a:gd name="T68" fmla="*/ 0 w 1103"/>
                  <a:gd name="T69" fmla="*/ 0 h 2201"/>
                  <a:gd name="T70" fmla="*/ 0 w 1103"/>
                  <a:gd name="T71" fmla="*/ 0 h 2201"/>
                  <a:gd name="T72" fmla="*/ 0 w 1103"/>
                  <a:gd name="T73" fmla="*/ 0 h 2201"/>
                  <a:gd name="T74" fmla="*/ 0 w 1103"/>
                  <a:gd name="T75" fmla="*/ 0 h 2201"/>
                  <a:gd name="T76" fmla="*/ 0 w 1103"/>
                  <a:gd name="T77" fmla="*/ 0 h 2201"/>
                  <a:gd name="T78" fmla="*/ 0 w 1103"/>
                  <a:gd name="T79" fmla="*/ 0 h 2201"/>
                  <a:gd name="T80" fmla="*/ 0 w 1103"/>
                  <a:gd name="T81" fmla="*/ 0 h 2201"/>
                  <a:gd name="T82" fmla="*/ 0 w 1103"/>
                  <a:gd name="T83" fmla="*/ 0 h 2201"/>
                  <a:gd name="T84" fmla="*/ 0 w 1103"/>
                  <a:gd name="T85" fmla="*/ 0 h 2201"/>
                  <a:gd name="T86" fmla="*/ 0 w 1103"/>
                  <a:gd name="T87" fmla="*/ 0 h 2201"/>
                  <a:gd name="T88" fmla="*/ 0 w 1103"/>
                  <a:gd name="T89" fmla="*/ 0 h 2201"/>
                  <a:gd name="T90" fmla="*/ 0 w 1103"/>
                  <a:gd name="T91" fmla="*/ 0 h 2201"/>
                  <a:gd name="T92" fmla="*/ 0 w 1103"/>
                  <a:gd name="T93" fmla="*/ 0 h 2201"/>
                  <a:gd name="T94" fmla="*/ 0 w 1103"/>
                  <a:gd name="T95" fmla="*/ 0 h 2201"/>
                  <a:gd name="T96" fmla="*/ 0 w 1103"/>
                  <a:gd name="T97" fmla="*/ 0 h 2201"/>
                  <a:gd name="T98" fmla="*/ 0 w 1103"/>
                  <a:gd name="T99" fmla="*/ 0 h 2201"/>
                  <a:gd name="T100" fmla="*/ 0 w 1103"/>
                  <a:gd name="T101" fmla="*/ 0 h 2201"/>
                  <a:gd name="T102" fmla="*/ 0 w 1103"/>
                  <a:gd name="T103" fmla="*/ 0 h 22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1"/>
                  <a:gd name="T158" fmla="*/ 1103 w 1103"/>
                  <a:gd name="T159" fmla="*/ 2201 h 220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1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1"/>
                    </a:lnTo>
                    <a:lnTo>
                      <a:pt x="1031" y="2186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80" y="2058"/>
                    </a:lnTo>
                    <a:lnTo>
                      <a:pt x="745" y="2036"/>
                    </a:lnTo>
                    <a:lnTo>
                      <a:pt x="711" y="2012"/>
                    </a:lnTo>
                    <a:lnTo>
                      <a:pt x="677" y="1988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9" y="1911"/>
                    </a:lnTo>
                    <a:lnTo>
                      <a:pt x="547" y="1884"/>
                    </a:lnTo>
                    <a:lnTo>
                      <a:pt x="515" y="1856"/>
                    </a:lnTo>
                    <a:lnTo>
                      <a:pt x="485" y="1827"/>
                    </a:lnTo>
                    <a:lnTo>
                      <a:pt x="455" y="1797"/>
                    </a:lnTo>
                    <a:lnTo>
                      <a:pt x="426" y="1767"/>
                    </a:lnTo>
                    <a:lnTo>
                      <a:pt x="397" y="1736"/>
                    </a:lnTo>
                    <a:lnTo>
                      <a:pt x="370" y="1705"/>
                    </a:lnTo>
                    <a:lnTo>
                      <a:pt x="342" y="1672"/>
                    </a:lnTo>
                    <a:lnTo>
                      <a:pt x="316" y="1638"/>
                    </a:lnTo>
                    <a:lnTo>
                      <a:pt x="291" y="1604"/>
                    </a:lnTo>
                    <a:lnTo>
                      <a:pt x="267" y="1571"/>
                    </a:lnTo>
                    <a:lnTo>
                      <a:pt x="243" y="1536"/>
                    </a:lnTo>
                    <a:lnTo>
                      <a:pt x="221" y="1500"/>
                    </a:lnTo>
                    <a:lnTo>
                      <a:pt x="199" y="1463"/>
                    </a:lnTo>
                    <a:lnTo>
                      <a:pt x="178" y="1427"/>
                    </a:lnTo>
                    <a:lnTo>
                      <a:pt x="158" y="1389"/>
                    </a:lnTo>
                    <a:lnTo>
                      <a:pt x="140" y="1351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70" y="1164"/>
                    </a:lnTo>
                    <a:lnTo>
                      <a:pt x="49" y="1083"/>
                    </a:lnTo>
                    <a:lnTo>
                      <a:pt x="32" y="997"/>
                    </a:lnTo>
                    <a:lnTo>
                      <a:pt x="19" y="910"/>
                    </a:lnTo>
                    <a:lnTo>
                      <a:pt x="8" y="822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1"/>
                    </a:lnTo>
                    <a:lnTo>
                      <a:pt x="8" y="463"/>
                    </a:lnTo>
                    <a:lnTo>
                      <a:pt x="18" y="375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9" y="136"/>
                    </a:lnTo>
                    <a:lnTo>
                      <a:pt x="94" y="65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2" name="Freeform 475">
                <a:extLst>
                  <a:ext uri="{FF2B5EF4-FFF2-40B4-BE49-F238E27FC236}">
                    <a16:creationId xmlns:a16="http://schemas.microsoft.com/office/drawing/2014/main" id="{98F6CF6E-0D31-4B10-9A33-599251305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3169"/>
                <a:ext cx="50" cy="122"/>
              </a:xfrm>
              <a:custGeom>
                <a:avLst/>
                <a:gdLst>
                  <a:gd name="T0" fmla="*/ 0 w 1103"/>
                  <a:gd name="T1" fmla="*/ 0 h 2202"/>
                  <a:gd name="T2" fmla="*/ 0 w 1103"/>
                  <a:gd name="T3" fmla="*/ 0 h 2202"/>
                  <a:gd name="T4" fmla="*/ 0 w 1103"/>
                  <a:gd name="T5" fmla="*/ 0 h 2202"/>
                  <a:gd name="T6" fmla="*/ 0 w 1103"/>
                  <a:gd name="T7" fmla="*/ 0 h 2202"/>
                  <a:gd name="T8" fmla="*/ 0 w 1103"/>
                  <a:gd name="T9" fmla="*/ 0 h 2202"/>
                  <a:gd name="T10" fmla="*/ 0 w 1103"/>
                  <a:gd name="T11" fmla="*/ 0 h 2202"/>
                  <a:gd name="T12" fmla="*/ 0 w 1103"/>
                  <a:gd name="T13" fmla="*/ 0 h 2202"/>
                  <a:gd name="T14" fmla="*/ 0 w 1103"/>
                  <a:gd name="T15" fmla="*/ 0 h 2202"/>
                  <a:gd name="T16" fmla="*/ 0 w 1103"/>
                  <a:gd name="T17" fmla="*/ 0 h 2202"/>
                  <a:gd name="T18" fmla="*/ 0 w 1103"/>
                  <a:gd name="T19" fmla="*/ 0 h 2202"/>
                  <a:gd name="T20" fmla="*/ 0 w 1103"/>
                  <a:gd name="T21" fmla="*/ 0 h 2202"/>
                  <a:gd name="T22" fmla="*/ 0 w 1103"/>
                  <a:gd name="T23" fmla="*/ 0 h 2202"/>
                  <a:gd name="T24" fmla="*/ 0 w 1103"/>
                  <a:gd name="T25" fmla="*/ 0 h 2202"/>
                  <a:gd name="T26" fmla="*/ 0 w 1103"/>
                  <a:gd name="T27" fmla="*/ 0 h 2202"/>
                  <a:gd name="T28" fmla="*/ 0 w 1103"/>
                  <a:gd name="T29" fmla="*/ 0 h 2202"/>
                  <a:gd name="T30" fmla="*/ 0 w 1103"/>
                  <a:gd name="T31" fmla="*/ 0 h 2202"/>
                  <a:gd name="T32" fmla="*/ 0 w 1103"/>
                  <a:gd name="T33" fmla="*/ 0 h 2202"/>
                  <a:gd name="T34" fmla="*/ 0 w 1103"/>
                  <a:gd name="T35" fmla="*/ 0 h 2202"/>
                  <a:gd name="T36" fmla="*/ 0 w 1103"/>
                  <a:gd name="T37" fmla="*/ 0 h 2202"/>
                  <a:gd name="T38" fmla="*/ 0 w 1103"/>
                  <a:gd name="T39" fmla="*/ 0 h 2202"/>
                  <a:gd name="T40" fmla="*/ 0 w 1103"/>
                  <a:gd name="T41" fmla="*/ 0 h 2202"/>
                  <a:gd name="T42" fmla="*/ 0 w 1103"/>
                  <a:gd name="T43" fmla="*/ 0 h 2202"/>
                  <a:gd name="T44" fmla="*/ 0 w 1103"/>
                  <a:gd name="T45" fmla="*/ 0 h 2202"/>
                  <a:gd name="T46" fmla="*/ 0 w 1103"/>
                  <a:gd name="T47" fmla="*/ 0 h 2202"/>
                  <a:gd name="T48" fmla="*/ 0 w 1103"/>
                  <a:gd name="T49" fmla="*/ 0 h 2202"/>
                  <a:gd name="T50" fmla="*/ 0 w 1103"/>
                  <a:gd name="T51" fmla="*/ 0 h 2202"/>
                  <a:gd name="T52" fmla="*/ 0 w 1103"/>
                  <a:gd name="T53" fmla="*/ 0 h 2202"/>
                  <a:gd name="T54" fmla="*/ 0 w 1103"/>
                  <a:gd name="T55" fmla="*/ 0 h 2202"/>
                  <a:gd name="T56" fmla="*/ 0 w 1103"/>
                  <a:gd name="T57" fmla="*/ 0 h 2202"/>
                  <a:gd name="T58" fmla="*/ 0 w 1103"/>
                  <a:gd name="T59" fmla="*/ 0 h 2202"/>
                  <a:gd name="T60" fmla="*/ 0 w 1103"/>
                  <a:gd name="T61" fmla="*/ 0 h 2202"/>
                  <a:gd name="T62" fmla="*/ 0 w 1103"/>
                  <a:gd name="T63" fmla="*/ 0 h 2202"/>
                  <a:gd name="T64" fmla="*/ 0 w 1103"/>
                  <a:gd name="T65" fmla="*/ 0 h 2202"/>
                  <a:gd name="T66" fmla="*/ 0 w 1103"/>
                  <a:gd name="T67" fmla="*/ 0 h 2202"/>
                  <a:gd name="T68" fmla="*/ 0 w 1103"/>
                  <a:gd name="T69" fmla="*/ 0 h 2202"/>
                  <a:gd name="T70" fmla="*/ 0 w 1103"/>
                  <a:gd name="T71" fmla="*/ 0 h 2202"/>
                  <a:gd name="T72" fmla="*/ 0 w 1103"/>
                  <a:gd name="T73" fmla="*/ 0 h 2202"/>
                  <a:gd name="T74" fmla="*/ 0 w 1103"/>
                  <a:gd name="T75" fmla="*/ 0 h 2202"/>
                  <a:gd name="T76" fmla="*/ 0 w 1103"/>
                  <a:gd name="T77" fmla="*/ 0 h 2202"/>
                  <a:gd name="T78" fmla="*/ 0 w 1103"/>
                  <a:gd name="T79" fmla="*/ 0 h 2202"/>
                  <a:gd name="T80" fmla="*/ 0 w 1103"/>
                  <a:gd name="T81" fmla="*/ 0 h 2202"/>
                  <a:gd name="T82" fmla="*/ 0 w 1103"/>
                  <a:gd name="T83" fmla="*/ 0 h 2202"/>
                  <a:gd name="T84" fmla="*/ 0 w 1103"/>
                  <a:gd name="T85" fmla="*/ 0 h 2202"/>
                  <a:gd name="T86" fmla="*/ 0 w 1103"/>
                  <a:gd name="T87" fmla="*/ 0 h 2202"/>
                  <a:gd name="T88" fmla="*/ 0 w 1103"/>
                  <a:gd name="T89" fmla="*/ 0 h 2202"/>
                  <a:gd name="T90" fmla="*/ 0 w 1103"/>
                  <a:gd name="T91" fmla="*/ 0 h 2202"/>
                  <a:gd name="T92" fmla="*/ 0 w 1103"/>
                  <a:gd name="T93" fmla="*/ 0 h 2202"/>
                  <a:gd name="T94" fmla="*/ 0 w 1103"/>
                  <a:gd name="T95" fmla="*/ 0 h 2202"/>
                  <a:gd name="T96" fmla="*/ 0 w 1103"/>
                  <a:gd name="T97" fmla="*/ 0 h 2202"/>
                  <a:gd name="T98" fmla="*/ 0 w 1103"/>
                  <a:gd name="T99" fmla="*/ 0 h 2202"/>
                  <a:gd name="T100" fmla="*/ 0 w 1103"/>
                  <a:gd name="T101" fmla="*/ 0 h 2202"/>
                  <a:gd name="T102" fmla="*/ 0 w 1103"/>
                  <a:gd name="T103" fmla="*/ 0 h 220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2"/>
                  <a:gd name="T158" fmla="*/ 1103 w 1103"/>
                  <a:gd name="T159" fmla="*/ 2202 h 220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2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2"/>
                    </a:lnTo>
                    <a:lnTo>
                      <a:pt x="1030" y="2187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79" y="2058"/>
                    </a:lnTo>
                    <a:lnTo>
                      <a:pt x="745" y="2036"/>
                    </a:lnTo>
                    <a:lnTo>
                      <a:pt x="711" y="2013"/>
                    </a:lnTo>
                    <a:lnTo>
                      <a:pt x="676" y="1989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8" y="1912"/>
                    </a:lnTo>
                    <a:lnTo>
                      <a:pt x="547" y="1884"/>
                    </a:lnTo>
                    <a:lnTo>
                      <a:pt x="515" y="1857"/>
                    </a:lnTo>
                    <a:lnTo>
                      <a:pt x="485" y="1827"/>
                    </a:lnTo>
                    <a:lnTo>
                      <a:pt x="455" y="1798"/>
                    </a:lnTo>
                    <a:lnTo>
                      <a:pt x="425" y="1767"/>
                    </a:lnTo>
                    <a:lnTo>
                      <a:pt x="397" y="1737"/>
                    </a:lnTo>
                    <a:lnTo>
                      <a:pt x="369" y="1705"/>
                    </a:lnTo>
                    <a:lnTo>
                      <a:pt x="342" y="1672"/>
                    </a:lnTo>
                    <a:lnTo>
                      <a:pt x="316" y="1639"/>
                    </a:lnTo>
                    <a:lnTo>
                      <a:pt x="291" y="1605"/>
                    </a:lnTo>
                    <a:lnTo>
                      <a:pt x="266" y="1571"/>
                    </a:lnTo>
                    <a:lnTo>
                      <a:pt x="243" y="1536"/>
                    </a:lnTo>
                    <a:lnTo>
                      <a:pt x="220" y="1500"/>
                    </a:lnTo>
                    <a:lnTo>
                      <a:pt x="199" y="1464"/>
                    </a:lnTo>
                    <a:lnTo>
                      <a:pt x="178" y="1428"/>
                    </a:lnTo>
                    <a:lnTo>
                      <a:pt x="158" y="1390"/>
                    </a:lnTo>
                    <a:lnTo>
                      <a:pt x="140" y="1352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69" y="1164"/>
                    </a:lnTo>
                    <a:lnTo>
                      <a:pt x="49" y="1083"/>
                    </a:lnTo>
                    <a:lnTo>
                      <a:pt x="32" y="998"/>
                    </a:lnTo>
                    <a:lnTo>
                      <a:pt x="18" y="910"/>
                    </a:lnTo>
                    <a:lnTo>
                      <a:pt x="8" y="823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2"/>
                    </a:lnTo>
                    <a:lnTo>
                      <a:pt x="8" y="463"/>
                    </a:lnTo>
                    <a:lnTo>
                      <a:pt x="17" y="376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8" y="136"/>
                    </a:lnTo>
                    <a:lnTo>
                      <a:pt x="94" y="66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3" name="Freeform 476">
                <a:extLst>
                  <a:ext uri="{FF2B5EF4-FFF2-40B4-BE49-F238E27FC236}">
                    <a16:creationId xmlns:a16="http://schemas.microsoft.com/office/drawing/2014/main" id="{27DA47D7-76FC-462D-A686-7936A707D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2" cy="121"/>
              </a:xfrm>
              <a:custGeom>
                <a:avLst/>
                <a:gdLst>
                  <a:gd name="T0" fmla="*/ 0 w 1133"/>
                  <a:gd name="T1" fmla="*/ 0 h 2181"/>
                  <a:gd name="T2" fmla="*/ 0 w 1133"/>
                  <a:gd name="T3" fmla="*/ 0 h 2181"/>
                  <a:gd name="T4" fmla="*/ 0 w 1133"/>
                  <a:gd name="T5" fmla="*/ 0 h 2181"/>
                  <a:gd name="T6" fmla="*/ 0 w 1133"/>
                  <a:gd name="T7" fmla="*/ 0 h 2181"/>
                  <a:gd name="T8" fmla="*/ 0 w 1133"/>
                  <a:gd name="T9" fmla="*/ 0 h 2181"/>
                  <a:gd name="T10" fmla="*/ 0 w 1133"/>
                  <a:gd name="T11" fmla="*/ 0 h 2181"/>
                  <a:gd name="T12" fmla="*/ 0 w 1133"/>
                  <a:gd name="T13" fmla="*/ 0 h 2181"/>
                  <a:gd name="T14" fmla="*/ 0 w 1133"/>
                  <a:gd name="T15" fmla="*/ 0 h 2181"/>
                  <a:gd name="T16" fmla="*/ 0 w 1133"/>
                  <a:gd name="T17" fmla="*/ 0 h 2181"/>
                  <a:gd name="T18" fmla="*/ 0 w 1133"/>
                  <a:gd name="T19" fmla="*/ 0 h 2181"/>
                  <a:gd name="T20" fmla="*/ 0 w 1133"/>
                  <a:gd name="T21" fmla="*/ 0 h 2181"/>
                  <a:gd name="T22" fmla="*/ 0 w 1133"/>
                  <a:gd name="T23" fmla="*/ 0 h 2181"/>
                  <a:gd name="T24" fmla="*/ 0 w 1133"/>
                  <a:gd name="T25" fmla="*/ 0 h 2181"/>
                  <a:gd name="T26" fmla="*/ 0 w 1133"/>
                  <a:gd name="T27" fmla="*/ 0 h 2181"/>
                  <a:gd name="T28" fmla="*/ 0 w 1133"/>
                  <a:gd name="T29" fmla="*/ 0 h 2181"/>
                  <a:gd name="T30" fmla="*/ 0 w 1133"/>
                  <a:gd name="T31" fmla="*/ 0 h 2181"/>
                  <a:gd name="T32" fmla="*/ 0 w 1133"/>
                  <a:gd name="T33" fmla="*/ 0 h 2181"/>
                  <a:gd name="T34" fmla="*/ 0 w 1133"/>
                  <a:gd name="T35" fmla="*/ 0 h 2181"/>
                  <a:gd name="T36" fmla="*/ 0 w 1133"/>
                  <a:gd name="T37" fmla="*/ 0 h 2181"/>
                  <a:gd name="T38" fmla="*/ 0 w 1133"/>
                  <a:gd name="T39" fmla="*/ 0 h 2181"/>
                  <a:gd name="T40" fmla="*/ 0 w 1133"/>
                  <a:gd name="T41" fmla="*/ 0 h 2181"/>
                  <a:gd name="T42" fmla="*/ 0 w 1133"/>
                  <a:gd name="T43" fmla="*/ 0 h 2181"/>
                  <a:gd name="T44" fmla="*/ 0 w 1133"/>
                  <a:gd name="T45" fmla="*/ 0 h 2181"/>
                  <a:gd name="T46" fmla="*/ 0 w 1133"/>
                  <a:gd name="T47" fmla="*/ 0 h 2181"/>
                  <a:gd name="T48" fmla="*/ 0 w 1133"/>
                  <a:gd name="T49" fmla="*/ 0 h 2181"/>
                  <a:gd name="T50" fmla="*/ 0 w 1133"/>
                  <a:gd name="T51" fmla="*/ 0 h 2181"/>
                  <a:gd name="T52" fmla="*/ 0 w 1133"/>
                  <a:gd name="T53" fmla="*/ 0 h 2181"/>
                  <a:gd name="T54" fmla="*/ 0 w 1133"/>
                  <a:gd name="T55" fmla="*/ 0 h 2181"/>
                  <a:gd name="T56" fmla="*/ 0 w 1133"/>
                  <a:gd name="T57" fmla="*/ 0 h 2181"/>
                  <a:gd name="T58" fmla="*/ 0 w 1133"/>
                  <a:gd name="T59" fmla="*/ 0 h 2181"/>
                  <a:gd name="T60" fmla="*/ 0 w 1133"/>
                  <a:gd name="T61" fmla="*/ 0 h 2181"/>
                  <a:gd name="T62" fmla="*/ 0 w 1133"/>
                  <a:gd name="T63" fmla="*/ 0 h 2181"/>
                  <a:gd name="T64" fmla="*/ 0 w 1133"/>
                  <a:gd name="T65" fmla="*/ 0 h 2181"/>
                  <a:gd name="T66" fmla="*/ 0 w 1133"/>
                  <a:gd name="T67" fmla="*/ 0 h 2181"/>
                  <a:gd name="T68" fmla="*/ 0 w 1133"/>
                  <a:gd name="T69" fmla="*/ 0 h 2181"/>
                  <a:gd name="T70" fmla="*/ 0 w 1133"/>
                  <a:gd name="T71" fmla="*/ 0 h 2181"/>
                  <a:gd name="T72" fmla="*/ 0 w 1133"/>
                  <a:gd name="T73" fmla="*/ 0 h 2181"/>
                  <a:gd name="T74" fmla="*/ 0 w 1133"/>
                  <a:gd name="T75" fmla="*/ 0 h 2181"/>
                  <a:gd name="T76" fmla="*/ 0 w 1133"/>
                  <a:gd name="T77" fmla="*/ 0 h 2181"/>
                  <a:gd name="T78" fmla="*/ 0 w 1133"/>
                  <a:gd name="T79" fmla="*/ 0 h 2181"/>
                  <a:gd name="T80" fmla="*/ 0 w 1133"/>
                  <a:gd name="T81" fmla="*/ 0 h 2181"/>
                  <a:gd name="T82" fmla="*/ 0 w 1133"/>
                  <a:gd name="T83" fmla="*/ 0 h 2181"/>
                  <a:gd name="T84" fmla="*/ 0 w 1133"/>
                  <a:gd name="T85" fmla="*/ 0 h 2181"/>
                  <a:gd name="T86" fmla="*/ 0 w 1133"/>
                  <a:gd name="T87" fmla="*/ 0 h 2181"/>
                  <a:gd name="T88" fmla="*/ 0 w 1133"/>
                  <a:gd name="T89" fmla="*/ 0 h 2181"/>
                  <a:gd name="T90" fmla="*/ 0 w 1133"/>
                  <a:gd name="T91" fmla="*/ 0 h 2181"/>
                  <a:gd name="T92" fmla="*/ 0 w 1133"/>
                  <a:gd name="T93" fmla="*/ 0 h 2181"/>
                  <a:gd name="T94" fmla="*/ 0 w 1133"/>
                  <a:gd name="T95" fmla="*/ 0 h 2181"/>
                  <a:gd name="T96" fmla="*/ 0 w 1133"/>
                  <a:gd name="T97" fmla="*/ 0 h 2181"/>
                  <a:gd name="T98" fmla="*/ 0 w 1133"/>
                  <a:gd name="T99" fmla="*/ 0 h 2181"/>
                  <a:gd name="T100" fmla="*/ 0 w 1133"/>
                  <a:gd name="T101" fmla="*/ 0 h 2181"/>
                  <a:gd name="T102" fmla="*/ 0 w 1133"/>
                  <a:gd name="T103" fmla="*/ 0 h 218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3"/>
                  <a:gd name="T157" fmla="*/ 0 h 2181"/>
                  <a:gd name="T158" fmla="*/ 1133 w 1133"/>
                  <a:gd name="T159" fmla="*/ 2181 h 218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3" h="2181">
                    <a:moveTo>
                      <a:pt x="917" y="2127"/>
                    </a:moveTo>
                    <a:lnTo>
                      <a:pt x="0" y="131"/>
                    </a:lnTo>
                    <a:lnTo>
                      <a:pt x="32" y="0"/>
                    </a:lnTo>
                    <a:lnTo>
                      <a:pt x="69" y="14"/>
                    </a:lnTo>
                    <a:lnTo>
                      <a:pt x="106" y="29"/>
                    </a:lnTo>
                    <a:lnTo>
                      <a:pt x="142" y="44"/>
                    </a:lnTo>
                    <a:lnTo>
                      <a:pt x="179" y="60"/>
                    </a:lnTo>
                    <a:lnTo>
                      <a:pt x="216" y="78"/>
                    </a:lnTo>
                    <a:lnTo>
                      <a:pt x="252" y="96"/>
                    </a:lnTo>
                    <a:lnTo>
                      <a:pt x="287" y="116"/>
                    </a:lnTo>
                    <a:lnTo>
                      <a:pt x="323" y="136"/>
                    </a:lnTo>
                    <a:lnTo>
                      <a:pt x="358" y="159"/>
                    </a:lnTo>
                    <a:lnTo>
                      <a:pt x="392" y="181"/>
                    </a:lnTo>
                    <a:lnTo>
                      <a:pt x="427" y="204"/>
                    </a:lnTo>
                    <a:lnTo>
                      <a:pt x="461" y="228"/>
                    </a:lnTo>
                    <a:lnTo>
                      <a:pt x="494" y="252"/>
                    </a:lnTo>
                    <a:lnTo>
                      <a:pt x="527" y="279"/>
                    </a:lnTo>
                    <a:lnTo>
                      <a:pt x="560" y="305"/>
                    </a:lnTo>
                    <a:lnTo>
                      <a:pt x="591" y="332"/>
                    </a:lnTo>
                    <a:lnTo>
                      <a:pt x="623" y="361"/>
                    </a:lnTo>
                    <a:lnTo>
                      <a:pt x="653" y="389"/>
                    </a:lnTo>
                    <a:lnTo>
                      <a:pt x="683" y="419"/>
                    </a:lnTo>
                    <a:lnTo>
                      <a:pt x="713" y="449"/>
                    </a:lnTo>
                    <a:lnTo>
                      <a:pt x="741" y="481"/>
                    </a:lnTo>
                    <a:lnTo>
                      <a:pt x="769" y="513"/>
                    </a:lnTo>
                    <a:lnTo>
                      <a:pt x="795" y="545"/>
                    </a:lnTo>
                    <a:lnTo>
                      <a:pt x="822" y="578"/>
                    </a:lnTo>
                    <a:lnTo>
                      <a:pt x="846" y="612"/>
                    </a:lnTo>
                    <a:lnTo>
                      <a:pt x="871" y="647"/>
                    </a:lnTo>
                    <a:lnTo>
                      <a:pt x="894" y="681"/>
                    </a:lnTo>
                    <a:lnTo>
                      <a:pt x="917" y="717"/>
                    </a:lnTo>
                    <a:lnTo>
                      <a:pt x="938" y="754"/>
                    </a:lnTo>
                    <a:lnTo>
                      <a:pt x="958" y="791"/>
                    </a:lnTo>
                    <a:lnTo>
                      <a:pt x="978" y="828"/>
                    </a:lnTo>
                    <a:lnTo>
                      <a:pt x="996" y="866"/>
                    </a:lnTo>
                    <a:lnTo>
                      <a:pt x="1026" y="938"/>
                    </a:lnTo>
                    <a:lnTo>
                      <a:pt x="1052" y="1015"/>
                    </a:lnTo>
                    <a:lnTo>
                      <a:pt x="1075" y="1096"/>
                    </a:lnTo>
                    <a:lnTo>
                      <a:pt x="1094" y="1180"/>
                    </a:lnTo>
                    <a:lnTo>
                      <a:pt x="1109" y="1266"/>
                    </a:lnTo>
                    <a:lnTo>
                      <a:pt x="1121" y="1356"/>
                    </a:lnTo>
                    <a:lnTo>
                      <a:pt x="1129" y="1446"/>
                    </a:lnTo>
                    <a:lnTo>
                      <a:pt x="1133" y="1536"/>
                    </a:lnTo>
                    <a:lnTo>
                      <a:pt x="1133" y="1626"/>
                    </a:lnTo>
                    <a:lnTo>
                      <a:pt x="1130" y="1716"/>
                    </a:lnTo>
                    <a:lnTo>
                      <a:pt x="1122" y="1802"/>
                    </a:lnTo>
                    <a:lnTo>
                      <a:pt x="1110" y="1886"/>
                    </a:lnTo>
                    <a:lnTo>
                      <a:pt x="1095" y="1967"/>
                    </a:lnTo>
                    <a:lnTo>
                      <a:pt x="1076" y="2043"/>
                    </a:lnTo>
                    <a:lnTo>
                      <a:pt x="1052" y="2115"/>
                    </a:lnTo>
                    <a:lnTo>
                      <a:pt x="1025" y="2181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4" name="Freeform 477">
                <a:extLst>
                  <a:ext uri="{FF2B5EF4-FFF2-40B4-BE49-F238E27FC236}">
                    <a16:creationId xmlns:a16="http://schemas.microsoft.com/office/drawing/2014/main" id="{F70695C0-5483-41FB-935A-7D3BA9AD4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1" cy="122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8" y="2126"/>
                    </a:moveTo>
                    <a:lnTo>
                      <a:pt x="0" y="130"/>
                    </a:lnTo>
                    <a:lnTo>
                      <a:pt x="33" y="0"/>
                    </a:lnTo>
                    <a:lnTo>
                      <a:pt x="70" y="13"/>
                    </a:lnTo>
                    <a:lnTo>
                      <a:pt x="107" y="28"/>
                    </a:lnTo>
                    <a:lnTo>
                      <a:pt x="143" y="43"/>
                    </a:lnTo>
                    <a:lnTo>
                      <a:pt x="180" y="60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9" y="158"/>
                    </a:lnTo>
                    <a:lnTo>
                      <a:pt x="393" y="180"/>
                    </a:lnTo>
                    <a:lnTo>
                      <a:pt x="428" y="203"/>
                    </a:lnTo>
                    <a:lnTo>
                      <a:pt x="462" y="227"/>
                    </a:lnTo>
                    <a:lnTo>
                      <a:pt x="495" y="252"/>
                    </a:lnTo>
                    <a:lnTo>
                      <a:pt x="528" y="278"/>
                    </a:lnTo>
                    <a:lnTo>
                      <a:pt x="561" y="304"/>
                    </a:lnTo>
                    <a:lnTo>
                      <a:pt x="592" y="332"/>
                    </a:lnTo>
                    <a:lnTo>
                      <a:pt x="624" y="360"/>
                    </a:lnTo>
                    <a:lnTo>
                      <a:pt x="654" y="389"/>
                    </a:lnTo>
                    <a:lnTo>
                      <a:pt x="684" y="418"/>
                    </a:lnTo>
                    <a:lnTo>
                      <a:pt x="714" y="449"/>
                    </a:lnTo>
                    <a:lnTo>
                      <a:pt x="742" y="480"/>
                    </a:lnTo>
                    <a:lnTo>
                      <a:pt x="770" y="512"/>
                    </a:lnTo>
                    <a:lnTo>
                      <a:pt x="796" y="545"/>
                    </a:lnTo>
                    <a:lnTo>
                      <a:pt x="823" y="577"/>
                    </a:lnTo>
                    <a:lnTo>
                      <a:pt x="847" y="611"/>
                    </a:lnTo>
                    <a:lnTo>
                      <a:pt x="872" y="646"/>
                    </a:lnTo>
                    <a:lnTo>
                      <a:pt x="895" y="681"/>
                    </a:lnTo>
                    <a:lnTo>
                      <a:pt x="918" y="717"/>
                    </a:lnTo>
                    <a:lnTo>
                      <a:pt x="939" y="754"/>
                    </a:lnTo>
                    <a:lnTo>
                      <a:pt x="959" y="790"/>
                    </a:lnTo>
                    <a:lnTo>
                      <a:pt x="979" y="827"/>
                    </a:lnTo>
                    <a:lnTo>
                      <a:pt x="997" y="865"/>
                    </a:lnTo>
                    <a:lnTo>
                      <a:pt x="1027" y="937"/>
                    </a:lnTo>
                    <a:lnTo>
                      <a:pt x="1053" y="1014"/>
                    </a:lnTo>
                    <a:lnTo>
                      <a:pt x="1076" y="1095"/>
                    </a:lnTo>
                    <a:lnTo>
                      <a:pt x="1095" y="1179"/>
                    </a:lnTo>
                    <a:lnTo>
                      <a:pt x="1110" y="1266"/>
                    </a:lnTo>
                    <a:lnTo>
                      <a:pt x="1122" y="1355"/>
                    </a:lnTo>
                    <a:lnTo>
                      <a:pt x="1130" y="1445"/>
                    </a:lnTo>
                    <a:lnTo>
                      <a:pt x="1134" y="1536"/>
                    </a:lnTo>
                    <a:lnTo>
                      <a:pt x="1134" y="1625"/>
                    </a:lnTo>
                    <a:lnTo>
                      <a:pt x="1131" y="1715"/>
                    </a:lnTo>
                    <a:lnTo>
                      <a:pt x="1123" y="1801"/>
                    </a:lnTo>
                    <a:lnTo>
                      <a:pt x="1111" y="1886"/>
                    </a:lnTo>
                    <a:lnTo>
                      <a:pt x="1096" y="1966"/>
                    </a:lnTo>
                    <a:lnTo>
                      <a:pt x="1077" y="2043"/>
                    </a:lnTo>
                    <a:lnTo>
                      <a:pt x="1053" y="2115"/>
                    </a:lnTo>
                    <a:lnTo>
                      <a:pt x="1026" y="2180"/>
                    </a:lnTo>
                    <a:lnTo>
                      <a:pt x="918" y="2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5" name="Freeform 478">
                <a:extLst>
                  <a:ext uri="{FF2B5EF4-FFF2-40B4-BE49-F238E27FC236}">
                    <a16:creationId xmlns:a16="http://schemas.microsoft.com/office/drawing/2014/main" id="{DA9483EC-B289-46C4-90F2-155F7B7E67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4"/>
                <a:ext cx="164" cy="228"/>
              </a:xfrm>
              <a:custGeom>
                <a:avLst/>
                <a:gdLst>
                  <a:gd name="T0" fmla="*/ 0 w 3622"/>
                  <a:gd name="T1" fmla="*/ 0 h 4112"/>
                  <a:gd name="T2" fmla="*/ 0 w 3622"/>
                  <a:gd name="T3" fmla="*/ 0 h 4112"/>
                  <a:gd name="T4" fmla="*/ 0 w 3622"/>
                  <a:gd name="T5" fmla="*/ 0 h 4112"/>
                  <a:gd name="T6" fmla="*/ 0 w 3622"/>
                  <a:gd name="T7" fmla="*/ 0 h 4112"/>
                  <a:gd name="T8" fmla="*/ 0 w 3622"/>
                  <a:gd name="T9" fmla="*/ 0 h 4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2"/>
                  <a:gd name="T17" fmla="*/ 3622 w 3622"/>
                  <a:gd name="T18" fmla="*/ 4112 h 4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2">
                    <a:moveTo>
                      <a:pt x="1404" y="4112"/>
                    </a:moveTo>
                    <a:lnTo>
                      <a:pt x="3622" y="3023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6" name="Freeform 479">
                <a:extLst>
                  <a:ext uri="{FF2B5EF4-FFF2-40B4-BE49-F238E27FC236}">
                    <a16:creationId xmlns:a16="http://schemas.microsoft.com/office/drawing/2014/main" id="{9191D11D-F1B3-4894-B105-6400D87CB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1"/>
                <a:ext cx="164" cy="228"/>
              </a:xfrm>
              <a:custGeom>
                <a:avLst/>
                <a:gdLst>
                  <a:gd name="T0" fmla="*/ 0 w 3622"/>
                  <a:gd name="T1" fmla="*/ 0 h 4113"/>
                  <a:gd name="T2" fmla="*/ 0 w 3622"/>
                  <a:gd name="T3" fmla="*/ 0 h 4113"/>
                  <a:gd name="T4" fmla="*/ 0 w 3622"/>
                  <a:gd name="T5" fmla="*/ 0 h 4113"/>
                  <a:gd name="T6" fmla="*/ 0 w 3622"/>
                  <a:gd name="T7" fmla="*/ 0 h 4113"/>
                  <a:gd name="T8" fmla="*/ 0 w 3622"/>
                  <a:gd name="T9" fmla="*/ 0 h 41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3"/>
                  <a:gd name="T17" fmla="*/ 3622 w 3622"/>
                  <a:gd name="T18" fmla="*/ 4113 h 41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3">
                    <a:moveTo>
                      <a:pt x="1404" y="4113"/>
                    </a:moveTo>
                    <a:lnTo>
                      <a:pt x="3622" y="3024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3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7" name="Freeform 480">
                <a:extLst>
                  <a:ext uri="{FF2B5EF4-FFF2-40B4-BE49-F238E27FC236}">
                    <a16:creationId xmlns:a16="http://schemas.microsoft.com/office/drawing/2014/main" id="{66B2FF1F-15E6-4D81-8080-E33F1B762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146"/>
                <a:ext cx="157" cy="218"/>
              </a:xfrm>
              <a:custGeom>
                <a:avLst/>
                <a:gdLst>
                  <a:gd name="T0" fmla="*/ 0 w 3446"/>
                  <a:gd name="T1" fmla="*/ 0 h 3913"/>
                  <a:gd name="T2" fmla="*/ 0 w 3446"/>
                  <a:gd name="T3" fmla="*/ 0 h 3913"/>
                  <a:gd name="T4" fmla="*/ 0 w 3446"/>
                  <a:gd name="T5" fmla="*/ 0 h 3913"/>
                  <a:gd name="T6" fmla="*/ 0 w 3446"/>
                  <a:gd name="T7" fmla="*/ 0 h 3913"/>
                  <a:gd name="T8" fmla="*/ 0 w 3446"/>
                  <a:gd name="T9" fmla="*/ 0 h 39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46"/>
                  <a:gd name="T16" fmla="*/ 0 h 3913"/>
                  <a:gd name="T17" fmla="*/ 3446 w 3446"/>
                  <a:gd name="T18" fmla="*/ 3913 h 39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46" h="3913">
                    <a:moveTo>
                      <a:pt x="1335" y="3913"/>
                    </a:moveTo>
                    <a:lnTo>
                      <a:pt x="3446" y="2878"/>
                    </a:lnTo>
                    <a:lnTo>
                      <a:pt x="2111" y="0"/>
                    </a:lnTo>
                    <a:lnTo>
                      <a:pt x="0" y="942"/>
                    </a:lnTo>
                    <a:lnTo>
                      <a:pt x="1335" y="3913"/>
                    </a:lnTo>
                    <a:close/>
                  </a:path>
                </a:pathLst>
              </a:custGeom>
              <a:solidFill>
                <a:srgbClr val="1A78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8" name="Freeform 481">
                <a:extLst>
                  <a:ext uri="{FF2B5EF4-FFF2-40B4-BE49-F238E27FC236}">
                    <a16:creationId xmlns:a16="http://schemas.microsoft.com/office/drawing/2014/main" id="{E709EA29-F6A1-45E8-83E2-98CE0E09C0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109"/>
                <a:ext cx="19" cy="19"/>
              </a:xfrm>
              <a:custGeom>
                <a:avLst/>
                <a:gdLst>
                  <a:gd name="T0" fmla="*/ 0 w 431"/>
                  <a:gd name="T1" fmla="*/ 0 h 343"/>
                  <a:gd name="T2" fmla="*/ 0 w 431"/>
                  <a:gd name="T3" fmla="*/ 0 h 343"/>
                  <a:gd name="T4" fmla="*/ 0 w 431"/>
                  <a:gd name="T5" fmla="*/ 0 h 343"/>
                  <a:gd name="T6" fmla="*/ 0 w 431"/>
                  <a:gd name="T7" fmla="*/ 0 h 343"/>
                  <a:gd name="T8" fmla="*/ 0 w 431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1"/>
                  <a:gd name="T16" fmla="*/ 0 h 343"/>
                  <a:gd name="T17" fmla="*/ 431 w 431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1" h="343">
                    <a:moveTo>
                      <a:pt x="431" y="186"/>
                    </a:moveTo>
                    <a:lnTo>
                      <a:pt x="79" y="343"/>
                    </a:lnTo>
                    <a:lnTo>
                      <a:pt x="0" y="157"/>
                    </a:lnTo>
                    <a:lnTo>
                      <a:pt x="352" y="0"/>
                    </a:lnTo>
                    <a:lnTo>
                      <a:pt x="431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9" name="Freeform 482">
                <a:extLst>
                  <a:ext uri="{FF2B5EF4-FFF2-40B4-BE49-F238E27FC236}">
                    <a16:creationId xmlns:a16="http://schemas.microsoft.com/office/drawing/2014/main" id="{2F80BAFD-42F7-4F4E-AB0A-4901FD926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112"/>
                <a:ext cx="16" cy="15"/>
              </a:xfrm>
              <a:custGeom>
                <a:avLst/>
                <a:gdLst>
                  <a:gd name="T0" fmla="*/ 0 w 347"/>
                  <a:gd name="T1" fmla="*/ 0 h 257"/>
                  <a:gd name="T2" fmla="*/ 0 w 347"/>
                  <a:gd name="T3" fmla="*/ 0 h 257"/>
                  <a:gd name="T4" fmla="*/ 0 w 347"/>
                  <a:gd name="T5" fmla="*/ 0 h 257"/>
                  <a:gd name="T6" fmla="*/ 0 w 347"/>
                  <a:gd name="T7" fmla="*/ 0 h 257"/>
                  <a:gd name="T8" fmla="*/ 0 w 347"/>
                  <a:gd name="T9" fmla="*/ 0 h 2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7"/>
                  <a:gd name="T16" fmla="*/ 0 h 257"/>
                  <a:gd name="T17" fmla="*/ 347 w 347"/>
                  <a:gd name="T18" fmla="*/ 257 h 2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7" h="257">
                    <a:moveTo>
                      <a:pt x="347" y="126"/>
                    </a:moveTo>
                    <a:lnTo>
                      <a:pt x="53" y="257"/>
                    </a:lnTo>
                    <a:lnTo>
                      <a:pt x="0" y="132"/>
                    </a:lnTo>
                    <a:lnTo>
                      <a:pt x="294" y="0"/>
                    </a:lnTo>
                    <a:lnTo>
                      <a:pt x="347" y="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0" name="Freeform 483">
                <a:extLst>
                  <a:ext uri="{FF2B5EF4-FFF2-40B4-BE49-F238E27FC236}">
                    <a16:creationId xmlns:a16="http://schemas.microsoft.com/office/drawing/2014/main" id="{84E50819-4DD6-44E5-829B-8E89FBA91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5" y="73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3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4" y="232"/>
                    </a:lnTo>
                    <a:lnTo>
                      <a:pt x="60" y="228"/>
                    </a:lnTo>
                    <a:lnTo>
                      <a:pt x="56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5" y="7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1" name="Freeform 484">
                <a:extLst>
                  <a:ext uri="{FF2B5EF4-FFF2-40B4-BE49-F238E27FC236}">
                    <a16:creationId xmlns:a16="http://schemas.microsoft.com/office/drawing/2014/main" id="{CE06F800-C7A8-43ED-B8B9-FAE6A3102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2" y="0"/>
                    </a:lnTo>
                    <a:lnTo>
                      <a:pt x="146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4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2" name="Freeform 485">
                <a:extLst>
                  <a:ext uri="{FF2B5EF4-FFF2-40B4-BE49-F238E27FC236}">
                    <a16:creationId xmlns:a16="http://schemas.microsoft.com/office/drawing/2014/main" id="{4A010314-BC13-4CD9-BB23-96F033B15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3113"/>
                <a:ext cx="6" cy="8"/>
              </a:xfrm>
              <a:custGeom>
                <a:avLst/>
                <a:gdLst>
                  <a:gd name="T0" fmla="*/ 0 w 118"/>
                  <a:gd name="T1" fmla="*/ 0 h 154"/>
                  <a:gd name="T2" fmla="*/ 0 w 118"/>
                  <a:gd name="T3" fmla="*/ 0 h 154"/>
                  <a:gd name="T4" fmla="*/ 0 w 118"/>
                  <a:gd name="T5" fmla="*/ 0 h 154"/>
                  <a:gd name="T6" fmla="*/ 0 w 118"/>
                  <a:gd name="T7" fmla="*/ 0 h 154"/>
                  <a:gd name="T8" fmla="*/ 0 w 118"/>
                  <a:gd name="T9" fmla="*/ 0 h 154"/>
                  <a:gd name="T10" fmla="*/ 0 w 118"/>
                  <a:gd name="T11" fmla="*/ 0 h 154"/>
                  <a:gd name="T12" fmla="*/ 0 w 118"/>
                  <a:gd name="T13" fmla="*/ 0 h 154"/>
                  <a:gd name="T14" fmla="*/ 0 w 118"/>
                  <a:gd name="T15" fmla="*/ 0 h 154"/>
                  <a:gd name="T16" fmla="*/ 0 w 118"/>
                  <a:gd name="T17" fmla="*/ 0 h 154"/>
                  <a:gd name="T18" fmla="*/ 0 w 118"/>
                  <a:gd name="T19" fmla="*/ 0 h 154"/>
                  <a:gd name="T20" fmla="*/ 0 w 118"/>
                  <a:gd name="T21" fmla="*/ 0 h 154"/>
                  <a:gd name="T22" fmla="*/ 0 w 118"/>
                  <a:gd name="T23" fmla="*/ 0 h 154"/>
                  <a:gd name="T24" fmla="*/ 0 w 118"/>
                  <a:gd name="T25" fmla="*/ 0 h 154"/>
                  <a:gd name="T26" fmla="*/ 0 w 118"/>
                  <a:gd name="T27" fmla="*/ 0 h 154"/>
                  <a:gd name="T28" fmla="*/ 0 w 118"/>
                  <a:gd name="T29" fmla="*/ 0 h 154"/>
                  <a:gd name="T30" fmla="*/ 0 w 118"/>
                  <a:gd name="T31" fmla="*/ 0 h 154"/>
                  <a:gd name="T32" fmla="*/ 0 w 118"/>
                  <a:gd name="T33" fmla="*/ 0 h 154"/>
                  <a:gd name="T34" fmla="*/ 0 w 118"/>
                  <a:gd name="T35" fmla="*/ 0 h 154"/>
                  <a:gd name="T36" fmla="*/ 0 w 118"/>
                  <a:gd name="T37" fmla="*/ 0 h 154"/>
                  <a:gd name="T38" fmla="*/ 0 w 118"/>
                  <a:gd name="T39" fmla="*/ 0 h 154"/>
                  <a:gd name="T40" fmla="*/ 0 w 118"/>
                  <a:gd name="T41" fmla="*/ 0 h 154"/>
                  <a:gd name="T42" fmla="*/ 0 w 118"/>
                  <a:gd name="T43" fmla="*/ 0 h 154"/>
                  <a:gd name="T44" fmla="*/ 0 w 118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8"/>
                  <a:gd name="T70" fmla="*/ 0 h 154"/>
                  <a:gd name="T71" fmla="*/ 118 w 118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8" h="154">
                    <a:moveTo>
                      <a:pt x="88" y="6"/>
                    </a:moveTo>
                    <a:lnTo>
                      <a:pt x="116" y="77"/>
                    </a:lnTo>
                    <a:lnTo>
                      <a:pt x="118" y="85"/>
                    </a:lnTo>
                    <a:lnTo>
                      <a:pt x="118" y="95"/>
                    </a:lnTo>
                    <a:lnTo>
                      <a:pt x="116" y="103"/>
                    </a:lnTo>
                    <a:lnTo>
                      <a:pt x="112" y="108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7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7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3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3" name="Freeform 486">
                <a:extLst>
                  <a:ext uri="{FF2B5EF4-FFF2-40B4-BE49-F238E27FC236}">
                    <a16:creationId xmlns:a16="http://schemas.microsoft.com/office/drawing/2014/main" id="{AF61DBCC-44BD-4657-8D20-518CED715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3099"/>
                <a:ext cx="13" cy="16"/>
              </a:xfrm>
              <a:custGeom>
                <a:avLst/>
                <a:gdLst>
                  <a:gd name="T0" fmla="*/ 0 w 287"/>
                  <a:gd name="T1" fmla="*/ 0 h 280"/>
                  <a:gd name="T2" fmla="*/ 0 w 287"/>
                  <a:gd name="T3" fmla="*/ 0 h 280"/>
                  <a:gd name="T4" fmla="*/ 0 w 287"/>
                  <a:gd name="T5" fmla="*/ 0 h 280"/>
                  <a:gd name="T6" fmla="*/ 0 w 287"/>
                  <a:gd name="T7" fmla="*/ 0 h 280"/>
                  <a:gd name="T8" fmla="*/ 0 w 287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7"/>
                  <a:gd name="T16" fmla="*/ 0 h 280"/>
                  <a:gd name="T17" fmla="*/ 287 w 287"/>
                  <a:gd name="T18" fmla="*/ 280 h 2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7" h="280">
                    <a:moveTo>
                      <a:pt x="287" y="186"/>
                    </a:moveTo>
                    <a:lnTo>
                      <a:pt x="78" y="280"/>
                    </a:lnTo>
                    <a:lnTo>
                      <a:pt x="0" y="93"/>
                    </a:lnTo>
                    <a:lnTo>
                      <a:pt x="210" y="0"/>
                    </a:lnTo>
                    <a:lnTo>
                      <a:pt x="287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4" name="Freeform 487">
                <a:extLst>
                  <a:ext uri="{FF2B5EF4-FFF2-40B4-BE49-F238E27FC236}">
                    <a16:creationId xmlns:a16="http://schemas.microsoft.com/office/drawing/2014/main" id="{B22DD21A-D0E1-4AB7-8F3B-2C0CE8395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2"/>
                <a:ext cx="11" cy="12"/>
              </a:xfrm>
              <a:custGeom>
                <a:avLst/>
                <a:gdLst>
                  <a:gd name="T0" fmla="*/ 0 w 227"/>
                  <a:gd name="T1" fmla="*/ 0 h 203"/>
                  <a:gd name="T2" fmla="*/ 0 w 227"/>
                  <a:gd name="T3" fmla="*/ 0 h 203"/>
                  <a:gd name="T4" fmla="*/ 0 w 227"/>
                  <a:gd name="T5" fmla="*/ 0 h 203"/>
                  <a:gd name="T6" fmla="*/ 0 w 227"/>
                  <a:gd name="T7" fmla="*/ 0 h 203"/>
                  <a:gd name="T8" fmla="*/ 0 w 227"/>
                  <a:gd name="T9" fmla="*/ 0 h 2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203"/>
                  <a:gd name="T17" fmla="*/ 227 w 227"/>
                  <a:gd name="T18" fmla="*/ 203 h 2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203">
                    <a:moveTo>
                      <a:pt x="227" y="125"/>
                    </a:moveTo>
                    <a:lnTo>
                      <a:pt x="53" y="203"/>
                    </a:lnTo>
                    <a:lnTo>
                      <a:pt x="0" y="78"/>
                    </a:lnTo>
                    <a:lnTo>
                      <a:pt x="175" y="0"/>
                    </a:lnTo>
                    <a:lnTo>
                      <a:pt x="227" y="125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5" name="Freeform 488">
                <a:extLst>
                  <a:ext uri="{FF2B5EF4-FFF2-40B4-BE49-F238E27FC236}">
                    <a16:creationId xmlns:a16="http://schemas.microsoft.com/office/drawing/2014/main" id="{B45FEE02-2242-4D62-BAAC-745D8D2BF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4" y="72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2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3" y="232"/>
                    </a:lnTo>
                    <a:lnTo>
                      <a:pt x="59" y="227"/>
                    </a:lnTo>
                    <a:lnTo>
                      <a:pt x="55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6" name="Freeform 489">
                <a:extLst>
                  <a:ext uri="{FF2B5EF4-FFF2-40B4-BE49-F238E27FC236}">
                    <a16:creationId xmlns:a16="http://schemas.microsoft.com/office/drawing/2014/main" id="{AA6C8C60-4EFF-443D-B8AD-B59973EC33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1" y="0"/>
                    </a:lnTo>
                    <a:lnTo>
                      <a:pt x="145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3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7" name="Freeform 490">
                <a:extLst>
                  <a:ext uri="{FF2B5EF4-FFF2-40B4-BE49-F238E27FC236}">
                    <a16:creationId xmlns:a16="http://schemas.microsoft.com/office/drawing/2014/main" id="{7A34A2B4-42C2-4126-B069-E8DC015A7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103"/>
                <a:ext cx="6" cy="8"/>
              </a:xfrm>
              <a:custGeom>
                <a:avLst/>
                <a:gdLst>
                  <a:gd name="T0" fmla="*/ 0 w 119"/>
                  <a:gd name="T1" fmla="*/ 0 h 154"/>
                  <a:gd name="T2" fmla="*/ 0 w 119"/>
                  <a:gd name="T3" fmla="*/ 0 h 154"/>
                  <a:gd name="T4" fmla="*/ 0 w 119"/>
                  <a:gd name="T5" fmla="*/ 0 h 154"/>
                  <a:gd name="T6" fmla="*/ 0 w 119"/>
                  <a:gd name="T7" fmla="*/ 0 h 154"/>
                  <a:gd name="T8" fmla="*/ 0 w 119"/>
                  <a:gd name="T9" fmla="*/ 0 h 154"/>
                  <a:gd name="T10" fmla="*/ 0 w 119"/>
                  <a:gd name="T11" fmla="*/ 0 h 154"/>
                  <a:gd name="T12" fmla="*/ 0 w 119"/>
                  <a:gd name="T13" fmla="*/ 0 h 154"/>
                  <a:gd name="T14" fmla="*/ 0 w 119"/>
                  <a:gd name="T15" fmla="*/ 0 h 154"/>
                  <a:gd name="T16" fmla="*/ 0 w 119"/>
                  <a:gd name="T17" fmla="*/ 0 h 154"/>
                  <a:gd name="T18" fmla="*/ 0 w 119"/>
                  <a:gd name="T19" fmla="*/ 0 h 154"/>
                  <a:gd name="T20" fmla="*/ 0 w 119"/>
                  <a:gd name="T21" fmla="*/ 0 h 154"/>
                  <a:gd name="T22" fmla="*/ 0 w 119"/>
                  <a:gd name="T23" fmla="*/ 0 h 154"/>
                  <a:gd name="T24" fmla="*/ 0 w 119"/>
                  <a:gd name="T25" fmla="*/ 0 h 154"/>
                  <a:gd name="T26" fmla="*/ 0 w 119"/>
                  <a:gd name="T27" fmla="*/ 0 h 154"/>
                  <a:gd name="T28" fmla="*/ 0 w 119"/>
                  <a:gd name="T29" fmla="*/ 0 h 154"/>
                  <a:gd name="T30" fmla="*/ 0 w 119"/>
                  <a:gd name="T31" fmla="*/ 0 h 154"/>
                  <a:gd name="T32" fmla="*/ 0 w 119"/>
                  <a:gd name="T33" fmla="*/ 0 h 154"/>
                  <a:gd name="T34" fmla="*/ 0 w 119"/>
                  <a:gd name="T35" fmla="*/ 0 h 154"/>
                  <a:gd name="T36" fmla="*/ 0 w 119"/>
                  <a:gd name="T37" fmla="*/ 0 h 154"/>
                  <a:gd name="T38" fmla="*/ 0 w 119"/>
                  <a:gd name="T39" fmla="*/ 0 h 154"/>
                  <a:gd name="T40" fmla="*/ 0 w 119"/>
                  <a:gd name="T41" fmla="*/ 0 h 154"/>
                  <a:gd name="T42" fmla="*/ 0 w 119"/>
                  <a:gd name="T43" fmla="*/ 0 h 154"/>
                  <a:gd name="T44" fmla="*/ 0 w 119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9"/>
                  <a:gd name="T70" fmla="*/ 0 h 154"/>
                  <a:gd name="T71" fmla="*/ 119 w 119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9" h="154">
                    <a:moveTo>
                      <a:pt x="88" y="6"/>
                    </a:moveTo>
                    <a:lnTo>
                      <a:pt x="116" y="78"/>
                    </a:lnTo>
                    <a:lnTo>
                      <a:pt x="118" y="86"/>
                    </a:lnTo>
                    <a:lnTo>
                      <a:pt x="119" y="95"/>
                    </a:lnTo>
                    <a:lnTo>
                      <a:pt x="117" y="103"/>
                    </a:lnTo>
                    <a:lnTo>
                      <a:pt x="112" y="109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8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8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2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8" name="Freeform 491">
                <a:extLst>
                  <a:ext uri="{FF2B5EF4-FFF2-40B4-BE49-F238E27FC236}">
                    <a16:creationId xmlns:a16="http://schemas.microsoft.com/office/drawing/2014/main" id="{424F5E46-F563-4CE3-9204-18CAECA82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3092"/>
                <a:ext cx="4" cy="6"/>
              </a:xfrm>
              <a:custGeom>
                <a:avLst/>
                <a:gdLst>
                  <a:gd name="T0" fmla="*/ 0 w 100"/>
                  <a:gd name="T1" fmla="*/ 0 h 104"/>
                  <a:gd name="T2" fmla="*/ 0 w 100"/>
                  <a:gd name="T3" fmla="*/ 0 h 104"/>
                  <a:gd name="T4" fmla="*/ 0 w 100"/>
                  <a:gd name="T5" fmla="*/ 0 h 104"/>
                  <a:gd name="T6" fmla="*/ 0 w 100"/>
                  <a:gd name="T7" fmla="*/ 0 h 104"/>
                  <a:gd name="T8" fmla="*/ 0 w 100"/>
                  <a:gd name="T9" fmla="*/ 0 h 104"/>
                  <a:gd name="T10" fmla="*/ 0 w 100"/>
                  <a:gd name="T11" fmla="*/ 0 h 104"/>
                  <a:gd name="T12" fmla="*/ 0 w 100"/>
                  <a:gd name="T13" fmla="*/ 0 h 104"/>
                  <a:gd name="T14" fmla="*/ 0 w 100"/>
                  <a:gd name="T15" fmla="*/ 0 h 104"/>
                  <a:gd name="T16" fmla="*/ 0 w 100"/>
                  <a:gd name="T17" fmla="*/ 0 h 104"/>
                  <a:gd name="T18" fmla="*/ 0 w 100"/>
                  <a:gd name="T19" fmla="*/ 0 h 104"/>
                  <a:gd name="T20" fmla="*/ 0 w 100"/>
                  <a:gd name="T21" fmla="*/ 0 h 104"/>
                  <a:gd name="T22" fmla="*/ 0 w 100"/>
                  <a:gd name="T23" fmla="*/ 0 h 104"/>
                  <a:gd name="T24" fmla="*/ 0 w 100"/>
                  <a:gd name="T25" fmla="*/ 0 h 104"/>
                  <a:gd name="T26" fmla="*/ 0 w 100"/>
                  <a:gd name="T27" fmla="*/ 0 h 104"/>
                  <a:gd name="T28" fmla="*/ 0 w 100"/>
                  <a:gd name="T29" fmla="*/ 0 h 104"/>
                  <a:gd name="T30" fmla="*/ 0 w 100"/>
                  <a:gd name="T31" fmla="*/ 0 h 104"/>
                  <a:gd name="T32" fmla="*/ 0 w 100"/>
                  <a:gd name="T33" fmla="*/ 0 h 104"/>
                  <a:gd name="T34" fmla="*/ 0 w 100"/>
                  <a:gd name="T35" fmla="*/ 0 h 104"/>
                  <a:gd name="T36" fmla="*/ 0 w 100"/>
                  <a:gd name="T37" fmla="*/ 0 h 104"/>
                  <a:gd name="T38" fmla="*/ 0 w 100"/>
                  <a:gd name="T39" fmla="*/ 0 h 104"/>
                  <a:gd name="T40" fmla="*/ 0 w 100"/>
                  <a:gd name="T41" fmla="*/ 0 h 104"/>
                  <a:gd name="T42" fmla="*/ 0 w 100"/>
                  <a:gd name="T43" fmla="*/ 0 h 104"/>
                  <a:gd name="T44" fmla="*/ 0 w 100"/>
                  <a:gd name="T45" fmla="*/ 0 h 104"/>
                  <a:gd name="T46" fmla="*/ 0 w 100"/>
                  <a:gd name="T47" fmla="*/ 0 h 104"/>
                  <a:gd name="T48" fmla="*/ 0 w 100"/>
                  <a:gd name="T49" fmla="*/ 0 h 104"/>
                  <a:gd name="T50" fmla="*/ 0 w 100"/>
                  <a:gd name="T51" fmla="*/ 0 h 104"/>
                  <a:gd name="T52" fmla="*/ 0 w 100"/>
                  <a:gd name="T53" fmla="*/ 0 h 104"/>
                  <a:gd name="T54" fmla="*/ 0 w 100"/>
                  <a:gd name="T55" fmla="*/ 0 h 104"/>
                  <a:gd name="T56" fmla="*/ 0 w 100"/>
                  <a:gd name="T57" fmla="*/ 0 h 104"/>
                  <a:gd name="T58" fmla="*/ 0 w 100"/>
                  <a:gd name="T59" fmla="*/ 0 h 104"/>
                  <a:gd name="T60" fmla="*/ 0 w 100"/>
                  <a:gd name="T61" fmla="*/ 0 h 104"/>
                  <a:gd name="T62" fmla="*/ 0 w 100"/>
                  <a:gd name="T63" fmla="*/ 0 h 104"/>
                  <a:gd name="T64" fmla="*/ 0 w 100"/>
                  <a:gd name="T65" fmla="*/ 0 h 10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4"/>
                  <a:gd name="T101" fmla="*/ 100 w 100"/>
                  <a:gd name="T102" fmla="*/ 104 h 10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4">
                    <a:moveTo>
                      <a:pt x="50" y="104"/>
                    </a:moveTo>
                    <a:lnTo>
                      <a:pt x="40" y="103"/>
                    </a:lnTo>
                    <a:lnTo>
                      <a:pt x="31" y="99"/>
                    </a:lnTo>
                    <a:lnTo>
                      <a:pt x="23" y="95"/>
                    </a:lnTo>
                    <a:lnTo>
                      <a:pt x="15" y="89"/>
                    </a:lnTo>
                    <a:lnTo>
                      <a:pt x="8" y="80"/>
                    </a:lnTo>
                    <a:lnTo>
                      <a:pt x="4" y="72"/>
                    </a:lnTo>
                    <a:lnTo>
                      <a:pt x="1" y="62"/>
                    </a:lnTo>
                    <a:lnTo>
                      <a:pt x="0" y="52"/>
                    </a:lnTo>
                    <a:lnTo>
                      <a:pt x="1" y="41"/>
                    </a:lnTo>
                    <a:lnTo>
                      <a:pt x="4" y="32"/>
                    </a:lnTo>
                    <a:lnTo>
                      <a:pt x="8" y="23"/>
                    </a:lnTo>
                    <a:lnTo>
                      <a:pt x="15" y="15"/>
                    </a:lnTo>
                    <a:lnTo>
                      <a:pt x="23" y="9"/>
                    </a:lnTo>
                    <a:lnTo>
                      <a:pt x="31" y="5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70" y="5"/>
                    </a:lnTo>
                    <a:lnTo>
                      <a:pt x="78" y="9"/>
                    </a:lnTo>
                    <a:lnTo>
                      <a:pt x="86" y="15"/>
                    </a:lnTo>
                    <a:lnTo>
                      <a:pt x="92" y="23"/>
                    </a:lnTo>
                    <a:lnTo>
                      <a:pt x="96" y="32"/>
                    </a:lnTo>
                    <a:lnTo>
                      <a:pt x="99" y="41"/>
                    </a:lnTo>
                    <a:lnTo>
                      <a:pt x="100" y="52"/>
                    </a:lnTo>
                    <a:lnTo>
                      <a:pt x="99" y="62"/>
                    </a:lnTo>
                    <a:lnTo>
                      <a:pt x="96" y="72"/>
                    </a:lnTo>
                    <a:lnTo>
                      <a:pt x="92" y="80"/>
                    </a:lnTo>
                    <a:lnTo>
                      <a:pt x="86" y="89"/>
                    </a:lnTo>
                    <a:lnTo>
                      <a:pt x="78" y="95"/>
                    </a:lnTo>
                    <a:lnTo>
                      <a:pt x="70" y="99"/>
                    </a:lnTo>
                    <a:lnTo>
                      <a:pt x="60" y="103"/>
                    </a:lnTo>
                    <a:lnTo>
                      <a:pt x="50" y="104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99" name="Freeform 492">
                <a:extLst>
                  <a:ext uri="{FF2B5EF4-FFF2-40B4-BE49-F238E27FC236}">
                    <a16:creationId xmlns:a16="http://schemas.microsoft.com/office/drawing/2014/main" id="{70C23F9A-02CA-4C1F-80E9-B28E7ED77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131"/>
                <a:ext cx="5" cy="5"/>
              </a:xfrm>
              <a:custGeom>
                <a:avLst/>
                <a:gdLst>
                  <a:gd name="T0" fmla="*/ 0 w 100"/>
                  <a:gd name="T1" fmla="*/ 0 h 103"/>
                  <a:gd name="T2" fmla="*/ 0 w 100"/>
                  <a:gd name="T3" fmla="*/ 0 h 103"/>
                  <a:gd name="T4" fmla="*/ 0 w 100"/>
                  <a:gd name="T5" fmla="*/ 0 h 103"/>
                  <a:gd name="T6" fmla="*/ 0 w 100"/>
                  <a:gd name="T7" fmla="*/ 0 h 103"/>
                  <a:gd name="T8" fmla="*/ 0 w 100"/>
                  <a:gd name="T9" fmla="*/ 0 h 103"/>
                  <a:gd name="T10" fmla="*/ 0 w 100"/>
                  <a:gd name="T11" fmla="*/ 0 h 103"/>
                  <a:gd name="T12" fmla="*/ 0 w 100"/>
                  <a:gd name="T13" fmla="*/ 0 h 103"/>
                  <a:gd name="T14" fmla="*/ 0 w 100"/>
                  <a:gd name="T15" fmla="*/ 0 h 103"/>
                  <a:gd name="T16" fmla="*/ 0 w 100"/>
                  <a:gd name="T17" fmla="*/ 0 h 103"/>
                  <a:gd name="T18" fmla="*/ 0 w 100"/>
                  <a:gd name="T19" fmla="*/ 0 h 103"/>
                  <a:gd name="T20" fmla="*/ 0 w 100"/>
                  <a:gd name="T21" fmla="*/ 0 h 103"/>
                  <a:gd name="T22" fmla="*/ 0 w 100"/>
                  <a:gd name="T23" fmla="*/ 0 h 103"/>
                  <a:gd name="T24" fmla="*/ 0 w 100"/>
                  <a:gd name="T25" fmla="*/ 0 h 103"/>
                  <a:gd name="T26" fmla="*/ 0 w 100"/>
                  <a:gd name="T27" fmla="*/ 0 h 103"/>
                  <a:gd name="T28" fmla="*/ 0 w 100"/>
                  <a:gd name="T29" fmla="*/ 0 h 103"/>
                  <a:gd name="T30" fmla="*/ 0 w 100"/>
                  <a:gd name="T31" fmla="*/ 0 h 103"/>
                  <a:gd name="T32" fmla="*/ 0 w 100"/>
                  <a:gd name="T33" fmla="*/ 0 h 103"/>
                  <a:gd name="T34" fmla="*/ 0 w 100"/>
                  <a:gd name="T35" fmla="*/ 0 h 103"/>
                  <a:gd name="T36" fmla="*/ 0 w 100"/>
                  <a:gd name="T37" fmla="*/ 0 h 103"/>
                  <a:gd name="T38" fmla="*/ 0 w 100"/>
                  <a:gd name="T39" fmla="*/ 0 h 103"/>
                  <a:gd name="T40" fmla="*/ 0 w 100"/>
                  <a:gd name="T41" fmla="*/ 0 h 103"/>
                  <a:gd name="T42" fmla="*/ 0 w 100"/>
                  <a:gd name="T43" fmla="*/ 0 h 103"/>
                  <a:gd name="T44" fmla="*/ 0 w 100"/>
                  <a:gd name="T45" fmla="*/ 0 h 103"/>
                  <a:gd name="T46" fmla="*/ 0 w 100"/>
                  <a:gd name="T47" fmla="*/ 0 h 103"/>
                  <a:gd name="T48" fmla="*/ 0 w 100"/>
                  <a:gd name="T49" fmla="*/ 0 h 103"/>
                  <a:gd name="T50" fmla="*/ 0 w 100"/>
                  <a:gd name="T51" fmla="*/ 0 h 103"/>
                  <a:gd name="T52" fmla="*/ 0 w 100"/>
                  <a:gd name="T53" fmla="*/ 0 h 103"/>
                  <a:gd name="T54" fmla="*/ 0 w 100"/>
                  <a:gd name="T55" fmla="*/ 0 h 103"/>
                  <a:gd name="T56" fmla="*/ 0 w 100"/>
                  <a:gd name="T57" fmla="*/ 0 h 103"/>
                  <a:gd name="T58" fmla="*/ 0 w 100"/>
                  <a:gd name="T59" fmla="*/ 0 h 103"/>
                  <a:gd name="T60" fmla="*/ 0 w 100"/>
                  <a:gd name="T61" fmla="*/ 0 h 103"/>
                  <a:gd name="T62" fmla="*/ 0 w 100"/>
                  <a:gd name="T63" fmla="*/ 0 h 103"/>
                  <a:gd name="T64" fmla="*/ 0 w 100"/>
                  <a:gd name="T65" fmla="*/ 0 h 1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3"/>
                  <a:gd name="T101" fmla="*/ 100 w 100"/>
                  <a:gd name="T102" fmla="*/ 103 h 10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3">
                    <a:moveTo>
                      <a:pt x="50" y="103"/>
                    </a:moveTo>
                    <a:lnTo>
                      <a:pt x="39" y="102"/>
                    </a:lnTo>
                    <a:lnTo>
                      <a:pt x="30" y="99"/>
                    </a:lnTo>
                    <a:lnTo>
                      <a:pt x="22" y="95"/>
                    </a:lnTo>
                    <a:lnTo>
                      <a:pt x="14" y="88"/>
                    </a:lnTo>
                    <a:lnTo>
                      <a:pt x="8" y="80"/>
                    </a:lnTo>
                    <a:lnTo>
                      <a:pt x="4" y="71"/>
                    </a:lnTo>
                    <a:lnTo>
                      <a:pt x="1" y="62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4" y="31"/>
                    </a:lnTo>
                    <a:lnTo>
                      <a:pt x="8" y="23"/>
                    </a:lnTo>
                    <a:lnTo>
                      <a:pt x="14" y="15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39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69" y="4"/>
                    </a:lnTo>
                    <a:lnTo>
                      <a:pt x="77" y="8"/>
                    </a:lnTo>
                    <a:lnTo>
                      <a:pt x="85" y="15"/>
                    </a:lnTo>
                    <a:lnTo>
                      <a:pt x="91" y="23"/>
                    </a:lnTo>
                    <a:lnTo>
                      <a:pt x="96" y="31"/>
                    </a:lnTo>
                    <a:lnTo>
                      <a:pt x="99" y="41"/>
                    </a:lnTo>
                    <a:lnTo>
                      <a:pt x="100" y="51"/>
                    </a:lnTo>
                    <a:lnTo>
                      <a:pt x="99" y="62"/>
                    </a:lnTo>
                    <a:lnTo>
                      <a:pt x="96" y="71"/>
                    </a:lnTo>
                    <a:lnTo>
                      <a:pt x="91" y="80"/>
                    </a:lnTo>
                    <a:lnTo>
                      <a:pt x="85" y="88"/>
                    </a:lnTo>
                    <a:lnTo>
                      <a:pt x="77" y="95"/>
                    </a:lnTo>
                    <a:lnTo>
                      <a:pt x="69" y="99"/>
                    </a:lnTo>
                    <a:lnTo>
                      <a:pt x="60" y="102"/>
                    </a:lnTo>
                    <a:lnTo>
                      <a:pt x="50" y="10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0" name="Freeform 493">
                <a:extLst>
                  <a:ext uri="{FF2B5EF4-FFF2-40B4-BE49-F238E27FC236}">
                    <a16:creationId xmlns:a16="http://schemas.microsoft.com/office/drawing/2014/main" id="{200CA11D-9F62-4A4D-A632-C65569B5D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094"/>
                <a:ext cx="2" cy="3"/>
              </a:xfrm>
              <a:custGeom>
                <a:avLst/>
                <a:gdLst>
                  <a:gd name="T0" fmla="*/ 0 w 55"/>
                  <a:gd name="T1" fmla="*/ 0 h 57"/>
                  <a:gd name="T2" fmla="*/ 0 w 55"/>
                  <a:gd name="T3" fmla="*/ 0 h 57"/>
                  <a:gd name="T4" fmla="*/ 0 w 55"/>
                  <a:gd name="T5" fmla="*/ 0 h 57"/>
                  <a:gd name="T6" fmla="*/ 0 w 55"/>
                  <a:gd name="T7" fmla="*/ 0 h 57"/>
                  <a:gd name="T8" fmla="*/ 0 w 55"/>
                  <a:gd name="T9" fmla="*/ 0 h 57"/>
                  <a:gd name="T10" fmla="*/ 0 w 55"/>
                  <a:gd name="T11" fmla="*/ 0 h 57"/>
                  <a:gd name="T12" fmla="*/ 0 w 55"/>
                  <a:gd name="T13" fmla="*/ 0 h 57"/>
                  <a:gd name="T14" fmla="*/ 0 w 55"/>
                  <a:gd name="T15" fmla="*/ 0 h 57"/>
                  <a:gd name="T16" fmla="*/ 0 w 55"/>
                  <a:gd name="T17" fmla="*/ 0 h 57"/>
                  <a:gd name="T18" fmla="*/ 0 w 55"/>
                  <a:gd name="T19" fmla="*/ 0 h 57"/>
                  <a:gd name="T20" fmla="*/ 0 w 55"/>
                  <a:gd name="T21" fmla="*/ 0 h 57"/>
                  <a:gd name="T22" fmla="*/ 0 w 55"/>
                  <a:gd name="T23" fmla="*/ 0 h 57"/>
                  <a:gd name="T24" fmla="*/ 0 w 55"/>
                  <a:gd name="T25" fmla="*/ 0 h 57"/>
                  <a:gd name="T26" fmla="*/ 0 w 55"/>
                  <a:gd name="T27" fmla="*/ 0 h 57"/>
                  <a:gd name="T28" fmla="*/ 0 w 55"/>
                  <a:gd name="T29" fmla="*/ 0 h 57"/>
                  <a:gd name="T30" fmla="*/ 0 w 55"/>
                  <a:gd name="T31" fmla="*/ 0 h 57"/>
                  <a:gd name="T32" fmla="*/ 0 w 55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7"/>
                  <a:gd name="T53" fmla="*/ 55 w 55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7">
                    <a:moveTo>
                      <a:pt x="28" y="57"/>
                    </a:moveTo>
                    <a:lnTo>
                      <a:pt x="16" y="55"/>
                    </a:lnTo>
                    <a:lnTo>
                      <a:pt x="8" y="49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7"/>
                    </a:lnTo>
                    <a:lnTo>
                      <a:pt x="8" y="8"/>
                    </a:lnTo>
                    <a:lnTo>
                      <a:pt x="16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7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9"/>
                    </a:lnTo>
                    <a:lnTo>
                      <a:pt x="39" y="55"/>
                    </a:lnTo>
                    <a:lnTo>
                      <a:pt x="28" y="57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1" name="Freeform 494">
                <a:extLst>
                  <a:ext uri="{FF2B5EF4-FFF2-40B4-BE49-F238E27FC236}">
                    <a16:creationId xmlns:a16="http://schemas.microsoft.com/office/drawing/2014/main" id="{F63903ED-F2ED-4D77-8B14-5632AAE68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133"/>
                <a:ext cx="2" cy="3"/>
              </a:xfrm>
              <a:custGeom>
                <a:avLst/>
                <a:gdLst>
                  <a:gd name="T0" fmla="*/ 0 w 55"/>
                  <a:gd name="T1" fmla="*/ 0 h 56"/>
                  <a:gd name="T2" fmla="*/ 0 w 55"/>
                  <a:gd name="T3" fmla="*/ 0 h 56"/>
                  <a:gd name="T4" fmla="*/ 0 w 55"/>
                  <a:gd name="T5" fmla="*/ 0 h 56"/>
                  <a:gd name="T6" fmla="*/ 0 w 55"/>
                  <a:gd name="T7" fmla="*/ 0 h 56"/>
                  <a:gd name="T8" fmla="*/ 0 w 55"/>
                  <a:gd name="T9" fmla="*/ 0 h 56"/>
                  <a:gd name="T10" fmla="*/ 0 w 55"/>
                  <a:gd name="T11" fmla="*/ 0 h 56"/>
                  <a:gd name="T12" fmla="*/ 0 w 55"/>
                  <a:gd name="T13" fmla="*/ 0 h 56"/>
                  <a:gd name="T14" fmla="*/ 0 w 55"/>
                  <a:gd name="T15" fmla="*/ 0 h 56"/>
                  <a:gd name="T16" fmla="*/ 0 w 55"/>
                  <a:gd name="T17" fmla="*/ 0 h 56"/>
                  <a:gd name="T18" fmla="*/ 0 w 55"/>
                  <a:gd name="T19" fmla="*/ 0 h 56"/>
                  <a:gd name="T20" fmla="*/ 0 w 55"/>
                  <a:gd name="T21" fmla="*/ 0 h 56"/>
                  <a:gd name="T22" fmla="*/ 0 w 55"/>
                  <a:gd name="T23" fmla="*/ 0 h 56"/>
                  <a:gd name="T24" fmla="*/ 0 w 55"/>
                  <a:gd name="T25" fmla="*/ 0 h 56"/>
                  <a:gd name="T26" fmla="*/ 0 w 55"/>
                  <a:gd name="T27" fmla="*/ 0 h 56"/>
                  <a:gd name="T28" fmla="*/ 0 w 55"/>
                  <a:gd name="T29" fmla="*/ 0 h 56"/>
                  <a:gd name="T30" fmla="*/ 0 w 55"/>
                  <a:gd name="T31" fmla="*/ 0 h 56"/>
                  <a:gd name="T32" fmla="*/ 0 w 55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6"/>
                  <a:gd name="T53" fmla="*/ 55 w 55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6">
                    <a:moveTo>
                      <a:pt x="28" y="56"/>
                    </a:moveTo>
                    <a:lnTo>
                      <a:pt x="17" y="54"/>
                    </a:lnTo>
                    <a:lnTo>
                      <a:pt x="9" y="48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6"/>
                    </a:lnTo>
                    <a:lnTo>
                      <a:pt x="9" y="8"/>
                    </a:lnTo>
                    <a:lnTo>
                      <a:pt x="17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6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8"/>
                    </a:lnTo>
                    <a:lnTo>
                      <a:pt x="39" y="54"/>
                    </a:lnTo>
                    <a:lnTo>
                      <a:pt x="28" y="5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2" name="Freeform 495">
                <a:extLst>
                  <a:ext uri="{FF2B5EF4-FFF2-40B4-BE49-F238E27FC236}">
                    <a16:creationId xmlns:a16="http://schemas.microsoft.com/office/drawing/2014/main" id="{0F3B5F5D-3F86-46AD-B2E7-681CCB44FB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076"/>
                <a:ext cx="29" cy="29"/>
              </a:xfrm>
              <a:custGeom>
                <a:avLst/>
                <a:gdLst>
                  <a:gd name="T0" fmla="*/ 0 w 624"/>
                  <a:gd name="T1" fmla="*/ 0 h 522"/>
                  <a:gd name="T2" fmla="*/ 0 w 624"/>
                  <a:gd name="T3" fmla="*/ 0 h 522"/>
                  <a:gd name="T4" fmla="*/ 0 w 624"/>
                  <a:gd name="T5" fmla="*/ 0 h 522"/>
                  <a:gd name="T6" fmla="*/ 0 w 624"/>
                  <a:gd name="T7" fmla="*/ 0 h 522"/>
                  <a:gd name="T8" fmla="*/ 0 w 624"/>
                  <a:gd name="T9" fmla="*/ 0 h 5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522"/>
                  <a:gd name="T17" fmla="*/ 624 w 624"/>
                  <a:gd name="T18" fmla="*/ 522 h 5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522">
                    <a:moveTo>
                      <a:pt x="498" y="0"/>
                    </a:moveTo>
                    <a:lnTo>
                      <a:pt x="0" y="222"/>
                    </a:lnTo>
                    <a:lnTo>
                      <a:pt x="125" y="522"/>
                    </a:lnTo>
                    <a:lnTo>
                      <a:pt x="624" y="301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3" name="Freeform 496">
                <a:extLst>
                  <a:ext uri="{FF2B5EF4-FFF2-40B4-BE49-F238E27FC236}">
                    <a16:creationId xmlns:a16="http://schemas.microsoft.com/office/drawing/2014/main" id="{09CCD102-CEDE-428A-A0B0-4CC5C2C01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7"/>
                <a:ext cx="27" cy="27"/>
              </a:xfrm>
              <a:custGeom>
                <a:avLst/>
                <a:gdLst>
                  <a:gd name="T0" fmla="*/ 0 w 589"/>
                  <a:gd name="T1" fmla="*/ 0 h 484"/>
                  <a:gd name="T2" fmla="*/ 0 w 589"/>
                  <a:gd name="T3" fmla="*/ 0 h 484"/>
                  <a:gd name="T4" fmla="*/ 0 w 589"/>
                  <a:gd name="T5" fmla="*/ 0 h 484"/>
                  <a:gd name="T6" fmla="*/ 0 w 589"/>
                  <a:gd name="T7" fmla="*/ 0 h 484"/>
                  <a:gd name="T8" fmla="*/ 0 w 589"/>
                  <a:gd name="T9" fmla="*/ 0 h 4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84"/>
                  <a:gd name="T17" fmla="*/ 589 w 589"/>
                  <a:gd name="T18" fmla="*/ 484 h 4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84">
                    <a:moveTo>
                      <a:pt x="474" y="0"/>
                    </a:moveTo>
                    <a:lnTo>
                      <a:pt x="0" y="211"/>
                    </a:lnTo>
                    <a:lnTo>
                      <a:pt x="114" y="484"/>
                    </a:lnTo>
                    <a:lnTo>
                      <a:pt x="589" y="27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4" name="Freeform 497">
                <a:extLst>
                  <a:ext uri="{FF2B5EF4-FFF2-40B4-BE49-F238E27FC236}">
                    <a16:creationId xmlns:a16="http://schemas.microsoft.com/office/drawing/2014/main" id="{B47CEC68-E2B3-41CE-B87C-CA13EA9A2C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8"/>
                <a:ext cx="27" cy="26"/>
              </a:xfrm>
              <a:custGeom>
                <a:avLst/>
                <a:gdLst>
                  <a:gd name="T0" fmla="*/ 0 w 583"/>
                  <a:gd name="T1" fmla="*/ 0 h 471"/>
                  <a:gd name="T2" fmla="*/ 0 w 583"/>
                  <a:gd name="T3" fmla="*/ 0 h 471"/>
                  <a:gd name="T4" fmla="*/ 0 w 583"/>
                  <a:gd name="T5" fmla="*/ 0 h 471"/>
                  <a:gd name="T6" fmla="*/ 0 w 583"/>
                  <a:gd name="T7" fmla="*/ 0 h 471"/>
                  <a:gd name="T8" fmla="*/ 0 w 583"/>
                  <a:gd name="T9" fmla="*/ 0 h 4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471"/>
                  <a:gd name="T17" fmla="*/ 583 w 583"/>
                  <a:gd name="T18" fmla="*/ 471 h 4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471">
                    <a:moveTo>
                      <a:pt x="473" y="0"/>
                    </a:moveTo>
                    <a:lnTo>
                      <a:pt x="0" y="211"/>
                    </a:lnTo>
                    <a:lnTo>
                      <a:pt x="108" y="471"/>
                    </a:lnTo>
                    <a:lnTo>
                      <a:pt x="583" y="260"/>
                    </a:lnTo>
                    <a:lnTo>
                      <a:pt x="473" y="0"/>
                    </a:lnTo>
                    <a:close/>
                  </a:path>
                </a:pathLst>
              </a:custGeom>
              <a:solidFill>
                <a:srgbClr val="87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5" name="Freeform 498">
                <a:extLst>
                  <a:ext uri="{FF2B5EF4-FFF2-40B4-BE49-F238E27FC236}">
                    <a16:creationId xmlns:a16="http://schemas.microsoft.com/office/drawing/2014/main" id="{C047AEE2-BB47-4CBB-9864-376F467C3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3"/>
              </a:xfrm>
              <a:custGeom>
                <a:avLst/>
                <a:gdLst>
                  <a:gd name="T0" fmla="*/ 0 w 227"/>
                  <a:gd name="T1" fmla="*/ 0 h 234"/>
                  <a:gd name="T2" fmla="*/ 0 w 227"/>
                  <a:gd name="T3" fmla="*/ 0 h 234"/>
                  <a:gd name="T4" fmla="*/ 0 w 227"/>
                  <a:gd name="T5" fmla="*/ 0 h 234"/>
                  <a:gd name="T6" fmla="*/ 0 w 227"/>
                  <a:gd name="T7" fmla="*/ 0 h 234"/>
                  <a:gd name="T8" fmla="*/ 0 w 227"/>
                  <a:gd name="T9" fmla="*/ 0 h 234"/>
                  <a:gd name="T10" fmla="*/ 0 w 227"/>
                  <a:gd name="T11" fmla="*/ 0 h 234"/>
                  <a:gd name="T12" fmla="*/ 0 w 227"/>
                  <a:gd name="T13" fmla="*/ 0 h 234"/>
                  <a:gd name="T14" fmla="*/ 0 w 227"/>
                  <a:gd name="T15" fmla="*/ 0 h 234"/>
                  <a:gd name="T16" fmla="*/ 0 w 227"/>
                  <a:gd name="T17" fmla="*/ 0 h 234"/>
                  <a:gd name="T18" fmla="*/ 0 w 227"/>
                  <a:gd name="T19" fmla="*/ 0 h 234"/>
                  <a:gd name="T20" fmla="*/ 0 w 227"/>
                  <a:gd name="T21" fmla="*/ 0 h 234"/>
                  <a:gd name="T22" fmla="*/ 0 w 227"/>
                  <a:gd name="T23" fmla="*/ 0 h 234"/>
                  <a:gd name="T24" fmla="*/ 0 w 227"/>
                  <a:gd name="T25" fmla="*/ 0 h 234"/>
                  <a:gd name="T26" fmla="*/ 0 w 227"/>
                  <a:gd name="T27" fmla="*/ 0 h 234"/>
                  <a:gd name="T28" fmla="*/ 0 w 227"/>
                  <a:gd name="T29" fmla="*/ 0 h 234"/>
                  <a:gd name="T30" fmla="*/ 0 w 227"/>
                  <a:gd name="T31" fmla="*/ 0 h 234"/>
                  <a:gd name="T32" fmla="*/ 0 w 227"/>
                  <a:gd name="T33" fmla="*/ 0 h 234"/>
                  <a:gd name="T34" fmla="*/ 0 w 227"/>
                  <a:gd name="T35" fmla="*/ 0 h 234"/>
                  <a:gd name="T36" fmla="*/ 0 w 227"/>
                  <a:gd name="T37" fmla="*/ 0 h 234"/>
                  <a:gd name="T38" fmla="*/ 0 w 227"/>
                  <a:gd name="T39" fmla="*/ 0 h 234"/>
                  <a:gd name="T40" fmla="*/ 0 w 227"/>
                  <a:gd name="T41" fmla="*/ 0 h 234"/>
                  <a:gd name="T42" fmla="*/ 0 w 227"/>
                  <a:gd name="T43" fmla="*/ 0 h 234"/>
                  <a:gd name="T44" fmla="*/ 0 w 227"/>
                  <a:gd name="T45" fmla="*/ 0 h 234"/>
                  <a:gd name="T46" fmla="*/ 0 w 227"/>
                  <a:gd name="T47" fmla="*/ 0 h 234"/>
                  <a:gd name="T48" fmla="*/ 0 w 227"/>
                  <a:gd name="T49" fmla="*/ 0 h 234"/>
                  <a:gd name="T50" fmla="*/ 0 w 227"/>
                  <a:gd name="T51" fmla="*/ 0 h 234"/>
                  <a:gd name="T52" fmla="*/ 0 w 227"/>
                  <a:gd name="T53" fmla="*/ 0 h 234"/>
                  <a:gd name="T54" fmla="*/ 0 w 227"/>
                  <a:gd name="T55" fmla="*/ 0 h 234"/>
                  <a:gd name="T56" fmla="*/ 0 w 227"/>
                  <a:gd name="T57" fmla="*/ 0 h 234"/>
                  <a:gd name="T58" fmla="*/ 0 w 227"/>
                  <a:gd name="T59" fmla="*/ 0 h 234"/>
                  <a:gd name="T60" fmla="*/ 0 w 227"/>
                  <a:gd name="T61" fmla="*/ 0 h 234"/>
                  <a:gd name="T62" fmla="*/ 0 w 227"/>
                  <a:gd name="T63" fmla="*/ 0 h 234"/>
                  <a:gd name="T64" fmla="*/ 0 w 227"/>
                  <a:gd name="T65" fmla="*/ 0 h 23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"/>
                  <a:gd name="T100" fmla="*/ 0 h 234"/>
                  <a:gd name="T101" fmla="*/ 227 w 227"/>
                  <a:gd name="T102" fmla="*/ 234 h 23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" h="234">
                    <a:moveTo>
                      <a:pt x="159" y="223"/>
                    </a:moveTo>
                    <a:lnTo>
                      <a:pt x="137" y="231"/>
                    </a:lnTo>
                    <a:lnTo>
                      <a:pt x="115" y="234"/>
                    </a:lnTo>
                    <a:lnTo>
                      <a:pt x="93" y="232"/>
                    </a:lnTo>
                    <a:lnTo>
                      <a:pt x="73" y="225"/>
                    </a:lnTo>
                    <a:lnTo>
                      <a:pt x="54" y="215"/>
                    </a:lnTo>
                    <a:lnTo>
                      <a:pt x="36" y="201"/>
                    </a:lnTo>
                    <a:lnTo>
                      <a:pt x="22" y="184"/>
                    </a:lnTo>
                    <a:lnTo>
                      <a:pt x="11" y="163"/>
                    </a:lnTo>
                    <a:lnTo>
                      <a:pt x="4" y="141"/>
                    </a:lnTo>
                    <a:lnTo>
                      <a:pt x="0" y="118"/>
                    </a:lnTo>
                    <a:lnTo>
                      <a:pt x="3" y="96"/>
                    </a:lnTo>
                    <a:lnTo>
                      <a:pt x="9" y="74"/>
                    </a:lnTo>
                    <a:lnTo>
                      <a:pt x="19" y="55"/>
                    </a:lnTo>
                    <a:lnTo>
                      <a:pt x="32" y="37"/>
                    </a:lnTo>
                    <a:lnTo>
                      <a:pt x="48" y="22"/>
                    </a:lnTo>
                    <a:lnTo>
                      <a:pt x="69" y="10"/>
                    </a:lnTo>
                    <a:lnTo>
                      <a:pt x="90" y="3"/>
                    </a:lnTo>
                    <a:lnTo>
                      <a:pt x="113" y="0"/>
                    </a:lnTo>
                    <a:lnTo>
                      <a:pt x="134" y="2"/>
                    </a:lnTo>
                    <a:lnTo>
                      <a:pt x="156" y="8"/>
                    </a:lnTo>
                    <a:lnTo>
                      <a:pt x="174" y="19"/>
                    </a:lnTo>
                    <a:lnTo>
                      <a:pt x="191" y="32"/>
                    </a:lnTo>
                    <a:lnTo>
                      <a:pt x="206" y="49"/>
                    </a:lnTo>
                    <a:lnTo>
                      <a:pt x="217" y="70"/>
                    </a:lnTo>
                    <a:lnTo>
                      <a:pt x="224" y="93"/>
                    </a:lnTo>
                    <a:lnTo>
                      <a:pt x="227" y="116"/>
                    </a:lnTo>
                    <a:lnTo>
                      <a:pt x="225" y="138"/>
                    </a:lnTo>
                    <a:lnTo>
                      <a:pt x="219" y="159"/>
                    </a:lnTo>
                    <a:lnTo>
                      <a:pt x="209" y="179"/>
                    </a:lnTo>
                    <a:lnTo>
                      <a:pt x="195" y="197"/>
                    </a:lnTo>
                    <a:lnTo>
                      <a:pt x="179" y="212"/>
                    </a:lnTo>
                    <a:lnTo>
                      <a:pt x="159" y="223"/>
                    </a:lnTo>
                    <a:close/>
                  </a:path>
                </a:pathLst>
              </a:custGeom>
              <a:solidFill>
                <a:srgbClr val="E333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6" name="Freeform 499">
                <a:extLst>
                  <a:ext uri="{FF2B5EF4-FFF2-40B4-BE49-F238E27FC236}">
                    <a16:creationId xmlns:a16="http://schemas.microsoft.com/office/drawing/2014/main" id="{0B8B742E-934A-4008-95B3-65AD03C1C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2"/>
              </a:xfrm>
              <a:custGeom>
                <a:avLst/>
                <a:gdLst>
                  <a:gd name="T0" fmla="*/ 0 w 208"/>
                  <a:gd name="T1" fmla="*/ 0 h 214"/>
                  <a:gd name="T2" fmla="*/ 0 w 208"/>
                  <a:gd name="T3" fmla="*/ 0 h 214"/>
                  <a:gd name="T4" fmla="*/ 0 w 208"/>
                  <a:gd name="T5" fmla="*/ 0 h 214"/>
                  <a:gd name="T6" fmla="*/ 0 w 208"/>
                  <a:gd name="T7" fmla="*/ 0 h 214"/>
                  <a:gd name="T8" fmla="*/ 0 w 208"/>
                  <a:gd name="T9" fmla="*/ 0 h 214"/>
                  <a:gd name="T10" fmla="*/ 0 w 208"/>
                  <a:gd name="T11" fmla="*/ 0 h 214"/>
                  <a:gd name="T12" fmla="*/ 0 w 208"/>
                  <a:gd name="T13" fmla="*/ 0 h 214"/>
                  <a:gd name="T14" fmla="*/ 0 w 208"/>
                  <a:gd name="T15" fmla="*/ 0 h 214"/>
                  <a:gd name="T16" fmla="*/ 0 w 208"/>
                  <a:gd name="T17" fmla="*/ 0 h 214"/>
                  <a:gd name="T18" fmla="*/ 0 w 208"/>
                  <a:gd name="T19" fmla="*/ 0 h 214"/>
                  <a:gd name="T20" fmla="*/ 0 w 208"/>
                  <a:gd name="T21" fmla="*/ 0 h 214"/>
                  <a:gd name="T22" fmla="*/ 0 w 208"/>
                  <a:gd name="T23" fmla="*/ 0 h 214"/>
                  <a:gd name="T24" fmla="*/ 0 w 208"/>
                  <a:gd name="T25" fmla="*/ 0 h 214"/>
                  <a:gd name="T26" fmla="*/ 0 w 208"/>
                  <a:gd name="T27" fmla="*/ 0 h 214"/>
                  <a:gd name="T28" fmla="*/ 0 w 208"/>
                  <a:gd name="T29" fmla="*/ 0 h 214"/>
                  <a:gd name="T30" fmla="*/ 0 w 208"/>
                  <a:gd name="T31" fmla="*/ 0 h 214"/>
                  <a:gd name="T32" fmla="*/ 0 w 208"/>
                  <a:gd name="T33" fmla="*/ 0 h 214"/>
                  <a:gd name="T34" fmla="*/ 0 w 208"/>
                  <a:gd name="T35" fmla="*/ 0 h 214"/>
                  <a:gd name="T36" fmla="*/ 0 w 208"/>
                  <a:gd name="T37" fmla="*/ 0 h 214"/>
                  <a:gd name="T38" fmla="*/ 0 w 208"/>
                  <a:gd name="T39" fmla="*/ 0 h 214"/>
                  <a:gd name="T40" fmla="*/ 0 w 208"/>
                  <a:gd name="T41" fmla="*/ 0 h 214"/>
                  <a:gd name="T42" fmla="*/ 0 w 208"/>
                  <a:gd name="T43" fmla="*/ 0 h 214"/>
                  <a:gd name="T44" fmla="*/ 0 w 208"/>
                  <a:gd name="T45" fmla="*/ 0 h 214"/>
                  <a:gd name="T46" fmla="*/ 0 w 208"/>
                  <a:gd name="T47" fmla="*/ 0 h 214"/>
                  <a:gd name="T48" fmla="*/ 0 w 208"/>
                  <a:gd name="T49" fmla="*/ 0 h 214"/>
                  <a:gd name="T50" fmla="*/ 0 w 208"/>
                  <a:gd name="T51" fmla="*/ 0 h 214"/>
                  <a:gd name="T52" fmla="*/ 0 w 208"/>
                  <a:gd name="T53" fmla="*/ 0 h 214"/>
                  <a:gd name="T54" fmla="*/ 0 w 208"/>
                  <a:gd name="T55" fmla="*/ 0 h 214"/>
                  <a:gd name="T56" fmla="*/ 0 w 208"/>
                  <a:gd name="T57" fmla="*/ 0 h 214"/>
                  <a:gd name="T58" fmla="*/ 0 w 208"/>
                  <a:gd name="T59" fmla="*/ 0 h 214"/>
                  <a:gd name="T60" fmla="*/ 0 w 208"/>
                  <a:gd name="T61" fmla="*/ 0 h 214"/>
                  <a:gd name="T62" fmla="*/ 0 w 208"/>
                  <a:gd name="T63" fmla="*/ 0 h 214"/>
                  <a:gd name="T64" fmla="*/ 0 w 208"/>
                  <a:gd name="T65" fmla="*/ 0 h 21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8"/>
                  <a:gd name="T100" fmla="*/ 0 h 214"/>
                  <a:gd name="T101" fmla="*/ 208 w 208"/>
                  <a:gd name="T102" fmla="*/ 214 h 21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8" h="214">
                    <a:moveTo>
                      <a:pt x="146" y="206"/>
                    </a:moveTo>
                    <a:lnTo>
                      <a:pt x="125" y="212"/>
                    </a:lnTo>
                    <a:lnTo>
                      <a:pt x="105" y="214"/>
                    </a:lnTo>
                    <a:lnTo>
                      <a:pt x="84" y="212"/>
                    </a:lnTo>
                    <a:lnTo>
                      <a:pt x="66" y="206"/>
                    </a:lnTo>
                    <a:lnTo>
                      <a:pt x="48" y="196"/>
                    </a:lnTo>
                    <a:lnTo>
                      <a:pt x="31" y="183"/>
                    </a:lnTo>
                    <a:lnTo>
                      <a:pt x="18" y="168"/>
                    </a:lnTo>
                    <a:lnTo>
                      <a:pt x="8" y="149"/>
                    </a:lnTo>
                    <a:lnTo>
                      <a:pt x="2" y="129"/>
                    </a:lnTo>
                    <a:lnTo>
                      <a:pt x="0" y="108"/>
                    </a:lnTo>
                    <a:lnTo>
                      <a:pt x="2" y="86"/>
                    </a:lnTo>
                    <a:lnTo>
                      <a:pt x="8" y="67"/>
                    </a:lnTo>
                    <a:lnTo>
                      <a:pt x="17" y="49"/>
                    </a:lnTo>
                    <a:lnTo>
                      <a:pt x="29" y="33"/>
                    </a:lnTo>
                    <a:lnTo>
                      <a:pt x="45" y="19"/>
                    </a:lnTo>
                    <a:lnTo>
                      <a:pt x="63" y="8"/>
                    </a:lnTo>
                    <a:lnTo>
                      <a:pt x="83" y="2"/>
                    </a:lnTo>
                    <a:lnTo>
                      <a:pt x="104" y="0"/>
                    </a:lnTo>
                    <a:lnTo>
                      <a:pt x="123" y="2"/>
                    </a:lnTo>
                    <a:lnTo>
                      <a:pt x="142" y="7"/>
                    </a:lnTo>
                    <a:lnTo>
                      <a:pt x="161" y="17"/>
                    </a:lnTo>
                    <a:lnTo>
                      <a:pt x="176" y="30"/>
                    </a:lnTo>
                    <a:lnTo>
                      <a:pt x="189" y="45"/>
                    </a:lnTo>
                    <a:lnTo>
                      <a:pt x="200" y="63"/>
                    </a:lnTo>
                    <a:lnTo>
                      <a:pt x="206" y="84"/>
                    </a:lnTo>
                    <a:lnTo>
                      <a:pt x="208" y="105"/>
                    </a:lnTo>
                    <a:lnTo>
                      <a:pt x="206" y="127"/>
                    </a:lnTo>
                    <a:lnTo>
                      <a:pt x="201" y="147"/>
                    </a:lnTo>
                    <a:lnTo>
                      <a:pt x="191" y="164"/>
                    </a:lnTo>
                    <a:lnTo>
                      <a:pt x="179" y="181"/>
                    </a:lnTo>
                    <a:lnTo>
                      <a:pt x="164" y="195"/>
                    </a:lnTo>
                    <a:lnTo>
                      <a:pt x="146" y="206"/>
                    </a:lnTo>
                    <a:close/>
                  </a:path>
                </a:pathLst>
              </a:custGeom>
              <a:solidFill>
                <a:srgbClr val="EB5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7" name="Freeform 500">
                <a:extLst>
                  <a:ext uri="{FF2B5EF4-FFF2-40B4-BE49-F238E27FC236}">
                    <a16:creationId xmlns:a16="http://schemas.microsoft.com/office/drawing/2014/main" id="{6FFF1F52-D1E6-43AE-8078-0979F6329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89"/>
                  <a:gd name="T1" fmla="*/ 0 h 194"/>
                  <a:gd name="T2" fmla="*/ 0 w 189"/>
                  <a:gd name="T3" fmla="*/ 0 h 194"/>
                  <a:gd name="T4" fmla="*/ 0 w 189"/>
                  <a:gd name="T5" fmla="*/ 0 h 194"/>
                  <a:gd name="T6" fmla="*/ 0 w 189"/>
                  <a:gd name="T7" fmla="*/ 0 h 194"/>
                  <a:gd name="T8" fmla="*/ 0 w 189"/>
                  <a:gd name="T9" fmla="*/ 0 h 194"/>
                  <a:gd name="T10" fmla="*/ 0 w 189"/>
                  <a:gd name="T11" fmla="*/ 0 h 194"/>
                  <a:gd name="T12" fmla="*/ 0 w 189"/>
                  <a:gd name="T13" fmla="*/ 0 h 194"/>
                  <a:gd name="T14" fmla="*/ 0 w 189"/>
                  <a:gd name="T15" fmla="*/ 0 h 194"/>
                  <a:gd name="T16" fmla="*/ 0 w 189"/>
                  <a:gd name="T17" fmla="*/ 0 h 194"/>
                  <a:gd name="T18" fmla="*/ 0 w 189"/>
                  <a:gd name="T19" fmla="*/ 0 h 194"/>
                  <a:gd name="T20" fmla="*/ 0 w 189"/>
                  <a:gd name="T21" fmla="*/ 0 h 194"/>
                  <a:gd name="T22" fmla="*/ 0 w 189"/>
                  <a:gd name="T23" fmla="*/ 0 h 194"/>
                  <a:gd name="T24" fmla="*/ 0 w 189"/>
                  <a:gd name="T25" fmla="*/ 0 h 194"/>
                  <a:gd name="T26" fmla="*/ 0 w 189"/>
                  <a:gd name="T27" fmla="*/ 0 h 194"/>
                  <a:gd name="T28" fmla="*/ 0 w 189"/>
                  <a:gd name="T29" fmla="*/ 0 h 194"/>
                  <a:gd name="T30" fmla="*/ 0 w 189"/>
                  <a:gd name="T31" fmla="*/ 0 h 194"/>
                  <a:gd name="T32" fmla="*/ 0 w 189"/>
                  <a:gd name="T33" fmla="*/ 0 h 194"/>
                  <a:gd name="T34" fmla="*/ 0 w 189"/>
                  <a:gd name="T35" fmla="*/ 0 h 194"/>
                  <a:gd name="T36" fmla="*/ 0 w 189"/>
                  <a:gd name="T37" fmla="*/ 0 h 194"/>
                  <a:gd name="T38" fmla="*/ 0 w 189"/>
                  <a:gd name="T39" fmla="*/ 0 h 194"/>
                  <a:gd name="T40" fmla="*/ 0 w 189"/>
                  <a:gd name="T41" fmla="*/ 0 h 194"/>
                  <a:gd name="T42" fmla="*/ 0 w 189"/>
                  <a:gd name="T43" fmla="*/ 0 h 194"/>
                  <a:gd name="T44" fmla="*/ 0 w 189"/>
                  <a:gd name="T45" fmla="*/ 0 h 194"/>
                  <a:gd name="T46" fmla="*/ 0 w 189"/>
                  <a:gd name="T47" fmla="*/ 0 h 194"/>
                  <a:gd name="T48" fmla="*/ 0 w 189"/>
                  <a:gd name="T49" fmla="*/ 0 h 194"/>
                  <a:gd name="T50" fmla="*/ 0 w 189"/>
                  <a:gd name="T51" fmla="*/ 0 h 194"/>
                  <a:gd name="T52" fmla="*/ 0 w 189"/>
                  <a:gd name="T53" fmla="*/ 0 h 194"/>
                  <a:gd name="T54" fmla="*/ 0 w 189"/>
                  <a:gd name="T55" fmla="*/ 0 h 194"/>
                  <a:gd name="T56" fmla="*/ 0 w 189"/>
                  <a:gd name="T57" fmla="*/ 0 h 194"/>
                  <a:gd name="T58" fmla="*/ 0 w 189"/>
                  <a:gd name="T59" fmla="*/ 0 h 194"/>
                  <a:gd name="T60" fmla="*/ 0 w 189"/>
                  <a:gd name="T61" fmla="*/ 0 h 194"/>
                  <a:gd name="T62" fmla="*/ 0 w 189"/>
                  <a:gd name="T63" fmla="*/ 0 h 194"/>
                  <a:gd name="T64" fmla="*/ 0 w 189"/>
                  <a:gd name="T65" fmla="*/ 0 h 1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9"/>
                  <a:gd name="T100" fmla="*/ 0 h 194"/>
                  <a:gd name="T101" fmla="*/ 189 w 189"/>
                  <a:gd name="T102" fmla="*/ 194 h 1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9" h="194">
                    <a:moveTo>
                      <a:pt x="131" y="187"/>
                    </a:moveTo>
                    <a:lnTo>
                      <a:pt x="113" y="193"/>
                    </a:lnTo>
                    <a:lnTo>
                      <a:pt x="95" y="194"/>
                    </a:lnTo>
                    <a:lnTo>
                      <a:pt x="76" y="192"/>
                    </a:lnTo>
                    <a:lnTo>
                      <a:pt x="59" y="187"/>
                    </a:lnTo>
                    <a:lnTo>
                      <a:pt x="44" y="178"/>
                    </a:lnTo>
                    <a:lnTo>
                      <a:pt x="29" y="167"/>
                    </a:lnTo>
                    <a:lnTo>
                      <a:pt x="17" y="152"/>
                    </a:lnTo>
                    <a:lnTo>
                      <a:pt x="8" y="135"/>
                    </a:lnTo>
                    <a:lnTo>
                      <a:pt x="2" y="116"/>
                    </a:lnTo>
                    <a:lnTo>
                      <a:pt x="0" y="97"/>
                    </a:lnTo>
                    <a:lnTo>
                      <a:pt x="2" y="79"/>
                    </a:lnTo>
                    <a:lnTo>
                      <a:pt x="7" y="61"/>
                    </a:lnTo>
                    <a:lnTo>
                      <a:pt x="15" y="45"/>
                    </a:lnTo>
                    <a:lnTo>
                      <a:pt x="26" y="30"/>
                    </a:lnTo>
                    <a:lnTo>
                      <a:pt x="41" y="17"/>
                    </a:lnTo>
                    <a:lnTo>
                      <a:pt x="57" y="8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2" y="1"/>
                    </a:lnTo>
                    <a:lnTo>
                      <a:pt x="130" y="7"/>
                    </a:lnTo>
                    <a:lnTo>
                      <a:pt x="146" y="15"/>
                    </a:lnTo>
                    <a:lnTo>
                      <a:pt x="160" y="27"/>
                    </a:lnTo>
                    <a:lnTo>
                      <a:pt x="172" y="41"/>
                    </a:lnTo>
                    <a:lnTo>
                      <a:pt x="181" y="58"/>
                    </a:lnTo>
                    <a:lnTo>
                      <a:pt x="187" y="77"/>
                    </a:lnTo>
                    <a:lnTo>
                      <a:pt x="189" y="96"/>
                    </a:lnTo>
                    <a:lnTo>
                      <a:pt x="188" y="114"/>
                    </a:lnTo>
                    <a:lnTo>
                      <a:pt x="182" y="132"/>
                    </a:lnTo>
                    <a:lnTo>
                      <a:pt x="174" y="149"/>
                    </a:lnTo>
                    <a:lnTo>
                      <a:pt x="163" y="165"/>
                    </a:lnTo>
                    <a:lnTo>
                      <a:pt x="149" y="177"/>
                    </a:lnTo>
                    <a:lnTo>
                      <a:pt x="131" y="187"/>
                    </a:lnTo>
                    <a:close/>
                  </a:path>
                </a:pathLst>
              </a:custGeom>
              <a:solidFill>
                <a:srgbClr val="F087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8" name="Freeform 501">
                <a:extLst>
                  <a:ext uri="{FF2B5EF4-FFF2-40B4-BE49-F238E27FC236}">
                    <a16:creationId xmlns:a16="http://schemas.microsoft.com/office/drawing/2014/main" id="{ABC21819-F1EB-4A64-8B5A-E15218F3C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71"/>
                  <a:gd name="T1" fmla="*/ 0 h 177"/>
                  <a:gd name="T2" fmla="*/ 0 w 171"/>
                  <a:gd name="T3" fmla="*/ 0 h 177"/>
                  <a:gd name="T4" fmla="*/ 0 w 171"/>
                  <a:gd name="T5" fmla="*/ 0 h 177"/>
                  <a:gd name="T6" fmla="*/ 0 w 171"/>
                  <a:gd name="T7" fmla="*/ 0 h 177"/>
                  <a:gd name="T8" fmla="*/ 0 w 171"/>
                  <a:gd name="T9" fmla="*/ 0 h 177"/>
                  <a:gd name="T10" fmla="*/ 0 w 171"/>
                  <a:gd name="T11" fmla="*/ 0 h 177"/>
                  <a:gd name="T12" fmla="*/ 0 w 171"/>
                  <a:gd name="T13" fmla="*/ 0 h 177"/>
                  <a:gd name="T14" fmla="*/ 0 w 171"/>
                  <a:gd name="T15" fmla="*/ 0 h 177"/>
                  <a:gd name="T16" fmla="*/ 0 w 171"/>
                  <a:gd name="T17" fmla="*/ 0 h 177"/>
                  <a:gd name="T18" fmla="*/ 0 w 171"/>
                  <a:gd name="T19" fmla="*/ 0 h 177"/>
                  <a:gd name="T20" fmla="*/ 0 w 171"/>
                  <a:gd name="T21" fmla="*/ 0 h 177"/>
                  <a:gd name="T22" fmla="*/ 0 w 171"/>
                  <a:gd name="T23" fmla="*/ 0 h 177"/>
                  <a:gd name="T24" fmla="*/ 0 w 171"/>
                  <a:gd name="T25" fmla="*/ 0 h 177"/>
                  <a:gd name="T26" fmla="*/ 0 w 171"/>
                  <a:gd name="T27" fmla="*/ 0 h 177"/>
                  <a:gd name="T28" fmla="*/ 0 w 171"/>
                  <a:gd name="T29" fmla="*/ 0 h 177"/>
                  <a:gd name="T30" fmla="*/ 0 w 171"/>
                  <a:gd name="T31" fmla="*/ 0 h 177"/>
                  <a:gd name="T32" fmla="*/ 0 w 171"/>
                  <a:gd name="T33" fmla="*/ 0 h 177"/>
                  <a:gd name="T34" fmla="*/ 0 w 171"/>
                  <a:gd name="T35" fmla="*/ 0 h 177"/>
                  <a:gd name="T36" fmla="*/ 0 w 171"/>
                  <a:gd name="T37" fmla="*/ 0 h 177"/>
                  <a:gd name="T38" fmla="*/ 0 w 171"/>
                  <a:gd name="T39" fmla="*/ 0 h 177"/>
                  <a:gd name="T40" fmla="*/ 0 w 171"/>
                  <a:gd name="T41" fmla="*/ 0 h 177"/>
                  <a:gd name="T42" fmla="*/ 0 w 171"/>
                  <a:gd name="T43" fmla="*/ 0 h 177"/>
                  <a:gd name="T44" fmla="*/ 0 w 171"/>
                  <a:gd name="T45" fmla="*/ 0 h 177"/>
                  <a:gd name="T46" fmla="*/ 0 w 171"/>
                  <a:gd name="T47" fmla="*/ 0 h 177"/>
                  <a:gd name="T48" fmla="*/ 0 w 171"/>
                  <a:gd name="T49" fmla="*/ 0 h 177"/>
                  <a:gd name="T50" fmla="*/ 0 w 171"/>
                  <a:gd name="T51" fmla="*/ 0 h 177"/>
                  <a:gd name="T52" fmla="*/ 0 w 171"/>
                  <a:gd name="T53" fmla="*/ 0 h 177"/>
                  <a:gd name="T54" fmla="*/ 0 w 171"/>
                  <a:gd name="T55" fmla="*/ 0 h 177"/>
                  <a:gd name="T56" fmla="*/ 0 w 171"/>
                  <a:gd name="T57" fmla="*/ 0 h 177"/>
                  <a:gd name="T58" fmla="*/ 0 w 171"/>
                  <a:gd name="T59" fmla="*/ 0 h 177"/>
                  <a:gd name="T60" fmla="*/ 0 w 171"/>
                  <a:gd name="T61" fmla="*/ 0 h 177"/>
                  <a:gd name="T62" fmla="*/ 0 w 171"/>
                  <a:gd name="T63" fmla="*/ 0 h 177"/>
                  <a:gd name="T64" fmla="*/ 0 w 171"/>
                  <a:gd name="T65" fmla="*/ 0 h 1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1"/>
                  <a:gd name="T100" fmla="*/ 0 h 177"/>
                  <a:gd name="T101" fmla="*/ 171 w 171"/>
                  <a:gd name="T102" fmla="*/ 177 h 17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1" h="177">
                    <a:moveTo>
                      <a:pt x="120" y="170"/>
                    </a:moveTo>
                    <a:lnTo>
                      <a:pt x="104" y="175"/>
                    </a:lnTo>
                    <a:lnTo>
                      <a:pt x="87" y="177"/>
                    </a:lnTo>
                    <a:lnTo>
                      <a:pt x="70" y="176"/>
                    </a:lnTo>
                    <a:lnTo>
                      <a:pt x="54" y="171"/>
                    </a:lnTo>
                    <a:lnTo>
                      <a:pt x="40" y="163"/>
                    </a:lnTo>
                    <a:lnTo>
                      <a:pt x="27" y="152"/>
                    </a:lnTo>
                    <a:lnTo>
                      <a:pt x="15" y="139"/>
                    </a:lnTo>
                    <a:lnTo>
                      <a:pt x="7" y="124"/>
                    </a:lnTo>
                    <a:lnTo>
                      <a:pt x="2" y="107"/>
                    </a:lnTo>
                    <a:lnTo>
                      <a:pt x="0" y="90"/>
                    </a:lnTo>
                    <a:lnTo>
                      <a:pt x="2" y="72"/>
                    </a:lnTo>
                    <a:lnTo>
                      <a:pt x="7" y="56"/>
                    </a:lnTo>
                    <a:lnTo>
                      <a:pt x="14" y="41"/>
                    </a:lnTo>
                    <a:lnTo>
                      <a:pt x="25" y="28"/>
                    </a:lnTo>
                    <a:lnTo>
                      <a:pt x="37" y="16"/>
                    </a:lnTo>
                    <a:lnTo>
                      <a:pt x="52" y="8"/>
                    </a:lnTo>
                    <a:lnTo>
                      <a:pt x="68" y="2"/>
                    </a:lnTo>
                    <a:lnTo>
                      <a:pt x="85" y="0"/>
                    </a:lnTo>
                    <a:lnTo>
                      <a:pt x="102" y="2"/>
                    </a:lnTo>
                    <a:lnTo>
                      <a:pt x="117" y="7"/>
                    </a:lnTo>
                    <a:lnTo>
                      <a:pt x="132" y="15"/>
                    </a:lnTo>
                    <a:lnTo>
                      <a:pt x="145" y="25"/>
                    </a:lnTo>
                    <a:lnTo>
                      <a:pt x="156" y="38"/>
                    </a:lnTo>
                    <a:lnTo>
                      <a:pt x="164" y="53"/>
                    </a:lnTo>
                    <a:lnTo>
                      <a:pt x="169" y="70"/>
                    </a:lnTo>
                    <a:lnTo>
                      <a:pt x="171" y="88"/>
                    </a:lnTo>
                    <a:lnTo>
                      <a:pt x="169" y="105"/>
                    </a:lnTo>
                    <a:lnTo>
                      <a:pt x="165" y="121"/>
                    </a:lnTo>
                    <a:lnTo>
                      <a:pt x="158" y="136"/>
                    </a:lnTo>
                    <a:lnTo>
                      <a:pt x="148" y="150"/>
                    </a:lnTo>
                    <a:lnTo>
                      <a:pt x="136" y="162"/>
                    </a:lnTo>
                    <a:lnTo>
                      <a:pt x="120" y="170"/>
                    </a:lnTo>
                    <a:close/>
                  </a:path>
                </a:pathLst>
              </a:custGeom>
              <a:solidFill>
                <a:srgbClr val="F5AE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09" name="Freeform 502">
                <a:extLst>
                  <a:ext uri="{FF2B5EF4-FFF2-40B4-BE49-F238E27FC236}">
                    <a16:creationId xmlns:a16="http://schemas.microsoft.com/office/drawing/2014/main" id="{59F4E768-EA49-4780-A44B-93C0EB0D6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7" cy="9"/>
              </a:xfrm>
              <a:custGeom>
                <a:avLst/>
                <a:gdLst>
                  <a:gd name="T0" fmla="*/ 0 w 152"/>
                  <a:gd name="T1" fmla="*/ 0 h 156"/>
                  <a:gd name="T2" fmla="*/ 0 w 152"/>
                  <a:gd name="T3" fmla="*/ 0 h 156"/>
                  <a:gd name="T4" fmla="*/ 0 w 152"/>
                  <a:gd name="T5" fmla="*/ 0 h 156"/>
                  <a:gd name="T6" fmla="*/ 0 w 152"/>
                  <a:gd name="T7" fmla="*/ 0 h 156"/>
                  <a:gd name="T8" fmla="*/ 0 w 152"/>
                  <a:gd name="T9" fmla="*/ 0 h 156"/>
                  <a:gd name="T10" fmla="*/ 0 w 152"/>
                  <a:gd name="T11" fmla="*/ 0 h 156"/>
                  <a:gd name="T12" fmla="*/ 0 w 152"/>
                  <a:gd name="T13" fmla="*/ 0 h 156"/>
                  <a:gd name="T14" fmla="*/ 0 w 152"/>
                  <a:gd name="T15" fmla="*/ 0 h 156"/>
                  <a:gd name="T16" fmla="*/ 0 w 152"/>
                  <a:gd name="T17" fmla="*/ 0 h 156"/>
                  <a:gd name="T18" fmla="*/ 0 w 152"/>
                  <a:gd name="T19" fmla="*/ 0 h 156"/>
                  <a:gd name="T20" fmla="*/ 0 w 152"/>
                  <a:gd name="T21" fmla="*/ 0 h 156"/>
                  <a:gd name="T22" fmla="*/ 0 w 152"/>
                  <a:gd name="T23" fmla="*/ 0 h 156"/>
                  <a:gd name="T24" fmla="*/ 0 w 152"/>
                  <a:gd name="T25" fmla="*/ 0 h 156"/>
                  <a:gd name="T26" fmla="*/ 0 w 152"/>
                  <a:gd name="T27" fmla="*/ 0 h 156"/>
                  <a:gd name="T28" fmla="*/ 0 w 152"/>
                  <a:gd name="T29" fmla="*/ 0 h 156"/>
                  <a:gd name="T30" fmla="*/ 0 w 152"/>
                  <a:gd name="T31" fmla="*/ 0 h 156"/>
                  <a:gd name="T32" fmla="*/ 0 w 152"/>
                  <a:gd name="T33" fmla="*/ 0 h 156"/>
                  <a:gd name="T34" fmla="*/ 0 w 152"/>
                  <a:gd name="T35" fmla="*/ 0 h 156"/>
                  <a:gd name="T36" fmla="*/ 0 w 152"/>
                  <a:gd name="T37" fmla="*/ 0 h 156"/>
                  <a:gd name="T38" fmla="*/ 0 w 152"/>
                  <a:gd name="T39" fmla="*/ 0 h 156"/>
                  <a:gd name="T40" fmla="*/ 0 w 152"/>
                  <a:gd name="T41" fmla="*/ 0 h 156"/>
                  <a:gd name="T42" fmla="*/ 0 w 152"/>
                  <a:gd name="T43" fmla="*/ 0 h 156"/>
                  <a:gd name="T44" fmla="*/ 0 w 152"/>
                  <a:gd name="T45" fmla="*/ 0 h 156"/>
                  <a:gd name="T46" fmla="*/ 0 w 152"/>
                  <a:gd name="T47" fmla="*/ 0 h 156"/>
                  <a:gd name="T48" fmla="*/ 0 w 152"/>
                  <a:gd name="T49" fmla="*/ 0 h 156"/>
                  <a:gd name="T50" fmla="*/ 0 w 152"/>
                  <a:gd name="T51" fmla="*/ 0 h 156"/>
                  <a:gd name="T52" fmla="*/ 0 w 152"/>
                  <a:gd name="T53" fmla="*/ 0 h 156"/>
                  <a:gd name="T54" fmla="*/ 0 w 152"/>
                  <a:gd name="T55" fmla="*/ 0 h 156"/>
                  <a:gd name="T56" fmla="*/ 0 w 152"/>
                  <a:gd name="T57" fmla="*/ 0 h 156"/>
                  <a:gd name="T58" fmla="*/ 0 w 152"/>
                  <a:gd name="T59" fmla="*/ 0 h 156"/>
                  <a:gd name="T60" fmla="*/ 0 w 152"/>
                  <a:gd name="T61" fmla="*/ 0 h 156"/>
                  <a:gd name="T62" fmla="*/ 0 w 152"/>
                  <a:gd name="T63" fmla="*/ 0 h 156"/>
                  <a:gd name="T64" fmla="*/ 0 w 152"/>
                  <a:gd name="T65" fmla="*/ 0 h 1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52"/>
                  <a:gd name="T100" fmla="*/ 0 h 156"/>
                  <a:gd name="T101" fmla="*/ 152 w 152"/>
                  <a:gd name="T102" fmla="*/ 156 h 1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52" h="156">
                    <a:moveTo>
                      <a:pt x="106" y="149"/>
                    </a:moveTo>
                    <a:lnTo>
                      <a:pt x="92" y="155"/>
                    </a:lnTo>
                    <a:lnTo>
                      <a:pt x="77" y="156"/>
                    </a:lnTo>
                    <a:lnTo>
                      <a:pt x="63" y="155"/>
                    </a:lnTo>
                    <a:lnTo>
                      <a:pt x="48" y="150"/>
                    </a:lnTo>
                    <a:lnTo>
                      <a:pt x="35" y="143"/>
                    </a:lnTo>
                    <a:lnTo>
                      <a:pt x="24" y="133"/>
                    </a:lnTo>
                    <a:lnTo>
                      <a:pt x="14" y="122"/>
                    </a:lnTo>
                    <a:lnTo>
                      <a:pt x="6" y="108"/>
                    </a:lnTo>
                    <a:lnTo>
                      <a:pt x="2" y="93"/>
                    </a:lnTo>
                    <a:lnTo>
                      <a:pt x="0" y="78"/>
                    </a:lnTo>
                    <a:lnTo>
                      <a:pt x="1" y="63"/>
                    </a:lnTo>
                    <a:lnTo>
                      <a:pt x="5" y="49"/>
                    </a:lnTo>
                    <a:lnTo>
                      <a:pt x="13" y="35"/>
                    </a:lnTo>
                    <a:lnTo>
                      <a:pt x="22" y="24"/>
                    </a:lnTo>
                    <a:lnTo>
                      <a:pt x="33" y="13"/>
                    </a:lnTo>
                    <a:lnTo>
                      <a:pt x="46" y="6"/>
                    </a:lnTo>
                    <a:lnTo>
                      <a:pt x="60" y="1"/>
                    </a:lnTo>
                    <a:lnTo>
                      <a:pt x="76" y="0"/>
                    </a:lnTo>
                    <a:lnTo>
                      <a:pt x="90" y="1"/>
                    </a:lnTo>
                    <a:lnTo>
                      <a:pt x="104" y="5"/>
                    </a:lnTo>
                    <a:lnTo>
                      <a:pt x="118" y="11"/>
                    </a:lnTo>
                    <a:lnTo>
                      <a:pt x="129" y="21"/>
                    </a:lnTo>
                    <a:lnTo>
                      <a:pt x="139" y="32"/>
                    </a:lnTo>
                    <a:lnTo>
                      <a:pt x="146" y="46"/>
                    </a:lnTo>
                    <a:lnTo>
                      <a:pt x="150" y="61"/>
                    </a:lnTo>
                    <a:lnTo>
                      <a:pt x="152" y="77"/>
                    </a:lnTo>
                    <a:lnTo>
                      <a:pt x="151" y="91"/>
                    </a:lnTo>
                    <a:lnTo>
                      <a:pt x="147" y="106"/>
                    </a:lnTo>
                    <a:lnTo>
                      <a:pt x="140" y="120"/>
                    </a:lnTo>
                    <a:lnTo>
                      <a:pt x="131" y="131"/>
                    </a:lnTo>
                    <a:lnTo>
                      <a:pt x="120" y="142"/>
                    </a:lnTo>
                    <a:lnTo>
                      <a:pt x="106" y="149"/>
                    </a:lnTo>
                    <a:close/>
                  </a:path>
                </a:pathLst>
              </a:custGeom>
              <a:solidFill>
                <a:srgbClr val="FAD6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0" name="Freeform 503">
                <a:extLst>
                  <a:ext uri="{FF2B5EF4-FFF2-40B4-BE49-F238E27FC236}">
                    <a16:creationId xmlns:a16="http://schemas.microsoft.com/office/drawing/2014/main" id="{528089FC-B2C2-4EC5-BCE8-DA4A44CC4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6" cy="8"/>
              </a:xfrm>
              <a:custGeom>
                <a:avLst/>
                <a:gdLst>
                  <a:gd name="T0" fmla="*/ 0 w 134"/>
                  <a:gd name="T1" fmla="*/ 0 h 139"/>
                  <a:gd name="T2" fmla="*/ 0 w 134"/>
                  <a:gd name="T3" fmla="*/ 0 h 139"/>
                  <a:gd name="T4" fmla="*/ 0 w 134"/>
                  <a:gd name="T5" fmla="*/ 0 h 139"/>
                  <a:gd name="T6" fmla="*/ 0 w 134"/>
                  <a:gd name="T7" fmla="*/ 0 h 139"/>
                  <a:gd name="T8" fmla="*/ 0 w 134"/>
                  <a:gd name="T9" fmla="*/ 0 h 139"/>
                  <a:gd name="T10" fmla="*/ 0 w 134"/>
                  <a:gd name="T11" fmla="*/ 0 h 139"/>
                  <a:gd name="T12" fmla="*/ 0 w 134"/>
                  <a:gd name="T13" fmla="*/ 0 h 139"/>
                  <a:gd name="T14" fmla="*/ 0 w 134"/>
                  <a:gd name="T15" fmla="*/ 0 h 139"/>
                  <a:gd name="T16" fmla="*/ 0 w 134"/>
                  <a:gd name="T17" fmla="*/ 0 h 139"/>
                  <a:gd name="T18" fmla="*/ 0 w 134"/>
                  <a:gd name="T19" fmla="*/ 0 h 139"/>
                  <a:gd name="T20" fmla="*/ 0 w 134"/>
                  <a:gd name="T21" fmla="*/ 0 h 139"/>
                  <a:gd name="T22" fmla="*/ 0 w 134"/>
                  <a:gd name="T23" fmla="*/ 0 h 139"/>
                  <a:gd name="T24" fmla="*/ 0 w 134"/>
                  <a:gd name="T25" fmla="*/ 0 h 139"/>
                  <a:gd name="T26" fmla="*/ 0 w 134"/>
                  <a:gd name="T27" fmla="*/ 0 h 139"/>
                  <a:gd name="T28" fmla="*/ 0 w 134"/>
                  <a:gd name="T29" fmla="*/ 0 h 139"/>
                  <a:gd name="T30" fmla="*/ 0 w 134"/>
                  <a:gd name="T31" fmla="*/ 0 h 139"/>
                  <a:gd name="T32" fmla="*/ 0 w 134"/>
                  <a:gd name="T33" fmla="*/ 0 h 139"/>
                  <a:gd name="T34" fmla="*/ 0 w 134"/>
                  <a:gd name="T35" fmla="*/ 0 h 139"/>
                  <a:gd name="T36" fmla="*/ 0 w 134"/>
                  <a:gd name="T37" fmla="*/ 0 h 139"/>
                  <a:gd name="T38" fmla="*/ 0 w 134"/>
                  <a:gd name="T39" fmla="*/ 0 h 139"/>
                  <a:gd name="T40" fmla="*/ 0 w 134"/>
                  <a:gd name="T41" fmla="*/ 0 h 139"/>
                  <a:gd name="T42" fmla="*/ 0 w 134"/>
                  <a:gd name="T43" fmla="*/ 0 h 139"/>
                  <a:gd name="T44" fmla="*/ 0 w 134"/>
                  <a:gd name="T45" fmla="*/ 0 h 139"/>
                  <a:gd name="T46" fmla="*/ 0 w 134"/>
                  <a:gd name="T47" fmla="*/ 0 h 139"/>
                  <a:gd name="T48" fmla="*/ 0 w 134"/>
                  <a:gd name="T49" fmla="*/ 0 h 139"/>
                  <a:gd name="T50" fmla="*/ 0 w 134"/>
                  <a:gd name="T51" fmla="*/ 0 h 139"/>
                  <a:gd name="T52" fmla="*/ 0 w 134"/>
                  <a:gd name="T53" fmla="*/ 0 h 139"/>
                  <a:gd name="T54" fmla="*/ 0 w 134"/>
                  <a:gd name="T55" fmla="*/ 0 h 139"/>
                  <a:gd name="T56" fmla="*/ 0 w 134"/>
                  <a:gd name="T57" fmla="*/ 0 h 139"/>
                  <a:gd name="T58" fmla="*/ 0 w 134"/>
                  <a:gd name="T59" fmla="*/ 0 h 139"/>
                  <a:gd name="T60" fmla="*/ 0 w 134"/>
                  <a:gd name="T61" fmla="*/ 0 h 139"/>
                  <a:gd name="T62" fmla="*/ 0 w 134"/>
                  <a:gd name="T63" fmla="*/ 0 h 139"/>
                  <a:gd name="T64" fmla="*/ 0 w 134"/>
                  <a:gd name="T65" fmla="*/ 0 h 13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139"/>
                  <a:gd name="T101" fmla="*/ 134 w 134"/>
                  <a:gd name="T102" fmla="*/ 139 h 13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139">
                    <a:moveTo>
                      <a:pt x="93" y="134"/>
                    </a:moveTo>
                    <a:lnTo>
                      <a:pt x="80" y="138"/>
                    </a:lnTo>
                    <a:lnTo>
                      <a:pt x="68" y="139"/>
                    </a:lnTo>
                    <a:lnTo>
                      <a:pt x="55" y="138"/>
                    </a:lnTo>
                    <a:lnTo>
                      <a:pt x="42" y="134"/>
                    </a:lnTo>
                    <a:lnTo>
                      <a:pt x="30" y="127"/>
                    </a:lnTo>
                    <a:lnTo>
                      <a:pt x="20" y="119"/>
                    </a:lnTo>
                    <a:lnTo>
                      <a:pt x="12" y="109"/>
                    </a:lnTo>
                    <a:lnTo>
                      <a:pt x="5" y="97"/>
                    </a:lnTo>
                    <a:lnTo>
                      <a:pt x="1" y="83"/>
                    </a:lnTo>
                    <a:lnTo>
                      <a:pt x="0" y="70"/>
                    </a:lnTo>
                    <a:lnTo>
                      <a:pt x="1" y="57"/>
                    </a:lnTo>
                    <a:lnTo>
                      <a:pt x="5" y="44"/>
                    </a:lnTo>
                    <a:lnTo>
                      <a:pt x="11" y="31"/>
                    </a:lnTo>
                    <a:lnTo>
                      <a:pt x="19" y="21"/>
                    </a:lnTo>
                    <a:lnTo>
                      <a:pt x="28" y="12"/>
                    </a:lnTo>
                    <a:lnTo>
                      <a:pt x="40" y="5"/>
                    </a:lnTo>
                    <a:lnTo>
                      <a:pt x="54" y="1"/>
                    </a:lnTo>
                    <a:lnTo>
                      <a:pt x="66" y="0"/>
                    </a:lnTo>
                    <a:lnTo>
                      <a:pt x="79" y="1"/>
                    </a:lnTo>
                    <a:lnTo>
                      <a:pt x="91" y="5"/>
                    </a:lnTo>
                    <a:lnTo>
                      <a:pt x="104" y="11"/>
                    </a:lnTo>
                    <a:lnTo>
                      <a:pt x="114" y="20"/>
                    </a:lnTo>
                    <a:lnTo>
                      <a:pt x="122" y="29"/>
                    </a:lnTo>
                    <a:lnTo>
                      <a:pt x="129" y="42"/>
                    </a:lnTo>
                    <a:lnTo>
                      <a:pt x="133" y="56"/>
                    </a:lnTo>
                    <a:lnTo>
                      <a:pt x="134" y="68"/>
                    </a:lnTo>
                    <a:lnTo>
                      <a:pt x="133" y="82"/>
                    </a:lnTo>
                    <a:lnTo>
                      <a:pt x="129" y="95"/>
                    </a:lnTo>
                    <a:lnTo>
                      <a:pt x="123" y="107"/>
                    </a:lnTo>
                    <a:lnTo>
                      <a:pt x="115" y="118"/>
                    </a:lnTo>
                    <a:lnTo>
                      <a:pt x="106" y="126"/>
                    </a:lnTo>
                    <a:lnTo>
                      <a:pt x="93" y="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1" name="Freeform 504">
                <a:extLst>
                  <a:ext uri="{FF2B5EF4-FFF2-40B4-BE49-F238E27FC236}">
                    <a16:creationId xmlns:a16="http://schemas.microsoft.com/office/drawing/2014/main" id="{0E69D637-503A-4500-AC17-C652ED9A0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93"/>
                <a:ext cx="1" cy="2"/>
              </a:xfrm>
              <a:custGeom>
                <a:avLst/>
                <a:gdLst>
                  <a:gd name="T0" fmla="*/ 0 w 21"/>
                  <a:gd name="T1" fmla="*/ 0 h 33"/>
                  <a:gd name="T2" fmla="*/ 0 w 21"/>
                  <a:gd name="T3" fmla="*/ 0 h 33"/>
                  <a:gd name="T4" fmla="*/ 0 w 21"/>
                  <a:gd name="T5" fmla="*/ 0 h 33"/>
                  <a:gd name="T6" fmla="*/ 0 w 21"/>
                  <a:gd name="T7" fmla="*/ 0 h 33"/>
                  <a:gd name="T8" fmla="*/ 0 w 21"/>
                  <a:gd name="T9" fmla="*/ 0 h 33"/>
                  <a:gd name="T10" fmla="*/ 0 w 21"/>
                  <a:gd name="T11" fmla="*/ 0 h 33"/>
                  <a:gd name="T12" fmla="*/ 0 w 21"/>
                  <a:gd name="T13" fmla="*/ 0 h 33"/>
                  <a:gd name="T14" fmla="*/ 0 w 21"/>
                  <a:gd name="T15" fmla="*/ 0 h 33"/>
                  <a:gd name="T16" fmla="*/ 0 w 21"/>
                  <a:gd name="T17" fmla="*/ 0 h 33"/>
                  <a:gd name="T18" fmla="*/ 0 w 21"/>
                  <a:gd name="T19" fmla="*/ 0 h 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33"/>
                  <a:gd name="T32" fmla="*/ 21 w 21"/>
                  <a:gd name="T33" fmla="*/ 33 h 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33">
                    <a:moveTo>
                      <a:pt x="11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5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8" y="31"/>
                    </a:lnTo>
                    <a:lnTo>
                      <a:pt x="14" y="33"/>
                    </a:lnTo>
                    <a:lnTo>
                      <a:pt x="21" y="3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2" name="Freeform 505">
                <a:extLst>
                  <a:ext uri="{FF2B5EF4-FFF2-40B4-BE49-F238E27FC236}">
                    <a16:creationId xmlns:a16="http://schemas.microsoft.com/office/drawing/2014/main" id="{C7AB726F-CA24-46B1-85DC-03C48C21D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89"/>
                <a:ext cx="3" cy="6"/>
              </a:xfrm>
              <a:custGeom>
                <a:avLst/>
                <a:gdLst>
                  <a:gd name="T0" fmla="*/ 0 w 75"/>
                  <a:gd name="T1" fmla="*/ 0 h 98"/>
                  <a:gd name="T2" fmla="*/ 0 w 75"/>
                  <a:gd name="T3" fmla="*/ 0 h 98"/>
                  <a:gd name="T4" fmla="*/ 0 w 75"/>
                  <a:gd name="T5" fmla="*/ 0 h 98"/>
                  <a:gd name="T6" fmla="*/ 0 w 75"/>
                  <a:gd name="T7" fmla="*/ 0 h 98"/>
                  <a:gd name="T8" fmla="*/ 0 w 75"/>
                  <a:gd name="T9" fmla="*/ 0 h 98"/>
                  <a:gd name="T10" fmla="*/ 0 w 75"/>
                  <a:gd name="T11" fmla="*/ 0 h 98"/>
                  <a:gd name="T12" fmla="*/ 0 w 75"/>
                  <a:gd name="T13" fmla="*/ 0 h 98"/>
                  <a:gd name="T14" fmla="*/ 0 w 75"/>
                  <a:gd name="T15" fmla="*/ 0 h 98"/>
                  <a:gd name="T16" fmla="*/ 0 w 75"/>
                  <a:gd name="T17" fmla="*/ 0 h 98"/>
                  <a:gd name="T18" fmla="*/ 0 w 75"/>
                  <a:gd name="T19" fmla="*/ 0 h 98"/>
                  <a:gd name="T20" fmla="*/ 0 w 75"/>
                  <a:gd name="T21" fmla="*/ 0 h 98"/>
                  <a:gd name="T22" fmla="*/ 0 w 75"/>
                  <a:gd name="T23" fmla="*/ 0 h 98"/>
                  <a:gd name="T24" fmla="*/ 0 w 75"/>
                  <a:gd name="T25" fmla="*/ 0 h 98"/>
                  <a:gd name="T26" fmla="*/ 0 w 75"/>
                  <a:gd name="T27" fmla="*/ 0 h 98"/>
                  <a:gd name="T28" fmla="*/ 0 w 75"/>
                  <a:gd name="T29" fmla="*/ 0 h 98"/>
                  <a:gd name="T30" fmla="*/ 0 w 75"/>
                  <a:gd name="T31" fmla="*/ 0 h 98"/>
                  <a:gd name="T32" fmla="*/ 0 w 75"/>
                  <a:gd name="T33" fmla="*/ 0 h 98"/>
                  <a:gd name="T34" fmla="*/ 0 w 75"/>
                  <a:gd name="T35" fmla="*/ 0 h 98"/>
                  <a:gd name="T36" fmla="*/ 0 w 75"/>
                  <a:gd name="T37" fmla="*/ 0 h 98"/>
                  <a:gd name="T38" fmla="*/ 0 w 75"/>
                  <a:gd name="T39" fmla="*/ 0 h 98"/>
                  <a:gd name="T40" fmla="*/ 0 w 75"/>
                  <a:gd name="T41" fmla="*/ 0 h 9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"/>
                  <a:gd name="T64" fmla="*/ 0 h 98"/>
                  <a:gd name="T65" fmla="*/ 75 w 75"/>
                  <a:gd name="T66" fmla="*/ 98 h 9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" h="98">
                    <a:moveTo>
                      <a:pt x="40" y="12"/>
                    </a:moveTo>
                    <a:lnTo>
                      <a:pt x="40" y="12"/>
                    </a:lnTo>
                    <a:lnTo>
                      <a:pt x="42" y="22"/>
                    </a:lnTo>
                    <a:lnTo>
                      <a:pt x="42" y="28"/>
                    </a:lnTo>
                    <a:lnTo>
                      <a:pt x="39" y="37"/>
                    </a:lnTo>
                    <a:lnTo>
                      <a:pt x="36" y="43"/>
                    </a:lnTo>
                    <a:lnTo>
                      <a:pt x="30" y="49"/>
                    </a:lnTo>
                    <a:lnTo>
                      <a:pt x="21" y="57"/>
                    </a:lnTo>
                    <a:lnTo>
                      <a:pt x="12" y="61"/>
                    </a:lnTo>
                    <a:lnTo>
                      <a:pt x="0" y="66"/>
                    </a:lnTo>
                    <a:lnTo>
                      <a:pt x="10" y="98"/>
                    </a:lnTo>
                    <a:lnTo>
                      <a:pt x="26" y="92"/>
                    </a:lnTo>
                    <a:lnTo>
                      <a:pt x="39" y="84"/>
                    </a:lnTo>
                    <a:lnTo>
                      <a:pt x="50" y="74"/>
                    </a:lnTo>
                    <a:lnTo>
                      <a:pt x="63" y="64"/>
                    </a:lnTo>
                    <a:lnTo>
                      <a:pt x="70" y="49"/>
                    </a:lnTo>
                    <a:lnTo>
                      <a:pt x="75" y="34"/>
                    </a:lnTo>
                    <a:lnTo>
                      <a:pt x="75" y="18"/>
                    </a:lnTo>
                    <a:lnTo>
                      <a:pt x="71" y="0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3" name="Freeform 506">
                <a:extLst>
                  <a:ext uri="{FF2B5EF4-FFF2-40B4-BE49-F238E27FC236}">
                    <a16:creationId xmlns:a16="http://schemas.microsoft.com/office/drawing/2014/main" id="{E54E2092-4826-418A-AF09-84B0AEB684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" y="3087"/>
                <a:ext cx="5" cy="3"/>
              </a:xfrm>
              <a:custGeom>
                <a:avLst/>
                <a:gdLst>
                  <a:gd name="T0" fmla="*/ 0 w 108"/>
                  <a:gd name="T1" fmla="*/ 0 h 49"/>
                  <a:gd name="T2" fmla="*/ 0 w 108"/>
                  <a:gd name="T3" fmla="*/ 0 h 49"/>
                  <a:gd name="T4" fmla="*/ 0 w 108"/>
                  <a:gd name="T5" fmla="*/ 0 h 49"/>
                  <a:gd name="T6" fmla="*/ 0 w 108"/>
                  <a:gd name="T7" fmla="*/ 0 h 49"/>
                  <a:gd name="T8" fmla="*/ 0 w 108"/>
                  <a:gd name="T9" fmla="*/ 0 h 49"/>
                  <a:gd name="T10" fmla="*/ 0 w 108"/>
                  <a:gd name="T11" fmla="*/ 0 h 49"/>
                  <a:gd name="T12" fmla="*/ 0 w 108"/>
                  <a:gd name="T13" fmla="*/ 0 h 49"/>
                  <a:gd name="T14" fmla="*/ 0 w 108"/>
                  <a:gd name="T15" fmla="*/ 0 h 49"/>
                  <a:gd name="T16" fmla="*/ 0 w 108"/>
                  <a:gd name="T17" fmla="*/ 0 h 49"/>
                  <a:gd name="T18" fmla="*/ 0 w 108"/>
                  <a:gd name="T19" fmla="*/ 0 h 49"/>
                  <a:gd name="T20" fmla="*/ 0 w 108"/>
                  <a:gd name="T21" fmla="*/ 0 h 49"/>
                  <a:gd name="T22" fmla="*/ 0 w 108"/>
                  <a:gd name="T23" fmla="*/ 0 h 49"/>
                  <a:gd name="T24" fmla="*/ 0 w 108"/>
                  <a:gd name="T25" fmla="*/ 0 h 49"/>
                  <a:gd name="T26" fmla="*/ 0 w 108"/>
                  <a:gd name="T27" fmla="*/ 0 h 49"/>
                  <a:gd name="T28" fmla="*/ 0 w 108"/>
                  <a:gd name="T29" fmla="*/ 0 h 49"/>
                  <a:gd name="T30" fmla="*/ 0 w 108"/>
                  <a:gd name="T31" fmla="*/ 0 h 49"/>
                  <a:gd name="T32" fmla="*/ 0 w 108"/>
                  <a:gd name="T33" fmla="*/ 0 h 49"/>
                  <a:gd name="T34" fmla="*/ 0 w 108"/>
                  <a:gd name="T35" fmla="*/ 0 h 49"/>
                  <a:gd name="T36" fmla="*/ 0 w 108"/>
                  <a:gd name="T37" fmla="*/ 0 h 49"/>
                  <a:gd name="T38" fmla="*/ 0 w 108"/>
                  <a:gd name="T39" fmla="*/ 0 h 49"/>
                  <a:gd name="T40" fmla="*/ 0 w 108"/>
                  <a:gd name="T41" fmla="*/ 0 h 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49"/>
                  <a:gd name="T65" fmla="*/ 108 w 108"/>
                  <a:gd name="T66" fmla="*/ 49 h 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49">
                    <a:moveTo>
                      <a:pt x="20" y="43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6" y="35"/>
                    </a:lnTo>
                    <a:lnTo>
                      <a:pt x="45" y="33"/>
                    </a:lnTo>
                    <a:lnTo>
                      <a:pt x="54" y="33"/>
                    </a:lnTo>
                    <a:lnTo>
                      <a:pt x="62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49"/>
                    </a:lnTo>
                    <a:lnTo>
                      <a:pt x="108" y="37"/>
                    </a:lnTo>
                    <a:lnTo>
                      <a:pt x="98" y="22"/>
                    </a:lnTo>
                    <a:lnTo>
                      <a:pt x="87" y="11"/>
                    </a:lnTo>
                    <a:lnTo>
                      <a:pt x="74" y="4"/>
                    </a:lnTo>
                    <a:lnTo>
                      <a:pt x="58" y="0"/>
                    </a:lnTo>
                    <a:lnTo>
                      <a:pt x="41" y="0"/>
                    </a:lnTo>
                    <a:lnTo>
                      <a:pt x="26" y="3"/>
                    </a:lnTo>
                    <a:lnTo>
                      <a:pt x="13" y="9"/>
                    </a:lnTo>
                    <a:lnTo>
                      <a:pt x="0" y="18"/>
                    </a:lnTo>
                    <a:lnTo>
                      <a:pt x="20" y="43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4" name="Freeform 507">
                <a:extLst>
                  <a:ext uri="{FF2B5EF4-FFF2-40B4-BE49-F238E27FC236}">
                    <a16:creationId xmlns:a16="http://schemas.microsoft.com/office/drawing/2014/main" id="{5C74D46B-DBF6-4EC1-AB42-2201C9975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8"/>
                <a:ext cx="3" cy="8"/>
              </a:xfrm>
              <a:custGeom>
                <a:avLst/>
                <a:gdLst>
                  <a:gd name="T0" fmla="*/ 0 w 69"/>
                  <a:gd name="T1" fmla="*/ 0 h 129"/>
                  <a:gd name="T2" fmla="*/ 0 w 69"/>
                  <a:gd name="T3" fmla="*/ 0 h 129"/>
                  <a:gd name="T4" fmla="*/ 0 w 69"/>
                  <a:gd name="T5" fmla="*/ 0 h 129"/>
                  <a:gd name="T6" fmla="*/ 0 w 69"/>
                  <a:gd name="T7" fmla="*/ 0 h 129"/>
                  <a:gd name="T8" fmla="*/ 0 w 69"/>
                  <a:gd name="T9" fmla="*/ 0 h 129"/>
                  <a:gd name="T10" fmla="*/ 0 w 69"/>
                  <a:gd name="T11" fmla="*/ 0 h 129"/>
                  <a:gd name="T12" fmla="*/ 0 w 69"/>
                  <a:gd name="T13" fmla="*/ 0 h 129"/>
                  <a:gd name="T14" fmla="*/ 0 w 69"/>
                  <a:gd name="T15" fmla="*/ 0 h 129"/>
                  <a:gd name="T16" fmla="*/ 0 w 69"/>
                  <a:gd name="T17" fmla="*/ 0 h 129"/>
                  <a:gd name="T18" fmla="*/ 0 w 69"/>
                  <a:gd name="T19" fmla="*/ 0 h 129"/>
                  <a:gd name="T20" fmla="*/ 0 w 69"/>
                  <a:gd name="T21" fmla="*/ 0 h 129"/>
                  <a:gd name="T22" fmla="*/ 0 w 69"/>
                  <a:gd name="T23" fmla="*/ 0 h 129"/>
                  <a:gd name="T24" fmla="*/ 0 w 69"/>
                  <a:gd name="T25" fmla="*/ 0 h 129"/>
                  <a:gd name="T26" fmla="*/ 0 w 69"/>
                  <a:gd name="T27" fmla="*/ 0 h 129"/>
                  <a:gd name="T28" fmla="*/ 0 w 69"/>
                  <a:gd name="T29" fmla="*/ 0 h 129"/>
                  <a:gd name="T30" fmla="*/ 0 w 69"/>
                  <a:gd name="T31" fmla="*/ 0 h 129"/>
                  <a:gd name="T32" fmla="*/ 0 w 69"/>
                  <a:gd name="T33" fmla="*/ 0 h 129"/>
                  <a:gd name="T34" fmla="*/ 0 w 69"/>
                  <a:gd name="T35" fmla="*/ 0 h 129"/>
                  <a:gd name="T36" fmla="*/ 0 w 69"/>
                  <a:gd name="T37" fmla="*/ 0 h 129"/>
                  <a:gd name="T38" fmla="*/ 0 w 69"/>
                  <a:gd name="T39" fmla="*/ 0 h 129"/>
                  <a:gd name="T40" fmla="*/ 0 w 69"/>
                  <a:gd name="T41" fmla="*/ 0 h 1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29"/>
                  <a:gd name="T65" fmla="*/ 69 w 69"/>
                  <a:gd name="T66" fmla="*/ 129 h 1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29">
                    <a:moveTo>
                      <a:pt x="36" y="112"/>
                    </a:moveTo>
                    <a:lnTo>
                      <a:pt x="36" y="112"/>
                    </a:lnTo>
                    <a:lnTo>
                      <a:pt x="33" y="104"/>
                    </a:lnTo>
                    <a:lnTo>
                      <a:pt x="32" y="95"/>
                    </a:lnTo>
                    <a:lnTo>
                      <a:pt x="34" y="83"/>
                    </a:lnTo>
                    <a:lnTo>
                      <a:pt x="38" y="69"/>
                    </a:lnTo>
                    <a:lnTo>
                      <a:pt x="44" y="58"/>
                    </a:lnTo>
                    <a:lnTo>
                      <a:pt x="52" y="44"/>
                    </a:lnTo>
                    <a:lnTo>
                      <a:pt x="60" y="34"/>
                    </a:lnTo>
                    <a:lnTo>
                      <a:pt x="69" y="25"/>
                    </a:lnTo>
                    <a:lnTo>
                      <a:pt x="49" y="0"/>
                    </a:lnTo>
                    <a:lnTo>
                      <a:pt x="37" y="11"/>
                    </a:lnTo>
                    <a:lnTo>
                      <a:pt x="25" y="25"/>
                    </a:lnTo>
                    <a:lnTo>
                      <a:pt x="16" y="41"/>
                    </a:lnTo>
                    <a:lnTo>
                      <a:pt x="8" y="57"/>
                    </a:lnTo>
                    <a:lnTo>
                      <a:pt x="2" y="75"/>
                    </a:lnTo>
                    <a:lnTo>
                      <a:pt x="0" y="92"/>
                    </a:lnTo>
                    <a:lnTo>
                      <a:pt x="1" y="112"/>
                    </a:lnTo>
                    <a:lnTo>
                      <a:pt x="8" y="129"/>
                    </a:lnTo>
                    <a:lnTo>
                      <a:pt x="36" y="1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5" name="Freeform 508">
                <a:extLst>
                  <a:ext uri="{FF2B5EF4-FFF2-40B4-BE49-F238E27FC236}">
                    <a16:creationId xmlns:a16="http://schemas.microsoft.com/office/drawing/2014/main" id="{B7BD67FB-FCA0-482E-A9B0-F86F220D8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95"/>
                <a:ext cx="5" cy="4"/>
              </a:xfrm>
              <a:custGeom>
                <a:avLst/>
                <a:gdLst>
                  <a:gd name="T0" fmla="*/ 0 w 117"/>
                  <a:gd name="T1" fmla="*/ 0 h 76"/>
                  <a:gd name="T2" fmla="*/ 0 w 117"/>
                  <a:gd name="T3" fmla="*/ 0 h 76"/>
                  <a:gd name="T4" fmla="*/ 0 w 117"/>
                  <a:gd name="T5" fmla="*/ 0 h 76"/>
                  <a:gd name="T6" fmla="*/ 0 w 117"/>
                  <a:gd name="T7" fmla="*/ 0 h 76"/>
                  <a:gd name="T8" fmla="*/ 0 w 117"/>
                  <a:gd name="T9" fmla="*/ 0 h 76"/>
                  <a:gd name="T10" fmla="*/ 0 w 117"/>
                  <a:gd name="T11" fmla="*/ 0 h 76"/>
                  <a:gd name="T12" fmla="*/ 0 w 117"/>
                  <a:gd name="T13" fmla="*/ 0 h 76"/>
                  <a:gd name="T14" fmla="*/ 0 w 117"/>
                  <a:gd name="T15" fmla="*/ 0 h 76"/>
                  <a:gd name="T16" fmla="*/ 0 w 117"/>
                  <a:gd name="T17" fmla="*/ 0 h 76"/>
                  <a:gd name="T18" fmla="*/ 0 w 117"/>
                  <a:gd name="T19" fmla="*/ 0 h 76"/>
                  <a:gd name="T20" fmla="*/ 0 w 117"/>
                  <a:gd name="T21" fmla="*/ 0 h 76"/>
                  <a:gd name="T22" fmla="*/ 0 w 117"/>
                  <a:gd name="T23" fmla="*/ 0 h 76"/>
                  <a:gd name="T24" fmla="*/ 0 w 117"/>
                  <a:gd name="T25" fmla="*/ 0 h 76"/>
                  <a:gd name="T26" fmla="*/ 0 w 117"/>
                  <a:gd name="T27" fmla="*/ 0 h 76"/>
                  <a:gd name="T28" fmla="*/ 0 w 117"/>
                  <a:gd name="T29" fmla="*/ 0 h 76"/>
                  <a:gd name="T30" fmla="*/ 0 w 117"/>
                  <a:gd name="T31" fmla="*/ 0 h 76"/>
                  <a:gd name="T32" fmla="*/ 0 w 117"/>
                  <a:gd name="T33" fmla="*/ 0 h 76"/>
                  <a:gd name="T34" fmla="*/ 0 w 117"/>
                  <a:gd name="T35" fmla="*/ 0 h 76"/>
                  <a:gd name="T36" fmla="*/ 0 w 117"/>
                  <a:gd name="T37" fmla="*/ 0 h 76"/>
                  <a:gd name="T38" fmla="*/ 0 w 117"/>
                  <a:gd name="T39" fmla="*/ 0 h 76"/>
                  <a:gd name="T40" fmla="*/ 0 w 117"/>
                  <a:gd name="T41" fmla="*/ 0 h 7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6"/>
                  <a:gd name="T65" fmla="*/ 117 w 117"/>
                  <a:gd name="T66" fmla="*/ 76 h 7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6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3" y="43"/>
                    </a:lnTo>
                    <a:lnTo>
                      <a:pt x="72" y="42"/>
                    </a:lnTo>
                    <a:lnTo>
                      <a:pt x="62" y="36"/>
                    </a:lnTo>
                    <a:lnTo>
                      <a:pt x="52" y="30"/>
                    </a:lnTo>
                    <a:lnTo>
                      <a:pt x="43" y="23"/>
                    </a:lnTo>
                    <a:lnTo>
                      <a:pt x="35" y="13"/>
                    </a:lnTo>
                    <a:lnTo>
                      <a:pt x="28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0" y="46"/>
                    </a:lnTo>
                    <a:lnTo>
                      <a:pt x="33" y="57"/>
                    </a:lnTo>
                    <a:lnTo>
                      <a:pt x="48" y="66"/>
                    </a:lnTo>
                    <a:lnTo>
                      <a:pt x="64" y="73"/>
                    </a:lnTo>
                    <a:lnTo>
                      <a:pt x="81" y="76"/>
                    </a:lnTo>
                    <a:lnTo>
                      <a:pt x="98" y="76"/>
                    </a:lnTo>
                    <a:lnTo>
                      <a:pt x="117" y="72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6" name="Freeform 509">
                <a:extLst>
                  <a:ext uri="{FF2B5EF4-FFF2-40B4-BE49-F238E27FC236}">
                    <a16:creationId xmlns:a16="http://schemas.microsoft.com/office/drawing/2014/main" id="{6BA6DEA8-D93F-40CA-88BF-EF110764E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4"/>
                <a:ext cx="4" cy="5"/>
              </a:xfrm>
              <a:custGeom>
                <a:avLst/>
                <a:gdLst>
                  <a:gd name="T0" fmla="*/ 0 w 79"/>
                  <a:gd name="T1" fmla="*/ 0 h 88"/>
                  <a:gd name="T2" fmla="*/ 0 w 79"/>
                  <a:gd name="T3" fmla="*/ 0 h 88"/>
                  <a:gd name="T4" fmla="*/ 0 w 79"/>
                  <a:gd name="T5" fmla="*/ 0 h 88"/>
                  <a:gd name="T6" fmla="*/ 0 w 79"/>
                  <a:gd name="T7" fmla="*/ 0 h 88"/>
                  <a:gd name="T8" fmla="*/ 0 w 79"/>
                  <a:gd name="T9" fmla="*/ 0 h 88"/>
                  <a:gd name="T10" fmla="*/ 0 w 79"/>
                  <a:gd name="T11" fmla="*/ 0 h 88"/>
                  <a:gd name="T12" fmla="*/ 0 w 79"/>
                  <a:gd name="T13" fmla="*/ 0 h 88"/>
                  <a:gd name="T14" fmla="*/ 0 w 79"/>
                  <a:gd name="T15" fmla="*/ 0 h 88"/>
                  <a:gd name="T16" fmla="*/ 0 w 79"/>
                  <a:gd name="T17" fmla="*/ 0 h 88"/>
                  <a:gd name="T18" fmla="*/ 0 w 79"/>
                  <a:gd name="T19" fmla="*/ 0 h 88"/>
                  <a:gd name="T20" fmla="*/ 0 w 79"/>
                  <a:gd name="T21" fmla="*/ 0 h 88"/>
                  <a:gd name="T22" fmla="*/ 0 w 79"/>
                  <a:gd name="T23" fmla="*/ 0 h 88"/>
                  <a:gd name="T24" fmla="*/ 0 w 79"/>
                  <a:gd name="T25" fmla="*/ 0 h 88"/>
                  <a:gd name="T26" fmla="*/ 0 w 79"/>
                  <a:gd name="T27" fmla="*/ 0 h 88"/>
                  <a:gd name="T28" fmla="*/ 0 w 79"/>
                  <a:gd name="T29" fmla="*/ 0 h 88"/>
                  <a:gd name="T30" fmla="*/ 0 w 79"/>
                  <a:gd name="T31" fmla="*/ 0 h 88"/>
                  <a:gd name="T32" fmla="*/ 0 w 79"/>
                  <a:gd name="T33" fmla="*/ 0 h 88"/>
                  <a:gd name="T34" fmla="*/ 0 w 79"/>
                  <a:gd name="T35" fmla="*/ 0 h 88"/>
                  <a:gd name="T36" fmla="*/ 0 w 79"/>
                  <a:gd name="T37" fmla="*/ 0 h 8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9"/>
                  <a:gd name="T58" fmla="*/ 0 h 88"/>
                  <a:gd name="T59" fmla="*/ 79 w 79"/>
                  <a:gd name="T60" fmla="*/ 88 h 8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9" h="88">
                    <a:moveTo>
                      <a:pt x="47" y="0"/>
                    </a:moveTo>
                    <a:lnTo>
                      <a:pt x="46" y="8"/>
                    </a:lnTo>
                    <a:lnTo>
                      <a:pt x="44" y="15"/>
                    </a:lnTo>
                    <a:lnTo>
                      <a:pt x="40" y="24"/>
                    </a:lnTo>
                    <a:lnTo>
                      <a:pt x="35" y="32"/>
                    </a:lnTo>
                    <a:lnTo>
                      <a:pt x="28" y="39"/>
                    </a:lnTo>
                    <a:lnTo>
                      <a:pt x="21" y="46"/>
                    </a:lnTo>
                    <a:lnTo>
                      <a:pt x="11" y="52"/>
                    </a:lnTo>
                    <a:lnTo>
                      <a:pt x="0" y="57"/>
                    </a:lnTo>
                    <a:lnTo>
                      <a:pt x="10" y="88"/>
                    </a:lnTo>
                    <a:lnTo>
                      <a:pt x="25" y="82"/>
                    </a:lnTo>
                    <a:lnTo>
                      <a:pt x="40" y="73"/>
                    </a:lnTo>
                    <a:lnTo>
                      <a:pt x="51" y="64"/>
                    </a:lnTo>
                    <a:lnTo>
                      <a:pt x="61" y="53"/>
                    </a:lnTo>
                    <a:lnTo>
                      <a:pt x="68" y="41"/>
                    </a:lnTo>
                    <a:lnTo>
                      <a:pt x="74" y="28"/>
                    </a:lnTo>
                    <a:lnTo>
                      <a:pt x="78" y="14"/>
                    </a:lnTo>
                    <a:lnTo>
                      <a:pt x="79" y="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7" name="Freeform 510">
                <a:extLst>
                  <a:ext uri="{FF2B5EF4-FFF2-40B4-BE49-F238E27FC236}">
                    <a16:creationId xmlns:a16="http://schemas.microsoft.com/office/drawing/2014/main" id="{6F1AE4AA-B66D-4EED-A329-2CA696E44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7"/>
                <a:ext cx="2" cy="1"/>
              </a:xfrm>
              <a:custGeom>
                <a:avLst/>
                <a:gdLst>
                  <a:gd name="T0" fmla="*/ 0 w 32"/>
                  <a:gd name="T1" fmla="*/ 0 h 18"/>
                  <a:gd name="T2" fmla="*/ 0 w 32"/>
                  <a:gd name="T3" fmla="*/ 0 h 18"/>
                  <a:gd name="T4" fmla="*/ 0 w 32"/>
                  <a:gd name="T5" fmla="*/ 0 h 18"/>
                  <a:gd name="T6" fmla="*/ 0 w 32"/>
                  <a:gd name="T7" fmla="*/ 0 h 18"/>
                  <a:gd name="T8" fmla="*/ 0 w 32"/>
                  <a:gd name="T9" fmla="*/ 0 h 18"/>
                  <a:gd name="T10" fmla="*/ 0 w 32"/>
                  <a:gd name="T11" fmla="*/ 0 h 18"/>
                  <a:gd name="T12" fmla="*/ 0 w 32"/>
                  <a:gd name="T13" fmla="*/ 0 h 18"/>
                  <a:gd name="T14" fmla="*/ 0 w 32"/>
                  <a:gd name="T15" fmla="*/ 0 h 18"/>
                  <a:gd name="T16" fmla="*/ 0 w 32"/>
                  <a:gd name="T17" fmla="*/ 0 h 18"/>
                  <a:gd name="T18" fmla="*/ 0 w 32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8"/>
                  <a:gd name="T32" fmla="*/ 32 w 32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8">
                    <a:moveTo>
                      <a:pt x="32" y="18"/>
                    </a:moveTo>
                    <a:lnTo>
                      <a:pt x="31" y="11"/>
                    </a:lnTo>
                    <a:lnTo>
                      <a:pt x="28" y="6"/>
                    </a:lnTo>
                    <a:lnTo>
                      <a:pt x="23" y="3"/>
                    </a:lnTo>
                    <a:lnTo>
                      <a:pt x="17" y="0"/>
                    </a:lnTo>
                    <a:lnTo>
                      <a:pt x="11" y="2"/>
                    </a:lnTo>
                    <a:lnTo>
                      <a:pt x="6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32" y="18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8" name="Freeform 511">
                <a:extLst>
                  <a:ext uri="{FF2B5EF4-FFF2-40B4-BE49-F238E27FC236}">
                    <a16:creationId xmlns:a16="http://schemas.microsoft.com/office/drawing/2014/main" id="{FE01754D-2EB4-4B09-AF78-5B42D8F91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4"/>
                <a:ext cx="1" cy="2"/>
              </a:xfrm>
              <a:custGeom>
                <a:avLst/>
                <a:gdLst>
                  <a:gd name="T0" fmla="*/ 0 w 22"/>
                  <a:gd name="T1" fmla="*/ 0 h 32"/>
                  <a:gd name="T2" fmla="*/ 0 w 22"/>
                  <a:gd name="T3" fmla="*/ 0 h 32"/>
                  <a:gd name="T4" fmla="*/ 0 w 22"/>
                  <a:gd name="T5" fmla="*/ 0 h 32"/>
                  <a:gd name="T6" fmla="*/ 0 w 22"/>
                  <a:gd name="T7" fmla="*/ 0 h 32"/>
                  <a:gd name="T8" fmla="*/ 0 w 22"/>
                  <a:gd name="T9" fmla="*/ 0 h 32"/>
                  <a:gd name="T10" fmla="*/ 0 w 22"/>
                  <a:gd name="T11" fmla="*/ 0 h 32"/>
                  <a:gd name="T12" fmla="*/ 0 w 22"/>
                  <a:gd name="T13" fmla="*/ 0 h 32"/>
                  <a:gd name="T14" fmla="*/ 0 w 22"/>
                  <a:gd name="T15" fmla="*/ 0 h 32"/>
                  <a:gd name="T16" fmla="*/ 0 w 22"/>
                  <a:gd name="T17" fmla="*/ 0 h 32"/>
                  <a:gd name="T18" fmla="*/ 0 w 22"/>
                  <a:gd name="T19" fmla="*/ 0 h 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"/>
                  <a:gd name="T31" fmla="*/ 0 h 32"/>
                  <a:gd name="T32" fmla="*/ 22 w 22"/>
                  <a:gd name="T33" fmla="*/ 32 h 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" h="32">
                    <a:moveTo>
                      <a:pt x="12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9" y="30"/>
                    </a:lnTo>
                    <a:lnTo>
                      <a:pt x="15" y="32"/>
                    </a:lnTo>
                    <a:lnTo>
                      <a:pt x="22" y="3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19" name="Freeform 512">
                <a:extLst>
                  <a:ext uri="{FF2B5EF4-FFF2-40B4-BE49-F238E27FC236}">
                    <a16:creationId xmlns:a16="http://schemas.microsoft.com/office/drawing/2014/main" id="{38518EB6-C327-4676-AC39-A38780ABDB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0"/>
                <a:ext cx="4" cy="5"/>
              </a:xfrm>
              <a:custGeom>
                <a:avLst/>
                <a:gdLst>
                  <a:gd name="T0" fmla="*/ 0 w 74"/>
                  <a:gd name="T1" fmla="*/ 0 h 99"/>
                  <a:gd name="T2" fmla="*/ 0 w 74"/>
                  <a:gd name="T3" fmla="*/ 0 h 99"/>
                  <a:gd name="T4" fmla="*/ 0 w 74"/>
                  <a:gd name="T5" fmla="*/ 0 h 99"/>
                  <a:gd name="T6" fmla="*/ 0 w 74"/>
                  <a:gd name="T7" fmla="*/ 0 h 99"/>
                  <a:gd name="T8" fmla="*/ 0 w 74"/>
                  <a:gd name="T9" fmla="*/ 0 h 99"/>
                  <a:gd name="T10" fmla="*/ 0 w 74"/>
                  <a:gd name="T11" fmla="*/ 0 h 99"/>
                  <a:gd name="T12" fmla="*/ 0 w 74"/>
                  <a:gd name="T13" fmla="*/ 0 h 99"/>
                  <a:gd name="T14" fmla="*/ 0 w 74"/>
                  <a:gd name="T15" fmla="*/ 0 h 99"/>
                  <a:gd name="T16" fmla="*/ 0 w 74"/>
                  <a:gd name="T17" fmla="*/ 0 h 99"/>
                  <a:gd name="T18" fmla="*/ 0 w 74"/>
                  <a:gd name="T19" fmla="*/ 0 h 99"/>
                  <a:gd name="T20" fmla="*/ 0 w 74"/>
                  <a:gd name="T21" fmla="*/ 0 h 99"/>
                  <a:gd name="T22" fmla="*/ 0 w 74"/>
                  <a:gd name="T23" fmla="*/ 0 h 99"/>
                  <a:gd name="T24" fmla="*/ 0 w 74"/>
                  <a:gd name="T25" fmla="*/ 0 h 99"/>
                  <a:gd name="T26" fmla="*/ 0 w 74"/>
                  <a:gd name="T27" fmla="*/ 0 h 99"/>
                  <a:gd name="T28" fmla="*/ 0 w 74"/>
                  <a:gd name="T29" fmla="*/ 0 h 99"/>
                  <a:gd name="T30" fmla="*/ 0 w 74"/>
                  <a:gd name="T31" fmla="*/ 0 h 99"/>
                  <a:gd name="T32" fmla="*/ 0 w 74"/>
                  <a:gd name="T33" fmla="*/ 0 h 99"/>
                  <a:gd name="T34" fmla="*/ 0 w 74"/>
                  <a:gd name="T35" fmla="*/ 0 h 99"/>
                  <a:gd name="T36" fmla="*/ 0 w 74"/>
                  <a:gd name="T37" fmla="*/ 0 h 99"/>
                  <a:gd name="T38" fmla="*/ 0 w 74"/>
                  <a:gd name="T39" fmla="*/ 0 h 99"/>
                  <a:gd name="T40" fmla="*/ 0 w 74"/>
                  <a:gd name="T41" fmla="*/ 0 h 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4"/>
                  <a:gd name="T64" fmla="*/ 0 h 99"/>
                  <a:gd name="T65" fmla="*/ 74 w 74"/>
                  <a:gd name="T66" fmla="*/ 99 h 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4" h="99">
                    <a:moveTo>
                      <a:pt x="39" y="13"/>
                    </a:moveTo>
                    <a:lnTo>
                      <a:pt x="39" y="12"/>
                    </a:lnTo>
                    <a:lnTo>
                      <a:pt x="41" y="22"/>
                    </a:lnTo>
                    <a:lnTo>
                      <a:pt x="41" y="30"/>
                    </a:lnTo>
                    <a:lnTo>
                      <a:pt x="38" y="37"/>
                    </a:lnTo>
                    <a:lnTo>
                      <a:pt x="35" y="43"/>
                    </a:lnTo>
                    <a:lnTo>
                      <a:pt x="28" y="51"/>
                    </a:lnTo>
                    <a:lnTo>
                      <a:pt x="20" y="58"/>
                    </a:lnTo>
                    <a:lnTo>
                      <a:pt x="11" y="62"/>
                    </a:lnTo>
                    <a:lnTo>
                      <a:pt x="0" y="68"/>
                    </a:lnTo>
                    <a:lnTo>
                      <a:pt x="10" y="99"/>
                    </a:lnTo>
                    <a:lnTo>
                      <a:pt x="25" y="94"/>
                    </a:lnTo>
                    <a:lnTo>
                      <a:pt x="38" y="85"/>
                    </a:lnTo>
                    <a:lnTo>
                      <a:pt x="51" y="76"/>
                    </a:lnTo>
                    <a:lnTo>
                      <a:pt x="62" y="64"/>
                    </a:lnTo>
                    <a:lnTo>
                      <a:pt x="69" y="52"/>
                    </a:lnTo>
                    <a:lnTo>
                      <a:pt x="74" y="36"/>
                    </a:lnTo>
                    <a:lnTo>
                      <a:pt x="74" y="18"/>
                    </a:lnTo>
                    <a:lnTo>
                      <a:pt x="70" y="1"/>
                    </a:lnTo>
                    <a:lnTo>
                      <a:pt x="70" y="0"/>
                    </a:lnTo>
                    <a:lnTo>
                      <a:pt x="39" y="13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0" name="Freeform 513">
                <a:extLst>
                  <a:ext uri="{FF2B5EF4-FFF2-40B4-BE49-F238E27FC236}">
                    <a16:creationId xmlns:a16="http://schemas.microsoft.com/office/drawing/2014/main" id="{3D8C2062-3F3B-4EF6-B544-11D9B7C56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88"/>
                <a:ext cx="5" cy="3"/>
              </a:xfrm>
              <a:custGeom>
                <a:avLst/>
                <a:gdLst>
                  <a:gd name="T0" fmla="*/ 0 w 108"/>
                  <a:gd name="T1" fmla="*/ 0 h 50"/>
                  <a:gd name="T2" fmla="*/ 0 w 108"/>
                  <a:gd name="T3" fmla="*/ 0 h 50"/>
                  <a:gd name="T4" fmla="*/ 0 w 108"/>
                  <a:gd name="T5" fmla="*/ 0 h 50"/>
                  <a:gd name="T6" fmla="*/ 0 w 108"/>
                  <a:gd name="T7" fmla="*/ 0 h 50"/>
                  <a:gd name="T8" fmla="*/ 0 w 108"/>
                  <a:gd name="T9" fmla="*/ 0 h 50"/>
                  <a:gd name="T10" fmla="*/ 0 w 108"/>
                  <a:gd name="T11" fmla="*/ 0 h 50"/>
                  <a:gd name="T12" fmla="*/ 0 w 108"/>
                  <a:gd name="T13" fmla="*/ 0 h 50"/>
                  <a:gd name="T14" fmla="*/ 0 w 108"/>
                  <a:gd name="T15" fmla="*/ 0 h 50"/>
                  <a:gd name="T16" fmla="*/ 0 w 108"/>
                  <a:gd name="T17" fmla="*/ 0 h 50"/>
                  <a:gd name="T18" fmla="*/ 0 w 108"/>
                  <a:gd name="T19" fmla="*/ 0 h 50"/>
                  <a:gd name="T20" fmla="*/ 0 w 108"/>
                  <a:gd name="T21" fmla="*/ 0 h 50"/>
                  <a:gd name="T22" fmla="*/ 0 w 108"/>
                  <a:gd name="T23" fmla="*/ 0 h 50"/>
                  <a:gd name="T24" fmla="*/ 0 w 108"/>
                  <a:gd name="T25" fmla="*/ 0 h 50"/>
                  <a:gd name="T26" fmla="*/ 0 w 108"/>
                  <a:gd name="T27" fmla="*/ 0 h 50"/>
                  <a:gd name="T28" fmla="*/ 0 w 108"/>
                  <a:gd name="T29" fmla="*/ 0 h 50"/>
                  <a:gd name="T30" fmla="*/ 0 w 108"/>
                  <a:gd name="T31" fmla="*/ 0 h 50"/>
                  <a:gd name="T32" fmla="*/ 0 w 108"/>
                  <a:gd name="T33" fmla="*/ 0 h 50"/>
                  <a:gd name="T34" fmla="*/ 0 w 108"/>
                  <a:gd name="T35" fmla="*/ 0 h 50"/>
                  <a:gd name="T36" fmla="*/ 0 w 108"/>
                  <a:gd name="T37" fmla="*/ 0 h 50"/>
                  <a:gd name="T38" fmla="*/ 0 w 108"/>
                  <a:gd name="T39" fmla="*/ 0 h 50"/>
                  <a:gd name="T40" fmla="*/ 0 w 108"/>
                  <a:gd name="T41" fmla="*/ 0 h 5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50"/>
                  <a:gd name="T65" fmla="*/ 108 w 108"/>
                  <a:gd name="T66" fmla="*/ 50 h 5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50">
                    <a:moveTo>
                      <a:pt x="20" y="44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7" y="35"/>
                    </a:lnTo>
                    <a:lnTo>
                      <a:pt x="46" y="34"/>
                    </a:lnTo>
                    <a:lnTo>
                      <a:pt x="54" y="34"/>
                    </a:lnTo>
                    <a:lnTo>
                      <a:pt x="61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50"/>
                    </a:lnTo>
                    <a:lnTo>
                      <a:pt x="108" y="37"/>
                    </a:lnTo>
                    <a:lnTo>
                      <a:pt x="99" y="22"/>
                    </a:lnTo>
                    <a:lnTo>
                      <a:pt x="88" y="12"/>
                    </a:lnTo>
                    <a:lnTo>
                      <a:pt x="73" y="4"/>
                    </a:lnTo>
                    <a:lnTo>
                      <a:pt x="58" y="0"/>
                    </a:lnTo>
                    <a:lnTo>
                      <a:pt x="42" y="0"/>
                    </a:lnTo>
                    <a:lnTo>
                      <a:pt x="26" y="3"/>
                    </a:lnTo>
                    <a:lnTo>
                      <a:pt x="13" y="10"/>
                    </a:lnTo>
                    <a:lnTo>
                      <a:pt x="0" y="18"/>
                    </a:lnTo>
                    <a:lnTo>
                      <a:pt x="0" y="17"/>
                    </a:lnTo>
                    <a:lnTo>
                      <a:pt x="20" y="4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1" name="Freeform 514">
                <a:extLst>
                  <a:ext uri="{FF2B5EF4-FFF2-40B4-BE49-F238E27FC236}">
                    <a16:creationId xmlns:a16="http://schemas.microsoft.com/office/drawing/2014/main" id="{468A7D52-E649-4311-BEA6-16FB73EF4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9"/>
                <a:ext cx="4" cy="7"/>
              </a:xfrm>
              <a:custGeom>
                <a:avLst/>
                <a:gdLst>
                  <a:gd name="T0" fmla="*/ 0 w 69"/>
                  <a:gd name="T1" fmla="*/ 0 h 131"/>
                  <a:gd name="T2" fmla="*/ 0 w 69"/>
                  <a:gd name="T3" fmla="*/ 0 h 131"/>
                  <a:gd name="T4" fmla="*/ 0 w 69"/>
                  <a:gd name="T5" fmla="*/ 0 h 131"/>
                  <a:gd name="T6" fmla="*/ 0 w 69"/>
                  <a:gd name="T7" fmla="*/ 0 h 131"/>
                  <a:gd name="T8" fmla="*/ 0 w 69"/>
                  <a:gd name="T9" fmla="*/ 0 h 131"/>
                  <a:gd name="T10" fmla="*/ 0 w 69"/>
                  <a:gd name="T11" fmla="*/ 0 h 131"/>
                  <a:gd name="T12" fmla="*/ 0 w 69"/>
                  <a:gd name="T13" fmla="*/ 0 h 131"/>
                  <a:gd name="T14" fmla="*/ 0 w 69"/>
                  <a:gd name="T15" fmla="*/ 0 h 131"/>
                  <a:gd name="T16" fmla="*/ 0 w 69"/>
                  <a:gd name="T17" fmla="*/ 0 h 131"/>
                  <a:gd name="T18" fmla="*/ 0 w 69"/>
                  <a:gd name="T19" fmla="*/ 0 h 131"/>
                  <a:gd name="T20" fmla="*/ 0 w 69"/>
                  <a:gd name="T21" fmla="*/ 0 h 131"/>
                  <a:gd name="T22" fmla="*/ 0 w 69"/>
                  <a:gd name="T23" fmla="*/ 0 h 131"/>
                  <a:gd name="T24" fmla="*/ 0 w 69"/>
                  <a:gd name="T25" fmla="*/ 0 h 131"/>
                  <a:gd name="T26" fmla="*/ 0 w 69"/>
                  <a:gd name="T27" fmla="*/ 0 h 131"/>
                  <a:gd name="T28" fmla="*/ 0 w 69"/>
                  <a:gd name="T29" fmla="*/ 0 h 131"/>
                  <a:gd name="T30" fmla="*/ 0 w 69"/>
                  <a:gd name="T31" fmla="*/ 0 h 131"/>
                  <a:gd name="T32" fmla="*/ 0 w 69"/>
                  <a:gd name="T33" fmla="*/ 0 h 131"/>
                  <a:gd name="T34" fmla="*/ 0 w 69"/>
                  <a:gd name="T35" fmla="*/ 0 h 131"/>
                  <a:gd name="T36" fmla="*/ 0 w 69"/>
                  <a:gd name="T37" fmla="*/ 0 h 131"/>
                  <a:gd name="T38" fmla="*/ 0 w 69"/>
                  <a:gd name="T39" fmla="*/ 0 h 131"/>
                  <a:gd name="T40" fmla="*/ 0 w 69"/>
                  <a:gd name="T41" fmla="*/ 0 h 13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31"/>
                  <a:gd name="T65" fmla="*/ 69 w 69"/>
                  <a:gd name="T66" fmla="*/ 131 h 13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31">
                    <a:moveTo>
                      <a:pt x="36" y="114"/>
                    </a:moveTo>
                    <a:lnTo>
                      <a:pt x="36" y="114"/>
                    </a:lnTo>
                    <a:lnTo>
                      <a:pt x="34" y="107"/>
                    </a:lnTo>
                    <a:lnTo>
                      <a:pt x="33" y="96"/>
                    </a:lnTo>
                    <a:lnTo>
                      <a:pt x="35" y="83"/>
                    </a:lnTo>
                    <a:lnTo>
                      <a:pt x="38" y="72"/>
                    </a:lnTo>
                    <a:lnTo>
                      <a:pt x="44" y="59"/>
                    </a:lnTo>
                    <a:lnTo>
                      <a:pt x="52" y="46"/>
                    </a:lnTo>
                    <a:lnTo>
                      <a:pt x="60" y="36"/>
                    </a:lnTo>
                    <a:lnTo>
                      <a:pt x="69" y="27"/>
                    </a:lnTo>
                    <a:lnTo>
                      <a:pt x="49" y="0"/>
                    </a:lnTo>
                    <a:lnTo>
                      <a:pt x="36" y="13"/>
                    </a:lnTo>
                    <a:lnTo>
                      <a:pt x="25" y="27"/>
                    </a:lnTo>
                    <a:lnTo>
                      <a:pt x="15" y="42"/>
                    </a:lnTo>
                    <a:lnTo>
                      <a:pt x="7" y="59"/>
                    </a:lnTo>
                    <a:lnTo>
                      <a:pt x="2" y="77"/>
                    </a:lnTo>
                    <a:lnTo>
                      <a:pt x="0" y="94"/>
                    </a:lnTo>
                    <a:lnTo>
                      <a:pt x="1" y="113"/>
                    </a:lnTo>
                    <a:lnTo>
                      <a:pt x="7" y="131"/>
                    </a:lnTo>
                    <a:lnTo>
                      <a:pt x="36" y="11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2" name="Freeform 515">
                <a:extLst>
                  <a:ext uri="{FF2B5EF4-FFF2-40B4-BE49-F238E27FC236}">
                    <a16:creationId xmlns:a16="http://schemas.microsoft.com/office/drawing/2014/main" id="{78EA7F15-CC01-4A58-8B63-0ED7EB9C2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095"/>
                <a:ext cx="5" cy="4"/>
              </a:xfrm>
              <a:custGeom>
                <a:avLst/>
                <a:gdLst>
                  <a:gd name="T0" fmla="*/ 0 w 117"/>
                  <a:gd name="T1" fmla="*/ 0 h 77"/>
                  <a:gd name="T2" fmla="*/ 0 w 117"/>
                  <a:gd name="T3" fmla="*/ 0 h 77"/>
                  <a:gd name="T4" fmla="*/ 0 w 117"/>
                  <a:gd name="T5" fmla="*/ 0 h 77"/>
                  <a:gd name="T6" fmla="*/ 0 w 117"/>
                  <a:gd name="T7" fmla="*/ 0 h 77"/>
                  <a:gd name="T8" fmla="*/ 0 w 117"/>
                  <a:gd name="T9" fmla="*/ 0 h 77"/>
                  <a:gd name="T10" fmla="*/ 0 w 117"/>
                  <a:gd name="T11" fmla="*/ 0 h 77"/>
                  <a:gd name="T12" fmla="*/ 0 w 117"/>
                  <a:gd name="T13" fmla="*/ 0 h 77"/>
                  <a:gd name="T14" fmla="*/ 0 w 117"/>
                  <a:gd name="T15" fmla="*/ 0 h 77"/>
                  <a:gd name="T16" fmla="*/ 0 w 117"/>
                  <a:gd name="T17" fmla="*/ 0 h 77"/>
                  <a:gd name="T18" fmla="*/ 0 w 117"/>
                  <a:gd name="T19" fmla="*/ 0 h 77"/>
                  <a:gd name="T20" fmla="*/ 0 w 117"/>
                  <a:gd name="T21" fmla="*/ 0 h 77"/>
                  <a:gd name="T22" fmla="*/ 0 w 117"/>
                  <a:gd name="T23" fmla="*/ 0 h 77"/>
                  <a:gd name="T24" fmla="*/ 0 w 117"/>
                  <a:gd name="T25" fmla="*/ 0 h 77"/>
                  <a:gd name="T26" fmla="*/ 0 w 117"/>
                  <a:gd name="T27" fmla="*/ 0 h 77"/>
                  <a:gd name="T28" fmla="*/ 0 w 117"/>
                  <a:gd name="T29" fmla="*/ 0 h 77"/>
                  <a:gd name="T30" fmla="*/ 0 w 117"/>
                  <a:gd name="T31" fmla="*/ 0 h 77"/>
                  <a:gd name="T32" fmla="*/ 0 w 117"/>
                  <a:gd name="T33" fmla="*/ 0 h 77"/>
                  <a:gd name="T34" fmla="*/ 0 w 117"/>
                  <a:gd name="T35" fmla="*/ 0 h 77"/>
                  <a:gd name="T36" fmla="*/ 0 w 117"/>
                  <a:gd name="T37" fmla="*/ 0 h 77"/>
                  <a:gd name="T38" fmla="*/ 0 w 117"/>
                  <a:gd name="T39" fmla="*/ 0 h 77"/>
                  <a:gd name="T40" fmla="*/ 0 w 117"/>
                  <a:gd name="T41" fmla="*/ 0 h 7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7"/>
                  <a:gd name="T65" fmla="*/ 117 w 117"/>
                  <a:gd name="T66" fmla="*/ 77 h 7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7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5" y="43"/>
                    </a:lnTo>
                    <a:lnTo>
                      <a:pt x="75" y="41"/>
                    </a:lnTo>
                    <a:lnTo>
                      <a:pt x="63" y="37"/>
                    </a:lnTo>
                    <a:lnTo>
                      <a:pt x="54" y="29"/>
                    </a:lnTo>
                    <a:lnTo>
                      <a:pt x="44" y="22"/>
                    </a:lnTo>
                    <a:lnTo>
                      <a:pt x="36" y="13"/>
                    </a:lnTo>
                    <a:lnTo>
                      <a:pt x="29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1" y="45"/>
                    </a:lnTo>
                    <a:lnTo>
                      <a:pt x="34" y="57"/>
                    </a:lnTo>
                    <a:lnTo>
                      <a:pt x="49" y="66"/>
                    </a:lnTo>
                    <a:lnTo>
                      <a:pt x="64" y="73"/>
                    </a:lnTo>
                    <a:lnTo>
                      <a:pt x="81" y="77"/>
                    </a:lnTo>
                    <a:lnTo>
                      <a:pt x="98" y="77"/>
                    </a:lnTo>
                    <a:lnTo>
                      <a:pt x="117" y="73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3" name="Freeform 516">
                <a:extLst>
                  <a:ext uri="{FF2B5EF4-FFF2-40B4-BE49-F238E27FC236}">
                    <a16:creationId xmlns:a16="http://schemas.microsoft.com/office/drawing/2014/main" id="{A07A7CF3-7EDD-4555-ACCA-D8B29A915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3094"/>
                <a:ext cx="3" cy="5"/>
              </a:xfrm>
              <a:custGeom>
                <a:avLst/>
                <a:gdLst>
                  <a:gd name="T0" fmla="*/ 0 w 81"/>
                  <a:gd name="T1" fmla="*/ 0 h 90"/>
                  <a:gd name="T2" fmla="*/ 0 w 81"/>
                  <a:gd name="T3" fmla="*/ 0 h 90"/>
                  <a:gd name="T4" fmla="*/ 0 w 81"/>
                  <a:gd name="T5" fmla="*/ 0 h 90"/>
                  <a:gd name="T6" fmla="*/ 0 w 81"/>
                  <a:gd name="T7" fmla="*/ 0 h 90"/>
                  <a:gd name="T8" fmla="*/ 0 w 81"/>
                  <a:gd name="T9" fmla="*/ 0 h 90"/>
                  <a:gd name="T10" fmla="*/ 0 w 81"/>
                  <a:gd name="T11" fmla="*/ 0 h 90"/>
                  <a:gd name="T12" fmla="*/ 0 w 81"/>
                  <a:gd name="T13" fmla="*/ 0 h 90"/>
                  <a:gd name="T14" fmla="*/ 0 w 81"/>
                  <a:gd name="T15" fmla="*/ 0 h 90"/>
                  <a:gd name="T16" fmla="*/ 0 w 81"/>
                  <a:gd name="T17" fmla="*/ 0 h 90"/>
                  <a:gd name="T18" fmla="*/ 0 w 81"/>
                  <a:gd name="T19" fmla="*/ 0 h 90"/>
                  <a:gd name="T20" fmla="*/ 0 w 81"/>
                  <a:gd name="T21" fmla="*/ 0 h 90"/>
                  <a:gd name="T22" fmla="*/ 0 w 81"/>
                  <a:gd name="T23" fmla="*/ 0 h 90"/>
                  <a:gd name="T24" fmla="*/ 0 w 81"/>
                  <a:gd name="T25" fmla="*/ 0 h 90"/>
                  <a:gd name="T26" fmla="*/ 0 w 81"/>
                  <a:gd name="T27" fmla="*/ 0 h 90"/>
                  <a:gd name="T28" fmla="*/ 0 w 81"/>
                  <a:gd name="T29" fmla="*/ 0 h 90"/>
                  <a:gd name="T30" fmla="*/ 0 w 81"/>
                  <a:gd name="T31" fmla="*/ 0 h 90"/>
                  <a:gd name="T32" fmla="*/ 0 w 81"/>
                  <a:gd name="T33" fmla="*/ 0 h 90"/>
                  <a:gd name="T34" fmla="*/ 0 w 81"/>
                  <a:gd name="T35" fmla="*/ 0 h 90"/>
                  <a:gd name="T36" fmla="*/ 0 w 81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90"/>
                  <a:gd name="T59" fmla="*/ 81 w 81"/>
                  <a:gd name="T60" fmla="*/ 90 h 9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90">
                    <a:moveTo>
                      <a:pt x="48" y="0"/>
                    </a:moveTo>
                    <a:lnTo>
                      <a:pt x="47" y="8"/>
                    </a:lnTo>
                    <a:lnTo>
                      <a:pt x="44" y="18"/>
                    </a:lnTo>
                    <a:lnTo>
                      <a:pt x="41" y="26"/>
                    </a:lnTo>
                    <a:lnTo>
                      <a:pt x="36" y="34"/>
                    </a:lnTo>
                    <a:lnTo>
                      <a:pt x="31" y="40"/>
                    </a:lnTo>
                    <a:lnTo>
                      <a:pt x="22" y="47"/>
                    </a:lnTo>
                    <a:lnTo>
                      <a:pt x="12" y="54"/>
                    </a:lnTo>
                    <a:lnTo>
                      <a:pt x="0" y="58"/>
                    </a:lnTo>
                    <a:lnTo>
                      <a:pt x="10" y="90"/>
                    </a:lnTo>
                    <a:lnTo>
                      <a:pt x="27" y="83"/>
                    </a:lnTo>
                    <a:lnTo>
                      <a:pt x="40" y="75"/>
                    </a:lnTo>
                    <a:lnTo>
                      <a:pt x="51" y="65"/>
                    </a:lnTo>
                    <a:lnTo>
                      <a:pt x="62" y="55"/>
                    </a:lnTo>
                    <a:lnTo>
                      <a:pt x="70" y="41"/>
                    </a:lnTo>
                    <a:lnTo>
                      <a:pt x="75" y="28"/>
                    </a:lnTo>
                    <a:lnTo>
                      <a:pt x="78" y="17"/>
                    </a:lnTo>
                    <a:lnTo>
                      <a:pt x="81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4" name="Freeform 517">
                <a:extLst>
                  <a:ext uri="{FF2B5EF4-FFF2-40B4-BE49-F238E27FC236}">
                    <a16:creationId xmlns:a16="http://schemas.microsoft.com/office/drawing/2014/main" id="{78ECF901-B8B8-4D2E-8F2E-EBAA8A09F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7"/>
                <a:ext cx="2" cy="1"/>
              </a:xfrm>
              <a:custGeom>
                <a:avLst/>
                <a:gdLst>
                  <a:gd name="T0" fmla="*/ 0 w 33"/>
                  <a:gd name="T1" fmla="*/ 0 h 19"/>
                  <a:gd name="T2" fmla="*/ 0 w 33"/>
                  <a:gd name="T3" fmla="*/ 0 h 19"/>
                  <a:gd name="T4" fmla="*/ 0 w 33"/>
                  <a:gd name="T5" fmla="*/ 0 h 19"/>
                  <a:gd name="T6" fmla="*/ 0 w 33"/>
                  <a:gd name="T7" fmla="*/ 0 h 19"/>
                  <a:gd name="T8" fmla="*/ 0 w 33"/>
                  <a:gd name="T9" fmla="*/ 0 h 19"/>
                  <a:gd name="T10" fmla="*/ 0 w 33"/>
                  <a:gd name="T11" fmla="*/ 0 h 19"/>
                  <a:gd name="T12" fmla="*/ 0 w 33"/>
                  <a:gd name="T13" fmla="*/ 0 h 19"/>
                  <a:gd name="T14" fmla="*/ 0 w 33"/>
                  <a:gd name="T15" fmla="*/ 0 h 19"/>
                  <a:gd name="T16" fmla="*/ 0 w 33"/>
                  <a:gd name="T17" fmla="*/ 0 h 19"/>
                  <a:gd name="T18" fmla="*/ 0 w 33"/>
                  <a:gd name="T19" fmla="*/ 0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3"/>
                  <a:gd name="T31" fmla="*/ 0 h 19"/>
                  <a:gd name="T32" fmla="*/ 33 w 33"/>
                  <a:gd name="T33" fmla="*/ 19 h 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3" h="19">
                    <a:moveTo>
                      <a:pt x="33" y="19"/>
                    </a:moveTo>
                    <a:lnTo>
                      <a:pt x="32" y="12"/>
                    </a:lnTo>
                    <a:lnTo>
                      <a:pt x="28" y="6"/>
                    </a:lnTo>
                    <a:lnTo>
                      <a:pt x="23" y="2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6" y="3"/>
                    </a:lnTo>
                    <a:lnTo>
                      <a:pt x="2" y="7"/>
                    </a:lnTo>
                    <a:lnTo>
                      <a:pt x="0" y="15"/>
                    </a:lnTo>
                    <a:lnTo>
                      <a:pt x="33" y="19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5" name="Freeform 518">
                <a:extLst>
                  <a:ext uri="{FF2B5EF4-FFF2-40B4-BE49-F238E27FC236}">
                    <a16:creationId xmlns:a16="http://schemas.microsoft.com/office/drawing/2014/main" id="{FD7B711D-846D-4C8E-85BB-960EA797A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" y="3240"/>
                <a:ext cx="1" cy="1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5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6" name="Freeform 519">
                <a:extLst>
                  <a:ext uri="{FF2B5EF4-FFF2-40B4-BE49-F238E27FC236}">
                    <a16:creationId xmlns:a16="http://schemas.microsoft.com/office/drawing/2014/main" id="{2ABE4549-D0A8-4A2F-AD9B-AC362177C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1"/>
                <a:ext cx="10" cy="20"/>
              </a:xfrm>
              <a:custGeom>
                <a:avLst/>
                <a:gdLst>
                  <a:gd name="T0" fmla="*/ 0 w 218"/>
                  <a:gd name="T1" fmla="*/ 0 h 365"/>
                  <a:gd name="T2" fmla="*/ 0 w 218"/>
                  <a:gd name="T3" fmla="*/ 0 h 365"/>
                  <a:gd name="T4" fmla="*/ 0 w 218"/>
                  <a:gd name="T5" fmla="*/ 0 h 365"/>
                  <a:gd name="T6" fmla="*/ 0 w 218"/>
                  <a:gd name="T7" fmla="*/ 0 h 365"/>
                  <a:gd name="T8" fmla="*/ 0 w 218"/>
                  <a:gd name="T9" fmla="*/ 0 h 365"/>
                  <a:gd name="T10" fmla="*/ 0 w 218"/>
                  <a:gd name="T11" fmla="*/ 0 h 365"/>
                  <a:gd name="T12" fmla="*/ 0 w 218"/>
                  <a:gd name="T13" fmla="*/ 0 h 365"/>
                  <a:gd name="T14" fmla="*/ 0 w 218"/>
                  <a:gd name="T15" fmla="*/ 0 h 365"/>
                  <a:gd name="T16" fmla="*/ 0 w 218"/>
                  <a:gd name="T17" fmla="*/ 0 h 365"/>
                  <a:gd name="T18" fmla="*/ 0 w 218"/>
                  <a:gd name="T19" fmla="*/ 0 h 365"/>
                  <a:gd name="T20" fmla="*/ 0 w 218"/>
                  <a:gd name="T21" fmla="*/ 0 h 365"/>
                  <a:gd name="T22" fmla="*/ 0 w 218"/>
                  <a:gd name="T23" fmla="*/ 0 h 365"/>
                  <a:gd name="T24" fmla="*/ 0 w 218"/>
                  <a:gd name="T25" fmla="*/ 0 h 365"/>
                  <a:gd name="T26" fmla="*/ 0 w 218"/>
                  <a:gd name="T27" fmla="*/ 0 h 365"/>
                  <a:gd name="T28" fmla="*/ 0 w 218"/>
                  <a:gd name="T29" fmla="*/ 0 h 365"/>
                  <a:gd name="T30" fmla="*/ 0 w 218"/>
                  <a:gd name="T31" fmla="*/ 0 h 365"/>
                  <a:gd name="T32" fmla="*/ 0 w 218"/>
                  <a:gd name="T33" fmla="*/ 0 h 365"/>
                  <a:gd name="T34" fmla="*/ 0 w 218"/>
                  <a:gd name="T35" fmla="*/ 0 h 365"/>
                  <a:gd name="T36" fmla="*/ 0 w 218"/>
                  <a:gd name="T37" fmla="*/ 0 h 365"/>
                  <a:gd name="T38" fmla="*/ 0 w 218"/>
                  <a:gd name="T39" fmla="*/ 0 h 365"/>
                  <a:gd name="T40" fmla="*/ 0 w 218"/>
                  <a:gd name="T41" fmla="*/ 0 h 365"/>
                  <a:gd name="T42" fmla="*/ 0 w 218"/>
                  <a:gd name="T43" fmla="*/ 0 h 365"/>
                  <a:gd name="T44" fmla="*/ 0 w 218"/>
                  <a:gd name="T45" fmla="*/ 0 h 365"/>
                  <a:gd name="T46" fmla="*/ 0 w 218"/>
                  <a:gd name="T47" fmla="*/ 0 h 365"/>
                  <a:gd name="T48" fmla="*/ 0 w 218"/>
                  <a:gd name="T49" fmla="*/ 0 h 365"/>
                  <a:gd name="T50" fmla="*/ 0 w 218"/>
                  <a:gd name="T51" fmla="*/ 0 h 365"/>
                  <a:gd name="T52" fmla="*/ 0 w 218"/>
                  <a:gd name="T53" fmla="*/ 0 h 365"/>
                  <a:gd name="T54" fmla="*/ 0 w 218"/>
                  <a:gd name="T55" fmla="*/ 0 h 365"/>
                  <a:gd name="T56" fmla="*/ 0 w 218"/>
                  <a:gd name="T57" fmla="*/ 0 h 365"/>
                  <a:gd name="T58" fmla="*/ 0 w 218"/>
                  <a:gd name="T59" fmla="*/ 0 h 365"/>
                  <a:gd name="T60" fmla="*/ 0 w 218"/>
                  <a:gd name="T61" fmla="*/ 0 h 365"/>
                  <a:gd name="T62" fmla="*/ 0 w 218"/>
                  <a:gd name="T63" fmla="*/ 0 h 365"/>
                  <a:gd name="T64" fmla="*/ 0 w 218"/>
                  <a:gd name="T65" fmla="*/ 0 h 365"/>
                  <a:gd name="T66" fmla="*/ 0 w 218"/>
                  <a:gd name="T67" fmla="*/ 0 h 365"/>
                  <a:gd name="T68" fmla="*/ 0 w 218"/>
                  <a:gd name="T69" fmla="*/ 0 h 365"/>
                  <a:gd name="T70" fmla="*/ 0 w 218"/>
                  <a:gd name="T71" fmla="*/ 0 h 365"/>
                  <a:gd name="T72" fmla="*/ 0 w 218"/>
                  <a:gd name="T73" fmla="*/ 0 h 3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18"/>
                  <a:gd name="T112" fmla="*/ 0 h 365"/>
                  <a:gd name="T113" fmla="*/ 218 w 218"/>
                  <a:gd name="T114" fmla="*/ 365 h 3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18" h="365">
                    <a:moveTo>
                      <a:pt x="0" y="0"/>
                    </a:moveTo>
                    <a:lnTo>
                      <a:pt x="0" y="0"/>
                    </a:lnTo>
                    <a:lnTo>
                      <a:pt x="1" y="29"/>
                    </a:lnTo>
                    <a:lnTo>
                      <a:pt x="3" y="56"/>
                    </a:lnTo>
                    <a:lnTo>
                      <a:pt x="8" y="84"/>
                    </a:lnTo>
                    <a:lnTo>
                      <a:pt x="15" y="110"/>
                    </a:lnTo>
                    <a:lnTo>
                      <a:pt x="22" y="135"/>
                    </a:lnTo>
                    <a:lnTo>
                      <a:pt x="31" y="162"/>
                    </a:lnTo>
                    <a:lnTo>
                      <a:pt x="41" y="187"/>
                    </a:lnTo>
                    <a:lnTo>
                      <a:pt x="55" y="211"/>
                    </a:lnTo>
                    <a:lnTo>
                      <a:pt x="68" y="235"/>
                    </a:lnTo>
                    <a:lnTo>
                      <a:pt x="84" y="258"/>
                    </a:lnTo>
                    <a:lnTo>
                      <a:pt x="102" y="278"/>
                    </a:lnTo>
                    <a:lnTo>
                      <a:pt x="119" y="298"/>
                    </a:lnTo>
                    <a:lnTo>
                      <a:pt x="138" y="317"/>
                    </a:lnTo>
                    <a:lnTo>
                      <a:pt x="159" y="335"/>
                    </a:lnTo>
                    <a:lnTo>
                      <a:pt x="180" y="352"/>
                    </a:lnTo>
                    <a:lnTo>
                      <a:pt x="204" y="365"/>
                    </a:lnTo>
                    <a:lnTo>
                      <a:pt x="218" y="340"/>
                    </a:lnTo>
                    <a:lnTo>
                      <a:pt x="196" y="326"/>
                    </a:lnTo>
                    <a:lnTo>
                      <a:pt x="177" y="311"/>
                    </a:lnTo>
                    <a:lnTo>
                      <a:pt x="157" y="296"/>
                    </a:lnTo>
                    <a:lnTo>
                      <a:pt x="139" y="277"/>
                    </a:lnTo>
                    <a:lnTo>
                      <a:pt x="122" y="259"/>
                    </a:lnTo>
                    <a:lnTo>
                      <a:pt x="107" y="239"/>
                    </a:lnTo>
                    <a:lnTo>
                      <a:pt x="92" y="218"/>
                    </a:lnTo>
                    <a:lnTo>
                      <a:pt x="79" y="197"/>
                    </a:lnTo>
                    <a:lnTo>
                      <a:pt x="68" y="174"/>
                    </a:lnTo>
                    <a:lnTo>
                      <a:pt x="58" y="151"/>
                    </a:lnTo>
                    <a:lnTo>
                      <a:pt x="49" y="127"/>
                    </a:lnTo>
                    <a:lnTo>
                      <a:pt x="41" y="102"/>
                    </a:lnTo>
                    <a:lnTo>
                      <a:pt x="36" y="77"/>
                    </a:lnTo>
                    <a:lnTo>
                      <a:pt x="31" y="52"/>
                    </a:lnTo>
                    <a:lnTo>
                      <a:pt x="29" y="27"/>
                    </a:lnTo>
                    <a:lnTo>
                      <a:pt x="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7" name="Freeform 520">
                <a:extLst>
                  <a:ext uri="{FF2B5EF4-FFF2-40B4-BE49-F238E27FC236}">
                    <a16:creationId xmlns:a16="http://schemas.microsoft.com/office/drawing/2014/main" id="{979FC1E7-F24F-495A-95A8-40176EC1A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16"/>
                <a:ext cx="2" cy="5"/>
              </a:xfrm>
              <a:custGeom>
                <a:avLst/>
                <a:gdLst>
                  <a:gd name="T0" fmla="*/ 0 w 37"/>
                  <a:gd name="T1" fmla="*/ 0 h 92"/>
                  <a:gd name="T2" fmla="*/ 0 w 37"/>
                  <a:gd name="T3" fmla="*/ 0 h 92"/>
                  <a:gd name="T4" fmla="*/ 0 w 37"/>
                  <a:gd name="T5" fmla="*/ 0 h 92"/>
                  <a:gd name="T6" fmla="*/ 0 w 37"/>
                  <a:gd name="T7" fmla="*/ 0 h 92"/>
                  <a:gd name="T8" fmla="*/ 0 w 37"/>
                  <a:gd name="T9" fmla="*/ 0 h 92"/>
                  <a:gd name="T10" fmla="*/ 0 w 37"/>
                  <a:gd name="T11" fmla="*/ 0 h 92"/>
                  <a:gd name="T12" fmla="*/ 0 w 37"/>
                  <a:gd name="T13" fmla="*/ 0 h 92"/>
                  <a:gd name="T14" fmla="*/ 0 w 37"/>
                  <a:gd name="T15" fmla="*/ 0 h 92"/>
                  <a:gd name="T16" fmla="*/ 0 w 37"/>
                  <a:gd name="T17" fmla="*/ 0 h 92"/>
                  <a:gd name="T18" fmla="*/ 0 w 37"/>
                  <a:gd name="T19" fmla="*/ 0 h 92"/>
                  <a:gd name="T20" fmla="*/ 0 w 37"/>
                  <a:gd name="T21" fmla="*/ 0 h 92"/>
                  <a:gd name="T22" fmla="*/ 0 w 37"/>
                  <a:gd name="T23" fmla="*/ 0 h 92"/>
                  <a:gd name="T24" fmla="*/ 0 w 37"/>
                  <a:gd name="T25" fmla="*/ 0 h 92"/>
                  <a:gd name="T26" fmla="*/ 0 w 37"/>
                  <a:gd name="T27" fmla="*/ 0 h 92"/>
                  <a:gd name="T28" fmla="*/ 0 w 37"/>
                  <a:gd name="T29" fmla="*/ 0 h 92"/>
                  <a:gd name="T30" fmla="*/ 0 w 37"/>
                  <a:gd name="T31" fmla="*/ 0 h 92"/>
                  <a:gd name="T32" fmla="*/ 0 w 37"/>
                  <a:gd name="T33" fmla="*/ 0 h 92"/>
                  <a:gd name="T34" fmla="*/ 0 w 37"/>
                  <a:gd name="T35" fmla="*/ 0 h 92"/>
                  <a:gd name="T36" fmla="*/ 0 w 37"/>
                  <a:gd name="T37" fmla="*/ 0 h 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7"/>
                  <a:gd name="T58" fmla="*/ 0 h 92"/>
                  <a:gd name="T59" fmla="*/ 37 w 37"/>
                  <a:gd name="T60" fmla="*/ 92 h 9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7" h="92">
                    <a:moveTo>
                      <a:pt x="9" y="0"/>
                    </a:moveTo>
                    <a:lnTo>
                      <a:pt x="7" y="10"/>
                    </a:lnTo>
                    <a:lnTo>
                      <a:pt x="5" y="23"/>
                    </a:lnTo>
                    <a:lnTo>
                      <a:pt x="4" y="33"/>
                    </a:lnTo>
                    <a:lnTo>
                      <a:pt x="2" y="45"/>
                    </a:lnTo>
                    <a:lnTo>
                      <a:pt x="1" y="58"/>
                    </a:lnTo>
                    <a:lnTo>
                      <a:pt x="1" y="69"/>
                    </a:lnTo>
                    <a:lnTo>
                      <a:pt x="0" y="80"/>
                    </a:lnTo>
                    <a:lnTo>
                      <a:pt x="0" y="92"/>
                    </a:lnTo>
                    <a:lnTo>
                      <a:pt x="28" y="92"/>
                    </a:lnTo>
                    <a:lnTo>
                      <a:pt x="28" y="82"/>
                    </a:lnTo>
                    <a:lnTo>
                      <a:pt x="29" y="71"/>
                    </a:lnTo>
                    <a:lnTo>
                      <a:pt x="29" y="60"/>
                    </a:lnTo>
                    <a:lnTo>
                      <a:pt x="30" y="49"/>
                    </a:lnTo>
                    <a:lnTo>
                      <a:pt x="32" y="38"/>
                    </a:lnTo>
                    <a:lnTo>
                      <a:pt x="33" y="27"/>
                    </a:lnTo>
                    <a:lnTo>
                      <a:pt x="35" y="17"/>
                    </a:lnTo>
                    <a:lnTo>
                      <a:pt x="37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8" name="Freeform 521">
                <a:extLst>
                  <a:ext uri="{FF2B5EF4-FFF2-40B4-BE49-F238E27FC236}">
                    <a16:creationId xmlns:a16="http://schemas.microsoft.com/office/drawing/2014/main" id="{3EA5166C-15F4-4710-8ED7-309C507EC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0"/>
                <a:ext cx="1" cy="1"/>
              </a:xfrm>
              <a:custGeom>
                <a:avLst/>
                <a:gdLst>
                  <a:gd name="T0" fmla="*/ 0 w 28"/>
                  <a:gd name="T1" fmla="*/ 0 h 18"/>
                  <a:gd name="T2" fmla="*/ 0 w 28"/>
                  <a:gd name="T3" fmla="*/ 0 h 18"/>
                  <a:gd name="T4" fmla="*/ 0 w 28"/>
                  <a:gd name="T5" fmla="*/ 0 h 18"/>
                  <a:gd name="T6" fmla="*/ 0 w 28"/>
                  <a:gd name="T7" fmla="*/ 0 h 18"/>
                  <a:gd name="T8" fmla="*/ 0 w 28"/>
                  <a:gd name="T9" fmla="*/ 0 h 18"/>
                  <a:gd name="T10" fmla="*/ 0 w 28"/>
                  <a:gd name="T11" fmla="*/ 0 h 18"/>
                  <a:gd name="T12" fmla="*/ 0 w 28"/>
                  <a:gd name="T13" fmla="*/ 0 h 18"/>
                  <a:gd name="T14" fmla="*/ 0 w 28"/>
                  <a:gd name="T15" fmla="*/ 0 h 18"/>
                  <a:gd name="T16" fmla="*/ 0 w 28"/>
                  <a:gd name="T17" fmla="*/ 0 h 18"/>
                  <a:gd name="T18" fmla="*/ 0 w 28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18"/>
                  <a:gd name="T32" fmla="*/ 28 w 28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18">
                    <a:moveTo>
                      <a:pt x="28" y="18"/>
                    </a:moveTo>
                    <a:lnTo>
                      <a:pt x="28" y="11"/>
                    </a:lnTo>
                    <a:lnTo>
                      <a:pt x="26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8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29" name="Freeform 522">
                <a:extLst>
                  <a:ext uri="{FF2B5EF4-FFF2-40B4-BE49-F238E27FC236}">
                    <a16:creationId xmlns:a16="http://schemas.microsoft.com/office/drawing/2014/main" id="{14867460-B5A7-4236-B791-2F973260B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233"/>
                <a:ext cx="1" cy="2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4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0" name="Freeform 523">
                <a:extLst>
                  <a:ext uri="{FF2B5EF4-FFF2-40B4-BE49-F238E27FC236}">
                    <a16:creationId xmlns:a16="http://schemas.microsoft.com/office/drawing/2014/main" id="{2DC4D9B4-81E1-47C0-AB8C-0F3739711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5" cy="11"/>
              </a:xfrm>
              <a:custGeom>
                <a:avLst/>
                <a:gdLst>
                  <a:gd name="T0" fmla="*/ 0 w 115"/>
                  <a:gd name="T1" fmla="*/ 0 h 181"/>
                  <a:gd name="T2" fmla="*/ 0 w 115"/>
                  <a:gd name="T3" fmla="*/ 0 h 181"/>
                  <a:gd name="T4" fmla="*/ 0 w 115"/>
                  <a:gd name="T5" fmla="*/ 0 h 181"/>
                  <a:gd name="T6" fmla="*/ 0 w 115"/>
                  <a:gd name="T7" fmla="*/ 0 h 181"/>
                  <a:gd name="T8" fmla="*/ 0 w 115"/>
                  <a:gd name="T9" fmla="*/ 0 h 181"/>
                  <a:gd name="T10" fmla="*/ 0 w 115"/>
                  <a:gd name="T11" fmla="*/ 0 h 181"/>
                  <a:gd name="T12" fmla="*/ 0 w 115"/>
                  <a:gd name="T13" fmla="*/ 0 h 181"/>
                  <a:gd name="T14" fmla="*/ 0 w 115"/>
                  <a:gd name="T15" fmla="*/ 0 h 181"/>
                  <a:gd name="T16" fmla="*/ 0 w 115"/>
                  <a:gd name="T17" fmla="*/ 0 h 181"/>
                  <a:gd name="T18" fmla="*/ 0 w 115"/>
                  <a:gd name="T19" fmla="*/ 0 h 181"/>
                  <a:gd name="T20" fmla="*/ 0 w 115"/>
                  <a:gd name="T21" fmla="*/ 0 h 181"/>
                  <a:gd name="T22" fmla="*/ 0 w 115"/>
                  <a:gd name="T23" fmla="*/ 0 h 181"/>
                  <a:gd name="T24" fmla="*/ 0 w 115"/>
                  <a:gd name="T25" fmla="*/ 0 h 181"/>
                  <a:gd name="T26" fmla="*/ 0 w 115"/>
                  <a:gd name="T27" fmla="*/ 0 h 181"/>
                  <a:gd name="T28" fmla="*/ 0 w 115"/>
                  <a:gd name="T29" fmla="*/ 0 h 181"/>
                  <a:gd name="T30" fmla="*/ 0 w 115"/>
                  <a:gd name="T31" fmla="*/ 0 h 181"/>
                  <a:gd name="T32" fmla="*/ 0 w 115"/>
                  <a:gd name="T33" fmla="*/ 0 h 181"/>
                  <a:gd name="T34" fmla="*/ 0 w 115"/>
                  <a:gd name="T35" fmla="*/ 0 h 181"/>
                  <a:gd name="T36" fmla="*/ 0 w 115"/>
                  <a:gd name="T37" fmla="*/ 0 h 181"/>
                  <a:gd name="T38" fmla="*/ 0 w 115"/>
                  <a:gd name="T39" fmla="*/ 0 h 181"/>
                  <a:gd name="T40" fmla="*/ 0 w 115"/>
                  <a:gd name="T41" fmla="*/ 0 h 181"/>
                  <a:gd name="T42" fmla="*/ 0 w 115"/>
                  <a:gd name="T43" fmla="*/ 0 h 181"/>
                  <a:gd name="T44" fmla="*/ 0 w 115"/>
                  <a:gd name="T45" fmla="*/ 0 h 181"/>
                  <a:gd name="T46" fmla="*/ 0 w 115"/>
                  <a:gd name="T47" fmla="*/ 0 h 181"/>
                  <a:gd name="T48" fmla="*/ 0 w 115"/>
                  <a:gd name="T49" fmla="*/ 0 h 181"/>
                  <a:gd name="T50" fmla="*/ 0 w 115"/>
                  <a:gd name="T51" fmla="*/ 0 h 181"/>
                  <a:gd name="T52" fmla="*/ 0 w 115"/>
                  <a:gd name="T53" fmla="*/ 0 h 181"/>
                  <a:gd name="T54" fmla="*/ 0 w 115"/>
                  <a:gd name="T55" fmla="*/ 0 h 181"/>
                  <a:gd name="T56" fmla="*/ 0 w 115"/>
                  <a:gd name="T57" fmla="*/ 0 h 181"/>
                  <a:gd name="T58" fmla="*/ 0 w 115"/>
                  <a:gd name="T59" fmla="*/ 0 h 181"/>
                  <a:gd name="T60" fmla="*/ 0 w 115"/>
                  <a:gd name="T61" fmla="*/ 0 h 181"/>
                  <a:gd name="T62" fmla="*/ 0 w 115"/>
                  <a:gd name="T63" fmla="*/ 0 h 181"/>
                  <a:gd name="T64" fmla="*/ 0 w 115"/>
                  <a:gd name="T65" fmla="*/ 0 h 181"/>
                  <a:gd name="T66" fmla="*/ 0 w 115"/>
                  <a:gd name="T67" fmla="*/ 0 h 181"/>
                  <a:gd name="T68" fmla="*/ 0 w 115"/>
                  <a:gd name="T69" fmla="*/ 0 h 181"/>
                  <a:gd name="T70" fmla="*/ 0 w 115"/>
                  <a:gd name="T71" fmla="*/ 0 h 181"/>
                  <a:gd name="T72" fmla="*/ 0 w 115"/>
                  <a:gd name="T73" fmla="*/ 0 h 18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5"/>
                  <a:gd name="T112" fmla="*/ 0 h 181"/>
                  <a:gd name="T113" fmla="*/ 115 w 115"/>
                  <a:gd name="T114" fmla="*/ 181 h 18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5" h="181">
                    <a:moveTo>
                      <a:pt x="0" y="0"/>
                    </a:moveTo>
                    <a:lnTo>
                      <a:pt x="0" y="0"/>
                    </a:lnTo>
                    <a:lnTo>
                      <a:pt x="0" y="13"/>
                    </a:lnTo>
                    <a:lnTo>
                      <a:pt x="2" y="27"/>
                    </a:lnTo>
                    <a:lnTo>
                      <a:pt x="4" y="40"/>
                    </a:lnTo>
                    <a:lnTo>
                      <a:pt x="7" y="53"/>
                    </a:lnTo>
                    <a:lnTo>
                      <a:pt x="11" y="68"/>
                    </a:lnTo>
                    <a:lnTo>
                      <a:pt x="15" y="80"/>
                    </a:lnTo>
                    <a:lnTo>
                      <a:pt x="21" y="92"/>
                    </a:lnTo>
                    <a:lnTo>
                      <a:pt x="28" y="104"/>
                    </a:lnTo>
                    <a:lnTo>
                      <a:pt x="34" y="116"/>
                    </a:lnTo>
                    <a:lnTo>
                      <a:pt x="42" y="126"/>
                    </a:lnTo>
                    <a:lnTo>
                      <a:pt x="50" y="138"/>
                    </a:lnTo>
                    <a:lnTo>
                      <a:pt x="59" y="147"/>
                    </a:lnTo>
                    <a:lnTo>
                      <a:pt x="68" y="157"/>
                    </a:lnTo>
                    <a:lnTo>
                      <a:pt x="80" y="165"/>
                    </a:lnTo>
                    <a:lnTo>
                      <a:pt x="90" y="173"/>
                    </a:lnTo>
                    <a:lnTo>
                      <a:pt x="101" y="181"/>
                    </a:lnTo>
                    <a:lnTo>
                      <a:pt x="115" y="156"/>
                    </a:lnTo>
                    <a:lnTo>
                      <a:pt x="106" y="149"/>
                    </a:lnTo>
                    <a:lnTo>
                      <a:pt x="96" y="142"/>
                    </a:lnTo>
                    <a:lnTo>
                      <a:pt x="87" y="136"/>
                    </a:lnTo>
                    <a:lnTo>
                      <a:pt x="80" y="126"/>
                    </a:lnTo>
                    <a:lnTo>
                      <a:pt x="70" y="119"/>
                    </a:lnTo>
                    <a:lnTo>
                      <a:pt x="64" y="109"/>
                    </a:lnTo>
                    <a:lnTo>
                      <a:pt x="58" y="101"/>
                    </a:lnTo>
                    <a:lnTo>
                      <a:pt x="52" y="89"/>
                    </a:lnTo>
                    <a:lnTo>
                      <a:pt x="46" y="80"/>
                    </a:lnTo>
                    <a:lnTo>
                      <a:pt x="42" y="69"/>
                    </a:lnTo>
                    <a:lnTo>
                      <a:pt x="38" y="58"/>
                    </a:lnTo>
                    <a:lnTo>
                      <a:pt x="34" y="47"/>
                    </a:lnTo>
                    <a:lnTo>
                      <a:pt x="33" y="35"/>
                    </a:lnTo>
                    <a:lnTo>
                      <a:pt x="31" y="23"/>
                    </a:lnTo>
                    <a:lnTo>
                      <a:pt x="29" y="11"/>
                    </a:lnTo>
                    <a:lnTo>
                      <a:pt x="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1" name="Freeform 524">
                <a:extLst>
                  <a:ext uri="{FF2B5EF4-FFF2-40B4-BE49-F238E27FC236}">
                    <a16:creationId xmlns:a16="http://schemas.microsoft.com/office/drawing/2014/main" id="{8417D450-E81A-4F7E-A1C8-5394A9B5F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2"/>
                <a:ext cx="1" cy="2"/>
              </a:xfrm>
              <a:custGeom>
                <a:avLst/>
                <a:gdLst>
                  <a:gd name="T0" fmla="*/ 0 w 33"/>
                  <a:gd name="T1" fmla="*/ 0 h 47"/>
                  <a:gd name="T2" fmla="*/ 0 w 33"/>
                  <a:gd name="T3" fmla="*/ 0 h 47"/>
                  <a:gd name="T4" fmla="*/ 0 w 33"/>
                  <a:gd name="T5" fmla="*/ 0 h 47"/>
                  <a:gd name="T6" fmla="*/ 0 w 33"/>
                  <a:gd name="T7" fmla="*/ 0 h 47"/>
                  <a:gd name="T8" fmla="*/ 0 w 33"/>
                  <a:gd name="T9" fmla="*/ 0 h 47"/>
                  <a:gd name="T10" fmla="*/ 0 w 33"/>
                  <a:gd name="T11" fmla="*/ 0 h 47"/>
                  <a:gd name="T12" fmla="*/ 0 w 33"/>
                  <a:gd name="T13" fmla="*/ 0 h 47"/>
                  <a:gd name="T14" fmla="*/ 0 w 33"/>
                  <a:gd name="T15" fmla="*/ 0 h 47"/>
                  <a:gd name="T16" fmla="*/ 0 w 33"/>
                  <a:gd name="T17" fmla="*/ 0 h 47"/>
                  <a:gd name="T18" fmla="*/ 0 w 33"/>
                  <a:gd name="T19" fmla="*/ 0 h 47"/>
                  <a:gd name="T20" fmla="*/ 0 w 33"/>
                  <a:gd name="T21" fmla="*/ 0 h 47"/>
                  <a:gd name="T22" fmla="*/ 0 w 33"/>
                  <a:gd name="T23" fmla="*/ 0 h 47"/>
                  <a:gd name="T24" fmla="*/ 0 w 33"/>
                  <a:gd name="T25" fmla="*/ 0 h 47"/>
                  <a:gd name="T26" fmla="*/ 0 w 33"/>
                  <a:gd name="T27" fmla="*/ 0 h 47"/>
                  <a:gd name="T28" fmla="*/ 0 w 33"/>
                  <a:gd name="T29" fmla="*/ 0 h 47"/>
                  <a:gd name="T30" fmla="*/ 0 w 33"/>
                  <a:gd name="T31" fmla="*/ 0 h 47"/>
                  <a:gd name="T32" fmla="*/ 0 w 33"/>
                  <a:gd name="T33" fmla="*/ 0 h 47"/>
                  <a:gd name="T34" fmla="*/ 0 w 33"/>
                  <a:gd name="T35" fmla="*/ 0 h 47"/>
                  <a:gd name="T36" fmla="*/ 0 w 33"/>
                  <a:gd name="T37" fmla="*/ 0 h 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"/>
                  <a:gd name="T58" fmla="*/ 0 h 47"/>
                  <a:gd name="T59" fmla="*/ 33 w 33"/>
                  <a:gd name="T60" fmla="*/ 47 h 4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" h="47">
                    <a:moveTo>
                      <a:pt x="4" y="0"/>
                    </a:moveTo>
                    <a:lnTo>
                      <a:pt x="3" y="6"/>
                    </a:lnTo>
                    <a:lnTo>
                      <a:pt x="2" y="11"/>
                    </a:lnTo>
                    <a:lnTo>
                      <a:pt x="1" y="18"/>
                    </a:lnTo>
                    <a:lnTo>
                      <a:pt x="1" y="23"/>
                    </a:lnTo>
                    <a:lnTo>
                      <a:pt x="0" y="30"/>
                    </a:lnTo>
                    <a:lnTo>
                      <a:pt x="0" y="36"/>
                    </a:lnTo>
                    <a:lnTo>
                      <a:pt x="0" y="41"/>
                    </a:lnTo>
                    <a:lnTo>
                      <a:pt x="0" y="47"/>
                    </a:lnTo>
                    <a:lnTo>
                      <a:pt x="29" y="47"/>
                    </a:lnTo>
                    <a:lnTo>
                      <a:pt x="29" y="41"/>
                    </a:lnTo>
                    <a:lnTo>
                      <a:pt x="29" y="36"/>
                    </a:lnTo>
                    <a:lnTo>
                      <a:pt x="29" y="32"/>
                    </a:lnTo>
                    <a:lnTo>
                      <a:pt x="30" y="26"/>
                    </a:lnTo>
                    <a:lnTo>
                      <a:pt x="30" y="20"/>
                    </a:lnTo>
                    <a:lnTo>
                      <a:pt x="31" y="17"/>
                    </a:lnTo>
                    <a:lnTo>
                      <a:pt x="32" y="12"/>
                    </a:lnTo>
                    <a:lnTo>
                      <a:pt x="33" y="7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2" name="Freeform 525">
                <a:extLst>
                  <a:ext uri="{FF2B5EF4-FFF2-40B4-BE49-F238E27FC236}">
                    <a16:creationId xmlns:a16="http://schemas.microsoft.com/office/drawing/2014/main" id="{5BCD64F3-AB49-4728-8976-02D92FF70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1" cy="1"/>
              </a:xfrm>
              <a:custGeom>
                <a:avLst/>
                <a:gdLst>
                  <a:gd name="T0" fmla="*/ 0 w 29"/>
                  <a:gd name="T1" fmla="*/ 0 h 18"/>
                  <a:gd name="T2" fmla="*/ 0 w 29"/>
                  <a:gd name="T3" fmla="*/ 0 h 18"/>
                  <a:gd name="T4" fmla="*/ 0 w 29"/>
                  <a:gd name="T5" fmla="*/ 0 h 18"/>
                  <a:gd name="T6" fmla="*/ 0 w 29"/>
                  <a:gd name="T7" fmla="*/ 0 h 18"/>
                  <a:gd name="T8" fmla="*/ 0 w 29"/>
                  <a:gd name="T9" fmla="*/ 0 h 18"/>
                  <a:gd name="T10" fmla="*/ 0 w 29"/>
                  <a:gd name="T11" fmla="*/ 0 h 18"/>
                  <a:gd name="T12" fmla="*/ 0 w 29"/>
                  <a:gd name="T13" fmla="*/ 0 h 18"/>
                  <a:gd name="T14" fmla="*/ 0 w 29"/>
                  <a:gd name="T15" fmla="*/ 0 h 18"/>
                  <a:gd name="T16" fmla="*/ 0 w 29"/>
                  <a:gd name="T17" fmla="*/ 0 h 18"/>
                  <a:gd name="T18" fmla="*/ 0 w 29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18"/>
                  <a:gd name="T32" fmla="*/ 29 w 29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18">
                    <a:moveTo>
                      <a:pt x="29" y="18"/>
                    </a:moveTo>
                    <a:lnTo>
                      <a:pt x="29" y="11"/>
                    </a:lnTo>
                    <a:lnTo>
                      <a:pt x="27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9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3" name="Freeform 526">
                <a:extLst>
                  <a:ext uri="{FF2B5EF4-FFF2-40B4-BE49-F238E27FC236}">
                    <a16:creationId xmlns:a16="http://schemas.microsoft.com/office/drawing/2014/main" id="{93E9A35E-1AB6-43BB-BC33-7361E7348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5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4" name="Freeform 527">
                <a:extLst>
                  <a:ext uri="{FF2B5EF4-FFF2-40B4-BE49-F238E27FC236}">
                    <a16:creationId xmlns:a16="http://schemas.microsoft.com/office/drawing/2014/main" id="{1CFD0619-2CB0-4360-98CA-F1BE6593C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7" cy="15"/>
              </a:xfrm>
              <a:custGeom>
                <a:avLst/>
                <a:gdLst>
                  <a:gd name="T0" fmla="*/ 0 w 164"/>
                  <a:gd name="T1" fmla="*/ 0 h 274"/>
                  <a:gd name="T2" fmla="*/ 0 w 164"/>
                  <a:gd name="T3" fmla="*/ 0 h 274"/>
                  <a:gd name="T4" fmla="*/ 0 w 164"/>
                  <a:gd name="T5" fmla="*/ 0 h 274"/>
                  <a:gd name="T6" fmla="*/ 0 w 164"/>
                  <a:gd name="T7" fmla="*/ 0 h 274"/>
                  <a:gd name="T8" fmla="*/ 0 w 164"/>
                  <a:gd name="T9" fmla="*/ 0 h 274"/>
                  <a:gd name="T10" fmla="*/ 0 w 164"/>
                  <a:gd name="T11" fmla="*/ 0 h 274"/>
                  <a:gd name="T12" fmla="*/ 0 w 164"/>
                  <a:gd name="T13" fmla="*/ 0 h 274"/>
                  <a:gd name="T14" fmla="*/ 0 w 164"/>
                  <a:gd name="T15" fmla="*/ 0 h 274"/>
                  <a:gd name="T16" fmla="*/ 0 w 164"/>
                  <a:gd name="T17" fmla="*/ 0 h 274"/>
                  <a:gd name="T18" fmla="*/ 0 w 164"/>
                  <a:gd name="T19" fmla="*/ 0 h 274"/>
                  <a:gd name="T20" fmla="*/ 0 w 164"/>
                  <a:gd name="T21" fmla="*/ 0 h 274"/>
                  <a:gd name="T22" fmla="*/ 0 w 164"/>
                  <a:gd name="T23" fmla="*/ 0 h 274"/>
                  <a:gd name="T24" fmla="*/ 0 w 164"/>
                  <a:gd name="T25" fmla="*/ 0 h 274"/>
                  <a:gd name="T26" fmla="*/ 0 w 164"/>
                  <a:gd name="T27" fmla="*/ 0 h 274"/>
                  <a:gd name="T28" fmla="*/ 0 w 164"/>
                  <a:gd name="T29" fmla="*/ 0 h 274"/>
                  <a:gd name="T30" fmla="*/ 0 w 164"/>
                  <a:gd name="T31" fmla="*/ 0 h 274"/>
                  <a:gd name="T32" fmla="*/ 0 w 164"/>
                  <a:gd name="T33" fmla="*/ 0 h 274"/>
                  <a:gd name="T34" fmla="*/ 0 w 164"/>
                  <a:gd name="T35" fmla="*/ 0 h 274"/>
                  <a:gd name="T36" fmla="*/ 0 w 164"/>
                  <a:gd name="T37" fmla="*/ 0 h 274"/>
                  <a:gd name="T38" fmla="*/ 0 w 164"/>
                  <a:gd name="T39" fmla="*/ 0 h 274"/>
                  <a:gd name="T40" fmla="*/ 0 w 164"/>
                  <a:gd name="T41" fmla="*/ 0 h 274"/>
                  <a:gd name="T42" fmla="*/ 0 w 164"/>
                  <a:gd name="T43" fmla="*/ 0 h 274"/>
                  <a:gd name="T44" fmla="*/ 0 w 164"/>
                  <a:gd name="T45" fmla="*/ 0 h 274"/>
                  <a:gd name="T46" fmla="*/ 0 w 164"/>
                  <a:gd name="T47" fmla="*/ 0 h 274"/>
                  <a:gd name="T48" fmla="*/ 0 w 164"/>
                  <a:gd name="T49" fmla="*/ 0 h 274"/>
                  <a:gd name="T50" fmla="*/ 0 w 164"/>
                  <a:gd name="T51" fmla="*/ 0 h 274"/>
                  <a:gd name="T52" fmla="*/ 0 w 164"/>
                  <a:gd name="T53" fmla="*/ 0 h 274"/>
                  <a:gd name="T54" fmla="*/ 0 w 164"/>
                  <a:gd name="T55" fmla="*/ 0 h 274"/>
                  <a:gd name="T56" fmla="*/ 0 w 164"/>
                  <a:gd name="T57" fmla="*/ 0 h 274"/>
                  <a:gd name="T58" fmla="*/ 0 w 164"/>
                  <a:gd name="T59" fmla="*/ 0 h 274"/>
                  <a:gd name="T60" fmla="*/ 0 w 164"/>
                  <a:gd name="T61" fmla="*/ 0 h 274"/>
                  <a:gd name="T62" fmla="*/ 0 w 164"/>
                  <a:gd name="T63" fmla="*/ 0 h 274"/>
                  <a:gd name="T64" fmla="*/ 0 w 164"/>
                  <a:gd name="T65" fmla="*/ 0 h 274"/>
                  <a:gd name="T66" fmla="*/ 0 w 164"/>
                  <a:gd name="T67" fmla="*/ 0 h 274"/>
                  <a:gd name="T68" fmla="*/ 0 w 164"/>
                  <a:gd name="T69" fmla="*/ 0 h 274"/>
                  <a:gd name="T70" fmla="*/ 0 w 164"/>
                  <a:gd name="T71" fmla="*/ 0 h 274"/>
                  <a:gd name="T72" fmla="*/ 0 w 164"/>
                  <a:gd name="T73" fmla="*/ 0 h 27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4"/>
                  <a:gd name="T112" fmla="*/ 0 h 274"/>
                  <a:gd name="T113" fmla="*/ 164 w 164"/>
                  <a:gd name="T114" fmla="*/ 274 h 27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4" h="274">
                    <a:moveTo>
                      <a:pt x="164" y="274"/>
                    </a:moveTo>
                    <a:lnTo>
                      <a:pt x="164" y="274"/>
                    </a:lnTo>
                    <a:lnTo>
                      <a:pt x="162" y="253"/>
                    </a:lnTo>
                    <a:lnTo>
                      <a:pt x="160" y="233"/>
                    </a:lnTo>
                    <a:lnTo>
                      <a:pt x="157" y="211"/>
                    </a:lnTo>
                    <a:lnTo>
                      <a:pt x="153" y="190"/>
                    </a:lnTo>
                    <a:lnTo>
                      <a:pt x="147" y="170"/>
                    </a:lnTo>
                    <a:lnTo>
                      <a:pt x="139" y="152"/>
                    </a:lnTo>
                    <a:lnTo>
                      <a:pt x="130" y="135"/>
                    </a:lnTo>
                    <a:lnTo>
                      <a:pt x="122" y="116"/>
                    </a:lnTo>
                    <a:lnTo>
                      <a:pt x="112" y="98"/>
                    </a:lnTo>
                    <a:lnTo>
                      <a:pt x="100" y="82"/>
                    </a:lnTo>
                    <a:lnTo>
                      <a:pt x="87" y="65"/>
                    </a:lnTo>
                    <a:lnTo>
                      <a:pt x="73" y="50"/>
                    </a:lnTo>
                    <a:lnTo>
                      <a:pt x="59" y="35"/>
                    </a:lnTo>
                    <a:lnTo>
                      <a:pt x="43" y="23"/>
                    </a:lnTo>
                    <a:lnTo>
                      <a:pt x="27" y="10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5" y="29"/>
                    </a:lnTo>
                    <a:lnTo>
                      <a:pt x="30" y="40"/>
                    </a:lnTo>
                    <a:lnTo>
                      <a:pt x="45" y="52"/>
                    </a:lnTo>
                    <a:lnTo>
                      <a:pt x="59" y="65"/>
                    </a:lnTo>
                    <a:lnTo>
                      <a:pt x="71" y="80"/>
                    </a:lnTo>
                    <a:lnTo>
                      <a:pt x="83" y="94"/>
                    </a:lnTo>
                    <a:lnTo>
                      <a:pt x="94" y="110"/>
                    </a:lnTo>
                    <a:lnTo>
                      <a:pt x="104" y="126"/>
                    </a:lnTo>
                    <a:lnTo>
                      <a:pt x="112" y="143"/>
                    </a:lnTo>
                    <a:lnTo>
                      <a:pt x="119" y="161"/>
                    </a:lnTo>
                    <a:lnTo>
                      <a:pt x="126" y="179"/>
                    </a:lnTo>
                    <a:lnTo>
                      <a:pt x="132" y="197"/>
                    </a:lnTo>
                    <a:lnTo>
                      <a:pt x="136" y="216"/>
                    </a:lnTo>
                    <a:lnTo>
                      <a:pt x="139" y="235"/>
                    </a:lnTo>
                    <a:lnTo>
                      <a:pt x="141" y="255"/>
                    </a:lnTo>
                    <a:lnTo>
                      <a:pt x="141" y="274"/>
                    </a:lnTo>
                    <a:lnTo>
                      <a:pt x="164" y="2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5" name="Freeform 528">
                <a:extLst>
                  <a:ext uri="{FF2B5EF4-FFF2-40B4-BE49-F238E27FC236}">
                    <a16:creationId xmlns:a16="http://schemas.microsoft.com/office/drawing/2014/main" id="{58AAB389-FF69-43CC-BE32-DC35E6077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4"/>
              </a:xfrm>
              <a:custGeom>
                <a:avLst/>
                <a:gdLst>
                  <a:gd name="T0" fmla="*/ 0 w 29"/>
                  <a:gd name="T1" fmla="*/ 0 h 68"/>
                  <a:gd name="T2" fmla="*/ 0 w 29"/>
                  <a:gd name="T3" fmla="*/ 0 h 68"/>
                  <a:gd name="T4" fmla="*/ 0 w 29"/>
                  <a:gd name="T5" fmla="*/ 0 h 68"/>
                  <a:gd name="T6" fmla="*/ 0 w 29"/>
                  <a:gd name="T7" fmla="*/ 0 h 68"/>
                  <a:gd name="T8" fmla="*/ 0 w 29"/>
                  <a:gd name="T9" fmla="*/ 0 h 68"/>
                  <a:gd name="T10" fmla="*/ 0 w 29"/>
                  <a:gd name="T11" fmla="*/ 0 h 68"/>
                  <a:gd name="T12" fmla="*/ 0 w 29"/>
                  <a:gd name="T13" fmla="*/ 0 h 68"/>
                  <a:gd name="T14" fmla="*/ 0 w 29"/>
                  <a:gd name="T15" fmla="*/ 0 h 68"/>
                  <a:gd name="T16" fmla="*/ 0 w 29"/>
                  <a:gd name="T17" fmla="*/ 0 h 68"/>
                  <a:gd name="T18" fmla="*/ 0 w 29"/>
                  <a:gd name="T19" fmla="*/ 0 h 68"/>
                  <a:gd name="T20" fmla="*/ 0 w 29"/>
                  <a:gd name="T21" fmla="*/ 0 h 68"/>
                  <a:gd name="T22" fmla="*/ 0 w 29"/>
                  <a:gd name="T23" fmla="*/ 0 h 68"/>
                  <a:gd name="T24" fmla="*/ 0 w 29"/>
                  <a:gd name="T25" fmla="*/ 0 h 68"/>
                  <a:gd name="T26" fmla="*/ 0 w 29"/>
                  <a:gd name="T27" fmla="*/ 0 h 68"/>
                  <a:gd name="T28" fmla="*/ 0 w 29"/>
                  <a:gd name="T29" fmla="*/ 0 h 68"/>
                  <a:gd name="T30" fmla="*/ 0 w 29"/>
                  <a:gd name="T31" fmla="*/ 0 h 68"/>
                  <a:gd name="T32" fmla="*/ 0 w 29"/>
                  <a:gd name="T33" fmla="*/ 0 h 68"/>
                  <a:gd name="T34" fmla="*/ 0 w 29"/>
                  <a:gd name="T35" fmla="*/ 0 h 68"/>
                  <a:gd name="T36" fmla="*/ 0 w 29"/>
                  <a:gd name="T37" fmla="*/ 0 h 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9"/>
                  <a:gd name="T58" fmla="*/ 0 h 68"/>
                  <a:gd name="T59" fmla="*/ 29 w 29"/>
                  <a:gd name="T60" fmla="*/ 68 h 6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9" h="68">
                    <a:moveTo>
                      <a:pt x="21" y="68"/>
                    </a:moveTo>
                    <a:lnTo>
                      <a:pt x="22" y="60"/>
                    </a:lnTo>
                    <a:lnTo>
                      <a:pt x="24" y="52"/>
                    </a:lnTo>
                    <a:lnTo>
                      <a:pt x="25" y="43"/>
                    </a:lnTo>
                    <a:lnTo>
                      <a:pt x="26" y="34"/>
                    </a:lnTo>
                    <a:lnTo>
                      <a:pt x="28" y="25"/>
                    </a:lnTo>
                    <a:lnTo>
                      <a:pt x="28" y="17"/>
                    </a:lnTo>
                    <a:lnTo>
                      <a:pt x="29" y="8"/>
                    </a:lnTo>
                    <a:lnTo>
                      <a:pt x="29" y="0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5" y="17"/>
                    </a:lnTo>
                    <a:lnTo>
                      <a:pt x="5" y="25"/>
                    </a:lnTo>
                    <a:lnTo>
                      <a:pt x="5" y="32"/>
                    </a:lnTo>
                    <a:lnTo>
                      <a:pt x="4" y="41"/>
                    </a:lnTo>
                    <a:lnTo>
                      <a:pt x="3" y="48"/>
                    </a:lnTo>
                    <a:lnTo>
                      <a:pt x="1" y="56"/>
                    </a:lnTo>
                    <a:lnTo>
                      <a:pt x="0" y="64"/>
                    </a:lnTo>
                    <a:lnTo>
                      <a:pt x="21" y="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6" name="Freeform 529">
                <a:extLst>
                  <a:ext uri="{FF2B5EF4-FFF2-40B4-BE49-F238E27FC236}">
                    <a16:creationId xmlns:a16="http://schemas.microsoft.com/office/drawing/2014/main" id="{8A010335-3A28-464A-A89D-00DA0FEFB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1"/>
              </a:xfrm>
              <a:custGeom>
                <a:avLst/>
                <a:gdLst>
                  <a:gd name="T0" fmla="*/ 0 w 21"/>
                  <a:gd name="T1" fmla="*/ 0 h 12"/>
                  <a:gd name="T2" fmla="*/ 0 w 21"/>
                  <a:gd name="T3" fmla="*/ 0 h 12"/>
                  <a:gd name="T4" fmla="*/ 0 w 21"/>
                  <a:gd name="T5" fmla="*/ 0 h 12"/>
                  <a:gd name="T6" fmla="*/ 0 w 21"/>
                  <a:gd name="T7" fmla="*/ 0 h 12"/>
                  <a:gd name="T8" fmla="*/ 0 w 21"/>
                  <a:gd name="T9" fmla="*/ 0 h 12"/>
                  <a:gd name="T10" fmla="*/ 0 w 2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2"/>
                  <a:gd name="T20" fmla="*/ 21 w 2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2">
                    <a:moveTo>
                      <a:pt x="0" y="0"/>
                    </a:moveTo>
                    <a:lnTo>
                      <a:pt x="3" y="8"/>
                    </a:lnTo>
                    <a:lnTo>
                      <a:pt x="10" y="12"/>
                    </a:lnTo>
                    <a:lnTo>
                      <a:pt x="17" y="11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7" name="Freeform 530">
                <a:extLst>
                  <a:ext uri="{FF2B5EF4-FFF2-40B4-BE49-F238E27FC236}">
                    <a16:creationId xmlns:a16="http://schemas.microsoft.com/office/drawing/2014/main" id="{377B1210-BCF3-49B4-92CA-5A75D4041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8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6"/>
                    </a:lnTo>
                    <a:lnTo>
                      <a:pt x="0" y="14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8" name="Freeform 531">
                <a:extLst>
                  <a:ext uri="{FF2B5EF4-FFF2-40B4-BE49-F238E27FC236}">
                    <a16:creationId xmlns:a16="http://schemas.microsoft.com/office/drawing/2014/main" id="{23AB73BE-8D9B-4FFA-9340-109683938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128"/>
                <a:ext cx="4" cy="8"/>
              </a:xfrm>
              <a:custGeom>
                <a:avLst/>
                <a:gdLst>
                  <a:gd name="T0" fmla="*/ 0 w 86"/>
                  <a:gd name="T1" fmla="*/ 0 h 136"/>
                  <a:gd name="T2" fmla="*/ 0 w 86"/>
                  <a:gd name="T3" fmla="*/ 0 h 136"/>
                  <a:gd name="T4" fmla="*/ 0 w 86"/>
                  <a:gd name="T5" fmla="*/ 0 h 136"/>
                  <a:gd name="T6" fmla="*/ 0 w 86"/>
                  <a:gd name="T7" fmla="*/ 0 h 136"/>
                  <a:gd name="T8" fmla="*/ 0 w 86"/>
                  <a:gd name="T9" fmla="*/ 0 h 136"/>
                  <a:gd name="T10" fmla="*/ 0 w 86"/>
                  <a:gd name="T11" fmla="*/ 0 h 136"/>
                  <a:gd name="T12" fmla="*/ 0 w 86"/>
                  <a:gd name="T13" fmla="*/ 0 h 136"/>
                  <a:gd name="T14" fmla="*/ 0 w 86"/>
                  <a:gd name="T15" fmla="*/ 0 h 136"/>
                  <a:gd name="T16" fmla="*/ 0 w 86"/>
                  <a:gd name="T17" fmla="*/ 0 h 136"/>
                  <a:gd name="T18" fmla="*/ 0 w 86"/>
                  <a:gd name="T19" fmla="*/ 0 h 136"/>
                  <a:gd name="T20" fmla="*/ 0 w 86"/>
                  <a:gd name="T21" fmla="*/ 0 h 136"/>
                  <a:gd name="T22" fmla="*/ 0 w 86"/>
                  <a:gd name="T23" fmla="*/ 0 h 136"/>
                  <a:gd name="T24" fmla="*/ 0 w 86"/>
                  <a:gd name="T25" fmla="*/ 0 h 136"/>
                  <a:gd name="T26" fmla="*/ 0 w 86"/>
                  <a:gd name="T27" fmla="*/ 0 h 136"/>
                  <a:gd name="T28" fmla="*/ 0 w 86"/>
                  <a:gd name="T29" fmla="*/ 0 h 136"/>
                  <a:gd name="T30" fmla="*/ 0 w 86"/>
                  <a:gd name="T31" fmla="*/ 0 h 136"/>
                  <a:gd name="T32" fmla="*/ 0 w 86"/>
                  <a:gd name="T33" fmla="*/ 0 h 136"/>
                  <a:gd name="T34" fmla="*/ 0 w 86"/>
                  <a:gd name="T35" fmla="*/ 0 h 136"/>
                  <a:gd name="T36" fmla="*/ 0 w 86"/>
                  <a:gd name="T37" fmla="*/ 0 h 136"/>
                  <a:gd name="T38" fmla="*/ 0 w 86"/>
                  <a:gd name="T39" fmla="*/ 0 h 136"/>
                  <a:gd name="T40" fmla="*/ 0 w 86"/>
                  <a:gd name="T41" fmla="*/ 0 h 1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6"/>
                  <a:gd name="T64" fmla="*/ 0 h 136"/>
                  <a:gd name="T65" fmla="*/ 86 w 86"/>
                  <a:gd name="T66" fmla="*/ 136 h 1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6" h="136">
                    <a:moveTo>
                      <a:pt x="86" y="136"/>
                    </a:moveTo>
                    <a:lnTo>
                      <a:pt x="86" y="136"/>
                    </a:lnTo>
                    <a:lnTo>
                      <a:pt x="85" y="116"/>
                    </a:lnTo>
                    <a:lnTo>
                      <a:pt x="81" y="95"/>
                    </a:lnTo>
                    <a:lnTo>
                      <a:pt x="76" y="76"/>
                    </a:lnTo>
                    <a:lnTo>
                      <a:pt x="66" y="58"/>
                    </a:lnTo>
                    <a:lnTo>
                      <a:pt x="55" y="41"/>
                    </a:lnTo>
                    <a:lnTo>
                      <a:pt x="42" y="26"/>
                    </a:lnTo>
                    <a:lnTo>
                      <a:pt x="27" y="12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4" y="29"/>
                    </a:lnTo>
                    <a:lnTo>
                      <a:pt x="28" y="40"/>
                    </a:lnTo>
                    <a:lnTo>
                      <a:pt x="39" y="54"/>
                    </a:lnTo>
                    <a:lnTo>
                      <a:pt x="48" y="69"/>
                    </a:lnTo>
                    <a:lnTo>
                      <a:pt x="55" y="85"/>
                    </a:lnTo>
                    <a:lnTo>
                      <a:pt x="60" y="102"/>
                    </a:lnTo>
                    <a:lnTo>
                      <a:pt x="64" y="118"/>
                    </a:lnTo>
                    <a:lnTo>
                      <a:pt x="65" y="136"/>
                    </a:lnTo>
                    <a:lnTo>
                      <a:pt x="86" y="1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39" name="Freeform 532">
                <a:extLst>
                  <a:ext uri="{FF2B5EF4-FFF2-40B4-BE49-F238E27FC236}">
                    <a16:creationId xmlns:a16="http://schemas.microsoft.com/office/drawing/2014/main" id="{481932BA-DCDE-42A5-B838-4E9EE56CB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6"/>
                <a:ext cx="1" cy="2"/>
              </a:xfrm>
              <a:custGeom>
                <a:avLst/>
                <a:gdLst>
                  <a:gd name="T0" fmla="*/ 0 w 24"/>
                  <a:gd name="T1" fmla="*/ 0 h 35"/>
                  <a:gd name="T2" fmla="*/ 0 w 24"/>
                  <a:gd name="T3" fmla="*/ 0 h 35"/>
                  <a:gd name="T4" fmla="*/ 0 w 24"/>
                  <a:gd name="T5" fmla="*/ 0 h 35"/>
                  <a:gd name="T6" fmla="*/ 0 w 24"/>
                  <a:gd name="T7" fmla="*/ 0 h 35"/>
                  <a:gd name="T8" fmla="*/ 0 w 24"/>
                  <a:gd name="T9" fmla="*/ 0 h 35"/>
                  <a:gd name="T10" fmla="*/ 0 w 24"/>
                  <a:gd name="T11" fmla="*/ 0 h 35"/>
                  <a:gd name="T12" fmla="*/ 0 w 24"/>
                  <a:gd name="T13" fmla="*/ 0 h 35"/>
                  <a:gd name="T14" fmla="*/ 0 w 24"/>
                  <a:gd name="T15" fmla="*/ 0 h 35"/>
                  <a:gd name="T16" fmla="*/ 0 w 24"/>
                  <a:gd name="T17" fmla="*/ 0 h 35"/>
                  <a:gd name="T18" fmla="*/ 0 w 24"/>
                  <a:gd name="T19" fmla="*/ 0 h 35"/>
                  <a:gd name="T20" fmla="*/ 0 w 24"/>
                  <a:gd name="T21" fmla="*/ 0 h 35"/>
                  <a:gd name="T22" fmla="*/ 0 w 24"/>
                  <a:gd name="T23" fmla="*/ 0 h 35"/>
                  <a:gd name="T24" fmla="*/ 0 w 24"/>
                  <a:gd name="T25" fmla="*/ 0 h 35"/>
                  <a:gd name="T26" fmla="*/ 0 w 24"/>
                  <a:gd name="T27" fmla="*/ 0 h 35"/>
                  <a:gd name="T28" fmla="*/ 0 w 24"/>
                  <a:gd name="T29" fmla="*/ 0 h 35"/>
                  <a:gd name="T30" fmla="*/ 0 w 24"/>
                  <a:gd name="T31" fmla="*/ 0 h 35"/>
                  <a:gd name="T32" fmla="*/ 0 w 24"/>
                  <a:gd name="T33" fmla="*/ 0 h 35"/>
                  <a:gd name="T34" fmla="*/ 0 w 24"/>
                  <a:gd name="T35" fmla="*/ 0 h 35"/>
                  <a:gd name="T36" fmla="*/ 0 w 24"/>
                  <a:gd name="T37" fmla="*/ 0 h 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4"/>
                  <a:gd name="T58" fmla="*/ 0 h 35"/>
                  <a:gd name="T59" fmla="*/ 24 w 24"/>
                  <a:gd name="T60" fmla="*/ 35 h 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4" h="35">
                    <a:moveTo>
                      <a:pt x="21" y="35"/>
                    </a:moveTo>
                    <a:lnTo>
                      <a:pt x="22" y="30"/>
                    </a:lnTo>
                    <a:lnTo>
                      <a:pt x="22" y="26"/>
                    </a:lnTo>
                    <a:lnTo>
                      <a:pt x="23" y="21"/>
                    </a:lnTo>
                    <a:lnTo>
                      <a:pt x="23" y="18"/>
                    </a:lnTo>
                    <a:lnTo>
                      <a:pt x="24" y="15"/>
                    </a:lnTo>
                    <a:lnTo>
                      <a:pt x="24" y="9"/>
                    </a:lnTo>
                    <a:lnTo>
                      <a:pt x="24" y="5"/>
                    </a:lnTo>
                    <a:lnTo>
                      <a:pt x="24" y="0"/>
                    </a:lnTo>
                    <a:lnTo>
                      <a:pt x="3" y="0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3" y="11"/>
                    </a:lnTo>
                    <a:lnTo>
                      <a:pt x="2" y="14"/>
                    </a:lnTo>
                    <a:lnTo>
                      <a:pt x="2" y="19"/>
                    </a:lnTo>
                    <a:lnTo>
                      <a:pt x="1" y="24"/>
                    </a:lnTo>
                    <a:lnTo>
                      <a:pt x="1" y="28"/>
                    </a:lnTo>
                    <a:lnTo>
                      <a:pt x="0" y="31"/>
                    </a:lnTo>
                    <a:lnTo>
                      <a:pt x="21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0" name="Freeform 533">
                <a:extLst>
                  <a:ext uri="{FF2B5EF4-FFF2-40B4-BE49-F238E27FC236}">
                    <a16:creationId xmlns:a16="http://schemas.microsoft.com/office/drawing/2014/main" id="{CC1795AF-4AF6-4E83-A227-CBBC15051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5"/>
                <a:ext cx="1" cy="1"/>
              </a:xfrm>
              <a:custGeom>
                <a:avLst/>
                <a:gdLst>
                  <a:gd name="T0" fmla="*/ 0 w 21"/>
                  <a:gd name="T1" fmla="*/ 0 h 13"/>
                  <a:gd name="T2" fmla="*/ 0 w 21"/>
                  <a:gd name="T3" fmla="*/ 0 h 13"/>
                  <a:gd name="T4" fmla="*/ 0 w 21"/>
                  <a:gd name="T5" fmla="*/ 0 h 13"/>
                  <a:gd name="T6" fmla="*/ 0 w 21"/>
                  <a:gd name="T7" fmla="*/ 0 h 13"/>
                  <a:gd name="T8" fmla="*/ 0 w 21"/>
                  <a:gd name="T9" fmla="*/ 0 h 13"/>
                  <a:gd name="T10" fmla="*/ 0 w 21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3"/>
                  <a:gd name="T20" fmla="*/ 21 w 21"/>
                  <a:gd name="T21" fmla="*/ 13 h 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3">
                    <a:moveTo>
                      <a:pt x="0" y="0"/>
                    </a:moveTo>
                    <a:lnTo>
                      <a:pt x="2" y="9"/>
                    </a:lnTo>
                    <a:lnTo>
                      <a:pt x="10" y="13"/>
                    </a:lnTo>
                    <a:lnTo>
                      <a:pt x="17" y="12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1" name="Freeform 534">
                <a:extLst>
                  <a:ext uri="{FF2B5EF4-FFF2-40B4-BE49-F238E27FC236}">
                    <a16:creationId xmlns:a16="http://schemas.microsoft.com/office/drawing/2014/main" id="{39C797D3-387A-4B5F-A79C-24B6A9073C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3" cy="137"/>
              </a:xfrm>
              <a:custGeom>
                <a:avLst/>
                <a:gdLst>
                  <a:gd name="T0" fmla="*/ 0 w 1169"/>
                  <a:gd name="T1" fmla="*/ 0 h 2481"/>
                  <a:gd name="T2" fmla="*/ 0 w 1169"/>
                  <a:gd name="T3" fmla="*/ 0 h 2481"/>
                  <a:gd name="T4" fmla="*/ 0 w 1169"/>
                  <a:gd name="T5" fmla="*/ 0 h 2481"/>
                  <a:gd name="T6" fmla="*/ 0 w 1169"/>
                  <a:gd name="T7" fmla="*/ 0 h 2481"/>
                  <a:gd name="T8" fmla="*/ 0 w 1169"/>
                  <a:gd name="T9" fmla="*/ 0 h 2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69"/>
                  <a:gd name="T16" fmla="*/ 0 h 2481"/>
                  <a:gd name="T17" fmla="*/ 1169 w 1169"/>
                  <a:gd name="T18" fmla="*/ 2481 h 24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69" h="2481">
                    <a:moveTo>
                      <a:pt x="166" y="0"/>
                    </a:moveTo>
                    <a:lnTo>
                      <a:pt x="0" y="73"/>
                    </a:lnTo>
                    <a:lnTo>
                      <a:pt x="959" y="2481"/>
                    </a:lnTo>
                    <a:lnTo>
                      <a:pt x="1169" y="238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2" name="Freeform 535">
                <a:extLst>
                  <a:ext uri="{FF2B5EF4-FFF2-40B4-BE49-F238E27FC236}">
                    <a16:creationId xmlns:a16="http://schemas.microsoft.com/office/drawing/2014/main" id="{810EE027-050E-468A-AB5C-3ECDABC074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2" cy="137"/>
              </a:xfrm>
              <a:custGeom>
                <a:avLst/>
                <a:gdLst>
                  <a:gd name="T0" fmla="*/ 0 w 1140"/>
                  <a:gd name="T1" fmla="*/ 0 h 2467"/>
                  <a:gd name="T2" fmla="*/ 0 w 1140"/>
                  <a:gd name="T3" fmla="*/ 0 h 2467"/>
                  <a:gd name="T4" fmla="*/ 0 w 1140"/>
                  <a:gd name="T5" fmla="*/ 0 h 2467"/>
                  <a:gd name="T6" fmla="*/ 0 w 1140"/>
                  <a:gd name="T7" fmla="*/ 0 h 2467"/>
                  <a:gd name="T8" fmla="*/ 0 w 1140"/>
                  <a:gd name="T9" fmla="*/ 0 h 2467"/>
                  <a:gd name="T10" fmla="*/ 0 w 1140"/>
                  <a:gd name="T11" fmla="*/ 0 h 2467"/>
                  <a:gd name="T12" fmla="*/ 0 w 1140"/>
                  <a:gd name="T13" fmla="*/ 0 h 2467"/>
                  <a:gd name="T14" fmla="*/ 0 w 1140"/>
                  <a:gd name="T15" fmla="*/ 0 h 2467"/>
                  <a:gd name="T16" fmla="*/ 0 w 1140"/>
                  <a:gd name="T17" fmla="*/ 0 h 2467"/>
                  <a:gd name="T18" fmla="*/ 0 w 1140"/>
                  <a:gd name="T19" fmla="*/ 0 h 2467"/>
                  <a:gd name="T20" fmla="*/ 0 w 1140"/>
                  <a:gd name="T21" fmla="*/ 0 h 2467"/>
                  <a:gd name="T22" fmla="*/ 0 w 1140"/>
                  <a:gd name="T23" fmla="*/ 0 h 2467"/>
                  <a:gd name="T24" fmla="*/ 0 w 1140"/>
                  <a:gd name="T25" fmla="*/ 0 h 2467"/>
                  <a:gd name="T26" fmla="*/ 0 w 1140"/>
                  <a:gd name="T27" fmla="*/ 0 h 2467"/>
                  <a:gd name="T28" fmla="*/ 0 w 1140"/>
                  <a:gd name="T29" fmla="*/ 0 h 2467"/>
                  <a:gd name="T30" fmla="*/ 0 w 1140"/>
                  <a:gd name="T31" fmla="*/ 0 h 2467"/>
                  <a:gd name="T32" fmla="*/ 0 w 1140"/>
                  <a:gd name="T33" fmla="*/ 0 h 2467"/>
                  <a:gd name="T34" fmla="*/ 0 w 1140"/>
                  <a:gd name="T35" fmla="*/ 0 h 2467"/>
                  <a:gd name="T36" fmla="*/ 0 w 1140"/>
                  <a:gd name="T37" fmla="*/ 0 h 2467"/>
                  <a:gd name="T38" fmla="*/ 0 w 1140"/>
                  <a:gd name="T39" fmla="*/ 0 h 2467"/>
                  <a:gd name="T40" fmla="*/ 0 w 1140"/>
                  <a:gd name="T41" fmla="*/ 0 h 2467"/>
                  <a:gd name="T42" fmla="*/ 0 w 1140"/>
                  <a:gd name="T43" fmla="*/ 0 h 2467"/>
                  <a:gd name="T44" fmla="*/ 0 w 1140"/>
                  <a:gd name="T45" fmla="*/ 0 h 2467"/>
                  <a:gd name="T46" fmla="*/ 0 w 1140"/>
                  <a:gd name="T47" fmla="*/ 0 h 2467"/>
                  <a:gd name="T48" fmla="*/ 0 w 1140"/>
                  <a:gd name="T49" fmla="*/ 0 h 2467"/>
                  <a:gd name="T50" fmla="*/ 0 w 1140"/>
                  <a:gd name="T51" fmla="*/ 0 h 2467"/>
                  <a:gd name="T52" fmla="*/ 0 w 1140"/>
                  <a:gd name="T53" fmla="*/ 0 h 2467"/>
                  <a:gd name="T54" fmla="*/ 0 w 1140"/>
                  <a:gd name="T55" fmla="*/ 0 h 2467"/>
                  <a:gd name="T56" fmla="*/ 0 w 1140"/>
                  <a:gd name="T57" fmla="*/ 0 h 2467"/>
                  <a:gd name="T58" fmla="*/ 0 w 1140"/>
                  <a:gd name="T59" fmla="*/ 0 h 2467"/>
                  <a:gd name="T60" fmla="*/ 0 w 1140"/>
                  <a:gd name="T61" fmla="*/ 0 h 2467"/>
                  <a:gd name="T62" fmla="*/ 0 w 1140"/>
                  <a:gd name="T63" fmla="*/ 0 h 2467"/>
                  <a:gd name="T64" fmla="*/ 0 w 1140"/>
                  <a:gd name="T65" fmla="*/ 0 h 2467"/>
                  <a:gd name="T66" fmla="*/ 0 w 1140"/>
                  <a:gd name="T67" fmla="*/ 0 h 2467"/>
                  <a:gd name="T68" fmla="*/ 0 w 1140"/>
                  <a:gd name="T69" fmla="*/ 0 h 2467"/>
                  <a:gd name="T70" fmla="*/ 0 w 1140"/>
                  <a:gd name="T71" fmla="*/ 0 h 2467"/>
                  <a:gd name="T72" fmla="*/ 0 w 1140"/>
                  <a:gd name="T73" fmla="*/ 0 h 2467"/>
                  <a:gd name="T74" fmla="*/ 0 w 1140"/>
                  <a:gd name="T75" fmla="*/ 0 h 2467"/>
                  <a:gd name="T76" fmla="*/ 0 w 1140"/>
                  <a:gd name="T77" fmla="*/ 0 h 2467"/>
                  <a:gd name="T78" fmla="*/ 0 w 1140"/>
                  <a:gd name="T79" fmla="*/ 0 h 2467"/>
                  <a:gd name="T80" fmla="*/ 0 w 1140"/>
                  <a:gd name="T81" fmla="*/ 0 h 2467"/>
                  <a:gd name="T82" fmla="*/ 0 w 1140"/>
                  <a:gd name="T83" fmla="*/ 0 h 2467"/>
                  <a:gd name="T84" fmla="*/ 0 w 1140"/>
                  <a:gd name="T85" fmla="*/ 0 h 2467"/>
                  <a:gd name="T86" fmla="*/ 0 w 1140"/>
                  <a:gd name="T87" fmla="*/ 0 h 246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40"/>
                  <a:gd name="T133" fmla="*/ 0 h 2467"/>
                  <a:gd name="T134" fmla="*/ 1140 w 1140"/>
                  <a:gd name="T135" fmla="*/ 2467 h 2467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40" h="2467">
                    <a:moveTo>
                      <a:pt x="140" y="0"/>
                    </a:moveTo>
                    <a:lnTo>
                      <a:pt x="126" y="6"/>
                    </a:lnTo>
                    <a:lnTo>
                      <a:pt x="114" y="10"/>
                    </a:lnTo>
                    <a:lnTo>
                      <a:pt x="104" y="14"/>
                    </a:lnTo>
                    <a:lnTo>
                      <a:pt x="94" y="19"/>
                    </a:lnTo>
                    <a:lnTo>
                      <a:pt x="81" y="24"/>
                    </a:lnTo>
                    <a:lnTo>
                      <a:pt x="61" y="32"/>
                    </a:lnTo>
                    <a:lnTo>
                      <a:pt x="36" y="44"/>
                    </a:lnTo>
                    <a:lnTo>
                      <a:pt x="0" y="61"/>
                    </a:lnTo>
                    <a:lnTo>
                      <a:pt x="29" y="132"/>
                    </a:lnTo>
                    <a:lnTo>
                      <a:pt x="55" y="199"/>
                    </a:lnTo>
                    <a:lnTo>
                      <a:pt x="81" y="260"/>
                    </a:lnTo>
                    <a:lnTo>
                      <a:pt x="103" y="317"/>
                    </a:lnTo>
                    <a:lnTo>
                      <a:pt x="125" y="370"/>
                    </a:lnTo>
                    <a:lnTo>
                      <a:pt x="144" y="419"/>
                    </a:lnTo>
                    <a:lnTo>
                      <a:pt x="163" y="467"/>
                    </a:lnTo>
                    <a:lnTo>
                      <a:pt x="181" y="511"/>
                    </a:lnTo>
                    <a:lnTo>
                      <a:pt x="198" y="554"/>
                    </a:lnTo>
                    <a:lnTo>
                      <a:pt x="215" y="596"/>
                    </a:lnTo>
                    <a:lnTo>
                      <a:pt x="232" y="637"/>
                    </a:lnTo>
                    <a:lnTo>
                      <a:pt x="249" y="680"/>
                    </a:lnTo>
                    <a:lnTo>
                      <a:pt x="265" y="723"/>
                    </a:lnTo>
                    <a:lnTo>
                      <a:pt x="284" y="766"/>
                    </a:lnTo>
                    <a:lnTo>
                      <a:pt x="302" y="812"/>
                    </a:lnTo>
                    <a:lnTo>
                      <a:pt x="322" y="861"/>
                    </a:lnTo>
                    <a:lnTo>
                      <a:pt x="342" y="913"/>
                    </a:lnTo>
                    <a:lnTo>
                      <a:pt x="364" y="968"/>
                    </a:lnTo>
                    <a:lnTo>
                      <a:pt x="388" y="1029"/>
                    </a:lnTo>
                    <a:lnTo>
                      <a:pt x="414" y="1093"/>
                    </a:lnTo>
                    <a:lnTo>
                      <a:pt x="442" y="1164"/>
                    </a:lnTo>
                    <a:lnTo>
                      <a:pt x="473" y="1239"/>
                    </a:lnTo>
                    <a:lnTo>
                      <a:pt x="505" y="1323"/>
                    </a:lnTo>
                    <a:lnTo>
                      <a:pt x="542" y="1412"/>
                    </a:lnTo>
                    <a:lnTo>
                      <a:pt x="581" y="1511"/>
                    </a:lnTo>
                    <a:lnTo>
                      <a:pt x="623" y="1618"/>
                    </a:lnTo>
                    <a:lnTo>
                      <a:pt x="669" y="1733"/>
                    </a:lnTo>
                    <a:lnTo>
                      <a:pt x="719" y="1858"/>
                    </a:lnTo>
                    <a:lnTo>
                      <a:pt x="773" y="1993"/>
                    </a:lnTo>
                    <a:lnTo>
                      <a:pt x="832" y="2140"/>
                    </a:lnTo>
                    <a:lnTo>
                      <a:pt x="895" y="2297"/>
                    </a:lnTo>
                    <a:lnTo>
                      <a:pt x="962" y="2467"/>
                    </a:lnTo>
                    <a:lnTo>
                      <a:pt x="972" y="2462"/>
                    </a:lnTo>
                    <a:lnTo>
                      <a:pt x="982" y="2458"/>
                    </a:lnTo>
                    <a:lnTo>
                      <a:pt x="989" y="2455"/>
                    </a:lnTo>
                    <a:lnTo>
                      <a:pt x="996" y="2452"/>
                    </a:lnTo>
                    <a:lnTo>
                      <a:pt x="1003" y="2449"/>
                    </a:lnTo>
                    <a:lnTo>
                      <a:pt x="1009" y="2445"/>
                    </a:lnTo>
                    <a:lnTo>
                      <a:pt x="1015" y="2442"/>
                    </a:lnTo>
                    <a:lnTo>
                      <a:pt x="1022" y="2439"/>
                    </a:lnTo>
                    <a:lnTo>
                      <a:pt x="1030" y="2436"/>
                    </a:lnTo>
                    <a:lnTo>
                      <a:pt x="1040" y="2432"/>
                    </a:lnTo>
                    <a:lnTo>
                      <a:pt x="1050" y="2428"/>
                    </a:lnTo>
                    <a:lnTo>
                      <a:pt x="1063" y="2422"/>
                    </a:lnTo>
                    <a:lnTo>
                      <a:pt x="1077" y="2416"/>
                    </a:lnTo>
                    <a:lnTo>
                      <a:pt x="1095" y="2409"/>
                    </a:lnTo>
                    <a:lnTo>
                      <a:pt x="1116" y="2399"/>
                    </a:lnTo>
                    <a:lnTo>
                      <a:pt x="1140" y="2390"/>
                    </a:lnTo>
                    <a:lnTo>
                      <a:pt x="1110" y="2318"/>
                    </a:lnTo>
                    <a:lnTo>
                      <a:pt x="1081" y="2251"/>
                    </a:lnTo>
                    <a:lnTo>
                      <a:pt x="1056" y="2190"/>
                    </a:lnTo>
                    <a:lnTo>
                      <a:pt x="1033" y="2134"/>
                    </a:lnTo>
                    <a:lnTo>
                      <a:pt x="1011" y="2082"/>
                    </a:lnTo>
                    <a:lnTo>
                      <a:pt x="991" y="2032"/>
                    </a:lnTo>
                    <a:lnTo>
                      <a:pt x="970" y="1985"/>
                    </a:lnTo>
                    <a:lnTo>
                      <a:pt x="952" y="1940"/>
                    </a:lnTo>
                    <a:lnTo>
                      <a:pt x="935" y="1897"/>
                    </a:lnTo>
                    <a:lnTo>
                      <a:pt x="916" y="1856"/>
                    </a:lnTo>
                    <a:lnTo>
                      <a:pt x="899" y="1814"/>
                    </a:lnTo>
                    <a:lnTo>
                      <a:pt x="882" y="1773"/>
                    </a:lnTo>
                    <a:lnTo>
                      <a:pt x="864" y="1730"/>
                    </a:lnTo>
                    <a:lnTo>
                      <a:pt x="846" y="1686"/>
                    </a:lnTo>
                    <a:lnTo>
                      <a:pt x="826" y="1640"/>
                    </a:lnTo>
                    <a:lnTo>
                      <a:pt x="807" y="1592"/>
                    </a:lnTo>
                    <a:lnTo>
                      <a:pt x="785" y="1541"/>
                    </a:lnTo>
                    <a:lnTo>
                      <a:pt x="762" y="1485"/>
                    </a:lnTo>
                    <a:lnTo>
                      <a:pt x="738" y="1426"/>
                    </a:lnTo>
                    <a:lnTo>
                      <a:pt x="710" y="1362"/>
                    </a:lnTo>
                    <a:lnTo>
                      <a:pt x="682" y="1292"/>
                    </a:lnTo>
                    <a:lnTo>
                      <a:pt x="650" y="1216"/>
                    </a:lnTo>
                    <a:lnTo>
                      <a:pt x="615" y="1134"/>
                    </a:lnTo>
                    <a:lnTo>
                      <a:pt x="578" y="1044"/>
                    </a:lnTo>
                    <a:lnTo>
                      <a:pt x="537" y="947"/>
                    </a:lnTo>
                    <a:lnTo>
                      <a:pt x="493" y="842"/>
                    </a:lnTo>
                    <a:lnTo>
                      <a:pt x="445" y="727"/>
                    </a:lnTo>
                    <a:lnTo>
                      <a:pt x="393" y="603"/>
                    </a:lnTo>
                    <a:lnTo>
                      <a:pt x="337" y="469"/>
                    </a:lnTo>
                    <a:lnTo>
                      <a:pt x="276" y="324"/>
                    </a:lnTo>
                    <a:lnTo>
                      <a:pt x="210" y="167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3" name="Freeform 536">
                <a:extLst>
                  <a:ext uri="{FF2B5EF4-FFF2-40B4-BE49-F238E27FC236}">
                    <a16:creationId xmlns:a16="http://schemas.microsoft.com/office/drawing/2014/main" id="{43042FFD-E180-4976-8C47-9F79F8AFA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50" cy="136"/>
              </a:xfrm>
              <a:custGeom>
                <a:avLst/>
                <a:gdLst>
                  <a:gd name="T0" fmla="*/ 0 w 1109"/>
                  <a:gd name="T1" fmla="*/ 0 h 2454"/>
                  <a:gd name="T2" fmla="*/ 0 w 1109"/>
                  <a:gd name="T3" fmla="*/ 0 h 2454"/>
                  <a:gd name="T4" fmla="*/ 0 w 1109"/>
                  <a:gd name="T5" fmla="*/ 0 h 2454"/>
                  <a:gd name="T6" fmla="*/ 0 w 1109"/>
                  <a:gd name="T7" fmla="*/ 0 h 2454"/>
                  <a:gd name="T8" fmla="*/ 0 w 1109"/>
                  <a:gd name="T9" fmla="*/ 0 h 2454"/>
                  <a:gd name="T10" fmla="*/ 0 w 1109"/>
                  <a:gd name="T11" fmla="*/ 0 h 2454"/>
                  <a:gd name="T12" fmla="*/ 0 w 1109"/>
                  <a:gd name="T13" fmla="*/ 0 h 2454"/>
                  <a:gd name="T14" fmla="*/ 0 w 1109"/>
                  <a:gd name="T15" fmla="*/ 0 h 2454"/>
                  <a:gd name="T16" fmla="*/ 0 w 1109"/>
                  <a:gd name="T17" fmla="*/ 0 h 2454"/>
                  <a:gd name="T18" fmla="*/ 0 w 1109"/>
                  <a:gd name="T19" fmla="*/ 0 h 2454"/>
                  <a:gd name="T20" fmla="*/ 0 w 1109"/>
                  <a:gd name="T21" fmla="*/ 0 h 2454"/>
                  <a:gd name="T22" fmla="*/ 0 w 1109"/>
                  <a:gd name="T23" fmla="*/ 0 h 2454"/>
                  <a:gd name="T24" fmla="*/ 0 w 1109"/>
                  <a:gd name="T25" fmla="*/ 0 h 2454"/>
                  <a:gd name="T26" fmla="*/ 0 w 1109"/>
                  <a:gd name="T27" fmla="*/ 0 h 2454"/>
                  <a:gd name="T28" fmla="*/ 0 w 1109"/>
                  <a:gd name="T29" fmla="*/ 0 h 2454"/>
                  <a:gd name="T30" fmla="*/ 0 w 1109"/>
                  <a:gd name="T31" fmla="*/ 0 h 2454"/>
                  <a:gd name="T32" fmla="*/ 0 w 1109"/>
                  <a:gd name="T33" fmla="*/ 0 h 2454"/>
                  <a:gd name="T34" fmla="*/ 0 w 1109"/>
                  <a:gd name="T35" fmla="*/ 0 h 2454"/>
                  <a:gd name="T36" fmla="*/ 0 w 1109"/>
                  <a:gd name="T37" fmla="*/ 0 h 2454"/>
                  <a:gd name="T38" fmla="*/ 0 w 1109"/>
                  <a:gd name="T39" fmla="*/ 0 h 2454"/>
                  <a:gd name="T40" fmla="*/ 0 w 1109"/>
                  <a:gd name="T41" fmla="*/ 0 h 2454"/>
                  <a:gd name="T42" fmla="*/ 0 w 1109"/>
                  <a:gd name="T43" fmla="*/ 0 h 2454"/>
                  <a:gd name="T44" fmla="*/ 0 w 1109"/>
                  <a:gd name="T45" fmla="*/ 0 h 2454"/>
                  <a:gd name="T46" fmla="*/ 0 w 1109"/>
                  <a:gd name="T47" fmla="*/ 0 h 2454"/>
                  <a:gd name="T48" fmla="*/ 0 w 1109"/>
                  <a:gd name="T49" fmla="*/ 0 h 2454"/>
                  <a:gd name="T50" fmla="*/ 0 w 1109"/>
                  <a:gd name="T51" fmla="*/ 0 h 2454"/>
                  <a:gd name="T52" fmla="*/ 0 w 1109"/>
                  <a:gd name="T53" fmla="*/ 0 h 2454"/>
                  <a:gd name="T54" fmla="*/ 0 w 1109"/>
                  <a:gd name="T55" fmla="*/ 0 h 2454"/>
                  <a:gd name="T56" fmla="*/ 0 w 1109"/>
                  <a:gd name="T57" fmla="*/ 0 h 2454"/>
                  <a:gd name="T58" fmla="*/ 0 w 1109"/>
                  <a:gd name="T59" fmla="*/ 0 h 2454"/>
                  <a:gd name="T60" fmla="*/ 0 w 1109"/>
                  <a:gd name="T61" fmla="*/ 0 h 2454"/>
                  <a:gd name="T62" fmla="*/ 0 w 1109"/>
                  <a:gd name="T63" fmla="*/ 0 h 2454"/>
                  <a:gd name="T64" fmla="*/ 0 w 1109"/>
                  <a:gd name="T65" fmla="*/ 0 h 2454"/>
                  <a:gd name="T66" fmla="*/ 0 w 1109"/>
                  <a:gd name="T67" fmla="*/ 0 h 2454"/>
                  <a:gd name="T68" fmla="*/ 0 w 1109"/>
                  <a:gd name="T69" fmla="*/ 0 h 2454"/>
                  <a:gd name="T70" fmla="*/ 0 w 1109"/>
                  <a:gd name="T71" fmla="*/ 0 h 2454"/>
                  <a:gd name="T72" fmla="*/ 0 w 1109"/>
                  <a:gd name="T73" fmla="*/ 0 h 2454"/>
                  <a:gd name="T74" fmla="*/ 0 w 1109"/>
                  <a:gd name="T75" fmla="*/ 0 h 2454"/>
                  <a:gd name="T76" fmla="*/ 0 w 1109"/>
                  <a:gd name="T77" fmla="*/ 0 h 2454"/>
                  <a:gd name="T78" fmla="*/ 0 w 1109"/>
                  <a:gd name="T79" fmla="*/ 0 h 245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109"/>
                  <a:gd name="T121" fmla="*/ 0 h 2454"/>
                  <a:gd name="T122" fmla="*/ 1109 w 1109"/>
                  <a:gd name="T123" fmla="*/ 2454 h 245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109" h="2454">
                    <a:moveTo>
                      <a:pt x="113" y="0"/>
                    </a:moveTo>
                    <a:lnTo>
                      <a:pt x="100" y="4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6" y="15"/>
                    </a:lnTo>
                    <a:lnTo>
                      <a:pt x="65" y="19"/>
                    </a:lnTo>
                    <a:lnTo>
                      <a:pt x="49" y="26"/>
                    </a:lnTo>
                    <a:lnTo>
                      <a:pt x="29" y="36"/>
                    </a:lnTo>
                    <a:lnTo>
                      <a:pt x="0" y="49"/>
                    </a:lnTo>
                    <a:lnTo>
                      <a:pt x="29" y="120"/>
                    </a:lnTo>
                    <a:lnTo>
                      <a:pt x="56" y="187"/>
                    </a:lnTo>
                    <a:lnTo>
                      <a:pt x="81" y="248"/>
                    </a:lnTo>
                    <a:lnTo>
                      <a:pt x="103" y="305"/>
                    </a:lnTo>
                    <a:lnTo>
                      <a:pt x="125" y="358"/>
                    </a:lnTo>
                    <a:lnTo>
                      <a:pt x="145" y="407"/>
                    </a:lnTo>
                    <a:lnTo>
                      <a:pt x="164" y="455"/>
                    </a:lnTo>
                    <a:lnTo>
                      <a:pt x="182" y="499"/>
                    </a:lnTo>
                    <a:lnTo>
                      <a:pt x="199" y="542"/>
                    </a:lnTo>
                    <a:lnTo>
                      <a:pt x="216" y="584"/>
                    </a:lnTo>
                    <a:lnTo>
                      <a:pt x="233" y="625"/>
                    </a:lnTo>
                    <a:lnTo>
                      <a:pt x="249" y="667"/>
                    </a:lnTo>
                    <a:lnTo>
                      <a:pt x="267" y="711"/>
                    </a:lnTo>
                    <a:lnTo>
                      <a:pt x="284" y="754"/>
                    </a:lnTo>
                    <a:lnTo>
                      <a:pt x="302" y="800"/>
                    </a:lnTo>
                    <a:lnTo>
                      <a:pt x="323" y="849"/>
                    </a:lnTo>
                    <a:lnTo>
                      <a:pt x="343" y="900"/>
                    </a:lnTo>
                    <a:lnTo>
                      <a:pt x="366" y="956"/>
                    </a:lnTo>
                    <a:lnTo>
                      <a:pt x="389" y="1016"/>
                    </a:lnTo>
                    <a:lnTo>
                      <a:pt x="415" y="1081"/>
                    </a:lnTo>
                    <a:lnTo>
                      <a:pt x="443" y="1151"/>
                    </a:lnTo>
                    <a:lnTo>
                      <a:pt x="474" y="1227"/>
                    </a:lnTo>
                    <a:lnTo>
                      <a:pt x="507" y="1311"/>
                    </a:lnTo>
                    <a:lnTo>
                      <a:pt x="544" y="1400"/>
                    </a:lnTo>
                    <a:lnTo>
                      <a:pt x="583" y="1499"/>
                    </a:lnTo>
                    <a:lnTo>
                      <a:pt x="626" y="1606"/>
                    </a:lnTo>
                    <a:lnTo>
                      <a:pt x="672" y="1721"/>
                    </a:lnTo>
                    <a:lnTo>
                      <a:pt x="723" y="1846"/>
                    </a:lnTo>
                    <a:lnTo>
                      <a:pt x="777" y="1981"/>
                    </a:lnTo>
                    <a:lnTo>
                      <a:pt x="835" y="2128"/>
                    </a:lnTo>
                    <a:lnTo>
                      <a:pt x="898" y="2285"/>
                    </a:lnTo>
                    <a:lnTo>
                      <a:pt x="966" y="2454"/>
                    </a:lnTo>
                    <a:lnTo>
                      <a:pt x="982" y="2447"/>
                    </a:lnTo>
                    <a:lnTo>
                      <a:pt x="994" y="2442"/>
                    </a:lnTo>
                    <a:lnTo>
                      <a:pt x="1003" y="2436"/>
                    </a:lnTo>
                    <a:lnTo>
                      <a:pt x="1014" y="2432"/>
                    </a:lnTo>
                    <a:lnTo>
                      <a:pt x="1029" y="2426"/>
                    </a:lnTo>
                    <a:lnTo>
                      <a:pt x="1047" y="2417"/>
                    </a:lnTo>
                    <a:lnTo>
                      <a:pt x="1073" y="2407"/>
                    </a:lnTo>
                    <a:lnTo>
                      <a:pt x="1109" y="2392"/>
                    </a:lnTo>
                    <a:lnTo>
                      <a:pt x="1080" y="2320"/>
                    </a:lnTo>
                    <a:lnTo>
                      <a:pt x="1052" y="2254"/>
                    </a:lnTo>
                    <a:lnTo>
                      <a:pt x="1027" y="2193"/>
                    </a:lnTo>
                    <a:lnTo>
                      <a:pt x="1003" y="2136"/>
                    </a:lnTo>
                    <a:lnTo>
                      <a:pt x="981" y="2083"/>
                    </a:lnTo>
                    <a:lnTo>
                      <a:pt x="960" y="2035"/>
                    </a:lnTo>
                    <a:lnTo>
                      <a:pt x="941" y="1987"/>
                    </a:lnTo>
                    <a:lnTo>
                      <a:pt x="922" y="1943"/>
                    </a:lnTo>
                    <a:lnTo>
                      <a:pt x="905" y="1900"/>
                    </a:lnTo>
                    <a:lnTo>
                      <a:pt x="887" y="1858"/>
                    </a:lnTo>
                    <a:lnTo>
                      <a:pt x="869" y="1817"/>
                    </a:lnTo>
                    <a:lnTo>
                      <a:pt x="852" y="1774"/>
                    </a:lnTo>
                    <a:lnTo>
                      <a:pt x="835" y="1732"/>
                    </a:lnTo>
                    <a:lnTo>
                      <a:pt x="816" y="1688"/>
                    </a:lnTo>
                    <a:lnTo>
                      <a:pt x="797" y="1643"/>
                    </a:lnTo>
                    <a:lnTo>
                      <a:pt x="778" y="1594"/>
                    </a:lnTo>
                    <a:lnTo>
                      <a:pt x="756" y="1542"/>
                    </a:lnTo>
                    <a:lnTo>
                      <a:pt x="733" y="1488"/>
                    </a:lnTo>
                    <a:lnTo>
                      <a:pt x="708" y="1428"/>
                    </a:lnTo>
                    <a:lnTo>
                      <a:pt x="681" y="1363"/>
                    </a:lnTo>
                    <a:lnTo>
                      <a:pt x="652" y="1294"/>
                    </a:lnTo>
                    <a:lnTo>
                      <a:pt x="621" y="1218"/>
                    </a:lnTo>
                    <a:lnTo>
                      <a:pt x="586" y="1136"/>
                    </a:lnTo>
                    <a:lnTo>
                      <a:pt x="549" y="1046"/>
                    </a:lnTo>
                    <a:lnTo>
                      <a:pt x="508" y="948"/>
                    </a:lnTo>
                    <a:lnTo>
                      <a:pt x="464" y="842"/>
                    </a:lnTo>
                    <a:lnTo>
                      <a:pt x="417" y="728"/>
                    </a:lnTo>
                    <a:lnTo>
                      <a:pt x="364" y="604"/>
                    </a:lnTo>
                    <a:lnTo>
                      <a:pt x="308" y="469"/>
                    </a:lnTo>
                    <a:lnTo>
                      <a:pt x="248" y="325"/>
                    </a:lnTo>
                    <a:lnTo>
                      <a:pt x="183" y="16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4" name="Freeform 537">
                <a:extLst>
                  <a:ext uri="{FF2B5EF4-FFF2-40B4-BE49-F238E27FC236}">
                    <a16:creationId xmlns:a16="http://schemas.microsoft.com/office/drawing/2014/main" id="{EB2E9EBE-1E8D-4120-8024-28DD8AAB3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49" cy="136"/>
              </a:xfrm>
              <a:custGeom>
                <a:avLst/>
                <a:gdLst>
                  <a:gd name="T0" fmla="*/ 0 w 1078"/>
                  <a:gd name="T1" fmla="*/ 0 h 2440"/>
                  <a:gd name="T2" fmla="*/ 0 w 1078"/>
                  <a:gd name="T3" fmla="*/ 0 h 2440"/>
                  <a:gd name="T4" fmla="*/ 0 w 1078"/>
                  <a:gd name="T5" fmla="*/ 0 h 2440"/>
                  <a:gd name="T6" fmla="*/ 0 w 1078"/>
                  <a:gd name="T7" fmla="*/ 0 h 2440"/>
                  <a:gd name="T8" fmla="*/ 0 w 1078"/>
                  <a:gd name="T9" fmla="*/ 0 h 2440"/>
                  <a:gd name="T10" fmla="*/ 0 w 1078"/>
                  <a:gd name="T11" fmla="*/ 0 h 2440"/>
                  <a:gd name="T12" fmla="*/ 0 w 1078"/>
                  <a:gd name="T13" fmla="*/ 0 h 2440"/>
                  <a:gd name="T14" fmla="*/ 0 w 1078"/>
                  <a:gd name="T15" fmla="*/ 0 h 2440"/>
                  <a:gd name="T16" fmla="*/ 0 w 1078"/>
                  <a:gd name="T17" fmla="*/ 0 h 2440"/>
                  <a:gd name="T18" fmla="*/ 0 w 1078"/>
                  <a:gd name="T19" fmla="*/ 0 h 2440"/>
                  <a:gd name="T20" fmla="*/ 0 w 1078"/>
                  <a:gd name="T21" fmla="*/ 0 h 2440"/>
                  <a:gd name="T22" fmla="*/ 0 w 1078"/>
                  <a:gd name="T23" fmla="*/ 0 h 2440"/>
                  <a:gd name="T24" fmla="*/ 0 w 1078"/>
                  <a:gd name="T25" fmla="*/ 0 h 2440"/>
                  <a:gd name="T26" fmla="*/ 0 w 1078"/>
                  <a:gd name="T27" fmla="*/ 0 h 2440"/>
                  <a:gd name="T28" fmla="*/ 0 w 1078"/>
                  <a:gd name="T29" fmla="*/ 0 h 2440"/>
                  <a:gd name="T30" fmla="*/ 0 w 1078"/>
                  <a:gd name="T31" fmla="*/ 0 h 2440"/>
                  <a:gd name="T32" fmla="*/ 0 w 1078"/>
                  <a:gd name="T33" fmla="*/ 0 h 2440"/>
                  <a:gd name="T34" fmla="*/ 0 w 1078"/>
                  <a:gd name="T35" fmla="*/ 0 h 2440"/>
                  <a:gd name="T36" fmla="*/ 0 w 1078"/>
                  <a:gd name="T37" fmla="*/ 0 h 2440"/>
                  <a:gd name="T38" fmla="*/ 0 w 1078"/>
                  <a:gd name="T39" fmla="*/ 0 h 2440"/>
                  <a:gd name="T40" fmla="*/ 0 w 1078"/>
                  <a:gd name="T41" fmla="*/ 0 h 2440"/>
                  <a:gd name="T42" fmla="*/ 0 w 1078"/>
                  <a:gd name="T43" fmla="*/ 0 h 2440"/>
                  <a:gd name="T44" fmla="*/ 0 w 1078"/>
                  <a:gd name="T45" fmla="*/ 0 h 2440"/>
                  <a:gd name="T46" fmla="*/ 0 w 1078"/>
                  <a:gd name="T47" fmla="*/ 0 h 2440"/>
                  <a:gd name="T48" fmla="*/ 0 w 1078"/>
                  <a:gd name="T49" fmla="*/ 0 h 2440"/>
                  <a:gd name="T50" fmla="*/ 0 w 1078"/>
                  <a:gd name="T51" fmla="*/ 0 h 2440"/>
                  <a:gd name="T52" fmla="*/ 0 w 1078"/>
                  <a:gd name="T53" fmla="*/ 0 h 2440"/>
                  <a:gd name="T54" fmla="*/ 0 w 1078"/>
                  <a:gd name="T55" fmla="*/ 0 h 2440"/>
                  <a:gd name="T56" fmla="*/ 0 w 1078"/>
                  <a:gd name="T57" fmla="*/ 0 h 2440"/>
                  <a:gd name="T58" fmla="*/ 0 w 1078"/>
                  <a:gd name="T59" fmla="*/ 0 h 2440"/>
                  <a:gd name="T60" fmla="*/ 0 w 1078"/>
                  <a:gd name="T61" fmla="*/ 0 h 2440"/>
                  <a:gd name="T62" fmla="*/ 0 w 1078"/>
                  <a:gd name="T63" fmla="*/ 0 h 2440"/>
                  <a:gd name="T64" fmla="*/ 0 w 1078"/>
                  <a:gd name="T65" fmla="*/ 0 h 2440"/>
                  <a:gd name="T66" fmla="*/ 0 w 1078"/>
                  <a:gd name="T67" fmla="*/ 0 h 2440"/>
                  <a:gd name="T68" fmla="*/ 0 w 1078"/>
                  <a:gd name="T69" fmla="*/ 0 h 2440"/>
                  <a:gd name="T70" fmla="*/ 0 w 1078"/>
                  <a:gd name="T71" fmla="*/ 0 h 2440"/>
                  <a:gd name="T72" fmla="*/ 0 w 1078"/>
                  <a:gd name="T73" fmla="*/ 0 h 2440"/>
                  <a:gd name="T74" fmla="*/ 0 w 1078"/>
                  <a:gd name="T75" fmla="*/ 0 h 2440"/>
                  <a:gd name="T76" fmla="*/ 0 w 1078"/>
                  <a:gd name="T77" fmla="*/ 0 h 2440"/>
                  <a:gd name="T78" fmla="*/ 0 w 1078"/>
                  <a:gd name="T79" fmla="*/ 0 h 244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78"/>
                  <a:gd name="T121" fmla="*/ 0 h 2440"/>
                  <a:gd name="T122" fmla="*/ 1078 w 1078"/>
                  <a:gd name="T123" fmla="*/ 2440 h 2440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78" h="2440">
                    <a:moveTo>
                      <a:pt x="86" y="0"/>
                    </a:moveTo>
                    <a:lnTo>
                      <a:pt x="77" y="3"/>
                    </a:lnTo>
                    <a:lnTo>
                      <a:pt x="71" y="6"/>
                    </a:lnTo>
                    <a:lnTo>
                      <a:pt x="65" y="8"/>
                    </a:lnTo>
                    <a:lnTo>
                      <a:pt x="59" y="10"/>
                    </a:lnTo>
                    <a:lnTo>
                      <a:pt x="49" y="14"/>
                    </a:lnTo>
                    <a:lnTo>
                      <a:pt x="38" y="20"/>
                    </a:lnTo>
                    <a:lnTo>
                      <a:pt x="22" y="27"/>
                    </a:lnTo>
                    <a:lnTo>
                      <a:pt x="0" y="37"/>
                    </a:lnTo>
                    <a:lnTo>
                      <a:pt x="30" y="108"/>
                    </a:lnTo>
                    <a:lnTo>
                      <a:pt x="57" y="175"/>
                    </a:lnTo>
                    <a:lnTo>
                      <a:pt x="81" y="236"/>
                    </a:lnTo>
                    <a:lnTo>
                      <a:pt x="104" y="293"/>
                    </a:lnTo>
                    <a:lnTo>
                      <a:pt x="126" y="345"/>
                    </a:lnTo>
                    <a:lnTo>
                      <a:pt x="145" y="395"/>
                    </a:lnTo>
                    <a:lnTo>
                      <a:pt x="165" y="442"/>
                    </a:lnTo>
                    <a:lnTo>
                      <a:pt x="182" y="487"/>
                    </a:lnTo>
                    <a:lnTo>
                      <a:pt x="199" y="530"/>
                    </a:lnTo>
                    <a:lnTo>
                      <a:pt x="217" y="572"/>
                    </a:lnTo>
                    <a:lnTo>
                      <a:pt x="234" y="613"/>
                    </a:lnTo>
                    <a:lnTo>
                      <a:pt x="250" y="655"/>
                    </a:lnTo>
                    <a:lnTo>
                      <a:pt x="268" y="698"/>
                    </a:lnTo>
                    <a:lnTo>
                      <a:pt x="286" y="742"/>
                    </a:lnTo>
                    <a:lnTo>
                      <a:pt x="304" y="788"/>
                    </a:lnTo>
                    <a:lnTo>
                      <a:pt x="324" y="837"/>
                    </a:lnTo>
                    <a:lnTo>
                      <a:pt x="345" y="888"/>
                    </a:lnTo>
                    <a:lnTo>
                      <a:pt x="368" y="944"/>
                    </a:lnTo>
                    <a:lnTo>
                      <a:pt x="391" y="1003"/>
                    </a:lnTo>
                    <a:lnTo>
                      <a:pt x="418" y="1069"/>
                    </a:lnTo>
                    <a:lnTo>
                      <a:pt x="445" y="1138"/>
                    </a:lnTo>
                    <a:lnTo>
                      <a:pt x="476" y="1215"/>
                    </a:lnTo>
                    <a:lnTo>
                      <a:pt x="509" y="1297"/>
                    </a:lnTo>
                    <a:lnTo>
                      <a:pt x="546" y="1388"/>
                    </a:lnTo>
                    <a:lnTo>
                      <a:pt x="585" y="1486"/>
                    </a:lnTo>
                    <a:lnTo>
                      <a:pt x="628" y="1593"/>
                    </a:lnTo>
                    <a:lnTo>
                      <a:pt x="675" y="1707"/>
                    </a:lnTo>
                    <a:lnTo>
                      <a:pt x="725" y="1833"/>
                    </a:lnTo>
                    <a:lnTo>
                      <a:pt x="780" y="1968"/>
                    </a:lnTo>
                    <a:lnTo>
                      <a:pt x="838" y="2113"/>
                    </a:lnTo>
                    <a:lnTo>
                      <a:pt x="901" y="2270"/>
                    </a:lnTo>
                    <a:lnTo>
                      <a:pt x="969" y="2440"/>
                    </a:lnTo>
                    <a:lnTo>
                      <a:pt x="982" y="2435"/>
                    </a:lnTo>
                    <a:lnTo>
                      <a:pt x="990" y="2431"/>
                    </a:lnTo>
                    <a:lnTo>
                      <a:pt x="998" y="2426"/>
                    </a:lnTo>
                    <a:lnTo>
                      <a:pt x="1006" y="2423"/>
                    </a:lnTo>
                    <a:lnTo>
                      <a:pt x="1016" y="2419"/>
                    </a:lnTo>
                    <a:lnTo>
                      <a:pt x="1031" y="2413"/>
                    </a:lnTo>
                    <a:lnTo>
                      <a:pt x="1050" y="2404"/>
                    </a:lnTo>
                    <a:lnTo>
                      <a:pt x="1078" y="2394"/>
                    </a:lnTo>
                    <a:lnTo>
                      <a:pt x="1048" y="2322"/>
                    </a:lnTo>
                    <a:lnTo>
                      <a:pt x="1020" y="2256"/>
                    </a:lnTo>
                    <a:lnTo>
                      <a:pt x="995" y="2195"/>
                    </a:lnTo>
                    <a:lnTo>
                      <a:pt x="973" y="2138"/>
                    </a:lnTo>
                    <a:lnTo>
                      <a:pt x="950" y="2085"/>
                    </a:lnTo>
                    <a:lnTo>
                      <a:pt x="930" y="2035"/>
                    </a:lnTo>
                    <a:lnTo>
                      <a:pt x="910" y="1989"/>
                    </a:lnTo>
                    <a:lnTo>
                      <a:pt x="892" y="1944"/>
                    </a:lnTo>
                    <a:lnTo>
                      <a:pt x="875" y="1901"/>
                    </a:lnTo>
                    <a:lnTo>
                      <a:pt x="857" y="1859"/>
                    </a:lnTo>
                    <a:lnTo>
                      <a:pt x="840" y="1817"/>
                    </a:lnTo>
                    <a:lnTo>
                      <a:pt x="823" y="1775"/>
                    </a:lnTo>
                    <a:lnTo>
                      <a:pt x="805" y="1733"/>
                    </a:lnTo>
                    <a:lnTo>
                      <a:pt x="787" y="1688"/>
                    </a:lnTo>
                    <a:lnTo>
                      <a:pt x="768" y="1643"/>
                    </a:lnTo>
                    <a:lnTo>
                      <a:pt x="748" y="1595"/>
                    </a:lnTo>
                    <a:lnTo>
                      <a:pt x="727" y="1543"/>
                    </a:lnTo>
                    <a:lnTo>
                      <a:pt x="703" y="1487"/>
                    </a:lnTo>
                    <a:lnTo>
                      <a:pt x="679" y="1428"/>
                    </a:lnTo>
                    <a:lnTo>
                      <a:pt x="652" y="1364"/>
                    </a:lnTo>
                    <a:lnTo>
                      <a:pt x="624" y="1294"/>
                    </a:lnTo>
                    <a:lnTo>
                      <a:pt x="592" y="1218"/>
                    </a:lnTo>
                    <a:lnTo>
                      <a:pt x="557" y="1135"/>
                    </a:lnTo>
                    <a:lnTo>
                      <a:pt x="521" y="1045"/>
                    </a:lnTo>
                    <a:lnTo>
                      <a:pt x="480" y="948"/>
                    </a:lnTo>
                    <a:lnTo>
                      <a:pt x="436" y="843"/>
                    </a:lnTo>
                    <a:lnTo>
                      <a:pt x="388" y="728"/>
                    </a:lnTo>
                    <a:lnTo>
                      <a:pt x="337" y="604"/>
                    </a:lnTo>
                    <a:lnTo>
                      <a:pt x="281" y="469"/>
                    </a:lnTo>
                    <a:lnTo>
                      <a:pt x="221" y="324"/>
                    </a:lnTo>
                    <a:lnTo>
                      <a:pt x="155" y="16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5" name="Freeform 538">
                <a:extLst>
                  <a:ext uri="{FF2B5EF4-FFF2-40B4-BE49-F238E27FC236}">
                    <a16:creationId xmlns:a16="http://schemas.microsoft.com/office/drawing/2014/main" id="{6F4C9E37-7ADA-4566-A299-E6E555E594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8" cy="135"/>
              </a:xfrm>
              <a:custGeom>
                <a:avLst/>
                <a:gdLst>
                  <a:gd name="T0" fmla="*/ 0 w 1046"/>
                  <a:gd name="T1" fmla="*/ 0 h 2428"/>
                  <a:gd name="T2" fmla="*/ 0 w 1046"/>
                  <a:gd name="T3" fmla="*/ 0 h 2428"/>
                  <a:gd name="T4" fmla="*/ 0 w 1046"/>
                  <a:gd name="T5" fmla="*/ 0 h 2428"/>
                  <a:gd name="T6" fmla="*/ 0 w 1046"/>
                  <a:gd name="T7" fmla="*/ 0 h 2428"/>
                  <a:gd name="T8" fmla="*/ 0 w 1046"/>
                  <a:gd name="T9" fmla="*/ 0 h 2428"/>
                  <a:gd name="T10" fmla="*/ 0 w 1046"/>
                  <a:gd name="T11" fmla="*/ 0 h 2428"/>
                  <a:gd name="T12" fmla="*/ 0 w 1046"/>
                  <a:gd name="T13" fmla="*/ 0 h 2428"/>
                  <a:gd name="T14" fmla="*/ 0 w 1046"/>
                  <a:gd name="T15" fmla="*/ 0 h 2428"/>
                  <a:gd name="T16" fmla="*/ 0 w 1046"/>
                  <a:gd name="T17" fmla="*/ 0 h 2428"/>
                  <a:gd name="T18" fmla="*/ 0 w 1046"/>
                  <a:gd name="T19" fmla="*/ 0 h 2428"/>
                  <a:gd name="T20" fmla="*/ 0 w 1046"/>
                  <a:gd name="T21" fmla="*/ 0 h 2428"/>
                  <a:gd name="T22" fmla="*/ 0 w 1046"/>
                  <a:gd name="T23" fmla="*/ 0 h 2428"/>
                  <a:gd name="T24" fmla="*/ 0 w 1046"/>
                  <a:gd name="T25" fmla="*/ 0 h 2428"/>
                  <a:gd name="T26" fmla="*/ 0 w 1046"/>
                  <a:gd name="T27" fmla="*/ 0 h 2428"/>
                  <a:gd name="T28" fmla="*/ 0 w 1046"/>
                  <a:gd name="T29" fmla="*/ 0 h 2428"/>
                  <a:gd name="T30" fmla="*/ 0 w 1046"/>
                  <a:gd name="T31" fmla="*/ 0 h 2428"/>
                  <a:gd name="T32" fmla="*/ 0 w 1046"/>
                  <a:gd name="T33" fmla="*/ 0 h 2428"/>
                  <a:gd name="T34" fmla="*/ 0 w 1046"/>
                  <a:gd name="T35" fmla="*/ 0 h 2428"/>
                  <a:gd name="T36" fmla="*/ 0 w 1046"/>
                  <a:gd name="T37" fmla="*/ 0 h 2428"/>
                  <a:gd name="T38" fmla="*/ 0 w 1046"/>
                  <a:gd name="T39" fmla="*/ 0 h 2428"/>
                  <a:gd name="T40" fmla="*/ 0 w 1046"/>
                  <a:gd name="T41" fmla="*/ 0 h 2428"/>
                  <a:gd name="T42" fmla="*/ 0 w 1046"/>
                  <a:gd name="T43" fmla="*/ 0 h 2428"/>
                  <a:gd name="T44" fmla="*/ 0 w 1046"/>
                  <a:gd name="T45" fmla="*/ 0 h 2428"/>
                  <a:gd name="T46" fmla="*/ 0 w 1046"/>
                  <a:gd name="T47" fmla="*/ 0 h 2428"/>
                  <a:gd name="T48" fmla="*/ 0 w 1046"/>
                  <a:gd name="T49" fmla="*/ 0 h 2428"/>
                  <a:gd name="T50" fmla="*/ 0 w 1046"/>
                  <a:gd name="T51" fmla="*/ 0 h 2428"/>
                  <a:gd name="T52" fmla="*/ 0 w 1046"/>
                  <a:gd name="T53" fmla="*/ 0 h 2428"/>
                  <a:gd name="T54" fmla="*/ 0 w 1046"/>
                  <a:gd name="T55" fmla="*/ 0 h 2428"/>
                  <a:gd name="T56" fmla="*/ 0 w 1046"/>
                  <a:gd name="T57" fmla="*/ 0 h 2428"/>
                  <a:gd name="T58" fmla="*/ 0 w 1046"/>
                  <a:gd name="T59" fmla="*/ 0 h 2428"/>
                  <a:gd name="T60" fmla="*/ 0 w 1046"/>
                  <a:gd name="T61" fmla="*/ 0 h 2428"/>
                  <a:gd name="T62" fmla="*/ 0 w 1046"/>
                  <a:gd name="T63" fmla="*/ 0 h 2428"/>
                  <a:gd name="T64" fmla="*/ 0 w 1046"/>
                  <a:gd name="T65" fmla="*/ 0 h 2428"/>
                  <a:gd name="T66" fmla="*/ 0 w 1046"/>
                  <a:gd name="T67" fmla="*/ 0 h 2428"/>
                  <a:gd name="T68" fmla="*/ 0 w 1046"/>
                  <a:gd name="T69" fmla="*/ 0 h 2428"/>
                  <a:gd name="T70" fmla="*/ 0 w 1046"/>
                  <a:gd name="T71" fmla="*/ 0 h 2428"/>
                  <a:gd name="T72" fmla="*/ 0 w 1046"/>
                  <a:gd name="T73" fmla="*/ 0 h 2428"/>
                  <a:gd name="T74" fmla="*/ 0 w 1046"/>
                  <a:gd name="T75" fmla="*/ 0 h 2428"/>
                  <a:gd name="T76" fmla="*/ 0 w 1046"/>
                  <a:gd name="T77" fmla="*/ 0 h 2428"/>
                  <a:gd name="T78" fmla="*/ 0 w 1046"/>
                  <a:gd name="T79" fmla="*/ 0 h 242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46"/>
                  <a:gd name="T121" fmla="*/ 0 h 2428"/>
                  <a:gd name="T122" fmla="*/ 1046 w 1046"/>
                  <a:gd name="T123" fmla="*/ 2428 h 242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46" h="2428">
                    <a:moveTo>
                      <a:pt x="58" y="0"/>
                    </a:moveTo>
                    <a:lnTo>
                      <a:pt x="52" y="2"/>
                    </a:lnTo>
                    <a:lnTo>
                      <a:pt x="47" y="4"/>
                    </a:lnTo>
                    <a:lnTo>
                      <a:pt x="43" y="5"/>
                    </a:lnTo>
                    <a:lnTo>
                      <a:pt x="39" y="7"/>
                    </a:lnTo>
                    <a:lnTo>
                      <a:pt x="33" y="10"/>
                    </a:lnTo>
                    <a:lnTo>
                      <a:pt x="25" y="13"/>
                    </a:lnTo>
                    <a:lnTo>
                      <a:pt x="15" y="18"/>
                    </a:lnTo>
                    <a:lnTo>
                      <a:pt x="0" y="25"/>
                    </a:lnTo>
                    <a:lnTo>
                      <a:pt x="29" y="97"/>
                    </a:lnTo>
                    <a:lnTo>
                      <a:pt x="56" y="164"/>
                    </a:lnTo>
                    <a:lnTo>
                      <a:pt x="80" y="225"/>
                    </a:lnTo>
                    <a:lnTo>
                      <a:pt x="104" y="282"/>
                    </a:lnTo>
                    <a:lnTo>
                      <a:pt x="125" y="334"/>
                    </a:lnTo>
                    <a:lnTo>
                      <a:pt x="145" y="384"/>
                    </a:lnTo>
                    <a:lnTo>
                      <a:pt x="164" y="430"/>
                    </a:lnTo>
                    <a:lnTo>
                      <a:pt x="182" y="475"/>
                    </a:lnTo>
                    <a:lnTo>
                      <a:pt x="199" y="518"/>
                    </a:lnTo>
                    <a:lnTo>
                      <a:pt x="217" y="560"/>
                    </a:lnTo>
                    <a:lnTo>
                      <a:pt x="233" y="601"/>
                    </a:lnTo>
                    <a:lnTo>
                      <a:pt x="250" y="643"/>
                    </a:lnTo>
                    <a:lnTo>
                      <a:pt x="268" y="686"/>
                    </a:lnTo>
                    <a:lnTo>
                      <a:pt x="285" y="730"/>
                    </a:lnTo>
                    <a:lnTo>
                      <a:pt x="305" y="776"/>
                    </a:lnTo>
                    <a:lnTo>
                      <a:pt x="324" y="825"/>
                    </a:lnTo>
                    <a:lnTo>
                      <a:pt x="344" y="876"/>
                    </a:lnTo>
                    <a:lnTo>
                      <a:pt x="367" y="932"/>
                    </a:lnTo>
                    <a:lnTo>
                      <a:pt x="391" y="991"/>
                    </a:lnTo>
                    <a:lnTo>
                      <a:pt x="418" y="1056"/>
                    </a:lnTo>
                    <a:lnTo>
                      <a:pt x="445" y="1126"/>
                    </a:lnTo>
                    <a:lnTo>
                      <a:pt x="477" y="1203"/>
                    </a:lnTo>
                    <a:lnTo>
                      <a:pt x="511" y="1285"/>
                    </a:lnTo>
                    <a:lnTo>
                      <a:pt x="546" y="1376"/>
                    </a:lnTo>
                    <a:lnTo>
                      <a:pt x="586" y="1474"/>
                    </a:lnTo>
                    <a:lnTo>
                      <a:pt x="629" y="1580"/>
                    </a:lnTo>
                    <a:lnTo>
                      <a:pt x="676" y="1695"/>
                    </a:lnTo>
                    <a:lnTo>
                      <a:pt x="726" y="1821"/>
                    </a:lnTo>
                    <a:lnTo>
                      <a:pt x="781" y="1956"/>
                    </a:lnTo>
                    <a:lnTo>
                      <a:pt x="840" y="2101"/>
                    </a:lnTo>
                    <a:lnTo>
                      <a:pt x="903" y="2258"/>
                    </a:lnTo>
                    <a:lnTo>
                      <a:pt x="972" y="2428"/>
                    </a:lnTo>
                    <a:lnTo>
                      <a:pt x="980" y="2424"/>
                    </a:lnTo>
                    <a:lnTo>
                      <a:pt x="986" y="2421"/>
                    </a:lnTo>
                    <a:lnTo>
                      <a:pt x="991" y="2419"/>
                    </a:lnTo>
                    <a:lnTo>
                      <a:pt x="997" y="2415"/>
                    </a:lnTo>
                    <a:lnTo>
                      <a:pt x="1004" y="2412"/>
                    </a:lnTo>
                    <a:lnTo>
                      <a:pt x="1013" y="2408"/>
                    </a:lnTo>
                    <a:lnTo>
                      <a:pt x="1028" y="2403"/>
                    </a:lnTo>
                    <a:lnTo>
                      <a:pt x="1046" y="2395"/>
                    </a:lnTo>
                    <a:lnTo>
                      <a:pt x="1017" y="2324"/>
                    </a:lnTo>
                    <a:lnTo>
                      <a:pt x="989" y="2257"/>
                    </a:lnTo>
                    <a:lnTo>
                      <a:pt x="964" y="2196"/>
                    </a:lnTo>
                    <a:lnTo>
                      <a:pt x="941" y="2139"/>
                    </a:lnTo>
                    <a:lnTo>
                      <a:pt x="920" y="2086"/>
                    </a:lnTo>
                    <a:lnTo>
                      <a:pt x="899" y="2037"/>
                    </a:lnTo>
                    <a:lnTo>
                      <a:pt x="880" y="1990"/>
                    </a:lnTo>
                    <a:lnTo>
                      <a:pt x="861" y="1946"/>
                    </a:lnTo>
                    <a:lnTo>
                      <a:pt x="843" y="1903"/>
                    </a:lnTo>
                    <a:lnTo>
                      <a:pt x="826" y="1861"/>
                    </a:lnTo>
                    <a:lnTo>
                      <a:pt x="809" y="1819"/>
                    </a:lnTo>
                    <a:lnTo>
                      <a:pt x="792" y="1778"/>
                    </a:lnTo>
                    <a:lnTo>
                      <a:pt x="774" y="1734"/>
                    </a:lnTo>
                    <a:lnTo>
                      <a:pt x="756" y="1691"/>
                    </a:lnTo>
                    <a:lnTo>
                      <a:pt x="737" y="1645"/>
                    </a:lnTo>
                    <a:lnTo>
                      <a:pt x="718" y="1596"/>
                    </a:lnTo>
                    <a:lnTo>
                      <a:pt x="696" y="1545"/>
                    </a:lnTo>
                    <a:lnTo>
                      <a:pt x="673" y="1490"/>
                    </a:lnTo>
                    <a:lnTo>
                      <a:pt x="648" y="1430"/>
                    </a:lnTo>
                    <a:lnTo>
                      <a:pt x="622" y="1365"/>
                    </a:lnTo>
                    <a:lnTo>
                      <a:pt x="593" y="1296"/>
                    </a:lnTo>
                    <a:lnTo>
                      <a:pt x="562" y="1220"/>
                    </a:lnTo>
                    <a:lnTo>
                      <a:pt x="528" y="1138"/>
                    </a:lnTo>
                    <a:lnTo>
                      <a:pt x="490" y="1047"/>
                    </a:lnTo>
                    <a:lnTo>
                      <a:pt x="450" y="950"/>
                    </a:lnTo>
                    <a:lnTo>
                      <a:pt x="407" y="843"/>
                    </a:lnTo>
                    <a:lnTo>
                      <a:pt x="359" y="730"/>
                    </a:lnTo>
                    <a:lnTo>
                      <a:pt x="308" y="605"/>
                    </a:lnTo>
                    <a:lnTo>
                      <a:pt x="251" y="470"/>
                    </a:lnTo>
                    <a:lnTo>
                      <a:pt x="192" y="325"/>
                    </a:lnTo>
                    <a:lnTo>
                      <a:pt x="127" y="16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6" name="Freeform 539">
                <a:extLst>
                  <a:ext uri="{FF2B5EF4-FFF2-40B4-BE49-F238E27FC236}">
                    <a16:creationId xmlns:a16="http://schemas.microsoft.com/office/drawing/2014/main" id="{BBE0EEF3-F294-433E-9F11-F902425155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6" cy="134"/>
              </a:xfrm>
              <a:custGeom>
                <a:avLst/>
                <a:gdLst>
                  <a:gd name="T0" fmla="*/ 0 w 1017"/>
                  <a:gd name="T1" fmla="*/ 0 h 2414"/>
                  <a:gd name="T2" fmla="*/ 0 w 1017"/>
                  <a:gd name="T3" fmla="*/ 0 h 2414"/>
                  <a:gd name="T4" fmla="*/ 0 w 1017"/>
                  <a:gd name="T5" fmla="*/ 0 h 2414"/>
                  <a:gd name="T6" fmla="*/ 0 w 1017"/>
                  <a:gd name="T7" fmla="*/ 0 h 2414"/>
                  <a:gd name="T8" fmla="*/ 0 w 1017"/>
                  <a:gd name="T9" fmla="*/ 0 h 2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7"/>
                  <a:gd name="T16" fmla="*/ 0 h 2414"/>
                  <a:gd name="T17" fmla="*/ 1017 w 1017"/>
                  <a:gd name="T18" fmla="*/ 2414 h 24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7" h="2414">
                    <a:moveTo>
                      <a:pt x="32" y="0"/>
                    </a:moveTo>
                    <a:lnTo>
                      <a:pt x="0" y="13"/>
                    </a:lnTo>
                    <a:lnTo>
                      <a:pt x="977" y="2414"/>
                    </a:lnTo>
                    <a:lnTo>
                      <a:pt x="1017" y="239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7" name="Freeform 540">
                <a:extLst>
                  <a:ext uri="{FF2B5EF4-FFF2-40B4-BE49-F238E27FC236}">
                    <a16:creationId xmlns:a16="http://schemas.microsoft.com/office/drawing/2014/main" id="{DE4AA517-5BD1-4EA0-B509-A6E6D2ADA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8"/>
                <a:ext cx="8" cy="6"/>
              </a:xfrm>
              <a:custGeom>
                <a:avLst/>
                <a:gdLst>
                  <a:gd name="T0" fmla="*/ 0 w 173"/>
                  <a:gd name="T1" fmla="*/ 0 h 95"/>
                  <a:gd name="T2" fmla="*/ 0 w 173"/>
                  <a:gd name="T3" fmla="*/ 0 h 95"/>
                  <a:gd name="T4" fmla="*/ 0 w 173"/>
                  <a:gd name="T5" fmla="*/ 0 h 95"/>
                  <a:gd name="T6" fmla="*/ 0 w 173"/>
                  <a:gd name="T7" fmla="*/ 0 h 95"/>
                  <a:gd name="T8" fmla="*/ 0 w 173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"/>
                  <a:gd name="T16" fmla="*/ 0 h 95"/>
                  <a:gd name="T17" fmla="*/ 173 w 173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" h="95">
                    <a:moveTo>
                      <a:pt x="173" y="20"/>
                    </a:moveTo>
                    <a:lnTo>
                      <a:pt x="7" y="95"/>
                    </a:lnTo>
                    <a:lnTo>
                      <a:pt x="0" y="75"/>
                    </a:lnTo>
                    <a:lnTo>
                      <a:pt x="166" y="0"/>
                    </a:lnTo>
                    <a:lnTo>
                      <a:pt x="173" y="2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8" name="Freeform 541">
                <a:extLst>
                  <a:ext uri="{FF2B5EF4-FFF2-40B4-BE49-F238E27FC236}">
                    <a16:creationId xmlns:a16="http://schemas.microsoft.com/office/drawing/2014/main" id="{92E70B6D-393E-4436-9362-14C0CACE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9" cy="10"/>
              </a:xfrm>
              <a:custGeom>
                <a:avLst/>
                <a:gdLst>
                  <a:gd name="T0" fmla="*/ 0 w 200"/>
                  <a:gd name="T1" fmla="*/ 0 h 179"/>
                  <a:gd name="T2" fmla="*/ 0 w 200"/>
                  <a:gd name="T3" fmla="*/ 0 h 179"/>
                  <a:gd name="T4" fmla="*/ 0 w 200"/>
                  <a:gd name="T5" fmla="*/ 0 h 179"/>
                  <a:gd name="T6" fmla="*/ 0 w 200"/>
                  <a:gd name="T7" fmla="*/ 0 h 179"/>
                  <a:gd name="T8" fmla="*/ 0 w 200"/>
                  <a:gd name="T9" fmla="*/ 0 h 179"/>
                  <a:gd name="T10" fmla="*/ 0 w 200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0"/>
                  <a:gd name="T19" fmla="*/ 0 h 179"/>
                  <a:gd name="T20" fmla="*/ 200 w 200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0" h="179">
                    <a:moveTo>
                      <a:pt x="200" y="106"/>
                    </a:moveTo>
                    <a:lnTo>
                      <a:pt x="33" y="179"/>
                    </a:lnTo>
                    <a:lnTo>
                      <a:pt x="0" y="100"/>
                    </a:lnTo>
                    <a:lnTo>
                      <a:pt x="58" y="0"/>
                    </a:lnTo>
                    <a:lnTo>
                      <a:pt x="168" y="26"/>
                    </a:lnTo>
                    <a:lnTo>
                      <a:pt x="200" y="106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49" name="Freeform 542">
                <a:extLst>
                  <a:ext uri="{FF2B5EF4-FFF2-40B4-BE49-F238E27FC236}">
                    <a16:creationId xmlns:a16="http://schemas.microsoft.com/office/drawing/2014/main" id="{3A2B00C4-8E1C-4278-A66B-63B1C2BD3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8" cy="10"/>
              </a:xfrm>
              <a:custGeom>
                <a:avLst/>
                <a:gdLst>
                  <a:gd name="T0" fmla="*/ 0 w 173"/>
                  <a:gd name="T1" fmla="*/ 0 h 177"/>
                  <a:gd name="T2" fmla="*/ 0 w 173"/>
                  <a:gd name="T3" fmla="*/ 0 h 177"/>
                  <a:gd name="T4" fmla="*/ 0 w 173"/>
                  <a:gd name="T5" fmla="*/ 0 h 177"/>
                  <a:gd name="T6" fmla="*/ 0 w 173"/>
                  <a:gd name="T7" fmla="*/ 0 h 177"/>
                  <a:gd name="T8" fmla="*/ 0 w 173"/>
                  <a:gd name="T9" fmla="*/ 0 h 177"/>
                  <a:gd name="T10" fmla="*/ 0 w 173"/>
                  <a:gd name="T11" fmla="*/ 0 h 177"/>
                  <a:gd name="T12" fmla="*/ 0 w 173"/>
                  <a:gd name="T13" fmla="*/ 0 h 177"/>
                  <a:gd name="T14" fmla="*/ 0 w 173"/>
                  <a:gd name="T15" fmla="*/ 0 h 177"/>
                  <a:gd name="T16" fmla="*/ 0 w 173"/>
                  <a:gd name="T17" fmla="*/ 0 h 177"/>
                  <a:gd name="T18" fmla="*/ 0 w 173"/>
                  <a:gd name="T19" fmla="*/ 0 h 177"/>
                  <a:gd name="T20" fmla="*/ 0 w 173"/>
                  <a:gd name="T21" fmla="*/ 0 h 177"/>
                  <a:gd name="T22" fmla="*/ 0 w 173"/>
                  <a:gd name="T23" fmla="*/ 0 h 177"/>
                  <a:gd name="T24" fmla="*/ 0 w 173"/>
                  <a:gd name="T25" fmla="*/ 0 h 177"/>
                  <a:gd name="T26" fmla="*/ 0 w 173"/>
                  <a:gd name="T27" fmla="*/ 0 h 177"/>
                  <a:gd name="T28" fmla="*/ 0 w 173"/>
                  <a:gd name="T29" fmla="*/ 0 h 177"/>
                  <a:gd name="T30" fmla="*/ 0 w 173"/>
                  <a:gd name="T31" fmla="*/ 0 h 177"/>
                  <a:gd name="T32" fmla="*/ 0 w 173"/>
                  <a:gd name="T33" fmla="*/ 0 h 177"/>
                  <a:gd name="T34" fmla="*/ 0 w 173"/>
                  <a:gd name="T35" fmla="*/ 0 h 177"/>
                  <a:gd name="T36" fmla="*/ 0 w 173"/>
                  <a:gd name="T37" fmla="*/ 0 h 177"/>
                  <a:gd name="T38" fmla="*/ 0 w 173"/>
                  <a:gd name="T39" fmla="*/ 0 h 177"/>
                  <a:gd name="T40" fmla="*/ 0 w 173"/>
                  <a:gd name="T41" fmla="*/ 0 h 177"/>
                  <a:gd name="T42" fmla="*/ 0 w 173"/>
                  <a:gd name="T43" fmla="*/ 0 h 177"/>
                  <a:gd name="T44" fmla="*/ 0 w 173"/>
                  <a:gd name="T45" fmla="*/ 0 h 177"/>
                  <a:gd name="T46" fmla="*/ 0 w 173"/>
                  <a:gd name="T47" fmla="*/ 0 h 177"/>
                  <a:gd name="T48" fmla="*/ 0 w 173"/>
                  <a:gd name="T49" fmla="*/ 0 h 177"/>
                  <a:gd name="T50" fmla="*/ 0 w 173"/>
                  <a:gd name="T51" fmla="*/ 0 h 177"/>
                  <a:gd name="T52" fmla="*/ 0 w 173"/>
                  <a:gd name="T53" fmla="*/ 0 h 177"/>
                  <a:gd name="T54" fmla="*/ 0 w 173"/>
                  <a:gd name="T55" fmla="*/ 0 h 177"/>
                  <a:gd name="T56" fmla="*/ 0 w 173"/>
                  <a:gd name="T57" fmla="*/ 0 h 177"/>
                  <a:gd name="T58" fmla="*/ 0 w 173"/>
                  <a:gd name="T59" fmla="*/ 0 h 177"/>
                  <a:gd name="T60" fmla="*/ 0 w 173"/>
                  <a:gd name="T61" fmla="*/ 0 h 177"/>
                  <a:gd name="T62" fmla="*/ 0 w 173"/>
                  <a:gd name="T63" fmla="*/ 0 h 177"/>
                  <a:gd name="T64" fmla="*/ 0 w 173"/>
                  <a:gd name="T65" fmla="*/ 0 h 177"/>
                  <a:gd name="T66" fmla="*/ 0 w 173"/>
                  <a:gd name="T67" fmla="*/ 0 h 177"/>
                  <a:gd name="T68" fmla="*/ 0 w 173"/>
                  <a:gd name="T69" fmla="*/ 0 h 177"/>
                  <a:gd name="T70" fmla="*/ 0 w 173"/>
                  <a:gd name="T71" fmla="*/ 0 h 177"/>
                  <a:gd name="T72" fmla="*/ 0 w 173"/>
                  <a:gd name="T73" fmla="*/ 0 h 177"/>
                  <a:gd name="T74" fmla="*/ 0 w 173"/>
                  <a:gd name="T75" fmla="*/ 0 h 177"/>
                  <a:gd name="T76" fmla="*/ 0 w 173"/>
                  <a:gd name="T77" fmla="*/ 0 h 177"/>
                  <a:gd name="T78" fmla="*/ 0 w 173"/>
                  <a:gd name="T79" fmla="*/ 0 h 177"/>
                  <a:gd name="T80" fmla="*/ 0 w 173"/>
                  <a:gd name="T81" fmla="*/ 0 h 17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73"/>
                  <a:gd name="T124" fmla="*/ 0 h 177"/>
                  <a:gd name="T125" fmla="*/ 173 w 173"/>
                  <a:gd name="T126" fmla="*/ 177 h 17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73" h="177">
                    <a:moveTo>
                      <a:pt x="173" y="116"/>
                    </a:moveTo>
                    <a:lnTo>
                      <a:pt x="159" y="122"/>
                    </a:lnTo>
                    <a:lnTo>
                      <a:pt x="147" y="126"/>
                    </a:lnTo>
                    <a:lnTo>
                      <a:pt x="137" y="131"/>
                    </a:lnTo>
                    <a:lnTo>
                      <a:pt x="127" y="135"/>
                    </a:lnTo>
                    <a:lnTo>
                      <a:pt x="114" y="141"/>
                    </a:lnTo>
                    <a:lnTo>
                      <a:pt x="94" y="150"/>
                    </a:lnTo>
                    <a:lnTo>
                      <a:pt x="69" y="161"/>
                    </a:lnTo>
                    <a:lnTo>
                      <a:pt x="33" y="177"/>
                    </a:lnTo>
                    <a:lnTo>
                      <a:pt x="30" y="168"/>
                    </a:lnTo>
                    <a:lnTo>
                      <a:pt x="27" y="161"/>
                    </a:lnTo>
                    <a:lnTo>
                      <a:pt x="25" y="156"/>
                    </a:lnTo>
                    <a:lnTo>
                      <a:pt x="23" y="150"/>
                    </a:lnTo>
                    <a:lnTo>
                      <a:pt x="20" y="141"/>
                    </a:lnTo>
                    <a:lnTo>
                      <a:pt x="16" y="131"/>
                    </a:lnTo>
                    <a:lnTo>
                      <a:pt x="9" y="117"/>
                    </a:lnTo>
                    <a:lnTo>
                      <a:pt x="0" y="97"/>
                    </a:lnTo>
                    <a:lnTo>
                      <a:pt x="7" y="86"/>
                    </a:lnTo>
                    <a:lnTo>
                      <a:pt x="11" y="78"/>
                    </a:lnTo>
                    <a:lnTo>
                      <a:pt x="15" y="70"/>
                    </a:lnTo>
                    <a:lnTo>
                      <a:pt x="19" y="63"/>
                    </a:lnTo>
                    <a:lnTo>
                      <a:pt x="24" y="54"/>
                    </a:lnTo>
                    <a:lnTo>
                      <a:pt x="31" y="41"/>
                    </a:lnTo>
                    <a:lnTo>
                      <a:pt x="40" y="24"/>
                    </a:lnTo>
                    <a:lnTo>
                      <a:pt x="52" y="0"/>
                    </a:lnTo>
                    <a:lnTo>
                      <a:pt x="63" y="3"/>
                    </a:lnTo>
                    <a:lnTo>
                      <a:pt x="70" y="6"/>
                    </a:lnTo>
                    <a:lnTo>
                      <a:pt x="76" y="8"/>
                    </a:lnTo>
                    <a:lnTo>
                      <a:pt x="83" y="11"/>
                    </a:lnTo>
                    <a:lnTo>
                      <a:pt x="91" y="15"/>
                    </a:lnTo>
                    <a:lnTo>
                      <a:pt x="102" y="20"/>
                    </a:lnTo>
                    <a:lnTo>
                      <a:pt x="119" y="27"/>
                    </a:lnTo>
                    <a:lnTo>
                      <a:pt x="140" y="37"/>
                    </a:lnTo>
                    <a:lnTo>
                      <a:pt x="144" y="44"/>
                    </a:lnTo>
                    <a:lnTo>
                      <a:pt x="146" y="50"/>
                    </a:lnTo>
                    <a:lnTo>
                      <a:pt x="149" y="56"/>
                    </a:lnTo>
                    <a:lnTo>
                      <a:pt x="151" y="61"/>
                    </a:lnTo>
                    <a:lnTo>
                      <a:pt x="154" y="69"/>
                    </a:lnTo>
                    <a:lnTo>
                      <a:pt x="159" y="80"/>
                    </a:lnTo>
                    <a:lnTo>
                      <a:pt x="165" y="95"/>
                    </a:lnTo>
                    <a:lnTo>
                      <a:pt x="173" y="116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0" name="Freeform 543">
                <a:extLst>
                  <a:ext uri="{FF2B5EF4-FFF2-40B4-BE49-F238E27FC236}">
                    <a16:creationId xmlns:a16="http://schemas.microsoft.com/office/drawing/2014/main" id="{B38600F8-4528-4261-9EC9-5826FDDF4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6" cy="9"/>
              </a:xfrm>
              <a:custGeom>
                <a:avLst/>
                <a:gdLst>
                  <a:gd name="T0" fmla="*/ 0 w 142"/>
                  <a:gd name="T1" fmla="*/ 0 h 175"/>
                  <a:gd name="T2" fmla="*/ 0 w 142"/>
                  <a:gd name="T3" fmla="*/ 0 h 175"/>
                  <a:gd name="T4" fmla="*/ 0 w 142"/>
                  <a:gd name="T5" fmla="*/ 0 h 175"/>
                  <a:gd name="T6" fmla="*/ 0 w 142"/>
                  <a:gd name="T7" fmla="*/ 0 h 175"/>
                  <a:gd name="T8" fmla="*/ 0 w 142"/>
                  <a:gd name="T9" fmla="*/ 0 h 175"/>
                  <a:gd name="T10" fmla="*/ 0 w 142"/>
                  <a:gd name="T11" fmla="*/ 0 h 175"/>
                  <a:gd name="T12" fmla="*/ 0 w 142"/>
                  <a:gd name="T13" fmla="*/ 0 h 175"/>
                  <a:gd name="T14" fmla="*/ 0 w 142"/>
                  <a:gd name="T15" fmla="*/ 0 h 175"/>
                  <a:gd name="T16" fmla="*/ 0 w 142"/>
                  <a:gd name="T17" fmla="*/ 0 h 175"/>
                  <a:gd name="T18" fmla="*/ 0 w 142"/>
                  <a:gd name="T19" fmla="*/ 0 h 175"/>
                  <a:gd name="T20" fmla="*/ 0 w 142"/>
                  <a:gd name="T21" fmla="*/ 0 h 175"/>
                  <a:gd name="T22" fmla="*/ 0 w 142"/>
                  <a:gd name="T23" fmla="*/ 0 h 175"/>
                  <a:gd name="T24" fmla="*/ 0 w 142"/>
                  <a:gd name="T25" fmla="*/ 0 h 175"/>
                  <a:gd name="T26" fmla="*/ 0 w 142"/>
                  <a:gd name="T27" fmla="*/ 0 h 175"/>
                  <a:gd name="T28" fmla="*/ 0 w 142"/>
                  <a:gd name="T29" fmla="*/ 0 h 175"/>
                  <a:gd name="T30" fmla="*/ 0 w 142"/>
                  <a:gd name="T31" fmla="*/ 0 h 175"/>
                  <a:gd name="T32" fmla="*/ 0 w 142"/>
                  <a:gd name="T33" fmla="*/ 0 h 175"/>
                  <a:gd name="T34" fmla="*/ 0 w 142"/>
                  <a:gd name="T35" fmla="*/ 0 h 175"/>
                  <a:gd name="T36" fmla="*/ 0 w 142"/>
                  <a:gd name="T37" fmla="*/ 0 h 175"/>
                  <a:gd name="T38" fmla="*/ 0 w 142"/>
                  <a:gd name="T39" fmla="*/ 0 h 175"/>
                  <a:gd name="T40" fmla="*/ 0 w 142"/>
                  <a:gd name="T41" fmla="*/ 0 h 175"/>
                  <a:gd name="T42" fmla="*/ 0 w 142"/>
                  <a:gd name="T43" fmla="*/ 0 h 175"/>
                  <a:gd name="T44" fmla="*/ 0 w 142"/>
                  <a:gd name="T45" fmla="*/ 0 h 175"/>
                  <a:gd name="T46" fmla="*/ 0 w 142"/>
                  <a:gd name="T47" fmla="*/ 0 h 175"/>
                  <a:gd name="T48" fmla="*/ 0 w 142"/>
                  <a:gd name="T49" fmla="*/ 0 h 175"/>
                  <a:gd name="T50" fmla="*/ 0 w 142"/>
                  <a:gd name="T51" fmla="*/ 0 h 175"/>
                  <a:gd name="T52" fmla="*/ 0 w 142"/>
                  <a:gd name="T53" fmla="*/ 0 h 175"/>
                  <a:gd name="T54" fmla="*/ 0 w 142"/>
                  <a:gd name="T55" fmla="*/ 0 h 175"/>
                  <a:gd name="T56" fmla="*/ 0 w 142"/>
                  <a:gd name="T57" fmla="*/ 0 h 175"/>
                  <a:gd name="T58" fmla="*/ 0 w 142"/>
                  <a:gd name="T59" fmla="*/ 0 h 175"/>
                  <a:gd name="T60" fmla="*/ 0 w 142"/>
                  <a:gd name="T61" fmla="*/ 0 h 175"/>
                  <a:gd name="T62" fmla="*/ 0 w 142"/>
                  <a:gd name="T63" fmla="*/ 0 h 175"/>
                  <a:gd name="T64" fmla="*/ 0 w 142"/>
                  <a:gd name="T65" fmla="*/ 0 h 175"/>
                  <a:gd name="T66" fmla="*/ 0 w 142"/>
                  <a:gd name="T67" fmla="*/ 0 h 175"/>
                  <a:gd name="T68" fmla="*/ 0 w 142"/>
                  <a:gd name="T69" fmla="*/ 0 h 175"/>
                  <a:gd name="T70" fmla="*/ 0 w 142"/>
                  <a:gd name="T71" fmla="*/ 0 h 175"/>
                  <a:gd name="T72" fmla="*/ 0 w 142"/>
                  <a:gd name="T73" fmla="*/ 0 h 175"/>
                  <a:gd name="T74" fmla="*/ 0 w 142"/>
                  <a:gd name="T75" fmla="*/ 0 h 175"/>
                  <a:gd name="T76" fmla="*/ 0 w 142"/>
                  <a:gd name="T77" fmla="*/ 0 h 175"/>
                  <a:gd name="T78" fmla="*/ 0 w 142"/>
                  <a:gd name="T79" fmla="*/ 0 h 175"/>
                  <a:gd name="T80" fmla="*/ 0 w 142"/>
                  <a:gd name="T81" fmla="*/ 0 h 17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175"/>
                  <a:gd name="T125" fmla="*/ 142 w 142"/>
                  <a:gd name="T126" fmla="*/ 175 h 17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175">
                    <a:moveTo>
                      <a:pt x="142" y="126"/>
                    </a:moveTo>
                    <a:lnTo>
                      <a:pt x="131" y="131"/>
                    </a:lnTo>
                    <a:lnTo>
                      <a:pt x="122" y="135"/>
                    </a:lnTo>
                    <a:lnTo>
                      <a:pt x="115" y="137"/>
                    </a:lnTo>
                    <a:lnTo>
                      <a:pt x="107" y="141"/>
                    </a:lnTo>
                    <a:lnTo>
                      <a:pt x="96" y="145"/>
                    </a:lnTo>
                    <a:lnTo>
                      <a:pt x="81" y="152"/>
                    </a:lnTo>
                    <a:lnTo>
                      <a:pt x="61" y="161"/>
                    </a:lnTo>
                    <a:lnTo>
                      <a:pt x="32" y="175"/>
                    </a:lnTo>
                    <a:lnTo>
                      <a:pt x="29" y="165"/>
                    </a:lnTo>
                    <a:lnTo>
                      <a:pt x="26" y="159"/>
                    </a:lnTo>
                    <a:lnTo>
                      <a:pt x="24" y="153"/>
                    </a:lnTo>
                    <a:lnTo>
                      <a:pt x="22" y="146"/>
                    </a:lnTo>
                    <a:lnTo>
                      <a:pt x="19" y="139"/>
                    </a:lnTo>
                    <a:lnTo>
                      <a:pt x="15" y="128"/>
                    </a:lnTo>
                    <a:lnTo>
                      <a:pt x="8" y="114"/>
                    </a:lnTo>
                    <a:lnTo>
                      <a:pt x="0" y="95"/>
                    </a:lnTo>
                    <a:lnTo>
                      <a:pt x="5" y="84"/>
                    </a:lnTo>
                    <a:lnTo>
                      <a:pt x="9" y="76"/>
                    </a:lnTo>
                    <a:lnTo>
                      <a:pt x="12" y="68"/>
                    </a:lnTo>
                    <a:lnTo>
                      <a:pt x="16" y="61"/>
                    </a:lnTo>
                    <a:lnTo>
                      <a:pt x="20" y="53"/>
                    </a:lnTo>
                    <a:lnTo>
                      <a:pt x="26" y="40"/>
                    </a:lnTo>
                    <a:lnTo>
                      <a:pt x="34" y="23"/>
                    </a:lnTo>
                    <a:lnTo>
                      <a:pt x="45" y="0"/>
                    </a:lnTo>
                    <a:lnTo>
                      <a:pt x="53" y="4"/>
                    </a:lnTo>
                    <a:lnTo>
                      <a:pt x="59" y="8"/>
                    </a:lnTo>
                    <a:lnTo>
                      <a:pt x="63" y="11"/>
                    </a:lnTo>
                    <a:lnTo>
                      <a:pt x="68" y="15"/>
                    </a:lnTo>
                    <a:lnTo>
                      <a:pt x="74" y="19"/>
                    </a:lnTo>
                    <a:lnTo>
                      <a:pt x="83" y="25"/>
                    </a:lnTo>
                    <a:lnTo>
                      <a:pt x="94" y="34"/>
                    </a:lnTo>
                    <a:lnTo>
                      <a:pt x="111" y="46"/>
                    </a:lnTo>
                    <a:lnTo>
                      <a:pt x="115" y="55"/>
                    </a:lnTo>
                    <a:lnTo>
                      <a:pt x="117" y="60"/>
                    </a:lnTo>
                    <a:lnTo>
                      <a:pt x="120" y="65"/>
                    </a:lnTo>
                    <a:lnTo>
                      <a:pt x="122" y="71"/>
                    </a:lnTo>
                    <a:lnTo>
                      <a:pt x="125" y="79"/>
                    </a:lnTo>
                    <a:lnTo>
                      <a:pt x="129" y="89"/>
                    </a:lnTo>
                    <a:lnTo>
                      <a:pt x="135" y="105"/>
                    </a:lnTo>
                    <a:lnTo>
                      <a:pt x="142" y="126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1" name="Freeform 544">
                <a:extLst>
                  <a:ext uri="{FF2B5EF4-FFF2-40B4-BE49-F238E27FC236}">
                    <a16:creationId xmlns:a16="http://schemas.microsoft.com/office/drawing/2014/main" id="{B942CEEE-3DB2-4F59-9A62-F495103CE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5" cy="9"/>
              </a:xfrm>
              <a:custGeom>
                <a:avLst/>
                <a:gdLst>
                  <a:gd name="T0" fmla="*/ 0 w 116"/>
                  <a:gd name="T1" fmla="*/ 0 h 172"/>
                  <a:gd name="T2" fmla="*/ 0 w 116"/>
                  <a:gd name="T3" fmla="*/ 0 h 172"/>
                  <a:gd name="T4" fmla="*/ 0 w 116"/>
                  <a:gd name="T5" fmla="*/ 0 h 172"/>
                  <a:gd name="T6" fmla="*/ 0 w 116"/>
                  <a:gd name="T7" fmla="*/ 0 h 172"/>
                  <a:gd name="T8" fmla="*/ 0 w 116"/>
                  <a:gd name="T9" fmla="*/ 0 h 172"/>
                  <a:gd name="T10" fmla="*/ 0 w 116"/>
                  <a:gd name="T11" fmla="*/ 0 h 172"/>
                  <a:gd name="T12" fmla="*/ 0 w 116"/>
                  <a:gd name="T13" fmla="*/ 0 h 172"/>
                  <a:gd name="T14" fmla="*/ 0 w 116"/>
                  <a:gd name="T15" fmla="*/ 0 h 172"/>
                  <a:gd name="T16" fmla="*/ 0 w 116"/>
                  <a:gd name="T17" fmla="*/ 0 h 172"/>
                  <a:gd name="T18" fmla="*/ 0 w 116"/>
                  <a:gd name="T19" fmla="*/ 0 h 172"/>
                  <a:gd name="T20" fmla="*/ 0 w 116"/>
                  <a:gd name="T21" fmla="*/ 0 h 172"/>
                  <a:gd name="T22" fmla="*/ 0 w 116"/>
                  <a:gd name="T23" fmla="*/ 0 h 172"/>
                  <a:gd name="T24" fmla="*/ 0 w 116"/>
                  <a:gd name="T25" fmla="*/ 0 h 172"/>
                  <a:gd name="T26" fmla="*/ 0 w 116"/>
                  <a:gd name="T27" fmla="*/ 0 h 172"/>
                  <a:gd name="T28" fmla="*/ 0 w 116"/>
                  <a:gd name="T29" fmla="*/ 0 h 172"/>
                  <a:gd name="T30" fmla="*/ 0 w 116"/>
                  <a:gd name="T31" fmla="*/ 0 h 172"/>
                  <a:gd name="T32" fmla="*/ 0 w 116"/>
                  <a:gd name="T33" fmla="*/ 0 h 172"/>
                  <a:gd name="T34" fmla="*/ 0 w 116"/>
                  <a:gd name="T35" fmla="*/ 0 h 172"/>
                  <a:gd name="T36" fmla="*/ 0 w 116"/>
                  <a:gd name="T37" fmla="*/ 0 h 172"/>
                  <a:gd name="T38" fmla="*/ 0 w 116"/>
                  <a:gd name="T39" fmla="*/ 0 h 172"/>
                  <a:gd name="T40" fmla="*/ 0 w 116"/>
                  <a:gd name="T41" fmla="*/ 0 h 172"/>
                  <a:gd name="T42" fmla="*/ 0 w 116"/>
                  <a:gd name="T43" fmla="*/ 0 h 172"/>
                  <a:gd name="T44" fmla="*/ 0 w 116"/>
                  <a:gd name="T45" fmla="*/ 0 h 172"/>
                  <a:gd name="T46" fmla="*/ 0 w 116"/>
                  <a:gd name="T47" fmla="*/ 0 h 172"/>
                  <a:gd name="T48" fmla="*/ 0 w 116"/>
                  <a:gd name="T49" fmla="*/ 0 h 172"/>
                  <a:gd name="T50" fmla="*/ 0 w 116"/>
                  <a:gd name="T51" fmla="*/ 0 h 172"/>
                  <a:gd name="T52" fmla="*/ 0 w 116"/>
                  <a:gd name="T53" fmla="*/ 0 h 172"/>
                  <a:gd name="T54" fmla="*/ 0 w 116"/>
                  <a:gd name="T55" fmla="*/ 0 h 172"/>
                  <a:gd name="T56" fmla="*/ 0 w 116"/>
                  <a:gd name="T57" fmla="*/ 0 h 172"/>
                  <a:gd name="T58" fmla="*/ 0 w 116"/>
                  <a:gd name="T59" fmla="*/ 0 h 172"/>
                  <a:gd name="T60" fmla="*/ 0 w 116"/>
                  <a:gd name="T61" fmla="*/ 0 h 172"/>
                  <a:gd name="T62" fmla="*/ 0 w 116"/>
                  <a:gd name="T63" fmla="*/ 0 h 172"/>
                  <a:gd name="T64" fmla="*/ 0 w 116"/>
                  <a:gd name="T65" fmla="*/ 0 h 172"/>
                  <a:gd name="T66" fmla="*/ 0 w 116"/>
                  <a:gd name="T67" fmla="*/ 0 h 172"/>
                  <a:gd name="T68" fmla="*/ 0 w 116"/>
                  <a:gd name="T69" fmla="*/ 0 h 172"/>
                  <a:gd name="T70" fmla="*/ 0 w 116"/>
                  <a:gd name="T71" fmla="*/ 0 h 172"/>
                  <a:gd name="T72" fmla="*/ 0 w 116"/>
                  <a:gd name="T73" fmla="*/ 0 h 172"/>
                  <a:gd name="T74" fmla="*/ 0 w 116"/>
                  <a:gd name="T75" fmla="*/ 0 h 172"/>
                  <a:gd name="T76" fmla="*/ 0 w 116"/>
                  <a:gd name="T77" fmla="*/ 0 h 172"/>
                  <a:gd name="T78" fmla="*/ 0 w 116"/>
                  <a:gd name="T79" fmla="*/ 0 h 172"/>
                  <a:gd name="T80" fmla="*/ 0 w 116"/>
                  <a:gd name="T81" fmla="*/ 0 h 17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6"/>
                  <a:gd name="T124" fmla="*/ 0 h 172"/>
                  <a:gd name="T125" fmla="*/ 116 w 116"/>
                  <a:gd name="T126" fmla="*/ 172 h 17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6" h="172">
                    <a:moveTo>
                      <a:pt x="116" y="136"/>
                    </a:moveTo>
                    <a:lnTo>
                      <a:pt x="107" y="139"/>
                    </a:lnTo>
                    <a:lnTo>
                      <a:pt x="101" y="141"/>
                    </a:lnTo>
                    <a:lnTo>
                      <a:pt x="95" y="144"/>
                    </a:lnTo>
                    <a:lnTo>
                      <a:pt x="88" y="146"/>
                    </a:lnTo>
                    <a:lnTo>
                      <a:pt x="80" y="150"/>
                    </a:lnTo>
                    <a:lnTo>
                      <a:pt x="69" y="155"/>
                    </a:lnTo>
                    <a:lnTo>
                      <a:pt x="54" y="162"/>
                    </a:lnTo>
                    <a:lnTo>
                      <a:pt x="32" y="172"/>
                    </a:lnTo>
                    <a:lnTo>
                      <a:pt x="29" y="163"/>
                    </a:lnTo>
                    <a:lnTo>
                      <a:pt x="26" y="156"/>
                    </a:lnTo>
                    <a:lnTo>
                      <a:pt x="24" y="151"/>
                    </a:lnTo>
                    <a:lnTo>
                      <a:pt x="22" y="144"/>
                    </a:lnTo>
                    <a:lnTo>
                      <a:pt x="19" y="136"/>
                    </a:lnTo>
                    <a:lnTo>
                      <a:pt x="15" y="126"/>
                    </a:lnTo>
                    <a:lnTo>
                      <a:pt x="8" y="112"/>
                    </a:lnTo>
                    <a:lnTo>
                      <a:pt x="0" y="93"/>
                    </a:lnTo>
                    <a:lnTo>
                      <a:pt x="5" y="82"/>
                    </a:lnTo>
                    <a:lnTo>
                      <a:pt x="8" y="74"/>
                    </a:lnTo>
                    <a:lnTo>
                      <a:pt x="11" y="67"/>
                    </a:lnTo>
                    <a:lnTo>
                      <a:pt x="14" y="60"/>
                    </a:lnTo>
                    <a:lnTo>
                      <a:pt x="18" y="51"/>
                    </a:lnTo>
                    <a:lnTo>
                      <a:pt x="23" y="39"/>
                    </a:lnTo>
                    <a:lnTo>
                      <a:pt x="31" y="22"/>
                    </a:lnTo>
                    <a:lnTo>
                      <a:pt x="40" y="0"/>
                    </a:lnTo>
                    <a:lnTo>
                      <a:pt x="46" y="5"/>
                    </a:lnTo>
                    <a:lnTo>
                      <a:pt x="50" y="9"/>
                    </a:lnTo>
                    <a:lnTo>
                      <a:pt x="53" y="14"/>
                    </a:lnTo>
                    <a:lnTo>
                      <a:pt x="56" y="18"/>
                    </a:lnTo>
                    <a:lnTo>
                      <a:pt x="60" y="23"/>
                    </a:lnTo>
                    <a:lnTo>
                      <a:pt x="65" y="30"/>
                    </a:lnTo>
                    <a:lnTo>
                      <a:pt x="73" y="41"/>
                    </a:lnTo>
                    <a:lnTo>
                      <a:pt x="83" y="56"/>
                    </a:lnTo>
                    <a:lnTo>
                      <a:pt x="87" y="64"/>
                    </a:lnTo>
                    <a:lnTo>
                      <a:pt x="89" y="69"/>
                    </a:lnTo>
                    <a:lnTo>
                      <a:pt x="92" y="75"/>
                    </a:lnTo>
                    <a:lnTo>
                      <a:pt x="95" y="81"/>
                    </a:lnTo>
                    <a:lnTo>
                      <a:pt x="98" y="88"/>
                    </a:lnTo>
                    <a:lnTo>
                      <a:pt x="102" y="99"/>
                    </a:lnTo>
                    <a:lnTo>
                      <a:pt x="108" y="115"/>
                    </a:lnTo>
                    <a:lnTo>
                      <a:pt x="116" y="136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2" name="Freeform 545">
                <a:extLst>
                  <a:ext uri="{FF2B5EF4-FFF2-40B4-BE49-F238E27FC236}">
                    <a16:creationId xmlns:a16="http://schemas.microsoft.com/office/drawing/2014/main" id="{FA2B9B00-38DA-4EED-BD93-3D86E2FCD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4" cy="9"/>
              </a:xfrm>
              <a:custGeom>
                <a:avLst/>
                <a:gdLst>
                  <a:gd name="T0" fmla="*/ 0 w 88"/>
                  <a:gd name="T1" fmla="*/ 0 h 170"/>
                  <a:gd name="T2" fmla="*/ 0 w 88"/>
                  <a:gd name="T3" fmla="*/ 0 h 170"/>
                  <a:gd name="T4" fmla="*/ 0 w 88"/>
                  <a:gd name="T5" fmla="*/ 0 h 170"/>
                  <a:gd name="T6" fmla="*/ 0 w 88"/>
                  <a:gd name="T7" fmla="*/ 0 h 170"/>
                  <a:gd name="T8" fmla="*/ 0 w 88"/>
                  <a:gd name="T9" fmla="*/ 0 h 170"/>
                  <a:gd name="T10" fmla="*/ 0 w 88"/>
                  <a:gd name="T11" fmla="*/ 0 h 170"/>
                  <a:gd name="T12" fmla="*/ 0 w 88"/>
                  <a:gd name="T13" fmla="*/ 0 h 170"/>
                  <a:gd name="T14" fmla="*/ 0 w 88"/>
                  <a:gd name="T15" fmla="*/ 0 h 170"/>
                  <a:gd name="T16" fmla="*/ 0 w 88"/>
                  <a:gd name="T17" fmla="*/ 0 h 170"/>
                  <a:gd name="T18" fmla="*/ 0 w 88"/>
                  <a:gd name="T19" fmla="*/ 0 h 170"/>
                  <a:gd name="T20" fmla="*/ 0 w 88"/>
                  <a:gd name="T21" fmla="*/ 0 h 170"/>
                  <a:gd name="T22" fmla="*/ 0 w 88"/>
                  <a:gd name="T23" fmla="*/ 0 h 170"/>
                  <a:gd name="T24" fmla="*/ 0 w 88"/>
                  <a:gd name="T25" fmla="*/ 0 h 170"/>
                  <a:gd name="T26" fmla="*/ 0 w 88"/>
                  <a:gd name="T27" fmla="*/ 0 h 170"/>
                  <a:gd name="T28" fmla="*/ 0 w 88"/>
                  <a:gd name="T29" fmla="*/ 0 h 170"/>
                  <a:gd name="T30" fmla="*/ 0 w 88"/>
                  <a:gd name="T31" fmla="*/ 0 h 170"/>
                  <a:gd name="T32" fmla="*/ 0 w 88"/>
                  <a:gd name="T33" fmla="*/ 0 h 170"/>
                  <a:gd name="T34" fmla="*/ 0 w 88"/>
                  <a:gd name="T35" fmla="*/ 0 h 170"/>
                  <a:gd name="T36" fmla="*/ 0 w 88"/>
                  <a:gd name="T37" fmla="*/ 0 h 170"/>
                  <a:gd name="T38" fmla="*/ 0 w 88"/>
                  <a:gd name="T39" fmla="*/ 0 h 170"/>
                  <a:gd name="T40" fmla="*/ 0 w 88"/>
                  <a:gd name="T41" fmla="*/ 0 h 170"/>
                  <a:gd name="T42" fmla="*/ 0 w 88"/>
                  <a:gd name="T43" fmla="*/ 0 h 170"/>
                  <a:gd name="T44" fmla="*/ 0 w 88"/>
                  <a:gd name="T45" fmla="*/ 0 h 170"/>
                  <a:gd name="T46" fmla="*/ 0 w 88"/>
                  <a:gd name="T47" fmla="*/ 0 h 170"/>
                  <a:gd name="T48" fmla="*/ 0 w 88"/>
                  <a:gd name="T49" fmla="*/ 0 h 170"/>
                  <a:gd name="T50" fmla="*/ 0 w 88"/>
                  <a:gd name="T51" fmla="*/ 0 h 170"/>
                  <a:gd name="T52" fmla="*/ 0 w 88"/>
                  <a:gd name="T53" fmla="*/ 0 h 170"/>
                  <a:gd name="T54" fmla="*/ 0 w 88"/>
                  <a:gd name="T55" fmla="*/ 0 h 170"/>
                  <a:gd name="T56" fmla="*/ 0 w 88"/>
                  <a:gd name="T57" fmla="*/ 0 h 170"/>
                  <a:gd name="T58" fmla="*/ 0 w 88"/>
                  <a:gd name="T59" fmla="*/ 0 h 170"/>
                  <a:gd name="T60" fmla="*/ 0 w 88"/>
                  <a:gd name="T61" fmla="*/ 0 h 170"/>
                  <a:gd name="T62" fmla="*/ 0 w 88"/>
                  <a:gd name="T63" fmla="*/ 0 h 170"/>
                  <a:gd name="T64" fmla="*/ 0 w 88"/>
                  <a:gd name="T65" fmla="*/ 0 h 170"/>
                  <a:gd name="T66" fmla="*/ 0 w 88"/>
                  <a:gd name="T67" fmla="*/ 0 h 170"/>
                  <a:gd name="T68" fmla="*/ 0 w 88"/>
                  <a:gd name="T69" fmla="*/ 0 h 170"/>
                  <a:gd name="T70" fmla="*/ 0 w 88"/>
                  <a:gd name="T71" fmla="*/ 0 h 170"/>
                  <a:gd name="T72" fmla="*/ 0 w 88"/>
                  <a:gd name="T73" fmla="*/ 0 h 17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88"/>
                  <a:gd name="T112" fmla="*/ 0 h 170"/>
                  <a:gd name="T113" fmla="*/ 88 w 88"/>
                  <a:gd name="T114" fmla="*/ 170 h 17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88" h="170">
                    <a:moveTo>
                      <a:pt x="88" y="145"/>
                    </a:moveTo>
                    <a:lnTo>
                      <a:pt x="81" y="147"/>
                    </a:lnTo>
                    <a:lnTo>
                      <a:pt x="77" y="150"/>
                    </a:lnTo>
                    <a:lnTo>
                      <a:pt x="73" y="151"/>
                    </a:lnTo>
                    <a:lnTo>
                      <a:pt x="69" y="153"/>
                    </a:lnTo>
                    <a:lnTo>
                      <a:pt x="64" y="155"/>
                    </a:lnTo>
                    <a:lnTo>
                      <a:pt x="57" y="158"/>
                    </a:lnTo>
                    <a:lnTo>
                      <a:pt x="47" y="163"/>
                    </a:lnTo>
                    <a:lnTo>
                      <a:pt x="32" y="170"/>
                    </a:lnTo>
                    <a:lnTo>
                      <a:pt x="29" y="161"/>
                    </a:lnTo>
                    <a:lnTo>
                      <a:pt x="26" y="154"/>
                    </a:lnTo>
                    <a:lnTo>
                      <a:pt x="24" y="148"/>
                    </a:lnTo>
                    <a:lnTo>
                      <a:pt x="22" y="142"/>
                    </a:lnTo>
                    <a:lnTo>
                      <a:pt x="19" y="134"/>
                    </a:lnTo>
                    <a:lnTo>
                      <a:pt x="15" y="123"/>
                    </a:lnTo>
                    <a:lnTo>
                      <a:pt x="8" y="109"/>
                    </a:lnTo>
                    <a:lnTo>
                      <a:pt x="0" y="89"/>
                    </a:lnTo>
                    <a:lnTo>
                      <a:pt x="4" y="79"/>
                    </a:lnTo>
                    <a:lnTo>
                      <a:pt x="7" y="71"/>
                    </a:lnTo>
                    <a:lnTo>
                      <a:pt x="9" y="65"/>
                    </a:lnTo>
                    <a:lnTo>
                      <a:pt x="12" y="58"/>
                    </a:lnTo>
                    <a:lnTo>
                      <a:pt x="15" y="49"/>
                    </a:lnTo>
                    <a:lnTo>
                      <a:pt x="19" y="38"/>
                    </a:lnTo>
                    <a:lnTo>
                      <a:pt x="26" y="22"/>
                    </a:lnTo>
                    <a:lnTo>
                      <a:pt x="34" y="0"/>
                    </a:lnTo>
                    <a:lnTo>
                      <a:pt x="40" y="11"/>
                    </a:lnTo>
                    <a:lnTo>
                      <a:pt x="43" y="21"/>
                    </a:lnTo>
                    <a:lnTo>
                      <a:pt x="47" y="36"/>
                    </a:lnTo>
                    <a:lnTo>
                      <a:pt x="55" y="65"/>
                    </a:lnTo>
                    <a:lnTo>
                      <a:pt x="59" y="74"/>
                    </a:lnTo>
                    <a:lnTo>
                      <a:pt x="61" y="79"/>
                    </a:lnTo>
                    <a:lnTo>
                      <a:pt x="64" y="84"/>
                    </a:lnTo>
                    <a:lnTo>
                      <a:pt x="66" y="90"/>
                    </a:lnTo>
                    <a:lnTo>
                      <a:pt x="69" y="98"/>
                    </a:lnTo>
                    <a:lnTo>
                      <a:pt x="73" y="108"/>
                    </a:lnTo>
                    <a:lnTo>
                      <a:pt x="79" y="124"/>
                    </a:lnTo>
                    <a:lnTo>
                      <a:pt x="88" y="145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3" name="Freeform 546">
                <a:extLst>
                  <a:ext uri="{FF2B5EF4-FFF2-40B4-BE49-F238E27FC236}">
                    <a16:creationId xmlns:a16="http://schemas.microsoft.com/office/drawing/2014/main" id="{24B246F9-4F2F-4537-B312-ACDC9E0FD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3"/>
                <a:ext cx="2" cy="9"/>
              </a:xfrm>
              <a:custGeom>
                <a:avLst/>
                <a:gdLst>
                  <a:gd name="T0" fmla="*/ 0 w 59"/>
                  <a:gd name="T1" fmla="*/ 0 h 167"/>
                  <a:gd name="T2" fmla="*/ 0 w 59"/>
                  <a:gd name="T3" fmla="*/ 0 h 167"/>
                  <a:gd name="T4" fmla="*/ 0 w 59"/>
                  <a:gd name="T5" fmla="*/ 0 h 167"/>
                  <a:gd name="T6" fmla="*/ 0 w 59"/>
                  <a:gd name="T7" fmla="*/ 0 h 167"/>
                  <a:gd name="T8" fmla="*/ 0 w 59"/>
                  <a:gd name="T9" fmla="*/ 0 h 167"/>
                  <a:gd name="T10" fmla="*/ 0 w 59"/>
                  <a:gd name="T11" fmla="*/ 0 h 1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167"/>
                  <a:gd name="T20" fmla="*/ 59 w 59"/>
                  <a:gd name="T21" fmla="*/ 167 h 1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167">
                    <a:moveTo>
                      <a:pt x="59" y="155"/>
                    </a:moveTo>
                    <a:lnTo>
                      <a:pt x="33" y="167"/>
                    </a:lnTo>
                    <a:lnTo>
                      <a:pt x="0" y="87"/>
                    </a:lnTo>
                    <a:lnTo>
                      <a:pt x="29" y="0"/>
                    </a:lnTo>
                    <a:lnTo>
                      <a:pt x="26" y="76"/>
                    </a:lnTo>
                    <a:lnTo>
                      <a:pt x="59" y="155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4" name="Freeform 547">
                <a:extLst>
                  <a:ext uri="{FF2B5EF4-FFF2-40B4-BE49-F238E27FC236}">
                    <a16:creationId xmlns:a16="http://schemas.microsoft.com/office/drawing/2014/main" id="{4A97AEF7-D520-41F0-BCAD-2A47E75D1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4"/>
                <a:ext cx="8" cy="4"/>
              </a:xfrm>
              <a:custGeom>
                <a:avLst/>
                <a:gdLst>
                  <a:gd name="T0" fmla="*/ 0 w 172"/>
                  <a:gd name="T1" fmla="*/ 0 h 81"/>
                  <a:gd name="T2" fmla="*/ 0 w 172"/>
                  <a:gd name="T3" fmla="*/ 0 h 81"/>
                  <a:gd name="T4" fmla="*/ 0 w 172"/>
                  <a:gd name="T5" fmla="*/ 0 h 81"/>
                  <a:gd name="T6" fmla="*/ 0 w 172"/>
                  <a:gd name="T7" fmla="*/ 0 h 81"/>
                  <a:gd name="T8" fmla="*/ 0 w 172"/>
                  <a:gd name="T9" fmla="*/ 0 h 81"/>
                  <a:gd name="T10" fmla="*/ 0 w 172"/>
                  <a:gd name="T11" fmla="*/ 0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2"/>
                  <a:gd name="T19" fmla="*/ 0 h 81"/>
                  <a:gd name="T20" fmla="*/ 172 w 172"/>
                  <a:gd name="T21" fmla="*/ 81 h 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2" h="81">
                    <a:moveTo>
                      <a:pt x="170" y="4"/>
                    </a:moveTo>
                    <a:lnTo>
                      <a:pt x="168" y="0"/>
                    </a:lnTo>
                    <a:lnTo>
                      <a:pt x="0" y="73"/>
                    </a:lnTo>
                    <a:lnTo>
                      <a:pt x="4" y="81"/>
                    </a:lnTo>
                    <a:lnTo>
                      <a:pt x="172" y="8"/>
                    </a:lnTo>
                    <a:lnTo>
                      <a:pt x="170" y="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5" name="Freeform 548">
                <a:extLst>
                  <a:ext uri="{FF2B5EF4-FFF2-40B4-BE49-F238E27FC236}">
                    <a16:creationId xmlns:a16="http://schemas.microsoft.com/office/drawing/2014/main" id="{8EE5D35A-4E2E-4E77-A944-11A0EEAED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2"/>
                <a:ext cx="10" cy="6"/>
              </a:xfrm>
              <a:custGeom>
                <a:avLst/>
                <a:gdLst>
                  <a:gd name="T0" fmla="*/ 0 w 216"/>
                  <a:gd name="T1" fmla="*/ 0 h 103"/>
                  <a:gd name="T2" fmla="*/ 0 w 216"/>
                  <a:gd name="T3" fmla="*/ 0 h 103"/>
                  <a:gd name="T4" fmla="*/ 0 w 216"/>
                  <a:gd name="T5" fmla="*/ 0 h 103"/>
                  <a:gd name="T6" fmla="*/ 0 w 216"/>
                  <a:gd name="T7" fmla="*/ 0 h 103"/>
                  <a:gd name="T8" fmla="*/ 0 w 216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"/>
                  <a:gd name="T16" fmla="*/ 0 h 103"/>
                  <a:gd name="T17" fmla="*/ 216 w 216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" h="103">
                    <a:moveTo>
                      <a:pt x="216" y="12"/>
                    </a:moveTo>
                    <a:lnTo>
                      <a:pt x="4" y="103"/>
                    </a:lnTo>
                    <a:lnTo>
                      <a:pt x="0" y="93"/>
                    </a:lnTo>
                    <a:lnTo>
                      <a:pt x="211" y="0"/>
                    </a:lnTo>
                    <a:lnTo>
                      <a:pt x="216" y="12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6" name="Freeform 549">
                <a:extLst>
                  <a:ext uri="{FF2B5EF4-FFF2-40B4-BE49-F238E27FC236}">
                    <a16:creationId xmlns:a16="http://schemas.microsoft.com/office/drawing/2014/main" id="{A98CD4D3-E2DD-41BD-8AEC-4DA8695F3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1" cy="16"/>
              </a:xfrm>
              <a:custGeom>
                <a:avLst/>
                <a:gdLst>
                  <a:gd name="T0" fmla="*/ 0 w 250"/>
                  <a:gd name="T1" fmla="*/ 0 h 298"/>
                  <a:gd name="T2" fmla="*/ 0 w 250"/>
                  <a:gd name="T3" fmla="*/ 0 h 298"/>
                  <a:gd name="T4" fmla="*/ 0 w 250"/>
                  <a:gd name="T5" fmla="*/ 0 h 298"/>
                  <a:gd name="T6" fmla="*/ 0 w 250"/>
                  <a:gd name="T7" fmla="*/ 0 h 298"/>
                  <a:gd name="T8" fmla="*/ 0 w 250"/>
                  <a:gd name="T9" fmla="*/ 0 h 298"/>
                  <a:gd name="T10" fmla="*/ 0 w 250"/>
                  <a:gd name="T11" fmla="*/ 0 h 298"/>
                  <a:gd name="T12" fmla="*/ 0 w 250"/>
                  <a:gd name="T13" fmla="*/ 0 h 298"/>
                  <a:gd name="T14" fmla="*/ 0 w 250"/>
                  <a:gd name="T15" fmla="*/ 0 h 298"/>
                  <a:gd name="T16" fmla="*/ 0 w 250"/>
                  <a:gd name="T17" fmla="*/ 0 h 298"/>
                  <a:gd name="T18" fmla="*/ 0 w 250"/>
                  <a:gd name="T19" fmla="*/ 0 h 298"/>
                  <a:gd name="T20" fmla="*/ 0 w 250"/>
                  <a:gd name="T21" fmla="*/ 0 h 298"/>
                  <a:gd name="T22" fmla="*/ 0 w 250"/>
                  <a:gd name="T23" fmla="*/ 0 h 298"/>
                  <a:gd name="T24" fmla="*/ 0 w 250"/>
                  <a:gd name="T25" fmla="*/ 0 h 298"/>
                  <a:gd name="T26" fmla="*/ 0 w 250"/>
                  <a:gd name="T27" fmla="*/ 0 h 298"/>
                  <a:gd name="T28" fmla="*/ 0 w 250"/>
                  <a:gd name="T29" fmla="*/ 0 h 298"/>
                  <a:gd name="T30" fmla="*/ 0 w 250"/>
                  <a:gd name="T31" fmla="*/ 0 h 298"/>
                  <a:gd name="T32" fmla="*/ 0 w 250"/>
                  <a:gd name="T33" fmla="*/ 0 h 298"/>
                  <a:gd name="T34" fmla="*/ 0 w 250"/>
                  <a:gd name="T35" fmla="*/ 0 h 298"/>
                  <a:gd name="T36" fmla="*/ 0 w 250"/>
                  <a:gd name="T37" fmla="*/ 0 h 298"/>
                  <a:gd name="T38" fmla="*/ 0 w 250"/>
                  <a:gd name="T39" fmla="*/ 0 h 298"/>
                  <a:gd name="T40" fmla="*/ 0 w 250"/>
                  <a:gd name="T41" fmla="*/ 0 h 298"/>
                  <a:gd name="T42" fmla="*/ 0 w 250"/>
                  <a:gd name="T43" fmla="*/ 0 h 298"/>
                  <a:gd name="T44" fmla="*/ 0 w 250"/>
                  <a:gd name="T45" fmla="*/ 0 h 298"/>
                  <a:gd name="T46" fmla="*/ 0 w 250"/>
                  <a:gd name="T47" fmla="*/ 0 h 298"/>
                  <a:gd name="T48" fmla="*/ 0 w 250"/>
                  <a:gd name="T49" fmla="*/ 0 h 298"/>
                  <a:gd name="T50" fmla="*/ 0 w 250"/>
                  <a:gd name="T51" fmla="*/ 0 h 298"/>
                  <a:gd name="T52" fmla="*/ 0 w 250"/>
                  <a:gd name="T53" fmla="*/ 0 h 298"/>
                  <a:gd name="T54" fmla="*/ 0 w 250"/>
                  <a:gd name="T55" fmla="*/ 0 h 298"/>
                  <a:gd name="T56" fmla="*/ 0 w 250"/>
                  <a:gd name="T57" fmla="*/ 0 h 298"/>
                  <a:gd name="T58" fmla="*/ 0 w 250"/>
                  <a:gd name="T59" fmla="*/ 0 h 298"/>
                  <a:gd name="T60" fmla="*/ 0 w 250"/>
                  <a:gd name="T61" fmla="*/ 0 h 298"/>
                  <a:gd name="T62" fmla="*/ 0 w 250"/>
                  <a:gd name="T63" fmla="*/ 0 h 298"/>
                  <a:gd name="T64" fmla="*/ 0 w 250"/>
                  <a:gd name="T65" fmla="*/ 0 h 298"/>
                  <a:gd name="T66" fmla="*/ 0 w 250"/>
                  <a:gd name="T67" fmla="*/ 0 h 298"/>
                  <a:gd name="T68" fmla="*/ 0 w 250"/>
                  <a:gd name="T69" fmla="*/ 0 h 298"/>
                  <a:gd name="T70" fmla="*/ 0 w 250"/>
                  <a:gd name="T71" fmla="*/ 0 h 298"/>
                  <a:gd name="T72" fmla="*/ 0 w 250"/>
                  <a:gd name="T73" fmla="*/ 0 h 298"/>
                  <a:gd name="T74" fmla="*/ 0 w 250"/>
                  <a:gd name="T75" fmla="*/ 0 h 298"/>
                  <a:gd name="T76" fmla="*/ 0 w 250"/>
                  <a:gd name="T77" fmla="*/ 0 h 298"/>
                  <a:gd name="T78" fmla="*/ 0 w 250"/>
                  <a:gd name="T79" fmla="*/ 0 h 298"/>
                  <a:gd name="T80" fmla="*/ 0 w 250"/>
                  <a:gd name="T81" fmla="*/ 0 h 2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50"/>
                  <a:gd name="T124" fmla="*/ 0 h 298"/>
                  <a:gd name="T125" fmla="*/ 250 w 250"/>
                  <a:gd name="T126" fmla="*/ 298 h 29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50" h="298">
                    <a:moveTo>
                      <a:pt x="207" y="296"/>
                    </a:moveTo>
                    <a:lnTo>
                      <a:pt x="219" y="286"/>
                    </a:lnTo>
                    <a:lnTo>
                      <a:pt x="232" y="267"/>
                    </a:lnTo>
                    <a:lnTo>
                      <a:pt x="242" y="241"/>
                    </a:lnTo>
                    <a:lnTo>
                      <a:pt x="248" y="206"/>
                    </a:lnTo>
                    <a:lnTo>
                      <a:pt x="250" y="165"/>
                    </a:lnTo>
                    <a:lnTo>
                      <a:pt x="245" y="116"/>
                    </a:lnTo>
                    <a:lnTo>
                      <a:pt x="233" y="62"/>
                    </a:lnTo>
                    <a:lnTo>
                      <a:pt x="211" y="0"/>
                    </a:lnTo>
                    <a:lnTo>
                      <a:pt x="198" y="6"/>
                    </a:lnTo>
                    <a:lnTo>
                      <a:pt x="185" y="12"/>
                    </a:lnTo>
                    <a:lnTo>
                      <a:pt x="171" y="17"/>
                    </a:lnTo>
                    <a:lnTo>
                      <a:pt x="158" y="24"/>
                    </a:lnTo>
                    <a:lnTo>
                      <a:pt x="145" y="29"/>
                    </a:lnTo>
                    <a:lnTo>
                      <a:pt x="132" y="35"/>
                    </a:lnTo>
                    <a:lnTo>
                      <a:pt x="118" y="41"/>
                    </a:lnTo>
                    <a:lnTo>
                      <a:pt x="106" y="46"/>
                    </a:lnTo>
                    <a:lnTo>
                      <a:pt x="93" y="52"/>
                    </a:lnTo>
                    <a:lnTo>
                      <a:pt x="80" y="57"/>
                    </a:lnTo>
                    <a:lnTo>
                      <a:pt x="66" y="64"/>
                    </a:lnTo>
                    <a:lnTo>
                      <a:pt x="53" y="69"/>
                    </a:lnTo>
                    <a:lnTo>
                      <a:pt x="40" y="75"/>
                    </a:lnTo>
                    <a:lnTo>
                      <a:pt x="27" y="81"/>
                    </a:lnTo>
                    <a:lnTo>
                      <a:pt x="13" y="87"/>
                    </a:lnTo>
                    <a:lnTo>
                      <a:pt x="0" y="92"/>
                    </a:lnTo>
                    <a:lnTo>
                      <a:pt x="13" y="123"/>
                    </a:lnTo>
                    <a:lnTo>
                      <a:pt x="28" y="150"/>
                    </a:lnTo>
                    <a:lnTo>
                      <a:pt x="42" y="175"/>
                    </a:lnTo>
                    <a:lnTo>
                      <a:pt x="57" y="198"/>
                    </a:lnTo>
                    <a:lnTo>
                      <a:pt x="73" y="218"/>
                    </a:lnTo>
                    <a:lnTo>
                      <a:pt x="87" y="236"/>
                    </a:lnTo>
                    <a:lnTo>
                      <a:pt x="102" y="250"/>
                    </a:lnTo>
                    <a:lnTo>
                      <a:pt x="117" y="263"/>
                    </a:lnTo>
                    <a:lnTo>
                      <a:pt x="132" y="274"/>
                    </a:lnTo>
                    <a:lnTo>
                      <a:pt x="145" y="283"/>
                    </a:lnTo>
                    <a:lnTo>
                      <a:pt x="158" y="289"/>
                    </a:lnTo>
                    <a:lnTo>
                      <a:pt x="170" y="294"/>
                    </a:lnTo>
                    <a:lnTo>
                      <a:pt x="182" y="297"/>
                    </a:lnTo>
                    <a:lnTo>
                      <a:pt x="192" y="298"/>
                    </a:lnTo>
                    <a:lnTo>
                      <a:pt x="200" y="298"/>
                    </a:lnTo>
                    <a:lnTo>
                      <a:pt x="207" y="296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7" name="Freeform 550">
                <a:extLst>
                  <a:ext uri="{FF2B5EF4-FFF2-40B4-BE49-F238E27FC236}">
                    <a16:creationId xmlns:a16="http://schemas.microsoft.com/office/drawing/2014/main" id="{56C5D0D7-70A6-419B-9C6A-EE0A0B73BD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0" cy="16"/>
              </a:xfrm>
              <a:custGeom>
                <a:avLst/>
                <a:gdLst>
                  <a:gd name="T0" fmla="*/ 0 w 226"/>
                  <a:gd name="T1" fmla="*/ 0 h 287"/>
                  <a:gd name="T2" fmla="*/ 0 w 226"/>
                  <a:gd name="T3" fmla="*/ 0 h 287"/>
                  <a:gd name="T4" fmla="*/ 0 w 226"/>
                  <a:gd name="T5" fmla="*/ 0 h 287"/>
                  <a:gd name="T6" fmla="*/ 0 w 226"/>
                  <a:gd name="T7" fmla="*/ 0 h 287"/>
                  <a:gd name="T8" fmla="*/ 0 w 226"/>
                  <a:gd name="T9" fmla="*/ 0 h 287"/>
                  <a:gd name="T10" fmla="*/ 0 w 226"/>
                  <a:gd name="T11" fmla="*/ 0 h 287"/>
                  <a:gd name="T12" fmla="*/ 0 w 226"/>
                  <a:gd name="T13" fmla="*/ 0 h 287"/>
                  <a:gd name="T14" fmla="*/ 0 w 226"/>
                  <a:gd name="T15" fmla="*/ 0 h 287"/>
                  <a:gd name="T16" fmla="*/ 0 w 226"/>
                  <a:gd name="T17" fmla="*/ 0 h 287"/>
                  <a:gd name="T18" fmla="*/ 0 w 226"/>
                  <a:gd name="T19" fmla="*/ 0 h 287"/>
                  <a:gd name="T20" fmla="*/ 0 w 226"/>
                  <a:gd name="T21" fmla="*/ 0 h 287"/>
                  <a:gd name="T22" fmla="*/ 0 w 226"/>
                  <a:gd name="T23" fmla="*/ 0 h 287"/>
                  <a:gd name="T24" fmla="*/ 0 w 226"/>
                  <a:gd name="T25" fmla="*/ 0 h 287"/>
                  <a:gd name="T26" fmla="*/ 0 w 226"/>
                  <a:gd name="T27" fmla="*/ 0 h 287"/>
                  <a:gd name="T28" fmla="*/ 0 w 226"/>
                  <a:gd name="T29" fmla="*/ 0 h 287"/>
                  <a:gd name="T30" fmla="*/ 0 w 226"/>
                  <a:gd name="T31" fmla="*/ 0 h 287"/>
                  <a:gd name="T32" fmla="*/ 0 w 226"/>
                  <a:gd name="T33" fmla="*/ 0 h 287"/>
                  <a:gd name="T34" fmla="*/ 0 w 226"/>
                  <a:gd name="T35" fmla="*/ 0 h 287"/>
                  <a:gd name="T36" fmla="*/ 0 w 226"/>
                  <a:gd name="T37" fmla="*/ 0 h 287"/>
                  <a:gd name="T38" fmla="*/ 0 w 226"/>
                  <a:gd name="T39" fmla="*/ 0 h 287"/>
                  <a:gd name="T40" fmla="*/ 0 w 226"/>
                  <a:gd name="T41" fmla="*/ 0 h 287"/>
                  <a:gd name="T42" fmla="*/ 0 w 226"/>
                  <a:gd name="T43" fmla="*/ 0 h 287"/>
                  <a:gd name="T44" fmla="*/ 0 w 226"/>
                  <a:gd name="T45" fmla="*/ 0 h 287"/>
                  <a:gd name="T46" fmla="*/ 0 w 226"/>
                  <a:gd name="T47" fmla="*/ 0 h 287"/>
                  <a:gd name="T48" fmla="*/ 0 w 226"/>
                  <a:gd name="T49" fmla="*/ 0 h 287"/>
                  <a:gd name="T50" fmla="*/ 0 w 226"/>
                  <a:gd name="T51" fmla="*/ 0 h 287"/>
                  <a:gd name="T52" fmla="*/ 0 w 226"/>
                  <a:gd name="T53" fmla="*/ 0 h 287"/>
                  <a:gd name="T54" fmla="*/ 0 w 226"/>
                  <a:gd name="T55" fmla="*/ 0 h 287"/>
                  <a:gd name="T56" fmla="*/ 0 w 226"/>
                  <a:gd name="T57" fmla="*/ 0 h 287"/>
                  <a:gd name="T58" fmla="*/ 0 w 226"/>
                  <a:gd name="T59" fmla="*/ 0 h 287"/>
                  <a:gd name="T60" fmla="*/ 0 w 226"/>
                  <a:gd name="T61" fmla="*/ 0 h 287"/>
                  <a:gd name="T62" fmla="*/ 0 w 226"/>
                  <a:gd name="T63" fmla="*/ 0 h 287"/>
                  <a:gd name="T64" fmla="*/ 0 w 226"/>
                  <a:gd name="T65" fmla="*/ 0 h 287"/>
                  <a:gd name="T66" fmla="*/ 0 w 226"/>
                  <a:gd name="T67" fmla="*/ 0 h 287"/>
                  <a:gd name="T68" fmla="*/ 0 w 226"/>
                  <a:gd name="T69" fmla="*/ 0 h 287"/>
                  <a:gd name="T70" fmla="*/ 0 w 226"/>
                  <a:gd name="T71" fmla="*/ 0 h 287"/>
                  <a:gd name="T72" fmla="*/ 0 w 226"/>
                  <a:gd name="T73" fmla="*/ 0 h 287"/>
                  <a:gd name="T74" fmla="*/ 0 w 226"/>
                  <a:gd name="T75" fmla="*/ 0 h 287"/>
                  <a:gd name="T76" fmla="*/ 0 w 226"/>
                  <a:gd name="T77" fmla="*/ 0 h 287"/>
                  <a:gd name="T78" fmla="*/ 0 w 226"/>
                  <a:gd name="T79" fmla="*/ 0 h 287"/>
                  <a:gd name="T80" fmla="*/ 0 w 226"/>
                  <a:gd name="T81" fmla="*/ 0 h 28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26"/>
                  <a:gd name="T124" fmla="*/ 0 h 287"/>
                  <a:gd name="T125" fmla="*/ 226 w 226"/>
                  <a:gd name="T126" fmla="*/ 287 h 28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26" h="287">
                    <a:moveTo>
                      <a:pt x="199" y="285"/>
                    </a:moveTo>
                    <a:lnTo>
                      <a:pt x="209" y="276"/>
                    </a:lnTo>
                    <a:lnTo>
                      <a:pt x="217" y="259"/>
                    </a:lnTo>
                    <a:lnTo>
                      <a:pt x="224" y="234"/>
                    </a:lnTo>
                    <a:lnTo>
                      <a:pt x="226" y="202"/>
                    </a:lnTo>
                    <a:lnTo>
                      <a:pt x="223" y="162"/>
                    </a:lnTo>
                    <a:lnTo>
                      <a:pt x="214" y="115"/>
                    </a:lnTo>
                    <a:lnTo>
                      <a:pt x="200" y="61"/>
                    </a:lnTo>
                    <a:lnTo>
                      <a:pt x="178" y="0"/>
                    </a:lnTo>
                    <a:lnTo>
                      <a:pt x="166" y="5"/>
                    </a:lnTo>
                    <a:lnTo>
                      <a:pt x="155" y="10"/>
                    </a:lnTo>
                    <a:lnTo>
                      <a:pt x="144" y="15"/>
                    </a:lnTo>
                    <a:lnTo>
                      <a:pt x="134" y="20"/>
                    </a:lnTo>
                    <a:lnTo>
                      <a:pt x="123" y="24"/>
                    </a:lnTo>
                    <a:lnTo>
                      <a:pt x="111" y="30"/>
                    </a:lnTo>
                    <a:lnTo>
                      <a:pt x="100" y="34"/>
                    </a:lnTo>
                    <a:lnTo>
                      <a:pt x="89" y="39"/>
                    </a:lnTo>
                    <a:lnTo>
                      <a:pt x="78" y="44"/>
                    </a:lnTo>
                    <a:lnTo>
                      <a:pt x="67" y="49"/>
                    </a:lnTo>
                    <a:lnTo>
                      <a:pt x="55" y="54"/>
                    </a:lnTo>
                    <a:lnTo>
                      <a:pt x="45" y="58"/>
                    </a:lnTo>
                    <a:lnTo>
                      <a:pt x="34" y="63"/>
                    </a:lnTo>
                    <a:lnTo>
                      <a:pt x="23" y="69"/>
                    </a:lnTo>
                    <a:lnTo>
                      <a:pt x="11" y="73"/>
                    </a:lnTo>
                    <a:lnTo>
                      <a:pt x="0" y="78"/>
                    </a:lnTo>
                    <a:lnTo>
                      <a:pt x="13" y="109"/>
                    </a:lnTo>
                    <a:lnTo>
                      <a:pt x="28" y="136"/>
                    </a:lnTo>
                    <a:lnTo>
                      <a:pt x="42" y="161"/>
                    </a:lnTo>
                    <a:lnTo>
                      <a:pt x="56" y="184"/>
                    </a:lnTo>
                    <a:lnTo>
                      <a:pt x="72" y="204"/>
                    </a:lnTo>
                    <a:lnTo>
                      <a:pt x="86" y="221"/>
                    </a:lnTo>
                    <a:lnTo>
                      <a:pt x="101" y="236"/>
                    </a:lnTo>
                    <a:lnTo>
                      <a:pt x="115" y="250"/>
                    </a:lnTo>
                    <a:lnTo>
                      <a:pt x="129" y="260"/>
                    </a:lnTo>
                    <a:lnTo>
                      <a:pt x="142" y="270"/>
                    </a:lnTo>
                    <a:lnTo>
                      <a:pt x="155" y="276"/>
                    </a:lnTo>
                    <a:lnTo>
                      <a:pt x="166" y="282"/>
                    </a:lnTo>
                    <a:lnTo>
                      <a:pt x="177" y="285"/>
                    </a:lnTo>
                    <a:lnTo>
                      <a:pt x="186" y="287"/>
                    </a:lnTo>
                    <a:lnTo>
                      <a:pt x="193" y="287"/>
                    </a:lnTo>
                    <a:lnTo>
                      <a:pt x="199" y="285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8" name="Freeform 551">
                <a:extLst>
                  <a:ext uri="{FF2B5EF4-FFF2-40B4-BE49-F238E27FC236}">
                    <a16:creationId xmlns:a16="http://schemas.microsoft.com/office/drawing/2014/main" id="{44B6943F-2529-4D4A-BC4A-7E1E3B8A6E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4"/>
                <a:ext cx="9" cy="15"/>
              </a:xfrm>
              <a:custGeom>
                <a:avLst/>
                <a:gdLst>
                  <a:gd name="T0" fmla="*/ 0 w 202"/>
                  <a:gd name="T1" fmla="*/ 0 h 274"/>
                  <a:gd name="T2" fmla="*/ 0 w 202"/>
                  <a:gd name="T3" fmla="*/ 0 h 274"/>
                  <a:gd name="T4" fmla="*/ 0 w 202"/>
                  <a:gd name="T5" fmla="*/ 0 h 274"/>
                  <a:gd name="T6" fmla="*/ 0 w 202"/>
                  <a:gd name="T7" fmla="*/ 0 h 274"/>
                  <a:gd name="T8" fmla="*/ 0 w 202"/>
                  <a:gd name="T9" fmla="*/ 0 h 274"/>
                  <a:gd name="T10" fmla="*/ 0 w 202"/>
                  <a:gd name="T11" fmla="*/ 0 h 274"/>
                  <a:gd name="T12" fmla="*/ 0 w 202"/>
                  <a:gd name="T13" fmla="*/ 0 h 274"/>
                  <a:gd name="T14" fmla="*/ 0 w 202"/>
                  <a:gd name="T15" fmla="*/ 0 h 274"/>
                  <a:gd name="T16" fmla="*/ 0 w 202"/>
                  <a:gd name="T17" fmla="*/ 0 h 274"/>
                  <a:gd name="T18" fmla="*/ 0 w 202"/>
                  <a:gd name="T19" fmla="*/ 0 h 274"/>
                  <a:gd name="T20" fmla="*/ 0 w 202"/>
                  <a:gd name="T21" fmla="*/ 0 h 274"/>
                  <a:gd name="T22" fmla="*/ 0 w 202"/>
                  <a:gd name="T23" fmla="*/ 0 h 274"/>
                  <a:gd name="T24" fmla="*/ 0 w 202"/>
                  <a:gd name="T25" fmla="*/ 0 h 274"/>
                  <a:gd name="T26" fmla="*/ 0 w 202"/>
                  <a:gd name="T27" fmla="*/ 0 h 274"/>
                  <a:gd name="T28" fmla="*/ 0 w 202"/>
                  <a:gd name="T29" fmla="*/ 0 h 274"/>
                  <a:gd name="T30" fmla="*/ 0 w 202"/>
                  <a:gd name="T31" fmla="*/ 0 h 274"/>
                  <a:gd name="T32" fmla="*/ 0 w 202"/>
                  <a:gd name="T33" fmla="*/ 0 h 274"/>
                  <a:gd name="T34" fmla="*/ 0 w 202"/>
                  <a:gd name="T35" fmla="*/ 0 h 274"/>
                  <a:gd name="T36" fmla="*/ 0 w 202"/>
                  <a:gd name="T37" fmla="*/ 0 h 274"/>
                  <a:gd name="T38" fmla="*/ 0 w 202"/>
                  <a:gd name="T39" fmla="*/ 0 h 274"/>
                  <a:gd name="T40" fmla="*/ 0 w 202"/>
                  <a:gd name="T41" fmla="*/ 0 h 274"/>
                  <a:gd name="T42" fmla="*/ 0 w 202"/>
                  <a:gd name="T43" fmla="*/ 0 h 274"/>
                  <a:gd name="T44" fmla="*/ 0 w 202"/>
                  <a:gd name="T45" fmla="*/ 0 h 274"/>
                  <a:gd name="T46" fmla="*/ 0 w 202"/>
                  <a:gd name="T47" fmla="*/ 0 h 274"/>
                  <a:gd name="T48" fmla="*/ 0 w 202"/>
                  <a:gd name="T49" fmla="*/ 0 h 274"/>
                  <a:gd name="T50" fmla="*/ 0 w 202"/>
                  <a:gd name="T51" fmla="*/ 0 h 274"/>
                  <a:gd name="T52" fmla="*/ 0 w 202"/>
                  <a:gd name="T53" fmla="*/ 0 h 274"/>
                  <a:gd name="T54" fmla="*/ 0 w 202"/>
                  <a:gd name="T55" fmla="*/ 0 h 274"/>
                  <a:gd name="T56" fmla="*/ 0 w 202"/>
                  <a:gd name="T57" fmla="*/ 0 h 274"/>
                  <a:gd name="T58" fmla="*/ 0 w 202"/>
                  <a:gd name="T59" fmla="*/ 0 h 274"/>
                  <a:gd name="T60" fmla="*/ 0 w 202"/>
                  <a:gd name="T61" fmla="*/ 0 h 274"/>
                  <a:gd name="T62" fmla="*/ 0 w 202"/>
                  <a:gd name="T63" fmla="*/ 0 h 274"/>
                  <a:gd name="T64" fmla="*/ 0 w 202"/>
                  <a:gd name="T65" fmla="*/ 0 h 2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2"/>
                  <a:gd name="T100" fmla="*/ 0 h 274"/>
                  <a:gd name="T101" fmla="*/ 202 w 202"/>
                  <a:gd name="T102" fmla="*/ 274 h 2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2" h="274">
                    <a:moveTo>
                      <a:pt x="189" y="273"/>
                    </a:moveTo>
                    <a:lnTo>
                      <a:pt x="196" y="265"/>
                    </a:lnTo>
                    <a:lnTo>
                      <a:pt x="201" y="251"/>
                    </a:lnTo>
                    <a:lnTo>
                      <a:pt x="202" y="227"/>
                    </a:lnTo>
                    <a:lnTo>
                      <a:pt x="200" y="197"/>
                    </a:lnTo>
                    <a:lnTo>
                      <a:pt x="193" y="159"/>
                    </a:lnTo>
                    <a:lnTo>
                      <a:pt x="182" y="114"/>
                    </a:lnTo>
                    <a:lnTo>
                      <a:pt x="165" y="60"/>
                    </a:lnTo>
                    <a:lnTo>
                      <a:pt x="142" y="0"/>
                    </a:lnTo>
                    <a:lnTo>
                      <a:pt x="125" y="7"/>
                    </a:lnTo>
                    <a:lnTo>
                      <a:pt x="107" y="14"/>
                    </a:lnTo>
                    <a:lnTo>
                      <a:pt x="89" y="23"/>
                    </a:lnTo>
                    <a:lnTo>
                      <a:pt x="72" y="30"/>
                    </a:lnTo>
                    <a:lnTo>
                      <a:pt x="53" y="39"/>
                    </a:lnTo>
                    <a:lnTo>
                      <a:pt x="36" y="46"/>
                    </a:lnTo>
                    <a:lnTo>
                      <a:pt x="18" y="54"/>
                    </a:lnTo>
                    <a:lnTo>
                      <a:pt x="0" y="62"/>
                    </a:lnTo>
                    <a:lnTo>
                      <a:pt x="14" y="92"/>
                    </a:lnTo>
                    <a:lnTo>
                      <a:pt x="28" y="120"/>
                    </a:lnTo>
                    <a:lnTo>
                      <a:pt x="41" y="145"/>
                    </a:lnTo>
                    <a:lnTo>
                      <a:pt x="57" y="168"/>
                    </a:lnTo>
                    <a:lnTo>
                      <a:pt x="71" y="188"/>
                    </a:lnTo>
                    <a:lnTo>
                      <a:pt x="85" y="206"/>
                    </a:lnTo>
                    <a:lnTo>
                      <a:pt x="98" y="221"/>
                    </a:lnTo>
                    <a:lnTo>
                      <a:pt x="113" y="235"/>
                    </a:lnTo>
                    <a:lnTo>
                      <a:pt x="126" y="246"/>
                    </a:lnTo>
                    <a:lnTo>
                      <a:pt x="138" y="256"/>
                    </a:lnTo>
                    <a:lnTo>
                      <a:pt x="149" y="262"/>
                    </a:lnTo>
                    <a:lnTo>
                      <a:pt x="160" y="268"/>
                    </a:lnTo>
                    <a:lnTo>
                      <a:pt x="170" y="272"/>
                    </a:lnTo>
                    <a:lnTo>
                      <a:pt x="178" y="274"/>
                    </a:lnTo>
                    <a:lnTo>
                      <a:pt x="184" y="274"/>
                    </a:lnTo>
                    <a:lnTo>
                      <a:pt x="189" y="273"/>
                    </a:lnTo>
                    <a:close/>
                  </a:path>
                </a:pathLst>
              </a:custGeom>
              <a:solidFill>
                <a:srgbClr val="474F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59" name="Freeform 552">
                <a:extLst>
                  <a:ext uri="{FF2B5EF4-FFF2-40B4-BE49-F238E27FC236}">
                    <a16:creationId xmlns:a16="http://schemas.microsoft.com/office/drawing/2014/main" id="{312ECBE6-C08E-41FF-B231-F11735254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9" cy="14"/>
              </a:xfrm>
              <a:custGeom>
                <a:avLst/>
                <a:gdLst>
                  <a:gd name="T0" fmla="*/ 0 w 186"/>
                  <a:gd name="T1" fmla="*/ 0 h 264"/>
                  <a:gd name="T2" fmla="*/ 0 w 186"/>
                  <a:gd name="T3" fmla="*/ 0 h 264"/>
                  <a:gd name="T4" fmla="*/ 0 w 186"/>
                  <a:gd name="T5" fmla="*/ 0 h 264"/>
                  <a:gd name="T6" fmla="*/ 0 w 186"/>
                  <a:gd name="T7" fmla="*/ 0 h 264"/>
                  <a:gd name="T8" fmla="*/ 0 w 186"/>
                  <a:gd name="T9" fmla="*/ 0 h 264"/>
                  <a:gd name="T10" fmla="*/ 0 w 186"/>
                  <a:gd name="T11" fmla="*/ 0 h 264"/>
                  <a:gd name="T12" fmla="*/ 0 w 186"/>
                  <a:gd name="T13" fmla="*/ 0 h 264"/>
                  <a:gd name="T14" fmla="*/ 0 w 186"/>
                  <a:gd name="T15" fmla="*/ 0 h 264"/>
                  <a:gd name="T16" fmla="*/ 0 w 186"/>
                  <a:gd name="T17" fmla="*/ 0 h 264"/>
                  <a:gd name="T18" fmla="*/ 0 w 186"/>
                  <a:gd name="T19" fmla="*/ 0 h 264"/>
                  <a:gd name="T20" fmla="*/ 0 w 186"/>
                  <a:gd name="T21" fmla="*/ 0 h 264"/>
                  <a:gd name="T22" fmla="*/ 0 w 186"/>
                  <a:gd name="T23" fmla="*/ 0 h 264"/>
                  <a:gd name="T24" fmla="*/ 0 w 186"/>
                  <a:gd name="T25" fmla="*/ 0 h 264"/>
                  <a:gd name="T26" fmla="*/ 0 w 186"/>
                  <a:gd name="T27" fmla="*/ 0 h 264"/>
                  <a:gd name="T28" fmla="*/ 0 w 186"/>
                  <a:gd name="T29" fmla="*/ 0 h 264"/>
                  <a:gd name="T30" fmla="*/ 0 w 186"/>
                  <a:gd name="T31" fmla="*/ 0 h 264"/>
                  <a:gd name="T32" fmla="*/ 0 w 186"/>
                  <a:gd name="T33" fmla="*/ 0 h 264"/>
                  <a:gd name="T34" fmla="*/ 0 w 186"/>
                  <a:gd name="T35" fmla="*/ 0 h 264"/>
                  <a:gd name="T36" fmla="*/ 0 w 186"/>
                  <a:gd name="T37" fmla="*/ 0 h 264"/>
                  <a:gd name="T38" fmla="*/ 0 w 186"/>
                  <a:gd name="T39" fmla="*/ 0 h 264"/>
                  <a:gd name="T40" fmla="*/ 0 w 186"/>
                  <a:gd name="T41" fmla="*/ 0 h 264"/>
                  <a:gd name="T42" fmla="*/ 0 w 186"/>
                  <a:gd name="T43" fmla="*/ 0 h 264"/>
                  <a:gd name="T44" fmla="*/ 0 w 186"/>
                  <a:gd name="T45" fmla="*/ 0 h 264"/>
                  <a:gd name="T46" fmla="*/ 0 w 186"/>
                  <a:gd name="T47" fmla="*/ 0 h 264"/>
                  <a:gd name="T48" fmla="*/ 0 w 186"/>
                  <a:gd name="T49" fmla="*/ 0 h 264"/>
                  <a:gd name="T50" fmla="*/ 0 w 186"/>
                  <a:gd name="T51" fmla="*/ 0 h 264"/>
                  <a:gd name="T52" fmla="*/ 0 w 186"/>
                  <a:gd name="T53" fmla="*/ 0 h 264"/>
                  <a:gd name="T54" fmla="*/ 0 w 186"/>
                  <a:gd name="T55" fmla="*/ 0 h 264"/>
                  <a:gd name="T56" fmla="*/ 0 w 186"/>
                  <a:gd name="T57" fmla="*/ 0 h 264"/>
                  <a:gd name="T58" fmla="*/ 0 w 186"/>
                  <a:gd name="T59" fmla="*/ 0 h 264"/>
                  <a:gd name="T60" fmla="*/ 0 w 186"/>
                  <a:gd name="T61" fmla="*/ 0 h 264"/>
                  <a:gd name="T62" fmla="*/ 0 w 186"/>
                  <a:gd name="T63" fmla="*/ 0 h 264"/>
                  <a:gd name="T64" fmla="*/ 0 w 186"/>
                  <a:gd name="T65" fmla="*/ 0 h 2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6"/>
                  <a:gd name="T100" fmla="*/ 0 h 264"/>
                  <a:gd name="T101" fmla="*/ 186 w 186"/>
                  <a:gd name="T102" fmla="*/ 264 h 26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6" h="264">
                    <a:moveTo>
                      <a:pt x="180" y="263"/>
                    </a:moveTo>
                    <a:lnTo>
                      <a:pt x="185" y="256"/>
                    </a:lnTo>
                    <a:lnTo>
                      <a:pt x="186" y="243"/>
                    </a:lnTo>
                    <a:lnTo>
                      <a:pt x="183" y="222"/>
                    </a:lnTo>
                    <a:lnTo>
                      <a:pt x="177" y="193"/>
                    </a:lnTo>
                    <a:lnTo>
                      <a:pt x="166" y="157"/>
                    </a:lnTo>
                    <a:lnTo>
                      <a:pt x="151" y="113"/>
                    </a:lnTo>
                    <a:lnTo>
                      <a:pt x="131" y="60"/>
                    </a:lnTo>
                    <a:lnTo>
                      <a:pt x="108" y="0"/>
                    </a:lnTo>
                    <a:lnTo>
                      <a:pt x="94" y="7"/>
                    </a:lnTo>
                    <a:lnTo>
                      <a:pt x="80" y="13"/>
                    </a:lnTo>
                    <a:lnTo>
                      <a:pt x="67" y="18"/>
                    </a:lnTo>
                    <a:lnTo>
                      <a:pt x="54" y="24"/>
                    </a:lnTo>
                    <a:lnTo>
                      <a:pt x="40" y="30"/>
                    </a:lnTo>
                    <a:lnTo>
                      <a:pt x="27" y="36"/>
                    </a:lnTo>
                    <a:lnTo>
                      <a:pt x="13" y="41"/>
                    </a:lnTo>
                    <a:lnTo>
                      <a:pt x="0" y="48"/>
                    </a:lnTo>
                    <a:lnTo>
                      <a:pt x="13" y="78"/>
                    </a:lnTo>
                    <a:lnTo>
                      <a:pt x="26" y="106"/>
                    </a:lnTo>
                    <a:lnTo>
                      <a:pt x="40" y="131"/>
                    </a:lnTo>
                    <a:lnTo>
                      <a:pt x="55" y="154"/>
                    </a:lnTo>
                    <a:lnTo>
                      <a:pt x="69" y="174"/>
                    </a:lnTo>
                    <a:lnTo>
                      <a:pt x="83" y="192"/>
                    </a:lnTo>
                    <a:lnTo>
                      <a:pt x="96" y="208"/>
                    </a:lnTo>
                    <a:lnTo>
                      <a:pt x="110" y="222"/>
                    </a:lnTo>
                    <a:lnTo>
                      <a:pt x="122" y="233"/>
                    </a:lnTo>
                    <a:lnTo>
                      <a:pt x="134" y="243"/>
                    </a:lnTo>
                    <a:lnTo>
                      <a:pt x="145" y="250"/>
                    </a:lnTo>
                    <a:lnTo>
                      <a:pt x="155" y="256"/>
                    </a:lnTo>
                    <a:lnTo>
                      <a:pt x="164" y="261"/>
                    </a:lnTo>
                    <a:lnTo>
                      <a:pt x="171" y="263"/>
                    </a:lnTo>
                    <a:lnTo>
                      <a:pt x="176" y="264"/>
                    </a:lnTo>
                    <a:lnTo>
                      <a:pt x="180" y="26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60" name="Freeform 553">
                <a:extLst>
                  <a:ext uri="{FF2B5EF4-FFF2-40B4-BE49-F238E27FC236}">
                    <a16:creationId xmlns:a16="http://schemas.microsoft.com/office/drawing/2014/main" id="{C8FBAEBA-FAB1-4E05-9790-824176A44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8" cy="14"/>
              </a:xfrm>
              <a:custGeom>
                <a:avLst/>
                <a:gdLst>
                  <a:gd name="T0" fmla="*/ 0 w 173"/>
                  <a:gd name="T1" fmla="*/ 0 h 251"/>
                  <a:gd name="T2" fmla="*/ 0 w 173"/>
                  <a:gd name="T3" fmla="*/ 0 h 251"/>
                  <a:gd name="T4" fmla="*/ 0 w 173"/>
                  <a:gd name="T5" fmla="*/ 0 h 251"/>
                  <a:gd name="T6" fmla="*/ 0 w 173"/>
                  <a:gd name="T7" fmla="*/ 0 h 251"/>
                  <a:gd name="T8" fmla="*/ 0 w 173"/>
                  <a:gd name="T9" fmla="*/ 0 h 251"/>
                  <a:gd name="T10" fmla="*/ 0 w 173"/>
                  <a:gd name="T11" fmla="*/ 0 h 251"/>
                  <a:gd name="T12" fmla="*/ 0 w 173"/>
                  <a:gd name="T13" fmla="*/ 0 h 251"/>
                  <a:gd name="T14" fmla="*/ 0 w 173"/>
                  <a:gd name="T15" fmla="*/ 0 h 251"/>
                  <a:gd name="T16" fmla="*/ 0 w 173"/>
                  <a:gd name="T17" fmla="*/ 0 h 251"/>
                  <a:gd name="T18" fmla="*/ 0 w 173"/>
                  <a:gd name="T19" fmla="*/ 0 h 251"/>
                  <a:gd name="T20" fmla="*/ 0 w 173"/>
                  <a:gd name="T21" fmla="*/ 0 h 251"/>
                  <a:gd name="T22" fmla="*/ 0 w 173"/>
                  <a:gd name="T23" fmla="*/ 0 h 251"/>
                  <a:gd name="T24" fmla="*/ 0 w 173"/>
                  <a:gd name="T25" fmla="*/ 0 h 251"/>
                  <a:gd name="T26" fmla="*/ 0 w 173"/>
                  <a:gd name="T27" fmla="*/ 0 h 251"/>
                  <a:gd name="T28" fmla="*/ 0 w 173"/>
                  <a:gd name="T29" fmla="*/ 0 h 251"/>
                  <a:gd name="T30" fmla="*/ 0 w 173"/>
                  <a:gd name="T31" fmla="*/ 0 h 251"/>
                  <a:gd name="T32" fmla="*/ 0 w 173"/>
                  <a:gd name="T33" fmla="*/ 0 h 251"/>
                  <a:gd name="T34" fmla="*/ 0 w 173"/>
                  <a:gd name="T35" fmla="*/ 0 h 251"/>
                  <a:gd name="T36" fmla="*/ 0 w 173"/>
                  <a:gd name="T37" fmla="*/ 0 h 251"/>
                  <a:gd name="T38" fmla="*/ 0 w 173"/>
                  <a:gd name="T39" fmla="*/ 0 h 251"/>
                  <a:gd name="T40" fmla="*/ 0 w 173"/>
                  <a:gd name="T41" fmla="*/ 0 h 251"/>
                  <a:gd name="T42" fmla="*/ 0 w 173"/>
                  <a:gd name="T43" fmla="*/ 0 h 251"/>
                  <a:gd name="T44" fmla="*/ 0 w 173"/>
                  <a:gd name="T45" fmla="*/ 0 h 251"/>
                  <a:gd name="T46" fmla="*/ 0 w 173"/>
                  <a:gd name="T47" fmla="*/ 0 h 251"/>
                  <a:gd name="T48" fmla="*/ 0 w 173"/>
                  <a:gd name="T49" fmla="*/ 0 h 251"/>
                  <a:gd name="T50" fmla="*/ 0 w 173"/>
                  <a:gd name="T51" fmla="*/ 0 h 251"/>
                  <a:gd name="T52" fmla="*/ 0 w 173"/>
                  <a:gd name="T53" fmla="*/ 0 h 251"/>
                  <a:gd name="T54" fmla="*/ 0 w 173"/>
                  <a:gd name="T55" fmla="*/ 0 h 251"/>
                  <a:gd name="T56" fmla="*/ 0 w 173"/>
                  <a:gd name="T57" fmla="*/ 0 h 251"/>
                  <a:gd name="T58" fmla="*/ 0 w 173"/>
                  <a:gd name="T59" fmla="*/ 0 h 251"/>
                  <a:gd name="T60" fmla="*/ 0 w 173"/>
                  <a:gd name="T61" fmla="*/ 0 h 251"/>
                  <a:gd name="T62" fmla="*/ 0 w 173"/>
                  <a:gd name="T63" fmla="*/ 0 h 251"/>
                  <a:gd name="T64" fmla="*/ 0 w 173"/>
                  <a:gd name="T65" fmla="*/ 0 h 25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3"/>
                  <a:gd name="T100" fmla="*/ 0 h 251"/>
                  <a:gd name="T101" fmla="*/ 173 w 173"/>
                  <a:gd name="T102" fmla="*/ 251 h 25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3" h="251">
                    <a:moveTo>
                      <a:pt x="171" y="251"/>
                    </a:moveTo>
                    <a:lnTo>
                      <a:pt x="173" y="245"/>
                    </a:lnTo>
                    <a:lnTo>
                      <a:pt x="170" y="233"/>
                    </a:lnTo>
                    <a:lnTo>
                      <a:pt x="164" y="214"/>
                    </a:lnTo>
                    <a:lnTo>
                      <a:pt x="153" y="187"/>
                    </a:lnTo>
                    <a:lnTo>
                      <a:pt x="137" y="153"/>
                    </a:lnTo>
                    <a:lnTo>
                      <a:pt x="119" y="110"/>
                    </a:lnTo>
                    <a:lnTo>
                      <a:pt x="97" y="60"/>
                    </a:lnTo>
                    <a:lnTo>
                      <a:pt x="72" y="0"/>
                    </a:lnTo>
                    <a:lnTo>
                      <a:pt x="63" y="4"/>
                    </a:lnTo>
                    <a:lnTo>
                      <a:pt x="54" y="7"/>
                    </a:lnTo>
                    <a:lnTo>
                      <a:pt x="45" y="11"/>
                    </a:lnTo>
                    <a:lnTo>
                      <a:pt x="36" y="16"/>
                    </a:lnTo>
                    <a:lnTo>
                      <a:pt x="27" y="20"/>
                    </a:lnTo>
                    <a:lnTo>
                      <a:pt x="18" y="23"/>
                    </a:lnTo>
                    <a:lnTo>
                      <a:pt x="9" y="27"/>
                    </a:lnTo>
                    <a:lnTo>
                      <a:pt x="0" y="31"/>
                    </a:lnTo>
                    <a:lnTo>
                      <a:pt x="13" y="62"/>
                    </a:lnTo>
                    <a:lnTo>
                      <a:pt x="26" y="89"/>
                    </a:lnTo>
                    <a:lnTo>
                      <a:pt x="41" y="115"/>
                    </a:lnTo>
                    <a:lnTo>
                      <a:pt x="54" y="138"/>
                    </a:lnTo>
                    <a:lnTo>
                      <a:pt x="68" y="159"/>
                    </a:lnTo>
                    <a:lnTo>
                      <a:pt x="81" y="177"/>
                    </a:lnTo>
                    <a:lnTo>
                      <a:pt x="95" y="193"/>
                    </a:lnTo>
                    <a:lnTo>
                      <a:pt x="107" y="206"/>
                    </a:lnTo>
                    <a:lnTo>
                      <a:pt x="119" y="218"/>
                    </a:lnTo>
                    <a:lnTo>
                      <a:pt x="130" y="229"/>
                    </a:lnTo>
                    <a:lnTo>
                      <a:pt x="141" y="236"/>
                    </a:lnTo>
                    <a:lnTo>
                      <a:pt x="150" y="242"/>
                    </a:lnTo>
                    <a:lnTo>
                      <a:pt x="157" y="246"/>
                    </a:lnTo>
                    <a:lnTo>
                      <a:pt x="163" y="250"/>
                    </a:lnTo>
                    <a:lnTo>
                      <a:pt x="168" y="251"/>
                    </a:lnTo>
                    <a:lnTo>
                      <a:pt x="171" y="251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61" name="Freeform 554">
                <a:extLst>
                  <a:ext uri="{FF2B5EF4-FFF2-40B4-BE49-F238E27FC236}">
                    <a16:creationId xmlns:a16="http://schemas.microsoft.com/office/drawing/2014/main" id="{CFE973C9-08CE-45FA-8FCB-D7D0D8EA0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436"/>
                <a:ext cx="7" cy="13"/>
              </a:xfrm>
              <a:custGeom>
                <a:avLst/>
                <a:gdLst>
                  <a:gd name="T0" fmla="*/ 0 w 163"/>
                  <a:gd name="T1" fmla="*/ 0 h 240"/>
                  <a:gd name="T2" fmla="*/ 0 w 163"/>
                  <a:gd name="T3" fmla="*/ 0 h 240"/>
                  <a:gd name="T4" fmla="*/ 0 w 163"/>
                  <a:gd name="T5" fmla="*/ 0 h 240"/>
                  <a:gd name="T6" fmla="*/ 0 w 163"/>
                  <a:gd name="T7" fmla="*/ 0 h 240"/>
                  <a:gd name="T8" fmla="*/ 0 w 163"/>
                  <a:gd name="T9" fmla="*/ 0 h 240"/>
                  <a:gd name="T10" fmla="*/ 0 w 163"/>
                  <a:gd name="T11" fmla="*/ 0 h 240"/>
                  <a:gd name="T12" fmla="*/ 0 w 163"/>
                  <a:gd name="T13" fmla="*/ 0 h 240"/>
                  <a:gd name="T14" fmla="*/ 0 w 163"/>
                  <a:gd name="T15" fmla="*/ 0 h 240"/>
                  <a:gd name="T16" fmla="*/ 0 w 163"/>
                  <a:gd name="T17" fmla="*/ 0 h 240"/>
                  <a:gd name="T18" fmla="*/ 0 w 163"/>
                  <a:gd name="T19" fmla="*/ 0 h 240"/>
                  <a:gd name="T20" fmla="*/ 0 w 163"/>
                  <a:gd name="T21" fmla="*/ 0 h 240"/>
                  <a:gd name="T22" fmla="*/ 0 w 163"/>
                  <a:gd name="T23" fmla="*/ 0 h 240"/>
                  <a:gd name="T24" fmla="*/ 0 w 163"/>
                  <a:gd name="T25" fmla="*/ 0 h 240"/>
                  <a:gd name="T26" fmla="*/ 0 w 163"/>
                  <a:gd name="T27" fmla="*/ 0 h 240"/>
                  <a:gd name="T28" fmla="*/ 0 w 163"/>
                  <a:gd name="T29" fmla="*/ 0 h 240"/>
                  <a:gd name="T30" fmla="*/ 0 w 163"/>
                  <a:gd name="T31" fmla="*/ 0 h 240"/>
                  <a:gd name="T32" fmla="*/ 0 w 163"/>
                  <a:gd name="T33" fmla="*/ 0 h 240"/>
                  <a:gd name="T34" fmla="*/ 0 w 163"/>
                  <a:gd name="T35" fmla="*/ 0 h 240"/>
                  <a:gd name="T36" fmla="*/ 0 w 163"/>
                  <a:gd name="T37" fmla="*/ 0 h 240"/>
                  <a:gd name="T38" fmla="*/ 0 w 163"/>
                  <a:gd name="T39" fmla="*/ 0 h 240"/>
                  <a:gd name="T40" fmla="*/ 0 w 163"/>
                  <a:gd name="T41" fmla="*/ 0 h 240"/>
                  <a:gd name="T42" fmla="*/ 0 w 163"/>
                  <a:gd name="T43" fmla="*/ 0 h 240"/>
                  <a:gd name="T44" fmla="*/ 0 w 163"/>
                  <a:gd name="T45" fmla="*/ 0 h 240"/>
                  <a:gd name="T46" fmla="*/ 0 w 163"/>
                  <a:gd name="T47" fmla="*/ 0 h 240"/>
                  <a:gd name="T48" fmla="*/ 0 w 163"/>
                  <a:gd name="T49" fmla="*/ 0 h 240"/>
                  <a:gd name="T50" fmla="*/ 0 w 163"/>
                  <a:gd name="T51" fmla="*/ 0 h 240"/>
                  <a:gd name="T52" fmla="*/ 0 w 163"/>
                  <a:gd name="T53" fmla="*/ 0 h 240"/>
                  <a:gd name="T54" fmla="*/ 0 w 163"/>
                  <a:gd name="T55" fmla="*/ 0 h 240"/>
                  <a:gd name="T56" fmla="*/ 0 w 163"/>
                  <a:gd name="T57" fmla="*/ 0 h 240"/>
                  <a:gd name="T58" fmla="*/ 0 w 163"/>
                  <a:gd name="T59" fmla="*/ 0 h 240"/>
                  <a:gd name="T60" fmla="*/ 0 w 163"/>
                  <a:gd name="T61" fmla="*/ 0 h 240"/>
                  <a:gd name="T62" fmla="*/ 0 w 163"/>
                  <a:gd name="T63" fmla="*/ 0 h 240"/>
                  <a:gd name="T64" fmla="*/ 0 w 163"/>
                  <a:gd name="T65" fmla="*/ 0 h 2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63"/>
                  <a:gd name="T100" fmla="*/ 0 h 240"/>
                  <a:gd name="T101" fmla="*/ 163 w 163"/>
                  <a:gd name="T102" fmla="*/ 240 h 24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63" h="240">
                    <a:moveTo>
                      <a:pt x="163" y="240"/>
                    </a:moveTo>
                    <a:lnTo>
                      <a:pt x="162" y="235"/>
                    </a:lnTo>
                    <a:lnTo>
                      <a:pt x="156" y="225"/>
                    </a:lnTo>
                    <a:lnTo>
                      <a:pt x="145" y="208"/>
                    </a:lnTo>
                    <a:lnTo>
                      <a:pt x="129" y="183"/>
                    </a:lnTo>
                    <a:lnTo>
                      <a:pt x="110" y="150"/>
                    </a:lnTo>
                    <a:lnTo>
                      <a:pt x="89" y="110"/>
                    </a:lnTo>
                    <a:lnTo>
                      <a:pt x="64" y="59"/>
                    </a:lnTo>
                    <a:lnTo>
                      <a:pt x="39" y="0"/>
                    </a:lnTo>
                    <a:lnTo>
                      <a:pt x="34" y="2"/>
                    </a:lnTo>
                    <a:lnTo>
                      <a:pt x="28" y="5"/>
                    </a:lnTo>
                    <a:lnTo>
                      <a:pt x="24" y="7"/>
                    </a:lnTo>
                    <a:lnTo>
                      <a:pt x="19" y="9"/>
                    </a:lnTo>
                    <a:lnTo>
                      <a:pt x="14" y="11"/>
                    </a:lnTo>
                    <a:lnTo>
                      <a:pt x="10" y="13"/>
                    </a:lnTo>
                    <a:lnTo>
                      <a:pt x="5" y="15"/>
                    </a:lnTo>
                    <a:lnTo>
                      <a:pt x="0" y="17"/>
                    </a:lnTo>
                    <a:lnTo>
                      <a:pt x="13" y="48"/>
                    </a:lnTo>
                    <a:lnTo>
                      <a:pt x="26" y="75"/>
                    </a:lnTo>
                    <a:lnTo>
                      <a:pt x="41" y="102"/>
                    </a:lnTo>
                    <a:lnTo>
                      <a:pt x="54" y="124"/>
                    </a:lnTo>
                    <a:lnTo>
                      <a:pt x="68" y="145"/>
                    </a:lnTo>
                    <a:lnTo>
                      <a:pt x="82" y="163"/>
                    </a:lnTo>
                    <a:lnTo>
                      <a:pt x="94" y="180"/>
                    </a:lnTo>
                    <a:lnTo>
                      <a:pt x="106" y="193"/>
                    </a:lnTo>
                    <a:lnTo>
                      <a:pt x="117" y="205"/>
                    </a:lnTo>
                    <a:lnTo>
                      <a:pt x="127" y="215"/>
                    </a:lnTo>
                    <a:lnTo>
                      <a:pt x="138" y="224"/>
                    </a:lnTo>
                    <a:lnTo>
                      <a:pt x="146" y="230"/>
                    </a:lnTo>
                    <a:lnTo>
                      <a:pt x="152" y="234"/>
                    </a:lnTo>
                    <a:lnTo>
                      <a:pt x="158" y="238"/>
                    </a:lnTo>
                    <a:lnTo>
                      <a:pt x="161" y="240"/>
                    </a:lnTo>
                    <a:lnTo>
                      <a:pt x="163" y="240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62" name="Freeform 555">
                <a:extLst>
                  <a:ext uri="{FF2B5EF4-FFF2-40B4-BE49-F238E27FC236}">
                    <a16:creationId xmlns:a16="http://schemas.microsoft.com/office/drawing/2014/main" id="{7A1E1187-A58E-40FD-96C6-51AB93CCF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449"/>
                <a:ext cx="2" cy="5"/>
              </a:xfrm>
              <a:custGeom>
                <a:avLst/>
                <a:gdLst>
                  <a:gd name="T0" fmla="*/ 0 w 48"/>
                  <a:gd name="T1" fmla="*/ 0 h 99"/>
                  <a:gd name="T2" fmla="*/ 0 w 48"/>
                  <a:gd name="T3" fmla="*/ 0 h 99"/>
                  <a:gd name="T4" fmla="*/ 0 w 48"/>
                  <a:gd name="T5" fmla="*/ 0 h 99"/>
                  <a:gd name="T6" fmla="*/ 0 w 48"/>
                  <a:gd name="T7" fmla="*/ 0 h 99"/>
                  <a:gd name="T8" fmla="*/ 0 w 48"/>
                  <a:gd name="T9" fmla="*/ 0 h 99"/>
                  <a:gd name="T10" fmla="*/ 0 w 48"/>
                  <a:gd name="T11" fmla="*/ 0 h 99"/>
                  <a:gd name="T12" fmla="*/ 0 w 48"/>
                  <a:gd name="T13" fmla="*/ 0 h 99"/>
                  <a:gd name="T14" fmla="*/ 0 w 48"/>
                  <a:gd name="T15" fmla="*/ 0 h 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8"/>
                  <a:gd name="T25" fmla="*/ 0 h 99"/>
                  <a:gd name="T26" fmla="*/ 48 w 48"/>
                  <a:gd name="T27" fmla="*/ 99 h 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8" h="99">
                    <a:moveTo>
                      <a:pt x="13" y="0"/>
                    </a:moveTo>
                    <a:lnTo>
                      <a:pt x="44" y="76"/>
                    </a:lnTo>
                    <a:lnTo>
                      <a:pt x="48" y="92"/>
                    </a:lnTo>
                    <a:lnTo>
                      <a:pt x="46" y="99"/>
                    </a:lnTo>
                    <a:lnTo>
                      <a:pt x="39" y="96"/>
                    </a:lnTo>
                    <a:lnTo>
                      <a:pt x="31" y="83"/>
                    </a:lnTo>
                    <a:lnTo>
                      <a:pt x="0" y="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341" name="Group 556">
              <a:extLst>
                <a:ext uri="{FF2B5EF4-FFF2-40B4-BE49-F238E27FC236}">
                  <a16:creationId xmlns:a16="http://schemas.microsoft.com/office/drawing/2014/main" id="{9EE25D4B-D6F9-4567-B6F9-1067D39EB4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6200" y="990600"/>
              <a:ext cx="469900" cy="685800"/>
              <a:chOff x="3360" y="3024"/>
              <a:chExt cx="296" cy="432"/>
            </a:xfrm>
          </p:grpSpPr>
          <p:sp>
            <p:nvSpPr>
              <p:cNvPr id="98455" name="Freeform 557">
                <a:extLst>
                  <a:ext uri="{FF2B5EF4-FFF2-40B4-BE49-F238E27FC236}">
                    <a16:creationId xmlns:a16="http://schemas.microsoft.com/office/drawing/2014/main" id="{1778C512-5953-42F7-88CC-ACC9D6098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8"/>
                <a:ext cx="9" cy="5"/>
              </a:xfrm>
              <a:custGeom>
                <a:avLst/>
                <a:gdLst>
                  <a:gd name="T0" fmla="*/ 0 w 206"/>
                  <a:gd name="T1" fmla="*/ 0 h 84"/>
                  <a:gd name="T2" fmla="*/ 0 w 206"/>
                  <a:gd name="T3" fmla="*/ 0 h 84"/>
                  <a:gd name="T4" fmla="*/ 0 w 206"/>
                  <a:gd name="T5" fmla="*/ 0 h 84"/>
                  <a:gd name="T6" fmla="*/ 0 w 206"/>
                  <a:gd name="T7" fmla="*/ 0 h 84"/>
                  <a:gd name="T8" fmla="*/ 0 w 206"/>
                  <a:gd name="T9" fmla="*/ 0 h 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84"/>
                  <a:gd name="T17" fmla="*/ 206 w 206"/>
                  <a:gd name="T18" fmla="*/ 84 h 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84">
                    <a:moveTo>
                      <a:pt x="0" y="67"/>
                    </a:moveTo>
                    <a:lnTo>
                      <a:pt x="199" y="0"/>
                    </a:lnTo>
                    <a:lnTo>
                      <a:pt x="206" y="17"/>
                    </a:lnTo>
                    <a:lnTo>
                      <a:pt x="7" y="84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6" name="Freeform 558">
                <a:extLst>
                  <a:ext uri="{FF2B5EF4-FFF2-40B4-BE49-F238E27FC236}">
                    <a16:creationId xmlns:a16="http://schemas.microsoft.com/office/drawing/2014/main" id="{5812983C-8DEC-481A-BB28-2ED18B5C0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3450"/>
                <a:ext cx="3" cy="6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"/>
                  <a:gd name="T37" fmla="*/ 0 h 108"/>
                  <a:gd name="T38" fmla="*/ 82 w 82"/>
                  <a:gd name="T39" fmla="*/ 108 h 10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" h="108">
                    <a:moveTo>
                      <a:pt x="45" y="0"/>
                    </a:moveTo>
                    <a:lnTo>
                      <a:pt x="80" y="77"/>
                    </a:lnTo>
                    <a:lnTo>
                      <a:pt x="82" y="87"/>
                    </a:lnTo>
                    <a:lnTo>
                      <a:pt x="80" y="95"/>
                    </a:lnTo>
                    <a:lnTo>
                      <a:pt x="74" y="102"/>
                    </a:lnTo>
                    <a:lnTo>
                      <a:pt x="66" y="106"/>
                    </a:lnTo>
                    <a:lnTo>
                      <a:pt x="57" y="108"/>
                    </a:lnTo>
                    <a:lnTo>
                      <a:pt x="49" y="106"/>
                    </a:lnTo>
                    <a:lnTo>
                      <a:pt x="41" y="102"/>
                    </a:lnTo>
                    <a:lnTo>
                      <a:pt x="35" y="93"/>
                    </a:lnTo>
                    <a:lnTo>
                      <a:pt x="0" y="16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7" name="Freeform 559">
                <a:extLst>
                  <a:ext uri="{FF2B5EF4-FFF2-40B4-BE49-F238E27FC236}">
                    <a16:creationId xmlns:a16="http://schemas.microsoft.com/office/drawing/2014/main" id="{7C2EE4A3-CA21-4464-9488-22651AC38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33"/>
                <a:ext cx="13" cy="18"/>
              </a:xfrm>
              <a:custGeom>
                <a:avLst/>
                <a:gdLst>
                  <a:gd name="T0" fmla="*/ 0 w 293"/>
                  <a:gd name="T1" fmla="*/ 0 h 319"/>
                  <a:gd name="T2" fmla="*/ 0 w 293"/>
                  <a:gd name="T3" fmla="*/ 0 h 319"/>
                  <a:gd name="T4" fmla="*/ 0 w 293"/>
                  <a:gd name="T5" fmla="*/ 0 h 319"/>
                  <a:gd name="T6" fmla="*/ 0 w 293"/>
                  <a:gd name="T7" fmla="*/ 0 h 319"/>
                  <a:gd name="T8" fmla="*/ 0 w 293"/>
                  <a:gd name="T9" fmla="*/ 0 h 319"/>
                  <a:gd name="T10" fmla="*/ 0 w 293"/>
                  <a:gd name="T11" fmla="*/ 0 h 319"/>
                  <a:gd name="T12" fmla="*/ 0 w 293"/>
                  <a:gd name="T13" fmla="*/ 0 h 319"/>
                  <a:gd name="T14" fmla="*/ 0 w 293"/>
                  <a:gd name="T15" fmla="*/ 0 h 319"/>
                  <a:gd name="T16" fmla="*/ 0 w 293"/>
                  <a:gd name="T17" fmla="*/ 0 h 319"/>
                  <a:gd name="T18" fmla="*/ 0 w 293"/>
                  <a:gd name="T19" fmla="*/ 0 h 319"/>
                  <a:gd name="T20" fmla="*/ 0 w 293"/>
                  <a:gd name="T21" fmla="*/ 0 h 319"/>
                  <a:gd name="T22" fmla="*/ 0 w 293"/>
                  <a:gd name="T23" fmla="*/ 0 h 319"/>
                  <a:gd name="T24" fmla="*/ 0 w 293"/>
                  <a:gd name="T25" fmla="*/ 0 h 319"/>
                  <a:gd name="T26" fmla="*/ 0 w 293"/>
                  <a:gd name="T27" fmla="*/ 0 h 319"/>
                  <a:gd name="T28" fmla="*/ 0 w 293"/>
                  <a:gd name="T29" fmla="*/ 0 h 319"/>
                  <a:gd name="T30" fmla="*/ 0 w 293"/>
                  <a:gd name="T31" fmla="*/ 0 h 319"/>
                  <a:gd name="T32" fmla="*/ 0 w 293"/>
                  <a:gd name="T33" fmla="*/ 0 h 319"/>
                  <a:gd name="T34" fmla="*/ 0 w 293"/>
                  <a:gd name="T35" fmla="*/ 0 h 319"/>
                  <a:gd name="T36" fmla="*/ 0 w 293"/>
                  <a:gd name="T37" fmla="*/ 0 h 319"/>
                  <a:gd name="T38" fmla="*/ 0 w 293"/>
                  <a:gd name="T39" fmla="*/ 0 h 319"/>
                  <a:gd name="T40" fmla="*/ 0 w 293"/>
                  <a:gd name="T41" fmla="*/ 0 h 319"/>
                  <a:gd name="T42" fmla="*/ 0 w 293"/>
                  <a:gd name="T43" fmla="*/ 0 h 319"/>
                  <a:gd name="T44" fmla="*/ 0 w 293"/>
                  <a:gd name="T45" fmla="*/ 0 h 319"/>
                  <a:gd name="T46" fmla="*/ 0 w 293"/>
                  <a:gd name="T47" fmla="*/ 0 h 319"/>
                  <a:gd name="T48" fmla="*/ 0 w 293"/>
                  <a:gd name="T49" fmla="*/ 0 h 319"/>
                  <a:gd name="T50" fmla="*/ 0 w 293"/>
                  <a:gd name="T51" fmla="*/ 0 h 319"/>
                  <a:gd name="T52" fmla="*/ 0 w 293"/>
                  <a:gd name="T53" fmla="*/ 0 h 319"/>
                  <a:gd name="T54" fmla="*/ 0 w 293"/>
                  <a:gd name="T55" fmla="*/ 0 h 319"/>
                  <a:gd name="T56" fmla="*/ 0 w 293"/>
                  <a:gd name="T57" fmla="*/ 0 h 319"/>
                  <a:gd name="T58" fmla="*/ 0 w 293"/>
                  <a:gd name="T59" fmla="*/ 0 h 319"/>
                  <a:gd name="T60" fmla="*/ 0 w 293"/>
                  <a:gd name="T61" fmla="*/ 0 h 319"/>
                  <a:gd name="T62" fmla="*/ 0 w 293"/>
                  <a:gd name="T63" fmla="*/ 0 h 319"/>
                  <a:gd name="T64" fmla="*/ 0 w 293"/>
                  <a:gd name="T65" fmla="*/ 0 h 319"/>
                  <a:gd name="T66" fmla="*/ 0 w 293"/>
                  <a:gd name="T67" fmla="*/ 0 h 319"/>
                  <a:gd name="T68" fmla="*/ 0 w 293"/>
                  <a:gd name="T69" fmla="*/ 0 h 319"/>
                  <a:gd name="T70" fmla="*/ 0 w 293"/>
                  <a:gd name="T71" fmla="*/ 0 h 319"/>
                  <a:gd name="T72" fmla="*/ 0 w 293"/>
                  <a:gd name="T73" fmla="*/ 0 h 319"/>
                  <a:gd name="T74" fmla="*/ 0 w 293"/>
                  <a:gd name="T75" fmla="*/ 0 h 319"/>
                  <a:gd name="T76" fmla="*/ 0 w 293"/>
                  <a:gd name="T77" fmla="*/ 0 h 319"/>
                  <a:gd name="T78" fmla="*/ 0 w 293"/>
                  <a:gd name="T79" fmla="*/ 0 h 319"/>
                  <a:gd name="T80" fmla="*/ 0 w 293"/>
                  <a:gd name="T81" fmla="*/ 0 h 31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93"/>
                  <a:gd name="T124" fmla="*/ 0 h 319"/>
                  <a:gd name="T125" fmla="*/ 293 w 293"/>
                  <a:gd name="T126" fmla="*/ 319 h 31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93" h="319">
                    <a:moveTo>
                      <a:pt x="247" y="317"/>
                    </a:moveTo>
                    <a:lnTo>
                      <a:pt x="261" y="307"/>
                    </a:lnTo>
                    <a:lnTo>
                      <a:pt x="275" y="287"/>
                    </a:lnTo>
                    <a:lnTo>
                      <a:pt x="285" y="256"/>
                    </a:lnTo>
                    <a:lnTo>
                      <a:pt x="292" y="218"/>
                    </a:lnTo>
                    <a:lnTo>
                      <a:pt x="293" y="173"/>
                    </a:lnTo>
                    <a:lnTo>
                      <a:pt x="288" y="120"/>
                    </a:lnTo>
                    <a:lnTo>
                      <a:pt x="274" y="62"/>
                    </a:lnTo>
                    <a:lnTo>
                      <a:pt x="251" y="0"/>
                    </a:lnTo>
                    <a:lnTo>
                      <a:pt x="235" y="5"/>
                    </a:lnTo>
                    <a:lnTo>
                      <a:pt x="219" y="10"/>
                    </a:lnTo>
                    <a:lnTo>
                      <a:pt x="204" y="17"/>
                    </a:lnTo>
                    <a:lnTo>
                      <a:pt x="188" y="22"/>
                    </a:lnTo>
                    <a:lnTo>
                      <a:pt x="172" y="28"/>
                    </a:lnTo>
                    <a:lnTo>
                      <a:pt x="157" y="34"/>
                    </a:lnTo>
                    <a:lnTo>
                      <a:pt x="140" y="40"/>
                    </a:lnTo>
                    <a:lnTo>
                      <a:pt x="125" y="45"/>
                    </a:lnTo>
                    <a:lnTo>
                      <a:pt x="110" y="52"/>
                    </a:lnTo>
                    <a:lnTo>
                      <a:pt x="94" y="58"/>
                    </a:lnTo>
                    <a:lnTo>
                      <a:pt x="78" y="63"/>
                    </a:lnTo>
                    <a:lnTo>
                      <a:pt x="63" y="69"/>
                    </a:lnTo>
                    <a:lnTo>
                      <a:pt x="47" y="75"/>
                    </a:lnTo>
                    <a:lnTo>
                      <a:pt x="31" y="81"/>
                    </a:lnTo>
                    <a:lnTo>
                      <a:pt x="15" y="86"/>
                    </a:lnTo>
                    <a:lnTo>
                      <a:pt x="0" y="92"/>
                    </a:lnTo>
                    <a:lnTo>
                      <a:pt x="15" y="122"/>
                    </a:lnTo>
                    <a:lnTo>
                      <a:pt x="30" y="152"/>
                    </a:lnTo>
                    <a:lnTo>
                      <a:pt x="48" y="177"/>
                    </a:lnTo>
                    <a:lnTo>
                      <a:pt x="65" y="201"/>
                    </a:lnTo>
                    <a:lnTo>
                      <a:pt x="82" y="222"/>
                    </a:lnTo>
                    <a:lnTo>
                      <a:pt x="101" y="242"/>
                    </a:lnTo>
                    <a:lnTo>
                      <a:pt x="119" y="259"/>
                    </a:lnTo>
                    <a:lnTo>
                      <a:pt x="136" y="274"/>
                    </a:lnTo>
                    <a:lnTo>
                      <a:pt x="154" y="287"/>
                    </a:lnTo>
                    <a:lnTo>
                      <a:pt x="171" y="297"/>
                    </a:lnTo>
                    <a:lnTo>
                      <a:pt x="186" y="306"/>
                    </a:lnTo>
                    <a:lnTo>
                      <a:pt x="202" y="312"/>
                    </a:lnTo>
                    <a:lnTo>
                      <a:pt x="215" y="316"/>
                    </a:lnTo>
                    <a:lnTo>
                      <a:pt x="227" y="318"/>
                    </a:lnTo>
                    <a:lnTo>
                      <a:pt x="238" y="319"/>
                    </a:lnTo>
                    <a:lnTo>
                      <a:pt x="247" y="31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8" name="Freeform 560">
                <a:extLst>
                  <a:ext uri="{FF2B5EF4-FFF2-40B4-BE49-F238E27FC236}">
                    <a16:creationId xmlns:a16="http://schemas.microsoft.com/office/drawing/2014/main" id="{9F28A10C-6EA5-43A6-BA29-5922ACE37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9"/>
                <a:ext cx="60" cy="139"/>
              </a:xfrm>
              <a:custGeom>
                <a:avLst/>
                <a:gdLst>
                  <a:gd name="T0" fmla="*/ 0 w 1314"/>
                  <a:gd name="T1" fmla="*/ 0 h 2506"/>
                  <a:gd name="T2" fmla="*/ 0 w 1314"/>
                  <a:gd name="T3" fmla="*/ 0 h 2506"/>
                  <a:gd name="T4" fmla="*/ 0 w 1314"/>
                  <a:gd name="T5" fmla="*/ 0 h 2506"/>
                  <a:gd name="T6" fmla="*/ 0 w 1314"/>
                  <a:gd name="T7" fmla="*/ 0 h 2506"/>
                  <a:gd name="T8" fmla="*/ 0 w 1314"/>
                  <a:gd name="T9" fmla="*/ 0 h 25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4"/>
                  <a:gd name="T16" fmla="*/ 0 h 2506"/>
                  <a:gd name="T17" fmla="*/ 1314 w 1314"/>
                  <a:gd name="T18" fmla="*/ 2506 h 25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4" h="2506">
                    <a:moveTo>
                      <a:pt x="198" y="0"/>
                    </a:moveTo>
                    <a:lnTo>
                      <a:pt x="0" y="66"/>
                    </a:lnTo>
                    <a:lnTo>
                      <a:pt x="1064" y="2506"/>
                    </a:lnTo>
                    <a:lnTo>
                      <a:pt x="1314" y="2421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9" name="Freeform 561">
                <a:extLst>
                  <a:ext uri="{FF2B5EF4-FFF2-40B4-BE49-F238E27FC236}">
                    <a16:creationId xmlns:a16="http://schemas.microsoft.com/office/drawing/2014/main" id="{C0A99AC7-5C2E-4DF0-B366-96871682E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3292"/>
                <a:ext cx="11" cy="10"/>
              </a:xfrm>
              <a:custGeom>
                <a:avLst/>
                <a:gdLst>
                  <a:gd name="T0" fmla="*/ 0 w 235"/>
                  <a:gd name="T1" fmla="*/ 0 h 179"/>
                  <a:gd name="T2" fmla="*/ 0 w 235"/>
                  <a:gd name="T3" fmla="*/ 0 h 179"/>
                  <a:gd name="T4" fmla="*/ 0 w 235"/>
                  <a:gd name="T5" fmla="*/ 0 h 179"/>
                  <a:gd name="T6" fmla="*/ 0 w 235"/>
                  <a:gd name="T7" fmla="*/ 0 h 179"/>
                  <a:gd name="T8" fmla="*/ 0 w 235"/>
                  <a:gd name="T9" fmla="*/ 0 h 179"/>
                  <a:gd name="T10" fmla="*/ 0 w 235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179"/>
                  <a:gd name="T20" fmla="*/ 235 w 235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179">
                    <a:moveTo>
                      <a:pt x="235" y="111"/>
                    </a:moveTo>
                    <a:lnTo>
                      <a:pt x="36" y="179"/>
                    </a:lnTo>
                    <a:lnTo>
                      <a:pt x="0" y="97"/>
                    </a:lnTo>
                    <a:lnTo>
                      <a:pt x="70" y="0"/>
                    </a:lnTo>
                    <a:lnTo>
                      <a:pt x="199" y="30"/>
                    </a:lnTo>
                    <a:lnTo>
                      <a:pt x="235" y="111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0" name="Freeform 562">
                <a:extLst>
                  <a:ext uri="{FF2B5EF4-FFF2-40B4-BE49-F238E27FC236}">
                    <a16:creationId xmlns:a16="http://schemas.microsoft.com/office/drawing/2014/main" id="{9F8CD405-879A-45CA-B313-7965B9607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103"/>
                <a:ext cx="208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6"/>
                    </a:moveTo>
                    <a:lnTo>
                      <a:pt x="3650" y="0"/>
                    </a:lnTo>
                    <a:lnTo>
                      <a:pt x="4569" y="1998"/>
                    </a:lnTo>
                    <a:lnTo>
                      <a:pt x="873" y="3641"/>
                    </a:lnTo>
                    <a:lnTo>
                      <a:pt x="0" y="162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1" name="Freeform 563">
                <a:extLst>
                  <a:ext uri="{FF2B5EF4-FFF2-40B4-BE49-F238E27FC236}">
                    <a16:creationId xmlns:a16="http://schemas.microsoft.com/office/drawing/2014/main" id="{A06B197D-00F2-4B6B-A97B-E6730160F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5" y="3045"/>
                <a:ext cx="271" cy="393"/>
              </a:xfrm>
              <a:custGeom>
                <a:avLst/>
                <a:gdLst>
                  <a:gd name="T0" fmla="*/ 0 w 5957"/>
                  <a:gd name="T1" fmla="*/ 0 h 7066"/>
                  <a:gd name="T2" fmla="*/ 0 w 5957"/>
                  <a:gd name="T3" fmla="*/ 0 h 7066"/>
                  <a:gd name="T4" fmla="*/ 0 w 5957"/>
                  <a:gd name="T5" fmla="*/ 0 h 7066"/>
                  <a:gd name="T6" fmla="*/ 0 w 5957"/>
                  <a:gd name="T7" fmla="*/ 0 h 7066"/>
                  <a:gd name="T8" fmla="*/ 0 w 5957"/>
                  <a:gd name="T9" fmla="*/ 0 h 7066"/>
                  <a:gd name="T10" fmla="*/ 0 w 5957"/>
                  <a:gd name="T11" fmla="*/ 0 h 7066"/>
                  <a:gd name="T12" fmla="*/ 0 w 5957"/>
                  <a:gd name="T13" fmla="*/ 0 h 7066"/>
                  <a:gd name="T14" fmla="*/ 0 w 5957"/>
                  <a:gd name="T15" fmla="*/ 0 h 7066"/>
                  <a:gd name="T16" fmla="*/ 0 w 5957"/>
                  <a:gd name="T17" fmla="*/ 0 h 7066"/>
                  <a:gd name="T18" fmla="*/ 0 w 5957"/>
                  <a:gd name="T19" fmla="*/ 0 h 7066"/>
                  <a:gd name="T20" fmla="*/ 0 w 5957"/>
                  <a:gd name="T21" fmla="*/ 0 h 7066"/>
                  <a:gd name="T22" fmla="*/ 0 w 5957"/>
                  <a:gd name="T23" fmla="*/ 0 h 7066"/>
                  <a:gd name="T24" fmla="*/ 0 w 5957"/>
                  <a:gd name="T25" fmla="*/ 0 h 7066"/>
                  <a:gd name="T26" fmla="*/ 0 w 5957"/>
                  <a:gd name="T27" fmla="*/ 0 h 7066"/>
                  <a:gd name="T28" fmla="*/ 0 w 5957"/>
                  <a:gd name="T29" fmla="*/ 0 h 7066"/>
                  <a:gd name="T30" fmla="*/ 0 w 5957"/>
                  <a:gd name="T31" fmla="*/ 0 h 7066"/>
                  <a:gd name="T32" fmla="*/ 0 w 5957"/>
                  <a:gd name="T33" fmla="*/ 0 h 7066"/>
                  <a:gd name="T34" fmla="*/ 0 w 5957"/>
                  <a:gd name="T35" fmla="*/ 0 h 7066"/>
                  <a:gd name="T36" fmla="*/ 0 w 5957"/>
                  <a:gd name="T37" fmla="*/ 0 h 7066"/>
                  <a:gd name="T38" fmla="*/ 0 w 5957"/>
                  <a:gd name="T39" fmla="*/ 0 h 7066"/>
                  <a:gd name="T40" fmla="*/ 0 w 5957"/>
                  <a:gd name="T41" fmla="*/ 0 h 7066"/>
                  <a:gd name="T42" fmla="*/ 0 w 5957"/>
                  <a:gd name="T43" fmla="*/ 0 h 7066"/>
                  <a:gd name="T44" fmla="*/ 0 w 5957"/>
                  <a:gd name="T45" fmla="*/ 0 h 7066"/>
                  <a:gd name="T46" fmla="*/ 0 w 5957"/>
                  <a:gd name="T47" fmla="*/ 0 h 7066"/>
                  <a:gd name="T48" fmla="*/ 0 w 5957"/>
                  <a:gd name="T49" fmla="*/ 0 h 7066"/>
                  <a:gd name="T50" fmla="*/ 0 w 5957"/>
                  <a:gd name="T51" fmla="*/ 0 h 7066"/>
                  <a:gd name="T52" fmla="*/ 0 w 5957"/>
                  <a:gd name="T53" fmla="*/ 0 h 7066"/>
                  <a:gd name="T54" fmla="*/ 0 w 5957"/>
                  <a:gd name="T55" fmla="*/ 0 h 7066"/>
                  <a:gd name="T56" fmla="*/ 0 w 5957"/>
                  <a:gd name="T57" fmla="*/ 0 h 7066"/>
                  <a:gd name="T58" fmla="*/ 0 w 5957"/>
                  <a:gd name="T59" fmla="*/ 0 h 7066"/>
                  <a:gd name="T60" fmla="*/ 0 w 5957"/>
                  <a:gd name="T61" fmla="*/ 0 h 7066"/>
                  <a:gd name="T62" fmla="*/ 0 w 5957"/>
                  <a:gd name="T63" fmla="*/ 0 h 7066"/>
                  <a:gd name="T64" fmla="*/ 0 w 5957"/>
                  <a:gd name="T65" fmla="*/ 0 h 7066"/>
                  <a:gd name="T66" fmla="*/ 0 w 5957"/>
                  <a:gd name="T67" fmla="*/ 0 h 7066"/>
                  <a:gd name="T68" fmla="*/ 0 w 5957"/>
                  <a:gd name="T69" fmla="*/ 0 h 7066"/>
                  <a:gd name="T70" fmla="*/ 0 w 5957"/>
                  <a:gd name="T71" fmla="*/ 0 h 7066"/>
                  <a:gd name="T72" fmla="*/ 0 w 5957"/>
                  <a:gd name="T73" fmla="*/ 0 h 706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6"/>
                  <a:gd name="T113" fmla="*/ 5957 w 5957"/>
                  <a:gd name="T114" fmla="*/ 7066 h 706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6">
                    <a:moveTo>
                      <a:pt x="2496" y="7056"/>
                    </a:moveTo>
                    <a:lnTo>
                      <a:pt x="5894" y="5433"/>
                    </a:lnTo>
                    <a:lnTo>
                      <a:pt x="5912" y="5421"/>
                    </a:lnTo>
                    <a:lnTo>
                      <a:pt x="5927" y="5407"/>
                    </a:lnTo>
                    <a:lnTo>
                      <a:pt x="5941" y="5389"/>
                    </a:lnTo>
                    <a:lnTo>
                      <a:pt x="5950" y="5369"/>
                    </a:lnTo>
                    <a:lnTo>
                      <a:pt x="5955" y="5348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5"/>
                    </a:lnTo>
                    <a:lnTo>
                      <a:pt x="3492" y="47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9"/>
                    </a:lnTo>
                    <a:lnTo>
                      <a:pt x="3420" y="3"/>
                    </a:lnTo>
                    <a:lnTo>
                      <a:pt x="3399" y="0"/>
                    </a:lnTo>
                    <a:lnTo>
                      <a:pt x="3377" y="3"/>
                    </a:lnTo>
                    <a:lnTo>
                      <a:pt x="3357" y="9"/>
                    </a:lnTo>
                    <a:lnTo>
                      <a:pt x="63" y="1487"/>
                    </a:lnTo>
                    <a:lnTo>
                      <a:pt x="45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6"/>
                    </a:lnTo>
                    <a:lnTo>
                      <a:pt x="9" y="1637"/>
                    </a:lnTo>
                    <a:lnTo>
                      <a:pt x="2350" y="7000"/>
                    </a:lnTo>
                    <a:lnTo>
                      <a:pt x="2361" y="7018"/>
                    </a:lnTo>
                    <a:lnTo>
                      <a:pt x="2376" y="7034"/>
                    </a:lnTo>
                    <a:lnTo>
                      <a:pt x="2393" y="7048"/>
                    </a:lnTo>
                    <a:lnTo>
                      <a:pt x="2412" y="7057"/>
                    </a:lnTo>
                    <a:lnTo>
                      <a:pt x="2433" y="7064"/>
                    </a:lnTo>
                    <a:lnTo>
                      <a:pt x="2454" y="7066"/>
                    </a:lnTo>
                    <a:lnTo>
                      <a:pt x="2476" y="7064"/>
                    </a:lnTo>
                    <a:lnTo>
                      <a:pt x="2496" y="705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2" name="Freeform 564">
                <a:extLst>
                  <a:ext uri="{FF2B5EF4-FFF2-40B4-BE49-F238E27FC236}">
                    <a16:creationId xmlns:a16="http://schemas.microsoft.com/office/drawing/2014/main" id="{FAD93D50-CCA9-4197-8F5A-28220E7BF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096"/>
                <a:ext cx="51" cy="121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7" y="2127"/>
                    </a:moveTo>
                    <a:lnTo>
                      <a:pt x="0" y="131"/>
                    </a:lnTo>
                    <a:lnTo>
                      <a:pt x="33" y="0"/>
                    </a:lnTo>
                    <a:lnTo>
                      <a:pt x="70" y="14"/>
                    </a:lnTo>
                    <a:lnTo>
                      <a:pt x="106" y="29"/>
                    </a:lnTo>
                    <a:lnTo>
                      <a:pt x="143" y="44"/>
                    </a:lnTo>
                    <a:lnTo>
                      <a:pt x="180" y="61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8" y="159"/>
                    </a:lnTo>
                    <a:lnTo>
                      <a:pt x="393" y="181"/>
                    </a:lnTo>
                    <a:lnTo>
                      <a:pt x="428" y="204"/>
                    </a:lnTo>
                    <a:lnTo>
                      <a:pt x="461" y="228"/>
                    </a:lnTo>
                    <a:lnTo>
                      <a:pt x="495" y="252"/>
                    </a:lnTo>
                    <a:lnTo>
                      <a:pt x="528" y="279"/>
                    </a:lnTo>
                    <a:lnTo>
                      <a:pt x="560" y="305"/>
                    </a:lnTo>
                    <a:lnTo>
                      <a:pt x="592" y="333"/>
                    </a:lnTo>
                    <a:lnTo>
                      <a:pt x="624" y="361"/>
                    </a:lnTo>
                    <a:lnTo>
                      <a:pt x="654" y="389"/>
                    </a:lnTo>
                    <a:lnTo>
                      <a:pt x="684" y="419"/>
                    </a:lnTo>
                    <a:lnTo>
                      <a:pt x="713" y="450"/>
                    </a:lnTo>
                    <a:lnTo>
                      <a:pt x="742" y="481"/>
                    </a:lnTo>
                    <a:lnTo>
                      <a:pt x="769" y="513"/>
                    </a:lnTo>
                    <a:lnTo>
                      <a:pt x="796" y="545"/>
                    </a:lnTo>
                    <a:lnTo>
                      <a:pt x="822" y="578"/>
                    </a:lnTo>
                    <a:lnTo>
                      <a:pt x="847" y="612"/>
                    </a:lnTo>
                    <a:lnTo>
                      <a:pt x="871" y="647"/>
                    </a:lnTo>
                    <a:lnTo>
                      <a:pt x="895" y="681"/>
                    </a:lnTo>
                    <a:lnTo>
                      <a:pt x="917" y="717"/>
                    </a:lnTo>
                    <a:lnTo>
                      <a:pt x="939" y="754"/>
                    </a:lnTo>
                    <a:lnTo>
                      <a:pt x="959" y="791"/>
                    </a:lnTo>
                    <a:lnTo>
                      <a:pt x="979" y="828"/>
                    </a:lnTo>
                    <a:lnTo>
                      <a:pt x="997" y="866"/>
                    </a:lnTo>
                    <a:lnTo>
                      <a:pt x="1026" y="938"/>
                    </a:lnTo>
                    <a:lnTo>
                      <a:pt x="1053" y="1015"/>
                    </a:lnTo>
                    <a:lnTo>
                      <a:pt x="1075" y="1096"/>
                    </a:lnTo>
                    <a:lnTo>
                      <a:pt x="1095" y="1180"/>
                    </a:lnTo>
                    <a:lnTo>
                      <a:pt x="1110" y="1267"/>
                    </a:lnTo>
                    <a:lnTo>
                      <a:pt x="1121" y="1356"/>
                    </a:lnTo>
                    <a:lnTo>
                      <a:pt x="1130" y="1446"/>
                    </a:lnTo>
                    <a:lnTo>
                      <a:pt x="1134" y="1536"/>
                    </a:lnTo>
                    <a:lnTo>
                      <a:pt x="1134" y="1626"/>
                    </a:lnTo>
                    <a:lnTo>
                      <a:pt x="1131" y="1716"/>
                    </a:lnTo>
                    <a:lnTo>
                      <a:pt x="1122" y="1802"/>
                    </a:lnTo>
                    <a:lnTo>
                      <a:pt x="1111" y="1886"/>
                    </a:lnTo>
                    <a:lnTo>
                      <a:pt x="1096" y="1967"/>
                    </a:lnTo>
                    <a:lnTo>
                      <a:pt x="1076" y="2044"/>
                    </a:lnTo>
                    <a:lnTo>
                      <a:pt x="1053" y="2115"/>
                    </a:lnTo>
                    <a:lnTo>
                      <a:pt x="1025" y="2180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3" name="Freeform 565">
                <a:extLst>
                  <a:ext uri="{FF2B5EF4-FFF2-40B4-BE49-F238E27FC236}">
                    <a16:creationId xmlns:a16="http://schemas.microsoft.com/office/drawing/2014/main" id="{0BAFC72E-AA8D-48A9-A4F1-B373BA0FD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3082"/>
                <a:ext cx="207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5"/>
                    </a:moveTo>
                    <a:lnTo>
                      <a:pt x="3650" y="0"/>
                    </a:lnTo>
                    <a:lnTo>
                      <a:pt x="4569" y="1997"/>
                    </a:lnTo>
                    <a:lnTo>
                      <a:pt x="873" y="3641"/>
                    </a:lnTo>
                    <a:lnTo>
                      <a:pt x="0" y="1625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4" name="Freeform 566">
                <a:extLst>
                  <a:ext uri="{FF2B5EF4-FFF2-40B4-BE49-F238E27FC236}">
                    <a16:creationId xmlns:a16="http://schemas.microsoft.com/office/drawing/2014/main" id="{87A69F48-46DC-41A1-A833-F34D658DE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271" cy="393"/>
              </a:xfrm>
              <a:custGeom>
                <a:avLst/>
                <a:gdLst>
                  <a:gd name="T0" fmla="*/ 0 w 5957"/>
                  <a:gd name="T1" fmla="*/ 0 h 7065"/>
                  <a:gd name="T2" fmla="*/ 0 w 5957"/>
                  <a:gd name="T3" fmla="*/ 0 h 7065"/>
                  <a:gd name="T4" fmla="*/ 0 w 5957"/>
                  <a:gd name="T5" fmla="*/ 0 h 7065"/>
                  <a:gd name="T6" fmla="*/ 0 w 5957"/>
                  <a:gd name="T7" fmla="*/ 0 h 7065"/>
                  <a:gd name="T8" fmla="*/ 0 w 5957"/>
                  <a:gd name="T9" fmla="*/ 0 h 7065"/>
                  <a:gd name="T10" fmla="*/ 0 w 5957"/>
                  <a:gd name="T11" fmla="*/ 0 h 7065"/>
                  <a:gd name="T12" fmla="*/ 0 w 5957"/>
                  <a:gd name="T13" fmla="*/ 0 h 7065"/>
                  <a:gd name="T14" fmla="*/ 0 w 5957"/>
                  <a:gd name="T15" fmla="*/ 0 h 7065"/>
                  <a:gd name="T16" fmla="*/ 0 w 5957"/>
                  <a:gd name="T17" fmla="*/ 0 h 7065"/>
                  <a:gd name="T18" fmla="*/ 0 w 5957"/>
                  <a:gd name="T19" fmla="*/ 0 h 7065"/>
                  <a:gd name="T20" fmla="*/ 0 w 5957"/>
                  <a:gd name="T21" fmla="*/ 0 h 7065"/>
                  <a:gd name="T22" fmla="*/ 0 w 5957"/>
                  <a:gd name="T23" fmla="*/ 0 h 7065"/>
                  <a:gd name="T24" fmla="*/ 0 w 5957"/>
                  <a:gd name="T25" fmla="*/ 0 h 7065"/>
                  <a:gd name="T26" fmla="*/ 0 w 5957"/>
                  <a:gd name="T27" fmla="*/ 0 h 7065"/>
                  <a:gd name="T28" fmla="*/ 0 w 5957"/>
                  <a:gd name="T29" fmla="*/ 0 h 7065"/>
                  <a:gd name="T30" fmla="*/ 0 w 5957"/>
                  <a:gd name="T31" fmla="*/ 0 h 7065"/>
                  <a:gd name="T32" fmla="*/ 0 w 5957"/>
                  <a:gd name="T33" fmla="*/ 0 h 7065"/>
                  <a:gd name="T34" fmla="*/ 0 w 5957"/>
                  <a:gd name="T35" fmla="*/ 0 h 7065"/>
                  <a:gd name="T36" fmla="*/ 0 w 5957"/>
                  <a:gd name="T37" fmla="*/ 0 h 7065"/>
                  <a:gd name="T38" fmla="*/ 0 w 5957"/>
                  <a:gd name="T39" fmla="*/ 0 h 7065"/>
                  <a:gd name="T40" fmla="*/ 0 w 5957"/>
                  <a:gd name="T41" fmla="*/ 0 h 7065"/>
                  <a:gd name="T42" fmla="*/ 0 w 5957"/>
                  <a:gd name="T43" fmla="*/ 0 h 7065"/>
                  <a:gd name="T44" fmla="*/ 0 w 5957"/>
                  <a:gd name="T45" fmla="*/ 0 h 7065"/>
                  <a:gd name="T46" fmla="*/ 0 w 5957"/>
                  <a:gd name="T47" fmla="*/ 0 h 7065"/>
                  <a:gd name="T48" fmla="*/ 0 w 5957"/>
                  <a:gd name="T49" fmla="*/ 0 h 7065"/>
                  <a:gd name="T50" fmla="*/ 0 w 5957"/>
                  <a:gd name="T51" fmla="*/ 0 h 7065"/>
                  <a:gd name="T52" fmla="*/ 0 w 5957"/>
                  <a:gd name="T53" fmla="*/ 0 h 7065"/>
                  <a:gd name="T54" fmla="*/ 0 w 5957"/>
                  <a:gd name="T55" fmla="*/ 0 h 7065"/>
                  <a:gd name="T56" fmla="*/ 0 w 5957"/>
                  <a:gd name="T57" fmla="*/ 0 h 7065"/>
                  <a:gd name="T58" fmla="*/ 0 w 5957"/>
                  <a:gd name="T59" fmla="*/ 0 h 7065"/>
                  <a:gd name="T60" fmla="*/ 0 w 5957"/>
                  <a:gd name="T61" fmla="*/ 0 h 7065"/>
                  <a:gd name="T62" fmla="*/ 0 w 5957"/>
                  <a:gd name="T63" fmla="*/ 0 h 7065"/>
                  <a:gd name="T64" fmla="*/ 0 w 5957"/>
                  <a:gd name="T65" fmla="*/ 0 h 7065"/>
                  <a:gd name="T66" fmla="*/ 0 w 5957"/>
                  <a:gd name="T67" fmla="*/ 0 h 7065"/>
                  <a:gd name="T68" fmla="*/ 0 w 5957"/>
                  <a:gd name="T69" fmla="*/ 0 h 7065"/>
                  <a:gd name="T70" fmla="*/ 0 w 5957"/>
                  <a:gd name="T71" fmla="*/ 0 h 7065"/>
                  <a:gd name="T72" fmla="*/ 0 w 5957"/>
                  <a:gd name="T73" fmla="*/ 0 h 70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5"/>
                  <a:gd name="T113" fmla="*/ 5957 w 5957"/>
                  <a:gd name="T114" fmla="*/ 7065 h 70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5">
                    <a:moveTo>
                      <a:pt x="2497" y="7056"/>
                    </a:moveTo>
                    <a:lnTo>
                      <a:pt x="5894" y="5432"/>
                    </a:lnTo>
                    <a:lnTo>
                      <a:pt x="5912" y="5421"/>
                    </a:lnTo>
                    <a:lnTo>
                      <a:pt x="5928" y="5406"/>
                    </a:lnTo>
                    <a:lnTo>
                      <a:pt x="5941" y="5388"/>
                    </a:lnTo>
                    <a:lnTo>
                      <a:pt x="5950" y="5368"/>
                    </a:lnTo>
                    <a:lnTo>
                      <a:pt x="5955" y="5347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4"/>
                    </a:lnTo>
                    <a:lnTo>
                      <a:pt x="3492" y="46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8"/>
                    </a:lnTo>
                    <a:lnTo>
                      <a:pt x="3420" y="2"/>
                    </a:lnTo>
                    <a:lnTo>
                      <a:pt x="3399" y="0"/>
                    </a:lnTo>
                    <a:lnTo>
                      <a:pt x="3377" y="2"/>
                    </a:lnTo>
                    <a:lnTo>
                      <a:pt x="3357" y="8"/>
                    </a:lnTo>
                    <a:lnTo>
                      <a:pt x="63" y="1486"/>
                    </a:lnTo>
                    <a:lnTo>
                      <a:pt x="45" y="1497"/>
                    </a:lnTo>
                    <a:lnTo>
                      <a:pt x="30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5"/>
                    </a:lnTo>
                    <a:lnTo>
                      <a:pt x="9" y="1636"/>
                    </a:lnTo>
                    <a:lnTo>
                      <a:pt x="2351" y="6999"/>
                    </a:lnTo>
                    <a:lnTo>
                      <a:pt x="2362" y="7018"/>
                    </a:lnTo>
                    <a:lnTo>
                      <a:pt x="2377" y="7034"/>
                    </a:lnTo>
                    <a:lnTo>
                      <a:pt x="2394" y="7048"/>
                    </a:lnTo>
                    <a:lnTo>
                      <a:pt x="2413" y="7057"/>
                    </a:lnTo>
                    <a:lnTo>
                      <a:pt x="2434" y="7063"/>
                    </a:lnTo>
                    <a:lnTo>
                      <a:pt x="2455" y="7065"/>
                    </a:lnTo>
                    <a:lnTo>
                      <a:pt x="2477" y="7063"/>
                    </a:lnTo>
                    <a:lnTo>
                      <a:pt x="2497" y="70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5" name="Freeform 567">
                <a:extLst>
                  <a:ext uri="{FF2B5EF4-FFF2-40B4-BE49-F238E27FC236}">
                    <a16:creationId xmlns:a16="http://schemas.microsoft.com/office/drawing/2014/main" id="{CD45A1A2-08D6-42AB-8828-219CA66EA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2" cy="99"/>
              </a:xfrm>
              <a:custGeom>
                <a:avLst/>
                <a:gdLst>
                  <a:gd name="T0" fmla="*/ 0 w 3562"/>
                  <a:gd name="T1" fmla="*/ 0 h 1773"/>
                  <a:gd name="T2" fmla="*/ 0 w 3562"/>
                  <a:gd name="T3" fmla="*/ 0 h 1773"/>
                  <a:gd name="T4" fmla="*/ 0 w 3562"/>
                  <a:gd name="T5" fmla="*/ 0 h 1773"/>
                  <a:gd name="T6" fmla="*/ 0 w 3562"/>
                  <a:gd name="T7" fmla="*/ 0 h 1773"/>
                  <a:gd name="T8" fmla="*/ 0 w 3562"/>
                  <a:gd name="T9" fmla="*/ 0 h 1773"/>
                  <a:gd name="T10" fmla="*/ 0 w 3562"/>
                  <a:gd name="T11" fmla="*/ 0 h 1773"/>
                  <a:gd name="T12" fmla="*/ 0 w 3562"/>
                  <a:gd name="T13" fmla="*/ 0 h 1773"/>
                  <a:gd name="T14" fmla="*/ 0 w 3562"/>
                  <a:gd name="T15" fmla="*/ 0 h 1773"/>
                  <a:gd name="T16" fmla="*/ 0 w 3562"/>
                  <a:gd name="T17" fmla="*/ 0 h 1773"/>
                  <a:gd name="T18" fmla="*/ 0 w 3562"/>
                  <a:gd name="T19" fmla="*/ 0 h 1773"/>
                  <a:gd name="T20" fmla="*/ 0 w 3562"/>
                  <a:gd name="T21" fmla="*/ 0 h 1773"/>
                  <a:gd name="T22" fmla="*/ 0 w 3562"/>
                  <a:gd name="T23" fmla="*/ 0 h 1773"/>
                  <a:gd name="T24" fmla="*/ 0 w 3562"/>
                  <a:gd name="T25" fmla="*/ 0 h 1773"/>
                  <a:gd name="T26" fmla="*/ 0 w 3562"/>
                  <a:gd name="T27" fmla="*/ 0 h 1773"/>
                  <a:gd name="T28" fmla="*/ 0 w 3562"/>
                  <a:gd name="T29" fmla="*/ 0 h 1773"/>
                  <a:gd name="T30" fmla="*/ 0 w 3562"/>
                  <a:gd name="T31" fmla="*/ 0 h 1773"/>
                  <a:gd name="T32" fmla="*/ 0 w 3562"/>
                  <a:gd name="T33" fmla="*/ 0 h 1773"/>
                  <a:gd name="T34" fmla="*/ 0 w 3562"/>
                  <a:gd name="T35" fmla="*/ 0 h 1773"/>
                  <a:gd name="T36" fmla="*/ 0 w 3562"/>
                  <a:gd name="T37" fmla="*/ 0 h 1773"/>
                  <a:gd name="T38" fmla="*/ 0 w 3562"/>
                  <a:gd name="T39" fmla="*/ 0 h 1773"/>
                  <a:gd name="T40" fmla="*/ 0 w 3562"/>
                  <a:gd name="T41" fmla="*/ 0 h 177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62"/>
                  <a:gd name="T64" fmla="*/ 0 h 1773"/>
                  <a:gd name="T65" fmla="*/ 3562 w 3562"/>
                  <a:gd name="T66" fmla="*/ 1773 h 177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62" h="1773">
                    <a:moveTo>
                      <a:pt x="3562" y="1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68" y="1773"/>
                    </a:lnTo>
                    <a:lnTo>
                      <a:pt x="3562" y="183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6" name="Freeform 568">
                <a:extLst>
                  <a:ext uri="{FF2B5EF4-FFF2-40B4-BE49-F238E27FC236}">
                    <a16:creationId xmlns:a16="http://schemas.microsoft.com/office/drawing/2014/main" id="{736CEC65-5159-4D05-81D7-BED0E6485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7"/>
              </a:xfrm>
              <a:custGeom>
                <a:avLst/>
                <a:gdLst>
                  <a:gd name="T0" fmla="*/ 0 w 3550"/>
                  <a:gd name="T1" fmla="*/ 0 h 1748"/>
                  <a:gd name="T2" fmla="*/ 0 w 3550"/>
                  <a:gd name="T3" fmla="*/ 0 h 1748"/>
                  <a:gd name="T4" fmla="*/ 0 w 3550"/>
                  <a:gd name="T5" fmla="*/ 0 h 1748"/>
                  <a:gd name="T6" fmla="*/ 0 w 3550"/>
                  <a:gd name="T7" fmla="*/ 0 h 1748"/>
                  <a:gd name="T8" fmla="*/ 0 w 3550"/>
                  <a:gd name="T9" fmla="*/ 0 h 1748"/>
                  <a:gd name="T10" fmla="*/ 0 w 3550"/>
                  <a:gd name="T11" fmla="*/ 0 h 1748"/>
                  <a:gd name="T12" fmla="*/ 0 w 3550"/>
                  <a:gd name="T13" fmla="*/ 0 h 1748"/>
                  <a:gd name="T14" fmla="*/ 0 w 3550"/>
                  <a:gd name="T15" fmla="*/ 0 h 1748"/>
                  <a:gd name="T16" fmla="*/ 0 w 3550"/>
                  <a:gd name="T17" fmla="*/ 0 h 1748"/>
                  <a:gd name="T18" fmla="*/ 0 w 3550"/>
                  <a:gd name="T19" fmla="*/ 0 h 1748"/>
                  <a:gd name="T20" fmla="*/ 0 w 3550"/>
                  <a:gd name="T21" fmla="*/ 0 h 1748"/>
                  <a:gd name="T22" fmla="*/ 0 w 3550"/>
                  <a:gd name="T23" fmla="*/ 0 h 1748"/>
                  <a:gd name="T24" fmla="*/ 0 w 3550"/>
                  <a:gd name="T25" fmla="*/ 0 h 1748"/>
                  <a:gd name="T26" fmla="*/ 0 w 3550"/>
                  <a:gd name="T27" fmla="*/ 0 h 1748"/>
                  <a:gd name="T28" fmla="*/ 0 w 3550"/>
                  <a:gd name="T29" fmla="*/ 0 h 1748"/>
                  <a:gd name="T30" fmla="*/ 0 w 3550"/>
                  <a:gd name="T31" fmla="*/ 0 h 1748"/>
                  <a:gd name="T32" fmla="*/ 0 w 3550"/>
                  <a:gd name="T33" fmla="*/ 0 h 1748"/>
                  <a:gd name="T34" fmla="*/ 0 w 3550"/>
                  <a:gd name="T35" fmla="*/ 0 h 1748"/>
                  <a:gd name="T36" fmla="*/ 0 w 3550"/>
                  <a:gd name="T37" fmla="*/ 0 h 1748"/>
                  <a:gd name="T38" fmla="*/ 0 w 3550"/>
                  <a:gd name="T39" fmla="*/ 0 h 1748"/>
                  <a:gd name="T40" fmla="*/ 0 w 3550"/>
                  <a:gd name="T41" fmla="*/ 0 h 1748"/>
                  <a:gd name="T42" fmla="*/ 0 w 3550"/>
                  <a:gd name="T43" fmla="*/ 0 h 1748"/>
                  <a:gd name="T44" fmla="*/ 0 w 3550"/>
                  <a:gd name="T45" fmla="*/ 0 h 1748"/>
                  <a:gd name="T46" fmla="*/ 0 w 3550"/>
                  <a:gd name="T47" fmla="*/ 0 h 1748"/>
                  <a:gd name="T48" fmla="*/ 0 w 3550"/>
                  <a:gd name="T49" fmla="*/ 0 h 1748"/>
                  <a:gd name="T50" fmla="*/ 0 w 3550"/>
                  <a:gd name="T51" fmla="*/ 0 h 1748"/>
                  <a:gd name="T52" fmla="*/ 0 w 3550"/>
                  <a:gd name="T53" fmla="*/ 0 h 1748"/>
                  <a:gd name="T54" fmla="*/ 0 w 3550"/>
                  <a:gd name="T55" fmla="*/ 0 h 1748"/>
                  <a:gd name="T56" fmla="*/ 0 w 3550"/>
                  <a:gd name="T57" fmla="*/ 0 h 1748"/>
                  <a:gd name="T58" fmla="*/ 0 w 3550"/>
                  <a:gd name="T59" fmla="*/ 0 h 1748"/>
                  <a:gd name="T60" fmla="*/ 0 w 3550"/>
                  <a:gd name="T61" fmla="*/ 0 h 1748"/>
                  <a:gd name="T62" fmla="*/ 0 w 3550"/>
                  <a:gd name="T63" fmla="*/ 0 h 1748"/>
                  <a:gd name="T64" fmla="*/ 0 w 3550"/>
                  <a:gd name="T65" fmla="*/ 0 h 1748"/>
                  <a:gd name="T66" fmla="*/ 0 w 3550"/>
                  <a:gd name="T67" fmla="*/ 0 h 1748"/>
                  <a:gd name="T68" fmla="*/ 0 w 3550"/>
                  <a:gd name="T69" fmla="*/ 0 h 1748"/>
                  <a:gd name="T70" fmla="*/ 0 w 3550"/>
                  <a:gd name="T71" fmla="*/ 0 h 1748"/>
                  <a:gd name="T72" fmla="*/ 0 w 3550"/>
                  <a:gd name="T73" fmla="*/ 0 h 1748"/>
                  <a:gd name="T74" fmla="*/ 0 w 3550"/>
                  <a:gd name="T75" fmla="*/ 0 h 1748"/>
                  <a:gd name="T76" fmla="*/ 0 w 3550"/>
                  <a:gd name="T77" fmla="*/ 0 h 1748"/>
                  <a:gd name="T78" fmla="*/ 0 w 3550"/>
                  <a:gd name="T79" fmla="*/ 0 h 1748"/>
                  <a:gd name="T80" fmla="*/ 0 w 3550"/>
                  <a:gd name="T81" fmla="*/ 0 h 1748"/>
                  <a:gd name="T82" fmla="*/ 0 w 3550"/>
                  <a:gd name="T83" fmla="*/ 0 h 1748"/>
                  <a:gd name="T84" fmla="*/ 0 w 3550"/>
                  <a:gd name="T85" fmla="*/ 0 h 1748"/>
                  <a:gd name="T86" fmla="*/ 0 w 3550"/>
                  <a:gd name="T87" fmla="*/ 0 h 1748"/>
                  <a:gd name="T88" fmla="*/ 0 w 3550"/>
                  <a:gd name="T89" fmla="*/ 0 h 1748"/>
                  <a:gd name="T90" fmla="*/ 0 w 3550"/>
                  <a:gd name="T91" fmla="*/ 0 h 1748"/>
                  <a:gd name="T92" fmla="*/ 0 w 3550"/>
                  <a:gd name="T93" fmla="*/ 0 h 1748"/>
                  <a:gd name="T94" fmla="*/ 0 w 3550"/>
                  <a:gd name="T95" fmla="*/ 0 h 174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50"/>
                  <a:gd name="T145" fmla="*/ 0 h 1748"/>
                  <a:gd name="T146" fmla="*/ 3550 w 3550"/>
                  <a:gd name="T147" fmla="*/ 1748 h 174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50" h="1748">
                    <a:moveTo>
                      <a:pt x="3550" y="163"/>
                    </a:moveTo>
                    <a:lnTo>
                      <a:pt x="3545" y="153"/>
                    </a:lnTo>
                    <a:lnTo>
                      <a:pt x="3541" y="144"/>
                    </a:lnTo>
                    <a:lnTo>
                      <a:pt x="3538" y="137"/>
                    </a:lnTo>
                    <a:lnTo>
                      <a:pt x="3533" y="130"/>
                    </a:lnTo>
                    <a:lnTo>
                      <a:pt x="3529" y="120"/>
                    </a:lnTo>
                    <a:lnTo>
                      <a:pt x="3523" y="108"/>
                    </a:lnTo>
                    <a:lnTo>
                      <a:pt x="3514" y="90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1" y="1665"/>
                    </a:lnTo>
                    <a:lnTo>
                      <a:pt x="26" y="1673"/>
                    </a:lnTo>
                    <a:lnTo>
                      <a:pt x="31" y="1685"/>
                    </a:lnTo>
                    <a:lnTo>
                      <a:pt x="37" y="1699"/>
                    </a:lnTo>
                    <a:lnTo>
                      <a:pt x="46" y="1719"/>
                    </a:lnTo>
                    <a:lnTo>
                      <a:pt x="57" y="1748"/>
                    </a:lnTo>
                    <a:lnTo>
                      <a:pt x="162" y="1700"/>
                    </a:lnTo>
                    <a:lnTo>
                      <a:pt x="259" y="1656"/>
                    </a:lnTo>
                    <a:lnTo>
                      <a:pt x="348" y="1616"/>
                    </a:lnTo>
                    <a:lnTo>
                      <a:pt x="430" y="1579"/>
                    </a:lnTo>
                    <a:lnTo>
                      <a:pt x="508" y="1543"/>
                    </a:lnTo>
                    <a:lnTo>
                      <a:pt x="579" y="1511"/>
                    </a:lnTo>
                    <a:lnTo>
                      <a:pt x="648" y="1480"/>
                    </a:lnTo>
                    <a:lnTo>
                      <a:pt x="713" y="1451"/>
                    </a:lnTo>
                    <a:lnTo>
                      <a:pt x="776" y="1422"/>
                    </a:lnTo>
                    <a:lnTo>
                      <a:pt x="837" y="1395"/>
                    </a:lnTo>
                    <a:lnTo>
                      <a:pt x="898" y="1367"/>
                    </a:lnTo>
                    <a:lnTo>
                      <a:pt x="959" y="1340"/>
                    </a:lnTo>
                    <a:lnTo>
                      <a:pt x="1021" y="1311"/>
                    </a:lnTo>
                    <a:lnTo>
                      <a:pt x="1085" y="1282"/>
                    </a:lnTo>
                    <a:lnTo>
                      <a:pt x="1153" y="1251"/>
                    </a:lnTo>
                    <a:lnTo>
                      <a:pt x="1223" y="1220"/>
                    </a:lnTo>
                    <a:lnTo>
                      <a:pt x="1299" y="1186"/>
                    </a:lnTo>
                    <a:lnTo>
                      <a:pt x="1379" y="1149"/>
                    </a:lnTo>
                    <a:lnTo>
                      <a:pt x="1466" y="1110"/>
                    </a:lnTo>
                    <a:lnTo>
                      <a:pt x="1560" y="1067"/>
                    </a:lnTo>
                    <a:lnTo>
                      <a:pt x="1662" y="1020"/>
                    </a:lnTo>
                    <a:lnTo>
                      <a:pt x="1772" y="971"/>
                    </a:lnTo>
                    <a:lnTo>
                      <a:pt x="1892" y="916"/>
                    </a:lnTo>
                    <a:lnTo>
                      <a:pt x="2024" y="857"/>
                    </a:lnTo>
                    <a:lnTo>
                      <a:pt x="2166" y="792"/>
                    </a:lnTo>
                    <a:lnTo>
                      <a:pt x="2320" y="722"/>
                    </a:lnTo>
                    <a:lnTo>
                      <a:pt x="2488" y="646"/>
                    </a:lnTo>
                    <a:lnTo>
                      <a:pt x="2668" y="564"/>
                    </a:lnTo>
                    <a:lnTo>
                      <a:pt x="2864" y="474"/>
                    </a:lnTo>
                    <a:lnTo>
                      <a:pt x="3075" y="378"/>
                    </a:lnTo>
                    <a:lnTo>
                      <a:pt x="3304" y="275"/>
                    </a:lnTo>
                    <a:lnTo>
                      <a:pt x="3550" y="163"/>
                    </a:lnTo>
                    <a:close/>
                  </a:path>
                </a:pathLst>
              </a:custGeom>
              <a:solidFill>
                <a:srgbClr val="BF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7" name="Freeform 569">
                <a:extLst>
                  <a:ext uri="{FF2B5EF4-FFF2-40B4-BE49-F238E27FC236}">
                    <a16:creationId xmlns:a16="http://schemas.microsoft.com/office/drawing/2014/main" id="{BE727853-D8A7-49F9-B550-B6D7C8044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6"/>
              </a:xfrm>
              <a:custGeom>
                <a:avLst/>
                <a:gdLst>
                  <a:gd name="T0" fmla="*/ 0 w 3539"/>
                  <a:gd name="T1" fmla="*/ 0 h 1724"/>
                  <a:gd name="T2" fmla="*/ 0 w 3539"/>
                  <a:gd name="T3" fmla="*/ 0 h 1724"/>
                  <a:gd name="T4" fmla="*/ 0 w 3539"/>
                  <a:gd name="T5" fmla="*/ 0 h 1724"/>
                  <a:gd name="T6" fmla="*/ 0 w 3539"/>
                  <a:gd name="T7" fmla="*/ 0 h 1724"/>
                  <a:gd name="T8" fmla="*/ 0 w 3539"/>
                  <a:gd name="T9" fmla="*/ 0 h 1724"/>
                  <a:gd name="T10" fmla="*/ 0 w 3539"/>
                  <a:gd name="T11" fmla="*/ 0 h 1724"/>
                  <a:gd name="T12" fmla="*/ 0 w 3539"/>
                  <a:gd name="T13" fmla="*/ 0 h 1724"/>
                  <a:gd name="T14" fmla="*/ 0 w 3539"/>
                  <a:gd name="T15" fmla="*/ 0 h 1724"/>
                  <a:gd name="T16" fmla="*/ 0 w 3539"/>
                  <a:gd name="T17" fmla="*/ 0 h 1724"/>
                  <a:gd name="T18" fmla="*/ 0 w 3539"/>
                  <a:gd name="T19" fmla="*/ 0 h 1724"/>
                  <a:gd name="T20" fmla="*/ 0 w 3539"/>
                  <a:gd name="T21" fmla="*/ 0 h 1724"/>
                  <a:gd name="T22" fmla="*/ 0 w 3539"/>
                  <a:gd name="T23" fmla="*/ 0 h 1724"/>
                  <a:gd name="T24" fmla="*/ 0 w 3539"/>
                  <a:gd name="T25" fmla="*/ 0 h 1724"/>
                  <a:gd name="T26" fmla="*/ 0 w 3539"/>
                  <a:gd name="T27" fmla="*/ 0 h 1724"/>
                  <a:gd name="T28" fmla="*/ 0 w 3539"/>
                  <a:gd name="T29" fmla="*/ 0 h 1724"/>
                  <a:gd name="T30" fmla="*/ 0 w 3539"/>
                  <a:gd name="T31" fmla="*/ 0 h 1724"/>
                  <a:gd name="T32" fmla="*/ 0 w 3539"/>
                  <a:gd name="T33" fmla="*/ 0 h 1724"/>
                  <a:gd name="T34" fmla="*/ 0 w 3539"/>
                  <a:gd name="T35" fmla="*/ 0 h 1724"/>
                  <a:gd name="T36" fmla="*/ 0 w 3539"/>
                  <a:gd name="T37" fmla="*/ 0 h 1724"/>
                  <a:gd name="T38" fmla="*/ 0 w 3539"/>
                  <a:gd name="T39" fmla="*/ 0 h 1724"/>
                  <a:gd name="T40" fmla="*/ 0 w 3539"/>
                  <a:gd name="T41" fmla="*/ 0 h 1724"/>
                  <a:gd name="T42" fmla="*/ 0 w 3539"/>
                  <a:gd name="T43" fmla="*/ 0 h 1724"/>
                  <a:gd name="T44" fmla="*/ 0 w 3539"/>
                  <a:gd name="T45" fmla="*/ 0 h 1724"/>
                  <a:gd name="T46" fmla="*/ 0 w 3539"/>
                  <a:gd name="T47" fmla="*/ 0 h 1724"/>
                  <a:gd name="T48" fmla="*/ 0 w 3539"/>
                  <a:gd name="T49" fmla="*/ 0 h 1724"/>
                  <a:gd name="T50" fmla="*/ 0 w 3539"/>
                  <a:gd name="T51" fmla="*/ 0 h 1724"/>
                  <a:gd name="T52" fmla="*/ 0 w 3539"/>
                  <a:gd name="T53" fmla="*/ 0 h 1724"/>
                  <a:gd name="T54" fmla="*/ 0 w 3539"/>
                  <a:gd name="T55" fmla="*/ 0 h 1724"/>
                  <a:gd name="T56" fmla="*/ 0 w 3539"/>
                  <a:gd name="T57" fmla="*/ 0 h 1724"/>
                  <a:gd name="T58" fmla="*/ 0 w 3539"/>
                  <a:gd name="T59" fmla="*/ 0 h 1724"/>
                  <a:gd name="T60" fmla="*/ 0 w 3539"/>
                  <a:gd name="T61" fmla="*/ 0 h 1724"/>
                  <a:gd name="T62" fmla="*/ 0 w 3539"/>
                  <a:gd name="T63" fmla="*/ 0 h 1724"/>
                  <a:gd name="T64" fmla="*/ 0 w 3539"/>
                  <a:gd name="T65" fmla="*/ 0 h 1724"/>
                  <a:gd name="T66" fmla="*/ 0 w 3539"/>
                  <a:gd name="T67" fmla="*/ 0 h 1724"/>
                  <a:gd name="T68" fmla="*/ 0 w 3539"/>
                  <a:gd name="T69" fmla="*/ 0 h 1724"/>
                  <a:gd name="T70" fmla="*/ 0 w 3539"/>
                  <a:gd name="T71" fmla="*/ 0 h 1724"/>
                  <a:gd name="T72" fmla="*/ 0 w 3539"/>
                  <a:gd name="T73" fmla="*/ 0 h 1724"/>
                  <a:gd name="T74" fmla="*/ 0 w 3539"/>
                  <a:gd name="T75" fmla="*/ 0 h 1724"/>
                  <a:gd name="T76" fmla="*/ 0 w 3539"/>
                  <a:gd name="T77" fmla="*/ 0 h 1724"/>
                  <a:gd name="T78" fmla="*/ 0 w 3539"/>
                  <a:gd name="T79" fmla="*/ 0 h 1724"/>
                  <a:gd name="T80" fmla="*/ 0 w 3539"/>
                  <a:gd name="T81" fmla="*/ 0 h 1724"/>
                  <a:gd name="T82" fmla="*/ 0 w 3539"/>
                  <a:gd name="T83" fmla="*/ 0 h 1724"/>
                  <a:gd name="T84" fmla="*/ 0 w 3539"/>
                  <a:gd name="T85" fmla="*/ 0 h 1724"/>
                  <a:gd name="T86" fmla="*/ 0 w 3539"/>
                  <a:gd name="T87" fmla="*/ 0 h 1724"/>
                  <a:gd name="T88" fmla="*/ 0 w 3539"/>
                  <a:gd name="T89" fmla="*/ 0 h 1724"/>
                  <a:gd name="T90" fmla="*/ 0 w 3539"/>
                  <a:gd name="T91" fmla="*/ 0 h 1724"/>
                  <a:gd name="T92" fmla="*/ 0 w 3539"/>
                  <a:gd name="T93" fmla="*/ 0 h 1724"/>
                  <a:gd name="T94" fmla="*/ 0 w 3539"/>
                  <a:gd name="T95" fmla="*/ 0 h 172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39"/>
                  <a:gd name="T145" fmla="*/ 0 h 1724"/>
                  <a:gd name="T146" fmla="*/ 3539 w 3539"/>
                  <a:gd name="T147" fmla="*/ 1724 h 172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39" h="1724">
                    <a:moveTo>
                      <a:pt x="3539" y="143"/>
                    </a:moveTo>
                    <a:lnTo>
                      <a:pt x="3534" y="135"/>
                    </a:lnTo>
                    <a:lnTo>
                      <a:pt x="3531" y="129"/>
                    </a:lnTo>
                    <a:lnTo>
                      <a:pt x="3529" y="123"/>
                    </a:lnTo>
                    <a:lnTo>
                      <a:pt x="3526" y="117"/>
                    </a:lnTo>
                    <a:lnTo>
                      <a:pt x="3523" y="110"/>
                    </a:lnTo>
                    <a:lnTo>
                      <a:pt x="3518" y="99"/>
                    </a:lnTo>
                    <a:lnTo>
                      <a:pt x="3511" y="84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6"/>
                    </a:lnTo>
                    <a:lnTo>
                      <a:pt x="16" y="1652"/>
                    </a:lnTo>
                    <a:lnTo>
                      <a:pt x="19" y="1658"/>
                    </a:lnTo>
                    <a:lnTo>
                      <a:pt x="22" y="1666"/>
                    </a:lnTo>
                    <a:lnTo>
                      <a:pt x="26" y="1674"/>
                    </a:lnTo>
                    <a:lnTo>
                      <a:pt x="31" y="1686"/>
                    </a:lnTo>
                    <a:lnTo>
                      <a:pt x="37" y="1702"/>
                    </a:lnTo>
                    <a:lnTo>
                      <a:pt x="46" y="1724"/>
                    </a:lnTo>
                    <a:lnTo>
                      <a:pt x="151" y="1676"/>
                    </a:lnTo>
                    <a:lnTo>
                      <a:pt x="248" y="1633"/>
                    </a:lnTo>
                    <a:lnTo>
                      <a:pt x="337" y="1592"/>
                    </a:lnTo>
                    <a:lnTo>
                      <a:pt x="419" y="1555"/>
                    </a:lnTo>
                    <a:lnTo>
                      <a:pt x="497" y="1520"/>
                    </a:lnTo>
                    <a:lnTo>
                      <a:pt x="568" y="1488"/>
                    </a:lnTo>
                    <a:lnTo>
                      <a:pt x="637" y="1457"/>
                    </a:lnTo>
                    <a:lnTo>
                      <a:pt x="702" y="1427"/>
                    </a:lnTo>
                    <a:lnTo>
                      <a:pt x="765" y="1399"/>
                    </a:lnTo>
                    <a:lnTo>
                      <a:pt x="826" y="1372"/>
                    </a:lnTo>
                    <a:lnTo>
                      <a:pt x="886" y="1344"/>
                    </a:lnTo>
                    <a:lnTo>
                      <a:pt x="948" y="1316"/>
                    </a:lnTo>
                    <a:lnTo>
                      <a:pt x="1010" y="1288"/>
                    </a:lnTo>
                    <a:lnTo>
                      <a:pt x="1074" y="1259"/>
                    </a:lnTo>
                    <a:lnTo>
                      <a:pt x="1141" y="1229"/>
                    </a:lnTo>
                    <a:lnTo>
                      <a:pt x="1212" y="1197"/>
                    </a:lnTo>
                    <a:lnTo>
                      <a:pt x="1287" y="1163"/>
                    </a:lnTo>
                    <a:lnTo>
                      <a:pt x="1368" y="1126"/>
                    </a:lnTo>
                    <a:lnTo>
                      <a:pt x="1455" y="1087"/>
                    </a:lnTo>
                    <a:lnTo>
                      <a:pt x="1548" y="1045"/>
                    </a:lnTo>
                    <a:lnTo>
                      <a:pt x="1650" y="998"/>
                    </a:lnTo>
                    <a:lnTo>
                      <a:pt x="1761" y="949"/>
                    </a:lnTo>
                    <a:lnTo>
                      <a:pt x="1881" y="894"/>
                    </a:lnTo>
                    <a:lnTo>
                      <a:pt x="2013" y="835"/>
                    </a:lnTo>
                    <a:lnTo>
                      <a:pt x="2154" y="771"/>
                    </a:lnTo>
                    <a:lnTo>
                      <a:pt x="2308" y="700"/>
                    </a:lnTo>
                    <a:lnTo>
                      <a:pt x="2477" y="625"/>
                    </a:lnTo>
                    <a:lnTo>
                      <a:pt x="2657" y="543"/>
                    </a:lnTo>
                    <a:lnTo>
                      <a:pt x="2853" y="453"/>
                    </a:lnTo>
                    <a:lnTo>
                      <a:pt x="3064" y="357"/>
                    </a:lnTo>
                    <a:lnTo>
                      <a:pt x="3293" y="254"/>
                    </a:lnTo>
                    <a:lnTo>
                      <a:pt x="3539" y="143"/>
                    </a:lnTo>
                    <a:close/>
                  </a:path>
                </a:pathLst>
              </a:custGeom>
              <a:solidFill>
                <a:srgbClr val="C9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8" name="Freeform 570">
                <a:extLst>
                  <a:ext uri="{FF2B5EF4-FFF2-40B4-BE49-F238E27FC236}">
                    <a16:creationId xmlns:a16="http://schemas.microsoft.com/office/drawing/2014/main" id="{67148011-A89D-46D1-8612-B837B7053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4"/>
              </a:xfrm>
              <a:custGeom>
                <a:avLst/>
                <a:gdLst>
                  <a:gd name="T0" fmla="*/ 0 w 3526"/>
                  <a:gd name="T1" fmla="*/ 0 h 1698"/>
                  <a:gd name="T2" fmla="*/ 0 w 3526"/>
                  <a:gd name="T3" fmla="*/ 0 h 1698"/>
                  <a:gd name="T4" fmla="*/ 0 w 3526"/>
                  <a:gd name="T5" fmla="*/ 0 h 1698"/>
                  <a:gd name="T6" fmla="*/ 0 w 3526"/>
                  <a:gd name="T7" fmla="*/ 0 h 1698"/>
                  <a:gd name="T8" fmla="*/ 0 w 3526"/>
                  <a:gd name="T9" fmla="*/ 0 h 1698"/>
                  <a:gd name="T10" fmla="*/ 0 w 3526"/>
                  <a:gd name="T11" fmla="*/ 0 h 1698"/>
                  <a:gd name="T12" fmla="*/ 0 w 3526"/>
                  <a:gd name="T13" fmla="*/ 0 h 1698"/>
                  <a:gd name="T14" fmla="*/ 0 w 3526"/>
                  <a:gd name="T15" fmla="*/ 0 h 1698"/>
                  <a:gd name="T16" fmla="*/ 0 w 3526"/>
                  <a:gd name="T17" fmla="*/ 0 h 1698"/>
                  <a:gd name="T18" fmla="*/ 0 w 3526"/>
                  <a:gd name="T19" fmla="*/ 0 h 1698"/>
                  <a:gd name="T20" fmla="*/ 0 w 3526"/>
                  <a:gd name="T21" fmla="*/ 0 h 1698"/>
                  <a:gd name="T22" fmla="*/ 0 w 3526"/>
                  <a:gd name="T23" fmla="*/ 0 h 1698"/>
                  <a:gd name="T24" fmla="*/ 0 w 3526"/>
                  <a:gd name="T25" fmla="*/ 0 h 1698"/>
                  <a:gd name="T26" fmla="*/ 0 w 3526"/>
                  <a:gd name="T27" fmla="*/ 0 h 1698"/>
                  <a:gd name="T28" fmla="*/ 0 w 3526"/>
                  <a:gd name="T29" fmla="*/ 0 h 1698"/>
                  <a:gd name="T30" fmla="*/ 0 w 3526"/>
                  <a:gd name="T31" fmla="*/ 0 h 1698"/>
                  <a:gd name="T32" fmla="*/ 0 w 3526"/>
                  <a:gd name="T33" fmla="*/ 0 h 1698"/>
                  <a:gd name="T34" fmla="*/ 0 w 3526"/>
                  <a:gd name="T35" fmla="*/ 0 h 1698"/>
                  <a:gd name="T36" fmla="*/ 0 w 3526"/>
                  <a:gd name="T37" fmla="*/ 0 h 1698"/>
                  <a:gd name="T38" fmla="*/ 0 w 3526"/>
                  <a:gd name="T39" fmla="*/ 0 h 1698"/>
                  <a:gd name="T40" fmla="*/ 0 w 3526"/>
                  <a:gd name="T41" fmla="*/ 0 h 1698"/>
                  <a:gd name="T42" fmla="*/ 0 w 3526"/>
                  <a:gd name="T43" fmla="*/ 0 h 1698"/>
                  <a:gd name="T44" fmla="*/ 0 w 3526"/>
                  <a:gd name="T45" fmla="*/ 0 h 1698"/>
                  <a:gd name="T46" fmla="*/ 0 w 3526"/>
                  <a:gd name="T47" fmla="*/ 0 h 1698"/>
                  <a:gd name="T48" fmla="*/ 0 w 3526"/>
                  <a:gd name="T49" fmla="*/ 0 h 1698"/>
                  <a:gd name="T50" fmla="*/ 0 w 3526"/>
                  <a:gd name="T51" fmla="*/ 0 h 1698"/>
                  <a:gd name="T52" fmla="*/ 0 w 3526"/>
                  <a:gd name="T53" fmla="*/ 0 h 1698"/>
                  <a:gd name="T54" fmla="*/ 0 w 3526"/>
                  <a:gd name="T55" fmla="*/ 0 h 1698"/>
                  <a:gd name="T56" fmla="*/ 0 w 3526"/>
                  <a:gd name="T57" fmla="*/ 0 h 1698"/>
                  <a:gd name="T58" fmla="*/ 0 w 3526"/>
                  <a:gd name="T59" fmla="*/ 0 h 1698"/>
                  <a:gd name="T60" fmla="*/ 0 w 3526"/>
                  <a:gd name="T61" fmla="*/ 0 h 1698"/>
                  <a:gd name="T62" fmla="*/ 0 w 3526"/>
                  <a:gd name="T63" fmla="*/ 0 h 1698"/>
                  <a:gd name="T64" fmla="*/ 0 w 3526"/>
                  <a:gd name="T65" fmla="*/ 0 h 1698"/>
                  <a:gd name="T66" fmla="*/ 0 w 3526"/>
                  <a:gd name="T67" fmla="*/ 0 h 1698"/>
                  <a:gd name="T68" fmla="*/ 0 w 3526"/>
                  <a:gd name="T69" fmla="*/ 0 h 1698"/>
                  <a:gd name="T70" fmla="*/ 0 w 3526"/>
                  <a:gd name="T71" fmla="*/ 0 h 1698"/>
                  <a:gd name="T72" fmla="*/ 0 w 3526"/>
                  <a:gd name="T73" fmla="*/ 0 h 1698"/>
                  <a:gd name="T74" fmla="*/ 0 w 3526"/>
                  <a:gd name="T75" fmla="*/ 0 h 1698"/>
                  <a:gd name="T76" fmla="*/ 0 w 3526"/>
                  <a:gd name="T77" fmla="*/ 0 h 1698"/>
                  <a:gd name="T78" fmla="*/ 0 w 3526"/>
                  <a:gd name="T79" fmla="*/ 0 h 1698"/>
                  <a:gd name="T80" fmla="*/ 0 w 3526"/>
                  <a:gd name="T81" fmla="*/ 0 h 1698"/>
                  <a:gd name="T82" fmla="*/ 0 w 3526"/>
                  <a:gd name="T83" fmla="*/ 0 h 1698"/>
                  <a:gd name="T84" fmla="*/ 0 w 3526"/>
                  <a:gd name="T85" fmla="*/ 0 h 1698"/>
                  <a:gd name="T86" fmla="*/ 0 w 3526"/>
                  <a:gd name="T87" fmla="*/ 0 h 16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26"/>
                  <a:gd name="T133" fmla="*/ 0 h 1698"/>
                  <a:gd name="T134" fmla="*/ 3526 w 3526"/>
                  <a:gd name="T135" fmla="*/ 1698 h 16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26" h="1698">
                    <a:moveTo>
                      <a:pt x="3526" y="123"/>
                    </a:moveTo>
                    <a:lnTo>
                      <a:pt x="3522" y="112"/>
                    </a:lnTo>
                    <a:lnTo>
                      <a:pt x="3518" y="103"/>
                    </a:lnTo>
                    <a:lnTo>
                      <a:pt x="3513" y="9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5" y="1671"/>
                    </a:lnTo>
                    <a:lnTo>
                      <a:pt x="36" y="1698"/>
                    </a:lnTo>
                    <a:lnTo>
                      <a:pt x="141" y="1651"/>
                    </a:lnTo>
                    <a:lnTo>
                      <a:pt x="237" y="1608"/>
                    </a:lnTo>
                    <a:lnTo>
                      <a:pt x="326" y="1568"/>
                    </a:lnTo>
                    <a:lnTo>
                      <a:pt x="409" y="1530"/>
                    </a:lnTo>
                    <a:lnTo>
                      <a:pt x="486" y="1496"/>
                    </a:lnTo>
                    <a:lnTo>
                      <a:pt x="558" y="1463"/>
                    </a:lnTo>
                    <a:lnTo>
                      <a:pt x="626" y="1433"/>
                    </a:lnTo>
                    <a:lnTo>
                      <a:pt x="691" y="1403"/>
                    </a:lnTo>
                    <a:lnTo>
                      <a:pt x="754" y="1375"/>
                    </a:lnTo>
                    <a:lnTo>
                      <a:pt x="815" y="1347"/>
                    </a:lnTo>
                    <a:lnTo>
                      <a:pt x="875" y="1320"/>
                    </a:lnTo>
                    <a:lnTo>
                      <a:pt x="936" y="1292"/>
                    </a:lnTo>
                    <a:lnTo>
                      <a:pt x="999" y="1264"/>
                    </a:lnTo>
                    <a:lnTo>
                      <a:pt x="1063" y="1236"/>
                    </a:lnTo>
                    <a:lnTo>
                      <a:pt x="1130" y="1205"/>
                    </a:lnTo>
                    <a:lnTo>
                      <a:pt x="1201" y="1173"/>
                    </a:lnTo>
                    <a:lnTo>
                      <a:pt x="1276" y="1140"/>
                    </a:lnTo>
                    <a:lnTo>
                      <a:pt x="1357" y="1103"/>
                    </a:lnTo>
                    <a:lnTo>
                      <a:pt x="1443" y="1064"/>
                    </a:lnTo>
                    <a:lnTo>
                      <a:pt x="1537" y="1022"/>
                    </a:lnTo>
                    <a:lnTo>
                      <a:pt x="1639" y="975"/>
                    </a:lnTo>
                    <a:lnTo>
                      <a:pt x="1749" y="926"/>
                    </a:lnTo>
                    <a:lnTo>
                      <a:pt x="1870" y="872"/>
                    </a:lnTo>
                    <a:lnTo>
                      <a:pt x="2000" y="813"/>
                    </a:lnTo>
                    <a:lnTo>
                      <a:pt x="2143" y="749"/>
                    </a:lnTo>
                    <a:lnTo>
                      <a:pt x="2297" y="679"/>
                    </a:lnTo>
                    <a:lnTo>
                      <a:pt x="2464" y="603"/>
                    </a:lnTo>
                    <a:lnTo>
                      <a:pt x="2646" y="521"/>
                    </a:lnTo>
                    <a:lnTo>
                      <a:pt x="2841" y="432"/>
                    </a:lnTo>
                    <a:lnTo>
                      <a:pt x="3053" y="337"/>
                    </a:lnTo>
                    <a:lnTo>
                      <a:pt x="3281" y="234"/>
                    </a:lnTo>
                    <a:lnTo>
                      <a:pt x="3526" y="123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9" name="Freeform 571">
                <a:extLst>
                  <a:ext uri="{FF2B5EF4-FFF2-40B4-BE49-F238E27FC236}">
                    <a16:creationId xmlns:a16="http://schemas.microsoft.com/office/drawing/2014/main" id="{D7AA51CD-A3CD-4844-885A-26CCCAEDC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3"/>
              </a:xfrm>
              <a:custGeom>
                <a:avLst/>
                <a:gdLst>
                  <a:gd name="T0" fmla="*/ 0 w 3515"/>
                  <a:gd name="T1" fmla="*/ 0 h 1674"/>
                  <a:gd name="T2" fmla="*/ 0 w 3515"/>
                  <a:gd name="T3" fmla="*/ 0 h 1674"/>
                  <a:gd name="T4" fmla="*/ 0 w 3515"/>
                  <a:gd name="T5" fmla="*/ 0 h 1674"/>
                  <a:gd name="T6" fmla="*/ 0 w 3515"/>
                  <a:gd name="T7" fmla="*/ 0 h 1674"/>
                  <a:gd name="T8" fmla="*/ 0 w 3515"/>
                  <a:gd name="T9" fmla="*/ 0 h 1674"/>
                  <a:gd name="T10" fmla="*/ 0 w 3515"/>
                  <a:gd name="T11" fmla="*/ 0 h 1674"/>
                  <a:gd name="T12" fmla="*/ 0 w 3515"/>
                  <a:gd name="T13" fmla="*/ 0 h 1674"/>
                  <a:gd name="T14" fmla="*/ 0 w 3515"/>
                  <a:gd name="T15" fmla="*/ 0 h 1674"/>
                  <a:gd name="T16" fmla="*/ 0 w 3515"/>
                  <a:gd name="T17" fmla="*/ 0 h 1674"/>
                  <a:gd name="T18" fmla="*/ 0 w 3515"/>
                  <a:gd name="T19" fmla="*/ 0 h 1674"/>
                  <a:gd name="T20" fmla="*/ 0 w 3515"/>
                  <a:gd name="T21" fmla="*/ 0 h 1674"/>
                  <a:gd name="T22" fmla="*/ 0 w 3515"/>
                  <a:gd name="T23" fmla="*/ 0 h 1674"/>
                  <a:gd name="T24" fmla="*/ 0 w 3515"/>
                  <a:gd name="T25" fmla="*/ 0 h 1674"/>
                  <a:gd name="T26" fmla="*/ 0 w 3515"/>
                  <a:gd name="T27" fmla="*/ 0 h 1674"/>
                  <a:gd name="T28" fmla="*/ 0 w 3515"/>
                  <a:gd name="T29" fmla="*/ 0 h 1674"/>
                  <a:gd name="T30" fmla="*/ 0 w 3515"/>
                  <a:gd name="T31" fmla="*/ 0 h 1674"/>
                  <a:gd name="T32" fmla="*/ 0 w 3515"/>
                  <a:gd name="T33" fmla="*/ 0 h 1674"/>
                  <a:gd name="T34" fmla="*/ 0 w 3515"/>
                  <a:gd name="T35" fmla="*/ 0 h 1674"/>
                  <a:gd name="T36" fmla="*/ 0 w 3515"/>
                  <a:gd name="T37" fmla="*/ 0 h 1674"/>
                  <a:gd name="T38" fmla="*/ 0 w 3515"/>
                  <a:gd name="T39" fmla="*/ 0 h 1674"/>
                  <a:gd name="T40" fmla="*/ 0 w 3515"/>
                  <a:gd name="T41" fmla="*/ 0 h 1674"/>
                  <a:gd name="T42" fmla="*/ 0 w 3515"/>
                  <a:gd name="T43" fmla="*/ 0 h 1674"/>
                  <a:gd name="T44" fmla="*/ 0 w 3515"/>
                  <a:gd name="T45" fmla="*/ 0 h 1674"/>
                  <a:gd name="T46" fmla="*/ 0 w 3515"/>
                  <a:gd name="T47" fmla="*/ 0 h 1674"/>
                  <a:gd name="T48" fmla="*/ 0 w 3515"/>
                  <a:gd name="T49" fmla="*/ 0 h 1674"/>
                  <a:gd name="T50" fmla="*/ 0 w 3515"/>
                  <a:gd name="T51" fmla="*/ 0 h 1674"/>
                  <a:gd name="T52" fmla="*/ 0 w 3515"/>
                  <a:gd name="T53" fmla="*/ 0 h 1674"/>
                  <a:gd name="T54" fmla="*/ 0 w 3515"/>
                  <a:gd name="T55" fmla="*/ 0 h 1674"/>
                  <a:gd name="T56" fmla="*/ 0 w 3515"/>
                  <a:gd name="T57" fmla="*/ 0 h 1674"/>
                  <a:gd name="T58" fmla="*/ 0 w 3515"/>
                  <a:gd name="T59" fmla="*/ 0 h 1674"/>
                  <a:gd name="T60" fmla="*/ 0 w 3515"/>
                  <a:gd name="T61" fmla="*/ 0 h 1674"/>
                  <a:gd name="T62" fmla="*/ 0 w 3515"/>
                  <a:gd name="T63" fmla="*/ 0 h 1674"/>
                  <a:gd name="T64" fmla="*/ 0 w 3515"/>
                  <a:gd name="T65" fmla="*/ 0 h 1674"/>
                  <a:gd name="T66" fmla="*/ 0 w 3515"/>
                  <a:gd name="T67" fmla="*/ 0 h 1674"/>
                  <a:gd name="T68" fmla="*/ 0 w 3515"/>
                  <a:gd name="T69" fmla="*/ 0 h 1674"/>
                  <a:gd name="T70" fmla="*/ 0 w 3515"/>
                  <a:gd name="T71" fmla="*/ 0 h 1674"/>
                  <a:gd name="T72" fmla="*/ 0 w 3515"/>
                  <a:gd name="T73" fmla="*/ 0 h 1674"/>
                  <a:gd name="T74" fmla="*/ 0 w 3515"/>
                  <a:gd name="T75" fmla="*/ 0 h 1674"/>
                  <a:gd name="T76" fmla="*/ 0 w 3515"/>
                  <a:gd name="T77" fmla="*/ 0 h 1674"/>
                  <a:gd name="T78" fmla="*/ 0 w 3515"/>
                  <a:gd name="T79" fmla="*/ 0 h 1674"/>
                  <a:gd name="T80" fmla="*/ 0 w 3515"/>
                  <a:gd name="T81" fmla="*/ 0 h 1674"/>
                  <a:gd name="T82" fmla="*/ 0 w 3515"/>
                  <a:gd name="T83" fmla="*/ 0 h 1674"/>
                  <a:gd name="T84" fmla="*/ 0 w 3515"/>
                  <a:gd name="T85" fmla="*/ 0 h 1674"/>
                  <a:gd name="T86" fmla="*/ 0 w 3515"/>
                  <a:gd name="T87" fmla="*/ 0 h 167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15"/>
                  <a:gd name="T133" fmla="*/ 0 h 1674"/>
                  <a:gd name="T134" fmla="*/ 3515 w 3515"/>
                  <a:gd name="T135" fmla="*/ 1674 h 1674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15" h="1674">
                    <a:moveTo>
                      <a:pt x="3515" y="103"/>
                    </a:moveTo>
                    <a:lnTo>
                      <a:pt x="3513" y="96"/>
                    </a:lnTo>
                    <a:lnTo>
                      <a:pt x="3511" y="91"/>
                    </a:lnTo>
                    <a:lnTo>
                      <a:pt x="3508" y="8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2" y="1644"/>
                    </a:lnTo>
                    <a:lnTo>
                      <a:pt x="15" y="1649"/>
                    </a:lnTo>
                    <a:lnTo>
                      <a:pt x="18" y="1657"/>
                    </a:lnTo>
                    <a:lnTo>
                      <a:pt x="25" y="1674"/>
                    </a:lnTo>
                    <a:lnTo>
                      <a:pt x="130" y="1627"/>
                    </a:lnTo>
                    <a:lnTo>
                      <a:pt x="225" y="1583"/>
                    </a:lnTo>
                    <a:lnTo>
                      <a:pt x="315" y="1543"/>
                    </a:lnTo>
                    <a:lnTo>
                      <a:pt x="398" y="1506"/>
                    </a:lnTo>
                    <a:lnTo>
                      <a:pt x="474" y="1472"/>
                    </a:lnTo>
                    <a:lnTo>
                      <a:pt x="547" y="1439"/>
                    </a:lnTo>
                    <a:lnTo>
                      <a:pt x="615" y="1408"/>
                    </a:lnTo>
                    <a:lnTo>
                      <a:pt x="679" y="1379"/>
                    </a:lnTo>
                    <a:lnTo>
                      <a:pt x="743" y="1352"/>
                    </a:lnTo>
                    <a:lnTo>
                      <a:pt x="804" y="1324"/>
                    </a:lnTo>
                    <a:lnTo>
                      <a:pt x="864" y="1297"/>
                    </a:lnTo>
                    <a:lnTo>
                      <a:pt x="925" y="1269"/>
                    </a:lnTo>
                    <a:lnTo>
                      <a:pt x="987" y="1241"/>
                    </a:lnTo>
                    <a:lnTo>
                      <a:pt x="1052" y="1212"/>
                    </a:lnTo>
                    <a:lnTo>
                      <a:pt x="1119" y="1182"/>
                    </a:lnTo>
                    <a:lnTo>
                      <a:pt x="1189" y="1150"/>
                    </a:lnTo>
                    <a:lnTo>
                      <a:pt x="1265" y="1116"/>
                    </a:lnTo>
                    <a:lnTo>
                      <a:pt x="1345" y="1081"/>
                    </a:lnTo>
                    <a:lnTo>
                      <a:pt x="1432" y="1042"/>
                    </a:lnTo>
                    <a:lnTo>
                      <a:pt x="1526" y="999"/>
                    </a:lnTo>
                    <a:lnTo>
                      <a:pt x="1628" y="953"/>
                    </a:lnTo>
                    <a:lnTo>
                      <a:pt x="1738" y="903"/>
                    </a:lnTo>
                    <a:lnTo>
                      <a:pt x="1859" y="850"/>
                    </a:lnTo>
                    <a:lnTo>
                      <a:pt x="1989" y="791"/>
                    </a:lnTo>
                    <a:lnTo>
                      <a:pt x="2132" y="726"/>
                    </a:lnTo>
                    <a:lnTo>
                      <a:pt x="2286" y="657"/>
                    </a:lnTo>
                    <a:lnTo>
                      <a:pt x="2453" y="582"/>
                    </a:lnTo>
                    <a:lnTo>
                      <a:pt x="2635" y="500"/>
                    </a:lnTo>
                    <a:lnTo>
                      <a:pt x="2830" y="412"/>
                    </a:lnTo>
                    <a:lnTo>
                      <a:pt x="3042" y="316"/>
                    </a:lnTo>
                    <a:lnTo>
                      <a:pt x="3269" y="214"/>
                    </a:lnTo>
                    <a:lnTo>
                      <a:pt x="3515" y="103"/>
                    </a:lnTo>
                    <a:close/>
                  </a:path>
                </a:pathLst>
              </a:custGeom>
              <a:solidFill>
                <a:srgbClr val="D6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0" name="Freeform 572">
                <a:extLst>
                  <a:ext uri="{FF2B5EF4-FFF2-40B4-BE49-F238E27FC236}">
                    <a16:creationId xmlns:a16="http://schemas.microsoft.com/office/drawing/2014/main" id="{8767C578-67CA-46F6-BB58-8E7187A02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59" cy="92"/>
              </a:xfrm>
              <a:custGeom>
                <a:avLst/>
                <a:gdLst>
                  <a:gd name="T0" fmla="*/ 0 w 3503"/>
                  <a:gd name="T1" fmla="*/ 0 h 1649"/>
                  <a:gd name="T2" fmla="*/ 0 w 3503"/>
                  <a:gd name="T3" fmla="*/ 0 h 1649"/>
                  <a:gd name="T4" fmla="*/ 0 w 3503"/>
                  <a:gd name="T5" fmla="*/ 0 h 1649"/>
                  <a:gd name="T6" fmla="*/ 0 w 3503"/>
                  <a:gd name="T7" fmla="*/ 0 h 1649"/>
                  <a:gd name="T8" fmla="*/ 0 w 3503"/>
                  <a:gd name="T9" fmla="*/ 0 h 1649"/>
                  <a:gd name="T10" fmla="*/ 0 w 3503"/>
                  <a:gd name="T11" fmla="*/ 0 h 1649"/>
                  <a:gd name="T12" fmla="*/ 0 w 3503"/>
                  <a:gd name="T13" fmla="*/ 0 h 1649"/>
                  <a:gd name="T14" fmla="*/ 0 w 3503"/>
                  <a:gd name="T15" fmla="*/ 0 h 1649"/>
                  <a:gd name="T16" fmla="*/ 0 w 3503"/>
                  <a:gd name="T17" fmla="*/ 0 h 1649"/>
                  <a:gd name="T18" fmla="*/ 0 w 3503"/>
                  <a:gd name="T19" fmla="*/ 0 h 1649"/>
                  <a:gd name="T20" fmla="*/ 0 w 3503"/>
                  <a:gd name="T21" fmla="*/ 0 h 1649"/>
                  <a:gd name="T22" fmla="*/ 0 w 3503"/>
                  <a:gd name="T23" fmla="*/ 0 h 1649"/>
                  <a:gd name="T24" fmla="*/ 0 w 3503"/>
                  <a:gd name="T25" fmla="*/ 0 h 1649"/>
                  <a:gd name="T26" fmla="*/ 0 w 3503"/>
                  <a:gd name="T27" fmla="*/ 0 h 1649"/>
                  <a:gd name="T28" fmla="*/ 0 w 3503"/>
                  <a:gd name="T29" fmla="*/ 0 h 1649"/>
                  <a:gd name="T30" fmla="*/ 0 w 3503"/>
                  <a:gd name="T31" fmla="*/ 0 h 1649"/>
                  <a:gd name="T32" fmla="*/ 0 w 3503"/>
                  <a:gd name="T33" fmla="*/ 0 h 1649"/>
                  <a:gd name="T34" fmla="*/ 0 w 3503"/>
                  <a:gd name="T35" fmla="*/ 0 h 1649"/>
                  <a:gd name="T36" fmla="*/ 0 w 3503"/>
                  <a:gd name="T37" fmla="*/ 0 h 1649"/>
                  <a:gd name="T38" fmla="*/ 0 w 3503"/>
                  <a:gd name="T39" fmla="*/ 0 h 1649"/>
                  <a:gd name="T40" fmla="*/ 0 w 3503"/>
                  <a:gd name="T41" fmla="*/ 0 h 16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03"/>
                  <a:gd name="T64" fmla="*/ 0 h 1649"/>
                  <a:gd name="T65" fmla="*/ 3503 w 3503"/>
                  <a:gd name="T66" fmla="*/ 1649 h 16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03" h="1649">
                    <a:moveTo>
                      <a:pt x="3503" y="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9"/>
                    </a:lnTo>
                    <a:lnTo>
                      <a:pt x="3503" y="8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1" name="Freeform 573">
                <a:extLst>
                  <a:ext uri="{FF2B5EF4-FFF2-40B4-BE49-F238E27FC236}">
                    <a16:creationId xmlns:a16="http://schemas.microsoft.com/office/drawing/2014/main" id="{10902785-31DC-4FF5-9A12-674DFCCBB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064"/>
                <a:ext cx="2" cy="3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7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2" name="Freeform 574">
                <a:extLst>
                  <a:ext uri="{FF2B5EF4-FFF2-40B4-BE49-F238E27FC236}">
                    <a16:creationId xmlns:a16="http://schemas.microsoft.com/office/drawing/2014/main" id="{1D3788F8-A91C-4FE6-9E62-30D94E170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064"/>
                <a:ext cx="160" cy="90"/>
              </a:xfrm>
              <a:custGeom>
                <a:avLst/>
                <a:gdLst>
                  <a:gd name="T0" fmla="*/ 0 w 3529"/>
                  <a:gd name="T1" fmla="*/ 0 h 1614"/>
                  <a:gd name="T2" fmla="*/ 0 w 3529"/>
                  <a:gd name="T3" fmla="*/ 0 h 1614"/>
                  <a:gd name="T4" fmla="*/ 0 w 3529"/>
                  <a:gd name="T5" fmla="*/ 0 h 1614"/>
                  <a:gd name="T6" fmla="*/ 0 w 3529"/>
                  <a:gd name="T7" fmla="*/ 0 h 1614"/>
                  <a:gd name="T8" fmla="*/ 0 w 3529"/>
                  <a:gd name="T9" fmla="*/ 0 h 1614"/>
                  <a:gd name="T10" fmla="*/ 0 w 3529"/>
                  <a:gd name="T11" fmla="*/ 0 h 16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29"/>
                  <a:gd name="T19" fmla="*/ 0 h 1614"/>
                  <a:gd name="T20" fmla="*/ 3529 w 3529"/>
                  <a:gd name="T21" fmla="*/ 1614 h 16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29" h="1614">
                    <a:moveTo>
                      <a:pt x="8" y="1596"/>
                    </a:moveTo>
                    <a:lnTo>
                      <a:pt x="0" y="1577"/>
                    </a:lnTo>
                    <a:lnTo>
                      <a:pt x="3513" y="0"/>
                    </a:lnTo>
                    <a:lnTo>
                      <a:pt x="3529" y="38"/>
                    </a:lnTo>
                    <a:lnTo>
                      <a:pt x="16" y="1614"/>
                    </a:lnTo>
                    <a:lnTo>
                      <a:pt x="8" y="1596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3" name="Freeform 575">
                <a:extLst>
                  <a:ext uri="{FF2B5EF4-FFF2-40B4-BE49-F238E27FC236}">
                    <a16:creationId xmlns:a16="http://schemas.microsoft.com/office/drawing/2014/main" id="{BF2BF204-AD43-4AE8-BC58-B68672B2B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152"/>
                <a:ext cx="1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28" y="37"/>
                    </a:moveTo>
                    <a:lnTo>
                      <a:pt x="19" y="40"/>
                    </a:lnTo>
                    <a:lnTo>
                      <a:pt x="12" y="37"/>
                    </a:lnTo>
                    <a:lnTo>
                      <a:pt x="6" y="33"/>
                    </a:lnTo>
                    <a:lnTo>
                      <a:pt x="2" y="26"/>
                    </a:lnTo>
                    <a:lnTo>
                      <a:pt x="0" y="19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2" y="0"/>
                    </a:lnTo>
                    <a:lnTo>
                      <a:pt x="28" y="37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4" name="Freeform 576">
                <a:extLst>
                  <a:ext uri="{FF2B5EF4-FFF2-40B4-BE49-F238E27FC236}">
                    <a16:creationId xmlns:a16="http://schemas.microsoft.com/office/drawing/2014/main" id="{94943D62-1FBD-45F9-BD78-8E76B7F5A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3075"/>
                <a:ext cx="2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6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5" name="Freeform 577">
                <a:extLst>
                  <a:ext uri="{FF2B5EF4-FFF2-40B4-BE49-F238E27FC236}">
                    <a16:creationId xmlns:a16="http://schemas.microsoft.com/office/drawing/2014/main" id="{E3EAF0B1-FABF-476B-84D2-D6E485E82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075"/>
                <a:ext cx="161" cy="91"/>
              </a:xfrm>
              <a:custGeom>
                <a:avLst/>
                <a:gdLst>
                  <a:gd name="T0" fmla="*/ 0 w 3547"/>
                  <a:gd name="T1" fmla="*/ 0 h 1633"/>
                  <a:gd name="T2" fmla="*/ 0 w 3547"/>
                  <a:gd name="T3" fmla="*/ 0 h 1633"/>
                  <a:gd name="T4" fmla="*/ 0 w 3547"/>
                  <a:gd name="T5" fmla="*/ 0 h 1633"/>
                  <a:gd name="T6" fmla="*/ 0 w 3547"/>
                  <a:gd name="T7" fmla="*/ 0 h 1633"/>
                  <a:gd name="T8" fmla="*/ 0 w 3547"/>
                  <a:gd name="T9" fmla="*/ 0 h 1633"/>
                  <a:gd name="T10" fmla="*/ 0 w 3547"/>
                  <a:gd name="T11" fmla="*/ 0 h 16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47"/>
                  <a:gd name="T19" fmla="*/ 0 h 1633"/>
                  <a:gd name="T20" fmla="*/ 3547 w 3547"/>
                  <a:gd name="T21" fmla="*/ 1633 h 163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47" h="1633">
                    <a:moveTo>
                      <a:pt x="8" y="1614"/>
                    </a:moveTo>
                    <a:lnTo>
                      <a:pt x="0" y="1595"/>
                    </a:lnTo>
                    <a:lnTo>
                      <a:pt x="3531" y="0"/>
                    </a:lnTo>
                    <a:lnTo>
                      <a:pt x="3547" y="38"/>
                    </a:lnTo>
                    <a:lnTo>
                      <a:pt x="17" y="1633"/>
                    </a:lnTo>
                    <a:lnTo>
                      <a:pt x="8" y="161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6" name="Freeform 578">
                <a:extLst>
                  <a:ext uri="{FF2B5EF4-FFF2-40B4-BE49-F238E27FC236}">
                    <a16:creationId xmlns:a16="http://schemas.microsoft.com/office/drawing/2014/main" id="{D905ACC1-41AF-4437-B946-F994D21421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164"/>
                <a:ext cx="2" cy="2"/>
              </a:xfrm>
              <a:custGeom>
                <a:avLst/>
                <a:gdLst>
                  <a:gd name="T0" fmla="*/ 0 w 29"/>
                  <a:gd name="T1" fmla="*/ 0 h 40"/>
                  <a:gd name="T2" fmla="*/ 0 w 29"/>
                  <a:gd name="T3" fmla="*/ 0 h 40"/>
                  <a:gd name="T4" fmla="*/ 0 w 29"/>
                  <a:gd name="T5" fmla="*/ 0 h 40"/>
                  <a:gd name="T6" fmla="*/ 0 w 29"/>
                  <a:gd name="T7" fmla="*/ 0 h 40"/>
                  <a:gd name="T8" fmla="*/ 0 w 29"/>
                  <a:gd name="T9" fmla="*/ 0 h 40"/>
                  <a:gd name="T10" fmla="*/ 0 w 29"/>
                  <a:gd name="T11" fmla="*/ 0 h 40"/>
                  <a:gd name="T12" fmla="*/ 0 w 29"/>
                  <a:gd name="T13" fmla="*/ 0 h 40"/>
                  <a:gd name="T14" fmla="*/ 0 w 29"/>
                  <a:gd name="T15" fmla="*/ 0 h 40"/>
                  <a:gd name="T16" fmla="*/ 0 w 29"/>
                  <a:gd name="T17" fmla="*/ 0 h 40"/>
                  <a:gd name="T18" fmla="*/ 0 w 29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40"/>
                  <a:gd name="T32" fmla="*/ 29 w 29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40">
                    <a:moveTo>
                      <a:pt x="29" y="38"/>
                    </a:moveTo>
                    <a:lnTo>
                      <a:pt x="19" y="40"/>
                    </a:lnTo>
                    <a:lnTo>
                      <a:pt x="12" y="38"/>
                    </a:lnTo>
                    <a:lnTo>
                      <a:pt x="6" y="34"/>
                    </a:lnTo>
                    <a:lnTo>
                      <a:pt x="2" y="27"/>
                    </a:lnTo>
                    <a:lnTo>
                      <a:pt x="0" y="19"/>
                    </a:lnTo>
                    <a:lnTo>
                      <a:pt x="1" y="12"/>
                    </a:lnTo>
                    <a:lnTo>
                      <a:pt x="5" y="6"/>
                    </a:lnTo>
                    <a:lnTo>
                      <a:pt x="12" y="0"/>
                    </a:lnTo>
                    <a:lnTo>
                      <a:pt x="29" y="38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7" name="Freeform 579">
                <a:extLst>
                  <a:ext uri="{FF2B5EF4-FFF2-40B4-BE49-F238E27FC236}">
                    <a16:creationId xmlns:a16="http://schemas.microsoft.com/office/drawing/2014/main" id="{878CB0FF-044E-4287-B148-A898676A8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3169"/>
                <a:ext cx="50" cy="122"/>
              </a:xfrm>
              <a:custGeom>
                <a:avLst/>
                <a:gdLst>
                  <a:gd name="T0" fmla="*/ 0 w 1103"/>
                  <a:gd name="T1" fmla="*/ 0 h 2201"/>
                  <a:gd name="T2" fmla="*/ 0 w 1103"/>
                  <a:gd name="T3" fmla="*/ 0 h 2201"/>
                  <a:gd name="T4" fmla="*/ 0 w 1103"/>
                  <a:gd name="T5" fmla="*/ 0 h 2201"/>
                  <a:gd name="T6" fmla="*/ 0 w 1103"/>
                  <a:gd name="T7" fmla="*/ 0 h 2201"/>
                  <a:gd name="T8" fmla="*/ 0 w 1103"/>
                  <a:gd name="T9" fmla="*/ 0 h 2201"/>
                  <a:gd name="T10" fmla="*/ 0 w 1103"/>
                  <a:gd name="T11" fmla="*/ 0 h 2201"/>
                  <a:gd name="T12" fmla="*/ 0 w 1103"/>
                  <a:gd name="T13" fmla="*/ 0 h 2201"/>
                  <a:gd name="T14" fmla="*/ 0 w 1103"/>
                  <a:gd name="T15" fmla="*/ 0 h 2201"/>
                  <a:gd name="T16" fmla="*/ 0 w 1103"/>
                  <a:gd name="T17" fmla="*/ 0 h 2201"/>
                  <a:gd name="T18" fmla="*/ 0 w 1103"/>
                  <a:gd name="T19" fmla="*/ 0 h 2201"/>
                  <a:gd name="T20" fmla="*/ 0 w 1103"/>
                  <a:gd name="T21" fmla="*/ 0 h 2201"/>
                  <a:gd name="T22" fmla="*/ 0 w 1103"/>
                  <a:gd name="T23" fmla="*/ 0 h 2201"/>
                  <a:gd name="T24" fmla="*/ 0 w 1103"/>
                  <a:gd name="T25" fmla="*/ 0 h 2201"/>
                  <a:gd name="T26" fmla="*/ 0 w 1103"/>
                  <a:gd name="T27" fmla="*/ 0 h 2201"/>
                  <a:gd name="T28" fmla="*/ 0 w 1103"/>
                  <a:gd name="T29" fmla="*/ 0 h 2201"/>
                  <a:gd name="T30" fmla="*/ 0 w 1103"/>
                  <a:gd name="T31" fmla="*/ 0 h 2201"/>
                  <a:gd name="T32" fmla="*/ 0 w 1103"/>
                  <a:gd name="T33" fmla="*/ 0 h 2201"/>
                  <a:gd name="T34" fmla="*/ 0 w 1103"/>
                  <a:gd name="T35" fmla="*/ 0 h 2201"/>
                  <a:gd name="T36" fmla="*/ 0 w 1103"/>
                  <a:gd name="T37" fmla="*/ 0 h 2201"/>
                  <a:gd name="T38" fmla="*/ 0 w 1103"/>
                  <a:gd name="T39" fmla="*/ 0 h 2201"/>
                  <a:gd name="T40" fmla="*/ 0 w 1103"/>
                  <a:gd name="T41" fmla="*/ 0 h 2201"/>
                  <a:gd name="T42" fmla="*/ 0 w 1103"/>
                  <a:gd name="T43" fmla="*/ 0 h 2201"/>
                  <a:gd name="T44" fmla="*/ 0 w 1103"/>
                  <a:gd name="T45" fmla="*/ 0 h 2201"/>
                  <a:gd name="T46" fmla="*/ 0 w 1103"/>
                  <a:gd name="T47" fmla="*/ 0 h 2201"/>
                  <a:gd name="T48" fmla="*/ 0 w 1103"/>
                  <a:gd name="T49" fmla="*/ 0 h 2201"/>
                  <a:gd name="T50" fmla="*/ 0 w 1103"/>
                  <a:gd name="T51" fmla="*/ 0 h 2201"/>
                  <a:gd name="T52" fmla="*/ 0 w 1103"/>
                  <a:gd name="T53" fmla="*/ 0 h 2201"/>
                  <a:gd name="T54" fmla="*/ 0 w 1103"/>
                  <a:gd name="T55" fmla="*/ 0 h 2201"/>
                  <a:gd name="T56" fmla="*/ 0 w 1103"/>
                  <a:gd name="T57" fmla="*/ 0 h 2201"/>
                  <a:gd name="T58" fmla="*/ 0 w 1103"/>
                  <a:gd name="T59" fmla="*/ 0 h 2201"/>
                  <a:gd name="T60" fmla="*/ 0 w 1103"/>
                  <a:gd name="T61" fmla="*/ 0 h 2201"/>
                  <a:gd name="T62" fmla="*/ 0 w 1103"/>
                  <a:gd name="T63" fmla="*/ 0 h 2201"/>
                  <a:gd name="T64" fmla="*/ 0 w 1103"/>
                  <a:gd name="T65" fmla="*/ 0 h 2201"/>
                  <a:gd name="T66" fmla="*/ 0 w 1103"/>
                  <a:gd name="T67" fmla="*/ 0 h 2201"/>
                  <a:gd name="T68" fmla="*/ 0 w 1103"/>
                  <a:gd name="T69" fmla="*/ 0 h 2201"/>
                  <a:gd name="T70" fmla="*/ 0 w 1103"/>
                  <a:gd name="T71" fmla="*/ 0 h 2201"/>
                  <a:gd name="T72" fmla="*/ 0 w 1103"/>
                  <a:gd name="T73" fmla="*/ 0 h 2201"/>
                  <a:gd name="T74" fmla="*/ 0 w 1103"/>
                  <a:gd name="T75" fmla="*/ 0 h 2201"/>
                  <a:gd name="T76" fmla="*/ 0 w 1103"/>
                  <a:gd name="T77" fmla="*/ 0 h 2201"/>
                  <a:gd name="T78" fmla="*/ 0 w 1103"/>
                  <a:gd name="T79" fmla="*/ 0 h 2201"/>
                  <a:gd name="T80" fmla="*/ 0 w 1103"/>
                  <a:gd name="T81" fmla="*/ 0 h 2201"/>
                  <a:gd name="T82" fmla="*/ 0 w 1103"/>
                  <a:gd name="T83" fmla="*/ 0 h 2201"/>
                  <a:gd name="T84" fmla="*/ 0 w 1103"/>
                  <a:gd name="T85" fmla="*/ 0 h 2201"/>
                  <a:gd name="T86" fmla="*/ 0 w 1103"/>
                  <a:gd name="T87" fmla="*/ 0 h 2201"/>
                  <a:gd name="T88" fmla="*/ 0 w 1103"/>
                  <a:gd name="T89" fmla="*/ 0 h 2201"/>
                  <a:gd name="T90" fmla="*/ 0 w 1103"/>
                  <a:gd name="T91" fmla="*/ 0 h 2201"/>
                  <a:gd name="T92" fmla="*/ 0 w 1103"/>
                  <a:gd name="T93" fmla="*/ 0 h 2201"/>
                  <a:gd name="T94" fmla="*/ 0 w 1103"/>
                  <a:gd name="T95" fmla="*/ 0 h 2201"/>
                  <a:gd name="T96" fmla="*/ 0 w 1103"/>
                  <a:gd name="T97" fmla="*/ 0 h 2201"/>
                  <a:gd name="T98" fmla="*/ 0 w 1103"/>
                  <a:gd name="T99" fmla="*/ 0 h 2201"/>
                  <a:gd name="T100" fmla="*/ 0 w 1103"/>
                  <a:gd name="T101" fmla="*/ 0 h 2201"/>
                  <a:gd name="T102" fmla="*/ 0 w 1103"/>
                  <a:gd name="T103" fmla="*/ 0 h 22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1"/>
                  <a:gd name="T158" fmla="*/ 1103 w 1103"/>
                  <a:gd name="T159" fmla="*/ 2201 h 220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1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1"/>
                    </a:lnTo>
                    <a:lnTo>
                      <a:pt x="1031" y="2186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80" y="2058"/>
                    </a:lnTo>
                    <a:lnTo>
                      <a:pt x="745" y="2036"/>
                    </a:lnTo>
                    <a:lnTo>
                      <a:pt x="711" y="2012"/>
                    </a:lnTo>
                    <a:lnTo>
                      <a:pt x="677" y="1988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9" y="1911"/>
                    </a:lnTo>
                    <a:lnTo>
                      <a:pt x="547" y="1884"/>
                    </a:lnTo>
                    <a:lnTo>
                      <a:pt x="515" y="1856"/>
                    </a:lnTo>
                    <a:lnTo>
                      <a:pt x="485" y="1827"/>
                    </a:lnTo>
                    <a:lnTo>
                      <a:pt x="455" y="1797"/>
                    </a:lnTo>
                    <a:lnTo>
                      <a:pt x="426" y="1767"/>
                    </a:lnTo>
                    <a:lnTo>
                      <a:pt x="397" y="1736"/>
                    </a:lnTo>
                    <a:lnTo>
                      <a:pt x="370" y="1705"/>
                    </a:lnTo>
                    <a:lnTo>
                      <a:pt x="342" y="1672"/>
                    </a:lnTo>
                    <a:lnTo>
                      <a:pt x="316" y="1638"/>
                    </a:lnTo>
                    <a:lnTo>
                      <a:pt x="291" y="1604"/>
                    </a:lnTo>
                    <a:lnTo>
                      <a:pt x="267" y="1571"/>
                    </a:lnTo>
                    <a:lnTo>
                      <a:pt x="243" y="1536"/>
                    </a:lnTo>
                    <a:lnTo>
                      <a:pt x="221" y="1500"/>
                    </a:lnTo>
                    <a:lnTo>
                      <a:pt x="199" y="1463"/>
                    </a:lnTo>
                    <a:lnTo>
                      <a:pt x="178" y="1427"/>
                    </a:lnTo>
                    <a:lnTo>
                      <a:pt x="158" y="1389"/>
                    </a:lnTo>
                    <a:lnTo>
                      <a:pt x="140" y="1351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70" y="1164"/>
                    </a:lnTo>
                    <a:lnTo>
                      <a:pt x="49" y="1083"/>
                    </a:lnTo>
                    <a:lnTo>
                      <a:pt x="32" y="997"/>
                    </a:lnTo>
                    <a:lnTo>
                      <a:pt x="19" y="910"/>
                    </a:lnTo>
                    <a:lnTo>
                      <a:pt x="8" y="822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1"/>
                    </a:lnTo>
                    <a:lnTo>
                      <a:pt x="8" y="463"/>
                    </a:lnTo>
                    <a:lnTo>
                      <a:pt x="18" y="375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9" y="136"/>
                    </a:lnTo>
                    <a:lnTo>
                      <a:pt x="94" y="65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8" name="Freeform 580">
                <a:extLst>
                  <a:ext uri="{FF2B5EF4-FFF2-40B4-BE49-F238E27FC236}">
                    <a16:creationId xmlns:a16="http://schemas.microsoft.com/office/drawing/2014/main" id="{8292F836-E5D2-40C9-8C1E-055A3EBD7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3169"/>
                <a:ext cx="50" cy="122"/>
              </a:xfrm>
              <a:custGeom>
                <a:avLst/>
                <a:gdLst>
                  <a:gd name="T0" fmla="*/ 0 w 1103"/>
                  <a:gd name="T1" fmla="*/ 0 h 2202"/>
                  <a:gd name="T2" fmla="*/ 0 w 1103"/>
                  <a:gd name="T3" fmla="*/ 0 h 2202"/>
                  <a:gd name="T4" fmla="*/ 0 w 1103"/>
                  <a:gd name="T5" fmla="*/ 0 h 2202"/>
                  <a:gd name="T6" fmla="*/ 0 w 1103"/>
                  <a:gd name="T7" fmla="*/ 0 h 2202"/>
                  <a:gd name="T8" fmla="*/ 0 w 1103"/>
                  <a:gd name="T9" fmla="*/ 0 h 2202"/>
                  <a:gd name="T10" fmla="*/ 0 w 1103"/>
                  <a:gd name="T11" fmla="*/ 0 h 2202"/>
                  <a:gd name="T12" fmla="*/ 0 w 1103"/>
                  <a:gd name="T13" fmla="*/ 0 h 2202"/>
                  <a:gd name="T14" fmla="*/ 0 w 1103"/>
                  <a:gd name="T15" fmla="*/ 0 h 2202"/>
                  <a:gd name="T16" fmla="*/ 0 w 1103"/>
                  <a:gd name="T17" fmla="*/ 0 h 2202"/>
                  <a:gd name="T18" fmla="*/ 0 w 1103"/>
                  <a:gd name="T19" fmla="*/ 0 h 2202"/>
                  <a:gd name="T20" fmla="*/ 0 w 1103"/>
                  <a:gd name="T21" fmla="*/ 0 h 2202"/>
                  <a:gd name="T22" fmla="*/ 0 w 1103"/>
                  <a:gd name="T23" fmla="*/ 0 h 2202"/>
                  <a:gd name="T24" fmla="*/ 0 w 1103"/>
                  <a:gd name="T25" fmla="*/ 0 h 2202"/>
                  <a:gd name="T26" fmla="*/ 0 w 1103"/>
                  <a:gd name="T27" fmla="*/ 0 h 2202"/>
                  <a:gd name="T28" fmla="*/ 0 w 1103"/>
                  <a:gd name="T29" fmla="*/ 0 h 2202"/>
                  <a:gd name="T30" fmla="*/ 0 w 1103"/>
                  <a:gd name="T31" fmla="*/ 0 h 2202"/>
                  <a:gd name="T32" fmla="*/ 0 w 1103"/>
                  <a:gd name="T33" fmla="*/ 0 h 2202"/>
                  <a:gd name="T34" fmla="*/ 0 w 1103"/>
                  <a:gd name="T35" fmla="*/ 0 h 2202"/>
                  <a:gd name="T36" fmla="*/ 0 w 1103"/>
                  <a:gd name="T37" fmla="*/ 0 h 2202"/>
                  <a:gd name="T38" fmla="*/ 0 w 1103"/>
                  <a:gd name="T39" fmla="*/ 0 h 2202"/>
                  <a:gd name="T40" fmla="*/ 0 w 1103"/>
                  <a:gd name="T41" fmla="*/ 0 h 2202"/>
                  <a:gd name="T42" fmla="*/ 0 w 1103"/>
                  <a:gd name="T43" fmla="*/ 0 h 2202"/>
                  <a:gd name="T44" fmla="*/ 0 w 1103"/>
                  <a:gd name="T45" fmla="*/ 0 h 2202"/>
                  <a:gd name="T46" fmla="*/ 0 w 1103"/>
                  <a:gd name="T47" fmla="*/ 0 h 2202"/>
                  <a:gd name="T48" fmla="*/ 0 w 1103"/>
                  <a:gd name="T49" fmla="*/ 0 h 2202"/>
                  <a:gd name="T50" fmla="*/ 0 w 1103"/>
                  <a:gd name="T51" fmla="*/ 0 h 2202"/>
                  <a:gd name="T52" fmla="*/ 0 w 1103"/>
                  <a:gd name="T53" fmla="*/ 0 h 2202"/>
                  <a:gd name="T54" fmla="*/ 0 w 1103"/>
                  <a:gd name="T55" fmla="*/ 0 h 2202"/>
                  <a:gd name="T56" fmla="*/ 0 w 1103"/>
                  <a:gd name="T57" fmla="*/ 0 h 2202"/>
                  <a:gd name="T58" fmla="*/ 0 w 1103"/>
                  <a:gd name="T59" fmla="*/ 0 h 2202"/>
                  <a:gd name="T60" fmla="*/ 0 w 1103"/>
                  <a:gd name="T61" fmla="*/ 0 h 2202"/>
                  <a:gd name="T62" fmla="*/ 0 w 1103"/>
                  <a:gd name="T63" fmla="*/ 0 h 2202"/>
                  <a:gd name="T64" fmla="*/ 0 w 1103"/>
                  <a:gd name="T65" fmla="*/ 0 h 2202"/>
                  <a:gd name="T66" fmla="*/ 0 w 1103"/>
                  <a:gd name="T67" fmla="*/ 0 h 2202"/>
                  <a:gd name="T68" fmla="*/ 0 w 1103"/>
                  <a:gd name="T69" fmla="*/ 0 h 2202"/>
                  <a:gd name="T70" fmla="*/ 0 w 1103"/>
                  <a:gd name="T71" fmla="*/ 0 h 2202"/>
                  <a:gd name="T72" fmla="*/ 0 w 1103"/>
                  <a:gd name="T73" fmla="*/ 0 h 2202"/>
                  <a:gd name="T74" fmla="*/ 0 w 1103"/>
                  <a:gd name="T75" fmla="*/ 0 h 2202"/>
                  <a:gd name="T76" fmla="*/ 0 w 1103"/>
                  <a:gd name="T77" fmla="*/ 0 h 2202"/>
                  <a:gd name="T78" fmla="*/ 0 w 1103"/>
                  <a:gd name="T79" fmla="*/ 0 h 2202"/>
                  <a:gd name="T80" fmla="*/ 0 w 1103"/>
                  <a:gd name="T81" fmla="*/ 0 h 2202"/>
                  <a:gd name="T82" fmla="*/ 0 w 1103"/>
                  <a:gd name="T83" fmla="*/ 0 h 2202"/>
                  <a:gd name="T84" fmla="*/ 0 w 1103"/>
                  <a:gd name="T85" fmla="*/ 0 h 2202"/>
                  <a:gd name="T86" fmla="*/ 0 w 1103"/>
                  <a:gd name="T87" fmla="*/ 0 h 2202"/>
                  <a:gd name="T88" fmla="*/ 0 w 1103"/>
                  <a:gd name="T89" fmla="*/ 0 h 2202"/>
                  <a:gd name="T90" fmla="*/ 0 w 1103"/>
                  <a:gd name="T91" fmla="*/ 0 h 2202"/>
                  <a:gd name="T92" fmla="*/ 0 w 1103"/>
                  <a:gd name="T93" fmla="*/ 0 h 2202"/>
                  <a:gd name="T94" fmla="*/ 0 w 1103"/>
                  <a:gd name="T95" fmla="*/ 0 h 2202"/>
                  <a:gd name="T96" fmla="*/ 0 w 1103"/>
                  <a:gd name="T97" fmla="*/ 0 h 2202"/>
                  <a:gd name="T98" fmla="*/ 0 w 1103"/>
                  <a:gd name="T99" fmla="*/ 0 h 2202"/>
                  <a:gd name="T100" fmla="*/ 0 w 1103"/>
                  <a:gd name="T101" fmla="*/ 0 h 2202"/>
                  <a:gd name="T102" fmla="*/ 0 w 1103"/>
                  <a:gd name="T103" fmla="*/ 0 h 220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2"/>
                  <a:gd name="T158" fmla="*/ 1103 w 1103"/>
                  <a:gd name="T159" fmla="*/ 2202 h 220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2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2"/>
                    </a:lnTo>
                    <a:lnTo>
                      <a:pt x="1030" y="2187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79" y="2058"/>
                    </a:lnTo>
                    <a:lnTo>
                      <a:pt x="745" y="2036"/>
                    </a:lnTo>
                    <a:lnTo>
                      <a:pt x="711" y="2013"/>
                    </a:lnTo>
                    <a:lnTo>
                      <a:pt x="676" y="1989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8" y="1912"/>
                    </a:lnTo>
                    <a:lnTo>
                      <a:pt x="547" y="1884"/>
                    </a:lnTo>
                    <a:lnTo>
                      <a:pt x="515" y="1857"/>
                    </a:lnTo>
                    <a:lnTo>
                      <a:pt x="485" y="1827"/>
                    </a:lnTo>
                    <a:lnTo>
                      <a:pt x="455" y="1798"/>
                    </a:lnTo>
                    <a:lnTo>
                      <a:pt x="425" y="1767"/>
                    </a:lnTo>
                    <a:lnTo>
                      <a:pt x="397" y="1737"/>
                    </a:lnTo>
                    <a:lnTo>
                      <a:pt x="369" y="1705"/>
                    </a:lnTo>
                    <a:lnTo>
                      <a:pt x="342" y="1672"/>
                    </a:lnTo>
                    <a:lnTo>
                      <a:pt x="316" y="1639"/>
                    </a:lnTo>
                    <a:lnTo>
                      <a:pt x="291" y="1605"/>
                    </a:lnTo>
                    <a:lnTo>
                      <a:pt x="266" y="1571"/>
                    </a:lnTo>
                    <a:lnTo>
                      <a:pt x="243" y="1536"/>
                    </a:lnTo>
                    <a:lnTo>
                      <a:pt x="220" y="1500"/>
                    </a:lnTo>
                    <a:lnTo>
                      <a:pt x="199" y="1464"/>
                    </a:lnTo>
                    <a:lnTo>
                      <a:pt x="178" y="1428"/>
                    </a:lnTo>
                    <a:lnTo>
                      <a:pt x="158" y="1390"/>
                    </a:lnTo>
                    <a:lnTo>
                      <a:pt x="140" y="1352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69" y="1164"/>
                    </a:lnTo>
                    <a:lnTo>
                      <a:pt x="49" y="1083"/>
                    </a:lnTo>
                    <a:lnTo>
                      <a:pt x="32" y="998"/>
                    </a:lnTo>
                    <a:lnTo>
                      <a:pt x="18" y="910"/>
                    </a:lnTo>
                    <a:lnTo>
                      <a:pt x="8" y="823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2"/>
                    </a:lnTo>
                    <a:lnTo>
                      <a:pt x="8" y="463"/>
                    </a:lnTo>
                    <a:lnTo>
                      <a:pt x="17" y="376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8" y="136"/>
                    </a:lnTo>
                    <a:lnTo>
                      <a:pt x="94" y="66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9" name="Freeform 581">
                <a:extLst>
                  <a:ext uri="{FF2B5EF4-FFF2-40B4-BE49-F238E27FC236}">
                    <a16:creationId xmlns:a16="http://schemas.microsoft.com/office/drawing/2014/main" id="{22081C5F-2095-4E59-8F79-CA492BFB2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2" cy="121"/>
              </a:xfrm>
              <a:custGeom>
                <a:avLst/>
                <a:gdLst>
                  <a:gd name="T0" fmla="*/ 0 w 1133"/>
                  <a:gd name="T1" fmla="*/ 0 h 2181"/>
                  <a:gd name="T2" fmla="*/ 0 w 1133"/>
                  <a:gd name="T3" fmla="*/ 0 h 2181"/>
                  <a:gd name="T4" fmla="*/ 0 w 1133"/>
                  <a:gd name="T5" fmla="*/ 0 h 2181"/>
                  <a:gd name="T6" fmla="*/ 0 w 1133"/>
                  <a:gd name="T7" fmla="*/ 0 h 2181"/>
                  <a:gd name="T8" fmla="*/ 0 w 1133"/>
                  <a:gd name="T9" fmla="*/ 0 h 2181"/>
                  <a:gd name="T10" fmla="*/ 0 w 1133"/>
                  <a:gd name="T11" fmla="*/ 0 h 2181"/>
                  <a:gd name="T12" fmla="*/ 0 w 1133"/>
                  <a:gd name="T13" fmla="*/ 0 h 2181"/>
                  <a:gd name="T14" fmla="*/ 0 w 1133"/>
                  <a:gd name="T15" fmla="*/ 0 h 2181"/>
                  <a:gd name="T16" fmla="*/ 0 w 1133"/>
                  <a:gd name="T17" fmla="*/ 0 h 2181"/>
                  <a:gd name="T18" fmla="*/ 0 w 1133"/>
                  <a:gd name="T19" fmla="*/ 0 h 2181"/>
                  <a:gd name="T20" fmla="*/ 0 w 1133"/>
                  <a:gd name="T21" fmla="*/ 0 h 2181"/>
                  <a:gd name="T22" fmla="*/ 0 w 1133"/>
                  <a:gd name="T23" fmla="*/ 0 h 2181"/>
                  <a:gd name="T24" fmla="*/ 0 w 1133"/>
                  <a:gd name="T25" fmla="*/ 0 h 2181"/>
                  <a:gd name="T26" fmla="*/ 0 w 1133"/>
                  <a:gd name="T27" fmla="*/ 0 h 2181"/>
                  <a:gd name="T28" fmla="*/ 0 w 1133"/>
                  <a:gd name="T29" fmla="*/ 0 h 2181"/>
                  <a:gd name="T30" fmla="*/ 0 w 1133"/>
                  <a:gd name="T31" fmla="*/ 0 h 2181"/>
                  <a:gd name="T32" fmla="*/ 0 w 1133"/>
                  <a:gd name="T33" fmla="*/ 0 h 2181"/>
                  <a:gd name="T34" fmla="*/ 0 w 1133"/>
                  <a:gd name="T35" fmla="*/ 0 h 2181"/>
                  <a:gd name="T36" fmla="*/ 0 w 1133"/>
                  <a:gd name="T37" fmla="*/ 0 h 2181"/>
                  <a:gd name="T38" fmla="*/ 0 w 1133"/>
                  <a:gd name="T39" fmla="*/ 0 h 2181"/>
                  <a:gd name="T40" fmla="*/ 0 w 1133"/>
                  <a:gd name="T41" fmla="*/ 0 h 2181"/>
                  <a:gd name="T42" fmla="*/ 0 w 1133"/>
                  <a:gd name="T43" fmla="*/ 0 h 2181"/>
                  <a:gd name="T44" fmla="*/ 0 w 1133"/>
                  <a:gd name="T45" fmla="*/ 0 h 2181"/>
                  <a:gd name="T46" fmla="*/ 0 w 1133"/>
                  <a:gd name="T47" fmla="*/ 0 h 2181"/>
                  <a:gd name="T48" fmla="*/ 0 w 1133"/>
                  <a:gd name="T49" fmla="*/ 0 h 2181"/>
                  <a:gd name="T50" fmla="*/ 0 w 1133"/>
                  <a:gd name="T51" fmla="*/ 0 h 2181"/>
                  <a:gd name="T52" fmla="*/ 0 w 1133"/>
                  <a:gd name="T53" fmla="*/ 0 h 2181"/>
                  <a:gd name="T54" fmla="*/ 0 w 1133"/>
                  <a:gd name="T55" fmla="*/ 0 h 2181"/>
                  <a:gd name="T56" fmla="*/ 0 w 1133"/>
                  <a:gd name="T57" fmla="*/ 0 h 2181"/>
                  <a:gd name="T58" fmla="*/ 0 w 1133"/>
                  <a:gd name="T59" fmla="*/ 0 h 2181"/>
                  <a:gd name="T60" fmla="*/ 0 w 1133"/>
                  <a:gd name="T61" fmla="*/ 0 h 2181"/>
                  <a:gd name="T62" fmla="*/ 0 w 1133"/>
                  <a:gd name="T63" fmla="*/ 0 h 2181"/>
                  <a:gd name="T64" fmla="*/ 0 w 1133"/>
                  <a:gd name="T65" fmla="*/ 0 h 2181"/>
                  <a:gd name="T66" fmla="*/ 0 w 1133"/>
                  <a:gd name="T67" fmla="*/ 0 h 2181"/>
                  <a:gd name="T68" fmla="*/ 0 w 1133"/>
                  <a:gd name="T69" fmla="*/ 0 h 2181"/>
                  <a:gd name="T70" fmla="*/ 0 w 1133"/>
                  <a:gd name="T71" fmla="*/ 0 h 2181"/>
                  <a:gd name="T72" fmla="*/ 0 w 1133"/>
                  <a:gd name="T73" fmla="*/ 0 h 2181"/>
                  <a:gd name="T74" fmla="*/ 0 w 1133"/>
                  <a:gd name="T75" fmla="*/ 0 h 2181"/>
                  <a:gd name="T76" fmla="*/ 0 w 1133"/>
                  <a:gd name="T77" fmla="*/ 0 h 2181"/>
                  <a:gd name="T78" fmla="*/ 0 w 1133"/>
                  <a:gd name="T79" fmla="*/ 0 h 2181"/>
                  <a:gd name="T80" fmla="*/ 0 w 1133"/>
                  <a:gd name="T81" fmla="*/ 0 h 2181"/>
                  <a:gd name="T82" fmla="*/ 0 w 1133"/>
                  <a:gd name="T83" fmla="*/ 0 h 2181"/>
                  <a:gd name="T84" fmla="*/ 0 w 1133"/>
                  <a:gd name="T85" fmla="*/ 0 h 2181"/>
                  <a:gd name="T86" fmla="*/ 0 w 1133"/>
                  <a:gd name="T87" fmla="*/ 0 h 2181"/>
                  <a:gd name="T88" fmla="*/ 0 w 1133"/>
                  <a:gd name="T89" fmla="*/ 0 h 2181"/>
                  <a:gd name="T90" fmla="*/ 0 w 1133"/>
                  <a:gd name="T91" fmla="*/ 0 h 2181"/>
                  <a:gd name="T92" fmla="*/ 0 w 1133"/>
                  <a:gd name="T93" fmla="*/ 0 h 2181"/>
                  <a:gd name="T94" fmla="*/ 0 w 1133"/>
                  <a:gd name="T95" fmla="*/ 0 h 2181"/>
                  <a:gd name="T96" fmla="*/ 0 w 1133"/>
                  <a:gd name="T97" fmla="*/ 0 h 2181"/>
                  <a:gd name="T98" fmla="*/ 0 w 1133"/>
                  <a:gd name="T99" fmla="*/ 0 h 2181"/>
                  <a:gd name="T100" fmla="*/ 0 w 1133"/>
                  <a:gd name="T101" fmla="*/ 0 h 2181"/>
                  <a:gd name="T102" fmla="*/ 0 w 1133"/>
                  <a:gd name="T103" fmla="*/ 0 h 218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3"/>
                  <a:gd name="T157" fmla="*/ 0 h 2181"/>
                  <a:gd name="T158" fmla="*/ 1133 w 1133"/>
                  <a:gd name="T159" fmla="*/ 2181 h 218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3" h="2181">
                    <a:moveTo>
                      <a:pt x="917" y="2127"/>
                    </a:moveTo>
                    <a:lnTo>
                      <a:pt x="0" y="131"/>
                    </a:lnTo>
                    <a:lnTo>
                      <a:pt x="32" y="0"/>
                    </a:lnTo>
                    <a:lnTo>
                      <a:pt x="69" y="14"/>
                    </a:lnTo>
                    <a:lnTo>
                      <a:pt x="106" y="29"/>
                    </a:lnTo>
                    <a:lnTo>
                      <a:pt x="142" y="44"/>
                    </a:lnTo>
                    <a:lnTo>
                      <a:pt x="179" y="60"/>
                    </a:lnTo>
                    <a:lnTo>
                      <a:pt x="216" y="78"/>
                    </a:lnTo>
                    <a:lnTo>
                      <a:pt x="252" y="96"/>
                    </a:lnTo>
                    <a:lnTo>
                      <a:pt x="287" y="116"/>
                    </a:lnTo>
                    <a:lnTo>
                      <a:pt x="323" y="136"/>
                    </a:lnTo>
                    <a:lnTo>
                      <a:pt x="358" y="159"/>
                    </a:lnTo>
                    <a:lnTo>
                      <a:pt x="392" y="181"/>
                    </a:lnTo>
                    <a:lnTo>
                      <a:pt x="427" y="204"/>
                    </a:lnTo>
                    <a:lnTo>
                      <a:pt x="461" y="228"/>
                    </a:lnTo>
                    <a:lnTo>
                      <a:pt x="494" y="252"/>
                    </a:lnTo>
                    <a:lnTo>
                      <a:pt x="527" y="279"/>
                    </a:lnTo>
                    <a:lnTo>
                      <a:pt x="560" y="305"/>
                    </a:lnTo>
                    <a:lnTo>
                      <a:pt x="591" y="332"/>
                    </a:lnTo>
                    <a:lnTo>
                      <a:pt x="623" y="361"/>
                    </a:lnTo>
                    <a:lnTo>
                      <a:pt x="653" y="389"/>
                    </a:lnTo>
                    <a:lnTo>
                      <a:pt x="683" y="419"/>
                    </a:lnTo>
                    <a:lnTo>
                      <a:pt x="713" y="449"/>
                    </a:lnTo>
                    <a:lnTo>
                      <a:pt x="741" y="481"/>
                    </a:lnTo>
                    <a:lnTo>
                      <a:pt x="769" y="513"/>
                    </a:lnTo>
                    <a:lnTo>
                      <a:pt x="795" y="545"/>
                    </a:lnTo>
                    <a:lnTo>
                      <a:pt x="822" y="578"/>
                    </a:lnTo>
                    <a:lnTo>
                      <a:pt x="846" y="612"/>
                    </a:lnTo>
                    <a:lnTo>
                      <a:pt x="871" y="647"/>
                    </a:lnTo>
                    <a:lnTo>
                      <a:pt x="894" y="681"/>
                    </a:lnTo>
                    <a:lnTo>
                      <a:pt x="917" y="717"/>
                    </a:lnTo>
                    <a:lnTo>
                      <a:pt x="938" y="754"/>
                    </a:lnTo>
                    <a:lnTo>
                      <a:pt x="958" y="791"/>
                    </a:lnTo>
                    <a:lnTo>
                      <a:pt x="978" y="828"/>
                    </a:lnTo>
                    <a:lnTo>
                      <a:pt x="996" y="866"/>
                    </a:lnTo>
                    <a:lnTo>
                      <a:pt x="1026" y="938"/>
                    </a:lnTo>
                    <a:lnTo>
                      <a:pt x="1052" y="1015"/>
                    </a:lnTo>
                    <a:lnTo>
                      <a:pt x="1075" y="1096"/>
                    </a:lnTo>
                    <a:lnTo>
                      <a:pt x="1094" y="1180"/>
                    </a:lnTo>
                    <a:lnTo>
                      <a:pt x="1109" y="1266"/>
                    </a:lnTo>
                    <a:lnTo>
                      <a:pt x="1121" y="1356"/>
                    </a:lnTo>
                    <a:lnTo>
                      <a:pt x="1129" y="1446"/>
                    </a:lnTo>
                    <a:lnTo>
                      <a:pt x="1133" y="1536"/>
                    </a:lnTo>
                    <a:lnTo>
                      <a:pt x="1133" y="1626"/>
                    </a:lnTo>
                    <a:lnTo>
                      <a:pt x="1130" y="1716"/>
                    </a:lnTo>
                    <a:lnTo>
                      <a:pt x="1122" y="1802"/>
                    </a:lnTo>
                    <a:lnTo>
                      <a:pt x="1110" y="1886"/>
                    </a:lnTo>
                    <a:lnTo>
                      <a:pt x="1095" y="1967"/>
                    </a:lnTo>
                    <a:lnTo>
                      <a:pt x="1076" y="2043"/>
                    </a:lnTo>
                    <a:lnTo>
                      <a:pt x="1052" y="2115"/>
                    </a:lnTo>
                    <a:lnTo>
                      <a:pt x="1025" y="2181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0" name="Freeform 582">
                <a:extLst>
                  <a:ext uri="{FF2B5EF4-FFF2-40B4-BE49-F238E27FC236}">
                    <a16:creationId xmlns:a16="http://schemas.microsoft.com/office/drawing/2014/main" id="{14C6F1D6-AD6E-4568-8998-60405130AA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1" cy="122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8" y="2126"/>
                    </a:moveTo>
                    <a:lnTo>
                      <a:pt x="0" y="130"/>
                    </a:lnTo>
                    <a:lnTo>
                      <a:pt x="33" y="0"/>
                    </a:lnTo>
                    <a:lnTo>
                      <a:pt x="70" y="13"/>
                    </a:lnTo>
                    <a:lnTo>
                      <a:pt x="107" y="28"/>
                    </a:lnTo>
                    <a:lnTo>
                      <a:pt x="143" y="43"/>
                    </a:lnTo>
                    <a:lnTo>
                      <a:pt x="180" y="60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9" y="158"/>
                    </a:lnTo>
                    <a:lnTo>
                      <a:pt x="393" y="180"/>
                    </a:lnTo>
                    <a:lnTo>
                      <a:pt x="428" y="203"/>
                    </a:lnTo>
                    <a:lnTo>
                      <a:pt x="462" y="227"/>
                    </a:lnTo>
                    <a:lnTo>
                      <a:pt x="495" y="252"/>
                    </a:lnTo>
                    <a:lnTo>
                      <a:pt x="528" y="278"/>
                    </a:lnTo>
                    <a:lnTo>
                      <a:pt x="561" y="304"/>
                    </a:lnTo>
                    <a:lnTo>
                      <a:pt x="592" y="332"/>
                    </a:lnTo>
                    <a:lnTo>
                      <a:pt x="624" y="360"/>
                    </a:lnTo>
                    <a:lnTo>
                      <a:pt x="654" y="389"/>
                    </a:lnTo>
                    <a:lnTo>
                      <a:pt x="684" y="418"/>
                    </a:lnTo>
                    <a:lnTo>
                      <a:pt x="714" y="449"/>
                    </a:lnTo>
                    <a:lnTo>
                      <a:pt x="742" y="480"/>
                    </a:lnTo>
                    <a:lnTo>
                      <a:pt x="770" y="512"/>
                    </a:lnTo>
                    <a:lnTo>
                      <a:pt x="796" y="545"/>
                    </a:lnTo>
                    <a:lnTo>
                      <a:pt x="823" y="577"/>
                    </a:lnTo>
                    <a:lnTo>
                      <a:pt x="847" y="611"/>
                    </a:lnTo>
                    <a:lnTo>
                      <a:pt x="872" y="646"/>
                    </a:lnTo>
                    <a:lnTo>
                      <a:pt x="895" y="681"/>
                    </a:lnTo>
                    <a:lnTo>
                      <a:pt x="918" y="717"/>
                    </a:lnTo>
                    <a:lnTo>
                      <a:pt x="939" y="754"/>
                    </a:lnTo>
                    <a:lnTo>
                      <a:pt x="959" y="790"/>
                    </a:lnTo>
                    <a:lnTo>
                      <a:pt x="979" y="827"/>
                    </a:lnTo>
                    <a:lnTo>
                      <a:pt x="997" y="865"/>
                    </a:lnTo>
                    <a:lnTo>
                      <a:pt x="1027" y="937"/>
                    </a:lnTo>
                    <a:lnTo>
                      <a:pt x="1053" y="1014"/>
                    </a:lnTo>
                    <a:lnTo>
                      <a:pt x="1076" y="1095"/>
                    </a:lnTo>
                    <a:lnTo>
                      <a:pt x="1095" y="1179"/>
                    </a:lnTo>
                    <a:lnTo>
                      <a:pt x="1110" y="1266"/>
                    </a:lnTo>
                    <a:lnTo>
                      <a:pt x="1122" y="1355"/>
                    </a:lnTo>
                    <a:lnTo>
                      <a:pt x="1130" y="1445"/>
                    </a:lnTo>
                    <a:lnTo>
                      <a:pt x="1134" y="1536"/>
                    </a:lnTo>
                    <a:lnTo>
                      <a:pt x="1134" y="1625"/>
                    </a:lnTo>
                    <a:lnTo>
                      <a:pt x="1131" y="1715"/>
                    </a:lnTo>
                    <a:lnTo>
                      <a:pt x="1123" y="1801"/>
                    </a:lnTo>
                    <a:lnTo>
                      <a:pt x="1111" y="1886"/>
                    </a:lnTo>
                    <a:lnTo>
                      <a:pt x="1096" y="1966"/>
                    </a:lnTo>
                    <a:lnTo>
                      <a:pt x="1077" y="2043"/>
                    </a:lnTo>
                    <a:lnTo>
                      <a:pt x="1053" y="2115"/>
                    </a:lnTo>
                    <a:lnTo>
                      <a:pt x="1026" y="2180"/>
                    </a:lnTo>
                    <a:lnTo>
                      <a:pt x="918" y="2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1" name="Freeform 583">
                <a:extLst>
                  <a:ext uri="{FF2B5EF4-FFF2-40B4-BE49-F238E27FC236}">
                    <a16:creationId xmlns:a16="http://schemas.microsoft.com/office/drawing/2014/main" id="{E1393E46-9C1B-4F9E-A3C9-10932CB9C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4"/>
                <a:ext cx="164" cy="228"/>
              </a:xfrm>
              <a:custGeom>
                <a:avLst/>
                <a:gdLst>
                  <a:gd name="T0" fmla="*/ 0 w 3622"/>
                  <a:gd name="T1" fmla="*/ 0 h 4112"/>
                  <a:gd name="T2" fmla="*/ 0 w 3622"/>
                  <a:gd name="T3" fmla="*/ 0 h 4112"/>
                  <a:gd name="T4" fmla="*/ 0 w 3622"/>
                  <a:gd name="T5" fmla="*/ 0 h 4112"/>
                  <a:gd name="T6" fmla="*/ 0 w 3622"/>
                  <a:gd name="T7" fmla="*/ 0 h 4112"/>
                  <a:gd name="T8" fmla="*/ 0 w 3622"/>
                  <a:gd name="T9" fmla="*/ 0 h 4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2"/>
                  <a:gd name="T17" fmla="*/ 3622 w 3622"/>
                  <a:gd name="T18" fmla="*/ 4112 h 4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2">
                    <a:moveTo>
                      <a:pt x="1404" y="4112"/>
                    </a:moveTo>
                    <a:lnTo>
                      <a:pt x="3622" y="3023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2" name="Freeform 584">
                <a:extLst>
                  <a:ext uri="{FF2B5EF4-FFF2-40B4-BE49-F238E27FC236}">
                    <a16:creationId xmlns:a16="http://schemas.microsoft.com/office/drawing/2014/main" id="{6BB54572-4D53-4A95-8863-E376E41B9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1"/>
                <a:ext cx="164" cy="228"/>
              </a:xfrm>
              <a:custGeom>
                <a:avLst/>
                <a:gdLst>
                  <a:gd name="T0" fmla="*/ 0 w 3622"/>
                  <a:gd name="T1" fmla="*/ 0 h 4113"/>
                  <a:gd name="T2" fmla="*/ 0 w 3622"/>
                  <a:gd name="T3" fmla="*/ 0 h 4113"/>
                  <a:gd name="T4" fmla="*/ 0 w 3622"/>
                  <a:gd name="T5" fmla="*/ 0 h 4113"/>
                  <a:gd name="T6" fmla="*/ 0 w 3622"/>
                  <a:gd name="T7" fmla="*/ 0 h 4113"/>
                  <a:gd name="T8" fmla="*/ 0 w 3622"/>
                  <a:gd name="T9" fmla="*/ 0 h 41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3"/>
                  <a:gd name="T17" fmla="*/ 3622 w 3622"/>
                  <a:gd name="T18" fmla="*/ 4113 h 41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3">
                    <a:moveTo>
                      <a:pt x="1404" y="4113"/>
                    </a:moveTo>
                    <a:lnTo>
                      <a:pt x="3622" y="3024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3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3" name="Freeform 585">
                <a:extLst>
                  <a:ext uri="{FF2B5EF4-FFF2-40B4-BE49-F238E27FC236}">
                    <a16:creationId xmlns:a16="http://schemas.microsoft.com/office/drawing/2014/main" id="{7EC05BA8-EBFD-4DBA-BBED-DE7635CDEA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146"/>
                <a:ext cx="157" cy="218"/>
              </a:xfrm>
              <a:custGeom>
                <a:avLst/>
                <a:gdLst>
                  <a:gd name="T0" fmla="*/ 0 w 3446"/>
                  <a:gd name="T1" fmla="*/ 0 h 3913"/>
                  <a:gd name="T2" fmla="*/ 0 w 3446"/>
                  <a:gd name="T3" fmla="*/ 0 h 3913"/>
                  <a:gd name="T4" fmla="*/ 0 w 3446"/>
                  <a:gd name="T5" fmla="*/ 0 h 3913"/>
                  <a:gd name="T6" fmla="*/ 0 w 3446"/>
                  <a:gd name="T7" fmla="*/ 0 h 3913"/>
                  <a:gd name="T8" fmla="*/ 0 w 3446"/>
                  <a:gd name="T9" fmla="*/ 0 h 39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46"/>
                  <a:gd name="T16" fmla="*/ 0 h 3913"/>
                  <a:gd name="T17" fmla="*/ 3446 w 3446"/>
                  <a:gd name="T18" fmla="*/ 3913 h 39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46" h="3913">
                    <a:moveTo>
                      <a:pt x="1335" y="3913"/>
                    </a:moveTo>
                    <a:lnTo>
                      <a:pt x="3446" y="2878"/>
                    </a:lnTo>
                    <a:lnTo>
                      <a:pt x="2111" y="0"/>
                    </a:lnTo>
                    <a:lnTo>
                      <a:pt x="0" y="942"/>
                    </a:lnTo>
                    <a:lnTo>
                      <a:pt x="1335" y="3913"/>
                    </a:lnTo>
                    <a:close/>
                  </a:path>
                </a:pathLst>
              </a:custGeom>
              <a:solidFill>
                <a:srgbClr val="1A78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4" name="Freeform 586">
                <a:extLst>
                  <a:ext uri="{FF2B5EF4-FFF2-40B4-BE49-F238E27FC236}">
                    <a16:creationId xmlns:a16="http://schemas.microsoft.com/office/drawing/2014/main" id="{EA4DA857-2D1D-474F-B669-5A301E390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109"/>
                <a:ext cx="19" cy="19"/>
              </a:xfrm>
              <a:custGeom>
                <a:avLst/>
                <a:gdLst>
                  <a:gd name="T0" fmla="*/ 0 w 431"/>
                  <a:gd name="T1" fmla="*/ 0 h 343"/>
                  <a:gd name="T2" fmla="*/ 0 w 431"/>
                  <a:gd name="T3" fmla="*/ 0 h 343"/>
                  <a:gd name="T4" fmla="*/ 0 w 431"/>
                  <a:gd name="T5" fmla="*/ 0 h 343"/>
                  <a:gd name="T6" fmla="*/ 0 w 431"/>
                  <a:gd name="T7" fmla="*/ 0 h 343"/>
                  <a:gd name="T8" fmla="*/ 0 w 431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1"/>
                  <a:gd name="T16" fmla="*/ 0 h 343"/>
                  <a:gd name="T17" fmla="*/ 431 w 431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1" h="343">
                    <a:moveTo>
                      <a:pt x="431" y="186"/>
                    </a:moveTo>
                    <a:lnTo>
                      <a:pt x="79" y="343"/>
                    </a:lnTo>
                    <a:lnTo>
                      <a:pt x="0" y="157"/>
                    </a:lnTo>
                    <a:lnTo>
                      <a:pt x="352" y="0"/>
                    </a:lnTo>
                    <a:lnTo>
                      <a:pt x="431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5" name="Freeform 587">
                <a:extLst>
                  <a:ext uri="{FF2B5EF4-FFF2-40B4-BE49-F238E27FC236}">
                    <a16:creationId xmlns:a16="http://schemas.microsoft.com/office/drawing/2014/main" id="{728203AB-73FA-4959-9075-22B764192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112"/>
                <a:ext cx="16" cy="15"/>
              </a:xfrm>
              <a:custGeom>
                <a:avLst/>
                <a:gdLst>
                  <a:gd name="T0" fmla="*/ 0 w 347"/>
                  <a:gd name="T1" fmla="*/ 0 h 257"/>
                  <a:gd name="T2" fmla="*/ 0 w 347"/>
                  <a:gd name="T3" fmla="*/ 0 h 257"/>
                  <a:gd name="T4" fmla="*/ 0 w 347"/>
                  <a:gd name="T5" fmla="*/ 0 h 257"/>
                  <a:gd name="T6" fmla="*/ 0 w 347"/>
                  <a:gd name="T7" fmla="*/ 0 h 257"/>
                  <a:gd name="T8" fmla="*/ 0 w 347"/>
                  <a:gd name="T9" fmla="*/ 0 h 2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7"/>
                  <a:gd name="T16" fmla="*/ 0 h 257"/>
                  <a:gd name="T17" fmla="*/ 347 w 347"/>
                  <a:gd name="T18" fmla="*/ 257 h 2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7" h="257">
                    <a:moveTo>
                      <a:pt x="347" y="126"/>
                    </a:moveTo>
                    <a:lnTo>
                      <a:pt x="53" y="257"/>
                    </a:lnTo>
                    <a:lnTo>
                      <a:pt x="0" y="132"/>
                    </a:lnTo>
                    <a:lnTo>
                      <a:pt x="294" y="0"/>
                    </a:lnTo>
                    <a:lnTo>
                      <a:pt x="347" y="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6" name="Freeform 588">
                <a:extLst>
                  <a:ext uri="{FF2B5EF4-FFF2-40B4-BE49-F238E27FC236}">
                    <a16:creationId xmlns:a16="http://schemas.microsoft.com/office/drawing/2014/main" id="{F1983591-082D-4235-B731-2D276C5EB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5" y="73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3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4" y="232"/>
                    </a:lnTo>
                    <a:lnTo>
                      <a:pt x="60" y="228"/>
                    </a:lnTo>
                    <a:lnTo>
                      <a:pt x="56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5" y="7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7" name="Freeform 589">
                <a:extLst>
                  <a:ext uri="{FF2B5EF4-FFF2-40B4-BE49-F238E27FC236}">
                    <a16:creationId xmlns:a16="http://schemas.microsoft.com/office/drawing/2014/main" id="{A66B5F2A-65E6-4477-AA30-51C0D18C00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2" y="0"/>
                    </a:lnTo>
                    <a:lnTo>
                      <a:pt x="146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4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8" name="Freeform 590">
                <a:extLst>
                  <a:ext uri="{FF2B5EF4-FFF2-40B4-BE49-F238E27FC236}">
                    <a16:creationId xmlns:a16="http://schemas.microsoft.com/office/drawing/2014/main" id="{DB5A199E-ED21-4D2C-8C2B-08E1663A5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3113"/>
                <a:ext cx="6" cy="8"/>
              </a:xfrm>
              <a:custGeom>
                <a:avLst/>
                <a:gdLst>
                  <a:gd name="T0" fmla="*/ 0 w 118"/>
                  <a:gd name="T1" fmla="*/ 0 h 154"/>
                  <a:gd name="T2" fmla="*/ 0 w 118"/>
                  <a:gd name="T3" fmla="*/ 0 h 154"/>
                  <a:gd name="T4" fmla="*/ 0 w 118"/>
                  <a:gd name="T5" fmla="*/ 0 h 154"/>
                  <a:gd name="T6" fmla="*/ 0 w 118"/>
                  <a:gd name="T7" fmla="*/ 0 h 154"/>
                  <a:gd name="T8" fmla="*/ 0 w 118"/>
                  <a:gd name="T9" fmla="*/ 0 h 154"/>
                  <a:gd name="T10" fmla="*/ 0 w 118"/>
                  <a:gd name="T11" fmla="*/ 0 h 154"/>
                  <a:gd name="T12" fmla="*/ 0 w 118"/>
                  <a:gd name="T13" fmla="*/ 0 h 154"/>
                  <a:gd name="T14" fmla="*/ 0 w 118"/>
                  <a:gd name="T15" fmla="*/ 0 h 154"/>
                  <a:gd name="T16" fmla="*/ 0 w 118"/>
                  <a:gd name="T17" fmla="*/ 0 h 154"/>
                  <a:gd name="T18" fmla="*/ 0 w 118"/>
                  <a:gd name="T19" fmla="*/ 0 h 154"/>
                  <a:gd name="T20" fmla="*/ 0 w 118"/>
                  <a:gd name="T21" fmla="*/ 0 h 154"/>
                  <a:gd name="T22" fmla="*/ 0 w 118"/>
                  <a:gd name="T23" fmla="*/ 0 h 154"/>
                  <a:gd name="T24" fmla="*/ 0 w 118"/>
                  <a:gd name="T25" fmla="*/ 0 h 154"/>
                  <a:gd name="T26" fmla="*/ 0 w 118"/>
                  <a:gd name="T27" fmla="*/ 0 h 154"/>
                  <a:gd name="T28" fmla="*/ 0 w 118"/>
                  <a:gd name="T29" fmla="*/ 0 h 154"/>
                  <a:gd name="T30" fmla="*/ 0 w 118"/>
                  <a:gd name="T31" fmla="*/ 0 h 154"/>
                  <a:gd name="T32" fmla="*/ 0 w 118"/>
                  <a:gd name="T33" fmla="*/ 0 h 154"/>
                  <a:gd name="T34" fmla="*/ 0 w 118"/>
                  <a:gd name="T35" fmla="*/ 0 h 154"/>
                  <a:gd name="T36" fmla="*/ 0 w 118"/>
                  <a:gd name="T37" fmla="*/ 0 h 154"/>
                  <a:gd name="T38" fmla="*/ 0 w 118"/>
                  <a:gd name="T39" fmla="*/ 0 h 154"/>
                  <a:gd name="T40" fmla="*/ 0 w 118"/>
                  <a:gd name="T41" fmla="*/ 0 h 154"/>
                  <a:gd name="T42" fmla="*/ 0 w 118"/>
                  <a:gd name="T43" fmla="*/ 0 h 154"/>
                  <a:gd name="T44" fmla="*/ 0 w 118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8"/>
                  <a:gd name="T70" fmla="*/ 0 h 154"/>
                  <a:gd name="T71" fmla="*/ 118 w 118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8" h="154">
                    <a:moveTo>
                      <a:pt x="88" y="6"/>
                    </a:moveTo>
                    <a:lnTo>
                      <a:pt x="116" y="77"/>
                    </a:lnTo>
                    <a:lnTo>
                      <a:pt x="118" y="85"/>
                    </a:lnTo>
                    <a:lnTo>
                      <a:pt x="118" y="95"/>
                    </a:lnTo>
                    <a:lnTo>
                      <a:pt x="116" y="103"/>
                    </a:lnTo>
                    <a:lnTo>
                      <a:pt x="112" y="108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7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7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3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9" name="Freeform 591">
                <a:extLst>
                  <a:ext uri="{FF2B5EF4-FFF2-40B4-BE49-F238E27FC236}">
                    <a16:creationId xmlns:a16="http://schemas.microsoft.com/office/drawing/2014/main" id="{E93C089F-9806-4B0F-904A-D123F2641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3099"/>
                <a:ext cx="13" cy="16"/>
              </a:xfrm>
              <a:custGeom>
                <a:avLst/>
                <a:gdLst>
                  <a:gd name="T0" fmla="*/ 0 w 287"/>
                  <a:gd name="T1" fmla="*/ 0 h 280"/>
                  <a:gd name="T2" fmla="*/ 0 w 287"/>
                  <a:gd name="T3" fmla="*/ 0 h 280"/>
                  <a:gd name="T4" fmla="*/ 0 w 287"/>
                  <a:gd name="T5" fmla="*/ 0 h 280"/>
                  <a:gd name="T6" fmla="*/ 0 w 287"/>
                  <a:gd name="T7" fmla="*/ 0 h 280"/>
                  <a:gd name="T8" fmla="*/ 0 w 287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7"/>
                  <a:gd name="T16" fmla="*/ 0 h 280"/>
                  <a:gd name="T17" fmla="*/ 287 w 287"/>
                  <a:gd name="T18" fmla="*/ 280 h 2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7" h="280">
                    <a:moveTo>
                      <a:pt x="287" y="186"/>
                    </a:moveTo>
                    <a:lnTo>
                      <a:pt x="78" y="280"/>
                    </a:lnTo>
                    <a:lnTo>
                      <a:pt x="0" y="93"/>
                    </a:lnTo>
                    <a:lnTo>
                      <a:pt x="210" y="0"/>
                    </a:lnTo>
                    <a:lnTo>
                      <a:pt x="287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0" name="Freeform 592">
                <a:extLst>
                  <a:ext uri="{FF2B5EF4-FFF2-40B4-BE49-F238E27FC236}">
                    <a16:creationId xmlns:a16="http://schemas.microsoft.com/office/drawing/2014/main" id="{F1B893AD-59CF-4239-9729-89A5D939D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2"/>
                <a:ext cx="11" cy="12"/>
              </a:xfrm>
              <a:custGeom>
                <a:avLst/>
                <a:gdLst>
                  <a:gd name="T0" fmla="*/ 0 w 227"/>
                  <a:gd name="T1" fmla="*/ 0 h 203"/>
                  <a:gd name="T2" fmla="*/ 0 w 227"/>
                  <a:gd name="T3" fmla="*/ 0 h 203"/>
                  <a:gd name="T4" fmla="*/ 0 w 227"/>
                  <a:gd name="T5" fmla="*/ 0 h 203"/>
                  <a:gd name="T6" fmla="*/ 0 w 227"/>
                  <a:gd name="T7" fmla="*/ 0 h 203"/>
                  <a:gd name="T8" fmla="*/ 0 w 227"/>
                  <a:gd name="T9" fmla="*/ 0 h 2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203"/>
                  <a:gd name="T17" fmla="*/ 227 w 227"/>
                  <a:gd name="T18" fmla="*/ 203 h 2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203">
                    <a:moveTo>
                      <a:pt x="227" y="125"/>
                    </a:moveTo>
                    <a:lnTo>
                      <a:pt x="53" y="203"/>
                    </a:lnTo>
                    <a:lnTo>
                      <a:pt x="0" y="78"/>
                    </a:lnTo>
                    <a:lnTo>
                      <a:pt x="175" y="0"/>
                    </a:lnTo>
                    <a:lnTo>
                      <a:pt x="227" y="125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1" name="Freeform 593">
                <a:extLst>
                  <a:ext uri="{FF2B5EF4-FFF2-40B4-BE49-F238E27FC236}">
                    <a16:creationId xmlns:a16="http://schemas.microsoft.com/office/drawing/2014/main" id="{6078A95C-C664-4F35-B958-57ED94802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4" y="72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2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3" y="232"/>
                    </a:lnTo>
                    <a:lnTo>
                      <a:pt x="59" y="227"/>
                    </a:lnTo>
                    <a:lnTo>
                      <a:pt x="55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2" name="Freeform 594">
                <a:extLst>
                  <a:ext uri="{FF2B5EF4-FFF2-40B4-BE49-F238E27FC236}">
                    <a16:creationId xmlns:a16="http://schemas.microsoft.com/office/drawing/2014/main" id="{042EE80D-68FA-411A-9812-5DFA97438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1" y="0"/>
                    </a:lnTo>
                    <a:lnTo>
                      <a:pt x="145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3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3" name="Freeform 595">
                <a:extLst>
                  <a:ext uri="{FF2B5EF4-FFF2-40B4-BE49-F238E27FC236}">
                    <a16:creationId xmlns:a16="http://schemas.microsoft.com/office/drawing/2014/main" id="{A0FAE100-3ACA-481C-8249-FB7201065F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103"/>
                <a:ext cx="6" cy="8"/>
              </a:xfrm>
              <a:custGeom>
                <a:avLst/>
                <a:gdLst>
                  <a:gd name="T0" fmla="*/ 0 w 119"/>
                  <a:gd name="T1" fmla="*/ 0 h 154"/>
                  <a:gd name="T2" fmla="*/ 0 w 119"/>
                  <a:gd name="T3" fmla="*/ 0 h 154"/>
                  <a:gd name="T4" fmla="*/ 0 w 119"/>
                  <a:gd name="T5" fmla="*/ 0 h 154"/>
                  <a:gd name="T6" fmla="*/ 0 w 119"/>
                  <a:gd name="T7" fmla="*/ 0 h 154"/>
                  <a:gd name="T8" fmla="*/ 0 w 119"/>
                  <a:gd name="T9" fmla="*/ 0 h 154"/>
                  <a:gd name="T10" fmla="*/ 0 w 119"/>
                  <a:gd name="T11" fmla="*/ 0 h 154"/>
                  <a:gd name="T12" fmla="*/ 0 w 119"/>
                  <a:gd name="T13" fmla="*/ 0 h 154"/>
                  <a:gd name="T14" fmla="*/ 0 w 119"/>
                  <a:gd name="T15" fmla="*/ 0 h 154"/>
                  <a:gd name="T16" fmla="*/ 0 w 119"/>
                  <a:gd name="T17" fmla="*/ 0 h 154"/>
                  <a:gd name="T18" fmla="*/ 0 w 119"/>
                  <a:gd name="T19" fmla="*/ 0 h 154"/>
                  <a:gd name="T20" fmla="*/ 0 w 119"/>
                  <a:gd name="T21" fmla="*/ 0 h 154"/>
                  <a:gd name="T22" fmla="*/ 0 w 119"/>
                  <a:gd name="T23" fmla="*/ 0 h 154"/>
                  <a:gd name="T24" fmla="*/ 0 w 119"/>
                  <a:gd name="T25" fmla="*/ 0 h 154"/>
                  <a:gd name="T26" fmla="*/ 0 w 119"/>
                  <a:gd name="T27" fmla="*/ 0 h 154"/>
                  <a:gd name="T28" fmla="*/ 0 w 119"/>
                  <a:gd name="T29" fmla="*/ 0 h 154"/>
                  <a:gd name="T30" fmla="*/ 0 w 119"/>
                  <a:gd name="T31" fmla="*/ 0 h 154"/>
                  <a:gd name="T32" fmla="*/ 0 w 119"/>
                  <a:gd name="T33" fmla="*/ 0 h 154"/>
                  <a:gd name="T34" fmla="*/ 0 w 119"/>
                  <a:gd name="T35" fmla="*/ 0 h 154"/>
                  <a:gd name="T36" fmla="*/ 0 w 119"/>
                  <a:gd name="T37" fmla="*/ 0 h 154"/>
                  <a:gd name="T38" fmla="*/ 0 w 119"/>
                  <a:gd name="T39" fmla="*/ 0 h 154"/>
                  <a:gd name="T40" fmla="*/ 0 w 119"/>
                  <a:gd name="T41" fmla="*/ 0 h 154"/>
                  <a:gd name="T42" fmla="*/ 0 w 119"/>
                  <a:gd name="T43" fmla="*/ 0 h 154"/>
                  <a:gd name="T44" fmla="*/ 0 w 119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9"/>
                  <a:gd name="T70" fmla="*/ 0 h 154"/>
                  <a:gd name="T71" fmla="*/ 119 w 119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9" h="154">
                    <a:moveTo>
                      <a:pt x="88" y="6"/>
                    </a:moveTo>
                    <a:lnTo>
                      <a:pt x="116" y="78"/>
                    </a:lnTo>
                    <a:lnTo>
                      <a:pt x="118" y="86"/>
                    </a:lnTo>
                    <a:lnTo>
                      <a:pt x="119" y="95"/>
                    </a:lnTo>
                    <a:lnTo>
                      <a:pt x="117" y="103"/>
                    </a:lnTo>
                    <a:lnTo>
                      <a:pt x="112" y="109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8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8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2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4" name="Freeform 596">
                <a:extLst>
                  <a:ext uri="{FF2B5EF4-FFF2-40B4-BE49-F238E27FC236}">
                    <a16:creationId xmlns:a16="http://schemas.microsoft.com/office/drawing/2014/main" id="{9DEBADD7-BA8D-498C-9F16-2EC453120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3092"/>
                <a:ext cx="4" cy="6"/>
              </a:xfrm>
              <a:custGeom>
                <a:avLst/>
                <a:gdLst>
                  <a:gd name="T0" fmla="*/ 0 w 100"/>
                  <a:gd name="T1" fmla="*/ 0 h 104"/>
                  <a:gd name="T2" fmla="*/ 0 w 100"/>
                  <a:gd name="T3" fmla="*/ 0 h 104"/>
                  <a:gd name="T4" fmla="*/ 0 w 100"/>
                  <a:gd name="T5" fmla="*/ 0 h 104"/>
                  <a:gd name="T6" fmla="*/ 0 w 100"/>
                  <a:gd name="T7" fmla="*/ 0 h 104"/>
                  <a:gd name="T8" fmla="*/ 0 w 100"/>
                  <a:gd name="T9" fmla="*/ 0 h 104"/>
                  <a:gd name="T10" fmla="*/ 0 w 100"/>
                  <a:gd name="T11" fmla="*/ 0 h 104"/>
                  <a:gd name="T12" fmla="*/ 0 w 100"/>
                  <a:gd name="T13" fmla="*/ 0 h 104"/>
                  <a:gd name="T14" fmla="*/ 0 w 100"/>
                  <a:gd name="T15" fmla="*/ 0 h 104"/>
                  <a:gd name="T16" fmla="*/ 0 w 100"/>
                  <a:gd name="T17" fmla="*/ 0 h 104"/>
                  <a:gd name="T18" fmla="*/ 0 w 100"/>
                  <a:gd name="T19" fmla="*/ 0 h 104"/>
                  <a:gd name="T20" fmla="*/ 0 w 100"/>
                  <a:gd name="T21" fmla="*/ 0 h 104"/>
                  <a:gd name="T22" fmla="*/ 0 w 100"/>
                  <a:gd name="T23" fmla="*/ 0 h 104"/>
                  <a:gd name="T24" fmla="*/ 0 w 100"/>
                  <a:gd name="T25" fmla="*/ 0 h 104"/>
                  <a:gd name="T26" fmla="*/ 0 w 100"/>
                  <a:gd name="T27" fmla="*/ 0 h 104"/>
                  <a:gd name="T28" fmla="*/ 0 w 100"/>
                  <a:gd name="T29" fmla="*/ 0 h 104"/>
                  <a:gd name="T30" fmla="*/ 0 w 100"/>
                  <a:gd name="T31" fmla="*/ 0 h 104"/>
                  <a:gd name="T32" fmla="*/ 0 w 100"/>
                  <a:gd name="T33" fmla="*/ 0 h 104"/>
                  <a:gd name="T34" fmla="*/ 0 w 100"/>
                  <a:gd name="T35" fmla="*/ 0 h 104"/>
                  <a:gd name="T36" fmla="*/ 0 w 100"/>
                  <a:gd name="T37" fmla="*/ 0 h 104"/>
                  <a:gd name="T38" fmla="*/ 0 w 100"/>
                  <a:gd name="T39" fmla="*/ 0 h 104"/>
                  <a:gd name="T40" fmla="*/ 0 w 100"/>
                  <a:gd name="T41" fmla="*/ 0 h 104"/>
                  <a:gd name="T42" fmla="*/ 0 w 100"/>
                  <a:gd name="T43" fmla="*/ 0 h 104"/>
                  <a:gd name="T44" fmla="*/ 0 w 100"/>
                  <a:gd name="T45" fmla="*/ 0 h 104"/>
                  <a:gd name="T46" fmla="*/ 0 w 100"/>
                  <a:gd name="T47" fmla="*/ 0 h 104"/>
                  <a:gd name="T48" fmla="*/ 0 w 100"/>
                  <a:gd name="T49" fmla="*/ 0 h 104"/>
                  <a:gd name="T50" fmla="*/ 0 w 100"/>
                  <a:gd name="T51" fmla="*/ 0 h 104"/>
                  <a:gd name="T52" fmla="*/ 0 w 100"/>
                  <a:gd name="T53" fmla="*/ 0 h 104"/>
                  <a:gd name="T54" fmla="*/ 0 w 100"/>
                  <a:gd name="T55" fmla="*/ 0 h 104"/>
                  <a:gd name="T56" fmla="*/ 0 w 100"/>
                  <a:gd name="T57" fmla="*/ 0 h 104"/>
                  <a:gd name="T58" fmla="*/ 0 w 100"/>
                  <a:gd name="T59" fmla="*/ 0 h 104"/>
                  <a:gd name="T60" fmla="*/ 0 w 100"/>
                  <a:gd name="T61" fmla="*/ 0 h 104"/>
                  <a:gd name="T62" fmla="*/ 0 w 100"/>
                  <a:gd name="T63" fmla="*/ 0 h 104"/>
                  <a:gd name="T64" fmla="*/ 0 w 100"/>
                  <a:gd name="T65" fmla="*/ 0 h 10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4"/>
                  <a:gd name="T101" fmla="*/ 100 w 100"/>
                  <a:gd name="T102" fmla="*/ 104 h 10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4">
                    <a:moveTo>
                      <a:pt x="50" y="104"/>
                    </a:moveTo>
                    <a:lnTo>
                      <a:pt x="40" y="103"/>
                    </a:lnTo>
                    <a:lnTo>
                      <a:pt x="31" y="99"/>
                    </a:lnTo>
                    <a:lnTo>
                      <a:pt x="23" y="95"/>
                    </a:lnTo>
                    <a:lnTo>
                      <a:pt x="15" y="89"/>
                    </a:lnTo>
                    <a:lnTo>
                      <a:pt x="8" y="80"/>
                    </a:lnTo>
                    <a:lnTo>
                      <a:pt x="4" y="72"/>
                    </a:lnTo>
                    <a:lnTo>
                      <a:pt x="1" y="62"/>
                    </a:lnTo>
                    <a:lnTo>
                      <a:pt x="0" y="52"/>
                    </a:lnTo>
                    <a:lnTo>
                      <a:pt x="1" y="41"/>
                    </a:lnTo>
                    <a:lnTo>
                      <a:pt x="4" y="32"/>
                    </a:lnTo>
                    <a:lnTo>
                      <a:pt x="8" y="23"/>
                    </a:lnTo>
                    <a:lnTo>
                      <a:pt x="15" y="15"/>
                    </a:lnTo>
                    <a:lnTo>
                      <a:pt x="23" y="9"/>
                    </a:lnTo>
                    <a:lnTo>
                      <a:pt x="31" y="5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70" y="5"/>
                    </a:lnTo>
                    <a:lnTo>
                      <a:pt x="78" y="9"/>
                    </a:lnTo>
                    <a:lnTo>
                      <a:pt x="86" y="15"/>
                    </a:lnTo>
                    <a:lnTo>
                      <a:pt x="92" y="23"/>
                    </a:lnTo>
                    <a:lnTo>
                      <a:pt x="96" y="32"/>
                    </a:lnTo>
                    <a:lnTo>
                      <a:pt x="99" y="41"/>
                    </a:lnTo>
                    <a:lnTo>
                      <a:pt x="100" y="52"/>
                    </a:lnTo>
                    <a:lnTo>
                      <a:pt x="99" y="62"/>
                    </a:lnTo>
                    <a:lnTo>
                      <a:pt x="96" y="72"/>
                    </a:lnTo>
                    <a:lnTo>
                      <a:pt x="92" y="80"/>
                    </a:lnTo>
                    <a:lnTo>
                      <a:pt x="86" y="89"/>
                    </a:lnTo>
                    <a:lnTo>
                      <a:pt x="78" y="95"/>
                    </a:lnTo>
                    <a:lnTo>
                      <a:pt x="70" y="99"/>
                    </a:lnTo>
                    <a:lnTo>
                      <a:pt x="60" y="103"/>
                    </a:lnTo>
                    <a:lnTo>
                      <a:pt x="50" y="104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5" name="Freeform 597">
                <a:extLst>
                  <a:ext uri="{FF2B5EF4-FFF2-40B4-BE49-F238E27FC236}">
                    <a16:creationId xmlns:a16="http://schemas.microsoft.com/office/drawing/2014/main" id="{BA1A0A93-BEA3-4397-8AFA-543272FCD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131"/>
                <a:ext cx="5" cy="5"/>
              </a:xfrm>
              <a:custGeom>
                <a:avLst/>
                <a:gdLst>
                  <a:gd name="T0" fmla="*/ 0 w 100"/>
                  <a:gd name="T1" fmla="*/ 0 h 103"/>
                  <a:gd name="T2" fmla="*/ 0 w 100"/>
                  <a:gd name="T3" fmla="*/ 0 h 103"/>
                  <a:gd name="T4" fmla="*/ 0 w 100"/>
                  <a:gd name="T5" fmla="*/ 0 h 103"/>
                  <a:gd name="T6" fmla="*/ 0 w 100"/>
                  <a:gd name="T7" fmla="*/ 0 h 103"/>
                  <a:gd name="T8" fmla="*/ 0 w 100"/>
                  <a:gd name="T9" fmla="*/ 0 h 103"/>
                  <a:gd name="T10" fmla="*/ 0 w 100"/>
                  <a:gd name="T11" fmla="*/ 0 h 103"/>
                  <a:gd name="T12" fmla="*/ 0 w 100"/>
                  <a:gd name="T13" fmla="*/ 0 h 103"/>
                  <a:gd name="T14" fmla="*/ 0 w 100"/>
                  <a:gd name="T15" fmla="*/ 0 h 103"/>
                  <a:gd name="T16" fmla="*/ 0 w 100"/>
                  <a:gd name="T17" fmla="*/ 0 h 103"/>
                  <a:gd name="T18" fmla="*/ 0 w 100"/>
                  <a:gd name="T19" fmla="*/ 0 h 103"/>
                  <a:gd name="T20" fmla="*/ 0 w 100"/>
                  <a:gd name="T21" fmla="*/ 0 h 103"/>
                  <a:gd name="T22" fmla="*/ 0 w 100"/>
                  <a:gd name="T23" fmla="*/ 0 h 103"/>
                  <a:gd name="T24" fmla="*/ 0 w 100"/>
                  <a:gd name="T25" fmla="*/ 0 h 103"/>
                  <a:gd name="T26" fmla="*/ 0 w 100"/>
                  <a:gd name="T27" fmla="*/ 0 h 103"/>
                  <a:gd name="T28" fmla="*/ 0 w 100"/>
                  <a:gd name="T29" fmla="*/ 0 h 103"/>
                  <a:gd name="T30" fmla="*/ 0 w 100"/>
                  <a:gd name="T31" fmla="*/ 0 h 103"/>
                  <a:gd name="T32" fmla="*/ 0 w 100"/>
                  <a:gd name="T33" fmla="*/ 0 h 103"/>
                  <a:gd name="T34" fmla="*/ 0 w 100"/>
                  <a:gd name="T35" fmla="*/ 0 h 103"/>
                  <a:gd name="T36" fmla="*/ 0 w 100"/>
                  <a:gd name="T37" fmla="*/ 0 h 103"/>
                  <a:gd name="T38" fmla="*/ 0 w 100"/>
                  <a:gd name="T39" fmla="*/ 0 h 103"/>
                  <a:gd name="T40" fmla="*/ 0 w 100"/>
                  <a:gd name="T41" fmla="*/ 0 h 103"/>
                  <a:gd name="T42" fmla="*/ 0 w 100"/>
                  <a:gd name="T43" fmla="*/ 0 h 103"/>
                  <a:gd name="T44" fmla="*/ 0 w 100"/>
                  <a:gd name="T45" fmla="*/ 0 h 103"/>
                  <a:gd name="T46" fmla="*/ 0 w 100"/>
                  <a:gd name="T47" fmla="*/ 0 h 103"/>
                  <a:gd name="T48" fmla="*/ 0 w 100"/>
                  <a:gd name="T49" fmla="*/ 0 h 103"/>
                  <a:gd name="T50" fmla="*/ 0 w 100"/>
                  <a:gd name="T51" fmla="*/ 0 h 103"/>
                  <a:gd name="T52" fmla="*/ 0 w 100"/>
                  <a:gd name="T53" fmla="*/ 0 h 103"/>
                  <a:gd name="T54" fmla="*/ 0 w 100"/>
                  <a:gd name="T55" fmla="*/ 0 h 103"/>
                  <a:gd name="T56" fmla="*/ 0 w 100"/>
                  <a:gd name="T57" fmla="*/ 0 h 103"/>
                  <a:gd name="T58" fmla="*/ 0 w 100"/>
                  <a:gd name="T59" fmla="*/ 0 h 103"/>
                  <a:gd name="T60" fmla="*/ 0 w 100"/>
                  <a:gd name="T61" fmla="*/ 0 h 103"/>
                  <a:gd name="T62" fmla="*/ 0 w 100"/>
                  <a:gd name="T63" fmla="*/ 0 h 103"/>
                  <a:gd name="T64" fmla="*/ 0 w 100"/>
                  <a:gd name="T65" fmla="*/ 0 h 1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3"/>
                  <a:gd name="T101" fmla="*/ 100 w 100"/>
                  <a:gd name="T102" fmla="*/ 103 h 10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3">
                    <a:moveTo>
                      <a:pt x="50" y="103"/>
                    </a:moveTo>
                    <a:lnTo>
                      <a:pt x="39" y="102"/>
                    </a:lnTo>
                    <a:lnTo>
                      <a:pt x="30" y="99"/>
                    </a:lnTo>
                    <a:lnTo>
                      <a:pt x="22" y="95"/>
                    </a:lnTo>
                    <a:lnTo>
                      <a:pt x="14" y="88"/>
                    </a:lnTo>
                    <a:lnTo>
                      <a:pt x="8" y="80"/>
                    </a:lnTo>
                    <a:lnTo>
                      <a:pt x="4" y="71"/>
                    </a:lnTo>
                    <a:lnTo>
                      <a:pt x="1" y="62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4" y="31"/>
                    </a:lnTo>
                    <a:lnTo>
                      <a:pt x="8" y="23"/>
                    </a:lnTo>
                    <a:lnTo>
                      <a:pt x="14" y="15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39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69" y="4"/>
                    </a:lnTo>
                    <a:lnTo>
                      <a:pt x="77" y="8"/>
                    </a:lnTo>
                    <a:lnTo>
                      <a:pt x="85" y="15"/>
                    </a:lnTo>
                    <a:lnTo>
                      <a:pt x="91" y="23"/>
                    </a:lnTo>
                    <a:lnTo>
                      <a:pt x="96" y="31"/>
                    </a:lnTo>
                    <a:lnTo>
                      <a:pt x="99" y="41"/>
                    </a:lnTo>
                    <a:lnTo>
                      <a:pt x="100" y="51"/>
                    </a:lnTo>
                    <a:lnTo>
                      <a:pt x="99" y="62"/>
                    </a:lnTo>
                    <a:lnTo>
                      <a:pt x="96" y="71"/>
                    </a:lnTo>
                    <a:lnTo>
                      <a:pt x="91" y="80"/>
                    </a:lnTo>
                    <a:lnTo>
                      <a:pt x="85" y="88"/>
                    </a:lnTo>
                    <a:lnTo>
                      <a:pt x="77" y="95"/>
                    </a:lnTo>
                    <a:lnTo>
                      <a:pt x="69" y="99"/>
                    </a:lnTo>
                    <a:lnTo>
                      <a:pt x="60" y="102"/>
                    </a:lnTo>
                    <a:lnTo>
                      <a:pt x="50" y="10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6" name="Freeform 598">
                <a:extLst>
                  <a:ext uri="{FF2B5EF4-FFF2-40B4-BE49-F238E27FC236}">
                    <a16:creationId xmlns:a16="http://schemas.microsoft.com/office/drawing/2014/main" id="{7D8E8D44-1BCD-42DB-AB30-3903E148E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094"/>
                <a:ext cx="2" cy="3"/>
              </a:xfrm>
              <a:custGeom>
                <a:avLst/>
                <a:gdLst>
                  <a:gd name="T0" fmla="*/ 0 w 55"/>
                  <a:gd name="T1" fmla="*/ 0 h 57"/>
                  <a:gd name="T2" fmla="*/ 0 w 55"/>
                  <a:gd name="T3" fmla="*/ 0 h 57"/>
                  <a:gd name="T4" fmla="*/ 0 w 55"/>
                  <a:gd name="T5" fmla="*/ 0 h 57"/>
                  <a:gd name="T6" fmla="*/ 0 w 55"/>
                  <a:gd name="T7" fmla="*/ 0 h 57"/>
                  <a:gd name="T8" fmla="*/ 0 w 55"/>
                  <a:gd name="T9" fmla="*/ 0 h 57"/>
                  <a:gd name="T10" fmla="*/ 0 w 55"/>
                  <a:gd name="T11" fmla="*/ 0 h 57"/>
                  <a:gd name="T12" fmla="*/ 0 w 55"/>
                  <a:gd name="T13" fmla="*/ 0 h 57"/>
                  <a:gd name="T14" fmla="*/ 0 w 55"/>
                  <a:gd name="T15" fmla="*/ 0 h 57"/>
                  <a:gd name="T16" fmla="*/ 0 w 55"/>
                  <a:gd name="T17" fmla="*/ 0 h 57"/>
                  <a:gd name="T18" fmla="*/ 0 w 55"/>
                  <a:gd name="T19" fmla="*/ 0 h 57"/>
                  <a:gd name="T20" fmla="*/ 0 w 55"/>
                  <a:gd name="T21" fmla="*/ 0 h 57"/>
                  <a:gd name="T22" fmla="*/ 0 w 55"/>
                  <a:gd name="T23" fmla="*/ 0 h 57"/>
                  <a:gd name="T24" fmla="*/ 0 w 55"/>
                  <a:gd name="T25" fmla="*/ 0 h 57"/>
                  <a:gd name="T26" fmla="*/ 0 w 55"/>
                  <a:gd name="T27" fmla="*/ 0 h 57"/>
                  <a:gd name="T28" fmla="*/ 0 w 55"/>
                  <a:gd name="T29" fmla="*/ 0 h 57"/>
                  <a:gd name="T30" fmla="*/ 0 w 55"/>
                  <a:gd name="T31" fmla="*/ 0 h 57"/>
                  <a:gd name="T32" fmla="*/ 0 w 55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7"/>
                  <a:gd name="T53" fmla="*/ 55 w 55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7">
                    <a:moveTo>
                      <a:pt x="28" y="57"/>
                    </a:moveTo>
                    <a:lnTo>
                      <a:pt x="16" y="55"/>
                    </a:lnTo>
                    <a:lnTo>
                      <a:pt x="8" y="49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7"/>
                    </a:lnTo>
                    <a:lnTo>
                      <a:pt x="8" y="8"/>
                    </a:lnTo>
                    <a:lnTo>
                      <a:pt x="16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7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9"/>
                    </a:lnTo>
                    <a:lnTo>
                      <a:pt x="39" y="55"/>
                    </a:lnTo>
                    <a:lnTo>
                      <a:pt x="28" y="57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7" name="Freeform 599">
                <a:extLst>
                  <a:ext uri="{FF2B5EF4-FFF2-40B4-BE49-F238E27FC236}">
                    <a16:creationId xmlns:a16="http://schemas.microsoft.com/office/drawing/2014/main" id="{840B8B64-5831-441E-AFAC-C152EEF34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133"/>
                <a:ext cx="2" cy="3"/>
              </a:xfrm>
              <a:custGeom>
                <a:avLst/>
                <a:gdLst>
                  <a:gd name="T0" fmla="*/ 0 w 55"/>
                  <a:gd name="T1" fmla="*/ 0 h 56"/>
                  <a:gd name="T2" fmla="*/ 0 w 55"/>
                  <a:gd name="T3" fmla="*/ 0 h 56"/>
                  <a:gd name="T4" fmla="*/ 0 w 55"/>
                  <a:gd name="T5" fmla="*/ 0 h 56"/>
                  <a:gd name="T6" fmla="*/ 0 w 55"/>
                  <a:gd name="T7" fmla="*/ 0 h 56"/>
                  <a:gd name="T8" fmla="*/ 0 w 55"/>
                  <a:gd name="T9" fmla="*/ 0 h 56"/>
                  <a:gd name="T10" fmla="*/ 0 w 55"/>
                  <a:gd name="T11" fmla="*/ 0 h 56"/>
                  <a:gd name="T12" fmla="*/ 0 w 55"/>
                  <a:gd name="T13" fmla="*/ 0 h 56"/>
                  <a:gd name="T14" fmla="*/ 0 w 55"/>
                  <a:gd name="T15" fmla="*/ 0 h 56"/>
                  <a:gd name="T16" fmla="*/ 0 w 55"/>
                  <a:gd name="T17" fmla="*/ 0 h 56"/>
                  <a:gd name="T18" fmla="*/ 0 w 55"/>
                  <a:gd name="T19" fmla="*/ 0 h 56"/>
                  <a:gd name="T20" fmla="*/ 0 w 55"/>
                  <a:gd name="T21" fmla="*/ 0 h 56"/>
                  <a:gd name="T22" fmla="*/ 0 w 55"/>
                  <a:gd name="T23" fmla="*/ 0 h 56"/>
                  <a:gd name="T24" fmla="*/ 0 w 55"/>
                  <a:gd name="T25" fmla="*/ 0 h 56"/>
                  <a:gd name="T26" fmla="*/ 0 w 55"/>
                  <a:gd name="T27" fmla="*/ 0 h 56"/>
                  <a:gd name="T28" fmla="*/ 0 w 55"/>
                  <a:gd name="T29" fmla="*/ 0 h 56"/>
                  <a:gd name="T30" fmla="*/ 0 w 55"/>
                  <a:gd name="T31" fmla="*/ 0 h 56"/>
                  <a:gd name="T32" fmla="*/ 0 w 55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6"/>
                  <a:gd name="T53" fmla="*/ 55 w 55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6">
                    <a:moveTo>
                      <a:pt x="28" y="56"/>
                    </a:moveTo>
                    <a:lnTo>
                      <a:pt x="17" y="54"/>
                    </a:lnTo>
                    <a:lnTo>
                      <a:pt x="9" y="48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6"/>
                    </a:lnTo>
                    <a:lnTo>
                      <a:pt x="9" y="8"/>
                    </a:lnTo>
                    <a:lnTo>
                      <a:pt x="17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6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8"/>
                    </a:lnTo>
                    <a:lnTo>
                      <a:pt x="39" y="54"/>
                    </a:lnTo>
                    <a:lnTo>
                      <a:pt x="28" y="5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8" name="Freeform 600">
                <a:extLst>
                  <a:ext uri="{FF2B5EF4-FFF2-40B4-BE49-F238E27FC236}">
                    <a16:creationId xmlns:a16="http://schemas.microsoft.com/office/drawing/2014/main" id="{D97860AA-E62E-4DC9-8BA4-17A475771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076"/>
                <a:ext cx="29" cy="29"/>
              </a:xfrm>
              <a:custGeom>
                <a:avLst/>
                <a:gdLst>
                  <a:gd name="T0" fmla="*/ 0 w 624"/>
                  <a:gd name="T1" fmla="*/ 0 h 522"/>
                  <a:gd name="T2" fmla="*/ 0 w 624"/>
                  <a:gd name="T3" fmla="*/ 0 h 522"/>
                  <a:gd name="T4" fmla="*/ 0 w 624"/>
                  <a:gd name="T5" fmla="*/ 0 h 522"/>
                  <a:gd name="T6" fmla="*/ 0 w 624"/>
                  <a:gd name="T7" fmla="*/ 0 h 522"/>
                  <a:gd name="T8" fmla="*/ 0 w 624"/>
                  <a:gd name="T9" fmla="*/ 0 h 5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522"/>
                  <a:gd name="T17" fmla="*/ 624 w 624"/>
                  <a:gd name="T18" fmla="*/ 522 h 5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522">
                    <a:moveTo>
                      <a:pt x="498" y="0"/>
                    </a:moveTo>
                    <a:lnTo>
                      <a:pt x="0" y="222"/>
                    </a:lnTo>
                    <a:lnTo>
                      <a:pt x="125" y="522"/>
                    </a:lnTo>
                    <a:lnTo>
                      <a:pt x="624" y="301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9" name="Freeform 601">
                <a:extLst>
                  <a:ext uri="{FF2B5EF4-FFF2-40B4-BE49-F238E27FC236}">
                    <a16:creationId xmlns:a16="http://schemas.microsoft.com/office/drawing/2014/main" id="{4E01652D-B39D-4361-88D5-B1407FCFDF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7"/>
                <a:ext cx="27" cy="27"/>
              </a:xfrm>
              <a:custGeom>
                <a:avLst/>
                <a:gdLst>
                  <a:gd name="T0" fmla="*/ 0 w 589"/>
                  <a:gd name="T1" fmla="*/ 0 h 484"/>
                  <a:gd name="T2" fmla="*/ 0 w 589"/>
                  <a:gd name="T3" fmla="*/ 0 h 484"/>
                  <a:gd name="T4" fmla="*/ 0 w 589"/>
                  <a:gd name="T5" fmla="*/ 0 h 484"/>
                  <a:gd name="T6" fmla="*/ 0 w 589"/>
                  <a:gd name="T7" fmla="*/ 0 h 484"/>
                  <a:gd name="T8" fmla="*/ 0 w 589"/>
                  <a:gd name="T9" fmla="*/ 0 h 4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84"/>
                  <a:gd name="T17" fmla="*/ 589 w 589"/>
                  <a:gd name="T18" fmla="*/ 484 h 4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84">
                    <a:moveTo>
                      <a:pt x="474" y="0"/>
                    </a:moveTo>
                    <a:lnTo>
                      <a:pt x="0" y="211"/>
                    </a:lnTo>
                    <a:lnTo>
                      <a:pt x="114" y="484"/>
                    </a:lnTo>
                    <a:lnTo>
                      <a:pt x="589" y="27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0" name="Freeform 602">
                <a:extLst>
                  <a:ext uri="{FF2B5EF4-FFF2-40B4-BE49-F238E27FC236}">
                    <a16:creationId xmlns:a16="http://schemas.microsoft.com/office/drawing/2014/main" id="{C83B5F40-6760-475F-9F5E-CF3B27221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8"/>
                <a:ext cx="27" cy="26"/>
              </a:xfrm>
              <a:custGeom>
                <a:avLst/>
                <a:gdLst>
                  <a:gd name="T0" fmla="*/ 0 w 583"/>
                  <a:gd name="T1" fmla="*/ 0 h 471"/>
                  <a:gd name="T2" fmla="*/ 0 w 583"/>
                  <a:gd name="T3" fmla="*/ 0 h 471"/>
                  <a:gd name="T4" fmla="*/ 0 w 583"/>
                  <a:gd name="T5" fmla="*/ 0 h 471"/>
                  <a:gd name="T6" fmla="*/ 0 w 583"/>
                  <a:gd name="T7" fmla="*/ 0 h 471"/>
                  <a:gd name="T8" fmla="*/ 0 w 583"/>
                  <a:gd name="T9" fmla="*/ 0 h 4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471"/>
                  <a:gd name="T17" fmla="*/ 583 w 583"/>
                  <a:gd name="T18" fmla="*/ 471 h 4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471">
                    <a:moveTo>
                      <a:pt x="473" y="0"/>
                    </a:moveTo>
                    <a:lnTo>
                      <a:pt x="0" y="211"/>
                    </a:lnTo>
                    <a:lnTo>
                      <a:pt x="108" y="471"/>
                    </a:lnTo>
                    <a:lnTo>
                      <a:pt x="583" y="260"/>
                    </a:lnTo>
                    <a:lnTo>
                      <a:pt x="473" y="0"/>
                    </a:lnTo>
                    <a:close/>
                  </a:path>
                </a:pathLst>
              </a:custGeom>
              <a:solidFill>
                <a:srgbClr val="87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1" name="Freeform 603">
                <a:extLst>
                  <a:ext uri="{FF2B5EF4-FFF2-40B4-BE49-F238E27FC236}">
                    <a16:creationId xmlns:a16="http://schemas.microsoft.com/office/drawing/2014/main" id="{F5DBFF3C-49F9-4B0D-9681-ABDCA3E2C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3"/>
              </a:xfrm>
              <a:custGeom>
                <a:avLst/>
                <a:gdLst>
                  <a:gd name="T0" fmla="*/ 0 w 227"/>
                  <a:gd name="T1" fmla="*/ 0 h 234"/>
                  <a:gd name="T2" fmla="*/ 0 w 227"/>
                  <a:gd name="T3" fmla="*/ 0 h 234"/>
                  <a:gd name="T4" fmla="*/ 0 w 227"/>
                  <a:gd name="T5" fmla="*/ 0 h 234"/>
                  <a:gd name="T6" fmla="*/ 0 w 227"/>
                  <a:gd name="T7" fmla="*/ 0 h 234"/>
                  <a:gd name="T8" fmla="*/ 0 w 227"/>
                  <a:gd name="T9" fmla="*/ 0 h 234"/>
                  <a:gd name="T10" fmla="*/ 0 w 227"/>
                  <a:gd name="T11" fmla="*/ 0 h 234"/>
                  <a:gd name="T12" fmla="*/ 0 w 227"/>
                  <a:gd name="T13" fmla="*/ 0 h 234"/>
                  <a:gd name="T14" fmla="*/ 0 w 227"/>
                  <a:gd name="T15" fmla="*/ 0 h 234"/>
                  <a:gd name="T16" fmla="*/ 0 w 227"/>
                  <a:gd name="T17" fmla="*/ 0 h 234"/>
                  <a:gd name="T18" fmla="*/ 0 w 227"/>
                  <a:gd name="T19" fmla="*/ 0 h 234"/>
                  <a:gd name="T20" fmla="*/ 0 w 227"/>
                  <a:gd name="T21" fmla="*/ 0 h 234"/>
                  <a:gd name="T22" fmla="*/ 0 w 227"/>
                  <a:gd name="T23" fmla="*/ 0 h 234"/>
                  <a:gd name="T24" fmla="*/ 0 w 227"/>
                  <a:gd name="T25" fmla="*/ 0 h 234"/>
                  <a:gd name="T26" fmla="*/ 0 w 227"/>
                  <a:gd name="T27" fmla="*/ 0 h 234"/>
                  <a:gd name="T28" fmla="*/ 0 w 227"/>
                  <a:gd name="T29" fmla="*/ 0 h 234"/>
                  <a:gd name="T30" fmla="*/ 0 w 227"/>
                  <a:gd name="T31" fmla="*/ 0 h 234"/>
                  <a:gd name="T32" fmla="*/ 0 w 227"/>
                  <a:gd name="T33" fmla="*/ 0 h 234"/>
                  <a:gd name="T34" fmla="*/ 0 w 227"/>
                  <a:gd name="T35" fmla="*/ 0 h 234"/>
                  <a:gd name="T36" fmla="*/ 0 w 227"/>
                  <a:gd name="T37" fmla="*/ 0 h 234"/>
                  <a:gd name="T38" fmla="*/ 0 w 227"/>
                  <a:gd name="T39" fmla="*/ 0 h 234"/>
                  <a:gd name="T40" fmla="*/ 0 w 227"/>
                  <a:gd name="T41" fmla="*/ 0 h 234"/>
                  <a:gd name="T42" fmla="*/ 0 w 227"/>
                  <a:gd name="T43" fmla="*/ 0 h 234"/>
                  <a:gd name="T44" fmla="*/ 0 w 227"/>
                  <a:gd name="T45" fmla="*/ 0 h 234"/>
                  <a:gd name="T46" fmla="*/ 0 w 227"/>
                  <a:gd name="T47" fmla="*/ 0 h 234"/>
                  <a:gd name="T48" fmla="*/ 0 w 227"/>
                  <a:gd name="T49" fmla="*/ 0 h 234"/>
                  <a:gd name="T50" fmla="*/ 0 w 227"/>
                  <a:gd name="T51" fmla="*/ 0 h 234"/>
                  <a:gd name="T52" fmla="*/ 0 w 227"/>
                  <a:gd name="T53" fmla="*/ 0 h 234"/>
                  <a:gd name="T54" fmla="*/ 0 w 227"/>
                  <a:gd name="T55" fmla="*/ 0 h 234"/>
                  <a:gd name="T56" fmla="*/ 0 w 227"/>
                  <a:gd name="T57" fmla="*/ 0 h 234"/>
                  <a:gd name="T58" fmla="*/ 0 w 227"/>
                  <a:gd name="T59" fmla="*/ 0 h 234"/>
                  <a:gd name="T60" fmla="*/ 0 w 227"/>
                  <a:gd name="T61" fmla="*/ 0 h 234"/>
                  <a:gd name="T62" fmla="*/ 0 w 227"/>
                  <a:gd name="T63" fmla="*/ 0 h 234"/>
                  <a:gd name="T64" fmla="*/ 0 w 227"/>
                  <a:gd name="T65" fmla="*/ 0 h 23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"/>
                  <a:gd name="T100" fmla="*/ 0 h 234"/>
                  <a:gd name="T101" fmla="*/ 227 w 227"/>
                  <a:gd name="T102" fmla="*/ 234 h 23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" h="234">
                    <a:moveTo>
                      <a:pt x="159" y="223"/>
                    </a:moveTo>
                    <a:lnTo>
                      <a:pt x="137" y="231"/>
                    </a:lnTo>
                    <a:lnTo>
                      <a:pt x="115" y="234"/>
                    </a:lnTo>
                    <a:lnTo>
                      <a:pt x="93" y="232"/>
                    </a:lnTo>
                    <a:lnTo>
                      <a:pt x="73" y="225"/>
                    </a:lnTo>
                    <a:lnTo>
                      <a:pt x="54" y="215"/>
                    </a:lnTo>
                    <a:lnTo>
                      <a:pt x="36" y="201"/>
                    </a:lnTo>
                    <a:lnTo>
                      <a:pt x="22" y="184"/>
                    </a:lnTo>
                    <a:lnTo>
                      <a:pt x="11" y="163"/>
                    </a:lnTo>
                    <a:lnTo>
                      <a:pt x="4" y="141"/>
                    </a:lnTo>
                    <a:lnTo>
                      <a:pt x="0" y="118"/>
                    </a:lnTo>
                    <a:lnTo>
                      <a:pt x="3" y="96"/>
                    </a:lnTo>
                    <a:lnTo>
                      <a:pt x="9" y="74"/>
                    </a:lnTo>
                    <a:lnTo>
                      <a:pt x="19" y="55"/>
                    </a:lnTo>
                    <a:lnTo>
                      <a:pt x="32" y="37"/>
                    </a:lnTo>
                    <a:lnTo>
                      <a:pt x="48" y="22"/>
                    </a:lnTo>
                    <a:lnTo>
                      <a:pt x="69" y="10"/>
                    </a:lnTo>
                    <a:lnTo>
                      <a:pt x="90" y="3"/>
                    </a:lnTo>
                    <a:lnTo>
                      <a:pt x="113" y="0"/>
                    </a:lnTo>
                    <a:lnTo>
                      <a:pt x="134" y="2"/>
                    </a:lnTo>
                    <a:lnTo>
                      <a:pt x="156" y="8"/>
                    </a:lnTo>
                    <a:lnTo>
                      <a:pt x="174" y="19"/>
                    </a:lnTo>
                    <a:lnTo>
                      <a:pt x="191" y="32"/>
                    </a:lnTo>
                    <a:lnTo>
                      <a:pt x="206" y="49"/>
                    </a:lnTo>
                    <a:lnTo>
                      <a:pt x="217" y="70"/>
                    </a:lnTo>
                    <a:lnTo>
                      <a:pt x="224" y="93"/>
                    </a:lnTo>
                    <a:lnTo>
                      <a:pt x="227" y="116"/>
                    </a:lnTo>
                    <a:lnTo>
                      <a:pt x="225" y="138"/>
                    </a:lnTo>
                    <a:lnTo>
                      <a:pt x="219" y="159"/>
                    </a:lnTo>
                    <a:lnTo>
                      <a:pt x="209" y="179"/>
                    </a:lnTo>
                    <a:lnTo>
                      <a:pt x="195" y="197"/>
                    </a:lnTo>
                    <a:lnTo>
                      <a:pt x="179" y="212"/>
                    </a:lnTo>
                    <a:lnTo>
                      <a:pt x="159" y="223"/>
                    </a:lnTo>
                    <a:close/>
                  </a:path>
                </a:pathLst>
              </a:custGeom>
              <a:solidFill>
                <a:srgbClr val="E333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2" name="Freeform 604">
                <a:extLst>
                  <a:ext uri="{FF2B5EF4-FFF2-40B4-BE49-F238E27FC236}">
                    <a16:creationId xmlns:a16="http://schemas.microsoft.com/office/drawing/2014/main" id="{9754B0C4-99C8-482A-A592-A718EF895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2"/>
              </a:xfrm>
              <a:custGeom>
                <a:avLst/>
                <a:gdLst>
                  <a:gd name="T0" fmla="*/ 0 w 208"/>
                  <a:gd name="T1" fmla="*/ 0 h 214"/>
                  <a:gd name="T2" fmla="*/ 0 w 208"/>
                  <a:gd name="T3" fmla="*/ 0 h 214"/>
                  <a:gd name="T4" fmla="*/ 0 w 208"/>
                  <a:gd name="T5" fmla="*/ 0 h 214"/>
                  <a:gd name="T6" fmla="*/ 0 w 208"/>
                  <a:gd name="T7" fmla="*/ 0 h 214"/>
                  <a:gd name="T8" fmla="*/ 0 w 208"/>
                  <a:gd name="T9" fmla="*/ 0 h 214"/>
                  <a:gd name="T10" fmla="*/ 0 w 208"/>
                  <a:gd name="T11" fmla="*/ 0 h 214"/>
                  <a:gd name="T12" fmla="*/ 0 w 208"/>
                  <a:gd name="T13" fmla="*/ 0 h 214"/>
                  <a:gd name="T14" fmla="*/ 0 w 208"/>
                  <a:gd name="T15" fmla="*/ 0 h 214"/>
                  <a:gd name="T16" fmla="*/ 0 w 208"/>
                  <a:gd name="T17" fmla="*/ 0 h 214"/>
                  <a:gd name="T18" fmla="*/ 0 w 208"/>
                  <a:gd name="T19" fmla="*/ 0 h 214"/>
                  <a:gd name="T20" fmla="*/ 0 w 208"/>
                  <a:gd name="T21" fmla="*/ 0 h 214"/>
                  <a:gd name="T22" fmla="*/ 0 w 208"/>
                  <a:gd name="T23" fmla="*/ 0 h 214"/>
                  <a:gd name="T24" fmla="*/ 0 w 208"/>
                  <a:gd name="T25" fmla="*/ 0 h 214"/>
                  <a:gd name="T26" fmla="*/ 0 w 208"/>
                  <a:gd name="T27" fmla="*/ 0 h 214"/>
                  <a:gd name="T28" fmla="*/ 0 w 208"/>
                  <a:gd name="T29" fmla="*/ 0 h 214"/>
                  <a:gd name="T30" fmla="*/ 0 w 208"/>
                  <a:gd name="T31" fmla="*/ 0 h 214"/>
                  <a:gd name="T32" fmla="*/ 0 w 208"/>
                  <a:gd name="T33" fmla="*/ 0 h 214"/>
                  <a:gd name="T34" fmla="*/ 0 w 208"/>
                  <a:gd name="T35" fmla="*/ 0 h 214"/>
                  <a:gd name="T36" fmla="*/ 0 w 208"/>
                  <a:gd name="T37" fmla="*/ 0 h 214"/>
                  <a:gd name="T38" fmla="*/ 0 w 208"/>
                  <a:gd name="T39" fmla="*/ 0 h 214"/>
                  <a:gd name="T40" fmla="*/ 0 w 208"/>
                  <a:gd name="T41" fmla="*/ 0 h 214"/>
                  <a:gd name="T42" fmla="*/ 0 w 208"/>
                  <a:gd name="T43" fmla="*/ 0 h 214"/>
                  <a:gd name="T44" fmla="*/ 0 w 208"/>
                  <a:gd name="T45" fmla="*/ 0 h 214"/>
                  <a:gd name="T46" fmla="*/ 0 w 208"/>
                  <a:gd name="T47" fmla="*/ 0 h 214"/>
                  <a:gd name="T48" fmla="*/ 0 w 208"/>
                  <a:gd name="T49" fmla="*/ 0 h 214"/>
                  <a:gd name="T50" fmla="*/ 0 w 208"/>
                  <a:gd name="T51" fmla="*/ 0 h 214"/>
                  <a:gd name="T52" fmla="*/ 0 w 208"/>
                  <a:gd name="T53" fmla="*/ 0 h 214"/>
                  <a:gd name="T54" fmla="*/ 0 w 208"/>
                  <a:gd name="T55" fmla="*/ 0 h 214"/>
                  <a:gd name="T56" fmla="*/ 0 w 208"/>
                  <a:gd name="T57" fmla="*/ 0 h 214"/>
                  <a:gd name="T58" fmla="*/ 0 w 208"/>
                  <a:gd name="T59" fmla="*/ 0 h 214"/>
                  <a:gd name="T60" fmla="*/ 0 w 208"/>
                  <a:gd name="T61" fmla="*/ 0 h 214"/>
                  <a:gd name="T62" fmla="*/ 0 w 208"/>
                  <a:gd name="T63" fmla="*/ 0 h 214"/>
                  <a:gd name="T64" fmla="*/ 0 w 208"/>
                  <a:gd name="T65" fmla="*/ 0 h 21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8"/>
                  <a:gd name="T100" fmla="*/ 0 h 214"/>
                  <a:gd name="T101" fmla="*/ 208 w 208"/>
                  <a:gd name="T102" fmla="*/ 214 h 21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8" h="214">
                    <a:moveTo>
                      <a:pt x="146" y="206"/>
                    </a:moveTo>
                    <a:lnTo>
                      <a:pt x="125" y="212"/>
                    </a:lnTo>
                    <a:lnTo>
                      <a:pt x="105" y="214"/>
                    </a:lnTo>
                    <a:lnTo>
                      <a:pt x="84" y="212"/>
                    </a:lnTo>
                    <a:lnTo>
                      <a:pt x="66" y="206"/>
                    </a:lnTo>
                    <a:lnTo>
                      <a:pt x="48" y="196"/>
                    </a:lnTo>
                    <a:lnTo>
                      <a:pt x="31" y="183"/>
                    </a:lnTo>
                    <a:lnTo>
                      <a:pt x="18" y="168"/>
                    </a:lnTo>
                    <a:lnTo>
                      <a:pt x="8" y="149"/>
                    </a:lnTo>
                    <a:lnTo>
                      <a:pt x="2" y="129"/>
                    </a:lnTo>
                    <a:lnTo>
                      <a:pt x="0" y="108"/>
                    </a:lnTo>
                    <a:lnTo>
                      <a:pt x="2" y="86"/>
                    </a:lnTo>
                    <a:lnTo>
                      <a:pt x="8" y="67"/>
                    </a:lnTo>
                    <a:lnTo>
                      <a:pt x="17" y="49"/>
                    </a:lnTo>
                    <a:lnTo>
                      <a:pt x="29" y="33"/>
                    </a:lnTo>
                    <a:lnTo>
                      <a:pt x="45" y="19"/>
                    </a:lnTo>
                    <a:lnTo>
                      <a:pt x="63" y="8"/>
                    </a:lnTo>
                    <a:lnTo>
                      <a:pt x="83" y="2"/>
                    </a:lnTo>
                    <a:lnTo>
                      <a:pt x="104" y="0"/>
                    </a:lnTo>
                    <a:lnTo>
                      <a:pt x="123" y="2"/>
                    </a:lnTo>
                    <a:lnTo>
                      <a:pt x="142" y="7"/>
                    </a:lnTo>
                    <a:lnTo>
                      <a:pt x="161" y="17"/>
                    </a:lnTo>
                    <a:lnTo>
                      <a:pt x="176" y="30"/>
                    </a:lnTo>
                    <a:lnTo>
                      <a:pt x="189" y="45"/>
                    </a:lnTo>
                    <a:lnTo>
                      <a:pt x="200" y="63"/>
                    </a:lnTo>
                    <a:lnTo>
                      <a:pt x="206" y="84"/>
                    </a:lnTo>
                    <a:lnTo>
                      <a:pt x="208" y="105"/>
                    </a:lnTo>
                    <a:lnTo>
                      <a:pt x="206" y="127"/>
                    </a:lnTo>
                    <a:lnTo>
                      <a:pt x="201" y="147"/>
                    </a:lnTo>
                    <a:lnTo>
                      <a:pt x="191" y="164"/>
                    </a:lnTo>
                    <a:lnTo>
                      <a:pt x="179" y="181"/>
                    </a:lnTo>
                    <a:lnTo>
                      <a:pt x="164" y="195"/>
                    </a:lnTo>
                    <a:lnTo>
                      <a:pt x="146" y="206"/>
                    </a:lnTo>
                    <a:close/>
                  </a:path>
                </a:pathLst>
              </a:custGeom>
              <a:solidFill>
                <a:srgbClr val="EB5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3" name="Freeform 605">
                <a:extLst>
                  <a:ext uri="{FF2B5EF4-FFF2-40B4-BE49-F238E27FC236}">
                    <a16:creationId xmlns:a16="http://schemas.microsoft.com/office/drawing/2014/main" id="{C796AF11-791F-42C0-A1B8-CD6A5B600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89"/>
                  <a:gd name="T1" fmla="*/ 0 h 194"/>
                  <a:gd name="T2" fmla="*/ 0 w 189"/>
                  <a:gd name="T3" fmla="*/ 0 h 194"/>
                  <a:gd name="T4" fmla="*/ 0 w 189"/>
                  <a:gd name="T5" fmla="*/ 0 h 194"/>
                  <a:gd name="T6" fmla="*/ 0 w 189"/>
                  <a:gd name="T7" fmla="*/ 0 h 194"/>
                  <a:gd name="T8" fmla="*/ 0 w 189"/>
                  <a:gd name="T9" fmla="*/ 0 h 194"/>
                  <a:gd name="T10" fmla="*/ 0 w 189"/>
                  <a:gd name="T11" fmla="*/ 0 h 194"/>
                  <a:gd name="T12" fmla="*/ 0 w 189"/>
                  <a:gd name="T13" fmla="*/ 0 h 194"/>
                  <a:gd name="T14" fmla="*/ 0 w 189"/>
                  <a:gd name="T15" fmla="*/ 0 h 194"/>
                  <a:gd name="T16" fmla="*/ 0 w 189"/>
                  <a:gd name="T17" fmla="*/ 0 h 194"/>
                  <a:gd name="T18" fmla="*/ 0 w 189"/>
                  <a:gd name="T19" fmla="*/ 0 h 194"/>
                  <a:gd name="T20" fmla="*/ 0 w 189"/>
                  <a:gd name="T21" fmla="*/ 0 h 194"/>
                  <a:gd name="T22" fmla="*/ 0 w 189"/>
                  <a:gd name="T23" fmla="*/ 0 h 194"/>
                  <a:gd name="T24" fmla="*/ 0 w 189"/>
                  <a:gd name="T25" fmla="*/ 0 h 194"/>
                  <a:gd name="T26" fmla="*/ 0 w 189"/>
                  <a:gd name="T27" fmla="*/ 0 h 194"/>
                  <a:gd name="T28" fmla="*/ 0 w 189"/>
                  <a:gd name="T29" fmla="*/ 0 h 194"/>
                  <a:gd name="T30" fmla="*/ 0 w 189"/>
                  <a:gd name="T31" fmla="*/ 0 h 194"/>
                  <a:gd name="T32" fmla="*/ 0 w 189"/>
                  <a:gd name="T33" fmla="*/ 0 h 194"/>
                  <a:gd name="T34" fmla="*/ 0 w 189"/>
                  <a:gd name="T35" fmla="*/ 0 h 194"/>
                  <a:gd name="T36" fmla="*/ 0 w 189"/>
                  <a:gd name="T37" fmla="*/ 0 h 194"/>
                  <a:gd name="T38" fmla="*/ 0 w 189"/>
                  <a:gd name="T39" fmla="*/ 0 h 194"/>
                  <a:gd name="T40" fmla="*/ 0 w 189"/>
                  <a:gd name="T41" fmla="*/ 0 h 194"/>
                  <a:gd name="T42" fmla="*/ 0 w 189"/>
                  <a:gd name="T43" fmla="*/ 0 h 194"/>
                  <a:gd name="T44" fmla="*/ 0 w 189"/>
                  <a:gd name="T45" fmla="*/ 0 h 194"/>
                  <a:gd name="T46" fmla="*/ 0 w 189"/>
                  <a:gd name="T47" fmla="*/ 0 h 194"/>
                  <a:gd name="T48" fmla="*/ 0 w 189"/>
                  <a:gd name="T49" fmla="*/ 0 h 194"/>
                  <a:gd name="T50" fmla="*/ 0 w 189"/>
                  <a:gd name="T51" fmla="*/ 0 h 194"/>
                  <a:gd name="T52" fmla="*/ 0 w 189"/>
                  <a:gd name="T53" fmla="*/ 0 h 194"/>
                  <a:gd name="T54" fmla="*/ 0 w 189"/>
                  <a:gd name="T55" fmla="*/ 0 h 194"/>
                  <a:gd name="T56" fmla="*/ 0 w 189"/>
                  <a:gd name="T57" fmla="*/ 0 h 194"/>
                  <a:gd name="T58" fmla="*/ 0 w 189"/>
                  <a:gd name="T59" fmla="*/ 0 h 194"/>
                  <a:gd name="T60" fmla="*/ 0 w 189"/>
                  <a:gd name="T61" fmla="*/ 0 h 194"/>
                  <a:gd name="T62" fmla="*/ 0 w 189"/>
                  <a:gd name="T63" fmla="*/ 0 h 194"/>
                  <a:gd name="T64" fmla="*/ 0 w 189"/>
                  <a:gd name="T65" fmla="*/ 0 h 1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9"/>
                  <a:gd name="T100" fmla="*/ 0 h 194"/>
                  <a:gd name="T101" fmla="*/ 189 w 189"/>
                  <a:gd name="T102" fmla="*/ 194 h 1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9" h="194">
                    <a:moveTo>
                      <a:pt x="131" y="187"/>
                    </a:moveTo>
                    <a:lnTo>
                      <a:pt x="113" y="193"/>
                    </a:lnTo>
                    <a:lnTo>
                      <a:pt x="95" y="194"/>
                    </a:lnTo>
                    <a:lnTo>
                      <a:pt x="76" y="192"/>
                    </a:lnTo>
                    <a:lnTo>
                      <a:pt x="59" y="187"/>
                    </a:lnTo>
                    <a:lnTo>
                      <a:pt x="44" y="178"/>
                    </a:lnTo>
                    <a:lnTo>
                      <a:pt x="29" y="167"/>
                    </a:lnTo>
                    <a:lnTo>
                      <a:pt x="17" y="152"/>
                    </a:lnTo>
                    <a:lnTo>
                      <a:pt x="8" y="135"/>
                    </a:lnTo>
                    <a:lnTo>
                      <a:pt x="2" y="116"/>
                    </a:lnTo>
                    <a:lnTo>
                      <a:pt x="0" y="97"/>
                    </a:lnTo>
                    <a:lnTo>
                      <a:pt x="2" y="79"/>
                    </a:lnTo>
                    <a:lnTo>
                      <a:pt x="7" y="61"/>
                    </a:lnTo>
                    <a:lnTo>
                      <a:pt x="15" y="45"/>
                    </a:lnTo>
                    <a:lnTo>
                      <a:pt x="26" y="30"/>
                    </a:lnTo>
                    <a:lnTo>
                      <a:pt x="41" y="17"/>
                    </a:lnTo>
                    <a:lnTo>
                      <a:pt x="57" y="8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2" y="1"/>
                    </a:lnTo>
                    <a:lnTo>
                      <a:pt x="130" y="7"/>
                    </a:lnTo>
                    <a:lnTo>
                      <a:pt x="146" y="15"/>
                    </a:lnTo>
                    <a:lnTo>
                      <a:pt x="160" y="27"/>
                    </a:lnTo>
                    <a:lnTo>
                      <a:pt x="172" y="41"/>
                    </a:lnTo>
                    <a:lnTo>
                      <a:pt x="181" y="58"/>
                    </a:lnTo>
                    <a:lnTo>
                      <a:pt x="187" y="77"/>
                    </a:lnTo>
                    <a:lnTo>
                      <a:pt x="189" y="96"/>
                    </a:lnTo>
                    <a:lnTo>
                      <a:pt x="188" y="114"/>
                    </a:lnTo>
                    <a:lnTo>
                      <a:pt x="182" y="132"/>
                    </a:lnTo>
                    <a:lnTo>
                      <a:pt x="174" y="149"/>
                    </a:lnTo>
                    <a:lnTo>
                      <a:pt x="163" y="165"/>
                    </a:lnTo>
                    <a:lnTo>
                      <a:pt x="149" y="177"/>
                    </a:lnTo>
                    <a:lnTo>
                      <a:pt x="131" y="187"/>
                    </a:lnTo>
                    <a:close/>
                  </a:path>
                </a:pathLst>
              </a:custGeom>
              <a:solidFill>
                <a:srgbClr val="F087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4" name="Freeform 606">
                <a:extLst>
                  <a:ext uri="{FF2B5EF4-FFF2-40B4-BE49-F238E27FC236}">
                    <a16:creationId xmlns:a16="http://schemas.microsoft.com/office/drawing/2014/main" id="{3104F911-A62D-43C5-B8CA-091758433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71"/>
                  <a:gd name="T1" fmla="*/ 0 h 177"/>
                  <a:gd name="T2" fmla="*/ 0 w 171"/>
                  <a:gd name="T3" fmla="*/ 0 h 177"/>
                  <a:gd name="T4" fmla="*/ 0 w 171"/>
                  <a:gd name="T5" fmla="*/ 0 h 177"/>
                  <a:gd name="T6" fmla="*/ 0 w 171"/>
                  <a:gd name="T7" fmla="*/ 0 h 177"/>
                  <a:gd name="T8" fmla="*/ 0 w 171"/>
                  <a:gd name="T9" fmla="*/ 0 h 177"/>
                  <a:gd name="T10" fmla="*/ 0 w 171"/>
                  <a:gd name="T11" fmla="*/ 0 h 177"/>
                  <a:gd name="T12" fmla="*/ 0 w 171"/>
                  <a:gd name="T13" fmla="*/ 0 h 177"/>
                  <a:gd name="T14" fmla="*/ 0 w 171"/>
                  <a:gd name="T15" fmla="*/ 0 h 177"/>
                  <a:gd name="T16" fmla="*/ 0 w 171"/>
                  <a:gd name="T17" fmla="*/ 0 h 177"/>
                  <a:gd name="T18" fmla="*/ 0 w 171"/>
                  <a:gd name="T19" fmla="*/ 0 h 177"/>
                  <a:gd name="T20" fmla="*/ 0 w 171"/>
                  <a:gd name="T21" fmla="*/ 0 h 177"/>
                  <a:gd name="T22" fmla="*/ 0 w 171"/>
                  <a:gd name="T23" fmla="*/ 0 h 177"/>
                  <a:gd name="T24" fmla="*/ 0 w 171"/>
                  <a:gd name="T25" fmla="*/ 0 h 177"/>
                  <a:gd name="T26" fmla="*/ 0 w 171"/>
                  <a:gd name="T27" fmla="*/ 0 h 177"/>
                  <a:gd name="T28" fmla="*/ 0 w 171"/>
                  <a:gd name="T29" fmla="*/ 0 h 177"/>
                  <a:gd name="T30" fmla="*/ 0 w 171"/>
                  <a:gd name="T31" fmla="*/ 0 h 177"/>
                  <a:gd name="T32" fmla="*/ 0 w 171"/>
                  <a:gd name="T33" fmla="*/ 0 h 177"/>
                  <a:gd name="T34" fmla="*/ 0 w 171"/>
                  <a:gd name="T35" fmla="*/ 0 h 177"/>
                  <a:gd name="T36" fmla="*/ 0 w 171"/>
                  <a:gd name="T37" fmla="*/ 0 h 177"/>
                  <a:gd name="T38" fmla="*/ 0 w 171"/>
                  <a:gd name="T39" fmla="*/ 0 h 177"/>
                  <a:gd name="T40" fmla="*/ 0 w 171"/>
                  <a:gd name="T41" fmla="*/ 0 h 177"/>
                  <a:gd name="T42" fmla="*/ 0 w 171"/>
                  <a:gd name="T43" fmla="*/ 0 h 177"/>
                  <a:gd name="T44" fmla="*/ 0 w 171"/>
                  <a:gd name="T45" fmla="*/ 0 h 177"/>
                  <a:gd name="T46" fmla="*/ 0 w 171"/>
                  <a:gd name="T47" fmla="*/ 0 h 177"/>
                  <a:gd name="T48" fmla="*/ 0 w 171"/>
                  <a:gd name="T49" fmla="*/ 0 h 177"/>
                  <a:gd name="T50" fmla="*/ 0 w 171"/>
                  <a:gd name="T51" fmla="*/ 0 h 177"/>
                  <a:gd name="T52" fmla="*/ 0 w 171"/>
                  <a:gd name="T53" fmla="*/ 0 h 177"/>
                  <a:gd name="T54" fmla="*/ 0 w 171"/>
                  <a:gd name="T55" fmla="*/ 0 h 177"/>
                  <a:gd name="T56" fmla="*/ 0 w 171"/>
                  <a:gd name="T57" fmla="*/ 0 h 177"/>
                  <a:gd name="T58" fmla="*/ 0 w 171"/>
                  <a:gd name="T59" fmla="*/ 0 h 177"/>
                  <a:gd name="T60" fmla="*/ 0 w 171"/>
                  <a:gd name="T61" fmla="*/ 0 h 177"/>
                  <a:gd name="T62" fmla="*/ 0 w 171"/>
                  <a:gd name="T63" fmla="*/ 0 h 177"/>
                  <a:gd name="T64" fmla="*/ 0 w 171"/>
                  <a:gd name="T65" fmla="*/ 0 h 1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1"/>
                  <a:gd name="T100" fmla="*/ 0 h 177"/>
                  <a:gd name="T101" fmla="*/ 171 w 171"/>
                  <a:gd name="T102" fmla="*/ 177 h 17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1" h="177">
                    <a:moveTo>
                      <a:pt x="120" y="170"/>
                    </a:moveTo>
                    <a:lnTo>
                      <a:pt x="104" y="175"/>
                    </a:lnTo>
                    <a:lnTo>
                      <a:pt x="87" y="177"/>
                    </a:lnTo>
                    <a:lnTo>
                      <a:pt x="70" y="176"/>
                    </a:lnTo>
                    <a:lnTo>
                      <a:pt x="54" y="171"/>
                    </a:lnTo>
                    <a:lnTo>
                      <a:pt x="40" y="163"/>
                    </a:lnTo>
                    <a:lnTo>
                      <a:pt x="27" y="152"/>
                    </a:lnTo>
                    <a:lnTo>
                      <a:pt x="15" y="139"/>
                    </a:lnTo>
                    <a:lnTo>
                      <a:pt x="7" y="124"/>
                    </a:lnTo>
                    <a:lnTo>
                      <a:pt x="2" y="107"/>
                    </a:lnTo>
                    <a:lnTo>
                      <a:pt x="0" y="90"/>
                    </a:lnTo>
                    <a:lnTo>
                      <a:pt x="2" y="72"/>
                    </a:lnTo>
                    <a:lnTo>
                      <a:pt x="7" y="56"/>
                    </a:lnTo>
                    <a:lnTo>
                      <a:pt x="14" y="41"/>
                    </a:lnTo>
                    <a:lnTo>
                      <a:pt x="25" y="28"/>
                    </a:lnTo>
                    <a:lnTo>
                      <a:pt x="37" y="16"/>
                    </a:lnTo>
                    <a:lnTo>
                      <a:pt x="52" y="8"/>
                    </a:lnTo>
                    <a:lnTo>
                      <a:pt x="68" y="2"/>
                    </a:lnTo>
                    <a:lnTo>
                      <a:pt x="85" y="0"/>
                    </a:lnTo>
                    <a:lnTo>
                      <a:pt x="102" y="2"/>
                    </a:lnTo>
                    <a:lnTo>
                      <a:pt x="117" y="7"/>
                    </a:lnTo>
                    <a:lnTo>
                      <a:pt x="132" y="15"/>
                    </a:lnTo>
                    <a:lnTo>
                      <a:pt x="145" y="25"/>
                    </a:lnTo>
                    <a:lnTo>
                      <a:pt x="156" y="38"/>
                    </a:lnTo>
                    <a:lnTo>
                      <a:pt x="164" y="53"/>
                    </a:lnTo>
                    <a:lnTo>
                      <a:pt x="169" y="70"/>
                    </a:lnTo>
                    <a:lnTo>
                      <a:pt x="171" y="88"/>
                    </a:lnTo>
                    <a:lnTo>
                      <a:pt x="169" y="105"/>
                    </a:lnTo>
                    <a:lnTo>
                      <a:pt x="165" y="121"/>
                    </a:lnTo>
                    <a:lnTo>
                      <a:pt x="158" y="136"/>
                    </a:lnTo>
                    <a:lnTo>
                      <a:pt x="148" y="150"/>
                    </a:lnTo>
                    <a:lnTo>
                      <a:pt x="136" y="162"/>
                    </a:lnTo>
                    <a:lnTo>
                      <a:pt x="120" y="170"/>
                    </a:lnTo>
                    <a:close/>
                  </a:path>
                </a:pathLst>
              </a:custGeom>
              <a:solidFill>
                <a:srgbClr val="F5AE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5" name="Freeform 607">
                <a:extLst>
                  <a:ext uri="{FF2B5EF4-FFF2-40B4-BE49-F238E27FC236}">
                    <a16:creationId xmlns:a16="http://schemas.microsoft.com/office/drawing/2014/main" id="{56483DF2-1ACB-42D7-BD8C-373C925ABD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7" cy="9"/>
              </a:xfrm>
              <a:custGeom>
                <a:avLst/>
                <a:gdLst>
                  <a:gd name="T0" fmla="*/ 0 w 152"/>
                  <a:gd name="T1" fmla="*/ 0 h 156"/>
                  <a:gd name="T2" fmla="*/ 0 w 152"/>
                  <a:gd name="T3" fmla="*/ 0 h 156"/>
                  <a:gd name="T4" fmla="*/ 0 w 152"/>
                  <a:gd name="T5" fmla="*/ 0 h 156"/>
                  <a:gd name="T6" fmla="*/ 0 w 152"/>
                  <a:gd name="T7" fmla="*/ 0 h 156"/>
                  <a:gd name="T8" fmla="*/ 0 w 152"/>
                  <a:gd name="T9" fmla="*/ 0 h 156"/>
                  <a:gd name="T10" fmla="*/ 0 w 152"/>
                  <a:gd name="T11" fmla="*/ 0 h 156"/>
                  <a:gd name="T12" fmla="*/ 0 w 152"/>
                  <a:gd name="T13" fmla="*/ 0 h 156"/>
                  <a:gd name="T14" fmla="*/ 0 w 152"/>
                  <a:gd name="T15" fmla="*/ 0 h 156"/>
                  <a:gd name="T16" fmla="*/ 0 w 152"/>
                  <a:gd name="T17" fmla="*/ 0 h 156"/>
                  <a:gd name="T18" fmla="*/ 0 w 152"/>
                  <a:gd name="T19" fmla="*/ 0 h 156"/>
                  <a:gd name="T20" fmla="*/ 0 w 152"/>
                  <a:gd name="T21" fmla="*/ 0 h 156"/>
                  <a:gd name="T22" fmla="*/ 0 w 152"/>
                  <a:gd name="T23" fmla="*/ 0 h 156"/>
                  <a:gd name="T24" fmla="*/ 0 w 152"/>
                  <a:gd name="T25" fmla="*/ 0 h 156"/>
                  <a:gd name="T26" fmla="*/ 0 w 152"/>
                  <a:gd name="T27" fmla="*/ 0 h 156"/>
                  <a:gd name="T28" fmla="*/ 0 w 152"/>
                  <a:gd name="T29" fmla="*/ 0 h 156"/>
                  <a:gd name="T30" fmla="*/ 0 w 152"/>
                  <a:gd name="T31" fmla="*/ 0 h 156"/>
                  <a:gd name="T32" fmla="*/ 0 w 152"/>
                  <a:gd name="T33" fmla="*/ 0 h 156"/>
                  <a:gd name="T34" fmla="*/ 0 w 152"/>
                  <a:gd name="T35" fmla="*/ 0 h 156"/>
                  <a:gd name="T36" fmla="*/ 0 w 152"/>
                  <a:gd name="T37" fmla="*/ 0 h 156"/>
                  <a:gd name="T38" fmla="*/ 0 w 152"/>
                  <a:gd name="T39" fmla="*/ 0 h 156"/>
                  <a:gd name="T40" fmla="*/ 0 w 152"/>
                  <a:gd name="T41" fmla="*/ 0 h 156"/>
                  <a:gd name="T42" fmla="*/ 0 w 152"/>
                  <a:gd name="T43" fmla="*/ 0 h 156"/>
                  <a:gd name="T44" fmla="*/ 0 w 152"/>
                  <a:gd name="T45" fmla="*/ 0 h 156"/>
                  <a:gd name="T46" fmla="*/ 0 w 152"/>
                  <a:gd name="T47" fmla="*/ 0 h 156"/>
                  <a:gd name="T48" fmla="*/ 0 w 152"/>
                  <a:gd name="T49" fmla="*/ 0 h 156"/>
                  <a:gd name="T50" fmla="*/ 0 w 152"/>
                  <a:gd name="T51" fmla="*/ 0 h 156"/>
                  <a:gd name="T52" fmla="*/ 0 w 152"/>
                  <a:gd name="T53" fmla="*/ 0 h 156"/>
                  <a:gd name="T54" fmla="*/ 0 w 152"/>
                  <a:gd name="T55" fmla="*/ 0 h 156"/>
                  <a:gd name="T56" fmla="*/ 0 w 152"/>
                  <a:gd name="T57" fmla="*/ 0 h 156"/>
                  <a:gd name="T58" fmla="*/ 0 w 152"/>
                  <a:gd name="T59" fmla="*/ 0 h 156"/>
                  <a:gd name="T60" fmla="*/ 0 w 152"/>
                  <a:gd name="T61" fmla="*/ 0 h 156"/>
                  <a:gd name="T62" fmla="*/ 0 w 152"/>
                  <a:gd name="T63" fmla="*/ 0 h 156"/>
                  <a:gd name="T64" fmla="*/ 0 w 152"/>
                  <a:gd name="T65" fmla="*/ 0 h 1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52"/>
                  <a:gd name="T100" fmla="*/ 0 h 156"/>
                  <a:gd name="T101" fmla="*/ 152 w 152"/>
                  <a:gd name="T102" fmla="*/ 156 h 1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52" h="156">
                    <a:moveTo>
                      <a:pt x="106" y="149"/>
                    </a:moveTo>
                    <a:lnTo>
                      <a:pt x="92" y="155"/>
                    </a:lnTo>
                    <a:lnTo>
                      <a:pt x="77" y="156"/>
                    </a:lnTo>
                    <a:lnTo>
                      <a:pt x="63" y="155"/>
                    </a:lnTo>
                    <a:lnTo>
                      <a:pt x="48" y="150"/>
                    </a:lnTo>
                    <a:lnTo>
                      <a:pt x="35" y="143"/>
                    </a:lnTo>
                    <a:lnTo>
                      <a:pt x="24" y="133"/>
                    </a:lnTo>
                    <a:lnTo>
                      <a:pt x="14" y="122"/>
                    </a:lnTo>
                    <a:lnTo>
                      <a:pt x="6" y="108"/>
                    </a:lnTo>
                    <a:lnTo>
                      <a:pt x="2" y="93"/>
                    </a:lnTo>
                    <a:lnTo>
                      <a:pt x="0" y="78"/>
                    </a:lnTo>
                    <a:lnTo>
                      <a:pt x="1" y="63"/>
                    </a:lnTo>
                    <a:lnTo>
                      <a:pt x="5" y="49"/>
                    </a:lnTo>
                    <a:lnTo>
                      <a:pt x="13" y="35"/>
                    </a:lnTo>
                    <a:lnTo>
                      <a:pt x="22" y="24"/>
                    </a:lnTo>
                    <a:lnTo>
                      <a:pt x="33" y="13"/>
                    </a:lnTo>
                    <a:lnTo>
                      <a:pt x="46" y="6"/>
                    </a:lnTo>
                    <a:lnTo>
                      <a:pt x="60" y="1"/>
                    </a:lnTo>
                    <a:lnTo>
                      <a:pt x="76" y="0"/>
                    </a:lnTo>
                    <a:lnTo>
                      <a:pt x="90" y="1"/>
                    </a:lnTo>
                    <a:lnTo>
                      <a:pt x="104" y="5"/>
                    </a:lnTo>
                    <a:lnTo>
                      <a:pt x="118" y="11"/>
                    </a:lnTo>
                    <a:lnTo>
                      <a:pt x="129" y="21"/>
                    </a:lnTo>
                    <a:lnTo>
                      <a:pt x="139" y="32"/>
                    </a:lnTo>
                    <a:lnTo>
                      <a:pt x="146" y="46"/>
                    </a:lnTo>
                    <a:lnTo>
                      <a:pt x="150" y="61"/>
                    </a:lnTo>
                    <a:lnTo>
                      <a:pt x="152" y="77"/>
                    </a:lnTo>
                    <a:lnTo>
                      <a:pt x="151" y="91"/>
                    </a:lnTo>
                    <a:lnTo>
                      <a:pt x="147" y="106"/>
                    </a:lnTo>
                    <a:lnTo>
                      <a:pt x="140" y="120"/>
                    </a:lnTo>
                    <a:lnTo>
                      <a:pt x="131" y="131"/>
                    </a:lnTo>
                    <a:lnTo>
                      <a:pt x="120" y="142"/>
                    </a:lnTo>
                    <a:lnTo>
                      <a:pt x="106" y="149"/>
                    </a:lnTo>
                    <a:close/>
                  </a:path>
                </a:pathLst>
              </a:custGeom>
              <a:solidFill>
                <a:srgbClr val="FAD6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6" name="Freeform 608">
                <a:extLst>
                  <a:ext uri="{FF2B5EF4-FFF2-40B4-BE49-F238E27FC236}">
                    <a16:creationId xmlns:a16="http://schemas.microsoft.com/office/drawing/2014/main" id="{3D263817-81FC-4496-918D-A99437DA1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6" cy="8"/>
              </a:xfrm>
              <a:custGeom>
                <a:avLst/>
                <a:gdLst>
                  <a:gd name="T0" fmla="*/ 0 w 134"/>
                  <a:gd name="T1" fmla="*/ 0 h 139"/>
                  <a:gd name="T2" fmla="*/ 0 w 134"/>
                  <a:gd name="T3" fmla="*/ 0 h 139"/>
                  <a:gd name="T4" fmla="*/ 0 w 134"/>
                  <a:gd name="T5" fmla="*/ 0 h 139"/>
                  <a:gd name="T6" fmla="*/ 0 w 134"/>
                  <a:gd name="T7" fmla="*/ 0 h 139"/>
                  <a:gd name="T8" fmla="*/ 0 w 134"/>
                  <a:gd name="T9" fmla="*/ 0 h 139"/>
                  <a:gd name="T10" fmla="*/ 0 w 134"/>
                  <a:gd name="T11" fmla="*/ 0 h 139"/>
                  <a:gd name="T12" fmla="*/ 0 w 134"/>
                  <a:gd name="T13" fmla="*/ 0 h 139"/>
                  <a:gd name="T14" fmla="*/ 0 w 134"/>
                  <a:gd name="T15" fmla="*/ 0 h 139"/>
                  <a:gd name="T16" fmla="*/ 0 w 134"/>
                  <a:gd name="T17" fmla="*/ 0 h 139"/>
                  <a:gd name="T18" fmla="*/ 0 w 134"/>
                  <a:gd name="T19" fmla="*/ 0 h 139"/>
                  <a:gd name="T20" fmla="*/ 0 w 134"/>
                  <a:gd name="T21" fmla="*/ 0 h 139"/>
                  <a:gd name="T22" fmla="*/ 0 w 134"/>
                  <a:gd name="T23" fmla="*/ 0 h 139"/>
                  <a:gd name="T24" fmla="*/ 0 w 134"/>
                  <a:gd name="T25" fmla="*/ 0 h 139"/>
                  <a:gd name="T26" fmla="*/ 0 w 134"/>
                  <a:gd name="T27" fmla="*/ 0 h 139"/>
                  <a:gd name="T28" fmla="*/ 0 w 134"/>
                  <a:gd name="T29" fmla="*/ 0 h 139"/>
                  <a:gd name="T30" fmla="*/ 0 w 134"/>
                  <a:gd name="T31" fmla="*/ 0 h 139"/>
                  <a:gd name="T32" fmla="*/ 0 w 134"/>
                  <a:gd name="T33" fmla="*/ 0 h 139"/>
                  <a:gd name="T34" fmla="*/ 0 w 134"/>
                  <a:gd name="T35" fmla="*/ 0 h 139"/>
                  <a:gd name="T36" fmla="*/ 0 w 134"/>
                  <a:gd name="T37" fmla="*/ 0 h 139"/>
                  <a:gd name="T38" fmla="*/ 0 w 134"/>
                  <a:gd name="T39" fmla="*/ 0 h 139"/>
                  <a:gd name="T40" fmla="*/ 0 w 134"/>
                  <a:gd name="T41" fmla="*/ 0 h 139"/>
                  <a:gd name="T42" fmla="*/ 0 w 134"/>
                  <a:gd name="T43" fmla="*/ 0 h 139"/>
                  <a:gd name="T44" fmla="*/ 0 w 134"/>
                  <a:gd name="T45" fmla="*/ 0 h 139"/>
                  <a:gd name="T46" fmla="*/ 0 w 134"/>
                  <a:gd name="T47" fmla="*/ 0 h 139"/>
                  <a:gd name="T48" fmla="*/ 0 w 134"/>
                  <a:gd name="T49" fmla="*/ 0 h 139"/>
                  <a:gd name="T50" fmla="*/ 0 w 134"/>
                  <a:gd name="T51" fmla="*/ 0 h 139"/>
                  <a:gd name="T52" fmla="*/ 0 w 134"/>
                  <a:gd name="T53" fmla="*/ 0 h 139"/>
                  <a:gd name="T54" fmla="*/ 0 w 134"/>
                  <a:gd name="T55" fmla="*/ 0 h 139"/>
                  <a:gd name="T56" fmla="*/ 0 w 134"/>
                  <a:gd name="T57" fmla="*/ 0 h 139"/>
                  <a:gd name="T58" fmla="*/ 0 w 134"/>
                  <a:gd name="T59" fmla="*/ 0 h 139"/>
                  <a:gd name="T60" fmla="*/ 0 w 134"/>
                  <a:gd name="T61" fmla="*/ 0 h 139"/>
                  <a:gd name="T62" fmla="*/ 0 w 134"/>
                  <a:gd name="T63" fmla="*/ 0 h 139"/>
                  <a:gd name="T64" fmla="*/ 0 w 134"/>
                  <a:gd name="T65" fmla="*/ 0 h 13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139"/>
                  <a:gd name="T101" fmla="*/ 134 w 134"/>
                  <a:gd name="T102" fmla="*/ 139 h 13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139">
                    <a:moveTo>
                      <a:pt x="93" y="134"/>
                    </a:moveTo>
                    <a:lnTo>
                      <a:pt x="80" y="138"/>
                    </a:lnTo>
                    <a:lnTo>
                      <a:pt x="68" y="139"/>
                    </a:lnTo>
                    <a:lnTo>
                      <a:pt x="55" y="138"/>
                    </a:lnTo>
                    <a:lnTo>
                      <a:pt x="42" y="134"/>
                    </a:lnTo>
                    <a:lnTo>
                      <a:pt x="30" y="127"/>
                    </a:lnTo>
                    <a:lnTo>
                      <a:pt x="20" y="119"/>
                    </a:lnTo>
                    <a:lnTo>
                      <a:pt x="12" y="109"/>
                    </a:lnTo>
                    <a:lnTo>
                      <a:pt x="5" y="97"/>
                    </a:lnTo>
                    <a:lnTo>
                      <a:pt x="1" y="83"/>
                    </a:lnTo>
                    <a:lnTo>
                      <a:pt x="0" y="70"/>
                    </a:lnTo>
                    <a:lnTo>
                      <a:pt x="1" y="57"/>
                    </a:lnTo>
                    <a:lnTo>
                      <a:pt x="5" y="44"/>
                    </a:lnTo>
                    <a:lnTo>
                      <a:pt x="11" y="31"/>
                    </a:lnTo>
                    <a:lnTo>
                      <a:pt x="19" y="21"/>
                    </a:lnTo>
                    <a:lnTo>
                      <a:pt x="28" y="12"/>
                    </a:lnTo>
                    <a:lnTo>
                      <a:pt x="40" y="5"/>
                    </a:lnTo>
                    <a:lnTo>
                      <a:pt x="54" y="1"/>
                    </a:lnTo>
                    <a:lnTo>
                      <a:pt x="66" y="0"/>
                    </a:lnTo>
                    <a:lnTo>
                      <a:pt x="79" y="1"/>
                    </a:lnTo>
                    <a:lnTo>
                      <a:pt x="91" y="5"/>
                    </a:lnTo>
                    <a:lnTo>
                      <a:pt x="104" y="11"/>
                    </a:lnTo>
                    <a:lnTo>
                      <a:pt x="114" y="20"/>
                    </a:lnTo>
                    <a:lnTo>
                      <a:pt x="122" y="29"/>
                    </a:lnTo>
                    <a:lnTo>
                      <a:pt x="129" y="42"/>
                    </a:lnTo>
                    <a:lnTo>
                      <a:pt x="133" y="56"/>
                    </a:lnTo>
                    <a:lnTo>
                      <a:pt x="134" y="68"/>
                    </a:lnTo>
                    <a:lnTo>
                      <a:pt x="133" y="82"/>
                    </a:lnTo>
                    <a:lnTo>
                      <a:pt x="129" y="95"/>
                    </a:lnTo>
                    <a:lnTo>
                      <a:pt x="123" y="107"/>
                    </a:lnTo>
                    <a:lnTo>
                      <a:pt x="115" y="118"/>
                    </a:lnTo>
                    <a:lnTo>
                      <a:pt x="106" y="126"/>
                    </a:lnTo>
                    <a:lnTo>
                      <a:pt x="93" y="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7" name="Freeform 609">
                <a:extLst>
                  <a:ext uri="{FF2B5EF4-FFF2-40B4-BE49-F238E27FC236}">
                    <a16:creationId xmlns:a16="http://schemas.microsoft.com/office/drawing/2014/main" id="{C4B5ED56-9BCB-4A56-A532-765496E9A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93"/>
                <a:ext cx="1" cy="2"/>
              </a:xfrm>
              <a:custGeom>
                <a:avLst/>
                <a:gdLst>
                  <a:gd name="T0" fmla="*/ 0 w 21"/>
                  <a:gd name="T1" fmla="*/ 0 h 33"/>
                  <a:gd name="T2" fmla="*/ 0 w 21"/>
                  <a:gd name="T3" fmla="*/ 0 h 33"/>
                  <a:gd name="T4" fmla="*/ 0 w 21"/>
                  <a:gd name="T5" fmla="*/ 0 h 33"/>
                  <a:gd name="T6" fmla="*/ 0 w 21"/>
                  <a:gd name="T7" fmla="*/ 0 h 33"/>
                  <a:gd name="T8" fmla="*/ 0 w 21"/>
                  <a:gd name="T9" fmla="*/ 0 h 33"/>
                  <a:gd name="T10" fmla="*/ 0 w 21"/>
                  <a:gd name="T11" fmla="*/ 0 h 33"/>
                  <a:gd name="T12" fmla="*/ 0 w 21"/>
                  <a:gd name="T13" fmla="*/ 0 h 33"/>
                  <a:gd name="T14" fmla="*/ 0 w 21"/>
                  <a:gd name="T15" fmla="*/ 0 h 33"/>
                  <a:gd name="T16" fmla="*/ 0 w 21"/>
                  <a:gd name="T17" fmla="*/ 0 h 33"/>
                  <a:gd name="T18" fmla="*/ 0 w 21"/>
                  <a:gd name="T19" fmla="*/ 0 h 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33"/>
                  <a:gd name="T32" fmla="*/ 21 w 21"/>
                  <a:gd name="T33" fmla="*/ 33 h 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33">
                    <a:moveTo>
                      <a:pt x="11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5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8" y="31"/>
                    </a:lnTo>
                    <a:lnTo>
                      <a:pt x="14" y="33"/>
                    </a:lnTo>
                    <a:lnTo>
                      <a:pt x="21" y="3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8" name="Freeform 610">
                <a:extLst>
                  <a:ext uri="{FF2B5EF4-FFF2-40B4-BE49-F238E27FC236}">
                    <a16:creationId xmlns:a16="http://schemas.microsoft.com/office/drawing/2014/main" id="{82081E8F-B3D7-4D86-B0B6-173F7044C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89"/>
                <a:ext cx="3" cy="6"/>
              </a:xfrm>
              <a:custGeom>
                <a:avLst/>
                <a:gdLst>
                  <a:gd name="T0" fmla="*/ 0 w 75"/>
                  <a:gd name="T1" fmla="*/ 0 h 98"/>
                  <a:gd name="T2" fmla="*/ 0 w 75"/>
                  <a:gd name="T3" fmla="*/ 0 h 98"/>
                  <a:gd name="T4" fmla="*/ 0 w 75"/>
                  <a:gd name="T5" fmla="*/ 0 h 98"/>
                  <a:gd name="T6" fmla="*/ 0 w 75"/>
                  <a:gd name="T7" fmla="*/ 0 h 98"/>
                  <a:gd name="T8" fmla="*/ 0 w 75"/>
                  <a:gd name="T9" fmla="*/ 0 h 98"/>
                  <a:gd name="T10" fmla="*/ 0 w 75"/>
                  <a:gd name="T11" fmla="*/ 0 h 98"/>
                  <a:gd name="T12" fmla="*/ 0 w 75"/>
                  <a:gd name="T13" fmla="*/ 0 h 98"/>
                  <a:gd name="T14" fmla="*/ 0 w 75"/>
                  <a:gd name="T15" fmla="*/ 0 h 98"/>
                  <a:gd name="T16" fmla="*/ 0 w 75"/>
                  <a:gd name="T17" fmla="*/ 0 h 98"/>
                  <a:gd name="T18" fmla="*/ 0 w 75"/>
                  <a:gd name="T19" fmla="*/ 0 h 98"/>
                  <a:gd name="T20" fmla="*/ 0 w 75"/>
                  <a:gd name="T21" fmla="*/ 0 h 98"/>
                  <a:gd name="T22" fmla="*/ 0 w 75"/>
                  <a:gd name="T23" fmla="*/ 0 h 98"/>
                  <a:gd name="T24" fmla="*/ 0 w 75"/>
                  <a:gd name="T25" fmla="*/ 0 h 98"/>
                  <a:gd name="T26" fmla="*/ 0 w 75"/>
                  <a:gd name="T27" fmla="*/ 0 h 98"/>
                  <a:gd name="T28" fmla="*/ 0 w 75"/>
                  <a:gd name="T29" fmla="*/ 0 h 98"/>
                  <a:gd name="T30" fmla="*/ 0 w 75"/>
                  <a:gd name="T31" fmla="*/ 0 h 98"/>
                  <a:gd name="T32" fmla="*/ 0 w 75"/>
                  <a:gd name="T33" fmla="*/ 0 h 98"/>
                  <a:gd name="T34" fmla="*/ 0 w 75"/>
                  <a:gd name="T35" fmla="*/ 0 h 98"/>
                  <a:gd name="T36" fmla="*/ 0 w 75"/>
                  <a:gd name="T37" fmla="*/ 0 h 98"/>
                  <a:gd name="T38" fmla="*/ 0 w 75"/>
                  <a:gd name="T39" fmla="*/ 0 h 98"/>
                  <a:gd name="T40" fmla="*/ 0 w 75"/>
                  <a:gd name="T41" fmla="*/ 0 h 9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"/>
                  <a:gd name="T64" fmla="*/ 0 h 98"/>
                  <a:gd name="T65" fmla="*/ 75 w 75"/>
                  <a:gd name="T66" fmla="*/ 98 h 9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" h="98">
                    <a:moveTo>
                      <a:pt x="40" y="12"/>
                    </a:moveTo>
                    <a:lnTo>
                      <a:pt x="40" y="12"/>
                    </a:lnTo>
                    <a:lnTo>
                      <a:pt x="42" y="22"/>
                    </a:lnTo>
                    <a:lnTo>
                      <a:pt x="42" y="28"/>
                    </a:lnTo>
                    <a:lnTo>
                      <a:pt x="39" y="37"/>
                    </a:lnTo>
                    <a:lnTo>
                      <a:pt x="36" y="43"/>
                    </a:lnTo>
                    <a:lnTo>
                      <a:pt x="30" y="49"/>
                    </a:lnTo>
                    <a:lnTo>
                      <a:pt x="21" y="57"/>
                    </a:lnTo>
                    <a:lnTo>
                      <a:pt x="12" y="61"/>
                    </a:lnTo>
                    <a:lnTo>
                      <a:pt x="0" y="66"/>
                    </a:lnTo>
                    <a:lnTo>
                      <a:pt x="10" y="98"/>
                    </a:lnTo>
                    <a:lnTo>
                      <a:pt x="26" y="92"/>
                    </a:lnTo>
                    <a:lnTo>
                      <a:pt x="39" y="84"/>
                    </a:lnTo>
                    <a:lnTo>
                      <a:pt x="50" y="74"/>
                    </a:lnTo>
                    <a:lnTo>
                      <a:pt x="63" y="64"/>
                    </a:lnTo>
                    <a:lnTo>
                      <a:pt x="70" y="49"/>
                    </a:lnTo>
                    <a:lnTo>
                      <a:pt x="75" y="34"/>
                    </a:lnTo>
                    <a:lnTo>
                      <a:pt x="75" y="18"/>
                    </a:lnTo>
                    <a:lnTo>
                      <a:pt x="71" y="0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9" name="Freeform 611">
                <a:extLst>
                  <a:ext uri="{FF2B5EF4-FFF2-40B4-BE49-F238E27FC236}">
                    <a16:creationId xmlns:a16="http://schemas.microsoft.com/office/drawing/2014/main" id="{B147F787-C9AC-447D-9DBA-1D23E077A0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" y="3087"/>
                <a:ext cx="5" cy="3"/>
              </a:xfrm>
              <a:custGeom>
                <a:avLst/>
                <a:gdLst>
                  <a:gd name="T0" fmla="*/ 0 w 108"/>
                  <a:gd name="T1" fmla="*/ 0 h 49"/>
                  <a:gd name="T2" fmla="*/ 0 w 108"/>
                  <a:gd name="T3" fmla="*/ 0 h 49"/>
                  <a:gd name="T4" fmla="*/ 0 w 108"/>
                  <a:gd name="T5" fmla="*/ 0 h 49"/>
                  <a:gd name="T6" fmla="*/ 0 w 108"/>
                  <a:gd name="T7" fmla="*/ 0 h 49"/>
                  <a:gd name="T8" fmla="*/ 0 w 108"/>
                  <a:gd name="T9" fmla="*/ 0 h 49"/>
                  <a:gd name="T10" fmla="*/ 0 w 108"/>
                  <a:gd name="T11" fmla="*/ 0 h 49"/>
                  <a:gd name="T12" fmla="*/ 0 w 108"/>
                  <a:gd name="T13" fmla="*/ 0 h 49"/>
                  <a:gd name="T14" fmla="*/ 0 w 108"/>
                  <a:gd name="T15" fmla="*/ 0 h 49"/>
                  <a:gd name="T16" fmla="*/ 0 w 108"/>
                  <a:gd name="T17" fmla="*/ 0 h 49"/>
                  <a:gd name="T18" fmla="*/ 0 w 108"/>
                  <a:gd name="T19" fmla="*/ 0 h 49"/>
                  <a:gd name="T20" fmla="*/ 0 w 108"/>
                  <a:gd name="T21" fmla="*/ 0 h 49"/>
                  <a:gd name="T22" fmla="*/ 0 w 108"/>
                  <a:gd name="T23" fmla="*/ 0 h 49"/>
                  <a:gd name="T24" fmla="*/ 0 w 108"/>
                  <a:gd name="T25" fmla="*/ 0 h 49"/>
                  <a:gd name="T26" fmla="*/ 0 w 108"/>
                  <a:gd name="T27" fmla="*/ 0 h 49"/>
                  <a:gd name="T28" fmla="*/ 0 w 108"/>
                  <a:gd name="T29" fmla="*/ 0 h 49"/>
                  <a:gd name="T30" fmla="*/ 0 w 108"/>
                  <a:gd name="T31" fmla="*/ 0 h 49"/>
                  <a:gd name="T32" fmla="*/ 0 w 108"/>
                  <a:gd name="T33" fmla="*/ 0 h 49"/>
                  <a:gd name="T34" fmla="*/ 0 w 108"/>
                  <a:gd name="T35" fmla="*/ 0 h 49"/>
                  <a:gd name="T36" fmla="*/ 0 w 108"/>
                  <a:gd name="T37" fmla="*/ 0 h 49"/>
                  <a:gd name="T38" fmla="*/ 0 w 108"/>
                  <a:gd name="T39" fmla="*/ 0 h 49"/>
                  <a:gd name="T40" fmla="*/ 0 w 108"/>
                  <a:gd name="T41" fmla="*/ 0 h 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49"/>
                  <a:gd name="T65" fmla="*/ 108 w 108"/>
                  <a:gd name="T66" fmla="*/ 49 h 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49">
                    <a:moveTo>
                      <a:pt x="20" y="43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6" y="35"/>
                    </a:lnTo>
                    <a:lnTo>
                      <a:pt x="45" y="33"/>
                    </a:lnTo>
                    <a:lnTo>
                      <a:pt x="54" y="33"/>
                    </a:lnTo>
                    <a:lnTo>
                      <a:pt x="62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49"/>
                    </a:lnTo>
                    <a:lnTo>
                      <a:pt x="108" y="37"/>
                    </a:lnTo>
                    <a:lnTo>
                      <a:pt x="98" y="22"/>
                    </a:lnTo>
                    <a:lnTo>
                      <a:pt x="87" y="11"/>
                    </a:lnTo>
                    <a:lnTo>
                      <a:pt x="74" y="4"/>
                    </a:lnTo>
                    <a:lnTo>
                      <a:pt x="58" y="0"/>
                    </a:lnTo>
                    <a:lnTo>
                      <a:pt x="41" y="0"/>
                    </a:lnTo>
                    <a:lnTo>
                      <a:pt x="26" y="3"/>
                    </a:lnTo>
                    <a:lnTo>
                      <a:pt x="13" y="9"/>
                    </a:lnTo>
                    <a:lnTo>
                      <a:pt x="0" y="18"/>
                    </a:lnTo>
                    <a:lnTo>
                      <a:pt x="20" y="43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0" name="Freeform 612">
                <a:extLst>
                  <a:ext uri="{FF2B5EF4-FFF2-40B4-BE49-F238E27FC236}">
                    <a16:creationId xmlns:a16="http://schemas.microsoft.com/office/drawing/2014/main" id="{D3E856D0-126D-4C8C-9879-C36255A9D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8"/>
                <a:ext cx="3" cy="8"/>
              </a:xfrm>
              <a:custGeom>
                <a:avLst/>
                <a:gdLst>
                  <a:gd name="T0" fmla="*/ 0 w 69"/>
                  <a:gd name="T1" fmla="*/ 0 h 129"/>
                  <a:gd name="T2" fmla="*/ 0 w 69"/>
                  <a:gd name="T3" fmla="*/ 0 h 129"/>
                  <a:gd name="T4" fmla="*/ 0 w 69"/>
                  <a:gd name="T5" fmla="*/ 0 h 129"/>
                  <a:gd name="T6" fmla="*/ 0 w 69"/>
                  <a:gd name="T7" fmla="*/ 0 h 129"/>
                  <a:gd name="T8" fmla="*/ 0 w 69"/>
                  <a:gd name="T9" fmla="*/ 0 h 129"/>
                  <a:gd name="T10" fmla="*/ 0 w 69"/>
                  <a:gd name="T11" fmla="*/ 0 h 129"/>
                  <a:gd name="T12" fmla="*/ 0 w 69"/>
                  <a:gd name="T13" fmla="*/ 0 h 129"/>
                  <a:gd name="T14" fmla="*/ 0 w 69"/>
                  <a:gd name="T15" fmla="*/ 0 h 129"/>
                  <a:gd name="T16" fmla="*/ 0 w 69"/>
                  <a:gd name="T17" fmla="*/ 0 h 129"/>
                  <a:gd name="T18" fmla="*/ 0 w 69"/>
                  <a:gd name="T19" fmla="*/ 0 h 129"/>
                  <a:gd name="T20" fmla="*/ 0 w 69"/>
                  <a:gd name="T21" fmla="*/ 0 h 129"/>
                  <a:gd name="T22" fmla="*/ 0 w 69"/>
                  <a:gd name="T23" fmla="*/ 0 h 129"/>
                  <a:gd name="T24" fmla="*/ 0 w 69"/>
                  <a:gd name="T25" fmla="*/ 0 h 129"/>
                  <a:gd name="T26" fmla="*/ 0 w 69"/>
                  <a:gd name="T27" fmla="*/ 0 h 129"/>
                  <a:gd name="T28" fmla="*/ 0 w 69"/>
                  <a:gd name="T29" fmla="*/ 0 h 129"/>
                  <a:gd name="T30" fmla="*/ 0 w 69"/>
                  <a:gd name="T31" fmla="*/ 0 h 129"/>
                  <a:gd name="T32" fmla="*/ 0 w 69"/>
                  <a:gd name="T33" fmla="*/ 0 h 129"/>
                  <a:gd name="T34" fmla="*/ 0 w 69"/>
                  <a:gd name="T35" fmla="*/ 0 h 129"/>
                  <a:gd name="T36" fmla="*/ 0 w 69"/>
                  <a:gd name="T37" fmla="*/ 0 h 129"/>
                  <a:gd name="T38" fmla="*/ 0 w 69"/>
                  <a:gd name="T39" fmla="*/ 0 h 129"/>
                  <a:gd name="T40" fmla="*/ 0 w 69"/>
                  <a:gd name="T41" fmla="*/ 0 h 1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29"/>
                  <a:gd name="T65" fmla="*/ 69 w 69"/>
                  <a:gd name="T66" fmla="*/ 129 h 1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29">
                    <a:moveTo>
                      <a:pt x="36" y="112"/>
                    </a:moveTo>
                    <a:lnTo>
                      <a:pt x="36" y="112"/>
                    </a:lnTo>
                    <a:lnTo>
                      <a:pt x="33" y="104"/>
                    </a:lnTo>
                    <a:lnTo>
                      <a:pt x="32" y="95"/>
                    </a:lnTo>
                    <a:lnTo>
                      <a:pt x="34" y="83"/>
                    </a:lnTo>
                    <a:lnTo>
                      <a:pt x="38" y="69"/>
                    </a:lnTo>
                    <a:lnTo>
                      <a:pt x="44" y="58"/>
                    </a:lnTo>
                    <a:lnTo>
                      <a:pt x="52" y="44"/>
                    </a:lnTo>
                    <a:lnTo>
                      <a:pt x="60" y="34"/>
                    </a:lnTo>
                    <a:lnTo>
                      <a:pt x="69" y="25"/>
                    </a:lnTo>
                    <a:lnTo>
                      <a:pt x="49" y="0"/>
                    </a:lnTo>
                    <a:lnTo>
                      <a:pt x="37" y="11"/>
                    </a:lnTo>
                    <a:lnTo>
                      <a:pt x="25" y="25"/>
                    </a:lnTo>
                    <a:lnTo>
                      <a:pt x="16" y="41"/>
                    </a:lnTo>
                    <a:lnTo>
                      <a:pt x="8" y="57"/>
                    </a:lnTo>
                    <a:lnTo>
                      <a:pt x="2" y="75"/>
                    </a:lnTo>
                    <a:lnTo>
                      <a:pt x="0" y="92"/>
                    </a:lnTo>
                    <a:lnTo>
                      <a:pt x="1" y="112"/>
                    </a:lnTo>
                    <a:lnTo>
                      <a:pt x="8" y="129"/>
                    </a:lnTo>
                    <a:lnTo>
                      <a:pt x="36" y="1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1" name="Freeform 613">
                <a:extLst>
                  <a:ext uri="{FF2B5EF4-FFF2-40B4-BE49-F238E27FC236}">
                    <a16:creationId xmlns:a16="http://schemas.microsoft.com/office/drawing/2014/main" id="{B5AC9702-356B-4C0B-8865-8CB68EF58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95"/>
                <a:ext cx="5" cy="4"/>
              </a:xfrm>
              <a:custGeom>
                <a:avLst/>
                <a:gdLst>
                  <a:gd name="T0" fmla="*/ 0 w 117"/>
                  <a:gd name="T1" fmla="*/ 0 h 76"/>
                  <a:gd name="T2" fmla="*/ 0 w 117"/>
                  <a:gd name="T3" fmla="*/ 0 h 76"/>
                  <a:gd name="T4" fmla="*/ 0 w 117"/>
                  <a:gd name="T5" fmla="*/ 0 h 76"/>
                  <a:gd name="T6" fmla="*/ 0 w 117"/>
                  <a:gd name="T7" fmla="*/ 0 h 76"/>
                  <a:gd name="T8" fmla="*/ 0 w 117"/>
                  <a:gd name="T9" fmla="*/ 0 h 76"/>
                  <a:gd name="T10" fmla="*/ 0 w 117"/>
                  <a:gd name="T11" fmla="*/ 0 h 76"/>
                  <a:gd name="T12" fmla="*/ 0 w 117"/>
                  <a:gd name="T13" fmla="*/ 0 h 76"/>
                  <a:gd name="T14" fmla="*/ 0 w 117"/>
                  <a:gd name="T15" fmla="*/ 0 h 76"/>
                  <a:gd name="T16" fmla="*/ 0 w 117"/>
                  <a:gd name="T17" fmla="*/ 0 h 76"/>
                  <a:gd name="T18" fmla="*/ 0 w 117"/>
                  <a:gd name="T19" fmla="*/ 0 h 76"/>
                  <a:gd name="T20" fmla="*/ 0 w 117"/>
                  <a:gd name="T21" fmla="*/ 0 h 76"/>
                  <a:gd name="T22" fmla="*/ 0 w 117"/>
                  <a:gd name="T23" fmla="*/ 0 h 76"/>
                  <a:gd name="T24" fmla="*/ 0 w 117"/>
                  <a:gd name="T25" fmla="*/ 0 h 76"/>
                  <a:gd name="T26" fmla="*/ 0 w 117"/>
                  <a:gd name="T27" fmla="*/ 0 h 76"/>
                  <a:gd name="T28" fmla="*/ 0 w 117"/>
                  <a:gd name="T29" fmla="*/ 0 h 76"/>
                  <a:gd name="T30" fmla="*/ 0 w 117"/>
                  <a:gd name="T31" fmla="*/ 0 h 76"/>
                  <a:gd name="T32" fmla="*/ 0 w 117"/>
                  <a:gd name="T33" fmla="*/ 0 h 76"/>
                  <a:gd name="T34" fmla="*/ 0 w 117"/>
                  <a:gd name="T35" fmla="*/ 0 h 76"/>
                  <a:gd name="T36" fmla="*/ 0 w 117"/>
                  <a:gd name="T37" fmla="*/ 0 h 76"/>
                  <a:gd name="T38" fmla="*/ 0 w 117"/>
                  <a:gd name="T39" fmla="*/ 0 h 76"/>
                  <a:gd name="T40" fmla="*/ 0 w 117"/>
                  <a:gd name="T41" fmla="*/ 0 h 7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6"/>
                  <a:gd name="T65" fmla="*/ 117 w 117"/>
                  <a:gd name="T66" fmla="*/ 76 h 7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6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3" y="43"/>
                    </a:lnTo>
                    <a:lnTo>
                      <a:pt x="72" y="42"/>
                    </a:lnTo>
                    <a:lnTo>
                      <a:pt x="62" y="36"/>
                    </a:lnTo>
                    <a:lnTo>
                      <a:pt x="52" y="30"/>
                    </a:lnTo>
                    <a:lnTo>
                      <a:pt x="43" y="23"/>
                    </a:lnTo>
                    <a:lnTo>
                      <a:pt x="35" y="13"/>
                    </a:lnTo>
                    <a:lnTo>
                      <a:pt x="28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0" y="46"/>
                    </a:lnTo>
                    <a:lnTo>
                      <a:pt x="33" y="57"/>
                    </a:lnTo>
                    <a:lnTo>
                      <a:pt x="48" y="66"/>
                    </a:lnTo>
                    <a:lnTo>
                      <a:pt x="64" y="73"/>
                    </a:lnTo>
                    <a:lnTo>
                      <a:pt x="81" y="76"/>
                    </a:lnTo>
                    <a:lnTo>
                      <a:pt x="98" y="76"/>
                    </a:lnTo>
                    <a:lnTo>
                      <a:pt x="117" y="72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2" name="Freeform 614">
                <a:extLst>
                  <a:ext uri="{FF2B5EF4-FFF2-40B4-BE49-F238E27FC236}">
                    <a16:creationId xmlns:a16="http://schemas.microsoft.com/office/drawing/2014/main" id="{54F29038-4B80-4174-9F53-2949633B1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4"/>
                <a:ext cx="4" cy="5"/>
              </a:xfrm>
              <a:custGeom>
                <a:avLst/>
                <a:gdLst>
                  <a:gd name="T0" fmla="*/ 0 w 79"/>
                  <a:gd name="T1" fmla="*/ 0 h 88"/>
                  <a:gd name="T2" fmla="*/ 0 w 79"/>
                  <a:gd name="T3" fmla="*/ 0 h 88"/>
                  <a:gd name="T4" fmla="*/ 0 w 79"/>
                  <a:gd name="T5" fmla="*/ 0 h 88"/>
                  <a:gd name="T6" fmla="*/ 0 w 79"/>
                  <a:gd name="T7" fmla="*/ 0 h 88"/>
                  <a:gd name="T8" fmla="*/ 0 w 79"/>
                  <a:gd name="T9" fmla="*/ 0 h 88"/>
                  <a:gd name="T10" fmla="*/ 0 w 79"/>
                  <a:gd name="T11" fmla="*/ 0 h 88"/>
                  <a:gd name="T12" fmla="*/ 0 w 79"/>
                  <a:gd name="T13" fmla="*/ 0 h 88"/>
                  <a:gd name="T14" fmla="*/ 0 w 79"/>
                  <a:gd name="T15" fmla="*/ 0 h 88"/>
                  <a:gd name="T16" fmla="*/ 0 w 79"/>
                  <a:gd name="T17" fmla="*/ 0 h 88"/>
                  <a:gd name="T18" fmla="*/ 0 w 79"/>
                  <a:gd name="T19" fmla="*/ 0 h 88"/>
                  <a:gd name="T20" fmla="*/ 0 w 79"/>
                  <a:gd name="T21" fmla="*/ 0 h 88"/>
                  <a:gd name="T22" fmla="*/ 0 w 79"/>
                  <a:gd name="T23" fmla="*/ 0 h 88"/>
                  <a:gd name="T24" fmla="*/ 0 w 79"/>
                  <a:gd name="T25" fmla="*/ 0 h 88"/>
                  <a:gd name="T26" fmla="*/ 0 w 79"/>
                  <a:gd name="T27" fmla="*/ 0 h 88"/>
                  <a:gd name="T28" fmla="*/ 0 w 79"/>
                  <a:gd name="T29" fmla="*/ 0 h 88"/>
                  <a:gd name="T30" fmla="*/ 0 w 79"/>
                  <a:gd name="T31" fmla="*/ 0 h 88"/>
                  <a:gd name="T32" fmla="*/ 0 w 79"/>
                  <a:gd name="T33" fmla="*/ 0 h 88"/>
                  <a:gd name="T34" fmla="*/ 0 w 79"/>
                  <a:gd name="T35" fmla="*/ 0 h 88"/>
                  <a:gd name="T36" fmla="*/ 0 w 79"/>
                  <a:gd name="T37" fmla="*/ 0 h 8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9"/>
                  <a:gd name="T58" fmla="*/ 0 h 88"/>
                  <a:gd name="T59" fmla="*/ 79 w 79"/>
                  <a:gd name="T60" fmla="*/ 88 h 8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9" h="88">
                    <a:moveTo>
                      <a:pt x="47" y="0"/>
                    </a:moveTo>
                    <a:lnTo>
                      <a:pt x="46" y="8"/>
                    </a:lnTo>
                    <a:lnTo>
                      <a:pt x="44" y="15"/>
                    </a:lnTo>
                    <a:lnTo>
                      <a:pt x="40" y="24"/>
                    </a:lnTo>
                    <a:lnTo>
                      <a:pt x="35" y="32"/>
                    </a:lnTo>
                    <a:lnTo>
                      <a:pt x="28" y="39"/>
                    </a:lnTo>
                    <a:lnTo>
                      <a:pt x="21" y="46"/>
                    </a:lnTo>
                    <a:lnTo>
                      <a:pt x="11" y="52"/>
                    </a:lnTo>
                    <a:lnTo>
                      <a:pt x="0" y="57"/>
                    </a:lnTo>
                    <a:lnTo>
                      <a:pt x="10" y="88"/>
                    </a:lnTo>
                    <a:lnTo>
                      <a:pt x="25" y="82"/>
                    </a:lnTo>
                    <a:lnTo>
                      <a:pt x="40" y="73"/>
                    </a:lnTo>
                    <a:lnTo>
                      <a:pt x="51" y="64"/>
                    </a:lnTo>
                    <a:lnTo>
                      <a:pt x="61" y="53"/>
                    </a:lnTo>
                    <a:lnTo>
                      <a:pt x="68" y="41"/>
                    </a:lnTo>
                    <a:lnTo>
                      <a:pt x="74" y="28"/>
                    </a:lnTo>
                    <a:lnTo>
                      <a:pt x="78" y="14"/>
                    </a:lnTo>
                    <a:lnTo>
                      <a:pt x="79" y="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3" name="Freeform 615">
                <a:extLst>
                  <a:ext uri="{FF2B5EF4-FFF2-40B4-BE49-F238E27FC236}">
                    <a16:creationId xmlns:a16="http://schemas.microsoft.com/office/drawing/2014/main" id="{EADE8C0D-3EDA-4C3C-8AE9-C51080E2D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7"/>
                <a:ext cx="2" cy="1"/>
              </a:xfrm>
              <a:custGeom>
                <a:avLst/>
                <a:gdLst>
                  <a:gd name="T0" fmla="*/ 0 w 32"/>
                  <a:gd name="T1" fmla="*/ 0 h 18"/>
                  <a:gd name="T2" fmla="*/ 0 w 32"/>
                  <a:gd name="T3" fmla="*/ 0 h 18"/>
                  <a:gd name="T4" fmla="*/ 0 w 32"/>
                  <a:gd name="T5" fmla="*/ 0 h 18"/>
                  <a:gd name="T6" fmla="*/ 0 w 32"/>
                  <a:gd name="T7" fmla="*/ 0 h 18"/>
                  <a:gd name="T8" fmla="*/ 0 w 32"/>
                  <a:gd name="T9" fmla="*/ 0 h 18"/>
                  <a:gd name="T10" fmla="*/ 0 w 32"/>
                  <a:gd name="T11" fmla="*/ 0 h 18"/>
                  <a:gd name="T12" fmla="*/ 0 w 32"/>
                  <a:gd name="T13" fmla="*/ 0 h 18"/>
                  <a:gd name="T14" fmla="*/ 0 w 32"/>
                  <a:gd name="T15" fmla="*/ 0 h 18"/>
                  <a:gd name="T16" fmla="*/ 0 w 32"/>
                  <a:gd name="T17" fmla="*/ 0 h 18"/>
                  <a:gd name="T18" fmla="*/ 0 w 32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8"/>
                  <a:gd name="T32" fmla="*/ 32 w 32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8">
                    <a:moveTo>
                      <a:pt x="32" y="18"/>
                    </a:moveTo>
                    <a:lnTo>
                      <a:pt x="31" y="11"/>
                    </a:lnTo>
                    <a:lnTo>
                      <a:pt x="28" y="6"/>
                    </a:lnTo>
                    <a:lnTo>
                      <a:pt x="23" y="3"/>
                    </a:lnTo>
                    <a:lnTo>
                      <a:pt x="17" y="0"/>
                    </a:lnTo>
                    <a:lnTo>
                      <a:pt x="11" y="2"/>
                    </a:lnTo>
                    <a:lnTo>
                      <a:pt x="6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32" y="18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4" name="Freeform 616">
                <a:extLst>
                  <a:ext uri="{FF2B5EF4-FFF2-40B4-BE49-F238E27FC236}">
                    <a16:creationId xmlns:a16="http://schemas.microsoft.com/office/drawing/2014/main" id="{A2930200-3FB0-4480-8054-F605DF180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4"/>
                <a:ext cx="1" cy="2"/>
              </a:xfrm>
              <a:custGeom>
                <a:avLst/>
                <a:gdLst>
                  <a:gd name="T0" fmla="*/ 0 w 22"/>
                  <a:gd name="T1" fmla="*/ 0 h 32"/>
                  <a:gd name="T2" fmla="*/ 0 w 22"/>
                  <a:gd name="T3" fmla="*/ 0 h 32"/>
                  <a:gd name="T4" fmla="*/ 0 w 22"/>
                  <a:gd name="T5" fmla="*/ 0 h 32"/>
                  <a:gd name="T6" fmla="*/ 0 w 22"/>
                  <a:gd name="T7" fmla="*/ 0 h 32"/>
                  <a:gd name="T8" fmla="*/ 0 w 22"/>
                  <a:gd name="T9" fmla="*/ 0 h 32"/>
                  <a:gd name="T10" fmla="*/ 0 w 22"/>
                  <a:gd name="T11" fmla="*/ 0 h 32"/>
                  <a:gd name="T12" fmla="*/ 0 w 22"/>
                  <a:gd name="T13" fmla="*/ 0 h 32"/>
                  <a:gd name="T14" fmla="*/ 0 w 22"/>
                  <a:gd name="T15" fmla="*/ 0 h 32"/>
                  <a:gd name="T16" fmla="*/ 0 w 22"/>
                  <a:gd name="T17" fmla="*/ 0 h 32"/>
                  <a:gd name="T18" fmla="*/ 0 w 22"/>
                  <a:gd name="T19" fmla="*/ 0 h 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"/>
                  <a:gd name="T31" fmla="*/ 0 h 32"/>
                  <a:gd name="T32" fmla="*/ 22 w 22"/>
                  <a:gd name="T33" fmla="*/ 32 h 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" h="32">
                    <a:moveTo>
                      <a:pt x="12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9" y="30"/>
                    </a:lnTo>
                    <a:lnTo>
                      <a:pt x="15" y="32"/>
                    </a:lnTo>
                    <a:lnTo>
                      <a:pt x="22" y="3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5" name="Freeform 617">
                <a:extLst>
                  <a:ext uri="{FF2B5EF4-FFF2-40B4-BE49-F238E27FC236}">
                    <a16:creationId xmlns:a16="http://schemas.microsoft.com/office/drawing/2014/main" id="{86DF63E2-B4A3-4ADD-B7DC-40B81471B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0"/>
                <a:ext cx="4" cy="5"/>
              </a:xfrm>
              <a:custGeom>
                <a:avLst/>
                <a:gdLst>
                  <a:gd name="T0" fmla="*/ 0 w 74"/>
                  <a:gd name="T1" fmla="*/ 0 h 99"/>
                  <a:gd name="T2" fmla="*/ 0 w 74"/>
                  <a:gd name="T3" fmla="*/ 0 h 99"/>
                  <a:gd name="T4" fmla="*/ 0 w 74"/>
                  <a:gd name="T5" fmla="*/ 0 h 99"/>
                  <a:gd name="T6" fmla="*/ 0 w 74"/>
                  <a:gd name="T7" fmla="*/ 0 h 99"/>
                  <a:gd name="T8" fmla="*/ 0 w 74"/>
                  <a:gd name="T9" fmla="*/ 0 h 99"/>
                  <a:gd name="T10" fmla="*/ 0 w 74"/>
                  <a:gd name="T11" fmla="*/ 0 h 99"/>
                  <a:gd name="T12" fmla="*/ 0 w 74"/>
                  <a:gd name="T13" fmla="*/ 0 h 99"/>
                  <a:gd name="T14" fmla="*/ 0 w 74"/>
                  <a:gd name="T15" fmla="*/ 0 h 99"/>
                  <a:gd name="T16" fmla="*/ 0 w 74"/>
                  <a:gd name="T17" fmla="*/ 0 h 99"/>
                  <a:gd name="T18" fmla="*/ 0 w 74"/>
                  <a:gd name="T19" fmla="*/ 0 h 99"/>
                  <a:gd name="T20" fmla="*/ 0 w 74"/>
                  <a:gd name="T21" fmla="*/ 0 h 99"/>
                  <a:gd name="T22" fmla="*/ 0 w 74"/>
                  <a:gd name="T23" fmla="*/ 0 h 99"/>
                  <a:gd name="T24" fmla="*/ 0 w 74"/>
                  <a:gd name="T25" fmla="*/ 0 h 99"/>
                  <a:gd name="T26" fmla="*/ 0 w 74"/>
                  <a:gd name="T27" fmla="*/ 0 h 99"/>
                  <a:gd name="T28" fmla="*/ 0 w 74"/>
                  <a:gd name="T29" fmla="*/ 0 h 99"/>
                  <a:gd name="T30" fmla="*/ 0 w 74"/>
                  <a:gd name="T31" fmla="*/ 0 h 99"/>
                  <a:gd name="T32" fmla="*/ 0 w 74"/>
                  <a:gd name="T33" fmla="*/ 0 h 99"/>
                  <a:gd name="T34" fmla="*/ 0 w 74"/>
                  <a:gd name="T35" fmla="*/ 0 h 99"/>
                  <a:gd name="T36" fmla="*/ 0 w 74"/>
                  <a:gd name="T37" fmla="*/ 0 h 99"/>
                  <a:gd name="T38" fmla="*/ 0 w 74"/>
                  <a:gd name="T39" fmla="*/ 0 h 99"/>
                  <a:gd name="T40" fmla="*/ 0 w 74"/>
                  <a:gd name="T41" fmla="*/ 0 h 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4"/>
                  <a:gd name="T64" fmla="*/ 0 h 99"/>
                  <a:gd name="T65" fmla="*/ 74 w 74"/>
                  <a:gd name="T66" fmla="*/ 99 h 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4" h="99">
                    <a:moveTo>
                      <a:pt x="39" y="13"/>
                    </a:moveTo>
                    <a:lnTo>
                      <a:pt x="39" y="12"/>
                    </a:lnTo>
                    <a:lnTo>
                      <a:pt x="41" y="22"/>
                    </a:lnTo>
                    <a:lnTo>
                      <a:pt x="41" y="30"/>
                    </a:lnTo>
                    <a:lnTo>
                      <a:pt x="38" y="37"/>
                    </a:lnTo>
                    <a:lnTo>
                      <a:pt x="35" y="43"/>
                    </a:lnTo>
                    <a:lnTo>
                      <a:pt x="28" y="51"/>
                    </a:lnTo>
                    <a:lnTo>
                      <a:pt x="20" y="58"/>
                    </a:lnTo>
                    <a:lnTo>
                      <a:pt x="11" y="62"/>
                    </a:lnTo>
                    <a:lnTo>
                      <a:pt x="0" y="68"/>
                    </a:lnTo>
                    <a:lnTo>
                      <a:pt x="10" y="99"/>
                    </a:lnTo>
                    <a:lnTo>
                      <a:pt x="25" y="94"/>
                    </a:lnTo>
                    <a:lnTo>
                      <a:pt x="38" y="85"/>
                    </a:lnTo>
                    <a:lnTo>
                      <a:pt x="51" y="76"/>
                    </a:lnTo>
                    <a:lnTo>
                      <a:pt x="62" y="64"/>
                    </a:lnTo>
                    <a:lnTo>
                      <a:pt x="69" y="52"/>
                    </a:lnTo>
                    <a:lnTo>
                      <a:pt x="74" y="36"/>
                    </a:lnTo>
                    <a:lnTo>
                      <a:pt x="74" y="18"/>
                    </a:lnTo>
                    <a:lnTo>
                      <a:pt x="70" y="1"/>
                    </a:lnTo>
                    <a:lnTo>
                      <a:pt x="70" y="0"/>
                    </a:lnTo>
                    <a:lnTo>
                      <a:pt x="39" y="13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6" name="Freeform 618">
                <a:extLst>
                  <a:ext uri="{FF2B5EF4-FFF2-40B4-BE49-F238E27FC236}">
                    <a16:creationId xmlns:a16="http://schemas.microsoft.com/office/drawing/2014/main" id="{33B8F171-F3D8-4FD6-B0BB-033D8D600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88"/>
                <a:ext cx="5" cy="3"/>
              </a:xfrm>
              <a:custGeom>
                <a:avLst/>
                <a:gdLst>
                  <a:gd name="T0" fmla="*/ 0 w 108"/>
                  <a:gd name="T1" fmla="*/ 0 h 50"/>
                  <a:gd name="T2" fmla="*/ 0 w 108"/>
                  <a:gd name="T3" fmla="*/ 0 h 50"/>
                  <a:gd name="T4" fmla="*/ 0 w 108"/>
                  <a:gd name="T5" fmla="*/ 0 h 50"/>
                  <a:gd name="T6" fmla="*/ 0 w 108"/>
                  <a:gd name="T7" fmla="*/ 0 h 50"/>
                  <a:gd name="T8" fmla="*/ 0 w 108"/>
                  <a:gd name="T9" fmla="*/ 0 h 50"/>
                  <a:gd name="T10" fmla="*/ 0 w 108"/>
                  <a:gd name="T11" fmla="*/ 0 h 50"/>
                  <a:gd name="T12" fmla="*/ 0 w 108"/>
                  <a:gd name="T13" fmla="*/ 0 h 50"/>
                  <a:gd name="T14" fmla="*/ 0 w 108"/>
                  <a:gd name="T15" fmla="*/ 0 h 50"/>
                  <a:gd name="T16" fmla="*/ 0 w 108"/>
                  <a:gd name="T17" fmla="*/ 0 h 50"/>
                  <a:gd name="T18" fmla="*/ 0 w 108"/>
                  <a:gd name="T19" fmla="*/ 0 h 50"/>
                  <a:gd name="T20" fmla="*/ 0 w 108"/>
                  <a:gd name="T21" fmla="*/ 0 h 50"/>
                  <a:gd name="T22" fmla="*/ 0 w 108"/>
                  <a:gd name="T23" fmla="*/ 0 h 50"/>
                  <a:gd name="T24" fmla="*/ 0 w 108"/>
                  <a:gd name="T25" fmla="*/ 0 h 50"/>
                  <a:gd name="T26" fmla="*/ 0 w 108"/>
                  <a:gd name="T27" fmla="*/ 0 h 50"/>
                  <a:gd name="T28" fmla="*/ 0 w 108"/>
                  <a:gd name="T29" fmla="*/ 0 h 50"/>
                  <a:gd name="T30" fmla="*/ 0 w 108"/>
                  <a:gd name="T31" fmla="*/ 0 h 50"/>
                  <a:gd name="T32" fmla="*/ 0 w 108"/>
                  <a:gd name="T33" fmla="*/ 0 h 50"/>
                  <a:gd name="T34" fmla="*/ 0 w 108"/>
                  <a:gd name="T35" fmla="*/ 0 h 50"/>
                  <a:gd name="T36" fmla="*/ 0 w 108"/>
                  <a:gd name="T37" fmla="*/ 0 h 50"/>
                  <a:gd name="T38" fmla="*/ 0 w 108"/>
                  <a:gd name="T39" fmla="*/ 0 h 50"/>
                  <a:gd name="T40" fmla="*/ 0 w 108"/>
                  <a:gd name="T41" fmla="*/ 0 h 5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50"/>
                  <a:gd name="T65" fmla="*/ 108 w 108"/>
                  <a:gd name="T66" fmla="*/ 50 h 5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50">
                    <a:moveTo>
                      <a:pt x="20" y="44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7" y="35"/>
                    </a:lnTo>
                    <a:lnTo>
                      <a:pt x="46" y="34"/>
                    </a:lnTo>
                    <a:lnTo>
                      <a:pt x="54" y="34"/>
                    </a:lnTo>
                    <a:lnTo>
                      <a:pt x="61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50"/>
                    </a:lnTo>
                    <a:lnTo>
                      <a:pt x="108" y="37"/>
                    </a:lnTo>
                    <a:lnTo>
                      <a:pt x="99" y="22"/>
                    </a:lnTo>
                    <a:lnTo>
                      <a:pt x="88" y="12"/>
                    </a:lnTo>
                    <a:lnTo>
                      <a:pt x="73" y="4"/>
                    </a:lnTo>
                    <a:lnTo>
                      <a:pt x="58" y="0"/>
                    </a:lnTo>
                    <a:lnTo>
                      <a:pt x="42" y="0"/>
                    </a:lnTo>
                    <a:lnTo>
                      <a:pt x="26" y="3"/>
                    </a:lnTo>
                    <a:lnTo>
                      <a:pt x="13" y="10"/>
                    </a:lnTo>
                    <a:lnTo>
                      <a:pt x="0" y="18"/>
                    </a:lnTo>
                    <a:lnTo>
                      <a:pt x="0" y="17"/>
                    </a:lnTo>
                    <a:lnTo>
                      <a:pt x="20" y="4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7" name="Freeform 619">
                <a:extLst>
                  <a:ext uri="{FF2B5EF4-FFF2-40B4-BE49-F238E27FC236}">
                    <a16:creationId xmlns:a16="http://schemas.microsoft.com/office/drawing/2014/main" id="{CB84AF90-A669-43E7-B53B-108010AB5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9"/>
                <a:ext cx="4" cy="7"/>
              </a:xfrm>
              <a:custGeom>
                <a:avLst/>
                <a:gdLst>
                  <a:gd name="T0" fmla="*/ 0 w 69"/>
                  <a:gd name="T1" fmla="*/ 0 h 131"/>
                  <a:gd name="T2" fmla="*/ 0 w 69"/>
                  <a:gd name="T3" fmla="*/ 0 h 131"/>
                  <a:gd name="T4" fmla="*/ 0 w 69"/>
                  <a:gd name="T5" fmla="*/ 0 h 131"/>
                  <a:gd name="T6" fmla="*/ 0 w 69"/>
                  <a:gd name="T7" fmla="*/ 0 h 131"/>
                  <a:gd name="T8" fmla="*/ 0 w 69"/>
                  <a:gd name="T9" fmla="*/ 0 h 131"/>
                  <a:gd name="T10" fmla="*/ 0 w 69"/>
                  <a:gd name="T11" fmla="*/ 0 h 131"/>
                  <a:gd name="T12" fmla="*/ 0 w 69"/>
                  <a:gd name="T13" fmla="*/ 0 h 131"/>
                  <a:gd name="T14" fmla="*/ 0 w 69"/>
                  <a:gd name="T15" fmla="*/ 0 h 131"/>
                  <a:gd name="T16" fmla="*/ 0 w 69"/>
                  <a:gd name="T17" fmla="*/ 0 h 131"/>
                  <a:gd name="T18" fmla="*/ 0 w 69"/>
                  <a:gd name="T19" fmla="*/ 0 h 131"/>
                  <a:gd name="T20" fmla="*/ 0 w 69"/>
                  <a:gd name="T21" fmla="*/ 0 h 131"/>
                  <a:gd name="T22" fmla="*/ 0 w 69"/>
                  <a:gd name="T23" fmla="*/ 0 h 131"/>
                  <a:gd name="T24" fmla="*/ 0 w 69"/>
                  <a:gd name="T25" fmla="*/ 0 h 131"/>
                  <a:gd name="T26" fmla="*/ 0 w 69"/>
                  <a:gd name="T27" fmla="*/ 0 h 131"/>
                  <a:gd name="T28" fmla="*/ 0 w 69"/>
                  <a:gd name="T29" fmla="*/ 0 h 131"/>
                  <a:gd name="T30" fmla="*/ 0 w 69"/>
                  <a:gd name="T31" fmla="*/ 0 h 131"/>
                  <a:gd name="T32" fmla="*/ 0 w 69"/>
                  <a:gd name="T33" fmla="*/ 0 h 131"/>
                  <a:gd name="T34" fmla="*/ 0 w 69"/>
                  <a:gd name="T35" fmla="*/ 0 h 131"/>
                  <a:gd name="T36" fmla="*/ 0 w 69"/>
                  <a:gd name="T37" fmla="*/ 0 h 131"/>
                  <a:gd name="T38" fmla="*/ 0 w 69"/>
                  <a:gd name="T39" fmla="*/ 0 h 131"/>
                  <a:gd name="T40" fmla="*/ 0 w 69"/>
                  <a:gd name="T41" fmla="*/ 0 h 13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31"/>
                  <a:gd name="T65" fmla="*/ 69 w 69"/>
                  <a:gd name="T66" fmla="*/ 131 h 13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31">
                    <a:moveTo>
                      <a:pt x="36" y="114"/>
                    </a:moveTo>
                    <a:lnTo>
                      <a:pt x="36" y="114"/>
                    </a:lnTo>
                    <a:lnTo>
                      <a:pt x="34" y="107"/>
                    </a:lnTo>
                    <a:lnTo>
                      <a:pt x="33" y="96"/>
                    </a:lnTo>
                    <a:lnTo>
                      <a:pt x="35" y="83"/>
                    </a:lnTo>
                    <a:lnTo>
                      <a:pt x="38" y="72"/>
                    </a:lnTo>
                    <a:lnTo>
                      <a:pt x="44" y="59"/>
                    </a:lnTo>
                    <a:lnTo>
                      <a:pt x="52" y="46"/>
                    </a:lnTo>
                    <a:lnTo>
                      <a:pt x="60" y="36"/>
                    </a:lnTo>
                    <a:lnTo>
                      <a:pt x="69" y="27"/>
                    </a:lnTo>
                    <a:lnTo>
                      <a:pt x="49" y="0"/>
                    </a:lnTo>
                    <a:lnTo>
                      <a:pt x="36" y="13"/>
                    </a:lnTo>
                    <a:lnTo>
                      <a:pt x="25" y="27"/>
                    </a:lnTo>
                    <a:lnTo>
                      <a:pt x="15" y="42"/>
                    </a:lnTo>
                    <a:lnTo>
                      <a:pt x="7" y="59"/>
                    </a:lnTo>
                    <a:lnTo>
                      <a:pt x="2" y="77"/>
                    </a:lnTo>
                    <a:lnTo>
                      <a:pt x="0" y="94"/>
                    </a:lnTo>
                    <a:lnTo>
                      <a:pt x="1" y="113"/>
                    </a:lnTo>
                    <a:lnTo>
                      <a:pt x="7" y="131"/>
                    </a:lnTo>
                    <a:lnTo>
                      <a:pt x="36" y="11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8" name="Freeform 620">
                <a:extLst>
                  <a:ext uri="{FF2B5EF4-FFF2-40B4-BE49-F238E27FC236}">
                    <a16:creationId xmlns:a16="http://schemas.microsoft.com/office/drawing/2014/main" id="{22A7DBD7-61DA-429F-B805-F77726315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095"/>
                <a:ext cx="5" cy="4"/>
              </a:xfrm>
              <a:custGeom>
                <a:avLst/>
                <a:gdLst>
                  <a:gd name="T0" fmla="*/ 0 w 117"/>
                  <a:gd name="T1" fmla="*/ 0 h 77"/>
                  <a:gd name="T2" fmla="*/ 0 w 117"/>
                  <a:gd name="T3" fmla="*/ 0 h 77"/>
                  <a:gd name="T4" fmla="*/ 0 w 117"/>
                  <a:gd name="T5" fmla="*/ 0 h 77"/>
                  <a:gd name="T6" fmla="*/ 0 w 117"/>
                  <a:gd name="T7" fmla="*/ 0 h 77"/>
                  <a:gd name="T8" fmla="*/ 0 w 117"/>
                  <a:gd name="T9" fmla="*/ 0 h 77"/>
                  <a:gd name="T10" fmla="*/ 0 w 117"/>
                  <a:gd name="T11" fmla="*/ 0 h 77"/>
                  <a:gd name="T12" fmla="*/ 0 w 117"/>
                  <a:gd name="T13" fmla="*/ 0 h 77"/>
                  <a:gd name="T14" fmla="*/ 0 w 117"/>
                  <a:gd name="T15" fmla="*/ 0 h 77"/>
                  <a:gd name="T16" fmla="*/ 0 w 117"/>
                  <a:gd name="T17" fmla="*/ 0 h 77"/>
                  <a:gd name="T18" fmla="*/ 0 w 117"/>
                  <a:gd name="T19" fmla="*/ 0 h 77"/>
                  <a:gd name="T20" fmla="*/ 0 w 117"/>
                  <a:gd name="T21" fmla="*/ 0 h 77"/>
                  <a:gd name="T22" fmla="*/ 0 w 117"/>
                  <a:gd name="T23" fmla="*/ 0 h 77"/>
                  <a:gd name="T24" fmla="*/ 0 w 117"/>
                  <a:gd name="T25" fmla="*/ 0 h 77"/>
                  <a:gd name="T26" fmla="*/ 0 w 117"/>
                  <a:gd name="T27" fmla="*/ 0 h 77"/>
                  <a:gd name="T28" fmla="*/ 0 w 117"/>
                  <a:gd name="T29" fmla="*/ 0 h 77"/>
                  <a:gd name="T30" fmla="*/ 0 w 117"/>
                  <a:gd name="T31" fmla="*/ 0 h 77"/>
                  <a:gd name="T32" fmla="*/ 0 w 117"/>
                  <a:gd name="T33" fmla="*/ 0 h 77"/>
                  <a:gd name="T34" fmla="*/ 0 w 117"/>
                  <a:gd name="T35" fmla="*/ 0 h 77"/>
                  <a:gd name="T36" fmla="*/ 0 w 117"/>
                  <a:gd name="T37" fmla="*/ 0 h 77"/>
                  <a:gd name="T38" fmla="*/ 0 w 117"/>
                  <a:gd name="T39" fmla="*/ 0 h 77"/>
                  <a:gd name="T40" fmla="*/ 0 w 117"/>
                  <a:gd name="T41" fmla="*/ 0 h 7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7"/>
                  <a:gd name="T65" fmla="*/ 117 w 117"/>
                  <a:gd name="T66" fmla="*/ 77 h 7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7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5" y="43"/>
                    </a:lnTo>
                    <a:lnTo>
                      <a:pt x="75" y="41"/>
                    </a:lnTo>
                    <a:lnTo>
                      <a:pt x="63" y="37"/>
                    </a:lnTo>
                    <a:lnTo>
                      <a:pt x="54" y="29"/>
                    </a:lnTo>
                    <a:lnTo>
                      <a:pt x="44" y="22"/>
                    </a:lnTo>
                    <a:lnTo>
                      <a:pt x="36" y="13"/>
                    </a:lnTo>
                    <a:lnTo>
                      <a:pt x="29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1" y="45"/>
                    </a:lnTo>
                    <a:lnTo>
                      <a:pt x="34" y="57"/>
                    </a:lnTo>
                    <a:lnTo>
                      <a:pt x="49" y="66"/>
                    </a:lnTo>
                    <a:lnTo>
                      <a:pt x="64" y="73"/>
                    </a:lnTo>
                    <a:lnTo>
                      <a:pt x="81" y="77"/>
                    </a:lnTo>
                    <a:lnTo>
                      <a:pt x="98" y="77"/>
                    </a:lnTo>
                    <a:lnTo>
                      <a:pt x="117" y="73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9" name="Freeform 621">
                <a:extLst>
                  <a:ext uri="{FF2B5EF4-FFF2-40B4-BE49-F238E27FC236}">
                    <a16:creationId xmlns:a16="http://schemas.microsoft.com/office/drawing/2014/main" id="{F85672B1-1750-4A94-B3CE-397D81A9FA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3094"/>
                <a:ext cx="3" cy="5"/>
              </a:xfrm>
              <a:custGeom>
                <a:avLst/>
                <a:gdLst>
                  <a:gd name="T0" fmla="*/ 0 w 81"/>
                  <a:gd name="T1" fmla="*/ 0 h 90"/>
                  <a:gd name="T2" fmla="*/ 0 w 81"/>
                  <a:gd name="T3" fmla="*/ 0 h 90"/>
                  <a:gd name="T4" fmla="*/ 0 w 81"/>
                  <a:gd name="T5" fmla="*/ 0 h 90"/>
                  <a:gd name="T6" fmla="*/ 0 w 81"/>
                  <a:gd name="T7" fmla="*/ 0 h 90"/>
                  <a:gd name="T8" fmla="*/ 0 w 81"/>
                  <a:gd name="T9" fmla="*/ 0 h 90"/>
                  <a:gd name="T10" fmla="*/ 0 w 81"/>
                  <a:gd name="T11" fmla="*/ 0 h 90"/>
                  <a:gd name="T12" fmla="*/ 0 w 81"/>
                  <a:gd name="T13" fmla="*/ 0 h 90"/>
                  <a:gd name="T14" fmla="*/ 0 w 81"/>
                  <a:gd name="T15" fmla="*/ 0 h 90"/>
                  <a:gd name="T16" fmla="*/ 0 w 81"/>
                  <a:gd name="T17" fmla="*/ 0 h 90"/>
                  <a:gd name="T18" fmla="*/ 0 w 81"/>
                  <a:gd name="T19" fmla="*/ 0 h 90"/>
                  <a:gd name="T20" fmla="*/ 0 w 81"/>
                  <a:gd name="T21" fmla="*/ 0 h 90"/>
                  <a:gd name="T22" fmla="*/ 0 w 81"/>
                  <a:gd name="T23" fmla="*/ 0 h 90"/>
                  <a:gd name="T24" fmla="*/ 0 w 81"/>
                  <a:gd name="T25" fmla="*/ 0 h 90"/>
                  <a:gd name="T26" fmla="*/ 0 w 81"/>
                  <a:gd name="T27" fmla="*/ 0 h 90"/>
                  <a:gd name="T28" fmla="*/ 0 w 81"/>
                  <a:gd name="T29" fmla="*/ 0 h 90"/>
                  <a:gd name="T30" fmla="*/ 0 w 81"/>
                  <a:gd name="T31" fmla="*/ 0 h 90"/>
                  <a:gd name="T32" fmla="*/ 0 w 81"/>
                  <a:gd name="T33" fmla="*/ 0 h 90"/>
                  <a:gd name="T34" fmla="*/ 0 w 81"/>
                  <a:gd name="T35" fmla="*/ 0 h 90"/>
                  <a:gd name="T36" fmla="*/ 0 w 81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90"/>
                  <a:gd name="T59" fmla="*/ 81 w 81"/>
                  <a:gd name="T60" fmla="*/ 90 h 9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90">
                    <a:moveTo>
                      <a:pt x="48" y="0"/>
                    </a:moveTo>
                    <a:lnTo>
                      <a:pt x="47" y="8"/>
                    </a:lnTo>
                    <a:lnTo>
                      <a:pt x="44" y="18"/>
                    </a:lnTo>
                    <a:lnTo>
                      <a:pt x="41" y="26"/>
                    </a:lnTo>
                    <a:lnTo>
                      <a:pt x="36" y="34"/>
                    </a:lnTo>
                    <a:lnTo>
                      <a:pt x="31" y="40"/>
                    </a:lnTo>
                    <a:lnTo>
                      <a:pt x="22" y="47"/>
                    </a:lnTo>
                    <a:lnTo>
                      <a:pt x="12" y="54"/>
                    </a:lnTo>
                    <a:lnTo>
                      <a:pt x="0" y="58"/>
                    </a:lnTo>
                    <a:lnTo>
                      <a:pt x="10" y="90"/>
                    </a:lnTo>
                    <a:lnTo>
                      <a:pt x="27" y="83"/>
                    </a:lnTo>
                    <a:lnTo>
                      <a:pt x="40" y="75"/>
                    </a:lnTo>
                    <a:lnTo>
                      <a:pt x="51" y="65"/>
                    </a:lnTo>
                    <a:lnTo>
                      <a:pt x="62" y="55"/>
                    </a:lnTo>
                    <a:lnTo>
                      <a:pt x="70" y="41"/>
                    </a:lnTo>
                    <a:lnTo>
                      <a:pt x="75" y="28"/>
                    </a:lnTo>
                    <a:lnTo>
                      <a:pt x="78" y="17"/>
                    </a:lnTo>
                    <a:lnTo>
                      <a:pt x="81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0" name="Freeform 622">
                <a:extLst>
                  <a:ext uri="{FF2B5EF4-FFF2-40B4-BE49-F238E27FC236}">
                    <a16:creationId xmlns:a16="http://schemas.microsoft.com/office/drawing/2014/main" id="{C4B4B503-832C-43A7-8FFB-8C5E0D508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7"/>
                <a:ext cx="2" cy="1"/>
              </a:xfrm>
              <a:custGeom>
                <a:avLst/>
                <a:gdLst>
                  <a:gd name="T0" fmla="*/ 0 w 33"/>
                  <a:gd name="T1" fmla="*/ 0 h 19"/>
                  <a:gd name="T2" fmla="*/ 0 w 33"/>
                  <a:gd name="T3" fmla="*/ 0 h 19"/>
                  <a:gd name="T4" fmla="*/ 0 w 33"/>
                  <a:gd name="T5" fmla="*/ 0 h 19"/>
                  <a:gd name="T6" fmla="*/ 0 w 33"/>
                  <a:gd name="T7" fmla="*/ 0 h 19"/>
                  <a:gd name="T8" fmla="*/ 0 w 33"/>
                  <a:gd name="T9" fmla="*/ 0 h 19"/>
                  <a:gd name="T10" fmla="*/ 0 w 33"/>
                  <a:gd name="T11" fmla="*/ 0 h 19"/>
                  <a:gd name="T12" fmla="*/ 0 w 33"/>
                  <a:gd name="T13" fmla="*/ 0 h 19"/>
                  <a:gd name="T14" fmla="*/ 0 w 33"/>
                  <a:gd name="T15" fmla="*/ 0 h 19"/>
                  <a:gd name="T16" fmla="*/ 0 w 33"/>
                  <a:gd name="T17" fmla="*/ 0 h 19"/>
                  <a:gd name="T18" fmla="*/ 0 w 33"/>
                  <a:gd name="T19" fmla="*/ 0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3"/>
                  <a:gd name="T31" fmla="*/ 0 h 19"/>
                  <a:gd name="T32" fmla="*/ 33 w 33"/>
                  <a:gd name="T33" fmla="*/ 19 h 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3" h="19">
                    <a:moveTo>
                      <a:pt x="33" y="19"/>
                    </a:moveTo>
                    <a:lnTo>
                      <a:pt x="32" y="12"/>
                    </a:lnTo>
                    <a:lnTo>
                      <a:pt x="28" y="6"/>
                    </a:lnTo>
                    <a:lnTo>
                      <a:pt x="23" y="2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6" y="3"/>
                    </a:lnTo>
                    <a:lnTo>
                      <a:pt x="2" y="7"/>
                    </a:lnTo>
                    <a:lnTo>
                      <a:pt x="0" y="15"/>
                    </a:lnTo>
                    <a:lnTo>
                      <a:pt x="33" y="19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1" name="Freeform 623">
                <a:extLst>
                  <a:ext uri="{FF2B5EF4-FFF2-40B4-BE49-F238E27FC236}">
                    <a16:creationId xmlns:a16="http://schemas.microsoft.com/office/drawing/2014/main" id="{D20B3AF3-EE08-4538-AB57-632A81E36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" y="3240"/>
                <a:ext cx="1" cy="1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5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2" name="Freeform 624">
                <a:extLst>
                  <a:ext uri="{FF2B5EF4-FFF2-40B4-BE49-F238E27FC236}">
                    <a16:creationId xmlns:a16="http://schemas.microsoft.com/office/drawing/2014/main" id="{3568066F-A87F-482B-B535-C0E733187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1"/>
                <a:ext cx="10" cy="20"/>
              </a:xfrm>
              <a:custGeom>
                <a:avLst/>
                <a:gdLst>
                  <a:gd name="T0" fmla="*/ 0 w 218"/>
                  <a:gd name="T1" fmla="*/ 0 h 365"/>
                  <a:gd name="T2" fmla="*/ 0 w 218"/>
                  <a:gd name="T3" fmla="*/ 0 h 365"/>
                  <a:gd name="T4" fmla="*/ 0 w 218"/>
                  <a:gd name="T5" fmla="*/ 0 h 365"/>
                  <a:gd name="T6" fmla="*/ 0 w 218"/>
                  <a:gd name="T7" fmla="*/ 0 h 365"/>
                  <a:gd name="T8" fmla="*/ 0 w 218"/>
                  <a:gd name="T9" fmla="*/ 0 h 365"/>
                  <a:gd name="T10" fmla="*/ 0 w 218"/>
                  <a:gd name="T11" fmla="*/ 0 h 365"/>
                  <a:gd name="T12" fmla="*/ 0 w 218"/>
                  <a:gd name="T13" fmla="*/ 0 h 365"/>
                  <a:gd name="T14" fmla="*/ 0 w 218"/>
                  <a:gd name="T15" fmla="*/ 0 h 365"/>
                  <a:gd name="T16" fmla="*/ 0 w 218"/>
                  <a:gd name="T17" fmla="*/ 0 h 365"/>
                  <a:gd name="T18" fmla="*/ 0 w 218"/>
                  <a:gd name="T19" fmla="*/ 0 h 365"/>
                  <a:gd name="T20" fmla="*/ 0 w 218"/>
                  <a:gd name="T21" fmla="*/ 0 h 365"/>
                  <a:gd name="T22" fmla="*/ 0 w 218"/>
                  <a:gd name="T23" fmla="*/ 0 h 365"/>
                  <a:gd name="T24" fmla="*/ 0 w 218"/>
                  <a:gd name="T25" fmla="*/ 0 h 365"/>
                  <a:gd name="T26" fmla="*/ 0 w 218"/>
                  <a:gd name="T27" fmla="*/ 0 h 365"/>
                  <a:gd name="T28" fmla="*/ 0 w 218"/>
                  <a:gd name="T29" fmla="*/ 0 h 365"/>
                  <a:gd name="T30" fmla="*/ 0 w 218"/>
                  <a:gd name="T31" fmla="*/ 0 h 365"/>
                  <a:gd name="T32" fmla="*/ 0 w 218"/>
                  <a:gd name="T33" fmla="*/ 0 h 365"/>
                  <a:gd name="T34" fmla="*/ 0 w 218"/>
                  <a:gd name="T35" fmla="*/ 0 h 365"/>
                  <a:gd name="T36" fmla="*/ 0 w 218"/>
                  <a:gd name="T37" fmla="*/ 0 h 365"/>
                  <a:gd name="T38" fmla="*/ 0 w 218"/>
                  <a:gd name="T39" fmla="*/ 0 h 365"/>
                  <a:gd name="T40" fmla="*/ 0 w 218"/>
                  <a:gd name="T41" fmla="*/ 0 h 365"/>
                  <a:gd name="T42" fmla="*/ 0 w 218"/>
                  <a:gd name="T43" fmla="*/ 0 h 365"/>
                  <a:gd name="T44" fmla="*/ 0 w 218"/>
                  <a:gd name="T45" fmla="*/ 0 h 365"/>
                  <a:gd name="T46" fmla="*/ 0 w 218"/>
                  <a:gd name="T47" fmla="*/ 0 h 365"/>
                  <a:gd name="T48" fmla="*/ 0 w 218"/>
                  <a:gd name="T49" fmla="*/ 0 h 365"/>
                  <a:gd name="T50" fmla="*/ 0 w 218"/>
                  <a:gd name="T51" fmla="*/ 0 h 365"/>
                  <a:gd name="T52" fmla="*/ 0 w 218"/>
                  <a:gd name="T53" fmla="*/ 0 h 365"/>
                  <a:gd name="T54" fmla="*/ 0 w 218"/>
                  <a:gd name="T55" fmla="*/ 0 h 365"/>
                  <a:gd name="T56" fmla="*/ 0 w 218"/>
                  <a:gd name="T57" fmla="*/ 0 h 365"/>
                  <a:gd name="T58" fmla="*/ 0 w 218"/>
                  <a:gd name="T59" fmla="*/ 0 h 365"/>
                  <a:gd name="T60" fmla="*/ 0 w 218"/>
                  <a:gd name="T61" fmla="*/ 0 h 365"/>
                  <a:gd name="T62" fmla="*/ 0 w 218"/>
                  <a:gd name="T63" fmla="*/ 0 h 365"/>
                  <a:gd name="T64" fmla="*/ 0 w 218"/>
                  <a:gd name="T65" fmla="*/ 0 h 365"/>
                  <a:gd name="T66" fmla="*/ 0 w 218"/>
                  <a:gd name="T67" fmla="*/ 0 h 365"/>
                  <a:gd name="T68" fmla="*/ 0 w 218"/>
                  <a:gd name="T69" fmla="*/ 0 h 365"/>
                  <a:gd name="T70" fmla="*/ 0 w 218"/>
                  <a:gd name="T71" fmla="*/ 0 h 365"/>
                  <a:gd name="T72" fmla="*/ 0 w 218"/>
                  <a:gd name="T73" fmla="*/ 0 h 3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18"/>
                  <a:gd name="T112" fmla="*/ 0 h 365"/>
                  <a:gd name="T113" fmla="*/ 218 w 218"/>
                  <a:gd name="T114" fmla="*/ 365 h 3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18" h="365">
                    <a:moveTo>
                      <a:pt x="0" y="0"/>
                    </a:moveTo>
                    <a:lnTo>
                      <a:pt x="0" y="0"/>
                    </a:lnTo>
                    <a:lnTo>
                      <a:pt x="1" y="29"/>
                    </a:lnTo>
                    <a:lnTo>
                      <a:pt x="3" y="56"/>
                    </a:lnTo>
                    <a:lnTo>
                      <a:pt x="8" y="84"/>
                    </a:lnTo>
                    <a:lnTo>
                      <a:pt x="15" y="110"/>
                    </a:lnTo>
                    <a:lnTo>
                      <a:pt x="22" y="135"/>
                    </a:lnTo>
                    <a:lnTo>
                      <a:pt x="31" y="162"/>
                    </a:lnTo>
                    <a:lnTo>
                      <a:pt x="41" y="187"/>
                    </a:lnTo>
                    <a:lnTo>
                      <a:pt x="55" y="211"/>
                    </a:lnTo>
                    <a:lnTo>
                      <a:pt x="68" y="235"/>
                    </a:lnTo>
                    <a:lnTo>
                      <a:pt x="84" y="258"/>
                    </a:lnTo>
                    <a:lnTo>
                      <a:pt x="102" y="278"/>
                    </a:lnTo>
                    <a:lnTo>
                      <a:pt x="119" y="298"/>
                    </a:lnTo>
                    <a:lnTo>
                      <a:pt x="138" y="317"/>
                    </a:lnTo>
                    <a:lnTo>
                      <a:pt x="159" y="335"/>
                    </a:lnTo>
                    <a:lnTo>
                      <a:pt x="180" y="352"/>
                    </a:lnTo>
                    <a:lnTo>
                      <a:pt x="204" y="365"/>
                    </a:lnTo>
                    <a:lnTo>
                      <a:pt x="218" y="340"/>
                    </a:lnTo>
                    <a:lnTo>
                      <a:pt x="196" y="326"/>
                    </a:lnTo>
                    <a:lnTo>
                      <a:pt x="177" y="311"/>
                    </a:lnTo>
                    <a:lnTo>
                      <a:pt x="157" y="296"/>
                    </a:lnTo>
                    <a:lnTo>
                      <a:pt x="139" y="277"/>
                    </a:lnTo>
                    <a:lnTo>
                      <a:pt x="122" y="259"/>
                    </a:lnTo>
                    <a:lnTo>
                      <a:pt x="107" y="239"/>
                    </a:lnTo>
                    <a:lnTo>
                      <a:pt x="92" y="218"/>
                    </a:lnTo>
                    <a:lnTo>
                      <a:pt x="79" y="197"/>
                    </a:lnTo>
                    <a:lnTo>
                      <a:pt x="68" y="174"/>
                    </a:lnTo>
                    <a:lnTo>
                      <a:pt x="58" y="151"/>
                    </a:lnTo>
                    <a:lnTo>
                      <a:pt x="49" y="127"/>
                    </a:lnTo>
                    <a:lnTo>
                      <a:pt x="41" y="102"/>
                    </a:lnTo>
                    <a:lnTo>
                      <a:pt x="36" y="77"/>
                    </a:lnTo>
                    <a:lnTo>
                      <a:pt x="31" y="52"/>
                    </a:lnTo>
                    <a:lnTo>
                      <a:pt x="29" y="27"/>
                    </a:lnTo>
                    <a:lnTo>
                      <a:pt x="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3" name="Freeform 625">
                <a:extLst>
                  <a:ext uri="{FF2B5EF4-FFF2-40B4-BE49-F238E27FC236}">
                    <a16:creationId xmlns:a16="http://schemas.microsoft.com/office/drawing/2014/main" id="{750C07F3-81BD-405D-BF16-BA362AF67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16"/>
                <a:ext cx="2" cy="5"/>
              </a:xfrm>
              <a:custGeom>
                <a:avLst/>
                <a:gdLst>
                  <a:gd name="T0" fmla="*/ 0 w 37"/>
                  <a:gd name="T1" fmla="*/ 0 h 92"/>
                  <a:gd name="T2" fmla="*/ 0 w 37"/>
                  <a:gd name="T3" fmla="*/ 0 h 92"/>
                  <a:gd name="T4" fmla="*/ 0 w 37"/>
                  <a:gd name="T5" fmla="*/ 0 h 92"/>
                  <a:gd name="T6" fmla="*/ 0 w 37"/>
                  <a:gd name="T7" fmla="*/ 0 h 92"/>
                  <a:gd name="T8" fmla="*/ 0 w 37"/>
                  <a:gd name="T9" fmla="*/ 0 h 92"/>
                  <a:gd name="T10" fmla="*/ 0 w 37"/>
                  <a:gd name="T11" fmla="*/ 0 h 92"/>
                  <a:gd name="T12" fmla="*/ 0 w 37"/>
                  <a:gd name="T13" fmla="*/ 0 h 92"/>
                  <a:gd name="T14" fmla="*/ 0 w 37"/>
                  <a:gd name="T15" fmla="*/ 0 h 92"/>
                  <a:gd name="T16" fmla="*/ 0 w 37"/>
                  <a:gd name="T17" fmla="*/ 0 h 92"/>
                  <a:gd name="T18" fmla="*/ 0 w 37"/>
                  <a:gd name="T19" fmla="*/ 0 h 92"/>
                  <a:gd name="T20" fmla="*/ 0 w 37"/>
                  <a:gd name="T21" fmla="*/ 0 h 92"/>
                  <a:gd name="T22" fmla="*/ 0 w 37"/>
                  <a:gd name="T23" fmla="*/ 0 h 92"/>
                  <a:gd name="T24" fmla="*/ 0 w 37"/>
                  <a:gd name="T25" fmla="*/ 0 h 92"/>
                  <a:gd name="T26" fmla="*/ 0 w 37"/>
                  <a:gd name="T27" fmla="*/ 0 h 92"/>
                  <a:gd name="T28" fmla="*/ 0 w 37"/>
                  <a:gd name="T29" fmla="*/ 0 h 92"/>
                  <a:gd name="T30" fmla="*/ 0 w 37"/>
                  <a:gd name="T31" fmla="*/ 0 h 92"/>
                  <a:gd name="T32" fmla="*/ 0 w 37"/>
                  <a:gd name="T33" fmla="*/ 0 h 92"/>
                  <a:gd name="T34" fmla="*/ 0 w 37"/>
                  <a:gd name="T35" fmla="*/ 0 h 92"/>
                  <a:gd name="T36" fmla="*/ 0 w 37"/>
                  <a:gd name="T37" fmla="*/ 0 h 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7"/>
                  <a:gd name="T58" fmla="*/ 0 h 92"/>
                  <a:gd name="T59" fmla="*/ 37 w 37"/>
                  <a:gd name="T60" fmla="*/ 92 h 9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7" h="92">
                    <a:moveTo>
                      <a:pt x="9" y="0"/>
                    </a:moveTo>
                    <a:lnTo>
                      <a:pt x="7" y="10"/>
                    </a:lnTo>
                    <a:lnTo>
                      <a:pt x="5" y="23"/>
                    </a:lnTo>
                    <a:lnTo>
                      <a:pt x="4" y="33"/>
                    </a:lnTo>
                    <a:lnTo>
                      <a:pt x="2" y="45"/>
                    </a:lnTo>
                    <a:lnTo>
                      <a:pt x="1" y="58"/>
                    </a:lnTo>
                    <a:lnTo>
                      <a:pt x="1" y="69"/>
                    </a:lnTo>
                    <a:lnTo>
                      <a:pt x="0" y="80"/>
                    </a:lnTo>
                    <a:lnTo>
                      <a:pt x="0" y="92"/>
                    </a:lnTo>
                    <a:lnTo>
                      <a:pt x="28" y="92"/>
                    </a:lnTo>
                    <a:lnTo>
                      <a:pt x="28" y="82"/>
                    </a:lnTo>
                    <a:lnTo>
                      <a:pt x="29" y="71"/>
                    </a:lnTo>
                    <a:lnTo>
                      <a:pt x="29" y="60"/>
                    </a:lnTo>
                    <a:lnTo>
                      <a:pt x="30" y="49"/>
                    </a:lnTo>
                    <a:lnTo>
                      <a:pt x="32" y="38"/>
                    </a:lnTo>
                    <a:lnTo>
                      <a:pt x="33" y="27"/>
                    </a:lnTo>
                    <a:lnTo>
                      <a:pt x="35" y="17"/>
                    </a:lnTo>
                    <a:lnTo>
                      <a:pt x="37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4" name="Freeform 626">
                <a:extLst>
                  <a:ext uri="{FF2B5EF4-FFF2-40B4-BE49-F238E27FC236}">
                    <a16:creationId xmlns:a16="http://schemas.microsoft.com/office/drawing/2014/main" id="{549E5215-5BB0-4816-8BFB-CE39E6F06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0"/>
                <a:ext cx="1" cy="1"/>
              </a:xfrm>
              <a:custGeom>
                <a:avLst/>
                <a:gdLst>
                  <a:gd name="T0" fmla="*/ 0 w 28"/>
                  <a:gd name="T1" fmla="*/ 0 h 18"/>
                  <a:gd name="T2" fmla="*/ 0 w 28"/>
                  <a:gd name="T3" fmla="*/ 0 h 18"/>
                  <a:gd name="T4" fmla="*/ 0 w 28"/>
                  <a:gd name="T5" fmla="*/ 0 h 18"/>
                  <a:gd name="T6" fmla="*/ 0 w 28"/>
                  <a:gd name="T7" fmla="*/ 0 h 18"/>
                  <a:gd name="T8" fmla="*/ 0 w 28"/>
                  <a:gd name="T9" fmla="*/ 0 h 18"/>
                  <a:gd name="T10" fmla="*/ 0 w 28"/>
                  <a:gd name="T11" fmla="*/ 0 h 18"/>
                  <a:gd name="T12" fmla="*/ 0 w 28"/>
                  <a:gd name="T13" fmla="*/ 0 h 18"/>
                  <a:gd name="T14" fmla="*/ 0 w 28"/>
                  <a:gd name="T15" fmla="*/ 0 h 18"/>
                  <a:gd name="T16" fmla="*/ 0 w 28"/>
                  <a:gd name="T17" fmla="*/ 0 h 18"/>
                  <a:gd name="T18" fmla="*/ 0 w 28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18"/>
                  <a:gd name="T32" fmla="*/ 28 w 28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18">
                    <a:moveTo>
                      <a:pt x="28" y="18"/>
                    </a:moveTo>
                    <a:lnTo>
                      <a:pt x="28" y="11"/>
                    </a:lnTo>
                    <a:lnTo>
                      <a:pt x="26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8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5" name="Freeform 627">
                <a:extLst>
                  <a:ext uri="{FF2B5EF4-FFF2-40B4-BE49-F238E27FC236}">
                    <a16:creationId xmlns:a16="http://schemas.microsoft.com/office/drawing/2014/main" id="{E105C934-963C-4150-8A26-0FA6856A7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233"/>
                <a:ext cx="1" cy="2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4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6" name="Freeform 628">
                <a:extLst>
                  <a:ext uri="{FF2B5EF4-FFF2-40B4-BE49-F238E27FC236}">
                    <a16:creationId xmlns:a16="http://schemas.microsoft.com/office/drawing/2014/main" id="{AE6C98AD-6C95-4CA1-A064-353D2CD8F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5" cy="11"/>
              </a:xfrm>
              <a:custGeom>
                <a:avLst/>
                <a:gdLst>
                  <a:gd name="T0" fmla="*/ 0 w 115"/>
                  <a:gd name="T1" fmla="*/ 0 h 181"/>
                  <a:gd name="T2" fmla="*/ 0 w 115"/>
                  <a:gd name="T3" fmla="*/ 0 h 181"/>
                  <a:gd name="T4" fmla="*/ 0 w 115"/>
                  <a:gd name="T5" fmla="*/ 0 h 181"/>
                  <a:gd name="T6" fmla="*/ 0 w 115"/>
                  <a:gd name="T7" fmla="*/ 0 h 181"/>
                  <a:gd name="T8" fmla="*/ 0 w 115"/>
                  <a:gd name="T9" fmla="*/ 0 h 181"/>
                  <a:gd name="T10" fmla="*/ 0 w 115"/>
                  <a:gd name="T11" fmla="*/ 0 h 181"/>
                  <a:gd name="T12" fmla="*/ 0 w 115"/>
                  <a:gd name="T13" fmla="*/ 0 h 181"/>
                  <a:gd name="T14" fmla="*/ 0 w 115"/>
                  <a:gd name="T15" fmla="*/ 0 h 181"/>
                  <a:gd name="T16" fmla="*/ 0 w 115"/>
                  <a:gd name="T17" fmla="*/ 0 h 181"/>
                  <a:gd name="T18" fmla="*/ 0 w 115"/>
                  <a:gd name="T19" fmla="*/ 0 h 181"/>
                  <a:gd name="T20" fmla="*/ 0 w 115"/>
                  <a:gd name="T21" fmla="*/ 0 h 181"/>
                  <a:gd name="T22" fmla="*/ 0 w 115"/>
                  <a:gd name="T23" fmla="*/ 0 h 181"/>
                  <a:gd name="T24" fmla="*/ 0 w 115"/>
                  <a:gd name="T25" fmla="*/ 0 h 181"/>
                  <a:gd name="T26" fmla="*/ 0 w 115"/>
                  <a:gd name="T27" fmla="*/ 0 h 181"/>
                  <a:gd name="T28" fmla="*/ 0 w 115"/>
                  <a:gd name="T29" fmla="*/ 0 h 181"/>
                  <a:gd name="T30" fmla="*/ 0 w 115"/>
                  <a:gd name="T31" fmla="*/ 0 h 181"/>
                  <a:gd name="T32" fmla="*/ 0 w 115"/>
                  <a:gd name="T33" fmla="*/ 0 h 181"/>
                  <a:gd name="T34" fmla="*/ 0 w 115"/>
                  <a:gd name="T35" fmla="*/ 0 h 181"/>
                  <a:gd name="T36" fmla="*/ 0 w 115"/>
                  <a:gd name="T37" fmla="*/ 0 h 181"/>
                  <a:gd name="T38" fmla="*/ 0 w 115"/>
                  <a:gd name="T39" fmla="*/ 0 h 181"/>
                  <a:gd name="T40" fmla="*/ 0 w 115"/>
                  <a:gd name="T41" fmla="*/ 0 h 181"/>
                  <a:gd name="T42" fmla="*/ 0 w 115"/>
                  <a:gd name="T43" fmla="*/ 0 h 181"/>
                  <a:gd name="T44" fmla="*/ 0 w 115"/>
                  <a:gd name="T45" fmla="*/ 0 h 181"/>
                  <a:gd name="T46" fmla="*/ 0 w 115"/>
                  <a:gd name="T47" fmla="*/ 0 h 181"/>
                  <a:gd name="T48" fmla="*/ 0 w 115"/>
                  <a:gd name="T49" fmla="*/ 0 h 181"/>
                  <a:gd name="T50" fmla="*/ 0 w 115"/>
                  <a:gd name="T51" fmla="*/ 0 h 181"/>
                  <a:gd name="T52" fmla="*/ 0 w 115"/>
                  <a:gd name="T53" fmla="*/ 0 h 181"/>
                  <a:gd name="T54" fmla="*/ 0 w 115"/>
                  <a:gd name="T55" fmla="*/ 0 h 181"/>
                  <a:gd name="T56" fmla="*/ 0 w 115"/>
                  <a:gd name="T57" fmla="*/ 0 h 181"/>
                  <a:gd name="T58" fmla="*/ 0 w 115"/>
                  <a:gd name="T59" fmla="*/ 0 h 181"/>
                  <a:gd name="T60" fmla="*/ 0 w 115"/>
                  <a:gd name="T61" fmla="*/ 0 h 181"/>
                  <a:gd name="T62" fmla="*/ 0 w 115"/>
                  <a:gd name="T63" fmla="*/ 0 h 181"/>
                  <a:gd name="T64" fmla="*/ 0 w 115"/>
                  <a:gd name="T65" fmla="*/ 0 h 181"/>
                  <a:gd name="T66" fmla="*/ 0 w 115"/>
                  <a:gd name="T67" fmla="*/ 0 h 181"/>
                  <a:gd name="T68" fmla="*/ 0 w 115"/>
                  <a:gd name="T69" fmla="*/ 0 h 181"/>
                  <a:gd name="T70" fmla="*/ 0 w 115"/>
                  <a:gd name="T71" fmla="*/ 0 h 181"/>
                  <a:gd name="T72" fmla="*/ 0 w 115"/>
                  <a:gd name="T73" fmla="*/ 0 h 18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5"/>
                  <a:gd name="T112" fmla="*/ 0 h 181"/>
                  <a:gd name="T113" fmla="*/ 115 w 115"/>
                  <a:gd name="T114" fmla="*/ 181 h 18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5" h="181">
                    <a:moveTo>
                      <a:pt x="0" y="0"/>
                    </a:moveTo>
                    <a:lnTo>
                      <a:pt x="0" y="0"/>
                    </a:lnTo>
                    <a:lnTo>
                      <a:pt x="0" y="13"/>
                    </a:lnTo>
                    <a:lnTo>
                      <a:pt x="2" y="27"/>
                    </a:lnTo>
                    <a:lnTo>
                      <a:pt x="4" y="40"/>
                    </a:lnTo>
                    <a:lnTo>
                      <a:pt x="7" y="53"/>
                    </a:lnTo>
                    <a:lnTo>
                      <a:pt x="11" y="68"/>
                    </a:lnTo>
                    <a:lnTo>
                      <a:pt x="15" y="80"/>
                    </a:lnTo>
                    <a:lnTo>
                      <a:pt x="21" y="92"/>
                    </a:lnTo>
                    <a:lnTo>
                      <a:pt x="28" y="104"/>
                    </a:lnTo>
                    <a:lnTo>
                      <a:pt x="34" y="116"/>
                    </a:lnTo>
                    <a:lnTo>
                      <a:pt x="42" y="126"/>
                    </a:lnTo>
                    <a:lnTo>
                      <a:pt x="50" y="138"/>
                    </a:lnTo>
                    <a:lnTo>
                      <a:pt x="59" y="147"/>
                    </a:lnTo>
                    <a:lnTo>
                      <a:pt x="68" y="157"/>
                    </a:lnTo>
                    <a:lnTo>
                      <a:pt x="80" y="165"/>
                    </a:lnTo>
                    <a:lnTo>
                      <a:pt x="90" y="173"/>
                    </a:lnTo>
                    <a:lnTo>
                      <a:pt x="101" y="181"/>
                    </a:lnTo>
                    <a:lnTo>
                      <a:pt x="115" y="156"/>
                    </a:lnTo>
                    <a:lnTo>
                      <a:pt x="106" y="149"/>
                    </a:lnTo>
                    <a:lnTo>
                      <a:pt x="96" y="142"/>
                    </a:lnTo>
                    <a:lnTo>
                      <a:pt x="87" y="136"/>
                    </a:lnTo>
                    <a:lnTo>
                      <a:pt x="80" y="126"/>
                    </a:lnTo>
                    <a:lnTo>
                      <a:pt x="70" y="119"/>
                    </a:lnTo>
                    <a:lnTo>
                      <a:pt x="64" y="109"/>
                    </a:lnTo>
                    <a:lnTo>
                      <a:pt x="58" y="101"/>
                    </a:lnTo>
                    <a:lnTo>
                      <a:pt x="52" y="89"/>
                    </a:lnTo>
                    <a:lnTo>
                      <a:pt x="46" y="80"/>
                    </a:lnTo>
                    <a:lnTo>
                      <a:pt x="42" y="69"/>
                    </a:lnTo>
                    <a:lnTo>
                      <a:pt x="38" y="58"/>
                    </a:lnTo>
                    <a:lnTo>
                      <a:pt x="34" y="47"/>
                    </a:lnTo>
                    <a:lnTo>
                      <a:pt x="33" y="35"/>
                    </a:lnTo>
                    <a:lnTo>
                      <a:pt x="31" y="23"/>
                    </a:lnTo>
                    <a:lnTo>
                      <a:pt x="29" y="11"/>
                    </a:lnTo>
                    <a:lnTo>
                      <a:pt x="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7" name="Freeform 629">
                <a:extLst>
                  <a:ext uri="{FF2B5EF4-FFF2-40B4-BE49-F238E27FC236}">
                    <a16:creationId xmlns:a16="http://schemas.microsoft.com/office/drawing/2014/main" id="{6600E65D-E3EA-4480-AA56-D2FC49068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2"/>
                <a:ext cx="1" cy="2"/>
              </a:xfrm>
              <a:custGeom>
                <a:avLst/>
                <a:gdLst>
                  <a:gd name="T0" fmla="*/ 0 w 33"/>
                  <a:gd name="T1" fmla="*/ 0 h 47"/>
                  <a:gd name="T2" fmla="*/ 0 w 33"/>
                  <a:gd name="T3" fmla="*/ 0 h 47"/>
                  <a:gd name="T4" fmla="*/ 0 w 33"/>
                  <a:gd name="T5" fmla="*/ 0 h 47"/>
                  <a:gd name="T6" fmla="*/ 0 w 33"/>
                  <a:gd name="T7" fmla="*/ 0 h 47"/>
                  <a:gd name="T8" fmla="*/ 0 w 33"/>
                  <a:gd name="T9" fmla="*/ 0 h 47"/>
                  <a:gd name="T10" fmla="*/ 0 w 33"/>
                  <a:gd name="T11" fmla="*/ 0 h 47"/>
                  <a:gd name="T12" fmla="*/ 0 w 33"/>
                  <a:gd name="T13" fmla="*/ 0 h 47"/>
                  <a:gd name="T14" fmla="*/ 0 w 33"/>
                  <a:gd name="T15" fmla="*/ 0 h 47"/>
                  <a:gd name="T16" fmla="*/ 0 w 33"/>
                  <a:gd name="T17" fmla="*/ 0 h 47"/>
                  <a:gd name="T18" fmla="*/ 0 w 33"/>
                  <a:gd name="T19" fmla="*/ 0 h 47"/>
                  <a:gd name="T20" fmla="*/ 0 w 33"/>
                  <a:gd name="T21" fmla="*/ 0 h 47"/>
                  <a:gd name="T22" fmla="*/ 0 w 33"/>
                  <a:gd name="T23" fmla="*/ 0 h 47"/>
                  <a:gd name="T24" fmla="*/ 0 w 33"/>
                  <a:gd name="T25" fmla="*/ 0 h 47"/>
                  <a:gd name="T26" fmla="*/ 0 w 33"/>
                  <a:gd name="T27" fmla="*/ 0 h 47"/>
                  <a:gd name="T28" fmla="*/ 0 w 33"/>
                  <a:gd name="T29" fmla="*/ 0 h 47"/>
                  <a:gd name="T30" fmla="*/ 0 w 33"/>
                  <a:gd name="T31" fmla="*/ 0 h 47"/>
                  <a:gd name="T32" fmla="*/ 0 w 33"/>
                  <a:gd name="T33" fmla="*/ 0 h 47"/>
                  <a:gd name="T34" fmla="*/ 0 w 33"/>
                  <a:gd name="T35" fmla="*/ 0 h 47"/>
                  <a:gd name="T36" fmla="*/ 0 w 33"/>
                  <a:gd name="T37" fmla="*/ 0 h 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"/>
                  <a:gd name="T58" fmla="*/ 0 h 47"/>
                  <a:gd name="T59" fmla="*/ 33 w 33"/>
                  <a:gd name="T60" fmla="*/ 47 h 4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" h="47">
                    <a:moveTo>
                      <a:pt x="4" y="0"/>
                    </a:moveTo>
                    <a:lnTo>
                      <a:pt x="3" y="6"/>
                    </a:lnTo>
                    <a:lnTo>
                      <a:pt x="2" y="11"/>
                    </a:lnTo>
                    <a:lnTo>
                      <a:pt x="1" y="18"/>
                    </a:lnTo>
                    <a:lnTo>
                      <a:pt x="1" y="23"/>
                    </a:lnTo>
                    <a:lnTo>
                      <a:pt x="0" y="30"/>
                    </a:lnTo>
                    <a:lnTo>
                      <a:pt x="0" y="36"/>
                    </a:lnTo>
                    <a:lnTo>
                      <a:pt x="0" y="41"/>
                    </a:lnTo>
                    <a:lnTo>
                      <a:pt x="0" y="47"/>
                    </a:lnTo>
                    <a:lnTo>
                      <a:pt x="29" y="47"/>
                    </a:lnTo>
                    <a:lnTo>
                      <a:pt x="29" y="41"/>
                    </a:lnTo>
                    <a:lnTo>
                      <a:pt x="29" y="36"/>
                    </a:lnTo>
                    <a:lnTo>
                      <a:pt x="29" y="32"/>
                    </a:lnTo>
                    <a:lnTo>
                      <a:pt x="30" y="26"/>
                    </a:lnTo>
                    <a:lnTo>
                      <a:pt x="30" y="20"/>
                    </a:lnTo>
                    <a:lnTo>
                      <a:pt x="31" y="17"/>
                    </a:lnTo>
                    <a:lnTo>
                      <a:pt x="32" y="12"/>
                    </a:lnTo>
                    <a:lnTo>
                      <a:pt x="33" y="7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8" name="Freeform 630">
                <a:extLst>
                  <a:ext uri="{FF2B5EF4-FFF2-40B4-BE49-F238E27FC236}">
                    <a16:creationId xmlns:a16="http://schemas.microsoft.com/office/drawing/2014/main" id="{A50DEFD2-3CF6-4D19-A4C0-624431AB6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1" cy="1"/>
              </a:xfrm>
              <a:custGeom>
                <a:avLst/>
                <a:gdLst>
                  <a:gd name="T0" fmla="*/ 0 w 29"/>
                  <a:gd name="T1" fmla="*/ 0 h 18"/>
                  <a:gd name="T2" fmla="*/ 0 w 29"/>
                  <a:gd name="T3" fmla="*/ 0 h 18"/>
                  <a:gd name="T4" fmla="*/ 0 w 29"/>
                  <a:gd name="T5" fmla="*/ 0 h 18"/>
                  <a:gd name="T6" fmla="*/ 0 w 29"/>
                  <a:gd name="T7" fmla="*/ 0 h 18"/>
                  <a:gd name="T8" fmla="*/ 0 w 29"/>
                  <a:gd name="T9" fmla="*/ 0 h 18"/>
                  <a:gd name="T10" fmla="*/ 0 w 29"/>
                  <a:gd name="T11" fmla="*/ 0 h 18"/>
                  <a:gd name="T12" fmla="*/ 0 w 29"/>
                  <a:gd name="T13" fmla="*/ 0 h 18"/>
                  <a:gd name="T14" fmla="*/ 0 w 29"/>
                  <a:gd name="T15" fmla="*/ 0 h 18"/>
                  <a:gd name="T16" fmla="*/ 0 w 29"/>
                  <a:gd name="T17" fmla="*/ 0 h 18"/>
                  <a:gd name="T18" fmla="*/ 0 w 29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18"/>
                  <a:gd name="T32" fmla="*/ 29 w 29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18">
                    <a:moveTo>
                      <a:pt x="29" y="18"/>
                    </a:moveTo>
                    <a:lnTo>
                      <a:pt x="29" y="11"/>
                    </a:lnTo>
                    <a:lnTo>
                      <a:pt x="27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9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9" name="Freeform 631">
                <a:extLst>
                  <a:ext uri="{FF2B5EF4-FFF2-40B4-BE49-F238E27FC236}">
                    <a16:creationId xmlns:a16="http://schemas.microsoft.com/office/drawing/2014/main" id="{755E88BE-B958-42DB-B1C7-DEE9C54E4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5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0" name="Freeform 632">
                <a:extLst>
                  <a:ext uri="{FF2B5EF4-FFF2-40B4-BE49-F238E27FC236}">
                    <a16:creationId xmlns:a16="http://schemas.microsoft.com/office/drawing/2014/main" id="{8788F906-4A9D-403B-8B86-7BD3C9735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7" cy="15"/>
              </a:xfrm>
              <a:custGeom>
                <a:avLst/>
                <a:gdLst>
                  <a:gd name="T0" fmla="*/ 0 w 164"/>
                  <a:gd name="T1" fmla="*/ 0 h 274"/>
                  <a:gd name="T2" fmla="*/ 0 w 164"/>
                  <a:gd name="T3" fmla="*/ 0 h 274"/>
                  <a:gd name="T4" fmla="*/ 0 w 164"/>
                  <a:gd name="T5" fmla="*/ 0 h 274"/>
                  <a:gd name="T6" fmla="*/ 0 w 164"/>
                  <a:gd name="T7" fmla="*/ 0 h 274"/>
                  <a:gd name="T8" fmla="*/ 0 w 164"/>
                  <a:gd name="T9" fmla="*/ 0 h 274"/>
                  <a:gd name="T10" fmla="*/ 0 w 164"/>
                  <a:gd name="T11" fmla="*/ 0 h 274"/>
                  <a:gd name="T12" fmla="*/ 0 w 164"/>
                  <a:gd name="T13" fmla="*/ 0 h 274"/>
                  <a:gd name="T14" fmla="*/ 0 w 164"/>
                  <a:gd name="T15" fmla="*/ 0 h 274"/>
                  <a:gd name="T16" fmla="*/ 0 w 164"/>
                  <a:gd name="T17" fmla="*/ 0 h 274"/>
                  <a:gd name="T18" fmla="*/ 0 w 164"/>
                  <a:gd name="T19" fmla="*/ 0 h 274"/>
                  <a:gd name="T20" fmla="*/ 0 w 164"/>
                  <a:gd name="T21" fmla="*/ 0 h 274"/>
                  <a:gd name="T22" fmla="*/ 0 w 164"/>
                  <a:gd name="T23" fmla="*/ 0 h 274"/>
                  <a:gd name="T24" fmla="*/ 0 w 164"/>
                  <a:gd name="T25" fmla="*/ 0 h 274"/>
                  <a:gd name="T26" fmla="*/ 0 w 164"/>
                  <a:gd name="T27" fmla="*/ 0 h 274"/>
                  <a:gd name="T28" fmla="*/ 0 w 164"/>
                  <a:gd name="T29" fmla="*/ 0 h 274"/>
                  <a:gd name="T30" fmla="*/ 0 w 164"/>
                  <a:gd name="T31" fmla="*/ 0 h 274"/>
                  <a:gd name="T32" fmla="*/ 0 w 164"/>
                  <a:gd name="T33" fmla="*/ 0 h 274"/>
                  <a:gd name="T34" fmla="*/ 0 w 164"/>
                  <a:gd name="T35" fmla="*/ 0 h 274"/>
                  <a:gd name="T36" fmla="*/ 0 w 164"/>
                  <a:gd name="T37" fmla="*/ 0 h 274"/>
                  <a:gd name="T38" fmla="*/ 0 w 164"/>
                  <a:gd name="T39" fmla="*/ 0 h 274"/>
                  <a:gd name="T40" fmla="*/ 0 w 164"/>
                  <a:gd name="T41" fmla="*/ 0 h 274"/>
                  <a:gd name="T42" fmla="*/ 0 w 164"/>
                  <a:gd name="T43" fmla="*/ 0 h 274"/>
                  <a:gd name="T44" fmla="*/ 0 w 164"/>
                  <a:gd name="T45" fmla="*/ 0 h 274"/>
                  <a:gd name="T46" fmla="*/ 0 w 164"/>
                  <a:gd name="T47" fmla="*/ 0 h 274"/>
                  <a:gd name="T48" fmla="*/ 0 w 164"/>
                  <a:gd name="T49" fmla="*/ 0 h 274"/>
                  <a:gd name="T50" fmla="*/ 0 w 164"/>
                  <a:gd name="T51" fmla="*/ 0 h 274"/>
                  <a:gd name="T52" fmla="*/ 0 w 164"/>
                  <a:gd name="T53" fmla="*/ 0 h 274"/>
                  <a:gd name="T54" fmla="*/ 0 w 164"/>
                  <a:gd name="T55" fmla="*/ 0 h 274"/>
                  <a:gd name="T56" fmla="*/ 0 w 164"/>
                  <a:gd name="T57" fmla="*/ 0 h 274"/>
                  <a:gd name="T58" fmla="*/ 0 w 164"/>
                  <a:gd name="T59" fmla="*/ 0 h 274"/>
                  <a:gd name="T60" fmla="*/ 0 w 164"/>
                  <a:gd name="T61" fmla="*/ 0 h 274"/>
                  <a:gd name="T62" fmla="*/ 0 w 164"/>
                  <a:gd name="T63" fmla="*/ 0 h 274"/>
                  <a:gd name="T64" fmla="*/ 0 w 164"/>
                  <a:gd name="T65" fmla="*/ 0 h 274"/>
                  <a:gd name="T66" fmla="*/ 0 w 164"/>
                  <a:gd name="T67" fmla="*/ 0 h 274"/>
                  <a:gd name="T68" fmla="*/ 0 w 164"/>
                  <a:gd name="T69" fmla="*/ 0 h 274"/>
                  <a:gd name="T70" fmla="*/ 0 w 164"/>
                  <a:gd name="T71" fmla="*/ 0 h 274"/>
                  <a:gd name="T72" fmla="*/ 0 w 164"/>
                  <a:gd name="T73" fmla="*/ 0 h 27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4"/>
                  <a:gd name="T112" fmla="*/ 0 h 274"/>
                  <a:gd name="T113" fmla="*/ 164 w 164"/>
                  <a:gd name="T114" fmla="*/ 274 h 27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4" h="274">
                    <a:moveTo>
                      <a:pt x="164" y="274"/>
                    </a:moveTo>
                    <a:lnTo>
                      <a:pt x="164" y="274"/>
                    </a:lnTo>
                    <a:lnTo>
                      <a:pt x="162" y="253"/>
                    </a:lnTo>
                    <a:lnTo>
                      <a:pt x="160" y="233"/>
                    </a:lnTo>
                    <a:lnTo>
                      <a:pt x="157" y="211"/>
                    </a:lnTo>
                    <a:lnTo>
                      <a:pt x="153" y="190"/>
                    </a:lnTo>
                    <a:lnTo>
                      <a:pt x="147" y="170"/>
                    </a:lnTo>
                    <a:lnTo>
                      <a:pt x="139" y="152"/>
                    </a:lnTo>
                    <a:lnTo>
                      <a:pt x="130" y="135"/>
                    </a:lnTo>
                    <a:lnTo>
                      <a:pt x="122" y="116"/>
                    </a:lnTo>
                    <a:lnTo>
                      <a:pt x="112" y="98"/>
                    </a:lnTo>
                    <a:lnTo>
                      <a:pt x="100" y="82"/>
                    </a:lnTo>
                    <a:lnTo>
                      <a:pt x="87" y="65"/>
                    </a:lnTo>
                    <a:lnTo>
                      <a:pt x="73" y="50"/>
                    </a:lnTo>
                    <a:lnTo>
                      <a:pt x="59" y="35"/>
                    </a:lnTo>
                    <a:lnTo>
                      <a:pt x="43" y="23"/>
                    </a:lnTo>
                    <a:lnTo>
                      <a:pt x="27" y="10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5" y="29"/>
                    </a:lnTo>
                    <a:lnTo>
                      <a:pt x="30" y="40"/>
                    </a:lnTo>
                    <a:lnTo>
                      <a:pt x="45" y="52"/>
                    </a:lnTo>
                    <a:lnTo>
                      <a:pt x="59" y="65"/>
                    </a:lnTo>
                    <a:lnTo>
                      <a:pt x="71" y="80"/>
                    </a:lnTo>
                    <a:lnTo>
                      <a:pt x="83" y="94"/>
                    </a:lnTo>
                    <a:lnTo>
                      <a:pt x="94" y="110"/>
                    </a:lnTo>
                    <a:lnTo>
                      <a:pt x="104" y="126"/>
                    </a:lnTo>
                    <a:lnTo>
                      <a:pt x="112" y="143"/>
                    </a:lnTo>
                    <a:lnTo>
                      <a:pt x="119" y="161"/>
                    </a:lnTo>
                    <a:lnTo>
                      <a:pt x="126" y="179"/>
                    </a:lnTo>
                    <a:lnTo>
                      <a:pt x="132" y="197"/>
                    </a:lnTo>
                    <a:lnTo>
                      <a:pt x="136" y="216"/>
                    </a:lnTo>
                    <a:lnTo>
                      <a:pt x="139" y="235"/>
                    </a:lnTo>
                    <a:lnTo>
                      <a:pt x="141" y="255"/>
                    </a:lnTo>
                    <a:lnTo>
                      <a:pt x="141" y="274"/>
                    </a:lnTo>
                    <a:lnTo>
                      <a:pt x="164" y="2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1" name="Freeform 633">
                <a:extLst>
                  <a:ext uri="{FF2B5EF4-FFF2-40B4-BE49-F238E27FC236}">
                    <a16:creationId xmlns:a16="http://schemas.microsoft.com/office/drawing/2014/main" id="{DC92C6F1-4FD1-4731-A1A1-B301CF74B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4"/>
              </a:xfrm>
              <a:custGeom>
                <a:avLst/>
                <a:gdLst>
                  <a:gd name="T0" fmla="*/ 0 w 29"/>
                  <a:gd name="T1" fmla="*/ 0 h 68"/>
                  <a:gd name="T2" fmla="*/ 0 w 29"/>
                  <a:gd name="T3" fmla="*/ 0 h 68"/>
                  <a:gd name="T4" fmla="*/ 0 w 29"/>
                  <a:gd name="T5" fmla="*/ 0 h 68"/>
                  <a:gd name="T6" fmla="*/ 0 w 29"/>
                  <a:gd name="T7" fmla="*/ 0 h 68"/>
                  <a:gd name="T8" fmla="*/ 0 w 29"/>
                  <a:gd name="T9" fmla="*/ 0 h 68"/>
                  <a:gd name="T10" fmla="*/ 0 w 29"/>
                  <a:gd name="T11" fmla="*/ 0 h 68"/>
                  <a:gd name="T12" fmla="*/ 0 w 29"/>
                  <a:gd name="T13" fmla="*/ 0 h 68"/>
                  <a:gd name="T14" fmla="*/ 0 w 29"/>
                  <a:gd name="T15" fmla="*/ 0 h 68"/>
                  <a:gd name="T16" fmla="*/ 0 w 29"/>
                  <a:gd name="T17" fmla="*/ 0 h 68"/>
                  <a:gd name="T18" fmla="*/ 0 w 29"/>
                  <a:gd name="T19" fmla="*/ 0 h 68"/>
                  <a:gd name="T20" fmla="*/ 0 w 29"/>
                  <a:gd name="T21" fmla="*/ 0 h 68"/>
                  <a:gd name="T22" fmla="*/ 0 w 29"/>
                  <a:gd name="T23" fmla="*/ 0 h 68"/>
                  <a:gd name="T24" fmla="*/ 0 w 29"/>
                  <a:gd name="T25" fmla="*/ 0 h 68"/>
                  <a:gd name="T26" fmla="*/ 0 w 29"/>
                  <a:gd name="T27" fmla="*/ 0 h 68"/>
                  <a:gd name="T28" fmla="*/ 0 w 29"/>
                  <a:gd name="T29" fmla="*/ 0 h 68"/>
                  <a:gd name="T30" fmla="*/ 0 w 29"/>
                  <a:gd name="T31" fmla="*/ 0 h 68"/>
                  <a:gd name="T32" fmla="*/ 0 w 29"/>
                  <a:gd name="T33" fmla="*/ 0 h 68"/>
                  <a:gd name="T34" fmla="*/ 0 w 29"/>
                  <a:gd name="T35" fmla="*/ 0 h 68"/>
                  <a:gd name="T36" fmla="*/ 0 w 29"/>
                  <a:gd name="T37" fmla="*/ 0 h 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9"/>
                  <a:gd name="T58" fmla="*/ 0 h 68"/>
                  <a:gd name="T59" fmla="*/ 29 w 29"/>
                  <a:gd name="T60" fmla="*/ 68 h 6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9" h="68">
                    <a:moveTo>
                      <a:pt x="21" y="68"/>
                    </a:moveTo>
                    <a:lnTo>
                      <a:pt x="22" y="60"/>
                    </a:lnTo>
                    <a:lnTo>
                      <a:pt x="24" y="52"/>
                    </a:lnTo>
                    <a:lnTo>
                      <a:pt x="25" y="43"/>
                    </a:lnTo>
                    <a:lnTo>
                      <a:pt x="26" y="34"/>
                    </a:lnTo>
                    <a:lnTo>
                      <a:pt x="28" y="25"/>
                    </a:lnTo>
                    <a:lnTo>
                      <a:pt x="28" y="17"/>
                    </a:lnTo>
                    <a:lnTo>
                      <a:pt x="29" y="8"/>
                    </a:lnTo>
                    <a:lnTo>
                      <a:pt x="29" y="0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5" y="17"/>
                    </a:lnTo>
                    <a:lnTo>
                      <a:pt x="5" y="25"/>
                    </a:lnTo>
                    <a:lnTo>
                      <a:pt x="5" y="32"/>
                    </a:lnTo>
                    <a:lnTo>
                      <a:pt x="4" y="41"/>
                    </a:lnTo>
                    <a:lnTo>
                      <a:pt x="3" y="48"/>
                    </a:lnTo>
                    <a:lnTo>
                      <a:pt x="1" y="56"/>
                    </a:lnTo>
                    <a:lnTo>
                      <a:pt x="0" y="64"/>
                    </a:lnTo>
                    <a:lnTo>
                      <a:pt x="21" y="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2" name="Freeform 634">
                <a:extLst>
                  <a:ext uri="{FF2B5EF4-FFF2-40B4-BE49-F238E27FC236}">
                    <a16:creationId xmlns:a16="http://schemas.microsoft.com/office/drawing/2014/main" id="{6FCBE1AA-E582-4B8E-92A9-DDA0019B8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1"/>
              </a:xfrm>
              <a:custGeom>
                <a:avLst/>
                <a:gdLst>
                  <a:gd name="T0" fmla="*/ 0 w 21"/>
                  <a:gd name="T1" fmla="*/ 0 h 12"/>
                  <a:gd name="T2" fmla="*/ 0 w 21"/>
                  <a:gd name="T3" fmla="*/ 0 h 12"/>
                  <a:gd name="T4" fmla="*/ 0 w 21"/>
                  <a:gd name="T5" fmla="*/ 0 h 12"/>
                  <a:gd name="T6" fmla="*/ 0 w 21"/>
                  <a:gd name="T7" fmla="*/ 0 h 12"/>
                  <a:gd name="T8" fmla="*/ 0 w 21"/>
                  <a:gd name="T9" fmla="*/ 0 h 12"/>
                  <a:gd name="T10" fmla="*/ 0 w 2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2"/>
                  <a:gd name="T20" fmla="*/ 21 w 2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2">
                    <a:moveTo>
                      <a:pt x="0" y="0"/>
                    </a:moveTo>
                    <a:lnTo>
                      <a:pt x="3" y="8"/>
                    </a:lnTo>
                    <a:lnTo>
                      <a:pt x="10" y="12"/>
                    </a:lnTo>
                    <a:lnTo>
                      <a:pt x="17" y="11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3" name="Freeform 635">
                <a:extLst>
                  <a:ext uri="{FF2B5EF4-FFF2-40B4-BE49-F238E27FC236}">
                    <a16:creationId xmlns:a16="http://schemas.microsoft.com/office/drawing/2014/main" id="{07AD08D9-3654-43E2-BAF3-9906B3BC9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8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6"/>
                    </a:lnTo>
                    <a:lnTo>
                      <a:pt x="0" y="14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4" name="Freeform 636">
                <a:extLst>
                  <a:ext uri="{FF2B5EF4-FFF2-40B4-BE49-F238E27FC236}">
                    <a16:creationId xmlns:a16="http://schemas.microsoft.com/office/drawing/2014/main" id="{E03A7FCA-AE85-45C6-8A18-47F430547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128"/>
                <a:ext cx="4" cy="8"/>
              </a:xfrm>
              <a:custGeom>
                <a:avLst/>
                <a:gdLst>
                  <a:gd name="T0" fmla="*/ 0 w 86"/>
                  <a:gd name="T1" fmla="*/ 0 h 136"/>
                  <a:gd name="T2" fmla="*/ 0 w 86"/>
                  <a:gd name="T3" fmla="*/ 0 h 136"/>
                  <a:gd name="T4" fmla="*/ 0 w 86"/>
                  <a:gd name="T5" fmla="*/ 0 h 136"/>
                  <a:gd name="T6" fmla="*/ 0 w 86"/>
                  <a:gd name="T7" fmla="*/ 0 h 136"/>
                  <a:gd name="T8" fmla="*/ 0 w 86"/>
                  <a:gd name="T9" fmla="*/ 0 h 136"/>
                  <a:gd name="T10" fmla="*/ 0 w 86"/>
                  <a:gd name="T11" fmla="*/ 0 h 136"/>
                  <a:gd name="T12" fmla="*/ 0 w 86"/>
                  <a:gd name="T13" fmla="*/ 0 h 136"/>
                  <a:gd name="T14" fmla="*/ 0 w 86"/>
                  <a:gd name="T15" fmla="*/ 0 h 136"/>
                  <a:gd name="T16" fmla="*/ 0 w 86"/>
                  <a:gd name="T17" fmla="*/ 0 h 136"/>
                  <a:gd name="T18" fmla="*/ 0 w 86"/>
                  <a:gd name="T19" fmla="*/ 0 h 136"/>
                  <a:gd name="T20" fmla="*/ 0 w 86"/>
                  <a:gd name="T21" fmla="*/ 0 h 136"/>
                  <a:gd name="T22" fmla="*/ 0 w 86"/>
                  <a:gd name="T23" fmla="*/ 0 h 136"/>
                  <a:gd name="T24" fmla="*/ 0 w 86"/>
                  <a:gd name="T25" fmla="*/ 0 h 136"/>
                  <a:gd name="T26" fmla="*/ 0 w 86"/>
                  <a:gd name="T27" fmla="*/ 0 h 136"/>
                  <a:gd name="T28" fmla="*/ 0 w 86"/>
                  <a:gd name="T29" fmla="*/ 0 h 136"/>
                  <a:gd name="T30" fmla="*/ 0 w 86"/>
                  <a:gd name="T31" fmla="*/ 0 h 136"/>
                  <a:gd name="T32" fmla="*/ 0 w 86"/>
                  <a:gd name="T33" fmla="*/ 0 h 136"/>
                  <a:gd name="T34" fmla="*/ 0 w 86"/>
                  <a:gd name="T35" fmla="*/ 0 h 136"/>
                  <a:gd name="T36" fmla="*/ 0 w 86"/>
                  <a:gd name="T37" fmla="*/ 0 h 136"/>
                  <a:gd name="T38" fmla="*/ 0 w 86"/>
                  <a:gd name="T39" fmla="*/ 0 h 136"/>
                  <a:gd name="T40" fmla="*/ 0 w 86"/>
                  <a:gd name="T41" fmla="*/ 0 h 1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6"/>
                  <a:gd name="T64" fmla="*/ 0 h 136"/>
                  <a:gd name="T65" fmla="*/ 86 w 86"/>
                  <a:gd name="T66" fmla="*/ 136 h 1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6" h="136">
                    <a:moveTo>
                      <a:pt x="86" y="136"/>
                    </a:moveTo>
                    <a:lnTo>
                      <a:pt x="86" y="136"/>
                    </a:lnTo>
                    <a:lnTo>
                      <a:pt x="85" y="116"/>
                    </a:lnTo>
                    <a:lnTo>
                      <a:pt x="81" y="95"/>
                    </a:lnTo>
                    <a:lnTo>
                      <a:pt x="76" y="76"/>
                    </a:lnTo>
                    <a:lnTo>
                      <a:pt x="66" y="58"/>
                    </a:lnTo>
                    <a:lnTo>
                      <a:pt x="55" y="41"/>
                    </a:lnTo>
                    <a:lnTo>
                      <a:pt x="42" y="26"/>
                    </a:lnTo>
                    <a:lnTo>
                      <a:pt x="27" y="12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4" y="29"/>
                    </a:lnTo>
                    <a:lnTo>
                      <a:pt x="28" y="40"/>
                    </a:lnTo>
                    <a:lnTo>
                      <a:pt x="39" y="54"/>
                    </a:lnTo>
                    <a:lnTo>
                      <a:pt x="48" y="69"/>
                    </a:lnTo>
                    <a:lnTo>
                      <a:pt x="55" y="85"/>
                    </a:lnTo>
                    <a:lnTo>
                      <a:pt x="60" y="102"/>
                    </a:lnTo>
                    <a:lnTo>
                      <a:pt x="64" y="118"/>
                    </a:lnTo>
                    <a:lnTo>
                      <a:pt x="65" y="136"/>
                    </a:lnTo>
                    <a:lnTo>
                      <a:pt x="86" y="1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5" name="Freeform 637">
                <a:extLst>
                  <a:ext uri="{FF2B5EF4-FFF2-40B4-BE49-F238E27FC236}">
                    <a16:creationId xmlns:a16="http://schemas.microsoft.com/office/drawing/2014/main" id="{C272EA0B-270B-46AC-9F80-799FF42001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6"/>
                <a:ext cx="1" cy="2"/>
              </a:xfrm>
              <a:custGeom>
                <a:avLst/>
                <a:gdLst>
                  <a:gd name="T0" fmla="*/ 0 w 24"/>
                  <a:gd name="T1" fmla="*/ 0 h 35"/>
                  <a:gd name="T2" fmla="*/ 0 w 24"/>
                  <a:gd name="T3" fmla="*/ 0 h 35"/>
                  <a:gd name="T4" fmla="*/ 0 w 24"/>
                  <a:gd name="T5" fmla="*/ 0 h 35"/>
                  <a:gd name="T6" fmla="*/ 0 w 24"/>
                  <a:gd name="T7" fmla="*/ 0 h 35"/>
                  <a:gd name="T8" fmla="*/ 0 w 24"/>
                  <a:gd name="T9" fmla="*/ 0 h 35"/>
                  <a:gd name="T10" fmla="*/ 0 w 24"/>
                  <a:gd name="T11" fmla="*/ 0 h 35"/>
                  <a:gd name="T12" fmla="*/ 0 w 24"/>
                  <a:gd name="T13" fmla="*/ 0 h 35"/>
                  <a:gd name="T14" fmla="*/ 0 w 24"/>
                  <a:gd name="T15" fmla="*/ 0 h 35"/>
                  <a:gd name="T16" fmla="*/ 0 w 24"/>
                  <a:gd name="T17" fmla="*/ 0 h 35"/>
                  <a:gd name="T18" fmla="*/ 0 w 24"/>
                  <a:gd name="T19" fmla="*/ 0 h 35"/>
                  <a:gd name="T20" fmla="*/ 0 w 24"/>
                  <a:gd name="T21" fmla="*/ 0 h 35"/>
                  <a:gd name="T22" fmla="*/ 0 w 24"/>
                  <a:gd name="T23" fmla="*/ 0 h 35"/>
                  <a:gd name="T24" fmla="*/ 0 w 24"/>
                  <a:gd name="T25" fmla="*/ 0 h 35"/>
                  <a:gd name="T26" fmla="*/ 0 w 24"/>
                  <a:gd name="T27" fmla="*/ 0 h 35"/>
                  <a:gd name="T28" fmla="*/ 0 w 24"/>
                  <a:gd name="T29" fmla="*/ 0 h 35"/>
                  <a:gd name="T30" fmla="*/ 0 w 24"/>
                  <a:gd name="T31" fmla="*/ 0 h 35"/>
                  <a:gd name="T32" fmla="*/ 0 w 24"/>
                  <a:gd name="T33" fmla="*/ 0 h 35"/>
                  <a:gd name="T34" fmla="*/ 0 w 24"/>
                  <a:gd name="T35" fmla="*/ 0 h 35"/>
                  <a:gd name="T36" fmla="*/ 0 w 24"/>
                  <a:gd name="T37" fmla="*/ 0 h 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4"/>
                  <a:gd name="T58" fmla="*/ 0 h 35"/>
                  <a:gd name="T59" fmla="*/ 24 w 24"/>
                  <a:gd name="T60" fmla="*/ 35 h 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4" h="35">
                    <a:moveTo>
                      <a:pt x="21" y="35"/>
                    </a:moveTo>
                    <a:lnTo>
                      <a:pt x="22" y="30"/>
                    </a:lnTo>
                    <a:lnTo>
                      <a:pt x="22" y="26"/>
                    </a:lnTo>
                    <a:lnTo>
                      <a:pt x="23" y="21"/>
                    </a:lnTo>
                    <a:lnTo>
                      <a:pt x="23" y="18"/>
                    </a:lnTo>
                    <a:lnTo>
                      <a:pt x="24" y="15"/>
                    </a:lnTo>
                    <a:lnTo>
                      <a:pt x="24" y="9"/>
                    </a:lnTo>
                    <a:lnTo>
                      <a:pt x="24" y="5"/>
                    </a:lnTo>
                    <a:lnTo>
                      <a:pt x="24" y="0"/>
                    </a:lnTo>
                    <a:lnTo>
                      <a:pt x="3" y="0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3" y="11"/>
                    </a:lnTo>
                    <a:lnTo>
                      <a:pt x="2" y="14"/>
                    </a:lnTo>
                    <a:lnTo>
                      <a:pt x="2" y="19"/>
                    </a:lnTo>
                    <a:lnTo>
                      <a:pt x="1" y="24"/>
                    </a:lnTo>
                    <a:lnTo>
                      <a:pt x="1" y="28"/>
                    </a:lnTo>
                    <a:lnTo>
                      <a:pt x="0" y="31"/>
                    </a:lnTo>
                    <a:lnTo>
                      <a:pt x="21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6" name="Freeform 638">
                <a:extLst>
                  <a:ext uri="{FF2B5EF4-FFF2-40B4-BE49-F238E27FC236}">
                    <a16:creationId xmlns:a16="http://schemas.microsoft.com/office/drawing/2014/main" id="{EB729F05-6F96-4E84-A207-4F4ADA88E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5"/>
                <a:ext cx="1" cy="1"/>
              </a:xfrm>
              <a:custGeom>
                <a:avLst/>
                <a:gdLst>
                  <a:gd name="T0" fmla="*/ 0 w 21"/>
                  <a:gd name="T1" fmla="*/ 0 h 13"/>
                  <a:gd name="T2" fmla="*/ 0 w 21"/>
                  <a:gd name="T3" fmla="*/ 0 h 13"/>
                  <a:gd name="T4" fmla="*/ 0 w 21"/>
                  <a:gd name="T5" fmla="*/ 0 h 13"/>
                  <a:gd name="T6" fmla="*/ 0 w 21"/>
                  <a:gd name="T7" fmla="*/ 0 h 13"/>
                  <a:gd name="T8" fmla="*/ 0 w 21"/>
                  <a:gd name="T9" fmla="*/ 0 h 13"/>
                  <a:gd name="T10" fmla="*/ 0 w 21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3"/>
                  <a:gd name="T20" fmla="*/ 21 w 21"/>
                  <a:gd name="T21" fmla="*/ 13 h 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3">
                    <a:moveTo>
                      <a:pt x="0" y="0"/>
                    </a:moveTo>
                    <a:lnTo>
                      <a:pt x="2" y="9"/>
                    </a:lnTo>
                    <a:lnTo>
                      <a:pt x="10" y="13"/>
                    </a:lnTo>
                    <a:lnTo>
                      <a:pt x="17" y="12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7" name="Freeform 639">
                <a:extLst>
                  <a:ext uri="{FF2B5EF4-FFF2-40B4-BE49-F238E27FC236}">
                    <a16:creationId xmlns:a16="http://schemas.microsoft.com/office/drawing/2014/main" id="{66A83F5A-3299-4D11-8844-EFAB04AD9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3" cy="137"/>
              </a:xfrm>
              <a:custGeom>
                <a:avLst/>
                <a:gdLst>
                  <a:gd name="T0" fmla="*/ 0 w 1169"/>
                  <a:gd name="T1" fmla="*/ 0 h 2481"/>
                  <a:gd name="T2" fmla="*/ 0 w 1169"/>
                  <a:gd name="T3" fmla="*/ 0 h 2481"/>
                  <a:gd name="T4" fmla="*/ 0 w 1169"/>
                  <a:gd name="T5" fmla="*/ 0 h 2481"/>
                  <a:gd name="T6" fmla="*/ 0 w 1169"/>
                  <a:gd name="T7" fmla="*/ 0 h 2481"/>
                  <a:gd name="T8" fmla="*/ 0 w 1169"/>
                  <a:gd name="T9" fmla="*/ 0 h 2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69"/>
                  <a:gd name="T16" fmla="*/ 0 h 2481"/>
                  <a:gd name="T17" fmla="*/ 1169 w 1169"/>
                  <a:gd name="T18" fmla="*/ 2481 h 24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69" h="2481">
                    <a:moveTo>
                      <a:pt x="166" y="0"/>
                    </a:moveTo>
                    <a:lnTo>
                      <a:pt x="0" y="73"/>
                    </a:lnTo>
                    <a:lnTo>
                      <a:pt x="959" y="2481"/>
                    </a:lnTo>
                    <a:lnTo>
                      <a:pt x="1169" y="238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8" name="Freeform 640">
                <a:extLst>
                  <a:ext uri="{FF2B5EF4-FFF2-40B4-BE49-F238E27FC236}">
                    <a16:creationId xmlns:a16="http://schemas.microsoft.com/office/drawing/2014/main" id="{914023FC-8F11-4966-BCDE-248222BD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2" cy="137"/>
              </a:xfrm>
              <a:custGeom>
                <a:avLst/>
                <a:gdLst>
                  <a:gd name="T0" fmla="*/ 0 w 1140"/>
                  <a:gd name="T1" fmla="*/ 0 h 2467"/>
                  <a:gd name="T2" fmla="*/ 0 w 1140"/>
                  <a:gd name="T3" fmla="*/ 0 h 2467"/>
                  <a:gd name="T4" fmla="*/ 0 w 1140"/>
                  <a:gd name="T5" fmla="*/ 0 h 2467"/>
                  <a:gd name="T6" fmla="*/ 0 w 1140"/>
                  <a:gd name="T7" fmla="*/ 0 h 2467"/>
                  <a:gd name="T8" fmla="*/ 0 w 1140"/>
                  <a:gd name="T9" fmla="*/ 0 h 2467"/>
                  <a:gd name="T10" fmla="*/ 0 w 1140"/>
                  <a:gd name="T11" fmla="*/ 0 h 2467"/>
                  <a:gd name="T12" fmla="*/ 0 w 1140"/>
                  <a:gd name="T13" fmla="*/ 0 h 2467"/>
                  <a:gd name="T14" fmla="*/ 0 w 1140"/>
                  <a:gd name="T15" fmla="*/ 0 h 2467"/>
                  <a:gd name="T16" fmla="*/ 0 w 1140"/>
                  <a:gd name="T17" fmla="*/ 0 h 2467"/>
                  <a:gd name="T18" fmla="*/ 0 w 1140"/>
                  <a:gd name="T19" fmla="*/ 0 h 2467"/>
                  <a:gd name="T20" fmla="*/ 0 w 1140"/>
                  <a:gd name="T21" fmla="*/ 0 h 2467"/>
                  <a:gd name="T22" fmla="*/ 0 w 1140"/>
                  <a:gd name="T23" fmla="*/ 0 h 2467"/>
                  <a:gd name="T24" fmla="*/ 0 w 1140"/>
                  <a:gd name="T25" fmla="*/ 0 h 2467"/>
                  <a:gd name="T26" fmla="*/ 0 w 1140"/>
                  <a:gd name="T27" fmla="*/ 0 h 2467"/>
                  <a:gd name="T28" fmla="*/ 0 w 1140"/>
                  <a:gd name="T29" fmla="*/ 0 h 2467"/>
                  <a:gd name="T30" fmla="*/ 0 w 1140"/>
                  <a:gd name="T31" fmla="*/ 0 h 2467"/>
                  <a:gd name="T32" fmla="*/ 0 w 1140"/>
                  <a:gd name="T33" fmla="*/ 0 h 2467"/>
                  <a:gd name="T34" fmla="*/ 0 w 1140"/>
                  <a:gd name="T35" fmla="*/ 0 h 2467"/>
                  <a:gd name="T36" fmla="*/ 0 w 1140"/>
                  <a:gd name="T37" fmla="*/ 0 h 2467"/>
                  <a:gd name="T38" fmla="*/ 0 w 1140"/>
                  <a:gd name="T39" fmla="*/ 0 h 2467"/>
                  <a:gd name="T40" fmla="*/ 0 w 1140"/>
                  <a:gd name="T41" fmla="*/ 0 h 2467"/>
                  <a:gd name="T42" fmla="*/ 0 w 1140"/>
                  <a:gd name="T43" fmla="*/ 0 h 2467"/>
                  <a:gd name="T44" fmla="*/ 0 w 1140"/>
                  <a:gd name="T45" fmla="*/ 0 h 2467"/>
                  <a:gd name="T46" fmla="*/ 0 w 1140"/>
                  <a:gd name="T47" fmla="*/ 0 h 2467"/>
                  <a:gd name="T48" fmla="*/ 0 w 1140"/>
                  <a:gd name="T49" fmla="*/ 0 h 2467"/>
                  <a:gd name="T50" fmla="*/ 0 w 1140"/>
                  <a:gd name="T51" fmla="*/ 0 h 2467"/>
                  <a:gd name="T52" fmla="*/ 0 w 1140"/>
                  <a:gd name="T53" fmla="*/ 0 h 2467"/>
                  <a:gd name="T54" fmla="*/ 0 w 1140"/>
                  <a:gd name="T55" fmla="*/ 0 h 2467"/>
                  <a:gd name="T56" fmla="*/ 0 w 1140"/>
                  <a:gd name="T57" fmla="*/ 0 h 2467"/>
                  <a:gd name="T58" fmla="*/ 0 w 1140"/>
                  <a:gd name="T59" fmla="*/ 0 h 2467"/>
                  <a:gd name="T60" fmla="*/ 0 w 1140"/>
                  <a:gd name="T61" fmla="*/ 0 h 2467"/>
                  <a:gd name="T62" fmla="*/ 0 w 1140"/>
                  <a:gd name="T63" fmla="*/ 0 h 2467"/>
                  <a:gd name="T64" fmla="*/ 0 w 1140"/>
                  <a:gd name="T65" fmla="*/ 0 h 2467"/>
                  <a:gd name="T66" fmla="*/ 0 w 1140"/>
                  <a:gd name="T67" fmla="*/ 0 h 2467"/>
                  <a:gd name="T68" fmla="*/ 0 w 1140"/>
                  <a:gd name="T69" fmla="*/ 0 h 2467"/>
                  <a:gd name="T70" fmla="*/ 0 w 1140"/>
                  <a:gd name="T71" fmla="*/ 0 h 2467"/>
                  <a:gd name="T72" fmla="*/ 0 w 1140"/>
                  <a:gd name="T73" fmla="*/ 0 h 2467"/>
                  <a:gd name="T74" fmla="*/ 0 w 1140"/>
                  <a:gd name="T75" fmla="*/ 0 h 2467"/>
                  <a:gd name="T76" fmla="*/ 0 w 1140"/>
                  <a:gd name="T77" fmla="*/ 0 h 2467"/>
                  <a:gd name="T78" fmla="*/ 0 w 1140"/>
                  <a:gd name="T79" fmla="*/ 0 h 2467"/>
                  <a:gd name="T80" fmla="*/ 0 w 1140"/>
                  <a:gd name="T81" fmla="*/ 0 h 2467"/>
                  <a:gd name="T82" fmla="*/ 0 w 1140"/>
                  <a:gd name="T83" fmla="*/ 0 h 2467"/>
                  <a:gd name="T84" fmla="*/ 0 w 1140"/>
                  <a:gd name="T85" fmla="*/ 0 h 2467"/>
                  <a:gd name="T86" fmla="*/ 0 w 1140"/>
                  <a:gd name="T87" fmla="*/ 0 h 246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40"/>
                  <a:gd name="T133" fmla="*/ 0 h 2467"/>
                  <a:gd name="T134" fmla="*/ 1140 w 1140"/>
                  <a:gd name="T135" fmla="*/ 2467 h 2467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40" h="2467">
                    <a:moveTo>
                      <a:pt x="140" y="0"/>
                    </a:moveTo>
                    <a:lnTo>
                      <a:pt x="126" y="6"/>
                    </a:lnTo>
                    <a:lnTo>
                      <a:pt x="114" y="10"/>
                    </a:lnTo>
                    <a:lnTo>
                      <a:pt x="104" y="14"/>
                    </a:lnTo>
                    <a:lnTo>
                      <a:pt x="94" y="19"/>
                    </a:lnTo>
                    <a:lnTo>
                      <a:pt x="81" y="24"/>
                    </a:lnTo>
                    <a:lnTo>
                      <a:pt x="61" y="32"/>
                    </a:lnTo>
                    <a:lnTo>
                      <a:pt x="36" y="44"/>
                    </a:lnTo>
                    <a:lnTo>
                      <a:pt x="0" y="61"/>
                    </a:lnTo>
                    <a:lnTo>
                      <a:pt x="29" y="132"/>
                    </a:lnTo>
                    <a:lnTo>
                      <a:pt x="55" y="199"/>
                    </a:lnTo>
                    <a:lnTo>
                      <a:pt x="81" y="260"/>
                    </a:lnTo>
                    <a:lnTo>
                      <a:pt x="103" y="317"/>
                    </a:lnTo>
                    <a:lnTo>
                      <a:pt x="125" y="370"/>
                    </a:lnTo>
                    <a:lnTo>
                      <a:pt x="144" y="419"/>
                    </a:lnTo>
                    <a:lnTo>
                      <a:pt x="163" y="467"/>
                    </a:lnTo>
                    <a:lnTo>
                      <a:pt x="181" y="511"/>
                    </a:lnTo>
                    <a:lnTo>
                      <a:pt x="198" y="554"/>
                    </a:lnTo>
                    <a:lnTo>
                      <a:pt x="215" y="596"/>
                    </a:lnTo>
                    <a:lnTo>
                      <a:pt x="232" y="637"/>
                    </a:lnTo>
                    <a:lnTo>
                      <a:pt x="249" y="680"/>
                    </a:lnTo>
                    <a:lnTo>
                      <a:pt x="265" y="723"/>
                    </a:lnTo>
                    <a:lnTo>
                      <a:pt x="284" y="766"/>
                    </a:lnTo>
                    <a:lnTo>
                      <a:pt x="302" y="812"/>
                    </a:lnTo>
                    <a:lnTo>
                      <a:pt x="322" y="861"/>
                    </a:lnTo>
                    <a:lnTo>
                      <a:pt x="342" y="913"/>
                    </a:lnTo>
                    <a:lnTo>
                      <a:pt x="364" y="968"/>
                    </a:lnTo>
                    <a:lnTo>
                      <a:pt x="388" y="1029"/>
                    </a:lnTo>
                    <a:lnTo>
                      <a:pt x="414" y="1093"/>
                    </a:lnTo>
                    <a:lnTo>
                      <a:pt x="442" y="1164"/>
                    </a:lnTo>
                    <a:lnTo>
                      <a:pt x="473" y="1239"/>
                    </a:lnTo>
                    <a:lnTo>
                      <a:pt x="505" y="1323"/>
                    </a:lnTo>
                    <a:lnTo>
                      <a:pt x="542" y="1412"/>
                    </a:lnTo>
                    <a:lnTo>
                      <a:pt x="581" y="1511"/>
                    </a:lnTo>
                    <a:lnTo>
                      <a:pt x="623" y="1618"/>
                    </a:lnTo>
                    <a:lnTo>
                      <a:pt x="669" y="1733"/>
                    </a:lnTo>
                    <a:lnTo>
                      <a:pt x="719" y="1858"/>
                    </a:lnTo>
                    <a:lnTo>
                      <a:pt x="773" y="1993"/>
                    </a:lnTo>
                    <a:lnTo>
                      <a:pt x="832" y="2140"/>
                    </a:lnTo>
                    <a:lnTo>
                      <a:pt x="895" y="2297"/>
                    </a:lnTo>
                    <a:lnTo>
                      <a:pt x="962" y="2467"/>
                    </a:lnTo>
                    <a:lnTo>
                      <a:pt x="972" y="2462"/>
                    </a:lnTo>
                    <a:lnTo>
                      <a:pt x="982" y="2458"/>
                    </a:lnTo>
                    <a:lnTo>
                      <a:pt x="989" y="2455"/>
                    </a:lnTo>
                    <a:lnTo>
                      <a:pt x="996" y="2452"/>
                    </a:lnTo>
                    <a:lnTo>
                      <a:pt x="1003" y="2449"/>
                    </a:lnTo>
                    <a:lnTo>
                      <a:pt x="1009" y="2445"/>
                    </a:lnTo>
                    <a:lnTo>
                      <a:pt x="1015" y="2442"/>
                    </a:lnTo>
                    <a:lnTo>
                      <a:pt x="1022" y="2439"/>
                    </a:lnTo>
                    <a:lnTo>
                      <a:pt x="1030" y="2436"/>
                    </a:lnTo>
                    <a:lnTo>
                      <a:pt x="1040" y="2432"/>
                    </a:lnTo>
                    <a:lnTo>
                      <a:pt x="1050" y="2428"/>
                    </a:lnTo>
                    <a:lnTo>
                      <a:pt x="1063" y="2422"/>
                    </a:lnTo>
                    <a:lnTo>
                      <a:pt x="1077" y="2416"/>
                    </a:lnTo>
                    <a:lnTo>
                      <a:pt x="1095" y="2409"/>
                    </a:lnTo>
                    <a:lnTo>
                      <a:pt x="1116" y="2399"/>
                    </a:lnTo>
                    <a:lnTo>
                      <a:pt x="1140" y="2390"/>
                    </a:lnTo>
                    <a:lnTo>
                      <a:pt x="1110" y="2318"/>
                    </a:lnTo>
                    <a:lnTo>
                      <a:pt x="1081" y="2251"/>
                    </a:lnTo>
                    <a:lnTo>
                      <a:pt x="1056" y="2190"/>
                    </a:lnTo>
                    <a:lnTo>
                      <a:pt x="1033" y="2134"/>
                    </a:lnTo>
                    <a:lnTo>
                      <a:pt x="1011" y="2082"/>
                    </a:lnTo>
                    <a:lnTo>
                      <a:pt x="991" y="2032"/>
                    </a:lnTo>
                    <a:lnTo>
                      <a:pt x="970" y="1985"/>
                    </a:lnTo>
                    <a:lnTo>
                      <a:pt x="952" y="1940"/>
                    </a:lnTo>
                    <a:lnTo>
                      <a:pt x="935" y="1897"/>
                    </a:lnTo>
                    <a:lnTo>
                      <a:pt x="916" y="1856"/>
                    </a:lnTo>
                    <a:lnTo>
                      <a:pt x="899" y="1814"/>
                    </a:lnTo>
                    <a:lnTo>
                      <a:pt x="882" y="1773"/>
                    </a:lnTo>
                    <a:lnTo>
                      <a:pt x="864" y="1730"/>
                    </a:lnTo>
                    <a:lnTo>
                      <a:pt x="846" y="1686"/>
                    </a:lnTo>
                    <a:lnTo>
                      <a:pt x="826" y="1640"/>
                    </a:lnTo>
                    <a:lnTo>
                      <a:pt x="807" y="1592"/>
                    </a:lnTo>
                    <a:lnTo>
                      <a:pt x="785" y="1541"/>
                    </a:lnTo>
                    <a:lnTo>
                      <a:pt x="762" y="1485"/>
                    </a:lnTo>
                    <a:lnTo>
                      <a:pt x="738" y="1426"/>
                    </a:lnTo>
                    <a:lnTo>
                      <a:pt x="710" y="1362"/>
                    </a:lnTo>
                    <a:lnTo>
                      <a:pt x="682" y="1292"/>
                    </a:lnTo>
                    <a:lnTo>
                      <a:pt x="650" y="1216"/>
                    </a:lnTo>
                    <a:lnTo>
                      <a:pt x="615" y="1134"/>
                    </a:lnTo>
                    <a:lnTo>
                      <a:pt x="578" y="1044"/>
                    </a:lnTo>
                    <a:lnTo>
                      <a:pt x="537" y="947"/>
                    </a:lnTo>
                    <a:lnTo>
                      <a:pt x="493" y="842"/>
                    </a:lnTo>
                    <a:lnTo>
                      <a:pt x="445" y="727"/>
                    </a:lnTo>
                    <a:lnTo>
                      <a:pt x="393" y="603"/>
                    </a:lnTo>
                    <a:lnTo>
                      <a:pt x="337" y="469"/>
                    </a:lnTo>
                    <a:lnTo>
                      <a:pt x="276" y="324"/>
                    </a:lnTo>
                    <a:lnTo>
                      <a:pt x="210" y="167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9" name="Freeform 641">
                <a:extLst>
                  <a:ext uri="{FF2B5EF4-FFF2-40B4-BE49-F238E27FC236}">
                    <a16:creationId xmlns:a16="http://schemas.microsoft.com/office/drawing/2014/main" id="{C897C48F-8BA5-4B2F-9E9B-4A6C7026F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50" cy="136"/>
              </a:xfrm>
              <a:custGeom>
                <a:avLst/>
                <a:gdLst>
                  <a:gd name="T0" fmla="*/ 0 w 1109"/>
                  <a:gd name="T1" fmla="*/ 0 h 2454"/>
                  <a:gd name="T2" fmla="*/ 0 w 1109"/>
                  <a:gd name="T3" fmla="*/ 0 h 2454"/>
                  <a:gd name="T4" fmla="*/ 0 w 1109"/>
                  <a:gd name="T5" fmla="*/ 0 h 2454"/>
                  <a:gd name="T6" fmla="*/ 0 w 1109"/>
                  <a:gd name="T7" fmla="*/ 0 h 2454"/>
                  <a:gd name="T8" fmla="*/ 0 w 1109"/>
                  <a:gd name="T9" fmla="*/ 0 h 2454"/>
                  <a:gd name="T10" fmla="*/ 0 w 1109"/>
                  <a:gd name="T11" fmla="*/ 0 h 2454"/>
                  <a:gd name="T12" fmla="*/ 0 w 1109"/>
                  <a:gd name="T13" fmla="*/ 0 h 2454"/>
                  <a:gd name="T14" fmla="*/ 0 w 1109"/>
                  <a:gd name="T15" fmla="*/ 0 h 2454"/>
                  <a:gd name="T16" fmla="*/ 0 w 1109"/>
                  <a:gd name="T17" fmla="*/ 0 h 2454"/>
                  <a:gd name="T18" fmla="*/ 0 w 1109"/>
                  <a:gd name="T19" fmla="*/ 0 h 2454"/>
                  <a:gd name="T20" fmla="*/ 0 w 1109"/>
                  <a:gd name="T21" fmla="*/ 0 h 2454"/>
                  <a:gd name="T22" fmla="*/ 0 w 1109"/>
                  <a:gd name="T23" fmla="*/ 0 h 2454"/>
                  <a:gd name="T24" fmla="*/ 0 w 1109"/>
                  <a:gd name="T25" fmla="*/ 0 h 2454"/>
                  <a:gd name="T26" fmla="*/ 0 w 1109"/>
                  <a:gd name="T27" fmla="*/ 0 h 2454"/>
                  <a:gd name="T28" fmla="*/ 0 w 1109"/>
                  <a:gd name="T29" fmla="*/ 0 h 2454"/>
                  <a:gd name="T30" fmla="*/ 0 w 1109"/>
                  <a:gd name="T31" fmla="*/ 0 h 2454"/>
                  <a:gd name="T32" fmla="*/ 0 w 1109"/>
                  <a:gd name="T33" fmla="*/ 0 h 2454"/>
                  <a:gd name="T34" fmla="*/ 0 w 1109"/>
                  <a:gd name="T35" fmla="*/ 0 h 2454"/>
                  <a:gd name="T36" fmla="*/ 0 w 1109"/>
                  <a:gd name="T37" fmla="*/ 0 h 2454"/>
                  <a:gd name="T38" fmla="*/ 0 w 1109"/>
                  <a:gd name="T39" fmla="*/ 0 h 2454"/>
                  <a:gd name="T40" fmla="*/ 0 w 1109"/>
                  <a:gd name="T41" fmla="*/ 0 h 2454"/>
                  <a:gd name="T42" fmla="*/ 0 w 1109"/>
                  <a:gd name="T43" fmla="*/ 0 h 2454"/>
                  <a:gd name="T44" fmla="*/ 0 w 1109"/>
                  <a:gd name="T45" fmla="*/ 0 h 2454"/>
                  <a:gd name="T46" fmla="*/ 0 w 1109"/>
                  <a:gd name="T47" fmla="*/ 0 h 2454"/>
                  <a:gd name="T48" fmla="*/ 0 w 1109"/>
                  <a:gd name="T49" fmla="*/ 0 h 2454"/>
                  <a:gd name="T50" fmla="*/ 0 w 1109"/>
                  <a:gd name="T51" fmla="*/ 0 h 2454"/>
                  <a:gd name="T52" fmla="*/ 0 w 1109"/>
                  <a:gd name="T53" fmla="*/ 0 h 2454"/>
                  <a:gd name="T54" fmla="*/ 0 w 1109"/>
                  <a:gd name="T55" fmla="*/ 0 h 2454"/>
                  <a:gd name="T56" fmla="*/ 0 w 1109"/>
                  <a:gd name="T57" fmla="*/ 0 h 2454"/>
                  <a:gd name="T58" fmla="*/ 0 w 1109"/>
                  <a:gd name="T59" fmla="*/ 0 h 2454"/>
                  <a:gd name="T60" fmla="*/ 0 w 1109"/>
                  <a:gd name="T61" fmla="*/ 0 h 2454"/>
                  <a:gd name="T62" fmla="*/ 0 w 1109"/>
                  <a:gd name="T63" fmla="*/ 0 h 2454"/>
                  <a:gd name="T64" fmla="*/ 0 w 1109"/>
                  <a:gd name="T65" fmla="*/ 0 h 2454"/>
                  <a:gd name="T66" fmla="*/ 0 w 1109"/>
                  <a:gd name="T67" fmla="*/ 0 h 2454"/>
                  <a:gd name="T68" fmla="*/ 0 w 1109"/>
                  <a:gd name="T69" fmla="*/ 0 h 2454"/>
                  <a:gd name="T70" fmla="*/ 0 w 1109"/>
                  <a:gd name="T71" fmla="*/ 0 h 2454"/>
                  <a:gd name="T72" fmla="*/ 0 w 1109"/>
                  <a:gd name="T73" fmla="*/ 0 h 2454"/>
                  <a:gd name="T74" fmla="*/ 0 w 1109"/>
                  <a:gd name="T75" fmla="*/ 0 h 2454"/>
                  <a:gd name="T76" fmla="*/ 0 w 1109"/>
                  <a:gd name="T77" fmla="*/ 0 h 2454"/>
                  <a:gd name="T78" fmla="*/ 0 w 1109"/>
                  <a:gd name="T79" fmla="*/ 0 h 245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109"/>
                  <a:gd name="T121" fmla="*/ 0 h 2454"/>
                  <a:gd name="T122" fmla="*/ 1109 w 1109"/>
                  <a:gd name="T123" fmla="*/ 2454 h 245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109" h="2454">
                    <a:moveTo>
                      <a:pt x="113" y="0"/>
                    </a:moveTo>
                    <a:lnTo>
                      <a:pt x="100" y="4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6" y="15"/>
                    </a:lnTo>
                    <a:lnTo>
                      <a:pt x="65" y="19"/>
                    </a:lnTo>
                    <a:lnTo>
                      <a:pt x="49" y="26"/>
                    </a:lnTo>
                    <a:lnTo>
                      <a:pt x="29" y="36"/>
                    </a:lnTo>
                    <a:lnTo>
                      <a:pt x="0" y="49"/>
                    </a:lnTo>
                    <a:lnTo>
                      <a:pt x="29" y="120"/>
                    </a:lnTo>
                    <a:lnTo>
                      <a:pt x="56" y="187"/>
                    </a:lnTo>
                    <a:lnTo>
                      <a:pt x="81" y="248"/>
                    </a:lnTo>
                    <a:lnTo>
                      <a:pt x="103" y="305"/>
                    </a:lnTo>
                    <a:lnTo>
                      <a:pt x="125" y="358"/>
                    </a:lnTo>
                    <a:lnTo>
                      <a:pt x="145" y="407"/>
                    </a:lnTo>
                    <a:lnTo>
                      <a:pt x="164" y="455"/>
                    </a:lnTo>
                    <a:lnTo>
                      <a:pt x="182" y="499"/>
                    </a:lnTo>
                    <a:lnTo>
                      <a:pt x="199" y="542"/>
                    </a:lnTo>
                    <a:lnTo>
                      <a:pt x="216" y="584"/>
                    </a:lnTo>
                    <a:lnTo>
                      <a:pt x="233" y="625"/>
                    </a:lnTo>
                    <a:lnTo>
                      <a:pt x="249" y="667"/>
                    </a:lnTo>
                    <a:lnTo>
                      <a:pt x="267" y="711"/>
                    </a:lnTo>
                    <a:lnTo>
                      <a:pt x="284" y="754"/>
                    </a:lnTo>
                    <a:lnTo>
                      <a:pt x="302" y="800"/>
                    </a:lnTo>
                    <a:lnTo>
                      <a:pt x="323" y="849"/>
                    </a:lnTo>
                    <a:lnTo>
                      <a:pt x="343" y="900"/>
                    </a:lnTo>
                    <a:lnTo>
                      <a:pt x="366" y="956"/>
                    </a:lnTo>
                    <a:lnTo>
                      <a:pt x="389" y="1016"/>
                    </a:lnTo>
                    <a:lnTo>
                      <a:pt x="415" y="1081"/>
                    </a:lnTo>
                    <a:lnTo>
                      <a:pt x="443" y="1151"/>
                    </a:lnTo>
                    <a:lnTo>
                      <a:pt x="474" y="1227"/>
                    </a:lnTo>
                    <a:lnTo>
                      <a:pt x="507" y="1311"/>
                    </a:lnTo>
                    <a:lnTo>
                      <a:pt x="544" y="1400"/>
                    </a:lnTo>
                    <a:lnTo>
                      <a:pt x="583" y="1499"/>
                    </a:lnTo>
                    <a:lnTo>
                      <a:pt x="626" y="1606"/>
                    </a:lnTo>
                    <a:lnTo>
                      <a:pt x="672" y="1721"/>
                    </a:lnTo>
                    <a:lnTo>
                      <a:pt x="723" y="1846"/>
                    </a:lnTo>
                    <a:lnTo>
                      <a:pt x="777" y="1981"/>
                    </a:lnTo>
                    <a:lnTo>
                      <a:pt x="835" y="2128"/>
                    </a:lnTo>
                    <a:lnTo>
                      <a:pt x="898" y="2285"/>
                    </a:lnTo>
                    <a:lnTo>
                      <a:pt x="966" y="2454"/>
                    </a:lnTo>
                    <a:lnTo>
                      <a:pt x="982" y="2447"/>
                    </a:lnTo>
                    <a:lnTo>
                      <a:pt x="994" y="2442"/>
                    </a:lnTo>
                    <a:lnTo>
                      <a:pt x="1003" y="2436"/>
                    </a:lnTo>
                    <a:lnTo>
                      <a:pt x="1014" y="2432"/>
                    </a:lnTo>
                    <a:lnTo>
                      <a:pt x="1029" y="2426"/>
                    </a:lnTo>
                    <a:lnTo>
                      <a:pt x="1047" y="2417"/>
                    </a:lnTo>
                    <a:lnTo>
                      <a:pt x="1073" y="2407"/>
                    </a:lnTo>
                    <a:lnTo>
                      <a:pt x="1109" y="2392"/>
                    </a:lnTo>
                    <a:lnTo>
                      <a:pt x="1080" y="2320"/>
                    </a:lnTo>
                    <a:lnTo>
                      <a:pt x="1052" y="2254"/>
                    </a:lnTo>
                    <a:lnTo>
                      <a:pt x="1027" y="2193"/>
                    </a:lnTo>
                    <a:lnTo>
                      <a:pt x="1003" y="2136"/>
                    </a:lnTo>
                    <a:lnTo>
                      <a:pt x="981" y="2083"/>
                    </a:lnTo>
                    <a:lnTo>
                      <a:pt x="960" y="2035"/>
                    </a:lnTo>
                    <a:lnTo>
                      <a:pt x="941" y="1987"/>
                    </a:lnTo>
                    <a:lnTo>
                      <a:pt x="922" y="1943"/>
                    </a:lnTo>
                    <a:lnTo>
                      <a:pt x="905" y="1900"/>
                    </a:lnTo>
                    <a:lnTo>
                      <a:pt x="887" y="1858"/>
                    </a:lnTo>
                    <a:lnTo>
                      <a:pt x="869" y="1817"/>
                    </a:lnTo>
                    <a:lnTo>
                      <a:pt x="852" y="1774"/>
                    </a:lnTo>
                    <a:lnTo>
                      <a:pt x="835" y="1732"/>
                    </a:lnTo>
                    <a:lnTo>
                      <a:pt x="816" y="1688"/>
                    </a:lnTo>
                    <a:lnTo>
                      <a:pt x="797" y="1643"/>
                    </a:lnTo>
                    <a:lnTo>
                      <a:pt x="778" y="1594"/>
                    </a:lnTo>
                    <a:lnTo>
                      <a:pt x="756" y="1542"/>
                    </a:lnTo>
                    <a:lnTo>
                      <a:pt x="733" y="1488"/>
                    </a:lnTo>
                    <a:lnTo>
                      <a:pt x="708" y="1428"/>
                    </a:lnTo>
                    <a:lnTo>
                      <a:pt x="681" y="1363"/>
                    </a:lnTo>
                    <a:lnTo>
                      <a:pt x="652" y="1294"/>
                    </a:lnTo>
                    <a:lnTo>
                      <a:pt x="621" y="1218"/>
                    </a:lnTo>
                    <a:lnTo>
                      <a:pt x="586" y="1136"/>
                    </a:lnTo>
                    <a:lnTo>
                      <a:pt x="549" y="1046"/>
                    </a:lnTo>
                    <a:lnTo>
                      <a:pt x="508" y="948"/>
                    </a:lnTo>
                    <a:lnTo>
                      <a:pt x="464" y="842"/>
                    </a:lnTo>
                    <a:lnTo>
                      <a:pt x="417" y="728"/>
                    </a:lnTo>
                    <a:lnTo>
                      <a:pt x="364" y="604"/>
                    </a:lnTo>
                    <a:lnTo>
                      <a:pt x="308" y="469"/>
                    </a:lnTo>
                    <a:lnTo>
                      <a:pt x="248" y="325"/>
                    </a:lnTo>
                    <a:lnTo>
                      <a:pt x="183" y="16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0" name="Freeform 642">
                <a:extLst>
                  <a:ext uri="{FF2B5EF4-FFF2-40B4-BE49-F238E27FC236}">
                    <a16:creationId xmlns:a16="http://schemas.microsoft.com/office/drawing/2014/main" id="{242F5A27-EB80-4A4D-A3FE-CA6E5E6B7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49" cy="136"/>
              </a:xfrm>
              <a:custGeom>
                <a:avLst/>
                <a:gdLst>
                  <a:gd name="T0" fmla="*/ 0 w 1078"/>
                  <a:gd name="T1" fmla="*/ 0 h 2440"/>
                  <a:gd name="T2" fmla="*/ 0 w 1078"/>
                  <a:gd name="T3" fmla="*/ 0 h 2440"/>
                  <a:gd name="T4" fmla="*/ 0 w 1078"/>
                  <a:gd name="T5" fmla="*/ 0 h 2440"/>
                  <a:gd name="T6" fmla="*/ 0 w 1078"/>
                  <a:gd name="T7" fmla="*/ 0 h 2440"/>
                  <a:gd name="T8" fmla="*/ 0 w 1078"/>
                  <a:gd name="T9" fmla="*/ 0 h 2440"/>
                  <a:gd name="T10" fmla="*/ 0 w 1078"/>
                  <a:gd name="T11" fmla="*/ 0 h 2440"/>
                  <a:gd name="T12" fmla="*/ 0 w 1078"/>
                  <a:gd name="T13" fmla="*/ 0 h 2440"/>
                  <a:gd name="T14" fmla="*/ 0 w 1078"/>
                  <a:gd name="T15" fmla="*/ 0 h 2440"/>
                  <a:gd name="T16" fmla="*/ 0 w 1078"/>
                  <a:gd name="T17" fmla="*/ 0 h 2440"/>
                  <a:gd name="T18" fmla="*/ 0 w 1078"/>
                  <a:gd name="T19" fmla="*/ 0 h 2440"/>
                  <a:gd name="T20" fmla="*/ 0 w 1078"/>
                  <a:gd name="T21" fmla="*/ 0 h 2440"/>
                  <a:gd name="T22" fmla="*/ 0 w 1078"/>
                  <a:gd name="T23" fmla="*/ 0 h 2440"/>
                  <a:gd name="T24" fmla="*/ 0 w 1078"/>
                  <a:gd name="T25" fmla="*/ 0 h 2440"/>
                  <a:gd name="T26" fmla="*/ 0 w 1078"/>
                  <a:gd name="T27" fmla="*/ 0 h 2440"/>
                  <a:gd name="T28" fmla="*/ 0 w 1078"/>
                  <a:gd name="T29" fmla="*/ 0 h 2440"/>
                  <a:gd name="T30" fmla="*/ 0 w 1078"/>
                  <a:gd name="T31" fmla="*/ 0 h 2440"/>
                  <a:gd name="T32" fmla="*/ 0 w 1078"/>
                  <a:gd name="T33" fmla="*/ 0 h 2440"/>
                  <a:gd name="T34" fmla="*/ 0 w 1078"/>
                  <a:gd name="T35" fmla="*/ 0 h 2440"/>
                  <a:gd name="T36" fmla="*/ 0 w 1078"/>
                  <a:gd name="T37" fmla="*/ 0 h 2440"/>
                  <a:gd name="T38" fmla="*/ 0 w 1078"/>
                  <a:gd name="T39" fmla="*/ 0 h 2440"/>
                  <a:gd name="T40" fmla="*/ 0 w 1078"/>
                  <a:gd name="T41" fmla="*/ 0 h 2440"/>
                  <a:gd name="T42" fmla="*/ 0 w 1078"/>
                  <a:gd name="T43" fmla="*/ 0 h 2440"/>
                  <a:gd name="T44" fmla="*/ 0 w 1078"/>
                  <a:gd name="T45" fmla="*/ 0 h 2440"/>
                  <a:gd name="T46" fmla="*/ 0 w 1078"/>
                  <a:gd name="T47" fmla="*/ 0 h 2440"/>
                  <a:gd name="T48" fmla="*/ 0 w 1078"/>
                  <a:gd name="T49" fmla="*/ 0 h 2440"/>
                  <a:gd name="T50" fmla="*/ 0 w 1078"/>
                  <a:gd name="T51" fmla="*/ 0 h 2440"/>
                  <a:gd name="T52" fmla="*/ 0 w 1078"/>
                  <a:gd name="T53" fmla="*/ 0 h 2440"/>
                  <a:gd name="T54" fmla="*/ 0 w 1078"/>
                  <a:gd name="T55" fmla="*/ 0 h 2440"/>
                  <a:gd name="T56" fmla="*/ 0 w 1078"/>
                  <a:gd name="T57" fmla="*/ 0 h 2440"/>
                  <a:gd name="T58" fmla="*/ 0 w 1078"/>
                  <a:gd name="T59" fmla="*/ 0 h 2440"/>
                  <a:gd name="T60" fmla="*/ 0 w 1078"/>
                  <a:gd name="T61" fmla="*/ 0 h 2440"/>
                  <a:gd name="T62" fmla="*/ 0 w 1078"/>
                  <a:gd name="T63" fmla="*/ 0 h 2440"/>
                  <a:gd name="T64" fmla="*/ 0 w 1078"/>
                  <a:gd name="T65" fmla="*/ 0 h 2440"/>
                  <a:gd name="T66" fmla="*/ 0 w 1078"/>
                  <a:gd name="T67" fmla="*/ 0 h 2440"/>
                  <a:gd name="T68" fmla="*/ 0 w 1078"/>
                  <a:gd name="T69" fmla="*/ 0 h 2440"/>
                  <a:gd name="T70" fmla="*/ 0 w 1078"/>
                  <a:gd name="T71" fmla="*/ 0 h 2440"/>
                  <a:gd name="T72" fmla="*/ 0 w 1078"/>
                  <a:gd name="T73" fmla="*/ 0 h 2440"/>
                  <a:gd name="T74" fmla="*/ 0 w 1078"/>
                  <a:gd name="T75" fmla="*/ 0 h 2440"/>
                  <a:gd name="T76" fmla="*/ 0 w 1078"/>
                  <a:gd name="T77" fmla="*/ 0 h 2440"/>
                  <a:gd name="T78" fmla="*/ 0 w 1078"/>
                  <a:gd name="T79" fmla="*/ 0 h 244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78"/>
                  <a:gd name="T121" fmla="*/ 0 h 2440"/>
                  <a:gd name="T122" fmla="*/ 1078 w 1078"/>
                  <a:gd name="T123" fmla="*/ 2440 h 2440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78" h="2440">
                    <a:moveTo>
                      <a:pt x="86" y="0"/>
                    </a:moveTo>
                    <a:lnTo>
                      <a:pt x="77" y="3"/>
                    </a:lnTo>
                    <a:lnTo>
                      <a:pt x="71" y="6"/>
                    </a:lnTo>
                    <a:lnTo>
                      <a:pt x="65" y="8"/>
                    </a:lnTo>
                    <a:lnTo>
                      <a:pt x="59" y="10"/>
                    </a:lnTo>
                    <a:lnTo>
                      <a:pt x="49" y="14"/>
                    </a:lnTo>
                    <a:lnTo>
                      <a:pt x="38" y="20"/>
                    </a:lnTo>
                    <a:lnTo>
                      <a:pt x="22" y="27"/>
                    </a:lnTo>
                    <a:lnTo>
                      <a:pt x="0" y="37"/>
                    </a:lnTo>
                    <a:lnTo>
                      <a:pt x="30" y="108"/>
                    </a:lnTo>
                    <a:lnTo>
                      <a:pt x="57" y="175"/>
                    </a:lnTo>
                    <a:lnTo>
                      <a:pt x="81" y="236"/>
                    </a:lnTo>
                    <a:lnTo>
                      <a:pt x="104" y="293"/>
                    </a:lnTo>
                    <a:lnTo>
                      <a:pt x="126" y="345"/>
                    </a:lnTo>
                    <a:lnTo>
                      <a:pt x="145" y="395"/>
                    </a:lnTo>
                    <a:lnTo>
                      <a:pt x="165" y="442"/>
                    </a:lnTo>
                    <a:lnTo>
                      <a:pt x="182" y="487"/>
                    </a:lnTo>
                    <a:lnTo>
                      <a:pt x="199" y="530"/>
                    </a:lnTo>
                    <a:lnTo>
                      <a:pt x="217" y="572"/>
                    </a:lnTo>
                    <a:lnTo>
                      <a:pt x="234" y="613"/>
                    </a:lnTo>
                    <a:lnTo>
                      <a:pt x="250" y="655"/>
                    </a:lnTo>
                    <a:lnTo>
                      <a:pt x="268" y="698"/>
                    </a:lnTo>
                    <a:lnTo>
                      <a:pt x="286" y="742"/>
                    </a:lnTo>
                    <a:lnTo>
                      <a:pt x="304" y="788"/>
                    </a:lnTo>
                    <a:lnTo>
                      <a:pt x="324" y="837"/>
                    </a:lnTo>
                    <a:lnTo>
                      <a:pt x="345" y="888"/>
                    </a:lnTo>
                    <a:lnTo>
                      <a:pt x="368" y="944"/>
                    </a:lnTo>
                    <a:lnTo>
                      <a:pt x="391" y="1003"/>
                    </a:lnTo>
                    <a:lnTo>
                      <a:pt x="418" y="1069"/>
                    </a:lnTo>
                    <a:lnTo>
                      <a:pt x="445" y="1138"/>
                    </a:lnTo>
                    <a:lnTo>
                      <a:pt x="476" y="1215"/>
                    </a:lnTo>
                    <a:lnTo>
                      <a:pt x="509" y="1297"/>
                    </a:lnTo>
                    <a:lnTo>
                      <a:pt x="546" y="1388"/>
                    </a:lnTo>
                    <a:lnTo>
                      <a:pt x="585" y="1486"/>
                    </a:lnTo>
                    <a:lnTo>
                      <a:pt x="628" y="1593"/>
                    </a:lnTo>
                    <a:lnTo>
                      <a:pt x="675" y="1707"/>
                    </a:lnTo>
                    <a:lnTo>
                      <a:pt x="725" y="1833"/>
                    </a:lnTo>
                    <a:lnTo>
                      <a:pt x="780" y="1968"/>
                    </a:lnTo>
                    <a:lnTo>
                      <a:pt x="838" y="2113"/>
                    </a:lnTo>
                    <a:lnTo>
                      <a:pt x="901" y="2270"/>
                    </a:lnTo>
                    <a:lnTo>
                      <a:pt x="969" y="2440"/>
                    </a:lnTo>
                    <a:lnTo>
                      <a:pt x="982" y="2435"/>
                    </a:lnTo>
                    <a:lnTo>
                      <a:pt x="990" y="2431"/>
                    </a:lnTo>
                    <a:lnTo>
                      <a:pt x="998" y="2426"/>
                    </a:lnTo>
                    <a:lnTo>
                      <a:pt x="1006" y="2423"/>
                    </a:lnTo>
                    <a:lnTo>
                      <a:pt x="1016" y="2419"/>
                    </a:lnTo>
                    <a:lnTo>
                      <a:pt x="1031" y="2413"/>
                    </a:lnTo>
                    <a:lnTo>
                      <a:pt x="1050" y="2404"/>
                    </a:lnTo>
                    <a:lnTo>
                      <a:pt x="1078" y="2394"/>
                    </a:lnTo>
                    <a:lnTo>
                      <a:pt x="1048" y="2322"/>
                    </a:lnTo>
                    <a:lnTo>
                      <a:pt x="1020" y="2256"/>
                    </a:lnTo>
                    <a:lnTo>
                      <a:pt x="995" y="2195"/>
                    </a:lnTo>
                    <a:lnTo>
                      <a:pt x="973" y="2138"/>
                    </a:lnTo>
                    <a:lnTo>
                      <a:pt x="950" y="2085"/>
                    </a:lnTo>
                    <a:lnTo>
                      <a:pt x="930" y="2035"/>
                    </a:lnTo>
                    <a:lnTo>
                      <a:pt x="910" y="1989"/>
                    </a:lnTo>
                    <a:lnTo>
                      <a:pt x="892" y="1944"/>
                    </a:lnTo>
                    <a:lnTo>
                      <a:pt x="875" y="1901"/>
                    </a:lnTo>
                    <a:lnTo>
                      <a:pt x="857" y="1859"/>
                    </a:lnTo>
                    <a:lnTo>
                      <a:pt x="840" y="1817"/>
                    </a:lnTo>
                    <a:lnTo>
                      <a:pt x="823" y="1775"/>
                    </a:lnTo>
                    <a:lnTo>
                      <a:pt x="805" y="1733"/>
                    </a:lnTo>
                    <a:lnTo>
                      <a:pt x="787" y="1688"/>
                    </a:lnTo>
                    <a:lnTo>
                      <a:pt x="768" y="1643"/>
                    </a:lnTo>
                    <a:lnTo>
                      <a:pt x="748" y="1595"/>
                    </a:lnTo>
                    <a:lnTo>
                      <a:pt x="727" y="1543"/>
                    </a:lnTo>
                    <a:lnTo>
                      <a:pt x="703" y="1487"/>
                    </a:lnTo>
                    <a:lnTo>
                      <a:pt x="679" y="1428"/>
                    </a:lnTo>
                    <a:lnTo>
                      <a:pt x="652" y="1364"/>
                    </a:lnTo>
                    <a:lnTo>
                      <a:pt x="624" y="1294"/>
                    </a:lnTo>
                    <a:lnTo>
                      <a:pt x="592" y="1218"/>
                    </a:lnTo>
                    <a:lnTo>
                      <a:pt x="557" y="1135"/>
                    </a:lnTo>
                    <a:lnTo>
                      <a:pt x="521" y="1045"/>
                    </a:lnTo>
                    <a:lnTo>
                      <a:pt x="480" y="948"/>
                    </a:lnTo>
                    <a:lnTo>
                      <a:pt x="436" y="843"/>
                    </a:lnTo>
                    <a:lnTo>
                      <a:pt x="388" y="728"/>
                    </a:lnTo>
                    <a:lnTo>
                      <a:pt x="337" y="604"/>
                    </a:lnTo>
                    <a:lnTo>
                      <a:pt x="281" y="469"/>
                    </a:lnTo>
                    <a:lnTo>
                      <a:pt x="221" y="324"/>
                    </a:lnTo>
                    <a:lnTo>
                      <a:pt x="155" y="16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1" name="Freeform 643">
                <a:extLst>
                  <a:ext uri="{FF2B5EF4-FFF2-40B4-BE49-F238E27FC236}">
                    <a16:creationId xmlns:a16="http://schemas.microsoft.com/office/drawing/2014/main" id="{5F317ED9-BE91-4F82-883D-1A389853F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8" cy="135"/>
              </a:xfrm>
              <a:custGeom>
                <a:avLst/>
                <a:gdLst>
                  <a:gd name="T0" fmla="*/ 0 w 1046"/>
                  <a:gd name="T1" fmla="*/ 0 h 2428"/>
                  <a:gd name="T2" fmla="*/ 0 w 1046"/>
                  <a:gd name="T3" fmla="*/ 0 h 2428"/>
                  <a:gd name="T4" fmla="*/ 0 w 1046"/>
                  <a:gd name="T5" fmla="*/ 0 h 2428"/>
                  <a:gd name="T6" fmla="*/ 0 w 1046"/>
                  <a:gd name="T7" fmla="*/ 0 h 2428"/>
                  <a:gd name="T8" fmla="*/ 0 w 1046"/>
                  <a:gd name="T9" fmla="*/ 0 h 2428"/>
                  <a:gd name="T10" fmla="*/ 0 w 1046"/>
                  <a:gd name="T11" fmla="*/ 0 h 2428"/>
                  <a:gd name="T12" fmla="*/ 0 w 1046"/>
                  <a:gd name="T13" fmla="*/ 0 h 2428"/>
                  <a:gd name="T14" fmla="*/ 0 w 1046"/>
                  <a:gd name="T15" fmla="*/ 0 h 2428"/>
                  <a:gd name="T16" fmla="*/ 0 w 1046"/>
                  <a:gd name="T17" fmla="*/ 0 h 2428"/>
                  <a:gd name="T18" fmla="*/ 0 w 1046"/>
                  <a:gd name="T19" fmla="*/ 0 h 2428"/>
                  <a:gd name="T20" fmla="*/ 0 w 1046"/>
                  <a:gd name="T21" fmla="*/ 0 h 2428"/>
                  <a:gd name="T22" fmla="*/ 0 w 1046"/>
                  <a:gd name="T23" fmla="*/ 0 h 2428"/>
                  <a:gd name="T24" fmla="*/ 0 w 1046"/>
                  <a:gd name="T25" fmla="*/ 0 h 2428"/>
                  <a:gd name="T26" fmla="*/ 0 w 1046"/>
                  <a:gd name="T27" fmla="*/ 0 h 2428"/>
                  <a:gd name="T28" fmla="*/ 0 w 1046"/>
                  <a:gd name="T29" fmla="*/ 0 h 2428"/>
                  <a:gd name="T30" fmla="*/ 0 w 1046"/>
                  <a:gd name="T31" fmla="*/ 0 h 2428"/>
                  <a:gd name="T32" fmla="*/ 0 w 1046"/>
                  <a:gd name="T33" fmla="*/ 0 h 2428"/>
                  <a:gd name="T34" fmla="*/ 0 w 1046"/>
                  <a:gd name="T35" fmla="*/ 0 h 2428"/>
                  <a:gd name="T36" fmla="*/ 0 w 1046"/>
                  <a:gd name="T37" fmla="*/ 0 h 2428"/>
                  <a:gd name="T38" fmla="*/ 0 w 1046"/>
                  <a:gd name="T39" fmla="*/ 0 h 2428"/>
                  <a:gd name="T40" fmla="*/ 0 w 1046"/>
                  <a:gd name="T41" fmla="*/ 0 h 2428"/>
                  <a:gd name="T42" fmla="*/ 0 w 1046"/>
                  <a:gd name="T43" fmla="*/ 0 h 2428"/>
                  <a:gd name="T44" fmla="*/ 0 w 1046"/>
                  <a:gd name="T45" fmla="*/ 0 h 2428"/>
                  <a:gd name="T46" fmla="*/ 0 w 1046"/>
                  <a:gd name="T47" fmla="*/ 0 h 2428"/>
                  <a:gd name="T48" fmla="*/ 0 w 1046"/>
                  <a:gd name="T49" fmla="*/ 0 h 2428"/>
                  <a:gd name="T50" fmla="*/ 0 w 1046"/>
                  <a:gd name="T51" fmla="*/ 0 h 2428"/>
                  <a:gd name="T52" fmla="*/ 0 w 1046"/>
                  <a:gd name="T53" fmla="*/ 0 h 2428"/>
                  <a:gd name="T54" fmla="*/ 0 w 1046"/>
                  <a:gd name="T55" fmla="*/ 0 h 2428"/>
                  <a:gd name="T56" fmla="*/ 0 w 1046"/>
                  <a:gd name="T57" fmla="*/ 0 h 2428"/>
                  <a:gd name="T58" fmla="*/ 0 w 1046"/>
                  <a:gd name="T59" fmla="*/ 0 h 2428"/>
                  <a:gd name="T60" fmla="*/ 0 w 1046"/>
                  <a:gd name="T61" fmla="*/ 0 h 2428"/>
                  <a:gd name="T62" fmla="*/ 0 w 1046"/>
                  <a:gd name="T63" fmla="*/ 0 h 2428"/>
                  <a:gd name="T64" fmla="*/ 0 w 1046"/>
                  <a:gd name="T65" fmla="*/ 0 h 2428"/>
                  <a:gd name="T66" fmla="*/ 0 w 1046"/>
                  <a:gd name="T67" fmla="*/ 0 h 2428"/>
                  <a:gd name="T68" fmla="*/ 0 w 1046"/>
                  <a:gd name="T69" fmla="*/ 0 h 2428"/>
                  <a:gd name="T70" fmla="*/ 0 w 1046"/>
                  <a:gd name="T71" fmla="*/ 0 h 2428"/>
                  <a:gd name="T72" fmla="*/ 0 w 1046"/>
                  <a:gd name="T73" fmla="*/ 0 h 2428"/>
                  <a:gd name="T74" fmla="*/ 0 w 1046"/>
                  <a:gd name="T75" fmla="*/ 0 h 2428"/>
                  <a:gd name="T76" fmla="*/ 0 w 1046"/>
                  <a:gd name="T77" fmla="*/ 0 h 2428"/>
                  <a:gd name="T78" fmla="*/ 0 w 1046"/>
                  <a:gd name="T79" fmla="*/ 0 h 242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46"/>
                  <a:gd name="T121" fmla="*/ 0 h 2428"/>
                  <a:gd name="T122" fmla="*/ 1046 w 1046"/>
                  <a:gd name="T123" fmla="*/ 2428 h 242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46" h="2428">
                    <a:moveTo>
                      <a:pt x="58" y="0"/>
                    </a:moveTo>
                    <a:lnTo>
                      <a:pt x="52" y="2"/>
                    </a:lnTo>
                    <a:lnTo>
                      <a:pt x="47" y="4"/>
                    </a:lnTo>
                    <a:lnTo>
                      <a:pt x="43" y="5"/>
                    </a:lnTo>
                    <a:lnTo>
                      <a:pt x="39" y="7"/>
                    </a:lnTo>
                    <a:lnTo>
                      <a:pt x="33" y="10"/>
                    </a:lnTo>
                    <a:lnTo>
                      <a:pt x="25" y="13"/>
                    </a:lnTo>
                    <a:lnTo>
                      <a:pt x="15" y="18"/>
                    </a:lnTo>
                    <a:lnTo>
                      <a:pt x="0" y="25"/>
                    </a:lnTo>
                    <a:lnTo>
                      <a:pt x="29" y="97"/>
                    </a:lnTo>
                    <a:lnTo>
                      <a:pt x="56" y="164"/>
                    </a:lnTo>
                    <a:lnTo>
                      <a:pt x="80" y="225"/>
                    </a:lnTo>
                    <a:lnTo>
                      <a:pt x="104" y="282"/>
                    </a:lnTo>
                    <a:lnTo>
                      <a:pt x="125" y="334"/>
                    </a:lnTo>
                    <a:lnTo>
                      <a:pt x="145" y="384"/>
                    </a:lnTo>
                    <a:lnTo>
                      <a:pt x="164" y="430"/>
                    </a:lnTo>
                    <a:lnTo>
                      <a:pt x="182" y="475"/>
                    </a:lnTo>
                    <a:lnTo>
                      <a:pt x="199" y="518"/>
                    </a:lnTo>
                    <a:lnTo>
                      <a:pt x="217" y="560"/>
                    </a:lnTo>
                    <a:lnTo>
                      <a:pt x="233" y="601"/>
                    </a:lnTo>
                    <a:lnTo>
                      <a:pt x="250" y="643"/>
                    </a:lnTo>
                    <a:lnTo>
                      <a:pt x="268" y="686"/>
                    </a:lnTo>
                    <a:lnTo>
                      <a:pt x="285" y="730"/>
                    </a:lnTo>
                    <a:lnTo>
                      <a:pt x="305" y="776"/>
                    </a:lnTo>
                    <a:lnTo>
                      <a:pt x="324" y="825"/>
                    </a:lnTo>
                    <a:lnTo>
                      <a:pt x="344" y="876"/>
                    </a:lnTo>
                    <a:lnTo>
                      <a:pt x="367" y="932"/>
                    </a:lnTo>
                    <a:lnTo>
                      <a:pt x="391" y="991"/>
                    </a:lnTo>
                    <a:lnTo>
                      <a:pt x="418" y="1056"/>
                    </a:lnTo>
                    <a:lnTo>
                      <a:pt x="445" y="1126"/>
                    </a:lnTo>
                    <a:lnTo>
                      <a:pt x="477" y="1203"/>
                    </a:lnTo>
                    <a:lnTo>
                      <a:pt x="511" y="1285"/>
                    </a:lnTo>
                    <a:lnTo>
                      <a:pt x="546" y="1376"/>
                    </a:lnTo>
                    <a:lnTo>
                      <a:pt x="586" y="1474"/>
                    </a:lnTo>
                    <a:lnTo>
                      <a:pt x="629" y="1580"/>
                    </a:lnTo>
                    <a:lnTo>
                      <a:pt x="676" y="1695"/>
                    </a:lnTo>
                    <a:lnTo>
                      <a:pt x="726" y="1821"/>
                    </a:lnTo>
                    <a:lnTo>
                      <a:pt x="781" y="1956"/>
                    </a:lnTo>
                    <a:lnTo>
                      <a:pt x="840" y="2101"/>
                    </a:lnTo>
                    <a:lnTo>
                      <a:pt x="903" y="2258"/>
                    </a:lnTo>
                    <a:lnTo>
                      <a:pt x="972" y="2428"/>
                    </a:lnTo>
                    <a:lnTo>
                      <a:pt x="980" y="2424"/>
                    </a:lnTo>
                    <a:lnTo>
                      <a:pt x="986" y="2421"/>
                    </a:lnTo>
                    <a:lnTo>
                      <a:pt x="991" y="2419"/>
                    </a:lnTo>
                    <a:lnTo>
                      <a:pt x="997" y="2415"/>
                    </a:lnTo>
                    <a:lnTo>
                      <a:pt x="1004" y="2412"/>
                    </a:lnTo>
                    <a:lnTo>
                      <a:pt x="1013" y="2408"/>
                    </a:lnTo>
                    <a:lnTo>
                      <a:pt x="1028" y="2403"/>
                    </a:lnTo>
                    <a:lnTo>
                      <a:pt x="1046" y="2395"/>
                    </a:lnTo>
                    <a:lnTo>
                      <a:pt x="1017" y="2324"/>
                    </a:lnTo>
                    <a:lnTo>
                      <a:pt x="989" y="2257"/>
                    </a:lnTo>
                    <a:lnTo>
                      <a:pt x="964" y="2196"/>
                    </a:lnTo>
                    <a:lnTo>
                      <a:pt x="941" y="2139"/>
                    </a:lnTo>
                    <a:lnTo>
                      <a:pt x="920" y="2086"/>
                    </a:lnTo>
                    <a:lnTo>
                      <a:pt x="899" y="2037"/>
                    </a:lnTo>
                    <a:lnTo>
                      <a:pt x="880" y="1990"/>
                    </a:lnTo>
                    <a:lnTo>
                      <a:pt x="861" y="1946"/>
                    </a:lnTo>
                    <a:lnTo>
                      <a:pt x="843" y="1903"/>
                    </a:lnTo>
                    <a:lnTo>
                      <a:pt x="826" y="1861"/>
                    </a:lnTo>
                    <a:lnTo>
                      <a:pt x="809" y="1819"/>
                    </a:lnTo>
                    <a:lnTo>
                      <a:pt x="792" y="1778"/>
                    </a:lnTo>
                    <a:lnTo>
                      <a:pt x="774" y="1734"/>
                    </a:lnTo>
                    <a:lnTo>
                      <a:pt x="756" y="1691"/>
                    </a:lnTo>
                    <a:lnTo>
                      <a:pt x="737" y="1645"/>
                    </a:lnTo>
                    <a:lnTo>
                      <a:pt x="718" y="1596"/>
                    </a:lnTo>
                    <a:lnTo>
                      <a:pt x="696" y="1545"/>
                    </a:lnTo>
                    <a:lnTo>
                      <a:pt x="673" y="1490"/>
                    </a:lnTo>
                    <a:lnTo>
                      <a:pt x="648" y="1430"/>
                    </a:lnTo>
                    <a:lnTo>
                      <a:pt x="622" y="1365"/>
                    </a:lnTo>
                    <a:lnTo>
                      <a:pt x="593" y="1296"/>
                    </a:lnTo>
                    <a:lnTo>
                      <a:pt x="562" y="1220"/>
                    </a:lnTo>
                    <a:lnTo>
                      <a:pt x="528" y="1138"/>
                    </a:lnTo>
                    <a:lnTo>
                      <a:pt x="490" y="1047"/>
                    </a:lnTo>
                    <a:lnTo>
                      <a:pt x="450" y="950"/>
                    </a:lnTo>
                    <a:lnTo>
                      <a:pt x="407" y="843"/>
                    </a:lnTo>
                    <a:lnTo>
                      <a:pt x="359" y="730"/>
                    </a:lnTo>
                    <a:lnTo>
                      <a:pt x="308" y="605"/>
                    </a:lnTo>
                    <a:lnTo>
                      <a:pt x="251" y="470"/>
                    </a:lnTo>
                    <a:lnTo>
                      <a:pt x="192" y="325"/>
                    </a:lnTo>
                    <a:lnTo>
                      <a:pt x="127" y="16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2" name="Freeform 644">
                <a:extLst>
                  <a:ext uri="{FF2B5EF4-FFF2-40B4-BE49-F238E27FC236}">
                    <a16:creationId xmlns:a16="http://schemas.microsoft.com/office/drawing/2014/main" id="{098232A1-7601-43C6-9600-725F3D5EF7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6" cy="134"/>
              </a:xfrm>
              <a:custGeom>
                <a:avLst/>
                <a:gdLst>
                  <a:gd name="T0" fmla="*/ 0 w 1017"/>
                  <a:gd name="T1" fmla="*/ 0 h 2414"/>
                  <a:gd name="T2" fmla="*/ 0 w 1017"/>
                  <a:gd name="T3" fmla="*/ 0 h 2414"/>
                  <a:gd name="T4" fmla="*/ 0 w 1017"/>
                  <a:gd name="T5" fmla="*/ 0 h 2414"/>
                  <a:gd name="T6" fmla="*/ 0 w 1017"/>
                  <a:gd name="T7" fmla="*/ 0 h 2414"/>
                  <a:gd name="T8" fmla="*/ 0 w 1017"/>
                  <a:gd name="T9" fmla="*/ 0 h 2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7"/>
                  <a:gd name="T16" fmla="*/ 0 h 2414"/>
                  <a:gd name="T17" fmla="*/ 1017 w 1017"/>
                  <a:gd name="T18" fmla="*/ 2414 h 24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7" h="2414">
                    <a:moveTo>
                      <a:pt x="32" y="0"/>
                    </a:moveTo>
                    <a:lnTo>
                      <a:pt x="0" y="13"/>
                    </a:lnTo>
                    <a:lnTo>
                      <a:pt x="977" y="2414"/>
                    </a:lnTo>
                    <a:lnTo>
                      <a:pt x="1017" y="239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3" name="Freeform 645">
                <a:extLst>
                  <a:ext uri="{FF2B5EF4-FFF2-40B4-BE49-F238E27FC236}">
                    <a16:creationId xmlns:a16="http://schemas.microsoft.com/office/drawing/2014/main" id="{2D50CDB6-14E5-44E1-B030-E3F780DBF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8"/>
                <a:ext cx="8" cy="6"/>
              </a:xfrm>
              <a:custGeom>
                <a:avLst/>
                <a:gdLst>
                  <a:gd name="T0" fmla="*/ 0 w 173"/>
                  <a:gd name="T1" fmla="*/ 0 h 95"/>
                  <a:gd name="T2" fmla="*/ 0 w 173"/>
                  <a:gd name="T3" fmla="*/ 0 h 95"/>
                  <a:gd name="T4" fmla="*/ 0 w 173"/>
                  <a:gd name="T5" fmla="*/ 0 h 95"/>
                  <a:gd name="T6" fmla="*/ 0 w 173"/>
                  <a:gd name="T7" fmla="*/ 0 h 95"/>
                  <a:gd name="T8" fmla="*/ 0 w 173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"/>
                  <a:gd name="T16" fmla="*/ 0 h 95"/>
                  <a:gd name="T17" fmla="*/ 173 w 173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" h="95">
                    <a:moveTo>
                      <a:pt x="173" y="20"/>
                    </a:moveTo>
                    <a:lnTo>
                      <a:pt x="7" y="95"/>
                    </a:lnTo>
                    <a:lnTo>
                      <a:pt x="0" y="75"/>
                    </a:lnTo>
                    <a:lnTo>
                      <a:pt x="166" y="0"/>
                    </a:lnTo>
                    <a:lnTo>
                      <a:pt x="173" y="2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4" name="Freeform 646">
                <a:extLst>
                  <a:ext uri="{FF2B5EF4-FFF2-40B4-BE49-F238E27FC236}">
                    <a16:creationId xmlns:a16="http://schemas.microsoft.com/office/drawing/2014/main" id="{1CDB2E86-D01E-463D-859D-5E156106F9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9" cy="10"/>
              </a:xfrm>
              <a:custGeom>
                <a:avLst/>
                <a:gdLst>
                  <a:gd name="T0" fmla="*/ 0 w 200"/>
                  <a:gd name="T1" fmla="*/ 0 h 179"/>
                  <a:gd name="T2" fmla="*/ 0 w 200"/>
                  <a:gd name="T3" fmla="*/ 0 h 179"/>
                  <a:gd name="T4" fmla="*/ 0 w 200"/>
                  <a:gd name="T5" fmla="*/ 0 h 179"/>
                  <a:gd name="T6" fmla="*/ 0 w 200"/>
                  <a:gd name="T7" fmla="*/ 0 h 179"/>
                  <a:gd name="T8" fmla="*/ 0 w 200"/>
                  <a:gd name="T9" fmla="*/ 0 h 179"/>
                  <a:gd name="T10" fmla="*/ 0 w 200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0"/>
                  <a:gd name="T19" fmla="*/ 0 h 179"/>
                  <a:gd name="T20" fmla="*/ 200 w 200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0" h="179">
                    <a:moveTo>
                      <a:pt x="200" y="106"/>
                    </a:moveTo>
                    <a:lnTo>
                      <a:pt x="33" y="179"/>
                    </a:lnTo>
                    <a:lnTo>
                      <a:pt x="0" y="100"/>
                    </a:lnTo>
                    <a:lnTo>
                      <a:pt x="58" y="0"/>
                    </a:lnTo>
                    <a:lnTo>
                      <a:pt x="168" y="26"/>
                    </a:lnTo>
                    <a:lnTo>
                      <a:pt x="200" y="106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5" name="Freeform 647">
                <a:extLst>
                  <a:ext uri="{FF2B5EF4-FFF2-40B4-BE49-F238E27FC236}">
                    <a16:creationId xmlns:a16="http://schemas.microsoft.com/office/drawing/2014/main" id="{7E64195D-E9D6-47B0-9030-85EF6956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8" cy="10"/>
              </a:xfrm>
              <a:custGeom>
                <a:avLst/>
                <a:gdLst>
                  <a:gd name="T0" fmla="*/ 0 w 173"/>
                  <a:gd name="T1" fmla="*/ 0 h 177"/>
                  <a:gd name="T2" fmla="*/ 0 w 173"/>
                  <a:gd name="T3" fmla="*/ 0 h 177"/>
                  <a:gd name="T4" fmla="*/ 0 w 173"/>
                  <a:gd name="T5" fmla="*/ 0 h 177"/>
                  <a:gd name="T6" fmla="*/ 0 w 173"/>
                  <a:gd name="T7" fmla="*/ 0 h 177"/>
                  <a:gd name="T8" fmla="*/ 0 w 173"/>
                  <a:gd name="T9" fmla="*/ 0 h 177"/>
                  <a:gd name="T10" fmla="*/ 0 w 173"/>
                  <a:gd name="T11" fmla="*/ 0 h 177"/>
                  <a:gd name="T12" fmla="*/ 0 w 173"/>
                  <a:gd name="T13" fmla="*/ 0 h 177"/>
                  <a:gd name="T14" fmla="*/ 0 w 173"/>
                  <a:gd name="T15" fmla="*/ 0 h 177"/>
                  <a:gd name="T16" fmla="*/ 0 w 173"/>
                  <a:gd name="T17" fmla="*/ 0 h 177"/>
                  <a:gd name="T18" fmla="*/ 0 w 173"/>
                  <a:gd name="T19" fmla="*/ 0 h 177"/>
                  <a:gd name="T20" fmla="*/ 0 w 173"/>
                  <a:gd name="T21" fmla="*/ 0 h 177"/>
                  <a:gd name="T22" fmla="*/ 0 w 173"/>
                  <a:gd name="T23" fmla="*/ 0 h 177"/>
                  <a:gd name="T24" fmla="*/ 0 w 173"/>
                  <a:gd name="T25" fmla="*/ 0 h 177"/>
                  <a:gd name="T26" fmla="*/ 0 w 173"/>
                  <a:gd name="T27" fmla="*/ 0 h 177"/>
                  <a:gd name="T28" fmla="*/ 0 w 173"/>
                  <a:gd name="T29" fmla="*/ 0 h 177"/>
                  <a:gd name="T30" fmla="*/ 0 w 173"/>
                  <a:gd name="T31" fmla="*/ 0 h 177"/>
                  <a:gd name="T32" fmla="*/ 0 w 173"/>
                  <a:gd name="T33" fmla="*/ 0 h 177"/>
                  <a:gd name="T34" fmla="*/ 0 w 173"/>
                  <a:gd name="T35" fmla="*/ 0 h 177"/>
                  <a:gd name="T36" fmla="*/ 0 w 173"/>
                  <a:gd name="T37" fmla="*/ 0 h 177"/>
                  <a:gd name="T38" fmla="*/ 0 w 173"/>
                  <a:gd name="T39" fmla="*/ 0 h 177"/>
                  <a:gd name="T40" fmla="*/ 0 w 173"/>
                  <a:gd name="T41" fmla="*/ 0 h 177"/>
                  <a:gd name="T42" fmla="*/ 0 w 173"/>
                  <a:gd name="T43" fmla="*/ 0 h 177"/>
                  <a:gd name="T44" fmla="*/ 0 w 173"/>
                  <a:gd name="T45" fmla="*/ 0 h 177"/>
                  <a:gd name="T46" fmla="*/ 0 w 173"/>
                  <a:gd name="T47" fmla="*/ 0 h 177"/>
                  <a:gd name="T48" fmla="*/ 0 w 173"/>
                  <a:gd name="T49" fmla="*/ 0 h 177"/>
                  <a:gd name="T50" fmla="*/ 0 w 173"/>
                  <a:gd name="T51" fmla="*/ 0 h 177"/>
                  <a:gd name="T52" fmla="*/ 0 w 173"/>
                  <a:gd name="T53" fmla="*/ 0 h 177"/>
                  <a:gd name="T54" fmla="*/ 0 w 173"/>
                  <a:gd name="T55" fmla="*/ 0 h 177"/>
                  <a:gd name="T56" fmla="*/ 0 w 173"/>
                  <a:gd name="T57" fmla="*/ 0 h 177"/>
                  <a:gd name="T58" fmla="*/ 0 w 173"/>
                  <a:gd name="T59" fmla="*/ 0 h 177"/>
                  <a:gd name="T60" fmla="*/ 0 w 173"/>
                  <a:gd name="T61" fmla="*/ 0 h 177"/>
                  <a:gd name="T62" fmla="*/ 0 w 173"/>
                  <a:gd name="T63" fmla="*/ 0 h 177"/>
                  <a:gd name="T64" fmla="*/ 0 w 173"/>
                  <a:gd name="T65" fmla="*/ 0 h 177"/>
                  <a:gd name="T66" fmla="*/ 0 w 173"/>
                  <a:gd name="T67" fmla="*/ 0 h 177"/>
                  <a:gd name="T68" fmla="*/ 0 w 173"/>
                  <a:gd name="T69" fmla="*/ 0 h 177"/>
                  <a:gd name="T70" fmla="*/ 0 w 173"/>
                  <a:gd name="T71" fmla="*/ 0 h 177"/>
                  <a:gd name="T72" fmla="*/ 0 w 173"/>
                  <a:gd name="T73" fmla="*/ 0 h 177"/>
                  <a:gd name="T74" fmla="*/ 0 w 173"/>
                  <a:gd name="T75" fmla="*/ 0 h 177"/>
                  <a:gd name="T76" fmla="*/ 0 w 173"/>
                  <a:gd name="T77" fmla="*/ 0 h 177"/>
                  <a:gd name="T78" fmla="*/ 0 w 173"/>
                  <a:gd name="T79" fmla="*/ 0 h 177"/>
                  <a:gd name="T80" fmla="*/ 0 w 173"/>
                  <a:gd name="T81" fmla="*/ 0 h 17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73"/>
                  <a:gd name="T124" fmla="*/ 0 h 177"/>
                  <a:gd name="T125" fmla="*/ 173 w 173"/>
                  <a:gd name="T126" fmla="*/ 177 h 17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73" h="177">
                    <a:moveTo>
                      <a:pt x="173" y="116"/>
                    </a:moveTo>
                    <a:lnTo>
                      <a:pt x="159" y="122"/>
                    </a:lnTo>
                    <a:lnTo>
                      <a:pt x="147" y="126"/>
                    </a:lnTo>
                    <a:lnTo>
                      <a:pt x="137" y="131"/>
                    </a:lnTo>
                    <a:lnTo>
                      <a:pt x="127" y="135"/>
                    </a:lnTo>
                    <a:lnTo>
                      <a:pt x="114" y="141"/>
                    </a:lnTo>
                    <a:lnTo>
                      <a:pt x="94" y="150"/>
                    </a:lnTo>
                    <a:lnTo>
                      <a:pt x="69" y="161"/>
                    </a:lnTo>
                    <a:lnTo>
                      <a:pt x="33" y="177"/>
                    </a:lnTo>
                    <a:lnTo>
                      <a:pt x="30" y="168"/>
                    </a:lnTo>
                    <a:lnTo>
                      <a:pt x="27" y="161"/>
                    </a:lnTo>
                    <a:lnTo>
                      <a:pt x="25" y="156"/>
                    </a:lnTo>
                    <a:lnTo>
                      <a:pt x="23" y="150"/>
                    </a:lnTo>
                    <a:lnTo>
                      <a:pt x="20" y="141"/>
                    </a:lnTo>
                    <a:lnTo>
                      <a:pt x="16" y="131"/>
                    </a:lnTo>
                    <a:lnTo>
                      <a:pt x="9" y="117"/>
                    </a:lnTo>
                    <a:lnTo>
                      <a:pt x="0" y="97"/>
                    </a:lnTo>
                    <a:lnTo>
                      <a:pt x="7" y="86"/>
                    </a:lnTo>
                    <a:lnTo>
                      <a:pt x="11" y="78"/>
                    </a:lnTo>
                    <a:lnTo>
                      <a:pt x="15" y="70"/>
                    </a:lnTo>
                    <a:lnTo>
                      <a:pt x="19" y="63"/>
                    </a:lnTo>
                    <a:lnTo>
                      <a:pt x="24" y="54"/>
                    </a:lnTo>
                    <a:lnTo>
                      <a:pt x="31" y="41"/>
                    </a:lnTo>
                    <a:lnTo>
                      <a:pt x="40" y="24"/>
                    </a:lnTo>
                    <a:lnTo>
                      <a:pt x="52" y="0"/>
                    </a:lnTo>
                    <a:lnTo>
                      <a:pt x="63" y="3"/>
                    </a:lnTo>
                    <a:lnTo>
                      <a:pt x="70" y="6"/>
                    </a:lnTo>
                    <a:lnTo>
                      <a:pt x="76" y="8"/>
                    </a:lnTo>
                    <a:lnTo>
                      <a:pt x="83" y="11"/>
                    </a:lnTo>
                    <a:lnTo>
                      <a:pt x="91" y="15"/>
                    </a:lnTo>
                    <a:lnTo>
                      <a:pt x="102" y="20"/>
                    </a:lnTo>
                    <a:lnTo>
                      <a:pt x="119" y="27"/>
                    </a:lnTo>
                    <a:lnTo>
                      <a:pt x="140" y="37"/>
                    </a:lnTo>
                    <a:lnTo>
                      <a:pt x="144" y="44"/>
                    </a:lnTo>
                    <a:lnTo>
                      <a:pt x="146" y="50"/>
                    </a:lnTo>
                    <a:lnTo>
                      <a:pt x="149" y="56"/>
                    </a:lnTo>
                    <a:lnTo>
                      <a:pt x="151" y="61"/>
                    </a:lnTo>
                    <a:lnTo>
                      <a:pt x="154" y="69"/>
                    </a:lnTo>
                    <a:lnTo>
                      <a:pt x="159" y="80"/>
                    </a:lnTo>
                    <a:lnTo>
                      <a:pt x="165" y="95"/>
                    </a:lnTo>
                    <a:lnTo>
                      <a:pt x="173" y="116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6" name="Freeform 648">
                <a:extLst>
                  <a:ext uri="{FF2B5EF4-FFF2-40B4-BE49-F238E27FC236}">
                    <a16:creationId xmlns:a16="http://schemas.microsoft.com/office/drawing/2014/main" id="{723037AC-1192-40AC-8C6F-4FDDF3D1A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6" cy="9"/>
              </a:xfrm>
              <a:custGeom>
                <a:avLst/>
                <a:gdLst>
                  <a:gd name="T0" fmla="*/ 0 w 142"/>
                  <a:gd name="T1" fmla="*/ 0 h 175"/>
                  <a:gd name="T2" fmla="*/ 0 w 142"/>
                  <a:gd name="T3" fmla="*/ 0 h 175"/>
                  <a:gd name="T4" fmla="*/ 0 w 142"/>
                  <a:gd name="T5" fmla="*/ 0 h 175"/>
                  <a:gd name="T6" fmla="*/ 0 w 142"/>
                  <a:gd name="T7" fmla="*/ 0 h 175"/>
                  <a:gd name="T8" fmla="*/ 0 w 142"/>
                  <a:gd name="T9" fmla="*/ 0 h 175"/>
                  <a:gd name="T10" fmla="*/ 0 w 142"/>
                  <a:gd name="T11" fmla="*/ 0 h 175"/>
                  <a:gd name="T12" fmla="*/ 0 w 142"/>
                  <a:gd name="T13" fmla="*/ 0 h 175"/>
                  <a:gd name="T14" fmla="*/ 0 w 142"/>
                  <a:gd name="T15" fmla="*/ 0 h 175"/>
                  <a:gd name="T16" fmla="*/ 0 w 142"/>
                  <a:gd name="T17" fmla="*/ 0 h 175"/>
                  <a:gd name="T18" fmla="*/ 0 w 142"/>
                  <a:gd name="T19" fmla="*/ 0 h 175"/>
                  <a:gd name="T20" fmla="*/ 0 w 142"/>
                  <a:gd name="T21" fmla="*/ 0 h 175"/>
                  <a:gd name="T22" fmla="*/ 0 w 142"/>
                  <a:gd name="T23" fmla="*/ 0 h 175"/>
                  <a:gd name="T24" fmla="*/ 0 w 142"/>
                  <a:gd name="T25" fmla="*/ 0 h 175"/>
                  <a:gd name="T26" fmla="*/ 0 w 142"/>
                  <a:gd name="T27" fmla="*/ 0 h 175"/>
                  <a:gd name="T28" fmla="*/ 0 w 142"/>
                  <a:gd name="T29" fmla="*/ 0 h 175"/>
                  <a:gd name="T30" fmla="*/ 0 w 142"/>
                  <a:gd name="T31" fmla="*/ 0 h 175"/>
                  <a:gd name="T32" fmla="*/ 0 w 142"/>
                  <a:gd name="T33" fmla="*/ 0 h 175"/>
                  <a:gd name="T34" fmla="*/ 0 w 142"/>
                  <a:gd name="T35" fmla="*/ 0 h 175"/>
                  <a:gd name="T36" fmla="*/ 0 w 142"/>
                  <a:gd name="T37" fmla="*/ 0 h 175"/>
                  <a:gd name="T38" fmla="*/ 0 w 142"/>
                  <a:gd name="T39" fmla="*/ 0 h 175"/>
                  <a:gd name="T40" fmla="*/ 0 w 142"/>
                  <a:gd name="T41" fmla="*/ 0 h 175"/>
                  <a:gd name="T42" fmla="*/ 0 w 142"/>
                  <a:gd name="T43" fmla="*/ 0 h 175"/>
                  <a:gd name="T44" fmla="*/ 0 w 142"/>
                  <a:gd name="T45" fmla="*/ 0 h 175"/>
                  <a:gd name="T46" fmla="*/ 0 w 142"/>
                  <a:gd name="T47" fmla="*/ 0 h 175"/>
                  <a:gd name="T48" fmla="*/ 0 w 142"/>
                  <a:gd name="T49" fmla="*/ 0 h 175"/>
                  <a:gd name="T50" fmla="*/ 0 w 142"/>
                  <a:gd name="T51" fmla="*/ 0 h 175"/>
                  <a:gd name="T52" fmla="*/ 0 w 142"/>
                  <a:gd name="T53" fmla="*/ 0 h 175"/>
                  <a:gd name="T54" fmla="*/ 0 w 142"/>
                  <a:gd name="T55" fmla="*/ 0 h 175"/>
                  <a:gd name="T56" fmla="*/ 0 w 142"/>
                  <a:gd name="T57" fmla="*/ 0 h 175"/>
                  <a:gd name="T58" fmla="*/ 0 w 142"/>
                  <a:gd name="T59" fmla="*/ 0 h 175"/>
                  <a:gd name="T60" fmla="*/ 0 w 142"/>
                  <a:gd name="T61" fmla="*/ 0 h 175"/>
                  <a:gd name="T62" fmla="*/ 0 w 142"/>
                  <a:gd name="T63" fmla="*/ 0 h 175"/>
                  <a:gd name="T64" fmla="*/ 0 w 142"/>
                  <a:gd name="T65" fmla="*/ 0 h 175"/>
                  <a:gd name="T66" fmla="*/ 0 w 142"/>
                  <a:gd name="T67" fmla="*/ 0 h 175"/>
                  <a:gd name="T68" fmla="*/ 0 w 142"/>
                  <a:gd name="T69" fmla="*/ 0 h 175"/>
                  <a:gd name="T70" fmla="*/ 0 w 142"/>
                  <a:gd name="T71" fmla="*/ 0 h 175"/>
                  <a:gd name="T72" fmla="*/ 0 w 142"/>
                  <a:gd name="T73" fmla="*/ 0 h 175"/>
                  <a:gd name="T74" fmla="*/ 0 w 142"/>
                  <a:gd name="T75" fmla="*/ 0 h 175"/>
                  <a:gd name="T76" fmla="*/ 0 w 142"/>
                  <a:gd name="T77" fmla="*/ 0 h 175"/>
                  <a:gd name="T78" fmla="*/ 0 w 142"/>
                  <a:gd name="T79" fmla="*/ 0 h 175"/>
                  <a:gd name="T80" fmla="*/ 0 w 142"/>
                  <a:gd name="T81" fmla="*/ 0 h 17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175"/>
                  <a:gd name="T125" fmla="*/ 142 w 142"/>
                  <a:gd name="T126" fmla="*/ 175 h 17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175">
                    <a:moveTo>
                      <a:pt x="142" y="126"/>
                    </a:moveTo>
                    <a:lnTo>
                      <a:pt x="131" y="131"/>
                    </a:lnTo>
                    <a:lnTo>
                      <a:pt x="122" y="135"/>
                    </a:lnTo>
                    <a:lnTo>
                      <a:pt x="115" y="137"/>
                    </a:lnTo>
                    <a:lnTo>
                      <a:pt x="107" y="141"/>
                    </a:lnTo>
                    <a:lnTo>
                      <a:pt x="96" y="145"/>
                    </a:lnTo>
                    <a:lnTo>
                      <a:pt x="81" y="152"/>
                    </a:lnTo>
                    <a:lnTo>
                      <a:pt x="61" y="161"/>
                    </a:lnTo>
                    <a:lnTo>
                      <a:pt x="32" y="175"/>
                    </a:lnTo>
                    <a:lnTo>
                      <a:pt x="29" y="165"/>
                    </a:lnTo>
                    <a:lnTo>
                      <a:pt x="26" y="159"/>
                    </a:lnTo>
                    <a:lnTo>
                      <a:pt x="24" y="153"/>
                    </a:lnTo>
                    <a:lnTo>
                      <a:pt x="22" y="146"/>
                    </a:lnTo>
                    <a:lnTo>
                      <a:pt x="19" y="139"/>
                    </a:lnTo>
                    <a:lnTo>
                      <a:pt x="15" y="128"/>
                    </a:lnTo>
                    <a:lnTo>
                      <a:pt x="8" y="114"/>
                    </a:lnTo>
                    <a:lnTo>
                      <a:pt x="0" y="95"/>
                    </a:lnTo>
                    <a:lnTo>
                      <a:pt x="5" y="84"/>
                    </a:lnTo>
                    <a:lnTo>
                      <a:pt x="9" y="76"/>
                    </a:lnTo>
                    <a:lnTo>
                      <a:pt x="12" y="68"/>
                    </a:lnTo>
                    <a:lnTo>
                      <a:pt x="16" y="61"/>
                    </a:lnTo>
                    <a:lnTo>
                      <a:pt x="20" y="53"/>
                    </a:lnTo>
                    <a:lnTo>
                      <a:pt x="26" y="40"/>
                    </a:lnTo>
                    <a:lnTo>
                      <a:pt x="34" y="23"/>
                    </a:lnTo>
                    <a:lnTo>
                      <a:pt x="45" y="0"/>
                    </a:lnTo>
                    <a:lnTo>
                      <a:pt x="53" y="4"/>
                    </a:lnTo>
                    <a:lnTo>
                      <a:pt x="59" y="8"/>
                    </a:lnTo>
                    <a:lnTo>
                      <a:pt x="63" y="11"/>
                    </a:lnTo>
                    <a:lnTo>
                      <a:pt x="68" y="15"/>
                    </a:lnTo>
                    <a:lnTo>
                      <a:pt x="74" y="19"/>
                    </a:lnTo>
                    <a:lnTo>
                      <a:pt x="83" y="25"/>
                    </a:lnTo>
                    <a:lnTo>
                      <a:pt x="94" y="34"/>
                    </a:lnTo>
                    <a:lnTo>
                      <a:pt x="111" y="46"/>
                    </a:lnTo>
                    <a:lnTo>
                      <a:pt x="115" y="55"/>
                    </a:lnTo>
                    <a:lnTo>
                      <a:pt x="117" y="60"/>
                    </a:lnTo>
                    <a:lnTo>
                      <a:pt x="120" y="65"/>
                    </a:lnTo>
                    <a:lnTo>
                      <a:pt x="122" y="71"/>
                    </a:lnTo>
                    <a:lnTo>
                      <a:pt x="125" y="79"/>
                    </a:lnTo>
                    <a:lnTo>
                      <a:pt x="129" y="89"/>
                    </a:lnTo>
                    <a:lnTo>
                      <a:pt x="135" y="105"/>
                    </a:lnTo>
                    <a:lnTo>
                      <a:pt x="142" y="126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7" name="Freeform 649">
                <a:extLst>
                  <a:ext uri="{FF2B5EF4-FFF2-40B4-BE49-F238E27FC236}">
                    <a16:creationId xmlns:a16="http://schemas.microsoft.com/office/drawing/2014/main" id="{555CFD89-1BB2-44A3-99EE-1033DC2EA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5" cy="9"/>
              </a:xfrm>
              <a:custGeom>
                <a:avLst/>
                <a:gdLst>
                  <a:gd name="T0" fmla="*/ 0 w 116"/>
                  <a:gd name="T1" fmla="*/ 0 h 172"/>
                  <a:gd name="T2" fmla="*/ 0 w 116"/>
                  <a:gd name="T3" fmla="*/ 0 h 172"/>
                  <a:gd name="T4" fmla="*/ 0 w 116"/>
                  <a:gd name="T5" fmla="*/ 0 h 172"/>
                  <a:gd name="T6" fmla="*/ 0 w 116"/>
                  <a:gd name="T7" fmla="*/ 0 h 172"/>
                  <a:gd name="T8" fmla="*/ 0 w 116"/>
                  <a:gd name="T9" fmla="*/ 0 h 172"/>
                  <a:gd name="T10" fmla="*/ 0 w 116"/>
                  <a:gd name="T11" fmla="*/ 0 h 172"/>
                  <a:gd name="T12" fmla="*/ 0 w 116"/>
                  <a:gd name="T13" fmla="*/ 0 h 172"/>
                  <a:gd name="T14" fmla="*/ 0 w 116"/>
                  <a:gd name="T15" fmla="*/ 0 h 172"/>
                  <a:gd name="T16" fmla="*/ 0 w 116"/>
                  <a:gd name="T17" fmla="*/ 0 h 172"/>
                  <a:gd name="T18" fmla="*/ 0 w 116"/>
                  <a:gd name="T19" fmla="*/ 0 h 172"/>
                  <a:gd name="T20" fmla="*/ 0 w 116"/>
                  <a:gd name="T21" fmla="*/ 0 h 172"/>
                  <a:gd name="T22" fmla="*/ 0 w 116"/>
                  <a:gd name="T23" fmla="*/ 0 h 172"/>
                  <a:gd name="T24" fmla="*/ 0 w 116"/>
                  <a:gd name="T25" fmla="*/ 0 h 172"/>
                  <a:gd name="T26" fmla="*/ 0 w 116"/>
                  <a:gd name="T27" fmla="*/ 0 h 172"/>
                  <a:gd name="T28" fmla="*/ 0 w 116"/>
                  <a:gd name="T29" fmla="*/ 0 h 172"/>
                  <a:gd name="T30" fmla="*/ 0 w 116"/>
                  <a:gd name="T31" fmla="*/ 0 h 172"/>
                  <a:gd name="T32" fmla="*/ 0 w 116"/>
                  <a:gd name="T33" fmla="*/ 0 h 172"/>
                  <a:gd name="T34" fmla="*/ 0 w 116"/>
                  <a:gd name="T35" fmla="*/ 0 h 172"/>
                  <a:gd name="T36" fmla="*/ 0 w 116"/>
                  <a:gd name="T37" fmla="*/ 0 h 172"/>
                  <a:gd name="T38" fmla="*/ 0 w 116"/>
                  <a:gd name="T39" fmla="*/ 0 h 172"/>
                  <a:gd name="T40" fmla="*/ 0 w 116"/>
                  <a:gd name="T41" fmla="*/ 0 h 172"/>
                  <a:gd name="T42" fmla="*/ 0 w 116"/>
                  <a:gd name="T43" fmla="*/ 0 h 172"/>
                  <a:gd name="T44" fmla="*/ 0 w 116"/>
                  <a:gd name="T45" fmla="*/ 0 h 172"/>
                  <a:gd name="T46" fmla="*/ 0 w 116"/>
                  <a:gd name="T47" fmla="*/ 0 h 172"/>
                  <a:gd name="T48" fmla="*/ 0 w 116"/>
                  <a:gd name="T49" fmla="*/ 0 h 172"/>
                  <a:gd name="T50" fmla="*/ 0 w 116"/>
                  <a:gd name="T51" fmla="*/ 0 h 172"/>
                  <a:gd name="T52" fmla="*/ 0 w 116"/>
                  <a:gd name="T53" fmla="*/ 0 h 172"/>
                  <a:gd name="T54" fmla="*/ 0 w 116"/>
                  <a:gd name="T55" fmla="*/ 0 h 172"/>
                  <a:gd name="T56" fmla="*/ 0 w 116"/>
                  <a:gd name="T57" fmla="*/ 0 h 172"/>
                  <a:gd name="T58" fmla="*/ 0 w 116"/>
                  <a:gd name="T59" fmla="*/ 0 h 172"/>
                  <a:gd name="T60" fmla="*/ 0 w 116"/>
                  <a:gd name="T61" fmla="*/ 0 h 172"/>
                  <a:gd name="T62" fmla="*/ 0 w 116"/>
                  <a:gd name="T63" fmla="*/ 0 h 172"/>
                  <a:gd name="T64" fmla="*/ 0 w 116"/>
                  <a:gd name="T65" fmla="*/ 0 h 172"/>
                  <a:gd name="T66" fmla="*/ 0 w 116"/>
                  <a:gd name="T67" fmla="*/ 0 h 172"/>
                  <a:gd name="T68" fmla="*/ 0 w 116"/>
                  <a:gd name="T69" fmla="*/ 0 h 172"/>
                  <a:gd name="T70" fmla="*/ 0 w 116"/>
                  <a:gd name="T71" fmla="*/ 0 h 172"/>
                  <a:gd name="T72" fmla="*/ 0 w 116"/>
                  <a:gd name="T73" fmla="*/ 0 h 172"/>
                  <a:gd name="T74" fmla="*/ 0 w 116"/>
                  <a:gd name="T75" fmla="*/ 0 h 172"/>
                  <a:gd name="T76" fmla="*/ 0 w 116"/>
                  <a:gd name="T77" fmla="*/ 0 h 172"/>
                  <a:gd name="T78" fmla="*/ 0 w 116"/>
                  <a:gd name="T79" fmla="*/ 0 h 172"/>
                  <a:gd name="T80" fmla="*/ 0 w 116"/>
                  <a:gd name="T81" fmla="*/ 0 h 17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6"/>
                  <a:gd name="T124" fmla="*/ 0 h 172"/>
                  <a:gd name="T125" fmla="*/ 116 w 116"/>
                  <a:gd name="T126" fmla="*/ 172 h 17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6" h="172">
                    <a:moveTo>
                      <a:pt x="116" y="136"/>
                    </a:moveTo>
                    <a:lnTo>
                      <a:pt x="107" y="139"/>
                    </a:lnTo>
                    <a:lnTo>
                      <a:pt x="101" y="141"/>
                    </a:lnTo>
                    <a:lnTo>
                      <a:pt x="95" y="144"/>
                    </a:lnTo>
                    <a:lnTo>
                      <a:pt x="88" y="146"/>
                    </a:lnTo>
                    <a:lnTo>
                      <a:pt x="80" y="150"/>
                    </a:lnTo>
                    <a:lnTo>
                      <a:pt x="69" y="155"/>
                    </a:lnTo>
                    <a:lnTo>
                      <a:pt x="54" y="162"/>
                    </a:lnTo>
                    <a:lnTo>
                      <a:pt x="32" y="172"/>
                    </a:lnTo>
                    <a:lnTo>
                      <a:pt x="29" y="163"/>
                    </a:lnTo>
                    <a:lnTo>
                      <a:pt x="26" y="156"/>
                    </a:lnTo>
                    <a:lnTo>
                      <a:pt x="24" y="151"/>
                    </a:lnTo>
                    <a:lnTo>
                      <a:pt x="22" y="144"/>
                    </a:lnTo>
                    <a:lnTo>
                      <a:pt x="19" y="136"/>
                    </a:lnTo>
                    <a:lnTo>
                      <a:pt x="15" y="126"/>
                    </a:lnTo>
                    <a:lnTo>
                      <a:pt x="8" y="112"/>
                    </a:lnTo>
                    <a:lnTo>
                      <a:pt x="0" y="93"/>
                    </a:lnTo>
                    <a:lnTo>
                      <a:pt x="5" y="82"/>
                    </a:lnTo>
                    <a:lnTo>
                      <a:pt x="8" y="74"/>
                    </a:lnTo>
                    <a:lnTo>
                      <a:pt x="11" y="67"/>
                    </a:lnTo>
                    <a:lnTo>
                      <a:pt x="14" y="60"/>
                    </a:lnTo>
                    <a:lnTo>
                      <a:pt x="18" y="51"/>
                    </a:lnTo>
                    <a:lnTo>
                      <a:pt x="23" y="39"/>
                    </a:lnTo>
                    <a:lnTo>
                      <a:pt x="31" y="22"/>
                    </a:lnTo>
                    <a:lnTo>
                      <a:pt x="40" y="0"/>
                    </a:lnTo>
                    <a:lnTo>
                      <a:pt x="46" y="5"/>
                    </a:lnTo>
                    <a:lnTo>
                      <a:pt x="50" y="9"/>
                    </a:lnTo>
                    <a:lnTo>
                      <a:pt x="53" y="14"/>
                    </a:lnTo>
                    <a:lnTo>
                      <a:pt x="56" y="18"/>
                    </a:lnTo>
                    <a:lnTo>
                      <a:pt x="60" y="23"/>
                    </a:lnTo>
                    <a:lnTo>
                      <a:pt x="65" y="30"/>
                    </a:lnTo>
                    <a:lnTo>
                      <a:pt x="73" y="41"/>
                    </a:lnTo>
                    <a:lnTo>
                      <a:pt x="83" y="56"/>
                    </a:lnTo>
                    <a:lnTo>
                      <a:pt x="87" y="64"/>
                    </a:lnTo>
                    <a:lnTo>
                      <a:pt x="89" y="69"/>
                    </a:lnTo>
                    <a:lnTo>
                      <a:pt x="92" y="75"/>
                    </a:lnTo>
                    <a:lnTo>
                      <a:pt x="95" y="81"/>
                    </a:lnTo>
                    <a:lnTo>
                      <a:pt x="98" y="88"/>
                    </a:lnTo>
                    <a:lnTo>
                      <a:pt x="102" y="99"/>
                    </a:lnTo>
                    <a:lnTo>
                      <a:pt x="108" y="115"/>
                    </a:lnTo>
                    <a:lnTo>
                      <a:pt x="116" y="136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8" name="Freeform 650">
                <a:extLst>
                  <a:ext uri="{FF2B5EF4-FFF2-40B4-BE49-F238E27FC236}">
                    <a16:creationId xmlns:a16="http://schemas.microsoft.com/office/drawing/2014/main" id="{8EC7FD21-0F43-443A-B601-F8EAA16B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4" cy="9"/>
              </a:xfrm>
              <a:custGeom>
                <a:avLst/>
                <a:gdLst>
                  <a:gd name="T0" fmla="*/ 0 w 88"/>
                  <a:gd name="T1" fmla="*/ 0 h 170"/>
                  <a:gd name="T2" fmla="*/ 0 w 88"/>
                  <a:gd name="T3" fmla="*/ 0 h 170"/>
                  <a:gd name="T4" fmla="*/ 0 w 88"/>
                  <a:gd name="T5" fmla="*/ 0 h 170"/>
                  <a:gd name="T6" fmla="*/ 0 w 88"/>
                  <a:gd name="T7" fmla="*/ 0 h 170"/>
                  <a:gd name="T8" fmla="*/ 0 w 88"/>
                  <a:gd name="T9" fmla="*/ 0 h 170"/>
                  <a:gd name="T10" fmla="*/ 0 w 88"/>
                  <a:gd name="T11" fmla="*/ 0 h 170"/>
                  <a:gd name="T12" fmla="*/ 0 w 88"/>
                  <a:gd name="T13" fmla="*/ 0 h 170"/>
                  <a:gd name="T14" fmla="*/ 0 w 88"/>
                  <a:gd name="T15" fmla="*/ 0 h 170"/>
                  <a:gd name="T16" fmla="*/ 0 w 88"/>
                  <a:gd name="T17" fmla="*/ 0 h 170"/>
                  <a:gd name="T18" fmla="*/ 0 w 88"/>
                  <a:gd name="T19" fmla="*/ 0 h 170"/>
                  <a:gd name="T20" fmla="*/ 0 w 88"/>
                  <a:gd name="T21" fmla="*/ 0 h 170"/>
                  <a:gd name="T22" fmla="*/ 0 w 88"/>
                  <a:gd name="T23" fmla="*/ 0 h 170"/>
                  <a:gd name="T24" fmla="*/ 0 w 88"/>
                  <a:gd name="T25" fmla="*/ 0 h 170"/>
                  <a:gd name="T26" fmla="*/ 0 w 88"/>
                  <a:gd name="T27" fmla="*/ 0 h 170"/>
                  <a:gd name="T28" fmla="*/ 0 w 88"/>
                  <a:gd name="T29" fmla="*/ 0 h 170"/>
                  <a:gd name="T30" fmla="*/ 0 w 88"/>
                  <a:gd name="T31" fmla="*/ 0 h 170"/>
                  <a:gd name="T32" fmla="*/ 0 w 88"/>
                  <a:gd name="T33" fmla="*/ 0 h 170"/>
                  <a:gd name="T34" fmla="*/ 0 w 88"/>
                  <a:gd name="T35" fmla="*/ 0 h 170"/>
                  <a:gd name="T36" fmla="*/ 0 w 88"/>
                  <a:gd name="T37" fmla="*/ 0 h 170"/>
                  <a:gd name="T38" fmla="*/ 0 w 88"/>
                  <a:gd name="T39" fmla="*/ 0 h 170"/>
                  <a:gd name="T40" fmla="*/ 0 w 88"/>
                  <a:gd name="T41" fmla="*/ 0 h 170"/>
                  <a:gd name="T42" fmla="*/ 0 w 88"/>
                  <a:gd name="T43" fmla="*/ 0 h 170"/>
                  <a:gd name="T44" fmla="*/ 0 w 88"/>
                  <a:gd name="T45" fmla="*/ 0 h 170"/>
                  <a:gd name="T46" fmla="*/ 0 w 88"/>
                  <a:gd name="T47" fmla="*/ 0 h 170"/>
                  <a:gd name="T48" fmla="*/ 0 w 88"/>
                  <a:gd name="T49" fmla="*/ 0 h 170"/>
                  <a:gd name="T50" fmla="*/ 0 w 88"/>
                  <a:gd name="T51" fmla="*/ 0 h 170"/>
                  <a:gd name="T52" fmla="*/ 0 w 88"/>
                  <a:gd name="T53" fmla="*/ 0 h 170"/>
                  <a:gd name="T54" fmla="*/ 0 w 88"/>
                  <a:gd name="T55" fmla="*/ 0 h 170"/>
                  <a:gd name="T56" fmla="*/ 0 w 88"/>
                  <a:gd name="T57" fmla="*/ 0 h 170"/>
                  <a:gd name="T58" fmla="*/ 0 w 88"/>
                  <a:gd name="T59" fmla="*/ 0 h 170"/>
                  <a:gd name="T60" fmla="*/ 0 w 88"/>
                  <a:gd name="T61" fmla="*/ 0 h 170"/>
                  <a:gd name="T62" fmla="*/ 0 w 88"/>
                  <a:gd name="T63" fmla="*/ 0 h 170"/>
                  <a:gd name="T64" fmla="*/ 0 w 88"/>
                  <a:gd name="T65" fmla="*/ 0 h 170"/>
                  <a:gd name="T66" fmla="*/ 0 w 88"/>
                  <a:gd name="T67" fmla="*/ 0 h 170"/>
                  <a:gd name="T68" fmla="*/ 0 w 88"/>
                  <a:gd name="T69" fmla="*/ 0 h 170"/>
                  <a:gd name="T70" fmla="*/ 0 w 88"/>
                  <a:gd name="T71" fmla="*/ 0 h 170"/>
                  <a:gd name="T72" fmla="*/ 0 w 88"/>
                  <a:gd name="T73" fmla="*/ 0 h 17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88"/>
                  <a:gd name="T112" fmla="*/ 0 h 170"/>
                  <a:gd name="T113" fmla="*/ 88 w 88"/>
                  <a:gd name="T114" fmla="*/ 170 h 17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88" h="170">
                    <a:moveTo>
                      <a:pt x="88" y="145"/>
                    </a:moveTo>
                    <a:lnTo>
                      <a:pt x="81" y="147"/>
                    </a:lnTo>
                    <a:lnTo>
                      <a:pt x="77" y="150"/>
                    </a:lnTo>
                    <a:lnTo>
                      <a:pt x="73" y="151"/>
                    </a:lnTo>
                    <a:lnTo>
                      <a:pt x="69" y="153"/>
                    </a:lnTo>
                    <a:lnTo>
                      <a:pt x="64" y="155"/>
                    </a:lnTo>
                    <a:lnTo>
                      <a:pt x="57" y="158"/>
                    </a:lnTo>
                    <a:lnTo>
                      <a:pt x="47" y="163"/>
                    </a:lnTo>
                    <a:lnTo>
                      <a:pt x="32" y="170"/>
                    </a:lnTo>
                    <a:lnTo>
                      <a:pt x="29" y="161"/>
                    </a:lnTo>
                    <a:lnTo>
                      <a:pt x="26" y="154"/>
                    </a:lnTo>
                    <a:lnTo>
                      <a:pt x="24" y="148"/>
                    </a:lnTo>
                    <a:lnTo>
                      <a:pt x="22" y="142"/>
                    </a:lnTo>
                    <a:lnTo>
                      <a:pt x="19" y="134"/>
                    </a:lnTo>
                    <a:lnTo>
                      <a:pt x="15" y="123"/>
                    </a:lnTo>
                    <a:lnTo>
                      <a:pt x="8" y="109"/>
                    </a:lnTo>
                    <a:lnTo>
                      <a:pt x="0" y="89"/>
                    </a:lnTo>
                    <a:lnTo>
                      <a:pt x="4" y="79"/>
                    </a:lnTo>
                    <a:lnTo>
                      <a:pt x="7" y="71"/>
                    </a:lnTo>
                    <a:lnTo>
                      <a:pt x="9" y="65"/>
                    </a:lnTo>
                    <a:lnTo>
                      <a:pt x="12" y="58"/>
                    </a:lnTo>
                    <a:lnTo>
                      <a:pt x="15" y="49"/>
                    </a:lnTo>
                    <a:lnTo>
                      <a:pt x="19" y="38"/>
                    </a:lnTo>
                    <a:lnTo>
                      <a:pt x="26" y="22"/>
                    </a:lnTo>
                    <a:lnTo>
                      <a:pt x="34" y="0"/>
                    </a:lnTo>
                    <a:lnTo>
                      <a:pt x="40" y="11"/>
                    </a:lnTo>
                    <a:lnTo>
                      <a:pt x="43" y="21"/>
                    </a:lnTo>
                    <a:lnTo>
                      <a:pt x="47" y="36"/>
                    </a:lnTo>
                    <a:lnTo>
                      <a:pt x="55" y="65"/>
                    </a:lnTo>
                    <a:lnTo>
                      <a:pt x="59" y="74"/>
                    </a:lnTo>
                    <a:lnTo>
                      <a:pt x="61" y="79"/>
                    </a:lnTo>
                    <a:lnTo>
                      <a:pt x="64" y="84"/>
                    </a:lnTo>
                    <a:lnTo>
                      <a:pt x="66" y="90"/>
                    </a:lnTo>
                    <a:lnTo>
                      <a:pt x="69" y="98"/>
                    </a:lnTo>
                    <a:lnTo>
                      <a:pt x="73" y="108"/>
                    </a:lnTo>
                    <a:lnTo>
                      <a:pt x="79" y="124"/>
                    </a:lnTo>
                    <a:lnTo>
                      <a:pt x="88" y="145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9" name="Freeform 651">
                <a:extLst>
                  <a:ext uri="{FF2B5EF4-FFF2-40B4-BE49-F238E27FC236}">
                    <a16:creationId xmlns:a16="http://schemas.microsoft.com/office/drawing/2014/main" id="{018A2F5E-5ED7-431E-9ECD-5909C6E42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3"/>
                <a:ext cx="2" cy="9"/>
              </a:xfrm>
              <a:custGeom>
                <a:avLst/>
                <a:gdLst>
                  <a:gd name="T0" fmla="*/ 0 w 59"/>
                  <a:gd name="T1" fmla="*/ 0 h 167"/>
                  <a:gd name="T2" fmla="*/ 0 w 59"/>
                  <a:gd name="T3" fmla="*/ 0 h 167"/>
                  <a:gd name="T4" fmla="*/ 0 w 59"/>
                  <a:gd name="T5" fmla="*/ 0 h 167"/>
                  <a:gd name="T6" fmla="*/ 0 w 59"/>
                  <a:gd name="T7" fmla="*/ 0 h 167"/>
                  <a:gd name="T8" fmla="*/ 0 w 59"/>
                  <a:gd name="T9" fmla="*/ 0 h 167"/>
                  <a:gd name="T10" fmla="*/ 0 w 59"/>
                  <a:gd name="T11" fmla="*/ 0 h 1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167"/>
                  <a:gd name="T20" fmla="*/ 59 w 59"/>
                  <a:gd name="T21" fmla="*/ 167 h 1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167">
                    <a:moveTo>
                      <a:pt x="59" y="155"/>
                    </a:moveTo>
                    <a:lnTo>
                      <a:pt x="33" y="167"/>
                    </a:lnTo>
                    <a:lnTo>
                      <a:pt x="0" y="87"/>
                    </a:lnTo>
                    <a:lnTo>
                      <a:pt x="29" y="0"/>
                    </a:lnTo>
                    <a:lnTo>
                      <a:pt x="26" y="76"/>
                    </a:lnTo>
                    <a:lnTo>
                      <a:pt x="59" y="155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0" name="Freeform 652">
                <a:extLst>
                  <a:ext uri="{FF2B5EF4-FFF2-40B4-BE49-F238E27FC236}">
                    <a16:creationId xmlns:a16="http://schemas.microsoft.com/office/drawing/2014/main" id="{E350C37F-2844-40EC-B81F-256E73B46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4"/>
                <a:ext cx="8" cy="4"/>
              </a:xfrm>
              <a:custGeom>
                <a:avLst/>
                <a:gdLst>
                  <a:gd name="T0" fmla="*/ 0 w 172"/>
                  <a:gd name="T1" fmla="*/ 0 h 81"/>
                  <a:gd name="T2" fmla="*/ 0 w 172"/>
                  <a:gd name="T3" fmla="*/ 0 h 81"/>
                  <a:gd name="T4" fmla="*/ 0 w 172"/>
                  <a:gd name="T5" fmla="*/ 0 h 81"/>
                  <a:gd name="T6" fmla="*/ 0 w 172"/>
                  <a:gd name="T7" fmla="*/ 0 h 81"/>
                  <a:gd name="T8" fmla="*/ 0 w 172"/>
                  <a:gd name="T9" fmla="*/ 0 h 81"/>
                  <a:gd name="T10" fmla="*/ 0 w 172"/>
                  <a:gd name="T11" fmla="*/ 0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2"/>
                  <a:gd name="T19" fmla="*/ 0 h 81"/>
                  <a:gd name="T20" fmla="*/ 172 w 172"/>
                  <a:gd name="T21" fmla="*/ 81 h 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2" h="81">
                    <a:moveTo>
                      <a:pt x="170" y="4"/>
                    </a:moveTo>
                    <a:lnTo>
                      <a:pt x="168" y="0"/>
                    </a:lnTo>
                    <a:lnTo>
                      <a:pt x="0" y="73"/>
                    </a:lnTo>
                    <a:lnTo>
                      <a:pt x="4" y="81"/>
                    </a:lnTo>
                    <a:lnTo>
                      <a:pt x="172" y="8"/>
                    </a:lnTo>
                    <a:lnTo>
                      <a:pt x="170" y="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1" name="Freeform 653">
                <a:extLst>
                  <a:ext uri="{FF2B5EF4-FFF2-40B4-BE49-F238E27FC236}">
                    <a16:creationId xmlns:a16="http://schemas.microsoft.com/office/drawing/2014/main" id="{1935B0DB-1999-46CB-83CD-E9FA02D84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2"/>
                <a:ext cx="10" cy="6"/>
              </a:xfrm>
              <a:custGeom>
                <a:avLst/>
                <a:gdLst>
                  <a:gd name="T0" fmla="*/ 0 w 216"/>
                  <a:gd name="T1" fmla="*/ 0 h 103"/>
                  <a:gd name="T2" fmla="*/ 0 w 216"/>
                  <a:gd name="T3" fmla="*/ 0 h 103"/>
                  <a:gd name="T4" fmla="*/ 0 w 216"/>
                  <a:gd name="T5" fmla="*/ 0 h 103"/>
                  <a:gd name="T6" fmla="*/ 0 w 216"/>
                  <a:gd name="T7" fmla="*/ 0 h 103"/>
                  <a:gd name="T8" fmla="*/ 0 w 216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"/>
                  <a:gd name="T16" fmla="*/ 0 h 103"/>
                  <a:gd name="T17" fmla="*/ 216 w 216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" h="103">
                    <a:moveTo>
                      <a:pt x="216" y="12"/>
                    </a:moveTo>
                    <a:lnTo>
                      <a:pt x="4" y="103"/>
                    </a:lnTo>
                    <a:lnTo>
                      <a:pt x="0" y="93"/>
                    </a:lnTo>
                    <a:lnTo>
                      <a:pt x="211" y="0"/>
                    </a:lnTo>
                    <a:lnTo>
                      <a:pt x="216" y="12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2" name="Freeform 654">
                <a:extLst>
                  <a:ext uri="{FF2B5EF4-FFF2-40B4-BE49-F238E27FC236}">
                    <a16:creationId xmlns:a16="http://schemas.microsoft.com/office/drawing/2014/main" id="{9455B6EA-950D-4281-ADB7-693F81B76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1" cy="16"/>
              </a:xfrm>
              <a:custGeom>
                <a:avLst/>
                <a:gdLst>
                  <a:gd name="T0" fmla="*/ 0 w 250"/>
                  <a:gd name="T1" fmla="*/ 0 h 298"/>
                  <a:gd name="T2" fmla="*/ 0 w 250"/>
                  <a:gd name="T3" fmla="*/ 0 h 298"/>
                  <a:gd name="T4" fmla="*/ 0 w 250"/>
                  <a:gd name="T5" fmla="*/ 0 h 298"/>
                  <a:gd name="T6" fmla="*/ 0 w 250"/>
                  <a:gd name="T7" fmla="*/ 0 h 298"/>
                  <a:gd name="T8" fmla="*/ 0 w 250"/>
                  <a:gd name="T9" fmla="*/ 0 h 298"/>
                  <a:gd name="T10" fmla="*/ 0 w 250"/>
                  <a:gd name="T11" fmla="*/ 0 h 298"/>
                  <a:gd name="T12" fmla="*/ 0 w 250"/>
                  <a:gd name="T13" fmla="*/ 0 h 298"/>
                  <a:gd name="T14" fmla="*/ 0 w 250"/>
                  <a:gd name="T15" fmla="*/ 0 h 298"/>
                  <a:gd name="T16" fmla="*/ 0 w 250"/>
                  <a:gd name="T17" fmla="*/ 0 h 298"/>
                  <a:gd name="T18" fmla="*/ 0 w 250"/>
                  <a:gd name="T19" fmla="*/ 0 h 298"/>
                  <a:gd name="T20" fmla="*/ 0 w 250"/>
                  <a:gd name="T21" fmla="*/ 0 h 298"/>
                  <a:gd name="T22" fmla="*/ 0 w 250"/>
                  <a:gd name="T23" fmla="*/ 0 h 298"/>
                  <a:gd name="T24" fmla="*/ 0 w 250"/>
                  <a:gd name="T25" fmla="*/ 0 h 298"/>
                  <a:gd name="T26" fmla="*/ 0 w 250"/>
                  <a:gd name="T27" fmla="*/ 0 h 298"/>
                  <a:gd name="T28" fmla="*/ 0 w 250"/>
                  <a:gd name="T29" fmla="*/ 0 h 298"/>
                  <a:gd name="T30" fmla="*/ 0 w 250"/>
                  <a:gd name="T31" fmla="*/ 0 h 298"/>
                  <a:gd name="T32" fmla="*/ 0 w 250"/>
                  <a:gd name="T33" fmla="*/ 0 h 298"/>
                  <a:gd name="T34" fmla="*/ 0 w 250"/>
                  <a:gd name="T35" fmla="*/ 0 h 298"/>
                  <a:gd name="T36" fmla="*/ 0 w 250"/>
                  <a:gd name="T37" fmla="*/ 0 h 298"/>
                  <a:gd name="T38" fmla="*/ 0 w 250"/>
                  <a:gd name="T39" fmla="*/ 0 h 298"/>
                  <a:gd name="T40" fmla="*/ 0 w 250"/>
                  <a:gd name="T41" fmla="*/ 0 h 298"/>
                  <a:gd name="T42" fmla="*/ 0 w 250"/>
                  <a:gd name="T43" fmla="*/ 0 h 298"/>
                  <a:gd name="T44" fmla="*/ 0 w 250"/>
                  <a:gd name="T45" fmla="*/ 0 h 298"/>
                  <a:gd name="T46" fmla="*/ 0 w 250"/>
                  <a:gd name="T47" fmla="*/ 0 h 298"/>
                  <a:gd name="T48" fmla="*/ 0 w 250"/>
                  <a:gd name="T49" fmla="*/ 0 h 298"/>
                  <a:gd name="T50" fmla="*/ 0 w 250"/>
                  <a:gd name="T51" fmla="*/ 0 h 298"/>
                  <a:gd name="T52" fmla="*/ 0 w 250"/>
                  <a:gd name="T53" fmla="*/ 0 h 298"/>
                  <a:gd name="T54" fmla="*/ 0 w 250"/>
                  <a:gd name="T55" fmla="*/ 0 h 298"/>
                  <a:gd name="T56" fmla="*/ 0 w 250"/>
                  <a:gd name="T57" fmla="*/ 0 h 298"/>
                  <a:gd name="T58" fmla="*/ 0 w 250"/>
                  <a:gd name="T59" fmla="*/ 0 h 298"/>
                  <a:gd name="T60" fmla="*/ 0 w 250"/>
                  <a:gd name="T61" fmla="*/ 0 h 298"/>
                  <a:gd name="T62" fmla="*/ 0 w 250"/>
                  <a:gd name="T63" fmla="*/ 0 h 298"/>
                  <a:gd name="T64" fmla="*/ 0 w 250"/>
                  <a:gd name="T65" fmla="*/ 0 h 298"/>
                  <a:gd name="T66" fmla="*/ 0 w 250"/>
                  <a:gd name="T67" fmla="*/ 0 h 298"/>
                  <a:gd name="T68" fmla="*/ 0 w 250"/>
                  <a:gd name="T69" fmla="*/ 0 h 298"/>
                  <a:gd name="T70" fmla="*/ 0 w 250"/>
                  <a:gd name="T71" fmla="*/ 0 h 298"/>
                  <a:gd name="T72" fmla="*/ 0 w 250"/>
                  <a:gd name="T73" fmla="*/ 0 h 298"/>
                  <a:gd name="T74" fmla="*/ 0 w 250"/>
                  <a:gd name="T75" fmla="*/ 0 h 298"/>
                  <a:gd name="T76" fmla="*/ 0 w 250"/>
                  <a:gd name="T77" fmla="*/ 0 h 298"/>
                  <a:gd name="T78" fmla="*/ 0 w 250"/>
                  <a:gd name="T79" fmla="*/ 0 h 298"/>
                  <a:gd name="T80" fmla="*/ 0 w 250"/>
                  <a:gd name="T81" fmla="*/ 0 h 2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50"/>
                  <a:gd name="T124" fmla="*/ 0 h 298"/>
                  <a:gd name="T125" fmla="*/ 250 w 250"/>
                  <a:gd name="T126" fmla="*/ 298 h 29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50" h="298">
                    <a:moveTo>
                      <a:pt x="207" y="296"/>
                    </a:moveTo>
                    <a:lnTo>
                      <a:pt x="219" y="286"/>
                    </a:lnTo>
                    <a:lnTo>
                      <a:pt x="232" y="267"/>
                    </a:lnTo>
                    <a:lnTo>
                      <a:pt x="242" y="241"/>
                    </a:lnTo>
                    <a:lnTo>
                      <a:pt x="248" y="206"/>
                    </a:lnTo>
                    <a:lnTo>
                      <a:pt x="250" y="165"/>
                    </a:lnTo>
                    <a:lnTo>
                      <a:pt x="245" y="116"/>
                    </a:lnTo>
                    <a:lnTo>
                      <a:pt x="233" y="62"/>
                    </a:lnTo>
                    <a:lnTo>
                      <a:pt x="211" y="0"/>
                    </a:lnTo>
                    <a:lnTo>
                      <a:pt x="198" y="6"/>
                    </a:lnTo>
                    <a:lnTo>
                      <a:pt x="185" y="12"/>
                    </a:lnTo>
                    <a:lnTo>
                      <a:pt x="171" y="17"/>
                    </a:lnTo>
                    <a:lnTo>
                      <a:pt x="158" y="24"/>
                    </a:lnTo>
                    <a:lnTo>
                      <a:pt x="145" y="29"/>
                    </a:lnTo>
                    <a:lnTo>
                      <a:pt x="132" y="35"/>
                    </a:lnTo>
                    <a:lnTo>
                      <a:pt x="118" y="41"/>
                    </a:lnTo>
                    <a:lnTo>
                      <a:pt x="106" y="46"/>
                    </a:lnTo>
                    <a:lnTo>
                      <a:pt x="93" y="52"/>
                    </a:lnTo>
                    <a:lnTo>
                      <a:pt x="80" y="57"/>
                    </a:lnTo>
                    <a:lnTo>
                      <a:pt x="66" y="64"/>
                    </a:lnTo>
                    <a:lnTo>
                      <a:pt x="53" y="69"/>
                    </a:lnTo>
                    <a:lnTo>
                      <a:pt x="40" y="75"/>
                    </a:lnTo>
                    <a:lnTo>
                      <a:pt x="27" y="81"/>
                    </a:lnTo>
                    <a:lnTo>
                      <a:pt x="13" y="87"/>
                    </a:lnTo>
                    <a:lnTo>
                      <a:pt x="0" y="92"/>
                    </a:lnTo>
                    <a:lnTo>
                      <a:pt x="13" y="123"/>
                    </a:lnTo>
                    <a:lnTo>
                      <a:pt x="28" y="150"/>
                    </a:lnTo>
                    <a:lnTo>
                      <a:pt x="42" y="175"/>
                    </a:lnTo>
                    <a:lnTo>
                      <a:pt x="57" y="198"/>
                    </a:lnTo>
                    <a:lnTo>
                      <a:pt x="73" y="218"/>
                    </a:lnTo>
                    <a:lnTo>
                      <a:pt x="87" y="236"/>
                    </a:lnTo>
                    <a:lnTo>
                      <a:pt x="102" y="250"/>
                    </a:lnTo>
                    <a:lnTo>
                      <a:pt x="117" y="263"/>
                    </a:lnTo>
                    <a:lnTo>
                      <a:pt x="132" y="274"/>
                    </a:lnTo>
                    <a:lnTo>
                      <a:pt x="145" y="283"/>
                    </a:lnTo>
                    <a:lnTo>
                      <a:pt x="158" y="289"/>
                    </a:lnTo>
                    <a:lnTo>
                      <a:pt x="170" y="294"/>
                    </a:lnTo>
                    <a:lnTo>
                      <a:pt x="182" y="297"/>
                    </a:lnTo>
                    <a:lnTo>
                      <a:pt x="192" y="298"/>
                    </a:lnTo>
                    <a:lnTo>
                      <a:pt x="200" y="298"/>
                    </a:lnTo>
                    <a:lnTo>
                      <a:pt x="207" y="296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3" name="Freeform 655">
                <a:extLst>
                  <a:ext uri="{FF2B5EF4-FFF2-40B4-BE49-F238E27FC236}">
                    <a16:creationId xmlns:a16="http://schemas.microsoft.com/office/drawing/2014/main" id="{356DC8E7-DB06-4182-8EA9-2FBECC682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0" cy="16"/>
              </a:xfrm>
              <a:custGeom>
                <a:avLst/>
                <a:gdLst>
                  <a:gd name="T0" fmla="*/ 0 w 226"/>
                  <a:gd name="T1" fmla="*/ 0 h 287"/>
                  <a:gd name="T2" fmla="*/ 0 w 226"/>
                  <a:gd name="T3" fmla="*/ 0 h 287"/>
                  <a:gd name="T4" fmla="*/ 0 w 226"/>
                  <a:gd name="T5" fmla="*/ 0 h 287"/>
                  <a:gd name="T6" fmla="*/ 0 w 226"/>
                  <a:gd name="T7" fmla="*/ 0 h 287"/>
                  <a:gd name="T8" fmla="*/ 0 w 226"/>
                  <a:gd name="T9" fmla="*/ 0 h 287"/>
                  <a:gd name="T10" fmla="*/ 0 w 226"/>
                  <a:gd name="T11" fmla="*/ 0 h 287"/>
                  <a:gd name="T12" fmla="*/ 0 w 226"/>
                  <a:gd name="T13" fmla="*/ 0 h 287"/>
                  <a:gd name="T14" fmla="*/ 0 w 226"/>
                  <a:gd name="T15" fmla="*/ 0 h 287"/>
                  <a:gd name="T16" fmla="*/ 0 w 226"/>
                  <a:gd name="T17" fmla="*/ 0 h 287"/>
                  <a:gd name="T18" fmla="*/ 0 w 226"/>
                  <a:gd name="T19" fmla="*/ 0 h 287"/>
                  <a:gd name="T20" fmla="*/ 0 w 226"/>
                  <a:gd name="T21" fmla="*/ 0 h 287"/>
                  <a:gd name="T22" fmla="*/ 0 w 226"/>
                  <a:gd name="T23" fmla="*/ 0 h 287"/>
                  <a:gd name="T24" fmla="*/ 0 w 226"/>
                  <a:gd name="T25" fmla="*/ 0 h 287"/>
                  <a:gd name="T26" fmla="*/ 0 w 226"/>
                  <a:gd name="T27" fmla="*/ 0 h 287"/>
                  <a:gd name="T28" fmla="*/ 0 w 226"/>
                  <a:gd name="T29" fmla="*/ 0 h 287"/>
                  <a:gd name="T30" fmla="*/ 0 w 226"/>
                  <a:gd name="T31" fmla="*/ 0 h 287"/>
                  <a:gd name="T32" fmla="*/ 0 w 226"/>
                  <a:gd name="T33" fmla="*/ 0 h 287"/>
                  <a:gd name="T34" fmla="*/ 0 w 226"/>
                  <a:gd name="T35" fmla="*/ 0 h 287"/>
                  <a:gd name="T36" fmla="*/ 0 w 226"/>
                  <a:gd name="T37" fmla="*/ 0 h 287"/>
                  <a:gd name="T38" fmla="*/ 0 w 226"/>
                  <a:gd name="T39" fmla="*/ 0 h 287"/>
                  <a:gd name="T40" fmla="*/ 0 w 226"/>
                  <a:gd name="T41" fmla="*/ 0 h 287"/>
                  <a:gd name="T42" fmla="*/ 0 w 226"/>
                  <a:gd name="T43" fmla="*/ 0 h 287"/>
                  <a:gd name="T44" fmla="*/ 0 w 226"/>
                  <a:gd name="T45" fmla="*/ 0 h 287"/>
                  <a:gd name="T46" fmla="*/ 0 w 226"/>
                  <a:gd name="T47" fmla="*/ 0 h 287"/>
                  <a:gd name="T48" fmla="*/ 0 w 226"/>
                  <a:gd name="T49" fmla="*/ 0 h 287"/>
                  <a:gd name="T50" fmla="*/ 0 w 226"/>
                  <a:gd name="T51" fmla="*/ 0 h 287"/>
                  <a:gd name="T52" fmla="*/ 0 w 226"/>
                  <a:gd name="T53" fmla="*/ 0 h 287"/>
                  <a:gd name="T54" fmla="*/ 0 w 226"/>
                  <a:gd name="T55" fmla="*/ 0 h 287"/>
                  <a:gd name="T56" fmla="*/ 0 w 226"/>
                  <a:gd name="T57" fmla="*/ 0 h 287"/>
                  <a:gd name="T58" fmla="*/ 0 w 226"/>
                  <a:gd name="T59" fmla="*/ 0 h 287"/>
                  <a:gd name="T60" fmla="*/ 0 w 226"/>
                  <a:gd name="T61" fmla="*/ 0 h 287"/>
                  <a:gd name="T62" fmla="*/ 0 w 226"/>
                  <a:gd name="T63" fmla="*/ 0 h 287"/>
                  <a:gd name="T64" fmla="*/ 0 w 226"/>
                  <a:gd name="T65" fmla="*/ 0 h 287"/>
                  <a:gd name="T66" fmla="*/ 0 w 226"/>
                  <a:gd name="T67" fmla="*/ 0 h 287"/>
                  <a:gd name="T68" fmla="*/ 0 w 226"/>
                  <a:gd name="T69" fmla="*/ 0 h 287"/>
                  <a:gd name="T70" fmla="*/ 0 w 226"/>
                  <a:gd name="T71" fmla="*/ 0 h 287"/>
                  <a:gd name="T72" fmla="*/ 0 w 226"/>
                  <a:gd name="T73" fmla="*/ 0 h 287"/>
                  <a:gd name="T74" fmla="*/ 0 w 226"/>
                  <a:gd name="T75" fmla="*/ 0 h 287"/>
                  <a:gd name="T76" fmla="*/ 0 w 226"/>
                  <a:gd name="T77" fmla="*/ 0 h 287"/>
                  <a:gd name="T78" fmla="*/ 0 w 226"/>
                  <a:gd name="T79" fmla="*/ 0 h 287"/>
                  <a:gd name="T80" fmla="*/ 0 w 226"/>
                  <a:gd name="T81" fmla="*/ 0 h 28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26"/>
                  <a:gd name="T124" fmla="*/ 0 h 287"/>
                  <a:gd name="T125" fmla="*/ 226 w 226"/>
                  <a:gd name="T126" fmla="*/ 287 h 28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26" h="287">
                    <a:moveTo>
                      <a:pt x="199" y="285"/>
                    </a:moveTo>
                    <a:lnTo>
                      <a:pt x="209" y="276"/>
                    </a:lnTo>
                    <a:lnTo>
                      <a:pt x="217" y="259"/>
                    </a:lnTo>
                    <a:lnTo>
                      <a:pt x="224" y="234"/>
                    </a:lnTo>
                    <a:lnTo>
                      <a:pt x="226" y="202"/>
                    </a:lnTo>
                    <a:lnTo>
                      <a:pt x="223" y="162"/>
                    </a:lnTo>
                    <a:lnTo>
                      <a:pt x="214" y="115"/>
                    </a:lnTo>
                    <a:lnTo>
                      <a:pt x="200" y="61"/>
                    </a:lnTo>
                    <a:lnTo>
                      <a:pt x="178" y="0"/>
                    </a:lnTo>
                    <a:lnTo>
                      <a:pt x="166" y="5"/>
                    </a:lnTo>
                    <a:lnTo>
                      <a:pt x="155" y="10"/>
                    </a:lnTo>
                    <a:lnTo>
                      <a:pt x="144" y="15"/>
                    </a:lnTo>
                    <a:lnTo>
                      <a:pt x="134" y="20"/>
                    </a:lnTo>
                    <a:lnTo>
                      <a:pt x="123" y="24"/>
                    </a:lnTo>
                    <a:lnTo>
                      <a:pt x="111" y="30"/>
                    </a:lnTo>
                    <a:lnTo>
                      <a:pt x="100" y="34"/>
                    </a:lnTo>
                    <a:lnTo>
                      <a:pt x="89" y="39"/>
                    </a:lnTo>
                    <a:lnTo>
                      <a:pt x="78" y="44"/>
                    </a:lnTo>
                    <a:lnTo>
                      <a:pt x="67" y="49"/>
                    </a:lnTo>
                    <a:lnTo>
                      <a:pt x="55" y="54"/>
                    </a:lnTo>
                    <a:lnTo>
                      <a:pt x="45" y="58"/>
                    </a:lnTo>
                    <a:lnTo>
                      <a:pt x="34" y="63"/>
                    </a:lnTo>
                    <a:lnTo>
                      <a:pt x="23" y="69"/>
                    </a:lnTo>
                    <a:lnTo>
                      <a:pt x="11" y="73"/>
                    </a:lnTo>
                    <a:lnTo>
                      <a:pt x="0" y="78"/>
                    </a:lnTo>
                    <a:lnTo>
                      <a:pt x="13" y="109"/>
                    </a:lnTo>
                    <a:lnTo>
                      <a:pt x="28" y="136"/>
                    </a:lnTo>
                    <a:lnTo>
                      <a:pt x="42" y="161"/>
                    </a:lnTo>
                    <a:lnTo>
                      <a:pt x="56" y="184"/>
                    </a:lnTo>
                    <a:lnTo>
                      <a:pt x="72" y="204"/>
                    </a:lnTo>
                    <a:lnTo>
                      <a:pt x="86" y="221"/>
                    </a:lnTo>
                    <a:lnTo>
                      <a:pt x="101" y="236"/>
                    </a:lnTo>
                    <a:lnTo>
                      <a:pt x="115" y="250"/>
                    </a:lnTo>
                    <a:lnTo>
                      <a:pt x="129" y="260"/>
                    </a:lnTo>
                    <a:lnTo>
                      <a:pt x="142" y="270"/>
                    </a:lnTo>
                    <a:lnTo>
                      <a:pt x="155" y="276"/>
                    </a:lnTo>
                    <a:lnTo>
                      <a:pt x="166" y="282"/>
                    </a:lnTo>
                    <a:lnTo>
                      <a:pt x="177" y="285"/>
                    </a:lnTo>
                    <a:lnTo>
                      <a:pt x="186" y="287"/>
                    </a:lnTo>
                    <a:lnTo>
                      <a:pt x="193" y="287"/>
                    </a:lnTo>
                    <a:lnTo>
                      <a:pt x="199" y="285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4" name="Freeform 656">
                <a:extLst>
                  <a:ext uri="{FF2B5EF4-FFF2-40B4-BE49-F238E27FC236}">
                    <a16:creationId xmlns:a16="http://schemas.microsoft.com/office/drawing/2014/main" id="{97F87BCA-04C4-42F8-B0FB-7463BD090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4"/>
                <a:ext cx="9" cy="15"/>
              </a:xfrm>
              <a:custGeom>
                <a:avLst/>
                <a:gdLst>
                  <a:gd name="T0" fmla="*/ 0 w 202"/>
                  <a:gd name="T1" fmla="*/ 0 h 274"/>
                  <a:gd name="T2" fmla="*/ 0 w 202"/>
                  <a:gd name="T3" fmla="*/ 0 h 274"/>
                  <a:gd name="T4" fmla="*/ 0 w 202"/>
                  <a:gd name="T5" fmla="*/ 0 h 274"/>
                  <a:gd name="T6" fmla="*/ 0 w 202"/>
                  <a:gd name="T7" fmla="*/ 0 h 274"/>
                  <a:gd name="T8" fmla="*/ 0 w 202"/>
                  <a:gd name="T9" fmla="*/ 0 h 274"/>
                  <a:gd name="T10" fmla="*/ 0 w 202"/>
                  <a:gd name="T11" fmla="*/ 0 h 274"/>
                  <a:gd name="T12" fmla="*/ 0 w 202"/>
                  <a:gd name="T13" fmla="*/ 0 h 274"/>
                  <a:gd name="T14" fmla="*/ 0 w 202"/>
                  <a:gd name="T15" fmla="*/ 0 h 274"/>
                  <a:gd name="T16" fmla="*/ 0 w 202"/>
                  <a:gd name="T17" fmla="*/ 0 h 274"/>
                  <a:gd name="T18" fmla="*/ 0 w 202"/>
                  <a:gd name="T19" fmla="*/ 0 h 274"/>
                  <a:gd name="T20" fmla="*/ 0 w 202"/>
                  <a:gd name="T21" fmla="*/ 0 h 274"/>
                  <a:gd name="T22" fmla="*/ 0 w 202"/>
                  <a:gd name="T23" fmla="*/ 0 h 274"/>
                  <a:gd name="T24" fmla="*/ 0 w 202"/>
                  <a:gd name="T25" fmla="*/ 0 h 274"/>
                  <a:gd name="T26" fmla="*/ 0 w 202"/>
                  <a:gd name="T27" fmla="*/ 0 h 274"/>
                  <a:gd name="T28" fmla="*/ 0 w 202"/>
                  <a:gd name="T29" fmla="*/ 0 h 274"/>
                  <a:gd name="T30" fmla="*/ 0 w 202"/>
                  <a:gd name="T31" fmla="*/ 0 h 274"/>
                  <a:gd name="T32" fmla="*/ 0 w 202"/>
                  <a:gd name="T33" fmla="*/ 0 h 274"/>
                  <a:gd name="T34" fmla="*/ 0 w 202"/>
                  <a:gd name="T35" fmla="*/ 0 h 274"/>
                  <a:gd name="T36" fmla="*/ 0 w 202"/>
                  <a:gd name="T37" fmla="*/ 0 h 274"/>
                  <a:gd name="T38" fmla="*/ 0 w 202"/>
                  <a:gd name="T39" fmla="*/ 0 h 274"/>
                  <a:gd name="T40" fmla="*/ 0 w 202"/>
                  <a:gd name="T41" fmla="*/ 0 h 274"/>
                  <a:gd name="T42" fmla="*/ 0 w 202"/>
                  <a:gd name="T43" fmla="*/ 0 h 274"/>
                  <a:gd name="T44" fmla="*/ 0 w 202"/>
                  <a:gd name="T45" fmla="*/ 0 h 274"/>
                  <a:gd name="T46" fmla="*/ 0 w 202"/>
                  <a:gd name="T47" fmla="*/ 0 h 274"/>
                  <a:gd name="T48" fmla="*/ 0 w 202"/>
                  <a:gd name="T49" fmla="*/ 0 h 274"/>
                  <a:gd name="T50" fmla="*/ 0 w 202"/>
                  <a:gd name="T51" fmla="*/ 0 h 274"/>
                  <a:gd name="T52" fmla="*/ 0 w 202"/>
                  <a:gd name="T53" fmla="*/ 0 h 274"/>
                  <a:gd name="T54" fmla="*/ 0 w 202"/>
                  <a:gd name="T55" fmla="*/ 0 h 274"/>
                  <a:gd name="T56" fmla="*/ 0 w 202"/>
                  <a:gd name="T57" fmla="*/ 0 h 274"/>
                  <a:gd name="T58" fmla="*/ 0 w 202"/>
                  <a:gd name="T59" fmla="*/ 0 h 274"/>
                  <a:gd name="T60" fmla="*/ 0 w 202"/>
                  <a:gd name="T61" fmla="*/ 0 h 274"/>
                  <a:gd name="T62" fmla="*/ 0 w 202"/>
                  <a:gd name="T63" fmla="*/ 0 h 274"/>
                  <a:gd name="T64" fmla="*/ 0 w 202"/>
                  <a:gd name="T65" fmla="*/ 0 h 2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2"/>
                  <a:gd name="T100" fmla="*/ 0 h 274"/>
                  <a:gd name="T101" fmla="*/ 202 w 202"/>
                  <a:gd name="T102" fmla="*/ 274 h 2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2" h="274">
                    <a:moveTo>
                      <a:pt x="189" y="273"/>
                    </a:moveTo>
                    <a:lnTo>
                      <a:pt x="196" y="265"/>
                    </a:lnTo>
                    <a:lnTo>
                      <a:pt x="201" y="251"/>
                    </a:lnTo>
                    <a:lnTo>
                      <a:pt x="202" y="227"/>
                    </a:lnTo>
                    <a:lnTo>
                      <a:pt x="200" y="197"/>
                    </a:lnTo>
                    <a:lnTo>
                      <a:pt x="193" y="159"/>
                    </a:lnTo>
                    <a:lnTo>
                      <a:pt x="182" y="114"/>
                    </a:lnTo>
                    <a:lnTo>
                      <a:pt x="165" y="60"/>
                    </a:lnTo>
                    <a:lnTo>
                      <a:pt x="142" y="0"/>
                    </a:lnTo>
                    <a:lnTo>
                      <a:pt x="125" y="7"/>
                    </a:lnTo>
                    <a:lnTo>
                      <a:pt x="107" y="14"/>
                    </a:lnTo>
                    <a:lnTo>
                      <a:pt x="89" y="23"/>
                    </a:lnTo>
                    <a:lnTo>
                      <a:pt x="72" y="30"/>
                    </a:lnTo>
                    <a:lnTo>
                      <a:pt x="53" y="39"/>
                    </a:lnTo>
                    <a:lnTo>
                      <a:pt x="36" y="46"/>
                    </a:lnTo>
                    <a:lnTo>
                      <a:pt x="18" y="54"/>
                    </a:lnTo>
                    <a:lnTo>
                      <a:pt x="0" y="62"/>
                    </a:lnTo>
                    <a:lnTo>
                      <a:pt x="14" y="92"/>
                    </a:lnTo>
                    <a:lnTo>
                      <a:pt x="28" y="120"/>
                    </a:lnTo>
                    <a:lnTo>
                      <a:pt x="41" y="145"/>
                    </a:lnTo>
                    <a:lnTo>
                      <a:pt x="57" y="168"/>
                    </a:lnTo>
                    <a:lnTo>
                      <a:pt x="71" y="188"/>
                    </a:lnTo>
                    <a:lnTo>
                      <a:pt x="85" y="206"/>
                    </a:lnTo>
                    <a:lnTo>
                      <a:pt x="98" y="221"/>
                    </a:lnTo>
                    <a:lnTo>
                      <a:pt x="113" y="235"/>
                    </a:lnTo>
                    <a:lnTo>
                      <a:pt x="126" y="246"/>
                    </a:lnTo>
                    <a:lnTo>
                      <a:pt x="138" y="256"/>
                    </a:lnTo>
                    <a:lnTo>
                      <a:pt x="149" y="262"/>
                    </a:lnTo>
                    <a:lnTo>
                      <a:pt x="160" y="268"/>
                    </a:lnTo>
                    <a:lnTo>
                      <a:pt x="170" y="272"/>
                    </a:lnTo>
                    <a:lnTo>
                      <a:pt x="178" y="274"/>
                    </a:lnTo>
                    <a:lnTo>
                      <a:pt x="184" y="274"/>
                    </a:lnTo>
                    <a:lnTo>
                      <a:pt x="189" y="273"/>
                    </a:lnTo>
                    <a:close/>
                  </a:path>
                </a:pathLst>
              </a:custGeom>
              <a:solidFill>
                <a:srgbClr val="474F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5" name="Freeform 657">
                <a:extLst>
                  <a:ext uri="{FF2B5EF4-FFF2-40B4-BE49-F238E27FC236}">
                    <a16:creationId xmlns:a16="http://schemas.microsoft.com/office/drawing/2014/main" id="{59DD6AEB-3CD5-4DCB-9845-6864EC2C3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9" cy="14"/>
              </a:xfrm>
              <a:custGeom>
                <a:avLst/>
                <a:gdLst>
                  <a:gd name="T0" fmla="*/ 0 w 186"/>
                  <a:gd name="T1" fmla="*/ 0 h 264"/>
                  <a:gd name="T2" fmla="*/ 0 w 186"/>
                  <a:gd name="T3" fmla="*/ 0 h 264"/>
                  <a:gd name="T4" fmla="*/ 0 w 186"/>
                  <a:gd name="T5" fmla="*/ 0 h 264"/>
                  <a:gd name="T6" fmla="*/ 0 w 186"/>
                  <a:gd name="T7" fmla="*/ 0 h 264"/>
                  <a:gd name="T8" fmla="*/ 0 w 186"/>
                  <a:gd name="T9" fmla="*/ 0 h 264"/>
                  <a:gd name="T10" fmla="*/ 0 w 186"/>
                  <a:gd name="T11" fmla="*/ 0 h 264"/>
                  <a:gd name="T12" fmla="*/ 0 w 186"/>
                  <a:gd name="T13" fmla="*/ 0 h 264"/>
                  <a:gd name="T14" fmla="*/ 0 w 186"/>
                  <a:gd name="T15" fmla="*/ 0 h 264"/>
                  <a:gd name="T16" fmla="*/ 0 w 186"/>
                  <a:gd name="T17" fmla="*/ 0 h 264"/>
                  <a:gd name="T18" fmla="*/ 0 w 186"/>
                  <a:gd name="T19" fmla="*/ 0 h 264"/>
                  <a:gd name="T20" fmla="*/ 0 w 186"/>
                  <a:gd name="T21" fmla="*/ 0 h 264"/>
                  <a:gd name="T22" fmla="*/ 0 w 186"/>
                  <a:gd name="T23" fmla="*/ 0 h 264"/>
                  <a:gd name="T24" fmla="*/ 0 w 186"/>
                  <a:gd name="T25" fmla="*/ 0 h 264"/>
                  <a:gd name="T26" fmla="*/ 0 w 186"/>
                  <a:gd name="T27" fmla="*/ 0 h 264"/>
                  <a:gd name="T28" fmla="*/ 0 w 186"/>
                  <a:gd name="T29" fmla="*/ 0 h 264"/>
                  <a:gd name="T30" fmla="*/ 0 w 186"/>
                  <a:gd name="T31" fmla="*/ 0 h 264"/>
                  <a:gd name="T32" fmla="*/ 0 w 186"/>
                  <a:gd name="T33" fmla="*/ 0 h 264"/>
                  <a:gd name="T34" fmla="*/ 0 w 186"/>
                  <a:gd name="T35" fmla="*/ 0 h 264"/>
                  <a:gd name="T36" fmla="*/ 0 w 186"/>
                  <a:gd name="T37" fmla="*/ 0 h 264"/>
                  <a:gd name="T38" fmla="*/ 0 w 186"/>
                  <a:gd name="T39" fmla="*/ 0 h 264"/>
                  <a:gd name="T40" fmla="*/ 0 w 186"/>
                  <a:gd name="T41" fmla="*/ 0 h 264"/>
                  <a:gd name="T42" fmla="*/ 0 w 186"/>
                  <a:gd name="T43" fmla="*/ 0 h 264"/>
                  <a:gd name="T44" fmla="*/ 0 w 186"/>
                  <a:gd name="T45" fmla="*/ 0 h 264"/>
                  <a:gd name="T46" fmla="*/ 0 w 186"/>
                  <a:gd name="T47" fmla="*/ 0 h 264"/>
                  <a:gd name="T48" fmla="*/ 0 w 186"/>
                  <a:gd name="T49" fmla="*/ 0 h 264"/>
                  <a:gd name="T50" fmla="*/ 0 w 186"/>
                  <a:gd name="T51" fmla="*/ 0 h 264"/>
                  <a:gd name="T52" fmla="*/ 0 w 186"/>
                  <a:gd name="T53" fmla="*/ 0 h 264"/>
                  <a:gd name="T54" fmla="*/ 0 w 186"/>
                  <a:gd name="T55" fmla="*/ 0 h 264"/>
                  <a:gd name="T56" fmla="*/ 0 w 186"/>
                  <a:gd name="T57" fmla="*/ 0 h 264"/>
                  <a:gd name="T58" fmla="*/ 0 w 186"/>
                  <a:gd name="T59" fmla="*/ 0 h 264"/>
                  <a:gd name="T60" fmla="*/ 0 w 186"/>
                  <a:gd name="T61" fmla="*/ 0 h 264"/>
                  <a:gd name="T62" fmla="*/ 0 w 186"/>
                  <a:gd name="T63" fmla="*/ 0 h 264"/>
                  <a:gd name="T64" fmla="*/ 0 w 186"/>
                  <a:gd name="T65" fmla="*/ 0 h 2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6"/>
                  <a:gd name="T100" fmla="*/ 0 h 264"/>
                  <a:gd name="T101" fmla="*/ 186 w 186"/>
                  <a:gd name="T102" fmla="*/ 264 h 26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6" h="264">
                    <a:moveTo>
                      <a:pt x="180" y="263"/>
                    </a:moveTo>
                    <a:lnTo>
                      <a:pt x="185" y="256"/>
                    </a:lnTo>
                    <a:lnTo>
                      <a:pt x="186" y="243"/>
                    </a:lnTo>
                    <a:lnTo>
                      <a:pt x="183" y="222"/>
                    </a:lnTo>
                    <a:lnTo>
                      <a:pt x="177" y="193"/>
                    </a:lnTo>
                    <a:lnTo>
                      <a:pt x="166" y="157"/>
                    </a:lnTo>
                    <a:lnTo>
                      <a:pt x="151" y="113"/>
                    </a:lnTo>
                    <a:lnTo>
                      <a:pt x="131" y="60"/>
                    </a:lnTo>
                    <a:lnTo>
                      <a:pt x="108" y="0"/>
                    </a:lnTo>
                    <a:lnTo>
                      <a:pt x="94" y="7"/>
                    </a:lnTo>
                    <a:lnTo>
                      <a:pt x="80" y="13"/>
                    </a:lnTo>
                    <a:lnTo>
                      <a:pt x="67" y="18"/>
                    </a:lnTo>
                    <a:lnTo>
                      <a:pt x="54" y="24"/>
                    </a:lnTo>
                    <a:lnTo>
                      <a:pt x="40" y="30"/>
                    </a:lnTo>
                    <a:lnTo>
                      <a:pt x="27" y="36"/>
                    </a:lnTo>
                    <a:lnTo>
                      <a:pt x="13" y="41"/>
                    </a:lnTo>
                    <a:lnTo>
                      <a:pt x="0" y="48"/>
                    </a:lnTo>
                    <a:lnTo>
                      <a:pt x="13" y="78"/>
                    </a:lnTo>
                    <a:lnTo>
                      <a:pt x="26" y="106"/>
                    </a:lnTo>
                    <a:lnTo>
                      <a:pt x="40" y="131"/>
                    </a:lnTo>
                    <a:lnTo>
                      <a:pt x="55" y="154"/>
                    </a:lnTo>
                    <a:lnTo>
                      <a:pt x="69" y="174"/>
                    </a:lnTo>
                    <a:lnTo>
                      <a:pt x="83" y="192"/>
                    </a:lnTo>
                    <a:lnTo>
                      <a:pt x="96" y="208"/>
                    </a:lnTo>
                    <a:lnTo>
                      <a:pt x="110" y="222"/>
                    </a:lnTo>
                    <a:lnTo>
                      <a:pt x="122" y="233"/>
                    </a:lnTo>
                    <a:lnTo>
                      <a:pt x="134" y="243"/>
                    </a:lnTo>
                    <a:lnTo>
                      <a:pt x="145" y="250"/>
                    </a:lnTo>
                    <a:lnTo>
                      <a:pt x="155" y="256"/>
                    </a:lnTo>
                    <a:lnTo>
                      <a:pt x="164" y="261"/>
                    </a:lnTo>
                    <a:lnTo>
                      <a:pt x="171" y="263"/>
                    </a:lnTo>
                    <a:lnTo>
                      <a:pt x="176" y="264"/>
                    </a:lnTo>
                    <a:lnTo>
                      <a:pt x="180" y="26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6" name="Freeform 658">
                <a:extLst>
                  <a:ext uri="{FF2B5EF4-FFF2-40B4-BE49-F238E27FC236}">
                    <a16:creationId xmlns:a16="http://schemas.microsoft.com/office/drawing/2014/main" id="{10F7CD3C-7CC4-4660-AC04-E1176D930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8" cy="14"/>
              </a:xfrm>
              <a:custGeom>
                <a:avLst/>
                <a:gdLst>
                  <a:gd name="T0" fmla="*/ 0 w 173"/>
                  <a:gd name="T1" fmla="*/ 0 h 251"/>
                  <a:gd name="T2" fmla="*/ 0 w 173"/>
                  <a:gd name="T3" fmla="*/ 0 h 251"/>
                  <a:gd name="T4" fmla="*/ 0 w 173"/>
                  <a:gd name="T5" fmla="*/ 0 h 251"/>
                  <a:gd name="T6" fmla="*/ 0 w 173"/>
                  <a:gd name="T7" fmla="*/ 0 h 251"/>
                  <a:gd name="T8" fmla="*/ 0 w 173"/>
                  <a:gd name="T9" fmla="*/ 0 h 251"/>
                  <a:gd name="T10" fmla="*/ 0 w 173"/>
                  <a:gd name="T11" fmla="*/ 0 h 251"/>
                  <a:gd name="T12" fmla="*/ 0 w 173"/>
                  <a:gd name="T13" fmla="*/ 0 h 251"/>
                  <a:gd name="T14" fmla="*/ 0 w 173"/>
                  <a:gd name="T15" fmla="*/ 0 h 251"/>
                  <a:gd name="T16" fmla="*/ 0 w 173"/>
                  <a:gd name="T17" fmla="*/ 0 h 251"/>
                  <a:gd name="T18" fmla="*/ 0 w 173"/>
                  <a:gd name="T19" fmla="*/ 0 h 251"/>
                  <a:gd name="T20" fmla="*/ 0 w 173"/>
                  <a:gd name="T21" fmla="*/ 0 h 251"/>
                  <a:gd name="T22" fmla="*/ 0 w 173"/>
                  <a:gd name="T23" fmla="*/ 0 h 251"/>
                  <a:gd name="T24" fmla="*/ 0 w 173"/>
                  <a:gd name="T25" fmla="*/ 0 h 251"/>
                  <a:gd name="T26" fmla="*/ 0 w 173"/>
                  <a:gd name="T27" fmla="*/ 0 h 251"/>
                  <a:gd name="T28" fmla="*/ 0 w 173"/>
                  <a:gd name="T29" fmla="*/ 0 h 251"/>
                  <a:gd name="T30" fmla="*/ 0 w 173"/>
                  <a:gd name="T31" fmla="*/ 0 h 251"/>
                  <a:gd name="T32" fmla="*/ 0 w 173"/>
                  <a:gd name="T33" fmla="*/ 0 h 251"/>
                  <a:gd name="T34" fmla="*/ 0 w 173"/>
                  <a:gd name="T35" fmla="*/ 0 h 251"/>
                  <a:gd name="T36" fmla="*/ 0 w 173"/>
                  <a:gd name="T37" fmla="*/ 0 h 251"/>
                  <a:gd name="T38" fmla="*/ 0 w 173"/>
                  <a:gd name="T39" fmla="*/ 0 h 251"/>
                  <a:gd name="T40" fmla="*/ 0 w 173"/>
                  <a:gd name="T41" fmla="*/ 0 h 251"/>
                  <a:gd name="T42" fmla="*/ 0 w 173"/>
                  <a:gd name="T43" fmla="*/ 0 h 251"/>
                  <a:gd name="T44" fmla="*/ 0 w 173"/>
                  <a:gd name="T45" fmla="*/ 0 h 251"/>
                  <a:gd name="T46" fmla="*/ 0 w 173"/>
                  <a:gd name="T47" fmla="*/ 0 h 251"/>
                  <a:gd name="T48" fmla="*/ 0 w 173"/>
                  <a:gd name="T49" fmla="*/ 0 h 251"/>
                  <a:gd name="T50" fmla="*/ 0 w 173"/>
                  <a:gd name="T51" fmla="*/ 0 h 251"/>
                  <a:gd name="T52" fmla="*/ 0 w 173"/>
                  <a:gd name="T53" fmla="*/ 0 h 251"/>
                  <a:gd name="T54" fmla="*/ 0 w 173"/>
                  <a:gd name="T55" fmla="*/ 0 h 251"/>
                  <a:gd name="T56" fmla="*/ 0 w 173"/>
                  <a:gd name="T57" fmla="*/ 0 h 251"/>
                  <a:gd name="T58" fmla="*/ 0 w 173"/>
                  <a:gd name="T59" fmla="*/ 0 h 251"/>
                  <a:gd name="T60" fmla="*/ 0 w 173"/>
                  <a:gd name="T61" fmla="*/ 0 h 251"/>
                  <a:gd name="T62" fmla="*/ 0 w 173"/>
                  <a:gd name="T63" fmla="*/ 0 h 251"/>
                  <a:gd name="T64" fmla="*/ 0 w 173"/>
                  <a:gd name="T65" fmla="*/ 0 h 25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3"/>
                  <a:gd name="T100" fmla="*/ 0 h 251"/>
                  <a:gd name="T101" fmla="*/ 173 w 173"/>
                  <a:gd name="T102" fmla="*/ 251 h 25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3" h="251">
                    <a:moveTo>
                      <a:pt x="171" y="251"/>
                    </a:moveTo>
                    <a:lnTo>
                      <a:pt x="173" y="245"/>
                    </a:lnTo>
                    <a:lnTo>
                      <a:pt x="170" y="233"/>
                    </a:lnTo>
                    <a:lnTo>
                      <a:pt x="164" y="214"/>
                    </a:lnTo>
                    <a:lnTo>
                      <a:pt x="153" y="187"/>
                    </a:lnTo>
                    <a:lnTo>
                      <a:pt x="137" y="153"/>
                    </a:lnTo>
                    <a:lnTo>
                      <a:pt x="119" y="110"/>
                    </a:lnTo>
                    <a:lnTo>
                      <a:pt x="97" y="60"/>
                    </a:lnTo>
                    <a:lnTo>
                      <a:pt x="72" y="0"/>
                    </a:lnTo>
                    <a:lnTo>
                      <a:pt x="63" y="4"/>
                    </a:lnTo>
                    <a:lnTo>
                      <a:pt x="54" y="7"/>
                    </a:lnTo>
                    <a:lnTo>
                      <a:pt x="45" y="11"/>
                    </a:lnTo>
                    <a:lnTo>
                      <a:pt x="36" y="16"/>
                    </a:lnTo>
                    <a:lnTo>
                      <a:pt x="27" y="20"/>
                    </a:lnTo>
                    <a:lnTo>
                      <a:pt x="18" y="23"/>
                    </a:lnTo>
                    <a:lnTo>
                      <a:pt x="9" y="27"/>
                    </a:lnTo>
                    <a:lnTo>
                      <a:pt x="0" y="31"/>
                    </a:lnTo>
                    <a:lnTo>
                      <a:pt x="13" y="62"/>
                    </a:lnTo>
                    <a:lnTo>
                      <a:pt x="26" y="89"/>
                    </a:lnTo>
                    <a:lnTo>
                      <a:pt x="41" y="115"/>
                    </a:lnTo>
                    <a:lnTo>
                      <a:pt x="54" y="138"/>
                    </a:lnTo>
                    <a:lnTo>
                      <a:pt x="68" y="159"/>
                    </a:lnTo>
                    <a:lnTo>
                      <a:pt x="81" y="177"/>
                    </a:lnTo>
                    <a:lnTo>
                      <a:pt x="95" y="193"/>
                    </a:lnTo>
                    <a:lnTo>
                      <a:pt x="107" y="206"/>
                    </a:lnTo>
                    <a:lnTo>
                      <a:pt x="119" y="218"/>
                    </a:lnTo>
                    <a:lnTo>
                      <a:pt x="130" y="229"/>
                    </a:lnTo>
                    <a:lnTo>
                      <a:pt x="141" y="236"/>
                    </a:lnTo>
                    <a:lnTo>
                      <a:pt x="150" y="242"/>
                    </a:lnTo>
                    <a:lnTo>
                      <a:pt x="157" y="246"/>
                    </a:lnTo>
                    <a:lnTo>
                      <a:pt x="163" y="250"/>
                    </a:lnTo>
                    <a:lnTo>
                      <a:pt x="168" y="251"/>
                    </a:lnTo>
                    <a:lnTo>
                      <a:pt x="171" y="251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7" name="Freeform 659">
                <a:extLst>
                  <a:ext uri="{FF2B5EF4-FFF2-40B4-BE49-F238E27FC236}">
                    <a16:creationId xmlns:a16="http://schemas.microsoft.com/office/drawing/2014/main" id="{320D7403-3FCE-4CE3-A958-8F901B824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436"/>
                <a:ext cx="7" cy="13"/>
              </a:xfrm>
              <a:custGeom>
                <a:avLst/>
                <a:gdLst>
                  <a:gd name="T0" fmla="*/ 0 w 163"/>
                  <a:gd name="T1" fmla="*/ 0 h 240"/>
                  <a:gd name="T2" fmla="*/ 0 w 163"/>
                  <a:gd name="T3" fmla="*/ 0 h 240"/>
                  <a:gd name="T4" fmla="*/ 0 w 163"/>
                  <a:gd name="T5" fmla="*/ 0 h 240"/>
                  <a:gd name="T6" fmla="*/ 0 w 163"/>
                  <a:gd name="T7" fmla="*/ 0 h 240"/>
                  <a:gd name="T8" fmla="*/ 0 w 163"/>
                  <a:gd name="T9" fmla="*/ 0 h 240"/>
                  <a:gd name="T10" fmla="*/ 0 w 163"/>
                  <a:gd name="T11" fmla="*/ 0 h 240"/>
                  <a:gd name="T12" fmla="*/ 0 w 163"/>
                  <a:gd name="T13" fmla="*/ 0 h 240"/>
                  <a:gd name="T14" fmla="*/ 0 w 163"/>
                  <a:gd name="T15" fmla="*/ 0 h 240"/>
                  <a:gd name="T16" fmla="*/ 0 w 163"/>
                  <a:gd name="T17" fmla="*/ 0 h 240"/>
                  <a:gd name="T18" fmla="*/ 0 w 163"/>
                  <a:gd name="T19" fmla="*/ 0 h 240"/>
                  <a:gd name="T20" fmla="*/ 0 w 163"/>
                  <a:gd name="T21" fmla="*/ 0 h 240"/>
                  <a:gd name="T22" fmla="*/ 0 w 163"/>
                  <a:gd name="T23" fmla="*/ 0 h 240"/>
                  <a:gd name="T24" fmla="*/ 0 w 163"/>
                  <a:gd name="T25" fmla="*/ 0 h 240"/>
                  <a:gd name="T26" fmla="*/ 0 w 163"/>
                  <a:gd name="T27" fmla="*/ 0 h 240"/>
                  <a:gd name="T28" fmla="*/ 0 w 163"/>
                  <a:gd name="T29" fmla="*/ 0 h 240"/>
                  <a:gd name="T30" fmla="*/ 0 w 163"/>
                  <a:gd name="T31" fmla="*/ 0 h 240"/>
                  <a:gd name="T32" fmla="*/ 0 w 163"/>
                  <a:gd name="T33" fmla="*/ 0 h 240"/>
                  <a:gd name="T34" fmla="*/ 0 w 163"/>
                  <a:gd name="T35" fmla="*/ 0 h 240"/>
                  <a:gd name="T36" fmla="*/ 0 w 163"/>
                  <a:gd name="T37" fmla="*/ 0 h 240"/>
                  <a:gd name="T38" fmla="*/ 0 w 163"/>
                  <a:gd name="T39" fmla="*/ 0 h 240"/>
                  <a:gd name="T40" fmla="*/ 0 w 163"/>
                  <a:gd name="T41" fmla="*/ 0 h 240"/>
                  <a:gd name="T42" fmla="*/ 0 w 163"/>
                  <a:gd name="T43" fmla="*/ 0 h 240"/>
                  <a:gd name="T44" fmla="*/ 0 w 163"/>
                  <a:gd name="T45" fmla="*/ 0 h 240"/>
                  <a:gd name="T46" fmla="*/ 0 w 163"/>
                  <a:gd name="T47" fmla="*/ 0 h 240"/>
                  <a:gd name="T48" fmla="*/ 0 w 163"/>
                  <a:gd name="T49" fmla="*/ 0 h 240"/>
                  <a:gd name="T50" fmla="*/ 0 w 163"/>
                  <a:gd name="T51" fmla="*/ 0 h 240"/>
                  <a:gd name="T52" fmla="*/ 0 w 163"/>
                  <a:gd name="T53" fmla="*/ 0 h 240"/>
                  <a:gd name="T54" fmla="*/ 0 w 163"/>
                  <a:gd name="T55" fmla="*/ 0 h 240"/>
                  <a:gd name="T56" fmla="*/ 0 w 163"/>
                  <a:gd name="T57" fmla="*/ 0 h 240"/>
                  <a:gd name="T58" fmla="*/ 0 w 163"/>
                  <a:gd name="T59" fmla="*/ 0 h 240"/>
                  <a:gd name="T60" fmla="*/ 0 w 163"/>
                  <a:gd name="T61" fmla="*/ 0 h 240"/>
                  <a:gd name="T62" fmla="*/ 0 w 163"/>
                  <a:gd name="T63" fmla="*/ 0 h 240"/>
                  <a:gd name="T64" fmla="*/ 0 w 163"/>
                  <a:gd name="T65" fmla="*/ 0 h 2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63"/>
                  <a:gd name="T100" fmla="*/ 0 h 240"/>
                  <a:gd name="T101" fmla="*/ 163 w 163"/>
                  <a:gd name="T102" fmla="*/ 240 h 24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63" h="240">
                    <a:moveTo>
                      <a:pt x="163" y="240"/>
                    </a:moveTo>
                    <a:lnTo>
                      <a:pt x="162" y="235"/>
                    </a:lnTo>
                    <a:lnTo>
                      <a:pt x="156" y="225"/>
                    </a:lnTo>
                    <a:lnTo>
                      <a:pt x="145" y="208"/>
                    </a:lnTo>
                    <a:lnTo>
                      <a:pt x="129" y="183"/>
                    </a:lnTo>
                    <a:lnTo>
                      <a:pt x="110" y="150"/>
                    </a:lnTo>
                    <a:lnTo>
                      <a:pt x="89" y="110"/>
                    </a:lnTo>
                    <a:lnTo>
                      <a:pt x="64" y="59"/>
                    </a:lnTo>
                    <a:lnTo>
                      <a:pt x="39" y="0"/>
                    </a:lnTo>
                    <a:lnTo>
                      <a:pt x="34" y="2"/>
                    </a:lnTo>
                    <a:lnTo>
                      <a:pt x="28" y="5"/>
                    </a:lnTo>
                    <a:lnTo>
                      <a:pt x="24" y="7"/>
                    </a:lnTo>
                    <a:lnTo>
                      <a:pt x="19" y="9"/>
                    </a:lnTo>
                    <a:lnTo>
                      <a:pt x="14" y="11"/>
                    </a:lnTo>
                    <a:lnTo>
                      <a:pt x="10" y="13"/>
                    </a:lnTo>
                    <a:lnTo>
                      <a:pt x="5" y="15"/>
                    </a:lnTo>
                    <a:lnTo>
                      <a:pt x="0" y="17"/>
                    </a:lnTo>
                    <a:lnTo>
                      <a:pt x="13" y="48"/>
                    </a:lnTo>
                    <a:lnTo>
                      <a:pt x="26" y="75"/>
                    </a:lnTo>
                    <a:lnTo>
                      <a:pt x="41" y="102"/>
                    </a:lnTo>
                    <a:lnTo>
                      <a:pt x="54" y="124"/>
                    </a:lnTo>
                    <a:lnTo>
                      <a:pt x="68" y="145"/>
                    </a:lnTo>
                    <a:lnTo>
                      <a:pt x="82" y="163"/>
                    </a:lnTo>
                    <a:lnTo>
                      <a:pt x="94" y="180"/>
                    </a:lnTo>
                    <a:lnTo>
                      <a:pt x="106" y="193"/>
                    </a:lnTo>
                    <a:lnTo>
                      <a:pt x="117" y="205"/>
                    </a:lnTo>
                    <a:lnTo>
                      <a:pt x="127" y="215"/>
                    </a:lnTo>
                    <a:lnTo>
                      <a:pt x="138" y="224"/>
                    </a:lnTo>
                    <a:lnTo>
                      <a:pt x="146" y="230"/>
                    </a:lnTo>
                    <a:lnTo>
                      <a:pt x="152" y="234"/>
                    </a:lnTo>
                    <a:lnTo>
                      <a:pt x="158" y="238"/>
                    </a:lnTo>
                    <a:lnTo>
                      <a:pt x="161" y="240"/>
                    </a:lnTo>
                    <a:lnTo>
                      <a:pt x="163" y="240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8" name="Freeform 660">
                <a:extLst>
                  <a:ext uri="{FF2B5EF4-FFF2-40B4-BE49-F238E27FC236}">
                    <a16:creationId xmlns:a16="http://schemas.microsoft.com/office/drawing/2014/main" id="{8503BD25-0CFA-4EDB-9556-FDE1F2725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449"/>
                <a:ext cx="2" cy="5"/>
              </a:xfrm>
              <a:custGeom>
                <a:avLst/>
                <a:gdLst>
                  <a:gd name="T0" fmla="*/ 0 w 48"/>
                  <a:gd name="T1" fmla="*/ 0 h 99"/>
                  <a:gd name="T2" fmla="*/ 0 w 48"/>
                  <a:gd name="T3" fmla="*/ 0 h 99"/>
                  <a:gd name="T4" fmla="*/ 0 w 48"/>
                  <a:gd name="T5" fmla="*/ 0 h 99"/>
                  <a:gd name="T6" fmla="*/ 0 w 48"/>
                  <a:gd name="T7" fmla="*/ 0 h 99"/>
                  <a:gd name="T8" fmla="*/ 0 w 48"/>
                  <a:gd name="T9" fmla="*/ 0 h 99"/>
                  <a:gd name="T10" fmla="*/ 0 w 48"/>
                  <a:gd name="T11" fmla="*/ 0 h 99"/>
                  <a:gd name="T12" fmla="*/ 0 w 48"/>
                  <a:gd name="T13" fmla="*/ 0 h 99"/>
                  <a:gd name="T14" fmla="*/ 0 w 48"/>
                  <a:gd name="T15" fmla="*/ 0 h 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8"/>
                  <a:gd name="T25" fmla="*/ 0 h 99"/>
                  <a:gd name="T26" fmla="*/ 48 w 48"/>
                  <a:gd name="T27" fmla="*/ 99 h 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8" h="99">
                    <a:moveTo>
                      <a:pt x="13" y="0"/>
                    </a:moveTo>
                    <a:lnTo>
                      <a:pt x="44" y="76"/>
                    </a:lnTo>
                    <a:lnTo>
                      <a:pt x="48" y="92"/>
                    </a:lnTo>
                    <a:lnTo>
                      <a:pt x="46" y="99"/>
                    </a:lnTo>
                    <a:lnTo>
                      <a:pt x="39" y="96"/>
                    </a:lnTo>
                    <a:lnTo>
                      <a:pt x="31" y="83"/>
                    </a:lnTo>
                    <a:lnTo>
                      <a:pt x="0" y="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342" name="Group 661">
              <a:extLst>
                <a:ext uri="{FF2B5EF4-FFF2-40B4-BE49-F238E27FC236}">
                  <a16:creationId xmlns:a16="http://schemas.microsoft.com/office/drawing/2014/main" id="{C5E2B022-11D4-4158-B003-8F02C9B1DC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2200" y="1219200"/>
              <a:ext cx="469900" cy="685800"/>
              <a:chOff x="3360" y="3024"/>
              <a:chExt cx="296" cy="432"/>
            </a:xfrm>
          </p:grpSpPr>
          <p:sp>
            <p:nvSpPr>
              <p:cNvPr id="98351" name="Freeform 662">
                <a:extLst>
                  <a:ext uri="{FF2B5EF4-FFF2-40B4-BE49-F238E27FC236}">
                    <a16:creationId xmlns:a16="http://schemas.microsoft.com/office/drawing/2014/main" id="{68F77DEC-668C-4308-B957-A4CF518E8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8"/>
                <a:ext cx="9" cy="5"/>
              </a:xfrm>
              <a:custGeom>
                <a:avLst/>
                <a:gdLst>
                  <a:gd name="T0" fmla="*/ 0 w 206"/>
                  <a:gd name="T1" fmla="*/ 0 h 84"/>
                  <a:gd name="T2" fmla="*/ 0 w 206"/>
                  <a:gd name="T3" fmla="*/ 0 h 84"/>
                  <a:gd name="T4" fmla="*/ 0 w 206"/>
                  <a:gd name="T5" fmla="*/ 0 h 84"/>
                  <a:gd name="T6" fmla="*/ 0 w 206"/>
                  <a:gd name="T7" fmla="*/ 0 h 84"/>
                  <a:gd name="T8" fmla="*/ 0 w 206"/>
                  <a:gd name="T9" fmla="*/ 0 h 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84"/>
                  <a:gd name="T17" fmla="*/ 206 w 206"/>
                  <a:gd name="T18" fmla="*/ 84 h 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84">
                    <a:moveTo>
                      <a:pt x="0" y="67"/>
                    </a:moveTo>
                    <a:lnTo>
                      <a:pt x="199" y="0"/>
                    </a:lnTo>
                    <a:lnTo>
                      <a:pt x="206" y="17"/>
                    </a:lnTo>
                    <a:lnTo>
                      <a:pt x="7" y="84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2" name="Freeform 663">
                <a:extLst>
                  <a:ext uri="{FF2B5EF4-FFF2-40B4-BE49-F238E27FC236}">
                    <a16:creationId xmlns:a16="http://schemas.microsoft.com/office/drawing/2014/main" id="{C26EC456-882B-429D-805E-290936743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3450"/>
                <a:ext cx="3" cy="6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"/>
                  <a:gd name="T37" fmla="*/ 0 h 108"/>
                  <a:gd name="T38" fmla="*/ 82 w 82"/>
                  <a:gd name="T39" fmla="*/ 108 h 10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" h="108">
                    <a:moveTo>
                      <a:pt x="45" y="0"/>
                    </a:moveTo>
                    <a:lnTo>
                      <a:pt x="80" y="77"/>
                    </a:lnTo>
                    <a:lnTo>
                      <a:pt x="82" y="87"/>
                    </a:lnTo>
                    <a:lnTo>
                      <a:pt x="80" y="95"/>
                    </a:lnTo>
                    <a:lnTo>
                      <a:pt x="74" y="102"/>
                    </a:lnTo>
                    <a:lnTo>
                      <a:pt x="66" y="106"/>
                    </a:lnTo>
                    <a:lnTo>
                      <a:pt x="57" y="108"/>
                    </a:lnTo>
                    <a:lnTo>
                      <a:pt x="49" y="106"/>
                    </a:lnTo>
                    <a:lnTo>
                      <a:pt x="41" y="102"/>
                    </a:lnTo>
                    <a:lnTo>
                      <a:pt x="35" y="93"/>
                    </a:lnTo>
                    <a:lnTo>
                      <a:pt x="0" y="16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3" name="Freeform 664">
                <a:extLst>
                  <a:ext uri="{FF2B5EF4-FFF2-40B4-BE49-F238E27FC236}">
                    <a16:creationId xmlns:a16="http://schemas.microsoft.com/office/drawing/2014/main" id="{4E9CAE10-1AE2-4BD9-878C-118586126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33"/>
                <a:ext cx="13" cy="18"/>
              </a:xfrm>
              <a:custGeom>
                <a:avLst/>
                <a:gdLst>
                  <a:gd name="T0" fmla="*/ 0 w 293"/>
                  <a:gd name="T1" fmla="*/ 0 h 319"/>
                  <a:gd name="T2" fmla="*/ 0 w 293"/>
                  <a:gd name="T3" fmla="*/ 0 h 319"/>
                  <a:gd name="T4" fmla="*/ 0 w 293"/>
                  <a:gd name="T5" fmla="*/ 0 h 319"/>
                  <a:gd name="T6" fmla="*/ 0 w 293"/>
                  <a:gd name="T7" fmla="*/ 0 h 319"/>
                  <a:gd name="T8" fmla="*/ 0 w 293"/>
                  <a:gd name="T9" fmla="*/ 0 h 319"/>
                  <a:gd name="T10" fmla="*/ 0 w 293"/>
                  <a:gd name="T11" fmla="*/ 0 h 319"/>
                  <a:gd name="T12" fmla="*/ 0 w 293"/>
                  <a:gd name="T13" fmla="*/ 0 h 319"/>
                  <a:gd name="T14" fmla="*/ 0 w 293"/>
                  <a:gd name="T15" fmla="*/ 0 h 319"/>
                  <a:gd name="T16" fmla="*/ 0 w 293"/>
                  <a:gd name="T17" fmla="*/ 0 h 319"/>
                  <a:gd name="T18" fmla="*/ 0 w 293"/>
                  <a:gd name="T19" fmla="*/ 0 h 319"/>
                  <a:gd name="T20" fmla="*/ 0 w 293"/>
                  <a:gd name="T21" fmla="*/ 0 h 319"/>
                  <a:gd name="T22" fmla="*/ 0 w 293"/>
                  <a:gd name="T23" fmla="*/ 0 h 319"/>
                  <a:gd name="T24" fmla="*/ 0 w 293"/>
                  <a:gd name="T25" fmla="*/ 0 h 319"/>
                  <a:gd name="T26" fmla="*/ 0 w 293"/>
                  <a:gd name="T27" fmla="*/ 0 h 319"/>
                  <a:gd name="T28" fmla="*/ 0 w 293"/>
                  <a:gd name="T29" fmla="*/ 0 h 319"/>
                  <a:gd name="T30" fmla="*/ 0 w 293"/>
                  <a:gd name="T31" fmla="*/ 0 h 319"/>
                  <a:gd name="T32" fmla="*/ 0 w 293"/>
                  <a:gd name="T33" fmla="*/ 0 h 319"/>
                  <a:gd name="T34" fmla="*/ 0 w 293"/>
                  <a:gd name="T35" fmla="*/ 0 h 319"/>
                  <a:gd name="T36" fmla="*/ 0 w 293"/>
                  <a:gd name="T37" fmla="*/ 0 h 319"/>
                  <a:gd name="T38" fmla="*/ 0 w 293"/>
                  <a:gd name="T39" fmla="*/ 0 h 319"/>
                  <a:gd name="T40" fmla="*/ 0 w 293"/>
                  <a:gd name="T41" fmla="*/ 0 h 319"/>
                  <a:gd name="T42" fmla="*/ 0 w 293"/>
                  <a:gd name="T43" fmla="*/ 0 h 319"/>
                  <a:gd name="T44" fmla="*/ 0 w 293"/>
                  <a:gd name="T45" fmla="*/ 0 h 319"/>
                  <a:gd name="T46" fmla="*/ 0 w 293"/>
                  <a:gd name="T47" fmla="*/ 0 h 319"/>
                  <a:gd name="T48" fmla="*/ 0 w 293"/>
                  <a:gd name="T49" fmla="*/ 0 h 319"/>
                  <a:gd name="T50" fmla="*/ 0 w 293"/>
                  <a:gd name="T51" fmla="*/ 0 h 319"/>
                  <a:gd name="T52" fmla="*/ 0 w 293"/>
                  <a:gd name="T53" fmla="*/ 0 h 319"/>
                  <a:gd name="T54" fmla="*/ 0 w 293"/>
                  <a:gd name="T55" fmla="*/ 0 h 319"/>
                  <a:gd name="T56" fmla="*/ 0 w 293"/>
                  <a:gd name="T57" fmla="*/ 0 h 319"/>
                  <a:gd name="T58" fmla="*/ 0 w 293"/>
                  <a:gd name="T59" fmla="*/ 0 h 319"/>
                  <a:gd name="T60" fmla="*/ 0 w 293"/>
                  <a:gd name="T61" fmla="*/ 0 h 319"/>
                  <a:gd name="T62" fmla="*/ 0 w 293"/>
                  <a:gd name="T63" fmla="*/ 0 h 319"/>
                  <a:gd name="T64" fmla="*/ 0 w 293"/>
                  <a:gd name="T65" fmla="*/ 0 h 319"/>
                  <a:gd name="T66" fmla="*/ 0 w 293"/>
                  <a:gd name="T67" fmla="*/ 0 h 319"/>
                  <a:gd name="T68" fmla="*/ 0 w 293"/>
                  <a:gd name="T69" fmla="*/ 0 h 319"/>
                  <a:gd name="T70" fmla="*/ 0 w 293"/>
                  <a:gd name="T71" fmla="*/ 0 h 319"/>
                  <a:gd name="T72" fmla="*/ 0 w 293"/>
                  <a:gd name="T73" fmla="*/ 0 h 319"/>
                  <a:gd name="T74" fmla="*/ 0 w 293"/>
                  <a:gd name="T75" fmla="*/ 0 h 319"/>
                  <a:gd name="T76" fmla="*/ 0 w 293"/>
                  <a:gd name="T77" fmla="*/ 0 h 319"/>
                  <a:gd name="T78" fmla="*/ 0 w 293"/>
                  <a:gd name="T79" fmla="*/ 0 h 319"/>
                  <a:gd name="T80" fmla="*/ 0 w 293"/>
                  <a:gd name="T81" fmla="*/ 0 h 31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93"/>
                  <a:gd name="T124" fmla="*/ 0 h 319"/>
                  <a:gd name="T125" fmla="*/ 293 w 293"/>
                  <a:gd name="T126" fmla="*/ 319 h 319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93" h="319">
                    <a:moveTo>
                      <a:pt x="247" y="317"/>
                    </a:moveTo>
                    <a:lnTo>
                      <a:pt x="261" y="307"/>
                    </a:lnTo>
                    <a:lnTo>
                      <a:pt x="275" y="287"/>
                    </a:lnTo>
                    <a:lnTo>
                      <a:pt x="285" y="256"/>
                    </a:lnTo>
                    <a:lnTo>
                      <a:pt x="292" y="218"/>
                    </a:lnTo>
                    <a:lnTo>
                      <a:pt x="293" y="173"/>
                    </a:lnTo>
                    <a:lnTo>
                      <a:pt x="288" y="120"/>
                    </a:lnTo>
                    <a:lnTo>
                      <a:pt x="274" y="62"/>
                    </a:lnTo>
                    <a:lnTo>
                      <a:pt x="251" y="0"/>
                    </a:lnTo>
                    <a:lnTo>
                      <a:pt x="235" y="5"/>
                    </a:lnTo>
                    <a:lnTo>
                      <a:pt x="219" y="10"/>
                    </a:lnTo>
                    <a:lnTo>
                      <a:pt x="204" y="17"/>
                    </a:lnTo>
                    <a:lnTo>
                      <a:pt x="188" y="22"/>
                    </a:lnTo>
                    <a:lnTo>
                      <a:pt x="172" y="28"/>
                    </a:lnTo>
                    <a:lnTo>
                      <a:pt x="157" y="34"/>
                    </a:lnTo>
                    <a:lnTo>
                      <a:pt x="140" y="40"/>
                    </a:lnTo>
                    <a:lnTo>
                      <a:pt x="125" y="45"/>
                    </a:lnTo>
                    <a:lnTo>
                      <a:pt x="110" y="52"/>
                    </a:lnTo>
                    <a:lnTo>
                      <a:pt x="94" y="58"/>
                    </a:lnTo>
                    <a:lnTo>
                      <a:pt x="78" y="63"/>
                    </a:lnTo>
                    <a:lnTo>
                      <a:pt x="63" y="69"/>
                    </a:lnTo>
                    <a:lnTo>
                      <a:pt x="47" y="75"/>
                    </a:lnTo>
                    <a:lnTo>
                      <a:pt x="31" y="81"/>
                    </a:lnTo>
                    <a:lnTo>
                      <a:pt x="15" y="86"/>
                    </a:lnTo>
                    <a:lnTo>
                      <a:pt x="0" y="92"/>
                    </a:lnTo>
                    <a:lnTo>
                      <a:pt x="15" y="122"/>
                    </a:lnTo>
                    <a:lnTo>
                      <a:pt x="30" y="152"/>
                    </a:lnTo>
                    <a:lnTo>
                      <a:pt x="48" y="177"/>
                    </a:lnTo>
                    <a:lnTo>
                      <a:pt x="65" y="201"/>
                    </a:lnTo>
                    <a:lnTo>
                      <a:pt x="82" y="222"/>
                    </a:lnTo>
                    <a:lnTo>
                      <a:pt x="101" y="242"/>
                    </a:lnTo>
                    <a:lnTo>
                      <a:pt x="119" y="259"/>
                    </a:lnTo>
                    <a:lnTo>
                      <a:pt x="136" y="274"/>
                    </a:lnTo>
                    <a:lnTo>
                      <a:pt x="154" y="287"/>
                    </a:lnTo>
                    <a:lnTo>
                      <a:pt x="171" y="297"/>
                    </a:lnTo>
                    <a:lnTo>
                      <a:pt x="186" y="306"/>
                    </a:lnTo>
                    <a:lnTo>
                      <a:pt x="202" y="312"/>
                    </a:lnTo>
                    <a:lnTo>
                      <a:pt x="215" y="316"/>
                    </a:lnTo>
                    <a:lnTo>
                      <a:pt x="227" y="318"/>
                    </a:lnTo>
                    <a:lnTo>
                      <a:pt x="238" y="319"/>
                    </a:lnTo>
                    <a:lnTo>
                      <a:pt x="247" y="31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4" name="Freeform 665">
                <a:extLst>
                  <a:ext uri="{FF2B5EF4-FFF2-40B4-BE49-F238E27FC236}">
                    <a16:creationId xmlns:a16="http://schemas.microsoft.com/office/drawing/2014/main" id="{23EF2471-8B89-4295-9F4B-D51A52564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3299"/>
                <a:ext cx="60" cy="139"/>
              </a:xfrm>
              <a:custGeom>
                <a:avLst/>
                <a:gdLst>
                  <a:gd name="T0" fmla="*/ 0 w 1314"/>
                  <a:gd name="T1" fmla="*/ 0 h 2506"/>
                  <a:gd name="T2" fmla="*/ 0 w 1314"/>
                  <a:gd name="T3" fmla="*/ 0 h 2506"/>
                  <a:gd name="T4" fmla="*/ 0 w 1314"/>
                  <a:gd name="T5" fmla="*/ 0 h 2506"/>
                  <a:gd name="T6" fmla="*/ 0 w 1314"/>
                  <a:gd name="T7" fmla="*/ 0 h 2506"/>
                  <a:gd name="T8" fmla="*/ 0 w 1314"/>
                  <a:gd name="T9" fmla="*/ 0 h 25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4"/>
                  <a:gd name="T16" fmla="*/ 0 h 2506"/>
                  <a:gd name="T17" fmla="*/ 1314 w 1314"/>
                  <a:gd name="T18" fmla="*/ 2506 h 25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4" h="2506">
                    <a:moveTo>
                      <a:pt x="198" y="0"/>
                    </a:moveTo>
                    <a:lnTo>
                      <a:pt x="0" y="66"/>
                    </a:lnTo>
                    <a:lnTo>
                      <a:pt x="1064" y="2506"/>
                    </a:lnTo>
                    <a:lnTo>
                      <a:pt x="1314" y="2421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5" name="Freeform 666">
                <a:extLst>
                  <a:ext uri="{FF2B5EF4-FFF2-40B4-BE49-F238E27FC236}">
                    <a16:creationId xmlns:a16="http://schemas.microsoft.com/office/drawing/2014/main" id="{4195D60D-B0FA-4898-A61B-8533D1874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3292"/>
                <a:ext cx="11" cy="10"/>
              </a:xfrm>
              <a:custGeom>
                <a:avLst/>
                <a:gdLst>
                  <a:gd name="T0" fmla="*/ 0 w 235"/>
                  <a:gd name="T1" fmla="*/ 0 h 179"/>
                  <a:gd name="T2" fmla="*/ 0 w 235"/>
                  <a:gd name="T3" fmla="*/ 0 h 179"/>
                  <a:gd name="T4" fmla="*/ 0 w 235"/>
                  <a:gd name="T5" fmla="*/ 0 h 179"/>
                  <a:gd name="T6" fmla="*/ 0 w 235"/>
                  <a:gd name="T7" fmla="*/ 0 h 179"/>
                  <a:gd name="T8" fmla="*/ 0 w 235"/>
                  <a:gd name="T9" fmla="*/ 0 h 179"/>
                  <a:gd name="T10" fmla="*/ 0 w 235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179"/>
                  <a:gd name="T20" fmla="*/ 235 w 235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179">
                    <a:moveTo>
                      <a:pt x="235" y="111"/>
                    </a:moveTo>
                    <a:lnTo>
                      <a:pt x="36" y="179"/>
                    </a:lnTo>
                    <a:lnTo>
                      <a:pt x="0" y="97"/>
                    </a:lnTo>
                    <a:lnTo>
                      <a:pt x="70" y="0"/>
                    </a:lnTo>
                    <a:lnTo>
                      <a:pt x="199" y="30"/>
                    </a:lnTo>
                    <a:lnTo>
                      <a:pt x="235" y="111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6" name="Freeform 667">
                <a:extLst>
                  <a:ext uri="{FF2B5EF4-FFF2-40B4-BE49-F238E27FC236}">
                    <a16:creationId xmlns:a16="http://schemas.microsoft.com/office/drawing/2014/main" id="{1B30CDD8-2170-4BA4-B577-E03BF7A123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103"/>
                <a:ext cx="208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6"/>
                    </a:moveTo>
                    <a:lnTo>
                      <a:pt x="3650" y="0"/>
                    </a:lnTo>
                    <a:lnTo>
                      <a:pt x="4569" y="1998"/>
                    </a:lnTo>
                    <a:lnTo>
                      <a:pt x="873" y="3641"/>
                    </a:lnTo>
                    <a:lnTo>
                      <a:pt x="0" y="162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7" name="Freeform 668">
                <a:extLst>
                  <a:ext uri="{FF2B5EF4-FFF2-40B4-BE49-F238E27FC236}">
                    <a16:creationId xmlns:a16="http://schemas.microsoft.com/office/drawing/2014/main" id="{B097773C-025F-48E5-A360-7B80AC45C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5" y="3045"/>
                <a:ext cx="271" cy="393"/>
              </a:xfrm>
              <a:custGeom>
                <a:avLst/>
                <a:gdLst>
                  <a:gd name="T0" fmla="*/ 0 w 5957"/>
                  <a:gd name="T1" fmla="*/ 0 h 7066"/>
                  <a:gd name="T2" fmla="*/ 0 w 5957"/>
                  <a:gd name="T3" fmla="*/ 0 h 7066"/>
                  <a:gd name="T4" fmla="*/ 0 w 5957"/>
                  <a:gd name="T5" fmla="*/ 0 h 7066"/>
                  <a:gd name="T6" fmla="*/ 0 w 5957"/>
                  <a:gd name="T7" fmla="*/ 0 h 7066"/>
                  <a:gd name="T8" fmla="*/ 0 w 5957"/>
                  <a:gd name="T9" fmla="*/ 0 h 7066"/>
                  <a:gd name="T10" fmla="*/ 0 w 5957"/>
                  <a:gd name="T11" fmla="*/ 0 h 7066"/>
                  <a:gd name="T12" fmla="*/ 0 w 5957"/>
                  <a:gd name="T13" fmla="*/ 0 h 7066"/>
                  <a:gd name="T14" fmla="*/ 0 w 5957"/>
                  <a:gd name="T15" fmla="*/ 0 h 7066"/>
                  <a:gd name="T16" fmla="*/ 0 w 5957"/>
                  <a:gd name="T17" fmla="*/ 0 h 7066"/>
                  <a:gd name="T18" fmla="*/ 0 w 5957"/>
                  <a:gd name="T19" fmla="*/ 0 h 7066"/>
                  <a:gd name="T20" fmla="*/ 0 w 5957"/>
                  <a:gd name="T21" fmla="*/ 0 h 7066"/>
                  <a:gd name="T22" fmla="*/ 0 w 5957"/>
                  <a:gd name="T23" fmla="*/ 0 h 7066"/>
                  <a:gd name="T24" fmla="*/ 0 w 5957"/>
                  <a:gd name="T25" fmla="*/ 0 h 7066"/>
                  <a:gd name="T26" fmla="*/ 0 w 5957"/>
                  <a:gd name="T27" fmla="*/ 0 h 7066"/>
                  <a:gd name="T28" fmla="*/ 0 w 5957"/>
                  <a:gd name="T29" fmla="*/ 0 h 7066"/>
                  <a:gd name="T30" fmla="*/ 0 w 5957"/>
                  <a:gd name="T31" fmla="*/ 0 h 7066"/>
                  <a:gd name="T32" fmla="*/ 0 w 5957"/>
                  <a:gd name="T33" fmla="*/ 0 h 7066"/>
                  <a:gd name="T34" fmla="*/ 0 w 5957"/>
                  <a:gd name="T35" fmla="*/ 0 h 7066"/>
                  <a:gd name="T36" fmla="*/ 0 w 5957"/>
                  <a:gd name="T37" fmla="*/ 0 h 7066"/>
                  <a:gd name="T38" fmla="*/ 0 w 5957"/>
                  <a:gd name="T39" fmla="*/ 0 h 7066"/>
                  <a:gd name="T40" fmla="*/ 0 w 5957"/>
                  <a:gd name="T41" fmla="*/ 0 h 7066"/>
                  <a:gd name="T42" fmla="*/ 0 w 5957"/>
                  <a:gd name="T43" fmla="*/ 0 h 7066"/>
                  <a:gd name="T44" fmla="*/ 0 w 5957"/>
                  <a:gd name="T45" fmla="*/ 0 h 7066"/>
                  <a:gd name="T46" fmla="*/ 0 w 5957"/>
                  <a:gd name="T47" fmla="*/ 0 h 7066"/>
                  <a:gd name="T48" fmla="*/ 0 w 5957"/>
                  <a:gd name="T49" fmla="*/ 0 h 7066"/>
                  <a:gd name="T50" fmla="*/ 0 w 5957"/>
                  <a:gd name="T51" fmla="*/ 0 h 7066"/>
                  <a:gd name="T52" fmla="*/ 0 w 5957"/>
                  <a:gd name="T53" fmla="*/ 0 h 7066"/>
                  <a:gd name="T54" fmla="*/ 0 w 5957"/>
                  <a:gd name="T55" fmla="*/ 0 h 7066"/>
                  <a:gd name="T56" fmla="*/ 0 w 5957"/>
                  <a:gd name="T57" fmla="*/ 0 h 7066"/>
                  <a:gd name="T58" fmla="*/ 0 w 5957"/>
                  <a:gd name="T59" fmla="*/ 0 h 7066"/>
                  <a:gd name="T60" fmla="*/ 0 w 5957"/>
                  <a:gd name="T61" fmla="*/ 0 h 7066"/>
                  <a:gd name="T62" fmla="*/ 0 w 5957"/>
                  <a:gd name="T63" fmla="*/ 0 h 7066"/>
                  <a:gd name="T64" fmla="*/ 0 w 5957"/>
                  <a:gd name="T65" fmla="*/ 0 h 7066"/>
                  <a:gd name="T66" fmla="*/ 0 w 5957"/>
                  <a:gd name="T67" fmla="*/ 0 h 7066"/>
                  <a:gd name="T68" fmla="*/ 0 w 5957"/>
                  <a:gd name="T69" fmla="*/ 0 h 7066"/>
                  <a:gd name="T70" fmla="*/ 0 w 5957"/>
                  <a:gd name="T71" fmla="*/ 0 h 7066"/>
                  <a:gd name="T72" fmla="*/ 0 w 5957"/>
                  <a:gd name="T73" fmla="*/ 0 h 706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6"/>
                  <a:gd name="T113" fmla="*/ 5957 w 5957"/>
                  <a:gd name="T114" fmla="*/ 7066 h 706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6">
                    <a:moveTo>
                      <a:pt x="2496" y="7056"/>
                    </a:moveTo>
                    <a:lnTo>
                      <a:pt x="5894" y="5433"/>
                    </a:lnTo>
                    <a:lnTo>
                      <a:pt x="5912" y="5421"/>
                    </a:lnTo>
                    <a:lnTo>
                      <a:pt x="5927" y="5407"/>
                    </a:lnTo>
                    <a:lnTo>
                      <a:pt x="5941" y="5389"/>
                    </a:lnTo>
                    <a:lnTo>
                      <a:pt x="5950" y="5369"/>
                    </a:lnTo>
                    <a:lnTo>
                      <a:pt x="5955" y="5348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5"/>
                    </a:lnTo>
                    <a:lnTo>
                      <a:pt x="3492" y="47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9"/>
                    </a:lnTo>
                    <a:lnTo>
                      <a:pt x="3420" y="3"/>
                    </a:lnTo>
                    <a:lnTo>
                      <a:pt x="3399" y="0"/>
                    </a:lnTo>
                    <a:lnTo>
                      <a:pt x="3377" y="3"/>
                    </a:lnTo>
                    <a:lnTo>
                      <a:pt x="3357" y="9"/>
                    </a:lnTo>
                    <a:lnTo>
                      <a:pt x="63" y="1487"/>
                    </a:lnTo>
                    <a:lnTo>
                      <a:pt x="45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6"/>
                    </a:lnTo>
                    <a:lnTo>
                      <a:pt x="9" y="1637"/>
                    </a:lnTo>
                    <a:lnTo>
                      <a:pt x="2350" y="7000"/>
                    </a:lnTo>
                    <a:lnTo>
                      <a:pt x="2361" y="7018"/>
                    </a:lnTo>
                    <a:lnTo>
                      <a:pt x="2376" y="7034"/>
                    </a:lnTo>
                    <a:lnTo>
                      <a:pt x="2393" y="7048"/>
                    </a:lnTo>
                    <a:lnTo>
                      <a:pt x="2412" y="7057"/>
                    </a:lnTo>
                    <a:lnTo>
                      <a:pt x="2433" y="7064"/>
                    </a:lnTo>
                    <a:lnTo>
                      <a:pt x="2454" y="7066"/>
                    </a:lnTo>
                    <a:lnTo>
                      <a:pt x="2476" y="7064"/>
                    </a:lnTo>
                    <a:lnTo>
                      <a:pt x="2496" y="7056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8" name="Freeform 669">
                <a:extLst>
                  <a:ext uri="{FF2B5EF4-FFF2-40B4-BE49-F238E27FC236}">
                    <a16:creationId xmlns:a16="http://schemas.microsoft.com/office/drawing/2014/main" id="{3A1C601B-AF98-48F6-BC4F-8E6B0CB574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096"/>
                <a:ext cx="51" cy="121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7" y="2127"/>
                    </a:moveTo>
                    <a:lnTo>
                      <a:pt x="0" y="131"/>
                    </a:lnTo>
                    <a:lnTo>
                      <a:pt x="33" y="0"/>
                    </a:lnTo>
                    <a:lnTo>
                      <a:pt x="70" y="14"/>
                    </a:lnTo>
                    <a:lnTo>
                      <a:pt x="106" y="29"/>
                    </a:lnTo>
                    <a:lnTo>
                      <a:pt x="143" y="44"/>
                    </a:lnTo>
                    <a:lnTo>
                      <a:pt x="180" y="61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8" y="159"/>
                    </a:lnTo>
                    <a:lnTo>
                      <a:pt x="393" y="181"/>
                    </a:lnTo>
                    <a:lnTo>
                      <a:pt x="428" y="204"/>
                    </a:lnTo>
                    <a:lnTo>
                      <a:pt x="461" y="228"/>
                    </a:lnTo>
                    <a:lnTo>
                      <a:pt x="495" y="252"/>
                    </a:lnTo>
                    <a:lnTo>
                      <a:pt x="528" y="279"/>
                    </a:lnTo>
                    <a:lnTo>
                      <a:pt x="560" y="305"/>
                    </a:lnTo>
                    <a:lnTo>
                      <a:pt x="592" y="333"/>
                    </a:lnTo>
                    <a:lnTo>
                      <a:pt x="624" y="361"/>
                    </a:lnTo>
                    <a:lnTo>
                      <a:pt x="654" y="389"/>
                    </a:lnTo>
                    <a:lnTo>
                      <a:pt x="684" y="419"/>
                    </a:lnTo>
                    <a:lnTo>
                      <a:pt x="713" y="450"/>
                    </a:lnTo>
                    <a:lnTo>
                      <a:pt x="742" y="481"/>
                    </a:lnTo>
                    <a:lnTo>
                      <a:pt x="769" y="513"/>
                    </a:lnTo>
                    <a:lnTo>
                      <a:pt x="796" y="545"/>
                    </a:lnTo>
                    <a:lnTo>
                      <a:pt x="822" y="578"/>
                    </a:lnTo>
                    <a:lnTo>
                      <a:pt x="847" y="612"/>
                    </a:lnTo>
                    <a:lnTo>
                      <a:pt x="871" y="647"/>
                    </a:lnTo>
                    <a:lnTo>
                      <a:pt x="895" y="681"/>
                    </a:lnTo>
                    <a:lnTo>
                      <a:pt x="917" y="717"/>
                    </a:lnTo>
                    <a:lnTo>
                      <a:pt x="939" y="754"/>
                    </a:lnTo>
                    <a:lnTo>
                      <a:pt x="959" y="791"/>
                    </a:lnTo>
                    <a:lnTo>
                      <a:pt x="979" y="828"/>
                    </a:lnTo>
                    <a:lnTo>
                      <a:pt x="997" y="866"/>
                    </a:lnTo>
                    <a:lnTo>
                      <a:pt x="1026" y="938"/>
                    </a:lnTo>
                    <a:lnTo>
                      <a:pt x="1053" y="1015"/>
                    </a:lnTo>
                    <a:lnTo>
                      <a:pt x="1075" y="1096"/>
                    </a:lnTo>
                    <a:lnTo>
                      <a:pt x="1095" y="1180"/>
                    </a:lnTo>
                    <a:lnTo>
                      <a:pt x="1110" y="1267"/>
                    </a:lnTo>
                    <a:lnTo>
                      <a:pt x="1121" y="1356"/>
                    </a:lnTo>
                    <a:lnTo>
                      <a:pt x="1130" y="1446"/>
                    </a:lnTo>
                    <a:lnTo>
                      <a:pt x="1134" y="1536"/>
                    </a:lnTo>
                    <a:lnTo>
                      <a:pt x="1134" y="1626"/>
                    </a:lnTo>
                    <a:lnTo>
                      <a:pt x="1131" y="1716"/>
                    </a:lnTo>
                    <a:lnTo>
                      <a:pt x="1122" y="1802"/>
                    </a:lnTo>
                    <a:lnTo>
                      <a:pt x="1111" y="1886"/>
                    </a:lnTo>
                    <a:lnTo>
                      <a:pt x="1096" y="1967"/>
                    </a:lnTo>
                    <a:lnTo>
                      <a:pt x="1076" y="2044"/>
                    </a:lnTo>
                    <a:lnTo>
                      <a:pt x="1053" y="2115"/>
                    </a:lnTo>
                    <a:lnTo>
                      <a:pt x="1025" y="2180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6B68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9" name="Freeform 670">
                <a:extLst>
                  <a:ext uri="{FF2B5EF4-FFF2-40B4-BE49-F238E27FC236}">
                    <a16:creationId xmlns:a16="http://schemas.microsoft.com/office/drawing/2014/main" id="{640D2AB4-E7F7-4A32-89E2-06C2F1729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3082"/>
                <a:ext cx="207" cy="202"/>
              </a:xfrm>
              <a:custGeom>
                <a:avLst/>
                <a:gdLst>
                  <a:gd name="T0" fmla="*/ 0 w 4569"/>
                  <a:gd name="T1" fmla="*/ 0 h 3641"/>
                  <a:gd name="T2" fmla="*/ 0 w 4569"/>
                  <a:gd name="T3" fmla="*/ 0 h 3641"/>
                  <a:gd name="T4" fmla="*/ 0 w 4569"/>
                  <a:gd name="T5" fmla="*/ 0 h 3641"/>
                  <a:gd name="T6" fmla="*/ 0 w 4569"/>
                  <a:gd name="T7" fmla="*/ 0 h 3641"/>
                  <a:gd name="T8" fmla="*/ 0 w 4569"/>
                  <a:gd name="T9" fmla="*/ 0 h 36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69"/>
                  <a:gd name="T16" fmla="*/ 0 h 3641"/>
                  <a:gd name="T17" fmla="*/ 4569 w 4569"/>
                  <a:gd name="T18" fmla="*/ 3641 h 36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69" h="3641">
                    <a:moveTo>
                      <a:pt x="0" y="1625"/>
                    </a:moveTo>
                    <a:lnTo>
                      <a:pt x="3650" y="0"/>
                    </a:lnTo>
                    <a:lnTo>
                      <a:pt x="4569" y="1997"/>
                    </a:lnTo>
                    <a:lnTo>
                      <a:pt x="873" y="3641"/>
                    </a:lnTo>
                    <a:lnTo>
                      <a:pt x="0" y="1625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0" name="Freeform 671">
                <a:extLst>
                  <a:ext uri="{FF2B5EF4-FFF2-40B4-BE49-F238E27FC236}">
                    <a16:creationId xmlns:a16="http://schemas.microsoft.com/office/drawing/2014/main" id="{39BFF0A4-8990-487A-887E-04AC662CB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271" cy="393"/>
              </a:xfrm>
              <a:custGeom>
                <a:avLst/>
                <a:gdLst>
                  <a:gd name="T0" fmla="*/ 0 w 5957"/>
                  <a:gd name="T1" fmla="*/ 0 h 7065"/>
                  <a:gd name="T2" fmla="*/ 0 w 5957"/>
                  <a:gd name="T3" fmla="*/ 0 h 7065"/>
                  <a:gd name="T4" fmla="*/ 0 w 5957"/>
                  <a:gd name="T5" fmla="*/ 0 h 7065"/>
                  <a:gd name="T6" fmla="*/ 0 w 5957"/>
                  <a:gd name="T7" fmla="*/ 0 h 7065"/>
                  <a:gd name="T8" fmla="*/ 0 w 5957"/>
                  <a:gd name="T9" fmla="*/ 0 h 7065"/>
                  <a:gd name="T10" fmla="*/ 0 w 5957"/>
                  <a:gd name="T11" fmla="*/ 0 h 7065"/>
                  <a:gd name="T12" fmla="*/ 0 w 5957"/>
                  <a:gd name="T13" fmla="*/ 0 h 7065"/>
                  <a:gd name="T14" fmla="*/ 0 w 5957"/>
                  <a:gd name="T15" fmla="*/ 0 h 7065"/>
                  <a:gd name="T16" fmla="*/ 0 w 5957"/>
                  <a:gd name="T17" fmla="*/ 0 h 7065"/>
                  <a:gd name="T18" fmla="*/ 0 w 5957"/>
                  <a:gd name="T19" fmla="*/ 0 h 7065"/>
                  <a:gd name="T20" fmla="*/ 0 w 5957"/>
                  <a:gd name="T21" fmla="*/ 0 h 7065"/>
                  <a:gd name="T22" fmla="*/ 0 w 5957"/>
                  <a:gd name="T23" fmla="*/ 0 h 7065"/>
                  <a:gd name="T24" fmla="*/ 0 w 5957"/>
                  <a:gd name="T25" fmla="*/ 0 h 7065"/>
                  <a:gd name="T26" fmla="*/ 0 w 5957"/>
                  <a:gd name="T27" fmla="*/ 0 h 7065"/>
                  <a:gd name="T28" fmla="*/ 0 w 5957"/>
                  <a:gd name="T29" fmla="*/ 0 h 7065"/>
                  <a:gd name="T30" fmla="*/ 0 w 5957"/>
                  <a:gd name="T31" fmla="*/ 0 h 7065"/>
                  <a:gd name="T32" fmla="*/ 0 w 5957"/>
                  <a:gd name="T33" fmla="*/ 0 h 7065"/>
                  <a:gd name="T34" fmla="*/ 0 w 5957"/>
                  <a:gd name="T35" fmla="*/ 0 h 7065"/>
                  <a:gd name="T36" fmla="*/ 0 w 5957"/>
                  <a:gd name="T37" fmla="*/ 0 h 7065"/>
                  <a:gd name="T38" fmla="*/ 0 w 5957"/>
                  <a:gd name="T39" fmla="*/ 0 h 7065"/>
                  <a:gd name="T40" fmla="*/ 0 w 5957"/>
                  <a:gd name="T41" fmla="*/ 0 h 7065"/>
                  <a:gd name="T42" fmla="*/ 0 w 5957"/>
                  <a:gd name="T43" fmla="*/ 0 h 7065"/>
                  <a:gd name="T44" fmla="*/ 0 w 5957"/>
                  <a:gd name="T45" fmla="*/ 0 h 7065"/>
                  <a:gd name="T46" fmla="*/ 0 w 5957"/>
                  <a:gd name="T47" fmla="*/ 0 h 7065"/>
                  <a:gd name="T48" fmla="*/ 0 w 5957"/>
                  <a:gd name="T49" fmla="*/ 0 h 7065"/>
                  <a:gd name="T50" fmla="*/ 0 w 5957"/>
                  <a:gd name="T51" fmla="*/ 0 h 7065"/>
                  <a:gd name="T52" fmla="*/ 0 w 5957"/>
                  <a:gd name="T53" fmla="*/ 0 h 7065"/>
                  <a:gd name="T54" fmla="*/ 0 w 5957"/>
                  <a:gd name="T55" fmla="*/ 0 h 7065"/>
                  <a:gd name="T56" fmla="*/ 0 w 5957"/>
                  <a:gd name="T57" fmla="*/ 0 h 7065"/>
                  <a:gd name="T58" fmla="*/ 0 w 5957"/>
                  <a:gd name="T59" fmla="*/ 0 h 7065"/>
                  <a:gd name="T60" fmla="*/ 0 w 5957"/>
                  <a:gd name="T61" fmla="*/ 0 h 7065"/>
                  <a:gd name="T62" fmla="*/ 0 w 5957"/>
                  <a:gd name="T63" fmla="*/ 0 h 7065"/>
                  <a:gd name="T64" fmla="*/ 0 w 5957"/>
                  <a:gd name="T65" fmla="*/ 0 h 7065"/>
                  <a:gd name="T66" fmla="*/ 0 w 5957"/>
                  <a:gd name="T67" fmla="*/ 0 h 7065"/>
                  <a:gd name="T68" fmla="*/ 0 w 5957"/>
                  <a:gd name="T69" fmla="*/ 0 h 7065"/>
                  <a:gd name="T70" fmla="*/ 0 w 5957"/>
                  <a:gd name="T71" fmla="*/ 0 h 7065"/>
                  <a:gd name="T72" fmla="*/ 0 w 5957"/>
                  <a:gd name="T73" fmla="*/ 0 h 70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957"/>
                  <a:gd name="T112" fmla="*/ 0 h 7065"/>
                  <a:gd name="T113" fmla="*/ 5957 w 5957"/>
                  <a:gd name="T114" fmla="*/ 7065 h 70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957" h="7065">
                    <a:moveTo>
                      <a:pt x="2497" y="7056"/>
                    </a:moveTo>
                    <a:lnTo>
                      <a:pt x="5894" y="5432"/>
                    </a:lnTo>
                    <a:lnTo>
                      <a:pt x="5912" y="5421"/>
                    </a:lnTo>
                    <a:lnTo>
                      <a:pt x="5928" y="5406"/>
                    </a:lnTo>
                    <a:lnTo>
                      <a:pt x="5941" y="5388"/>
                    </a:lnTo>
                    <a:lnTo>
                      <a:pt x="5950" y="5368"/>
                    </a:lnTo>
                    <a:lnTo>
                      <a:pt x="5955" y="5347"/>
                    </a:lnTo>
                    <a:lnTo>
                      <a:pt x="5957" y="5325"/>
                    </a:lnTo>
                    <a:lnTo>
                      <a:pt x="5955" y="5303"/>
                    </a:lnTo>
                    <a:lnTo>
                      <a:pt x="5948" y="5282"/>
                    </a:lnTo>
                    <a:lnTo>
                      <a:pt x="3503" y="64"/>
                    </a:lnTo>
                    <a:lnTo>
                      <a:pt x="3492" y="46"/>
                    </a:lnTo>
                    <a:lnTo>
                      <a:pt x="3477" y="31"/>
                    </a:lnTo>
                    <a:lnTo>
                      <a:pt x="3460" y="18"/>
                    </a:lnTo>
                    <a:lnTo>
                      <a:pt x="3441" y="8"/>
                    </a:lnTo>
                    <a:lnTo>
                      <a:pt x="3420" y="2"/>
                    </a:lnTo>
                    <a:lnTo>
                      <a:pt x="3399" y="0"/>
                    </a:lnTo>
                    <a:lnTo>
                      <a:pt x="3377" y="2"/>
                    </a:lnTo>
                    <a:lnTo>
                      <a:pt x="3357" y="8"/>
                    </a:lnTo>
                    <a:lnTo>
                      <a:pt x="63" y="1486"/>
                    </a:lnTo>
                    <a:lnTo>
                      <a:pt x="45" y="1497"/>
                    </a:lnTo>
                    <a:lnTo>
                      <a:pt x="30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3" y="1615"/>
                    </a:lnTo>
                    <a:lnTo>
                      <a:pt x="9" y="1636"/>
                    </a:lnTo>
                    <a:lnTo>
                      <a:pt x="2351" y="6999"/>
                    </a:lnTo>
                    <a:lnTo>
                      <a:pt x="2362" y="7018"/>
                    </a:lnTo>
                    <a:lnTo>
                      <a:pt x="2377" y="7034"/>
                    </a:lnTo>
                    <a:lnTo>
                      <a:pt x="2394" y="7048"/>
                    </a:lnTo>
                    <a:lnTo>
                      <a:pt x="2413" y="7057"/>
                    </a:lnTo>
                    <a:lnTo>
                      <a:pt x="2434" y="7063"/>
                    </a:lnTo>
                    <a:lnTo>
                      <a:pt x="2455" y="7065"/>
                    </a:lnTo>
                    <a:lnTo>
                      <a:pt x="2477" y="7063"/>
                    </a:lnTo>
                    <a:lnTo>
                      <a:pt x="2497" y="70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1" name="Freeform 672">
                <a:extLst>
                  <a:ext uri="{FF2B5EF4-FFF2-40B4-BE49-F238E27FC236}">
                    <a16:creationId xmlns:a16="http://schemas.microsoft.com/office/drawing/2014/main" id="{2184D8CE-7EC1-466B-BB04-777343F0C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2" cy="99"/>
              </a:xfrm>
              <a:custGeom>
                <a:avLst/>
                <a:gdLst>
                  <a:gd name="T0" fmla="*/ 0 w 3562"/>
                  <a:gd name="T1" fmla="*/ 0 h 1773"/>
                  <a:gd name="T2" fmla="*/ 0 w 3562"/>
                  <a:gd name="T3" fmla="*/ 0 h 1773"/>
                  <a:gd name="T4" fmla="*/ 0 w 3562"/>
                  <a:gd name="T5" fmla="*/ 0 h 1773"/>
                  <a:gd name="T6" fmla="*/ 0 w 3562"/>
                  <a:gd name="T7" fmla="*/ 0 h 1773"/>
                  <a:gd name="T8" fmla="*/ 0 w 3562"/>
                  <a:gd name="T9" fmla="*/ 0 h 1773"/>
                  <a:gd name="T10" fmla="*/ 0 w 3562"/>
                  <a:gd name="T11" fmla="*/ 0 h 1773"/>
                  <a:gd name="T12" fmla="*/ 0 w 3562"/>
                  <a:gd name="T13" fmla="*/ 0 h 1773"/>
                  <a:gd name="T14" fmla="*/ 0 w 3562"/>
                  <a:gd name="T15" fmla="*/ 0 h 1773"/>
                  <a:gd name="T16" fmla="*/ 0 w 3562"/>
                  <a:gd name="T17" fmla="*/ 0 h 1773"/>
                  <a:gd name="T18" fmla="*/ 0 w 3562"/>
                  <a:gd name="T19" fmla="*/ 0 h 1773"/>
                  <a:gd name="T20" fmla="*/ 0 w 3562"/>
                  <a:gd name="T21" fmla="*/ 0 h 1773"/>
                  <a:gd name="T22" fmla="*/ 0 w 3562"/>
                  <a:gd name="T23" fmla="*/ 0 h 1773"/>
                  <a:gd name="T24" fmla="*/ 0 w 3562"/>
                  <a:gd name="T25" fmla="*/ 0 h 1773"/>
                  <a:gd name="T26" fmla="*/ 0 w 3562"/>
                  <a:gd name="T27" fmla="*/ 0 h 1773"/>
                  <a:gd name="T28" fmla="*/ 0 w 3562"/>
                  <a:gd name="T29" fmla="*/ 0 h 1773"/>
                  <a:gd name="T30" fmla="*/ 0 w 3562"/>
                  <a:gd name="T31" fmla="*/ 0 h 1773"/>
                  <a:gd name="T32" fmla="*/ 0 w 3562"/>
                  <a:gd name="T33" fmla="*/ 0 h 1773"/>
                  <a:gd name="T34" fmla="*/ 0 w 3562"/>
                  <a:gd name="T35" fmla="*/ 0 h 1773"/>
                  <a:gd name="T36" fmla="*/ 0 w 3562"/>
                  <a:gd name="T37" fmla="*/ 0 h 1773"/>
                  <a:gd name="T38" fmla="*/ 0 w 3562"/>
                  <a:gd name="T39" fmla="*/ 0 h 1773"/>
                  <a:gd name="T40" fmla="*/ 0 w 3562"/>
                  <a:gd name="T41" fmla="*/ 0 h 177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62"/>
                  <a:gd name="T64" fmla="*/ 0 h 1773"/>
                  <a:gd name="T65" fmla="*/ 3562 w 3562"/>
                  <a:gd name="T66" fmla="*/ 1773 h 177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62" h="1773">
                    <a:moveTo>
                      <a:pt x="3562" y="1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68" y="1773"/>
                    </a:lnTo>
                    <a:lnTo>
                      <a:pt x="3562" y="183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2" name="Freeform 673">
                <a:extLst>
                  <a:ext uri="{FF2B5EF4-FFF2-40B4-BE49-F238E27FC236}">
                    <a16:creationId xmlns:a16="http://schemas.microsoft.com/office/drawing/2014/main" id="{53EA133F-7FDB-434F-BDEB-90D436C96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7"/>
              </a:xfrm>
              <a:custGeom>
                <a:avLst/>
                <a:gdLst>
                  <a:gd name="T0" fmla="*/ 0 w 3550"/>
                  <a:gd name="T1" fmla="*/ 0 h 1748"/>
                  <a:gd name="T2" fmla="*/ 0 w 3550"/>
                  <a:gd name="T3" fmla="*/ 0 h 1748"/>
                  <a:gd name="T4" fmla="*/ 0 w 3550"/>
                  <a:gd name="T5" fmla="*/ 0 h 1748"/>
                  <a:gd name="T6" fmla="*/ 0 w 3550"/>
                  <a:gd name="T7" fmla="*/ 0 h 1748"/>
                  <a:gd name="T8" fmla="*/ 0 w 3550"/>
                  <a:gd name="T9" fmla="*/ 0 h 1748"/>
                  <a:gd name="T10" fmla="*/ 0 w 3550"/>
                  <a:gd name="T11" fmla="*/ 0 h 1748"/>
                  <a:gd name="T12" fmla="*/ 0 w 3550"/>
                  <a:gd name="T13" fmla="*/ 0 h 1748"/>
                  <a:gd name="T14" fmla="*/ 0 w 3550"/>
                  <a:gd name="T15" fmla="*/ 0 h 1748"/>
                  <a:gd name="T16" fmla="*/ 0 w 3550"/>
                  <a:gd name="T17" fmla="*/ 0 h 1748"/>
                  <a:gd name="T18" fmla="*/ 0 w 3550"/>
                  <a:gd name="T19" fmla="*/ 0 h 1748"/>
                  <a:gd name="T20" fmla="*/ 0 w 3550"/>
                  <a:gd name="T21" fmla="*/ 0 h 1748"/>
                  <a:gd name="T22" fmla="*/ 0 w 3550"/>
                  <a:gd name="T23" fmla="*/ 0 h 1748"/>
                  <a:gd name="T24" fmla="*/ 0 w 3550"/>
                  <a:gd name="T25" fmla="*/ 0 h 1748"/>
                  <a:gd name="T26" fmla="*/ 0 w 3550"/>
                  <a:gd name="T27" fmla="*/ 0 h 1748"/>
                  <a:gd name="T28" fmla="*/ 0 w 3550"/>
                  <a:gd name="T29" fmla="*/ 0 h 1748"/>
                  <a:gd name="T30" fmla="*/ 0 w 3550"/>
                  <a:gd name="T31" fmla="*/ 0 h 1748"/>
                  <a:gd name="T32" fmla="*/ 0 w 3550"/>
                  <a:gd name="T33" fmla="*/ 0 h 1748"/>
                  <a:gd name="T34" fmla="*/ 0 w 3550"/>
                  <a:gd name="T35" fmla="*/ 0 h 1748"/>
                  <a:gd name="T36" fmla="*/ 0 w 3550"/>
                  <a:gd name="T37" fmla="*/ 0 h 1748"/>
                  <a:gd name="T38" fmla="*/ 0 w 3550"/>
                  <a:gd name="T39" fmla="*/ 0 h 1748"/>
                  <a:gd name="T40" fmla="*/ 0 w 3550"/>
                  <a:gd name="T41" fmla="*/ 0 h 1748"/>
                  <a:gd name="T42" fmla="*/ 0 w 3550"/>
                  <a:gd name="T43" fmla="*/ 0 h 1748"/>
                  <a:gd name="T44" fmla="*/ 0 w 3550"/>
                  <a:gd name="T45" fmla="*/ 0 h 1748"/>
                  <a:gd name="T46" fmla="*/ 0 w 3550"/>
                  <a:gd name="T47" fmla="*/ 0 h 1748"/>
                  <a:gd name="T48" fmla="*/ 0 w 3550"/>
                  <a:gd name="T49" fmla="*/ 0 h 1748"/>
                  <a:gd name="T50" fmla="*/ 0 w 3550"/>
                  <a:gd name="T51" fmla="*/ 0 h 1748"/>
                  <a:gd name="T52" fmla="*/ 0 w 3550"/>
                  <a:gd name="T53" fmla="*/ 0 h 1748"/>
                  <a:gd name="T54" fmla="*/ 0 w 3550"/>
                  <a:gd name="T55" fmla="*/ 0 h 1748"/>
                  <a:gd name="T56" fmla="*/ 0 w 3550"/>
                  <a:gd name="T57" fmla="*/ 0 h 1748"/>
                  <a:gd name="T58" fmla="*/ 0 w 3550"/>
                  <a:gd name="T59" fmla="*/ 0 h 1748"/>
                  <a:gd name="T60" fmla="*/ 0 w 3550"/>
                  <a:gd name="T61" fmla="*/ 0 h 1748"/>
                  <a:gd name="T62" fmla="*/ 0 w 3550"/>
                  <a:gd name="T63" fmla="*/ 0 h 1748"/>
                  <a:gd name="T64" fmla="*/ 0 w 3550"/>
                  <a:gd name="T65" fmla="*/ 0 h 1748"/>
                  <a:gd name="T66" fmla="*/ 0 w 3550"/>
                  <a:gd name="T67" fmla="*/ 0 h 1748"/>
                  <a:gd name="T68" fmla="*/ 0 w 3550"/>
                  <a:gd name="T69" fmla="*/ 0 h 1748"/>
                  <a:gd name="T70" fmla="*/ 0 w 3550"/>
                  <a:gd name="T71" fmla="*/ 0 h 1748"/>
                  <a:gd name="T72" fmla="*/ 0 w 3550"/>
                  <a:gd name="T73" fmla="*/ 0 h 1748"/>
                  <a:gd name="T74" fmla="*/ 0 w 3550"/>
                  <a:gd name="T75" fmla="*/ 0 h 1748"/>
                  <a:gd name="T76" fmla="*/ 0 w 3550"/>
                  <a:gd name="T77" fmla="*/ 0 h 1748"/>
                  <a:gd name="T78" fmla="*/ 0 w 3550"/>
                  <a:gd name="T79" fmla="*/ 0 h 1748"/>
                  <a:gd name="T80" fmla="*/ 0 w 3550"/>
                  <a:gd name="T81" fmla="*/ 0 h 1748"/>
                  <a:gd name="T82" fmla="*/ 0 w 3550"/>
                  <a:gd name="T83" fmla="*/ 0 h 1748"/>
                  <a:gd name="T84" fmla="*/ 0 w 3550"/>
                  <a:gd name="T85" fmla="*/ 0 h 1748"/>
                  <a:gd name="T86" fmla="*/ 0 w 3550"/>
                  <a:gd name="T87" fmla="*/ 0 h 1748"/>
                  <a:gd name="T88" fmla="*/ 0 w 3550"/>
                  <a:gd name="T89" fmla="*/ 0 h 1748"/>
                  <a:gd name="T90" fmla="*/ 0 w 3550"/>
                  <a:gd name="T91" fmla="*/ 0 h 1748"/>
                  <a:gd name="T92" fmla="*/ 0 w 3550"/>
                  <a:gd name="T93" fmla="*/ 0 h 1748"/>
                  <a:gd name="T94" fmla="*/ 0 w 3550"/>
                  <a:gd name="T95" fmla="*/ 0 h 174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50"/>
                  <a:gd name="T145" fmla="*/ 0 h 1748"/>
                  <a:gd name="T146" fmla="*/ 3550 w 3550"/>
                  <a:gd name="T147" fmla="*/ 1748 h 174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50" h="1748">
                    <a:moveTo>
                      <a:pt x="3550" y="163"/>
                    </a:moveTo>
                    <a:lnTo>
                      <a:pt x="3545" y="153"/>
                    </a:lnTo>
                    <a:lnTo>
                      <a:pt x="3541" y="144"/>
                    </a:lnTo>
                    <a:lnTo>
                      <a:pt x="3538" y="137"/>
                    </a:lnTo>
                    <a:lnTo>
                      <a:pt x="3533" y="130"/>
                    </a:lnTo>
                    <a:lnTo>
                      <a:pt x="3529" y="120"/>
                    </a:lnTo>
                    <a:lnTo>
                      <a:pt x="3523" y="108"/>
                    </a:lnTo>
                    <a:lnTo>
                      <a:pt x="3514" y="90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1" y="1665"/>
                    </a:lnTo>
                    <a:lnTo>
                      <a:pt x="26" y="1673"/>
                    </a:lnTo>
                    <a:lnTo>
                      <a:pt x="31" y="1685"/>
                    </a:lnTo>
                    <a:lnTo>
                      <a:pt x="37" y="1699"/>
                    </a:lnTo>
                    <a:lnTo>
                      <a:pt x="46" y="1719"/>
                    </a:lnTo>
                    <a:lnTo>
                      <a:pt x="57" y="1748"/>
                    </a:lnTo>
                    <a:lnTo>
                      <a:pt x="162" y="1700"/>
                    </a:lnTo>
                    <a:lnTo>
                      <a:pt x="259" y="1656"/>
                    </a:lnTo>
                    <a:lnTo>
                      <a:pt x="348" y="1616"/>
                    </a:lnTo>
                    <a:lnTo>
                      <a:pt x="430" y="1579"/>
                    </a:lnTo>
                    <a:lnTo>
                      <a:pt x="508" y="1543"/>
                    </a:lnTo>
                    <a:lnTo>
                      <a:pt x="579" y="1511"/>
                    </a:lnTo>
                    <a:lnTo>
                      <a:pt x="648" y="1480"/>
                    </a:lnTo>
                    <a:lnTo>
                      <a:pt x="713" y="1451"/>
                    </a:lnTo>
                    <a:lnTo>
                      <a:pt x="776" y="1422"/>
                    </a:lnTo>
                    <a:lnTo>
                      <a:pt x="837" y="1395"/>
                    </a:lnTo>
                    <a:lnTo>
                      <a:pt x="898" y="1367"/>
                    </a:lnTo>
                    <a:lnTo>
                      <a:pt x="959" y="1340"/>
                    </a:lnTo>
                    <a:lnTo>
                      <a:pt x="1021" y="1311"/>
                    </a:lnTo>
                    <a:lnTo>
                      <a:pt x="1085" y="1282"/>
                    </a:lnTo>
                    <a:lnTo>
                      <a:pt x="1153" y="1251"/>
                    </a:lnTo>
                    <a:lnTo>
                      <a:pt x="1223" y="1220"/>
                    </a:lnTo>
                    <a:lnTo>
                      <a:pt x="1299" y="1186"/>
                    </a:lnTo>
                    <a:lnTo>
                      <a:pt x="1379" y="1149"/>
                    </a:lnTo>
                    <a:lnTo>
                      <a:pt x="1466" y="1110"/>
                    </a:lnTo>
                    <a:lnTo>
                      <a:pt x="1560" y="1067"/>
                    </a:lnTo>
                    <a:lnTo>
                      <a:pt x="1662" y="1020"/>
                    </a:lnTo>
                    <a:lnTo>
                      <a:pt x="1772" y="971"/>
                    </a:lnTo>
                    <a:lnTo>
                      <a:pt x="1892" y="916"/>
                    </a:lnTo>
                    <a:lnTo>
                      <a:pt x="2024" y="857"/>
                    </a:lnTo>
                    <a:lnTo>
                      <a:pt x="2166" y="792"/>
                    </a:lnTo>
                    <a:lnTo>
                      <a:pt x="2320" y="722"/>
                    </a:lnTo>
                    <a:lnTo>
                      <a:pt x="2488" y="646"/>
                    </a:lnTo>
                    <a:lnTo>
                      <a:pt x="2668" y="564"/>
                    </a:lnTo>
                    <a:lnTo>
                      <a:pt x="2864" y="474"/>
                    </a:lnTo>
                    <a:lnTo>
                      <a:pt x="3075" y="378"/>
                    </a:lnTo>
                    <a:lnTo>
                      <a:pt x="3304" y="275"/>
                    </a:lnTo>
                    <a:lnTo>
                      <a:pt x="3550" y="163"/>
                    </a:lnTo>
                    <a:close/>
                  </a:path>
                </a:pathLst>
              </a:custGeom>
              <a:solidFill>
                <a:srgbClr val="BF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3" name="Freeform 674">
                <a:extLst>
                  <a:ext uri="{FF2B5EF4-FFF2-40B4-BE49-F238E27FC236}">
                    <a16:creationId xmlns:a16="http://schemas.microsoft.com/office/drawing/2014/main" id="{25079218-4289-41BD-A3D7-6575AF203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1" cy="96"/>
              </a:xfrm>
              <a:custGeom>
                <a:avLst/>
                <a:gdLst>
                  <a:gd name="T0" fmla="*/ 0 w 3539"/>
                  <a:gd name="T1" fmla="*/ 0 h 1724"/>
                  <a:gd name="T2" fmla="*/ 0 w 3539"/>
                  <a:gd name="T3" fmla="*/ 0 h 1724"/>
                  <a:gd name="T4" fmla="*/ 0 w 3539"/>
                  <a:gd name="T5" fmla="*/ 0 h 1724"/>
                  <a:gd name="T6" fmla="*/ 0 w 3539"/>
                  <a:gd name="T7" fmla="*/ 0 h 1724"/>
                  <a:gd name="T8" fmla="*/ 0 w 3539"/>
                  <a:gd name="T9" fmla="*/ 0 h 1724"/>
                  <a:gd name="T10" fmla="*/ 0 w 3539"/>
                  <a:gd name="T11" fmla="*/ 0 h 1724"/>
                  <a:gd name="T12" fmla="*/ 0 w 3539"/>
                  <a:gd name="T13" fmla="*/ 0 h 1724"/>
                  <a:gd name="T14" fmla="*/ 0 w 3539"/>
                  <a:gd name="T15" fmla="*/ 0 h 1724"/>
                  <a:gd name="T16" fmla="*/ 0 w 3539"/>
                  <a:gd name="T17" fmla="*/ 0 h 1724"/>
                  <a:gd name="T18" fmla="*/ 0 w 3539"/>
                  <a:gd name="T19" fmla="*/ 0 h 1724"/>
                  <a:gd name="T20" fmla="*/ 0 w 3539"/>
                  <a:gd name="T21" fmla="*/ 0 h 1724"/>
                  <a:gd name="T22" fmla="*/ 0 w 3539"/>
                  <a:gd name="T23" fmla="*/ 0 h 1724"/>
                  <a:gd name="T24" fmla="*/ 0 w 3539"/>
                  <a:gd name="T25" fmla="*/ 0 h 1724"/>
                  <a:gd name="T26" fmla="*/ 0 w 3539"/>
                  <a:gd name="T27" fmla="*/ 0 h 1724"/>
                  <a:gd name="T28" fmla="*/ 0 w 3539"/>
                  <a:gd name="T29" fmla="*/ 0 h 1724"/>
                  <a:gd name="T30" fmla="*/ 0 w 3539"/>
                  <a:gd name="T31" fmla="*/ 0 h 1724"/>
                  <a:gd name="T32" fmla="*/ 0 w 3539"/>
                  <a:gd name="T33" fmla="*/ 0 h 1724"/>
                  <a:gd name="T34" fmla="*/ 0 w 3539"/>
                  <a:gd name="T35" fmla="*/ 0 h 1724"/>
                  <a:gd name="T36" fmla="*/ 0 w 3539"/>
                  <a:gd name="T37" fmla="*/ 0 h 1724"/>
                  <a:gd name="T38" fmla="*/ 0 w 3539"/>
                  <a:gd name="T39" fmla="*/ 0 h 1724"/>
                  <a:gd name="T40" fmla="*/ 0 w 3539"/>
                  <a:gd name="T41" fmla="*/ 0 h 1724"/>
                  <a:gd name="T42" fmla="*/ 0 w 3539"/>
                  <a:gd name="T43" fmla="*/ 0 h 1724"/>
                  <a:gd name="T44" fmla="*/ 0 w 3539"/>
                  <a:gd name="T45" fmla="*/ 0 h 1724"/>
                  <a:gd name="T46" fmla="*/ 0 w 3539"/>
                  <a:gd name="T47" fmla="*/ 0 h 1724"/>
                  <a:gd name="T48" fmla="*/ 0 w 3539"/>
                  <a:gd name="T49" fmla="*/ 0 h 1724"/>
                  <a:gd name="T50" fmla="*/ 0 w 3539"/>
                  <a:gd name="T51" fmla="*/ 0 h 1724"/>
                  <a:gd name="T52" fmla="*/ 0 w 3539"/>
                  <a:gd name="T53" fmla="*/ 0 h 1724"/>
                  <a:gd name="T54" fmla="*/ 0 w 3539"/>
                  <a:gd name="T55" fmla="*/ 0 h 1724"/>
                  <a:gd name="T56" fmla="*/ 0 w 3539"/>
                  <a:gd name="T57" fmla="*/ 0 h 1724"/>
                  <a:gd name="T58" fmla="*/ 0 w 3539"/>
                  <a:gd name="T59" fmla="*/ 0 h 1724"/>
                  <a:gd name="T60" fmla="*/ 0 w 3539"/>
                  <a:gd name="T61" fmla="*/ 0 h 1724"/>
                  <a:gd name="T62" fmla="*/ 0 w 3539"/>
                  <a:gd name="T63" fmla="*/ 0 h 1724"/>
                  <a:gd name="T64" fmla="*/ 0 w 3539"/>
                  <a:gd name="T65" fmla="*/ 0 h 1724"/>
                  <a:gd name="T66" fmla="*/ 0 w 3539"/>
                  <a:gd name="T67" fmla="*/ 0 h 1724"/>
                  <a:gd name="T68" fmla="*/ 0 w 3539"/>
                  <a:gd name="T69" fmla="*/ 0 h 1724"/>
                  <a:gd name="T70" fmla="*/ 0 w 3539"/>
                  <a:gd name="T71" fmla="*/ 0 h 1724"/>
                  <a:gd name="T72" fmla="*/ 0 w 3539"/>
                  <a:gd name="T73" fmla="*/ 0 h 1724"/>
                  <a:gd name="T74" fmla="*/ 0 w 3539"/>
                  <a:gd name="T75" fmla="*/ 0 h 1724"/>
                  <a:gd name="T76" fmla="*/ 0 w 3539"/>
                  <a:gd name="T77" fmla="*/ 0 h 1724"/>
                  <a:gd name="T78" fmla="*/ 0 w 3539"/>
                  <a:gd name="T79" fmla="*/ 0 h 1724"/>
                  <a:gd name="T80" fmla="*/ 0 w 3539"/>
                  <a:gd name="T81" fmla="*/ 0 h 1724"/>
                  <a:gd name="T82" fmla="*/ 0 w 3539"/>
                  <a:gd name="T83" fmla="*/ 0 h 1724"/>
                  <a:gd name="T84" fmla="*/ 0 w 3539"/>
                  <a:gd name="T85" fmla="*/ 0 h 1724"/>
                  <a:gd name="T86" fmla="*/ 0 w 3539"/>
                  <a:gd name="T87" fmla="*/ 0 h 1724"/>
                  <a:gd name="T88" fmla="*/ 0 w 3539"/>
                  <a:gd name="T89" fmla="*/ 0 h 1724"/>
                  <a:gd name="T90" fmla="*/ 0 w 3539"/>
                  <a:gd name="T91" fmla="*/ 0 h 1724"/>
                  <a:gd name="T92" fmla="*/ 0 w 3539"/>
                  <a:gd name="T93" fmla="*/ 0 h 1724"/>
                  <a:gd name="T94" fmla="*/ 0 w 3539"/>
                  <a:gd name="T95" fmla="*/ 0 h 172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539"/>
                  <a:gd name="T145" fmla="*/ 0 h 1724"/>
                  <a:gd name="T146" fmla="*/ 3539 w 3539"/>
                  <a:gd name="T147" fmla="*/ 1724 h 172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539" h="1724">
                    <a:moveTo>
                      <a:pt x="3539" y="143"/>
                    </a:moveTo>
                    <a:lnTo>
                      <a:pt x="3534" y="135"/>
                    </a:lnTo>
                    <a:lnTo>
                      <a:pt x="3531" y="129"/>
                    </a:lnTo>
                    <a:lnTo>
                      <a:pt x="3529" y="123"/>
                    </a:lnTo>
                    <a:lnTo>
                      <a:pt x="3526" y="117"/>
                    </a:lnTo>
                    <a:lnTo>
                      <a:pt x="3523" y="110"/>
                    </a:lnTo>
                    <a:lnTo>
                      <a:pt x="3518" y="99"/>
                    </a:lnTo>
                    <a:lnTo>
                      <a:pt x="3511" y="84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6"/>
                    </a:lnTo>
                    <a:lnTo>
                      <a:pt x="16" y="1652"/>
                    </a:lnTo>
                    <a:lnTo>
                      <a:pt x="19" y="1658"/>
                    </a:lnTo>
                    <a:lnTo>
                      <a:pt x="22" y="1666"/>
                    </a:lnTo>
                    <a:lnTo>
                      <a:pt x="26" y="1674"/>
                    </a:lnTo>
                    <a:lnTo>
                      <a:pt x="31" y="1686"/>
                    </a:lnTo>
                    <a:lnTo>
                      <a:pt x="37" y="1702"/>
                    </a:lnTo>
                    <a:lnTo>
                      <a:pt x="46" y="1724"/>
                    </a:lnTo>
                    <a:lnTo>
                      <a:pt x="151" y="1676"/>
                    </a:lnTo>
                    <a:lnTo>
                      <a:pt x="248" y="1633"/>
                    </a:lnTo>
                    <a:lnTo>
                      <a:pt x="337" y="1592"/>
                    </a:lnTo>
                    <a:lnTo>
                      <a:pt x="419" y="1555"/>
                    </a:lnTo>
                    <a:lnTo>
                      <a:pt x="497" y="1520"/>
                    </a:lnTo>
                    <a:lnTo>
                      <a:pt x="568" y="1488"/>
                    </a:lnTo>
                    <a:lnTo>
                      <a:pt x="637" y="1457"/>
                    </a:lnTo>
                    <a:lnTo>
                      <a:pt x="702" y="1427"/>
                    </a:lnTo>
                    <a:lnTo>
                      <a:pt x="765" y="1399"/>
                    </a:lnTo>
                    <a:lnTo>
                      <a:pt x="826" y="1372"/>
                    </a:lnTo>
                    <a:lnTo>
                      <a:pt x="886" y="1344"/>
                    </a:lnTo>
                    <a:lnTo>
                      <a:pt x="948" y="1316"/>
                    </a:lnTo>
                    <a:lnTo>
                      <a:pt x="1010" y="1288"/>
                    </a:lnTo>
                    <a:lnTo>
                      <a:pt x="1074" y="1259"/>
                    </a:lnTo>
                    <a:lnTo>
                      <a:pt x="1141" y="1229"/>
                    </a:lnTo>
                    <a:lnTo>
                      <a:pt x="1212" y="1197"/>
                    </a:lnTo>
                    <a:lnTo>
                      <a:pt x="1287" y="1163"/>
                    </a:lnTo>
                    <a:lnTo>
                      <a:pt x="1368" y="1126"/>
                    </a:lnTo>
                    <a:lnTo>
                      <a:pt x="1455" y="1087"/>
                    </a:lnTo>
                    <a:lnTo>
                      <a:pt x="1548" y="1045"/>
                    </a:lnTo>
                    <a:lnTo>
                      <a:pt x="1650" y="998"/>
                    </a:lnTo>
                    <a:lnTo>
                      <a:pt x="1761" y="949"/>
                    </a:lnTo>
                    <a:lnTo>
                      <a:pt x="1881" y="894"/>
                    </a:lnTo>
                    <a:lnTo>
                      <a:pt x="2013" y="835"/>
                    </a:lnTo>
                    <a:lnTo>
                      <a:pt x="2154" y="771"/>
                    </a:lnTo>
                    <a:lnTo>
                      <a:pt x="2308" y="700"/>
                    </a:lnTo>
                    <a:lnTo>
                      <a:pt x="2477" y="625"/>
                    </a:lnTo>
                    <a:lnTo>
                      <a:pt x="2657" y="543"/>
                    </a:lnTo>
                    <a:lnTo>
                      <a:pt x="2853" y="453"/>
                    </a:lnTo>
                    <a:lnTo>
                      <a:pt x="3064" y="357"/>
                    </a:lnTo>
                    <a:lnTo>
                      <a:pt x="3293" y="254"/>
                    </a:lnTo>
                    <a:lnTo>
                      <a:pt x="3539" y="143"/>
                    </a:lnTo>
                    <a:close/>
                  </a:path>
                </a:pathLst>
              </a:custGeom>
              <a:solidFill>
                <a:srgbClr val="C9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4" name="Freeform 675">
                <a:extLst>
                  <a:ext uri="{FF2B5EF4-FFF2-40B4-BE49-F238E27FC236}">
                    <a16:creationId xmlns:a16="http://schemas.microsoft.com/office/drawing/2014/main" id="{0EA499E5-7D9C-4DC0-B4F9-78CE71DC9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4"/>
              </a:xfrm>
              <a:custGeom>
                <a:avLst/>
                <a:gdLst>
                  <a:gd name="T0" fmla="*/ 0 w 3526"/>
                  <a:gd name="T1" fmla="*/ 0 h 1698"/>
                  <a:gd name="T2" fmla="*/ 0 w 3526"/>
                  <a:gd name="T3" fmla="*/ 0 h 1698"/>
                  <a:gd name="T4" fmla="*/ 0 w 3526"/>
                  <a:gd name="T5" fmla="*/ 0 h 1698"/>
                  <a:gd name="T6" fmla="*/ 0 w 3526"/>
                  <a:gd name="T7" fmla="*/ 0 h 1698"/>
                  <a:gd name="T8" fmla="*/ 0 w 3526"/>
                  <a:gd name="T9" fmla="*/ 0 h 1698"/>
                  <a:gd name="T10" fmla="*/ 0 w 3526"/>
                  <a:gd name="T11" fmla="*/ 0 h 1698"/>
                  <a:gd name="T12" fmla="*/ 0 w 3526"/>
                  <a:gd name="T13" fmla="*/ 0 h 1698"/>
                  <a:gd name="T14" fmla="*/ 0 w 3526"/>
                  <a:gd name="T15" fmla="*/ 0 h 1698"/>
                  <a:gd name="T16" fmla="*/ 0 w 3526"/>
                  <a:gd name="T17" fmla="*/ 0 h 1698"/>
                  <a:gd name="T18" fmla="*/ 0 w 3526"/>
                  <a:gd name="T19" fmla="*/ 0 h 1698"/>
                  <a:gd name="T20" fmla="*/ 0 w 3526"/>
                  <a:gd name="T21" fmla="*/ 0 h 1698"/>
                  <a:gd name="T22" fmla="*/ 0 w 3526"/>
                  <a:gd name="T23" fmla="*/ 0 h 1698"/>
                  <a:gd name="T24" fmla="*/ 0 w 3526"/>
                  <a:gd name="T25" fmla="*/ 0 h 1698"/>
                  <a:gd name="T26" fmla="*/ 0 w 3526"/>
                  <a:gd name="T27" fmla="*/ 0 h 1698"/>
                  <a:gd name="T28" fmla="*/ 0 w 3526"/>
                  <a:gd name="T29" fmla="*/ 0 h 1698"/>
                  <a:gd name="T30" fmla="*/ 0 w 3526"/>
                  <a:gd name="T31" fmla="*/ 0 h 1698"/>
                  <a:gd name="T32" fmla="*/ 0 w 3526"/>
                  <a:gd name="T33" fmla="*/ 0 h 1698"/>
                  <a:gd name="T34" fmla="*/ 0 w 3526"/>
                  <a:gd name="T35" fmla="*/ 0 h 1698"/>
                  <a:gd name="T36" fmla="*/ 0 w 3526"/>
                  <a:gd name="T37" fmla="*/ 0 h 1698"/>
                  <a:gd name="T38" fmla="*/ 0 w 3526"/>
                  <a:gd name="T39" fmla="*/ 0 h 1698"/>
                  <a:gd name="T40" fmla="*/ 0 w 3526"/>
                  <a:gd name="T41" fmla="*/ 0 h 1698"/>
                  <a:gd name="T42" fmla="*/ 0 w 3526"/>
                  <a:gd name="T43" fmla="*/ 0 h 1698"/>
                  <a:gd name="T44" fmla="*/ 0 w 3526"/>
                  <a:gd name="T45" fmla="*/ 0 h 1698"/>
                  <a:gd name="T46" fmla="*/ 0 w 3526"/>
                  <a:gd name="T47" fmla="*/ 0 h 1698"/>
                  <a:gd name="T48" fmla="*/ 0 w 3526"/>
                  <a:gd name="T49" fmla="*/ 0 h 1698"/>
                  <a:gd name="T50" fmla="*/ 0 w 3526"/>
                  <a:gd name="T51" fmla="*/ 0 h 1698"/>
                  <a:gd name="T52" fmla="*/ 0 w 3526"/>
                  <a:gd name="T53" fmla="*/ 0 h 1698"/>
                  <a:gd name="T54" fmla="*/ 0 w 3526"/>
                  <a:gd name="T55" fmla="*/ 0 h 1698"/>
                  <a:gd name="T56" fmla="*/ 0 w 3526"/>
                  <a:gd name="T57" fmla="*/ 0 h 1698"/>
                  <a:gd name="T58" fmla="*/ 0 w 3526"/>
                  <a:gd name="T59" fmla="*/ 0 h 1698"/>
                  <a:gd name="T60" fmla="*/ 0 w 3526"/>
                  <a:gd name="T61" fmla="*/ 0 h 1698"/>
                  <a:gd name="T62" fmla="*/ 0 w 3526"/>
                  <a:gd name="T63" fmla="*/ 0 h 1698"/>
                  <a:gd name="T64" fmla="*/ 0 w 3526"/>
                  <a:gd name="T65" fmla="*/ 0 h 1698"/>
                  <a:gd name="T66" fmla="*/ 0 w 3526"/>
                  <a:gd name="T67" fmla="*/ 0 h 1698"/>
                  <a:gd name="T68" fmla="*/ 0 w 3526"/>
                  <a:gd name="T69" fmla="*/ 0 h 1698"/>
                  <a:gd name="T70" fmla="*/ 0 w 3526"/>
                  <a:gd name="T71" fmla="*/ 0 h 1698"/>
                  <a:gd name="T72" fmla="*/ 0 w 3526"/>
                  <a:gd name="T73" fmla="*/ 0 h 1698"/>
                  <a:gd name="T74" fmla="*/ 0 w 3526"/>
                  <a:gd name="T75" fmla="*/ 0 h 1698"/>
                  <a:gd name="T76" fmla="*/ 0 w 3526"/>
                  <a:gd name="T77" fmla="*/ 0 h 1698"/>
                  <a:gd name="T78" fmla="*/ 0 w 3526"/>
                  <a:gd name="T79" fmla="*/ 0 h 1698"/>
                  <a:gd name="T80" fmla="*/ 0 w 3526"/>
                  <a:gd name="T81" fmla="*/ 0 h 1698"/>
                  <a:gd name="T82" fmla="*/ 0 w 3526"/>
                  <a:gd name="T83" fmla="*/ 0 h 1698"/>
                  <a:gd name="T84" fmla="*/ 0 w 3526"/>
                  <a:gd name="T85" fmla="*/ 0 h 1698"/>
                  <a:gd name="T86" fmla="*/ 0 w 3526"/>
                  <a:gd name="T87" fmla="*/ 0 h 16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26"/>
                  <a:gd name="T133" fmla="*/ 0 h 1698"/>
                  <a:gd name="T134" fmla="*/ 3526 w 3526"/>
                  <a:gd name="T135" fmla="*/ 1698 h 16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26" h="1698">
                    <a:moveTo>
                      <a:pt x="3526" y="123"/>
                    </a:moveTo>
                    <a:lnTo>
                      <a:pt x="3522" y="112"/>
                    </a:lnTo>
                    <a:lnTo>
                      <a:pt x="3518" y="103"/>
                    </a:lnTo>
                    <a:lnTo>
                      <a:pt x="3513" y="9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4" y="1648"/>
                    </a:lnTo>
                    <a:lnTo>
                      <a:pt x="18" y="1657"/>
                    </a:lnTo>
                    <a:lnTo>
                      <a:pt x="25" y="1671"/>
                    </a:lnTo>
                    <a:lnTo>
                      <a:pt x="36" y="1698"/>
                    </a:lnTo>
                    <a:lnTo>
                      <a:pt x="141" y="1651"/>
                    </a:lnTo>
                    <a:lnTo>
                      <a:pt x="237" y="1608"/>
                    </a:lnTo>
                    <a:lnTo>
                      <a:pt x="326" y="1568"/>
                    </a:lnTo>
                    <a:lnTo>
                      <a:pt x="409" y="1530"/>
                    </a:lnTo>
                    <a:lnTo>
                      <a:pt x="486" y="1496"/>
                    </a:lnTo>
                    <a:lnTo>
                      <a:pt x="558" y="1463"/>
                    </a:lnTo>
                    <a:lnTo>
                      <a:pt x="626" y="1433"/>
                    </a:lnTo>
                    <a:lnTo>
                      <a:pt x="691" y="1403"/>
                    </a:lnTo>
                    <a:lnTo>
                      <a:pt x="754" y="1375"/>
                    </a:lnTo>
                    <a:lnTo>
                      <a:pt x="815" y="1347"/>
                    </a:lnTo>
                    <a:lnTo>
                      <a:pt x="875" y="1320"/>
                    </a:lnTo>
                    <a:lnTo>
                      <a:pt x="936" y="1292"/>
                    </a:lnTo>
                    <a:lnTo>
                      <a:pt x="999" y="1264"/>
                    </a:lnTo>
                    <a:lnTo>
                      <a:pt x="1063" y="1236"/>
                    </a:lnTo>
                    <a:lnTo>
                      <a:pt x="1130" y="1205"/>
                    </a:lnTo>
                    <a:lnTo>
                      <a:pt x="1201" y="1173"/>
                    </a:lnTo>
                    <a:lnTo>
                      <a:pt x="1276" y="1140"/>
                    </a:lnTo>
                    <a:lnTo>
                      <a:pt x="1357" y="1103"/>
                    </a:lnTo>
                    <a:lnTo>
                      <a:pt x="1443" y="1064"/>
                    </a:lnTo>
                    <a:lnTo>
                      <a:pt x="1537" y="1022"/>
                    </a:lnTo>
                    <a:lnTo>
                      <a:pt x="1639" y="975"/>
                    </a:lnTo>
                    <a:lnTo>
                      <a:pt x="1749" y="926"/>
                    </a:lnTo>
                    <a:lnTo>
                      <a:pt x="1870" y="872"/>
                    </a:lnTo>
                    <a:lnTo>
                      <a:pt x="2000" y="813"/>
                    </a:lnTo>
                    <a:lnTo>
                      <a:pt x="2143" y="749"/>
                    </a:lnTo>
                    <a:lnTo>
                      <a:pt x="2297" y="679"/>
                    </a:lnTo>
                    <a:lnTo>
                      <a:pt x="2464" y="603"/>
                    </a:lnTo>
                    <a:lnTo>
                      <a:pt x="2646" y="521"/>
                    </a:lnTo>
                    <a:lnTo>
                      <a:pt x="2841" y="432"/>
                    </a:lnTo>
                    <a:lnTo>
                      <a:pt x="3053" y="337"/>
                    </a:lnTo>
                    <a:lnTo>
                      <a:pt x="3281" y="234"/>
                    </a:lnTo>
                    <a:lnTo>
                      <a:pt x="3526" y="123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5" name="Freeform 676">
                <a:extLst>
                  <a:ext uri="{FF2B5EF4-FFF2-40B4-BE49-F238E27FC236}">
                    <a16:creationId xmlns:a16="http://schemas.microsoft.com/office/drawing/2014/main" id="{37416E09-7E65-48FB-A464-91DCAB5BB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60" cy="93"/>
              </a:xfrm>
              <a:custGeom>
                <a:avLst/>
                <a:gdLst>
                  <a:gd name="T0" fmla="*/ 0 w 3515"/>
                  <a:gd name="T1" fmla="*/ 0 h 1674"/>
                  <a:gd name="T2" fmla="*/ 0 w 3515"/>
                  <a:gd name="T3" fmla="*/ 0 h 1674"/>
                  <a:gd name="T4" fmla="*/ 0 w 3515"/>
                  <a:gd name="T5" fmla="*/ 0 h 1674"/>
                  <a:gd name="T6" fmla="*/ 0 w 3515"/>
                  <a:gd name="T7" fmla="*/ 0 h 1674"/>
                  <a:gd name="T8" fmla="*/ 0 w 3515"/>
                  <a:gd name="T9" fmla="*/ 0 h 1674"/>
                  <a:gd name="T10" fmla="*/ 0 w 3515"/>
                  <a:gd name="T11" fmla="*/ 0 h 1674"/>
                  <a:gd name="T12" fmla="*/ 0 w 3515"/>
                  <a:gd name="T13" fmla="*/ 0 h 1674"/>
                  <a:gd name="T14" fmla="*/ 0 w 3515"/>
                  <a:gd name="T15" fmla="*/ 0 h 1674"/>
                  <a:gd name="T16" fmla="*/ 0 w 3515"/>
                  <a:gd name="T17" fmla="*/ 0 h 1674"/>
                  <a:gd name="T18" fmla="*/ 0 w 3515"/>
                  <a:gd name="T19" fmla="*/ 0 h 1674"/>
                  <a:gd name="T20" fmla="*/ 0 w 3515"/>
                  <a:gd name="T21" fmla="*/ 0 h 1674"/>
                  <a:gd name="T22" fmla="*/ 0 w 3515"/>
                  <a:gd name="T23" fmla="*/ 0 h 1674"/>
                  <a:gd name="T24" fmla="*/ 0 w 3515"/>
                  <a:gd name="T25" fmla="*/ 0 h 1674"/>
                  <a:gd name="T26" fmla="*/ 0 w 3515"/>
                  <a:gd name="T27" fmla="*/ 0 h 1674"/>
                  <a:gd name="T28" fmla="*/ 0 w 3515"/>
                  <a:gd name="T29" fmla="*/ 0 h 1674"/>
                  <a:gd name="T30" fmla="*/ 0 w 3515"/>
                  <a:gd name="T31" fmla="*/ 0 h 1674"/>
                  <a:gd name="T32" fmla="*/ 0 w 3515"/>
                  <a:gd name="T33" fmla="*/ 0 h 1674"/>
                  <a:gd name="T34" fmla="*/ 0 w 3515"/>
                  <a:gd name="T35" fmla="*/ 0 h 1674"/>
                  <a:gd name="T36" fmla="*/ 0 w 3515"/>
                  <a:gd name="T37" fmla="*/ 0 h 1674"/>
                  <a:gd name="T38" fmla="*/ 0 w 3515"/>
                  <a:gd name="T39" fmla="*/ 0 h 1674"/>
                  <a:gd name="T40" fmla="*/ 0 w 3515"/>
                  <a:gd name="T41" fmla="*/ 0 h 1674"/>
                  <a:gd name="T42" fmla="*/ 0 w 3515"/>
                  <a:gd name="T43" fmla="*/ 0 h 1674"/>
                  <a:gd name="T44" fmla="*/ 0 w 3515"/>
                  <a:gd name="T45" fmla="*/ 0 h 1674"/>
                  <a:gd name="T46" fmla="*/ 0 w 3515"/>
                  <a:gd name="T47" fmla="*/ 0 h 1674"/>
                  <a:gd name="T48" fmla="*/ 0 w 3515"/>
                  <a:gd name="T49" fmla="*/ 0 h 1674"/>
                  <a:gd name="T50" fmla="*/ 0 w 3515"/>
                  <a:gd name="T51" fmla="*/ 0 h 1674"/>
                  <a:gd name="T52" fmla="*/ 0 w 3515"/>
                  <a:gd name="T53" fmla="*/ 0 h 1674"/>
                  <a:gd name="T54" fmla="*/ 0 w 3515"/>
                  <a:gd name="T55" fmla="*/ 0 h 1674"/>
                  <a:gd name="T56" fmla="*/ 0 w 3515"/>
                  <a:gd name="T57" fmla="*/ 0 h 1674"/>
                  <a:gd name="T58" fmla="*/ 0 w 3515"/>
                  <a:gd name="T59" fmla="*/ 0 h 1674"/>
                  <a:gd name="T60" fmla="*/ 0 w 3515"/>
                  <a:gd name="T61" fmla="*/ 0 h 1674"/>
                  <a:gd name="T62" fmla="*/ 0 w 3515"/>
                  <a:gd name="T63" fmla="*/ 0 h 1674"/>
                  <a:gd name="T64" fmla="*/ 0 w 3515"/>
                  <a:gd name="T65" fmla="*/ 0 h 1674"/>
                  <a:gd name="T66" fmla="*/ 0 w 3515"/>
                  <a:gd name="T67" fmla="*/ 0 h 1674"/>
                  <a:gd name="T68" fmla="*/ 0 w 3515"/>
                  <a:gd name="T69" fmla="*/ 0 h 1674"/>
                  <a:gd name="T70" fmla="*/ 0 w 3515"/>
                  <a:gd name="T71" fmla="*/ 0 h 1674"/>
                  <a:gd name="T72" fmla="*/ 0 w 3515"/>
                  <a:gd name="T73" fmla="*/ 0 h 1674"/>
                  <a:gd name="T74" fmla="*/ 0 w 3515"/>
                  <a:gd name="T75" fmla="*/ 0 h 1674"/>
                  <a:gd name="T76" fmla="*/ 0 w 3515"/>
                  <a:gd name="T77" fmla="*/ 0 h 1674"/>
                  <a:gd name="T78" fmla="*/ 0 w 3515"/>
                  <a:gd name="T79" fmla="*/ 0 h 1674"/>
                  <a:gd name="T80" fmla="*/ 0 w 3515"/>
                  <a:gd name="T81" fmla="*/ 0 h 1674"/>
                  <a:gd name="T82" fmla="*/ 0 w 3515"/>
                  <a:gd name="T83" fmla="*/ 0 h 1674"/>
                  <a:gd name="T84" fmla="*/ 0 w 3515"/>
                  <a:gd name="T85" fmla="*/ 0 h 1674"/>
                  <a:gd name="T86" fmla="*/ 0 w 3515"/>
                  <a:gd name="T87" fmla="*/ 0 h 167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515"/>
                  <a:gd name="T133" fmla="*/ 0 h 1674"/>
                  <a:gd name="T134" fmla="*/ 3515 w 3515"/>
                  <a:gd name="T135" fmla="*/ 1674 h 1674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515" h="1674">
                    <a:moveTo>
                      <a:pt x="3515" y="103"/>
                    </a:moveTo>
                    <a:lnTo>
                      <a:pt x="3513" y="96"/>
                    </a:lnTo>
                    <a:lnTo>
                      <a:pt x="3511" y="91"/>
                    </a:lnTo>
                    <a:lnTo>
                      <a:pt x="3508" y="81"/>
                    </a:ln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3257" y="53"/>
                    </a:lnTo>
                    <a:lnTo>
                      <a:pt x="3166" y="94"/>
                    </a:lnTo>
                    <a:lnTo>
                      <a:pt x="3083" y="131"/>
                    </a:lnTo>
                    <a:lnTo>
                      <a:pt x="3004" y="167"/>
                    </a:lnTo>
                    <a:lnTo>
                      <a:pt x="2932" y="198"/>
                    </a:lnTo>
                    <a:lnTo>
                      <a:pt x="2864" y="229"/>
                    </a:lnTo>
                    <a:lnTo>
                      <a:pt x="2800" y="258"/>
                    </a:lnTo>
                    <a:lnTo>
                      <a:pt x="2740" y="286"/>
                    </a:lnTo>
                    <a:lnTo>
                      <a:pt x="2681" y="312"/>
                    </a:lnTo>
                    <a:lnTo>
                      <a:pt x="2623" y="337"/>
                    </a:lnTo>
                    <a:lnTo>
                      <a:pt x="2565" y="364"/>
                    </a:lnTo>
                    <a:lnTo>
                      <a:pt x="2508" y="389"/>
                    </a:lnTo>
                    <a:lnTo>
                      <a:pt x="2450" y="415"/>
                    </a:lnTo>
                    <a:lnTo>
                      <a:pt x="2389" y="443"/>
                    </a:lnTo>
                    <a:lnTo>
                      <a:pt x="2327" y="471"/>
                    </a:lnTo>
                    <a:lnTo>
                      <a:pt x="2259" y="501"/>
                    </a:lnTo>
                    <a:lnTo>
                      <a:pt x="2189" y="532"/>
                    </a:lnTo>
                    <a:lnTo>
                      <a:pt x="2113" y="567"/>
                    </a:lnTo>
                    <a:lnTo>
                      <a:pt x="2031" y="603"/>
                    </a:lnTo>
                    <a:lnTo>
                      <a:pt x="1942" y="643"/>
                    </a:lnTo>
                    <a:lnTo>
                      <a:pt x="1846" y="686"/>
                    </a:lnTo>
                    <a:lnTo>
                      <a:pt x="1741" y="733"/>
                    </a:lnTo>
                    <a:lnTo>
                      <a:pt x="1628" y="784"/>
                    </a:lnTo>
                    <a:lnTo>
                      <a:pt x="1505" y="839"/>
                    </a:lnTo>
                    <a:lnTo>
                      <a:pt x="1370" y="899"/>
                    </a:lnTo>
                    <a:lnTo>
                      <a:pt x="1224" y="966"/>
                    </a:lnTo>
                    <a:lnTo>
                      <a:pt x="1066" y="1036"/>
                    </a:lnTo>
                    <a:lnTo>
                      <a:pt x="895" y="1113"/>
                    </a:lnTo>
                    <a:lnTo>
                      <a:pt x="710" y="1195"/>
                    </a:lnTo>
                    <a:lnTo>
                      <a:pt x="510" y="1286"/>
                    </a:lnTo>
                    <a:lnTo>
                      <a:pt x="294" y="1382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2" y="1644"/>
                    </a:lnTo>
                    <a:lnTo>
                      <a:pt x="15" y="1649"/>
                    </a:lnTo>
                    <a:lnTo>
                      <a:pt x="18" y="1657"/>
                    </a:lnTo>
                    <a:lnTo>
                      <a:pt x="25" y="1674"/>
                    </a:lnTo>
                    <a:lnTo>
                      <a:pt x="130" y="1627"/>
                    </a:lnTo>
                    <a:lnTo>
                      <a:pt x="225" y="1583"/>
                    </a:lnTo>
                    <a:lnTo>
                      <a:pt x="315" y="1543"/>
                    </a:lnTo>
                    <a:lnTo>
                      <a:pt x="398" y="1506"/>
                    </a:lnTo>
                    <a:lnTo>
                      <a:pt x="474" y="1472"/>
                    </a:lnTo>
                    <a:lnTo>
                      <a:pt x="547" y="1439"/>
                    </a:lnTo>
                    <a:lnTo>
                      <a:pt x="615" y="1408"/>
                    </a:lnTo>
                    <a:lnTo>
                      <a:pt x="679" y="1379"/>
                    </a:lnTo>
                    <a:lnTo>
                      <a:pt x="743" y="1352"/>
                    </a:lnTo>
                    <a:lnTo>
                      <a:pt x="804" y="1324"/>
                    </a:lnTo>
                    <a:lnTo>
                      <a:pt x="864" y="1297"/>
                    </a:lnTo>
                    <a:lnTo>
                      <a:pt x="925" y="1269"/>
                    </a:lnTo>
                    <a:lnTo>
                      <a:pt x="987" y="1241"/>
                    </a:lnTo>
                    <a:lnTo>
                      <a:pt x="1052" y="1212"/>
                    </a:lnTo>
                    <a:lnTo>
                      <a:pt x="1119" y="1182"/>
                    </a:lnTo>
                    <a:lnTo>
                      <a:pt x="1189" y="1150"/>
                    </a:lnTo>
                    <a:lnTo>
                      <a:pt x="1265" y="1116"/>
                    </a:lnTo>
                    <a:lnTo>
                      <a:pt x="1345" y="1081"/>
                    </a:lnTo>
                    <a:lnTo>
                      <a:pt x="1432" y="1042"/>
                    </a:lnTo>
                    <a:lnTo>
                      <a:pt x="1526" y="999"/>
                    </a:lnTo>
                    <a:lnTo>
                      <a:pt x="1628" y="953"/>
                    </a:lnTo>
                    <a:lnTo>
                      <a:pt x="1738" y="903"/>
                    </a:lnTo>
                    <a:lnTo>
                      <a:pt x="1859" y="850"/>
                    </a:lnTo>
                    <a:lnTo>
                      <a:pt x="1989" y="791"/>
                    </a:lnTo>
                    <a:lnTo>
                      <a:pt x="2132" y="726"/>
                    </a:lnTo>
                    <a:lnTo>
                      <a:pt x="2286" y="657"/>
                    </a:lnTo>
                    <a:lnTo>
                      <a:pt x="2453" y="582"/>
                    </a:lnTo>
                    <a:lnTo>
                      <a:pt x="2635" y="500"/>
                    </a:lnTo>
                    <a:lnTo>
                      <a:pt x="2830" y="412"/>
                    </a:lnTo>
                    <a:lnTo>
                      <a:pt x="3042" y="316"/>
                    </a:lnTo>
                    <a:lnTo>
                      <a:pt x="3269" y="214"/>
                    </a:lnTo>
                    <a:lnTo>
                      <a:pt x="3515" y="103"/>
                    </a:lnTo>
                    <a:close/>
                  </a:path>
                </a:pathLst>
              </a:custGeom>
              <a:solidFill>
                <a:srgbClr val="D6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6" name="Freeform 677">
                <a:extLst>
                  <a:ext uri="{FF2B5EF4-FFF2-40B4-BE49-F238E27FC236}">
                    <a16:creationId xmlns:a16="http://schemas.microsoft.com/office/drawing/2014/main" id="{DBC25AD6-14BD-4461-AA59-CDD5E9E67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024"/>
                <a:ext cx="159" cy="92"/>
              </a:xfrm>
              <a:custGeom>
                <a:avLst/>
                <a:gdLst>
                  <a:gd name="T0" fmla="*/ 0 w 3503"/>
                  <a:gd name="T1" fmla="*/ 0 h 1649"/>
                  <a:gd name="T2" fmla="*/ 0 w 3503"/>
                  <a:gd name="T3" fmla="*/ 0 h 1649"/>
                  <a:gd name="T4" fmla="*/ 0 w 3503"/>
                  <a:gd name="T5" fmla="*/ 0 h 1649"/>
                  <a:gd name="T6" fmla="*/ 0 w 3503"/>
                  <a:gd name="T7" fmla="*/ 0 h 1649"/>
                  <a:gd name="T8" fmla="*/ 0 w 3503"/>
                  <a:gd name="T9" fmla="*/ 0 h 1649"/>
                  <a:gd name="T10" fmla="*/ 0 w 3503"/>
                  <a:gd name="T11" fmla="*/ 0 h 1649"/>
                  <a:gd name="T12" fmla="*/ 0 w 3503"/>
                  <a:gd name="T13" fmla="*/ 0 h 1649"/>
                  <a:gd name="T14" fmla="*/ 0 w 3503"/>
                  <a:gd name="T15" fmla="*/ 0 h 1649"/>
                  <a:gd name="T16" fmla="*/ 0 w 3503"/>
                  <a:gd name="T17" fmla="*/ 0 h 1649"/>
                  <a:gd name="T18" fmla="*/ 0 w 3503"/>
                  <a:gd name="T19" fmla="*/ 0 h 1649"/>
                  <a:gd name="T20" fmla="*/ 0 w 3503"/>
                  <a:gd name="T21" fmla="*/ 0 h 1649"/>
                  <a:gd name="T22" fmla="*/ 0 w 3503"/>
                  <a:gd name="T23" fmla="*/ 0 h 1649"/>
                  <a:gd name="T24" fmla="*/ 0 w 3503"/>
                  <a:gd name="T25" fmla="*/ 0 h 1649"/>
                  <a:gd name="T26" fmla="*/ 0 w 3503"/>
                  <a:gd name="T27" fmla="*/ 0 h 1649"/>
                  <a:gd name="T28" fmla="*/ 0 w 3503"/>
                  <a:gd name="T29" fmla="*/ 0 h 1649"/>
                  <a:gd name="T30" fmla="*/ 0 w 3503"/>
                  <a:gd name="T31" fmla="*/ 0 h 1649"/>
                  <a:gd name="T32" fmla="*/ 0 w 3503"/>
                  <a:gd name="T33" fmla="*/ 0 h 1649"/>
                  <a:gd name="T34" fmla="*/ 0 w 3503"/>
                  <a:gd name="T35" fmla="*/ 0 h 1649"/>
                  <a:gd name="T36" fmla="*/ 0 w 3503"/>
                  <a:gd name="T37" fmla="*/ 0 h 1649"/>
                  <a:gd name="T38" fmla="*/ 0 w 3503"/>
                  <a:gd name="T39" fmla="*/ 0 h 1649"/>
                  <a:gd name="T40" fmla="*/ 0 w 3503"/>
                  <a:gd name="T41" fmla="*/ 0 h 16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503"/>
                  <a:gd name="T64" fmla="*/ 0 h 1649"/>
                  <a:gd name="T65" fmla="*/ 3503 w 3503"/>
                  <a:gd name="T66" fmla="*/ 1649 h 16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503" h="1649">
                    <a:moveTo>
                      <a:pt x="3503" y="83"/>
                    </a:moveTo>
                    <a:lnTo>
                      <a:pt x="3502" y="64"/>
                    </a:lnTo>
                    <a:lnTo>
                      <a:pt x="3491" y="46"/>
                    </a:lnTo>
                    <a:lnTo>
                      <a:pt x="3476" y="31"/>
                    </a:lnTo>
                    <a:lnTo>
                      <a:pt x="3459" y="18"/>
                    </a:lnTo>
                    <a:lnTo>
                      <a:pt x="3440" y="8"/>
                    </a:lnTo>
                    <a:lnTo>
                      <a:pt x="3418" y="2"/>
                    </a:lnTo>
                    <a:lnTo>
                      <a:pt x="3397" y="0"/>
                    </a:lnTo>
                    <a:lnTo>
                      <a:pt x="3376" y="2"/>
                    </a:lnTo>
                    <a:lnTo>
                      <a:pt x="3356" y="8"/>
                    </a:lnTo>
                    <a:lnTo>
                      <a:pt x="62" y="1486"/>
                    </a:lnTo>
                    <a:lnTo>
                      <a:pt x="44" y="1497"/>
                    </a:lnTo>
                    <a:lnTo>
                      <a:pt x="29" y="1512"/>
                    </a:lnTo>
                    <a:lnTo>
                      <a:pt x="16" y="1530"/>
                    </a:lnTo>
                    <a:lnTo>
                      <a:pt x="7" y="1550"/>
                    </a:lnTo>
                    <a:lnTo>
                      <a:pt x="2" y="1572"/>
                    </a:lnTo>
                    <a:lnTo>
                      <a:pt x="0" y="1594"/>
                    </a:lnTo>
                    <a:lnTo>
                      <a:pt x="2" y="1615"/>
                    </a:lnTo>
                    <a:lnTo>
                      <a:pt x="8" y="1636"/>
                    </a:lnTo>
                    <a:lnTo>
                      <a:pt x="13" y="1649"/>
                    </a:lnTo>
                    <a:lnTo>
                      <a:pt x="3503" y="8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7" name="Freeform 678">
                <a:extLst>
                  <a:ext uri="{FF2B5EF4-FFF2-40B4-BE49-F238E27FC236}">
                    <a16:creationId xmlns:a16="http://schemas.microsoft.com/office/drawing/2014/main" id="{4166603B-53B7-4518-8B63-A0B67822D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064"/>
                <a:ext cx="2" cy="3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7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8" name="Freeform 679">
                <a:extLst>
                  <a:ext uri="{FF2B5EF4-FFF2-40B4-BE49-F238E27FC236}">
                    <a16:creationId xmlns:a16="http://schemas.microsoft.com/office/drawing/2014/main" id="{8650769C-FD08-4ED7-A555-9B4332F9D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064"/>
                <a:ext cx="160" cy="90"/>
              </a:xfrm>
              <a:custGeom>
                <a:avLst/>
                <a:gdLst>
                  <a:gd name="T0" fmla="*/ 0 w 3529"/>
                  <a:gd name="T1" fmla="*/ 0 h 1614"/>
                  <a:gd name="T2" fmla="*/ 0 w 3529"/>
                  <a:gd name="T3" fmla="*/ 0 h 1614"/>
                  <a:gd name="T4" fmla="*/ 0 w 3529"/>
                  <a:gd name="T5" fmla="*/ 0 h 1614"/>
                  <a:gd name="T6" fmla="*/ 0 w 3529"/>
                  <a:gd name="T7" fmla="*/ 0 h 1614"/>
                  <a:gd name="T8" fmla="*/ 0 w 3529"/>
                  <a:gd name="T9" fmla="*/ 0 h 1614"/>
                  <a:gd name="T10" fmla="*/ 0 w 3529"/>
                  <a:gd name="T11" fmla="*/ 0 h 16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29"/>
                  <a:gd name="T19" fmla="*/ 0 h 1614"/>
                  <a:gd name="T20" fmla="*/ 3529 w 3529"/>
                  <a:gd name="T21" fmla="*/ 1614 h 16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29" h="1614">
                    <a:moveTo>
                      <a:pt x="8" y="1596"/>
                    </a:moveTo>
                    <a:lnTo>
                      <a:pt x="0" y="1577"/>
                    </a:lnTo>
                    <a:lnTo>
                      <a:pt x="3513" y="0"/>
                    </a:lnTo>
                    <a:lnTo>
                      <a:pt x="3529" y="38"/>
                    </a:lnTo>
                    <a:lnTo>
                      <a:pt x="16" y="1614"/>
                    </a:lnTo>
                    <a:lnTo>
                      <a:pt x="8" y="1596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69" name="Freeform 680">
                <a:extLst>
                  <a:ext uri="{FF2B5EF4-FFF2-40B4-BE49-F238E27FC236}">
                    <a16:creationId xmlns:a16="http://schemas.microsoft.com/office/drawing/2014/main" id="{5B096F50-8751-491C-BAC0-48330AF16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152"/>
                <a:ext cx="1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28" y="37"/>
                    </a:moveTo>
                    <a:lnTo>
                      <a:pt x="19" y="40"/>
                    </a:lnTo>
                    <a:lnTo>
                      <a:pt x="12" y="37"/>
                    </a:lnTo>
                    <a:lnTo>
                      <a:pt x="6" y="33"/>
                    </a:lnTo>
                    <a:lnTo>
                      <a:pt x="2" y="26"/>
                    </a:lnTo>
                    <a:lnTo>
                      <a:pt x="0" y="19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2" y="0"/>
                    </a:lnTo>
                    <a:lnTo>
                      <a:pt x="28" y="37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0" name="Freeform 681">
                <a:extLst>
                  <a:ext uri="{FF2B5EF4-FFF2-40B4-BE49-F238E27FC236}">
                    <a16:creationId xmlns:a16="http://schemas.microsoft.com/office/drawing/2014/main" id="{BFEF2748-5CF6-46E5-AF7C-B8F2EBEB9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3075"/>
                <a:ext cx="2" cy="2"/>
              </a:xfrm>
              <a:custGeom>
                <a:avLst/>
                <a:gdLst>
                  <a:gd name="T0" fmla="*/ 0 w 28"/>
                  <a:gd name="T1" fmla="*/ 0 h 40"/>
                  <a:gd name="T2" fmla="*/ 0 w 28"/>
                  <a:gd name="T3" fmla="*/ 0 h 40"/>
                  <a:gd name="T4" fmla="*/ 0 w 28"/>
                  <a:gd name="T5" fmla="*/ 0 h 40"/>
                  <a:gd name="T6" fmla="*/ 0 w 28"/>
                  <a:gd name="T7" fmla="*/ 0 h 40"/>
                  <a:gd name="T8" fmla="*/ 0 w 28"/>
                  <a:gd name="T9" fmla="*/ 0 h 40"/>
                  <a:gd name="T10" fmla="*/ 0 w 28"/>
                  <a:gd name="T11" fmla="*/ 0 h 40"/>
                  <a:gd name="T12" fmla="*/ 0 w 28"/>
                  <a:gd name="T13" fmla="*/ 0 h 40"/>
                  <a:gd name="T14" fmla="*/ 0 w 28"/>
                  <a:gd name="T15" fmla="*/ 0 h 40"/>
                  <a:gd name="T16" fmla="*/ 0 w 28"/>
                  <a:gd name="T17" fmla="*/ 0 h 40"/>
                  <a:gd name="T18" fmla="*/ 0 w 28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0"/>
                  <a:gd name="T32" fmla="*/ 28 w 28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0">
                    <a:moveTo>
                      <a:pt x="0" y="2"/>
                    </a:moveTo>
                    <a:lnTo>
                      <a:pt x="9" y="0"/>
                    </a:lnTo>
                    <a:lnTo>
                      <a:pt x="16" y="2"/>
                    </a:lnTo>
                    <a:lnTo>
                      <a:pt x="22" y="6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7" y="29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1" name="Freeform 682">
                <a:extLst>
                  <a:ext uri="{FF2B5EF4-FFF2-40B4-BE49-F238E27FC236}">
                    <a16:creationId xmlns:a16="http://schemas.microsoft.com/office/drawing/2014/main" id="{EF19EB35-000A-44A3-A54A-2D56464DA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075"/>
                <a:ext cx="161" cy="91"/>
              </a:xfrm>
              <a:custGeom>
                <a:avLst/>
                <a:gdLst>
                  <a:gd name="T0" fmla="*/ 0 w 3547"/>
                  <a:gd name="T1" fmla="*/ 0 h 1633"/>
                  <a:gd name="T2" fmla="*/ 0 w 3547"/>
                  <a:gd name="T3" fmla="*/ 0 h 1633"/>
                  <a:gd name="T4" fmla="*/ 0 w 3547"/>
                  <a:gd name="T5" fmla="*/ 0 h 1633"/>
                  <a:gd name="T6" fmla="*/ 0 w 3547"/>
                  <a:gd name="T7" fmla="*/ 0 h 1633"/>
                  <a:gd name="T8" fmla="*/ 0 w 3547"/>
                  <a:gd name="T9" fmla="*/ 0 h 1633"/>
                  <a:gd name="T10" fmla="*/ 0 w 3547"/>
                  <a:gd name="T11" fmla="*/ 0 h 16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47"/>
                  <a:gd name="T19" fmla="*/ 0 h 1633"/>
                  <a:gd name="T20" fmla="*/ 3547 w 3547"/>
                  <a:gd name="T21" fmla="*/ 1633 h 163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47" h="1633">
                    <a:moveTo>
                      <a:pt x="8" y="1614"/>
                    </a:moveTo>
                    <a:lnTo>
                      <a:pt x="0" y="1595"/>
                    </a:lnTo>
                    <a:lnTo>
                      <a:pt x="3531" y="0"/>
                    </a:lnTo>
                    <a:lnTo>
                      <a:pt x="3547" y="38"/>
                    </a:lnTo>
                    <a:lnTo>
                      <a:pt x="17" y="1633"/>
                    </a:lnTo>
                    <a:lnTo>
                      <a:pt x="8" y="161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2" name="Freeform 683">
                <a:extLst>
                  <a:ext uri="{FF2B5EF4-FFF2-40B4-BE49-F238E27FC236}">
                    <a16:creationId xmlns:a16="http://schemas.microsoft.com/office/drawing/2014/main" id="{1F40C0BF-2DB4-488C-A15E-5F27D4A244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164"/>
                <a:ext cx="2" cy="2"/>
              </a:xfrm>
              <a:custGeom>
                <a:avLst/>
                <a:gdLst>
                  <a:gd name="T0" fmla="*/ 0 w 29"/>
                  <a:gd name="T1" fmla="*/ 0 h 40"/>
                  <a:gd name="T2" fmla="*/ 0 w 29"/>
                  <a:gd name="T3" fmla="*/ 0 h 40"/>
                  <a:gd name="T4" fmla="*/ 0 w 29"/>
                  <a:gd name="T5" fmla="*/ 0 h 40"/>
                  <a:gd name="T6" fmla="*/ 0 w 29"/>
                  <a:gd name="T7" fmla="*/ 0 h 40"/>
                  <a:gd name="T8" fmla="*/ 0 w 29"/>
                  <a:gd name="T9" fmla="*/ 0 h 40"/>
                  <a:gd name="T10" fmla="*/ 0 w 29"/>
                  <a:gd name="T11" fmla="*/ 0 h 40"/>
                  <a:gd name="T12" fmla="*/ 0 w 29"/>
                  <a:gd name="T13" fmla="*/ 0 h 40"/>
                  <a:gd name="T14" fmla="*/ 0 w 29"/>
                  <a:gd name="T15" fmla="*/ 0 h 40"/>
                  <a:gd name="T16" fmla="*/ 0 w 29"/>
                  <a:gd name="T17" fmla="*/ 0 h 40"/>
                  <a:gd name="T18" fmla="*/ 0 w 29"/>
                  <a:gd name="T19" fmla="*/ 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40"/>
                  <a:gd name="T32" fmla="*/ 29 w 29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40">
                    <a:moveTo>
                      <a:pt x="29" y="38"/>
                    </a:moveTo>
                    <a:lnTo>
                      <a:pt x="19" y="40"/>
                    </a:lnTo>
                    <a:lnTo>
                      <a:pt x="12" y="38"/>
                    </a:lnTo>
                    <a:lnTo>
                      <a:pt x="6" y="34"/>
                    </a:lnTo>
                    <a:lnTo>
                      <a:pt x="2" y="27"/>
                    </a:lnTo>
                    <a:lnTo>
                      <a:pt x="0" y="19"/>
                    </a:lnTo>
                    <a:lnTo>
                      <a:pt x="1" y="12"/>
                    </a:lnTo>
                    <a:lnTo>
                      <a:pt x="5" y="6"/>
                    </a:lnTo>
                    <a:lnTo>
                      <a:pt x="12" y="0"/>
                    </a:lnTo>
                    <a:lnTo>
                      <a:pt x="29" y="38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3" name="Freeform 684">
                <a:extLst>
                  <a:ext uri="{FF2B5EF4-FFF2-40B4-BE49-F238E27FC236}">
                    <a16:creationId xmlns:a16="http://schemas.microsoft.com/office/drawing/2014/main" id="{0A4BA140-F493-43B6-AF6C-FA3C9FE5C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3169"/>
                <a:ext cx="50" cy="122"/>
              </a:xfrm>
              <a:custGeom>
                <a:avLst/>
                <a:gdLst>
                  <a:gd name="T0" fmla="*/ 0 w 1103"/>
                  <a:gd name="T1" fmla="*/ 0 h 2201"/>
                  <a:gd name="T2" fmla="*/ 0 w 1103"/>
                  <a:gd name="T3" fmla="*/ 0 h 2201"/>
                  <a:gd name="T4" fmla="*/ 0 w 1103"/>
                  <a:gd name="T5" fmla="*/ 0 h 2201"/>
                  <a:gd name="T6" fmla="*/ 0 w 1103"/>
                  <a:gd name="T7" fmla="*/ 0 h 2201"/>
                  <a:gd name="T8" fmla="*/ 0 w 1103"/>
                  <a:gd name="T9" fmla="*/ 0 h 2201"/>
                  <a:gd name="T10" fmla="*/ 0 w 1103"/>
                  <a:gd name="T11" fmla="*/ 0 h 2201"/>
                  <a:gd name="T12" fmla="*/ 0 w 1103"/>
                  <a:gd name="T13" fmla="*/ 0 h 2201"/>
                  <a:gd name="T14" fmla="*/ 0 w 1103"/>
                  <a:gd name="T15" fmla="*/ 0 h 2201"/>
                  <a:gd name="T16" fmla="*/ 0 w 1103"/>
                  <a:gd name="T17" fmla="*/ 0 h 2201"/>
                  <a:gd name="T18" fmla="*/ 0 w 1103"/>
                  <a:gd name="T19" fmla="*/ 0 h 2201"/>
                  <a:gd name="T20" fmla="*/ 0 w 1103"/>
                  <a:gd name="T21" fmla="*/ 0 h 2201"/>
                  <a:gd name="T22" fmla="*/ 0 w 1103"/>
                  <a:gd name="T23" fmla="*/ 0 h 2201"/>
                  <a:gd name="T24" fmla="*/ 0 w 1103"/>
                  <a:gd name="T25" fmla="*/ 0 h 2201"/>
                  <a:gd name="T26" fmla="*/ 0 w 1103"/>
                  <a:gd name="T27" fmla="*/ 0 h 2201"/>
                  <a:gd name="T28" fmla="*/ 0 w 1103"/>
                  <a:gd name="T29" fmla="*/ 0 h 2201"/>
                  <a:gd name="T30" fmla="*/ 0 w 1103"/>
                  <a:gd name="T31" fmla="*/ 0 h 2201"/>
                  <a:gd name="T32" fmla="*/ 0 w 1103"/>
                  <a:gd name="T33" fmla="*/ 0 h 2201"/>
                  <a:gd name="T34" fmla="*/ 0 w 1103"/>
                  <a:gd name="T35" fmla="*/ 0 h 2201"/>
                  <a:gd name="T36" fmla="*/ 0 w 1103"/>
                  <a:gd name="T37" fmla="*/ 0 h 2201"/>
                  <a:gd name="T38" fmla="*/ 0 w 1103"/>
                  <a:gd name="T39" fmla="*/ 0 h 2201"/>
                  <a:gd name="T40" fmla="*/ 0 w 1103"/>
                  <a:gd name="T41" fmla="*/ 0 h 2201"/>
                  <a:gd name="T42" fmla="*/ 0 w 1103"/>
                  <a:gd name="T43" fmla="*/ 0 h 2201"/>
                  <a:gd name="T44" fmla="*/ 0 w 1103"/>
                  <a:gd name="T45" fmla="*/ 0 h 2201"/>
                  <a:gd name="T46" fmla="*/ 0 w 1103"/>
                  <a:gd name="T47" fmla="*/ 0 h 2201"/>
                  <a:gd name="T48" fmla="*/ 0 w 1103"/>
                  <a:gd name="T49" fmla="*/ 0 h 2201"/>
                  <a:gd name="T50" fmla="*/ 0 w 1103"/>
                  <a:gd name="T51" fmla="*/ 0 h 2201"/>
                  <a:gd name="T52" fmla="*/ 0 w 1103"/>
                  <a:gd name="T53" fmla="*/ 0 h 2201"/>
                  <a:gd name="T54" fmla="*/ 0 w 1103"/>
                  <a:gd name="T55" fmla="*/ 0 h 2201"/>
                  <a:gd name="T56" fmla="*/ 0 w 1103"/>
                  <a:gd name="T57" fmla="*/ 0 h 2201"/>
                  <a:gd name="T58" fmla="*/ 0 w 1103"/>
                  <a:gd name="T59" fmla="*/ 0 h 2201"/>
                  <a:gd name="T60" fmla="*/ 0 w 1103"/>
                  <a:gd name="T61" fmla="*/ 0 h 2201"/>
                  <a:gd name="T62" fmla="*/ 0 w 1103"/>
                  <a:gd name="T63" fmla="*/ 0 h 2201"/>
                  <a:gd name="T64" fmla="*/ 0 w 1103"/>
                  <a:gd name="T65" fmla="*/ 0 h 2201"/>
                  <a:gd name="T66" fmla="*/ 0 w 1103"/>
                  <a:gd name="T67" fmla="*/ 0 h 2201"/>
                  <a:gd name="T68" fmla="*/ 0 w 1103"/>
                  <a:gd name="T69" fmla="*/ 0 h 2201"/>
                  <a:gd name="T70" fmla="*/ 0 w 1103"/>
                  <a:gd name="T71" fmla="*/ 0 h 2201"/>
                  <a:gd name="T72" fmla="*/ 0 w 1103"/>
                  <a:gd name="T73" fmla="*/ 0 h 2201"/>
                  <a:gd name="T74" fmla="*/ 0 w 1103"/>
                  <a:gd name="T75" fmla="*/ 0 h 2201"/>
                  <a:gd name="T76" fmla="*/ 0 w 1103"/>
                  <a:gd name="T77" fmla="*/ 0 h 2201"/>
                  <a:gd name="T78" fmla="*/ 0 w 1103"/>
                  <a:gd name="T79" fmla="*/ 0 h 2201"/>
                  <a:gd name="T80" fmla="*/ 0 w 1103"/>
                  <a:gd name="T81" fmla="*/ 0 h 2201"/>
                  <a:gd name="T82" fmla="*/ 0 w 1103"/>
                  <a:gd name="T83" fmla="*/ 0 h 2201"/>
                  <a:gd name="T84" fmla="*/ 0 w 1103"/>
                  <a:gd name="T85" fmla="*/ 0 h 2201"/>
                  <a:gd name="T86" fmla="*/ 0 w 1103"/>
                  <a:gd name="T87" fmla="*/ 0 h 2201"/>
                  <a:gd name="T88" fmla="*/ 0 w 1103"/>
                  <a:gd name="T89" fmla="*/ 0 h 2201"/>
                  <a:gd name="T90" fmla="*/ 0 w 1103"/>
                  <a:gd name="T91" fmla="*/ 0 h 2201"/>
                  <a:gd name="T92" fmla="*/ 0 w 1103"/>
                  <a:gd name="T93" fmla="*/ 0 h 2201"/>
                  <a:gd name="T94" fmla="*/ 0 w 1103"/>
                  <a:gd name="T95" fmla="*/ 0 h 2201"/>
                  <a:gd name="T96" fmla="*/ 0 w 1103"/>
                  <a:gd name="T97" fmla="*/ 0 h 2201"/>
                  <a:gd name="T98" fmla="*/ 0 w 1103"/>
                  <a:gd name="T99" fmla="*/ 0 h 2201"/>
                  <a:gd name="T100" fmla="*/ 0 w 1103"/>
                  <a:gd name="T101" fmla="*/ 0 h 2201"/>
                  <a:gd name="T102" fmla="*/ 0 w 1103"/>
                  <a:gd name="T103" fmla="*/ 0 h 22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1"/>
                  <a:gd name="T158" fmla="*/ 1103 w 1103"/>
                  <a:gd name="T159" fmla="*/ 2201 h 220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1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1"/>
                    </a:lnTo>
                    <a:lnTo>
                      <a:pt x="1031" y="2186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80" y="2058"/>
                    </a:lnTo>
                    <a:lnTo>
                      <a:pt x="745" y="2036"/>
                    </a:lnTo>
                    <a:lnTo>
                      <a:pt x="711" y="2012"/>
                    </a:lnTo>
                    <a:lnTo>
                      <a:pt x="677" y="1988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9" y="1911"/>
                    </a:lnTo>
                    <a:lnTo>
                      <a:pt x="547" y="1884"/>
                    </a:lnTo>
                    <a:lnTo>
                      <a:pt x="515" y="1856"/>
                    </a:lnTo>
                    <a:lnTo>
                      <a:pt x="485" y="1827"/>
                    </a:lnTo>
                    <a:lnTo>
                      <a:pt x="455" y="1797"/>
                    </a:lnTo>
                    <a:lnTo>
                      <a:pt x="426" y="1767"/>
                    </a:lnTo>
                    <a:lnTo>
                      <a:pt x="397" y="1736"/>
                    </a:lnTo>
                    <a:lnTo>
                      <a:pt x="370" y="1705"/>
                    </a:lnTo>
                    <a:lnTo>
                      <a:pt x="342" y="1672"/>
                    </a:lnTo>
                    <a:lnTo>
                      <a:pt x="316" y="1638"/>
                    </a:lnTo>
                    <a:lnTo>
                      <a:pt x="291" y="1604"/>
                    </a:lnTo>
                    <a:lnTo>
                      <a:pt x="267" y="1571"/>
                    </a:lnTo>
                    <a:lnTo>
                      <a:pt x="243" y="1536"/>
                    </a:lnTo>
                    <a:lnTo>
                      <a:pt x="221" y="1500"/>
                    </a:lnTo>
                    <a:lnTo>
                      <a:pt x="199" y="1463"/>
                    </a:lnTo>
                    <a:lnTo>
                      <a:pt x="178" y="1427"/>
                    </a:lnTo>
                    <a:lnTo>
                      <a:pt x="158" y="1389"/>
                    </a:lnTo>
                    <a:lnTo>
                      <a:pt x="140" y="1351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70" y="1164"/>
                    </a:lnTo>
                    <a:lnTo>
                      <a:pt x="49" y="1083"/>
                    </a:lnTo>
                    <a:lnTo>
                      <a:pt x="32" y="997"/>
                    </a:lnTo>
                    <a:lnTo>
                      <a:pt x="19" y="910"/>
                    </a:lnTo>
                    <a:lnTo>
                      <a:pt x="8" y="822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1"/>
                    </a:lnTo>
                    <a:lnTo>
                      <a:pt x="8" y="463"/>
                    </a:lnTo>
                    <a:lnTo>
                      <a:pt x="18" y="375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9" y="136"/>
                    </a:lnTo>
                    <a:lnTo>
                      <a:pt x="94" y="65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4" name="Freeform 685">
                <a:extLst>
                  <a:ext uri="{FF2B5EF4-FFF2-40B4-BE49-F238E27FC236}">
                    <a16:creationId xmlns:a16="http://schemas.microsoft.com/office/drawing/2014/main" id="{78CA65A7-78C0-4CBD-93BA-793C0B641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3169"/>
                <a:ext cx="50" cy="122"/>
              </a:xfrm>
              <a:custGeom>
                <a:avLst/>
                <a:gdLst>
                  <a:gd name="T0" fmla="*/ 0 w 1103"/>
                  <a:gd name="T1" fmla="*/ 0 h 2202"/>
                  <a:gd name="T2" fmla="*/ 0 w 1103"/>
                  <a:gd name="T3" fmla="*/ 0 h 2202"/>
                  <a:gd name="T4" fmla="*/ 0 w 1103"/>
                  <a:gd name="T5" fmla="*/ 0 h 2202"/>
                  <a:gd name="T6" fmla="*/ 0 w 1103"/>
                  <a:gd name="T7" fmla="*/ 0 h 2202"/>
                  <a:gd name="T8" fmla="*/ 0 w 1103"/>
                  <a:gd name="T9" fmla="*/ 0 h 2202"/>
                  <a:gd name="T10" fmla="*/ 0 w 1103"/>
                  <a:gd name="T11" fmla="*/ 0 h 2202"/>
                  <a:gd name="T12" fmla="*/ 0 w 1103"/>
                  <a:gd name="T13" fmla="*/ 0 h 2202"/>
                  <a:gd name="T14" fmla="*/ 0 w 1103"/>
                  <a:gd name="T15" fmla="*/ 0 h 2202"/>
                  <a:gd name="T16" fmla="*/ 0 w 1103"/>
                  <a:gd name="T17" fmla="*/ 0 h 2202"/>
                  <a:gd name="T18" fmla="*/ 0 w 1103"/>
                  <a:gd name="T19" fmla="*/ 0 h 2202"/>
                  <a:gd name="T20" fmla="*/ 0 w 1103"/>
                  <a:gd name="T21" fmla="*/ 0 h 2202"/>
                  <a:gd name="T22" fmla="*/ 0 w 1103"/>
                  <a:gd name="T23" fmla="*/ 0 h 2202"/>
                  <a:gd name="T24" fmla="*/ 0 w 1103"/>
                  <a:gd name="T25" fmla="*/ 0 h 2202"/>
                  <a:gd name="T26" fmla="*/ 0 w 1103"/>
                  <a:gd name="T27" fmla="*/ 0 h 2202"/>
                  <a:gd name="T28" fmla="*/ 0 w 1103"/>
                  <a:gd name="T29" fmla="*/ 0 h 2202"/>
                  <a:gd name="T30" fmla="*/ 0 w 1103"/>
                  <a:gd name="T31" fmla="*/ 0 h 2202"/>
                  <a:gd name="T32" fmla="*/ 0 w 1103"/>
                  <a:gd name="T33" fmla="*/ 0 h 2202"/>
                  <a:gd name="T34" fmla="*/ 0 w 1103"/>
                  <a:gd name="T35" fmla="*/ 0 h 2202"/>
                  <a:gd name="T36" fmla="*/ 0 w 1103"/>
                  <a:gd name="T37" fmla="*/ 0 h 2202"/>
                  <a:gd name="T38" fmla="*/ 0 w 1103"/>
                  <a:gd name="T39" fmla="*/ 0 h 2202"/>
                  <a:gd name="T40" fmla="*/ 0 w 1103"/>
                  <a:gd name="T41" fmla="*/ 0 h 2202"/>
                  <a:gd name="T42" fmla="*/ 0 w 1103"/>
                  <a:gd name="T43" fmla="*/ 0 h 2202"/>
                  <a:gd name="T44" fmla="*/ 0 w 1103"/>
                  <a:gd name="T45" fmla="*/ 0 h 2202"/>
                  <a:gd name="T46" fmla="*/ 0 w 1103"/>
                  <a:gd name="T47" fmla="*/ 0 h 2202"/>
                  <a:gd name="T48" fmla="*/ 0 w 1103"/>
                  <a:gd name="T49" fmla="*/ 0 h 2202"/>
                  <a:gd name="T50" fmla="*/ 0 w 1103"/>
                  <a:gd name="T51" fmla="*/ 0 h 2202"/>
                  <a:gd name="T52" fmla="*/ 0 w 1103"/>
                  <a:gd name="T53" fmla="*/ 0 h 2202"/>
                  <a:gd name="T54" fmla="*/ 0 w 1103"/>
                  <a:gd name="T55" fmla="*/ 0 h 2202"/>
                  <a:gd name="T56" fmla="*/ 0 w 1103"/>
                  <a:gd name="T57" fmla="*/ 0 h 2202"/>
                  <a:gd name="T58" fmla="*/ 0 w 1103"/>
                  <a:gd name="T59" fmla="*/ 0 h 2202"/>
                  <a:gd name="T60" fmla="*/ 0 w 1103"/>
                  <a:gd name="T61" fmla="*/ 0 h 2202"/>
                  <a:gd name="T62" fmla="*/ 0 w 1103"/>
                  <a:gd name="T63" fmla="*/ 0 h 2202"/>
                  <a:gd name="T64" fmla="*/ 0 w 1103"/>
                  <a:gd name="T65" fmla="*/ 0 h 2202"/>
                  <a:gd name="T66" fmla="*/ 0 w 1103"/>
                  <a:gd name="T67" fmla="*/ 0 h 2202"/>
                  <a:gd name="T68" fmla="*/ 0 w 1103"/>
                  <a:gd name="T69" fmla="*/ 0 h 2202"/>
                  <a:gd name="T70" fmla="*/ 0 w 1103"/>
                  <a:gd name="T71" fmla="*/ 0 h 2202"/>
                  <a:gd name="T72" fmla="*/ 0 w 1103"/>
                  <a:gd name="T73" fmla="*/ 0 h 2202"/>
                  <a:gd name="T74" fmla="*/ 0 w 1103"/>
                  <a:gd name="T75" fmla="*/ 0 h 2202"/>
                  <a:gd name="T76" fmla="*/ 0 w 1103"/>
                  <a:gd name="T77" fmla="*/ 0 h 2202"/>
                  <a:gd name="T78" fmla="*/ 0 w 1103"/>
                  <a:gd name="T79" fmla="*/ 0 h 2202"/>
                  <a:gd name="T80" fmla="*/ 0 w 1103"/>
                  <a:gd name="T81" fmla="*/ 0 h 2202"/>
                  <a:gd name="T82" fmla="*/ 0 w 1103"/>
                  <a:gd name="T83" fmla="*/ 0 h 2202"/>
                  <a:gd name="T84" fmla="*/ 0 w 1103"/>
                  <a:gd name="T85" fmla="*/ 0 h 2202"/>
                  <a:gd name="T86" fmla="*/ 0 w 1103"/>
                  <a:gd name="T87" fmla="*/ 0 h 2202"/>
                  <a:gd name="T88" fmla="*/ 0 w 1103"/>
                  <a:gd name="T89" fmla="*/ 0 h 2202"/>
                  <a:gd name="T90" fmla="*/ 0 w 1103"/>
                  <a:gd name="T91" fmla="*/ 0 h 2202"/>
                  <a:gd name="T92" fmla="*/ 0 w 1103"/>
                  <a:gd name="T93" fmla="*/ 0 h 2202"/>
                  <a:gd name="T94" fmla="*/ 0 w 1103"/>
                  <a:gd name="T95" fmla="*/ 0 h 2202"/>
                  <a:gd name="T96" fmla="*/ 0 w 1103"/>
                  <a:gd name="T97" fmla="*/ 0 h 2202"/>
                  <a:gd name="T98" fmla="*/ 0 w 1103"/>
                  <a:gd name="T99" fmla="*/ 0 h 2202"/>
                  <a:gd name="T100" fmla="*/ 0 w 1103"/>
                  <a:gd name="T101" fmla="*/ 0 h 2202"/>
                  <a:gd name="T102" fmla="*/ 0 w 1103"/>
                  <a:gd name="T103" fmla="*/ 0 h 220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03"/>
                  <a:gd name="T157" fmla="*/ 0 h 2202"/>
                  <a:gd name="T158" fmla="*/ 1103 w 1103"/>
                  <a:gd name="T159" fmla="*/ 2202 h 220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03" h="2202">
                    <a:moveTo>
                      <a:pt x="230" y="56"/>
                    </a:moveTo>
                    <a:lnTo>
                      <a:pt x="1103" y="2072"/>
                    </a:lnTo>
                    <a:lnTo>
                      <a:pt x="1067" y="2202"/>
                    </a:lnTo>
                    <a:lnTo>
                      <a:pt x="1030" y="2187"/>
                    </a:lnTo>
                    <a:lnTo>
                      <a:pt x="994" y="2172"/>
                    </a:lnTo>
                    <a:lnTo>
                      <a:pt x="958" y="2155"/>
                    </a:lnTo>
                    <a:lnTo>
                      <a:pt x="921" y="2138"/>
                    </a:lnTo>
                    <a:lnTo>
                      <a:pt x="886" y="2119"/>
                    </a:lnTo>
                    <a:lnTo>
                      <a:pt x="850" y="2100"/>
                    </a:lnTo>
                    <a:lnTo>
                      <a:pt x="814" y="2079"/>
                    </a:lnTo>
                    <a:lnTo>
                      <a:pt x="779" y="2058"/>
                    </a:lnTo>
                    <a:lnTo>
                      <a:pt x="745" y="2036"/>
                    </a:lnTo>
                    <a:lnTo>
                      <a:pt x="711" y="2013"/>
                    </a:lnTo>
                    <a:lnTo>
                      <a:pt x="676" y="1989"/>
                    </a:lnTo>
                    <a:lnTo>
                      <a:pt x="644" y="1964"/>
                    </a:lnTo>
                    <a:lnTo>
                      <a:pt x="610" y="1939"/>
                    </a:lnTo>
                    <a:lnTo>
                      <a:pt x="578" y="1912"/>
                    </a:lnTo>
                    <a:lnTo>
                      <a:pt x="547" y="1884"/>
                    </a:lnTo>
                    <a:lnTo>
                      <a:pt x="515" y="1857"/>
                    </a:lnTo>
                    <a:lnTo>
                      <a:pt x="485" y="1827"/>
                    </a:lnTo>
                    <a:lnTo>
                      <a:pt x="455" y="1798"/>
                    </a:lnTo>
                    <a:lnTo>
                      <a:pt x="425" y="1767"/>
                    </a:lnTo>
                    <a:lnTo>
                      <a:pt x="397" y="1737"/>
                    </a:lnTo>
                    <a:lnTo>
                      <a:pt x="369" y="1705"/>
                    </a:lnTo>
                    <a:lnTo>
                      <a:pt x="342" y="1672"/>
                    </a:lnTo>
                    <a:lnTo>
                      <a:pt x="316" y="1639"/>
                    </a:lnTo>
                    <a:lnTo>
                      <a:pt x="291" y="1605"/>
                    </a:lnTo>
                    <a:lnTo>
                      <a:pt x="266" y="1571"/>
                    </a:lnTo>
                    <a:lnTo>
                      <a:pt x="243" y="1536"/>
                    </a:lnTo>
                    <a:lnTo>
                      <a:pt x="220" y="1500"/>
                    </a:lnTo>
                    <a:lnTo>
                      <a:pt x="199" y="1464"/>
                    </a:lnTo>
                    <a:lnTo>
                      <a:pt x="178" y="1428"/>
                    </a:lnTo>
                    <a:lnTo>
                      <a:pt x="158" y="1390"/>
                    </a:lnTo>
                    <a:lnTo>
                      <a:pt x="140" y="1352"/>
                    </a:lnTo>
                    <a:lnTo>
                      <a:pt x="123" y="1314"/>
                    </a:lnTo>
                    <a:lnTo>
                      <a:pt x="94" y="1241"/>
                    </a:lnTo>
                    <a:lnTo>
                      <a:pt x="69" y="1164"/>
                    </a:lnTo>
                    <a:lnTo>
                      <a:pt x="49" y="1083"/>
                    </a:lnTo>
                    <a:lnTo>
                      <a:pt x="32" y="998"/>
                    </a:lnTo>
                    <a:lnTo>
                      <a:pt x="18" y="910"/>
                    </a:lnTo>
                    <a:lnTo>
                      <a:pt x="8" y="823"/>
                    </a:lnTo>
                    <a:lnTo>
                      <a:pt x="2" y="732"/>
                    </a:lnTo>
                    <a:lnTo>
                      <a:pt x="0" y="641"/>
                    </a:lnTo>
                    <a:lnTo>
                      <a:pt x="2" y="552"/>
                    </a:lnTo>
                    <a:lnTo>
                      <a:pt x="8" y="463"/>
                    </a:lnTo>
                    <a:lnTo>
                      <a:pt x="17" y="376"/>
                    </a:lnTo>
                    <a:lnTo>
                      <a:pt x="31" y="292"/>
                    </a:lnTo>
                    <a:lnTo>
                      <a:pt x="48" y="212"/>
                    </a:lnTo>
                    <a:lnTo>
                      <a:pt x="68" y="136"/>
                    </a:lnTo>
                    <a:lnTo>
                      <a:pt x="94" y="66"/>
                    </a:lnTo>
                    <a:lnTo>
                      <a:pt x="123" y="0"/>
                    </a:lnTo>
                    <a:lnTo>
                      <a:pt x="230" y="5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5" name="Freeform 686">
                <a:extLst>
                  <a:ext uri="{FF2B5EF4-FFF2-40B4-BE49-F238E27FC236}">
                    <a16:creationId xmlns:a16="http://schemas.microsoft.com/office/drawing/2014/main" id="{20650B9B-C0B2-4FA8-86DD-C1721E09F0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2" cy="121"/>
              </a:xfrm>
              <a:custGeom>
                <a:avLst/>
                <a:gdLst>
                  <a:gd name="T0" fmla="*/ 0 w 1133"/>
                  <a:gd name="T1" fmla="*/ 0 h 2181"/>
                  <a:gd name="T2" fmla="*/ 0 w 1133"/>
                  <a:gd name="T3" fmla="*/ 0 h 2181"/>
                  <a:gd name="T4" fmla="*/ 0 w 1133"/>
                  <a:gd name="T5" fmla="*/ 0 h 2181"/>
                  <a:gd name="T6" fmla="*/ 0 w 1133"/>
                  <a:gd name="T7" fmla="*/ 0 h 2181"/>
                  <a:gd name="T8" fmla="*/ 0 w 1133"/>
                  <a:gd name="T9" fmla="*/ 0 h 2181"/>
                  <a:gd name="T10" fmla="*/ 0 w 1133"/>
                  <a:gd name="T11" fmla="*/ 0 h 2181"/>
                  <a:gd name="T12" fmla="*/ 0 w 1133"/>
                  <a:gd name="T13" fmla="*/ 0 h 2181"/>
                  <a:gd name="T14" fmla="*/ 0 w 1133"/>
                  <a:gd name="T15" fmla="*/ 0 h 2181"/>
                  <a:gd name="T16" fmla="*/ 0 w 1133"/>
                  <a:gd name="T17" fmla="*/ 0 h 2181"/>
                  <a:gd name="T18" fmla="*/ 0 w 1133"/>
                  <a:gd name="T19" fmla="*/ 0 h 2181"/>
                  <a:gd name="T20" fmla="*/ 0 w 1133"/>
                  <a:gd name="T21" fmla="*/ 0 h 2181"/>
                  <a:gd name="T22" fmla="*/ 0 w 1133"/>
                  <a:gd name="T23" fmla="*/ 0 h 2181"/>
                  <a:gd name="T24" fmla="*/ 0 w 1133"/>
                  <a:gd name="T25" fmla="*/ 0 h 2181"/>
                  <a:gd name="T26" fmla="*/ 0 w 1133"/>
                  <a:gd name="T27" fmla="*/ 0 h 2181"/>
                  <a:gd name="T28" fmla="*/ 0 w 1133"/>
                  <a:gd name="T29" fmla="*/ 0 h 2181"/>
                  <a:gd name="T30" fmla="*/ 0 w 1133"/>
                  <a:gd name="T31" fmla="*/ 0 h 2181"/>
                  <a:gd name="T32" fmla="*/ 0 w 1133"/>
                  <a:gd name="T33" fmla="*/ 0 h 2181"/>
                  <a:gd name="T34" fmla="*/ 0 w 1133"/>
                  <a:gd name="T35" fmla="*/ 0 h 2181"/>
                  <a:gd name="T36" fmla="*/ 0 w 1133"/>
                  <a:gd name="T37" fmla="*/ 0 h 2181"/>
                  <a:gd name="T38" fmla="*/ 0 w 1133"/>
                  <a:gd name="T39" fmla="*/ 0 h 2181"/>
                  <a:gd name="T40" fmla="*/ 0 w 1133"/>
                  <a:gd name="T41" fmla="*/ 0 h 2181"/>
                  <a:gd name="T42" fmla="*/ 0 w 1133"/>
                  <a:gd name="T43" fmla="*/ 0 h 2181"/>
                  <a:gd name="T44" fmla="*/ 0 w 1133"/>
                  <a:gd name="T45" fmla="*/ 0 h 2181"/>
                  <a:gd name="T46" fmla="*/ 0 w 1133"/>
                  <a:gd name="T47" fmla="*/ 0 h 2181"/>
                  <a:gd name="T48" fmla="*/ 0 w 1133"/>
                  <a:gd name="T49" fmla="*/ 0 h 2181"/>
                  <a:gd name="T50" fmla="*/ 0 w 1133"/>
                  <a:gd name="T51" fmla="*/ 0 h 2181"/>
                  <a:gd name="T52" fmla="*/ 0 w 1133"/>
                  <a:gd name="T53" fmla="*/ 0 h 2181"/>
                  <a:gd name="T54" fmla="*/ 0 w 1133"/>
                  <a:gd name="T55" fmla="*/ 0 h 2181"/>
                  <a:gd name="T56" fmla="*/ 0 w 1133"/>
                  <a:gd name="T57" fmla="*/ 0 h 2181"/>
                  <a:gd name="T58" fmla="*/ 0 w 1133"/>
                  <a:gd name="T59" fmla="*/ 0 h 2181"/>
                  <a:gd name="T60" fmla="*/ 0 w 1133"/>
                  <a:gd name="T61" fmla="*/ 0 h 2181"/>
                  <a:gd name="T62" fmla="*/ 0 w 1133"/>
                  <a:gd name="T63" fmla="*/ 0 h 2181"/>
                  <a:gd name="T64" fmla="*/ 0 w 1133"/>
                  <a:gd name="T65" fmla="*/ 0 h 2181"/>
                  <a:gd name="T66" fmla="*/ 0 w 1133"/>
                  <a:gd name="T67" fmla="*/ 0 h 2181"/>
                  <a:gd name="T68" fmla="*/ 0 w 1133"/>
                  <a:gd name="T69" fmla="*/ 0 h 2181"/>
                  <a:gd name="T70" fmla="*/ 0 w 1133"/>
                  <a:gd name="T71" fmla="*/ 0 h 2181"/>
                  <a:gd name="T72" fmla="*/ 0 w 1133"/>
                  <a:gd name="T73" fmla="*/ 0 h 2181"/>
                  <a:gd name="T74" fmla="*/ 0 w 1133"/>
                  <a:gd name="T75" fmla="*/ 0 h 2181"/>
                  <a:gd name="T76" fmla="*/ 0 w 1133"/>
                  <a:gd name="T77" fmla="*/ 0 h 2181"/>
                  <a:gd name="T78" fmla="*/ 0 w 1133"/>
                  <a:gd name="T79" fmla="*/ 0 h 2181"/>
                  <a:gd name="T80" fmla="*/ 0 w 1133"/>
                  <a:gd name="T81" fmla="*/ 0 h 2181"/>
                  <a:gd name="T82" fmla="*/ 0 w 1133"/>
                  <a:gd name="T83" fmla="*/ 0 h 2181"/>
                  <a:gd name="T84" fmla="*/ 0 w 1133"/>
                  <a:gd name="T85" fmla="*/ 0 h 2181"/>
                  <a:gd name="T86" fmla="*/ 0 w 1133"/>
                  <a:gd name="T87" fmla="*/ 0 h 2181"/>
                  <a:gd name="T88" fmla="*/ 0 w 1133"/>
                  <a:gd name="T89" fmla="*/ 0 h 2181"/>
                  <a:gd name="T90" fmla="*/ 0 w 1133"/>
                  <a:gd name="T91" fmla="*/ 0 h 2181"/>
                  <a:gd name="T92" fmla="*/ 0 w 1133"/>
                  <a:gd name="T93" fmla="*/ 0 h 2181"/>
                  <a:gd name="T94" fmla="*/ 0 w 1133"/>
                  <a:gd name="T95" fmla="*/ 0 h 2181"/>
                  <a:gd name="T96" fmla="*/ 0 w 1133"/>
                  <a:gd name="T97" fmla="*/ 0 h 2181"/>
                  <a:gd name="T98" fmla="*/ 0 w 1133"/>
                  <a:gd name="T99" fmla="*/ 0 h 2181"/>
                  <a:gd name="T100" fmla="*/ 0 w 1133"/>
                  <a:gd name="T101" fmla="*/ 0 h 2181"/>
                  <a:gd name="T102" fmla="*/ 0 w 1133"/>
                  <a:gd name="T103" fmla="*/ 0 h 218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3"/>
                  <a:gd name="T157" fmla="*/ 0 h 2181"/>
                  <a:gd name="T158" fmla="*/ 1133 w 1133"/>
                  <a:gd name="T159" fmla="*/ 2181 h 218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3" h="2181">
                    <a:moveTo>
                      <a:pt x="917" y="2127"/>
                    </a:moveTo>
                    <a:lnTo>
                      <a:pt x="0" y="131"/>
                    </a:lnTo>
                    <a:lnTo>
                      <a:pt x="32" y="0"/>
                    </a:lnTo>
                    <a:lnTo>
                      <a:pt x="69" y="14"/>
                    </a:lnTo>
                    <a:lnTo>
                      <a:pt x="106" y="29"/>
                    </a:lnTo>
                    <a:lnTo>
                      <a:pt x="142" y="44"/>
                    </a:lnTo>
                    <a:lnTo>
                      <a:pt x="179" y="60"/>
                    </a:lnTo>
                    <a:lnTo>
                      <a:pt x="216" y="78"/>
                    </a:lnTo>
                    <a:lnTo>
                      <a:pt x="252" y="96"/>
                    </a:lnTo>
                    <a:lnTo>
                      <a:pt x="287" y="116"/>
                    </a:lnTo>
                    <a:lnTo>
                      <a:pt x="323" y="136"/>
                    </a:lnTo>
                    <a:lnTo>
                      <a:pt x="358" y="159"/>
                    </a:lnTo>
                    <a:lnTo>
                      <a:pt x="392" y="181"/>
                    </a:lnTo>
                    <a:lnTo>
                      <a:pt x="427" y="204"/>
                    </a:lnTo>
                    <a:lnTo>
                      <a:pt x="461" y="228"/>
                    </a:lnTo>
                    <a:lnTo>
                      <a:pt x="494" y="252"/>
                    </a:lnTo>
                    <a:lnTo>
                      <a:pt x="527" y="279"/>
                    </a:lnTo>
                    <a:lnTo>
                      <a:pt x="560" y="305"/>
                    </a:lnTo>
                    <a:lnTo>
                      <a:pt x="591" y="332"/>
                    </a:lnTo>
                    <a:lnTo>
                      <a:pt x="623" y="361"/>
                    </a:lnTo>
                    <a:lnTo>
                      <a:pt x="653" y="389"/>
                    </a:lnTo>
                    <a:lnTo>
                      <a:pt x="683" y="419"/>
                    </a:lnTo>
                    <a:lnTo>
                      <a:pt x="713" y="449"/>
                    </a:lnTo>
                    <a:lnTo>
                      <a:pt x="741" y="481"/>
                    </a:lnTo>
                    <a:lnTo>
                      <a:pt x="769" y="513"/>
                    </a:lnTo>
                    <a:lnTo>
                      <a:pt x="795" y="545"/>
                    </a:lnTo>
                    <a:lnTo>
                      <a:pt x="822" y="578"/>
                    </a:lnTo>
                    <a:lnTo>
                      <a:pt x="846" y="612"/>
                    </a:lnTo>
                    <a:lnTo>
                      <a:pt x="871" y="647"/>
                    </a:lnTo>
                    <a:lnTo>
                      <a:pt x="894" y="681"/>
                    </a:lnTo>
                    <a:lnTo>
                      <a:pt x="917" y="717"/>
                    </a:lnTo>
                    <a:lnTo>
                      <a:pt x="938" y="754"/>
                    </a:lnTo>
                    <a:lnTo>
                      <a:pt x="958" y="791"/>
                    </a:lnTo>
                    <a:lnTo>
                      <a:pt x="978" y="828"/>
                    </a:lnTo>
                    <a:lnTo>
                      <a:pt x="996" y="866"/>
                    </a:lnTo>
                    <a:lnTo>
                      <a:pt x="1026" y="938"/>
                    </a:lnTo>
                    <a:lnTo>
                      <a:pt x="1052" y="1015"/>
                    </a:lnTo>
                    <a:lnTo>
                      <a:pt x="1075" y="1096"/>
                    </a:lnTo>
                    <a:lnTo>
                      <a:pt x="1094" y="1180"/>
                    </a:lnTo>
                    <a:lnTo>
                      <a:pt x="1109" y="1266"/>
                    </a:lnTo>
                    <a:lnTo>
                      <a:pt x="1121" y="1356"/>
                    </a:lnTo>
                    <a:lnTo>
                      <a:pt x="1129" y="1446"/>
                    </a:lnTo>
                    <a:lnTo>
                      <a:pt x="1133" y="1536"/>
                    </a:lnTo>
                    <a:lnTo>
                      <a:pt x="1133" y="1626"/>
                    </a:lnTo>
                    <a:lnTo>
                      <a:pt x="1130" y="1716"/>
                    </a:lnTo>
                    <a:lnTo>
                      <a:pt x="1122" y="1802"/>
                    </a:lnTo>
                    <a:lnTo>
                      <a:pt x="1110" y="1886"/>
                    </a:lnTo>
                    <a:lnTo>
                      <a:pt x="1095" y="1967"/>
                    </a:lnTo>
                    <a:lnTo>
                      <a:pt x="1076" y="2043"/>
                    </a:lnTo>
                    <a:lnTo>
                      <a:pt x="1052" y="2115"/>
                    </a:lnTo>
                    <a:lnTo>
                      <a:pt x="1025" y="2181"/>
                    </a:lnTo>
                    <a:lnTo>
                      <a:pt x="917" y="2127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6" name="Freeform 687">
                <a:extLst>
                  <a:ext uri="{FF2B5EF4-FFF2-40B4-BE49-F238E27FC236}">
                    <a16:creationId xmlns:a16="http://schemas.microsoft.com/office/drawing/2014/main" id="{EADD176E-DDF5-441A-9D44-972631B29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074"/>
                <a:ext cx="51" cy="122"/>
              </a:xfrm>
              <a:custGeom>
                <a:avLst/>
                <a:gdLst>
                  <a:gd name="T0" fmla="*/ 0 w 1134"/>
                  <a:gd name="T1" fmla="*/ 0 h 2180"/>
                  <a:gd name="T2" fmla="*/ 0 w 1134"/>
                  <a:gd name="T3" fmla="*/ 0 h 2180"/>
                  <a:gd name="T4" fmla="*/ 0 w 1134"/>
                  <a:gd name="T5" fmla="*/ 0 h 2180"/>
                  <a:gd name="T6" fmla="*/ 0 w 1134"/>
                  <a:gd name="T7" fmla="*/ 0 h 2180"/>
                  <a:gd name="T8" fmla="*/ 0 w 1134"/>
                  <a:gd name="T9" fmla="*/ 0 h 2180"/>
                  <a:gd name="T10" fmla="*/ 0 w 1134"/>
                  <a:gd name="T11" fmla="*/ 0 h 2180"/>
                  <a:gd name="T12" fmla="*/ 0 w 1134"/>
                  <a:gd name="T13" fmla="*/ 0 h 2180"/>
                  <a:gd name="T14" fmla="*/ 0 w 1134"/>
                  <a:gd name="T15" fmla="*/ 0 h 2180"/>
                  <a:gd name="T16" fmla="*/ 0 w 1134"/>
                  <a:gd name="T17" fmla="*/ 0 h 2180"/>
                  <a:gd name="T18" fmla="*/ 0 w 1134"/>
                  <a:gd name="T19" fmla="*/ 0 h 2180"/>
                  <a:gd name="T20" fmla="*/ 0 w 1134"/>
                  <a:gd name="T21" fmla="*/ 0 h 2180"/>
                  <a:gd name="T22" fmla="*/ 0 w 1134"/>
                  <a:gd name="T23" fmla="*/ 0 h 2180"/>
                  <a:gd name="T24" fmla="*/ 0 w 1134"/>
                  <a:gd name="T25" fmla="*/ 0 h 2180"/>
                  <a:gd name="T26" fmla="*/ 0 w 1134"/>
                  <a:gd name="T27" fmla="*/ 0 h 2180"/>
                  <a:gd name="T28" fmla="*/ 0 w 1134"/>
                  <a:gd name="T29" fmla="*/ 0 h 2180"/>
                  <a:gd name="T30" fmla="*/ 0 w 1134"/>
                  <a:gd name="T31" fmla="*/ 0 h 2180"/>
                  <a:gd name="T32" fmla="*/ 0 w 1134"/>
                  <a:gd name="T33" fmla="*/ 0 h 2180"/>
                  <a:gd name="T34" fmla="*/ 0 w 1134"/>
                  <a:gd name="T35" fmla="*/ 0 h 2180"/>
                  <a:gd name="T36" fmla="*/ 0 w 1134"/>
                  <a:gd name="T37" fmla="*/ 0 h 2180"/>
                  <a:gd name="T38" fmla="*/ 0 w 1134"/>
                  <a:gd name="T39" fmla="*/ 0 h 2180"/>
                  <a:gd name="T40" fmla="*/ 0 w 1134"/>
                  <a:gd name="T41" fmla="*/ 0 h 2180"/>
                  <a:gd name="T42" fmla="*/ 0 w 1134"/>
                  <a:gd name="T43" fmla="*/ 0 h 2180"/>
                  <a:gd name="T44" fmla="*/ 0 w 1134"/>
                  <a:gd name="T45" fmla="*/ 0 h 2180"/>
                  <a:gd name="T46" fmla="*/ 0 w 1134"/>
                  <a:gd name="T47" fmla="*/ 0 h 2180"/>
                  <a:gd name="T48" fmla="*/ 0 w 1134"/>
                  <a:gd name="T49" fmla="*/ 0 h 2180"/>
                  <a:gd name="T50" fmla="*/ 0 w 1134"/>
                  <a:gd name="T51" fmla="*/ 0 h 2180"/>
                  <a:gd name="T52" fmla="*/ 0 w 1134"/>
                  <a:gd name="T53" fmla="*/ 0 h 2180"/>
                  <a:gd name="T54" fmla="*/ 0 w 1134"/>
                  <a:gd name="T55" fmla="*/ 0 h 2180"/>
                  <a:gd name="T56" fmla="*/ 0 w 1134"/>
                  <a:gd name="T57" fmla="*/ 0 h 2180"/>
                  <a:gd name="T58" fmla="*/ 0 w 1134"/>
                  <a:gd name="T59" fmla="*/ 0 h 2180"/>
                  <a:gd name="T60" fmla="*/ 0 w 1134"/>
                  <a:gd name="T61" fmla="*/ 0 h 2180"/>
                  <a:gd name="T62" fmla="*/ 0 w 1134"/>
                  <a:gd name="T63" fmla="*/ 0 h 2180"/>
                  <a:gd name="T64" fmla="*/ 0 w 1134"/>
                  <a:gd name="T65" fmla="*/ 0 h 2180"/>
                  <a:gd name="T66" fmla="*/ 0 w 1134"/>
                  <a:gd name="T67" fmla="*/ 0 h 2180"/>
                  <a:gd name="T68" fmla="*/ 0 w 1134"/>
                  <a:gd name="T69" fmla="*/ 0 h 2180"/>
                  <a:gd name="T70" fmla="*/ 0 w 1134"/>
                  <a:gd name="T71" fmla="*/ 0 h 2180"/>
                  <a:gd name="T72" fmla="*/ 0 w 1134"/>
                  <a:gd name="T73" fmla="*/ 0 h 2180"/>
                  <a:gd name="T74" fmla="*/ 0 w 1134"/>
                  <a:gd name="T75" fmla="*/ 0 h 2180"/>
                  <a:gd name="T76" fmla="*/ 0 w 1134"/>
                  <a:gd name="T77" fmla="*/ 0 h 2180"/>
                  <a:gd name="T78" fmla="*/ 0 w 1134"/>
                  <a:gd name="T79" fmla="*/ 0 h 2180"/>
                  <a:gd name="T80" fmla="*/ 0 w 1134"/>
                  <a:gd name="T81" fmla="*/ 0 h 2180"/>
                  <a:gd name="T82" fmla="*/ 0 w 1134"/>
                  <a:gd name="T83" fmla="*/ 0 h 2180"/>
                  <a:gd name="T84" fmla="*/ 0 w 1134"/>
                  <a:gd name="T85" fmla="*/ 0 h 2180"/>
                  <a:gd name="T86" fmla="*/ 0 w 1134"/>
                  <a:gd name="T87" fmla="*/ 0 h 2180"/>
                  <a:gd name="T88" fmla="*/ 0 w 1134"/>
                  <a:gd name="T89" fmla="*/ 0 h 2180"/>
                  <a:gd name="T90" fmla="*/ 0 w 1134"/>
                  <a:gd name="T91" fmla="*/ 0 h 2180"/>
                  <a:gd name="T92" fmla="*/ 0 w 1134"/>
                  <a:gd name="T93" fmla="*/ 0 h 2180"/>
                  <a:gd name="T94" fmla="*/ 0 w 1134"/>
                  <a:gd name="T95" fmla="*/ 0 h 2180"/>
                  <a:gd name="T96" fmla="*/ 0 w 1134"/>
                  <a:gd name="T97" fmla="*/ 0 h 2180"/>
                  <a:gd name="T98" fmla="*/ 0 w 1134"/>
                  <a:gd name="T99" fmla="*/ 0 h 2180"/>
                  <a:gd name="T100" fmla="*/ 0 w 1134"/>
                  <a:gd name="T101" fmla="*/ 0 h 2180"/>
                  <a:gd name="T102" fmla="*/ 0 w 1134"/>
                  <a:gd name="T103" fmla="*/ 0 h 218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134"/>
                  <a:gd name="T157" fmla="*/ 0 h 2180"/>
                  <a:gd name="T158" fmla="*/ 1134 w 1134"/>
                  <a:gd name="T159" fmla="*/ 2180 h 218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134" h="2180">
                    <a:moveTo>
                      <a:pt x="918" y="2126"/>
                    </a:moveTo>
                    <a:lnTo>
                      <a:pt x="0" y="130"/>
                    </a:lnTo>
                    <a:lnTo>
                      <a:pt x="33" y="0"/>
                    </a:lnTo>
                    <a:lnTo>
                      <a:pt x="70" y="13"/>
                    </a:lnTo>
                    <a:lnTo>
                      <a:pt x="107" y="28"/>
                    </a:lnTo>
                    <a:lnTo>
                      <a:pt x="143" y="43"/>
                    </a:lnTo>
                    <a:lnTo>
                      <a:pt x="180" y="60"/>
                    </a:lnTo>
                    <a:lnTo>
                      <a:pt x="217" y="78"/>
                    </a:lnTo>
                    <a:lnTo>
                      <a:pt x="252" y="96"/>
                    </a:lnTo>
                    <a:lnTo>
                      <a:pt x="288" y="116"/>
                    </a:lnTo>
                    <a:lnTo>
                      <a:pt x="324" y="136"/>
                    </a:lnTo>
                    <a:lnTo>
                      <a:pt x="359" y="158"/>
                    </a:lnTo>
                    <a:lnTo>
                      <a:pt x="393" y="180"/>
                    </a:lnTo>
                    <a:lnTo>
                      <a:pt x="428" y="203"/>
                    </a:lnTo>
                    <a:lnTo>
                      <a:pt x="462" y="227"/>
                    </a:lnTo>
                    <a:lnTo>
                      <a:pt x="495" y="252"/>
                    </a:lnTo>
                    <a:lnTo>
                      <a:pt x="528" y="278"/>
                    </a:lnTo>
                    <a:lnTo>
                      <a:pt x="561" y="304"/>
                    </a:lnTo>
                    <a:lnTo>
                      <a:pt x="592" y="332"/>
                    </a:lnTo>
                    <a:lnTo>
                      <a:pt x="624" y="360"/>
                    </a:lnTo>
                    <a:lnTo>
                      <a:pt x="654" y="389"/>
                    </a:lnTo>
                    <a:lnTo>
                      <a:pt x="684" y="418"/>
                    </a:lnTo>
                    <a:lnTo>
                      <a:pt x="714" y="449"/>
                    </a:lnTo>
                    <a:lnTo>
                      <a:pt x="742" y="480"/>
                    </a:lnTo>
                    <a:lnTo>
                      <a:pt x="770" y="512"/>
                    </a:lnTo>
                    <a:lnTo>
                      <a:pt x="796" y="545"/>
                    </a:lnTo>
                    <a:lnTo>
                      <a:pt x="823" y="577"/>
                    </a:lnTo>
                    <a:lnTo>
                      <a:pt x="847" y="611"/>
                    </a:lnTo>
                    <a:lnTo>
                      <a:pt x="872" y="646"/>
                    </a:lnTo>
                    <a:lnTo>
                      <a:pt x="895" y="681"/>
                    </a:lnTo>
                    <a:lnTo>
                      <a:pt x="918" y="717"/>
                    </a:lnTo>
                    <a:lnTo>
                      <a:pt x="939" y="754"/>
                    </a:lnTo>
                    <a:lnTo>
                      <a:pt x="959" y="790"/>
                    </a:lnTo>
                    <a:lnTo>
                      <a:pt x="979" y="827"/>
                    </a:lnTo>
                    <a:lnTo>
                      <a:pt x="997" y="865"/>
                    </a:lnTo>
                    <a:lnTo>
                      <a:pt x="1027" y="937"/>
                    </a:lnTo>
                    <a:lnTo>
                      <a:pt x="1053" y="1014"/>
                    </a:lnTo>
                    <a:lnTo>
                      <a:pt x="1076" y="1095"/>
                    </a:lnTo>
                    <a:lnTo>
                      <a:pt x="1095" y="1179"/>
                    </a:lnTo>
                    <a:lnTo>
                      <a:pt x="1110" y="1266"/>
                    </a:lnTo>
                    <a:lnTo>
                      <a:pt x="1122" y="1355"/>
                    </a:lnTo>
                    <a:lnTo>
                      <a:pt x="1130" y="1445"/>
                    </a:lnTo>
                    <a:lnTo>
                      <a:pt x="1134" y="1536"/>
                    </a:lnTo>
                    <a:lnTo>
                      <a:pt x="1134" y="1625"/>
                    </a:lnTo>
                    <a:lnTo>
                      <a:pt x="1131" y="1715"/>
                    </a:lnTo>
                    <a:lnTo>
                      <a:pt x="1123" y="1801"/>
                    </a:lnTo>
                    <a:lnTo>
                      <a:pt x="1111" y="1886"/>
                    </a:lnTo>
                    <a:lnTo>
                      <a:pt x="1096" y="1966"/>
                    </a:lnTo>
                    <a:lnTo>
                      <a:pt x="1077" y="2043"/>
                    </a:lnTo>
                    <a:lnTo>
                      <a:pt x="1053" y="2115"/>
                    </a:lnTo>
                    <a:lnTo>
                      <a:pt x="1026" y="2180"/>
                    </a:lnTo>
                    <a:lnTo>
                      <a:pt x="918" y="2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7" name="Freeform 688">
                <a:extLst>
                  <a:ext uri="{FF2B5EF4-FFF2-40B4-BE49-F238E27FC236}">
                    <a16:creationId xmlns:a16="http://schemas.microsoft.com/office/drawing/2014/main" id="{129B83FB-BB0A-46EB-BB01-ED2E2BAFC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4"/>
                <a:ext cx="164" cy="228"/>
              </a:xfrm>
              <a:custGeom>
                <a:avLst/>
                <a:gdLst>
                  <a:gd name="T0" fmla="*/ 0 w 3622"/>
                  <a:gd name="T1" fmla="*/ 0 h 4112"/>
                  <a:gd name="T2" fmla="*/ 0 w 3622"/>
                  <a:gd name="T3" fmla="*/ 0 h 4112"/>
                  <a:gd name="T4" fmla="*/ 0 w 3622"/>
                  <a:gd name="T5" fmla="*/ 0 h 4112"/>
                  <a:gd name="T6" fmla="*/ 0 w 3622"/>
                  <a:gd name="T7" fmla="*/ 0 h 4112"/>
                  <a:gd name="T8" fmla="*/ 0 w 3622"/>
                  <a:gd name="T9" fmla="*/ 0 h 4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2"/>
                  <a:gd name="T17" fmla="*/ 3622 w 3622"/>
                  <a:gd name="T18" fmla="*/ 4112 h 4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2">
                    <a:moveTo>
                      <a:pt x="1404" y="4112"/>
                    </a:moveTo>
                    <a:lnTo>
                      <a:pt x="3622" y="3023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2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8" name="Freeform 689">
                <a:extLst>
                  <a:ext uri="{FF2B5EF4-FFF2-40B4-BE49-F238E27FC236}">
                    <a16:creationId xmlns:a16="http://schemas.microsoft.com/office/drawing/2014/main" id="{7ED38318-2C4E-44C4-9FFD-941580FD3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141"/>
                <a:ext cx="164" cy="228"/>
              </a:xfrm>
              <a:custGeom>
                <a:avLst/>
                <a:gdLst>
                  <a:gd name="T0" fmla="*/ 0 w 3622"/>
                  <a:gd name="T1" fmla="*/ 0 h 4113"/>
                  <a:gd name="T2" fmla="*/ 0 w 3622"/>
                  <a:gd name="T3" fmla="*/ 0 h 4113"/>
                  <a:gd name="T4" fmla="*/ 0 w 3622"/>
                  <a:gd name="T5" fmla="*/ 0 h 4113"/>
                  <a:gd name="T6" fmla="*/ 0 w 3622"/>
                  <a:gd name="T7" fmla="*/ 0 h 4113"/>
                  <a:gd name="T8" fmla="*/ 0 w 3622"/>
                  <a:gd name="T9" fmla="*/ 0 h 41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22"/>
                  <a:gd name="T16" fmla="*/ 0 h 4113"/>
                  <a:gd name="T17" fmla="*/ 3622 w 3622"/>
                  <a:gd name="T18" fmla="*/ 4113 h 41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22" h="4113">
                    <a:moveTo>
                      <a:pt x="1404" y="4113"/>
                    </a:moveTo>
                    <a:lnTo>
                      <a:pt x="3622" y="3024"/>
                    </a:lnTo>
                    <a:lnTo>
                      <a:pt x="2218" y="0"/>
                    </a:lnTo>
                    <a:lnTo>
                      <a:pt x="0" y="989"/>
                    </a:lnTo>
                    <a:lnTo>
                      <a:pt x="1404" y="4113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79" name="Freeform 690">
                <a:extLst>
                  <a:ext uri="{FF2B5EF4-FFF2-40B4-BE49-F238E27FC236}">
                    <a16:creationId xmlns:a16="http://schemas.microsoft.com/office/drawing/2014/main" id="{2112E3B4-0838-4434-A178-225D82790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146"/>
                <a:ext cx="157" cy="218"/>
              </a:xfrm>
              <a:custGeom>
                <a:avLst/>
                <a:gdLst>
                  <a:gd name="T0" fmla="*/ 0 w 3446"/>
                  <a:gd name="T1" fmla="*/ 0 h 3913"/>
                  <a:gd name="T2" fmla="*/ 0 w 3446"/>
                  <a:gd name="T3" fmla="*/ 0 h 3913"/>
                  <a:gd name="T4" fmla="*/ 0 w 3446"/>
                  <a:gd name="T5" fmla="*/ 0 h 3913"/>
                  <a:gd name="T6" fmla="*/ 0 w 3446"/>
                  <a:gd name="T7" fmla="*/ 0 h 3913"/>
                  <a:gd name="T8" fmla="*/ 0 w 3446"/>
                  <a:gd name="T9" fmla="*/ 0 h 39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46"/>
                  <a:gd name="T16" fmla="*/ 0 h 3913"/>
                  <a:gd name="T17" fmla="*/ 3446 w 3446"/>
                  <a:gd name="T18" fmla="*/ 3913 h 39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46" h="3913">
                    <a:moveTo>
                      <a:pt x="1335" y="3913"/>
                    </a:moveTo>
                    <a:lnTo>
                      <a:pt x="3446" y="2878"/>
                    </a:lnTo>
                    <a:lnTo>
                      <a:pt x="2111" y="0"/>
                    </a:lnTo>
                    <a:lnTo>
                      <a:pt x="0" y="942"/>
                    </a:lnTo>
                    <a:lnTo>
                      <a:pt x="1335" y="3913"/>
                    </a:lnTo>
                    <a:close/>
                  </a:path>
                </a:pathLst>
              </a:custGeom>
              <a:solidFill>
                <a:srgbClr val="1A78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0" name="Freeform 691">
                <a:extLst>
                  <a:ext uri="{FF2B5EF4-FFF2-40B4-BE49-F238E27FC236}">
                    <a16:creationId xmlns:a16="http://schemas.microsoft.com/office/drawing/2014/main" id="{2643829F-4FFA-4B1F-8229-DA55E388A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109"/>
                <a:ext cx="19" cy="19"/>
              </a:xfrm>
              <a:custGeom>
                <a:avLst/>
                <a:gdLst>
                  <a:gd name="T0" fmla="*/ 0 w 431"/>
                  <a:gd name="T1" fmla="*/ 0 h 343"/>
                  <a:gd name="T2" fmla="*/ 0 w 431"/>
                  <a:gd name="T3" fmla="*/ 0 h 343"/>
                  <a:gd name="T4" fmla="*/ 0 w 431"/>
                  <a:gd name="T5" fmla="*/ 0 h 343"/>
                  <a:gd name="T6" fmla="*/ 0 w 431"/>
                  <a:gd name="T7" fmla="*/ 0 h 343"/>
                  <a:gd name="T8" fmla="*/ 0 w 431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1"/>
                  <a:gd name="T16" fmla="*/ 0 h 343"/>
                  <a:gd name="T17" fmla="*/ 431 w 431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1" h="343">
                    <a:moveTo>
                      <a:pt x="431" y="186"/>
                    </a:moveTo>
                    <a:lnTo>
                      <a:pt x="79" y="343"/>
                    </a:lnTo>
                    <a:lnTo>
                      <a:pt x="0" y="157"/>
                    </a:lnTo>
                    <a:lnTo>
                      <a:pt x="352" y="0"/>
                    </a:lnTo>
                    <a:lnTo>
                      <a:pt x="431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1" name="Freeform 692">
                <a:extLst>
                  <a:ext uri="{FF2B5EF4-FFF2-40B4-BE49-F238E27FC236}">
                    <a16:creationId xmlns:a16="http://schemas.microsoft.com/office/drawing/2014/main" id="{B773D2BA-47DB-4C1F-963F-D0204B866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112"/>
                <a:ext cx="16" cy="15"/>
              </a:xfrm>
              <a:custGeom>
                <a:avLst/>
                <a:gdLst>
                  <a:gd name="T0" fmla="*/ 0 w 347"/>
                  <a:gd name="T1" fmla="*/ 0 h 257"/>
                  <a:gd name="T2" fmla="*/ 0 w 347"/>
                  <a:gd name="T3" fmla="*/ 0 h 257"/>
                  <a:gd name="T4" fmla="*/ 0 w 347"/>
                  <a:gd name="T5" fmla="*/ 0 h 257"/>
                  <a:gd name="T6" fmla="*/ 0 w 347"/>
                  <a:gd name="T7" fmla="*/ 0 h 257"/>
                  <a:gd name="T8" fmla="*/ 0 w 347"/>
                  <a:gd name="T9" fmla="*/ 0 h 2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7"/>
                  <a:gd name="T16" fmla="*/ 0 h 257"/>
                  <a:gd name="T17" fmla="*/ 347 w 347"/>
                  <a:gd name="T18" fmla="*/ 257 h 2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7" h="257">
                    <a:moveTo>
                      <a:pt x="347" y="126"/>
                    </a:moveTo>
                    <a:lnTo>
                      <a:pt x="53" y="257"/>
                    </a:lnTo>
                    <a:lnTo>
                      <a:pt x="0" y="132"/>
                    </a:lnTo>
                    <a:lnTo>
                      <a:pt x="294" y="0"/>
                    </a:lnTo>
                    <a:lnTo>
                      <a:pt x="347" y="126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2" name="Freeform 693">
                <a:extLst>
                  <a:ext uri="{FF2B5EF4-FFF2-40B4-BE49-F238E27FC236}">
                    <a16:creationId xmlns:a16="http://schemas.microsoft.com/office/drawing/2014/main" id="{4A61EBC2-EC3D-4B52-9986-F35420897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5" y="73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3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4" y="232"/>
                    </a:lnTo>
                    <a:lnTo>
                      <a:pt x="60" y="228"/>
                    </a:lnTo>
                    <a:lnTo>
                      <a:pt x="56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5" y="73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3" name="Freeform 694">
                <a:extLst>
                  <a:ext uri="{FF2B5EF4-FFF2-40B4-BE49-F238E27FC236}">
                    <a16:creationId xmlns:a16="http://schemas.microsoft.com/office/drawing/2014/main" id="{D4249939-9406-44A9-B9D6-BB5D3D38F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11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2" y="0"/>
                    </a:lnTo>
                    <a:lnTo>
                      <a:pt x="146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4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4" name="Freeform 695">
                <a:extLst>
                  <a:ext uri="{FF2B5EF4-FFF2-40B4-BE49-F238E27FC236}">
                    <a16:creationId xmlns:a16="http://schemas.microsoft.com/office/drawing/2014/main" id="{A4D72FCD-B926-49DE-9E08-E18CC81D7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3113"/>
                <a:ext cx="6" cy="8"/>
              </a:xfrm>
              <a:custGeom>
                <a:avLst/>
                <a:gdLst>
                  <a:gd name="T0" fmla="*/ 0 w 118"/>
                  <a:gd name="T1" fmla="*/ 0 h 154"/>
                  <a:gd name="T2" fmla="*/ 0 w 118"/>
                  <a:gd name="T3" fmla="*/ 0 h 154"/>
                  <a:gd name="T4" fmla="*/ 0 w 118"/>
                  <a:gd name="T5" fmla="*/ 0 h 154"/>
                  <a:gd name="T6" fmla="*/ 0 w 118"/>
                  <a:gd name="T7" fmla="*/ 0 h 154"/>
                  <a:gd name="T8" fmla="*/ 0 w 118"/>
                  <a:gd name="T9" fmla="*/ 0 h 154"/>
                  <a:gd name="T10" fmla="*/ 0 w 118"/>
                  <a:gd name="T11" fmla="*/ 0 h 154"/>
                  <a:gd name="T12" fmla="*/ 0 w 118"/>
                  <a:gd name="T13" fmla="*/ 0 h 154"/>
                  <a:gd name="T14" fmla="*/ 0 w 118"/>
                  <a:gd name="T15" fmla="*/ 0 h 154"/>
                  <a:gd name="T16" fmla="*/ 0 w 118"/>
                  <a:gd name="T17" fmla="*/ 0 h 154"/>
                  <a:gd name="T18" fmla="*/ 0 w 118"/>
                  <a:gd name="T19" fmla="*/ 0 h 154"/>
                  <a:gd name="T20" fmla="*/ 0 w 118"/>
                  <a:gd name="T21" fmla="*/ 0 h 154"/>
                  <a:gd name="T22" fmla="*/ 0 w 118"/>
                  <a:gd name="T23" fmla="*/ 0 h 154"/>
                  <a:gd name="T24" fmla="*/ 0 w 118"/>
                  <a:gd name="T25" fmla="*/ 0 h 154"/>
                  <a:gd name="T26" fmla="*/ 0 w 118"/>
                  <a:gd name="T27" fmla="*/ 0 h 154"/>
                  <a:gd name="T28" fmla="*/ 0 w 118"/>
                  <a:gd name="T29" fmla="*/ 0 h 154"/>
                  <a:gd name="T30" fmla="*/ 0 w 118"/>
                  <a:gd name="T31" fmla="*/ 0 h 154"/>
                  <a:gd name="T32" fmla="*/ 0 w 118"/>
                  <a:gd name="T33" fmla="*/ 0 h 154"/>
                  <a:gd name="T34" fmla="*/ 0 w 118"/>
                  <a:gd name="T35" fmla="*/ 0 h 154"/>
                  <a:gd name="T36" fmla="*/ 0 w 118"/>
                  <a:gd name="T37" fmla="*/ 0 h 154"/>
                  <a:gd name="T38" fmla="*/ 0 w 118"/>
                  <a:gd name="T39" fmla="*/ 0 h 154"/>
                  <a:gd name="T40" fmla="*/ 0 w 118"/>
                  <a:gd name="T41" fmla="*/ 0 h 154"/>
                  <a:gd name="T42" fmla="*/ 0 w 118"/>
                  <a:gd name="T43" fmla="*/ 0 h 154"/>
                  <a:gd name="T44" fmla="*/ 0 w 118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8"/>
                  <a:gd name="T70" fmla="*/ 0 h 154"/>
                  <a:gd name="T71" fmla="*/ 118 w 118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8" h="154">
                    <a:moveTo>
                      <a:pt x="88" y="6"/>
                    </a:moveTo>
                    <a:lnTo>
                      <a:pt x="116" y="77"/>
                    </a:lnTo>
                    <a:lnTo>
                      <a:pt x="118" y="85"/>
                    </a:lnTo>
                    <a:lnTo>
                      <a:pt x="118" y="95"/>
                    </a:lnTo>
                    <a:lnTo>
                      <a:pt x="116" y="103"/>
                    </a:lnTo>
                    <a:lnTo>
                      <a:pt x="112" y="108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7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7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3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5" name="Freeform 696">
                <a:extLst>
                  <a:ext uri="{FF2B5EF4-FFF2-40B4-BE49-F238E27FC236}">
                    <a16:creationId xmlns:a16="http://schemas.microsoft.com/office/drawing/2014/main" id="{1D657589-A00C-4856-9F1F-2113AE5A5E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3099"/>
                <a:ext cx="13" cy="16"/>
              </a:xfrm>
              <a:custGeom>
                <a:avLst/>
                <a:gdLst>
                  <a:gd name="T0" fmla="*/ 0 w 287"/>
                  <a:gd name="T1" fmla="*/ 0 h 280"/>
                  <a:gd name="T2" fmla="*/ 0 w 287"/>
                  <a:gd name="T3" fmla="*/ 0 h 280"/>
                  <a:gd name="T4" fmla="*/ 0 w 287"/>
                  <a:gd name="T5" fmla="*/ 0 h 280"/>
                  <a:gd name="T6" fmla="*/ 0 w 287"/>
                  <a:gd name="T7" fmla="*/ 0 h 280"/>
                  <a:gd name="T8" fmla="*/ 0 w 287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7"/>
                  <a:gd name="T16" fmla="*/ 0 h 280"/>
                  <a:gd name="T17" fmla="*/ 287 w 287"/>
                  <a:gd name="T18" fmla="*/ 280 h 2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7" h="280">
                    <a:moveTo>
                      <a:pt x="287" y="186"/>
                    </a:moveTo>
                    <a:lnTo>
                      <a:pt x="78" y="280"/>
                    </a:lnTo>
                    <a:lnTo>
                      <a:pt x="0" y="93"/>
                    </a:lnTo>
                    <a:lnTo>
                      <a:pt x="210" y="0"/>
                    </a:lnTo>
                    <a:lnTo>
                      <a:pt x="287" y="1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6" name="Freeform 697">
                <a:extLst>
                  <a:ext uri="{FF2B5EF4-FFF2-40B4-BE49-F238E27FC236}">
                    <a16:creationId xmlns:a16="http://schemas.microsoft.com/office/drawing/2014/main" id="{B31BF748-AF22-466C-90E7-D02089263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2"/>
                <a:ext cx="11" cy="12"/>
              </a:xfrm>
              <a:custGeom>
                <a:avLst/>
                <a:gdLst>
                  <a:gd name="T0" fmla="*/ 0 w 227"/>
                  <a:gd name="T1" fmla="*/ 0 h 203"/>
                  <a:gd name="T2" fmla="*/ 0 w 227"/>
                  <a:gd name="T3" fmla="*/ 0 h 203"/>
                  <a:gd name="T4" fmla="*/ 0 w 227"/>
                  <a:gd name="T5" fmla="*/ 0 h 203"/>
                  <a:gd name="T6" fmla="*/ 0 w 227"/>
                  <a:gd name="T7" fmla="*/ 0 h 203"/>
                  <a:gd name="T8" fmla="*/ 0 w 227"/>
                  <a:gd name="T9" fmla="*/ 0 h 2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203"/>
                  <a:gd name="T17" fmla="*/ 227 w 227"/>
                  <a:gd name="T18" fmla="*/ 203 h 2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203">
                    <a:moveTo>
                      <a:pt x="227" y="125"/>
                    </a:moveTo>
                    <a:lnTo>
                      <a:pt x="53" y="203"/>
                    </a:lnTo>
                    <a:lnTo>
                      <a:pt x="0" y="78"/>
                    </a:lnTo>
                    <a:lnTo>
                      <a:pt x="175" y="0"/>
                    </a:lnTo>
                    <a:lnTo>
                      <a:pt x="227" y="125"/>
                    </a:lnTo>
                    <a:close/>
                  </a:path>
                </a:pathLst>
              </a:custGeom>
              <a:solidFill>
                <a:srgbClr val="BA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7" name="Freeform 698">
                <a:extLst>
                  <a:ext uri="{FF2B5EF4-FFF2-40B4-BE49-F238E27FC236}">
                    <a16:creationId xmlns:a16="http://schemas.microsoft.com/office/drawing/2014/main" id="{FA71E68B-440F-4BBC-9E09-52A0BDE5E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0"/>
                <a:ext cx="10" cy="13"/>
              </a:xfrm>
              <a:custGeom>
                <a:avLst/>
                <a:gdLst>
                  <a:gd name="T0" fmla="*/ 0 w 238"/>
                  <a:gd name="T1" fmla="*/ 0 h 234"/>
                  <a:gd name="T2" fmla="*/ 0 w 238"/>
                  <a:gd name="T3" fmla="*/ 0 h 234"/>
                  <a:gd name="T4" fmla="*/ 0 w 238"/>
                  <a:gd name="T5" fmla="*/ 0 h 234"/>
                  <a:gd name="T6" fmla="*/ 0 w 238"/>
                  <a:gd name="T7" fmla="*/ 0 h 234"/>
                  <a:gd name="T8" fmla="*/ 0 w 238"/>
                  <a:gd name="T9" fmla="*/ 0 h 234"/>
                  <a:gd name="T10" fmla="*/ 0 w 238"/>
                  <a:gd name="T11" fmla="*/ 0 h 234"/>
                  <a:gd name="T12" fmla="*/ 0 w 238"/>
                  <a:gd name="T13" fmla="*/ 0 h 234"/>
                  <a:gd name="T14" fmla="*/ 0 w 238"/>
                  <a:gd name="T15" fmla="*/ 0 h 234"/>
                  <a:gd name="T16" fmla="*/ 0 w 238"/>
                  <a:gd name="T17" fmla="*/ 0 h 234"/>
                  <a:gd name="T18" fmla="*/ 0 w 238"/>
                  <a:gd name="T19" fmla="*/ 0 h 234"/>
                  <a:gd name="T20" fmla="*/ 0 w 238"/>
                  <a:gd name="T21" fmla="*/ 0 h 234"/>
                  <a:gd name="T22" fmla="*/ 0 w 238"/>
                  <a:gd name="T23" fmla="*/ 0 h 234"/>
                  <a:gd name="T24" fmla="*/ 0 w 238"/>
                  <a:gd name="T25" fmla="*/ 0 h 234"/>
                  <a:gd name="T26" fmla="*/ 0 w 238"/>
                  <a:gd name="T27" fmla="*/ 0 h 234"/>
                  <a:gd name="T28" fmla="*/ 0 w 238"/>
                  <a:gd name="T29" fmla="*/ 0 h 234"/>
                  <a:gd name="T30" fmla="*/ 0 w 238"/>
                  <a:gd name="T31" fmla="*/ 0 h 234"/>
                  <a:gd name="T32" fmla="*/ 0 w 238"/>
                  <a:gd name="T33" fmla="*/ 0 h 234"/>
                  <a:gd name="T34" fmla="*/ 0 w 238"/>
                  <a:gd name="T35" fmla="*/ 0 h 234"/>
                  <a:gd name="T36" fmla="*/ 0 w 238"/>
                  <a:gd name="T37" fmla="*/ 0 h 234"/>
                  <a:gd name="T38" fmla="*/ 0 w 238"/>
                  <a:gd name="T39" fmla="*/ 0 h 234"/>
                  <a:gd name="T40" fmla="*/ 0 w 238"/>
                  <a:gd name="T41" fmla="*/ 0 h 2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38"/>
                  <a:gd name="T64" fmla="*/ 0 h 234"/>
                  <a:gd name="T65" fmla="*/ 238 w 238"/>
                  <a:gd name="T66" fmla="*/ 234 h 2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38" h="234">
                    <a:moveTo>
                      <a:pt x="4" y="72"/>
                    </a:moveTo>
                    <a:lnTo>
                      <a:pt x="167" y="0"/>
                    </a:lnTo>
                    <a:lnTo>
                      <a:pt x="171" y="0"/>
                    </a:lnTo>
                    <a:lnTo>
                      <a:pt x="175" y="2"/>
                    </a:lnTo>
                    <a:lnTo>
                      <a:pt x="180" y="6"/>
                    </a:lnTo>
                    <a:lnTo>
                      <a:pt x="183" y="12"/>
                    </a:lnTo>
                    <a:lnTo>
                      <a:pt x="236" y="141"/>
                    </a:lnTo>
                    <a:lnTo>
                      <a:pt x="238" y="147"/>
                    </a:lnTo>
                    <a:lnTo>
                      <a:pt x="238" y="154"/>
                    </a:lnTo>
                    <a:lnTo>
                      <a:pt x="237" y="159"/>
                    </a:lnTo>
                    <a:lnTo>
                      <a:pt x="234" y="162"/>
                    </a:lnTo>
                    <a:lnTo>
                      <a:pt x="73" y="234"/>
                    </a:lnTo>
                    <a:lnTo>
                      <a:pt x="69" y="234"/>
                    </a:lnTo>
                    <a:lnTo>
                      <a:pt x="63" y="232"/>
                    </a:lnTo>
                    <a:lnTo>
                      <a:pt x="59" y="227"/>
                    </a:lnTo>
                    <a:lnTo>
                      <a:pt x="55" y="221"/>
                    </a:lnTo>
                    <a:lnTo>
                      <a:pt x="2" y="94"/>
                    </a:lnTo>
                    <a:lnTo>
                      <a:pt x="0" y="86"/>
                    </a:lnTo>
                    <a:lnTo>
                      <a:pt x="0" y="80"/>
                    </a:lnTo>
                    <a:lnTo>
                      <a:pt x="1" y="76"/>
                    </a:ln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8" name="Freeform 699">
                <a:extLst>
                  <a:ext uri="{FF2B5EF4-FFF2-40B4-BE49-F238E27FC236}">
                    <a16:creationId xmlns:a16="http://schemas.microsoft.com/office/drawing/2014/main" id="{38D2EF00-1784-459E-BC23-32CACF9DC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101"/>
                <a:ext cx="10" cy="11"/>
              </a:xfrm>
              <a:custGeom>
                <a:avLst/>
                <a:gdLst>
                  <a:gd name="T0" fmla="*/ 0 w 204"/>
                  <a:gd name="T1" fmla="*/ 0 h 199"/>
                  <a:gd name="T2" fmla="*/ 0 w 204"/>
                  <a:gd name="T3" fmla="*/ 0 h 199"/>
                  <a:gd name="T4" fmla="*/ 0 w 204"/>
                  <a:gd name="T5" fmla="*/ 0 h 199"/>
                  <a:gd name="T6" fmla="*/ 0 w 204"/>
                  <a:gd name="T7" fmla="*/ 0 h 199"/>
                  <a:gd name="T8" fmla="*/ 0 w 204"/>
                  <a:gd name="T9" fmla="*/ 0 h 199"/>
                  <a:gd name="T10" fmla="*/ 0 w 204"/>
                  <a:gd name="T11" fmla="*/ 0 h 199"/>
                  <a:gd name="T12" fmla="*/ 0 w 204"/>
                  <a:gd name="T13" fmla="*/ 0 h 199"/>
                  <a:gd name="T14" fmla="*/ 0 w 204"/>
                  <a:gd name="T15" fmla="*/ 0 h 199"/>
                  <a:gd name="T16" fmla="*/ 0 w 204"/>
                  <a:gd name="T17" fmla="*/ 0 h 199"/>
                  <a:gd name="T18" fmla="*/ 0 w 204"/>
                  <a:gd name="T19" fmla="*/ 0 h 199"/>
                  <a:gd name="T20" fmla="*/ 0 w 204"/>
                  <a:gd name="T21" fmla="*/ 0 h 199"/>
                  <a:gd name="T22" fmla="*/ 0 w 204"/>
                  <a:gd name="T23" fmla="*/ 0 h 199"/>
                  <a:gd name="T24" fmla="*/ 0 w 204"/>
                  <a:gd name="T25" fmla="*/ 0 h 199"/>
                  <a:gd name="T26" fmla="*/ 0 w 204"/>
                  <a:gd name="T27" fmla="*/ 0 h 199"/>
                  <a:gd name="T28" fmla="*/ 0 w 204"/>
                  <a:gd name="T29" fmla="*/ 0 h 199"/>
                  <a:gd name="T30" fmla="*/ 0 w 204"/>
                  <a:gd name="T31" fmla="*/ 0 h 199"/>
                  <a:gd name="T32" fmla="*/ 0 w 204"/>
                  <a:gd name="T33" fmla="*/ 0 h 199"/>
                  <a:gd name="T34" fmla="*/ 0 w 204"/>
                  <a:gd name="T35" fmla="*/ 0 h 199"/>
                  <a:gd name="T36" fmla="*/ 0 w 204"/>
                  <a:gd name="T37" fmla="*/ 0 h 199"/>
                  <a:gd name="T38" fmla="*/ 0 w 204"/>
                  <a:gd name="T39" fmla="*/ 0 h 199"/>
                  <a:gd name="T40" fmla="*/ 0 w 204"/>
                  <a:gd name="T41" fmla="*/ 0 h 1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4"/>
                  <a:gd name="T64" fmla="*/ 0 h 199"/>
                  <a:gd name="T65" fmla="*/ 204 w 204"/>
                  <a:gd name="T66" fmla="*/ 199 h 1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4" h="199">
                    <a:moveTo>
                      <a:pt x="4" y="62"/>
                    </a:moveTo>
                    <a:lnTo>
                      <a:pt x="141" y="0"/>
                    </a:lnTo>
                    <a:lnTo>
                      <a:pt x="145" y="0"/>
                    </a:lnTo>
                    <a:lnTo>
                      <a:pt x="150" y="2"/>
                    </a:lnTo>
                    <a:lnTo>
                      <a:pt x="153" y="5"/>
                    </a:lnTo>
                    <a:lnTo>
                      <a:pt x="156" y="10"/>
                    </a:lnTo>
                    <a:lnTo>
                      <a:pt x="202" y="120"/>
                    </a:lnTo>
                    <a:lnTo>
                      <a:pt x="204" y="125"/>
                    </a:lnTo>
                    <a:lnTo>
                      <a:pt x="204" y="130"/>
                    </a:lnTo>
                    <a:lnTo>
                      <a:pt x="202" y="135"/>
                    </a:lnTo>
                    <a:lnTo>
                      <a:pt x="200" y="138"/>
                    </a:lnTo>
                    <a:lnTo>
                      <a:pt x="62" y="199"/>
                    </a:lnTo>
                    <a:lnTo>
                      <a:pt x="58" y="199"/>
                    </a:lnTo>
                    <a:lnTo>
                      <a:pt x="54" y="198"/>
                    </a:lnTo>
                    <a:lnTo>
                      <a:pt x="51" y="194"/>
                    </a:lnTo>
                    <a:lnTo>
                      <a:pt x="48" y="188"/>
                    </a:lnTo>
                    <a:lnTo>
                      <a:pt x="2" y="80"/>
                    </a:lnTo>
                    <a:lnTo>
                      <a:pt x="0" y="73"/>
                    </a:lnTo>
                    <a:lnTo>
                      <a:pt x="0" y="68"/>
                    </a:lnTo>
                    <a:lnTo>
                      <a:pt x="2" y="64"/>
                    </a:ln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9" name="Freeform 700">
                <a:extLst>
                  <a:ext uri="{FF2B5EF4-FFF2-40B4-BE49-F238E27FC236}">
                    <a16:creationId xmlns:a16="http://schemas.microsoft.com/office/drawing/2014/main" id="{25660A5F-A14B-4E35-B6F8-B6FA15257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103"/>
                <a:ext cx="6" cy="8"/>
              </a:xfrm>
              <a:custGeom>
                <a:avLst/>
                <a:gdLst>
                  <a:gd name="T0" fmla="*/ 0 w 119"/>
                  <a:gd name="T1" fmla="*/ 0 h 154"/>
                  <a:gd name="T2" fmla="*/ 0 w 119"/>
                  <a:gd name="T3" fmla="*/ 0 h 154"/>
                  <a:gd name="T4" fmla="*/ 0 w 119"/>
                  <a:gd name="T5" fmla="*/ 0 h 154"/>
                  <a:gd name="T6" fmla="*/ 0 w 119"/>
                  <a:gd name="T7" fmla="*/ 0 h 154"/>
                  <a:gd name="T8" fmla="*/ 0 w 119"/>
                  <a:gd name="T9" fmla="*/ 0 h 154"/>
                  <a:gd name="T10" fmla="*/ 0 w 119"/>
                  <a:gd name="T11" fmla="*/ 0 h 154"/>
                  <a:gd name="T12" fmla="*/ 0 w 119"/>
                  <a:gd name="T13" fmla="*/ 0 h 154"/>
                  <a:gd name="T14" fmla="*/ 0 w 119"/>
                  <a:gd name="T15" fmla="*/ 0 h 154"/>
                  <a:gd name="T16" fmla="*/ 0 w 119"/>
                  <a:gd name="T17" fmla="*/ 0 h 154"/>
                  <a:gd name="T18" fmla="*/ 0 w 119"/>
                  <a:gd name="T19" fmla="*/ 0 h 154"/>
                  <a:gd name="T20" fmla="*/ 0 w 119"/>
                  <a:gd name="T21" fmla="*/ 0 h 154"/>
                  <a:gd name="T22" fmla="*/ 0 w 119"/>
                  <a:gd name="T23" fmla="*/ 0 h 154"/>
                  <a:gd name="T24" fmla="*/ 0 w 119"/>
                  <a:gd name="T25" fmla="*/ 0 h 154"/>
                  <a:gd name="T26" fmla="*/ 0 w 119"/>
                  <a:gd name="T27" fmla="*/ 0 h 154"/>
                  <a:gd name="T28" fmla="*/ 0 w 119"/>
                  <a:gd name="T29" fmla="*/ 0 h 154"/>
                  <a:gd name="T30" fmla="*/ 0 w 119"/>
                  <a:gd name="T31" fmla="*/ 0 h 154"/>
                  <a:gd name="T32" fmla="*/ 0 w 119"/>
                  <a:gd name="T33" fmla="*/ 0 h 154"/>
                  <a:gd name="T34" fmla="*/ 0 w 119"/>
                  <a:gd name="T35" fmla="*/ 0 h 154"/>
                  <a:gd name="T36" fmla="*/ 0 w 119"/>
                  <a:gd name="T37" fmla="*/ 0 h 154"/>
                  <a:gd name="T38" fmla="*/ 0 w 119"/>
                  <a:gd name="T39" fmla="*/ 0 h 154"/>
                  <a:gd name="T40" fmla="*/ 0 w 119"/>
                  <a:gd name="T41" fmla="*/ 0 h 154"/>
                  <a:gd name="T42" fmla="*/ 0 w 119"/>
                  <a:gd name="T43" fmla="*/ 0 h 154"/>
                  <a:gd name="T44" fmla="*/ 0 w 119"/>
                  <a:gd name="T45" fmla="*/ 0 h 1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9"/>
                  <a:gd name="T70" fmla="*/ 0 h 154"/>
                  <a:gd name="T71" fmla="*/ 119 w 119"/>
                  <a:gd name="T72" fmla="*/ 154 h 15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9" h="154">
                    <a:moveTo>
                      <a:pt x="88" y="6"/>
                    </a:moveTo>
                    <a:lnTo>
                      <a:pt x="116" y="78"/>
                    </a:lnTo>
                    <a:lnTo>
                      <a:pt x="118" y="86"/>
                    </a:lnTo>
                    <a:lnTo>
                      <a:pt x="119" y="95"/>
                    </a:lnTo>
                    <a:lnTo>
                      <a:pt x="117" y="103"/>
                    </a:lnTo>
                    <a:lnTo>
                      <a:pt x="112" y="109"/>
                    </a:lnTo>
                    <a:lnTo>
                      <a:pt x="14" y="152"/>
                    </a:lnTo>
                    <a:lnTo>
                      <a:pt x="6" y="154"/>
                    </a:lnTo>
                    <a:lnTo>
                      <a:pt x="2" y="150"/>
                    </a:lnTo>
                    <a:lnTo>
                      <a:pt x="0" y="140"/>
                    </a:lnTo>
                    <a:lnTo>
                      <a:pt x="1" y="128"/>
                    </a:lnTo>
                    <a:lnTo>
                      <a:pt x="4" y="112"/>
                    </a:lnTo>
                    <a:lnTo>
                      <a:pt x="9" y="95"/>
                    </a:lnTo>
                    <a:lnTo>
                      <a:pt x="14" y="78"/>
                    </a:lnTo>
                    <a:lnTo>
                      <a:pt x="21" y="61"/>
                    </a:lnTo>
                    <a:lnTo>
                      <a:pt x="29" y="46"/>
                    </a:lnTo>
                    <a:lnTo>
                      <a:pt x="38" y="33"/>
                    </a:lnTo>
                    <a:lnTo>
                      <a:pt x="48" y="21"/>
                    </a:lnTo>
                    <a:lnTo>
                      <a:pt x="58" y="12"/>
                    </a:lnTo>
                    <a:lnTo>
                      <a:pt x="67" y="4"/>
                    </a:lnTo>
                    <a:lnTo>
                      <a:pt x="76" y="0"/>
                    </a:lnTo>
                    <a:lnTo>
                      <a:pt x="82" y="1"/>
                    </a:lnTo>
                    <a:lnTo>
                      <a:pt x="88" y="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0" name="Freeform 701">
                <a:extLst>
                  <a:ext uri="{FF2B5EF4-FFF2-40B4-BE49-F238E27FC236}">
                    <a16:creationId xmlns:a16="http://schemas.microsoft.com/office/drawing/2014/main" id="{CDBBD611-E5A8-4F1E-A1D8-8C29EAAC9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3092"/>
                <a:ext cx="4" cy="6"/>
              </a:xfrm>
              <a:custGeom>
                <a:avLst/>
                <a:gdLst>
                  <a:gd name="T0" fmla="*/ 0 w 100"/>
                  <a:gd name="T1" fmla="*/ 0 h 104"/>
                  <a:gd name="T2" fmla="*/ 0 w 100"/>
                  <a:gd name="T3" fmla="*/ 0 h 104"/>
                  <a:gd name="T4" fmla="*/ 0 w 100"/>
                  <a:gd name="T5" fmla="*/ 0 h 104"/>
                  <a:gd name="T6" fmla="*/ 0 w 100"/>
                  <a:gd name="T7" fmla="*/ 0 h 104"/>
                  <a:gd name="T8" fmla="*/ 0 w 100"/>
                  <a:gd name="T9" fmla="*/ 0 h 104"/>
                  <a:gd name="T10" fmla="*/ 0 w 100"/>
                  <a:gd name="T11" fmla="*/ 0 h 104"/>
                  <a:gd name="T12" fmla="*/ 0 w 100"/>
                  <a:gd name="T13" fmla="*/ 0 h 104"/>
                  <a:gd name="T14" fmla="*/ 0 w 100"/>
                  <a:gd name="T15" fmla="*/ 0 h 104"/>
                  <a:gd name="T16" fmla="*/ 0 w 100"/>
                  <a:gd name="T17" fmla="*/ 0 h 104"/>
                  <a:gd name="T18" fmla="*/ 0 w 100"/>
                  <a:gd name="T19" fmla="*/ 0 h 104"/>
                  <a:gd name="T20" fmla="*/ 0 w 100"/>
                  <a:gd name="T21" fmla="*/ 0 h 104"/>
                  <a:gd name="T22" fmla="*/ 0 w 100"/>
                  <a:gd name="T23" fmla="*/ 0 h 104"/>
                  <a:gd name="T24" fmla="*/ 0 w 100"/>
                  <a:gd name="T25" fmla="*/ 0 h 104"/>
                  <a:gd name="T26" fmla="*/ 0 w 100"/>
                  <a:gd name="T27" fmla="*/ 0 h 104"/>
                  <a:gd name="T28" fmla="*/ 0 w 100"/>
                  <a:gd name="T29" fmla="*/ 0 h 104"/>
                  <a:gd name="T30" fmla="*/ 0 w 100"/>
                  <a:gd name="T31" fmla="*/ 0 h 104"/>
                  <a:gd name="T32" fmla="*/ 0 w 100"/>
                  <a:gd name="T33" fmla="*/ 0 h 104"/>
                  <a:gd name="T34" fmla="*/ 0 w 100"/>
                  <a:gd name="T35" fmla="*/ 0 h 104"/>
                  <a:gd name="T36" fmla="*/ 0 w 100"/>
                  <a:gd name="T37" fmla="*/ 0 h 104"/>
                  <a:gd name="T38" fmla="*/ 0 w 100"/>
                  <a:gd name="T39" fmla="*/ 0 h 104"/>
                  <a:gd name="T40" fmla="*/ 0 w 100"/>
                  <a:gd name="T41" fmla="*/ 0 h 104"/>
                  <a:gd name="T42" fmla="*/ 0 w 100"/>
                  <a:gd name="T43" fmla="*/ 0 h 104"/>
                  <a:gd name="T44" fmla="*/ 0 w 100"/>
                  <a:gd name="T45" fmla="*/ 0 h 104"/>
                  <a:gd name="T46" fmla="*/ 0 w 100"/>
                  <a:gd name="T47" fmla="*/ 0 h 104"/>
                  <a:gd name="T48" fmla="*/ 0 w 100"/>
                  <a:gd name="T49" fmla="*/ 0 h 104"/>
                  <a:gd name="T50" fmla="*/ 0 w 100"/>
                  <a:gd name="T51" fmla="*/ 0 h 104"/>
                  <a:gd name="T52" fmla="*/ 0 w 100"/>
                  <a:gd name="T53" fmla="*/ 0 h 104"/>
                  <a:gd name="T54" fmla="*/ 0 w 100"/>
                  <a:gd name="T55" fmla="*/ 0 h 104"/>
                  <a:gd name="T56" fmla="*/ 0 w 100"/>
                  <a:gd name="T57" fmla="*/ 0 h 104"/>
                  <a:gd name="T58" fmla="*/ 0 w 100"/>
                  <a:gd name="T59" fmla="*/ 0 h 104"/>
                  <a:gd name="T60" fmla="*/ 0 w 100"/>
                  <a:gd name="T61" fmla="*/ 0 h 104"/>
                  <a:gd name="T62" fmla="*/ 0 w 100"/>
                  <a:gd name="T63" fmla="*/ 0 h 104"/>
                  <a:gd name="T64" fmla="*/ 0 w 100"/>
                  <a:gd name="T65" fmla="*/ 0 h 10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4"/>
                  <a:gd name="T101" fmla="*/ 100 w 100"/>
                  <a:gd name="T102" fmla="*/ 104 h 10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4">
                    <a:moveTo>
                      <a:pt x="50" y="104"/>
                    </a:moveTo>
                    <a:lnTo>
                      <a:pt x="40" y="103"/>
                    </a:lnTo>
                    <a:lnTo>
                      <a:pt x="31" y="99"/>
                    </a:lnTo>
                    <a:lnTo>
                      <a:pt x="23" y="95"/>
                    </a:lnTo>
                    <a:lnTo>
                      <a:pt x="15" y="89"/>
                    </a:lnTo>
                    <a:lnTo>
                      <a:pt x="8" y="80"/>
                    </a:lnTo>
                    <a:lnTo>
                      <a:pt x="4" y="72"/>
                    </a:lnTo>
                    <a:lnTo>
                      <a:pt x="1" y="62"/>
                    </a:lnTo>
                    <a:lnTo>
                      <a:pt x="0" y="52"/>
                    </a:lnTo>
                    <a:lnTo>
                      <a:pt x="1" y="41"/>
                    </a:lnTo>
                    <a:lnTo>
                      <a:pt x="4" y="32"/>
                    </a:lnTo>
                    <a:lnTo>
                      <a:pt x="8" y="23"/>
                    </a:lnTo>
                    <a:lnTo>
                      <a:pt x="15" y="15"/>
                    </a:lnTo>
                    <a:lnTo>
                      <a:pt x="23" y="9"/>
                    </a:lnTo>
                    <a:lnTo>
                      <a:pt x="31" y="5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70" y="5"/>
                    </a:lnTo>
                    <a:lnTo>
                      <a:pt x="78" y="9"/>
                    </a:lnTo>
                    <a:lnTo>
                      <a:pt x="86" y="15"/>
                    </a:lnTo>
                    <a:lnTo>
                      <a:pt x="92" y="23"/>
                    </a:lnTo>
                    <a:lnTo>
                      <a:pt x="96" y="32"/>
                    </a:lnTo>
                    <a:lnTo>
                      <a:pt x="99" y="41"/>
                    </a:lnTo>
                    <a:lnTo>
                      <a:pt x="100" y="52"/>
                    </a:lnTo>
                    <a:lnTo>
                      <a:pt x="99" y="62"/>
                    </a:lnTo>
                    <a:lnTo>
                      <a:pt x="96" y="72"/>
                    </a:lnTo>
                    <a:lnTo>
                      <a:pt x="92" y="80"/>
                    </a:lnTo>
                    <a:lnTo>
                      <a:pt x="86" y="89"/>
                    </a:lnTo>
                    <a:lnTo>
                      <a:pt x="78" y="95"/>
                    </a:lnTo>
                    <a:lnTo>
                      <a:pt x="70" y="99"/>
                    </a:lnTo>
                    <a:lnTo>
                      <a:pt x="60" y="103"/>
                    </a:lnTo>
                    <a:lnTo>
                      <a:pt x="50" y="104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1" name="Freeform 702">
                <a:extLst>
                  <a:ext uri="{FF2B5EF4-FFF2-40B4-BE49-F238E27FC236}">
                    <a16:creationId xmlns:a16="http://schemas.microsoft.com/office/drawing/2014/main" id="{A20BC184-C375-4C8F-A152-6349B5BD8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131"/>
                <a:ext cx="5" cy="5"/>
              </a:xfrm>
              <a:custGeom>
                <a:avLst/>
                <a:gdLst>
                  <a:gd name="T0" fmla="*/ 0 w 100"/>
                  <a:gd name="T1" fmla="*/ 0 h 103"/>
                  <a:gd name="T2" fmla="*/ 0 w 100"/>
                  <a:gd name="T3" fmla="*/ 0 h 103"/>
                  <a:gd name="T4" fmla="*/ 0 w 100"/>
                  <a:gd name="T5" fmla="*/ 0 h 103"/>
                  <a:gd name="T6" fmla="*/ 0 w 100"/>
                  <a:gd name="T7" fmla="*/ 0 h 103"/>
                  <a:gd name="T8" fmla="*/ 0 w 100"/>
                  <a:gd name="T9" fmla="*/ 0 h 103"/>
                  <a:gd name="T10" fmla="*/ 0 w 100"/>
                  <a:gd name="T11" fmla="*/ 0 h 103"/>
                  <a:gd name="T12" fmla="*/ 0 w 100"/>
                  <a:gd name="T13" fmla="*/ 0 h 103"/>
                  <a:gd name="T14" fmla="*/ 0 w 100"/>
                  <a:gd name="T15" fmla="*/ 0 h 103"/>
                  <a:gd name="T16" fmla="*/ 0 w 100"/>
                  <a:gd name="T17" fmla="*/ 0 h 103"/>
                  <a:gd name="T18" fmla="*/ 0 w 100"/>
                  <a:gd name="T19" fmla="*/ 0 h 103"/>
                  <a:gd name="T20" fmla="*/ 0 w 100"/>
                  <a:gd name="T21" fmla="*/ 0 h 103"/>
                  <a:gd name="T22" fmla="*/ 0 w 100"/>
                  <a:gd name="T23" fmla="*/ 0 h 103"/>
                  <a:gd name="T24" fmla="*/ 0 w 100"/>
                  <a:gd name="T25" fmla="*/ 0 h 103"/>
                  <a:gd name="T26" fmla="*/ 0 w 100"/>
                  <a:gd name="T27" fmla="*/ 0 h 103"/>
                  <a:gd name="T28" fmla="*/ 0 w 100"/>
                  <a:gd name="T29" fmla="*/ 0 h 103"/>
                  <a:gd name="T30" fmla="*/ 0 w 100"/>
                  <a:gd name="T31" fmla="*/ 0 h 103"/>
                  <a:gd name="T32" fmla="*/ 0 w 100"/>
                  <a:gd name="T33" fmla="*/ 0 h 103"/>
                  <a:gd name="T34" fmla="*/ 0 w 100"/>
                  <a:gd name="T35" fmla="*/ 0 h 103"/>
                  <a:gd name="T36" fmla="*/ 0 w 100"/>
                  <a:gd name="T37" fmla="*/ 0 h 103"/>
                  <a:gd name="T38" fmla="*/ 0 w 100"/>
                  <a:gd name="T39" fmla="*/ 0 h 103"/>
                  <a:gd name="T40" fmla="*/ 0 w 100"/>
                  <a:gd name="T41" fmla="*/ 0 h 103"/>
                  <a:gd name="T42" fmla="*/ 0 w 100"/>
                  <a:gd name="T43" fmla="*/ 0 h 103"/>
                  <a:gd name="T44" fmla="*/ 0 w 100"/>
                  <a:gd name="T45" fmla="*/ 0 h 103"/>
                  <a:gd name="T46" fmla="*/ 0 w 100"/>
                  <a:gd name="T47" fmla="*/ 0 h 103"/>
                  <a:gd name="T48" fmla="*/ 0 w 100"/>
                  <a:gd name="T49" fmla="*/ 0 h 103"/>
                  <a:gd name="T50" fmla="*/ 0 w 100"/>
                  <a:gd name="T51" fmla="*/ 0 h 103"/>
                  <a:gd name="T52" fmla="*/ 0 w 100"/>
                  <a:gd name="T53" fmla="*/ 0 h 103"/>
                  <a:gd name="T54" fmla="*/ 0 w 100"/>
                  <a:gd name="T55" fmla="*/ 0 h 103"/>
                  <a:gd name="T56" fmla="*/ 0 w 100"/>
                  <a:gd name="T57" fmla="*/ 0 h 103"/>
                  <a:gd name="T58" fmla="*/ 0 w 100"/>
                  <a:gd name="T59" fmla="*/ 0 h 103"/>
                  <a:gd name="T60" fmla="*/ 0 w 100"/>
                  <a:gd name="T61" fmla="*/ 0 h 103"/>
                  <a:gd name="T62" fmla="*/ 0 w 100"/>
                  <a:gd name="T63" fmla="*/ 0 h 103"/>
                  <a:gd name="T64" fmla="*/ 0 w 100"/>
                  <a:gd name="T65" fmla="*/ 0 h 1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0"/>
                  <a:gd name="T100" fmla="*/ 0 h 103"/>
                  <a:gd name="T101" fmla="*/ 100 w 100"/>
                  <a:gd name="T102" fmla="*/ 103 h 10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0" h="103">
                    <a:moveTo>
                      <a:pt x="50" y="103"/>
                    </a:moveTo>
                    <a:lnTo>
                      <a:pt x="39" y="102"/>
                    </a:lnTo>
                    <a:lnTo>
                      <a:pt x="30" y="99"/>
                    </a:lnTo>
                    <a:lnTo>
                      <a:pt x="22" y="95"/>
                    </a:lnTo>
                    <a:lnTo>
                      <a:pt x="14" y="88"/>
                    </a:lnTo>
                    <a:lnTo>
                      <a:pt x="8" y="80"/>
                    </a:lnTo>
                    <a:lnTo>
                      <a:pt x="4" y="71"/>
                    </a:lnTo>
                    <a:lnTo>
                      <a:pt x="1" y="62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4" y="31"/>
                    </a:lnTo>
                    <a:lnTo>
                      <a:pt x="8" y="23"/>
                    </a:lnTo>
                    <a:lnTo>
                      <a:pt x="14" y="15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39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69" y="4"/>
                    </a:lnTo>
                    <a:lnTo>
                      <a:pt x="77" y="8"/>
                    </a:lnTo>
                    <a:lnTo>
                      <a:pt x="85" y="15"/>
                    </a:lnTo>
                    <a:lnTo>
                      <a:pt x="91" y="23"/>
                    </a:lnTo>
                    <a:lnTo>
                      <a:pt x="96" y="31"/>
                    </a:lnTo>
                    <a:lnTo>
                      <a:pt x="99" y="41"/>
                    </a:lnTo>
                    <a:lnTo>
                      <a:pt x="100" y="51"/>
                    </a:lnTo>
                    <a:lnTo>
                      <a:pt x="99" y="62"/>
                    </a:lnTo>
                    <a:lnTo>
                      <a:pt x="96" y="71"/>
                    </a:lnTo>
                    <a:lnTo>
                      <a:pt x="91" y="80"/>
                    </a:lnTo>
                    <a:lnTo>
                      <a:pt x="85" y="88"/>
                    </a:lnTo>
                    <a:lnTo>
                      <a:pt x="77" y="95"/>
                    </a:lnTo>
                    <a:lnTo>
                      <a:pt x="69" y="99"/>
                    </a:lnTo>
                    <a:lnTo>
                      <a:pt x="60" y="102"/>
                    </a:lnTo>
                    <a:lnTo>
                      <a:pt x="50" y="10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2" name="Freeform 703">
                <a:extLst>
                  <a:ext uri="{FF2B5EF4-FFF2-40B4-BE49-F238E27FC236}">
                    <a16:creationId xmlns:a16="http://schemas.microsoft.com/office/drawing/2014/main" id="{4E02032D-3333-4267-8BAD-05E2CA45F1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094"/>
                <a:ext cx="2" cy="3"/>
              </a:xfrm>
              <a:custGeom>
                <a:avLst/>
                <a:gdLst>
                  <a:gd name="T0" fmla="*/ 0 w 55"/>
                  <a:gd name="T1" fmla="*/ 0 h 57"/>
                  <a:gd name="T2" fmla="*/ 0 w 55"/>
                  <a:gd name="T3" fmla="*/ 0 h 57"/>
                  <a:gd name="T4" fmla="*/ 0 w 55"/>
                  <a:gd name="T5" fmla="*/ 0 h 57"/>
                  <a:gd name="T6" fmla="*/ 0 w 55"/>
                  <a:gd name="T7" fmla="*/ 0 h 57"/>
                  <a:gd name="T8" fmla="*/ 0 w 55"/>
                  <a:gd name="T9" fmla="*/ 0 h 57"/>
                  <a:gd name="T10" fmla="*/ 0 w 55"/>
                  <a:gd name="T11" fmla="*/ 0 h 57"/>
                  <a:gd name="T12" fmla="*/ 0 w 55"/>
                  <a:gd name="T13" fmla="*/ 0 h 57"/>
                  <a:gd name="T14" fmla="*/ 0 w 55"/>
                  <a:gd name="T15" fmla="*/ 0 h 57"/>
                  <a:gd name="T16" fmla="*/ 0 w 55"/>
                  <a:gd name="T17" fmla="*/ 0 h 57"/>
                  <a:gd name="T18" fmla="*/ 0 w 55"/>
                  <a:gd name="T19" fmla="*/ 0 h 57"/>
                  <a:gd name="T20" fmla="*/ 0 w 55"/>
                  <a:gd name="T21" fmla="*/ 0 h 57"/>
                  <a:gd name="T22" fmla="*/ 0 w 55"/>
                  <a:gd name="T23" fmla="*/ 0 h 57"/>
                  <a:gd name="T24" fmla="*/ 0 w 55"/>
                  <a:gd name="T25" fmla="*/ 0 h 57"/>
                  <a:gd name="T26" fmla="*/ 0 w 55"/>
                  <a:gd name="T27" fmla="*/ 0 h 57"/>
                  <a:gd name="T28" fmla="*/ 0 w 55"/>
                  <a:gd name="T29" fmla="*/ 0 h 57"/>
                  <a:gd name="T30" fmla="*/ 0 w 55"/>
                  <a:gd name="T31" fmla="*/ 0 h 57"/>
                  <a:gd name="T32" fmla="*/ 0 w 55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7"/>
                  <a:gd name="T53" fmla="*/ 55 w 55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7">
                    <a:moveTo>
                      <a:pt x="28" y="57"/>
                    </a:moveTo>
                    <a:lnTo>
                      <a:pt x="16" y="55"/>
                    </a:lnTo>
                    <a:lnTo>
                      <a:pt x="8" y="49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7"/>
                    </a:lnTo>
                    <a:lnTo>
                      <a:pt x="8" y="8"/>
                    </a:lnTo>
                    <a:lnTo>
                      <a:pt x="16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7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9"/>
                    </a:lnTo>
                    <a:lnTo>
                      <a:pt x="39" y="55"/>
                    </a:lnTo>
                    <a:lnTo>
                      <a:pt x="28" y="57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3" name="Freeform 704">
                <a:extLst>
                  <a:ext uri="{FF2B5EF4-FFF2-40B4-BE49-F238E27FC236}">
                    <a16:creationId xmlns:a16="http://schemas.microsoft.com/office/drawing/2014/main" id="{2B453B14-3A70-455E-B02E-AF1C45C15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133"/>
                <a:ext cx="2" cy="3"/>
              </a:xfrm>
              <a:custGeom>
                <a:avLst/>
                <a:gdLst>
                  <a:gd name="T0" fmla="*/ 0 w 55"/>
                  <a:gd name="T1" fmla="*/ 0 h 56"/>
                  <a:gd name="T2" fmla="*/ 0 w 55"/>
                  <a:gd name="T3" fmla="*/ 0 h 56"/>
                  <a:gd name="T4" fmla="*/ 0 w 55"/>
                  <a:gd name="T5" fmla="*/ 0 h 56"/>
                  <a:gd name="T6" fmla="*/ 0 w 55"/>
                  <a:gd name="T7" fmla="*/ 0 h 56"/>
                  <a:gd name="T8" fmla="*/ 0 w 55"/>
                  <a:gd name="T9" fmla="*/ 0 h 56"/>
                  <a:gd name="T10" fmla="*/ 0 w 55"/>
                  <a:gd name="T11" fmla="*/ 0 h 56"/>
                  <a:gd name="T12" fmla="*/ 0 w 55"/>
                  <a:gd name="T13" fmla="*/ 0 h 56"/>
                  <a:gd name="T14" fmla="*/ 0 w 55"/>
                  <a:gd name="T15" fmla="*/ 0 h 56"/>
                  <a:gd name="T16" fmla="*/ 0 w 55"/>
                  <a:gd name="T17" fmla="*/ 0 h 56"/>
                  <a:gd name="T18" fmla="*/ 0 w 55"/>
                  <a:gd name="T19" fmla="*/ 0 h 56"/>
                  <a:gd name="T20" fmla="*/ 0 w 55"/>
                  <a:gd name="T21" fmla="*/ 0 h 56"/>
                  <a:gd name="T22" fmla="*/ 0 w 55"/>
                  <a:gd name="T23" fmla="*/ 0 h 56"/>
                  <a:gd name="T24" fmla="*/ 0 w 55"/>
                  <a:gd name="T25" fmla="*/ 0 h 56"/>
                  <a:gd name="T26" fmla="*/ 0 w 55"/>
                  <a:gd name="T27" fmla="*/ 0 h 56"/>
                  <a:gd name="T28" fmla="*/ 0 w 55"/>
                  <a:gd name="T29" fmla="*/ 0 h 56"/>
                  <a:gd name="T30" fmla="*/ 0 w 55"/>
                  <a:gd name="T31" fmla="*/ 0 h 56"/>
                  <a:gd name="T32" fmla="*/ 0 w 55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56"/>
                  <a:gd name="T53" fmla="*/ 55 w 55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56">
                    <a:moveTo>
                      <a:pt x="28" y="56"/>
                    </a:moveTo>
                    <a:lnTo>
                      <a:pt x="17" y="54"/>
                    </a:lnTo>
                    <a:lnTo>
                      <a:pt x="9" y="48"/>
                    </a:lnTo>
                    <a:lnTo>
                      <a:pt x="2" y="40"/>
                    </a:lnTo>
                    <a:lnTo>
                      <a:pt x="0" y="28"/>
                    </a:lnTo>
                    <a:lnTo>
                      <a:pt x="2" y="16"/>
                    </a:lnTo>
                    <a:lnTo>
                      <a:pt x="9" y="8"/>
                    </a:lnTo>
                    <a:lnTo>
                      <a:pt x="17" y="2"/>
                    </a:lnTo>
                    <a:lnTo>
                      <a:pt x="28" y="0"/>
                    </a:lnTo>
                    <a:lnTo>
                      <a:pt x="39" y="2"/>
                    </a:lnTo>
                    <a:lnTo>
                      <a:pt x="47" y="8"/>
                    </a:lnTo>
                    <a:lnTo>
                      <a:pt x="53" y="16"/>
                    </a:lnTo>
                    <a:lnTo>
                      <a:pt x="55" y="28"/>
                    </a:lnTo>
                    <a:lnTo>
                      <a:pt x="53" y="40"/>
                    </a:lnTo>
                    <a:lnTo>
                      <a:pt x="47" y="48"/>
                    </a:lnTo>
                    <a:lnTo>
                      <a:pt x="39" y="54"/>
                    </a:lnTo>
                    <a:lnTo>
                      <a:pt x="28" y="56"/>
                    </a:lnTo>
                    <a:close/>
                  </a:path>
                </a:pathLst>
              </a:custGeom>
              <a:solidFill>
                <a:srgbClr val="D1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4" name="Freeform 705">
                <a:extLst>
                  <a:ext uri="{FF2B5EF4-FFF2-40B4-BE49-F238E27FC236}">
                    <a16:creationId xmlns:a16="http://schemas.microsoft.com/office/drawing/2014/main" id="{4899F3BB-0E8A-45D4-932D-DEB04CE3B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076"/>
                <a:ext cx="29" cy="29"/>
              </a:xfrm>
              <a:custGeom>
                <a:avLst/>
                <a:gdLst>
                  <a:gd name="T0" fmla="*/ 0 w 624"/>
                  <a:gd name="T1" fmla="*/ 0 h 522"/>
                  <a:gd name="T2" fmla="*/ 0 w 624"/>
                  <a:gd name="T3" fmla="*/ 0 h 522"/>
                  <a:gd name="T4" fmla="*/ 0 w 624"/>
                  <a:gd name="T5" fmla="*/ 0 h 522"/>
                  <a:gd name="T6" fmla="*/ 0 w 624"/>
                  <a:gd name="T7" fmla="*/ 0 h 522"/>
                  <a:gd name="T8" fmla="*/ 0 w 624"/>
                  <a:gd name="T9" fmla="*/ 0 h 5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522"/>
                  <a:gd name="T17" fmla="*/ 624 w 624"/>
                  <a:gd name="T18" fmla="*/ 522 h 5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522">
                    <a:moveTo>
                      <a:pt x="498" y="0"/>
                    </a:moveTo>
                    <a:lnTo>
                      <a:pt x="0" y="222"/>
                    </a:lnTo>
                    <a:lnTo>
                      <a:pt x="125" y="522"/>
                    </a:lnTo>
                    <a:lnTo>
                      <a:pt x="624" y="301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5" name="Freeform 706">
                <a:extLst>
                  <a:ext uri="{FF2B5EF4-FFF2-40B4-BE49-F238E27FC236}">
                    <a16:creationId xmlns:a16="http://schemas.microsoft.com/office/drawing/2014/main" id="{02810E1F-7E0B-44E3-92CF-8B8B1A51F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7"/>
                <a:ext cx="27" cy="27"/>
              </a:xfrm>
              <a:custGeom>
                <a:avLst/>
                <a:gdLst>
                  <a:gd name="T0" fmla="*/ 0 w 589"/>
                  <a:gd name="T1" fmla="*/ 0 h 484"/>
                  <a:gd name="T2" fmla="*/ 0 w 589"/>
                  <a:gd name="T3" fmla="*/ 0 h 484"/>
                  <a:gd name="T4" fmla="*/ 0 w 589"/>
                  <a:gd name="T5" fmla="*/ 0 h 484"/>
                  <a:gd name="T6" fmla="*/ 0 w 589"/>
                  <a:gd name="T7" fmla="*/ 0 h 484"/>
                  <a:gd name="T8" fmla="*/ 0 w 589"/>
                  <a:gd name="T9" fmla="*/ 0 h 4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84"/>
                  <a:gd name="T17" fmla="*/ 589 w 589"/>
                  <a:gd name="T18" fmla="*/ 484 h 4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84">
                    <a:moveTo>
                      <a:pt x="474" y="0"/>
                    </a:moveTo>
                    <a:lnTo>
                      <a:pt x="0" y="211"/>
                    </a:lnTo>
                    <a:lnTo>
                      <a:pt x="114" y="484"/>
                    </a:lnTo>
                    <a:lnTo>
                      <a:pt x="589" y="27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6" name="Freeform 707">
                <a:extLst>
                  <a:ext uri="{FF2B5EF4-FFF2-40B4-BE49-F238E27FC236}">
                    <a16:creationId xmlns:a16="http://schemas.microsoft.com/office/drawing/2014/main" id="{1DF5346A-3EB7-4FF0-AD84-95526269F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078"/>
                <a:ext cx="27" cy="26"/>
              </a:xfrm>
              <a:custGeom>
                <a:avLst/>
                <a:gdLst>
                  <a:gd name="T0" fmla="*/ 0 w 583"/>
                  <a:gd name="T1" fmla="*/ 0 h 471"/>
                  <a:gd name="T2" fmla="*/ 0 w 583"/>
                  <a:gd name="T3" fmla="*/ 0 h 471"/>
                  <a:gd name="T4" fmla="*/ 0 w 583"/>
                  <a:gd name="T5" fmla="*/ 0 h 471"/>
                  <a:gd name="T6" fmla="*/ 0 w 583"/>
                  <a:gd name="T7" fmla="*/ 0 h 471"/>
                  <a:gd name="T8" fmla="*/ 0 w 583"/>
                  <a:gd name="T9" fmla="*/ 0 h 4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471"/>
                  <a:gd name="T17" fmla="*/ 583 w 583"/>
                  <a:gd name="T18" fmla="*/ 471 h 4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471">
                    <a:moveTo>
                      <a:pt x="473" y="0"/>
                    </a:moveTo>
                    <a:lnTo>
                      <a:pt x="0" y="211"/>
                    </a:lnTo>
                    <a:lnTo>
                      <a:pt x="108" y="471"/>
                    </a:lnTo>
                    <a:lnTo>
                      <a:pt x="583" y="260"/>
                    </a:lnTo>
                    <a:lnTo>
                      <a:pt x="473" y="0"/>
                    </a:lnTo>
                    <a:close/>
                  </a:path>
                </a:pathLst>
              </a:custGeom>
              <a:solidFill>
                <a:srgbClr val="87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7" name="Freeform 708">
                <a:extLst>
                  <a:ext uri="{FF2B5EF4-FFF2-40B4-BE49-F238E27FC236}">
                    <a16:creationId xmlns:a16="http://schemas.microsoft.com/office/drawing/2014/main" id="{20A731A0-461B-4F7B-AD0C-CED6BFAAE1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3"/>
              </a:xfrm>
              <a:custGeom>
                <a:avLst/>
                <a:gdLst>
                  <a:gd name="T0" fmla="*/ 0 w 227"/>
                  <a:gd name="T1" fmla="*/ 0 h 234"/>
                  <a:gd name="T2" fmla="*/ 0 w 227"/>
                  <a:gd name="T3" fmla="*/ 0 h 234"/>
                  <a:gd name="T4" fmla="*/ 0 w 227"/>
                  <a:gd name="T5" fmla="*/ 0 h 234"/>
                  <a:gd name="T6" fmla="*/ 0 w 227"/>
                  <a:gd name="T7" fmla="*/ 0 h 234"/>
                  <a:gd name="T8" fmla="*/ 0 w 227"/>
                  <a:gd name="T9" fmla="*/ 0 h 234"/>
                  <a:gd name="T10" fmla="*/ 0 w 227"/>
                  <a:gd name="T11" fmla="*/ 0 h 234"/>
                  <a:gd name="T12" fmla="*/ 0 w 227"/>
                  <a:gd name="T13" fmla="*/ 0 h 234"/>
                  <a:gd name="T14" fmla="*/ 0 w 227"/>
                  <a:gd name="T15" fmla="*/ 0 h 234"/>
                  <a:gd name="T16" fmla="*/ 0 w 227"/>
                  <a:gd name="T17" fmla="*/ 0 h 234"/>
                  <a:gd name="T18" fmla="*/ 0 w 227"/>
                  <a:gd name="T19" fmla="*/ 0 h 234"/>
                  <a:gd name="T20" fmla="*/ 0 w 227"/>
                  <a:gd name="T21" fmla="*/ 0 h 234"/>
                  <a:gd name="T22" fmla="*/ 0 w 227"/>
                  <a:gd name="T23" fmla="*/ 0 h 234"/>
                  <a:gd name="T24" fmla="*/ 0 w 227"/>
                  <a:gd name="T25" fmla="*/ 0 h 234"/>
                  <a:gd name="T26" fmla="*/ 0 w 227"/>
                  <a:gd name="T27" fmla="*/ 0 h 234"/>
                  <a:gd name="T28" fmla="*/ 0 w 227"/>
                  <a:gd name="T29" fmla="*/ 0 h 234"/>
                  <a:gd name="T30" fmla="*/ 0 w 227"/>
                  <a:gd name="T31" fmla="*/ 0 h 234"/>
                  <a:gd name="T32" fmla="*/ 0 w 227"/>
                  <a:gd name="T33" fmla="*/ 0 h 234"/>
                  <a:gd name="T34" fmla="*/ 0 w 227"/>
                  <a:gd name="T35" fmla="*/ 0 h 234"/>
                  <a:gd name="T36" fmla="*/ 0 w 227"/>
                  <a:gd name="T37" fmla="*/ 0 h 234"/>
                  <a:gd name="T38" fmla="*/ 0 w 227"/>
                  <a:gd name="T39" fmla="*/ 0 h 234"/>
                  <a:gd name="T40" fmla="*/ 0 w 227"/>
                  <a:gd name="T41" fmla="*/ 0 h 234"/>
                  <a:gd name="T42" fmla="*/ 0 w 227"/>
                  <a:gd name="T43" fmla="*/ 0 h 234"/>
                  <a:gd name="T44" fmla="*/ 0 w 227"/>
                  <a:gd name="T45" fmla="*/ 0 h 234"/>
                  <a:gd name="T46" fmla="*/ 0 w 227"/>
                  <a:gd name="T47" fmla="*/ 0 h 234"/>
                  <a:gd name="T48" fmla="*/ 0 w 227"/>
                  <a:gd name="T49" fmla="*/ 0 h 234"/>
                  <a:gd name="T50" fmla="*/ 0 w 227"/>
                  <a:gd name="T51" fmla="*/ 0 h 234"/>
                  <a:gd name="T52" fmla="*/ 0 w 227"/>
                  <a:gd name="T53" fmla="*/ 0 h 234"/>
                  <a:gd name="T54" fmla="*/ 0 w 227"/>
                  <a:gd name="T55" fmla="*/ 0 h 234"/>
                  <a:gd name="T56" fmla="*/ 0 w 227"/>
                  <a:gd name="T57" fmla="*/ 0 h 234"/>
                  <a:gd name="T58" fmla="*/ 0 w 227"/>
                  <a:gd name="T59" fmla="*/ 0 h 234"/>
                  <a:gd name="T60" fmla="*/ 0 w 227"/>
                  <a:gd name="T61" fmla="*/ 0 h 234"/>
                  <a:gd name="T62" fmla="*/ 0 w 227"/>
                  <a:gd name="T63" fmla="*/ 0 h 234"/>
                  <a:gd name="T64" fmla="*/ 0 w 227"/>
                  <a:gd name="T65" fmla="*/ 0 h 23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7"/>
                  <a:gd name="T100" fmla="*/ 0 h 234"/>
                  <a:gd name="T101" fmla="*/ 227 w 227"/>
                  <a:gd name="T102" fmla="*/ 234 h 23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7" h="234">
                    <a:moveTo>
                      <a:pt x="159" y="223"/>
                    </a:moveTo>
                    <a:lnTo>
                      <a:pt x="137" y="231"/>
                    </a:lnTo>
                    <a:lnTo>
                      <a:pt x="115" y="234"/>
                    </a:lnTo>
                    <a:lnTo>
                      <a:pt x="93" y="232"/>
                    </a:lnTo>
                    <a:lnTo>
                      <a:pt x="73" y="225"/>
                    </a:lnTo>
                    <a:lnTo>
                      <a:pt x="54" y="215"/>
                    </a:lnTo>
                    <a:lnTo>
                      <a:pt x="36" y="201"/>
                    </a:lnTo>
                    <a:lnTo>
                      <a:pt x="22" y="184"/>
                    </a:lnTo>
                    <a:lnTo>
                      <a:pt x="11" y="163"/>
                    </a:lnTo>
                    <a:lnTo>
                      <a:pt x="4" y="141"/>
                    </a:lnTo>
                    <a:lnTo>
                      <a:pt x="0" y="118"/>
                    </a:lnTo>
                    <a:lnTo>
                      <a:pt x="3" y="96"/>
                    </a:lnTo>
                    <a:lnTo>
                      <a:pt x="9" y="74"/>
                    </a:lnTo>
                    <a:lnTo>
                      <a:pt x="19" y="55"/>
                    </a:lnTo>
                    <a:lnTo>
                      <a:pt x="32" y="37"/>
                    </a:lnTo>
                    <a:lnTo>
                      <a:pt x="48" y="22"/>
                    </a:lnTo>
                    <a:lnTo>
                      <a:pt x="69" y="10"/>
                    </a:lnTo>
                    <a:lnTo>
                      <a:pt x="90" y="3"/>
                    </a:lnTo>
                    <a:lnTo>
                      <a:pt x="113" y="0"/>
                    </a:lnTo>
                    <a:lnTo>
                      <a:pt x="134" y="2"/>
                    </a:lnTo>
                    <a:lnTo>
                      <a:pt x="156" y="8"/>
                    </a:lnTo>
                    <a:lnTo>
                      <a:pt x="174" y="19"/>
                    </a:lnTo>
                    <a:lnTo>
                      <a:pt x="191" y="32"/>
                    </a:lnTo>
                    <a:lnTo>
                      <a:pt x="206" y="49"/>
                    </a:lnTo>
                    <a:lnTo>
                      <a:pt x="217" y="70"/>
                    </a:lnTo>
                    <a:lnTo>
                      <a:pt x="224" y="93"/>
                    </a:lnTo>
                    <a:lnTo>
                      <a:pt x="227" y="116"/>
                    </a:lnTo>
                    <a:lnTo>
                      <a:pt x="225" y="138"/>
                    </a:lnTo>
                    <a:lnTo>
                      <a:pt x="219" y="159"/>
                    </a:lnTo>
                    <a:lnTo>
                      <a:pt x="209" y="179"/>
                    </a:lnTo>
                    <a:lnTo>
                      <a:pt x="195" y="197"/>
                    </a:lnTo>
                    <a:lnTo>
                      <a:pt x="179" y="212"/>
                    </a:lnTo>
                    <a:lnTo>
                      <a:pt x="159" y="223"/>
                    </a:lnTo>
                    <a:close/>
                  </a:path>
                </a:pathLst>
              </a:custGeom>
              <a:solidFill>
                <a:srgbClr val="E333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8" name="Freeform 709">
                <a:extLst>
                  <a:ext uri="{FF2B5EF4-FFF2-40B4-BE49-F238E27FC236}">
                    <a16:creationId xmlns:a16="http://schemas.microsoft.com/office/drawing/2014/main" id="{C65C110C-2D25-4373-A1AA-9A92CCFAE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3082"/>
                <a:ext cx="10" cy="12"/>
              </a:xfrm>
              <a:custGeom>
                <a:avLst/>
                <a:gdLst>
                  <a:gd name="T0" fmla="*/ 0 w 208"/>
                  <a:gd name="T1" fmla="*/ 0 h 214"/>
                  <a:gd name="T2" fmla="*/ 0 w 208"/>
                  <a:gd name="T3" fmla="*/ 0 h 214"/>
                  <a:gd name="T4" fmla="*/ 0 w 208"/>
                  <a:gd name="T5" fmla="*/ 0 h 214"/>
                  <a:gd name="T6" fmla="*/ 0 w 208"/>
                  <a:gd name="T7" fmla="*/ 0 h 214"/>
                  <a:gd name="T8" fmla="*/ 0 w 208"/>
                  <a:gd name="T9" fmla="*/ 0 h 214"/>
                  <a:gd name="T10" fmla="*/ 0 w 208"/>
                  <a:gd name="T11" fmla="*/ 0 h 214"/>
                  <a:gd name="T12" fmla="*/ 0 w 208"/>
                  <a:gd name="T13" fmla="*/ 0 h 214"/>
                  <a:gd name="T14" fmla="*/ 0 w 208"/>
                  <a:gd name="T15" fmla="*/ 0 h 214"/>
                  <a:gd name="T16" fmla="*/ 0 w 208"/>
                  <a:gd name="T17" fmla="*/ 0 h 214"/>
                  <a:gd name="T18" fmla="*/ 0 w 208"/>
                  <a:gd name="T19" fmla="*/ 0 h 214"/>
                  <a:gd name="T20" fmla="*/ 0 w 208"/>
                  <a:gd name="T21" fmla="*/ 0 h 214"/>
                  <a:gd name="T22" fmla="*/ 0 w 208"/>
                  <a:gd name="T23" fmla="*/ 0 h 214"/>
                  <a:gd name="T24" fmla="*/ 0 w 208"/>
                  <a:gd name="T25" fmla="*/ 0 h 214"/>
                  <a:gd name="T26" fmla="*/ 0 w 208"/>
                  <a:gd name="T27" fmla="*/ 0 h 214"/>
                  <a:gd name="T28" fmla="*/ 0 w 208"/>
                  <a:gd name="T29" fmla="*/ 0 h 214"/>
                  <a:gd name="T30" fmla="*/ 0 w 208"/>
                  <a:gd name="T31" fmla="*/ 0 h 214"/>
                  <a:gd name="T32" fmla="*/ 0 w 208"/>
                  <a:gd name="T33" fmla="*/ 0 h 214"/>
                  <a:gd name="T34" fmla="*/ 0 w 208"/>
                  <a:gd name="T35" fmla="*/ 0 h 214"/>
                  <a:gd name="T36" fmla="*/ 0 w 208"/>
                  <a:gd name="T37" fmla="*/ 0 h 214"/>
                  <a:gd name="T38" fmla="*/ 0 w 208"/>
                  <a:gd name="T39" fmla="*/ 0 h 214"/>
                  <a:gd name="T40" fmla="*/ 0 w 208"/>
                  <a:gd name="T41" fmla="*/ 0 h 214"/>
                  <a:gd name="T42" fmla="*/ 0 w 208"/>
                  <a:gd name="T43" fmla="*/ 0 h 214"/>
                  <a:gd name="T44" fmla="*/ 0 w 208"/>
                  <a:gd name="T45" fmla="*/ 0 h 214"/>
                  <a:gd name="T46" fmla="*/ 0 w 208"/>
                  <a:gd name="T47" fmla="*/ 0 h 214"/>
                  <a:gd name="T48" fmla="*/ 0 w 208"/>
                  <a:gd name="T49" fmla="*/ 0 h 214"/>
                  <a:gd name="T50" fmla="*/ 0 w 208"/>
                  <a:gd name="T51" fmla="*/ 0 h 214"/>
                  <a:gd name="T52" fmla="*/ 0 w 208"/>
                  <a:gd name="T53" fmla="*/ 0 h 214"/>
                  <a:gd name="T54" fmla="*/ 0 w 208"/>
                  <a:gd name="T55" fmla="*/ 0 h 214"/>
                  <a:gd name="T56" fmla="*/ 0 w 208"/>
                  <a:gd name="T57" fmla="*/ 0 h 214"/>
                  <a:gd name="T58" fmla="*/ 0 w 208"/>
                  <a:gd name="T59" fmla="*/ 0 h 214"/>
                  <a:gd name="T60" fmla="*/ 0 w 208"/>
                  <a:gd name="T61" fmla="*/ 0 h 214"/>
                  <a:gd name="T62" fmla="*/ 0 w 208"/>
                  <a:gd name="T63" fmla="*/ 0 h 214"/>
                  <a:gd name="T64" fmla="*/ 0 w 208"/>
                  <a:gd name="T65" fmla="*/ 0 h 21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8"/>
                  <a:gd name="T100" fmla="*/ 0 h 214"/>
                  <a:gd name="T101" fmla="*/ 208 w 208"/>
                  <a:gd name="T102" fmla="*/ 214 h 21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8" h="214">
                    <a:moveTo>
                      <a:pt x="146" y="206"/>
                    </a:moveTo>
                    <a:lnTo>
                      <a:pt x="125" y="212"/>
                    </a:lnTo>
                    <a:lnTo>
                      <a:pt x="105" y="214"/>
                    </a:lnTo>
                    <a:lnTo>
                      <a:pt x="84" y="212"/>
                    </a:lnTo>
                    <a:lnTo>
                      <a:pt x="66" y="206"/>
                    </a:lnTo>
                    <a:lnTo>
                      <a:pt x="48" y="196"/>
                    </a:lnTo>
                    <a:lnTo>
                      <a:pt x="31" y="183"/>
                    </a:lnTo>
                    <a:lnTo>
                      <a:pt x="18" y="168"/>
                    </a:lnTo>
                    <a:lnTo>
                      <a:pt x="8" y="149"/>
                    </a:lnTo>
                    <a:lnTo>
                      <a:pt x="2" y="129"/>
                    </a:lnTo>
                    <a:lnTo>
                      <a:pt x="0" y="108"/>
                    </a:lnTo>
                    <a:lnTo>
                      <a:pt x="2" y="86"/>
                    </a:lnTo>
                    <a:lnTo>
                      <a:pt x="8" y="67"/>
                    </a:lnTo>
                    <a:lnTo>
                      <a:pt x="17" y="49"/>
                    </a:lnTo>
                    <a:lnTo>
                      <a:pt x="29" y="33"/>
                    </a:lnTo>
                    <a:lnTo>
                      <a:pt x="45" y="19"/>
                    </a:lnTo>
                    <a:lnTo>
                      <a:pt x="63" y="8"/>
                    </a:lnTo>
                    <a:lnTo>
                      <a:pt x="83" y="2"/>
                    </a:lnTo>
                    <a:lnTo>
                      <a:pt x="104" y="0"/>
                    </a:lnTo>
                    <a:lnTo>
                      <a:pt x="123" y="2"/>
                    </a:lnTo>
                    <a:lnTo>
                      <a:pt x="142" y="7"/>
                    </a:lnTo>
                    <a:lnTo>
                      <a:pt x="161" y="17"/>
                    </a:lnTo>
                    <a:lnTo>
                      <a:pt x="176" y="30"/>
                    </a:lnTo>
                    <a:lnTo>
                      <a:pt x="189" y="45"/>
                    </a:lnTo>
                    <a:lnTo>
                      <a:pt x="200" y="63"/>
                    </a:lnTo>
                    <a:lnTo>
                      <a:pt x="206" y="84"/>
                    </a:lnTo>
                    <a:lnTo>
                      <a:pt x="208" y="105"/>
                    </a:lnTo>
                    <a:lnTo>
                      <a:pt x="206" y="127"/>
                    </a:lnTo>
                    <a:lnTo>
                      <a:pt x="201" y="147"/>
                    </a:lnTo>
                    <a:lnTo>
                      <a:pt x="191" y="164"/>
                    </a:lnTo>
                    <a:lnTo>
                      <a:pt x="179" y="181"/>
                    </a:lnTo>
                    <a:lnTo>
                      <a:pt x="164" y="195"/>
                    </a:lnTo>
                    <a:lnTo>
                      <a:pt x="146" y="206"/>
                    </a:lnTo>
                    <a:close/>
                  </a:path>
                </a:pathLst>
              </a:custGeom>
              <a:solidFill>
                <a:srgbClr val="EB5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99" name="Freeform 710">
                <a:extLst>
                  <a:ext uri="{FF2B5EF4-FFF2-40B4-BE49-F238E27FC236}">
                    <a16:creationId xmlns:a16="http://schemas.microsoft.com/office/drawing/2014/main" id="{20EF13BE-78D4-4956-A995-A8155DBD86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89"/>
                  <a:gd name="T1" fmla="*/ 0 h 194"/>
                  <a:gd name="T2" fmla="*/ 0 w 189"/>
                  <a:gd name="T3" fmla="*/ 0 h 194"/>
                  <a:gd name="T4" fmla="*/ 0 w 189"/>
                  <a:gd name="T5" fmla="*/ 0 h 194"/>
                  <a:gd name="T6" fmla="*/ 0 w 189"/>
                  <a:gd name="T7" fmla="*/ 0 h 194"/>
                  <a:gd name="T8" fmla="*/ 0 w 189"/>
                  <a:gd name="T9" fmla="*/ 0 h 194"/>
                  <a:gd name="T10" fmla="*/ 0 w 189"/>
                  <a:gd name="T11" fmla="*/ 0 h 194"/>
                  <a:gd name="T12" fmla="*/ 0 w 189"/>
                  <a:gd name="T13" fmla="*/ 0 h 194"/>
                  <a:gd name="T14" fmla="*/ 0 w 189"/>
                  <a:gd name="T15" fmla="*/ 0 h 194"/>
                  <a:gd name="T16" fmla="*/ 0 w 189"/>
                  <a:gd name="T17" fmla="*/ 0 h 194"/>
                  <a:gd name="T18" fmla="*/ 0 w 189"/>
                  <a:gd name="T19" fmla="*/ 0 h 194"/>
                  <a:gd name="T20" fmla="*/ 0 w 189"/>
                  <a:gd name="T21" fmla="*/ 0 h 194"/>
                  <a:gd name="T22" fmla="*/ 0 w 189"/>
                  <a:gd name="T23" fmla="*/ 0 h 194"/>
                  <a:gd name="T24" fmla="*/ 0 w 189"/>
                  <a:gd name="T25" fmla="*/ 0 h 194"/>
                  <a:gd name="T26" fmla="*/ 0 w 189"/>
                  <a:gd name="T27" fmla="*/ 0 h 194"/>
                  <a:gd name="T28" fmla="*/ 0 w 189"/>
                  <a:gd name="T29" fmla="*/ 0 h 194"/>
                  <a:gd name="T30" fmla="*/ 0 w 189"/>
                  <a:gd name="T31" fmla="*/ 0 h 194"/>
                  <a:gd name="T32" fmla="*/ 0 w 189"/>
                  <a:gd name="T33" fmla="*/ 0 h 194"/>
                  <a:gd name="T34" fmla="*/ 0 w 189"/>
                  <a:gd name="T35" fmla="*/ 0 h 194"/>
                  <a:gd name="T36" fmla="*/ 0 w 189"/>
                  <a:gd name="T37" fmla="*/ 0 h 194"/>
                  <a:gd name="T38" fmla="*/ 0 w 189"/>
                  <a:gd name="T39" fmla="*/ 0 h 194"/>
                  <a:gd name="T40" fmla="*/ 0 w 189"/>
                  <a:gd name="T41" fmla="*/ 0 h 194"/>
                  <a:gd name="T42" fmla="*/ 0 w 189"/>
                  <a:gd name="T43" fmla="*/ 0 h 194"/>
                  <a:gd name="T44" fmla="*/ 0 w 189"/>
                  <a:gd name="T45" fmla="*/ 0 h 194"/>
                  <a:gd name="T46" fmla="*/ 0 w 189"/>
                  <a:gd name="T47" fmla="*/ 0 h 194"/>
                  <a:gd name="T48" fmla="*/ 0 w 189"/>
                  <a:gd name="T49" fmla="*/ 0 h 194"/>
                  <a:gd name="T50" fmla="*/ 0 w 189"/>
                  <a:gd name="T51" fmla="*/ 0 h 194"/>
                  <a:gd name="T52" fmla="*/ 0 w 189"/>
                  <a:gd name="T53" fmla="*/ 0 h 194"/>
                  <a:gd name="T54" fmla="*/ 0 w 189"/>
                  <a:gd name="T55" fmla="*/ 0 h 194"/>
                  <a:gd name="T56" fmla="*/ 0 w 189"/>
                  <a:gd name="T57" fmla="*/ 0 h 194"/>
                  <a:gd name="T58" fmla="*/ 0 w 189"/>
                  <a:gd name="T59" fmla="*/ 0 h 194"/>
                  <a:gd name="T60" fmla="*/ 0 w 189"/>
                  <a:gd name="T61" fmla="*/ 0 h 194"/>
                  <a:gd name="T62" fmla="*/ 0 w 189"/>
                  <a:gd name="T63" fmla="*/ 0 h 194"/>
                  <a:gd name="T64" fmla="*/ 0 w 189"/>
                  <a:gd name="T65" fmla="*/ 0 h 1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9"/>
                  <a:gd name="T100" fmla="*/ 0 h 194"/>
                  <a:gd name="T101" fmla="*/ 189 w 189"/>
                  <a:gd name="T102" fmla="*/ 194 h 1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9" h="194">
                    <a:moveTo>
                      <a:pt x="131" y="187"/>
                    </a:moveTo>
                    <a:lnTo>
                      <a:pt x="113" y="193"/>
                    </a:lnTo>
                    <a:lnTo>
                      <a:pt x="95" y="194"/>
                    </a:lnTo>
                    <a:lnTo>
                      <a:pt x="76" y="192"/>
                    </a:lnTo>
                    <a:lnTo>
                      <a:pt x="59" y="187"/>
                    </a:lnTo>
                    <a:lnTo>
                      <a:pt x="44" y="178"/>
                    </a:lnTo>
                    <a:lnTo>
                      <a:pt x="29" y="167"/>
                    </a:lnTo>
                    <a:lnTo>
                      <a:pt x="17" y="152"/>
                    </a:lnTo>
                    <a:lnTo>
                      <a:pt x="8" y="135"/>
                    </a:lnTo>
                    <a:lnTo>
                      <a:pt x="2" y="116"/>
                    </a:lnTo>
                    <a:lnTo>
                      <a:pt x="0" y="97"/>
                    </a:lnTo>
                    <a:lnTo>
                      <a:pt x="2" y="79"/>
                    </a:lnTo>
                    <a:lnTo>
                      <a:pt x="7" y="61"/>
                    </a:lnTo>
                    <a:lnTo>
                      <a:pt x="15" y="45"/>
                    </a:lnTo>
                    <a:lnTo>
                      <a:pt x="26" y="30"/>
                    </a:lnTo>
                    <a:lnTo>
                      <a:pt x="41" y="17"/>
                    </a:lnTo>
                    <a:lnTo>
                      <a:pt x="57" y="8"/>
                    </a:lnTo>
                    <a:lnTo>
                      <a:pt x="75" y="1"/>
                    </a:lnTo>
                    <a:lnTo>
                      <a:pt x="95" y="0"/>
                    </a:lnTo>
                    <a:lnTo>
                      <a:pt x="112" y="1"/>
                    </a:lnTo>
                    <a:lnTo>
                      <a:pt x="130" y="7"/>
                    </a:lnTo>
                    <a:lnTo>
                      <a:pt x="146" y="15"/>
                    </a:lnTo>
                    <a:lnTo>
                      <a:pt x="160" y="27"/>
                    </a:lnTo>
                    <a:lnTo>
                      <a:pt x="172" y="41"/>
                    </a:lnTo>
                    <a:lnTo>
                      <a:pt x="181" y="58"/>
                    </a:lnTo>
                    <a:lnTo>
                      <a:pt x="187" y="77"/>
                    </a:lnTo>
                    <a:lnTo>
                      <a:pt x="189" y="96"/>
                    </a:lnTo>
                    <a:lnTo>
                      <a:pt x="188" y="114"/>
                    </a:lnTo>
                    <a:lnTo>
                      <a:pt x="182" y="132"/>
                    </a:lnTo>
                    <a:lnTo>
                      <a:pt x="174" y="149"/>
                    </a:lnTo>
                    <a:lnTo>
                      <a:pt x="163" y="165"/>
                    </a:lnTo>
                    <a:lnTo>
                      <a:pt x="149" y="177"/>
                    </a:lnTo>
                    <a:lnTo>
                      <a:pt x="131" y="187"/>
                    </a:lnTo>
                    <a:close/>
                  </a:path>
                </a:pathLst>
              </a:custGeom>
              <a:solidFill>
                <a:srgbClr val="F087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0" name="Freeform 711">
                <a:extLst>
                  <a:ext uri="{FF2B5EF4-FFF2-40B4-BE49-F238E27FC236}">
                    <a16:creationId xmlns:a16="http://schemas.microsoft.com/office/drawing/2014/main" id="{675D823F-E4D7-4C98-ADE5-EE89A80B32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3083"/>
                <a:ext cx="8" cy="10"/>
              </a:xfrm>
              <a:custGeom>
                <a:avLst/>
                <a:gdLst>
                  <a:gd name="T0" fmla="*/ 0 w 171"/>
                  <a:gd name="T1" fmla="*/ 0 h 177"/>
                  <a:gd name="T2" fmla="*/ 0 w 171"/>
                  <a:gd name="T3" fmla="*/ 0 h 177"/>
                  <a:gd name="T4" fmla="*/ 0 w 171"/>
                  <a:gd name="T5" fmla="*/ 0 h 177"/>
                  <a:gd name="T6" fmla="*/ 0 w 171"/>
                  <a:gd name="T7" fmla="*/ 0 h 177"/>
                  <a:gd name="T8" fmla="*/ 0 w 171"/>
                  <a:gd name="T9" fmla="*/ 0 h 177"/>
                  <a:gd name="T10" fmla="*/ 0 w 171"/>
                  <a:gd name="T11" fmla="*/ 0 h 177"/>
                  <a:gd name="T12" fmla="*/ 0 w 171"/>
                  <a:gd name="T13" fmla="*/ 0 h 177"/>
                  <a:gd name="T14" fmla="*/ 0 w 171"/>
                  <a:gd name="T15" fmla="*/ 0 h 177"/>
                  <a:gd name="T16" fmla="*/ 0 w 171"/>
                  <a:gd name="T17" fmla="*/ 0 h 177"/>
                  <a:gd name="T18" fmla="*/ 0 w 171"/>
                  <a:gd name="T19" fmla="*/ 0 h 177"/>
                  <a:gd name="T20" fmla="*/ 0 w 171"/>
                  <a:gd name="T21" fmla="*/ 0 h 177"/>
                  <a:gd name="T22" fmla="*/ 0 w 171"/>
                  <a:gd name="T23" fmla="*/ 0 h 177"/>
                  <a:gd name="T24" fmla="*/ 0 w 171"/>
                  <a:gd name="T25" fmla="*/ 0 h 177"/>
                  <a:gd name="T26" fmla="*/ 0 w 171"/>
                  <a:gd name="T27" fmla="*/ 0 h 177"/>
                  <a:gd name="T28" fmla="*/ 0 w 171"/>
                  <a:gd name="T29" fmla="*/ 0 h 177"/>
                  <a:gd name="T30" fmla="*/ 0 w 171"/>
                  <a:gd name="T31" fmla="*/ 0 h 177"/>
                  <a:gd name="T32" fmla="*/ 0 w 171"/>
                  <a:gd name="T33" fmla="*/ 0 h 177"/>
                  <a:gd name="T34" fmla="*/ 0 w 171"/>
                  <a:gd name="T35" fmla="*/ 0 h 177"/>
                  <a:gd name="T36" fmla="*/ 0 w 171"/>
                  <a:gd name="T37" fmla="*/ 0 h 177"/>
                  <a:gd name="T38" fmla="*/ 0 w 171"/>
                  <a:gd name="T39" fmla="*/ 0 h 177"/>
                  <a:gd name="T40" fmla="*/ 0 w 171"/>
                  <a:gd name="T41" fmla="*/ 0 h 177"/>
                  <a:gd name="T42" fmla="*/ 0 w 171"/>
                  <a:gd name="T43" fmla="*/ 0 h 177"/>
                  <a:gd name="T44" fmla="*/ 0 w 171"/>
                  <a:gd name="T45" fmla="*/ 0 h 177"/>
                  <a:gd name="T46" fmla="*/ 0 w 171"/>
                  <a:gd name="T47" fmla="*/ 0 h 177"/>
                  <a:gd name="T48" fmla="*/ 0 w 171"/>
                  <a:gd name="T49" fmla="*/ 0 h 177"/>
                  <a:gd name="T50" fmla="*/ 0 w 171"/>
                  <a:gd name="T51" fmla="*/ 0 h 177"/>
                  <a:gd name="T52" fmla="*/ 0 w 171"/>
                  <a:gd name="T53" fmla="*/ 0 h 177"/>
                  <a:gd name="T54" fmla="*/ 0 w 171"/>
                  <a:gd name="T55" fmla="*/ 0 h 177"/>
                  <a:gd name="T56" fmla="*/ 0 w 171"/>
                  <a:gd name="T57" fmla="*/ 0 h 177"/>
                  <a:gd name="T58" fmla="*/ 0 w 171"/>
                  <a:gd name="T59" fmla="*/ 0 h 177"/>
                  <a:gd name="T60" fmla="*/ 0 w 171"/>
                  <a:gd name="T61" fmla="*/ 0 h 177"/>
                  <a:gd name="T62" fmla="*/ 0 w 171"/>
                  <a:gd name="T63" fmla="*/ 0 h 177"/>
                  <a:gd name="T64" fmla="*/ 0 w 171"/>
                  <a:gd name="T65" fmla="*/ 0 h 1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1"/>
                  <a:gd name="T100" fmla="*/ 0 h 177"/>
                  <a:gd name="T101" fmla="*/ 171 w 171"/>
                  <a:gd name="T102" fmla="*/ 177 h 17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1" h="177">
                    <a:moveTo>
                      <a:pt x="120" y="170"/>
                    </a:moveTo>
                    <a:lnTo>
                      <a:pt x="104" y="175"/>
                    </a:lnTo>
                    <a:lnTo>
                      <a:pt x="87" y="177"/>
                    </a:lnTo>
                    <a:lnTo>
                      <a:pt x="70" y="176"/>
                    </a:lnTo>
                    <a:lnTo>
                      <a:pt x="54" y="171"/>
                    </a:lnTo>
                    <a:lnTo>
                      <a:pt x="40" y="163"/>
                    </a:lnTo>
                    <a:lnTo>
                      <a:pt x="27" y="152"/>
                    </a:lnTo>
                    <a:lnTo>
                      <a:pt x="15" y="139"/>
                    </a:lnTo>
                    <a:lnTo>
                      <a:pt x="7" y="124"/>
                    </a:lnTo>
                    <a:lnTo>
                      <a:pt x="2" y="107"/>
                    </a:lnTo>
                    <a:lnTo>
                      <a:pt x="0" y="90"/>
                    </a:lnTo>
                    <a:lnTo>
                      <a:pt x="2" y="72"/>
                    </a:lnTo>
                    <a:lnTo>
                      <a:pt x="7" y="56"/>
                    </a:lnTo>
                    <a:lnTo>
                      <a:pt x="14" y="41"/>
                    </a:lnTo>
                    <a:lnTo>
                      <a:pt x="25" y="28"/>
                    </a:lnTo>
                    <a:lnTo>
                      <a:pt x="37" y="16"/>
                    </a:lnTo>
                    <a:lnTo>
                      <a:pt x="52" y="8"/>
                    </a:lnTo>
                    <a:lnTo>
                      <a:pt x="68" y="2"/>
                    </a:lnTo>
                    <a:lnTo>
                      <a:pt x="85" y="0"/>
                    </a:lnTo>
                    <a:lnTo>
                      <a:pt x="102" y="2"/>
                    </a:lnTo>
                    <a:lnTo>
                      <a:pt x="117" y="7"/>
                    </a:lnTo>
                    <a:lnTo>
                      <a:pt x="132" y="15"/>
                    </a:lnTo>
                    <a:lnTo>
                      <a:pt x="145" y="25"/>
                    </a:lnTo>
                    <a:lnTo>
                      <a:pt x="156" y="38"/>
                    </a:lnTo>
                    <a:lnTo>
                      <a:pt x="164" y="53"/>
                    </a:lnTo>
                    <a:lnTo>
                      <a:pt x="169" y="70"/>
                    </a:lnTo>
                    <a:lnTo>
                      <a:pt x="171" y="88"/>
                    </a:lnTo>
                    <a:lnTo>
                      <a:pt x="169" y="105"/>
                    </a:lnTo>
                    <a:lnTo>
                      <a:pt x="165" y="121"/>
                    </a:lnTo>
                    <a:lnTo>
                      <a:pt x="158" y="136"/>
                    </a:lnTo>
                    <a:lnTo>
                      <a:pt x="148" y="150"/>
                    </a:lnTo>
                    <a:lnTo>
                      <a:pt x="136" y="162"/>
                    </a:lnTo>
                    <a:lnTo>
                      <a:pt x="120" y="170"/>
                    </a:lnTo>
                    <a:close/>
                  </a:path>
                </a:pathLst>
              </a:custGeom>
              <a:solidFill>
                <a:srgbClr val="F5AE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1" name="Freeform 712">
                <a:extLst>
                  <a:ext uri="{FF2B5EF4-FFF2-40B4-BE49-F238E27FC236}">
                    <a16:creationId xmlns:a16="http://schemas.microsoft.com/office/drawing/2014/main" id="{7BCE942F-FCDC-494D-8D04-6C4B1BD67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7" cy="9"/>
              </a:xfrm>
              <a:custGeom>
                <a:avLst/>
                <a:gdLst>
                  <a:gd name="T0" fmla="*/ 0 w 152"/>
                  <a:gd name="T1" fmla="*/ 0 h 156"/>
                  <a:gd name="T2" fmla="*/ 0 w 152"/>
                  <a:gd name="T3" fmla="*/ 0 h 156"/>
                  <a:gd name="T4" fmla="*/ 0 w 152"/>
                  <a:gd name="T5" fmla="*/ 0 h 156"/>
                  <a:gd name="T6" fmla="*/ 0 w 152"/>
                  <a:gd name="T7" fmla="*/ 0 h 156"/>
                  <a:gd name="T8" fmla="*/ 0 w 152"/>
                  <a:gd name="T9" fmla="*/ 0 h 156"/>
                  <a:gd name="T10" fmla="*/ 0 w 152"/>
                  <a:gd name="T11" fmla="*/ 0 h 156"/>
                  <a:gd name="T12" fmla="*/ 0 w 152"/>
                  <a:gd name="T13" fmla="*/ 0 h 156"/>
                  <a:gd name="T14" fmla="*/ 0 w 152"/>
                  <a:gd name="T15" fmla="*/ 0 h 156"/>
                  <a:gd name="T16" fmla="*/ 0 w 152"/>
                  <a:gd name="T17" fmla="*/ 0 h 156"/>
                  <a:gd name="T18" fmla="*/ 0 w 152"/>
                  <a:gd name="T19" fmla="*/ 0 h 156"/>
                  <a:gd name="T20" fmla="*/ 0 w 152"/>
                  <a:gd name="T21" fmla="*/ 0 h 156"/>
                  <a:gd name="T22" fmla="*/ 0 w 152"/>
                  <a:gd name="T23" fmla="*/ 0 h 156"/>
                  <a:gd name="T24" fmla="*/ 0 w 152"/>
                  <a:gd name="T25" fmla="*/ 0 h 156"/>
                  <a:gd name="T26" fmla="*/ 0 w 152"/>
                  <a:gd name="T27" fmla="*/ 0 h 156"/>
                  <a:gd name="T28" fmla="*/ 0 w 152"/>
                  <a:gd name="T29" fmla="*/ 0 h 156"/>
                  <a:gd name="T30" fmla="*/ 0 w 152"/>
                  <a:gd name="T31" fmla="*/ 0 h 156"/>
                  <a:gd name="T32" fmla="*/ 0 w 152"/>
                  <a:gd name="T33" fmla="*/ 0 h 156"/>
                  <a:gd name="T34" fmla="*/ 0 w 152"/>
                  <a:gd name="T35" fmla="*/ 0 h 156"/>
                  <a:gd name="T36" fmla="*/ 0 w 152"/>
                  <a:gd name="T37" fmla="*/ 0 h 156"/>
                  <a:gd name="T38" fmla="*/ 0 w 152"/>
                  <a:gd name="T39" fmla="*/ 0 h 156"/>
                  <a:gd name="T40" fmla="*/ 0 w 152"/>
                  <a:gd name="T41" fmla="*/ 0 h 156"/>
                  <a:gd name="T42" fmla="*/ 0 w 152"/>
                  <a:gd name="T43" fmla="*/ 0 h 156"/>
                  <a:gd name="T44" fmla="*/ 0 w 152"/>
                  <a:gd name="T45" fmla="*/ 0 h 156"/>
                  <a:gd name="T46" fmla="*/ 0 w 152"/>
                  <a:gd name="T47" fmla="*/ 0 h 156"/>
                  <a:gd name="T48" fmla="*/ 0 w 152"/>
                  <a:gd name="T49" fmla="*/ 0 h 156"/>
                  <a:gd name="T50" fmla="*/ 0 w 152"/>
                  <a:gd name="T51" fmla="*/ 0 h 156"/>
                  <a:gd name="T52" fmla="*/ 0 w 152"/>
                  <a:gd name="T53" fmla="*/ 0 h 156"/>
                  <a:gd name="T54" fmla="*/ 0 w 152"/>
                  <a:gd name="T55" fmla="*/ 0 h 156"/>
                  <a:gd name="T56" fmla="*/ 0 w 152"/>
                  <a:gd name="T57" fmla="*/ 0 h 156"/>
                  <a:gd name="T58" fmla="*/ 0 w 152"/>
                  <a:gd name="T59" fmla="*/ 0 h 156"/>
                  <a:gd name="T60" fmla="*/ 0 w 152"/>
                  <a:gd name="T61" fmla="*/ 0 h 156"/>
                  <a:gd name="T62" fmla="*/ 0 w 152"/>
                  <a:gd name="T63" fmla="*/ 0 h 156"/>
                  <a:gd name="T64" fmla="*/ 0 w 152"/>
                  <a:gd name="T65" fmla="*/ 0 h 1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52"/>
                  <a:gd name="T100" fmla="*/ 0 h 156"/>
                  <a:gd name="T101" fmla="*/ 152 w 152"/>
                  <a:gd name="T102" fmla="*/ 156 h 1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52" h="156">
                    <a:moveTo>
                      <a:pt x="106" y="149"/>
                    </a:moveTo>
                    <a:lnTo>
                      <a:pt x="92" y="155"/>
                    </a:lnTo>
                    <a:lnTo>
                      <a:pt x="77" y="156"/>
                    </a:lnTo>
                    <a:lnTo>
                      <a:pt x="63" y="155"/>
                    </a:lnTo>
                    <a:lnTo>
                      <a:pt x="48" y="150"/>
                    </a:lnTo>
                    <a:lnTo>
                      <a:pt x="35" y="143"/>
                    </a:lnTo>
                    <a:lnTo>
                      <a:pt x="24" y="133"/>
                    </a:lnTo>
                    <a:lnTo>
                      <a:pt x="14" y="122"/>
                    </a:lnTo>
                    <a:lnTo>
                      <a:pt x="6" y="108"/>
                    </a:lnTo>
                    <a:lnTo>
                      <a:pt x="2" y="93"/>
                    </a:lnTo>
                    <a:lnTo>
                      <a:pt x="0" y="78"/>
                    </a:lnTo>
                    <a:lnTo>
                      <a:pt x="1" y="63"/>
                    </a:lnTo>
                    <a:lnTo>
                      <a:pt x="5" y="49"/>
                    </a:lnTo>
                    <a:lnTo>
                      <a:pt x="13" y="35"/>
                    </a:lnTo>
                    <a:lnTo>
                      <a:pt x="22" y="24"/>
                    </a:lnTo>
                    <a:lnTo>
                      <a:pt x="33" y="13"/>
                    </a:lnTo>
                    <a:lnTo>
                      <a:pt x="46" y="6"/>
                    </a:lnTo>
                    <a:lnTo>
                      <a:pt x="60" y="1"/>
                    </a:lnTo>
                    <a:lnTo>
                      <a:pt x="76" y="0"/>
                    </a:lnTo>
                    <a:lnTo>
                      <a:pt x="90" y="1"/>
                    </a:lnTo>
                    <a:lnTo>
                      <a:pt x="104" y="5"/>
                    </a:lnTo>
                    <a:lnTo>
                      <a:pt x="118" y="11"/>
                    </a:lnTo>
                    <a:lnTo>
                      <a:pt x="129" y="21"/>
                    </a:lnTo>
                    <a:lnTo>
                      <a:pt x="139" y="32"/>
                    </a:lnTo>
                    <a:lnTo>
                      <a:pt x="146" y="46"/>
                    </a:lnTo>
                    <a:lnTo>
                      <a:pt x="150" y="61"/>
                    </a:lnTo>
                    <a:lnTo>
                      <a:pt x="152" y="77"/>
                    </a:lnTo>
                    <a:lnTo>
                      <a:pt x="151" y="91"/>
                    </a:lnTo>
                    <a:lnTo>
                      <a:pt x="147" y="106"/>
                    </a:lnTo>
                    <a:lnTo>
                      <a:pt x="140" y="120"/>
                    </a:lnTo>
                    <a:lnTo>
                      <a:pt x="131" y="131"/>
                    </a:lnTo>
                    <a:lnTo>
                      <a:pt x="120" y="142"/>
                    </a:lnTo>
                    <a:lnTo>
                      <a:pt x="106" y="149"/>
                    </a:lnTo>
                    <a:close/>
                  </a:path>
                </a:pathLst>
              </a:custGeom>
              <a:solidFill>
                <a:srgbClr val="FAD6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2" name="Freeform 713">
                <a:extLst>
                  <a:ext uri="{FF2B5EF4-FFF2-40B4-BE49-F238E27FC236}">
                    <a16:creationId xmlns:a16="http://schemas.microsoft.com/office/drawing/2014/main" id="{A844EFB3-D8FB-4268-A04D-755BFC68D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3083"/>
                <a:ext cx="6" cy="8"/>
              </a:xfrm>
              <a:custGeom>
                <a:avLst/>
                <a:gdLst>
                  <a:gd name="T0" fmla="*/ 0 w 134"/>
                  <a:gd name="T1" fmla="*/ 0 h 139"/>
                  <a:gd name="T2" fmla="*/ 0 w 134"/>
                  <a:gd name="T3" fmla="*/ 0 h 139"/>
                  <a:gd name="T4" fmla="*/ 0 w 134"/>
                  <a:gd name="T5" fmla="*/ 0 h 139"/>
                  <a:gd name="T6" fmla="*/ 0 w 134"/>
                  <a:gd name="T7" fmla="*/ 0 h 139"/>
                  <a:gd name="T8" fmla="*/ 0 w 134"/>
                  <a:gd name="T9" fmla="*/ 0 h 139"/>
                  <a:gd name="T10" fmla="*/ 0 w 134"/>
                  <a:gd name="T11" fmla="*/ 0 h 139"/>
                  <a:gd name="T12" fmla="*/ 0 w 134"/>
                  <a:gd name="T13" fmla="*/ 0 h 139"/>
                  <a:gd name="T14" fmla="*/ 0 w 134"/>
                  <a:gd name="T15" fmla="*/ 0 h 139"/>
                  <a:gd name="T16" fmla="*/ 0 w 134"/>
                  <a:gd name="T17" fmla="*/ 0 h 139"/>
                  <a:gd name="T18" fmla="*/ 0 w 134"/>
                  <a:gd name="T19" fmla="*/ 0 h 139"/>
                  <a:gd name="T20" fmla="*/ 0 w 134"/>
                  <a:gd name="T21" fmla="*/ 0 h 139"/>
                  <a:gd name="T22" fmla="*/ 0 w 134"/>
                  <a:gd name="T23" fmla="*/ 0 h 139"/>
                  <a:gd name="T24" fmla="*/ 0 w 134"/>
                  <a:gd name="T25" fmla="*/ 0 h 139"/>
                  <a:gd name="T26" fmla="*/ 0 w 134"/>
                  <a:gd name="T27" fmla="*/ 0 h 139"/>
                  <a:gd name="T28" fmla="*/ 0 w 134"/>
                  <a:gd name="T29" fmla="*/ 0 h 139"/>
                  <a:gd name="T30" fmla="*/ 0 w 134"/>
                  <a:gd name="T31" fmla="*/ 0 h 139"/>
                  <a:gd name="T32" fmla="*/ 0 w 134"/>
                  <a:gd name="T33" fmla="*/ 0 h 139"/>
                  <a:gd name="T34" fmla="*/ 0 w 134"/>
                  <a:gd name="T35" fmla="*/ 0 h 139"/>
                  <a:gd name="T36" fmla="*/ 0 w 134"/>
                  <a:gd name="T37" fmla="*/ 0 h 139"/>
                  <a:gd name="T38" fmla="*/ 0 w 134"/>
                  <a:gd name="T39" fmla="*/ 0 h 139"/>
                  <a:gd name="T40" fmla="*/ 0 w 134"/>
                  <a:gd name="T41" fmla="*/ 0 h 139"/>
                  <a:gd name="T42" fmla="*/ 0 w 134"/>
                  <a:gd name="T43" fmla="*/ 0 h 139"/>
                  <a:gd name="T44" fmla="*/ 0 w 134"/>
                  <a:gd name="T45" fmla="*/ 0 h 139"/>
                  <a:gd name="T46" fmla="*/ 0 w 134"/>
                  <a:gd name="T47" fmla="*/ 0 h 139"/>
                  <a:gd name="T48" fmla="*/ 0 w 134"/>
                  <a:gd name="T49" fmla="*/ 0 h 139"/>
                  <a:gd name="T50" fmla="*/ 0 w 134"/>
                  <a:gd name="T51" fmla="*/ 0 h 139"/>
                  <a:gd name="T52" fmla="*/ 0 w 134"/>
                  <a:gd name="T53" fmla="*/ 0 h 139"/>
                  <a:gd name="T54" fmla="*/ 0 w 134"/>
                  <a:gd name="T55" fmla="*/ 0 h 139"/>
                  <a:gd name="T56" fmla="*/ 0 w 134"/>
                  <a:gd name="T57" fmla="*/ 0 h 139"/>
                  <a:gd name="T58" fmla="*/ 0 w 134"/>
                  <a:gd name="T59" fmla="*/ 0 h 139"/>
                  <a:gd name="T60" fmla="*/ 0 w 134"/>
                  <a:gd name="T61" fmla="*/ 0 h 139"/>
                  <a:gd name="T62" fmla="*/ 0 w 134"/>
                  <a:gd name="T63" fmla="*/ 0 h 139"/>
                  <a:gd name="T64" fmla="*/ 0 w 134"/>
                  <a:gd name="T65" fmla="*/ 0 h 13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4"/>
                  <a:gd name="T100" fmla="*/ 0 h 139"/>
                  <a:gd name="T101" fmla="*/ 134 w 134"/>
                  <a:gd name="T102" fmla="*/ 139 h 13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4" h="139">
                    <a:moveTo>
                      <a:pt x="93" y="134"/>
                    </a:moveTo>
                    <a:lnTo>
                      <a:pt x="80" y="138"/>
                    </a:lnTo>
                    <a:lnTo>
                      <a:pt x="68" y="139"/>
                    </a:lnTo>
                    <a:lnTo>
                      <a:pt x="55" y="138"/>
                    </a:lnTo>
                    <a:lnTo>
                      <a:pt x="42" y="134"/>
                    </a:lnTo>
                    <a:lnTo>
                      <a:pt x="30" y="127"/>
                    </a:lnTo>
                    <a:lnTo>
                      <a:pt x="20" y="119"/>
                    </a:lnTo>
                    <a:lnTo>
                      <a:pt x="12" y="109"/>
                    </a:lnTo>
                    <a:lnTo>
                      <a:pt x="5" y="97"/>
                    </a:lnTo>
                    <a:lnTo>
                      <a:pt x="1" y="83"/>
                    </a:lnTo>
                    <a:lnTo>
                      <a:pt x="0" y="70"/>
                    </a:lnTo>
                    <a:lnTo>
                      <a:pt x="1" y="57"/>
                    </a:lnTo>
                    <a:lnTo>
                      <a:pt x="5" y="44"/>
                    </a:lnTo>
                    <a:lnTo>
                      <a:pt x="11" y="31"/>
                    </a:lnTo>
                    <a:lnTo>
                      <a:pt x="19" y="21"/>
                    </a:lnTo>
                    <a:lnTo>
                      <a:pt x="28" y="12"/>
                    </a:lnTo>
                    <a:lnTo>
                      <a:pt x="40" y="5"/>
                    </a:lnTo>
                    <a:lnTo>
                      <a:pt x="54" y="1"/>
                    </a:lnTo>
                    <a:lnTo>
                      <a:pt x="66" y="0"/>
                    </a:lnTo>
                    <a:lnTo>
                      <a:pt x="79" y="1"/>
                    </a:lnTo>
                    <a:lnTo>
                      <a:pt x="91" y="5"/>
                    </a:lnTo>
                    <a:lnTo>
                      <a:pt x="104" y="11"/>
                    </a:lnTo>
                    <a:lnTo>
                      <a:pt x="114" y="20"/>
                    </a:lnTo>
                    <a:lnTo>
                      <a:pt x="122" y="29"/>
                    </a:lnTo>
                    <a:lnTo>
                      <a:pt x="129" y="42"/>
                    </a:lnTo>
                    <a:lnTo>
                      <a:pt x="133" y="56"/>
                    </a:lnTo>
                    <a:lnTo>
                      <a:pt x="134" y="68"/>
                    </a:lnTo>
                    <a:lnTo>
                      <a:pt x="133" y="82"/>
                    </a:lnTo>
                    <a:lnTo>
                      <a:pt x="129" y="95"/>
                    </a:lnTo>
                    <a:lnTo>
                      <a:pt x="123" y="107"/>
                    </a:lnTo>
                    <a:lnTo>
                      <a:pt x="115" y="118"/>
                    </a:lnTo>
                    <a:lnTo>
                      <a:pt x="106" y="126"/>
                    </a:lnTo>
                    <a:lnTo>
                      <a:pt x="93" y="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3" name="Freeform 714">
                <a:extLst>
                  <a:ext uri="{FF2B5EF4-FFF2-40B4-BE49-F238E27FC236}">
                    <a16:creationId xmlns:a16="http://schemas.microsoft.com/office/drawing/2014/main" id="{641605EE-62AF-48A4-884B-F5CB6B89A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93"/>
                <a:ext cx="1" cy="2"/>
              </a:xfrm>
              <a:custGeom>
                <a:avLst/>
                <a:gdLst>
                  <a:gd name="T0" fmla="*/ 0 w 21"/>
                  <a:gd name="T1" fmla="*/ 0 h 33"/>
                  <a:gd name="T2" fmla="*/ 0 w 21"/>
                  <a:gd name="T3" fmla="*/ 0 h 33"/>
                  <a:gd name="T4" fmla="*/ 0 w 21"/>
                  <a:gd name="T5" fmla="*/ 0 h 33"/>
                  <a:gd name="T6" fmla="*/ 0 w 21"/>
                  <a:gd name="T7" fmla="*/ 0 h 33"/>
                  <a:gd name="T8" fmla="*/ 0 w 21"/>
                  <a:gd name="T9" fmla="*/ 0 h 33"/>
                  <a:gd name="T10" fmla="*/ 0 w 21"/>
                  <a:gd name="T11" fmla="*/ 0 h 33"/>
                  <a:gd name="T12" fmla="*/ 0 w 21"/>
                  <a:gd name="T13" fmla="*/ 0 h 33"/>
                  <a:gd name="T14" fmla="*/ 0 w 21"/>
                  <a:gd name="T15" fmla="*/ 0 h 33"/>
                  <a:gd name="T16" fmla="*/ 0 w 21"/>
                  <a:gd name="T17" fmla="*/ 0 h 33"/>
                  <a:gd name="T18" fmla="*/ 0 w 21"/>
                  <a:gd name="T19" fmla="*/ 0 h 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33"/>
                  <a:gd name="T32" fmla="*/ 21 w 21"/>
                  <a:gd name="T33" fmla="*/ 33 h 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33">
                    <a:moveTo>
                      <a:pt x="11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5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8" y="31"/>
                    </a:lnTo>
                    <a:lnTo>
                      <a:pt x="14" y="33"/>
                    </a:lnTo>
                    <a:lnTo>
                      <a:pt x="21" y="3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4" name="Freeform 715">
                <a:extLst>
                  <a:ext uri="{FF2B5EF4-FFF2-40B4-BE49-F238E27FC236}">
                    <a16:creationId xmlns:a16="http://schemas.microsoft.com/office/drawing/2014/main" id="{37F739E1-5A79-41C4-8553-F9A194949E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89"/>
                <a:ext cx="3" cy="6"/>
              </a:xfrm>
              <a:custGeom>
                <a:avLst/>
                <a:gdLst>
                  <a:gd name="T0" fmla="*/ 0 w 75"/>
                  <a:gd name="T1" fmla="*/ 0 h 98"/>
                  <a:gd name="T2" fmla="*/ 0 w 75"/>
                  <a:gd name="T3" fmla="*/ 0 h 98"/>
                  <a:gd name="T4" fmla="*/ 0 w 75"/>
                  <a:gd name="T5" fmla="*/ 0 h 98"/>
                  <a:gd name="T6" fmla="*/ 0 w 75"/>
                  <a:gd name="T7" fmla="*/ 0 h 98"/>
                  <a:gd name="T8" fmla="*/ 0 w 75"/>
                  <a:gd name="T9" fmla="*/ 0 h 98"/>
                  <a:gd name="T10" fmla="*/ 0 w 75"/>
                  <a:gd name="T11" fmla="*/ 0 h 98"/>
                  <a:gd name="T12" fmla="*/ 0 w 75"/>
                  <a:gd name="T13" fmla="*/ 0 h 98"/>
                  <a:gd name="T14" fmla="*/ 0 w 75"/>
                  <a:gd name="T15" fmla="*/ 0 h 98"/>
                  <a:gd name="T16" fmla="*/ 0 w 75"/>
                  <a:gd name="T17" fmla="*/ 0 h 98"/>
                  <a:gd name="T18" fmla="*/ 0 w 75"/>
                  <a:gd name="T19" fmla="*/ 0 h 98"/>
                  <a:gd name="T20" fmla="*/ 0 w 75"/>
                  <a:gd name="T21" fmla="*/ 0 h 98"/>
                  <a:gd name="T22" fmla="*/ 0 w 75"/>
                  <a:gd name="T23" fmla="*/ 0 h 98"/>
                  <a:gd name="T24" fmla="*/ 0 w 75"/>
                  <a:gd name="T25" fmla="*/ 0 h 98"/>
                  <a:gd name="T26" fmla="*/ 0 w 75"/>
                  <a:gd name="T27" fmla="*/ 0 h 98"/>
                  <a:gd name="T28" fmla="*/ 0 w 75"/>
                  <a:gd name="T29" fmla="*/ 0 h 98"/>
                  <a:gd name="T30" fmla="*/ 0 w 75"/>
                  <a:gd name="T31" fmla="*/ 0 h 98"/>
                  <a:gd name="T32" fmla="*/ 0 w 75"/>
                  <a:gd name="T33" fmla="*/ 0 h 98"/>
                  <a:gd name="T34" fmla="*/ 0 w 75"/>
                  <a:gd name="T35" fmla="*/ 0 h 98"/>
                  <a:gd name="T36" fmla="*/ 0 w 75"/>
                  <a:gd name="T37" fmla="*/ 0 h 98"/>
                  <a:gd name="T38" fmla="*/ 0 w 75"/>
                  <a:gd name="T39" fmla="*/ 0 h 98"/>
                  <a:gd name="T40" fmla="*/ 0 w 75"/>
                  <a:gd name="T41" fmla="*/ 0 h 9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"/>
                  <a:gd name="T64" fmla="*/ 0 h 98"/>
                  <a:gd name="T65" fmla="*/ 75 w 75"/>
                  <a:gd name="T66" fmla="*/ 98 h 9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" h="98">
                    <a:moveTo>
                      <a:pt x="40" y="12"/>
                    </a:moveTo>
                    <a:lnTo>
                      <a:pt x="40" y="12"/>
                    </a:lnTo>
                    <a:lnTo>
                      <a:pt x="42" y="22"/>
                    </a:lnTo>
                    <a:lnTo>
                      <a:pt x="42" y="28"/>
                    </a:lnTo>
                    <a:lnTo>
                      <a:pt x="39" y="37"/>
                    </a:lnTo>
                    <a:lnTo>
                      <a:pt x="36" y="43"/>
                    </a:lnTo>
                    <a:lnTo>
                      <a:pt x="30" y="49"/>
                    </a:lnTo>
                    <a:lnTo>
                      <a:pt x="21" y="57"/>
                    </a:lnTo>
                    <a:lnTo>
                      <a:pt x="12" y="61"/>
                    </a:lnTo>
                    <a:lnTo>
                      <a:pt x="0" y="66"/>
                    </a:lnTo>
                    <a:lnTo>
                      <a:pt x="10" y="98"/>
                    </a:lnTo>
                    <a:lnTo>
                      <a:pt x="26" y="92"/>
                    </a:lnTo>
                    <a:lnTo>
                      <a:pt x="39" y="84"/>
                    </a:lnTo>
                    <a:lnTo>
                      <a:pt x="50" y="74"/>
                    </a:lnTo>
                    <a:lnTo>
                      <a:pt x="63" y="64"/>
                    </a:lnTo>
                    <a:lnTo>
                      <a:pt x="70" y="49"/>
                    </a:lnTo>
                    <a:lnTo>
                      <a:pt x="75" y="34"/>
                    </a:lnTo>
                    <a:lnTo>
                      <a:pt x="75" y="18"/>
                    </a:lnTo>
                    <a:lnTo>
                      <a:pt x="71" y="0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5" name="Freeform 716">
                <a:extLst>
                  <a:ext uri="{FF2B5EF4-FFF2-40B4-BE49-F238E27FC236}">
                    <a16:creationId xmlns:a16="http://schemas.microsoft.com/office/drawing/2014/main" id="{60C379D2-535E-4763-B93E-12B386C1D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0" y="3087"/>
                <a:ext cx="5" cy="3"/>
              </a:xfrm>
              <a:custGeom>
                <a:avLst/>
                <a:gdLst>
                  <a:gd name="T0" fmla="*/ 0 w 108"/>
                  <a:gd name="T1" fmla="*/ 0 h 49"/>
                  <a:gd name="T2" fmla="*/ 0 w 108"/>
                  <a:gd name="T3" fmla="*/ 0 h 49"/>
                  <a:gd name="T4" fmla="*/ 0 w 108"/>
                  <a:gd name="T5" fmla="*/ 0 h 49"/>
                  <a:gd name="T6" fmla="*/ 0 w 108"/>
                  <a:gd name="T7" fmla="*/ 0 h 49"/>
                  <a:gd name="T8" fmla="*/ 0 w 108"/>
                  <a:gd name="T9" fmla="*/ 0 h 49"/>
                  <a:gd name="T10" fmla="*/ 0 w 108"/>
                  <a:gd name="T11" fmla="*/ 0 h 49"/>
                  <a:gd name="T12" fmla="*/ 0 w 108"/>
                  <a:gd name="T13" fmla="*/ 0 h 49"/>
                  <a:gd name="T14" fmla="*/ 0 w 108"/>
                  <a:gd name="T15" fmla="*/ 0 h 49"/>
                  <a:gd name="T16" fmla="*/ 0 w 108"/>
                  <a:gd name="T17" fmla="*/ 0 h 49"/>
                  <a:gd name="T18" fmla="*/ 0 w 108"/>
                  <a:gd name="T19" fmla="*/ 0 h 49"/>
                  <a:gd name="T20" fmla="*/ 0 w 108"/>
                  <a:gd name="T21" fmla="*/ 0 h 49"/>
                  <a:gd name="T22" fmla="*/ 0 w 108"/>
                  <a:gd name="T23" fmla="*/ 0 h 49"/>
                  <a:gd name="T24" fmla="*/ 0 w 108"/>
                  <a:gd name="T25" fmla="*/ 0 h 49"/>
                  <a:gd name="T26" fmla="*/ 0 w 108"/>
                  <a:gd name="T27" fmla="*/ 0 h 49"/>
                  <a:gd name="T28" fmla="*/ 0 w 108"/>
                  <a:gd name="T29" fmla="*/ 0 h 49"/>
                  <a:gd name="T30" fmla="*/ 0 w 108"/>
                  <a:gd name="T31" fmla="*/ 0 h 49"/>
                  <a:gd name="T32" fmla="*/ 0 w 108"/>
                  <a:gd name="T33" fmla="*/ 0 h 49"/>
                  <a:gd name="T34" fmla="*/ 0 w 108"/>
                  <a:gd name="T35" fmla="*/ 0 h 49"/>
                  <a:gd name="T36" fmla="*/ 0 w 108"/>
                  <a:gd name="T37" fmla="*/ 0 h 49"/>
                  <a:gd name="T38" fmla="*/ 0 w 108"/>
                  <a:gd name="T39" fmla="*/ 0 h 49"/>
                  <a:gd name="T40" fmla="*/ 0 w 108"/>
                  <a:gd name="T41" fmla="*/ 0 h 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49"/>
                  <a:gd name="T65" fmla="*/ 108 w 108"/>
                  <a:gd name="T66" fmla="*/ 49 h 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49">
                    <a:moveTo>
                      <a:pt x="20" y="43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6" y="35"/>
                    </a:lnTo>
                    <a:lnTo>
                      <a:pt x="45" y="33"/>
                    </a:lnTo>
                    <a:lnTo>
                      <a:pt x="54" y="33"/>
                    </a:lnTo>
                    <a:lnTo>
                      <a:pt x="62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49"/>
                    </a:lnTo>
                    <a:lnTo>
                      <a:pt x="108" y="37"/>
                    </a:lnTo>
                    <a:lnTo>
                      <a:pt x="98" y="22"/>
                    </a:lnTo>
                    <a:lnTo>
                      <a:pt x="87" y="11"/>
                    </a:lnTo>
                    <a:lnTo>
                      <a:pt x="74" y="4"/>
                    </a:lnTo>
                    <a:lnTo>
                      <a:pt x="58" y="0"/>
                    </a:lnTo>
                    <a:lnTo>
                      <a:pt x="41" y="0"/>
                    </a:lnTo>
                    <a:lnTo>
                      <a:pt x="26" y="3"/>
                    </a:lnTo>
                    <a:lnTo>
                      <a:pt x="13" y="9"/>
                    </a:lnTo>
                    <a:lnTo>
                      <a:pt x="0" y="18"/>
                    </a:lnTo>
                    <a:lnTo>
                      <a:pt x="20" y="43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6" name="Freeform 717">
                <a:extLst>
                  <a:ext uri="{FF2B5EF4-FFF2-40B4-BE49-F238E27FC236}">
                    <a16:creationId xmlns:a16="http://schemas.microsoft.com/office/drawing/2014/main" id="{D38B806E-A07B-4B05-8039-A059C8FDA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8"/>
                <a:ext cx="3" cy="8"/>
              </a:xfrm>
              <a:custGeom>
                <a:avLst/>
                <a:gdLst>
                  <a:gd name="T0" fmla="*/ 0 w 69"/>
                  <a:gd name="T1" fmla="*/ 0 h 129"/>
                  <a:gd name="T2" fmla="*/ 0 w 69"/>
                  <a:gd name="T3" fmla="*/ 0 h 129"/>
                  <a:gd name="T4" fmla="*/ 0 w 69"/>
                  <a:gd name="T5" fmla="*/ 0 h 129"/>
                  <a:gd name="T6" fmla="*/ 0 w 69"/>
                  <a:gd name="T7" fmla="*/ 0 h 129"/>
                  <a:gd name="T8" fmla="*/ 0 w 69"/>
                  <a:gd name="T9" fmla="*/ 0 h 129"/>
                  <a:gd name="T10" fmla="*/ 0 w 69"/>
                  <a:gd name="T11" fmla="*/ 0 h 129"/>
                  <a:gd name="T12" fmla="*/ 0 w 69"/>
                  <a:gd name="T13" fmla="*/ 0 h 129"/>
                  <a:gd name="T14" fmla="*/ 0 w 69"/>
                  <a:gd name="T15" fmla="*/ 0 h 129"/>
                  <a:gd name="T16" fmla="*/ 0 w 69"/>
                  <a:gd name="T17" fmla="*/ 0 h 129"/>
                  <a:gd name="T18" fmla="*/ 0 w 69"/>
                  <a:gd name="T19" fmla="*/ 0 h 129"/>
                  <a:gd name="T20" fmla="*/ 0 w 69"/>
                  <a:gd name="T21" fmla="*/ 0 h 129"/>
                  <a:gd name="T22" fmla="*/ 0 w 69"/>
                  <a:gd name="T23" fmla="*/ 0 h 129"/>
                  <a:gd name="T24" fmla="*/ 0 w 69"/>
                  <a:gd name="T25" fmla="*/ 0 h 129"/>
                  <a:gd name="T26" fmla="*/ 0 w 69"/>
                  <a:gd name="T27" fmla="*/ 0 h 129"/>
                  <a:gd name="T28" fmla="*/ 0 w 69"/>
                  <a:gd name="T29" fmla="*/ 0 h 129"/>
                  <a:gd name="T30" fmla="*/ 0 w 69"/>
                  <a:gd name="T31" fmla="*/ 0 h 129"/>
                  <a:gd name="T32" fmla="*/ 0 w 69"/>
                  <a:gd name="T33" fmla="*/ 0 h 129"/>
                  <a:gd name="T34" fmla="*/ 0 w 69"/>
                  <a:gd name="T35" fmla="*/ 0 h 129"/>
                  <a:gd name="T36" fmla="*/ 0 w 69"/>
                  <a:gd name="T37" fmla="*/ 0 h 129"/>
                  <a:gd name="T38" fmla="*/ 0 w 69"/>
                  <a:gd name="T39" fmla="*/ 0 h 129"/>
                  <a:gd name="T40" fmla="*/ 0 w 69"/>
                  <a:gd name="T41" fmla="*/ 0 h 1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29"/>
                  <a:gd name="T65" fmla="*/ 69 w 69"/>
                  <a:gd name="T66" fmla="*/ 129 h 1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29">
                    <a:moveTo>
                      <a:pt x="36" y="112"/>
                    </a:moveTo>
                    <a:lnTo>
                      <a:pt x="36" y="112"/>
                    </a:lnTo>
                    <a:lnTo>
                      <a:pt x="33" y="104"/>
                    </a:lnTo>
                    <a:lnTo>
                      <a:pt x="32" y="95"/>
                    </a:lnTo>
                    <a:lnTo>
                      <a:pt x="34" y="83"/>
                    </a:lnTo>
                    <a:lnTo>
                      <a:pt x="38" y="69"/>
                    </a:lnTo>
                    <a:lnTo>
                      <a:pt x="44" y="58"/>
                    </a:lnTo>
                    <a:lnTo>
                      <a:pt x="52" y="44"/>
                    </a:lnTo>
                    <a:lnTo>
                      <a:pt x="60" y="34"/>
                    </a:lnTo>
                    <a:lnTo>
                      <a:pt x="69" y="25"/>
                    </a:lnTo>
                    <a:lnTo>
                      <a:pt x="49" y="0"/>
                    </a:lnTo>
                    <a:lnTo>
                      <a:pt x="37" y="11"/>
                    </a:lnTo>
                    <a:lnTo>
                      <a:pt x="25" y="25"/>
                    </a:lnTo>
                    <a:lnTo>
                      <a:pt x="16" y="41"/>
                    </a:lnTo>
                    <a:lnTo>
                      <a:pt x="8" y="57"/>
                    </a:lnTo>
                    <a:lnTo>
                      <a:pt x="2" y="75"/>
                    </a:lnTo>
                    <a:lnTo>
                      <a:pt x="0" y="92"/>
                    </a:lnTo>
                    <a:lnTo>
                      <a:pt x="1" y="112"/>
                    </a:lnTo>
                    <a:lnTo>
                      <a:pt x="8" y="129"/>
                    </a:lnTo>
                    <a:lnTo>
                      <a:pt x="36" y="112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7" name="Freeform 718">
                <a:extLst>
                  <a:ext uri="{FF2B5EF4-FFF2-40B4-BE49-F238E27FC236}">
                    <a16:creationId xmlns:a16="http://schemas.microsoft.com/office/drawing/2014/main" id="{035F9184-D2E8-4E64-AC9A-3C632F91C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95"/>
                <a:ext cx="5" cy="4"/>
              </a:xfrm>
              <a:custGeom>
                <a:avLst/>
                <a:gdLst>
                  <a:gd name="T0" fmla="*/ 0 w 117"/>
                  <a:gd name="T1" fmla="*/ 0 h 76"/>
                  <a:gd name="T2" fmla="*/ 0 w 117"/>
                  <a:gd name="T3" fmla="*/ 0 h 76"/>
                  <a:gd name="T4" fmla="*/ 0 w 117"/>
                  <a:gd name="T5" fmla="*/ 0 h 76"/>
                  <a:gd name="T6" fmla="*/ 0 w 117"/>
                  <a:gd name="T7" fmla="*/ 0 h 76"/>
                  <a:gd name="T8" fmla="*/ 0 w 117"/>
                  <a:gd name="T9" fmla="*/ 0 h 76"/>
                  <a:gd name="T10" fmla="*/ 0 w 117"/>
                  <a:gd name="T11" fmla="*/ 0 h 76"/>
                  <a:gd name="T12" fmla="*/ 0 w 117"/>
                  <a:gd name="T13" fmla="*/ 0 h 76"/>
                  <a:gd name="T14" fmla="*/ 0 w 117"/>
                  <a:gd name="T15" fmla="*/ 0 h 76"/>
                  <a:gd name="T16" fmla="*/ 0 w 117"/>
                  <a:gd name="T17" fmla="*/ 0 h 76"/>
                  <a:gd name="T18" fmla="*/ 0 w 117"/>
                  <a:gd name="T19" fmla="*/ 0 h 76"/>
                  <a:gd name="T20" fmla="*/ 0 w 117"/>
                  <a:gd name="T21" fmla="*/ 0 h 76"/>
                  <a:gd name="T22" fmla="*/ 0 w 117"/>
                  <a:gd name="T23" fmla="*/ 0 h 76"/>
                  <a:gd name="T24" fmla="*/ 0 w 117"/>
                  <a:gd name="T25" fmla="*/ 0 h 76"/>
                  <a:gd name="T26" fmla="*/ 0 w 117"/>
                  <a:gd name="T27" fmla="*/ 0 h 76"/>
                  <a:gd name="T28" fmla="*/ 0 w 117"/>
                  <a:gd name="T29" fmla="*/ 0 h 76"/>
                  <a:gd name="T30" fmla="*/ 0 w 117"/>
                  <a:gd name="T31" fmla="*/ 0 h 76"/>
                  <a:gd name="T32" fmla="*/ 0 w 117"/>
                  <a:gd name="T33" fmla="*/ 0 h 76"/>
                  <a:gd name="T34" fmla="*/ 0 w 117"/>
                  <a:gd name="T35" fmla="*/ 0 h 76"/>
                  <a:gd name="T36" fmla="*/ 0 w 117"/>
                  <a:gd name="T37" fmla="*/ 0 h 76"/>
                  <a:gd name="T38" fmla="*/ 0 w 117"/>
                  <a:gd name="T39" fmla="*/ 0 h 76"/>
                  <a:gd name="T40" fmla="*/ 0 w 117"/>
                  <a:gd name="T41" fmla="*/ 0 h 7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6"/>
                  <a:gd name="T65" fmla="*/ 117 w 117"/>
                  <a:gd name="T66" fmla="*/ 76 h 7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6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3" y="43"/>
                    </a:lnTo>
                    <a:lnTo>
                      <a:pt x="72" y="42"/>
                    </a:lnTo>
                    <a:lnTo>
                      <a:pt x="62" y="36"/>
                    </a:lnTo>
                    <a:lnTo>
                      <a:pt x="52" y="30"/>
                    </a:lnTo>
                    <a:lnTo>
                      <a:pt x="43" y="23"/>
                    </a:lnTo>
                    <a:lnTo>
                      <a:pt x="35" y="13"/>
                    </a:lnTo>
                    <a:lnTo>
                      <a:pt x="28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0" y="46"/>
                    </a:lnTo>
                    <a:lnTo>
                      <a:pt x="33" y="57"/>
                    </a:lnTo>
                    <a:lnTo>
                      <a:pt x="48" y="66"/>
                    </a:lnTo>
                    <a:lnTo>
                      <a:pt x="64" y="73"/>
                    </a:lnTo>
                    <a:lnTo>
                      <a:pt x="81" y="76"/>
                    </a:lnTo>
                    <a:lnTo>
                      <a:pt x="98" y="76"/>
                    </a:lnTo>
                    <a:lnTo>
                      <a:pt x="117" y="72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8" name="Freeform 719">
                <a:extLst>
                  <a:ext uri="{FF2B5EF4-FFF2-40B4-BE49-F238E27FC236}">
                    <a16:creationId xmlns:a16="http://schemas.microsoft.com/office/drawing/2014/main" id="{F8895D7C-9752-4F39-BA36-9010483CD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4"/>
                <a:ext cx="4" cy="5"/>
              </a:xfrm>
              <a:custGeom>
                <a:avLst/>
                <a:gdLst>
                  <a:gd name="T0" fmla="*/ 0 w 79"/>
                  <a:gd name="T1" fmla="*/ 0 h 88"/>
                  <a:gd name="T2" fmla="*/ 0 w 79"/>
                  <a:gd name="T3" fmla="*/ 0 h 88"/>
                  <a:gd name="T4" fmla="*/ 0 w 79"/>
                  <a:gd name="T5" fmla="*/ 0 h 88"/>
                  <a:gd name="T6" fmla="*/ 0 w 79"/>
                  <a:gd name="T7" fmla="*/ 0 h 88"/>
                  <a:gd name="T8" fmla="*/ 0 w 79"/>
                  <a:gd name="T9" fmla="*/ 0 h 88"/>
                  <a:gd name="T10" fmla="*/ 0 w 79"/>
                  <a:gd name="T11" fmla="*/ 0 h 88"/>
                  <a:gd name="T12" fmla="*/ 0 w 79"/>
                  <a:gd name="T13" fmla="*/ 0 h 88"/>
                  <a:gd name="T14" fmla="*/ 0 w 79"/>
                  <a:gd name="T15" fmla="*/ 0 h 88"/>
                  <a:gd name="T16" fmla="*/ 0 w 79"/>
                  <a:gd name="T17" fmla="*/ 0 h 88"/>
                  <a:gd name="T18" fmla="*/ 0 w 79"/>
                  <a:gd name="T19" fmla="*/ 0 h 88"/>
                  <a:gd name="T20" fmla="*/ 0 w 79"/>
                  <a:gd name="T21" fmla="*/ 0 h 88"/>
                  <a:gd name="T22" fmla="*/ 0 w 79"/>
                  <a:gd name="T23" fmla="*/ 0 h 88"/>
                  <a:gd name="T24" fmla="*/ 0 w 79"/>
                  <a:gd name="T25" fmla="*/ 0 h 88"/>
                  <a:gd name="T26" fmla="*/ 0 w 79"/>
                  <a:gd name="T27" fmla="*/ 0 h 88"/>
                  <a:gd name="T28" fmla="*/ 0 w 79"/>
                  <a:gd name="T29" fmla="*/ 0 h 88"/>
                  <a:gd name="T30" fmla="*/ 0 w 79"/>
                  <a:gd name="T31" fmla="*/ 0 h 88"/>
                  <a:gd name="T32" fmla="*/ 0 w 79"/>
                  <a:gd name="T33" fmla="*/ 0 h 88"/>
                  <a:gd name="T34" fmla="*/ 0 w 79"/>
                  <a:gd name="T35" fmla="*/ 0 h 88"/>
                  <a:gd name="T36" fmla="*/ 0 w 79"/>
                  <a:gd name="T37" fmla="*/ 0 h 8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9"/>
                  <a:gd name="T58" fmla="*/ 0 h 88"/>
                  <a:gd name="T59" fmla="*/ 79 w 79"/>
                  <a:gd name="T60" fmla="*/ 88 h 8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9" h="88">
                    <a:moveTo>
                      <a:pt x="47" y="0"/>
                    </a:moveTo>
                    <a:lnTo>
                      <a:pt x="46" y="8"/>
                    </a:lnTo>
                    <a:lnTo>
                      <a:pt x="44" y="15"/>
                    </a:lnTo>
                    <a:lnTo>
                      <a:pt x="40" y="24"/>
                    </a:lnTo>
                    <a:lnTo>
                      <a:pt x="35" y="32"/>
                    </a:lnTo>
                    <a:lnTo>
                      <a:pt x="28" y="39"/>
                    </a:lnTo>
                    <a:lnTo>
                      <a:pt x="21" y="46"/>
                    </a:lnTo>
                    <a:lnTo>
                      <a:pt x="11" y="52"/>
                    </a:lnTo>
                    <a:lnTo>
                      <a:pt x="0" y="57"/>
                    </a:lnTo>
                    <a:lnTo>
                      <a:pt x="10" y="88"/>
                    </a:lnTo>
                    <a:lnTo>
                      <a:pt x="25" y="82"/>
                    </a:lnTo>
                    <a:lnTo>
                      <a:pt x="40" y="73"/>
                    </a:lnTo>
                    <a:lnTo>
                      <a:pt x="51" y="64"/>
                    </a:lnTo>
                    <a:lnTo>
                      <a:pt x="61" y="53"/>
                    </a:lnTo>
                    <a:lnTo>
                      <a:pt x="68" y="41"/>
                    </a:lnTo>
                    <a:lnTo>
                      <a:pt x="74" y="28"/>
                    </a:lnTo>
                    <a:lnTo>
                      <a:pt x="78" y="14"/>
                    </a:lnTo>
                    <a:lnTo>
                      <a:pt x="79" y="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9" name="Freeform 720">
                <a:extLst>
                  <a:ext uri="{FF2B5EF4-FFF2-40B4-BE49-F238E27FC236}">
                    <a16:creationId xmlns:a16="http://schemas.microsoft.com/office/drawing/2014/main" id="{D0484619-DD96-4F06-BFE3-9836EFE42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7"/>
                <a:ext cx="2" cy="1"/>
              </a:xfrm>
              <a:custGeom>
                <a:avLst/>
                <a:gdLst>
                  <a:gd name="T0" fmla="*/ 0 w 32"/>
                  <a:gd name="T1" fmla="*/ 0 h 18"/>
                  <a:gd name="T2" fmla="*/ 0 w 32"/>
                  <a:gd name="T3" fmla="*/ 0 h 18"/>
                  <a:gd name="T4" fmla="*/ 0 w 32"/>
                  <a:gd name="T5" fmla="*/ 0 h 18"/>
                  <a:gd name="T6" fmla="*/ 0 w 32"/>
                  <a:gd name="T7" fmla="*/ 0 h 18"/>
                  <a:gd name="T8" fmla="*/ 0 w 32"/>
                  <a:gd name="T9" fmla="*/ 0 h 18"/>
                  <a:gd name="T10" fmla="*/ 0 w 32"/>
                  <a:gd name="T11" fmla="*/ 0 h 18"/>
                  <a:gd name="T12" fmla="*/ 0 w 32"/>
                  <a:gd name="T13" fmla="*/ 0 h 18"/>
                  <a:gd name="T14" fmla="*/ 0 w 32"/>
                  <a:gd name="T15" fmla="*/ 0 h 18"/>
                  <a:gd name="T16" fmla="*/ 0 w 32"/>
                  <a:gd name="T17" fmla="*/ 0 h 18"/>
                  <a:gd name="T18" fmla="*/ 0 w 32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8"/>
                  <a:gd name="T32" fmla="*/ 32 w 32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8">
                    <a:moveTo>
                      <a:pt x="32" y="18"/>
                    </a:moveTo>
                    <a:lnTo>
                      <a:pt x="31" y="11"/>
                    </a:lnTo>
                    <a:lnTo>
                      <a:pt x="28" y="6"/>
                    </a:lnTo>
                    <a:lnTo>
                      <a:pt x="23" y="3"/>
                    </a:lnTo>
                    <a:lnTo>
                      <a:pt x="17" y="0"/>
                    </a:lnTo>
                    <a:lnTo>
                      <a:pt x="11" y="2"/>
                    </a:lnTo>
                    <a:lnTo>
                      <a:pt x="6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32" y="18"/>
                    </a:ln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0" name="Freeform 721">
                <a:extLst>
                  <a:ext uri="{FF2B5EF4-FFF2-40B4-BE49-F238E27FC236}">
                    <a16:creationId xmlns:a16="http://schemas.microsoft.com/office/drawing/2014/main" id="{AD0ABF72-190E-4E57-9B9B-F5C05D5AA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4"/>
                <a:ext cx="1" cy="2"/>
              </a:xfrm>
              <a:custGeom>
                <a:avLst/>
                <a:gdLst>
                  <a:gd name="T0" fmla="*/ 0 w 22"/>
                  <a:gd name="T1" fmla="*/ 0 h 32"/>
                  <a:gd name="T2" fmla="*/ 0 w 22"/>
                  <a:gd name="T3" fmla="*/ 0 h 32"/>
                  <a:gd name="T4" fmla="*/ 0 w 22"/>
                  <a:gd name="T5" fmla="*/ 0 h 32"/>
                  <a:gd name="T6" fmla="*/ 0 w 22"/>
                  <a:gd name="T7" fmla="*/ 0 h 32"/>
                  <a:gd name="T8" fmla="*/ 0 w 22"/>
                  <a:gd name="T9" fmla="*/ 0 h 32"/>
                  <a:gd name="T10" fmla="*/ 0 w 22"/>
                  <a:gd name="T11" fmla="*/ 0 h 32"/>
                  <a:gd name="T12" fmla="*/ 0 w 22"/>
                  <a:gd name="T13" fmla="*/ 0 h 32"/>
                  <a:gd name="T14" fmla="*/ 0 w 22"/>
                  <a:gd name="T15" fmla="*/ 0 h 32"/>
                  <a:gd name="T16" fmla="*/ 0 w 22"/>
                  <a:gd name="T17" fmla="*/ 0 h 32"/>
                  <a:gd name="T18" fmla="*/ 0 w 22"/>
                  <a:gd name="T19" fmla="*/ 0 h 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"/>
                  <a:gd name="T31" fmla="*/ 0 h 32"/>
                  <a:gd name="T32" fmla="*/ 22 w 22"/>
                  <a:gd name="T33" fmla="*/ 32 h 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" h="32">
                    <a:moveTo>
                      <a:pt x="12" y="0"/>
                    </a:moveTo>
                    <a:lnTo>
                      <a:pt x="5" y="3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4" y="26"/>
                    </a:lnTo>
                    <a:lnTo>
                      <a:pt x="9" y="30"/>
                    </a:lnTo>
                    <a:lnTo>
                      <a:pt x="15" y="32"/>
                    </a:lnTo>
                    <a:lnTo>
                      <a:pt x="22" y="3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1" name="Freeform 722">
                <a:extLst>
                  <a:ext uri="{FF2B5EF4-FFF2-40B4-BE49-F238E27FC236}">
                    <a16:creationId xmlns:a16="http://schemas.microsoft.com/office/drawing/2014/main" id="{4FA5FD3D-5F18-4B89-97FE-C26D17835E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3090"/>
                <a:ext cx="4" cy="5"/>
              </a:xfrm>
              <a:custGeom>
                <a:avLst/>
                <a:gdLst>
                  <a:gd name="T0" fmla="*/ 0 w 74"/>
                  <a:gd name="T1" fmla="*/ 0 h 99"/>
                  <a:gd name="T2" fmla="*/ 0 w 74"/>
                  <a:gd name="T3" fmla="*/ 0 h 99"/>
                  <a:gd name="T4" fmla="*/ 0 w 74"/>
                  <a:gd name="T5" fmla="*/ 0 h 99"/>
                  <a:gd name="T6" fmla="*/ 0 w 74"/>
                  <a:gd name="T7" fmla="*/ 0 h 99"/>
                  <a:gd name="T8" fmla="*/ 0 w 74"/>
                  <a:gd name="T9" fmla="*/ 0 h 99"/>
                  <a:gd name="T10" fmla="*/ 0 w 74"/>
                  <a:gd name="T11" fmla="*/ 0 h 99"/>
                  <a:gd name="T12" fmla="*/ 0 w 74"/>
                  <a:gd name="T13" fmla="*/ 0 h 99"/>
                  <a:gd name="T14" fmla="*/ 0 w 74"/>
                  <a:gd name="T15" fmla="*/ 0 h 99"/>
                  <a:gd name="T16" fmla="*/ 0 w 74"/>
                  <a:gd name="T17" fmla="*/ 0 h 99"/>
                  <a:gd name="T18" fmla="*/ 0 w 74"/>
                  <a:gd name="T19" fmla="*/ 0 h 99"/>
                  <a:gd name="T20" fmla="*/ 0 w 74"/>
                  <a:gd name="T21" fmla="*/ 0 h 99"/>
                  <a:gd name="T22" fmla="*/ 0 w 74"/>
                  <a:gd name="T23" fmla="*/ 0 h 99"/>
                  <a:gd name="T24" fmla="*/ 0 w 74"/>
                  <a:gd name="T25" fmla="*/ 0 h 99"/>
                  <a:gd name="T26" fmla="*/ 0 w 74"/>
                  <a:gd name="T27" fmla="*/ 0 h 99"/>
                  <a:gd name="T28" fmla="*/ 0 w 74"/>
                  <a:gd name="T29" fmla="*/ 0 h 99"/>
                  <a:gd name="T30" fmla="*/ 0 w 74"/>
                  <a:gd name="T31" fmla="*/ 0 h 99"/>
                  <a:gd name="T32" fmla="*/ 0 w 74"/>
                  <a:gd name="T33" fmla="*/ 0 h 99"/>
                  <a:gd name="T34" fmla="*/ 0 w 74"/>
                  <a:gd name="T35" fmla="*/ 0 h 99"/>
                  <a:gd name="T36" fmla="*/ 0 w 74"/>
                  <a:gd name="T37" fmla="*/ 0 h 99"/>
                  <a:gd name="T38" fmla="*/ 0 w 74"/>
                  <a:gd name="T39" fmla="*/ 0 h 99"/>
                  <a:gd name="T40" fmla="*/ 0 w 74"/>
                  <a:gd name="T41" fmla="*/ 0 h 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4"/>
                  <a:gd name="T64" fmla="*/ 0 h 99"/>
                  <a:gd name="T65" fmla="*/ 74 w 74"/>
                  <a:gd name="T66" fmla="*/ 99 h 9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4" h="99">
                    <a:moveTo>
                      <a:pt x="39" y="13"/>
                    </a:moveTo>
                    <a:lnTo>
                      <a:pt x="39" y="12"/>
                    </a:lnTo>
                    <a:lnTo>
                      <a:pt x="41" y="22"/>
                    </a:lnTo>
                    <a:lnTo>
                      <a:pt x="41" y="30"/>
                    </a:lnTo>
                    <a:lnTo>
                      <a:pt x="38" y="37"/>
                    </a:lnTo>
                    <a:lnTo>
                      <a:pt x="35" y="43"/>
                    </a:lnTo>
                    <a:lnTo>
                      <a:pt x="28" y="51"/>
                    </a:lnTo>
                    <a:lnTo>
                      <a:pt x="20" y="58"/>
                    </a:lnTo>
                    <a:lnTo>
                      <a:pt x="11" y="62"/>
                    </a:lnTo>
                    <a:lnTo>
                      <a:pt x="0" y="68"/>
                    </a:lnTo>
                    <a:lnTo>
                      <a:pt x="10" y="99"/>
                    </a:lnTo>
                    <a:lnTo>
                      <a:pt x="25" y="94"/>
                    </a:lnTo>
                    <a:lnTo>
                      <a:pt x="38" y="85"/>
                    </a:lnTo>
                    <a:lnTo>
                      <a:pt x="51" y="76"/>
                    </a:lnTo>
                    <a:lnTo>
                      <a:pt x="62" y="64"/>
                    </a:lnTo>
                    <a:lnTo>
                      <a:pt x="69" y="52"/>
                    </a:lnTo>
                    <a:lnTo>
                      <a:pt x="74" y="36"/>
                    </a:lnTo>
                    <a:lnTo>
                      <a:pt x="74" y="18"/>
                    </a:lnTo>
                    <a:lnTo>
                      <a:pt x="70" y="1"/>
                    </a:lnTo>
                    <a:lnTo>
                      <a:pt x="70" y="0"/>
                    </a:lnTo>
                    <a:lnTo>
                      <a:pt x="39" y="13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2" name="Freeform 723">
                <a:extLst>
                  <a:ext uri="{FF2B5EF4-FFF2-40B4-BE49-F238E27FC236}">
                    <a16:creationId xmlns:a16="http://schemas.microsoft.com/office/drawing/2014/main" id="{A672C6AF-A6E4-4D58-BE64-FF23A14D8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088"/>
                <a:ext cx="5" cy="3"/>
              </a:xfrm>
              <a:custGeom>
                <a:avLst/>
                <a:gdLst>
                  <a:gd name="T0" fmla="*/ 0 w 108"/>
                  <a:gd name="T1" fmla="*/ 0 h 50"/>
                  <a:gd name="T2" fmla="*/ 0 w 108"/>
                  <a:gd name="T3" fmla="*/ 0 h 50"/>
                  <a:gd name="T4" fmla="*/ 0 w 108"/>
                  <a:gd name="T5" fmla="*/ 0 h 50"/>
                  <a:gd name="T6" fmla="*/ 0 w 108"/>
                  <a:gd name="T7" fmla="*/ 0 h 50"/>
                  <a:gd name="T8" fmla="*/ 0 w 108"/>
                  <a:gd name="T9" fmla="*/ 0 h 50"/>
                  <a:gd name="T10" fmla="*/ 0 w 108"/>
                  <a:gd name="T11" fmla="*/ 0 h 50"/>
                  <a:gd name="T12" fmla="*/ 0 w 108"/>
                  <a:gd name="T13" fmla="*/ 0 h 50"/>
                  <a:gd name="T14" fmla="*/ 0 w 108"/>
                  <a:gd name="T15" fmla="*/ 0 h 50"/>
                  <a:gd name="T16" fmla="*/ 0 w 108"/>
                  <a:gd name="T17" fmla="*/ 0 h 50"/>
                  <a:gd name="T18" fmla="*/ 0 w 108"/>
                  <a:gd name="T19" fmla="*/ 0 h 50"/>
                  <a:gd name="T20" fmla="*/ 0 w 108"/>
                  <a:gd name="T21" fmla="*/ 0 h 50"/>
                  <a:gd name="T22" fmla="*/ 0 w 108"/>
                  <a:gd name="T23" fmla="*/ 0 h 50"/>
                  <a:gd name="T24" fmla="*/ 0 w 108"/>
                  <a:gd name="T25" fmla="*/ 0 h 50"/>
                  <a:gd name="T26" fmla="*/ 0 w 108"/>
                  <a:gd name="T27" fmla="*/ 0 h 50"/>
                  <a:gd name="T28" fmla="*/ 0 w 108"/>
                  <a:gd name="T29" fmla="*/ 0 h 50"/>
                  <a:gd name="T30" fmla="*/ 0 w 108"/>
                  <a:gd name="T31" fmla="*/ 0 h 50"/>
                  <a:gd name="T32" fmla="*/ 0 w 108"/>
                  <a:gd name="T33" fmla="*/ 0 h 50"/>
                  <a:gd name="T34" fmla="*/ 0 w 108"/>
                  <a:gd name="T35" fmla="*/ 0 h 50"/>
                  <a:gd name="T36" fmla="*/ 0 w 108"/>
                  <a:gd name="T37" fmla="*/ 0 h 50"/>
                  <a:gd name="T38" fmla="*/ 0 w 108"/>
                  <a:gd name="T39" fmla="*/ 0 h 50"/>
                  <a:gd name="T40" fmla="*/ 0 w 108"/>
                  <a:gd name="T41" fmla="*/ 0 h 5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08"/>
                  <a:gd name="T64" fmla="*/ 0 h 50"/>
                  <a:gd name="T65" fmla="*/ 108 w 108"/>
                  <a:gd name="T66" fmla="*/ 50 h 5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08" h="50">
                    <a:moveTo>
                      <a:pt x="20" y="44"/>
                    </a:moveTo>
                    <a:lnTo>
                      <a:pt x="20" y="43"/>
                    </a:lnTo>
                    <a:lnTo>
                      <a:pt x="27" y="39"/>
                    </a:lnTo>
                    <a:lnTo>
                      <a:pt x="37" y="35"/>
                    </a:lnTo>
                    <a:lnTo>
                      <a:pt x="46" y="34"/>
                    </a:lnTo>
                    <a:lnTo>
                      <a:pt x="54" y="34"/>
                    </a:lnTo>
                    <a:lnTo>
                      <a:pt x="61" y="36"/>
                    </a:lnTo>
                    <a:lnTo>
                      <a:pt x="69" y="39"/>
                    </a:lnTo>
                    <a:lnTo>
                      <a:pt x="74" y="43"/>
                    </a:lnTo>
                    <a:lnTo>
                      <a:pt x="77" y="50"/>
                    </a:lnTo>
                    <a:lnTo>
                      <a:pt x="108" y="37"/>
                    </a:lnTo>
                    <a:lnTo>
                      <a:pt x="99" y="22"/>
                    </a:lnTo>
                    <a:lnTo>
                      <a:pt x="88" y="12"/>
                    </a:lnTo>
                    <a:lnTo>
                      <a:pt x="73" y="4"/>
                    </a:lnTo>
                    <a:lnTo>
                      <a:pt x="58" y="0"/>
                    </a:lnTo>
                    <a:lnTo>
                      <a:pt x="42" y="0"/>
                    </a:lnTo>
                    <a:lnTo>
                      <a:pt x="26" y="3"/>
                    </a:lnTo>
                    <a:lnTo>
                      <a:pt x="13" y="10"/>
                    </a:lnTo>
                    <a:lnTo>
                      <a:pt x="0" y="18"/>
                    </a:lnTo>
                    <a:lnTo>
                      <a:pt x="0" y="17"/>
                    </a:lnTo>
                    <a:lnTo>
                      <a:pt x="20" y="4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3" name="Freeform 724">
                <a:extLst>
                  <a:ext uri="{FF2B5EF4-FFF2-40B4-BE49-F238E27FC236}">
                    <a16:creationId xmlns:a16="http://schemas.microsoft.com/office/drawing/2014/main" id="{6810AB48-7711-45AD-AB28-EF2DE5D49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3089"/>
                <a:ext cx="4" cy="7"/>
              </a:xfrm>
              <a:custGeom>
                <a:avLst/>
                <a:gdLst>
                  <a:gd name="T0" fmla="*/ 0 w 69"/>
                  <a:gd name="T1" fmla="*/ 0 h 131"/>
                  <a:gd name="T2" fmla="*/ 0 w 69"/>
                  <a:gd name="T3" fmla="*/ 0 h 131"/>
                  <a:gd name="T4" fmla="*/ 0 w 69"/>
                  <a:gd name="T5" fmla="*/ 0 h 131"/>
                  <a:gd name="T6" fmla="*/ 0 w 69"/>
                  <a:gd name="T7" fmla="*/ 0 h 131"/>
                  <a:gd name="T8" fmla="*/ 0 w 69"/>
                  <a:gd name="T9" fmla="*/ 0 h 131"/>
                  <a:gd name="T10" fmla="*/ 0 w 69"/>
                  <a:gd name="T11" fmla="*/ 0 h 131"/>
                  <a:gd name="T12" fmla="*/ 0 w 69"/>
                  <a:gd name="T13" fmla="*/ 0 h 131"/>
                  <a:gd name="T14" fmla="*/ 0 w 69"/>
                  <a:gd name="T15" fmla="*/ 0 h 131"/>
                  <a:gd name="T16" fmla="*/ 0 w 69"/>
                  <a:gd name="T17" fmla="*/ 0 h 131"/>
                  <a:gd name="T18" fmla="*/ 0 w 69"/>
                  <a:gd name="T19" fmla="*/ 0 h 131"/>
                  <a:gd name="T20" fmla="*/ 0 w 69"/>
                  <a:gd name="T21" fmla="*/ 0 h 131"/>
                  <a:gd name="T22" fmla="*/ 0 w 69"/>
                  <a:gd name="T23" fmla="*/ 0 h 131"/>
                  <a:gd name="T24" fmla="*/ 0 w 69"/>
                  <a:gd name="T25" fmla="*/ 0 h 131"/>
                  <a:gd name="T26" fmla="*/ 0 w 69"/>
                  <a:gd name="T27" fmla="*/ 0 h 131"/>
                  <a:gd name="T28" fmla="*/ 0 w 69"/>
                  <a:gd name="T29" fmla="*/ 0 h 131"/>
                  <a:gd name="T30" fmla="*/ 0 w 69"/>
                  <a:gd name="T31" fmla="*/ 0 h 131"/>
                  <a:gd name="T32" fmla="*/ 0 w 69"/>
                  <a:gd name="T33" fmla="*/ 0 h 131"/>
                  <a:gd name="T34" fmla="*/ 0 w 69"/>
                  <a:gd name="T35" fmla="*/ 0 h 131"/>
                  <a:gd name="T36" fmla="*/ 0 w 69"/>
                  <a:gd name="T37" fmla="*/ 0 h 131"/>
                  <a:gd name="T38" fmla="*/ 0 w 69"/>
                  <a:gd name="T39" fmla="*/ 0 h 131"/>
                  <a:gd name="T40" fmla="*/ 0 w 69"/>
                  <a:gd name="T41" fmla="*/ 0 h 13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131"/>
                  <a:gd name="T65" fmla="*/ 69 w 69"/>
                  <a:gd name="T66" fmla="*/ 131 h 13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131">
                    <a:moveTo>
                      <a:pt x="36" y="114"/>
                    </a:moveTo>
                    <a:lnTo>
                      <a:pt x="36" y="114"/>
                    </a:lnTo>
                    <a:lnTo>
                      <a:pt x="34" y="107"/>
                    </a:lnTo>
                    <a:lnTo>
                      <a:pt x="33" y="96"/>
                    </a:lnTo>
                    <a:lnTo>
                      <a:pt x="35" y="83"/>
                    </a:lnTo>
                    <a:lnTo>
                      <a:pt x="38" y="72"/>
                    </a:lnTo>
                    <a:lnTo>
                      <a:pt x="44" y="59"/>
                    </a:lnTo>
                    <a:lnTo>
                      <a:pt x="52" y="46"/>
                    </a:lnTo>
                    <a:lnTo>
                      <a:pt x="60" y="36"/>
                    </a:lnTo>
                    <a:lnTo>
                      <a:pt x="69" y="27"/>
                    </a:lnTo>
                    <a:lnTo>
                      <a:pt x="49" y="0"/>
                    </a:lnTo>
                    <a:lnTo>
                      <a:pt x="36" y="13"/>
                    </a:lnTo>
                    <a:lnTo>
                      <a:pt x="25" y="27"/>
                    </a:lnTo>
                    <a:lnTo>
                      <a:pt x="15" y="42"/>
                    </a:lnTo>
                    <a:lnTo>
                      <a:pt x="7" y="59"/>
                    </a:lnTo>
                    <a:lnTo>
                      <a:pt x="2" y="77"/>
                    </a:lnTo>
                    <a:lnTo>
                      <a:pt x="0" y="94"/>
                    </a:lnTo>
                    <a:lnTo>
                      <a:pt x="1" y="113"/>
                    </a:lnTo>
                    <a:lnTo>
                      <a:pt x="7" y="131"/>
                    </a:lnTo>
                    <a:lnTo>
                      <a:pt x="36" y="114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4" name="Freeform 725">
                <a:extLst>
                  <a:ext uri="{FF2B5EF4-FFF2-40B4-BE49-F238E27FC236}">
                    <a16:creationId xmlns:a16="http://schemas.microsoft.com/office/drawing/2014/main" id="{B9D33203-3704-437E-B865-831D46BF1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3095"/>
                <a:ext cx="5" cy="4"/>
              </a:xfrm>
              <a:custGeom>
                <a:avLst/>
                <a:gdLst>
                  <a:gd name="T0" fmla="*/ 0 w 117"/>
                  <a:gd name="T1" fmla="*/ 0 h 77"/>
                  <a:gd name="T2" fmla="*/ 0 w 117"/>
                  <a:gd name="T3" fmla="*/ 0 h 77"/>
                  <a:gd name="T4" fmla="*/ 0 w 117"/>
                  <a:gd name="T5" fmla="*/ 0 h 77"/>
                  <a:gd name="T6" fmla="*/ 0 w 117"/>
                  <a:gd name="T7" fmla="*/ 0 h 77"/>
                  <a:gd name="T8" fmla="*/ 0 w 117"/>
                  <a:gd name="T9" fmla="*/ 0 h 77"/>
                  <a:gd name="T10" fmla="*/ 0 w 117"/>
                  <a:gd name="T11" fmla="*/ 0 h 77"/>
                  <a:gd name="T12" fmla="*/ 0 w 117"/>
                  <a:gd name="T13" fmla="*/ 0 h 77"/>
                  <a:gd name="T14" fmla="*/ 0 w 117"/>
                  <a:gd name="T15" fmla="*/ 0 h 77"/>
                  <a:gd name="T16" fmla="*/ 0 w 117"/>
                  <a:gd name="T17" fmla="*/ 0 h 77"/>
                  <a:gd name="T18" fmla="*/ 0 w 117"/>
                  <a:gd name="T19" fmla="*/ 0 h 77"/>
                  <a:gd name="T20" fmla="*/ 0 w 117"/>
                  <a:gd name="T21" fmla="*/ 0 h 77"/>
                  <a:gd name="T22" fmla="*/ 0 w 117"/>
                  <a:gd name="T23" fmla="*/ 0 h 77"/>
                  <a:gd name="T24" fmla="*/ 0 w 117"/>
                  <a:gd name="T25" fmla="*/ 0 h 77"/>
                  <a:gd name="T26" fmla="*/ 0 w 117"/>
                  <a:gd name="T27" fmla="*/ 0 h 77"/>
                  <a:gd name="T28" fmla="*/ 0 w 117"/>
                  <a:gd name="T29" fmla="*/ 0 h 77"/>
                  <a:gd name="T30" fmla="*/ 0 w 117"/>
                  <a:gd name="T31" fmla="*/ 0 h 77"/>
                  <a:gd name="T32" fmla="*/ 0 w 117"/>
                  <a:gd name="T33" fmla="*/ 0 h 77"/>
                  <a:gd name="T34" fmla="*/ 0 w 117"/>
                  <a:gd name="T35" fmla="*/ 0 h 77"/>
                  <a:gd name="T36" fmla="*/ 0 w 117"/>
                  <a:gd name="T37" fmla="*/ 0 h 77"/>
                  <a:gd name="T38" fmla="*/ 0 w 117"/>
                  <a:gd name="T39" fmla="*/ 0 h 77"/>
                  <a:gd name="T40" fmla="*/ 0 w 117"/>
                  <a:gd name="T41" fmla="*/ 0 h 7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7"/>
                  <a:gd name="T64" fmla="*/ 0 h 77"/>
                  <a:gd name="T65" fmla="*/ 117 w 117"/>
                  <a:gd name="T66" fmla="*/ 77 h 7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7" h="77">
                    <a:moveTo>
                      <a:pt x="107" y="41"/>
                    </a:moveTo>
                    <a:lnTo>
                      <a:pt x="107" y="41"/>
                    </a:lnTo>
                    <a:lnTo>
                      <a:pt x="96" y="43"/>
                    </a:lnTo>
                    <a:lnTo>
                      <a:pt x="85" y="43"/>
                    </a:lnTo>
                    <a:lnTo>
                      <a:pt x="75" y="41"/>
                    </a:lnTo>
                    <a:lnTo>
                      <a:pt x="63" y="37"/>
                    </a:lnTo>
                    <a:lnTo>
                      <a:pt x="54" y="29"/>
                    </a:lnTo>
                    <a:lnTo>
                      <a:pt x="44" y="22"/>
                    </a:lnTo>
                    <a:lnTo>
                      <a:pt x="36" y="13"/>
                    </a:lnTo>
                    <a:lnTo>
                      <a:pt x="29" y="0"/>
                    </a:lnTo>
                    <a:lnTo>
                      <a:pt x="0" y="17"/>
                    </a:lnTo>
                    <a:lnTo>
                      <a:pt x="9" y="32"/>
                    </a:lnTo>
                    <a:lnTo>
                      <a:pt x="21" y="45"/>
                    </a:lnTo>
                    <a:lnTo>
                      <a:pt x="34" y="57"/>
                    </a:lnTo>
                    <a:lnTo>
                      <a:pt x="49" y="66"/>
                    </a:lnTo>
                    <a:lnTo>
                      <a:pt x="64" y="73"/>
                    </a:lnTo>
                    <a:lnTo>
                      <a:pt x="81" y="77"/>
                    </a:lnTo>
                    <a:lnTo>
                      <a:pt x="98" y="77"/>
                    </a:lnTo>
                    <a:lnTo>
                      <a:pt x="117" y="73"/>
                    </a:lnTo>
                    <a:lnTo>
                      <a:pt x="107" y="41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5" name="Freeform 726">
                <a:extLst>
                  <a:ext uri="{FF2B5EF4-FFF2-40B4-BE49-F238E27FC236}">
                    <a16:creationId xmlns:a16="http://schemas.microsoft.com/office/drawing/2014/main" id="{70D5228C-747F-4DC7-B85E-1217F8C764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3094"/>
                <a:ext cx="3" cy="5"/>
              </a:xfrm>
              <a:custGeom>
                <a:avLst/>
                <a:gdLst>
                  <a:gd name="T0" fmla="*/ 0 w 81"/>
                  <a:gd name="T1" fmla="*/ 0 h 90"/>
                  <a:gd name="T2" fmla="*/ 0 w 81"/>
                  <a:gd name="T3" fmla="*/ 0 h 90"/>
                  <a:gd name="T4" fmla="*/ 0 w 81"/>
                  <a:gd name="T5" fmla="*/ 0 h 90"/>
                  <a:gd name="T6" fmla="*/ 0 w 81"/>
                  <a:gd name="T7" fmla="*/ 0 h 90"/>
                  <a:gd name="T8" fmla="*/ 0 w 81"/>
                  <a:gd name="T9" fmla="*/ 0 h 90"/>
                  <a:gd name="T10" fmla="*/ 0 w 81"/>
                  <a:gd name="T11" fmla="*/ 0 h 90"/>
                  <a:gd name="T12" fmla="*/ 0 w 81"/>
                  <a:gd name="T13" fmla="*/ 0 h 90"/>
                  <a:gd name="T14" fmla="*/ 0 w 81"/>
                  <a:gd name="T15" fmla="*/ 0 h 90"/>
                  <a:gd name="T16" fmla="*/ 0 w 81"/>
                  <a:gd name="T17" fmla="*/ 0 h 90"/>
                  <a:gd name="T18" fmla="*/ 0 w 81"/>
                  <a:gd name="T19" fmla="*/ 0 h 90"/>
                  <a:gd name="T20" fmla="*/ 0 w 81"/>
                  <a:gd name="T21" fmla="*/ 0 h 90"/>
                  <a:gd name="T22" fmla="*/ 0 w 81"/>
                  <a:gd name="T23" fmla="*/ 0 h 90"/>
                  <a:gd name="T24" fmla="*/ 0 w 81"/>
                  <a:gd name="T25" fmla="*/ 0 h 90"/>
                  <a:gd name="T26" fmla="*/ 0 w 81"/>
                  <a:gd name="T27" fmla="*/ 0 h 90"/>
                  <a:gd name="T28" fmla="*/ 0 w 81"/>
                  <a:gd name="T29" fmla="*/ 0 h 90"/>
                  <a:gd name="T30" fmla="*/ 0 w 81"/>
                  <a:gd name="T31" fmla="*/ 0 h 90"/>
                  <a:gd name="T32" fmla="*/ 0 w 81"/>
                  <a:gd name="T33" fmla="*/ 0 h 90"/>
                  <a:gd name="T34" fmla="*/ 0 w 81"/>
                  <a:gd name="T35" fmla="*/ 0 h 90"/>
                  <a:gd name="T36" fmla="*/ 0 w 81"/>
                  <a:gd name="T37" fmla="*/ 0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90"/>
                  <a:gd name="T59" fmla="*/ 81 w 81"/>
                  <a:gd name="T60" fmla="*/ 90 h 9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90">
                    <a:moveTo>
                      <a:pt x="48" y="0"/>
                    </a:moveTo>
                    <a:lnTo>
                      <a:pt x="47" y="8"/>
                    </a:lnTo>
                    <a:lnTo>
                      <a:pt x="44" y="18"/>
                    </a:lnTo>
                    <a:lnTo>
                      <a:pt x="41" y="26"/>
                    </a:lnTo>
                    <a:lnTo>
                      <a:pt x="36" y="34"/>
                    </a:lnTo>
                    <a:lnTo>
                      <a:pt x="31" y="40"/>
                    </a:lnTo>
                    <a:lnTo>
                      <a:pt x="22" y="47"/>
                    </a:lnTo>
                    <a:lnTo>
                      <a:pt x="12" y="54"/>
                    </a:lnTo>
                    <a:lnTo>
                      <a:pt x="0" y="58"/>
                    </a:lnTo>
                    <a:lnTo>
                      <a:pt x="10" y="90"/>
                    </a:lnTo>
                    <a:lnTo>
                      <a:pt x="27" y="83"/>
                    </a:lnTo>
                    <a:lnTo>
                      <a:pt x="40" y="75"/>
                    </a:lnTo>
                    <a:lnTo>
                      <a:pt x="51" y="65"/>
                    </a:lnTo>
                    <a:lnTo>
                      <a:pt x="62" y="55"/>
                    </a:lnTo>
                    <a:lnTo>
                      <a:pt x="70" y="41"/>
                    </a:lnTo>
                    <a:lnTo>
                      <a:pt x="75" y="28"/>
                    </a:lnTo>
                    <a:lnTo>
                      <a:pt x="78" y="17"/>
                    </a:lnTo>
                    <a:lnTo>
                      <a:pt x="81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6" name="Freeform 727">
                <a:extLst>
                  <a:ext uri="{FF2B5EF4-FFF2-40B4-BE49-F238E27FC236}">
                    <a16:creationId xmlns:a16="http://schemas.microsoft.com/office/drawing/2014/main" id="{8FD40CA3-85F5-4B55-A483-D5139C41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097"/>
                <a:ext cx="2" cy="1"/>
              </a:xfrm>
              <a:custGeom>
                <a:avLst/>
                <a:gdLst>
                  <a:gd name="T0" fmla="*/ 0 w 33"/>
                  <a:gd name="T1" fmla="*/ 0 h 19"/>
                  <a:gd name="T2" fmla="*/ 0 w 33"/>
                  <a:gd name="T3" fmla="*/ 0 h 19"/>
                  <a:gd name="T4" fmla="*/ 0 w 33"/>
                  <a:gd name="T5" fmla="*/ 0 h 19"/>
                  <a:gd name="T6" fmla="*/ 0 w 33"/>
                  <a:gd name="T7" fmla="*/ 0 h 19"/>
                  <a:gd name="T8" fmla="*/ 0 w 33"/>
                  <a:gd name="T9" fmla="*/ 0 h 19"/>
                  <a:gd name="T10" fmla="*/ 0 w 33"/>
                  <a:gd name="T11" fmla="*/ 0 h 19"/>
                  <a:gd name="T12" fmla="*/ 0 w 33"/>
                  <a:gd name="T13" fmla="*/ 0 h 19"/>
                  <a:gd name="T14" fmla="*/ 0 w 33"/>
                  <a:gd name="T15" fmla="*/ 0 h 19"/>
                  <a:gd name="T16" fmla="*/ 0 w 33"/>
                  <a:gd name="T17" fmla="*/ 0 h 19"/>
                  <a:gd name="T18" fmla="*/ 0 w 33"/>
                  <a:gd name="T19" fmla="*/ 0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3"/>
                  <a:gd name="T31" fmla="*/ 0 h 19"/>
                  <a:gd name="T32" fmla="*/ 33 w 33"/>
                  <a:gd name="T33" fmla="*/ 19 h 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3" h="19">
                    <a:moveTo>
                      <a:pt x="33" y="19"/>
                    </a:moveTo>
                    <a:lnTo>
                      <a:pt x="32" y="12"/>
                    </a:lnTo>
                    <a:lnTo>
                      <a:pt x="28" y="6"/>
                    </a:lnTo>
                    <a:lnTo>
                      <a:pt x="23" y="2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6" y="3"/>
                    </a:lnTo>
                    <a:lnTo>
                      <a:pt x="2" y="7"/>
                    </a:lnTo>
                    <a:lnTo>
                      <a:pt x="0" y="15"/>
                    </a:lnTo>
                    <a:lnTo>
                      <a:pt x="33" y="19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7" name="Freeform 728">
                <a:extLst>
                  <a:ext uri="{FF2B5EF4-FFF2-40B4-BE49-F238E27FC236}">
                    <a16:creationId xmlns:a16="http://schemas.microsoft.com/office/drawing/2014/main" id="{5315F77A-D6C1-410B-85EF-E901F7ED26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" y="3240"/>
                <a:ext cx="1" cy="1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5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8" name="Freeform 729">
                <a:extLst>
                  <a:ext uri="{FF2B5EF4-FFF2-40B4-BE49-F238E27FC236}">
                    <a16:creationId xmlns:a16="http://schemas.microsoft.com/office/drawing/2014/main" id="{5F029AE0-1593-4F07-A7B2-24EBFAF9E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1"/>
                <a:ext cx="10" cy="20"/>
              </a:xfrm>
              <a:custGeom>
                <a:avLst/>
                <a:gdLst>
                  <a:gd name="T0" fmla="*/ 0 w 218"/>
                  <a:gd name="T1" fmla="*/ 0 h 365"/>
                  <a:gd name="T2" fmla="*/ 0 w 218"/>
                  <a:gd name="T3" fmla="*/ 0 h 365"/>
                  <a:gd name="T4" fmla="*/ 0 w 218"/>
                  <a:gd name="T5" fmla="*/ 0 h 365"/>
                  <a:gd name="T6" fmla="*/ 0 w 218"/>
                  <a:gd name="T7" fmla="*/ 0 h 365"/>
                  <a:gd name="T8" fmla="*/ 0 w 218"/>
                  <a:gd name="T9" fmla="*/ 0 h 365"/>
                  <a:gd name="T10" fmla="*/ 0 w 218"/>
                  <a:gd name="T11" fmla="*/ 0 h 365"/>
                  <a:gd name="T12" fmla="*/ 0 w 218"/>
                  <a:gd name="T13" fmla="*/ 0 h 365"/>
                  <a:gd name="T14" fmla="*/ 0 w 218"/>
                  <a:gd name="T15" fmla="*/ 0 h 365"/>
                  <a:gd name="T16" fmla="*/ 0 w 218"/>
                  <a:gd name="T17" fmla="*/ 0 h 365"/>
                  <a:gd name="T18" fmla="*/ 0 w 218"/>
                  <a:gd name="T19" fmla="*/ 0 h 365"/>
                  <a:gd name="T20" fmla="*/ 0 w 218"/>
                  <a:gd name="T21" fmla="*/ 0 h 365"/>
                  <a:gd name="T22" fmla="*/ 0 w 218"/>
                  <a:gd name="T23" fmla="*/ 0 h 365"/>
                  <a:gd name="T24" fmla="*/ 0 w 218"/>
                  <a:gd name="T25" fmla="*/ 0 h 365"/>
                  <a:gd name="T26" fmla="*/ 0 w 218"/>
                  <a:gd name="T27" fmla="*/ 0 h 365"/>
                  <a:gd name="T28" fmla="*/ 0 w 218"/>
                  <a:gd name="T29" fmla="*/ 0 h 365"/>
                  <a:gd name="T30" fmla="*/ 0 w 218"/>
                  <a:gd name="T31" fmla="*/ 0 h 365"/>
                  <a:gd name="T32" fmla="*/ 0 w 218"/>
                  <a:gd name="T33" fmla="*/ 0 h 365"/>
                  <a:gd name="T34" fmla="*/ 0 w 218"/>
                  <a:gd name="T35" fmla="*/ 0 h 365"/>
                  <a:gd name="T36" fmla="*/ 0 w 218"/>
                  <a:gd name="T37" fmla="*/ 0 h 365"/>
                  <a:gd name="T38" fmla="*/ 0 w 218"/>
                  <a:gd name="T39" fmla="*/ 0 h 365"/>
                  <a:gd name="T40" fmla="*/ 0 w 218"/>
                  <a:gd name="T41" fmla="*/ 0 h 365"/>
                  <a:gd name="T42" fmla="*/ 0 w 218"/>
                  <a:gd name="T43" fmla="*/ 0 h 365"/>
                  <a:gd name="T44" fmla="*/ 0 w 218"/>
                  <a:gd name="T45" fmla="*/ 0 h 365"/>
                  <a:gd name="T46" fmla="*/ 0 w 218"/>
                  <a:gd name="T47" fmla="*/ 0 h 365"/>
                  <a:gd name="T48" fmla="*/ 0 w 218"/>
                  <a:gd name="T49" fmla="*/ 0 h 365"/>
                  <a:gd name="T50" fmla="*/ 0 w 218"/>
                  <a:gd name="T51" fmla="*/ 0 h 365"/>
                  <a:gd name="T52" fmla="*/ 0 w 218"/>
                  <a:gd name="T53" fmla="*/ 0 h 365"/>
                  <a:gd name="T54" fmla="*/ 0 w 218"/>
                  <a:gd name="T55" fmla="*/ 0 h 365"/>
                  <a:gd name="T56" fmla="*/ 0 w 218"/>
                  <a:gd name="T57" fmla="*/ 0 h 365"/>
                  <a:gd name="T58" fmla="*/ 0 w 218"/>
                  <a:gd name="T59" fmla="*/ 0 h 365"/>
                  <a:gd name="T60" fmla="*/ 0 w 218"/>
                  <a:gd name="T61" fmla="*/ 0 h 365"/>
                  <a:gd name="T62" fmla="*/ 0 w 218"/>
                  <a:gd name="T63" fmla="*/ 0 h 365"/>
                  <a:gd name="T64" fmla="*/ 0 w 218"/>
                  <a:gd name="T65" fmla="*/ 0 h 365"/>
                  <a:gd name="T66" fmla="*/ 0 w 218"/>
                  <a:gd name="T67" fmla="*/ 0 h 365"/>
                  <a:gd name="T68" fmla="*/ 0 w 218"/>
                  <a:gd name="T69" fmla="*/ 0 h 365"/>
                  <a:gd name="T70" fmla="*/ 0 w 218"/>
                  <a:gd name="T71" fmla="*/ 0 h 365"/>
                  <a:gd name="T72" fmla="*/ 0 w 218"/>
                  <a:gd name="T73" fmla="*/ 0 h 36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18"/>
                  <a:gd name="T112" fmla="*/ 0 h 365"/>
                  <a:gd name="T113" fmla="*/ 218 w 218"/>
                  <a:gd name="T114" fmla="*/ 365 h 365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18" h="365">
                    <a:moveTo>
                      <a:pt x="0" y="0"/>
                    </a:moveTo>
                    <a:lnTo>
                      <a:pt x="0" y="0"/>
                    </a:lnTo>
                    <a:lnTo>
                      <a:pt x="1" y="29"/>
                    </a:lnTo>
                    <a:lnTo>
                      <a:pt x="3" y="56"/>
                    </a:lnTo>
                    <a:lnTo>
                      <a:pt x="8" y="84"/>
                    </a:lnTo>
                    <a:lnTo>
                      <a:pt x="15" y="110"/>
                    </a:lnTo>
                    <a:lnTo>
                      <a:pt x="22" y="135"/>
                    </a:lnTo>
                    <a:lnTo>
                      <a:pt x="31" y="162"/>
                    </a:lnTo>
                    <a:lnTo>
                      <a:pt x="41" y="187"/>
                    </a:lnTo>
                    <a:lnTo>
                      <a:pt x="55" y="211"/>
                    </a:lnTo>
                    <a:lnTo>
                      <a:pt x="68" y="235"/>
                    </a:lnTo>
                    <a:lnTo>
                      <a:pt x="84" y="258"/>
                    </a:lnTo>
                    <a:lnTo>
                      <a:pt x="102" y="278"/>
                    </a:lnTo>
                    <a:lnTo>
                      <a:pt x="119" y="298"/>
                    </a:lnTo>
                    <a:lnTo>
                      <a:pt x="138" y="317"/>
                    </a:lnTo>
                    <a:lnTo>
                      <a:pt x="159" y="335"/>
                    </a:lnTo>
                    <a:lnTo>
                      <a:pt x="180" y="352"/>
                    </a:lnTo>
                    <a:lnTo>
                      <a:pt x="204" y="365"/>
                    </a:lnTo>
                    <a:lnTo>
                      <a:pt x="218" y="340"/>
                    </a:lnTo>
                    <a:lnTo>
                      <a:pt x="196" y="326"/>
                    </a:lnTo>
                    <a:lnTo>
                      <a:pt x="177" y="311"/>
                    </a:lnTo>
                    <a:lnTo>
                      <a:pt x="157" y="296"/>
                    </a:lnTo>
                    <a:lnTo>
                      <a:pt x="139" y="277"/>
                    </a:lnTo>
                    <a:lnTo>
                      <a:pt x="122" y="259"/>
                    </a:lnTo>
                    <a:lnTo>
                      <a:pt x="107" y="239"/>
                    </a:lnTo>
                    <a:lnTo>
                      <a:pt x="92" y="218"/>
                    </a:lnTo>
                    <a:lnTo>
                      <a:pt x="79" y="197"/>
                    </a:lnTo>
                    <a:lnTo>
                      <a:pt x="68" y="174"/>
                    </a:lnTo>
                    <a:lnTo>
                      <a:pt x="58" y="151"/>
                    </a:lnTo>
                    <a:lnTo>
                      <a:pt x="49" y="127"/>
                    </a:lnTo>
                    <a:lnTo>
                      <a:pt x="41" y="102"/>
                    </a:lnTo>
                    <a:lnTo>
                      <a:pt x="36" y="77"/>
                    </a:lnTo>
                    <a:lnTo>
                      <a:pt x="31" y="52"/>
                    </a:lnTo>
                    <a:lnTo>
                      <a:pt x="29" y="27"/>
                    </a:lnTo>
                    <a:lnTo>
                      <a:pt x="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9" name="Freeform 730">
                <a:extLst>
                  <a:ext uri="{FF2B5EF4-FFF2-40B4-BE49-F238E27FC236}">
                    <a16:creationId xmlns:a16="http://schemas.microsoft.com/office/drawing/2014/main" id="{1D3B8993-B7FC-416D-8C49-886493A217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16"/>
                <a:ext cx="2" cy="5"/>
              </a:xfrm>
              <a:custGeom>
                <a:avLst/>
                <a:gdLst>
                  <a:gd name="T0" fmla="*/ 0 w 37"/>
                  <a:gd name="T1" fmla="*/ 0 h 92"/>
                  <a:gd name="T2" fmla="*/ 0 w 37"/>
                  <a:gd name="T3" fmla="*/ 0 h 92"/>
                  <a:gd name="T4" fmla="*/ 0 w 37"/>
                  <a:gd name="T5" fmla="*/ 0 h 92"/>
                  <a:gd name="T6" fmla="*/ 0 w 37"/>
                  <a:gd name="T7" fmla="*/ 0 h 92"/>
                  <a:gd name="T8" fmla="*/ 0 w 37"/>
                  <a:gd name="T9" fmla="*/ 0 h 92"/>
                  <a:gd name="T10" fmla="*/ 0 w 37"/>
                  <a:gd name="T11" fmla="*/ 0 h 92"/>
                  <a:gd name="T12" fmla="*/ 0 w 37"/>
                  <a:gd name="T13" fmla="*/ 0 h 92"/>
                  <a:gd name="T14" fmla="*/ 0 w 37"/>
                  <a:gd name="T15" fmla="*/ 0 h 92"/>
                  <a:gd name="T16" fmla="*/ 0 w 37"/>
                  <a:gd name="T17" fmla="*/ 0 h 92"/>
                  <a:gd name="T18" fmla="*/ 0 w 37"/>
                  <a:gd name="T19" fmla="*/ 0 h 92"/>
                  <a:gd name="T20" fmla="*/ 0 w 37"/>
                  <a:gd name="T21" fmla="*/ 0 h 92"/>
                  <a:gd name="T22" fmla="*/ 0 w 37"/>
                  <a:gd name="T23" fmla="*/ 0 h 92"/>
                  <a:gd name="T24" fmla="*/ 0 w 37"/>
                  <a:gd name="T25" fmla="*/ 0 h 92"/>
                  <a:gd name="T26" fmla="*/ 0 w 37"/>
                  <a:gd name="T27" fmla="*/ 0 h 92"/>
                  <a:gd name="T28" fmla="*/ 0 w 37"/>
                  <a:gd name="T29" fmla="*/ 0 h 92"/>
                  <a:gd name="T30" fmla="*/ 0 w 37"/>
                  <a:gd name="T31" fmla="*/ 0 h 92"/>
                  <a:gd name="T32" fmla="*/ 0 w 37"/>
                  <a:gd name="T33" fmla="*/ 0 h 92"/>
                  <a:gd name="T34" fmla="*/ 0 w 37"/>
                  <a:gd name="T35" fmla="*/ 0 h 92"/>
                  <a:gd name="T36" fmla="*/ 0 w 37"/>
                  <a:gd name="T37" fmla="*/ 0 h 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7"/>
                  <a:gd name="T58" fmla="*/ 0 h 92"/>
                  <a:gd name="T59" fmla="*/ 37 w 37"/>
                  <a:gd name="T60" fmla="*/ 92 h 9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7" h="92">
                    <a:moveTo>
                      <a:pt x="9" y="0"/>
                    </a:moveTo>
                    <a:lnTo>
                      <a:pt x="7" y="10"/>
                    </a:lnTo>
                    <a:lnTo>
                      <a:pt x="5" y="23"/>
                    </a:lnTo>
                    <a:lnTo>
                      <a:pt x="4" y="33"/>
                    </a:lnTo>
                    <a:lnTo>
                      <a:pt x="2" y="45"/>
                    </a:lnTo>
                    <a:lnTo>
                      <a:pt x="1" y="58"/>
                    </a:lnTo>
                    <a:lnTo>
                      <a:pt x="1" y="69"/>
                    </a:lnTo>
                    <a:lnTo>
                      <a:pt x="0" y="80"/>
                    </a:lnTo>
                    <a:lnTo>
                      <a:pt x="0" y="92"/>
                    </a:lnTo>
                    <a:lnTo>
                      <a:pt x="28" y="92"/>
                    </a:lnTo>
                    <a:lnTo>
                      <a:pt x="28" y="82"/>
                    </a:lnTo>
                    <a:lnTo>
                      <a:pt x="29" y="71"/>
                    </a:lnTo>
                    <a:lnTo>
                      <a:pt x="29" y="60"/>
                    </a:lnTo>
                    <a:lnTo>
                      <a:pt x="30" y="49"/>
                    </a:lnTo>
                    <a:lnTo>
                      <a:pt x="32" y="38"/>
                    </a:lnTo>
                    <a:lnTo>
                      <a:pt x="33" y="27"/>
                    </a:lnTo>
                    <a:lnTo>
                      <a:pt x="35" y="17"/>
                    </a:lnTo>
                    <a:lnTo>
                      <a:pt x="37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0" name="Freeform 731">
                <a:extLst>
                  <a:ext uri="{FF2B5EF4-FFF2-40B4-BE49-F238E27FC236}">
                    <a16:creationId xmlns:a16="http://schemas.microsoft.com/office/drawing/2014/main" id="{EF3D7C04-1C3E-47FD-926E-0F0E09D92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220"/>
                <a:ext cx="1" cy="1"/>
              </a:xfrm>
              <a:custGeom>
                <a:avLst/>
                <a:gdLst>
                  <a:gd name="T0" fmla="*/ 0 w 28"/>
                  <a:gd name="T1" fmla="*/ 0 h 18"/>
                  <a:gd name="T2" fmla="*/ 0 w 28"/>
                  <a:gd name="T3" fmla="*/ 0 h 18"/>
                  <a:gd name="T4" fmla="*/ 0 w 28"/>
                  <a:gd name="T5" fmla="*/ 0 h 18"/>
                  <a:gd name="T6" fmla="*/ 0 w 28"/>
                  <a:gd name="T7" fmla="*/ 0 h 18"/>
                  <a:gd name="T8" fmla="*/ 0 w 28"/>
                  <a:gd name="T9" fmla="*/ 0 h 18"/>
                  <a:gd name="T10" fmla="*/ 0 w 28"/>
                  <a:gd name="T11" fmla="*/ 0 h 18"/>
                  <a:gd name="T12" fmla="*/ 0 w 28"/>
                  <a:gd name="T13" fmla="*/ 0 h 18"/>
                  <a:gd name="T14" fmla="*/ 0 w 28"/>
                  <a:gd name="T15" fmla="*/ 0 h 18"/>
                  <a:gd name="T16" fmla="*/ 0 w 28"/>
                  <a:gd name="T17" fmla="*/ 0 h 18"/>
                  <a:gd name="T18" fmla="*/ 0 w 28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18"/>
                  <a:gd name="T32" fmla="*/ 28 w 28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18">
                    <a:moveTo>
                      <a:pt x="28" y="18"/>
                    </a:moveTo>
                    <a:lnTo>
                      <a:pt x="28" y="11"/>
                    </a:lnTo>
                    <a:lnTo>
                      <a:pt x="26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8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1" name="Freeform 732">
                <a:extLst>
                  <a:ext uri="{FF2B5EF4-FFF2-40B4-BE49-F238E27FC236}">
                    <a16:creationId xmlns:a16="http://schemas.microsoft.com/office/drawing/2014/main" id="{4D51D784-CE4B-436B-91E2-0FA9E345E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233"/>
                <a:ext cx="1" cy="2"/>
              </a:xfrm>
              <a:custGeom>
                <a:avLst/>
                <a:gdLst>
                  <a:gd name="T0" fmla="*/ 0 w 21"/>
                  <a:gd name="T1" fmla="*/ 0 h 27"/>
                  <a:gd name="T2" fmla="*/ 0 w 21"/>
                  <a:gd name="T3" fmla="*/ 0 h 27"/>
                  <a:gd name="T4" fmla="*/ 0 w 21"/>
                  <a:gd name="T5" fmla="*/ 0 h 27"/>
                  <a:gd name="T6" fmla="*/ 0 w 21"/>
                  <a:gd name="T7" fmla="*/ 0 h 27"/>
                  <a:gd name="T8" fmla="*/ 0 w 21"/>
                  <a:gd name="T9" fmla="*/ 0 h 27"/>
                  <a:gd name="T10" fmla="*/ 0 w 21"/>
                  <a:gd name="T11" fmla="*/ 0 h 27"/>
                  <a:gd name="T12" fmla="*/ 0 w 21"/>
                  <a:gd name="T13" fmla="*/ 0 h 27"/>
                  <a:gd name="T14" fmla="*/ 0 w 21"/>
                  <a:gd name="T15" fmla="*/ 0 h 27"/>
                  <a:gd name="T16" fmla="*/ 0 w 21"/>
                  <a:gd name="T17" fmla="*/ 0 h 27"/>
                  <a:gd name="T18" fmla="*/ 0 w 21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27"/>
                  <a:gd name="T32" fmla="*/ 21 w 21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27">
                    <a:moveTo>
                      <a:pt x="0" y="25"/>
                    </a:moveTo>
                    <a:lnTo>
                      <a:pt x="6" y="27"/>
                    </a:lnTo>
                    <a:lnTo>
                      <a:pt x="11" y="26"/>
                    </a:lnTo>
                    <a:lnTo>
                      <a:pt x="16" y="24"/>
                    </a:lnTo>
                    <a:lnTo>
                      <a:pt x="19" y="20"/>
                    </a:lnTo>
                    <a:lnTo>
                      <a:pt x="21" y="14"/>
                    </a:lnTo>
                    <a:lnTo>
                      <a:pt x="21" y="9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2" name="Freeform 733">
                <a:extLst>
                  <a:ext uri="{FF2B5EF4-FFF2-40B4-BE49-F238E27FC236}">
                    <a16:creationId xmlns:a16="http://schemas.microsoft.com/office/drawing/2014/main" id="{D3875767-8DFE-412F-AADD-C7024A734C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5" cy="11"/>
              </a:xfrm>
              <a:custGeom>
                <a:avLst/>
                <a:gdLst>
                  <a:gd name="T0" fmla="*/ 0 w 115"/>
                  <a:gd name="T1" fmla="*/ 0 h 181"/>
                  <a:gd name="T2" fmla="*/ 0 w 115"/>
                  <a:gd name="T3" fmla="*/ 0 h 181"/>
                  <a:gd name="T4" fmla="*/ 0 w 115"/>
                  <a:gd name="T5" fmla="*/ 0 h 181"/>
                  <a:gd name="T6" fmla="*/ 0 w 115"/>
                  <a:gd name="T7" fmla="*/ 0 h 181"/>
                  <a:gd name="T8" fmla="*/ 0 w 115"/>
                  <a:gd name="T9" fmla="*/ 0 h 181"/>
                  <a:gd name="T10" fmla="*/ 0 w 115"/>
                  <a:gd name="T11" fmla="*/ 0 h 181"/>
                  <a:gd name="T12" fmla="*/ 0 w 115"/>
                  <a:gd name="T13" fmla="*/ 0 h 181"/>
                  <a:gd name="T14" fmla="*/ 0 w 115"/>
                  <a:gd name="T15" fmla="*/ 0 h 181"/>
                  <a:gd name="T16" fmla="*/ 0 w 115"/>
                  <a:gd name="T17" fmla="*/ 0 h 181"/>
                  <a:gd name="T18" fmla="*/ 0 w 115"/>
                  <a:gd name="T19" fmla="*/ 0 h 181"/>
                  <a:gd name="T20" fmla="*/ 0 w 115"/>
                  <a:gd name="T21" fmla="*/ 0 h 181"/>
                  <a:gd name="T22" fmla="*/ 0 w 115"/>
                  <a:gd name="T23" fmla="*/ 0 h 181"/>
                  <a:gd name="T24" fmla="*/ 0 w 115"/>
                  <a:gd name="T25" fmla="*/ 0 h 181"/>
                  <a:gd name="T26" fmla="*/ 0 w 115"/>
                  <a:gd name="T27" fmla="*/ 0 h 181"/>
                  <a:gd name="T28" fmla="*/ 0 w 115"/>
                  <a:gd name="T29" fmla="*/ 0 h 181"/>
                  <a:gd name="T30" fmla="*/ 0 w 115"/>
                  <a:gd name="T31" fmla="*/ 0 h 181"/>
                  <a:gd name="T32" fmla="*/ 0 w 115"/>
                  <a:gd name="T33" fmla="*/ 0 h 181"/>
                  <a:gd name="T34" fmla="*/ 0 w 115"/>
                  <a:gd name="T35" fmla="*/ 0 h 181"/>
                  <a:gd name="T36" fmla="*/ 0 w 115"/>
                  <a:gd name="T37" fmla="*/ 0 h 181"/>
                  <a:gd name="T38" fmla="*/ 0 w 115"/>
                  <a:gd name="T39" fmla="*/ 0 h 181"/>
                  <a:gd name="T40" fmla="*/ 0 w 115"/>
                  <a:gd name="T41" fmla="*/ 0 h 181"/>
                  <a:gd name="T42" fmla="*/ 0 w 115"/>
                  <a:gd name="T43" fmla="*/ 0 h 181"/>
                  <a:gd name="T44" fmla="*/ 0 w 115"/>
                  <a:gd name="T45" fmla="*/ 0 h 181"/>
                  <a:gd name="T46" fmla="*/ 0 w 115"/>
                  <a:gd name="T47" fmla="*/ 0 h 181"/>
                  <a:gd name="T48" fmla="*/ 0 w 115"/>
                  <a:gd name="T49" fmla="*/ 0 h 181"/>
                  <a:gd name="T50" fmla="*/ 0 w 115"/>
                  <a:gd name="T51" fmla="*/ 0 h 181"/>
                  <a:gd name="T52" fmla="*/ 0 w 115"/>
                  <a:gd name="T53" fmla="*/ 0 h 181"/>
                  <a:gd name="T54" fmla="*/ 0 w 115"/>
                  <a:gd name="T55" fmla="*/ 0 h 181"/>
                  <a:gd name="T56" fmla="*/ 0 w 115"/>
                  <a:gd name="T57" fmla="*/ 0 h 181"/>
                  <a:gd name="T58" fmla="*/ 0 w 115"/>
                  <a:gd name="T59" fmla="*/ 0 h 181"/>
                  <a:gd name="T60" fmla="*/ 0 w 115"/>
                  <a:gd name="T61" fmla="*/ 0 h 181"/>
                  <a:gd name="T62" fmla="*/ 0 w 115"/>
                  <a:gd name="T63" fmla="*/ 0 h 181"/>
                  <a:gd name="T64" fmla="*/ 0 w 115"/>
                  <a:gd name="T65" fmla="*/ 0 h 181"/>
                  <a:gd name="T66" fmla="*/ 0 w 115"/>
                  <a:gd name="T67" fmla="*/ 0 h 181"/>
                  <a:gd name="T68" fmla="*/ 0 w 115"/>
                  <a:gd name="T69" fmla="*/ 0 h 181"/>
                  <a:gd name="T70" fmla="*/ 0 w 115"/>
                  <a:gd name="T71" fmla="*/ 0 h 181"/>
                  <a:gd name="T72" fmla="*/ 0 w 115"/>
                  <a:gd name="T73" fmla="*/ 0 h 18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5"/>
                  <a:gd name="T112" fmla="*/ 0 h 181"/>
                  <a:gd name="T113" fmla="*/ 115 w 115"/>
                  <a:gd name="T114" fmla="*/ 181 h 18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5" h="181">
                    <a:moveTo>
                      <a:pt x="0" y="0"/>
                    </a:moveTo>
                    <a:lnTo>
                      <a:pt x="0" y="0"/>
                    </a:lnTo>
                    <a:lnTo>
                      <a:pt x="0" y="13"/>
                    </a:lnTo>
                    <a:lnTo>
                      <a:pt x="2" y="27"/>
                    </a:lnTo>
                    <a:lnTo>
                      <a:pt x="4" y="40"/>
                    </a:lnTo>
                    <a:lnTo>
                      <a:pt x="7" y="53"/>
                    </a:lnTo>
                    <a:lnTo>
                      <a:pt x="11" y="68"/>
                    </a:lnTo>
                    <a:lnTo>
                      <a:pt x="15" y="80"/>
                    </a:lnTo>
                    <a:lnTo>
                      <a:pt x="21" y="92"/>
                    </a:lnTo>
                    <a:lnTo>
                      <a:pt x="28" y="104"/>
                    </a:lnTo>
                    <a:lnTo>
                      <a:pt x="34" y="116"/>
                    </a:lnTo>
                    <a:lnTo>
                      <a:pt x="42" y="126"/>
                    </a:lnTo>
                    <a:lnTo>
                      <a:pt x="50" y="138"/>
                    </a:lnTo>
                    <a:lnTo>
                      <a:pt x="59" y="147"/>
                    </a:lnTo>
                    <a:lnTo>
                      <a:pt x="68" y="157"/>
                    </a:lnTo>
                    <a:lnTo>
                      <a:pt x="80" y="165"/>
                    </a:lnTo>
                    <a:lnTo>
                      <a:pt x="90" y="173"/>
                    </a:lnTo>
                    <a:lnTo>
                      <a:pt x="101" y="181"/>
                    </a:lnTo>
                    <a:lnTo>
                      <a:pt x="115" y="156"/>
                    </a:lnTo>
                    <a:lnTo>
                      <a:pt x="106" y="149"/>
                    </a:lnTo>
                    <a:lnTo>
                      <a:pt x="96" y="142"/>
                    </a:lnTo>
                    <a:lnTo>
                      <a:pt x="87" y="136"/>
                    </a:lnTo>
                    <a:lnTo>
                      <a:pt x="80" y="126"/>
                    </a:lnTo>
                    <a:lnTo>
                      <a:pt x="70" y="119"/>
                    </a:lnTo>
                    <a:lnTo>
                      <a:pt x="64" y="109"/>
                    </a:lnTo>
                    <a:lnTo>
                      <a:pt x="58" y="101"/>
                    </a:lnTo>
                    <a:lnTo>
                      <a:pt x="52" y="89"/>
                    </a:lnTo>
                    <a:lnTo>
                      <a:pt x="46" y="80"/>
                    </a:lnTo>
                    <a:lnTo>
                      <a:pt x="42" y="69"/>
                    </a:lnTo>
                    <a:lnTo>
                      <a:pt x="38" y="58"/>
                    </a:lnTo>
                    <a:lnTo>
                      <a:pt x="34" y="47"/>
                    </a:lnTo>
                    <a:lnTo>
                      <a:pt x="33" y="35"/>
                    </a:lnTo>
                    <a:lnTo>
                      <a:pt x="31" y="23"/>
                    </a:lnTo>
                    <a:lnTo>
                      <a:pt x="29" y="11"/>
                    </a:lnTo>
                    <a:lnTo>
                      <a:pt x="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3" name="Freeform 734">
                <a:extLst>
                  <a:ext uri="{FF2B5EF4-FFF2-40B4-BE49-F238E27FC236}">
                    <a16:creationId xmlns:a16="http://schemas.microsoft.com/office/drawing/2014/main" id="{432969F3-D593-43C9-82DD-B13EAD4EB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2"/>
                <a:ext cx="1" cy="2"/>
              </a:xfrm>
              <a:custGeom>
                <a:avLst/>
                <a:gdLst>
                  <a:gd name="T0" fmla="*/ 0 w 33"/>
                  <a:gd name="T1" fmla="*/ 0 h 47"/>
                  <a:gd name="T2" fmla="*/ 0 w 33"/>
                  <a:gd name="T3" fmla="*/ 0 h 47"/>
                  <a:gd name="T4" fmla="*/ 0 w 33"/>
                  <a:gd name="T5" fmla="*/ 0 h 47"/>
                  <a:gd name="T6" fmla="*/ 0 w 33"/>
                  <a:gd name="T7" fmla="*/ 0 h 47"/>
                  <a:gd name="T8" fmla="*/ 0 w 33"/>
                  <a:gd name="T9" fmla="*/ 0 h 47"/>
                  <a:gd name="T10" fmla="*/ 0 w 33"/>
                  <a:gd name="T11" fmla="*/ 0 h 47"/>
                  <a:gd name="T12" fmla="*/ 0 w 33"/>
                  <a:gd name="T13" fmla="*/ 0 h 47"/>
                  <a:gd name="T14" fmla="*/ 0 w 33"/>
                  <a:gd name="T15" fmla="*/ 0 h 47"/>
                  <a:gd name="T16" fmla="*/ 0 w 33"/>
                  <a:gd name="T17" fmla="*/ 0 h 47"/>
                  <a:gd name="T18" fmla="*/ 0 w 33"/>
                  <a:gd name="T19" fmla="*/ 0 h 47"/>
                  <a:gd name="T20" fmla="*/ 0 w 33"/>
                  <a:gd name="T21" fmla="*/ 0 h 47"/>
                  <a:gd name="T22" fmla="*/ 0 w 33"/>
                  <a:gd name="T23" fmla="*/ 0 h 47"/>
                  <a:gd name="T24" fmla="*/ 0 w 33"/>
                  <a:gd name="T25" fmla="*/ 0 h 47"/>
                  <a:gd name="T26" fmla="*/ 0 w 33"/>
                  <a:gd name="T27" fmla="*/ 0 h 47"/>
                  <a:gd name="T28" fmla="*/ 0 w 33"/>
                  <a:gd name="T29" fmla="*/ 0 h 47"/>
                  <a:gd name="T30" fmla="*/ 0 w 33"/>
                  <a:gd name="T31" fmla="*/ 0 h 47"/>
                  <a:gd name="T32" fmla="*/ 0 w 33"/>
                  <a:gd name="T33" fmla="*/ 0 h 47"/>
                  <a:gd name="T34" fmla="*/ 0 w 33"/>
                  <a:gd name="T35" fmla="*/ 0 h 47"/>
                  <a:gd name="T36" fmla="*/ 0 w 33"/>
                  <a:gd name="T37" fmla="*/ 0 h 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"/>
                  <a:gd name="T58" fmla="*/ 0 h 47"/>
                  <a:gd name="T59" fmla="*/ 33 w 33"/>
                  <a:gd name="T60" fmla="*/ 47 h 4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" h="47">
                    <a:moveTo>
                      <a:pt x="4" y="0"/>
                    </a:moveTo>
                    <a:lnTo>
                      <a:pt x="3" y="6"/>
                    </a:lnTo>
                    <a:lnTo>
                      <a:pt x="2" y="11"/>
                    </a:lnTo>
                    <a:lnTo>
                      <a:pt x="1" y="18"/>
                    </a:lnTo>
                    <a:lnTo>
                      <a:pt x="1" y="23"/>
                    </a:lnTo>
                    <a:lnTo>
                      <a:pt x="0" y="30"/>
                    </a:lnTo>
                    <a:lnTo>
                      <a:pt x="0" y="36"/>
                    </a:lnTo>
                    <a:lnTo>
                      <a:pt x="0" y="41"/>
                    </a:lnTo>
                    <a:lnTo>
                      <a:pt x="0" y="47"/>
                    </a:lnTo>
                    <a:lnTo>
                      <a:pt x="29" y="47"/>
                    </a:lnTo>
                    <a:lnTo>
                      <a:pt x="29" y="41"/>
                    </a:lnTo>
                    <a:lnTo>
                      <a:pt x="29" y="36"/>
                    </a:lnTo>
                    <a:lnTo>
                      <a:pt x="29" y="32"/>
                    </a:lnTo>
                    <a:lnTo>
                      <a:pt x="30" y="26"/>
                    </a:lnTo>
                    <a:lnTo>
                      <a:pt x="30" y="20"/>
                    </a:lnTo>
                    <a:lnTo>
                      <a:pt x="31" y="17"/>
                    </a:lnTo>
                    <a:lnTo>
                      <a:pt x="32" y="12"/>
                    </a:lnTo>
                    <a:lnTo>
                      <a:pt x="33" y="7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4" name="Freeform 735">
                <a:extLst>
                  <a:ext uri="{FF2B5EF4-FFF2-40B4-BE49-F238E27FC236}">
                    <a16:creationId xmlns:a16="http://schemas.microsoft.com/office/drawing/2014/main" id="{B067B686-F1D5-4B38-A878-2CCFD516A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3224"/>
                <a:ext cx="1" cy="1"/>
              </a:xfrm>
              <a:custGeom>
                <a:avLst/>
                <a:gdLst>
                  <a:gd name="T0" fmla="*/ 0 w 29"/>
                  <a:gd name="T1" fmla="*/ 0 h 18"/>
                  <a:gd name="T2" fmla="*/ 0 w 29"/>
                  <a:gd name="T3" fmla="*/ 0 h 18"/>
                  <a:gd name="T4" fmla="*/ 0 w 29"/>
                  <a:gd name="T5" fmla="*/ 0 h 18"/>
                  <a:gd name="T6" fmla="*/ 0 w 29"/>
                  <a:gd name="T7" fmla="*/ 0 h 18"/>
                  <a:gd name="T8" fmla="*/ 0 w 29"/>
                  <a:gd name="T9" fmla="*/ 0 h 18"/>
                  <a:gd name="T10" fmla="*/ 0 w 29"/>
                  <a:gd name="T11" fmla="*/ 0 h 18"/>
                  <a:gd name="T12" fmla="*/ 0 w 29"/>
                  <a:gd name="T13" fmla="*/ 0 h 18"/>
                  <a:gd name="T14" fmla="*/ 0 w 29"/>
                  <a:gd name="T15" fmla="*/ 0 h 18"/>
                  <a:gd name="T16" fmla="*/ 0 w 29"/>
                  <a:gd name="T17" fmla="*/ 0 h 18"/>
                  <a:gd name="T18" fmla="*/ 0 w 29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"/>
                  <a:gd name="T31" fmla="*/ 0 h 18"/>
                  <a:gd name="T32" fmla="*/ 29 w 29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" h="18">
                    <a:moveTo>
                      <a:pt x="29" y="18"/>
                    </a:moveTo>
                    <a:lnTo>
                      <a:pt x="29" y="11"/>
                    </a:lnTo>
                    <a:lnTo>
                      <a:pt x="27" y="6"/>
                    </a:lnTo>
                    <a:lnTo>
                      <a:pt x="22" y="2"/>
                    </a:lnTo>
                    <a:lnTo>
                      <a:pt x="17" y="0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29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5" name="Freeform 736">
                <a:extLst>
                  <a:ext uri="{FF2B5EF4-FFF2-40B4-BE49-F238E27FC236}">
                    <a16:creationId xmlns:a16="http://schemas.microsoft.com/office/drawing/2014/main" id="{626DBE4D-4653-4208-9292-7D8074936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5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6" name="Freeform 737">
                <a:extLst>
                  <a:ext uri="{FF2B5EF4-FFF2-40B4-BE49-F238E27FC236}">
                    <a16:creationId xmlns:a16="http://schemas.microsoft.com/office/drawing/2014/main" id="{8AD1E8CA-36CD-4DB9-95F5-869A44953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3"/>
                <a:ext cx="7" cy="15"/>
              </a:xfrm>
              <a:custGeom>
                <a:avLst/>
                <a:gdLst>
                  <a:gd name="T0" fmla="*/ 0 w 164"/>
                  <a:gd name="T1" fmla="*/ 0 h 274"/>
                  <a:gd name="T2" fmla="*/ 0 w 164"/>
                  <a:gd name="T3" fmla="*/ 0 h 274"/>
                  <a:gd name="T4" fmla="*/ 0 w 164"/>
                  <a:gd name="T5" fmla="*/ 0 h 274"/>
                  <a:gd name="T6" fmla="*/ 0 w 164"/>
                  <a:gd name="T7" fmla="*/ 0 h 274"/>
                  <a:gd name="T8" fmla="*/ 0 w 164"/>
                  <a:gd name="T9" fmla="*/ 0 h 274"/>
                  <a:gd name="T10" fmla="*/ 0 w 164"/>
                  <a:gd name="T11" fmla="*/ 0 h 274"/>
                  <a:gd name="T12" fmla="*/ 0 w 164"/>
                  <a:gd name="T13" fmla="*/ 0 h 274"/>
                  <a:gd name="T14" fmla="*/ 0 w 164"/>
                  <a:gd name="T15" fmla="*/ 0 h 274"/>
                  <a:gd name="T16" fmla="*/ 0 w 164"/>
                  <a:gd name="T17" fmla="*/ 0 h 274"/>
                  <a:gd name="T18" fmla="*/ 0 w 164"/>
                  <a:gd name="T19" fmla="*/ 0 h 274"/>
                  <a:gd name="T20" fmla="*/ 0 w 164"/>
                  <a:gd name="T21" fmla="*/ 0 h 274"/>
                  <a:gd name="T22" fmla="*/ 0 w 164"/>
                  <a:gd name="T23" fmla="*/ 0 h 274"/>
                  <a:gd name="T24" fmla="*/ 0 w 164"/>
                  <a:gd name="T25" fmla="*/ 0 h 274"/>
                  <a:gd name="T26" fmla="*/ 0 w 164"/>
                  <a:gd name="T27" fmla="*/ 0 h 274"/>
                  <a:gd name="T28" fmla="*/ 0 w 164"/>
                  <a:gd name="T29" fmla="*/ 0 h 274"/>
                  <a:gd name="T30" fmla="*/ 0 w 164"/>
                  <a:gd name="T31" fmla="*/ 0 h 274"/>
                  <a:gd name="T32" fmla="*/ 0 w 164"/>
                  <a:gd name="T33" fmla="*/ 0 h 274"/>
                  <a:gd name="T34" fmla="*/ 0 w 164"/>
                  <a:gd name="T35" fmla="*/ 0 h 274"/>
                  <a:gd name="T36" fmla="*/ 0 w 164"/>
                  <a:gd name="T37" fmla="*/ 0 h 274"/>
                  <a:gd name="T38" fmla="*/ 0 w 164"/>
                  <a:gd name="T39" fmla="*/ 0 h 274"/>
                  <a:gd name="T40" fmla="*/ 0 w 164"/>
                  <a:gd name="T41" fmla="*/ 0 h 274"/>
                  <a:gd name="T42" fmla="*/ 0 w 164"/>
                  <a:gd name="T43" fmla="*/ 0 h 274"/>
                  <a:gd name="T44" fmla="*/ 0 w 164"/>
                  <a:gd name="T45" fmla="*/ 0 h 274"/>
                  <a:gd name="T46" fmla="*/ 0 w 164"/>
                  <a:gd name="T47" fmla="*/ 0 h 274"/>
                  <a:gd name="T48" fmla="*/ 0 w 164"/>
                  <a:gd name="T49" fmla="*/ 0 h 274"/>
                  <a:gd name="T50" fmla="*/ 0 w 164"/>
                  <a:gd name="T51" fmla="*/ 0 h 274"/>
                  <a:gd name="T52" fmla="*/ 0 w 164"/>
                  <a:gd name="T53" fmla="*/ 0 h 274"/>
                  <a:gd name="T54" fmla="*/ 0 w 164"/>
                  <a:gd name="T55" fmla="*/ 0 h 274"/>
                  <a:gd name="T56" fmla="*/ 0 w 164"/>
                  <a:gd name="T57" fmla="*/ 0 h 274"/>
                  <a:gd name="T58" fmla="*/ 0 w 164"/>
                  <a:gd name="T59" fmla="*/ 0 h 274"/>
                  <a:gd name="T60" fmla="*/ 0 w 164"/>
                  <a:gd name="T61" fmla="*/ 0 h 274"/>
                  <a:gd name="T62" fmla="*/ 0 w 164"/>
                  <a:gd name="T63" fmla="*/ 0 h 274"/>
                  <a:gd name="T64" fmla="*/ 0 w 164"/>
                  <a:gd name="T65" fmla="*/ 0 h 274"/>
                  <a:gd name="T66" fmla="*/ 0 w 164"/>
                  <a:gd name="T67" fmla="*/ 0 h 274"/>
                  <a:gd name="T68" fmla="*/ 0 w 164"/>
                  <a:gd name="T69" fmla="*/ 0 h 274"/>
                  <a:gd name="T70" fmla="*/ 0 w 164"/>
                  <a:gd name="T71" fmla="*/ 0 h 274"/>
                  <a:gd name="T72" fmla="*/ 0 w 164"/>
                  <a:gd name="T73" fmla="*/ 0 h 27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4"/>
                  <a:gd name="T112" fmla="*/ 0 h 274"/>
                  <a:gd name="T113" fmla="*/ 164 w 164"/>
                  <a:gd name="T114" fmla="*/ 274 h 27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4" h="274">
                    <a:moveTo>
                      <a:pt x="164" y="274"/>
                    </a:moveTo>
                    <a:lnTo>
                      <a:pt x="164" y="274"/>
                    </a:lnTo>
                    <a:lnTo>
                      <a:pt x="162" y="253"/>
                    </a:lnTo>
                    <a:lnTo>
                      <a:pt x="160" y="233"/>
                    </a:lnTo>
                    <a:lnTo>
                      <a:pt x="157" y="211"/>
                    </a:lnTo>
                    <a:lnTo>
                      <a:pt x="153" y="190"/>
                    </a:lnTo>
                    <a:lnTo>
                      <a:pt x="147" y="170"/>
                    </a:lnTo>
                    <a:lnTo>
                      <a:pt x="139" y="152"/>
                    </a:lnTo>
                    <a:lnTo>
                      <a:pt x="130" y="135"/>
                    </a:lnTo>
                    <a:lnTo>
                      <a:pt x="122" y="116"/>
                    </a:lnTo>
                    <a:lnTo>
                      <a:pt x="112" y="98"/>
                    </a:lnTo>
                    <a:lnTo>
                      <a:pt x="100" y="82"/>
                    </a:lnTo>
                    <a:lnTo>
                      <a:pt x="87" y="65"/>
                    </a:lnTo>
                    <a:lnTo>
                      <a:pt x="73" y="50"/>
                    </a:lnTo>
                    <a:lnTo>
                      <a:pt x="59" y="35"/>
                    </a:lnTo>
                    <a:lnTo>
                      <a:pt x="43" y="23"/>
                    </a:lnTo>
                    <a:lnTo>
                      <a:pt x="27" y="10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5" y="29"/>
                    </a:lnTo>
                    <a:lnTo>
                      <a:pt x="30" y="40"/>
                    </a:lnTo>
                    <a:lnTo>
                      <a:pt x="45" y="52"/>
                    </a:lnTo>
                    <a:lnTo>
                      <a:pt x="59" y="65"/>
                    </a:lnTo>
                    <a:lnTo>
                      <a:pt x="71" y="80"/>
                    </a:lnTo>
                    <a:lnTo>
                      <a:pt x="83" y="94"/>
                    </a:lnTo>
                    <a:lnTo>
                      <a:pt x="94" y="110"/>
                    </a:lnTo>
                    <a:lnTo>
                      <a:pt x="104" y="126"/>
                    </a:lnTo>
                    <a:lnTo>
                      <a:pt x="112" y="143"/>
                    </a:lnTo>
                    <a:lnTo>
                      <a:pt x="119" y="161"/>
                    </a:lnTo>
                    <a:lnTo>
                      <a:pt x="126" y="179"/>
                    </a:lnTo>
                    <a:lnTo>
                      <a:pt x="132" y="197"/>
                    </a:lnTo>
                    <a:lnTo>
                      <a:pt x="136" y="216"/>
                    </a:lnTo>
                    <a:lnTo>
                      <a:pt x="139" y="235"/>
                    </a:lnTo>
                    <a:lnTo>
                      <a:pt x="141" y="255"/>
                    </a:lnTo>
                    <a:lnTo>
                      <a:pt x="141" y="274"/>
                    </a:lnTo>
                    <a:lnTo>
                      <a:pt x="164" y="2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7" name="Freeform 738">
                <a:extLst>
                  <a:ext uri="{FF2B5EF4-FFF2-40B4-BE49-F238E27FC236}">
                    <a16:creationId xmlns:a16="http://schemas.microsoft.com/office/drawing/2014/main" id="{63F78B00-EA6D-4073-A3CD-8E975B86A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4"/>
              </a:xfrm>
              <a:custGeom>
                <a:avLst/>
                <a:gdLst>
                  <a:gd name="T0" fmla="*/ 0 w 29"/>
                  <a:gd name="T1" fmla="*/ 0 h 68"/>
                  <a:gd name="T2" fmla="*/ 0 w 29"/>
                  <a:gd name="T3" fmla="*/ 0 h 68"/>
                  <a:gd name="T4" fmla="*/ 0 w 29"/>
                  <a:gd name="T5" fmla="*/ 0 h 68"/>
                  <a:gd name="T6" fmla="*/ 0 w 29"/>
                  <a:gd name="T7" fmla="*/ 0 h 68"/>
                  <a:gd name="T8" fmla="*/ 0 w 29"/>
                  <a:gd name="T9" fmla="*/ 0 h 68"/>
                  <a:gd name="T10" fmla="*/ 0 w 29"/>
                  <a:gd name="T11" fmla="*/ 0 h 68"/>
                  <a:gd name="T12" fmla="*/ 0 w 29"/>
                  <a:gd name="T13" fmla="*/ 0 h 68"/>
                  <a:gd name="T14" fmla="*/ 0 w 29"/>
                  <a:gd name="T15" fmla="*/ 0 h 68"/>
                  <a:gd name="T16" fmla="*/ 0 w 29"/>
                  <a:gd name="T17" fmla="*/ 0 h 68"/>
                  <a:gd name="T18" fmla="*/ 0 w 29"/>
                  <a:gd name="T19" fmla="*/ 0 h 68"/>
                  <a:gd name="T20" fmla="*/ 0 w 29"/>
                  <a:gd name="T21" fmla="*/ 0 h 68"/>
                  <a:gd name="T22" fmla="*/ 0 w 29"/>
                  <a:gd name="T23" fmla="*/ 0 h 68"/>
                  <a:gd name="T24" fmla="*/ 0 w 29"/>
                  <a:gd name="T25" fmla="*/ 0 h 68"/>
                  <a:gd name="T26" fmla="*/ 0 w 29"/>
                  <a:gd name="T27" fmla="*/ 0 h 68"/>
                  <a:gd name="T28" fmla="*/ 0 w 29"/>
                  <a:gd name="T29" fmla="*/ 0 h 68"/>
                  <a:gd name="T30" fmla="*/ 0 w 29"/>
                  <a:gd name="T31" fmla="*/ 0 h 68"/>
                  <a:gd name="T32" fmla="*/ 0 w 29"/>
                  <a:gd name="T33" fmla="*/ 0 h 68"/>
                  <a:gd name="T34" fmla="*/ 0 w 29"/>
                  <a:gd name="T35" fmla="*/ 0 h 68"/>
                  <a:gd name="T36" fmla="*/ 0 w 29"/>
                  <a:gd name="T37" fmla="*/ 0 h 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9"/>
                  <a:gd name="T58" fmla="*/ 0 h 68"/>
                  <a:gd name="T59" fmla="*/ 29 w 29"/>
                  <a:gd name="T60" fmla="*/ 68 h 6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9" h="68">
                    <a:moveTo>
                      <a:pt x="21" y="68"/>
                    </a:moveTo>
                    <a:lnTo>
                      <a:pt x="22" y="60"/>
                    </a:lnTo>
                    <a:lnTo>
                      <a:pt x="24" y="52"/>
                    </a:lnTo>
                    <a:lnTo>
                      <a:pt x="25" y="43"/>
                    </a:lnTo>
                    <a:lnTo>
                      <a:pt x="26" y="34"/>
                    </a:lnTo>
                    <a:lnTo>
                      <a:pt x="28" y="25"/>
                    </a:lnTo>
                    <a:lnTo>
                      <a:pt x="28" y="17"/>
                    </a:lnTo>
                    <a:lnTo>
                      <a:pt x="29" y="8"/>
                    </a:lnTo>
                    <a:lnTo>
                      <a:pt x="29" y="0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5" y="17"/>
                    </a:lnTo>
                    <a:lnTo>
                      <a:pt x="5" y="25"/>
                    </a:lnTo>
                    <a:lnTo>
                      <a:pt x="5" y="32"/>
                    </a:lnTo>
                    <a:lnTo>
                      <a:pt x="4" y="41"/>
                    </a:lnTo>
                    <a:lnTo>
                      <a:pt x="3" y="48"/>
                    </a:lnTo>
                    <a:lnTo>
                      <a:pt x="1" y="56"/>
                    </a:lnTo>
                    <a:lnTo>
                      <a:pt x="0" y="64"/>
                    </a:lnTo>
                    <a:lnTo>
                      <a:pt x="21" y="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8" name="Freeform 739">
                <a:extLst>
                  <a:ext uri="{FF2B5EF4-FFF2-40B4-BE49-F238E27FC236}">
                    <a16:creationId xmlns:a16="http://schemas.microsoft.com/office/drawing/2014/main" id="{5EACE91A-921D-48C3-B435-D52EBF0A2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38"/>
                <a:ext cx="1" cy="1"/>
              </a:xfrm>
              <a:custGeom>
                <a:avLst/>
                <a:gdLst>
                  <a:gd name="T0" fmla="*/ 0 w 21"/>
                  <a:gd name="T1" fmla="*/ 0 h 12"/>
                  <a:gd name="T2" fmla="*/ 0 w 21"/>
                  <a:gd name="T3" fmla="*/ 0 h 12"/>
                  <a:gd name="T4" fmla="*/ 0 w 21"/>
                  <a:gd name="T5" fmla="*/ 0 h 12"/>
                  <a:gd name="T6" fmla="*/ 0 w 21"/>
                  <a:gd name="T7" fmla="*/ 0 h 12"/>
                  <a:gd name="T8" fmla="*/ 0 w 21"/>
                  <a:gd name="T9" fmla="*/ 0 h 12"/>
                  <a:gd name="T10" fmla="*/ 0 w 2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2"/>
                  <a:gd name="T20" fmla="*/ 21 w 2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2">
                    <a:moveTo>
                      <a:pt x="0" y="0"/>
                    </a:moveTo>
                    <a:lnTo>
                      <a:pt x="3" y="8"/>
                    </a:lnTo>
                    <a:lnTo>
                      <a:pt x="10" y="12"/>
                    </a:lnTo>
                    <a:lnTo>
                      <a:pt x="17" y="11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9" name="Freeform 740">
                <a:extLst>
                  <a:ext uri="{FF2B5EF4-FFF2-40B4-BE49-F238E27FC236}">
                    <a16:creationId xmlns:a16="http://schemas.microsoft.com/office/drawing/2014/main" id="{A12061E0-3A78-494A-A831-57BC450B7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3128"/>
                <a:ext cx="1" cy="1"/>
              </a:xfrm>
              <a:custGeom>
                <a:avLst/>
                <a:gdLst>
                  <a:gd name="T0" fmla="*/ 0 w 15"/>
                  <a:gd name="T1" fmla="*/ 0 h 20"/>
                  <a:gd name="T2" fmla="*/ 0 w 15"/>
                  <a:gd name="T3" fmla="*/ 0 h 20"/>
                  <a:gd name="T4" fmla="*/ 0 w 15"/>
                  <a:gd name="T5" fmla="*/ 0 h 20"/>
                  <a:gd name="T6" fmla="*/ 0 w 15"/>
                  <a:gd name="T7" fmla="*/ 0 h 20"/>
                  <a:gd name="T8" fmla="*/ 0 w 15"/>
                  <a:gd name="T9" fmla="*/ 0 h 20"/>
                  <a:gd name="T10" fmla="*/ 0 w 15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20"/>
                  <a:gd name="T20" fmla="*/ 15 w 15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20">
                    <a:moveTo>
                      <a:pt x="15" y="1"/>
                    </a:moveTo>
                    <a:lnTo>
                      <a:pt x="7" y="0"/>
                    </a:lnTo>
                    <a:lnTo>
                      <a:pt x="1" y="6"/>
                    </a:lnTo>
                    <a:lnTo>
                      <a:pt x="0" y="14"/>
                    </a:lnTo>
                    <a:lnTo>
                      <a:pt x="5" y="20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0" name="Freeform 741">
                <a:extLst>
                  <a:ext uri="{FF2B5EF4-FFF2-40B4-BE49-F238E27FC236}">
                    <a16:creationId xmlns:a16="http://schemas.microsoft.com/office/drawing/2014/main" id="{AA88DF59-5098-4A74-A921-3A59160EA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128"/>
                <a:ext cx="4" cy="8"/>
              </a:xfrm>
              <a:custGeom>
                <a:avLst/>
                <a:gdLst>
                  <a:gd name="T0" fmla="*/ 0 w 86"/>
                  <a:gd name="T1" fmla="*/ 0 h 136"/>
                  <a:gd name="T2" fmla="*/ 0 w 86"/>
                  <a:gd name="T3" fmla="*/ 0 h 136"/>
                  <a:gd name="T4" fmla="*/ 0 w 86"/>
                  <a:gd name="T5" fmla="*/ 0 h 136"/>
                  <a:gd name="T6" fmla="*/ 0 w 86"/>
                  <a:gd name="T7" fmla="*/ 0 h 136"/>
                  <a:gd name="T8" fmla="*/ 0 w 86"/>
                  <a:gd name="T9" fmla="*/ 0 h 136"/>
                  <a:gd name="T10" fmla="*/ 0 w 86"/>
                  <a:gd name="T11" fmla="*/ 0 h 136"/>
                  <a:gd name="T12" fmla="*/ 0 w 86"/>
                  <a:gd name="T13" fmla="*/ 0 h 136"/>
                  <a:gd name="T14" fmla="*/ 0 w 86"/>
                  <a:gd name="T15" fmla="*/ 0 h 136"/>
                  <a:gd name="T16" fmla="*/ 0 w 86"/>
                  <a:gd name="T17" fmla="*/ 0 h 136"/>
                  <a:gd name="T18" fmla="*/ 0 w 86"/>
                  <a:gd name="T19" fmla="*/ 0 h 136"/>
                  <a:gd name="T20" fmla="*/ 0 w 86"/>
                  <a:gd name="T21" fmla="*/ 0 h 136"/>
                  <a:gd name="T22" fmla="*/ 0 w 86"/>
                  <a:gd name="T23" fmla="*/ 0 h 136"/>
                  <a:gd name="T24" fmla="*/ 0 w 86"/>
                  <a:gd name="T25" fmla="*/ 0 h 136"/>
                  <a:gd name="T26" fmla="*/ 0 w 86"/>
                  <a:gd name="T27" fmla="*/ 0 h 136"/>
                  <a:gd name="T28" fmla="*/ 0 w 86"/>
                  <a:gd name="T29" fmla="*/ 0 h 136"/>
                  <a:gd name="T30" fmla="*/ 0 w 86"/>
                  <a:gd name="T31" fmla="*/ 0 h 136"/>
                  <a:gd name="T32" fmla="*/ 0 w 86"/>
                  <a:gd name="T33" fmla="*/ 0 h 136"/>
                  <a:gd name="T34" fmla="*/ 0 w 86"/>
                  <a:gd name="T35" fmla="*/ 0 h 136"/>
                  <a:gd name="T36" fmla="*/ 0 w 86"/>
                  <a:gd name="T37" fmla="*/ 0 h 136"/>
                  <a:gd name="T38" fmla="*/ 0 w 86"/>
                  <a:gd name="T39" fmla="*/ 0 h 136"/>
                  <a:gd name="T40" fmla="*/ 0 w 86"/>
                  <a:gd name="T41" fmla="*/ 0 h 1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86"/>
                  <a:gd name="T64" fmla="*/ 0 h 136"/>
                  <a:gd name="T65" fmla="*/ 86 w 86"/>
                  <a:gd name="T66" fmla="*/ 136 h 1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86" h="136">
                    <a:moveTo>
                      <a:pt x="86" y="136"/>
                    </a:moveTo>
                    <a:lnTo>
                      <a:pt x="86" y="136"/>
                    </a:lnTo>
                    <a:lnTo>
                      <a:pt x="85" y="116"/>
                    </a:lnTo>
                    <a:lnTo>
                      <a:pt x="81" y="95"/>
                    </a:lnTo>
                    <a:lnTo>
                      <a:pt x="76" y="76"/>
                    </a:lnTo>
                    <a:lnTo>
                      <a:pt x="66" y="58"/>
                    </a:lnTo>
                    <a:lnTo>
                      <a:pt x="55" y="41"/>
                    </a:lnTo>
                    <a:lnTo>
                      <a:pt x="42" y="26"/>
                    </a:lnTo>
                    <a:lnTo>
                      <a:pt x="27" y="12"/>
                    </a:lnTo>
                    <a:lnTo>
                      <a:pt x="10" y="0"/>
                    </a:lnTo>
                    <a:lnTo>
                      <a:pt x="0" y="19"/>
                    </a:lnTo>
                    <a:lnTo>
                      <a:pt x="14" y="29"/>
                    </a:lnTo>
                    <a:lnTo>
                      <a:pt x="28" y="40"/>
                    </a:lnTo>
                    <a:lnTo>
                      <a:pt x="39" y="54"/>
                    </a:lnTo>
                    <a:lnTo>
                      <a:pt x="48" y="69"/>
                    </a:lnTo>
                    <a:lnTo>
                      <a:pt x="55" y="85"/>
                    </a:lnTo>
                    <a:lnTo>
                      <a:pt x="60" y="102"/>
                    </a:lnTo>
                    <a:lnTo>
                      <a:pt x="64" y="118"/>
                    </a:lnTo>
                    <a:lnTo>
                      <a:pt x="65" y="136"/>
                    </a:lnTo>
                    <a:lnTo>
                      <a:pt x="86" y="1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1" name="Freeform 742">
                <a:extLst>
                  <a:ext uri="{FF2B5EF4-FFF2-40B4-BE49-F238E27FC236}">
                    <a16:creationId xmlns:a16="http://schemas.microsoft.com/office/drawing/2014/main" id="{12B71DA8-40E2-4D34-9DBE-5E0BDFDEB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6"/>
                <a:ext cx="1" cy="2"/>
              </a:xfrm>
              <a:custGeom>
                <a:avLst/>
                <a:gdLst>
                  <a:gd name="T0" fmla="*/ 0 w 24"/>
                  <a:gd name="T1" fmla="*/ 0 h 35"/>
                  <a:gd name="T2" fmla="*/ 0 w 24"/>
                  <a:gd name="T3" fmla="*/ 0 h 35"/>
                  <a:gd name="T4" fmla="*/ 0 w 24"/>
                  <a:gd name="T5" fmla="*/ 0 h 35"/>
                  <a:gd name="T6" fmla="*/ 0 w 24"/>
                  <a:gd name="T7" fmla="*/ 0 h 35"/>
                  <a:gd name="T8" fmla="*/ 0 w 24"/>
                  <a:gd name="T9" fmla="*/ 0 h 35"/>
                  <a:gd name="T10" fmla="*/ 0 w 24"/>
                  <a:gd name="T11" fmla="*/ 0 h 35"/>
                  <a:gd name="T12" fmla="*/ 0 w 24"/>
                  <a:gd name="T13" fmla="*/ 0 h 35"/>
                  <a:gd name="T14" fmla="*/ 0 w 24"/>
                  <a:gd name="T15" fmla="*/ 0 h 35"/>
                  <a:gd name="T16" fmla="*/ 0 w 24"/>
                  <a:gd name="T17" fmla="*/ 0 h 35"/>
                  <a:gd name="T18" fmla="*/ 0 w 24"/>
                  <a:gd name="T19" fmla="*/ 0 h 35"/>
                  <a:gd name="T20" fmla="*/ 0 w 24"/>
                  <a:gd name="T21" fmla="*/ 0 h 35"/>
                  <a:gd name="T22" fmla="*/ 0 w 24"/>
                  <a:gd name="T23" fmla="*/ 0 h 35"/>
                  <a:gd name="T24" fmla="*/ 0 w 24"/>
                  <a:gd name="T25" fmla="*/ 0 h 35"/>
                  <a:gd name="T26" fmla="*/ 0 w 24"/>
                  <a:gd name="T27" fmla="*/ 0 h 35"/>
                  <a:gd name="T28" fmla="*/ 0 w 24"/>
                  <a:gd name="T29" fmla="*/ 0 h 35"/>
                  <a:gd name="T30" fmla="*/ 0 w 24"/>
                  <a:gd name="T31" fmla="*/ 0 h 35"/>
                  <a:gd name="T32" fmla="*/ 0 w 24"/>
                  <a:gd name="T33" fmla="*/ 0 h 35"/>
                  <a:gd name="T34" fmla="*/ 0 w 24"/>
                  <a:gd name="T35" fmla="*/ 0 h 35"/>
                  <a:gd name="T36" fmla="*/ 0 w 24"/>
                  <a:gd name="T37" fmla="*/ 0 h 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4"/>
                  <a:gd name="T58" fmla="*/ 0 h 35"/>
                  <a:gd name="T59" fmla="*/ 24 w 24"/>
                  <a:gd name="T60" fmla="*/ 35 h 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4" h="35">
                    <a:moveTo>
                      <a:pt x="21" y="35"/>
                    </a:moveTo>
                    <a:lnTo>
                      <a:pt x="22" y="30"/>
                    </a:lnTo>
                    <a:lnTo>
                      <a:pt x="22" y="26"/>
                    </a:lnTo>
                    <a:lnTo>
                      <a:pt x="23" y="21"/>
                    </a:lnTo>
                    <a:lnTo>
                      <a:pt x="23" y="18"/>
                    </a:lnTo>
                    <a:lnTo>
                      <a:pt x="24" y="15"/>
                    </a:lnTo>
                    <a:lnTo>
                      <a:pt x="24" y="9"/>
                    </a:lnTo>
                    <a:lnTo>
                      <a:pt x="24" y="5"/>
                    </a:lnTo>
                    <a:lnTo>
                      <a:pt x="24" y="0"/>
                    </a:lnTo>
                    <a:lnTo>
                      <a:pt x="3" y="0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3" y="11"/>
                    </a:lnTo>
                    <a:lnTo>
                      <a:pt x="2" y="14"/>
                    </a:lnTo>
                    <a:lnTo>
                      <a:pt x="2" y="19"/>
                    </a:lnTo>
                    <a:lnTo>
                      <a:pt x="1" y="24"/>
                    </a:lnTo>
                    <a:lnTo>
                      <a:pt x="1" y="28"/>
                    </a:lnTo>
                    <a:lnTo>
                      <a:pt x="0" y="31"/>
                    </a:lnTo>
                    <a:lnTo>
                      <a:pt x="21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2" name="Freeform 743">
                <a:extLst>
                  <a:ext uri="{FF2B5EF4-FFF2-40B4-BE49-F238E27FC236}">
                    <a16:creationId xmlns:a16="http://schemas.microsoft.com/office/drawing/2014/main" id="{AD4B244F-994D-40D2-9DB6-287B755B7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3135"/>
                <a:ext cx="1" cy="1"/>
              </a:xfrm>
              <a:custGeom>
                <a:avLst/>
                <a:gdLst>
                  <a:gd name="T0" fmla="*/ 0 w 21"/>
                  <a:gd name="T1" fmla="*/ 0 h 13"/>
                  <a:gd name="T2" fmla="*/ 0 w 21"/>
                  <a:gd name="T3" fmla="*/ 0 h 13"/>
                  <a:gd name="T4" fmla="*/ 0 w 21"/>
                  <a:gd name="T5" fmla="*/ 0 h 13"/>
                  <a:gd name="T6" fmla="*/ 0 w 21"/>
                  <a:gd name="T7" fmla="*/ 0 h 13"/>
                  <a:gd name="T8" fmla="*/ 0 w 21"/>
                  <a:gd name="T9" fmla="*/ 0 h 13"/>
                  <a:gd name="T10" fmla="*/ 0 w 21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3"/>
                  <a:gd name="T20" fmla="*/ 21 w 21"/>
                  <a:gd name="T21" fmla="*/ 13 h 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3">
                    <a:moveTo>
                      <a:pt x="0" y="0"/>
                    </a:moveTo>
                    <a:lnTo>
                      <a:pt x="2" y="9"/>
                    </a:lnTo>
                    <a:lnTo>
                      <a:pt x="10" y="13"/>
                    </a:lnTo>
                    <a:lnTo>
                      <a:pt x="17" y="12"/>
                    </a:lnTo>
                    <a:lnTo>
                      <a:pt x="2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3" name="Freeform 744">
                <a:extLst>
                  <a:ext uri="{FF2B5EF4-FFF2-40B4-BE49-F238E27FC236}">
                    <a16:creationId xmlns:a16="http://schemas.microsoft.com/office/drawing/2014/main" id="{B1F55717-CC3C-482F-B43B-6CE765BA25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3" cy="137"/>
              </a:xfrm>
              <a:custGeom>
                <a:avLst/>
                <a:gdLst>
                  <a:gd name="T0" fmla="*/ 0 w 1169"/>
                  <a:gd name="T1" fmla="*/ 0 h 2481"/>
                  <a:gd name="T2" fmla="*/ 0 w 1169"/>
                  <a:gd name="T3" fmla="*/ 0 h 2481"/>
                  <a:gd name="T4" fmla="*/ 0 w 1169"/>
                  <a:gd name="T5" fmla="*/ 0 h 2481"/>
                  <a:gd name="T6" fmla="*/ 0 w 1169"/>
                  <a:gd name="T7" fmla="*/ 0 h 2481"/>
                  <a:gd name="T8" fmla="*/ 0 w 1169"/>
                  <a:gd name="T9" fmla="*/ 0 h 2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69"/>
                  <a:gd name="T16" fmla="*/ 0 h 2481"/>
                  <a:gd name="T17" fmla="*/ 1169 w 1169"/>
                  <a:gd name="T18" fmla="*/ 2481 h 24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69" h="2481">
                    <a:moveTo>
                      <a:pt x="166" y="0"/>
                    </a:moveTo>
                    <a:lnTo>
                      <a:pt x="0" y="73"/>
                    </a:lnTo>
                    <a:lnTo>
                      <a:pt x="959" y="2481"/>
                    </a:lnTo>
                    <a:lnTo>
                      <a:pt x="1169" y="238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4" name="Freeform 745">
                <a:extLst>
                  <a:ext uri="{FF2B5EF4-FFF2-40B4-BE49-F238E27FC236}">
                    <a16:creationId xmlns:a16="http://schemas.microsoft.com/office/drawing/2014/main" id="{3A9C01E2-7FBD-45E1-9699-53F04F36B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300"/>
                <a:ext cx="52" cy="137"/>
              </a:xfrm>
              <a:custGeom>
                <a:avLst/>
                <a:gdLst>
                  <a:gd name="T0" fmla="*/ 0 w 1140"/>
                  <a:gd name="T1" fmla="*/ 0 h 2467"/>
                  <a:gd name="T2" fmla="*/ 0 w 1140"/>
                  <a:gd name="T3" fmla="*/ 0 h 2467"/>
                  <a:gd name="T4" fmla="*/ 0 w 1140"/>
                  <a:gd name="T5" fmla="*/ 0 h 2467"/>
                  <a:gd name="T6" fmla="*/ 0 w 1140"/>
                  <a:gd name="T7" fmla="*/ 0 h 2467"/>
                  <a:gd name="T8" fmla="*/ 0 w 1140"/>
                  <a:gd name="T9" fmla="*/ 0 h 2467"/>
                  <a:gd name="T10" fmla="*/ 0 w 1140"/>
                  <a:gd name="T11" fmla="*/ 0 h 2467"/>
                  <a:gd name="T12" fmla="*/ 0 w 1140"/>
                  <a:gd name="T13" fmla="*/ 0 h 2467"/>
                  <a:gd name="T14" fmla="*/ 0 w 1140"/>
                  <a:gd name="T15" fmla="*/ 0 h 2467"/>
                  <a:gd name="T16" fmla="*/ 0 w 1140"/>
                  <a:gd name="T17" fmla="*/ 0 h 2467"/>
                  <a:gd name="T18" fmla="*/ 0 w 1140"/>
                  <a:gd name="T19" fmla="*/ 0 h 2467"/>
                  <a:gd name="T20" fmla="*/ 0 w 1140"/>
                  <a:gd name="T21" fmla="*/ 0 h 2467"/>
                  <a:gd name="T22" fmla="*/ 0 w 1140"/>
                  <a:gd name="T23" fmla="*/ 0 h 2467"/>
                  <a:gd name="T24" fmla="*/ 0 w 1140"/>
                  <a:gd name="T25" fmla="*/ 0 h 2467"/>
                  <a:gd name="T26" fmla="*/ 0 w 1140"/>
                  <a:gd name="T27" fmla="*/ 0 h 2467"/>
                  <a:gd name="T28" fmla="*/ 0 w 1140"/>
                  <a:gd name="T29" fmla="*/ 0 h 2467"/>
                  <a:gd name="T30" fmla="*/ 0 w 1140"/>
                  <a:gd name="T31" fmla="*/ 0 h 2467"/>
                  <a:gd name="T32" fmla="*/ 0 w 1140"/>
                  <a:gd name="T33" fmla="*/ 0 h 2467"/>
                  <a:gd name="T34" fmla="*/ 0 w 1140"/>
                  <a:gd name="T35" fmla="*/ 0 h 2467"/>
                  <a:gd name="T36" fmla="*/ 0 w 1140"/>
                  <a:gd name="T37" fmla="*/ 0 h 2467"/>
                  <a:gd name="T38" fmla="*/ 0 w 1140"/>
                  <a:gd name="T39" fmla="*/ 0 h 2467"/>
                  <a:gd name="T40" fmla="*/ 0 w 1140"/>
                  <a:gd name="T41" fmla="*/ 0 h 2467"/>
                  <a:gd name="T42" fmla="*/ 0 w 1140"/>
                  <a:gd name="T43" fmla="*/ 0 h 2467"/>
                  <a:gd name="T44" fmla="*/ 0 w 1140"/>
                  <a:gd name="T45" fmla="*/ 0 h 2467"/>
                  <a:gd name="T46" fmla="*/ 0 w 1140"/>
                  <a:gd name="T47" fmla="*/ 0 h 2467"/>
                  <a:gd name="T48" fmla="*/ 0 w 1140"/>
                  <a:gd name="T49" fmla="*/ 0 h 2467"/>
                  <a:gd name="T50" fmla="*/ 0 w 1140"/>
                  <a:gd name="T51" fmla="*/ 0 h 2467"/>
                  <a:gd name="T52" fmla="*/ 0 w 1140"/>
                  <a:gd name="T53" fmla="*/ 0 h 2467"/>
                  <a:gd name="T54" fmla="*/ 0 w 1140"/>
                  <a:gd name="T55" fmla="*/ 0 h 2467"/>
                  <a:gd name="T56" fmla="*/ 0 w 1140"/>
                  <a:gd name="T57" fmla="*/ 0 h 2467"/>
                  <a:gd name="T58" fmla="*/ 0 w 1140"/>
                  <a:gd name="T59" fmla="*/ 0 h 2467"/>
                  <a:gd name="T60" fmla="*/ 0 w 1140"/>
                  <a:gd name="T61" fmla="*/ 0 h 2467"/>
                  <a:gd name="T62" fmla="*/ 0 w 1140"/>
                  <a:gd name="T63" fmla="*/ 0 h 2467"/>
                  <a:gd name="T64" fmla="*/ 0 w 1140"/>
                  <a:gd name="T65" fmla="*/ 0 h 2467"/>
                  <a:gd name="T66" fmla="*/ 0 w 1140"/>
                  <a:gd name="T67" fmla="*/ 0 h 2467"/>
                  <a:gd name="T68" fmla="*/ 0 w 1140"/>
                  <a:gd name="T69" fmla="*/ 0 h 2467"/>
                  <a:gd name="T70" fmla="*/ 0 w 1140"/>
                  <a:gd name="T71" fmla="*/ 0 h 2467"/>
                  <a:gd name="T72" fmla="*/ 0 w 1140"/>
                  <a:gd name="T73" fmla="*/ 0 h 2467"/>
                  <a:gd name="T74" fmla="*/ 0 w 1140"/>
                  <a:gd name="T75" fmla="*/ 0 h 2467"/>
                  <a:gd name="T76" fmla="*/ 0 w 1140"/>
                  <a:gd name="T77" fmla="*/ 0 h 2467"/>
                  <a:gd name="T78" fmla="*/ 0 w 1140"/>
                  <a:gd name="T79" fmla="*/ 0 h 2467"/>
                  <a:gd name="T80" fmla="*/ 0 w 1140"/>
                  <a:gd name="T81" fmla="*/ 0 h 2467"/>
                  <a:gd name="T82" fmla="*/ 0 w 1140"/>
                  <a:gd name="T83" fmla="*/ 0 h 2467"/>
                  <a:gd name="T84" fmla="*/ 0 w 1140"/>
                  <a:gd name="T85" fmla="*/ 0 h 2467"/>
                  <a:gd name="T86" fmla="*/ 0 w 1140"/>
                  <a:gd name="T87" fmla="*/ 0 h 246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40"/>
                  <a:gd name="T133" fmla="*/ 0 h 2467"/>
                  <a:gd name="T134" fmla="*/ 1140 w 1140"/>
                  <a:gd name="T135" fmla="*/ 2467 h 2467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40" h="2467">
                    <a:moveTo>
                      <a:pt x="140" y="0"/>
                    </a:moveTo>
                    <a:lnTo>
                      <a:pt x="126" y="6"/>
                    </a:lnTo>
                    <a:lnTo>
                      <a:pt x="114" y="10"/>
                    </a:lnTo>
                    <a:lnTo>
                      <a:pt x="104" y="14"/>
                    </a:lnTo>
                    <a:lnTo>
                      <a:pt x="94" y="19"/>
                    </a:lnTo>
                    <a:lnTo>
                      <a:pt x="81" y="24"/>
                    </a:lnTo>
                    <a:lnTo>
                      <a:pt x="61" y="32"/>
                    </a:lnTo>
                    <a:lnTo>
                      <a:pt x="36" y="44"/>
                    </a:lnTo>
                    <a:lnTo>
                      <a:pt x="0" y="61"/>
                    </a:lnTo>
                    <a:lnTo>
                      <a:pt x="29" y="132"/>
                    </a:lnTo>
                    <a:lnTo>
                      <a:pt x="55" y="199"/>
                    </a:lnTo>
                    <a:lnTo>
                      <a:pt x="81" y="260"/>
                    </a:lnTo>
                    <a:lnTo>
                      <a:pt x="103" y="317"/>
                    </a:lnTo>
                    <a:lnTo>
                      <a:pt x="125" y="370"/>
                    </a:lnTo>
                    <a:lnTo>
                      <a:pt x="144" y="419"/>
                    </a:lnTo>
                    <a:lnTo>
                      <a:pt x="163" y="467"/>
                    </a:lnTo>
                    <a:lnTo>
                      <a:pt x="181" y="511"/>
                    </a:lnTo>
                    <a:lnTo>
                      <a:pt x="198" y="554"/>
                    </a:lnTo>
                    <a:lnTo>
                      <a:pt x="215" y="596"/>
                    </a:lnTo>
                    <a:lnTo>
                      <a:pt x="232" y="637"/>
                    </a:lnTo>
                    <a:lnTo>
                      <a:pt x="249" y="680"/>
                    </a:lnTo>
                    <a:lnTo>
                      <a:pt x="265" y="723"/>
                    </a:lnTo>
                    <a:lnTo>
                      <a:pt x="284" y="766"/>
                    </a:lnTo>
                    <a:lnTo>
                      <a:pt x="302" y="812"/>
                    </a:lnTo>
                    <a:lnTo>
                      <a:pt x="322" y="861"/>
                    </a:lnTo>
                    <a:lnTo>
                      <a:pt x="342" y="913"/>
                    </a:lnTo>
                    <a:lnTo>
                      <a:pt x="364" y="968"/>
                    </a:lnTo>
                    <a:lnTo>
                      <a:pt x="388" y="1029"/>
                    </a:lnTo>
                    <a:lnTo>
                      <a:pt x="414" y="1093"/>
                    </a:lnTo>
                    <a:lnTo>
                      <a:pt x="442" y="1164"/>
                    </a:lnTo>
                    <a:lnTo>
                      <a:pt x="473" y="1239"/>
                    </a:lnTo>
                    <a:lnTo>
                      <a:pt x="505" y="1323"/>
                    </a:lnTo>
                    <a:lnTo>
                      <a:pt x="542" y="1412"/>
                    </a:lnTo>
                    <a:lnTo>
                      <a:pt x="581" y="1511"/>
                    </a:lnTo>
                    <a:lnTo>
                      <a:pt x="623" y="1618"/>
                    </a:lnTo>
                    <a:lnTo>
                      <a:pt x="669" y="1733"/>
                    </a:lnTo>
                    <a:lnTo>
                      <a:pt x="719" y="1858"/>
                    </a:lnTo>
                    <a:lnTo>
                      <a:pt x="773" y="1993"/>
                    </a:lnTo>
                    <a:lnTo>
                      <a:pt x="832" y="2140"/>
                    </a:lnTo>
                    <a:lnTo>
                      <a:pt x="895" y="2297"/>
                    </a:lnTo>
                    <a:lnTo>
                      <a:pt x="962" y="2467"/>
                    </a:lnTo>
                    <a:lnTo>
                      <a:pt x="972" y="2462"/>
                    </a:lnTo>
                    <a:lnTo>
                      <a:pt x="982" y="2458"/>
                    </a:lnTo>
                    <a:lnTo>
                      <a:pt x="989" y="2455"/>
                    </a:lnTo>
                    <a:lnTo>
                      <a:pt x="996" y="2452"/>
                    </a:lnTo>
                    <a:lnTo>
                      <a:pt x="1003" y="2449"/>
                    </a:lnTo>
                    <a:lnTo>
                      <a:pt x="1009" y="2445"/>
                    </a:lnTo>
                    <a:lnTo>
                      <a:pt x="1015" y="2442"/>
                    </a:lnTo>
                    <a:lnTo>
                      <a:pt x="1022" y="2439"/>
                    </a:lnTo>
                    <a:lnTo>
                      <a:pt x="1030" y="2436"/>
                    </a:lnTo>
                    <a:lnTo>
                      <a:pt x="1040" y="2432"/>
                    </a:lnTo>
                    <a:lnTo>
                      <a:pt x="1050" y="2428"/>
                    </a:lnTo>
                    <a:lnTo>
                      <a:pt x="1063" y="2422"/>
                    </a:lnTo>
                    <a:lnTo>
                      <a:pt x="1077" y="2416"/>
                    </a:lnTo>
                    <a:lnTo>
                      <a:pt x="1095" y="2409"/>
                    </a:lnTo>
                    <a:lnTo>
                      <a:pt x="1116" y="2399"/>
                    </a:lnTo>
                    <a:lnTo>
                      <a:pt x="1140" y="2390"/>
                    </a:lnTo>
                    <a:lnTo>
                      <a:pt x="1110" y="2318"/>
                    </a:lnTo>
                    <a:lnTo>
                      <a:pt x="1081" y="2251"/>
                    </a:lnTo>
                    <a:lnTo>
                      <a:pt x="1056" y="2190"/>
                    </a:lnTo>
                    <a:lnTo>
                      <a:pt x="1033" y="2134"/>
                    </a:lnTo>
                    <a:lnTo>
                      <a:pt x="1011" y="2082"/>
                    </a:lnTo>
                    <a:lnTo>
                      <a:pt x="991" y="2032"/>
                    </a:lnTo>
                    <a:lnTo>
                      <a:pt x="970" y="1985"/>
                    </a:lnTo>
                    <a:lnTo>
                      <a:pt x="952" y="1940"/>
                    </a:lnTo>
                    <a:lnTo>
                      <a:pt x="935" y="1897"/>
                    </a:lnTo>
                    <a:lnTo>
                      <a:pt x="916" y="1856"/>
                    </a:lnTo>
                    <a:lnTo>
                      <a:pt x="899" y="1814"/>
                    </a:lnTo>
                    <a:lnTo>
                      <a:pt x="882" y="1773"/>
                    </a:lnTo>
                    <a:lnTo>
                      <a:pt x="864" y="1730"/>
                    </a:lnTo>
                    <a:lnTo>
                      <a:pt x="846" y="1686"/>
                    </a:lnTo>
                    <a:lnTo>
                      <a:pt x="826" y="1640"/>
                    </a:lnTo>
                    <a:lnTo>
                      <a:pt x="807" y="1592"/>
                    </a:lnTo>
                    <a:lnTo>
                      <a:pt x="785" y="1541"/>
                    </a:lnTo>
                    <a:lnTo>
                      <a:pt x="762" y="1485"/>
                    </a:lnTo>
                    <a:lnTo>
                      <a:pt x="738" y="1426"/>
                    </a:lnTo>
                    <a:lnTo>
                      <a:pt x="710" y="1362"/>
                    </a:lnTo>
                    <a:lnTo>
                      <a:pt x="682" y="1292"/>
                    </a:lnTo>
                    <a:lnTo>
                      <a:pt x="650" y="1216"/>
                    </a:lnTo>
                    <a:lnTo>
                      <a:pt x="615" y="1134"/>
                    </a:lnTo>
                    <a:lnTo>
                      <a:pt x="578" y="1044"/>
                    </a:lnTo>
                    <a:lnTo>
                      <a:pt x="537" y="947"/>
                    </a:lnTo>
                    <a:lnTo>
                      <a:pt x="493" y="842"/>
                    </a:lnTo>
                    <a:lnTo>
                      <a:pt x="445" y="727"/>
                    </a:lnTo>
                    <a:lnTo>
                      <a:pt x="393" y="603"/>
                    </a:lnTo>
                    <a:lnTo>
                      <a:pt x="337" y="469"/>
                    </a:lnTo>
                    <a:lnTo>
                      <a:pt x="276" y="324"/>
                    </a:lnTo>
                    <a:lnTo>
                      <a:pt x="210" y="167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5" name="Freeform 746">
                <a:extLst>
                  <a:ext uri="{FF2B5EF4-FFF2-40B4-BE49-F238E27FC236}">
                    <a16:creationId xmlns:a16="http://schemas.microsoft.com/office/drawing/2014/main" id="{4334EB1D-FB68-4F10-B6E9-31A607559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50" cy="136"/>
              </a:xfrm>
              <a:custGeom>
                <a:avLst/>
                <a:gdLst>
                  <a:gd name="T0" fmla="*/ 0 w 1109"/>
                  <a:gd name="T1" fmla="*/ 0 h 2454"/>
                  <a:gd name="T2" fmla="*/ 0 w 1109"/>
                  <a:gd name="T3" fmla="*/ 0 h 2454"/>
                  <a:gd name="T4" fmla="*/ 0 w 1109"/>
                  <a:gd name="T5" fmla="*/ 0 h 2454"/>
                  <a:gd name="T6" fmla="*/ 0 w 1109"/>
                  <a:gd name="T7" fmla="*/ 0 h 2454"/>
                  <a:gd name="T8" fmla="*/ 0 w 1109"/>
                  <a:gd name="T9" fmla="*/ 0 h 2454"/>
                  <a:gd name="T10" fmla="*/ 0 w 1109"/>
                  <a:gd name="T11" fmla="*/ 0 h 2454"/>
                  <a:gd name="T12" fmla="*/ 0 w 1109"/>
                  <a:gd name="T13" fmla="*/ 0 h 2454"/>
                  <a:gd name="T14" fmla="*/ 0 w 1109"/>
                  <a:gd name="T15" fmla="*/ 0 h 2454"/>
                  <a:gd name="T16" fmla="*/ 0 w 1109"/>
                  <a:gd name="T17" fmla="*/ 0 h 2454"/>
                  <a:gd name="T18" fmla="*/ 0 w 1109"/>
                  <a:gd name="T19" fmla="*/ 0 h 2454"/>
                  <a:gd name="T20" fmla="*/ 0 w 1109"/>
                  <a:gd name="T21" fmla="*/ 0 h 2454"/>
                  <a:gd name="T22" fmla="*/ 0 w 1109"/>
                  <a:gd name="T23" fmla="*/ 0 h 2454"/>
                  <a:gd name="T24" fmla="*/ 0 w 1109"/>
                  <a:gd name="T25" fmla="*/ 0 h 2454"/>
                  <a:gd name="T26" fmla="*/ 0 w 1109"/>
                  <a:gd name="T27" fmla="*/ 0 h 2454"/>
                  <a:gd name="T28" fmla="*/ 0 w 1109"/>
                  <a:gd name="T29" fmla="*/ 0 h 2454"/>
                  <a:gd name="T30" fmla="*/ 0 w 1109"/>
                  <a:gd name="T31" fmla="*/ 0 h 2454"/>
                  <a:gd name="T32" fmla="*/ 0 w 1109"/>
                  <a:gd name="T33" fmla="*/ 0 h 2454"/>
                  <a:gd name="T34" fmla="*/ 0 w 1109"/>
                  <a:gd name="T35" fmla="*/ 0 h 2454"/>
                  <a:gd name="T36" fmla="*/ 0 w 1109"/>
                  <a:gd name="T37" fmla="*/ 0 h 2454"/>
                  <a:gd name="T38" fmla="*/ 0 w 1109"/>
                  <a:gd name="T39" fmla="*/ 0 h 2454"/>
                  <a:gd name="T40" fmla="*/ 0 w 1109"/>
                  <a:gd name="T41" fmla="*/ 0 h 2454"/>
                  <a:gd name="T42" fmla="*/ 0 w 1109"/>
                  <a:gd name="T43" fmla="*/ 0 h 2454"/>
                  <a:gd name="T44" fmla="*/ 0 w 1109"/>
                  <a:gd name="T45" fmla="*/ 0 h 2454"/>
                  <a:gd name="T46" fmla="*/ 0 w 1109"/>
                  <a:gd name="T47" fmla="*/ 0 h 2454"/>
                  <a:gd name="T48" fmla="*/ 0 w 1109"/>
                  <a:gd name="T49" fmla="*/ 0 h 2454"/>
                  <a:gd name="T50" fmla="*/ 0 w 1109"/>
                  <a:gd name="T51" fmla="*/ 0 h 2454"/>
                  <a:gd name="T52" fmla="*/ 0 w 1109"/>
                  <a:gd name="T53" fmla="*/ 0 h 2454"/>
                  <a:gd name="T54" fmla="*/ 0 w 1109"/>
                  <a:gd name="T55" fmla="*/ 0 h 2454"/>
                  <a:gd name="T56" fmla="*/ 0 w 1109"/>
                  <a:gd name="T57" fmla="*/ 0 h 2454"/>
                  <a:gd name="T58" fmla="*/ 0 w 1109"/>
                  <a:gd name="T59" fmla="*/ 0 h 2454"/>
                  <a:gd name="T60" fmla="*/ 0 w 1109"/>
                  <a:gd name="T61" fmla="*/ 0 h 2454"/>
                  <a:gd name="T62" fmla="*/ 0 w 1109"/>
                  <a:gd name="T63" fmla="*/ 0 h 2454"/>
                  <a:gd name="T64" fmla="*/ 0 w 1109"/>
                  <a:gd name="T65" fmla="*/ 0 h 2454"/>
                  <a:gd name="T66" fmla="*/ 0 w 1109"/>
                  <a:gd name="T67" fmla="*/ 0 h 2454"/>
                  <a:gd name="T68" fmla="*/ 0 w 1109"/>
                  <a:gd name="T69" fmla="*/ 0 h 2454"/>
                  <a:gd name="T70" fmla="*/ 0 w 1109"/>
                  <a:gd name="T71" fmla="*/ 0 h 2454"/>
                  <a:gd name="T72" fmla="*/ 0 w 1109"/>
                  <a:gd name="T73" fmla="*/ 0 h 2454"/>
                  <a:gd name="T74" fmla="*/ 0 w 1109"/>
                  <a:gd name="T75" fmla="*/ 0 h 2454"/>
                  <a:gd name="T76" fmla="*/ 0 w 1109"/>
                  <a:gd name="T77" fmla="*/ 0 h 2454"/>
                  <a:gd name="T78" fmla="*/ 0 w 1109"/>
                  <a:gd name="T79" fmla="*/ 0 h 245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109"/>
                  <a:gd name="T121" fmla="*/ 0 h 2454"/>
                  <a:gd name="T122" fmla="*/ 1109 w 1109"/>
                  <a:gd name="T123" fmla="*/ 2454 h 245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109" h="2454">
                    <a:moveTo>
                      <a:pt x="113" y="0"/>
                    </a:moveTo>
                    <a:lnTo>
                      <a:pt x="100" y="4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6" y="15"/>
                    </a:lnTo>
                    <a:lnTo>
                      <a:pt x="65" y="19"/>
                    </a:lnTo>
                    <a:lnTo>
                      <a:pt x="49" y="26"/>
                    </a:lnTo>
                    <a:lnTo>
                      <a:pt x="29" y="36"/>
                    </a:lnTo>
                    <a:lnTo>
                      <a:pt x="0" y="49"/>
                    </a:lnTo>
                    <a:lnTo>
                      <a:pt x="29" y="120"/>
                    </a:lnTo>
                    <a:lnTo>
                      <a:pt x="56" y="187"/>
                    </a:lnTo>
                    <a:lnTo>
                      <a:pt x="81" y="248"/>
                    </a:lnTo>
                    <a:lnTo>
                      <a:pt x="103" y="305"/>
                    </a:lnTo>
                    <a:lnTo>
                      <a:pt x="125" y="358"/>
                    </a:lnTo>
                    <a:lnTo>
                      <a:pt x="145" y="407"/>
                    </a:lnTo>
                    <a:lnTo>
                      <a:pt x="164" y="455"/>
                    </a:lnTo>
                    <a:lnTo>
                      <a:pt x="182" y="499"/>
                    </a:lnTo>
                    <a:lnTo>
                      <a:pt x="199" y="542"/>
                    </a:lnTo>
                    <a:lnTo>
                      <a:pt x="216" y="584"/>
                    </a:lnTo>
                    <a:lnTo>
                      <a:pt x="233" y="625"/>
                    </a:lnTo>
                    <a:lnTo>
                      <a:pt x="249" y="667"/>
                    </a:lnTo>
                    <a:lnTo>
                      <a:pt x="267" y="711"/>
                    </a:lnTo>
                    <a:lnTo>
                      <a:pt x="284" y="754"/>
                    </a:lnTo>
                    <a:lnTo>
                      <a:pt x="302" y="800"/>
                    </a:lnTo>
                    <a:lnTo>
                      <a:pt x="323" y="849"/>
                    </a:lnTo>
                    <a:lnTo>
                      <a:pt x="343" y="900"/>
                    </a:lnTo>
                    <a:lnTo>
                      <a:pt x="366" y="956"/>
                    </a:lnTo>
                    <a:lnTo>
                      <a:pt x="389" y="1016"/>
                    </a:lnTo>
                    <a:lnTo>
                      <a:pt x="415" y="1081"/>
                    </a:lnTo>
                    <a:lnTo>
                      <a:pt x="443" y="1151"/>
                    </a:lnTo>
                    <a:lnTo>
                      <a:pt x="474" y="1227"/>
                    </a:lnTo>
                    <a:lnTo>
                      <a:pt x="507" y="1311"/>
                    </a:lnTo>
                    <a:lnTo>
                      <a:pt x="544" y="1400"/>
                    </a:lnTo>
                    <a:lnTo>
                      <a:pt x="583" y="1499"/>
                    </a:lnTo>
                    <a:lnTo>
                      <a:pt x="626" y="1606"/>
                    </a:lnTo>
                    <a:lnTo>
                      <a:pt x="672" y="1721"/>
                    </a:lnTo>
                    <a:lnTo>
                      <a:pt x="723" y="1846"/>
                    </a:lnTo>
                    <a:lnTo>
                      <a:pt x="777" y="1981"/>
                    </a:lnTo>
                    <a:lnTo>
                      <a:pt x="835" y="2128"/>
                    </a:lnTo>
                    <a:lnTo>
                      <a:pt x="898" y="2285"/>
                    </a:lnTo>
                    <a:lnTo>
                      <a:pt x="966" y="2454"/>
                    </a:lnTo>
                    <a:lnTo>
                      <a:pt x="982" y="2447"/>
                    </a:lnTo>
                    <a:lnTo>
                      <a:pt x="994" y="2442"/>
                    </a:lnTo>
                    <a:lnTo>
                      <a:pt x="1003" y="2436"/>
                    </a:lnTo>
                    <a:lnTo>
                      <a:pt x="1014" y="2432"/>
                    </a:lnTo>
                    <a:lnTo>
                      <a:pt x="1029" y="2426"/>
                    </a:lnTo>
                    <a:lnTo>
                      <a:pt x="1047" y="2417"/>
                    </a:lnTo>
                    <a:lnTo>
                      <a:pt x="1073" y="2407"/>
                    </a:lnTo>
                    <a:lnTo>
                      <a:pt x="1109" y="2392"/>
                    </a:lnTo>
                    <a:lnTo>
                      <a:pt x="1080" y="2320"/>
                    </a:lnTo>
                    <a:lnTo>
                      <a:pt x="1052" y="2254"/>
                    </a:lnTo>
                    <a:lnTo>
                      <a:pt x="1027" y="2193"/>
                    </a:lnTo>
                    <a:lnTo>
                      <a:pt x="1003" y="2136"/>
                    </a:lnTo>
                    <a:lnTo>
                      <a:pt x="981" y="2083"/>
                    </a:lnTo>
                    <a:lnTo>
                      <a:pt x="960" y="2035"/>
                    </a:lnTo>
                    <a:lnTo>
                      <a:pt x="941" y="1987"/>
                    </a:lnTo>
                    <a:lnTo>
                      <a:pt x="922" y="1943"/>
                    </a:lnTo>
                    <a:lnTo>
                      <a:pt x="905" y="1900"/>
                    </a:lnTo>
                    <a:lnTo>
                      <a:pt x="887" y="1858"/>
                    </a:lnTo>
                    <a:lnTo>
                      <a:pt x="869" y="1817"/>
                    </a:lnTo>
                    <a:lnTo>
                      <a:pt x="852" y="1774"/>
                    </a:lnTo>
                    <a:lnTo>
                      <a:pt x="835" y="1732"/>
                    </a:lnTo>
                    <a:lnTo>
                      <a:pt x="816" y="1688"/>
                    </a:lnTo>
                    <a:lnTo>
                      <a:pt x="797" y="1643"/>
                    </a:lnTo>
                    <a:lnTo>
                      <a:pt x="778" y="1594"/>
                    </a:lnTo>
                    <a:lnTo>
                      <a:pt x="756" y="1542"/>
                    </a:lnTo>
                    <a:lnTo>
                      <a:pt x="733" y="1488"/>
                    </a:lnTo>
                    <a:lnTo>
                      <a:pt x="708" y="1428"/>
                    </a:lnTo>
                    <a:lnTo>
                      <a:pt x="681" y="1363"/>
                    </a:lnTo>
                    <a:lnTo>
                      <a:pt x="652" y="1294"/>
                    </a:lnTo>
                    <a:lnTo>
                      <a:pt x="621" y="1218"/>
                    </a:lnTo>
                    <a:lnTo>
                      <a:pt x="586" y="1136"/>
                    </a:lnTo>
                    <a:lnTo>
                      <a:pt x="549" y="1046"/>
                    </a:lnTo>
                    <a:lnTo>
                      <a:pt x="508" y="948"/>
                    </a:lnTo>
                    <a:lnTo>
                      <a:pt x="464" y="842"/>
                    </a:lnTo>
                    <a:lnTo>
                      <a:pt x="417" y="728"/>
                    </a:lnTo>
                    <a:lnTo>
                      <a:pt x="364" y="604"/>
                    </a:lnTo>
                    <a:lnTo>
                      <a:pt x="308" y="469"/>
                    </a:lnTo>
                    <a:lnTo>
                      <a:pt x="248" y="325"/>
                    </a:lnTo>
                    <a:lnTo>
                      <a:pt x="183" y="16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6" name="Freeform 747">
                <a:extLst>
                  <a:ext uri="{FF2B5EF4-FFF2-40B4-BE49-F238E27FC236}">
                    <a16:creationId xmlns:a16="http://schemas.microsoft.com/office/drawing/2014/main" id="{3BAB0556-1D3E-4473-84B3-0905018D19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1"/>
                <a:ext cx="49" cy="136"/>
              </a:xfrm>
              <a:custGeom>
                <a:avLst/>
                <a:gdLst>
                  <a:gd name="T0" fmla="*/ 0 w 1078"/>
                  <a:gd name="T1" fmla="*/ 0 h 2440"/>
                  <a:gd name="T2" fmla="*/ 0 w 1078"/>
                  <a:gd name="T3" fmla="*/ 0 h 2440"/>
                  <a:gd name="T4" fmla="*/ 0 w 1078"/>
                  <a:gd name="T5" fmla="*/ 0 h 2440"/>
                  <a:gd name="T6" fmla="*/ 0 w 1078"/>
                  <a:gd name="T7" fmla="*/ 0 h 2440"/>
                  <a:gd name="T8" fmla="*/ 0 w 1078"/>
                  <a:gd name="T9" fmla="*/ 0 h 2440"/>
                  <a:gd name="T10" fmla="*/ 0 w 1078"/>
                  <a:gd name="T11" fmla="*/ 0 h 2440"/>
                  <a:gd name="T12" fmla="*/ 0 w 1078"/>
                  <a:gd name="T13" fmla="*/ 0 h 2440"/>
                  <a:gd name="T14" fmla="*/ 0 w 1078"/>
                  <a:gd name="T15" fmla="*/ 0 h 2440"/>
                  <a:gd name="T16" fmla="*/ 0 w 1078"/>
                  <a:gd name="T17" fmla="*/ 0 h 2440"/>
                  <a:gd name="T18" fmla="*/ 0 w 1078"/>
                  <a:gd name="T19" fmla="*/ 0 h 2440"/>
                  <a:gd name="T20" fmla="*/ 0 w 1078"/>
                  <a:gd name="T21" fmla="*/ 0 h 2440"/>
                  <a:gd name="T22" fmla="*/ 0 w 1078"/>
                  <a:gd name="T23" fmla="*/ 0 h 2440"/>
                  <a:gd name="T24" fmla="*/ 0 w 1078"/>
                  <a:gd name="T25" fmla="*/ 0 h 2440"/>
                  <a:gd name="T26" fmla="*/ 0 w 1078"/>
                  <a:gd name="T27" fmla="*/ 0 h 2440"/>
                  <a:gd name="T28" fmla="*/ 0 w 1078"/>
                  <a:gd name="T29" fmla="*/ 0 h 2440"/>
                  <a:gd name="T30" fmla="*/ 0 w 1078"/>
                  <a:gd name="T31" fmla="*/ 0 h 2440"/>
                  <a:gd name="T32" fmla="*/ 0 w 1078"/>
                  <a:gd name="T33" fmla="*/ 0 h 2440"/>
                  <a:gd name="T34" fmla="*/ 0 w 1078"/>
                  <a:gd name="T35" fmla="*/ 0 h 2440"/>
                  <a:gd name="T36" fmla="*/ 0 w 1078"/>
                  <a:gd name="T37" fmla="*/ 0 h 2440"/>
                  <a:gd name="T38" fmla="*/ 0 w 1078"/>
                  <a:gd name="T39" fmla="*/ 0 h 2440"/>
                  <a:gd name="T40" fmla="*/ 0 w 1078"/>
                  <a:gd name="T41" fmla="*/ 0 h 2440"/>
                  <a:gd name="T42" fmla="*/ 0 w 1078"/>
                  <a:gd name="T43" fmla="*/ 0 h 2440"/>
                  <a:gd name="T44" fmla="*/ 0 w 1078"/>
                  <a:gd name="T45" fmla="*/ 0 h 2440"/>
                  <a:gd name="T46" fmla="*/ 0 w 1078"/>
                  <a:gd name="T47" fmla="*/ 0 h 2440"/>
                  <a:gd name="T48" fmla="*/ 0 w 1078"/>
                  <a:gd name="T49" fmla="*/ 0 h 2440"/>
                  <a:gd name="T50" fmla="*/ 0 w 1078"/>
                  <a:gd name="T51" fmla="*/ 0 h 2440"/>
                  <a:gd name="T52" fmla="*/ 0 w 1078"/>
                  <a:gd name="T53" fmla="*/ 0 h 2440"/>
                  <a:gd name="T54" fmla="*/ 0 w 1078"/>
                  <a:gd name="T55" fmla="*/ 0 h 2440"/>
                  <a:gd name="T56" fmla="*/ 0 w 1078"/>
                  <a:gd name="T57" fmla="*/ 0 h 2440"/>
                  <a:gd name="T58" fmla="*/ 0 w 1078"/>
                  <a:gd name="T59" fmla="*/ 0 h 2440"/>
                  <a:gd name="T60" fmla="*/ 0 w 1078"/>
                  <a:gd name="T61" fmla="*/ 0 h 2440"/>
                  <a:gd name="T62" fmla="*/ 0 w 1078"/>
                  <a:gd name="T63" fmla="*/ 0 h 2440"/>
                  <a:gd name="T64" fmla="*/ 0 w 1078"/>
                  <a:gd name="T65" fmla="*/ 0 h 2440"/>
                  <a:gd name="T66" fmla="*/ 0 w 1078"/>
                  <a:gd name="T67" fmla="*/ 0 h 2440"/>
                  <a:gd name="T68" fmla="*/ 0 w 1078"/>
                  <a:gd name="T69" fmla="*/ 0 h 2440"/>
                  <a:gd name="T70" fmla="*/ 0 w 1078"/>
                  <a:gd name="T71" fmla="*/ 0 h 2440"/>
                  <a:gd name="T72" fmla="*/ 0 w 1078"/>
                  <a:gd name="T73" fmla="*/ 0 h 2440"/>
                  <a:gd name="T74" fmla="*/ 0 w 1078"/>
                  <a:gd name="T75" fmla="*/ 0 h 2440"/>
                  <a:gd name="T76" fmla="*/ 0 w 1078"/>
                  <a:gd name="T77" fmla="*/ 0 h 2440"/>
                  <a:gd name="T78" fmla="*/ 0 w 1078"/>
                  <a:gd name="T79" fmla="*/ 0 h 244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78"/>
                  <a:gd name="T121" fmla="*/ 0 h 2440"/>
                  <a:gd name="T122" fmla="*/ 1078 w 1078"/>
                  <a:gd name="T123" fmla="*/ 2440 h 2440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78" h="2440">
                    <a:moveTo>
                      <a:pt x="86" y="0"/>
                    </a:moveTo>
                    <a:lnTo>
                      <a:pt x="77" y="3"/>
                    </a:lnTo>
                    <a:lnTo>
                      <a:pt x="71" y="6"/>
                    </a:lnTo>
                    <a:lnTo>
                      <a:pt x="65" y="8"/>
                    </a:lnTo>
                    <a:lnTo>
                      <a:pt x="59" y="10"/>
                    </a:lnTo>
                    <a:lnTo>
                      <a:pt x="49" y="14"/>
                    </a:lnTo>
                    <a:lnTo>
                      <a:pt x="38" y="20"/>
                    </a:lnTo>
                    <a:lnTo>
                      <a:pt x="22" y="27"/>
                    </a:lnTo>
                    <a:lnTo>
                      <a:pt x="0" y="37"/>
                    </a:lnTo>
                    <a:lnTo>
                      <a:pt x="30" y="108"/>
                    </a:lnTo>
                    <a:lnTo>
                      <a:pt x="57" y="175"/>
                    </a:lnTo>
                    <a:lnTo>
                      <a:pt x="81" y="236"/>
                    </a:lnTo>
                    <a:lnTo>
                      <a:pt x="104" y="293"/>
                    </a:lnTo>
                    <a:lnTo>
                      <a:pt x="126" y="345"/>
                    </a:lnTo>
                    <a:lnTo>
                      <a:pt x="145" y="395"/>
                    </a:lnTo>
                    <a:lnTo>
                      <a:pt x="165" y="442"/>
                    </a:lnTo>
                    <a:lnTo>
                      <a:pt x="182" y="487"/>
                    </a:lnTo>
                    <a:lnTo>
                      <a:pt x="199" y="530"/>
                    </a:lnTo>
                    <a:lnTo>
                      <a:pt x="217" y="572"/>
                    </a:lnTo>
                    <a:lnTo>
                      <a:pt x="234" y="613"/>
                    </a:lnTo>
                    <a:lnTo>
                      <a:pt x="250" y="655"/>
                    </a:lnTo>
                    <a:lnTo>
                      <a:pt x="268" y="698"/>
                    </a:lnTo>
                    <a:lnTo>
                      <a:pt x="286" y="742"/>
                    </a:lnTo>
                    <a:lnTo>
                      <a:pt x="304" y="788"/>
                    </a:lnTo>
                    <a:lnTo>
                      <a:pt x="324" y="837"/>
                    </a:lnTo>
                    <a:lnTo>
                      <a:pt x="345" y="888"/>
                    </a:lnTo>
                    <a:lnTo>
                      <a:pt x="368" y="944"/>
                    </a:lnTo>
                    <a:lnTo>
                      <a:pt x="391" y="1003"/>
                    </a:lnTo>
                    <a:lnTo>
                      <a:pt x="418" y="1069"/>
                    </a:lnTo>
                    <a:lnTo>
                      <a:pt x="445" y="1138"/>
                    </a:lnTo>
                    <a:lnTo>
                      <a:pt x="476" y="1215"/>
                    </a:lnTo>
                    <a:lnTo>
                      <a:pt x="509" y="1297"/>
                    </a:lnTo>
                    <a:lnTo>
                      <a:pt x="546" y="1388"/>
                    </a:lnTo>
                    <a:lnTo>
                      <a:pt x="585" y="1486"/>
                    </a:lnTo>
                    <a:lnTo>
                      <a:pt x="628" y="1593"/>
                    </a:lnTo>
                    <a:lnTo>
                      <a:pt x="675" y="1707"/>
                    </a:lnTo>
                    <a:lnTo>
                      <a:pt x="725" y="1833"/>
                    </a:lnTo>
                    <a:lnTo>
                      <a:pt x="780" y="1968"/>
                    </a:lnTo>
                    <a:lnTo>
                      <a:pt x="838" y="2113"/>
                    </a:lnTo>
                    <a:lnTo>
                      <a:pt x="901" y="2270"/>
                    </a:lnTo>
                    <a:lnTo>
                      <a:pt x="969" y="2440"/>
                    </a:lnTo>
                    <a:lnTo>
                      <a:pt x="982" y="2435"/>
                    </a:lnTo>
                    <a:lnTo>
                      <a:pt x="990" y="2431"/>
                    </a:lnTo>
                    <a:lnTo>
                      <a:pt x="998" y="2426"/>
                    </a:lnTo>
                    <a:lnTo>
                      <a:pt x="1006" y="2423"/>
                    </a:lnTo>
                    <a:lnTo>
                      <a:pt x="1016" y="2419"/>
                    </a:lnTo>
                    <a:lnTo>
                      <a:pt x="1031" y="2413"/>
                    </a:lnTo>
                    <a:lnTo>
                      <a:pt x="1050" y="2404"/>
                    </a:lnTo>
                    <a:lnTo>
                      <a:pt x="1078" y="2394"/>
                    </a:lnTo>
                    <a:lnTo>
                      <a:pt x="1048" y="2322"/>
                    </a:lnTo>
                    <a:lnTo>
                      <a:pt x="1020" y="2256"/>
                    </a:lnTo>
                    <a:lnTo>
                      <a:pt x="995" y="2195"/>
                    </a:lnTo>
                    <a:lnTo>
                      <a:pt x="973" y="2138"/>
                    </a:lnTo>
                    <a:lnTo>
                      <a:pt x="950" y="2085"/>
                    </a:lnTo>
                    <a:lnTo>
                      <a:pt x="930" y="2035"/>
                    </a:lnTo>
                    <a:lnTo>
                      <a:pt x="910" y="1989"/>
                    </a:lnTo>
                    <a:lnTo>
                      <a:pt x="892" y="1944"/>
                    </a:lnTo>
                    <a:lnTo>
                      <a:pt x="875" y="1901"/>
                    </a:lnTo>
                    <a:lnTo>
                      <a:pt x="857" y="1859"/>
                    </a:lnTo>
                    <a:lnTo>
                      <a:pt x="840" y="1817"/>
                    </a:lnTo>
                    <a:lnTo>
                      <a:pt x="823" y="1775"/>
                    </a:lnTo>
                    <a:lnTo>
                      <a:pt x="805" y="1733"/>
                    </a:lnTo>
                    <a:lnTo>
                      <a:pt x="787" y="1688"/>
                    </a:lnTo>
                    <a:lnTo>
                      <a:pt x="768" y="1643"/>
                    </a:lnTo>
                    <a:lnTo>
                      <a:pt x="748" y="1595"/>
                    </a:lnTo>
                    <a:lnTo>
                      <a:pt x="727" y="1543"/>
                    </a:lnTo>
                    <a:lnTo>
                      <a:pt x="703" y="1487"/>
                    </a:lnTo>
                    <a:lnTo>
                      <a:pt x="679" y="1428"/>
                    </a:lnTo>
                    <a:lnTo>
                      <a:pt x="652" y="1364"/>
                    </a:lnTo>
                    <a:lnTo>
                      <a:pt x="624" y="1294"/>
                    </a:lnTo>
                    <a:lnTo>
                      <a:pt x="592" y="1218"/>
                    </a:lnTo>
                    <a:lnTo>
                      <a:pt x="557" y="1135"/>
                    </a:lnTo>
                    <a:lnTo>
                      <a:pt x="521" y="1045"/>
                    </a:lnTo>
                    <a:lnTo>
                      <a:pt x="480" y="948"/>
                    </a:lnTo>
                    <a:lnTo>
                      <a:pt x="436" y="843"/>
                    </a:lnTo>
                    <a:lnTo>
                      <a:pt x="388" y="728"/>
                    </a:lnTo>
                    <a:lnTo>
                      <a:pt x="337" y="604"/>
                    </a:lnTo>
                    <a:lnTo>
                      <a:pt x="281" y="469"/>
                    </a:lnTo>
                    <a:lnTo>
                      <a:pt x="221" y="324"/>
                    </a:lnTo>
                    <a:lnTo>
                      <a:pt x="155" y="16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7" name="Freeform 748">
                <a:extLst>
                  <a:ext uri="{FF2B5EF4-FFF2-40B4-BE49-F238E27FC236}">
                    <a16:creationId xmlns:a16="http://schemas.microsoft.com/office/drawing/2014/main" id="{5E002FDA-0909-48BA-8A31-7B0464CE2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8" cy="135"/>
              </a:xfrm>
              <a:custGeom>
                <a:avLst/>
                <a:gdLst>
                  <a:gd name="T0" fmla="*/ 0 w 1046"/>
                  <a:gd name="T1" fmla="*/ 0 h 2428"/>
                  <a:gd name="T2" fmla="*/ 0 w 1046"/>
                  <a:gd name="T3" fmla="*/ 0 h 2428"/>
                  <a:gd name="T4" fmla="*/ 0 w 1046"/>
                  <a:gd name="T5" fmla="*/ 0 h 2428"/>
                  <a:gd name="T6" fmla="*/ 0 w 1046"/>
                  <a:gd name="T7" fmla="*/ 0 h 2428"/>
                  <a:gd name="T8" fmla="*/ 0 w 1046"/>
                  <a:gd name="T9" fmla="*/ 0 h 2428"/>
                  <a:gd name="T10" fmla="*/ 0 w 1046"/>
                  <a:gd name="T11" fmla="*/ 0 h 2428"/>
                  <a:gd name="T12" fmla="*/ 0 w 1046"/>
                  <a:gd name="T13" fmla="*/ 0 h 2428"/>
                  <a:gd name="T14" fmla="*/ 0 w 1046"/>
                  <a:gd name="T15" fmla="*/ 0 h 2428"/>
                  <a:gd name="T16" fmla="*/ 0 w 1046"/>
                  <a:gd name="T17" fmla="*/ 0 h 2428"/>
                  <a:gd name="T18" fmla="*/ 0 w 1046"/>
                  <a:gd name="T19" fmla="*/ 0 h 2428"/>
                  <a:gd name="T20" fmla="*/ 0 w 1046"/>
                  <a:gd name="T21" fmla="*/ 0 h 2428"/>
                  <a:gd name="T22" fmla="*/ 0 w 1046"/>
                  <a:gd name="T23" fmla="*/ 0 h 2428"/>
                  <a:gd name="T24" fmla="*/ 0 w 1046"/>
                  <a:gd name="T25" fmla="*/ 0 h 2428"/>
                  <a:gd name="T26" fmla="*/ 0 w 1046"/>
                  <a:gd name="T27" fmla="*/ 0 h 2428"/>
                  <a:gd name="T28" fmla="*/ 0 w 1046"/>
                  <a:gd name="T29" fmla="*/ 0 h 2428"/>
                  <a:gd name="T30" fmla="*/ 0 w 1046"/>
                  <a:gd name="T31" fmla="*/ 0 h 2428"/>
                  <a:gd name="T32" fmla="*/ 0 w 1046"/>
                  <a:gd name="T33" fmla="*/ 0 h 2428"/>
                  <a:gd name="T34" fmla="*/ 0 w 1046"/>
                  <a:gd name="T35" fmla="*/ 0 h 2428"/>
                  <a:gd name="T36" fmla="*/ 0 w 1046"/>
                  <a:gd name="T37" fmla="*/ 0 h 2428"/>
                  <a:gd name="T38" fmla="*/ 0 w 1046"/>
                  <a:gd name="T39" fmla="*/ 0 h 2428"/>
                  <a:gd name="T40" fmla="*/ 0 w 1046"/>
                  <a:gd name="T41" fmla="*/ 0 h 2428"/>
                  <a:gd name="T42" fmla="*/ 0 w 1046"/>
                  <a:gd name="T43" fmla="*/ 0 h 2428"/>
                  <a:gd name="T44" fmla="*/ 0 w 1046"/>
                  <a:gd name="T45" fmla="*/ 0 h 2428"/>
                  <a:gd name="T46" fmla="*/ 0 w 1046"/>
                  <a:gd name="T47" fmla="*/ 0 h 2428"/>
                  <a:gd name="T48" fmla="*/ 0 w 1046"/>
                  <a:gd name="T49" fmla="*/ 0 h 2428"/>
                  <a:gd name="T50" fmla="*/ 0 w 1046"/>
                  <a:gd name="T51" fmla="*/ 0 h 2428"/>
                  <a:gd name="T52" fmla="*/ 0 w 1046"/>
                  <a:gd name="T53" fmla="*/ 0 h 2428"/>
                  <a:gd name="T54" fmla="*/ 0 w 1046"/>
                  <a:gd name="T55" fmla="*/ 0 h 2428"/>
                  <a:gd name="T56" fmla="*/ 0 w 1046"/>
                  <a:gd name="T57" fmla="*/ 0 h 2428"/>
                  <a:gd name="T58" fmla="*/ 0 w 1046"/>
                  <a:gd name="T59" fmla="*/ 0 h 2428"/>
                  <a:gd name="T60" fmla="*/ 0 w 1046"/>
                  <a:gd name="T61" fmla="*/ 0 h 2428"/>
                  <a:gd name="T62" fmla="*/ 0 w 1046"/>
                  <a:gd name="T63" fmla="*/ 0 h 2428"/>
                  <a:gd name="T64" fmla="*/ 0 w 1046"/>
                  <a:gd name="T65" fmla="*/ 0 h 2428"/>
                  <a:gd name="T66" fmla="*/ 0 w 1046"/>
                  <a:gd name="T67" fmla="*/ 0 h 2428"/>
                  <a:gd name="T68" fmla="*/ 0 w 1046"/>
                  <a:gd name="T69" fmla="*/ 0 h 2428"/>
                  <a:gd name="T70" fmla="*/ 0 w 1046"/>
                  <a:gd name="T71" fmla="*/ 0 h 2428"/>
                  <a:gd name="T72" fmla="*/ 0 w 1046"/>
                  <a:gd name="T73" fmla="*/ 0 h 2428"/>
                  <a:gd name="T74" fmla="*/ 0 w 1046"/>
                  <a:gd name="T75" fmla="*/ 0 h 2428"/>
                  <a:gd name="T76" fmla="*/ 0 w 1046"/>
                  <a:gd name="T77" fmla="*/ 0 h 2428"/>
                  <a:gd name="T78" fmla="*/ 0 w 1046"/>
                  <a:gd name="T79" fmla="*/ 0 h 242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046"/>
                  <a:gd name="T121" fmla="*/ 0 h 2428"/>
                  <a:gd name="T122" fmla="*/ 1046 w 1046"/>
                  <a:gd name="T123" fmla="*/ 2428 h 242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046" h="2428">
                    <a:moveTo>
                      <a:pt x="58" y="0"/>
                    </a:moveTo>
                    <a:lnTo>
                      <a:pt x="52" y="2"/>
                    </a:lnTo>
                    <a:lnTo>
                      <a:pt x="47" y="4"/>
                    </a:lnTo>
                    <a:lnTo>
                      <a:pt x="43" y="5"/>
                    </a:lnTo>
                    <a:lnTo>
                      <a:pt x="39" y="7"/>
                    </a:lnTo>
                    <a:lnTo>
                      <a:pt x="33" y="10"/>
                    </a:lnTo>
                    <a:lnTo>
                      <a:pt x="25" y="13"/>
                    </a:lnTo>
                    <a:lnTo>
                      <a:pt x="15" y="18"/>
                    </a:lnTo>
                    <a:lnTo>
                      <a:pt x="0" y="25"/>
                    </a:lnTo>
                    <a:lnTo>
                      <a:pt x="29" y="97"/>
                    </a:lnTo>
                    <a:lnTo>
                      <a:pt x="56" y="164"/>
                    </a:lnTo>
                    <a:lnTo>
                      <a:pt x="80" y="225"/>
                    </a:lnTo>
                    <a:lnTo>
                      <a:pt x="104" y="282"/>
                    </a:lnTo>
                    <a:lnTo>
                      <a:pt x="125" y="334"/>
                    </a:lnTo>
                    <a:lnTo>
                      <a:pt x="145" y="384"/>
                    </a:lnTo>
                    <a:lnTo>
                      <a:pt x="164" y="430"/>
                    </a:lnTo>
                    <a:lnTo>
                      <a:pt x="182" y="475"/>
                    </a:lnTo>
                    <a:lnTo>
                      <a:pt x="199" y="518"/>
                    </a:lnTo>
                    <a:lnTo>
                      <a:pt x="217" y="560"/>
                    </a:lnTo>
                    <a:lnTo>
                      <a:pt x="233" y="601"/>
                    </a:lnTo>
                    <a:lnTo>
                      <a:pt x="250" y="643"/>
                    </a:lnTo>
                    <a:lnTo>
                      <a:pt x="268" y="686"/>
                    </a:lnTo>
                    <a:lnTo>
                      <a:pt x="285" y="730"/>
                    </a:lnTo>
                    <a:lnTo>
                      <a:pt x="305" y="776"/>
                    </a:lnTo>
                    <a:lnTo>
                      <a:pt x="324" y="825"/>
                    </a:lnTo>
                    <a:lnTo>
                      <a:pt x="344" y="876"/>
                    </a:lnTo>
                    <a:lnTo>
                      <a:pt x="367" y="932"/>
                    </a:lnTo>
                    <a:lnTo>
                      <a:pt x="391" y="991"/>
                    </a:lnTo>
                    <a:lnTo>
                      <a:pt x="418" y="1056"/>
                    </a:lnTo>
                    <a:lnTo>
                      <a:pt x="445" y="1126"/>
                    </a:lnTo>
                    <a:lnTo>
                      <a:pt x="477" y="1203"/>
                    </a:lnTo>
                    <a:lnTo>
                      <a:pt x="511" y="1285"/>
                    </a:lnTo>
                    <a:lnTo>
                      <a:pt x="546" y="1376"/>
                    </a:lnTo>
                    <a:lnTo>
                      <a:pt x="586" y="1474"/>
                    </a:lnTo>
                    <a:lnTo>
                      <a:pt x="629" y="1580"/>
                    </a:lnTo>
                    <a:lnTo>
                      <a:pt x="676" y="1695"/>
                    </a:lnTo>
                    <a:lnTo>
                      <a:pt x="726" y="1821"/>
                    </a:lnTo>
                    <a:lnTo>
                      <a:pt x="781" y="1956"/>
                    </a:lnTo>
                    <a:lnTo>
                      <a:pt x="840" y="2101"/>
                    </a:lnTo>
                    <a:lnTo>
                      <a:pt x="903" y="2258"/>
                    </a:lnTo>
                    <a:lnTo>
                      <a:pt x="972" y="2428"/>
                    </a:lnTo>
                    <a:lnTo>
                      <a:pt x="980" y="2424"/>
                    </a:lnTo>
                    <a:lnTo>
                      <a:pt x="986" y="2421"/>
                    </a:lnTo>
                    <a:lnTo>
                      <a:pt x="991" y="2419"/>
                    </a:lnTo>
                    <a:lnTo>
                      <a:pt x="997" y="2415"/>
                    </a:lnTo>
                    <a:lnTo>
                      <a:pt x="1004" y="2412"/>
                    </a:lnTo>
                    <a:lnTo>
                      <a:pt x="1013" y="2408"/>
                    </a:lnTo>
                    <a:lnTo>
                      <a:pt x="1028" y="2403"/>
                    </a:lnTo>
                    <a:lnTo>
                      <a:pt x="1046" y="2395"/>
                    </a:lnTo>
                    <a:lnTo>
                      <a:pt x="1017" y="2324"/>
                    </a:lnTo>
                    <a:lnTo>
                      <a:pt x="989" y="2257"/>
                    </a:lnTo>
                    <a:lnTo>
                      <a:pt x="964" y="2196"/>
                    </a:lnTo>
                    <a:lnTo>
                      <a:pt x="941" y="2139"/>
                    </a:lnTo>
                    <a:lnTo>
                      <a:pt x="920" y="2086"/>
                    </a:lnTo>
                    <a:lnTo>
                      <a:pt x="899" y="2037"/>
                    </a:lnTo>
                    <a:lnTo>
                      <a:pt x="880" y="1990"/>
                    </a:lnTo>
                    <a:lnTo>
                      <a:pt x="861" y="1946"/>
                    </a:lnTo>
                    <a:lnTo>
                      <a:pt x="843" y="1903"/>
                    </a:lnTo>
                    <a:lnTo>
                      <a:pt x="826" y="1861"/>
                    </a:lnTo>
                    <a:lnTo>
                      <a:pt x="809" y="1819"/>
                    </a:lnTo>
                    <a:lnTo>
                      <a:pt x="792" y="1778"/>
                    </a:lnTo>
                    <a:lnTo>
                      <a:pt x="774" y="1734"/>
                    </a:lnTo>
                    <a:lnTo>
                      <a:pt x="756" y="1691"/>
                    </a:lnTo>
                    <a:lnTo>
                      <a:pt x="737" y="1645"/>
                    </a:lnTo>
                    <a:lnTo>
                      <a:pt x="718" y="1596"/>
                    </a:lnTo>
                    <a:lnTo>
                      <a:pt x="696" y="1545"/>
                    </a:lnTo>
                    <a:lnTo>
                      <a:pt x="673" y="1490"/>
                    </a:lnTo>
                    <a:lnTo>
                      <a:pt x="648" y="1430"/>
                    </a:lnTo>
                    <a:lnTo>
                      <a:pt x="622" y="1365"/>
                    </a:lnTo>
                    <a:lnTo>
                      <a:pt x="593" y="1296"/>
                    </a:lnTo>
                    <a:lnTo>
                      <a:pt x="562" y="1220"/>
                    </a:lnTo>
                    <a:lnTo>
                      <a:pt x="528" y="1138"/>
                    </a:lnTo>
                    <a:lnTo>
                      <a:pt x="490" y="1047"/>
                    </a:lnTo>
                    <a:lnTo>
                      <a:pt x="450" y="950"/>
                    </a:lnTo>
                    <a:lnTo>
                      <a:pt x="407" y="843"/>
                    </a:lnTo>
                    <a:lnTo>
                      <a:pt x="359" y="730"/>
                    </a:lnTo>
                    <a:lnTo>
                      <a:pt x="308" y="605"/>
                    </a:lnTo>
                    <a:lnTo>
                      <a:pt x="251" y="470"/>
                    </a:lnTo>
                    <a:lnTo>
                      <a:pt x="192" y="325"/>
                    </a:lnTo>
                    <a:lnTo>
                      <a:pt x="127" y="16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8" name="Freeform 749">
                <a:extLst>
                  <a:ext uri="{FF2B5EF4-FFF2-40B4-BE49-F238E27FC236}">
                    <a16:creationId xmlns:a16="http://schemas.microsoft.com/office/drawing/2014/main" id="{31A80465-DA0A-4C66-AAD5-ABBC5EC32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3302"/>
                <a:ext cx="46" cy="134"/>
              </a:xfrm>
              <a:custGeom>
                <a:avLst/>
                <a:gdLst>
                  <a:gd name="T0" fmla="*/ 0 w 1017"/>
                  <a:gd name="T1" fmla="*/ 0 h 2414"/>
                  <a:gd name="T2" fmla="*/ 0 w 1017"/>
                  <a:gd name="T3" fmla="*/ 0 h 2414"/>
                  <a:gd name="T4" fmla="*/ 0 w 1017"/>
                  <a:gd name="T5" fmla="*/ 0 h 2414"/>
                  <a:gd name="T6" fmla="*/ 0 w 1017"/>
                  <a:gd name="T7" fmla="*/ 0 h 2414"/>
                  <a:gd name="T8" fmla="*/ 0 w 1017"/>
                  <a:gd name="T9" fmla="*/ 0 h 2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7"/>
                  <a:gd name="T16" fmla="*/ 0 h 2414"/>
                  <a:gd name="T17" fmla="*/ 1017 w 1017"/>
                  <a:gd name="T18" fmla="*/ 2414 h 24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7" h="2414">
                    <a:moveTo>
                      <a:pt x="32" y="0"/>
                    </a:moveTo>
                    <a:lnTo>
                      <a:pt x="0" y="13"/>
                    </a:lnTo>
                    <a:lnTo>
                      <a:pt x="977" y="2414"/>
                    </a:lnTo>
                    <a:lnTo>
                      <a:pt x="1017" y="239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9" name="Freeform 750">
                <a:extLst>
                  <a:ext uri="{FF2B5EF4-FFF2-40B4-BE49-F238E27FC236}">
                    <a16:creationId xmlns:a16="http://schemas.microsoft.com/office/drawing/2014/main" id="{31085FE1-D88F-4F6D-A114-5C701A5E1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8"/>
                <a:ext cx="8" cy="6"/>
              </a:xfrm>
              <a:custGeom>
                <a:avLst/>
                <a:gdLst>
                  <a:gd name="T0" fmla="*/ 0 w 173"/>
                  <a:gd name="T1" fmla="*/ 0 h 95"/>
                  <a:gd name="T2" fmla="*/ 0 w 173"/>
                  <a:gd name="T3" fmla="*/ 0 h 95"/>
                  <a:gd name="T4" fmla="*/ 0 w 173"/>
                  <a:gd name="T5" fmla="*/ 0 h 95"/>
                  <a:gd name="T6" fmla="*/ 0 w 173"/>
                  <a:gd name="T7" fmla="*/ 0 h 95"/>
                  <a:gd name="T8" fmla="*/ 0 w 173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"/>
                  <a:gd name="T16" fmla="*/ 0 h 95"/>
                  <a:gd name="T17" fmla="*/ 173 w 173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" h="95">
                    <a:moveTo>
                      <a:pt x="173" y="20"/>
                    </a:moveTo>
                    <a:lnTo>
                      <a:pt x="7" y="95"/>
                    </a:lnTo>
                    <a:lnTo>
                      <a:pt x="0" y="75"/>
                    </a:lnTo>
                    <a:lnTo>
                      <a:pt x="166" y="0"/>
                    </a:lnTo>
                    <a:lnTo>
                      <a:pt x="173" y="20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0" name="Freeform 751">
                <a:extLst>
                  <a:ext uri="{FF2B5EF4-FFF2-40B4-BE49-F238E27FC236}">
                    <a16:creationId xmlns:a16="http://schemas.microsoft.com/office/drawing/2014/main" id="{E70212AC-0608-4C32-AB66-6052ECCA6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9" cy="10"/>
              </a:xfrm>
              <a:custGeom>
                <a:avLst/>
                <a:gdLst>
                  <a:gd name="T0" fmla="*/ 0 w 200"/>
                  <a:gd name="T1" fmla="*/ 0 h 179"/>
                  <a:gd name="T2" fmla="*/ 0 w 200"/>
                  <a:gd name="T3" fmla="*/ 0 h 179"/>
                  <a:gd name="T4" fmla="*/ 0 w 200"/>
                  <a:gd name="T5" fmla="*/ 0 h 179"/>
                  <a:gd name="T6" fmla="*/ 0 w 200"/>
                  <a:gd name="T7" fmla="*/ 0 h 179"/>
                  <a:gd name="T8" fmla="*/ 0 w 200"/>
                  <a:gd name="T9" fmla="*/ 0 h 179"/>
                  <a:gd name="T10" fmla="*/ 0 w 200"/>
                  <a:gd name="T11" fmla="*/ 0 h 1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0"/>
                  <a:gd name="T19" fmla="*/ 0 h 179"/>
                  <a:gd name="T20" fmla="*/ 200 w 200"/>
                  <a:gd name="T21" fmla="*/ 179 h 1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0" h="179">
                    <a:moveTo>
                      <a:pt x="200" y="106"/>
                    </a:moveTo>
                    <a:lnTo>
                      <a:pt x="33" y="179"/>
                    </a:lnTo>
                    <a:lnTo>
                      <a:pt x="0" y="100"/>
                    </a:lnTo>
                    <a:lnTo>
                      <a:pt x="58" y="0"/>
                    </a:lnTo>
                    <a:lnTo>
                      <a:pt x="168" y="26"/>
                    </a:lnTo>
                    <a:lnTo>
                      <a:pt x="200" y="106"/>
                    </a:lnTo>
                    <a:close/>
                  </a:path>
                </a:pathLst>
              </a:custGeom>
              <a:solidFill>
                <a:srgbClr val="54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1" name="Freeform 752">
                <a:extLst>
                  <a:ext uri="{FF2B5EF4-FFF2-40B4-BE49-F238E27FC236}">
                    <a16:creationId xmlns:a16="http://schemas.microsoft.com/office/drawing/2014/main" id="{B34628FF-CDE4-48EE-838E-54467C2F3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3"/>
                <a:ext cx="8" cy="10"/>
              </a:xfrm>
              <a:custGeom>
                <a:avLst/>
                <a:gdLst>
                  <a:gd name="T0" fmla="*/ 0 w 173"/>
                  <a:gd name="T1" fmla="*/ 0 h 177"/>
                  <a:gd name="T2" fmla="*/ 0 w 173"/>
                  <a:gd name="T3" fmla="*/ 0 h 177"/>
                  <a:gd name="T4" fmla="*/ 0 w 173"/>
                  <a:gd name="T5" fmla="*/ 0 h 177"/>
                  <a:gd name="T6" fmla="*/ 0 w 173"/>
                  <a:gd name="T7" fmla="*/ 0 h 177"/>
                  <a:gd name="T8" fmla="*/ 0 w 173"/>
                  <a:gd name="T9" fmla="*/ 0 h 177"/>
                  <a:gd name="T10" fmla="*/ 0 w 173"/>
                  <a:gd name="T11" fmla="*/ 0 h 177"/>
                  <a:gd name="T12" fmla="*/ 0 w 173"/>
                  <a:gd name="T13" fmla="*/ 0 h 177"/>
                  <a:gd name="T14" fmla="*/ 0 w 173"/>
                  <a:gd name="T15" fmla="*/ 0 h 177"/>
                  <a:gd name="T16" fmla="*/ 0 w 173"/>
                  <a:gd name="T17" fmla="*/ 0 h 177"/>
                  <a:gd name="T18" fmla="*/ 0 w 173"/>
                  <a:gd name="T19" fmla="*/ 0 h 177"/>
                  <a:gd name="T20" fmla="*/ 0 w 173"/>
                  <a:gd name="T21" fmla="*/ 0 h 177"/>
                  <a:gd name="T22" fmla="*/ 0 w 173"/>
                  <a:gd name="T23" fmla="*/ 0 h 177"/>
                  <a:gd name="T24" fmla="*/ 0 w 173"/>
                  <a:gd name="T25" fmla="*/ 0 h 177"/>
                  <a:gd name="T26" fmla="*/ 0 w 173"/>
                  <a:gd name="T27" fmla="*/ 0 h 177"/>
                  <a:gd name="T28" fmla="*/ 0 w 173"/>
                  <a:gd name="T29" fmla="*/ 0 h 177"/>
                  <a:gd name="T30" fmla="*/ 0 w 173"/>
                  <a:gd name="T31" fmla="*/ 0 h 177"/>
                  <a:gd name="T32" fmla="*/ 0 w 173"/>
                  <a:gd name="T33" fmla="*/ 0 h 177"/>
                  <a:gd name="T34" fmla="*/ 0 w 173"/>
                  <a:gd name="T35" fmla="*/ 0 h 177"/>
                  <a:gd name="T36" fmla="*/ 0 w 173"/>
                  <a:gd name="T37" fmla="*/ 0 h 177"/>
                  <a:gd name="T38" fmla="*/ 0 w 173"/>
                  <a:gd name="T39" fmla="*/ 0 h 177"/>
                  <a:gd name="T40" fmla="*/ 0 w 173"/>
                  <a:gd name="T41" fmla="*/ 0 h 177"/>
                  <a:gd name="T42" fmla="*/ 0 w 173"/>
                  <a:gd name="T43" fmla="*/ 0 h 177"/>
                  <a:gd name="T44" fmla="*/ 0 w 173"/>
                  <a:gd name="T45" fmla="*/ 0 h 177"/>
                  <a:gd name="T46" fmla="*/ 0 w 173"/>
                  <a:gd name="T47" fmla="*/ 0 h 177"/>
                  <a:gd name="T48" fmla="*/ 0 w 173"/>
                  <a:gd name="T49" fmla="*/ 0 h 177"/>
                  <a:gd name="T50" fmla="*/ 0 w 173"/>
                  <a:gd name="T51" fmla="*/ 0 h 177"/>
                  <a:gd name="T52" fmla="*/ 0 w 173"/>
                  <a:gd name="T53" fmla="*/ 0 h 177"/>
                  <a:gd name="T54" fmla="*/ 0 w 173"/>
                  <a:gd name="T55" fmla="*/ 0 h 177"/>
                  <a:gd name="T56" fmla="*/ 0 w 173"/>
                  <a:gd name="T57" fmla="*/ 0 h 177"/>
                  <a:gd name="T58" fmla="*/ 0 w 173"/>
                  <a:gd name="T59" fmla="*/ 0 h 177"/>
                  <a:gd name="T60" fmla="*/ 0 w 173"/>
                  <a:gd name="T61" fmla="*/ 0 h 177"/>
                  <a:gd name="T62" fmla="*/ 0 w 173"/>
                  <a:gd name="T63" fmla="*/ 0 h 177"/>
                  <a:gd name="T64" fmla="*/ 0 w 173"/>
                  <a:gd name="T65" fmla="*/ 0 h 177"/>
                  <a:gd name="T66" fmla="*/ 0 w 173"/>
                  <a:gd name="T67" fmla="*/ 0 h 177"/>
                  <a:gd name="T68" fmla="*/ 0 w 173"/>
                  <a:gd name="T69" fmla="*/ 0 h 177"/>
                  <a:gd name="T70" fmla="*/ 0 w 173"/>
                  <a:gd name="T71" fmla="*/ 0 h 177"/>
                  <a:gd name="T72" fmla="*/ 0 w 173"/>
                  <a:gd name="T73" fmla="*/ 0 h 177"/>
                  <a:gd name="T74" fmla="*/ 0 w 173"/>
                  <a:gd name="T75" fmla="*/ 0 h 177"/>
                  <a:gd name="T76" fmla="*/ 0 w 173"/>
                  <a:gd name="T77" fmla="*/ 0 h 177"/>
                  <a:gd name="T78" fmla="*/ 0 w 173"/>
                  <a:gd name="T79" fmla="*/ 0 h 177"/>
                  <a:gd name="T80" fmla="*/ 0 w 173"/>
                  <a:gd name="T81" fmla="*/ 0 h 17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73"/>
                  <a:gd name="T124" fmla="*/ 0 h 177"/>
                  <a:gd name="T125" fmla="*/ 173 w 173"/>
                  <a:gd name="T126" fmla="*/ 177 h 17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73" h="177">
                    <a:moveTo>
                      <a:pt x="173" y="116"/>
                    </a:moveTo>
                    <a:lnTo>
                      <a:pt x="159" y="122"/>
                    </a:lnTo>
                    <a:lnTo>
                      <a:pt x="147" y="126"/>
                    </a:lnTo>
                    <a:lnTo>
                      <a:pt x="137" y="131"/>
                    </a:lnTo>
                    <a:lnTo>
                      <a:pt x="127" y="135"/>
                    </a:lnTo>
                    <a:lnTo>
                      <a:pt x="114" y="141"/>
                    </a:lnTo>
                    <a:lnTo>
                      <a:pt x="94" y="150"/>
                    </a:lnTo>
                    <a:lnTo>
                      <a:pt x="69" y="161"/>
                    </a:lnTo>
                    <a:lnTo>
                      <a:pt x="33" y="177"/>
                    </a:lnTo>
                    <a:lnTo>
                      <a:pt x="30" y="168"/>
                    </a:lnTo>
                    <a:lnTo>
                      <a:pt x="27" y="161"/>
                    </a:lnTo>
                    <a:lnTo>
                      <a:pt x="25" y="156"/>
                    </a:lnTo>
                    <a:lnTo>
                      <a:pt x="23" y="150"/>
                    </a:lnTo>
                    <a:lnTo>
                      <a:pt x="20" y="141"/>
                    </a:lnTo>
                    <a:lnTo>
                      <a:pt x="16" y="131"/>
                    </a:lnTo>
                    <a:lnTo>
                      <a:pt x="9" y="117"/>
                    </a:lnTo>
                    <a:lnTo>
                      <a:pt x="0" y="97"/>
                    </a:lnTo>
                    <a:lnTo>
                      <a:pt x="7" y="86"/>
                    </a:lnTo>
                    <a:lnTo>
                      <a:pt x="11" y="78"/>
                    </a:lnTo>
                    <a:lnTo>
                      <a:pt x="15" y="70"/>
                    </a:lnTo>
                    <a:lnTo>
                      <a:pt x="19" y="63"/>
                    </a:lnTo>
                    <a:lnTo>
                      <a:pt x="24" y="54"/>
                    </a:lnTo>
                    <a:lnTo>
                      <a:pt x="31" y="41"/>
                    </a:lnTo>
                    <a:lnTo>
                      <a:pt x="40" y="24"/>
                    </a:lnTo>
                    <a:lnTo>
                      <a:pt x="52" y="0"/>
                    </a:lnTo>
                    <a:lnTo>
                      <a:pt x="63" y="3"/>
                    </a:lnTo>
                    <a:lnTo>
                      <a:pt x="70" y="6"/>
                    </a:lnTo>
                    <a:lnTo>
                      <a:pt x="76" y="8"/>
                    </a:lnTo>
                    <a:lnTo>
                      <a:pt x="83" y="11"/>
                    </a:lnTo>
                    <a:lnTo>
                      <a:pt x="91" y="15"/>
                    </a:lnTo>
                    <a:lnTo>
                      <a:pt x="102" y="20"/>
                    </a:lnTo>
                    <a:lnTo>
                      <a:pt x="119" y="27"/>
                    </a:lnTo>
                    <a:lnTo>
                      <a:pt x="140" y="37"/>
                    </a:lnTo>
                    <a:lnTo>
                      <a:pt x="144" y="44"/>
                    </a:lnTo>
                    <a:lnTo>
                      <a:pt x="146" y="50"/>
                    </a:lnTo>
                    <a:lnTo>
                      <a:pt x="149" y="56"/>
                    </a:lnTo>
                    <a:lnTo>
                      <a:pt x="151" y="61"/>
                    </a:lnTo>
                    <a:lnTo>
                      <a:pt x="154" y="69"/>
                    </a:lnTo>
                    <a:lnTo>
                      <a:pt x="159" y="80"/>
                    </a:lnTo>
                    <a:lnTo>
                      <a:pt x="165" y="95"/>
                    </a:lnTo>
                    <a:lnTo>
                      <a:pt x="173" y="116"/>
                    </a:lnTo>
                    <a:close/>
                  </a:path>
                </a:pathLst>
              </a:custGeom>
              <a:solidFill>
                <a:srgbClr val="70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2" name="Freeform 753">
                <a:extLst>
                  <a:ext uri="{FF2B5EF4-FFF2-40B4-BE49-F238E27FC236}">
                    <a16:creationId xmlns:a16="http://schemas.microsoft.com/office/drawing/2014/main" id="{AAC851AF-153C-45FA-9DC5-02AE103E2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6" cy="9"/>
              </a:xfrm>
              <a:custGeom>
                <a:avLst/>
                <a:gdLst>
                  <a:gd name="T0" fmla="*/ 0 w 142"/>
                  <a:gd name="T1" fmla="*/ 0 h 175"/>
                  <a:gd name="T2" fmla="*/ 0 w 142"/>
                  <a:gd name="T3" fmla="*/ 0 h 175"/>
                  <a:gd name="T4" fmla="*/ 0 w 142"/>
                  <a:gd name="T5" fmla="*/ 0 h 175"/>
                  <a:gd name="T6" fmla="*/ 0 w 142"/>
                  <a:gd name="T7" fmla="*/ 0 h 175"/>
                  <a:gd name="T8" fmla="*/ 0 w 142"/>
                  <a:gd name="T9" fmla="*/ 0 h 175"/>
                  <a:gd name="T10" fmla="*/ 0 w 142"/>
                  <a:gd name="T11" fmla="*/ 0 h 175"/>
                  <a:gd name="T12" fmla="*/ 0 w 142"/>
                  <a:gd name="T13" fmla="*/ 0 h 175"/>
                  <a:gd name="T14" fmla="*/ 0 w 142"/>
                  <a:gd name="T15" fmla="*/ 0 h 175"/>
                  <a:gd name="T16" fmla="*/ 0 w 142"/>
                  <a:gd name="T17" fmla="*/ 0 h 175"/>
                  <a:gd name="T18" fmla="*/ 0 w 142"/>
                  <a:gd name="T19" fmla="*/ 0 h 175"/>
                  <a:gd name="T20" fmla="*/ 0 w 142"/>
                  <a:gd name="T21" fmla="*/ 0 h 175"/>
                  <a:gd name="T22" fmla="*/ 0 w 142"/>
                  <a:gd name="T23" fmla="*/ 0 h 175"/>
                  <a:gd name="T24" fmla="*/ 0 w 142"/>
                  <a:gd name="T25" fmla="*/ 0 h 175"/>
                  <a:gd name="T26" fmla="*/ 0 w 142"/>
                  <a:gd name="T27" fmla="*/ 0 h 175"/>
                  <a:gd name="T28" fmla="*/ 0 w 142"/>
                  <a:gd name="T29" fmla="*/ 0 h 175"/>
                  <a:gd name="T30" fmla="*/ 0 w 142"/>
                  <a:gd name="T31" fmla="*/ 0 h 175"/>
                  <a:gd name="T32" fmla="*/ 0 w 142"/>
                  <a:gd name="T33" fmla="*/ 0 h 175"/>
                  <a:gd name="T34" fmla="*/ 0 w 142"/>
                  <a:gd name="T35" fmla="*/ 0 h 175"/>
                  <a:gd name="T36" fmla="*/ 0 w 142"/>
                  <a:gd name="T37" fmla="*/ 0 h 175"/>
                  <a:gd name="T38" fmla="*/ 0 w 142"/>
                  <a:gd name="T39" fmla="*/ 0 h 175"/>
                  <a:gd name="T40" fmla="*/ 0 w 142"/>
                  <a:gd name="T41" fmla="*/ 0 h 175"/>
                  <a:gd name="T42" fmla="*/ 0 w 142"/>
                  <a:gd name="T43" fmla="*/ 0 h 175"/>
                  <a:gd name="T44" fmla="*/ 0 w 142"/>
                  <a:gd name="T45" fmla="*/ 0 h 175"/>
                  <a:gd name="T46" fmla="*/ 0 w 142"/>
                  <a:gd name="T47" fmla="*/ 0 h 175"/>
                  <a:gd name="T48" fmla="*/ 0 w 142"/>
                  <a:gd name="T49" fmla="*/ 0 h 175"/>
                  <a:gd name="T50" fmla="*/ 0 w 142"/>
                  <a:gd name="T51" fmla="*/ 0 h 175"/>
                  <a:gd name="T52" fmla="*/ 0 w 142"/>
                  <a:gd name="T53" fmla="*/ 0 h 175"/>
                  <a:gd name="T54" fmla="*/ 0 w 142"/>
                  <a:gd name="T55" fmla="*/ 0 h 175"/>
                  <a:gd name="T56" fmla="*/ 0 w 142"/>
                  <a:gd name="T57" fmla="*/ 0 h 175"/>
                  <a:gd name="T58" fmla="*/ 0 w 142"/>
                  <a:gd name="T59" fmla="*/ 0 h 175"/>
                  <a:gd name="T60" fmla="*/ 0 w 142"/>
                  <a:gd name="T61" fmla="*/ 0 h 175"/>
                  <a:gd name="T62" fmla="*/ 0 w 142"/>
                  <a:gd name="T63" fmla="*/ 0 h 175"/>
                  <a:gd name="T64" fmla="*/ 0 w 142"/>
                  <a:gd name="T65" fmla="*/ 0 h 175"/>
                  <a:gd name="T66" fmla="*/ 0 w 142"/>
                  <a:gd name="T67" fmla="*/ 0 h 175"/>
                  <a:gd name="T68" fmla="*/ 0 w 142"/>
                  <a:gd name="T69" fmla="*/ 0 h 175"/>
                  <a:gd name="T70" fmla="*/ 0 w 142"/>
                  <a:gd name="T71" fmla="*/ 0 h 175"/>
                  <a:gd name="T72" fmla="*/ 0 w 142"/>
                  <a:gd name="T73" fmla="*/ 0 h 175"/>
                  <a:gd name="T74" fmla="*/ 0 w 142"/>
                  <a:gd name="T75" fmla="*/ 0 h 175"/>
                  <a:gd name="T76" fmla="*/ 0 w 142"/>
                  <a:gd name="T77" fmla="*/ 0 h 175"/>
                  <a:gd name="T78" fmla="*/ 0 w 142"/>
                  <a:gd name="T79" fmla="*/ 0 h 175"/>
                  <a:gd name="T80" fmla="*/ 0 w 142"/>
                  <a:gd name="T81" fmla="*/ 0 h 17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175"/>
                  <a:gd name="T125" fmla="*/ 142 w 142"/>
                  <a:gd name="T126" fmla="*/ 175 h 17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175">
                    <a:moveTo>
                      <a:pt x="142" y="126"/>
                    </a:moveTo>
                    <a:lnTo>
                      <a:pt x="131" y="131"/>
                    </a:lnTo>
                    <a:lnTo>
                      <a:pt x="122" y="135"/>
                    </a:lnTo>
                    <a:lnTo>
                      <a:pt x="115" y="137"/>
                    </a:lnTo>
                    <a:lnTo>
                      <a:pt x="107" y="141"/>
                    </a:lnTo>
                    <a:lnTo>
                      <a:pt x="96" y="145"/>
                    </a:lnTo>
                    <a:lnTo>
                      <a:pt x="81" y="152"/>
                    </a:lnTo>
                    <a:lnTo>
                      <a:pt x="61" y="161"/>
                    </a:lnTo>
                    <a:lnTo>
                      <a:pt x="32" y="175"/>
                    </a:lnTo>
                    <a:lnTo>
                      <a:pt x="29" y="165"/>
                    </a:lnTo>
                    <a:lnTo>
                      <a:pt x="26" y="159"/>
                    </a:lnTo>
                    <a:lnTo>
                      <a:pt x="24" y="153"/>
                    </a:lnTo>
                    <a:lnTo>
                      <a:pt x="22" y="146"/>
                    </a:lnTo>
                    <a:lnTo>
                      <a:pt x="19" y="139"/>
                    </a:lnTo>
                    <a:lnTo>
                      <a:pt x="15" y="128"/>
                    </a:lnTo>
                    <a:lnTo>
                      <a:pt x="8" y="114"/>
                    </a:lnTo>
                    <a:lnTo>
                      <a:pt x="0" y="95"/>
                    </a:lnTo>
                    <a:lnTo>
                      <a:pt x="5" y="84"/>
                    </a:lnTo>
                    <a:lnTo>
                      <a:pt x="9" y="76"/>
                    </a:lnTo>
                    <a:lnTo>
                      <a:pt x="12" y="68"/>
                    </a:lnTo>
                    <a:lnTo>
                      <a:pt x="16" y="61"/>
                    </a:lnTo>
                    <a:lnTo>
                      <a:pt x="20" y="53"/>
                    </a:lnTo>
                    <a:lnTo>
                      <a:pt x="26" y="40"/>
                    </a:lnTo>
                    <a:lnTo>
                      <a:pt x="34" y="23"/>
                    </a:lnTo>
                    <a:lnTo>
                      <a:pt x="45" y="0"/>
                    </a:lnTo>
                    <a:lnTo>
                      <a:pt x="53" y="4"/>
                    </a:lnTo>
                    <a:lnTo>
                      <a:pt x="59" y="8"/>
                    </a:lnTo>
                    <a:lnTo>
                      <a:pt x="63" y="11"/>
                    </a:lnTo>
                    <a:lnTo>
                      <a:pt x="68" y="15"/>
                    </a:lnTo>
                    <a:lnTo>
                      <a:pt x="74" y="19"/>
                    </a:lnTo>
                    <a:lnTo>
                      <a:pt x="83" y="25"/>
                    </a:lnTo>
                    <a:lnTo>
                      <a:pt x="94" y="34"/>
                    </a:lnTo>
                    <a:lnTo>
                      <a:pt x="111" y="46"/>
                    </a:lnTo>
                    <a:lnTo>
                      <a:pt x="115" y="55"/>
                    </a:lnTo>
                    <a:lnTo>
                      <a:pt x="117" y="60"/>
                    </a:lnTo>
                    <a:lnTo>
                      <a:pt x="120" y="65"/>
                    </a:lnTo>
                    <a:lnTo>
                      <a:pt x="122" y="71"/>
                    </a:lnTo>
                    <a:lnTo>
                      <a:pt x="125" y="79"/>
                    </a:lnTo>
                    <a:lnTo>
                      <a:pt x="129" y="89"/>
                    </a:lnTo>
                    <a:lnTo>
                      <a:pt x="135" y="105"/>
                    </a:lnTo>
                    <a:lnTo>
                      <a:pt x="142" y="126"/>
                    </a:lnTo>
                    <a:close/>
                  </a:path>
                </a:pathLst>
              </a:custGeom>
              <a:solidFill>
                <a:srgbClr val="8C94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3" name="Freeform 754">
                <a:extLst>
                  <a:ext uri="{FF2B5EF4-FFF2-40B4-BE49-F238E27FC236}">
                    <a16:creationId xmlns:a16="http://schemas.microsoft.com/office/drawing/2014/main" id="{ED58BC86-55EA-4307-8DCC-626435CDB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5" cy="9"/>
              </a:xfrm>
              <a:custGeom>
                <a:avLst/>
                <a:gdLst>
                  <a:gd name="T0" fmla="*/ 0 w 116"/>
                  <a:gd name="T1" fmla="*/ 0 h 172"/>
                  <a:gd name="T2" fmla="*/ 0 w 116"/>
                  <a:gd name="T3" fmla="*/ 0 h 172"/>
                  <a:gd name="T4" fmla="*/ 0 w 116"/>
                  <a:gd name="T5" fmla="*/ 0 h 172"/>
                  <a:gd name="T6" fmla="*/ 0 w 116"/>
                  <a:gd name="T7" fmla="*/ 0 h 172"/>
                  <a:gd name="T8" fmla="*/ 0 w 116"/>
                  <a:gd name="T9" fmla="*/ 0 h 172"/>
                  <a:gd name="T10" fmla="*/ 0 w 116"/>
                  <a:gd name="T11" fmla="*/ 0 h 172"/>
                  <a:gd name="T12" fmla="*/ 0 w 116"/>
                  <a:gd name="T13" fmla="*/ 0 h 172"/>
                  <a:gd name="T14" fmla="*/ 0 w 116"/>
                  <a:gd name="T15" fmla="*/ 0 h 172"/>
                  <a:gd name="T16" fmla="*/ 0 w 116"/>
                  <a:gd name="T17" fmla="*/ 0 h 172"/>
                  <a:gd name="T18" fmla="*/ 0 w 116"/>
                  <a:gd name="T19" fmla="*/ 0 h 172"/>
                  <a:gd name="T20" fmla="*/ 0 w 116"/>
                  <a:gd name="T21" fmla="*/ 0 h 172"/>
                  <a:gd name="T22" fmla="*/ 0 w 116"/>
                  <a:gd name="T23" fmla="*/ 0 h 172"/>
                  <a:gd name="T24" fmla="*/ 0 w 116"/>
                  <a:gd name="T25" fmla="*/ 0 h 172"/>
                  <a:gd name="T26" fmla="*/ 0 w 116"/>
                  <a:gd name="T27" fmla="*/ 0 h 172"/>
                  <a:gd name="T28" fmla="*/ 0 w 116"/>
                  <a:gd name="T29" fmla="*/ 0 h 172"/>
                  <a:gd name="T30" fmla="*/ 0 w 116"/>
                  <a:gd name="T31" fmla="*/ 0 h 172"/>
                  <a:gd name="T32" fmla="*/ 0 w 116"/>
                  <a:gd name="T33" fmla="*/ 0 h 172"/>
                  <a:gd name="T34" fmla="*/ 0 w 116"/>
                  <a:gd name="T35" fmla="*/ 0 h 172"/>
                  <a:gd name="T36" fmla="*/ 0 w 116"/>
                  <a:gd name="T37" fmla="*/ 0 h 172"/>
                  <a:gd name="T38" fmla="*/ 0 w 116"/>
                  <a:gd name="T39" fmla="*/ 0 h 172"/>
                  <a:gd name="T40" fmla="*/ 0 w 116"/>
                  <a:gd name="T41" fmla="*/ 0 h 172"/>
                  <a:gd name="T42" fmla="*/ 0 w 116"/>
                  <a:gd name="T43" fmla="*/ 0 h 172"/>
                  <a:gd name="T44" fmla="*/ 0 w 116"/>
                  <a:gd name="T45" fmla="*/ 0 h 172"/>
                  <a:gd name="T46" fmla="*/ 0 w 116"/>
                  <a:gd name="T47" fmla="*/ 0 h 172"/>
                  <a:gd name="T48" fmla="*/ 0 w 116"/>
                  <a:gd name="T49" fmla="*/ 0 h 172"/>
                  <a:gd name="T50" fmla="*/ 0 w 116"/>
                  <a:gd name="T51" fmla="*/ 0 h 172"/>
                  <a:gd name="T52" fmla="*/ 0 w 116"/>
                  <a:gd name="T53" fmla="*/ 0 h 172"/>
                  <a:gd name="T54" fmla="*/ 0 w 116"/>
                  <a:gd name="T55" fmla="*/ 0 h 172"/>
                  <a:gd name="T56" fmla="*/ 0 w 116"/>
                  <a:gd name="T57" fmla="*/ 0 h 172"/>
                  <a:gd name="T58" fmla="*/ 0 w 116"/>
                  <a:gd name="T59" fmla="*/ 0 h 172"/>
                  <a:gd name="T60" fmla="*/ 0 w 116"/>
                  <a:gd name="T61" fmla="*/ 0 h 172"/>
                  <a:gd name="T62" fmla="*/ 0 w 116"/>
                  <a:gd name="T63" fmla="*/ 0 h 172"/>
                  <a:gd name="T64" fmla="*/ 0 w 116"/>
                  <a:gd name="T65" fmla="*/ 0 h 172"/>
                  <a:gd name="T66" fmla="*/ 0 w 116"/>
                  <a:gd name="T67" fmla="*/ 0 h 172"/>
                  <a:gd name="T68" fmla="*/ 0 w 116"/>
                  <a:gd name="T69" fmla="*/ 0 h 172"/>
                  <a:gd name="T70" fmla="*/ 0 w 116"/>
                  <a:gd name="T71" fmla="*/ 0 h 172"/>
                  <a:gd name="T72" fmla="*/ 0 w 116"/>
                  <a:gd name="T73" fmla="*/ 0 h 172"/>
                  <a:gd name="T74" fmla="*/ 0 w 116"/>
                  <a:gd name="T75" fmla="*/ 0 h 172"/>
                  <a:gd name="T76" fmla="*/ 0 w 116"/>
                  <a:gd name="T77" fmla="*/ 0 h 172"/>
                  <a:gd name="T78" fmla="*/ 0 w 116"/>
                  <a:gd name="T79" fmla="*/ 0 h 172"/>
                  <a:gd name="T80" fmla="*/ 0 w 116"/>
                  <a:gd name="T81" fmla="*/ 0 h 17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6"/>
                  <a:gd name="T124" fmla="*/ 0 h 172"/>
                  <a:gd name="T125" fmla="*/ 116 w 116"/>
                  <a:gd name="T126" fmla="*/ 172 h 17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6" h="172">
                    <a:moveTo>
                      <a:pt x="116" y="136"/>
                    </a:moveTo>
                    <a:lnTo>
                      <a:pt x="107" y="139"/>
                    </a:lnTo>
                    <a:lnTo>
                      <a:pt x="101" y="141"/>
                    </a:lnTo>
                    <a:lnTo>
                      <a:pt x="95" y="144"/>
                    </a:lnTo>
                    <a:lnTo>
                      <a:pt x="88" y="146"/>
                    </a:lnTo>
                    <a:lnTo>
                      <a:pt x="80" y="150"/>
                    </a:lnTo>
                    <a:lnTo>
                      <a:pt x="69" y="155"/>
                    </a:lnTo>
                    <a:lnTo>
                      <a:pt x="54" y="162"/>
                    </a:lnTo>
                    <a:lnTo>
                      <a:pt x="32" y="172"/>
                    </a:lnTo>
                    <a:lnTo>
                      <a:pt x="29" y="163"/>
                    </a:lnTo>
                    <a:lnTo>
                      <a:pt x="26" y="156"/>
                    </a:lnTo>
                    <a:lnTo>
                      <a:pt x="24" y="151"/>
                    </a:lnTo>
                    <a:lnTo>
                      <a:pt x="22" y="144"/>
                    </a:lnTo>
                    <a:lnTo>
                      <a:pt x="19" y="136"/>
                    </a:lnTo>
                    <a:lnTo>
                      <a:pt x="15" y="126"/>
                    </a:lnTo>
                    <a:lnTo>
                      <a:pt x="8" y="112"/>
                    </a:lnTo>
                    <a:lnTo>
                      <a:pt x="0" y="93"/>
                    </a:lnTo>
                    <a:lnTo>
                      <a:pt x="5" y="82"/>
                    </a:lnTo>
                    <a:lnTo>
                      <a:pt x="8" y="74"/>
                    </a:lnTo>
                    <a:lnTo>
                      <a:pt x="11" y="67"/>
                    </a:lnTo>
                    <a:lnTo>
                      <a:pt x="14" y="60"/>
                    </a:lnTo>
                    <a:lnTo>
                      <a:pt x="18" y="51"/>
                    </a:lnTo>
                    <a:lnTo>
                      <a:pt x="23" y="39"/>
                    </a:lnTo>
                    <a:lnTo>
                      <a:pt x="31" y="22"/>
                    </a:lnTo>
                    <a:lnTo>
                      <a:pt x="40" y="0"/>
                    </a:lnTo>
                    <a:lnTo>
                      <a:pt x="46" y="5"/>
                    </a:lnTo>
                    <a:lnTo>
                      <a:pt x="50" y="9"/>
                    </a:lnTo>
                    <a:lnTo>
                      <a:pt x="53" y="14"/>
                    </a:lnTo>
                    <a:lnTo>
                      <a:pt x="56" y="18"/>
                    </a:lnTo>
                    <a:lnTo>
                      <a:pt x="60" y="23"/>
                    </a:lnTo>
                    <a:lnTo>
                      <a:pt x="65" y="30"/>
                    </a:lnTo>
                    <a:lnTo>
                      <a:pt x="73" y="41"/>
                    </a:lnTo>
                    <a:lnTo>
                      <a:pt x="83" y="56"/>
                    </a:lnTo>
                    <a:lnTo>
                      <a:pt x="87" y="64"/>
                    </a:lnTo>
                    <a:lnTo>
                      <a:pt x="89" y="69"/>
                    </a:lnTo>
                    <a:lnTo>
                      <a:pt x="92" y="75"/>
                    </a:lnTo>
                    <a:lnTo>
                      <a:pt x="95" y="81"/>
                    </a:lnTo>
                    <a:lnTo>
                      <a:pt x="98" y="88"/>
                    </a:lnTo>
                    <a:lnTo>
                      <a:pt x="102" y="99"/>
                    </a:lnTo>
                    <a:lnTo>
                      <a:pt x="108" y="115"/>
                    </a:lnTo>
                    <a:lnTo>
                      <a:pt x="116" y="136"/>
                    </a:lnTo>
                    <a:close/>
                  </a:path>
                </a:pathLst>
              </a:custGeom>
              <a:solidFill>
                <a:srgbClr val="A8B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4" name="Freeform 755">
                <a:extLst>
                  <a:ext uri="{FF2B5EF4-FFF2-40B4-BE49-F238E27FC236}">
                    <a16:creationId xmlns:a16="http://schemas.microsoft.com/office/drawing/2014/main" id="{A2A08D10-C351-4989-AEE6-7A1B29A56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93"/>
                <a:ext cx="4" cy="9"/>
              </a:xfrm>
              <a:custGeom>
                <a:avLst/>
                <a:gdLst>
                  <a:gd name="T0" fmla="*/ 0 w 88"/>
                  <a:gd name="T1" fmla="*/ 0 h 170"/>
                  <a:gd name="T2" fmla="*/ 0 w 88"/>
                  <a:gd name="T3" fmla="*/ 0 h 170"/>
                  <a:gd name="T4" fmla="*/ 0 w 88"/>
                  <a:gd name="T5" fmla="*/ 0 h 170"/>
                  <a:gd name="T6" fmla="*/ 0 w 88"/>
                  <a:gd name="T7" fmla="*/ 0 h 170"/>
                  <a:gd name="T8" fmla="*/ 0 w 88"/>
                  <a:gd name="T9" fmla="*/ 0 h 170"/>
                  <a:gd name="T10" fmla="*/ 0 w 88"/>
                  <a:gd name="T11" fmla="*/ 0 h 170"/>
                  <a:gd name="T12" fmla="*/ 0 w 88"/>
                  <a:gd name="T13" fmla="*/ 0 h 170"/>
                  <a:gd name="T14" fmla="*/ 0 w 88"/>
                  <a:gd name="T15" fmla="*/ 0 h 170"/>
                  <a:gd name="T16" fmla="*/ 0 w 88"/>
                  <a:gd name="T17" fmla="*/ 0 h 170"/>
                  <a:gd name="T18" fmla="*/ 0 w 88"/>
                  <a:gd name="T19" fmla="*/ 0 h 170"/>
                  <a:gd name="T20" fmla="*/ 0 w 88"/>
                  <a:gd name="T21" fmla="*/ 0 h 170"/>
                  <a:gd name="T22" fmla="*/ 0 w 88"/>
                  <a:gd name="T23" fmla="*/ 0 h 170"/>
                  <a:gd name="T24" fmla="*/ 0 w 88"/>
                  <a:gd name="T25" fmla="*/ 0 h 170"/>
                  <a:gd name="T26" fmla="*/ 0 w 88"/>
                  <a:gd name="T27" fmla="*/ 0 h 170"/>
                  <a:gd name="T28" fmla="*/ 0 w 88"/>
                  <a:gd name="T29" fmla="*/ 0 h 170"/>
                  <a:gd name="T30" fmla="*/ 0 w 88"/>
                  <a:gd name="T31" fmla="*/ 0 h 170"/>
                  <a:gd name="T32" fmla="*/ 0 w 88"/>
                  <a:gd name="T33" fmla="*/ 0 h 170"/>
                  <a:gd name="T34" fmla="*/ 0 w 88"/>
                  <a:gd name="T35" fmla="*/ 0 h 170"/>
                  <a:gd name="T36" fmla="*/ 0 w 88"/>
                  <a:gd name="T37" fmla="*/ 0 h 170"/>
                  <a:gd name="T38" fmla="*/ 0 w 88"/>
                  <a:gd name="T39" fmla="*/ 0 h 170"/>
                  <a:gd name="T40" fmla="*/ 0 w 88"/>
                  <a:gd name="T41" fmla="*/ 0 h 170"/>
                  <a:gd name="T42" fmla="*/ 0 w 88"/>
                  <a:gd name="T43" fmla="*/ 0 h 170"/>
                  <a:gd name="T44" fmla="*/ 0 w 88"/>
                  <a:gd name="T45" fmla="*/ 0 h 170"/>
                  <a:gd name="T46" fmla="*/ 0 w 88"/>
                  <a:gd name="T47" fmla="*/ 0 h 170"/>
                  <a:gd name="T48" fmla="*/ 0 w 88"/>
                  <a:gd name="T49" fmla="*/ 0 h 170"/>
                  <a:gd name="T50" fmla="*/ 0 w 88"/>
                  <a:gd name="T51" fmla="*/ 0 h 170"/>
                  <a:gd name="T52" fmla="*/ 0 w 88"/>
                  <a:gd name="T53" fmla="*/ 0 h 170"/>
                  <a:gd name="T54" fmla="*/ 0 w 88"/>
                  <a:gd name="T55" fmla="*/ 0 h 170"/>
                  <a:gd name="T56" fmla="*/ 0 w 88"/>
                  <a:gd name="T57" fmla="*/ 0 h 170"/>
                  <a:gd name="T58" fmla="*/ 0 w 88"/>
                  <a:gd name="T59" fmla="*/ 0 h 170"/>
                  <a:gd name="T60" fmla="*/ 0 w 88"/>
                  <a:gd name="T61" fmla="*/ 0 h 170"/>
                  <a:gd name="T62" fmla="*/ 0 w 88"/>
                  <a:gd name="T63" fmla="*/ 0 h 170"/>
                  <a:gd name="T64" fmla="*/ 0 w 88"/>
                  <a:gd name="T65" fmla="*/ 0 h 170"/>
                  <a:gd name="T66" fmla="*/ 0 w 88"/>
                  <a:gd name="T67" fmla="*/ 0 h 170"/>
                  <a:gd name="T68" fmla="*/ 0 w 88"/>
                  <a:gd name="T69" fmla="*/ 0 h 170"/>
                  <a:gd name="T70" fmla="*/ 0 w 88"/>
                  <a:gd name="T71" fmla="*/ 0 h 170"/>
                  <a:gd name="T72" fmla="*/ 0 w 88"/>
                  <a:gd name="T73" fmla="*/ 0 h 17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88"/>
                  <a:gd name="T112" fmla="*/ 0 h 170"/>
                  <a:gd name="T113" fmla="*/ 88 w 88"/>
                  <a:gd name="T114" fmla="*/ 170 h 17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88" h="170">
                    <a:moveTo>
                      <a:pt x="88" y="145"/>
                    </a:moveTo>
                    <a:lnTo>
                      <a:pt x="81" y="147"/>
                    </a:lnTo>
                    <a:lnTo>
                      <a:pt x="77" y="150"/>
                    </a:lnTo>
                    <a:lnTo>
                      <a:pt x="73" y="151"/>
                    </a:lnTo>
                    <a:lnTo>
                      <a:pt x="69" y="153"/>
                    </a:lnTo>
                    <a:lnTo>
                      <a:pt x="64" y="155"/>
                    </a:lnTo>
                    <a:lnTo>
                      <a:pt x="57" y="158"/>
                    </a:lnTo>
                    <a:lnTo>
                      <a:pt x="47" y="163"/>
                    </a:lnTo>
                    <a:lnTo>
                      <a:pt x="32" y="170"/>
                    </a:lnTo>
                    <a:lnTo>
                      <a:pt x="29" y="161"/>
                    </a:lnTo>
                    <a:lnTo>
                      <a:pt x="26" y="154"/>
                    </a:lnTo>
                    <a:lnTo>
                      <a:pt x="24" y="148"/>
                    </a:lnTo>
                    <a:lnTo>
                      <a:pt x="22" y="142"/>
                    </a:lnTo>
                    <a:lnTo>
                      <a:pt x="19" y="134"/>
                    </a:lnTo>
                    <a:lnTo>
                      <a:pt x="15" y="123"/>
                    </a:lnTo>
                    <a:lnTo>
                      <a:pt x="8" y="109"/>
                    </a:lnTo>
                    <a:lnTo>
                      <a:pt x="0" y="89"/>
                    </a:lnTo>
                    <a:lnTo>
                      <a:pt x="4" y="79"/>
                    </a:lnTo>
                    <a:lnTo>
                      <a:pt x="7" y="71"/>
                    </a:lnTo>
                    <a:lnTo>
                      <a:pt x="9" y="65"/>
                    </a:lnTo>
                    <a:lnTo>
                      <a:pt x="12" y="58"/>
                    </a:lnTo>
                    <a:lnTo>
                      <a:pt x="15" y="49"/>
                    </a:lnTo>
                    <a:lnTo>
                      <a:pt x="19" y="38"/>
                    </a:lnTo>
                    <a:lnTo>
                      <a:pt x="26" y="22"/>
                    </a:lnTo>
                    <a:lnTo>
                      <a:pt x="34" y="0"/>
                    </a:lnTo>
                    <a:lnTo>
                      <a:pt x="40" y="11"/>
                    </a:lnTo>
                    <a:lnTo>
                      <a:pt x="43" y="21"/>
                    </a:lnTo>
                    <a:lnTo>
                      <a:pt x="47" y="36"/>
                    </a:lnTo>
                    <a:lnTo>
                      <a:pt x="55" y="65"/>
                    </a:lnTo>
                    <a:lnTo>
                      <a:pt x="59" y="74"/>
                    </a:lnTo>
                    <a:lnTo>
                      <a:pt x="61" y="79"/>
                    </a:lnTo>
                    <a:lnTo>
                      <a:pt x="64" y="84"/>
                    </a:lnTo>
                    <a:lnTo>
                      <a:pt x="66" y="90"/>
                    </a:lnTo>
                    <a:lnTo>
                      <a:pt x="69" y="98"/>
                    </a:lnTo>
                    <a:lnTo>
                      <a:pt x="73" y="108"/>
                    </a:lnTo>
                    <a:lnTo>
                      <a:pt x="79" y="124"/>
                    </a:lnTo>
                    <a:lnTo>
                      <a:pt x="88" y="145"/>
                    </a:lnTo>
                    <a:close/>
                  </a:path>
                </a:pathLst>
              </a:custGeom>
              <a:solidFill>
                <a:srgbClr val="C4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5" name="Freeform 756">
                <a:extLst>
                  <a:ext uri="{FF2B5EF4-FFF2-40B4-BE49-F238E27FC236}">
                    <a16:creationId xmlns:a16="http://schemas.microsoft.com/office/drawing/2014/main" id="{72AA023F-B9DF-478B-9597-FD86D742D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93"/>
                <a:ext cx="2" cy="9"/>
              </a:xfrm>
              <a:custGeom>
                <a:avLst/>
                <a:gdLst>
                  <a:gd name="T0" fmla="*/ 0 w 59"/>
                  <a:gd name="T1" fmla="*/ 0 h 167"/>
                  <a:gd name="T2" fmla="*/ 0 w 59"/>
                  <a:gd name="T3" fmla="*/ 0 h 167"/>
                  <a:gd name="T4" fmla="*/ 0 w 59"/>
                  <a:gd name="T5" fmla="*/ 0 h 167"/>
                  <a:gd name="T6" fmla="*/ 0 w 59"/>
                  <a:gd name="T7" fmla="*/ 0 h 167"/>
                  <a:gd name="T8" fmla="*/ 0 w 59"/>
                  <a:gd name="T9" fmla="*/ 0 h 167"/>
                  <a:gd name="T10" fmla="*/ 0 w 59"/>
                  <a:gd name="T11" fmla="*/ 0 h 1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167"/>
                  <a:gd name="T20" fmla="*/ 59 w 59"/>
                  <a:gd name="T21" fmla="*/ 167 h 1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167">
                    <a:moveTo>
                      <a:pt x="59" y="155"/>
                    </a:moveTo>
                    <a:lnTo>
                      <a:pt x="33" y="167"/>
                    </a:lnTo>
                    <a:lnTo>
                      <a:pt x="0" y="87"/>
                    </a:lnTo>
                    <a:lnTo>
                      <a:pt x="29" y="0"/>
                    </a:lnTo>
                    <a:lnTo>
                      <a:pt x="26" y="76"/>
                    </a:lnTo>
                    <a:lnTo>
                      <a:pt x="59" y="155"/>
                    </a:lnTo>
                    <a:close/>
                  </a:path>
                </a:pathLst>
              </a:custGeom>
              <a:solidFill>
                <a:srgbClr val="E0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6" name="Freeform 757">
                <a:extLst>
                  <a:ext uri="{FF2B5EF4-FFF2-40B4-BE49-F238E27FC236}">
                    <a16:creationId xmlns:a16="http://schemas.microsoft.com/office/drawing/2014/main" id="{C0BEAC82-8BB7-4486-9920-F0553CE10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294"/>
                <a:ext cx="8" cy="4"/>
              </a:xfrm>
              <a:custGeom>
                <a:avLst/>
                <a:gdLst>
                  <a:gd name="T0" fmla="*/ 0 w 172"/>
                  <a:gd name="T1" fmla="*/ 0 h 81"/>
                  <a:gd name="T2" fmla="*/ 0 w 172"/>
                  <a:gd name="T3" fmla="*/ 0 h 81"/>
                  <a:gd name="T4" fmla="*/ 0 w 172"/>
                  <a:gd name="T5" fmla="*/ 0 h 81"/>
                  <a:gd name="T6" fmla="*/ 0 w 172"/>
                  <a:gd name="T7" fmla="*/ 0 h 81"/>
                  <a:gd name="T8" fmla="*/ 0 w 172"/>
                  <a:gd name="T9" fmla="*/ 0 h 81"/>
                  <a:gd name="T10" fmla="*/ 0 w 172"/>
                  <a:gd name="T11" fmla="*/ 0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2"/>
                  <a:gd name="T19" fmla="*/ 0 h 81"/>
                  <a:gd name="T20" fmla="*/ 172 w 172"/>
                  <a:gd name="T21" fmla="*/ 81 h 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2" h="81">
                    <a:moveTo>
                      <a:pt x="170" y="4"/>
                    </a:moveTo>
                    <a:lnTo>
                      <a:pt x="168" y="0"/>
                    </a:lnTo>
                    <a:lnTo>
                      <a:pt x="0" y="73"/>
                    </a:lnTo>
                    <a:lnTo>
                      <a:pt x="4" y="81"/>
                    </a:lnTo>
                    <a:lnTo>
                      <a:pt x="172" y="8"/>
                    </a:lnTo>
                    <a:lnTo>
                      <a:pt x="170" y="4"/>
                    </a:lnTo>
                    <a:close/>
                  </a:path>
                </a:pathLst>
              </a:custGeom>
              <a:solidFill>
                <a:srgbClr val="E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7" name="Freeform 758">
                <a:extLst>
                  <a:ext uri="{FF2B5EF4-FFF2-40B4-BE49-F238E27FC236}">
                    <a16:creationId xmlns:a16="http://schemas.microsoft.com/office/drawing/2014/main" id="{E6BAE77E-C89D-446A-8560-5E51205D3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2"/>
                <a:ext cx="10" cy="6"/>
              </a:xfrm>
              <a:custGeom>
                <a:avLst/>
                <a:gdLst>
                  <a:gd name="T0" fmla="*/ 0 w 216"/>
                  <a:gd name="T1" fmla="*/ 0 h 103"/>
                  <a:gd name="T2" fmla="*/ 0 w 216"/>
                  <a:gd name="T3" fmla="*/ 0 h 103"/>
                  <a:gd name="T4" fmla="*/ 0 w 216"/>
                  <a:gd name="T5" fmla="*/ 0 h 103"/>
                  <a:gd name="T6" fmla="*/ 0 w 216"/>
                  <a:gd name="T7" fmla="*/ 0 h 103"/>
                  <a:gd name="T8" fmla="*/ 0 w 216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"/>
                  <a:gd name="T16" fmla="*/ 0 h 103"/>
                  <a:gd name="T17" fmla="*/ 216 w 216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" h="103">
                    <a:moveTo>
                      <a:pt x="216" y="12"/>
                    </a:moveTo>
                    <a:lnTo>
                      <a:pt x="4" y="103"/>
                    </a:lnTo>
                    <a:lnTo>
                      <a:pt x="0" y="93"/>
                    </a:lnTo>
                    <a:lnTo>
                      <a:pt x="211" y="0"/>
                    </a:lnTo>
                    <a:lnTo>
                      <a:pt x="216" y="12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8" name="Freeform 759">
                <a:extLst>
                  <a:ext uri="{FF2B5EF4-FFF2-40B4-BE49-F238E27FC236}">
                    <a16:creationId xmlns:a16="http://schemas.microsoft.com/office/drawing/2014/main" id="{C31CE8EE-0A39-4689-82FD-5B5451FD0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1" cy="16"/>
              </a:xfrm>
              <a:custGeom>
                <a:avLst/>
                <a:gdLst>
                  <a:gd name="T0" fmla="*/ 0 w 250"/>
                  <a:gd name="T1" fmla="*/ 0 h 298"/>
                  <a:gd name="T2" fmla="*/ 0 w 250"/>
                  <a:gd name="T3" fmla="*/ 0 h 298"/>
                  <a:gd name="T4" fmla="*/ 0 w 250"/>
                  <a:gd name="T5" fmla="*/ 0 h 298"/>
                  <a:gd name="T6" fmla="*/ 0 w 250"/>
                  <a:gd name="T7" fmla="*/ 0 h 298"/>
                  <a:gd name="T8" fmla="*/ 0 w 250"/>
                  <a:gd name="T9" fmla="*/ 0 h 298"/>
                  <a:gd name="T10" fmla="*/ 0 w 250"/>
                  <a:gd name="T11" fmla="*/ 0 h 298"/>
                  <a:gd name="T12" fmla="*/ 0 w 250"/>
                  <a:gd name="T13" fmla="*/ 0 h 298"/>
                  <a:gd name="T14" fmla="*/ 0 w 250"/>
                  <a:gd name="T15" fmla="*/ 0 h 298"/>
                  <a:gd name="T16" fmla="*/ 0 w 250"/>
                  <a:gd name="T17" fmla="*/ 0 h 298"/>
                  <a:gd name="T18" fmla="*/ 0 w 250"/>
                  <a:gd name="T19" fmla="*/ 0 h 298"/>
                  <a:gd name="T20" fmla="*/ 0 w 250"/>
                  <a:gd name="T21" fmla="*/ 0 h 298"/>
                  <a:gd name="T22" fmla="*/ 0 w 250"/>
                  <a:gd name="T23" fmla="*/ 0 h 298"/>
                  <a:gd name="T24" fmla="*/ 0 w 250"/>
                  <a:gd name="T25" fmla="*/ 0 h 298"/>
                  <a:gd name="T26" fmla="*/ 0 w 250"/>
                  <a:gd name="T27" fmla="*/ 0 h 298"/>
                  <a:gd name="T28" fmla="*/ 0 w 250"/>
                  <a:gd name="T29" fmla="*/ 0 h 298"/>
                  <a:gd name="T30" fmla="*/ 0 w 250"/>
                  <a:gd name="T31" fmla="*/ 0 h 298"/>
                  <a:gd name="T32" fmla="*/ 0 w 250"/>
                  <a:gd name="T33" fmla="*/ 0 h 298"/>
                  <a:gd name="T34" fmla="*/ 0 w 250"/>
                  <a:gd name="T35" fmla="*/ 0 h 298"/>
                  <a:gd name="T36" fmla="*/ 0 w 250"/>
                  <a:gd name="T37" fmla="*/ 0 h 298"/>
                  <a:gd name="T38" fmla="*/ 0 w 250"/>
                  <a:gd name="T39" fmla="*/ 0 h 298"/>
                  <a:gd name="T40" fmla="*/ 0 w 250"/>
                  <a:gd name="T41" fmla="*/ 0 h 298"/>
                  <a:gd name="T42" fmla="*/ 0 w 250"/>
                  <a:gd name="T43" fmla="*/ 0 h 298"/>
                  <a:gd name="T44" fmla="*/ 0 w 250"/>
                  <a:gd name="T45" fmla="*/ 0 h 298"/>
                  <a:gd name="T46" fmla="*/ 0 w 250"/>
                  <a:gd name="T47" fmla="*/ 0 h 298"/>
                  <a:gd name="T48" fmla="*/ 0 w 250"/>
                  <a:gd name="T49" fmla="*/ 0 h 298"/>
                  <a:gd name="T50" fmla="*/ 0 w 250"/>
                  <a:gd name="T51" fmla="*/ 0 h 298"/>
                  <a:gd name="T52" fmla="*/ 0 w 250"/>
                  <a:gd name="T53" fmla="*/ 0 h 298"/>
                  <a:gd name="T54" fmla="*/ 0 w 250"/>
                  <a:gd name="T55" fmla="*/ 0 h 298"/>
                  <a:gd name="T56" fmla="*/ 0 w 250"/>
                  <a:gd name="T57" fmla="*/ 0 h 298"/>
                  <a:gd name="T58" fmla="*/ 0 w 250"/>
                  <a:gd name="T59" fmla="*/ 0 h 298"/>
                  <a:gd name="T60" fmla="*/ 0 w 250"/>
                  <a:gd name="T61" fmla="*/ 0 h 298"/>
                  <a:gd name="T62" fmla="*/ 0 w 250"/>
                  <a:gd name="T63" fmla="*/ 0 h 298"/>
                  <a:gd name="T64" fmla="*/ 0 w 250"/>
                  <a:gd name="T65" fmla="*/ 0 h 298"/>
                  <a:gd name="T66" fmla="*/ 0 w 250"/>
                  <a:gd name="T67" fmla="*/ 0 h 298"/>
                  <a:gd name="T68" fmla="*/ 0 w 250"/>
                  <a:gd name="T69" fmla="*/ 0 h 298"/>
                  <a:gd name="T70" fmla="*/ 0 w 250"/>
                  <a:gd name="T71" fmla="*/ 0 h 298"/>
                  <a:gd name="T72" fmla="*/ 0 w 250"/>
                  <a:gd name="T73" fmla="*/ 0 h 298"/>
                  <a:gd name="T74" fmla="*/ 0 w 250"/>
                  <a:gd name="T75" fmla="*/ 0 h 298"/>
                  <a:gd name="T76" fmla="*/ 0 w 250"/>
                  <a:gd name="T77" fmla="*/ 0 h 298"/>
                  <a:gd name="T78" fmla="*/ 0 w 250"/>
                  <a:gd name="T79" fmla="*/ 0 h 298"/>
                  <a:gd name="T80" fmla="*/ 0 w 250"/>
                  <a:gd name="T81" fmla="*/ 0 h 2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50"/>
                  <a:gd name="T124" fmla="*/ 0 h 298"/>
                  <a:gd name="T125" fmla="*/ 250 w 250"/>
                  <a:gd name="T126" fmla="*/ 298 h 29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50" h="298">
                    <a:moveTo>
                      <a:pt x="207" y="296"/>
                    </a:moveTo>
                    <a:lnTo>
                      <a:pt x="219" y="286"/>
                    </a:lnTo>
                    <a:lnTo>
                      <a:pt x="232" y="267"/>
                    </a:lnTo>
                    <a:lnTo>
                      <a:pt x="242" y="241"/>
                    </a:lnTo>
                    <a:lnTo>
                      <a:pt x="248" y="206"/>
                    </a:lnTo>
                    <a:lnTo>
                      <a:pt x="250" y="165"/>
                    </a:lnTo>
                    <a:lnTo>
                      <a:pt x="245" y="116"/>
                    </a:lnTo>
                    <a:lnTo>
                      <a:pt x="233" y="62"/>
                    </a:lnTo>
                    <a:lnTo>
                      <a:pt x="211" y="0"/>
                    </a:lnTo>
                    <a:lnTo>
                      <a:pt x="198" y="6"/>
                    </a:lnTo>
                    <a:lnTo>
                      <a:pt x="185" y="12"/>
                    </a:lnTo>
                    <a:lnTo>
                      <a:pt x="171" y="17"/>
                    </a:lnTo>
                    <a:lnTo>
                      <a:pt x="158" y="24"/>
                    </a:lnTo>
                    <a:lnTo>
                      <a:pt x="145" y="29"/>
                    </a:lnTo>
                    <a:lnTo>
                      <a:pt x="132" y="35"/>
                    </a:lnTo>
                    <a:lnTo>
                      <a:pt x="118" y="41"/>
                    </a:lnTo>
                    <a:lnTo>
                      <a:pt x="106" y="46"/>
                    </a:lnTo>
                    <a:lnTo>
                      <a:pt x="93" y="52"/>
                    </a:lnTo>
                    <a:lnTo>
                      <a:pt x="80" y="57"/>
                    </a:lnTo>
                    <a:lnTo>
                      <a:pt x="66" y="64"/>
                    </a:lnTo>
                    <a:lnTo>
                      <a:pt x="53" y="69"/>
                    </a:lnTo>
                    <a:lnTo>
                      <a:pt x="40" y="75"/>
                    </a:lnTo>
                    <a:lnTo>
                      <a:pt x="27" y="81"/>
                    </a:lnTo>
                    <a:lnTo>
                      <a:pt x="13" y="87"/>
                    </a:lnTo>
                    <a:lnTo>
                      <a:pt x="0" y="92"/>
                    </a:lnTo>
                    <a:lnTo>
                      <a:pt x="13" y="123"/>
                    </a:lnTo>
                    <a:lnTo>
                      <a:pt x="28" y="150"/>
                    </a:lnTo>
                    <a:lnTo>
                      <a:pt x="42" y="175"/>
                    </a:lnTo>
                    <a:lnTo>
                      <a:pt x="57" y="198"/>
                    </a:lnTo>
                    <a:lnTo>
                      <a:pt x="73" y="218"/>
                    </a:lnTo>
                    <a:lnTo>
                      <a:pt x="87" y="236"/>
                    </a:lnTo>
                    <a:lnTo>
                      <a:pt x="102" y="250"/>
                    </a:lnTo>
                    <a:lnTo>
                      <a:pt x="117" y="263"/>
                    </a:lnTo>
                    <a:lnTo>
                      <a:pt x="132" y="274"/>
                    </a:lnTo>
                    <a:lnTo>
                      <a:pt x="145" y="283"/>
                    </a:lnTo>
                    <a:lnTo>
                      <a:pt x="158" y="289"/>
                    </a:lnTo>
                    <a:lnTo>
                      <a:pt x="170" y="294"/>
                    </a:lnTo>
                    <a:lnTo>
                      <a:pt x="182" y="297"/>
                    </a:lnTo>
                    <a:lnTo>
                      <a:pt x="192" y="298"/>
                    </a:lnTo>
                    <a:lnTo>
                      <a:pt x="200" y="298"/>
                    </a:lnTo>
                    <a:lnTo>
                      <a:pt x="207" y="296"/>
                    </a:lnTo>
                    <a:close/>
                  </a:path>
                </a:pathLst>
              </a:custGeom>
              <a:solidFill>
                <a:srgbClr val="1119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9" name="Freeform 760">
                <a:extLst>
                  <a:ext uri="{FF2B5EF4-FFF2-40B4-BE49-F238E27FC236}">
                    <a16:creationId xmlns:a16="http://schemas.microsoft.com/office/drawing/2014/main" id="{08248A10-890C-40B9-99B0-DE92835FC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3433"/>
                <a:ext cx="10" cy="16"/>
              </a:xfrm>
              <a:custGeom>
                <a:avLst/>
                <a:gdLst>
                  <a:gd name="T0" fmla="*/ 0 w 226"/>
                  <a:gd name="T1" fmla="*/ 0 h 287"/>
                  <a:gd name="T2" fmla="*/ 0 w 226"/>
                  <a:gd name="T3" fmla="*/ 0 h 287"/>
                  <a:gd name="T4" fmla="*/ 0 w 226"/>
                  <a:gd name="T5" fmla="*/ 0 h 287"/>
                  <a:gd name="T6" fmla="*/ 0 w 226"/>
                  <a:gd name="T7" fmla="*/ 0 h 287"/>
                  <a:gd name="T8" fmla="*/ 0 w 226"/>
                  <a:gd name="T9" fmla="*/ 0 h 287"/>
                  <a:gd name="T10" fmla="*/ 0 w 226"/>
                  <a:gd name="T11" fmla="*/ 0 h 287"/>
                  <a:gd name="T12" fmla="*/ 0 w 226"/>
                  <a:gd name="T13" fmla="*/ 0 h 287"/>
                  <a:gd name="T14" fmla="*/ 0 w 226"/>
                  <a:gd name="T15" fmla="*/ 0 h 287"/>
                  <a:gd name="T16" fmla="*/ 0 w 226"/>
                  <a:gd name="T17" fmla="*/ 0 h 287"/>
                  <a:gd name="T18" fmla="*/ 0 w 226"/>
                  <a:gd name="T19" fmla="*/ 0 h 287"/>
                  <a:gd name="T20" fmla="*/ 0 w 226"/>
                  <a:gd name="T21" fmla="*/ 0 h 287"/>
                  <a:gd name="T22" fmla="*/ 0 w 226"/>
                  <a:gd name="T23" fmla="*/ 0 h 287"/>
                  <a:gd name="T24" fmla="*/ 0 w 226"/>
                  <a:gd name="T25" fmla="*/ 0 h 287"/>
                  <a:gd name="T26" fmla="*/ 0 w 226"/>
                  <a:gd name="T27" fmla="*/ 0 h 287"/>
                  <a:gd name="T28" fmla="*/ 0 w 226"/>
                  <a:gd name="T29" fmla="*/ 0 h 287"/>
                  <a:gd name="T30" fmla="*/ 0 w 226"/>
                  <a:gd name="T31" fmla="*/ 0 h 287"/>
                  <a:gd name="T32" fmla="*/ 0 w 226"/>
                  <a:gd name="T33" fmla="*/ 0 h 287"/>
                  <a:gd name="T34" fmla="*/ 0 w 226"/>
                  <a:gd name="T35" fmla="*/ 0 h 287"/>
                  <a:gd name="T36" fmla="*/ 0 w 226"/>
                  <a:gd name="T37" fmla="*/ 0 h 287"/>
                  <a:gd name="T38" fmla="*/ 0 w 226"/>
                  <a:gd name="T39" fmla="*/ 0 h 287"/>
                  <a:gd name="T40" fmla="*/ 0 w 226"/>
                  <a:gd name="T41" fmla="*/ 0 h 287"/>
                  <a:gd name="T42" fmla="*/ 0 w 226"/>
                  <a:gd name="T43" fmla="*/ 0 h 287"/>
                  <a:gd name="T44" fmla="*/ 0 w 226"/>
                  <a:gd name="T45" fmla="*/ 0 h 287"/>
                  <a:gd name="T46" fmla="*/ 0 w 226"/>
                  <a:gd name="T47" fmla="*/ 0 h 287"/>
                  <a:gd name="T48" fmla="*/ 0 w 226"/>
                  <a:gd name="T49" fmla="*/ 0 h 287"/>
                  <a:gd name="T50" fmla="*/ 0 w 226"/>
                  <a:gd name="T51" fmla="*/ 0 h 287"/>
                  <a:gd name="T52" fmla="*/ 0 w 226"/>
                  <a:gd name="T53" fmla="*/ 0 h 287"/>
                  <a:gd name="T54" fmla="*/ 0 w 226"/>
                  <a:gd name="T55" fmla="*/ 0 h 287"/>
                  <a:gd name="T56" fmla="*/ 0 w 226"/>
                  <a:gd name="T57" fmla="*/ 0 h 287"/>
                  <a:gd name="T58" fmla="*/ 0 w 226"/>
                  <a:gd name="T59" fmla="*/ 0 h 287"/>
                  <a:gd name="T60" fmla="*/ 0 w 226"/>
                  <a:gd name="T61" fmla="*/ 0 h 287"/>
                  <a:gd name="T62" fmla="*/ 0 w 226"/>
                  <a:gd name="T63" fmla="*/ 0 h 287"/>
                  <a:gd name="T64" fmla="*/ 0 w 226"/>
                  <a:gd name="T65" fmla="*/ 0 h 287"/>
                  <a:gd name="T66" fmla="*/ 0 w 226"/>
                  <a:gd name="T67" fmla="*/ 0 h 287"/>
                  <a:gd name="T68" fmla="*/ 0 w 226"/>
                  <a:gd name="T69" fmla="*/ 0 h 287"/>
                  <a:gd name="T70" fmla="*/ 0 w 226"/>
                  <a:gd name="T71" fmla="*/ 0 h 287"/>
                  <a:gd name="T72" fmla="*/ 0 w 226"/>
                  <a:gd name="T73" fmla="*/ 0 h 287"/>
                  <a:gd name="T74" fmla="*/ 0 w 226"/>
                  <a:gd name="T75" fmla="*/ 0 h 287"/>
                  <a:gd name="T76" fmla="*/ 0 w 226"/>
                  <a:gd name="T77" fmla="*/ 0 h 287"/>
                  <a:gd name="T78" fmla="*/ 0 w 226"/>
                  <a:gd name="T79" fmla="*/ 0 h 287"/>
                  <a:gd name="T80" fmla="*/ 0 w 226"/>
                  <a:gd name="T81" fmla="*/ 0 h 28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26"/>
                  <a:gd name="T124" fmla="*/ 0 h 287"/>
                  <a:gd name="T125" fmla="*/ 226 w 226"/>
                  <a:gd name="T126" fmla="*/ 287 h 28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26" h="287">
                    <a:moveTo>
                      <a:pt x="199" y="285"/>
                    </a:moveTo>
                    <a:lnTo>
                      <a:pt x="209" y="276"/>
                    </a:lnTo>
                    <a:lnTo>
                      <a:pt x="217" y="259"/>
                    </a:lnTo>
                    <a:lnTo>
                      <a:pt x="224" y="234"/>
                    </a:lnTo>
                    <a:lnTo>
                      <a:pt x="226" y="202"/>
                    </a:lnTo>
                    <a:lnTo>
                      <a:pt x="223" y="162"/>
                    </a:lnTo>
                    <a:lnTo>
                      <a:pt x="214" y="115"/>
                    </a:lnTo>
                    <a:lnTo>
                      <a:pt x="200" y="61"/>
                    </a:lnTo>
                    <a:lnTo>
                      <a:pt x="178" y="0"/>
                    </a:lnTo>
                    <a:lnTo>
                      <a:pt x="166" y="5"/>
                    </a:lnTo>
                    <a:lnTo>
                      <a:pt x="155" y="10"/>
                    </a:lnTo>
                    <a:lnTo>
                      <a:pt x="144" y="15"/>
                    </a:lnTo>
                    <a:lnTo>
                      <a:pt x="134" y="20"/>
                    </a:lnTo>
                    <a:lnTo>
                      <a:pt x="123" y="24"/>
                    </a:lnTo>
                    <a:lnTo>
                      <a:pt x="111" y="30"/>
                    </a:lnTo>
                    <a:lnTo>
                      <a:pt x="100" y="34"/>
                    </a:lnTo>
                    <a:lnTo>
                      <a:pt x="89" y="39"/>
                    </a:lnTo>
                    <a:lnTo>
                      <a:pt x="78" y="44"/>
                    </a:lnTo>
                    <a:lnTo>
                      <a:pt x="67" y="49"/>
                    </a:lnTo>
                    <a:lnTo>
                      <a:pt x="55" y="54"/>
                    </a:lnTo>
                    <a:lnTo>
                      <a:pt x="45" y="58"/>
                    </a:lnTo>
                    <a:lnTo>
                      <a:pt x="34" y="63"/>
                    </a:lnTo>
                    <a:lnTo>
                      <a:pt x="23" y="69"/>
                    </a:lnTo>
                    <a:lnTo>
                      <a:pt x="11" y="73"/>
                    </a:lnTo>
                    <a:lnTo>
                      <a:pt x="0" y="78"/>
                    </a:lnTo>
                    <a:lnTo>
                      <a:pt x="13" y="109"/>
                    </a:lnTo>
                    <a:lnTo>
                      <a:pt x="28" y="136"/>
                    </a:lnTo>
                    <a:lnTo>
                      <a:pt x="42" y="161"/>
                    </a:lnTo>
                    <a:lnTo>
                      <a:pt x="56" y="184"/>
                    </a:lnTo>
                    <a:lnTo>
                      <a:pt x="72" y="204"/>
                    </a:lnTo>
                    <a:lnTo>
                      <a:pt x="86" y="221"/>
                    </a:lnTo>
                    <a:lnTo>
                      <a:pt x="101" y="236"/>
                    </a:lnTo>
                    <a:lnTo>
                      <a:pt x="115" y="250"/>
                    </a:lnTo>
                    <a:lnTo>
                      <a:pt x="129" y="260"/>
                    </a:lnTo>
                    <a:lnTo>
                      <a:pt x="142" y="270"/>
                    </a:lnTo>
                    <a:lnTo>
                      <a:pt x="155" y="276"/>
                    </a:lnTo>
                    <a:lnTo>
                      <a:pt x="166" y="282"/>
                    </a:lnTo>
                    <a:lnTo>
                      <a:pt x="177" y="285"/>
                    </a:lnTo>
                    <a:lnTo>
                      <a:pt x="186" y="287"/>
                    </a:lnTo>
                    <a:lnTo>
                      <a:pt x="193" y="287"/>
                    </a:lnTo>
                    <a:lnTo>
                      <a:pt x="199" y="285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0" name="Freeform 761">
                <a:extLst>
                  <a:ext uri="{FF2B5EF4-FFF2-40B4-BE49-F238E27FC236}">
                    <a16:creationId xmlns:a16="http://schemas.microsoft.com/office/drawing/2014/main" id="{869B9E16-9E16-4153-ACC1-8C4F953C3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4"/>
                <a:ext cx="9" cy="15"/>
              </a:xfrm>
              <a:custGeom>
                <a:avLst/>
                <a:gdLst>
                  <a:gd name="T0" fmla="*/ 0 w 202"/>
                  <a:gd name="T1" fmla="*/ 0 h 274"/>
                  <a:gd name="T2" fmla="*/ 0 w 202"/>
                  <a:gd name="T3" fmla="*/ 0 h 274"/>
                  <a:gd name="T4" fmla="*/ 0 w 202"/>
                  <a:gd name="T5" fmla="*/ 0 h 274"/>
                  <a:gd name="T6" fmla="*/ 0 w 202"/>
                  <a:gd name="T7" fmla="*/ 0 h 274"/>
                  <a:gd name="T8" fmla="*/ 0 w 202"/>
                  <a:gd name="T9" fmla="*/ 0 h 274"/>
                  <a:gd name="T10" fmla="*/ 0 w 202"/>
                  <a:gd name="T11" fmla="*/ 0 h 274"/>
                  <a:gd name="T12" fmla="*/ 0 w 202"/>
                  <a:gd name="T13" fmla="*/ 0 h 274"/>
                  <a:gd name="T14" fmla="*/ 0 w 202"/>
                  <a:gd name="T15" fmla="*/ 0 h 274"/>
                  <a:gd name="T16" fmla="*/ 0 w 202"/>
                  <a:gd name="T17" fmla="*/ 0 h 274"/>
                  <a:gd name="T18" fmla="*/ 0 w 202"/>
                  <a:gd name="T19" fmla="*/ 0 h 274"/>
                  <a:gd name="T20" fmla="*/ 0 w 202"/>
                  <a:gd name="T21" fmla="*/ 0 h 274"/>
                  <a:gd name="T22" fmla="*/ 0 w 202"/>
                  <a:gd name="T23" fmla="*/ 0 h 274"/>
                  <a:gd name="T24" fmla="*/ 0 w 202"/>
                  <a:gd name="T25" fmla="*/ 0 h 274"/>
                  <a:gd name="T26" fmla="*/ 0 w 202"/>
                  <a:gd name="T27" fmla="*/ 0 h 274"/>
                  <a:gd name="T28" fmla="*/ 0 w 202"/>
                  <a:gd name="T29" fmla="*/ 0 h 274"/>
                  <a:gd name="T30" fmla="*/ 0 w 202"/>
                  <a:gd name="T31" fmla="*/ 0 h 274"/>
                  <a:gd name="T32" fmla="*/ 0 w 202"/>
                  <a:gd name="T33" fmla="*/ 0 h 274"/>
                  <a:gd name="T34" fmla="*/ 0 w 202"/>
                  <a:gd name="T35" fmla="*/ 0 h 274"/>
                  <a:gd name="T36" fmla="*/ 0 w 202"/>
                  <a:gd name="T37" fmla="*/ 0 h 274"/>
                  <a:gd name="T38" fmla="*/ 0 w 202"/>
                  <a:gd name="T39" fmla="*/ 0 h 274"/>
                  <a:gd name="T40" fmla="*/ 0 w 202"/>
                  <a:gd name="T41" fmla="*/ 0 h 274"/>
                  <a:gd name="T42" fmla="*/ 0 w 202"/>
                  <a:gd name="T43" fmla="*/ 0 h 274"/>
                  <a:gd name="T44" fmla="*/ 0 w 202"/>
                  <a:gd name="T45" fmla="*/ 0 h 274"/>
                  <a:gd name="T46" fmla="*/ 0 w 202"/>
                  <a:gd name="T47" fmla="*/ 0 h 274"/>
                  <a:gd name="T48" fmla="*/ 0 w 202"/>
                  <a:gd name="T49" fmla="*/ 0 h 274"/>
                  <a:gd name="T50" fmla="*/ 0 w 202"/>
                  <a:gd name="T51" fmla="*/ 0 h 274"/>
                  <a:gd name="T52" fmla="*/ 0 w 202"/>
                  <a:gd name="T53" fmla="*/ 0 h 274"/>
                  <a:gd name="T54" fmla="*/ 0 w 202"/>
                  <a:gd name="T55" fmla="*/ 0 h 274"/>
                  <a:gd name="T56" fmla="*/ 0 w 202"/>
                  <a:gd name="T57" fmla="*/ 0 h 274"/>
                  <a:gd name="T58" fmla="*/ 0 w 202"/>
                  <a:gd name="T59" fmla="*/ 0 h 274"/>
                  <a:gd name="T60" fmla="*/ 0 w 202"/>
                  <a:gd name="T61" fmla="*/ 0 h 274"/>
                  <a:gd name="T62" fmla="*/ 0 w 202"/>
                  <a:gd name="T63" fmla="*/ 0 h 274"/>
                  <a:gd name="T64" fmla="*/ 0 w 202"/>
                  <a:gd name="T65" fmla="*/ 0 h 2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02"/>
                  <a:gd name="T100" fmla="*/ 0 h 274"/>
                  <a:gd name="T101" fmla="*/ 202 w 202"/>
                  <a:gd name="T102" fmla="*/ 274 h 2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02" h="274">
                    <a:moveTo>
                      <a:pt x="189" y="273"/>
                    </a:moveTo>
                    <a:lnTo>
                      <a:pt x="196" y="265"/>
                    </a:lnTo>
                    <a:lnTo>
                      <a:pt x="201" y="251"/>
                    </a:lnTo>
                    <a:lnTo>
                      <a:pt x="202" y="227"/>
                    </a:lnTo>
                    <a:lnTo>
                      <a:pt x="200" y="197"/>
                    </a:lnTo>
                    <a:lnTo>
                      <a:pt x="193" y="159"/>
                    </a:lnTo>
                    <a:lnTo>
                      <a:pt x="182" y="114"/>
                    </a:lnTo>
                    <a:lnTo>
                      <a:pt x="165" y="60"/>
                    </a:lnTo>
                    <a:lnTo>
                      <a:pt x="142" y="0"/>
                    </a:lnTo>
                    <a:lnTo>
                      <a:pt x="125" y="7"/>
                    </a:lnTo>
                    <a:lnTo>
                      <a:pt x="107" y="14"/>
                    </a:lnTo>
                    <a:lnTo>
                      <a:pt x="89" y="23"/>
                    </a:lnTo>
                    <a:lnTo>
                      <a:pt x="72" y="30"/>
                    </a:lnTo>
                    <a:lnTo>
                      <a:pt x="53" y="39"/>
                    </a:lnTo>
                    <a:lnTo>
                      <a:pt x="36" y="46"/>
                    </a:lnTo>
                    <a:lnTo>
                      <a:pt x="18" y="54"/>
                    </a:lnTo>
                    <a:lnTo>
                      <a:pt x="0" y="62"/>
                    </a:lnTo>
                    <a:lnTo>
                      <a:pt x="14" y="92"/>
                    </a:lnTo>
                    <a:lnTo>
                      <a:pt x="28" y="120"/>
                    </a:lnTo>
                    <a:lnTo>
                      <a:pt x="41" y="145"/>
                    </a:lnTo>
                    <a:lnTo>
                      <a:pt x="57" y="168"/>
                    </a:lnTo>
                    <a:lnTo>
                      <a:pt x="71" y="188"/>
                    </a:lnTo>
                    <a:lnTo>
                      <a:pt x="85" y="206"/>
                    </a:lnTo>
                    <a:lnTo>
                      <a:pt x="98" y="221"/>
                    </a:lnTo>
                    <a:lnTo>
                      <a:pt x="113" y="235"/>
                    </a:lnTo>
                    <a:lnTo>
                      <a:pt x="126" y="246"/>
                    </a:lnTo>
                    <a:lnTo>
                      <a:pt x="138" y="256"/>
                    </a:lnTo>
                    <a:lnTo>
                      <a:pt x="149" y="262"/>
                    </a:lnTo>
                    <a:lnTo>
                      <a:pt x="160" y="268"/>
                    </a:lnTo>
                    <a:lnTo>
                      <a:pt x="170" y="272"/>
                    </a:lnTo>
                    <a:lnTo>
                      <a:pt x="178" y="274"/>
                    </a:lnTo>
                    <a:lnTo>
                      <a:pt x="184" y="274"/>
                    </a:lnTo>
                    <a:lnTo>
                      <a:pt x="189" y="273"/>
                    </a:lnTo>
                    <a:close/>
                  </a:path>
                </a:pathLst>
              </a:custGeom>
              <a:solidFill>
                <a:srgbClr val="474F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1" name="Freeform 762">
                <a:extLst>
                  <a:ext uri="{FF2B5EF4-FFF2-40B4-BE49-F238E27FC236}">
                    <a16:creationId xmlns:a16="http://schemas.microsoft.com/office/drawing/2014/main" id="{36DB30F2-D3DE-4152-BA17-6DDBAB853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9" cy="14"/>
              </a:xfrm>
              <a:custGeom>
                <a:avLst/>
                <a:gdLst>
                  <a:gd name="T0" fmla="*/ 0 w 186"/>
                  <a:gd name="T1" fmla="*/ 0 h 264"/>
                  <a:gd name="T2" fmla="*/ 0 w 186"/>
                  <a:gd name="T3" fmla="*/ 0 h 264"/>
                  <a:gd name="T4" fmla="*/ 0 w 186"/>
                  <a:gd name="T5" fmla="*/ 0 h 264"/>
                  <a:gd name="T6" fmla="*/ 0 w 186"/>
                  <a:gd name="T7" fmla="*/ 0 h 264"/>
                  <a:gd name="T8" fmla="*/ 0 w 186"/>
                  <a:gd name="T9" fmla="*/ 0 h 264"/>
                  <a:gd name="T10" fmla="*/ 0 w 186"/>
                  <a:gd name="T11" fmla="*/ 0 h 264"/>
                  <a:gd name="T12" fmla="*/ 0 w 186"/>
                  <a:gd name="T13" fmla="*/ 0 h 264"/>
                  <a:gd name="T14" fmla="*/ 0 w 186"/>
                  <a:gd name="T15" fmla="*/ 0 h 264"/>
                  <a:gd name="T16" fmla="*/ 0 w 186"/>
                  <a:gd name="T17" fmla="*/ 0 h 264"/>
                  <a:gd name="T18" fmla="*/ 0 w 186"/>
                  <a:gd name="T19" fmla="*/ 0 h 264"/>
                  <a:gd name="T20" fmla="*/ 0 w 186"/>
                  <a:gd name="T21" fmla="*/ 0 h 264"/>
                  <a:gd name="T22" fmla="*/ 0 w 186"/>
                  <a:gd name="T23" fmla="*/ 0 h 264"/>
                  <a:gd name="T24" fmla="*/ 0 w 186"/>
                  <a:gd name="T25" fmla="*/ 0 h 264"/>
                  <a:gd name="T26" fmla="*/ 0 w 186"/>
                  <a:gd name="T27" fmla="*/ 0 h 264"/>
                  <a:gd name="T28" fmla="*/ 0 w 186"/>
                  <a:gd name="T29" fmla="*/ 0 h 264"/>
                  <a:gd name="T30" fmla="*/ 0 w 186"/>
                  <a:gd name="T31" fmla="*/ 0 h 264"/>
                  <a:gd name="T32" fmla="*/ 0 w 186"/>
                  <a:gd name="T33" fmla="*/ 0 h 264"/>
                  <a:gd name="T34" fmla="*/ 0 w 186"/>
                  <a:gd name="T35" fmla="*/ 0 h 264"/>
                  <a:gd name="T36" fmla="*/ 0 w 186"/>
                  <a:gd name="T37" fmla="*/ 0 h 264"/>
                  <a:gd name="T38" fmla="*/ 0 w 186"/>
                  <a:gd name="T39" fmla="*/ 0 h 264"/>
                  <a:gd name="T40" fmla="*/ 0 w 186"/>
                  <a:gd name="T41" fmla="*/ 0 h 264"/>
                  <a:gd name="T42" fmla="*/ 0 w 186"/>
                  <a:gd name="T43" fmla="*/ 0 h 264"/>
                  <a:gd name="T44" fmla="*/ 0 w 186"/>
                  <a:gd name="T45" fmla="*/ 0 h 264"/>
                  <a:gd name="T46" fmla="*/ 0 w 186"/>
                  <a:gd name="T47" fmla="*/ 0 h 264"/>
                  <a:gd name="T48" fmla="*/ 0 w 186"/>
                  <a:gd name="T49" fmla="*/ 0 h 264"/>
                  <a:gd name="T50" fmla="*/ 0 w 186"/>
                  <a:gd name="T51" fmla="*/ 0 h 264"/>
                  <a:gd name="T52" fmla="*/ 0 w 186"/>
                  <a:gd name="T53" fmla="*/ 0 h 264"/>
                  <a:gd name="T54" fmla="*/ 0 w 186"/>
                  <a:gd name="T55" fmla="*/ 0 h 264"/>
                  <a:gd name="T56" fmla="*/ 0 w 186"/>
                  <a:gd name="T57" fmla="*/ 0 h 264"/>
                  <a:gd name="T58" fmla="*/ 0 w 186"/>
                  <a:gd name="T59" fmla="*/ 0 h 264"/>
                  <a:gd name="T60" fmla="*/ 0 w 186"/>
                  <a:gd name="T61" fmla="*/ 0 h 264"/>
                  <a:gd name="T62" fmla="*/ 0 w 186"/>
                  <a:gd name="T63" fmla="*/ 0 h 264"/>
                  <a:gd name="T64" fmla="*/ 0 w 186"/>
                  <a:gd name="T65" fmla="*/ 0 h 2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6"/>
                  <a:gd name="T100" fmla="*/ 0 h 264"/>
                  <a:gd name="T101" fmla="*/ 186 w 186"/>
                  <a:gd name="T102" fmla="*/ 264 h 26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6" h="264">
                    <a:moveTo>
                      <a:pt x="180" y="263"/>
                    </a:moveTo>
                    <a:lnTo>
                      <a:pt x="185" y="256"/>
                    </a:lnTo>
                    <a:lnTo>
                      <a:pt x="186" y="243"/>
                    </a:lnTo>
                    <a:lnTo>
                      <a:pt x="183" y="222"/>
                    </a:lnTo>
                    <a:lnTo>
                      <a:pt x="177" y="193"/>
                    </a:lnTo>
                    <a:lnTo>
                      <a:pt x="166" y="157"/>
                    </a:lnTo>
                    <a:lnTo>
                      <a:pt x="151" y="113"/>
                    </a:lnTo>
                    <a:lnTo>
                      <a:pt x="131" y="60"/>
                    </a:lnTo>
                    <a:lnTo>
                      <a:pt x="108" y="0"/>
                    </a:lnTo>
                    <a:lnTo>
                      <a:pt x="94" y="7"/>
                    </a:lnTo>
                    <a:lnTo>
                      <a:pt x="80" y="13"/>
                    </a:lnTo>
                    <a:lnTo>
                      <a:pt x="67" y="18"/>
                    </a:lnTo>
                    <a:lnTo>
                      <a:pt x="54" y="24"/>
                    </a:lnTo>
                    <a:lnTo>
                      <a:pt x="40" y="30"/>
                    </a:lnTo>
                    <a:lnTo>
                      <a:pt x="27" y="36"/>
                    </a:lnTo>
                    <a:lnTo>
                      <a:pt x="13" y="41"/>
                    </a:lnTo>
                    <a:lnTo>
                      <a:pt x="0" y="48"/>
                    </a:lnTo>
                    <a:lnTo>
                      <a:pt x="13" y="78"/>
                    </a:lnTo>
                    <a:lnTo>
                      <a:pt x="26" y="106"/>
                    </a:lnTo>
                    <a:lnTo>
                      <a:pt x="40" y="131"/>
                    </a:lnTo>
                    <a:lnTo>
                      <a:pt x="55" y="154"/>
                    </a:lnTo>
                    <a:lnTo>
                      <a:pt x="69" y="174"/>
                    </a:lnTo>
                    <a:lnTo>
                      <a:pt x="83" y="192"/>
                    </a:lnTo>
                    <a:lnTo>
                      <a:pt x="96" y="208"/>
                    </a:lnTo>
                    <a:lnTo>
                      <a:pt x="110" y="222"/>
                    </a:lnTo>
                    <a:lnTo>
                      <a:pt x="122" y="233"/>
                    </a:lnTo>
                    <a:lnTo>
                      <a:pt x="134" y="243"/>
                    </a:lnTo>
                    <a:lnTo>
                      <a:pt x="145" y="250"/>
                    </a:lnTo>
                    <a:lnTo>
                      <a:pt x="155" y="256"/>
                    </a:lnTo>
                    <a:lnTo>
                      <a:pt x="164" y="261"/>
                    </a:lnTo>
                    <a:lnTo>
                      <a:pt x="171" y="263"/>
                    </a:lnTo>
                    <a:lnTo>
                      <a:pt x="176" y="264"/>
                    </a:lnTo>
                    <a:lnTo>
                      <a:pt x="180" y="263"/>
                    </a:lnTo>
                    <a:close/>
                  </a:path>
                </a:pathLst>
              </a:custGeom>
              <a:solidFill>
                <a:srgbClr val="61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2" name="Freeform 763">
                <a:extLst>
                  <a:ext uri="{FF2B5EF4-FFF2-40B4-BE49-F238E27FC236}">
                    <a16:creationId xmlns:a16="http://schemas.microsoft.com/office/drawing/2014/main" id="{E322F7F2-B5FE-43F1-AB78-8628D8B269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3" y="3435"/>
                <a:ext cx="8" cy="14"/>
              </a:xfrm>
              <a:custGeom>
                <a:avLst/>
                <a:gdLst>
                  <a:gd name="T0" fmla="*/ 0 w 173"/>
                  <a:gd name="T1" fmla="*/ 0 h 251"/>
                  <a:gd name="T2" fmla="*/ 0 w 173"/>
                  <a:gd name="T3" fmla="*/ 0 h 251"/>
                  <a:gd name="T4" fmla="*/ 0 w 173"/>
                  <a:gd name="T5" fmla="*/ 0 h 251"/>
                  <a:gd name="T6" fmla="*/ 0 w 173"/>
                  <a:gd name="T7" fmla="*/ 0 h 251"/>
                  <a:gd name="T8" fmla="*/ 0 w 173"/>
                  <a:gd name="T9" fmla="*/ 0 h 251"/>
                  <a:gd name="T10" fmla="*/ 0 w 173"/>
                  <a:gd name="T11" fmla="*/ 0 h 251"/>
                  <a:gd name="T12" fmla="*/ 0 w 173"/>
                  <a:gd name="T13" fmla="*/ 0 h 251"/>
                  <a:gd name="T14" fmla="*/ 0 w 173"/>
                  <a:gd name="T15" fmla="*/ 0 h 251"/>
                  <a:gd name="T16" fmla="*/ 0 w 173"/>
                  <a:gd name="T17" fmla="*/ 0 h 251"/>
                  <a:gd name="T18" fmla="*/ 0 w 173"/>
                  <a:gd name="T19" fmla="*/ 0 h 251"/>
                  <a:gd name="T20" fmla="*/ 0 w 173"/>
                  <a:gd name="T21" fmla="*/ 0 h 251"/>
                  <a:gd name="T22" fmla="*/ 0 w 173"/>
                  <a:gd name="T23" fmla="*/ 0 h 251"/>
                  <a:gd name="T24" fmla="*/ 0 w 173"/>
                  <a:gd name="T25" fmla="*/ 0 h 251"/>
                  <a:gd name="T26" fmla="*/ 0 w 173"/>
                  <a:gd name="T27" fmla="*/ 0 h 251"/>
                  <a:gd name="T28" fmla="*/ 0 w 173"/>
                  <a:gd name="T29" fmla="*/ 0 h 251"/>
                  <a:gd name="T30" fmla="*/ 0 w 173"/>
                  <a:gd name="T31" fmla="*/ 0 h 251"/>
                  <a:gd name="T32" fmla="*/ 0 w 173"/>
                  <a:gd name="T33" fmla="*/ 0 h 251"/>
                  <a:gd name="T34" fmla="*/ 0 w 173"/>
                  <a:gd name="T35" fmla="*/ 0 h 251"/>
                  <a:gd name="T36" fmla="*/ 0 w 173"/>
                  <a:gd name="T37" fmla="*/ 0 h 251"/>
                  <a:gd name="T38" fmla="*/ 0 w 173"/>
                  <a:gd name="T39" fmla="*/ 0 h 251"/>
                  <a:gd name="T40" fmla="*/ 0 w 173"/>
                  <a:gd name="T41" fmla="*/ 0 h 251"/>
                  <a:gd name="T42" fmla="*/ 0 w 173"/>
                  <a:gd name="T43" fmla="*/ 0 h 251"/>
                  <a:gd name="T44" fmla="*/ 0 w 173"/>
                  <a:gd name="T45" fmla="*/ 0 h 251"/>
                  <a:gd name="T46" fmla="*/ 0 w 173"/>
                  <a:gd name="T47" fmla="*/ 0 h 251"/>
                  <a:gd name="T48" fmla="*/ 0 w 173"/>
                  <a:gd name="T49" fmla="*/ 0 h 251"/>
                  <a:gd name="T50" fmla="*/ 0 w 173"/>
                  <a:gd name="T51" fmla="*/ 0 h 251"/>
                  <a:gd name="T52" fmla="*/ 0 w 173"/>
                  <a:gd name="T53" fmla="*/ 0 h 251"/>
                  <a:gd name="T54" fmla="*/ 0 w 173"/>
                  <a:gd name="T55" fmla="*/ 0 h 251"/>
                  <a:gd name="T56" fmla="*/ 0 w 173"/>
                  <a:gd name="T57" fmla="*/ 0 h 251"/>
                  <a:gd name="T58" fmla="*/ 0 w 173"/>
                  <a:gd name="T59" fmla="*/ 0 h 251"/>
                  <a:gd name="T60" fmla="*/ 0 w 173"/>
                  <a:gd name="T61" fmla="*/ 0 h 251"/>
                  <a:gd name="T62" fmla="*/ 0 w 173"/>
                  <a:gd name="T63" fmla="*/ 0 h 251"/>
                  <a:gd name="T64" fmla="*/ 0 w 173"/>
                  <a:gd name="T65" fmla="*/ 0 h 25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3"/>
                  <a:gd name="T100" fmla="*/ 0 h 251"/>
                  <a:gd name="T101" fmla="*/ 173 w 173"/>
                  <a:gd name="T102" fmla="*/ 251 h 25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3" h="251">
                    <a:moveTo>
                      <a:pt x="171" y="251"/>
                    </a:moveTo>
                    <a:lnTo>
                      <a:pt x="173" y="245"/>
                    </a:lnTo>
                    <a:lnTo>
                      <a:pt x="170" y="233"/>
                    </a:lnTo>
                    <a:lnTo>
                      <a:pt x="164" y="214"/>
                    </a:lnTo>
                    <a:lnTo>
                      <a:pt x="153" y="187"/>
                    </a:lnTo>
                    <a:lnTo>
                      <a:pt x="137" y="153"/>
                    </a:lnTo>
                    <a:lnTo>
                      <a:pt x="119" y="110"/>
                    </a:lnTo>
                    <a:lnTo>
                      <a:pt x="97" y="60"/>
                    </a:lnTo>
                    <a:lnTo>
                      <a:pt x="72" y="0"/>
                    </a:lnTo>
                    <a:lnTo>
                      <a:pt x="63" y="4"/>
                    </a:lnTo>
                    <a:lnTo>
                      <a:pt x="54" y="7"/>
                    </a:lnTo>
                    <a:lnTo>
                      <a:pt x="45" y="11"/>
                    </a:lnTo>
                    <a:lnTo>
                      <a:pt x="36" y="16"/>
                    </a:lnTo>
                    <a:lnTo>
                      <a:pt x="27" y="20"/>
                    </a:lnTo>
                    <a:lnTo>
                      <a:pt x="18" y="23"/>
                    </a:lnTo>
                    <a:lnTo>
                      <a:pt x="9" y="27"/>
                    </a:lnTo>
                    <a:lnTo>
                      <a:pt x="0" y="31"/>
                    </a:lnTo>
                    <a:lnTo>
                      <a:pt x="13" y="62"/>
                    </a:lnTo>
                    <a:lnTo>
                      <a:pt x="26" y="89"/>
                    </a:lnTo>
                    <a:lnTo>
                      <a:pt x="41" y="115"/>
                    </a:lnTo>
                    <a:lnTo>
                      <a:pt x="54" y="138"/>
                    </a:lnTo>
                    <a:lnTo>
                      <a:pt x="68" y="159"/>
                    </a:lnTo>
                    <a:lnTo>
                      <a:pt x="81" y="177"/>
                    </a:lnTo>
                    <a:lnTo>
                      <a:pt x="95" y="193"/>
                    </a:lnTo>
                    <a:lnTo>
                      <a:pt x="107" y="206"/>
                    </a:lnTo>
                    <a:lnTo>
                      <a:pt x="119" y="218"/>
                    </a:lnTo>
                    <a:lnTo>
                      <a:pt x="130" y="229"/>
                    </a:lnTo>
                    <a:lnTo>
                      <a:pt x="141" y="236"/>
                    </a:lnTo>
                    <a:lnTo>
                      <a:pt x="150" y="242"/>
                    </a:lnTo>
                    <a:lnTo>
                      <a:pt x="157" y="246"/>
                    </a:lnTo>
                    <a:lnTo>
                      <a:pt x="163" y="250"/>
                    </a:lnTo>
                    <a:lnTo>
                      <a:pt x="168" y="251"/>
                    </a:lnTo>
                    <a:lnTo>
                      <a:pt x="171" y="251"/>
                    </a:lnTo>
                    <a:close/>
                  </a:path>
                </a:pathLst>
              </a:custGeom>
              <a:solidFill>
                <a:srgbClr val="7A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3" name="Freeform 764">
                <a:extLst>
                  <a:ext uri="{FF2B5EF4-FFF2-40B4-BE49-F238E27FC236}">
                    <a16:creationId xmlns:a16="http://schemas.microsoft.com/office/drawing/2014/main" id="{0517CB26-573D-4F1B-9F86-D70BA8128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436"/>
                <a:ext cx="7" cy="13"/>
              </a:xfrm>
              <a:custGeom>
                <a:avLst/>
                <a:gdLst>
                  <a:gd name="T0" fmla="*/ 0 w 163"/>
                  <a:gd name="T1" fmla="*/ 0 h 240"/>
                  <a:gd name="T2" fmla="*/ 0 w 163"/>
                  <a:gd name="T3" fmla="*/ 0 h 240"/>
                  <a:gd name="T4" fmla="*/ 0 w 163"/>
                  <a:gd name="T5" fmla="*/ 0 h 240"/>
                  <a:gd name="T6" fmla="*/ 0 w 163"/>
                  <a:gd name="T7" fmla="*/ 0 h 240"/>
                  <a:gd name="T8" fmla="*/ 0 w 163"/>
                  <a:gd name="T9" fmla="*/ 0 h 240"/>
                  <a:gd name="T10" fmla="*/ 0 w 163"/>
                  <a:gd name="T11" fmla="*/ 0 h 240"/>
                  <a:gd name="T12" fmla="*/ 0 w 163"/>
                  <a:gd name="T13" fmla="*/ 0 h 240"/>
                  <a:gd name="T14" fmla="*/ 0 w 163"/>
                  <a:gd name="T15" fmla="*/ 0 h 240"/>
                  <a:gd name="T16" fmla="*/ 0 w 163"/>
                  <a:gd name="T17" fmla="*/ 0 h 240"/>
                  <a:gd name="T18" fmla="*/ 0 w 163"/>
                  <a:gd name="T19" fmla="*/ 0 h 240"/>
                  <a:gd name="T20" fmla="*/ 0 w 163"/>
                  <a:gd name="T21" fmla="*/ 0 h 240"/>
                  <a:gd name="T22" fmla="*/ 0 w 163"/>
                  <a:gd name="T23" fmla="*/ 0 h 240"/>
                  <a:gd name="T24" fmla="*/ 0 w 163"/>
                  <a:gd name="T25" fmla="*/ 0 h 240"/>
                  <a:gd name="T26" fmla="*/ 0 w 163"/>
                  <a:gd name="T27" fmla="*/ 0 h 240"/>
                  <a:gd name="T28" fmla="*/ 0 w 163"/>
                  <a:gd name="T29" fmla="*/ 0 h 240"/>
                  <a:gd name="T30" fmla="*/ 0 w 163"/>
                  <a:gd name="T31" fmla="*/ 0 h 240"/>
                  <a:gd name="T32" fmla="*/ 0 w 163"/>
                  <a:gd name="T33" fmla="*/ 0 h 240"/>
                  <a:gd name="T34" fmla="*/ 0 w 163"/>
                  <a:gd name="T35" fmla="*/ 0 h 240"/>
                  <a:gd name="T36" fmla="*/ 0 w 163"/>
                  <a:gd name="T37" fmla="*/ 0 h 240"/>
                  <a:gd name="T38" fmla="*/ 0 w 163"/>
                  <a:gd name="T39" fmla="*/ 0 h 240"/>
                  <a:gd name="T40" fmla="*/ 0 w 163"/>
                  <a:gd name="T41" fmla="*/ 0 h 240"/>
                  <a:gd name="T42" fmla="*/ 0 w 163"/>
                  <a:gd name="T43" fmla="*/ 0 h 240"/>
                  <a:gd name="T44" fmla="*/ 0 w 163"/>
                  <a:gd name="T45" fmla="*/ 0 h 240"/>
                  <a:gd name="T46" fmla="*/ 0 w 163"/>
                  <a:gd name="T47" fmla="*/ 0 h 240"/>
                  <a:gd name="T48" fmla="*/ 0 w 163"/>
                  <a:gd name="T49" fmla="*/ 0 h 240"/>
                  <a:gd name="T50" fmla="*/ 0 w 163"/>
                  <a:gd name="T51" fmla="*/ 0 h 240"/>
                  <a:gd name="T52" fmla="*/ 0 w 163"/>
                  <a:gd name="T53" fmla="*/ 0 h 240"/>
                  <a:gd name="T54" fmla="*/ 0 w 163"/>
                  <a:gd name="T55" fmla="*/ 0 h 240"/>
                  <a:gd name="T56" fmla="*/ 0 w 163"/>
                  <a:gd name="T57" fmla="*/ 0 h 240"/>
                  <a:gd name="T58" fmla="*/ 0 w 163"/>
                  <a:gd name="T59" fmla="*/ 0 h 240"/>
                  <a:gd name="T60" fmla="*/ 0 w 163"/>
                  <a:gd name="T61" fmla="*/ 0 h 240"/>
                  <a:gd name="T62" fmla="*/ 0 w 163"/>
                  <a:gd name="T63" fmla="*/ 0 h 240"/>
                  <a:gd name="T64" fmla="*/ 0 w 163"/>
                  <a:gd name="T65" fmla="*/ 0 h 2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63"/>
                  <a:gd name="T100" fmla="*/ 0 h 240"/>
                  <a:gd name="T101" fmla="*/ 163 w 163"/>
                  <a:gd name="T102" fmla="*/ 240 h 24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63" h="240">
                    <a:moveTo>
                      <a:pt x="163" y="240"/>
                    </a:moveTo>
                    <a:lnTo>
                      <a:pt x="162" y="235"/>
                    </a:lnTo>
                    <a:lnTo>
                      <a:pt x="156" y="225"/>
                    </a:lnTo>
                    <a:lnTo>
                      <a:pt x="145" y="208"/>
                    </a:lnTo>
                    <a:lnTo>
                      <a:pt x="129" y="183"/>
                    </a:lnTo>
                    <a:lnTo>
                      <a:pt x="110" y="150"/>
                    </a:lnTo>
                    <a:lnTo>
                      <a:pt x="89" y="110"/>
                    </a:lnTo>
                    <a:lnTo>
                      <a:pt x="64" y="59"/>
                    </a:lnTo>
                    <a:lnTo>
                      <a:pt x="39" y="0"/>
                    </a:lnTo>
                    <a:lnTo>
                      <a:pt x="34" y="2"/>
                    </a:lnTo>
                    <a:lnTo>
                      <a:pt x="28" y="5"/>
                    </a:lnTo>
                    <a:lnTo>
                      <a:pt x="24" y="7"/>
                    </a:lnTo>
                    <a:lnTo>
                      <a:pt x="19" y="9"/>
                    </a:lnTo>
                    <a:lnTo>
                      <a:pt x="14" y="11"/>
                    </a:lnTo>
                    <a:lnTo>
                      <a:pt x="10" y="13"/>
                    </a:lnTo>
                    <a:lnTo>
                      <a:pt x="5" y="15"/>
                    </a:lnTo>
                    <a:lnTo>
                      <a:pt x="0" y="17"/>
                    </a:lnTo>
                    <a:lnTo>
                      <a:pt x="13" y="48"/>
                    </a:lnTo>
                    <a:lnTo>
                      <a:pt x="26" y="75"/>
                    </a:lnTo>
                    <a:lnTo>
                      <a:pt x="41" y="102"/>
                    </a:lnTo>
                    <a:lnTo>
                      <a:pt x="54" y="124"/>
                    </a:lnTo>
                    <a:lnTo>
                      <a:pt x="68" y="145"/>
                    </a:lnTo>
                    <a:lnTo>
                      <a:pt x="82" y="163"/>
                    </a:lnTo>
                    <a:lnTo>
                      <a:pt x="94" y="180"/>
                    </a:lnTo>
                    <a:lnTo>
                      <a:pt x="106" y="193"/>
                    </a:lnTo>
                    <a:lnTo>
                      <a:pt x="117" y="205"/>
                    </a:lnTo>
                    <a:lnTo>
                      <a:pt x="127" y="215"/>
                    </a:lnTo>
                    <a:lnTo>
                      <a:pt x="138" y="224"/>
                    </a:lnTo>
                    <a:lnTo>
                      <a:pt x="146" y="230"/>
                    </a:lnTo>
                    <a:lnTo>
                      <a:pt x="152" y="234"/>
                    </a:lnTo>
                    <a:lnTo>
                      <a:pt x="158" y="238"/>
                    </a:lnTo>
                    <a:lnTo>
                      <a:pt x="161" y="240"/>
                    </a:lnTo>
                    <a:lnTo>
                      <a:pt x="163" y="240"/>
                    </a:lnTo>
                    <a:close/>
                  </a:path>
                </a:pathLst>
              </a:custGeom>
              <a:solidFill>
                <a:srgbClr val="91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4" name="Freeform 765">
                <a:extLst>
                  <a:ext uri="{FF2B5EF4-FFF2-40B4-BE49-F238E27FC236}">
                    <a16:creationId xmlns:a16="http://schemas.microsoft.com/office/drawing/2014/main" id="{0CDBA8FC-C641-4D85-A917-E9F108DB57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3449"/>
                <a:ext cx="2" cy="5"/>
              </a:xfrm>
              <a:custGeom>
                <a:avLst/>
                <a:gdLst>
                  <a:gd name="T0" fmla="*/ 0 w 48"/>
                  <a:gd name="T1" fmla="*/ 0 h 99"/>
                  <a:gd name="T2" fmla="*/ 0 w 48"/>
                  <a:gd name="T3" fmla="*/ 0 h 99"/>
                  <a:gd name="T4" fmla="*/ 0 w 48"/>
                  <a:gd name="T5" fmla="*/ 0 h 99"/>
                  <a:gd name="T6" fmla="*/ 0 w 48"/>
                  <a:gd name="T7" fmla="*/ 0 h 99"/>
                  <a:gd name="T8" fmla="*/ 0 w 48"/>
                  <a:gd name="T9" fmla="*/ 0 h 99"/>
                  <a:gd name="T10" fmla="*/ 0 w 48"/>
                  <a:gd name="T11" fmla="*/ 0 h 99"/>
                  <a:gd name="T12" fmla="*/ 0 w 48"/>
                  <a:gd name="T13" fmla="*/ 0 h 99"/>
                  <a:gd name="T14" fmla="*/ 0 w 48"/>
                  <a:gd name="T15" fmla="*/ 0 h 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8"/>
                  <a:gd name="T25" fmla="*/ 0 h 99"/>
                  <a:gd name="T26" fmla="*/ 48 w 48"/>
                  <a:gd name="T27" fmla="*/ 99 h 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8" h="99">
                    <a:moveTo>
                      <a:pt x="13" y="0"/>
                    </a:moveTo>
                    <a:lnTo>
                      <a:pt x="44" y="76"/>
                    </a:lnTo>
                    <a:lnTo>
                      <a:pt x="48" y="92"/>
                    </a:lnTo>
                    <a:lnTo>
                      <a:pt x="46" y="99"/>
                    </a:lnTo>
                    <a:lnTo>
                      <a:pt x="39" y="96"/>
                    </a:lnTo>
                    <a:lnTo>
                      <a:pt x="31" y="83"/>
                    </a:lnTo>
                    <a:lnTo>
                      <a:pt x="0" y="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B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343" name="Group 766">
              <a:extLst>
                <a:ext uri="{FF2B5EF4-FFF2-40B4-BE49-F238E27FC236}">
                  <a16:creationId xmlns:a16="http://schemas.microsoft.com/office/drawing/2014/main" id="{34B9761C-1249-43CD-B5B6-5C09EF76D39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971800" y="1371600"/>
              <a:ext cx="381000" cy="304800"/>
              <a:chOff x="1248" y="2736"/>
              <a:chExt cx="240" cy="192"/>
            </a:xfrm>
          </p:grpSpPr>
          <p:sp>
            <p:nvSpPr>
              <p:cNvPr id="98348" name="Line 767">
                <a:extLst>
                  <a:ext uri="{FF2B5EF4-FFF2-40B4-BE49-F238E27FC236}">
                    <a16:creationId xmlns:a16="http://schemas.microsoft.com/office/drawing/2014/main" id="{44DF57EA-0524-4EB0-A16C-4BF89E40C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736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349" name="Line 768">
                <a:extLst>
                  <a:ext uri="{FF2B5EF4-FFF2-40B4-BE49-F238E27FC236}">
                    <a16:creationId xmlns:a16="http://schemas.microsoft.com/office/drawing/2014/main" id="{2715690B-DB35-4A08-BEE4-363F0B4BD1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832"/>
                <a:ext cx="192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350" name="Line 769">
                <a:extLst>
                  <a:ext uri="{FF2B5EF4-FFF2-40B4-BE49-F238E27FC236}">
                    <a16:creationId xmlns:a16="http://schemas.microsoft.com/office/drawing/2014/main" id="{D6841791-9141-4E17-976C-E68F3A22F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98344" name="Picture 2716" descr="j0235962">
              <a:extLst>
                <a:ext uri="{FF2B5EF4-FFF2-40B4-BE49-F238E27FC236}">
                  <a16:creationId xmlns:a16="http://schemas.microsoft.com/office/drawing/2014/main" id="{9B6A239C-3282-4350-8C0C-91BB3C2174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750" y="2708275"/>
              <a:ext cx="904875" cy="911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45" name="Picture 2717" descr="j0235962">
              <a:extLst>
                <a:ext uri="{FF2B5EF4-FFF2-40B4-BE49-F238E27FC236}">
                  <a16:creationId xmlns:a16="http://schemas.microsoft.com/office/drawing/2014/main" id="{3F3B5FA0-3894-4891-87DE-D5A90A4269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1863" y="2924175"/>
              <a:ext cx="904875" cy="911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46" name="Picture 2718" descr="j0235962">
              <a:extLst>
                <a:ext uri="{FF2B5EF4-FFF2-40B4-BE49-F238E27FC236}">
                  <a16:creationId xmlns:a16="http://schemas.microsoft.com/office/drawing/2014/main" id="{D7C8EB61-A147-41F9-92A1-9E4DBDF466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6100" y="2997200"/>
              <a:ext cx="904875" cy="911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47" name="Picture 2719" descr="j0235962">
              <a:extLst>
                <a:ext uri="{FF2B5EF4-FFF2-40B4-BE49-F238E27FC236}">
                  <a16:creationId xmlns:a16="http://schemas.microsoft.com/office/drawing/2014/main" id="{4E86B7F6-4BED-4752-96C5-A9458258E0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550" y="4652963"/>
              <a:ext cx="904875" cy="911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1" name="灯片编号占位符 6">
            <a:extLst>
              <a:ext uri="{FF2B5EF4-FFF2-40B4-BE49-F238E27FC236}">
                <a16:creationId xmlns:a16="http://schemas.microsoft.com/office/drawing/2014/main" id="{89267D4A-AFEF-4DD4-9092-77A5676C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바닥글 개체 틀 3">
            <a:extLst>
              <a:ext uri="{FF2B5EF4-FFF2-40B4-BE49-F238E27FC236}">
                <a16:creationId xmlns:a16="http://schemas.microsoft.com/office/drawing/2014/main" id="{2C91F232-995C-475B-B670-9B31DAE1742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tabLst>
                <a:tab pos="4956175" algn="l"/>
                <a:tab pos="7053263" algn="r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tabLst>
                <a:tab pos="4956175" algn="l"/>
                <a:tab pos="7053263" algn="r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4870A75C-C631-4128-88A2-437EEE07FC5A}" type="slidenum">
              <a:rPr lang="en-US" altLang="ko-KR" sz="1400" smtClean="0"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4C82E92D-5605-489E-8F67-04CBA4BB7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Gulim" panose="020B0600000101010101" pitchFamily="34" charset="-127"/>
              </a:rPr>
              <a:t>IEEE standard 802.11</a:t>
            </a:r>
          </a:p>
        </p:txBody>
      </p:sp>
      <p:sp>
        <p:nvSpPr>
          <p:cNvPr id="100356" name="Rectangle 618">
            <a:extLst>
              <a:ext uri="{FF2B5EF4-FFF2-40B4-BE49-F238E27FC236}">
                <a16:creationId xmlns:a16="http://schemas.microsoft.com/office/drawing/2014/main" id="{1A80F8A2-88B1-4F18-B598-4B6F596A0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951413"/>
            <a:ext cx="3810000" cy="762000"/>
          </a:xfrm>
          <a:prstGeom prst="rect">
            <a:avLst/>
          </a:prstGeom>
          <a:solidFill>
            <a:srgbClr val="DADA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ea typeface="Gulim" panose="020B0600000101010101" pitchFamily="34" charset="-127"/>
            </a:endParaRPr>
          </a:p>
        </p:txBody>
      </p:sp>
      <p:pic>
        <p:nvPicPr>
          <p:cNvPr id="100357" name="Picture 619" descr="j0235962">
            <a:extLst>
              <a:ext uri="{FF2B5EF4-FFF2-40B4-BE49-F238E27FC236}">
                <a16:creationId xmlns:a16="http://schemas.microsoft.com/office/drawing/2014/main" id="{29B62D33-C950-49A5-8990-7C927CA7C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279650"/>
            <a:ext cx="9747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0358" name="Group 620">
            <a:extLst>
              <a:ext uri="{FF2B5EF4-FFF2-40B4-BE49-F238E27FC236}">
                <a16:creationId xmlns:a16="http://schemas.microsoft.com/office/drawing/2014/main" id="{040973E5-9140-4CC2-A16E-86CC09A4108D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284413"/>
            <a:ext cx="1066800" cy="609600"/>
            <a:chOff x="1248" y="2736"/>
            <a:chExt cx="240" cy="192"/>
          </a:xfrm>
        </p:grpSpPr>
        <p:sp>
          <p:nvSpPr>
            <p:cNvPr id="100394" name="Line 621">
              <a:extLst>
                <a:ext uri="{FF2B5EF4-FFF2-40B4-BE49-F238E27FC236}">
                  <a16:creationId xmlns:a16="http://schemas.microsoft.com/office/drawing/2014/main" id="{4DF5F00A-B939-42EE-9216-8A6829A11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736"/>
              <a:ext cx="192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95" name="Line 622">
              <a:extLst>
                <a:ext uri="{FF2B5EF4-FFF2-40B4-BE49-F238E27FC236}">
                  <a16:creationId xmlns:a16="http://schemas.microsoft.com/office/drawing/2014/main" id="{3657F1BB-CF58-46DB-A72B-74AB784D0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2832"/>
              <a:ext cx="192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96" name="Line 623">
              <a:extLst>
                <a:ext uri="{FF2B5EF4-FFF2-40B4-BE49-F238E27FC236}">
                  <a16:creationId xmlns:a16="http://schemas.microsoft.com/office/drawing/2014/main" id="{70907FD2-6488-4D33-9E75-2A6E11F17A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83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00359" name="Object 1028">
            <a:extLst>
              <a:ext uri="{FF2B5EF4-FFF2-40B4-BE49-F238E27FC236}">
                <a16:creationId xmlns:a16="http://schemas.microsoft.com/office/drawing/2014/main" id="{07B95394-915E-4596-8644-00B8B6D45F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2741613"/>
          <a:ext cx="9794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3" name="Clip" r:id="rId5" imgW="4395788" imgH="1652588" progId="MS_ClipArt_Gallery.2">
                  <p:embed/>
                </p:oleObj>
              </mc:Choice>
              <mc:Fallback>
                <p:oleObj name="Clip" r:id="rId5" imgW="4395788" imgH="1652588" progId="MS_ClipArt_Gallery.2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741613"/>
                        <a:ext cx="9794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0" name="Line 625">
            <a:extLst>
              <a:ext uri="{FF2B5EF4-FFF2-40B4-BE49-F238E27FC236}">
                <a16:creationId xmlns:a16="http://schemas.microsoft.com/office/drawing/2014/main" id="{654E7877-2432-4C12-9969-95BD2CFD66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2208213"/>
            <a:ext cx="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0361" name="Object 1029">
            <a:extLst>
              <a:ext uri="{FF2B5EF4-FFF2-40B4-BE49-F238E27FC236}">
                <a16:creationId xmlns:a16="http://schemas.microsoft.com/office/drawing/2014/main" id="{5678A140-AAE8-4CFD-BF62-0E9C0E92E9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1557338"/>
          <a:ext cx="8794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4" name="Clip" r:id="rId7" imgW="3986213" imgH="4144963" progId="MS_ClipArt_Gallery.2">
                  <p:embed/>
                </p:oleObj>
              </mc:Choice>
              <mc:Fallback>
                <p:oleObj name="Clip" r:id="rId7" imgW="3986213" imgH="4144963" progId="MS_ClipArt_Gallery.2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557338"/>
                        <a:ext cx="8794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2" name="Text Box 631">
            <a:extLst>
              <a:ext uri="{FF2B5EF4-FFF2-40B4-BE49-F238E27FC236}">
                <a16:creationId xmlns:a16="http://schemas.microsoft.com/office/drawing/2014/main" id="{5BCDF473-8BE1-4C8E-B896-A4B33963A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557338"/>
            <a:ext cx="15605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mobile terminal</a:t>
            </a:r>
          </a:p>
        </p:txBody>
      </p:sp>
      <p:sp>
        <p:nvSpPr>
          <p:cNvPr id="100363" name="Text Box 632">
            <a:extLst>
              <a:ext uri="{FF2B5EF4-FFF2-40B4-BE49-F238E27FC236}">
                <a16:creationId xmlns:a16="http://schemas.microsoft.com/office/drawing/2014/main" id="{8E493C76-C0E8-488D-802C-6B13B2D52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3141663"/>
            <a:ext cx="1312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access point</a:t>
            </a:r>
          </a:p>
        </p:txBody>
      </p:sp>
      <p:sp>
        <p:nvSpPr>
          <p:cNvPr id="100364" name="Text Box 634">
            <a:extLst>
              <a:ext uri="{FF2B5EF4-FFF2-40B4-BE49-F238E27FC236}">
                <a16:creationId xmlns:a16="http://schemas.microsoft.com/office/drawing/2014/main" id="{7801F557-EC2B-496E-9969-97B93CCD8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1125538"/>
            <a:ext cx="9064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fixed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terminal</a:t>
            </a:r>
          </a:p>
        </p:txBody>
      </p:sp>
      <p:sp>
        <p:nvSpPr>
          <p:cNvPr id="100365" name="Rectangle 635">
            <a:extLst>
              <a:ext uri="{FF2B5EF4-FFF2-40B4-BE49-F238E27FC236}">
                <a16:creationId xmlns:a16="http://schemas.microsoft.com/office/drawing/2014/main" id="{809AE199-05EC-45DE-9963-C45085565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427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application</a:t>
            </a:r>
          </a:p>
        </p:txBody>
      </p:sp>
      <p:sp>
        <p:nvSpPr>
          <p:cNvPr id="100366" name="Rectangle 636">
            <a:extLst>
              <a:ext uri="{FF2B5EF4-FFF2-40B4-BE49-F238E27FC236}">
                <a16:creationId xmlns:a16="http://schemas.microsoft.com/office/drawing/2014/main" id="{C5C603A8-3CD3-44CE-B904-6F4AFCCE3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08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TCP</a:t>
            </a:r>
          </a:p>
        </p:txBody>
      </p:sp>
      <p:sp>
        <p:nvSpPr>
          <p:cNvPr id="100367" name="Rectangle 637">
            <a:extLst>
              <a:ext uri="{FF2B5EF4-FFF2-40B4-BE49-F238E27FC236}">
                <a16:creationId xmlns:a16="http://schemas.microsoft.com/office/drawing/2014/main" id="{F7590F2D-A215-4800-A1C9-2685C17D1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32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802.11 PHY</a:t>
            </a:r>
          </a:p>
        </p:txBody>
      </p:sp>
      <p:sp>
        <p:nvSpPr>
          <p:cNvPr id="100368" name="Rectangle 638">
            <a:extLst>
              <a:ext uri="{FF2B5EF4-FFF2-40B4-BE49-F238E27FC236}">
                <a16:creationId xmlns:a16="http://schemas.microsoft.com/office/drawing/2014/main" id="{487F9DC5-43E1-47ED-BE1F-9274911F7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951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802.11 MAC</a:t>
            </a:r>
          </a:p>
        </p:txBody>
      </p:sp>
      <p:sp>
        <p:nvSpPr>
          <p:cNvPr id="100369" name="Rectangle 639">
            <a:extLst>
              <a:ext uri="{FF2B5EF4-FFF2-40B4-BE49-F238E27FC236}">
                <a16:creationId xmlns:a16="http://schemas.microsoft.com/office/drawing/2014/main" id="{5B959A62-8138-454F-8FB8-77B1094E9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189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IP</a:t>
            </a:r>
          </a:p>
        </p:txBody>
      </p:sp>
      <p:sp>
        <p:nvSpPr>
          <p:cNvPr id="100370" name="Rectangle 640">
            <a:extLst>
              <a:ext uri="{FF2B5EF4-FFF2-40B4-BE49-F238E27FC236}">
                <a16:creationId xmlns:a16="http://schemas.microsoft.com/office/drawing/2014/main" id="{18944C57-D2BB-4071-A5B3-CFB4FD9D7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951413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802.3 MAC</a:t>
            </a:r>
          </a:p>
        </p:txBody>
      </p:sp>
      <p:sp>
        <p:nvSpPr>
          <p:cNvPr id="100371" name="Rectangle 641">
            <a:extLst>
              <a:ext uri="{FF2B5EF4-FFF2-40B4-BE49-F238E27FC236}">
                <a16:creationId xmlns:a16="http://schemas.microsoft.com/office/drawing/2014/main" id="{7DEFECCD-026B-4A35-A198-662C4490D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332413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802.3 PHY</a:t>
            </a:r>
          </a:p>
        </p:txBody>
      </p:sp>
      <p:sp>
        <p:nvSpPr>
          <p:cNvPr id="100372" name="Rectangle 642">
            <a:extLst>
              <a:ext uri="{FF2B5EF4-FFF2-40B4-BE49-F238E27FC236}">
                <a16:creationId xmlns:a16="http://schemas.microsoft.com/office/drawing/2014/main" id="{7A0AEE32-7A80-4510-B5E3-8FA7B8A37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427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application</a:t>
            </a:r>
          </a:p>
        </p:txBody>
      </p:sp>
      <p:sp>
        <p:nvSpPr>
          <p:cNvPr id="100373" name="Rectangle 643">
            <a:extLst>
              <a:ext uri="{FF2B5EF4-FFF2-40B4-BE49-F238E27FC236}">
                <a16:creationId xmlns:a16="http://schemas.microsoft.com/office/drawing/2014/main" id="{AFD4B45F-12B1-4F42-A6D4-BD9782982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808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TCP</a:t>
            </a:r>
          </a:p>
        </p:txBody>
      </p:sp>
      <p:sp>
        <p:nvSpPr>
          <p:cNvPr id="100374" name="Rectangle 644">
            <a:extLst>
              <a:ext uri="{FF2B5EF4-FFF2-40B4-BE49-F238E27FC236}">
                <a16:creationId xmlns:a16="http://schemas.microsoft.com/office/drawing/2014/main" id="{1708222E-4871-4095-86C8-B02AF1B18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332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802.3 PHY</a:t>
            </a:r>
          </a:p>
        </p:txBody>
      </p:sp>
      <p:sp>
        <p:nvSpPr>
          <p:cNvPr id="100375" name="Rectangle 645">
            <a:extLst>
              <a:ext uri="{FF2B5EF4-FFF2-40B4-BE49-F238E27FC236}">
                <a16:creationId xmlns:a16="http://schemas.microsoft.com/office/drawing/2014/main" id="{79E69721-C21D-4529-86B3-EDCAF8BE5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951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802.3 MAC</a:t>
            </a:r>
          </a:p>
        </p:txBody>
      </p:sp>
      <p:sp>
        <p:nvSpPr>
          <p:cNvPr id="100376" name="Rectangle 646">
            <a:extLst>
              <a:ext uri="{FF2B5EF4-FFF2-40B4-BE49-F238E27FC236}">
                <a16:creationId xmlns:a16="http://schemas.microsoft.com/office/drawing/2014/main" id="{004BFD50-FC0E-4F19-A51A-333B838D8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89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IP</a:t>
            </a:r>
          </a:p>
        </p:txBody>
      </p:sp>
      <p:sp>
        <p:nvSpPr>
          <p:cNvPr id="100377" name="Rectangle 647">
            <a:extLst>
              <a:ext uri="{FF2B5EF4-FFF2-40B4-BE49-F238E27FC236}">
                <a16:creationId xmlns:a16="http://schemas.microsoft.com/office/drawing/2014/main" id="{A338CC56-101C-4757-BE0C-8B7760634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951413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802.11 MAC</a:t>
            </a:r>
          </a:p>
        </p:txBody>
      </p:sp>
      <p:sp>
        <p:nvSpPr>
          <p:cNvPr id="100378" name="Rectangle 648">
            <a:extLst>
              <a:ext uri="{FF2B5EF4-FFF2-40B4-BE49-F238E27FC236}">
                <a16:creationId xmlns:a16="http://schemas.microsoft.com/office/drawing/2014/main" id="{7D0805B9-BE55-428F-9288-4E0B2E62E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332413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802.11 PHY</a:t>
            </a:r>
          </a:p>
        </p:txBody>
      </p:sp>
      <p:sp>
        <p:nvSpPr>
          <p:cNvPr id="100379" name="Rectangle 649">
            <a:extLst>
              <a:ext uri="{FF2B5EF4-FFF2-40B4-BE49-F238E27FC236}">
                <a16:creationId xmlns:a16="http://schemas.microsoft.com/office/drawing/2014/main" id="{B8F9E21D-CAAA-4115-BA2A-957EB415F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570413"/>
            <a:ext cx="2590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LLC</a:t>
            </a:r>
          </a:p>
        </p:txBody>
      </p:sp>
      <p:sp>
        <p:nvSpPr>
          <p:cNvPr id="100380" name="Line 650">
            <a:extLst>
              <a:ext uri="{FF2B5EF4-FFF2-40B4-BE49-F238E27FC236}">
                <a16:creationId xmlns:a16="http://schemas.microsoft.com/office/drawing/2014/main" id="{B7B43604-E623-4485-9AB3-E7E02CA7F4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7134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81" name="Line 651">
            <a:extLst>
              <a:ext uri="{FF2B5EF4-FFF2-40B4-BE49-F238E27FC236}">
                <a16:creationId xmlns:a16="http://schemas.microsoft.com/office/drawing/2014/main" id="{54F5DCE7-814A-41F0-A3DC-BC0A888020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942013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82" name="Line 652">
            <a:extLst>
              <a:ext uri="{FF2B5EF4-FFF2-40B4-BE49-F238E27FC236}">
                <a16:creationId xmlns:a16="http://schemas.microsoft.com/office/drawing/2014/main" id="{98DA7C0B-0967-46C2-8AA1-9FC492E40E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7134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83" name="Line 653">
            <a:extLst>
              <a:ext uri="{FF2B5EF4-FFF2-40B4-BE49-F238E27FC236}">
                <a16:creationId xmlns:a16="http://schemas.microsoft.com/office/drawing/2014/main" id="{533AD3AA-ADF0-4FED-B90C-2925CB991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7134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84" name="Line 654">
            <a:extLst>
              <a:ext uri="{FF2B5EF4-FFF2-40B4-BE49-F238E27FC236}">
                <a16:creationId xmlns:a16="http://schemas.microsoft.com/office/drawing/2014/main" id="{AAD26AA7-2328-40AB-829B-6B4E52A76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942013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85" name="Line 655">
            <a:extLst>
              <a:ext uri="{FF2B5EF4-FFF2-40B4-BE49-F238E27FC236}">
                <a16:creationId xmlns:a16="http://schemas.microsoft.com/office/drawing/2014/main" id="{2BA08C9E-203E-4D58-BF56-C376BD9987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57134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86" name="Text Box 656">
            <a:extLst>
              <a:ext uri="{FF2B5EF4-FFF2-40B4-BE49-F238E27FC236}">
                <a16:creationId xmlns:a16="http://schemas.microsoft.com/office/drawing/2014/main" id="{E2F56A4D-4F0B-4020-B2A2-3183D8AE7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2420938"/>
            <a:ext cx="1371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infrastructure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network</a:t>
            </a:r>
          </a:p>
        </p:txBody>
      </p:sp>
      <p:sp>
        <p:nvSpPr>
          <p:cNvPr id="100387" name="Rectangle 657">
            <a:extLst>
              <a:ext uri="{FF2B5EF4-FFF2-40B4-BE49-F238E27FC236}">
                <a16:creationId xmlns:a16="http://schemas.microsoft.com/office/drawing/2014/main" id="{86ABB3B0-048E-4486-BCDE-88BF2D700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570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LLC</a:t>
            </a:r>
          </a:p>
        </p:txBody>
      </p:sp>
      <p:sp>
        <p:nvSpPr>
          <p:cNvPr id="100388" name="Rectangle 658">
            <a:extLst>
              <a:ext uri="{FF2B5EF4-FFF2-40B4-BE49-F238E27FC236}">
                <a16:creationId xmlns:a16="http://schemas.microsoft.com/office/drawing/2014/main" id="{CAF40D2C-DFB6-4CE0-8228-33E9BC1A2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70413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ko-KR" sz="1800">
                <a:ea typeface="Gulim" panose="020B0600000101010101" pitchFamily="34" charset="-127"/>
              </a:rPr>
              <a:t>LLC</a:t>
            </a:r>
          </a:p>
        </p:txBody>
      </p:sp>
      <p:pic>
        <p:nvPicPr>
          <p:cNvPr id="100389" name="Picture 659" descr="j0285750">
            <a:extLst>
              <a:ext uri="{FF2B5EF4-FFF2-40B4-BE49-F238E27FC236}">
                <a16:creationId xmlns:a16="http://schemas.microsoft.com/office/drawing/2014/main" id="{876F426C-5ED7-47E3-A95D-B37D0CE77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981075"/>
            <a:ext cx="111760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0390" name="AutoShape 660">
            <a:extLst>
              <a:ext uri="{FF2B5EF4-FFF2-40B4-BE49-F238E27FC236}">
                <a16:creationId xmlns:a16="http://schemas.microsoft.com/office/drawing/2014/main" id="{84715F7C-B5AD-493C-9E87-5807852A1C4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388100" y="1668463"/>
            <a:ext cx="903288" cy="346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91" name="AutoShape 661">
            <a:extLst>
              <a:ext uri="{FF2B5EF4-FFF2-40B4-BE49-F238E27FC236}">
                <a16:creationId xmlns:a16="http://schemas.microsoft.com/office/drawing/2014/main" id="{DEBBAB99-158C-46C8-892F-8FFB93ADC23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452938" y="2014538"/>
            <a:ext cx="1055687" cy="727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92" name="AutoShape 662">
            <a:extLst>
              <a:ext uri="{FF2B5EF4-FFF2-40B4-BE49-F238E27FC236}">
                <a16:creationId xmlns:a16="http://schemas.microsoft.com/office/drawing/2014/main" id="{41081DFA-8B17-485B-A07C-4C8DE791E81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292725" y="1268413"/>
            <a:ext cx="655638" cy="288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93" name="AutoShape 663">
            <a:extLst>
              <a:ext uri="{FF2B5EF4-FFF2-40B4-BE49-F238E27FC236}">
                <a16:creationId xmlns:a16="http://schemas.microsoft.com/office/drawing/2014/main" id="{F244C40E-E9BB-4045-BF83-7AB4FC87BDA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388100" y="2014538"/>
            <a:ext cx="1639888" cy="261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灯片编号占位符 6">
            <a:extLst>
              <a:ext uri="{FF2B5EF4-FFF2-40B4-BE49-F238E27FC236}">
                <a16:creationId xmlns:a16="http://schemas.microsoft.com/office/drawing/2014/main" id="{0DB1D91B-F170-42DB-94AD-4F8C5BCA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灯片编号占位符 5">
            <a:extLst>
              <a:ext uri="{FF2B5EF4-FFF2-40B4-BE49-F238E27FC236}">
                <a16:creationId xmlns:a16="http://schemas.microsoft.com/office/drawing/2014/main" id="{A6DF3E8A-48B5-4665-91FF-79F22DA02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29117CB-3C34-4E35-90EC-BAEA70DAD017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E7C12226-FAA3-489B-A88E-E865510BE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IEEE 802.11 physical layer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50B4A88-A4CB-49E3-B427-0784B1392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81" y="1154608"/>
            <a:ext cx="8170637" cy="3578215"/>
          </a:xfrm>
          <a:prstGeom prst="rect">
            <a:avLst/>
          </a:prstGeom>
        </p:spPr>
      </p:pic>
      <p:sp>
        <p:nvSpPr>
          <p:cNvPr id="13" name="内容占位符 7">
            <a:extLst>
              <a:ext uri="{FF2B5EF4-FFF2-40B4-BE49-F238E27FC236}">
                <a16:creationId xmlns:a16="http://schemas.microsoft.com/office/drawing/2014/main" id="{814009F8-9E5C-4983-87F5-5135405B6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9575" y="4774593"/>
            <a:ext cx="8324850" cy="1768475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err="1">
                <a:solidFill>
                  <a:srgbClr val="FF0000"/>
                </a:solidFill>
                <a:ea typeface="宋体" panose="02010600030101010101" pitchFamily="2" charset="-122"/>
              </a:rPr>
              <a:t>WiFi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6</a:t>
            </a:r>
          </a:p>
          <a:p>
            <a:pPr algn="just"/>
            <a:r>
              <a:rPr lang="en-US" altLang="zh-CN" sz="2000" dirty="0">
                <a:ea typeface="宋体" panose="02010600030101010101" pitchFamily="2" charset="-122"/>
              </a:rPr>
              <a:t>OFDMA</a:t>
            </a:r>
          </a:p>
          <a:p>
            <a:pPr algn="just"/>
            <a:r>
              <a:rPr lang="en-US" altLang="zh-CN" sz="2000" dirty="0">
                <a:ea typeface="宋体" panose="02010600030101010101" pitchFamily="2" charset="-122"/>
              </a:rPr>
              <a:t>MU-MIMO</a:t>
            </a:r>
          </a:p>
          <a:p>
            <a:pPr algn="just"/>
            <a:r>
              <a:rPr lang="en-US" altLang="zh-CN" sz="2000" dirty="0">
                <a:ea typeface="宋体" panose="02010600030101010101" pitchFamily="2" charset="-122"/>
              </a:rPr>
              <a:t>1024-QAM</a:t>
            </a:r>
          </a:p>
          <a:p>
            <a:r>
              <a:rPr lang="en-US" altLang="zh-CN" sz="2000" dirty="0"/>
              <a:t>Spatial Reuse &amp; BBS Coloring</a:t>
            </a:r>
          </a:p>
          <a:p>
            <a:pPr algn="just"/>
            <a:endParaRPr lang="en-US" altLang="zh-CN" sz="2000" dirty="0">
              <a:ea typeface="宋体" panose="02010600030101010101" pitchFamily="2" charset="-122"/>
            </a:endParaRPr>
          </a:p>
          <a:p>
            <a:pPr algn="just"/>
            <a:endParaRPr lang="zh-CN" altLang="en-US" sz="2000" dirty="0">
              <a:ea typeface="宋体" panose="02010600030101010101" pitchFamily="2" charset="-122"/>
            </a:endParaRPr>
          </a:p>
        </p:txBody>
      </p:sp>
      <p:pic>
        <p:nvPicPr>
          <p:cNvPr id="14" name="内容占位符 7">
            <a:extLst>
              <a:ext uri="{FF2B5EF4-FFF2-40B4-BE49-F238E27FC236}">
                <a16:creationId xmlns:a16="http://schemas.microsoft.com/office/drawing/2014/main" id="{3795DA21-04BE-4B52-914F-38D6004B0A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697" y="4854656"/>
            <a:ext cx="2657228" cy="1155156"/>
          </a:xfrm>
        </p:spPr>
      </p:pic>
      <p:pic>
        <p:nvPicPr>
          <p:cNvPr id="15" name="内容占位符 5">
            <a:extLst>
              <a:ext uri="{FF2B5EF4-FFF2-40B4-BE49-F238E27FC236}">
                <a16:creationId xmlns:a16="http://schemas.microsoft.com/office/drawing/2014/main" id="{923AC347-4F9B-42C4-8862-6D91DBB514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9387" y="4774593"/>
            <a:ext cx="2544978" cy="1497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>
            <a:extLst>
              <a:ext uri="{FF2B5EF4-FFF2-40B4-BE49-F238E27FC236}">
                <a16:creationId xmlns:a16="http://schemas.microsoft.com/office/drawing/2014/main" id="{5831C633-5BBB-44C9-9DB3-5FF3B45E4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IEEE 802.11 protocol architecture 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103428" name="灯片编号占位符 5">
            <a:extLst>
              <a:ext uri="{FF2B5EF4-FFF2-40B4-BE49-F238E27FC236}">
                <a16:creationId xmlns:a16="http://schemas.microsoft.com/office/drawing/2014/main" id="{EC64EBEE-7A18-4ACA-A06D-101A837E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476018D3-1016-4420-BE95-3A4C8A2324C5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103429" name="Picture 2">
            <a:extLst>
              <a:ext uri="{FF2B5EF4-FFF2-40B4-BE49-F238E27FC236}">
                <a16:creationId xmlns:a16="http://schemas.microsoft.com/office/drawing/2014/main" id="{9FAFB021-58D9-4D18-886E-A5A8FCE09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211263"/>
            <a:ext cx="7038975" cy="517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3725B83B-DCD9-4630-850A-7448102F7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0"/>
            <a:ext cx="7772400" cy="1143000"/>
          </a:xfrm>
        </p:spPr>
        <p:txBody>
          <a:bodyPr/>
          <a:lstStyle/>
          <a:p>
            <a:r>
              <a:rPr lang="en-US" altLang="ko-KR">
                <a:ea typeface="Gulim" panose="020B0600000101010101" pitchFamily="34" charset="-127"/>
              </a:rPr>
              <a:t>802.11 - MAC layer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98358E51-0B8D-41ED-A265-C106A3AD6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8" y="912813"/>
            <a:ext cx="8515350" cy="5470525"/>
          </a:xfrm>
        </p:spPr>
        <p:txBody>
          <a:bodyPr/>
          <a:lstStyle/>
          <a:p>
            <a:r>
              <a:rPr lang="en-US" altLang="ko-KR" sz="1800">
                <a:ea typeface="Gulim" panose="020B0600000101010101" pitchFamily="34" charset="-127"/>
              </a:rPr>
              <a:t>Traffic services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Asynchronous Data Service (</a:t>
            </a:r>
            <a:r>
              <a:rPr lang="en-US" altLang="ko-KR" sz="1800">
                <a:solidFill>
                  <a:srgbClr val="FF0000"/>
                </a:solidFill>
                <a:ea typeface="Gulim" panose="020B0600000101010101" pitchFamily="34" charset="-127"/>
              </a:rPr>
              <a:t>mandatory</a:t>
            </a:r>
            <a:r>
              <a:rPr lang="en-US" altLang="ko-KR" sz="1800">
                <a:ea typeface="Gulim" panose="020B0600000101010101" pitchFamily="34" charset="-127"/>
              </a:rPr>
              <a:t>)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implemented using DCF (Distributed Coordination Function) 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Time-Bounded Service (</a:t>
            </a:r>
            <a:r>
              <a:rPr lang="en-US" altLang="ko-KR" sz="1800">
                <a:solidFill>
                  <a:srgbClr val="FF0000"/>
                </a:solidFill>
                <a:ea typeface="Gulim" panose="020B0600000101010101" pitchFamily="34" charset="-127"/>
              </a:rPr>
              <a:t>optional</a:t>
            </a:r>
            <a:r>
              <a:rPr lang="en-US" altLang="ko-KR" sz="1800">
                <a:ea typeface="Gulim" panose="020B0600000101010101" pitchFamily="34" charset="-127"/>
              </a:rPr>
              <a:t>)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implemented using PCF (Point Coordination Function) </a:t>
            </a:r>
          </a:p>
          <a:p>
            <a:r>
              <a:rPr lang="en-US" altLang="ko-KR" sz="1800">
                <a:ea typeface="Gulim" panose="020B0600000101010101" pitchFamily="34" charset="-127"/>
              </a:rPr>
              <a:t>Access methods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DCF </a:t>
            </a:r>
            <a:r>
              <a:rPr lang="en-US" altLang="ko-KR" sz="1800">
                <a:solidFill>
                  <a:srgbClr val="FF0000"/>
                </a:solidFill>
                <a:ea typeface="Gulim" panose="020B0600000101010101" pitchFamily="34" charset="-127"/>
              </a:rPr>
              <a:t>CSMA/CA</a:t>
            </a:r>
            <a:r>
              <a:rPr lang="en-US" altLang="ko-KR" sz="1800">
                <a:ea typeface="Gulim" panose="020B0600000101010101" pitchFamily="34" charset="-127"/>
              </a:rPr>
              <a:t> (mandatory)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Distributed Wireless MAC</a:t>
            </a:r>
          </a:p>
          <a:p>
            <a:pPr lvl="2"/>
            <a:r>
              <a:rPr lang="en-US" altLang="ko-KR" sz="1800">
                <a:solidFill>
                  <a:srgbClr val="FF0000"/>
                </a:solidFill>
                <a:ea typeface="Gulim" panose="020B0600000101010101" pitchFamily="34" charset="-127"/>
              </a:rPr>
              <a:t>collision avoidance </a:t>
            </a:r>
            <a:r>
              <a:rPr lang="en-US" altLang="ko-KR" sz="1800">
                <a:ea typeface="Gulim" panose="020B0600000101010101" pitchFamily="34" charset="-127"/>
              </a:rPr>
              <a:t>via randomized „back-off“ mechanism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minimum distance between consecutive packets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ACK packet for acknowledgements (not for broadcasts)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DCF w/ RTS/CTS (optional)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avoids </a:t>
            </a:r>
            <a:r>
              <a:rPr lang="en-US" altLang="ko-KR" sz="1800">
                <a:solidFill>
                  <a:srgbClr val="FF0000"/>
                </a:solidFill>
                <a:ea typeface="Gulim" panose="020B0600000101010101" pitchFamily="34" charset="-127"/>
              </a:rPr>
              <a:t>hidden terminal problem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PCF (optional)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access point polls terminals</a:t>
            </a:r>
          </a:p>
          <a:p>
            <a:pPr lvl="2"/>
            <a:r>
              <a:rPr lang="en-US" altLang="ko-KR" sz="1800">
                <a:solidFill>
                  <a:srgbClr val="FF0000"/>
                </a:solidFill>
                <a:ea typeface="Gulim" panose="020B0600000101010101" pitchFamily="34" charset="-127"/>
              </a:rPr>
              <a:t>Contention free</a:t>
            </a:r>
          </a:p>
        </p:txBody>
      </p:sp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C07DE95B-E741-4E31-A7AD-AFDCB7E8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>
            <a:extLst>
              <a:ext uri="{FF2B5EF4-FFF2-40B4-BE49-F238E27FC236}">
                <a16:creationId xmlns:a16="http://schemas.microsoft.com/office/drawing/2014/main" id="{29850A40-750A-4872-8356-46DD52F50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802.11 MAC functions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6499" name="内容占位符 2">
            <a:extLst>
              <a:ext uri="{FF2B5EF4-FFF2-40B4-BE49-F238E27FC236}">
                <a16:creationId xmlns:a16="http://schemas.microsoft.com/office/drawing/2014/main" id="{FD0ABD70-03C5-4C4E-ACD8-4AE43C1EB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8183563" cy="4648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MAC layer covers three functional areas:</a:t>
            </a:r>
          </a:p>
          <a:p>
            <a:pPr lvl="1"/>
            <a:r>
              <a:rPr lang="en-US" altLang="ko-KR">
                <a:ea typeface="Gulim" panose="020B0600000101010101" pitchFamily="34" charset="-127"/>
              </a:rPr>
              <a:t>Reliable data delivery</a:t>
            </a:r>
          </a:p>
          <a:p>
            <a:pPr lvl="2"/>
            <a:r>
              <a:rPr lang="en-US" altLang="ko-KR" sz="2400">
                <a:solidFill>
                  <a:srgbClr val="FF0000"/>
                </a:solidFill>
                <a:ea typeface="Gulim" panose="020B0600000101010101" pitchFamily="34" charset="-127"/>
              </a:rPr>
              <a:t>ACK-based scheme </a:t>
            </a:r>
            <a:r>
              <a:rPr lang="en-US" altLang="ko-KR" sz="2400">
                <a:ea typeface="Gulim" panose="020B0600000101010101" pitchFamily="34" charset="-127"/>
              </a:rPr>
              <a:t>for reliability (receiver sends ACK after each successful transmission) </a:t>
            </a:r>
          </a:p>
          <a:p>
            <a:pPr lvl="1"/>
            <a:r>
              <a:rPr lang="en-US" altLang="ko-KR">
                <a:ea typeface="Gulim" panose="020B0600000101010101" pitchFamily="34" charset="-127"/>
              </a:rPr>
              <a:t>Medium access control</a:t>
            </a:r>
          </a:p>
          <a:p>
            <a:pPr lvl="2"/>
            <a:r>
              <a:rPr lang="en-US" altLang="ko-KR" sz="2400">
                <a:solidFill>
                  <a:srgbClr val="FF0000"/>
                </a:solidFill>
                <a:ea typeface="Gulim" panose="020B0600000101010101" pitchFamily="34" charset="-127"/>
              </a:rPr>
              <a:t>CSMA/CA</a:t>
            </a:r>
            <a:r>
              <a:rPr lang="en-US" altLang="ko-KR" sz="2400">
                <a:ea typeface="Gulim" panose="020B0600000101010101" pitchFamily="34" charset="-127"/>
              </a:rPr>
              <a:t>; collision avoidance, not collision detection, </a:t>
            </a:r>
            <a:r>
              <a:rPr lang="en-US" altLang="ko-KR" sz="2400">
                <a:solidFill>
                  <a:srgbClr val="FF0000"/>
                </a:solidFill>
                <a:ea typeface="Gulim" panose="020B0600000101010101" pitchFamily="34" charset="-127"/>
              </a:rPr>
              <a:t>Why? How?</a:t>
            </a:r>
          </a:p>
          <a:p>
            <a:pPr lvl="1"/>
            <a:r>
              <a:rPr lang="en-US" altLang="ko-KR">
                <a:ea typeface="Gulim" panose="020B0600000101010101" pitchFamily="34" charset="-127"/>
              </a:rPr>
              <a:t>Security</a:t>
            </a:r>
          </a:p>
          <a:p>
            <a:pPr lvl="2"/>
            <a:r>
              <a:rPr lang="en-US" altLang="ko-KR" sz="2400">
                <a:ea typeface="Gulim" panose="020B0600000101010101" pitchFamily="34" charset="-127"/>
              </a:rPr>
              <a:t>Wired Equivalent Privacy (WEP),WEP relies on a secret key being shared by end hosts and APs </a:t>
            </a:r>
          </a:p>
          <a:p>
            <a:pPr lvl="2"/>
            <a:endParaRPr lang="en-US" altLang="ko-KR" sz="2400">
              <a:ea typeface="Gulim" panose="020B0600000101010101" pitchFamily="34" charset="-127"/>
            </a:endParaRPr>
          </a:p>
        </p:txBody>
      </p:sp>
      <p:sp>
        <p:nvSpPr>
          <p:cNvPr id="106501" name="灯片编号占位符 4">
            <a:extLst>
              <a:ext uri="{FF2B5EF4-FFF2-40B4-BE49-F238E27FC236}">
                <a16:creationId xmlns:a16="http://schemas.microsoft.com/office/drawing/2014/main" id="{7CFC3B57-BF15-4641-9D25-EDF78E46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3AE938CC-56E2-463E-88BF-6D30CD534DA7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>
            <a:extLst>
              <a:ext uri="{FF2B5EF4-FFF2-40B4-BE49-F238E27FC236}">
                <a16:creationId xmlns:a16="http://schemas.microsoft.com/office/drawing/2014/main" id="{E82EC801-CCEA-4FF2-8868-F4DE1751A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DCF CSMA/CA Illustrated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7524" name="灯片编号占位符 4">
            <a:extLst>
              <a:ext uri="{FF2B5EF4-FFF2-40B4-BE49-F238E27FC236}">
                <a16:creationId xmlns:a16="http://schemas.microsoft.com/office/drawing/2014/main" id="{6E5C0EA5-6692-43CD-B429-07DFDB12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D424CF4A-22D0-4629-9975-58C91DC3A93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107525" name="Picture 2">
            <a:extLst>
              <a:ext uri="{FF2B5EF4-FFF2-40B4-BE49-F238E27FC236}">
                <a16:creationId xmlns:a16="http://schemas.microsoft.com/office/drawing/2014/main" id="{E5929FFC-4FBA-4E43-A88A-438649CCD8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4363" y="1544638"/>
            <a:ext cx="7705725" cy="3905250"/>
          </a:xfr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C395D72D-B26D-4E93-9D5B-038CD9449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Gulim" panose="020B0600000101010101" pitchFamily="34" charset="-127"/>
              </a:rPr>
              <a:t>802.11 - MAC 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8B69FDD6-DF06-46A6-9468-32FFA8322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8" y="1122363"/>
            <a:ext cx="8534400" cy="3454400"/>
          </a:xfrm>
        </p:spPr>
        <p:txBody>
          <a:bodyPr/>
          <a:lstStyle/>
          <a:p>
            <a:r>
              <a:rPr lang="en-US" altLang="ko-KR" sz="1600">
                <a:ea typeface="Gulim" panose="020B0600000101010101" pitchFamily="34" charset="-127"/>
              </a:rPr>
              <a:t>Priorities</a:t>
            </a:r>
          </a:p>
          <a:p>
            <a:pPr lvl="1"/>
            <a:r>
              <a:rPr lang="en-US" altLang="ko-KR" sz="1600">
                <a:solidFill>
                  <a:srgbClr val="FF0000"/>
                </a:solidFill>
                <a:ea typeface="Gulim" panose="020B0600000101010101" pitchFamily="34" charset="-127"/>
              </a:rPr>
              <a:t>defined through different inter frame spaces</a:t>
            </a:r>
          </a:p>
          <a:p>
            <a:pPr lvl="1"/>
            <a:r>
              <a:rPr lang="en-US" altLang="ko-KR" sz="1600">
                <a:ea typeface="Gulim" panose="020B0600000101010101" pitchFamily="34" charset="-127"/>
              </a:rPr>
              <a:t>SIFS (Short Inter Frame Spacing) : </a:t>
            </a:r>
          </a:p>
          <a:p>
            <a:pPr lvl="2"/>
            <a:r>
              <a:rPr lang="en-US" altLang="ko-KR" sz="1600">
                <a:ea typeface="Gulim" panose="020B0600000101010101" pitchFamily="34" charset="-127"/>
              </a:rPr>
              <a:t>10</a:t>
            </a:r>
            <a:r>
              <a:rPr lang="el-GR" altLang="ko-KR" sz="1600">
                <a:cs typeface="Arial" panose="020B0604020202020204" pitchFamily="34" charset="0"/>
              </a:rPr>
              <a:t>μ</a:t>
            </a:r>
            <a:r>
              <a:rPr lang="en-US" altLang="ko-KR" sz="1600">
                <a:ea typeface="Gulim" panose="020B0600000101010101" pitchFamily="34" charset="-127"/>
                <a:cs typeface="Arial" panose="020B0604020202020204" pitchFamily="34" charset="0"/>
              </a:rPr>
              <a:t>s (802.11b/g), </a:t>
            </a:r>
            <a:r>
              <a:rPr lang="en-US" altLang="ko-KR" sz="1600">
                <a:ea typeface="Gulim" panose="020B0600000101010101" pitchFamily="34" charset="-127"/>
              </a:rPr>
              <a:t>16</a:t>
            </a:r>
            <a:r>
              <a:rPr lang="el-GR" altLang="ko-KR" sz="1600">
                <a:ea typeface="Gulim" panose="020B0600000101010101" pitchFamily="34" charset="-127"/>
              </a:rPr>
              <a:t> μ</a:t>
            </a:r>
            <a:r>
              <a:rPr lang="en-US" altLang="ko-KR" sz="1600">
                <a:ea typeface="Gulim" panose="020B0600000101010101" pitchFamily="34" charset="-127"/>
              </a:rPr>
              <a:t>s (802.11a)</a:t>
            </a:r>
            <a:endParaRPr lang="el-GR" altLang="ko-KR" sz="1600">
              <a:cs typeface="Arial" panose="020B0604020202020204" pitchFamily="34" charset="0"/>
            </a:endParaRPr>
          </a:p>
          <a:p>
            <a:pPr lvl="2"/>
            <a:r>
              <a:rPr lang="en-US" altLang="ko-KR" sz="1600">
                <a:ea typeface="Gulim" panose="020B0600000101010101" pitchFamily="34" charset="-127"/>
              </a:rPr>
              <a:t>High priority, for ACK, CTS, polling response</a:t>
            </a:r>
          </a:p>
          <a:p>
            <a:pPr lvl="1"/>
            <a:r>
              <a:rPr lang="en-US" altLang="ko-KR" sz="1600">
                <a:ea typeface="Gulim" panose="020B0600000101010101" pitchFamily="34" charset="-127"/>
              </a:rPr>
              <a:t>PIFS (PCF IFS) : </a:t>
            </a:r>
          </a:p>
          <a:p>
            <a:pPr lvl="2"/>
            <a:r>
              <a:rPr lang="en-US" altLang="ko-KR" sz="1600">
                <a:ea typeface="Gulim" panose="020B0600000101010101" pitchFamily="34" charset="-127"/>
              </a:rPr>
              <a:t>PIFS = SIFS + Slot time, which is 20</a:t>
            </a:r>
            <a:r>
              <a:rPr lang="el-GR" altLang="ko-KR" sz="1600">
                <a:cs typeface="Arial" panose="020B0604020202020204" pitchFamily="34" charset="0"/>
              </a:rPr>
              <a:t> μ</a:t>
            </a:r>
            <a:r>
              <a:rPr lang="en-US" altLang="ko-KR" sz="1600">
                <a:ea typeface="Gulim" panose="020B0600000101010101" pitchFamily="34" charset="-127"/>
              </a:rPr>
              <a:t>s 802.11b, 9</a:t>
            </a:r>
            <a:r>
              <a:rPr lang="el-GR" altLang="ko-KR" sz="1600">
                <a:cs typeface="Arial" panose="020B0604020202020204" pitchFamily="34" charset="0"/>
              </a:rPr>
              <a:t> μ</a:t>
            </a:r>
            <a:r>
              <a:rPr lang="en-US" altLang="ko-KR" sz="1600">
                <a:ea typeface="Gulim" panose="020B0600000101010101" pitchFamily="34" charset="-127"/>
              </a:rPr>
              <a:t>s 802.11a/g</a:t>
            </a:r>
          </a:p>
          <a:p>
            <a:pPr lvl="2"/>
            <a:r>
              <a:rPr lang="en-US" altLang="ko-KR" sz="1600">
                <a:ea typeface="Gulim" panose="020B0600000101010101" pitchFamily="34" charset="-127"/>
              </a:rPr>
              <a:t>medium priority, for time-bounded service using PCF</a:t>
            </a:r>
          </a:p>
          <a:p>
            <a:pPr lvl="1"/>
            <a:r>
              <a:rPr lang="en-US" altLang="ko-KR" sz="1600">
                <a:ea typeface="Gulim" panose="020B0600000101010101" pitchFamily="34" charset="-127"/>
              </a:rPr>
              <a:t>DIFS (DCF IFS): </a:t>
            </a:r>
          </a:p>
          <a:p>
            <a:pPr lvl="2"/>
            <a:r>
              <a:rPr lang="en-US" altLang="ko-KR" sz="1600">
                <a:ea typeface="Gulim" panose="020B0600000101010101" pitchFamily="34" charset="-127"/>
              </a:rPr>
              <a:t>DIFS = PIFS + Slot time </a:t>
            </a:r>
          </a:p>
          <a:p>
            <a:pPr lvl="2"/>
            <a:r>
              <a:rPr lang="en-US" altLang="ko-KR" sz="1600">
                <a:ea typeface="Gulim" panose="020B0600000101010101" pitchFamily="34" charset="-127"/>
              </a:rPr>
              <a:t>lowest priority, for asynchronous data service</a:t>
            </a:r>
          </a:p>
        </p:txBody>
      </p:sp>
      <p:grpSp>
        <p:nvGrpSpPr>
          <p:cNvPr id="108548" name="组合 27">
            <a:extLst>
              <a:ext uri="{FF2B5EF4-FFF2-40B4-BE49-F238E27FC236}">
                <a16:creationId xmlns:a16="http://schemas.microsoft.com/office/drawing/2014/main" id="{23839088-6D3D-4277-970E-4DE785A8D5CD}"/>
              </a:ext>
            </a:extLst>
          </p:cNvPr>
          <p:cNvGrpSpPr>
            <a:grpSpLocks/>
          </p:cNvGrpSpPr>
          <p:nvPr/>
        </p:nvGrpSpPr>
        <p:grpSpPr bwMode="auto">
          <a:xfrm>
            <a:off x="522288" y="4557713"/>
            <a:ext cx="7785100" cy="1719262"/>
            <a:chOff x="620713" y="4348163"/>
            <a:chExt cx="7785100" cy="1719262"/>
          </a:xfrm>
        </p:grpSpPr>
        <p:sp>
          <p:nvSpPr>
            <p:cNvPr id="108549" name="Rectangle 35">
              <a:extLst>
                <a:ext uri="{FF2B5EF4-FFF2-40B4-BE49-F238E27FC236}">
                  <a16:creationId xmlns:a16="http://schemas.microsoft.com/office/drawing/2014/main" id="{56A636D3-6676-4C40-B0E0-01BC3B1CA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913" y="5033963"/>
              <a:ext cx="304800" cy="381000"/>
            </a:xfrm>
            <a:prstGeom prst="rect">
              <a:avLst/>
            </a:prstGeom>
            <a:gradFill rotWithShape="0">
              <a:gsLst>
                <a:gs pos="0">
                  <a:srgbClr val="FFE0EA"/>
                </a:gs>
                <a:gs pos="100000">
                  <a:srgbClr val="FF669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>
                <a:ea typeface="Gulim" panose="020B0600000101010101" pitchFamily="34" charset="-127"/>
              </a:endParaRPr>
            </a:p>
          </p:txBody>
        </p:sp>
        <p:sp>
          <p:nvSpPr>
            <p:cNvPr id="108550" name="Line 4">
              <a:extLst>
                <a:ext uri="{FF2B5EF4-FFF2-40B4-BE49-F238E27FC236}">
                  <a16:creationId xmlns:a16="http://schemas.microsoft.com/office/drawing/2014/main" id="{811E8D00-F199-4A64-9E22-915C91EE3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713" y="5414963"/>
              <a:ext cx="7696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51" name="Text Box 5">
              <a:extLst>
                <a:ext uri="{FF2B5EF4-FFF2-40B4-BE49-F238E27FC236}">
                  <a16:creationId xmlns:a16="http://schemas.microsoft.com/office/drawing/2014/main" id="{6ACCE177-6D59-4027-B492-D9D545AF7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4513" y="5414963"/>
              <a:ext cx="2413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t</a:t>
              </a:r>
            </a:p>
          </p:txBody>
        </p:sp>
        <p:sp>
          <p:nvSpPr>
            <p:cNvPr id="108552" name="Rectangle 6">
              <a:extLst>
                <a:ext uri="{FF2B5EF4-FFF2-40B4-BE49-F238E27FC236}">
                  <a16:creationId xmlns:a16="http://schemas.microsoft.com/office/drawing/2014/main" id="{34A3090A-95B2-4A38-A9A1-F96510083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3" y="5033963"/>
              <a:ext cx="2057400" cy="3810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medium busy</a:t>
              </a:r>
            </a:p>
          </p:txBody>
        </p:sp>
        <p:sp>
          <p:nvSpPr>
            <p:cNvPr id="108553" name="Line 7">
              <a:extLst>
                <a:ext uri="{FF2B5EF4-FFF2-40B4-BE49-F238E27FC236}">
                  <a16:creationId xmlns:a16="http://schemas.microsoft.com/office/drawing/2014/main" id="{2BC5BC87-1583-4165-AF65-02479806B0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3113" y="4576763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54" name="Line 8">
              <a:extLst>
                <a:ext uri="{FF2B5EF4-FFF2-40B4-BE49-F238E27FC236}">
                  <a16:creationId xmlns:a16="http://schemas.microsoft.com/office/drawing/2014/main" id="{21D2CC61-05D3-42B6-B38E-CFBD18154E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3713" y="4576763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55" name="Line 9">
              <a:extLst>
                <a:ext uri="{FF2B5EF4-FFF2-40B4-BE49-F238E27FC236}">
                  <a16:creationId xmlns:a16="http://schemas.microsoft.com/office/drawing/2014/main" id="{9BB30C8D-7E77-4126-8D8B-03A3B871CB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1113" y="4576763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56" name="Line 10">
              <a:extLst>
                <a:ext uri="{FF2B5EF4-FFF2-40B4-BE49-F238E27FC236}">
                  <a16:creationId xmlns:a16="http://schemas.microsoft.com/office/drawing/2014/main" id="{F972B784-0B11-4844-9AB1-A70F76CD9E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11713" y="4576763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57" name="Line 12">
              <a:extLst>
                <a:ext uri="{FF2B5EF4-FFF2-40B4-BE49-F238E27FC236}">
                  <a16:creationId xmlns:a16="http://schemas.microsoft.com/office/drawing/2014/main" id="{5B487539-19FE-46C1-A61E-314A66571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9313" y="4805363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58" name="Line 13">
              <a:extLst>
                <a:ext uri="{FF2B5EF4-FFF2-40B4-BE49-F238E27FC236}">
                  <a16:creationId xmlns:a16="http://schemas.microsoft.com/office/drawing/2014/main" id="{C9ACFC79-1B67-4786-BA53-7A9BD4AEC9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6913" y="5033963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59" name="Line 15">
              <a:extLst>
                <a:ext uri="{FF2B5EF4-FFF2-40B4-BE49-F238E27FC236}">
                  <a16:creationId xmlns:a16="http://schemas.microsoft.com/office/drawing/2014/main" id="{B7CD82E0-2B45-4FB4-AED5-092FEDF12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875" y="5262563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60" name="Text Box 16">
              <a:extLst>
                <a:ext uri="{FF2B5EF4-FFF2-40B4-BE49-F238E27FC236}">
                  <a16:creationId xmlns:a16="http://schemas.microsoft.com/office/drawing/2014/main" id="{9C7F63DF-2F9A-4DA5-8759-E6DD694F3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275" y="4941888"/>
              <a:ext cx="6350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SIFS</a:t>
              </a:r>
            </a:p>
          </p:txBody>
        </p:sp>
        <p:sp>
          <p:nvSpPr>
            <p:cNvPr id="108561" name="Line 17">
              <a:extLst>
                <a:ext uri="{FF2B5EF4-FFF2-40B4-BE49-F238E27FC236}">
                  <a16:creationId xmlns:a16="http://schemas.microsoft.com/office/drawing/2014/main" id="{441CA5D7-35A0-404E-8B89-DF4C37D62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1113" y="4957763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62" name="Text Box 18">
              <a:extLst>
                <a:ext uri="{FF2B5EF4-FFF2-40B4-BE49-F238E27FC236}">
                  <a16:creationId xmlns:a16="http://schemas.microsoft.com/office/drawing/2014/main" id="{49D40C7E-4563-4D4C-A171-471C69577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713" y="4652963"/>
              <a:ext cx="6350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PIFS</a:t>
              </a:r>
            </a:p>
          </p:txBody>
        </p:sp>
        <p:sp>
          <p:nvSpPr>
            <p:cNvPr id="108563" name="Text Box 19">
              <a:extLst>
                <a:ext uri="{FF2B5EF4-FFF2-40B4-BE49-F238E27FC236}">
                  <a16:creationId xmlns:a16="http://schemas.microsoft.com/office/drawing/2014/main" id="{A87CF13E-5308-4688-9C8E-BBC0FAED2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4150" y="4348163"/>
              <a:ext cx="64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DIFS</a:t>
              </a:r>
            </a:p>
          </p:txBody>
        </p:sp>
        <p:sp>
          <p:nvSpPr>
            <p:cNvPr id="108564" name="Line 20">
              <a:extLst>
                <a:ext uri="{FF2B5EF4-FFF2-40B4-BE49-F238E27FC236}">
                  <a16:creationId xmlns:a16="http://schemas.microsoft.com/office/drawing/2014/main" id="{D6F13B27-DBE4-436E-9255-488A6EDAB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1113" y="4652963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65" name="Text Box 21">
              <a:extLst>
                <a:ext uri="{FF2B5EF4-FFF2-40B4-BE49-F238E27FC236}">
                  <a16:creationId xmlns:a16="http://schemas.microsoft.com/office/drawing/2014/main" id="{E2C1D5B3-A97B-4F6B-AACD-9E86DA6A2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4563" y="4348163"/>
              <a:ext cx="6461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DIFS</a:t>
              </a:r>
            </a:p>
          </p:txBody>
        </p:sp>
        <p:sp>
          <p:nvSpPr>
            <p:cNvPr id="108566" name="Line 22">
              <a:extLst>
                <a:ext uri="{FF2B5EF4-FFF2-40B4-BE49-F238E27FC236}">
                  <a16:creationId xmlns:a16="http://schemas.microsoft.com/office/drawing/2014/main" id="{42D5B4DB-B5CE-4081-B0C9-81EEA1932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3113" y="4652963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67" name="Rectangle 24">
              <a:extLst>
                <a:ext uri="{FF2B5EF4-FFF2-40B4-BE49-F238E27FC236}">
                  <a16:creationId xmlns:a16="http://schemas.microsoft.com/office/drawing/2014/main" id="{40945ACA-6965-4AF8-9658-8A70213B2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913" y="5033963"/>
              <a:ext cx="2057400" cy="3810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next frame</a:t>
              </a:r>
            </a:p>
          </p:txBody>
        </p:sp>
        <p:sp>
          <p:nvSpPr>
            <p:cNvPr id="108568" name="Line 25">
              <a:extLst>
                <a:ext uri="{FF2B5EF4-FFF2-40B4-BE49-F238E27FC236}">
                  <a16:creationId xmlns:a16="http://schemas.microsoft.com/office/drawing/2014/main" id="{8EA303B4-DD16-4499-988B-1D462214E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30913" y="4576763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69" name="Rectangle 26">
              <a:extLst>
                <a:ext uri="{FF2B5EF4-FFF2-40B4-BE49-F238E27FC236}">
                  <a16:creationId xmlns:a16="http://schemas.microsoft.com/office/drawing/2014/main" id="{4423C707-26FE-4772-982A-A4F0CB1D9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713" y="5033963"/>
              <a:ext cx="1219200" cy="381000"/>
            </a:xfrm>
            <a:prstGeom prst="rect">
              <a:avLst/>
            </a:prstGeom>
            <a:solidFill>
              <a:srgbClr val="FF6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contention</a:t>
              </a:r>
            </a:p>
          </p:txBody>
        </p:sp>
        <p:sp>
          <p:nvSpPr>
            <p:cNvPr id="108570" name="Text Box 29">
              <a:extLst>
                <a:ext uri="{FF2B5EF4-FFF2-40B4-BE49-F238E27FC236}">
                  <a16:creationId xmlns:a16="http://schemas.microsoft.com/office/drawing/2014/main" id="{AD1DC320-18CF-453C-94F4-129B8ECEE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5486400"/>
              <a:ext cx="2205038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direct access if </a:t>
              </a:r>
              <a:br>
                <a:rPr lang="de-DE" altLang="ko-KR" sz="1800">
                  <a:ea typeface="Gulim" panose="020B0600000101010101" pitchFamily="34" charset="-127"/>
                </a:rPr>
              </a:br>
              <a:r>
                <a:rPr lang="de-DE" altLang="ko-KR" sz="1800">
                  <a:ea typeface="Gulim" panose="020B0600000101010101" pitchFamily="34" charset="-127"/>
                </a:rPr>
                <a:t>medium is free </a:t>
              </a:r>
              <a:r>
                <a:rPr lang="de-DE" altLang="ko-KR" sz="1800">
                  <a:ea typeface="Gulim" panose="020B0600000101010101" pitchFamily="34" charset="-127"/>
                  <a:sym typeface="Symbol" panose="05050102010706020507" pitchFamily="18" charset="2"/>
                </a:rPr>
                <a:t> DIFS</a:t>
              </a:r>
            </a:p>
          </p:txBody>
        </p:sp>
        <p:cxnSp>
          <p:nvCxnSpPr>
            <p:cNvPr id="108571" name="AutoShape 30">
              <a:extLst>
                <a:ext uri="{FF2B5EF4-FFF2-40B4-BE49-F238E27FC236}">
                  <a16:creationId xmlns:a16="http://schemas.microsoft.com/office/drawing/2014/main" id="{92D89454-34C8-4167-B46C-0F34B552FAD8}"/>
                </a:ext>
              </a:extLst>
            </p:cNvPr>
            <p:cNvCxnSpPr>
              <a:cxnSpLocks noChangeShapeType="1"/>
              <a:endCxn id="108554" idx="0"/>
            </p:cNvCxnSpPr>
            <p:nvPr/>
          </p:nvCxnSpPr>
          <p:spPr bwMode="auto">
            <a:xfrm rot="10800000">
              <a:off x="1763713" y="5414963"/>
              <a:ext cx="304800" cy="44291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" name="灯片编号占位符 6">
            <a:extLst>
              <a:ext uri="{FF2B5EF4-FFF2-40B4-BE49-F238E27FC236}">
                <a16:creationId xmlns:a16="http://schemas.microsoft.com/office/drawing/2014/main" id="{3AB1CDCF-815F-44CF-BED0-F7C0AD73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바닥글 개체 틀 3">
            <a:extLst>
              <a:ext uri="{FF2B5EF4-FFF2-40B4-BE49-F238E27FC236}">
                <a16:creationId xmlns:a16="http://schemas.microsoft.com/office/drawing/2014/main" id="{2C22CD62-1843-458E-B5E3-936993318C8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tabLst>
                <a:tab pos="4956175" algn="l"/>
                <a:tab pos="7053263" algn="r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tabLst>
                <a:tab pos="4956175" algn="l"/>
                <a:tab pos="7053263" algn="r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62BD6F65-0487-46D7-BDF5-47797E9836D7}" type="slidenum">
              <a:rPr lang="en-US" altLang="ko-KR" sz="1400" smtClean="0"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7BB71D44-72FF-402D-9192-1FF82739B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ea typeface="Gulim" panose="020B0600000101010101" pitchFamily="34" charset="-127"/>
            </a:endParaRPr>
          </a:p>
        </p:txBody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E55C8F64-1157-4AAA-B292-12C12FB6D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ea typeface="Gulim" panose="020B0600000101010101" pitchFamily="34" charset="-127"/>
            </a:endParaRPr>
          </a:p>
        </p:txBody>
      </p:sp>
      <p:sp>
        <p:nvSpPr>
          <p:cNvPr id="110597" name="Rectangle 76">
            <a:extLst>
              <a:ext uri="{FF2B5EF4-FFF2-40B4-BE49-F238E27FC236}">
                <a16:creationId xmlns:a16="http://schemas.microsoft.com/office/drawing/2014/main" id="{E9914E84-8BA5-4524-A561-6DC35ACB3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Gulim" panose="020B0600000101010101" pitchFamily="34" charset="-127"/>
              </a:rPr>
              <a:t>CSMA/CA access method </a:t>
            </a:r>
          </a:p>
        </p:txBody>
      </p:sp>
      <p:sp>
        <p:nvSpPr>
          <p:cNvPr id="110598" name="Rectangle 77">
            <a:extLst>
              <a:ext uri="{FF2B5EF4-FFF2-40B4-BE49-F238E27FC236}">
                <a16:creationId xmlns:a16="http://schemas.microsoft.com/office/drawing/2014/main" id="{FD9FDDD9-11D8-4A08-9553-4E7AFD73E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8175" y="3159125"/>
            <a:ext cx="7772400" cy="3024188"/>
          </a:xfrm>
        </p:spPr>
        <p:txBody>
          <a:bodyPr/>
          <a:lstStyle/>
          <a:p>
            <a:pPr lvl="1"/>
            <a:r>
              <a:rPr lang="en-US" altLang="ko-KR" sz="1800">
                <a:ea typeface="Gulim" panose="020B0600000101010101" pitchFamily="34" charset="-127"/>
              </a:rPr>
              <a:t>station ready to send starts sensing the medium (Carrier Sense based on CCA, Clear Channel Assessment)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if the medium is free for the duration of an Inter-Frame Space (IFS), the station can start sending (IFS depends on service type)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if the medium is busy, the station has to wait for a free IFS, then the station must additionally wait a random back-off time (collision avoidance, multiple of slot-time) 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Slot time = 20 </a:t>
            </a:r>
            <a:r>
              <a:rPr lang="el-GR" altLang="ko-KR" sz="1800">
                <a:cs typeface="Arial" panose="020B0604020202020204" pitchFamily="34" charset="0"/>
              </a:rPr>
              <a:t>μ</a:t>
            </a:r>
            <a:r>
              <a:rPr lang="en-US" altLang="ko-KR" sz="1800">
                <a:ea typeface="Gulim" panose="020B0600000101010101" pitchFamily="34" charset="-127"/>
                <a:cs typeface="Arial" panose="020B0604020202020204" pitchFamily="34" charset="0"/>
              </a:rPr>
              <a:t>s for 802.11b, 9 </a:t>
            </a:r>
            <a:r>
              <a:rPr lang="el-GR" altLang="ko-KR" sz="1800">
                <a:cs typeface="Arial" panose="020B0604020202020204" pitchFamily="34" charset="0"/>
              </a:rPr>
              <a:t>μ</a:t>
            </a:r>
            <a:r>
              <a:rPr lang="en-US" altLang="ko-KR" sz="1800">
                <a:ea typeface="Gulim" panose="020B0600000101010101" pitchFamily="34" charset="-127"/>
              </a:rPr>
              <a:t>s in 802.11a/g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CW_min = 16 for 802.11a, 32 for 802.11b</a:t>
            </a:r>
          </a:p>
          <a:p>
            <a:pPr lvl="2"/>
            <a:r>
              <a:rPr lang="en-US" altLang="ko-KR" sz="1800">
                <a:ea typeface="Gulim" panose="020B0600000101010101" pitchFamily="34" charset="-127"/>
              </a:rPr>
              <a:t>CW_max = 1024</a:t>
            </a:r>
          </a:p>
        </p:txBody>
      </p:sp>
      <p:grpSp>
        <p:nvGrpSpPr>
          <p:cNvPr id="110599" name="组合 37">
            <a:extLst>
              <a:ext uri="{FF2B5EF4-FFF2-40B4-BE49-F238E27FC236}">
                <a16:creationId xmlns:a16="http://schemas.microsoft.com/office/drawing/2014/main" id="{76C61C4F-2D80-4145-9E66-E6BB4FE69040}"/>
              </a:ext>
            </a:extLst>
          </p:cNvPr>
          <p:cNvGrpSpPr>
            <a:grpSpLocks/>
          </p:cNvGrpSpPr>
          <p:nvPr/>
        </p:nvGrpSpPr>
        <p:grpSpPr bwMode="auto">
          <a:xfrm>
            <a:off x="909638" y="1158875"/>
            <a:ext cx="7599362" cy="2051050"/>
            <a:chOff x="971550" y="838200"/>
            <a:chExt cx="7599363" cy="2051050"/>
          </a:xfrm>
        </p:grpSpPr>
        <p:sp>
          <p:nvSpPr>
            <p:cNvPr id="110600" name="Line 49">
              <a:extLst>
                <a:ext uri="{FF2B5EF4-FFF2-40B4-BE49-F238E27FC236}">
                  <a16:creationId xmlns:a16="http://schemas.microsoft.com/office/drawing/2014/main" id="{9B3A1F9D-5A2F-4BFE-AE53-466EC2175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1550" y="2209800"/>
              <a:ext cx="7391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1" name="Text Box 50">
              <a:extLst>
                <a:ext uri="{FF2B5EF4-FFF2-40B4-BE49-F238E27FC236}">
                  <a16:creationId xmlns:a16="http://schemas.microsoft.com/office/drawing/2014/main" id="{535E0021-6A7F-4394-B223-89E68E8F0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8475" y="2270125"/>
              <a:ext cx="2413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t</a:t>
              </a:r>
            </a:p>
          </p:txBody>
        </p:sp>
        <p:sp>
          <p:nvSpPr>
            <p:cNvPr id="110602" name="Rectangle 51">
              <a:extLst>
                <a:ext uri="{FF2B5EF4-FFF2-40B4-BE49-F238E27FC236}">
                  <a16:creationId xmlns:a16="http://schemas.microsoft.com/office/drawing/2014/main" id="{0A9F9C81-163D-421A-8811-DC2AD9AFD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1828800"/>
              <a:ext cx="2038350" cy="3810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medium busy</a:t>
              </a:r>
            </a:p>
          </p:txBody>
        </p:sp>
        <p:sp>
          <p:nvSpPr>
            <p:cNvPr id="110603" name="Line 52">
              <a:extLst>
                <a:ext uri="{FF2B5EF4-FFF2-40B4-BE49-F238E27FC236}">
                  <a16:creationId xmlns:a16="http://schemas.microsoft.com/office/drawing/2014/main" id="{9619F262-86E9-4582-AE49-37288771B2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3950" y="13716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4" name="Line 53">
              <a:extLst>
                <a:ext uri="{FF2B5EF4-FFF2-40B4-BE49-F238E27FC236}">
                  <a16:creationId xmlns:a16="http://schemas.microsoft.com/office/drawing/2014/main" id="{A2B2EF60-8FD7-484C-A733-3104BC7137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33600" y="1371600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5" name="Line 54">
              <a:extLst>
                <a:ext uri="{FF2B5EF4-FFF2-40B4-BE49-F238E27FC236}">
                  <a16:creationId xmlns:a16="http://schemas.microsoft.com/office/drawing/2014/main" id="{F63E42E0-DF95-4152-A888-35F9CD8CE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950" y="13716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6" name="Line 55">
              <a:extLst>
                <a:ext uri="{FF2B5EF4-FFF2-40B4-BE49-F238E27FC236}">
                  <a16:creationId xmlns:a16="http://schemas.microsoft.com/office/drawing/2014/main" id="{AF9042F1-DA10-4292-AC66-6D56471F85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2550" y="1371600"/>
              <a:ext cx="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7" name="Text Box 62">
              <a:extLst>
                <a:ext uri="{FF2B5EF4-FFF2-40B4-BE49-F238E27FC236}">
                  <a16:creationId xmlns:a16="http://schemas.microsoft.com/office/drawing/2014/main" id="{48080134-633A-4AAE-8797-E12C479A4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4988" y="1143000"/>
              <a:ext cx="6461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DIFS</a:t>
              </a:r>
            </a:p>
          </p:txBody>
        </p:sp>
        <p:sp>
          <p:nvSpPr>
            <p:cNvPr id="110608" name="Line 63">
              <a:extLst>
                <a:ext uri="{FF2B5EF4-FFF2-40B4-BE49-F238E27FC236}">
                  <a16:creationId xmlns:a16="http://schemas.microsoft.com/office/drawing/2014/main" id="{0155DC79-D417-4B14-B2A4-549B7AB87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950" y="1447800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9" name="Text Box 64">
              <a:extLst>
                <a:ext uri="{FF2B5EF4-FFF2-40B4-BE49-F238E27FC236}">
                  <a16:creationId xmlns:a16="http://schemas.microsoft.com/office/drawing/2014/main" id="{5DCB59C2-5C0D-4423-ADD6-3E5E7E803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1143000"/>
              <a:ext cx="64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DIFS</a:t>
              </a:r>
            </a:p>
          </p:txBody>
        </p:sp>
        <p:sp>
          <p:nvSpPr>
            <p:cNvPr id="110610" name="Line 65">
              <a:extLst>
                <a:ext uri="{FF2B5EF4-FFF2-40B4-BE49-F238E27FC236}">
                  <a16:creationId xmlns:a16="http://schemas.microsoft.com/office/drawing/2014/main" id="{25AFB03E-333A-4EBC-A0F9-82B1336F42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950" y="1447800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1" name="Rectangle 66">
              <a:extLst>
                <a:ext uri="{FF2B5EF4-FFF2-40B4-BE49-F238E27FC236}">
                  <a16:creationId xmlns:a16="http://schemas.microsoft.com/office/drawing/2014/main" id="{CAC3B360-CE80-47B5-94C4-A730F286E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3150" y="1828800"/>
              <a:ext cx="2057400" cy="3810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next frame</a:t>
              </a:r>
            </a:p>
          </p:txBody>
        </p:sp>
        <p:sp>
          <p:nvSpPr>
            <p:cNvPr id="110612" name="Line 67">
              <a:extLst>
                <a:ext uri="{FF2B5EF4-FFF2-40B4-BE49-F238E27FC236}">
                  <a16:creationId xmlns:a16="http://schemas.microsoft.com/office/drawing/2014/main" id="{FB04140E-8DB7-415D-B715-46F3BDCC3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53150" y="13716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3" name="Rectangle 68">
              <a:extLst>
                <a:ext uri="{FF2B5EF4-FFF2-40B4-BE49-F238E27FC236}">
                  <a16:creationId xmlns:a16="http://schemas.microsoft.com/office/drawing/2014/main" id="{54E9F368-47EA-4CA8-B082-A4BAC012E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550" y="1828800"/>
              <a:ext cx="990600" cy="381000"/>
            </a:xfrm>
            <a:prstGeom prst="rect">
              <a:avLst/>
            </a:prstGeom>
            <a:solidFill>
              <a:srgbClr val="FF6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>
                <a:ea typeface="Gulim" panose="020B0600000101010101" pitchFamily="34" charset="-127"/>
              </a:endParaRPr>
            </a:p>
          </p:txBody>
        </p:sp>
        <p:sp>
          <p:nvSpPr>
            <p:cNvPr id="110614" name="AutoShape 69">
              <a:extLst>
                <a:ext uri="{FF2B5EF4-FFF2-40B4-BE49-F238E27FC236}">
                  <a16:creationId xmlns:a16="http://schemas.microsoft.com/office/drawing/2014/main" id="{7434B639-A4B5-4AD4-9006-E29D7B4C5FE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581650" y="800100"/>
              <a:ext cx="152400" cy="990600"/>
            </a:xfrm>
            <a:prstGeom prst="lef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>
                <a:ea typeface="Gulim" panose="020B0600000101010101" pitchFamily="34" charset="-127"/>
              </a:endParaRPr>
            </a:p>
          </p:txBody>
        </p:sp>
        <p:sp>
          <p:nvSpPr>
            <p:cNvPr id="110615" name="Text Box 72">
              <a:extLst>
                <a:ext uri="{FF2B5EF4-FFF2-40B4-BE49-F238E27FC236}">
                  <a16:creationId xmlns:a16="http://schemas.microsoft.com/office/drawing/2014/main" id="{67764718-48A3-4EEC-B0EC-CE08715B8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838200"/>
              <a:ext cx="2093913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contention window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(randomized back-off</a:t>
              </a:r>
              <a:br>
                <a:rPr lang="de-DE" altLang="ko-KR" sz="1800">
                  <a:ea typeface="Gulim" panose="020B0600000101010101" pitchFamily="34" charset="-127"/>
                </a:rPr>
              </a:br>
              <a:r>
                <a:rPr lang="de-DE" altLang="ko-KR" sz="1800">
                  <a:ea typeface="Gulim" panose="020B0600000101010101" pitchFamily="34" charset="-127"/>
                </a:rPr>
                <a:t>mechanism)</a:t>
              </a:r>
            </a:p>
          </p:txBody>
        </p:sp>
        <p:cxnSp>
          <p:nvCxnSpPr>
            <p:cNvPr id="110616" name="AutoShape 73">
              <a:extLst>
                <a:ext uri="{FF2B5EF4-FFF2-40B4-BE49-F238E27FC236}">
                  <a16:creationId xmlns:a16="http://schemas.microsoft.com/office/drawing/2014/main" id="{D18947CF-8D68-491A-8798-C5393528BF80}"/>
                </a:ext>
              </a:extLst>
            </p:cNvPr>
            <p:cNvCxnSpPr>
              <a:cxnSpLocks noChangeShapeType="1"/>
              <a:stCxn id="110615" idx="1"/>
              <a:endCxn id="110614" idx="1"/>
            </p:cNvCxnSpPr>
            <p:nvPr/>
          </p:nvCxnSpPr>
          <p:spPr bwMode="auto">
            <a:xfrm rot="10800000">
              <a:off x="5656263" y="1217613"/>
              <a:ext cx="820737" cy="33337"/>
            </a:xfrm>
            <a:prstGeom prst="curvedConnector4">
              <a:avLst>
                <a:gd name="adj1" fmla="val 19731"/>
                <a:gd name="adj2" fmla="val 78095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0617" name="Line 78">
              <a:extLst>
                <a:ext uri="{FF2B5EF4-FFF2-40B4-BE49-F238E27FC236}">
                  <a16:creationId xmlns:a16="http://schemas.microsoft.com/office/drawing/2014/main" id="{DF01615A-92DC-4D61-AB4E-2D1EC1A40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8" name="Line 79">
              <a:extLst>
                <a:ext uri="{FF2B5EF4-FFF2-40B4-BE49-F238E27FC236}">
                  <a16:creationId xmlns:a16="http://schemas.microsoft.com/office/drawing/2014/main" id="{2891D51C-A49C-477D-A3A9-382E5B253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9" name="Line 80">
              <a:extLst>
                <a:ext uri="{FF2B5EF4-FFF2-40B4-BE49-F238E27FC236}">
                  <a16:creationId xmlns:a16="http://schemas.microsoft.com/office/drawing/2014/main" id="{EF7B0B13-37C4-4A2E-B91F-FC33B9440D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0" name="Line 81">
              <a:extLst>
                <a:ext uri="{FF2B5EF4-FFF2-40B4-BE49-F238E27FC236}">
                  <a16:creationId xmlns:a16="http://schemas.microsoft.com/office/drawing/2014/main" id="{3F454E54-FE59-4A4A-8526-A4180BBDE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18288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1" name="Line 83">
              <a:extLst>
                <a:ext uri="{FF2B5EF4-FFF2-40B4-BE49-F238E27FC236}">
                  <a16:creationId xmlns:a16="http://schemas.microsoft.com/office/drawing/2014/main" id="{E9F15BE5-4A44-47EB-B4E1-555B5BCB5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8288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2" name="Line 84">
              <a:extLst>
                <a:ext uri="{FF2B5EF4-FFF2-40B4-BE49-F238E27FC236}">
                  <a16:creationId xmlns:a16="http://schemas.microsoft.com/office/drawing/2014/main" id="{FA7571FF-AA8A-4274-8C8B-8B5685123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8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3" name="Line 85">
              <a:extLst>
                <a:ext uri="{FF2B5EF4-FFF2-40B4-BE49-F238E27FC236}">
                  <a16:creationId xmlns:a16="http://schemas.microsoft.com/office/drawing/2014/main" id="{9C3FD971-A54E-4817-BBD4-3E7F132A4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4" name="Line 86">
              <a:extLst>
                <a:ext uri="{FF2B5EF4-FFF2-40B4-BE49-F238E27FC236}">
                  <a16:creationId xmlns:a16="http://schemas.microsoft.com/office/drawing/2014/main" id="{574B2406-C1E4-49F4-8F99-BE46E29ED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2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5" name="Line 87">
              <a:extLst>
                <a:ext uri="{FF2B5EF4-FFF2-40B4-BE49-F238E27FC236}">
                  <a16:creationId xmlns:a16="http://schemas.microsoft.com/office/drawing/2014/main" id="{D79844C8-F358-43DE-A894-901827A5C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6" name="Line 88">
              <a:extLst>
                <a:ext uri="{FF2B5EF4-FFF2-40B4-BE49-F238E27FC236}">
                  <a16:creationId xmlns:a16="http://schemas.microsoft.com/office/drawing/2014/main" id="{27A38780-6543-4EA2-A868-00B6BBBAF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7" name="Line 89">
              <a:extLst>
                <a:ext uri="{FF2B5EF4-FFF2-40B4-BE49-F238E27FC236}">
                  <a16:creationId xmlns:a16="http://schemas.microsoft.com/office/drawing/2014/main" id="{667A9246-3AF8-415E-B1B1-AE016C7D2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8" name="Line 90">
              <a:extLst>
                <a:ext uri="{FF2B5EF4-FFF2-40B4-BE49-F238E27FC236}">
                  <a16:creationId xmlns:a16="http://schemas.microsoft.com/office/drawing/2014/main" id="{6CA18B32-C813-4765-B48B-AE997480B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18288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9" name="Freeform 91">
              <a:extLst>
                <a:ext uri="{FF2B5EF4-FFF2-40B4-BE49-F238E27FC236}">
                  <a16:creationId xmlns:a16="http://schemas.microsoft.com/office/drawing/2014/main" id="{9D700756-0F26-4CB2-8F82-DE9C628E4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6088" y="2430463"/>
              <a:ext cx="457200" cy="304800"/>
            </a:xfrm>
            <a:custGeom>
              <a:avLst/>
              <a:gdLst>
                <a:gd name="T0" fmla="*/ 0 w 288"/>
                <a:gd name="T1" fmla="*/ 0 h 192"/>
                <a:gd name="T2" fmla="*/ 2147483646 w 288"/>
                <a:gd name="T3" fmla="*/ 2147483646 h 192"/>
                <a:gd name="T4" fmla="*/ 2147483646 w 288"/>
                <a:gd name="T5" fmla="*/ 2147483646 h 192"/>
                <a:gd name="T6" fmla="*/ 0 60000 65536"/>
                <a:gd name="T7" fmla="*/ 0 60000 65536"/>
                <a:gd name="T8" fmla="*/ 0 60000 65536"/>
                <a:gd name="T9" fmla="*/ 0 w 288"/>
                <a:gd name="T10" fmla="*/ 0 h 192"/>
                <a:gd name="T11" fmla="*/ 288 w 288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192">
                  <a:moveTo>
                    <a:pt x="0" y="0"/>
                  </a:moveTo>
                  <a:cubicBezTo>
                    <a:pt x="0" y="56"/>
                    <a:pt x="0" y="112"/>
                    <a:pt x="48" y="144"/>
                  </a:cubicBezTo>
                  <a:cubicBezTo>
                    <a:pt x="96" y="176"/>
                    <a:pt x="216" y="184"/>
                    <a:pt x="288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0" name="Text Box 92">
              <a:extLst>
                <a:ext uri="{FF2B5EF4-FFF2-40B4-BE49-F238E27FC236}">
                  <a16:creationId xmlns:a16="http://schemas.microsoft.com/office/drawing/2014/main" id="{B9ED7D24-B46E-460B-A267-89DA3FEA4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3125" y="2552700"/>
              <a:ext cx="9413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slot time</a:t>
              </a:r>
            </a:p>
          </p:txBody>
        </p:sp>
      </p:grpSp>
      <p:sp>
        <p:nvSpPr>
          <p:cNvPr id="39" name="灯片编号占位符 6">
            <a:extLst>
              <a:ext uri="{FF2B5EF4-FFF2-40B4-BE49-F238E27FC236}">
                <a16:creationId xmlns:a16="http://schemas.microsoft.com/office/drawing/2014/main" id="{CB5CCF17-E5A7-49F6-B07D-CA32C2D9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바닥글 개체 틀 3">
            <a:extLst>
              <a:ext uri="{FF2B5EF4-FFF2-40B4-BE49-F238E27FC236}">
                <a16:creationId xmlns:a16="http://schemas.microsoft.com/office/drawing/2014/main" id="{2DBDACB6-F1FD-46F5-9185-B0FBB06A392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4A691DB8-B9D1-4C79-8B44-96C605D14D33}" type="slidenum">
              <a:rPr lang="en-US" altLang="ko-KR" sz="1400" smtClean="0"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BFE05C56-C375-466E-9182-52EC39A6D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763" y="228600"/>
            <a:ext cx="8885237" cy="1143000"/>
          </a:xfrm>
        </p:spPr>
        <p:txBody>
          <a:bodyPr/>
          <a:lstStyle/>
          <a:p>
            <a:r>
              <a:rPr lang="en-US" altLang="ko-KR" sz="3600">
                <a:ea typeface="Gulim" panose="020B0600000101010101" pitchFamily="34" charset="-127"/>
              </a:rPr>
              <a:t>CSMA/CA access method (Continued)</a:t>
            </a:r>
            <a:endParaRPr lang="ko-KR" altLang="en-US" sz="3600">
              <a:ea typeface="Gulim" panose="020B0600000101010101" pitchFamily="34" charset="-127"/>
            </a:endParaRPr>
          </a:p>
        </p:txBody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43A5B4E7-8298-474F-A596-B9CEE653D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1352550"/>
            <a:ext cx="7772400" cy="4648200"/>
          </a:xfrm>
        </p:spPr>
        <p:txBody>
          <a:bodyPr/>
          <a:lstStyle/>
          <a:p>
            <a:pPr lvl="1"/>
            <a:r>
              <a:rPr lang="en-US" altLang="ko-KR" dirty="0">
                <a:ea typeface="Gulim" panose="020B0600000101010101" pitchFamily="34" charset="-127"/>
              </a:rPr>
              <a:t>If another station occupies the medium during the back-off time of the station, the back-off timer stops (fairness)</a:t>
            </a:r>
          </a:p>
          <a:p>
            <a:pPr lvl="1"/>
            <a:r>
              <a:rPr lang="en-US" altLang="ko-KR" dirty="0">
                <a:ea typeface="Gulim" panose="020B0600000101010101" pitchFamily="34" charset="-127"/>
              </a:rPr>
              <a:t>When back-off timer reaches zero, start transmission</a:t>
            </a:r>
          </a:p>
          <a:p>
            <a:pPr lvl="2"/>
            <a:r>
              <a:rPr lang="en-US" altLang="ko-KR" dirty="0">
                <a:ea typeface="Gulim" panose="020B0600000101010101" pitchFamily="34" charset="-127"/>
              </a:rPr>
              <a:t>If more than one nodes decrement to zero at the same time, a collision will occur.</a:t>
            </a:r>
          </a:p>
          <a:p>
            <a:pPr lvl="1"/>
            <a:r>
              <a:rPr lang="en-US" altLang="ko-KR" dirty="0">
                <a:ea typeface="Gulim" panose="020B0600000101010101" pitchFamily="34" charset="-127"/>
              </a:rPr>
              <a:t>If a collision occurs (missing ACK), the corresponding nodes </a:t>
            </a:r>
            <a:r>
              <a:rPr lang="en-US" altLang="ko-KR" dirty="0">
                <a:solidFill>
                  <a:srgbClr val="FF0000"/>
                </a:solidFill>
                <a:ea typeface="Gulim" panose="020B0600000101010101" pitchFamily="34" charset="-127"/>
              </a:rPr>
              <a:t>double the CW size </a:t>
            </a:r>
            <a:r>
              <a:rPr lang="en-US" altLang="ko-KR" dirty="0">
                <a:ea typeface="Gulim" panose="020B0600000101010101" pitchFamily="34" charset="-127"/>
              </a:rPr>
              <a:t>and choose their back-off time from the increase CW</a:t>
            </a:r>
          </a:p>
          <a:p>
            <a:pPr lvl="1"/>
            <a:r>
              <a:rPr lang="en-US" altLang="ko-KR" dirty="0">
                <a:ea typeface="Gulim" panose="020B0600000101010101" pitchFamily="34" charset="-127"/>
              </a:rPr>
              <a:t>After successful transmission, CW size is reset to its min value.</a:t>
            </a:r>
          </a:p>
          <a:p>
            <a:endParaRPr lang="ko-KR" altLang="en-US" dirty="0">
              <a:ea typeface="Gulim" panose="020B0600000101010101" pitchFamily="34" charset="-127"/>
            </a:endParaRPr>
          </a:p>
        </p:txBody>
      </p:sp>
      <p:sp>
        <p:nvSpPr>
          <p:cNvPr id="5" name="灯片编号占位符 6">
            <a:extLst>
              <a:ext uri="{FF2B5EF4-FFF2-40B4-BE49-F238E27FC236}">
                <a16:creationId xmlns:a16="http://schemas.microsoft.com/office/drawing/2014/main" id="{32D20419-5535-41A8-80D3-85E80C16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1">
            <a:extLst>
              <a:ext uri="{FF2B5EF4-FFF2-40B4-BE49-F238E27FC236}">
                <a16:creationId xmlns:a16="http://schemas.microsoft.com/office/drawing/2014/main" id="{91B214E3-365B-4C4F-890C-907CE55A0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ko-KR">
                <a:ea typeface="Gulim" panose="020B0600000101010101" pitchFamily="34" charset="-127"/>
              </a:rPr>
              <a:t>A simplified example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4692" name="灯片编号占位符 4">
            <a:extLst>
              <a:ext uri="{FF2B5EF4-FFF2-40B4-BE49-F238E27FC236}">
                <a16:creationId xmlns:a16="http://schemas.microsoft.com/office/drawing/2014/main" id="{54DBA87D-B55A-4030-8142-35B48BA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BCBD7D70-0DC6-445F-B23A-9958E24F51C3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grpSp>
        <p:nvGrpSpPr>
          <p:cNvPr id="114693" name="组合 5">
            <a:extLst>
              <a:ext uri="{FF2B5EF4-FFF2-40B4-BE49-F238E27FC236}">
                <a16:creationId xmlns:a16="http://schemas.microsoft.com/office/drawing/2014/main" id="{691A9103-C093-4E2D-90E2-C327408E6A09}"/>
              </a:ext>
            </a:extLst>
          </p:cNvPr>
          <p:cNvGrpSpPr>
            <a:grpSpLocks/>
          </p:cNvGrpSpPr>
          <p:nvPr/>
        </p:nvGrpSpPr>
        <p:grpSpPr bwMode="auto">
          <a:xfrm>
            <a:off x="-225425" y="1270000"/>
            <a:ext cx="9410700" cy="5111750"/>
            <a:chOff x="-158936" y="1184275"/>
            <a:chExt cx="9343690" cy="5197475"/>
          </a:xfrm>
        </p:grpSpPr>
        <p:sp>
          <p:nvSpPr>
            <p:cNvPr id="114694" name="Text Box 94">
              <a:extLst>
                <a:ext uri="{FF2B5EF4-FFF2-40B4-BE49-F238E27FC236}">
                  <a16:creationId xmlns:a16="http://schemas.microsoft.com/office/drawing/2014/main" id="{1DE7989B-539C-4CA1-9D11-43A64AF18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8936" y="5942709"/>
              <a:ext cx="4779026" cy="374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chemeClr val="tx2"/>
                  </a:solidFill>
                  <a:ea typeface="宋体" panose="02010600030101010101" pitchFamily="2" charset="-122"/>
                </a:rPr>
                <a:t>                           </a:t>
              </a: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frozen residual backoff time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695" name="Rectangle 4">
              <a:extLst>
                <a:ext uri="{FF2B5EF4-FFF2-40B4-BE49-F238E27FC236}">
                  <a16:creationId xmlns:a16="http://schemas.microsoft.com/office/drawing/2014/main" id="{C4EC0AB7-1AA7-473B-A173-A6E0110E7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287" y="2507856"/>
              <a:ext cx="885822" cy="387389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B47A300B-526F-4F71-9933-6C2E48DCD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4952" y="1507100"/>
              <a:ext cx="0" cy="393684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697" name="Rectangle 8">
              <a:extLst>
                <a:ext uri="{FF2B5EF4-FFF2-40B4-BE49-F238E27FC236}">
                  <a16:creationId xmlns:a16="http://schemas.microsoft.com/office/drawing/2014/main" id="{F283BD93-9FEB-42D3-8B5A-7872B9DC9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663" y="3281021"/>
              <a:ext cx="1424881" cy="387389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E327BFC0-80DA-484D-A7D3-038331FDE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8121" y="1507100"/>
              <a:ext cx="0" cy="393684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24A00BA2-26C3-4BE2-AF70-263278F67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859" y="1507100"/>
              <a:ext cx="0" cy="393684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00" name="Rectangle 11">
              <a:extLst>
                <a:ext uri="{FF2B5EF4-FFF2-40B4-BE49-F238E27FC236}">
                  <a16:creationId xmlns:a16="http://schemas.microsoft.com/office/drawing/2014/main" id="{D679B282-DF38-4407-97ED-EE516763F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760" y="4054185"/>
              <a:ext cx="1276719" cy="387389"/>
            </a:xfrm>
            <a:prstGeom prst="rect">
              <a:avLst/>
            </a:prstGeom>
            <a:solidFill>
              <a:srgbClr val="CCCC00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4701" name="Rectangle 12">
              <a:extLst>
                <a:ext uri="{FF2B5EF4-FFF2-40B4-BE49-F238E27FC236}">
                  <a16:creationId xmlns:a16="http://schemas.microsoft.com/office/drawing/2014/main" id="{5715E23E-AA81-450C-BC54-72749DC49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695" y="4827350"/>
              <a:ext cx="1428034" cy="385775"/>
            </a:xfrm>
            <a:prstGeom prst="rect">
              <a:avLst/>
            </a:prstGeom>
            <a:solidFill>
              <a:srgbClr val="FF9933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EC5F1C06-8CD7-4B62-A5A8-563BE9908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055" y="1507100"/>
              <a:ext cx="0" cy="393684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C3776D95-D6AA-49E8-9245-0B7C865C3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794" y="1507100"/>
              <a:ext cx="0" cy="393684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B9A86565-16B5-432D-B1A5-F6DFC7FB6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1305" y="1507100"/>
              <a:ext cx="0" cy="393684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5FB2353B-C0C8-4644-840E-DFD7EAF66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7891" y="1507100"/>
              <a:ext cx="0" cy="393684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06" name="Rectangle 17">
              <a:extLst>
                <a:ext uri="{FF2B5EF4-FFF2-40B4-BE49-F238E27FC236}">
                  <a16:creationId xmlns:a16="http://schemas.microsoft.com/office/drawing/2014/main" id="{47430552-260D-480C-80CD-89C89D716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996" y="1737920"/>
              <a:ext cx="1101761" cy="385775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592268BD-8F52-419D-B930-65507C778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809" y="1737920"/>
              <a:ext cx="11254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DFD6C817-B39F-4537-9663-B8DE1BE00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3287" y="2501399"/>
              <a:ext cx="898432" cy="393846"/>
            </a:xfrm>
            <a:custGeom>
              <a:avLst/>
              <a:gdLst>
                <a:gd name="T0" fmla="*/ 0 w 543"/>
                <a:gd name="T1" fmla="*/ 2147483647 h 231"/>
                <a:gd name="T2" fmla="*/ 0 w 543"/>
                <a:gd name="T3" fmla="*/ 0 h 231"/>
                <a:gd name="T4" fmla="*/ 2147483647 w 543"/>
                <a:gd name="T5" fmla="*/ 0 h 231"/>
                <a:gd name="T6" fmla="*/ 0 60000 65536"/>
                <a:gd name="T7" fmla="*/ 0 60000 65536"/>
                <a:gd name="T8" fmla="*/ 0 60000 65536"/>
                <a:gd name="T9" fmla="*/ 0 w 543"/>
                <a:gd name="T10" fmla="*/ 0 h 231"/>
                <a:gd name="T11" fmla="*/ 543 w 543"/>
                <a:gd name="T12" fmla="*/ 231 h 2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3" h="231">
                  <a:moveTo>
                    <a:pt x="0" y="231"/>
                  </a:moveTo>
                  <a:lnTo>
                    <a:pt x="0" y="0"/>
                  </a:lnTo>
                  <a:lnTo>
                    <a:pt x="54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09" name="Text Box 20">
              <a:extLst>
                <a:ext uri="{FF2B5EF4-FFF2-40B4-BE49-F238E27FC236}">
                  <a16:creationId xmlns:a16="http://schemas.microsoft.com/office/drawing/2014/main" id="{377E04A7-F239-4A0D-81E8-76C52072FB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573" y="1712094"/>
              <a:ext cx="759726" cy="343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frame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10" name="Text Box 21">
              <a:extLst>
                <a:ext uri="{FF2B5EF4-FFF2-40B4-BE49-F238E27FC236}">
                  <a16:creationId xmlns:a16="http://schemas.microsoft.com/office/drawing/2014/main" id="{A4C9C44D-E110-4B2F-8F31-FF7341117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6673" y="4785383"/>
              <a:ext cx="759726" cy="343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frame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11" name="Text Box 22">
              <a:extLst>
                <a:ext uri="{FF2B5EF4-FFF2-40B4-BE49-F238E27FC236}">
                  <a16:creationId xmlns:a16="http://schemas.microsoft.com/office/drawing/2014/main" id="{C5D31838-EB61-4E4D-BB4C-ED0F010EC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1385" y="4029974"/>
              <a:ext cx="759726" cy="345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frame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12" name="Text Box 23">
              <a:extLst>
                <a:ext uri="{FF2B5EF4-FFF2-40B4-BE49-F238E27FC236}">
                  <a16:creationId xmlns:a16="http://schemas.microsoft.com/office/drawing/2014/main" id="{089A628C-6C12-4F56-A922-E3FC791AB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5844" y="2504627"/>
              <a:ext cx="759726" cy="343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frame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13" name="Text Box 24">
              <a:extLst>
                <a:ext uri="{FF2B5EF4-FFF2-40B4-BE49-F238E27FC236}">
                  <a16:creationId xmlns:a16="http://schemas.microsoft.com/office/drawing/2014/main" id="{6B938D35-7D55-4F36-BD76-B46EA33EB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6098" y="3253580"/>
              <a:ext cx="759726" cy="345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frame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83C68AA6-E0D5-4600-9B06-F1A37E3D0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1394" y="1184275"/>
              <a:ext cx="772336" cy="3760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chemeClr val="tx2"/>
                  </a:solidFill>
                  <a:latin typeface="+mn-ea"/>
                </a:rPr>
                <a:t>DIFS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745BE628-9002-40D3-8F5A-E77AF88D0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148" y="1184275"/>
              <a:ext cx="772336" cy="3760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tx2"/>
                  </a:solidFill>
                  <a:latin typeface="+mn-ea"/>
                </a:rPr>
                <a:t>DIFS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8D226A8F-E55C-4541-8BA3-E6A151BDF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2302" y="1184275"/>
              <a:ext cx="772336" cy="3760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chemeClr val="tx2"/>
                  </a:solidFill>
                  <a:latin typeface="+mn-ea"/>
                </a:rPr>
                <a:t>DIFS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8CF1DD30-A357-47B5-B355-261221A63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7975" y="1184275"/>
              <a:ext cx="772336" cy="3760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chemeClr val="tx2"/>
                  </a:solidFill>
                  <a:latin typeface="+mn-ea"/>
                </a:rPr>
                <a:t>DIFS</a:t>
              </a:r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25E62C15-1E47-4A37-9D76-AC91C279AC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3629" y="2586948"/>
              <a:ext cx="0" cy="308297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6A29AC92-CAC3-4E9F-87C0-98BF69899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35998" y="3360112"/>
              <a:ext cx="0" cy="308298"/>
            </a:xfrm>
            <a:prstGeom prst="line">
              <a:avLst/>
            </a:prstGeom>
            <a:noFill/>
            <a:ln w="38100">
              <a:solidFill>
                <a:srgbClr val="FF6699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B44ADF05-ED43-450D-B246-395CFDC47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9026" y="4131663"/>
              <a:ext cx="0" cy="309912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0C59CF39-0D02-4A88-80DD-7D0B74933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7590" y="4904828"/>
              <a:ext cx="0" cy="308297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6F942A2E-8383-418A-80AE-A5620F8411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4952" y="1968739"/>
              <a:ext cx="135079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23" name="Text Box 34">
              <a:extLst>
                <a:ext uri="{FF2B5EF4-FFF2-40B4-BE49-F238E27FC236}">
                  <a16:creationId xmlns:a16="http://schemas.microsoft.com/office/drawing/2014/main" id="{B5BC9EF8-4F78-49B4-BDD5-636F4E3B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0087" y="1555523"/>
              <a:ext cx="561126" cy="376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ea typeface="宋体" panose="02010600030101010101" pitchFamily="2" charset="-122"/>
                </a:rPr>
                <a:t>CW</a:t>
              </a:r>
              <a:endParaRPr lang="zh-CN" altLang="en-US" sz="18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EAA80BD2-DF94-4B4F-A1E0-46CE0DC61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5752" y="1813783"/>
              <a:ext cx="0" cy="30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F52C5BA4-6B4D-43F2-A2EA-ADCA24B8D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283" y="3513455"/>
              <a:ext cx="135079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DD72A6AA-1CA0-455B-9AA5-0ACB0D103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7083" y="3358499"/>
              <a:ext cx="0" cy="30991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B898F51F-8082-41EF-BA64-BCDEEEAEE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6315" y="5058169"/>
              <a:ext cx="1352376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28959655-19FE-4201-A2FD-57F320046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38691" y="4901600"/>
              <a:ext cx="0" cy="30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EC2980A9-928C-4DE9-870A-ECDEE893D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2217" y="4286619"/>
              <a:ext cx="13508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6A7EA146-A4A8-47ED-AF3B-0944399AC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3018" y="4130049"/>
              <a:ext cx="0" cy="311525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31" name="Text Box 42">
              <a:extLst>
                <a:ext uri="{FF2B5EF4-FFF2-40B4-BE49-F238E27FC236}">
                  <a16:creationId xmlns:a16="http://schemas.microsoft.com/office/drawing/2014/main" id="{EC8D0E7B-A14B-4ECC-B6AF-1BDCFA6AD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2451" y="3126065"/>
              <a:ext cx="559550" cy="376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ea typeface="宋体" panose="02010600030101010101" pitchFamily="2" charset="-122"/>
                </a:rPr>
                <a:t>CW</a:t>
              </a:r>
              <a:endParaRPr lang="zh-CN" altLang="en-US" sz="18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32" name="Text Box 43">
              <a:extLst>
                <a:ext uri="{FF2B5EF4-FFF2-40B4-BE49-F238E27FC236}">
                  <a16:creationId xmlns:a16="http://schemas.microsoft.com/office/drawing/2014/main" id="{989E628D-BF56-42D7-90C1-70DCB46FA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5776" y="3873403"/>
              <a:ext cx="559549" cy="376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ea typeface="宋体" panose="02010600030101010101" pitchFamily="2" charset="-122"/>
                </a:rPr>
                <a:t>CW</a:t>
              </a:r>
              <a:endParaRPr lang="zh-CN" altLang="en-US" sz="18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33" name="Text Box 44">
              <a:extLst>
                <a:ext uri="{FF2B5EF4-FFF2-40B4-BE49-F238E27FC236}">
                  <a16:creationId xmlns:a16="http://schemas.microsoft.com/office/drawing/2014/main" id="{E4046CBA-38E9-49F3-8190-1760371DA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9873" y="4669166"/>
              <a:ext cx="518569" cy="343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CW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C0F27F26-BBCA-4447-869F-1454426BE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4421" y="3847577"/>
              <a:ext cx="977242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35" name="Rectangle 46">
              <a:extLst>
                <a:ext uri="{FF2B5EF4-FFF2-40B4-BE49-F238E27FC236}">
                  <a16:creationId xmlns:a16="http://schemas.microsoft.com/office/drawing/2014/main" id="{6DBF3A94-9E05-419B-BF9A-2AB9B3503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283" y="4209141"/>
              <a:ext cx="299477" cy="2324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4736" name="Rectangle 47">
              <a:extLst>
                <a:ext uri="{FF2B5EF4-FFF2-40B4-BE49-F238E27FC236}">
                  <a16:creationId xmlns:a16="http://schemas.microsoft.com/office/drawing/2014/main" id="{1315893F-B8D7-4DE8-89B4-B64100D18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663" y="4209141"/>
              <a:ext cx="299477" cy="232434"/>
            </a:xfrm>
            <a:prstGeom prst="rect">
              <a:avLst/>
            </a:prstGeom>
            <a:solidFill>
              <a:srgbClr val="00CC00"/>
            </a:solidFill>
            <a:ln w="12700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4FEB2E88-427D-4219-B5FB-B03B0592B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9026" y="4594917"/>
              <a:ext cx="1500539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38" name="Rectangle 49">
              <a:extLst>
                <a:ext uri="{FF2B5EF4-FFF2-40B4-BE49-F238E27FC236}">
                  <a16:creationId xmlns:a16="http://schemas.microsoft.com/office/drawing/2014/main" id="{A9552F7F-7B23-4076-AB37-D7FEC247C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7891" y="2664426"/>
              <a:ext cx="225397" cy="23081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161D628C-45A2-4CA4-9F27-890EA6957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1695" y="2895245"/>
              <a:ext cx="0" cy="193049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40" name="Rectangle 51">
              <a:extLst>
                <a:ext uri="{FF2B5EF4-FFF2-40B4-BE49-F238E27FC236}">
                  <a16:creationId xmlns:a16="http://schemas.microsoft.com/office/drawing/2014/main" id="{5F15CAD5-C61C-48C5-87F1-038381802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695" y="2664426"/>
              <a:ext cx="225397" cy="230819"/>
            </a:xfrm>
            <a:prstGeom prst="rect">
              <a:avLst/>
            </a:prstGeom>
            <a:solidFill>
              <a:srgbClr val="00CC00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4741" name="Rectangle 52">
              <a:extLst>
                <a:ext uri="{FF2B5EF4-FFF2-40B4-BE49-F238E27FC236}">
                  <a16:creationId xmlns:a16="http://schemas.microsoft.com/office/drawing/2014/main" id="{33464B06-3BC8-4A21-9BD5-D6D1C1631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794" y="2664426"/>
              <a:ext cx="297901" cy="23081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2BA81007-88F7-4B9B-A616-3ECFFBBC3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5760" y="2895245"/>
              <a:ext cx="0" cy="208706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E7972218-DFCD-446E-BD90-861E84B929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1663" y="2431992"/>
              <a:ext cx="0" cy="84902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44" name="Rectangle 55">
              <a:extLst>
                <a:ext uri="{FF2B5EF4-FFF2-40B4-BE49-F238E27FC236}">
                  <a16:creationId xmlns:a16="http://schemas.microsoft.com/office/drawing/2014/main" id="{B37F2455-89D3-4956-BAA7-EECAF6390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859" y="2664426"/>
              <a:ext cx="297902" cy="23081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4745" name="Rectangle 56">
              <a:extLst>
                <a:ext uri="{FF2B5EF4-FFF2-40B4-BE49-F238E27FC236}">
                  <a16:creationId xmlns:a16="http://schemas.microsoft.com/office/drawing/2014/main" id="{6E9EB7FD-1709-4EF6-8BCF-24F01F06C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760" y="2664426"/>
              <a:ext cx="526449" cy="230819"/>
            </a:xfrm>
            <a:prstGeom prst="rect">
              <a:avLst/>
            </a:prstGeom>
            <a:solidFill>
              <a:srgbClr val="00CC00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4746" name="Rectangle 57">
              <a:extLst>
                <a:ext uri="{FF2B5EF4-FFF2-40B4-BE49-F238E27FC236}">
                  <a16:creationId xmlns:a16="http://schemas.microsoft.com/office/drawing/2014/main" id="{4EF27752-E6E4-4399-A839-F39C53841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663" y="2664426"/>
              <a:ext cx="824351" cy="230819"/>
            </a:xfrm>
            <a:prstGeom prst="rect">
              <a:avLst/>
            </a:prstGeom>
            <a:solidFill>
              <a:srgbClr val="00CC00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4747" name="Rectangle 58">
              <a:extLst>
                <a:ext uri="{FF2B5EF4-FFF2-40B4-BE49-F238E27FC236}">
                  <a16:creationId xmlns:a16="http://schemas.microsoft.com/office/drawing/2014/main" id="{0ED12146-0C37-43C3-8CF0-75FCA4EE4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760" y="4982306"/>
              <a:ext cx="301053" cy="229205"/>
            </a:xfrm>
            <a:prstGeom prst="rect">
              <a:avLst/>
            </a:prstGeom>
            <a:solidFill>
              <a:srgbClr val="00CC00"/>
            </a:solidFill>
            <a:ln w="12700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4748" name="Rectangle 59">
              <a:extLst>
                <a:ext uri="{FF2B5EF4-FFF2-40B4-BE49-F238E27FC236}">
                  <a16:creationId xmlns:a16="http://schemas.microsoft.com/office/drawing/2014/main" id="{8702B651-754E-40C1-9BA3-497C4E333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794" y="4982306"/>
              <a:ext cx="297901" cy="229205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0DF07834-7CC5-472B-AF84-E25EF9620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3629" y="3050201"/>
              <a:ext cx="2253960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CB0267E3-8E7E-4338-9FA8-D324FC4D9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590" y="5368081"/>
              <a:ext cx="134922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51" name="Text Box 62">
              <a:extLst>
                <a:ext uri="{FF2B5EF4-FFF2-40B4-BE49-F238E27FC236}">
                  <a16:creationId xmlns:a16="http://schemas.microsoft.com/office/drawing/2014/main" id="{9C5A6A0D-4E2C-4FF7-AA9B-F6F7887F7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0851" y="2840365"/>
              <a:ext cx="937837" cy="3438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backoff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52" name="Text Box 63">
              <a:extLst>
                <a:ext uri="{FF2B5EF4-FFF2-40B4-BE49-F238E27FC236}">
                  <a16:creationId xmlns:a16="http://schemas.microsoft.com/office/drawing/2014/main" id="{51E4306C-A6F6-46EF-B22A-24AD0D424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5736" y="3640970"/>
              <a:ext cx="937837" cy="3454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backoff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53" name="Text Box 64">
              <a:extLst>
                <a:ext uri="{FF2B5EF4-FFF2-40B4-BE49-F238E27FC236}">
                  <a16:creationId xmlns:a16="http://schemas.microsoft.com/office/drawing/2014/main" id="{26759030-6570-4DAD-A472-B02257DC5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9974" y="4415749"/>
              <a:ext cx="937837" cy="3454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backoff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54" name="Text Box 65">
              <a:extLst>
                <a:ext uri="{FF2B5EF4-FFF2-40B4-BE49-F238E27FC236}">
                  <a16:creationId xmlns:a16="http://schemas.microsoft.com/office/drawing/2014/main" id="{56652447-0A72-407C-A685-F862C5346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539" y="5196984"/>
              <a:ext cx="937836" cy="3454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backoff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Line 69">
              <a:extLst>
                <a:ext uri="{FF2B5EF4-FFF2-40B4-BE49-F238E27FC236}">
                  <a16:creationId xmlns:a16="http://schemas.microsoft.com/office/drawing/2014/main" id="{6147EA46-9E37-4F0A-8442-2B0B5BCC7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3629" y="2895245"/>
              <a:ext cx="0" cy="30991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69" name="Line 70">
              <a:extLst>
                <a:ext uri="{FF2B5EF4-FFF2-40B4-BE49-F238E27FC236}">
                  <a16:creationId xmlns:a16="http://schemas.microsoft.com/office/drawing/2014/main" id="{300C982D-83ED-475F-A604-BBB3E0625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590" y="2895245"/>
              <a:ext cx="0" cy="30991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0" name="Line 71">
              <a:extLst>
                <a:ext uri="{FF2B5EF4-FFF2-40B4-BE49-F238E27FC236}">
                  <a16:creationId xmlns:a16="http://schemas.microsoft.com/office/drawing/2014/main" id="{4B91DEB1-EB3A-4E74-BA47-BAAC222A8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590" y="5211512"/>
              <a:ext cx="0" cy="311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1" name="Line 72">
              <a:extLst>
                <a:ext uri="{FF2B5EF4-FFF2-40B4-BE49-F238E27FC236}">
                  <a16:creationId xmlns:a16="http://schemas.microsoft.com/office/drawing/2014/main" id="{318E2B3E-2524-40CB-ADBE-8E92FC9D6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4421" y="3668410"/>
              <a:ext cx="0" cy="30991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2" name="Line 73">
              <a:extLst>
                <a:ext uri="{FF2B5EF4-FFF2-40B4-BE49-F238E27FC236}">
                  <a16:creationId xmlns:a16="http://schemas.microsoft.com/office/drawing/2014/main" id="{8524A964-530D-426D-A190-5B9D02E43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9026" y="4439961"/>
              <a:ext cx="0" cy="30991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3" name="Line 74">
              <a:extLst>
                <a:ext uri="{FF2B5EF4-FFF2-40B4-BE49-F238E27FC236}">
                  <a16:creationId xmlns:a16="http://schemas.microsoft.com/office/drawing/2014/main" id="{2B90F93C-DE4A-476D-92E4-8673142D2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6813" y="5209897"/>
              <a:ext cx="0" cy="31152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4" name="Line 75">
              <a:extLst>
                <a:ext uri="{FF2B5EF4-FFF2-40B4-BE49-F238E27FC236}">
                  <a16:creationId xmlns:a16="http://schemas.microsoft.com/office/drawing/2014/main" id="{048FCD1A-9978-4D31-8378-F9FDD809C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1663" y="3668410"/>
              <a:ext cx="0" cy="308297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5" name="Line 76">
              <a:extLst>
                <a:ext uri="{FF2B5EF4-FFF2-40B4-BE49-F238E27FC236}">
                  <a16:creationId xmlns:a16="http://schemas.microsoft.com/office/drawing/2014/main" id="{89C3870F-4F4E-4D43-A5C8-9D92BAFB4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9564" y="4441575"/>
              <a:ext cx="0" cy="30991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6" name="Line 77">
              <a:extLst>
                <a:ext uri="{FF2B5EF4-FFF2-40B4-BE49-F238E27FC236}">
                  <a16:creationId xmlns:a16="http://schemas.microsoft.com/office/drawing/2014/main" id="{D3AD233D-A293-43B2-A8BE-A521E7063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6813" y="5095295"/>
              <a:ext cx="127356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7" name="Line 78">
              <a:extLst>
                <a:ext uri="{FF2B5EF4-FFF2-40B4-BE49-F238E27FC236}">
                  <a16:creationId xmlns:a16="http://schemas.microsoft.com/office/drawing/2014/main" id="{FB741D63-004F-4488-9E88-AA42BCD81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345" y="4325358"/>
              <a:ext cx="1484777" cy="4843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8" name="Line 79">
              <a:extLst>
                <a:ext uri="{FF2B5EF4-FFF2-40B4-BE49-F238E27FC236}">
                  <a16:creationId xmlns:a16="http://schemas.microsoft.com/office/drawing/2014/main" id="{1E4816CA-F39E-4E54-A66C-101D2D6F7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590" y="2777415"/>
              <a:ext cx="90000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79" name="Line 80">
              <a:extLst>
                <a:ext uri="{FF2B5EF4-FFF2-40B4-BE49-F238E27FC236}">
                  <a16:creationId xmlns:a16="http://schemas.microsoft.com/office/drawing/2014/main" id="{8C57A89B-F119-48D3-97B4-06E95478B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2210" y="2777415"/>
              <a:ext cx="104817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80" name="Line 81">
              <a:extLst>
                <a:ext uri="{FF2B5EF4-FFF2-40B4-BE49-F238E27FC236}">
                  <a16:creationId xmlns:a16="http://schemas.microsoft.com/office/drawing/2014/main" id="{9E067C3D-1697-4A76-8386-F127257E8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7091" y="2777415"/>
              <a:ext cx="1500539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68" name="Text Box 82">
              <a:extLst>
                <a:ext uri="{FF2B5EF4-FFF2-40B4-BE49-F238E27FC236}">
                  <a16:creationId xmlns:a16="http://schemas.microsoft.com/office/drawing/2014/main" id="{A2330022-3E18-4613-9864-416DDAB90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84" y="1725007"/>
              <a:ext cx="349916" cy="376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14769" name="Text Box 83">
              <a:extLst>
                <a:ext uri="{FF2B5EF4-FFF2-40B4-BE49-F238E27FC236}">
                  <a16:creationId xmlns:a16="http://schemas.microsoft.com/office/drawing/2014/main" id="{97620ABD-3072-4CE2-964F-8B01A4079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84" y="2507856"/>
              <a:ext cx="327849" cy="376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14770" name="Text Box 84">
              <a:extLst>
                <a:ext uri="{FF2B5EF4-FFF2-40B4-BE49-F238E27FC236}">
                  <a16:creationId xmlns:a16="http://schemas.microsoft.com/office/drawing/2014/main" id="{5387DD70-B17A-4F55-9487-BF607E409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84" y="3292319"/>
              <a:ext cx="321544" cy="376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14771" name="Text Box 85">
              <a:extLst>
                <a:ext uri="{FF2B5EF4-FFF2-40B4-BE49-F238E27FC236}">
                  <a16:creationId xmlns:a16="http://schemas.microsoft.com/office/drawing/2014/main" id="{9A2C7AE3-00A8-4FF9-9285-6CA56802E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84" y="4075169"/>
              <a:ext cx="348340" cy="376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14772" name="Text Box 86">
              <a:extLst>
                <a:ext uri="{FF2B5EF4-FFF2-40B4-BE49-F238E27FC236}">
                  <a16:creationId xmlns:a16="http://schemas.microsoft.com/office/drawing/2014/main" id="{5963C662-890B-460B-8C00-76E6BD6E9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84" y="4858018"/>
              <a:ext cx="326273" cy="376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4773" name="Text Box 87">
              <a:extLst>
                <a:ext uri="{FF2B5EF4-FFF2-40B4-BE49-F238E27FC236}">
                  <a16:creationId xmlns:a16="http://schemas.microsoft.com/office/drawing/2014/main" id="{000B9750-7C55-4A8D-B5E3-C22A31985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7553" y="1737920"/>
              <a:ext cx="291597" cy="376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chemeClr val="tx2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114774" name="Text Box 88">
              <a:extLst>
                <a:ext uri="{FF2B5EF4-FFF2-40B4-BE49-F238E27FC236}">
                  <a16:creationId xmlns:a16="http://schemas.microsoft.com/office/drawing/2014/main" id="{A89502A5-2624-425A-B057-61AC5C982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4348" y="2507856"/>
              <a:ext cx="291596" cy="376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chemeClr val="tx2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114775" name="Text Box 89">
              <a:extLst>
                <a:ext uri="{FF2B5EF4-FFF2-40B4-BE49-F238E27FC236}">
                  <a16:creationId xmlns:a16="http://schemas.microsoft.com/office/drawing/2014/main" id="{EC942932-F26A-4C62-85DB-5B6329AF5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39568" y="3279406"/>
              <a:ext cx="291596" cy="376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chemeClr val="tx2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114776" name="Text Box 90">
              <a:extLst>
                <a:ext uri="{FF2B5EF4-FFF2-40B4-BE49-F238E27FC236}">
                  <a16:creationId xmlns:a16="http://schemas.microsoft.com/office/drawing/2014/main" id="{F9D02CDC-DE8B-4284-971D-17C270936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6362" y="4050957"/>
              <a:ext cx="291597" cy="376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chemeClr val="tx2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114777" name="Text Box 91">
              <a:extLst>
                <a:ext uri="{FF2B5EF4-FFF2-40B4-BE49-F238E27FC236}">
                  <a16:creationId xmlns:a16="http://schemas.microsoft.com/office/drawing/2014/main" id="{AD698900-8BA6-4B32-B983-0EF096250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3158" y="4822508"/>
              <a:ext cx="291596" cy="376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chemeClr val="tx2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91" name="Line 92">
              <a:extLst>
                <a:ext uri="{FF2B5EF4-FFF2-40B4-BE49-F238E27FC236}">
                  <a16:creationId xmlns:a16="http://schemas.microsoft.com/office/drawing/2014/main" id="{48B3E6C9-5386-4E69-ACE9-F48B7EFF0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5213" y="1507100"/>
              <a:ext cx="0" cy="393684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79" name="Rectangle 93">
              <a:extLst>
                <a:ext uri="{FF2B5EF4-FFF2-40B4-BE49-F238E27FC236}">
                  <a16:creationId xmlns:a16="http://schemas.microsoft.com/office/drawing/2014/main" id="{9B137570-FB29-4621-99AA-B455E064A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623" y="6046012"/>
              <a:ext cx="822774" cy="230820"/>
            </a:xfrm>
            <a:prstGeom prst="rect">
              <a:avLst/>
            </a:prstGeom>
            <a:solidFill>
              <a:srgbClr val="00CC00"/>
            </a:solidFill>
            <a:ln w="19050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93" name="Line 95">
              <a:extLst>
                <a:ext uri="{FF2B5EF4-FFF2-40B4-BE49-F238E27FC236}">
                  <a16:creationId xmlns:a16="http://schemas.microsoft.com/office/drawing/2014/main" id="{A393D7B6-E596-4C31-8A29-480B6E80E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854" y="6155773"/>
              <a:ext cx="602107" cy="16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4781" name="Rectangle 96">
              <a:extLst>
                <a:ext uri="{FF2B5EF4-FFF2-40B4-BE49-F238E27FC236}">
                  <a16:creationId xmlns:a16="http://schemas.microsoft.com/office/drawing/2014/main" id="{61BCD81D-C65D-4CB1-9387-237639B38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303" y="5815193"/>
              <a:ext cx="4380249" cy="5665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4782" name="Text Box 97">
              <a:extLst>
                <a:ext uri="{FF2B5EF4-FFF2-40B4-BE49-F238E27FC236}">
                  <a16:creationId xmlns:a16="http://schemas.microsoft.com/office/drawing/2014/main" id="{E55C4D0E-8461-4158-8AE0-B5EF243B1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711" y="2265737"/>
              <a:ext cx="819622" cy="343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frozen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83" name="Text Box 98">
              <a:extLst>
                <a:ext uri="{FF2B5EF4-FFF2-40B4-BE49-F238E27FC236}">
                  <a16:creationId xmlns:a16="http://schemas.microsoft.com/office/drawing/2014/main" id="{07F4484B-F7DD-453A-8678-562B21DE6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4586" y="3820138"/>
              <a:ext cx="819622" cy="343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frozen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84" name="Text Box 99">
              <a:extLst>
                <a:ext uri="{FF2B5EF4-FFF2-40B4-BE49-F238E27FC236}">
                  <a16:creationId xmlns:a16="http://schemas.microsoft.com/office/drawing/2014/main" id="{F9129F2E-AA06-4939-8C73-5D0F86FD9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612" y="4606215"/>
              <a:ext cx="819622" cy="345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frozen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85" name="Text Box 100">
              <a:extLst>
                <a:ext uri="{FF2B5EF4-FFF2-40B4-BE49-F238E27FC236}">
                  <a16:creationId xmlns:a16="http://schemas.microsoft.com/office/drawing/2014/main" id="{685F9D26-5F41-4833-9C5F-6AB8BCDE5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6194" y="2278650"/>
              <a:ext cx="821198" cy="343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frozen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86" name="Text Box 101">
              <a:extLst>
                <a:ext uri="{FF2B5EF4-FFF2-40B4-BE49-F238E27FC236}">
                  <a16:creationId xmlns:a16="http://schemas.microsoft.com/office/drawing/2014/main" id="{08329590-0317-4A20-851E-83B659AB4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103" y="2278650"/>
              <a:ext cx="819622" cy="343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chemeClr val="tx2"/>
                  </a:solidFill>
                  <a:ea typeface="宋体" panose="02010600030101010101" pitchFamily="2" charset="-122"/>
                </a:rPr>
                <a:t>frozen</a:t>
              </a:r>
              <a:endParaRPr lang="zh-CN" altLang="en-US" sz="16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" name="Line 5">
              <a:extLst>
                <a:ext uri="{FF2B5EF4-FFF2-40B4-BE49-F238E27FC236}">
                  <a16:creationId xmlns:a16="http://schemas.microsoft.com/office/drawing/2014/main" id="{0F056783-AB46-4709-9B19-DCFC79009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414" y="2123694"/>
              <a:ext cx="862809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01" name="Line 6">
              <a:extLst>
                <a:ext uri="{FF2B5EF4-FFF2-40B4-BE49-F238E27FC236}">
                  <a16:creationId xmlns:a16="http://schemas.microsoft.com/office/drawing/2014/main" id="{32B16903-20B1-4CFF-AA5B-3A255ACFB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414" y="5208283"/>
              <a:ext cx="862809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02" name="Line 66">
              <a:extLst>
                <a:ext uri="{FF2B5EF4-FFF2-40B4-BE49-F238E27FC236}">
                  <a16:creationId xmlns:a16="http://schemas.microsoft.com/office/drawing/2014/main" id="{1D5A08C0-258E-41E6-9360-DE5721B66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414" y="3666796"/>
              <a:ext cx="862809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03" name="Line 67">
              <a:extLst>
                <a:ext uri="{FF2B5EF4-FFF2-40B4-BE49-F238E27FC236}">
                  <a16:creationId xmlns:a16="http://schemas.microsoft.com/office/drawing/2014/main" id="{DD018282-C19F-4839-B107-6CCA4C49D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414" y="4436733"/>
              <a:ext cx="862809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04" name="Line 68">
              <a:extLst>
                <a:ext uri="{FF2B5EF4-FFF2-40B4-BE49-F238E27FC236}">
                  <a16:creationId xmlns:a16="http://schemas.microsoft.com/office/drawing/2014/main" id="{C9A70059-6D76-41F7-9161-9C49CC1CE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414" y="2895245"/>
              <a:ext cx="862809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6">
            <a:extLst>
              <a:ext uri="{FF2B5EF4-FFF2-40B4-BE49-F238E27FC236}">
                <a16:creationId xmlns:a16="http://schemas.microsoft.com/office/drawing/2014/main" id="{AB91F7FB-18C3-49E5-9A27-1A741BA62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188913"/>
            <a:ext cx="8116888" cy="1462088"/>
          </a:xfrm>
        </p:spPr>
        <p:txBody>
          <a:bodyPr/>
          <a:lstStyle/>
          <a:p>
            <a:pPr algn="ctr" eaLnBrk="1" hangingPunct="1"/>
            <a:r>
              <a:rPr lang="en-US" altLang="zh-CN">
                <a:ea typeface="宋体" panose="02010600030101010101" pitchFamily="2" charset="-122"/>
              </a:rPr>
              <a:t>LAN hidden terminal problem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9327" name="Text Box 79">
            <a:extLst>
              <a:ext uri="{FF2B5EF4-FFF2-40B4-BE49-F238E27FC236}">
                <a16:creationId xmlns:a16="http://schemas.microsoft.com/office/drawing/2014/main" id="{E26B87F5-408D-4DCC-A551-98BD9B681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5219700"/>
            <a:ext cx="8335962" cy="1200150"/>
          </a:xfrm>
          <a:prstGeom prst="rect">
            <a:avLst/>
          </a:prstGeom>
          <a:solidFill>
            <a:srgbClr val="FFFF66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333399"/>
                </a:solidFill>
                <a:ea typeface="宋体" panose="02010600030101010101" pitchFamily="2" charset="-122"/>
              </a:rPr>
              <a:t>A and C cannot hear each other and think B is idle, then, they both send data to B. A collision appears at the destination, B.</a:t>
            </a:r>
            <a:endParaRPr kumimoji="1" lang="zh-CN" altLang="en-US" sz="2400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grpSp>
        <p:nvGrpSpPr>
          <p:cNvPr id="118788" name="组合 58">
            <a:extLst>
              <a:ext uri="{FF2B5EF4-FFF2-40B4-BE49-F238E27FC236}">
                <a16:creationId xmlns:a16="http://schemas.microsoft.com/office/drawing/2014/main" id="{DF40A7C7-BAEF-45FD-8AC7-0EC124F3617A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1144588"/>
            <a:ext cx="7042150" cy="3706812"/>
            <a:chOff x="625800" y="1880611"/>
            <a:chExt cx="7041825" cy="3707389"/>
          </a:xfrm>
        </p:grpSpPr>
        <p:sp>
          <p:nvSpPr>
            <p:cNvPr id="118789" name="Oval 86">
              <a:extLst>
                <a:ext uri="{FF2B5EF4-FFF2-40B4-BE49-F238E27FC236}">
                  <a16:creationId xmlns:a16="http://schemas.microsoft.com/office/drawing/2014/main" id="{F69B378E-A56E-45CE-9073-5224F7282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743" y="2572869"/>
              <a:ext cx="3190728" cy="3015131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8790" name="Text Box 87">
              <a:extLst>
                <a:ext uri="{FF2B5EF4-FFF2-40B4-BE49-F238E27FC236}">
                  <a16:creationId xmlns:a16="http://schemas.microsoft.com/office/drawing/2014/main" id="{C31E95EB-A70C-468C-B81A-F04338947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800" y="1963174"/>
              <a:ext cx="3184378" cy="462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333399"/>
                  </a:solidFill>
                  <a:ea typeface="宋体" panose="02010600030101010101" pitchFamily="2" charset="-122"/>
                </a:rPr>
                <a:t>A transmission range</a:t>
              </a:r>
              <a:endParaRPr kumimoji="1" lang="zh-CN" altLang="en-US" sz="24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8791" name="Oval 88">
              <a:extLst>
                <a:ext uri="{FF2B5EF4-FFF2-40B4-BE49-F238E27FC236}">
                  <a16:creationId xmlns:a16="http://schemas.microsoft.com/office/drawing/2014/main" id="{C6B4CDF2-2F7A-4D5F-95E4-C88803038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467" y="2572869"/>
              <a:ext cx="3190728" cy="3015131"/>
            </a:xfrm>
            <a:prstGeom prst="ellipse">
              <a:avLst/>
            </a:prstGeom>
            <a:solidFill>
              <a:srgbClr val="CCECFF">
                <a:alpha val="23921"/>
              </a:srgbClr>
            </a:solidFill>
            <a:ln w="9525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8792" name="Text Box 89">
              <a:extLst>
                <a:ext uri="{FF2B5EF4-FFF2-40B4-BE49-F238E27FC236}">
                  <a16:creationId xmlns:a16="http://schemas.microsoft.com/office/drawing/2014/main" id="{43926647-C9A1-42E1-8BB9-AAC3C5663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6721" y="1880611"/>
              <a:ext cx="3146280" cy="462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333399"/>
                  </a:solidFill>
                  <a:ea typeface="宋体" panose="02010600030101010101" pitchFamily="2" charset="-122"/>
                </a:rPr>
                <a:t>C transmission range</a:t>
              </a:r>
              <a:endParaRPr kumimoji="1" lang="zh-CN" altLang="en-US" sz="24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8793" name="Text Box 90">
              <a:extLst>
                <a:ext uri="{FF2B5EF4-FFF2-40B4-BE49-F238E27FC236}">
                  <a16:creationId xmlns:a16="http://schemas.microsoft.com/office/drawing/2014/main" id="{16C78110-7ACC-43C6-8EC3-077824D46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3927" y="4338444"/>
              <a:ext cx="409556" cy="462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333399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18794" name="Text Box 91">
              <a:extLst>
                <a:ext uri="{FF2B5EF4-FFF2-40B4-BE49-F238E27FC236}">
                  <a16:creationId xmlns:a16="http://schemas.microsoft.com/office/drawing/2014/main" id="{0A570D1B-0203-4172-B1DB-9C7E64C8C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4666" y="4340031"/>
              <a:ext cx="377808" cy="462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333399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18795" name="Text Box 92">
              <a:extLst>
                <a:ext uri="{FF2B5EF4-FFF2-40B4-BE49-F238E27FC236}">
                  <a16:creationId xmlns:a16="http://schemas.microsoft.com/office/drawing/2014/main" id="{FC5C358E-B029-405E-8F25-987D49EF0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3503" y="4340031"/>
              <a:ext cx="374633" cy="462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333399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18796" name="Text Box 93">
              <a:extLst>
                <a:ext uri="{FF2B5EF4-FFF2-40B4-BE49-F238E27FC236}">
                  <a16:creationId xmlns:a16="http://schemas.microsoft.com/office/drawing/2014/main" id="{9A667911-3AB7-4F73-BD5A-4ABB39972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9963" y="4340031"/>
              <a:ext cx="404793" cy="457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333399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grpSp>
          <p:nvGrpSpPr>
            <p:cNvPr id="118797" name="Group 94">
              <a:extLst>
                <a:ext uri="{FF2B5EF4-FFF2-40B4-BE49-F238E27FC236}">
                  <a16:creationId xmlns:a16="http://schemas.microsoft.com/office/drawing/2014/main" id="{CD4FFECB-CC16-4682-9FD6-0329FC4984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7813" y="3798888"/>
              <a:ext cx="809625" cy="547687"/>
              <a:chOff x="762" y="2391"/>
              <a:chExt cx="423" cy="312"/>
            </a:xfrm>
          </p:grpSpPr>
          <p:grpSp>
            <p:nvGrpSpPr>
              <p:cNvPr id="118833" name="Group 95">
                <a:extLst>
                  <a:ext uri="{FF2B5EF4-FFF2-40B4-BE49-F238E27FC236}">
                    <a16:creationId xmlns:a16="http://schemas.microsoft.com/office/drawing/2014/main" id="{3F16397D-42AA-4488-90B5-EEB032876F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24633" name="Line 96">
                  <a:extLst>
                    <a:ext uri="{FF2B5EF4-FFF2-40B4-BE49-F238E27FC236}">
                      <a16:creationId xmlns:a16="http://schemas.microsoft.com/office/drawing/2014/main" id="{A20CC4A7-0096-4310-965F-CC0F11FFD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03" y="1566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>
                    <a:latin typeface="+mn-ea"/>
                  </a:endParaRPr>
                </a:p>
              </p:txBody>
            </p:sp>
            <p:pic>
              <p:nvPicPr>
                <p:cNvPr id="118842" name="Picture 97" descr="laptop copy">
                  <a:extLst>
                    <a:ext uri="{FF2B5EF4-FFF2-40B4-BE49-F238E27FC236}">
                      <a16:creationId xmlns:a16="http://schemas.microsoft.com/office/drawing/2014/main" id="{41CDFB42-BBCE-441F-B353-D31A611A39E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18834" name="Group 98">
                <a:extLst>
                  <a:ext uri="{FF2B5EF4-FFF2-40B4-BE49-F238E27FC236}">
                    <a16:creationId xmlns:a16="http://schemas.microsoft.com/office/drawing/2014/main" id="{4F6D5FE8-866C-47AD-88EA-548ED0E1EE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118835" name="AutoShape 99">
                  <a:extLst>
                    <a:ext uri="{FF2B5EF4-FFF2-40B4-BE49-F238E27FC236}">
                      <a16:creationId xmlns:a16="http://schemas.microsoft.com/office/drawing/2014/main" id="{9EC312D1-E5DB-4A6A-9F55-FBD37B47CD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36" name="AutoShape 100">
                  <a:extLst>
                    <a:ext uri="{FF2B5EF4-FFF2-40B4-BE49-F238E27FC236}">
                      <a16:creationId xmlns:a16="http://schemas.microsoft.com/office/drawing/2014/main" id="{E53839E8-8DE2-4A72-ABA4-0351E2E600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37" name="AutoShape 101">
                  <a:extLst>
                    <a:ext uri="{FF2B5EF4-FFF2-40B4-BE49-F238E27FC236}">
                      <a16:creationId xmlns:a16="http://schemas.microsoft.com/office/drawing/2014/main" id="{BCD92DC7-841D-47BB-BBA2-A297A472F4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38" name="AutoShape 102">
                  <a:extLst>
                    <a:ext uri="{FF2B5EF4-FFF2-40B4-BE49-F238E27FC236}">
                      <a16:creationId xmlns:a16="http://schemas.microsoft.com/office/drawing/2014/main" id="{71FB6534-59DA-4AB1-90CB-72EDFC26B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39" name="AutoShape 103">
                  <a:extLst>
                    <a:ext uri="{FF2B5EF4-FFF2-40B4-BE49-F238E27FC236}">
                      <a16:creationId xmlns:a16="http://schemas.microsoft.com/office/drawing/2014/main" id="{C1E31007-B8F8-4B32-AC23-65A09EA759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6" cy="31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40" name="AutoShape 104">
                  <a:extLst>
                    <a:ext uri="{FF2B5EF4-FFF2-40B4-BE49-F238E27FC236}">
                      <a16:creationId xmlns:a16="http://schemas.microsoft.com/office/drawing/2014/main" id="{8C3C89D9-E3BE-4979-B5D3-C4FFD0A643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6" cy="31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8798" name="Group 105">
              <a:extLst>
                <a:ext uri="{FF2B5EF4-FFF2-40B4-BE49-F238E27FC236}">
                  <a16:creationId xmlns:a16="http://schemas.microsoft.com/office/drawing/2014/main" id="{6FFE7DFB-51CD-4C61-B3EA-76C3E31F82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7813" y="3798888"/>
              <a:ext cx="809625" cy="547687"/>
              <a:chOff x="762" y="2391"/>
              <a:chExt cx="423" cy="312"/>
            </a:xfrm>
          </p:grpSpPr>
          <p:grpSp>
            <p:nvGrpSpPr>
              <p:cNvPr id="118823" name="Group 106">
                <a:extLst>
                  <a:ext uri="{FF2B5EF4-FFF2-40B4-BE49-F238E27FC236}">
                    <a16:creationId xmlns:a16="http://schemas.microsoft.com/office/drawing/2014/main" id="{BBDACAEF-3E01-4727-A246-807E9E723C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24623" name="Line 107">
                  <a:extLst>
                    <a:ext uri="{FF2B5EF4-FFF2-40B4-BE49-F238E27FC236}">
                      <a16:creationId xmlns:a16="http://schemas.microsoft.com/office/drawing/2014/main" id="{9CAEB4AD-763E-4E87-A7BC-39B9C3D2AD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03" y="1566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>
                    <a:latin typeface="+mn-ea"/>
                  </a:endParaRPr>
                </a:p>
              </p:txBody>
            </p:sp>
            <p:pic>
              <p:nvPicPr>
                <p:cNvPr id="118832" name="Picture 108" descr="laptop copy">
                  <a:extLst>
                    <a:ext uri="{FF2B5EF4-FFF2-40B4-BE49-F238E27FC236}">
                      <a16:creationId xmlns:a16="http://schemas.microsoft.com/office/drawing/2014/main" id="{D7744E65-C812-4B8E-9000-93F809EECC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18824" name="Group 109">
                <a:extLst>
                  <a:ext uri="{FF2B5EF4-FFF2-40B4-BE49-F238E27FC236}">
                    <a16:creationId xmlns:a16="http://schemas.microsoft.com/office/drawing/2014/main" id="{87F5EE34-1E16-47A9-9D5F-57BD366F28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118825" name="AutoShape 110">
                  <a:extLst>
                    <a:ext uri="{FF2B5EF4-FFF2-40B4-BE49-F238E27FC236}">
                      <a16:creationId xmlns:a16="http://schemas.microsoft.com/office/drawing/2014/main" id="{F94D28CE-D89A-4E1B-A933-B3DA5DC132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26" name="AutoShape 111">
                  <a:extLst>
                    <a:ext uri="{FF2B5EF4-FFF2-40B4-BE49-F238E27FC236}">
                      <a16:creationId xmlns:a16="http://schemas.microsoft.com/office/drawing/2014/main" id="{AEA580AE-EA22-4899-89CD-9ABE9036AF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27" name="AutoShape 112">
                  <a:extLst>
                    <a:ext uri="{FF2B5EF4-FFF2-40B4-BE49-F238E27FC236}">
                      <a16:creationId xmlns:a16="http://schemas.microsoft.com/office/drawing/2014/main" id="{5D2B3FE7-58B7-4921-8AE2-4A258F1CC1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28" name="AutoShape 113">
                  <a:extLst>
                    <a:ext uri="{FF2B5EF4-FFF2-40B4-BE49-F238E27FC236}">
                      <a16:creationId xmlns:a16="http://schemas.microsoft.com/office/drawing/2014/main" id="{A91E6262-9223-41AF-97C3-5847EEDE47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29" name="AutoShape 114">
                  <a:extLst>
                    <a:ext uri="{FF2B5EF4-FFF2-40B4-BE49-F238E27FC236}">
                      <a16:creationId xmlns:a16="http://schemas.microsoft.com/office/drawing/2014/main" id="{0626D2AB-E66C-4D7D-868C-E0FA3A2AC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6" cy="31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30" name="AutoShape 115">
                  <a:extLst>
                    <a:ext uri="{FF2B5EF4-FFF2-40B4-BE49-F238E27FC236}">
                      <a16:creationId xmlns:a16="http://schemas.microsoft.com/office/drawing/2014/main" id="{26E50317-71E8-4979-AD1D-4B193D60C4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6" cy="31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8799" name="Group 116">
              <a:extLst>
                <a:ext uri="{FF2B5EF4-FFF2-40B4-BE49-F238E27FC236}">
                  <a16:creationId xmlns:a16="http://schemas.microsoft.com/office/drawing/2014/main" id="{2E2E8DAB-D461-4110-87CC-1056C2149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8000" y="3798888"/>
              <a:ext cx="809625" cy="547687"/>
              <a:chOff x="762" y="2391"/>
              <a:chExt cx="423" cy="312"/>
            </a:xfrm>
          </p:grpSpPr>
          <p:grpSp>
            <p:nvGrpSpPr>
              <p:cNvPr id="118813" name="Group 117">
                <a:extLst>
                  <a:ext uri="{FF2B5EF4-FFF2-40B4-BE49-F238E27FC236}">
                    <a16:creationId xmlns:a16="http://schemas.microsoft.com/office/drawing/2014/main" id="{07E1D05A-C3E6-43C8-A44A-285120244B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24613" name="Line 118">
                  <a:extLst>
                    <a:ext uri="{FF2B5EF4-FFF2-40B4-BE49-F238E27FC236}">
                      <a16:creationId xmlns:a16="http://schemas.microsoft.com/office/drawing/2014/main" id="{24DEE280-B82C-4451-8834-86C471DB5D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03" y="1566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>
                    <a:latin typeface="+mn-ea"/>
                  </a:endParaRPr>
                </a:p>
              </p:txBody>
            </p:sp>
            <p:pic>
              <p:nvPicPr>
                <p:cNvPr id="118822" name="Picture 119" descr="laptop copy">
                  <a:extLst>
                    <a:ext uri="{FF2B5EF4-FFF2-40B4-BE49-F238E27FC236}">
                      <a16:creationId xmlns:a16="http://schemas.microsoft.com/office/drawing/2014/main" id="{BB88075C-E614-45C9-8764-C5357866C97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18814" name="Group 120">
                <a:extLst>
                  <a:ext uri="{FF2B5EF4-FFF2-40B4-BE49-F238E27FC236}">
                    <a16:creationId xmlns:a16="http://schemas.microsoft.com/office/drawing/2014/main" id="{CF9ADF6A-6E4C-407B-8436-9AAD6D347F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118815" name="AutoShape 121">
                  <a:extLst>
                    <a:ext uri="{FF2B5EF4-FFF2-40B4-BE49-F238E27FC236}">
                      <a16:creationId xmlns:a16="http://schemas.microsoft.com/office/drawing/2014/main" id="{058EEC1B-2B07-4D96-8B6E-693B53C8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16" name="AutoShape 122">
                  <a:extLst>
                    <a:ext uri="{FF2B5EF4-FFF2-40B4-BE49-F238E27FC236}">
                      <a16:creationId xmlns:a16="http://schemas.microsoft.com/office/drawing/2014/main" id="{C35CE79F-FBB3-4A69-924A-349C8A3745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17" name="AutoShape 123">
                  <a:extLst>
                    <a:ext uri="{FF2B5EF4-FFF2-40B4-BE49-F238E27FC236}">
                      <a16:creationId xmlns:a16="http://schemas.microsoft.com/office/drawing/2014/main" id="{D22986EF-1810-4559-BE94-1BA61DEBE1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18" name="AutoShape 124">
                  <a:extLst>
                    <a:ext uri="{FF2B5EF4-FFF2-40B4-BE49-F238E27FC236}">
                      <a16:creationId xmlns:a16="http://schemas.microsoft.com/office/drawing/2014/main" id="{E2FFCDB5-B573-437A-A613-ED0A1AFAA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19" name="AutoShape 125">
                  <a:extLst>
                    <a:ext uri="{FF2B5EF4-FFF2-40B4-BE49-F238E27FC236}">
                      <a16:creationId xmlns:a16="http://schemas.microsoft.com/office/drawing/2014/main" id="{900E2AC3-F776-49A9-A69A-F1E8568CA1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6" cy="31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20" name="AutoShape 126">
                  <a:extLst>
                    <a:ext uri="{FF2B5EF4-FFF2-40B4-BE49-F238E27FC236}">
                      <a16:creationId xmlns:a16="http://schemas.microsoft.com/office/drawing/2014/main" id="{89FBDD37-535C-4EA6-97A2-56AC8C4D5D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6" cy="31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8800" name="Group 127">
              <a:extLst>
                <a:ext uri="{FF2B5EF4-FFF2-40B4-BE49-F238E27FC236}">
                  <a16:creationId xmlns:a16="http://schemas.microsoft.com/office/drawing/2014/main" id="{88359A35-B3F8-46D7-B506-12F734985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72113" y="3798888"/>
              <a:ext cx="809625" cy="547687"/>
              <a:chOff x="762" y="2391"/>
              <a:chExt cx="423" cy="312"/>
            </a:xfrm>
          </p:grpSpPr>
          <p:grpSp>
            <p:nvGrpSpPr>
              <p:cNvPr id="118803" name="Group 128">
                <a:extLst>
                  <a:ext uri="{FF2B5EF4-FFF2-40B4-BE49-F238E27FC236}">
                    <a16:creationId xmlns:a16="http://schemas.microsoft.com/office/drawing/2014/main" id="{1C1ECC63-46AA-4770-A84A-9861BE39AE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24603" name="Line 129">
                  <a:extLst>
                    <a:ext uri="{FF2B5EF4-FFF2-40B4-BE49-F238E27FC236}">
                      <a16:creationId xmlns:a16="http://schemas.microsoft.com/office/drawing/2014/main" id="{1047A6DC-46C7-4087-BDC3-F087DB3A54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03" y="1566"/>
                  <a:ext cx="0" cy="7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>
                    <a:latin typeface="+mn-ea"/>
                  </a:endParaRPr>
                </a:p>
              </p:txBody>
            </p:sp>
            <p:pic>
              <p:nvPicPr>
                <p:cNvPr id="118812" name="Picture 130" descr="laptop copy">
                  <a:extLst>
                    <a:ext uri="{FF2B5EF4-FFF2-40B4-BE49-F238E27FC236}">
                      <a16:creationId xmlns:a16="http://schemas.microsoft.com/office/drawing/2014/main" id="{731D77F3-3019-4972-AA87-FC0785F3F31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18804" name="Group 131">
                <a:extLst>
                  <a:ext uri="{FF2B5EF4-FFF2-40B4-BE49-F238E27FC236}">
                    <a16:creationId xmlns:a16="http://schemas.microsoft.com/office/drawing/2014/main" id="{B3970DAB-7592-4BDA-9A89-97387B1CDC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118805" name="AutoShape 132">
                  <a:extLst>
                    <a:ext uri="{FF2B5EF4-FFF2-40B4-BE49-F238E27FC236}">
                      <a16:creationId xmlns:a16="http://schemas.microsoft.com/office/drawing/2014/main" id="{840ABFC6-51AF-45B3-A5DC-6B35E9793A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06" name="AutoShape 133">
                  <a:extLst>
                    <a:ext uri="{FF2B5EF4-FFF2-40B4-BE49-F238E27FC236}">
                      <a16:creationId xmlns:a16="http://schemas.microsoft.com/office/drawing/2014/main" id="{1C376678-A84C-471F-812D-62AAD09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07" name="AutoShape 134">
                  <a:extLst>
                    <a:ext uri="{FF2B5EF4-FFF2-40B4-BE49-F238E27FC236}">
                      <a16:creationId xmlns:a16="http://schemas.microsoft.com/office/drawing/2014/main" id="{344B00A6-80C2-4A6E-99BD-92C99F87B7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08" name="AutoShape 135">
                  <a:extLst>
                    <a:ext uri="{FF2B5EF4-FFF2-40B4-BE49-F238E27FC236}">
                      <a16:creationId xmlns:a16="http://schemas.microsoft.com/office/drawing/2014/main" id="{B6055FBF-4F5B-4DD1-97CF-CFBB39E91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09" name="AutoShape 136">
                  <a:extLst>
                    <a:ext uri="{FF2B5EF4-FFF2-40B4-BE49-F238E27FC236}">
                      <a16:creationId xmlns:a16="http://schemas.microsoft.com/office/drawing/2014/main" id="{AAF78CE4-9F8E-4F44-B205-297DE329E6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6" cy="31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810" name="AutoShape 137">
                  <a:extLst>
                    <a:ext uri="{FF2B5EF4-FFF2-40B4-BE49-F238E27FC236}">
                      <a16:creationId xmlns:a16="http://schemas.microsoft.com/office/drawing/2014/main" id="{242FE86E-461E-4CBE-8230-A1FF4AB600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6" cy="31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4593" name="Line 138">
              <a:extLst>
                <a:ext uri="{FF2B5EF4-FFF2-40B4-BE49-F238E27FC236}">
                  <a16:creationId xmlns:a16="http://schemas.microsoft.com/office/drawing/2014/main" id="{28900813-1972-43EF-88A4-E86B1935F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4477" y="2375988"/>
              <a:ext cx="460354" cy="43663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24594" name="Line 139">
              <a:extLst>
                <a:ext uri="{FF2B5EF4-FFF2-40B4-BE49-F238E27FC236}">
                  <a16:creationId xmlns:a16="http://schemas.microsoft.com/office/drawing/2014/main" id="{C096CBFE-C702-4854-97EC-C4D4AE729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1523" y="2361698"/>
              <a:ext cx="392094" cy="39058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</p:grpSp>
      <p:sp>
        <p:nvSpPr>
          <p:cNvPr id="59" name="灯片编号占位符 6">
            <a:extLst>
              <a:ext uri="{FF2B5EF4-FFF2-40B4-BE49-F238E27FC236}">
                <a16:creationId xmlns:a16="http://schemas.microsoft.com/office/drawing/2014/main" id="{D3478174-7E6B-4008-B242-AAA129085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2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0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327" grpId="0" animBg="1"/>
      <p:bldP spid="309327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3B282DF-8CC7-4EE0-AA6B-F7FB801F4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313" y="0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19811" name="Rectangle 4">
            <a:extLst>
              <a:ext uri="{FF2B5EF4-FFF2-40B4-BE49-F238E27FC236}">
                <a16:creationId xmlns:a16="http://schemas.microsoft.com/office/drawing/2014/main" id="{DFF7CF4C-8D21-4B7E-BFC7-D7F8E3E78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313" y="0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19812" name="Rectangle 6">
            <a:extLst>
              <a:ext uri="{FF2B5EF4-FFF2-40B4-BE49-F238E27FC236}">
                <a16:creationId xmlns:a16="http://schemas.microsoft.com/office/drawing/2014/main" id="{8B9743C6-53A5-4C84-898A-389DE679E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450" y="0"/>
            <a:ext cx="8116888" cy="1462088"/>
          </a:xfrm>
        </p:spPr>
        <p:txBody>
          <a:bodyPr/>
          <a:lstStyle/>
          <a:p>
            <a:pPr algn="ctr" eaLnBrk="1" hangingPunct="1"/>
            <a:r>
              <a:rPr lang="en-US" altLang="zh-CN">
                <a:ea typeface="宋体" panose="02010600030101010101" pitchFamily="2" charset="-122"/>
              </a:rPr>
              <a:t>LAN exposed terminal problem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9813" name="Rectangle 8">
            <a:extLst>
              <a:ext uri="{FF2B5EF4-FFF2-40B4-BE49-F238E27FC236}">
                <a16:creationId xmlns:a16="http://schemas.microsoft.com/office/drawing/2014/main" id="{4BB290DF-D14C-4930-8C28-6F962075B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313" y="0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310353" name="Text Box 81">
            <a:extLst>
              <a:ext uri="{FF2B5EF4-FFF2-40B4-BE49-F238E27FC236}">
                <a16:creationId xmlns:a16="http://schemas.microsoft.com/office/drawing/2014/main" id="{7587C417-C34C-4526-B673-D3B471530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516563"/>
            <a:ext cx="8478837" cy="1200150"/>
          </a:xfrm>
          <a:prstGeom prst="rect">
            <a:avLst/>
          </a:prstGeom>
          <a:solidFill>
            <a:srgbClr val="FFFF99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400" dirty="0">
                <a:solidFill>
                  <a:srgbClr val="333399"/>
                </a:solidFill>
                <a:latin typeface="+mn-ea"/>
              </a:rPr>
              <a:t>B is sending data to A. At the same time, C hopes to communication with D. But C senses a signal in the medium and dare not send the data.</a:t>
            </a: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黑体" pitchFamily="49" charset="-122"/>
              </a:rPr>
              <a:t> </a:t>
            </a:r>
          </a:p>
        </p:txBody>
      </p:sp>
      <p:grpSp>
        <p:nvGrpSpPr>
          <p:cNvPr id="119815" name="组合 63">
            <a:extLst>
              <a:ext uri="{FF2B5EF4-FFF2-40B4-BE49-F238E27FC236}">
                <a16:creationId xmlns:a16="http://schemas.microsoft.com/office/drawing/2014/main" id="{F40F2625-50C9-4BC8-8C83-4E4244EB47D2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320800"/>
            <a:ext cx="9036050" cy="3697288"/>
            <a:chOff x="108093" y="1676771"/>
            <a:chExt cx="9035907" cy="3696917"/>
          </a:xfrm>
        </p:grpSpPr>
        <p:sp>
          <p:nvSpPr>
            <p:cNvPr id="119816" name="Oval 85">
              <a:extLst>
                <a:ext uri="{FF2B5EF4-FFF2-40B4-BE49-F238E27FC236}">
                  <a16:creationId xmlns:a16="http://schemas.microsoft.com/office/drawing/2014/main" id="{D721A9F4-A301-49C3-BD61-3B82F2536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649" y="2149799"/>
              <a:ext cx="3336872" cy="3223889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9817" name="Oval 86">
              <a:extLst>
                <a:ext uri="{FF2B5EF4-FFF2-40B4-BE49-F238E27FC236}">
                  <a16:creationId xmlns:a16="http://schemas.microsoft.com/office/drawing/2014/main" id="{4F3E9629-8AFB-454F-AA75-471390C58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496" y="2149799"/>
              <a:ext cx="3340047" cy="3223889"/>
            </a:xfrm>
            <a:prstGeom prst="ellipse">
              <a:avLst/>
            </a:prstGeom>
            <a:solidFill>
              <a:srgbClr val="CCECFF">
                <a:alpha val="30196"/>
              </a:srgbClr>
            </a:solidFill>
            <a:ln w="9525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5610" name="Line 87">
              <a:extLst>
                <a:ext uri="{FF2B5EF4-FFF2-40B4-BE49-F238E27FC236}">
                  <a16:creationId xmlns:a16="http://schemas.microsoft.com/office/drawing/2014/main" id="{9B730626-7250-419B-B7EC-3749901ADB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78543" y="3789522"/>
              <a:ext cx="981059" cy="2381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prstDash val="sysDot"/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119819" name="Text Box 88">
              <a:extLst>
                <a:ext uri="{FF2B5EF4-FFF2-40B4-BE49-F238E27FC236}">
                  <a16:creationId xmlns:a16="http://schemas.microsoft.com/office/drawing/2014/main" id="{B6BE3181-10F2-41C3-8764-BB0039858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3269" y="3980003"/>
              <a:ext cx="409569" cy="461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333399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19820" name="Text Box 89">
              <a:extLst>
                <a:ext uri="{FF2B5EF4-FFF2-40B4-BE49-F238E27FC236}">
                  <a16:creationId xmlns:a16="http://schemas.microsoft.com/office/drawing/2014/main" id="{EA4F75C9-8AFB-48F0-8128-E5F2A9622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8177" y="3980003"/>
              <a:ext cx="404806" cy="457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333399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19821" name="Text Box 90">
              <a:extLst>
                <a:ext uri="{FF2B5EF4-FFF2-40B4-BE49-F238E27FC236}">
                  <a16:creationId xmlns:a16="http://schemas.microsoft.com/office/drawing/2014/main" id="{B597422B-6729-4A8C-92B4-BDCF545EB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6436" y="3980003"/>
              <a:ext cx="374644" cy="461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333399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19822" name="Text Box 91">
              <a:extLst>
                <a:ext uri="{FF2B5EF4-FFF2-40B4-BE49-F238E27FC236}">
                  <a16:creationId xmlns:a16="http://schemas.microsoft.com/office/drawing/2014/main" id="{6B89CA94-E9B4-4FFB-891A-532866B0EB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8973" y="3980003"/>
              <a:ext cx="377819" cy="461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333399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19823" name="Text Box 92">
              <a:extLst>
                <a:ext uri="{FF2B5EF4-FFF2-40B4-BE49-F238E27FC236}">
                  <a16:creationId xmlns:a16="http://schemas.microsoft.com/office/drawing/2014/main" id="{FF527730-B133-42DE-9328-8012CB51D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4428" y="3035535"/>
              <a:ext cx="793737" cy="825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4800">
                  <a:solidFill>
                    <a:srgbClr val="333399"/>
                  </a:solidFill>
                  <a:ea typeface="宋体" panose="02010600030101010101" pitchFamily="2" charset="-122"/>
                </a:rPr>
                <a:t>？</a:t>
              </a:r>
            </a:p>
          </p:txBody>
        </p:sp>
        <p:grpSp>
          <p:nvGrpSpPr>
            <p:cNvPr id="119824" name="Group 93">
              <a:extLst>
                <a:ext uri="{FF2B5EF4-FFF2-40B4-BE49-F238E27FC236}">
                  <a16:creationId xmlns:a16="http://schemas.microsoft.com/office/drawing/2014/main" id="{B39829A5-16CE-463A-8D76-368F00392B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8100" y="3417888"/>
              <a:ext cx="847725" cy="585787"/>
              <a:chOff x="762" y="2391"/>
              <a:chExt cx="423" cy="312"/>
            </a:xfrm>
          </p:grpSpPr>
          <p:grpSp>
            <p:nvGrpSpPr>
              <p:cNvPr id="119862" name="Group 94">
                <a:extLst>
                  <a:ext uri="{FF2B5EF4-FFF2-40B4-BE49-F238E27FC236}">
                    <a16:creationId xmlns:a16="http://schemas.microsoft.com/office/drawing/2014/main" id="{B776474B-FA3D-478A-8BD8-7821EDAF2D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25662" name="Line 95">
                  <a:extLst>
                    <a:ext uri="{FF2B5EF4-FFF2-40B4-BE49-F238E27FC236}">
                      <a16:creationId xmlns:a16="http://schemas.microsoft.com/office/drawing/2014/main" id="{8CFDB82B-E4E3-4315-81AB-F846A27490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8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ea"/>
                  </a:endParaRPr>
                </a:p>
              </p:txBody>
            </p:sp>
            <p:pic>
              <p:nvPicPr>
                <p:cNvPr id="119871" name="Picture 96" descr="laptop copy">
                  <a:extLst>
                    <a:ext uri="{FF2B5EF4-FFF2-40B4-BE49-F238E27FC236}">
                      <a16:creationId xmlns:a16="http://schemas.microsoft.com/office/drawing/2014/main" id="{237D598D-A158-4ED2-82DF-A1DDAD55B5D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19863" name="Group 97">
                <a:extLst>
                  <a:ext uri="{FF2B5EF4-FFF2-40B4-BE49-F238E27FC236}">
                    <a16:creationId xmlns:a16="http://schemas.microsoft.com/office/drawing/2014/main" id="{48BFB3C5-C621-4886-B1E0-AC69CB515F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119864" name="AutoShape 98">
                  <a:extLst>
                    <a:ext uri="{FF2B5EF4-FFF2-40B4-BE49-F238E27FC236}">
                      <a16:creationId xmlns:a16="http://schemas.microsoft.com/office/drawing/2014/main" id="{5005BEB2-A4A5-4973-BE17-21FB7660B1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65" name="AutoShape 99">
                  <a:extLst>
                    <a:ext uri="{FF2B5EF4-FFF2-40B4-BE49-F238E27FC236}">
                      <a16:creationId xmlns:a16="http://schemas.microsoft.com/office/drawing/2014/main" id="{D2E8EE3E-1C0A-4297-95F3-221F585455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66" name="AutoShape 100">
                  <a:extLst>
                    <a:ext uri="{FF2B5EF4-FFF2-40B4-BE49-F238E27FC236}">
                      <a16:creationId xmlns:a16="http://schemas.microsoft.com/office/drawing/2014/main" id="{E0AF59E4-4C0E-44BF-9C2B-FDEFBE6B9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21" y="2266"/>
                  <a:ext cx="70" cy="59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67" name="AutoShape 101">
                  <a:extLst>
                    <a:ext uri="{FF2B5EF4-FFF2-40B4-BE49-F238E27FC236}">
                      <a16:creationId xmlns:a16="http://schemas.microsoft.com/office/drawing/2014/main" id="{68FCDD5A-6324-4334-B519-64600EF010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59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68" name="AutoShape 102">
                  <a:extLst>
                    <a:ext uri="{FF2B5EF4-FFF2-40B4-BE49-F238E27FC236}">
                      <a16:creationId xmlns:a16="http://schemas.microsoft.com/office/drawing/2014/main" id="{16ACCC9E-95EB-4B90-B71D-F33E7701D0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69" name="AutoShape 103">
                  <a:extLst>
                    <a:ext uri="{FF2B5EF4-FFF2-40B4-BE49-F238E27FC236}">
                      <a16:creationId xmlns:a16="http://schemas.microsoft.com/office/drawing/2014/main" id="{6DE37177-C41F-4546-80DC-89C66E32C1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6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9825" name="Group 104">
              <a:extLst>
                <a:ext uri="{FF2B5EF4-FFF2-40B4-BE49-F238E27FC236}">
                  <a16:creationId xmlns:a16="http://schemas.microsoft.com/office/drawing/2014/main" id="{D9F559FC-9C71-4055-8038-CFAE0C013A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9938" y="3421063"/>
              <a:ext cx="846137" cy="585787"/>
              <a:chOff x="762" y="2391"/>
              <a:chExt cx="423" cy="312"/>
            </a:xfrm>
          </p:grpSpPr>
          <p:grpSp>
            <p:nvGrpSpPr>
              <p:cNvPr id="119852" name="Group 105">
                <a:extLst>
                  <a:ext uri="{FF2B5EF4-FFF2-40B4-BE49-F238E27FC236}">
                    <a16:creationId xmlns:a16="http://schemas.microsoft.com/office/drawing/2014/main" id="{80C2B79F-1934-4A24-8112-FEB03FD00E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25652" name="Line 106">
                  <a:extLst>
                    <a:ext uri="{FF2B5EF4-FFF2-40B4-BE49-F238E27FC236}">
                      <a16:creationId xmlns:a16="http://schemas.microsoft.com/office/drawing/2014/main" id="{80CFAA90-A44B-45C4-A81D-84215650B4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8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ea"/>
                  </a:endParaRPr>
                </a:p>
              </p:txBody>
            </p:sp>
            <p:pic>
              <p:nvPicPr>
                <p:cNvPr id="119861" name="Picture 107" descr="laptop copy">
                  <a:extLst>
                    <a:ext uri="{FF2B5EF4-FFF2-40B4-BE49-F238E27FC236}">
                      <a16:creationId xmlns:a16="http://schemas.microsoft.com/office/drawing/2014/main" id="{41CD93AA-F6BD-4B13-9943-C64585B2B63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19853" name="Group 108">
                <a:extLst>
                  <a:ext uri="{FF2B5EF4-FFF2-40B4-BE49-F238E27FC236}">
                    <a16:creationId xmlns:a16="http://schemas.microsoft.com/office/drawing/2014/main" id="{A41A8F48-4D05-4EFA-9A30-48C141EE6F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119854" name="AutoShape 109">
                  <a:extLst>
                    <a:ext uri="{FF2B5EF4-FFF2-40B4-BE49-F238E27FC236}">
                      <a16:creationId xmlns:a16="http://schemas.microsoft.com/office/drawing/2014/main" id="{F40EE26E-5D2F-4CDD-8B88-702788239C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55" name="AutoShape 110">
                  <a:extLst>
                    <a:ext uri="{FF2B5EF4-FFF2-40B4-BE49-F238E27FC236}">
                      <a16:creationId xmlns:a16="http://schemas.microsoft.com/office/drawing/2014/main" id="{7A041AA1-7526-46D1-B94B-2BA3736820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56" name="AutoShape 111">
                  <a:extLst>
                    <a:ext uri="{FF2B5EF4-FFF2-40B4-BE49-F238E27FC236}">
                      <a16:creationId xmlns:a16="http://schemas.microsoft.com/office/drawing/2014/main" id="{B55C5E26-19D0-438D-8110-11EB533C1C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1" cy="59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57" name="AutoShape 112">
                  <a:extLst>
                    <a:ext uri="{FF2B5EF4-FFF2-40B4-BE49-F238E27FC236}">
                      <a16:creationId xmlns:a16="http://schemas.microsoft.com/office/drawing/2014/main" id="{CF27A5E5-4A59-4100-B5A2-35EA0F0E1C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59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58" name="AutoShape 113">
                  <a:extLst>
                    <a:ext uri="{FF2B5EF4-FFF2-40B4-BE49-F238E27FC236}">
                      <a16:creationId xmlns:a16="http://schemas.microsoft.com/office/drawing/2014/main" id="{D5879F1C-7EB1-401D-981F-6FF9FB6227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59" name="AutoShape 114">
                  <a:extLst>
                    <a:ext uri="{FF2B5EF4-FFF2-40B4-BE49-F238E27FC236}">
                      <a16:creationId xmlns:a16="http://schemas.microsoft.com/office/drawing/2014/main" id="{D017FF87-95B4-4B9C-B233-388E1A3C56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6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9826" name="Group 115">
              <a:extLst>
                <a:ext uri="{FF2B5EF4-FFF2-40B4-BE49-F238E27FC236}">
                  <a16:creationId xmlns:a16="http://schemas.microsoft.com/office/drawing/2014/main" id="{E39BDB65-573C-4730-B9B7-39C549CB1C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37125" y="3421063"/>
              <a:ext cx="847725" cy="585787"/>
              <a:chOff x="762" y="2391"/>
              <a:chExt cx="423" cy="312"/>
            </a:xfrm>
          </p:grpSpPr>
          <p:grpSp>
            <p:nvGrpSpPr>
              <p:cNvPr id="119842" name="Group 116">
                <a:extLst>
                  <a:ext uri="{FF2B5EF4-FFF2-40B4-BE49-F238E27FC236}">
                    <a16:creationId xmlns:a16="http://schemas.microsoft.com/office/drawing/2014/main" id="{5A24BC82-813F-4A71-B74E-028AED5607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25642" name="Line 117">
                  <a:extLst>
                    <a:ext uri="{FF2B5EF4-FFF2-40B4-BE49-F238E27FC236}">
                      <a16:creationId xmlns:a16="http://schemas.microsoft.com/office/drawing/2014/main" id="{01989559-9867-44D9-B98C-1F8088016B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8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ea"/>
                  </a:endParaRPr>
                </a:p>
              </p:txBody>
            </p:sp>
            <p:pic>
              <p:nvPicPr>
                <p:cNvPr id="119851" name="Picture 118" descr="laptop copy">
                  <a:extLst>
                    <a:ext uri="{FF2B5EF4-FFF2-40B4-BE49-F238E27FC236}">
                      <a16:creationId xmlns:a16="http://schemas.microsoft.com/office/drawing/2014/main" id="{CCBE39BF-FE39-4FFC-B60F-B85DF114D30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19843" name="Group 119">
                <a:extLst>
                  <a:ext uri="{FF2B5EF4-FFF2-40B4-BE49-F238E27FC236}">
                    <a16:creationId xmlns:a16="http://schemas.microsoft.com/office/drawing/2014/main" id="{8E0B10FA-9D32-412F-BD06-ECAC8F3A93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119844" name="AutoShape 120">
                  <a:extLst>
                    <a:ext uri="{FF2B5EF4-FFF2-40B4-BE49-F238E27FC236}">
                      <a16:creationId xmlns:a16="http://schemas.microsoft.com/office/drawing/2014/main" id="{FE0B2163-CF63-4AD6-9D50-84D7C47170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45" name="AutoShape 121">
                  <a:extLst>
                    <a:ext uri="{FF2B5EF4-FFF2-40B4-BE49-F238E27FC236}">
                      <a16:creationId xmlns:a16="http://schemas.microsoft.com/office/drawing/2014/main" id="{C68CBFF9-FC11-465A-BEFC-4E431FE5F0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46" name="AutoShape 122">
                  <a:extLst>
                    <a:ext uri="{FF2B5EF4-FFF2-40B4-BE49-F238E27FC236}">
                      <a16:creationId xmlns:a16="http://schemas.microsoft.com/office/drawing/2014/main" id="{6CDFEC60-D825-402F-BFB7-848D252C75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59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47" name="AutoShape 123">
                  <a:extLst>
                    <a:ext uri="{FF2B5EF4-FFF2-40B4-BE49-F238E27FC236}">
                      <a16:creationId xmlns:a16="http://schemas.microsoft.com/office/drawing/2014/main" id="{66FCD8DC-E00D-40F8-B997-759DDB7429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59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48" name="AutoShape 124">
                  <a:extLst>
                    <a:ext uri="{FF2B5EF4-FFF2-40B4-BE49-F238E27FC236}">
                      <a16:creationId xmlns:a16="http://schemas.microsoft.com/office/drawing/2014/main" id="{6B45A151-07E9-4375-8DCF-D960946E3D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49" name="AutoShape 125">
                  <a:extLst>
                    <a:ext uri="{FF2B5EF4-FFF2-40B4-BE49-F238E27FC236}">
                      <a16:creationId xmlns:a16="http://schemas.microsoft.com/office/drawing/2014/main" id="{E7DA19C5-0204-4C29-B25B-A220BBC580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6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9827" name="Group 126">
              <a:extLst>
                <a:ext uri="{FF2B5EF4-FFF2-40B4-BE49-F238E27FC236}">
                  <a16:creationId xmlns:a16="http://schemas.microsoft.com/office/drawing/2014/main" id="{DD52603B-1AD7-4D8A-9E54-A1808B5B1E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7738" y="3421063"/>
              <a:ext cx="847725" cy="585787"/>
              <a:chOff x="762" y="2391"/>
              <a:chExt cx="423" cy="312"/>
            </a:xfrm>
          </p:grpSpPr>
          <p:grpSp>
            <p:nvGrpSpPr>
              <p:cNvPr id="119832" name="Group 127">
                <a:extLst>
                  <a:ext uri="{FF2B5EF4-FFF2-40B4-BE49-F238E27FC236}">
                    <a16:creationId xmlns:a16="http://schemas.microsoft.com/office/drawing/2014/main" id="{6A095E3A-B912-4F32-99BC-6A801D5209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7" y="2432"/>
                <a:ext cx="318" cy="271"/>
                <a:chOff x="657" y="1570"/>
                <a:chExt cx="318" cy="311"/>
              </a:xfrm>
            </p:grpSpPr>
            <p:sp>
              <p:nvSpPr>
                <p:cNvPr id="25632" name="Line 128">
                  <a:extLst>
                    <a:ext uri="{FF2B5EF4-FFF2-40B4-BE49-F238E27FC236}">
                      <a16:creationId xmlns:a16="http://schemas.microsoft.com/office/drawing/2014/main" id="{B033A400-24E3-42A8-9037-DC491FD169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03" y="1570"/>
                  <a:ext cx="0" cy="8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ea"/>
                  </a:endParaRPr>
                </a:p>
              </p:txBody>
            </p:sp>
            <p:pic>
              <p:nvPicPr>
                <p:cNvPr id="119841" name="Picture 129" descr="laptop copy">
                  <a:extLst>
                    <a:ext uri="{FF2B5EF4-FFF2-40B4-BE49-F238E27FC236}">
                      <a16:creationId xmlns:a16="http://schemas.microsoft.com/office/drawing/2014/main" id="{FB657F36-EC64-4EA8-A6B5-C6412112291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7" y="1615"/>
                  <a:ext cx="318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19833" name="Group 130">
                <a:extLst>
                  <a:ext uri="{FF2B5EF4-FFF2-40B4-BE49-F238E27FC236}">
                    <a16:creationId xmlns:a16="http://schemas.microsoft.com/office/drawing/2014/main" id="{C572C0A1-A147-45D8-BFED-4121B5544A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" y="2391"/>
                <a:ext cx="306" cy="90"/>
                <a:chOff x="748" y="2251"/>
                <a:chExt cx="306" cy="90"/>
              </a:xfrm>
            </p:grpSpPr>
            <p:sp>
              <p:nvSpPr>
                <p:cNvPr id="119834" name="AutoShape 131">
                  <a:extLst>
                    <a:ext uri="{FF2B5EF4-FFF2-40B4-BE49-F238E27FC236}">
                      <a16:creationId xmlns:a16="http://schemas.microsoft.com/office/drawing/2014/main" id="{E0697315-E5C7-48F8-9264-CC23A9E41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35" name="AutoShape 132">
                  <a:extLst>
                    <a:ext uri="{FF2B5EF4-FFF2-40B4-BE49-F238E27FC236}">
                      <a16:creationId xmlns:a16="http://schemas.microsoft.com/office/drawing/2014/main" id="{E6412EE9-63D5-482B-9539-2F7D1E425E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36" name="AutoShape 133">
                  <a:extLst>
                    <a:ext uri="{FF2B5EF4-FFF2-40B4-BE49-F238E27FC236}">
                      <a16:creationId xmlns:a16="http://schemas.microsoft.com/office/drawing/2014/main" id="{9F69857B-3AE0-496B-BE70-1789561AA4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59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37" name="AutoShape 134">
                  <a:extLst>
                    <a:ext uri="{FF2B5EF4-FFF2-40B4-BE49-F238E27FC236}">
                      <a16:creationId xmlns:a16="http://schemas.microsoft.com/office/drawing/2014/main" id="{2C55A9AD-EC03-4122-81F2-DDC5C04FFA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59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38" name="AutoShape 135">
                  <a:extLst>
                    <a:ext uri="{FF2B5EF4-FFF2-40B4-BE49-F238E27FC236}">
                      <a16:creationId xmlns:a16="http://schemas.microsoft.com/office/drawing/2014/main" id="{631D0A5B-5374-4C9F-8BED-07FF0E6D14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39" name="AutoShape 136">
                  <a:extLst>
                    <a:ext uri="{FF2B5EF4-FFF2-40B4-BE49-F238E27FC236}">
                      <a16:creationId xmlns:a16="http://schemas.microsoft.com/office/drawing/2014/main" id="{C22A9903-3F78-47C5-9B88-6A09CEEDB3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6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19828" name="Text Box 137">
              <a:extLst>
                <a:ext uri="{FF2B5EF4-FFF2-40B4-BE49-F238E27FC236}">
                  <a16:creationId xmlns:a16="http://schemas.microsoft.com/office/drawing/2014/main" id="{EFEA1877-5481-47EF-A070-0A707E1C2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93" y="1798997"/>
              <a:ext cx="2663783" cy="400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333399"/>
                  </a:solidFill>
                  <a:ea typeface="宋体" panose="02010600030101010101" pitchFamily="2" charset="-122"/>
                </a:rPr>
                <a:t>B transmission range</a:t>
              </a:r>
              <a:endParaRPr kumimoji="1" lang="zh-CN" altLang="en-US" sz="20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9829" name="Text Box 138">
              <a:extLst>
                <a:ext uri="{FF2B5EF4-FFF2-40B4-BE49-F238E27FC236}">
                  <a16:creationId xmlns:a16="http://schemas.microsoft.com/office/drawing/2014/main" id="{B24E573E-CCD3-4EB5-A7B6-EE328A792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8155" y="1676771"/>
              <a:ext cx="2655845" cy="400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333399"/>
                  </a:solidFill>
                  <a:ea typeface="宋体" panose="02010600030101010101" pitchFamily="2" charset="-122"/>
                </a:rPr>
                <a:t>C transmission range</a:t>
              </a:r>
              <a:endParaRPr kumimoji="1" lang="zh-CN" altLang="en-US" sz="2000">
                <a:solidFill>
                  <a:srgbClr val="33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622" name="Line 139">
              <a:extLst>
                <a:ext uri="{FF2B5EF4-FFF2-40B4-BE49-F238E27FC236}">
                  <a16:creationId xmlns:a16="http://schemas.microsoft.com/office/drawing/2014/main" id="{C59997EC-75FB-4B19-925A-4AF6D5214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083" y="2276786"/>
              <a:ext cx="647690" cy="21587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  <p:sp>
          <p:nvSpPr>
            <p:cNvPr id="25623" name="Line 140">
              <a:extLst>
                <a:ext uri="{FF2B5EF4-FFF2-40B4-BE49-F238E27FC236}">
                  <a16:creationId xmlns:a16="http://schemas.microsoft.com/office/drawing/2014/main" id="{CF69723C-5BCE-431F-89C4-612541F8F9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00833" y="2060907"/>
              <a:ext cx="431793" cy="28889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ea"/>
              </a:endParaRPr>
            </a:p>
          </p:txBody>
        </p:sp>
      </p:grpSp>
      <p:sp>
        <p:nvSpPr>
          <p:cNvPr id="64" name="灯片编号占位符 6">
            <a:extLst>
              <a:ext uri="{FF2B5EF4-FFF2-40B4-BE49-F238E27FC236}">
                <a16:creationId xmlns:a16="http://schemas.microsoft.com/office/drawing/2014/main" id="{1D0633C4-2BB8-4918-AF61-E06DEFBF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35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바닥글 개체 틀 3">
            <a:extLst>
              <a:ext uri="{FF2B5EF4-FFF2-40B4-BE49-F238E27FC236}">
                <a16:creationId xmlns:a16="http://schemas.microsoft.com/office/drawing/2014/main" id="{F40971BD-3858-4BB8-B29C-9E4D4282B92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tabLst>
                <a:tab pos="4956175" algn="l"/>
                <a:tab pos="7053263" algn="r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tabLst>
                <a:tab pos="4956175" algn="l"/>
                <a:tab pos="7053263" algn="r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08A0D63-EA8A-4954-8A4A-F3A32B05CAC8}" type="slidenum">
              <a:rPr lang="en-US" altLang="ko-KR" sz="1400" smtClean="0"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AE11481D-0883-4809-A205-7C538311C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Gulim" panose="020B0600000101010101" pitchFamily="34" charset="-127"/>
              </a:rPr>
              <a:t>RTS/CTS</a:t>
            </a:r>
          </a:p>
        </p:txBody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94F77BF7-CC06-4426-A6CF-BC6D23F88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3988" y="1109663"/>
            <a:ext cx="8686800" cy="2286000"/>
          </a:xfrm>
        </p:spPr>
        <p:txBody>
          <a:bodyPr/>
          <a:lstStyle/>
          <a:p>
            <a:r>
              <a:rPr lang="en-US" altLang="ko-KR" sz="1800">
                <a:ea typeface="Gulim" panose="020B0600000101010101" pitchFamily="34" charset="-127"/>
              </a:rPr>
              <a:t>Sending unicast packets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station can send RTS with </a:t>
            </a:r>
            <a:r>
              <a:rPr lang="en-US" altLang="ko-KR" sz="1800">
                <a:solidFill>
                  <a:srgbClr val="FF0000"/>
                </a:solidFill>
                <a:ea typeface="Gulim" panose="020B0600000101010101" pitchFamily="34" charset="-127"/>
              </a:rPr>
              <a:t>reservation parameter </a:t>
            </a:r>
            <a:r>
              <a:rPr lang="en-US" altLang="ko-KR" sz="1800">
                <a:ea typeface="Gulim" panose="020B0600000101010101" pitchFamily="34" charset="-127"/>
              </a:rPr>
              <a:t>after waiting for DIFS (reservation determines amount of time the data packet needs the medium) 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acknowledgement via CTS after SIFS by receiver (if ready to receive)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other stations store medium reservations distributed via RTS and CTS </a:t>
            </a:r>
          </a:p>
          <a:p>
            <a:pPr lvl="1"/>
            <a:r>
              <a:rPr lang="en-US" altLang="ko-KR" sz="1800">
                <a:ea typeface="Gulim" panose="020B0600000101010101" pitchFamily="34" charset="-127"/>
              </a:rPr>
              <a:t>Two (potentially different) NAV groups</a:t>
            </a:r>
          </a:p>
        </p:txBody>
      </p:sp>
      <p:grpSp>
        <p:nvGrpSpPr>
          <p:cNvPr id="120837" name="组合 43">
            <a:extLst>
              <a:ext uri="{FF2B5EF4-FFF2-40B4-BE49-F238E27FC236}">
                <a16:creationId xmlns:a16="http://schemas.microsoft.com/office/drawing/2014/main" id="{58022345-5AEA-43DE-9AE9-AD81142E3A0F}"/>
              </a:ext>
            </a:extLst>
          </p:cNvPr>
          <p:cNvGrpSpPr>
            <a:grpSpLocks/>
          </p:cNvGrpSpPr>
          <p:nvPr/>
        </p:nvGrpSpPr>
        <p:grpSpPr bwMode="auto">
          <a:xfrm>
            <a:off x="538163" y="3679825"/>
            <a:ext cx="7900987" cy="2778125"/>
            <a:chOff x="228600" y="3124200"/>
            <a:chExt cx="7900846" cy="2776954"/>
          </a:xfrm>
        </p:grpSpPr>
        <p:sp>
          <p:nvSpPr>
            <p:cNvPr id="120838" name="Text Box 4">
              <a:extLst>
                <a:ext uri="{FF2B5EF4-FFF2-40B4-BE49-F238E27FC236}">
                  <a16:creationId xmlns:a16="http://schemas.microsoft.com/office/drawing/2014/main" id="{30FF3CBB-581D-45FE-A07C-A205296D7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600" y="5334000"/>
              <a:ext cx="28084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t</a:t>
              </a:r>
            </a:p>
          </p:txBody>
        </p:sp>
        <p:sp>
          <p:nvSpPr>
            <p:cNvPr id="120839" name="Line 5">
              <a:extLst>
                <a:ext uri="{FF2B5EF4-FFF2-40B4-BE49-F238E27FC236}">
                  <a16:creationId xmlns:a16="http://schemas.microsoft.com/office/drawing/2014/main" id="{694035AD-D8F9-40B0-8DA5-0D73AD256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71600" y="31242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40" name="Line 6">
              <a:extLst>
                <a:ext uri="{FF2B5EF4-FFF2-40B4-BE49-F238E27FC236}">
                  <a16:creationId xmlns:a16="http://schemas.microsoft.com/office/drawing/2014/main" id="{C9B366C6-B50C-4DD8-9A5D-63B1C3BFC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1200" y="31242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41" name="Line 7">
              <a:extLst>
                <a:ext uri="{FF2B5EF4-FFF2-40B4-BE49-F238E27FC236}">
                  <a16:creationId xmlns:a16="http://schemas.microsoft.com/office/drawing/2014/main" id="{FE34891D-22F3-48B0-B8D6-477B922CDE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600" y="40386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42" name="Text Box 8">
              <a:extLst>
                <a:ext uri="{FF2B5EF4-FFF2-40B4-BE49-F238E27FC236}">
                  <a16:creationId xmlns:a16="http://schemas.microsoft.com/office/drawing/2014/main" id="{56A73EC8-53EB-4A74-914D-256594088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600" y="3733800"/>
              <a:ext cx="70724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SIFS</a:t>
              </a:r>
            </a:p>
          </p:txBody>
        </p:sp>
        <p:sp>
          <p:nvSpPr>
            <p:cNvPr id="120843" name="Text Box 9">
              <a:extLst>
                <a:ext uri="{FF2B5EF4-FFF2-40B4-BE49-F238E27FC236}">
                  <a16:creationId xmlns:a16="http://schemas.microsoft.com/office/drawing/2014/main" id="{7CE69B46-DD15-4F32-AE5E-4576C8860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124200"/>
              <a:ext cx="71205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DIFS</a:t>
              </a:r>
            </a:p>
          </p:txBody>
        </p:sp>
        <p:sp>
          <p:nvSpPr>
            <p:cNvPr id="120844" name="Line 10">
              <a:extLst>
                <a:ext uri="{FF2B5EF4-FFF2-40B4-BE49-F238E27FC236}">
                  <a16:creationId xmlns:a16="http://schemas.microsoft.com/office/drawing/2014/main" id="{4F0A6EC7-4266-48CE-86DF-8B5D91195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34290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45" name="Rectangle 11">
              <a:extLst>
                <a:ext uri="{FF2B5EF4-FFF2-40B4-BE49-F238E27FC236}">
                  <a16:creationId xmlns:a16="http://schemas.microsoft.com/office/drawing/2014/main" id="{79B12BD8-1162-4D32-A2C7-74585DB56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4953000"/>
              <a:ext cx="990600" cy="3810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data</a:t>
              </a:r>
            </a:p>
          </p:txBody>
        </p:sp>
        <p:sp>
          <p:nvSpPr>
            <p:cNvPr id="120846" name="Rectangle 12">
              <a:extLst>
                <a:ext uri="{FF2B5EF4-FFF2-40B4-BE49-F238E27FC236}">
                  <a16:creationId xmlns:a16="http://schemas.microsoft.com/office/drawing/2014/main" id="{BD5EAE17-A5BE-40B7-A475-894ED4DA8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3886200"/>
              <a:ext cx="4572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ACK</a:t>
              </a:r>
            </a:p>
          </p:txBody>
        </p:sp>
        <p:sp>
          <p:nvSpPr>
            <p:cNvPr id="120847" name="Text Box 13">
              <a:extLst>
                <a:ext uri="{FF2B5EF4-FFF2-40B4-BE49-F238E27FC236}">
                  <a16:creationId xmlns:a16="http://schemas.microsoft.com/office/drawing/2014/main" id="{2F317C48-CB64-433F-9A3E-098BC93C6C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5486400"/>
              <a:ext cx="14221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defer access</a:t>
              </a:r>
            </a:p>
          </p:txBody>
        </p:sp>
        <p:sp>
          <p:nvSpPr>
            <p:cNvPr id="120848" name="Line 14">
              <a:extLst>
                <a:ext uri="{FF2B5EF4-FFF2-40B4-BE49-F238E27FC236}">
                  <a16:creationId xmlns:a16="http://schemas.microsoft.com/office/drawing/2014/main" id="{0366ECA2-F6A2-4D72-892A-D94501D20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334000"/>
              <a:ext cx="685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49" name="Text Box 15">
              <a:extLst>
                <a:ext uri="{FF2B5EF4-FFF2-40B4-BE49-F238E27FC236}">
                  <a16:creationId xmlns:a16="http://schemas.microsoft.com/office/drawing/2014/main" id="{302BABCB-C8C3-41EE-B756-009D37326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5029200"/>
              <a:ext cx="95410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other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stations</a:t>
              </a:r>
            </a:p>
          </p:txBody>
        </p:sp>
        <p:sp>
          <p:nvSpPr>
            <p:cNvPr id="120850" name="Text Box 16">
              <a:extLst>
                <a:ext uri="{FF2B5EF4-FFF2-40B4-BE49-F238E27FC236}">
                  <a16:creationId xmlns:a16="http://schemas.microsoft.com/office/drawing/2014/main" id="{3C483E4A-C250-47F7-954C-99C49CF66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4038600"/>
              <a:ext cx="98296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receiver</a:t>
              </a:r>
            </a:p>
          </p:txBody>
        </p:sp>
        <p:sp>
          <p:nvSpPr>
            <p:cNvPr id="120851" name="Text Box 17">
              <a:extLst>
                <a:ext uri="{FF2B5EF4-FFF2-40B4-BE49-F238E27FC236}">
                  <a16:creationId xmlns:a16="http://schemas.microsoft.com/office/drawing/2014/main" id="{14B804DF-E83D-4E38-BEEE-762D66927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3429000"/>
              <a:ext cx="8354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sender</a:t>
              </a:r>
            </a:p>
          </p:txBody>
        </p:sp>
        <p:sp>
          <p:nvSpPr>
            <p:cNvPr id="120852" name="Line 18">
              <a:extLst>
                <a:ext uri="{FF2B5EF4-FFF2-40B4-BE49-F238E27FC236}">
                  <a16:creationId xmlns:a16="http://schemas.microsoft.com/office/drawing/2014/main" id="{35683824-56DA-4662-834F-9E12720EB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4267200"/>
              <a:ext cx="685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53" name="Line 19">
              <a:extLst>
                <a:ext uri="{FF2B5EF4-FFF2-40B4-BE49-F238E27FC236}">
                  <a16:creationId xmlns:a16="http://schemas.microsoft.com/office/drawing/2014/main" id="{63DC352D-5BEF-4B76-8ABE-F36381537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3657600"/>
              <a:ext cx="685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54" name="Rectangle 20">
              <a:extLst>
                <a:ext uri="{FF2B5EF4-FFF2-40B4-BE49-F238E27FC236}">
                  <a16:creationId xmlns:a16="http://schemas.microsoft.com/office/drawing/2014/main" id="{15E8BBC3-E83A-4F04-A279-0B10D990D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276600"/>
              <a:ext cx="685800" cy="3810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data</a:t>
              </a:r>
            </a:p>
          </p:txBody>
        </p:sp>
        <p:sp>
          <p:nvSpPr>
            <p:cNvPr id="120855" name="Line 21">
              <a:extLst>
                <a:ext uri="{FF2B5EF4-FFF2-40B4-BE49-F238E27FC236}">
                  <a16:creationId xmlns:a16="http://schemas.microsoft.com/office/drawing/2014/main" id="{A81119C9-38C8-4175-A5D5-961EEAD35E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600" y="3124200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56" name="Line 22">
              <a:extLst>
                <a:ext uri="{FF2B5EF4-FFF2-40B4-BE49-F238E27FC236}">
                  <a16:creationId xmlns:a16="http://schemas.microsoft.com/office/drawing/2014/main" id="{2965863A-BB7A-428C-B8DE-529E3F8A2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0200" y="37338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57" name="Text Box 24">
              <a:extLst>
                <a:ext uri="{FF2B5EF4-FFF2-40B4-BE49-F238E27FC236}">
                  <a16:creationId xmlns:a16="http://schemas.microsoft.com/office/drawing/2014/main" id="{8509176E-5F2F-4D4A-8AA7-1615068E7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4800600"/>
              <a:ext cx="71205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DIFS</a:t>
              </a:r>
            </a:p>
          </p:txBody>
        </p:sp>
        <p:sp>
          <p:nvSpPr>
            <p:cNvPr id="120858" name="Line 25">
              <a:extLst>
                <a:ext uri="{FF2B5EF4-FFF2-40B4-BE49-F238E27FC236}">
                  <a16:creationId xmlns:a16="http://schemas.microsoft.com/office/drawing/2014/main" id="{CD4DCF9E-A28F-4258-ABF0-8A1AE3092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51054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59" name="Line 26">
              <a:extLst>
                <a:ext uri="{FF2B5EF4-FFF2-40B4-BE49-F238E27FC236}">
                  <a16:creationId xmlns:a16="http://schemas.microsoft.com/office/drawing/2014/main" id="{55FD8D7C-0C41-42DE-81F5-9CB0F8A4C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77000" y="48768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60" name="Line 27">
              <a:extLst>
                <a:ext uri="{FF2B5EF4-FFF2-40B4-BE49-F238E27FC236}">
                  <a16:creationId xmlns:a16="http://schemas.microsoft.com/office/drawing/2014/main" id="{EF5C9143-6A2F-4D28-BC9D-5C745CB94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5486400"/>
              <a:ext cx="403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61" name="Rectangle 28">
              <a:extLst>
                <a:ext uri="{FF2B5EF4-FFF2-40B4-BE49-F238E27FC236}">
                  <a16:creationId xmlns:a16="http://schemas.microsoft.com/office/drawing/2014/main" id="{CFACD759-F6C2-4E24-9105-D434E36CE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4953000"/>
              <a:ext cx="381000" cy="381000"/>
            </a:xfrm>
            <a:prstGeom prst="rect">
              <a:avLst/>
            </a:prstGeom>
            <a:solidFill>
              <a:srgbClr val="FF6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600">
                <a:ea typeface="Gulim" panose="020B0600000101010101" pitchFamily="34" charset="-127"/>
              </a:endParaRPr>
            </a:p>
          </p:txBody>
        </p:sp>
        <p:sp>
          <p:nvSpPr>
            <p:cNvPr id="120862" name="Text Box 29">
              <a:extLst>
                <a:ext uri="{FF2B5EF4-FFF2-40B4-BE49-F238E27FC236}">
                  <a16:creationId xmlns:a16="http://schemas.microsoft.com/office/drawing/2014/main" id="{BE24390A-A40D-4E91-AAE4-1FA0CD1EB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5562600"/>
              <a:ext cx="11897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contention</a:t>
              </a:r>
            </a:p>
          </p:txBody>
        </p:sp>
        <p:cxnSp>
          <p:nvCxnSpPr>
            <p:cNvPr id="120863" name="AutoShape 30">
              <a:extLst>
                <a:ext uri="{FF2B5EF4-FFF2-40B4-BE49-F238E27FC236}">
                  <a16:creationId xmlns:a16="http://schemas.microsoft.com/office/drawing/2014/main" id="{04694E8F-06D9-462A-82C9-3419839E5F73}"/>
                </a:ext>
              </a:extLst>
            </p:cNvPr>
            <p:cNvCxnSpPr>
              <a:cxnSpLocks noChangeShapeType="1"/>
              <a:stCxn id="120862" idx="3"/>
              <a:endCxn id="120861" idx="2"/>
            </p:cNvCxnSpPr>
            <p:nvPr/>
          </p:nvCxnSpPr>
          <p:spPr bwMode="auto">
            <a:xfrm flipV="1">
              <a:off x="6447549" y="5334000"/>
              <a:ext cx="219951" cy="39787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864" name="Rectangle 31">
              <a:extLst>
                <a:ext uri="{FF2B5EF4-FFF2-40B4-BE49-F238E27FC236}">
                  <a16:creationId xmlns:a16="http://schemas.microsoft.com/office/drawing/2014/main" id="{97EDE374-E729-4ED4-9C4B-471C1F3BD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3276600"/>
              <a:ext cx="457200" cy="381000"/>
            </a:xfrm>
            <a:prstGeom prst="rect">
              <a:avLst/>
            </a:prstGeom>
            <a:solidFill>
              <a:srgbClr val="F4EE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RTS</a:t>
              </a:r>
            </a:p>
          </p:txBody>
        </p:sp>
        <p:sp>
          <p:nvSpPr>
            <p:cNvPr id="120865" name="Rectangle 32">
              <a:extLst>
                <a:ext uri="{FF2B5EF4-FFF2-40B4-BE49-F238E27FC236}">
                  <a16:creationId xmlns:a16="http://schemas.microsoft.com/office/drawing/2014/main" id="{A0DAACA6-CADD-49B8-AAFE-507E64C9A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886200"/>
              <a:ext cx="457200" cy="381000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CTS</a:t>
              </a:r>
            </a:p>
          </p:txBody>
        </p:sp>
        <p:sp>
          <p:nvSpPr>
            <p:cNvPr id="120866" name="Line 33">
              <a:extLst>
                <a:ext uri="{FF2B5EF4-FFF2-40B4-BE49-F238E27FC236}">
                  <a16:creationId xmlns:a16="http://schemas.microsoft.com/office/drawing/2014/main" id="{5E933DA3-75F8-415C-B2A4-7036D56C5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40386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67" name="Text Box 34">
              <a:extLst>
                <a:ext uri="{FF2B5EF4-FFF2-40B4-BE49-F238E27FC236}">
                  <a16:creationId xmlns:a16="http://schemas.microsoft.com/office/drawing/2014/main" id="{EAA1D43E-0CCE-4492-8ECC-5F9B1F99B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733800"/>
              <a:ext cx="70724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SIFS</a:t>
              </a:r>
            </a:p>
          </p:txBody>
        </p:sp>
        <p:sp>
          <p:nvSpPr>
            <p:cNvPr id="120868" name="Line 35">
              <a:extLst>
                <a:ext uri="{FF2B5EF4-FFF2-40B4-BE49-F238E27FC236}">
                  <a16:creationId xmlns:a16="http://schemas.microsoft.com/office/drawing/2014/main" id="{F2937BF6-B3CD-4352-B185-AA42B5D44F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8400" y="3124200"/>
              <a:ext cx="0" cy="2362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69" name="Line 36">
              <a:extLst>
                <a:ext uri="{FF2B5EF4-FFF2-40B4-BE49-F238E27FC236}">
                  <a16:creationId xmlns:a16="http://schemas.microsoft.com/office/drawing/2014/main" id="{BFE44318-3CA0-4C35-8D70-23444E965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000" y="37338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70" name="Line 37">
              <a:extLst>
                <a:ext uri="{FF2B5EF4-FFF2-40B4-BE49-F238E27FC236}">
                  <a16:creationId xmlns:a16="http://schemas.microsoft.com/office/drawing/2014/main" id="{A6A9B9C3-EE86-45F5-A536-B329DD1DDB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3733800"/>
              <a:ext cx="0" cy="167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71" name="Line 38">
              <a:extLst>
                <a:ext uri="{FF2B5EF4-FFF2-40B4-BE49-F238E27FC236}">
                  <a16:creationId xmlns:a16="http://schemas.microsoft.com/office/drawing/2014/main" id="{C40351AC-C336-4162-9C8F-00780C06ED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4800" y="31242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72" name="Text Box 40">
              <a:extLst>
                <a:ext uri="{FF2B5EF4-FFF2-40B4-BE49-F238E27FC236}">
                  <a16:creationId xmlns:a16="http://schemas.microsoft.com/office/drawing/2014/main" id="{EDA97F7D-929E-4FFA-A504-C6BCCEE63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3810000"/>
              <a:ext cx="70724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SIFS</a:t>
              </a:r>
            </a:p>
          </p:txBody>
        </p:sp>
        <p:sp>
          <p:nvSpPr>
            <p:cNvPr id="120873" name="Line 41">
              <a:extLst>
                <a:ext uri="{FF2B5EF4-FFF2-40B4-BE49-F238E27FC236}">
                  <a16:creationId xmlns:a16="http://schemas.microsoft.com/office/drawing/2014/main" id="{E947DAA1-45D1-49E7-819C-847F6C15A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38100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874" name="Rectangle 42">
              <a:extLst>
                <a:ext uri="{FF2B5EF4-FFF2-40B4-BE49-F238E27FC236}">
                  <a16:creationId xmlns:a16="http://schemas.microsoft.com/office/drawing/2014/main" id="{992926C8-076A-42F7-96C3-AA499B187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4876800"/>
              <a:ext cx="3429000" cy="228600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NAV (RTS)</a:t>
              </a:r>
            </a:p>
          </p:txBody>
        </p:sp>
        <p:sp>
          <p:nvSpPr>
            <p:cNvPr id="120875" name="Rectangle 43">
              <a:extLst>
                <a:ext uri="{FF2B5EF4-FFF2-40B4-BE49-F238E27FC236}">
                  <a16:creationId xmlns:a16="http://schemas.microsoft.com/office/drawing/2014/main" id="{36161D5F-80A6-4691-9CC5-8C98BA9EF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5105400"/>
              <a:ext cx="2362200" cy="228600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NAV (CTS)</a:t>
              </a:r>
            </a:p>
          </p:txBody>
        </p:sp>
        <p:sp>
          <p:nvSpPr>
            <p:cNvPr id="120876" name="Line 44">
              <a:extLst>
                <a:ext uri="{FF2B5EF4-FFF2-40B4-BE49-F238E27FC236}">
                  <a16:creationId xmlns:a16="http://schemas.microsoft.com/office/drawing/2014/main" id="{16E8F469-C595-447A-BDD0-90ACABC8D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7400" y="3733800"/>
              <a:ext cx="0" cy="167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" name="灯片编号占位符 6">
            <a:extLst>
              <a:ext uri="{FF2B5EF4-FFF2-40B4-BE49-F238E27FC236}">
                <a16:creationId xmlns:a16="http://schemas.microsoft.com/office/drawing/2014/main" id="{4B1AFB56-7231-4103-B92E-E6D34276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59BDC9E2-EE36-4C2F-B68E-A5BF08C60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6250" y="115888"/>
            <a:ext cx="7772400" cy="941387"/>
          </a:xfrm>
        </p:spPr>
        <p:txBody>
          <a:bodyPr/>
          <a:lstStyle/>
          <a:p>
            <a:r>
              <a:rPr lang="en-US" altLang="zh-CN" sz="3200">
                <a:latin typeface="Gill Sans MT" panose="020B0502020104020203" pitchFamily="34" charset="0"/>
                <a:ea typeface="宋体" panose="02010600030101010101" pitchFamily="2" charset="-122"/>
              </a:rPr>
              <a:t>Collision Avoidance: RTS-CTS exchange</a:t>
            </a:r>
          </a:p>
        </p:txBody>
      </p:sp>
      <p:sp>
        <p:nvSpPr>
          <p:cNvPr id="115715" name="Text Box 4">
            <a:extLst>
              <a:ext uri="{FF2B5EF4-FFF2-40B4-BE49-F238E27FC236}">
                <a16:creationId xmlns:a16="http://schemas.microsoft.com/office/drawing/2014/main" id="{B81FABCF-8418-4381-B7AB-67F2706C1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438" y="746125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6" name="Text Box 15">
            <a:extLst>
              <a:ext uri="{FF2B5EF4-FFF2-40B4-BE49-F238E27FC236}">
                <a16:creationId xmlns:a16="http://schemas.microsoft.com/office/drawing/2014/main" id="{3B0EB997-1962-4BBB-AE8B-CAD9FD121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263" y="1393825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</a:t>
            </a:r>
          </a:p>
        </p:txBody>
      </p:sp>
      <p:sp>
        <p:nvSpPr>
          <p:cNvPr id="115717" name="Text Box 41">
            <a:extLst>
              <a:ext uri="{FF2B5EF4-FFF2-40B4-BE49-F238E27FC236}">
                <a16:creationId xmlns:a16="http://schemas.microsoft.com/office/drawing/2014/main" id="{F1899633-770D-4420-BED9-E9C0DA515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275" y="1243013"/>
            <a:ext cx="3508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5718" name="Text Box 42">
            <a:extLst>
              <a:ext uri="{FF2B5EF4-FFF2-40B4-BE49-F238E27FC236}">
                <a16:creationId xmlns:a16="http://schemas.microsoft.com/office/drawing/2014/main" id="{D2985ADB-C4DC-411F-9127-473BC45D8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241425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15719" name="Line 45">
            <a:extLst>
              <a:ext uri="{FF2B5EF4-FFF2-40B4-BE49-F238E27FC236}">
                <a16:creationId xmlns:a16="http://schemas.microsoft.com/office/drawing/2014/main" id="{FE5731A4-0E9F-4AA7-9F47-BE070DBC0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" y="1743075"/>
            <a:ext cx="41275" cy="393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5720" name="Text Box 46">
            <a:extLst>
              <a:ext uri="{FF2B5EF4-FFF2-40B4-BE49-F238E27FC236}">
                <a16:creationId xmlns:a16="http://schemas.microsoft.com/office/drawing/2014/main" id="{BC31F080-7E69-40E4-A193-49E1D7796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5378450"/>
            <a:ext cx="6207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15721" name="Line 44">
            <a:extLst>
              <a:ext uri="{FF2B5EF4-FFF2-40B4-BE49-F238E27FC236}">
                <a16:creationId xmlns:a16="http://schemas.microsoft.com/office/drawing/2014/main" id="{B137951C-30DD-4464-83BE-C073EFFADA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538" y="1728788"/>
            <a:ext cx="783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" name="Group 70">
            <a:extLst>
              <a:ext uri="{FF2B5EF4-FFF2-40B4-BE49-F238E27FC236}">
                <a16:creationId xmlns:a16="http://schemas.microsoft.com/office/drawing/2014/main" id="{C44742FC-8D13-4E2D-88F0-E45BDB955394}"/>
              </a:ext>
            </a:extLst>
          </p:cNvPr>
          <p:cNvGrpSpPr>
            <a:grpSpLocks/>
          </p:cNvGrpSpPr>
          <p:nvPr/>
        </p:nvGrpSpPr>
        <p:grpSpPr bwMode="auto">
          <a:xfrm>
            <a:off x="1801813" y="1857375"/>
            <a:ext cx="6611937" cy="855663"/>
            <a:chOff x="1135" y="1170"/>
            <a:chExt cx="4165" cy="539"/>
          </a:xfrm>
        </p:grpSpPr>
        <p:grpSp>
          <p:nvGrpSpPr>
            <p:cNvPr id="115754" name="Group 9">
              <a:extLst>
                <a:ext uri="{FF2B5EF4-FFF2-40B4-BE49-F238E27FC236}">
                  <a16:creationId xmlns:a16="http://schemas.microsoft.com/office/drawing/2014/main" id="{A7B57336-FF85-48E5-AE9C-DB8D40DCB8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5" y="1194"/>
              <a:ext cx="4163" cy="515"/>
              <a:chOff x="594" y="1184"/>
              <a:chExt cx="4163" cy="515"/>
            </a:xfrm>
          </p:grpSpPr>
          <p:sp>
            <p:nvSpPr>
              <p:cNvPr id="115757" name="Freeform 7">
                <a:extLst>
                  <a:ext uri="{FF2B5EF4-FFF2-40B4-BE49-F238E27FC236}">
                    <a16:creationId xmlns:a16="http://schemas.microsoft.com/office/drawing/2014/main" id="{420618FB-14FF-411B-A404-CF248D9D7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1238"/>
                <a:ext cx="3642" cy="461"/>
              </a:xfrm>
              <a:custGeom>
                <a:avLst/>
                <a:gdLst>
                  <a:gd name="T0" fmla="*/ 1 w 2996"/>
                  <a:gd name="T1" fmla="*/ 0 h 461"/>
                  <a:gd name="T2" fmla="*/ 56045 w 2996"/>
                  <a:gd name="T3" fmla="*/ 298 h 461"/>
                  <a:gd name="T4" fmla="*/ 56045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96"/>
                  <a:gd name="T16" fmla="*/ 0 h 461"/>
                  <a:gd name="T17" fmla="*/ 2996 w 2996"/>
                  <a:gd name="T18" fmla="*/ 461 h 4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58" name="Freeform 8">
                <a:extLst>
                  <a:ext uri="{FF2B5EF4-FFF2-40B4-BE49-F238E27FC236}">
                    <a16:creationId xmlns:a16="http://schemas.microsoft.com/office/drawing/2014/main" id="{79AFAACB-D616-4DA7-9FDC-50E46C02E59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115" y="1184"/>
                <a:ext cx="3642" cy="461"/>
              </a:xfrm>
              <a:custGeom>
                <a:avLst/>
                <a:gdLst>
                  <a:gd name="T0" fmla="*/ 1 w 2996"/>
                  <a:gd name="T1" fmla="*/ 0 h 461"/>
                  <a:gd name="T2" fmla="*/ 56045 w 2996"/>
                  <a:gd name="T3" fmla="*/ 298 h 461"/>
                  <a:gd name="T4" fmla="*/ 56045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96"/>
                  <a:gd name="T16" fmla="*/ 0 h 461"/>
                  <a:gd name="T17" fmla="*/ 2996 w 2996"/>
                  <a:gd name="T18" fmla="*/ 461 h 4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/>
                  </a:gs>
                  <a:gs pos="100000">
                    <a:srgbClr val="FFFFFF">
                      <a:alpha val="6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5755" name="Text Box 51">
              <a:extLst>
                <a:ext uri="{FF2B5EF4-FFF2-40B4-BE49-F238E27FC236}">
                  <a16:creationId xmlns:a16="http://schemas.microsoft.com/office/drawing/2014/main" id="{56ADC48B-A3D7-4D5F-ACDF-6B3306BD3A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44" y="1279"/>
              <a:ext cx="6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RTS(A)</a:t>
              </a:r>
            </a:p>
          </p:txBody>
        </p:sp>
        <p:sp>
          <p:nvSpPr>
            <p:cNvPr id="115756" name="Text Box 52">
              <a:extLst>
                <a:ext uri="{FF2B5EF4-FFF2-40B4-BE49-F238E27FC236}">
                  <a16:creationId xmlns:a16="http://schemas.microsoft.com/office/drawing/2014/main" id="{B55C1113-0C0E-4150-B009-C8DE7534B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54180">
              <a:off x="4699" y="1170"/>
              <a:ext cx="60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RTS(B)</a:t>
              </a:r>
            </a:p>
          </p:txBody>
        </p:sp>
      </p:grpSp>
      <p:grpSp>
        <p:nvGrpSpPr>
          <p:cNvPr id="4" name="Group 68">
            <a:extLst>
              <a:ext uri="{FF2B5EF4-FFF2-40B4-BE49-F238E27FC236}">
                <a16:creationId xmlns:a16="http://schemas.microsoft.com/office/drawing/2014/main" id="{ED1CE55A-D66E-4E41-825A-4F81FB66811A}"/>
              </a:ext>
            </a:extLst>
          </p:cNvPr>
          <p:cNvGrpSpPr>
            <a:grpSpLocks/>
          </p:cNvGrpSpPr>
          <p:nvPr/>
        </p:nvGrpSpPr>
        <p:grpSpPr bwMode="auto">
          <a:xfrm>
            <a:off x="1800225" y="2693988"/>
            <a:ext cx="6472238" cy="1174750"/>
            <a:chOff x="1134" y="1697"/>
            <a:chExt cx="4077" cy="740"/>
          </a:xfrm>
        </p:grpSpPr>
        <p:sp>
          <p:nvSpPr>
            <p:cNvPr id="115748" name="Freeform 48">
              <a:extLst>
                <a:ext uri="{FF2B5EF4-FFF2-40B4-BE49-F238E27FC236}">
                  <a16:creationId xmlns:a16="http://schemas.microsoft.com/office/drawing/2014/main" id="{C25FF5C1-0B4B-4C31-96D6-9C0CFD6EE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1697"/>
              <a:ext cx="3642" cy="461"/>
            </a:xfrm>
            <a:custGeom>
              <a:avLst/>
              <a:gdLst>
                <a:gd name="T0" fmla="*/ 1 w 2996"/>
                <a:gd name="T1" fmla="*/ 0 h 461"/>
                <a:gd name="T2" fmla="*/ 56045 w 2996"/>
                <a:gd name="T3" fmla="*/ 298 h 461"/>
                <a:gd name="T4" fmla="*/ 56045 w 2996"/>
                <a:gd name="T5" fmla="*/ 461 h 461"/>
                <a:gd name="T6" fmla="*/ 0 w 2996"/>
                <a:gd name="T7" fmla="*/ 160 h 461"/>
                <a:gd name="T8" fmla="*/ 1 w 2996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96"/>
                <a:gd name="T16" fmla="*/ 0 h 461"/>
                <a:gd name="T17" fmla="*/ 2996 w 2996"/>
                <a:gd name="T18" fmla="*/ 461 h 4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96" h="461">
                  <a:moveTo>
                    <a:pt x="1" y="0"/>
                  </a:moveTo>
                  <a:lnTo>
                    <a:pt x="2996" y="298"/>
                  </a:lnTo>
                  <a:lnTo>
                    <a:pt x="2996" y="461"/>
                  </a:lnTo>
                  <a:lnTo>
                    <a:pt x="0" y="160"/>
                  </a:lnTo>
                  <a:lnTo>
                    <a:pt x="1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49" name="Text Box 54">
              <a:extLst>
                <a:ext uri="{FF2B5EF4-FFF2-40B4-BE49-F238E27FC236}">
                  <a16:creationId xmlns:a16="http://schemas.microsoft.com/office/drawing/2014/main" id="{31E1875B-8874-4D4D-AFA5-B1C78265A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51" y="1738"/>
              <a:ext cx="6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RTS(A)</a:t>
              </a:r>
            </a:p>
          </p:txBody>
        </p:sp>
        <p:sp>
          <p:nvSpPr>
            <p:cNvPr id="115750" name="Freeform 56">
              <a:extLst>
                <a:ext uri="{FF2B5EF4-FFF2-40B4-BE49-F238E27FC236}">
                  <a16:creationId xmlns:a16="http://schemas.microsoft.com/office/drawing/2014/main" id="{0BFCCC3F-E792-4F80-926A-B0FC7A45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082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60"/>
                <a:gd name="T16" fmla="*/ 0 h 355"/>
                <a:gd name="T17" fmla="*/ 2260 w 2260"/>
                <a:gd name="T18" fmla="*/ 355 h 3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51" name="Freeform 57">
              <a:extLst>
                <a:ext uri="{FF2B5EF4-FFF2-40B4-BE49-F238E27FC236}">
                  <a16:creationId xmlns:a16="http://schemas.microsoft.com/office/drawing/2014/main" id="{0F36ECA1-681A-4E47-9C4F-8743B9A94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081"/>
              <a:ext cx="1860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0"/>
                <a:gd name="T16" fmla="*/ 0 h 347"/>
                <a:gd name="T17" fmla="*/ 1860 w 1860"/>
                <a:gd name="T18" fmla="*/ 347 h 3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52" name="Text Box 58">
              <a:extLst>
                <a:ext uri="{FF2B5EF4-FFF2-40B4-BE49-F238E27FC236}">
                  <a16:creationId xmlns:a16="http://schemas.microsoft.com/office/drawing/2014/main" id="{95013DE5-FA9A-417B-9A14-555017536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79204">
              <a:off x="1584" y="2157"/>
              <a:ext cx="6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CTS(A)</a:t>
              </a:r>
            </a:p>
          </p:txBody>
        </p:sp>
        <p:sp>
          <p:nvSpPr>
            <p:cNvPr id="115753" name="Text Box 59">
              <a:extLst>
                <a:ext uri="{FF2B5EF4-FFF2-40B4-BE49-F238E27FC236}">
                  <a16:creationId xmlns:a16="http://schemas.microsoft.com/office/drawing/2014/main" id="{369022D9-99C1-4A14-83B3-3E0D4B44A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16" y="2147"/>
              <a:ext cx="6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CTS(A)</a:t>
              </a:r>
            </a:p>
          </p:txBody>
        </p:sp>
      </p:grpSp>
      <p:grpSp>
        <p:nvGrpSpPr>
          <p:cNvPr id="5" name="Group 69">
            <a:extLst>
              <a:ext uri="{FF2B5EF4-FFF2-40B4-BE49-F238E27FC236}">
                <a16:creationId xmlns:a16="http://schemas.microsoft.com/office/drawing/2014/main" id="{1E9EF540-5FB0-42C4-A21A-630BDC727325}"/>
              </a:ext>
            </a:extLst>
          </p:cNvPr>
          <p:cNvGrpSpPr>
            <a:grpSpLocks/>
          </p:cNvGrpSpPr>
          <p:nvPr/>
        </p:nvGrpSpPr>
        <p:grpSpPr bwMode="auto">
          <a:xfrm>
            <a:off x="1825625" y="3956050"/>
            <a:ext cx="6472238" cy="2174875"/>
            <a:chOff x="1150" y="2492"/>
            <a:chExt cx="4077" cy="1370"/>
          </a:xfrm>
        </p:grpSpPr>
        <p:sp>
          <p:nvSpPr>
            <p:cNvPr id="115742" name="Freeform 60">
              <a:extLst>
                <a:ext uri="{FF2B5EF4-FFF2-40B4-BE49-F238E27FC236}">
                  <a16:creationId xmlns:a16="http://schemas.microsoft.com/office/drawing/2014/main" id="{AC71AC33-DE88-4E13-BA62-2E0B39D3A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2492"/>
              <a:ext cx="3652" cy="1134"/>
            </a:xfrm>
            <a:custGeom>
              <a:avLst/>
              <a:gdLst>
                <a:gd name="T0" fmla="*/ 0 w 3652"/>
                <a:gd name="T1" fmla="*/ 0 h 1134"/>
                <a:gd name="T2" fmla="*/ 3652 w 3652"/>
                <a:gd name="T3" fmla="*/ 318 h 1134"/>
                <a:gd name="T4" fmla="*/ 3652 w 3652"/>
                <a:gd name="T5" fmla="*/ 1134 h 1134"/>
                <a:gd name="T6" fmla="*/ 1 w 3652"/>
                <a:gd name="T7" fmla="*/ 787 h 1134"/>
                <a:gd name="T8" fmla="*/ 0 w 3652"/>
                <a:gd name="T9" fmla="*/ 0 h 1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52"/>
                <a:gd name="T16" fmla="*/ 0 h 1134"/>
                <a:gd name="T17" fmla="*/ 3652 w 3652"/>
                <a:gd name="T18" fmla="*/ 1134 h 1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52" h="1134">
                  <a:moveTo>
                    <a:pt x="0" y="0"/>
                  </a:moveTo>
                  <a:lnTo>
                    <a:pt x="3652" y="318"/>
                  </a:lnTo>
                  <a:lnTo>
                    <a:pt x="3652" y="1134"/>
                  </a:lnTo>
                  <a:lnTo>
                    <a:pt x="1" y="78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43" name="Text Box 61">
              <a:extLst>
                <a:ext uri="{FF2B5EF4-FFF2-40B4-BE49-F238E27FC236}">
                  <a16:creationId xmlns:a16="http://schemas.microsoft.com/office/drawing/2014/main" id="{6E9674B5-E19F-4A6B-BFBD-D3229E7FA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4" y="2814"/>
              <a:ext cx="11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DATA (A)</a:t>
              </a:r>
            </a:p>
          </p:txBody>
        </p:sp>
        <p:sp>
          <p:nvSpPr>
            <p:cNvPr id="115744" name="Freeform 62">
              <a:extLst>
                <a:ext uri="{FF2B5EF4-FFF2-40B4-BE49-F238E27FC236}">
                  <a16:creationId xmlns:a16="http://schemas.microsoft.com/office/drawing/2014/main" id="{332A585C-5C80-4DC6-8F2C-53F3A6876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" y="3507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60"/>
                <a:gd name="T16" fmla="*/ 0 h 355"/>
                <a:gd name="T17" fmla="*/ 2260 w 2260"/>
                <a:gd name="T18" fmla="*/ 355 h 3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45" name="Freeform 63">
              <a:extLst>
                <a:ext uri="{FF2B5EF4-FFF2-40B4-BE49-F238E27FC236}">
                  <a16:creationId xmlns:a16="http://schemas.microsoft.com/office/drawing/2014/main" id="{B2386E94-838B-4754-9FEB-D8D13DE1B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3506"/>
              <a:ext cx="1860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0"/>
                <a:gd name="T16" fmla="*/ 0 h 347"/>
                <a:gd name="T17" fmla="*/ 1860 w 1860"/>
                <a:gd name="T18" fmla="*/ 347 h 3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46" name="Text Box 64">
              <a:extLst>
                <a:ext uri="{FF2B5EF4-FFF2-40B4-BE49-F238E27FC236}">
                  <a16:creationId xmlns:a16="http://schemas.microsoft.com/office/drawing/2014/main" id="{3FBC89ED-08B5-4AE4-9B5B-399144067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79204">
              <a:off x="1600" y="3582"/>
              <a:ext cx="6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ACK(A)</a:t>
              </a:r>
            </a:p>
          </p:txBody>
        </p:sp>
        <p:sp>
          <p:nvSpPr>
            <p:cNvPr id="115747" name="Text Box 65">
              <a:extLst>
                <a:ext uri="{FF2B5EF4-FFF2-40B4-BE49-F238E27FC236}">
                  <a16:creationId xmlns:a16="http://schemas.microsoft.com/office/drawing/2014/main" id="{4EFE79DE-AAD0-4623-96E9-FA54CC2CB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32" y="3572"/>
              <a:ext cx="6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ACK(A)</a:t>
              </a:r>
            </a:p>
          </p:txBody>
        </p:sp>
      </p:grpSp>
      <p:grpSp>
        <p:nvGrpSpPr>
          <p:cNvPr id="6" name="Group 66">
            <a:extLst>
              <a:ext uri="{FF2B5EF4-FFF2-40B4-BE49-F238E27FC236}">
                <a16:creationId xmlns:a16="http://schemas.microsoft.com/office/drawing/2014/main" id="{441B3CE4-BD46-4255-B3EF-350CC4885611}"/>
              </a:ext>
            </a:extLst>
          </p:cNvPr>
          <p:cNvGrpSpPr>
            <a:grpSpLocks/>
          </p:cNvGrpSpPr>
          <p:nvPr/>
        </p:nvGrpSpPr>
        <p:grpSpPr bwMode="auto">
          <a:xfrm>
            <a:off x="4418013" y="2046288"/>
            <a:ext cx="3109912" cy="715962"/>
            <a:chOff x="2596" y="1330"/>
            <a:chExt cx="1959" cy="451"/>
          </a:xfrm>
        </p:grpSpPr>
        <p:sp>
          <p:nvSpPr>
            <p:cNvPr id="115740" name="AutoShape 10">
              <a:extLst>
                <a:ext uri="{FF2B5EF4-FFF2-40B4-BE49-F238E27FC236}">
                  <a16:creationId xmlns:a16="http://schemas.microsoft.com/office/drawing/2014/main" id="{588DB4F8-8C38-45B9-B575-8CC0B417E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1330"/>
              <a:ext cx="683" cy="293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5741" name="Text Box 11">
              <a:extLst>
                <a:ext uri="{FF2B5EF4-FFF2-40B4-BE49-F238E27FC236}">
                  <a16:creationId xmlns:a16="http://schemas.microsoft.com/office/drawing/2014/main" id="{83CABCE3-CB3A-4630-9215-9A023A300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8" y="1550"/>
              <a:ext cx="177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reservation collision</a:t>
              </a:r>
            </a:p>
          </p:txBody>
        </p:sp>
      </p:grpSp>
      <p:grpSp>
        <p:nvGrpSpPr>
          <p:cNvPr id="7" name="Group 1">
            <a:extLst>
              <a:ext uri="{FF2B5EF4-FFF2-40B4-BE49-F238E27FC236}">
                <a16:creationId xmlns:a16="http://schemas.microsoft.com/office/drawing/2014/main" id="{361EFA64-798F-45AF-A8EC-4AC145EA7FBE}"/>
              </a:ext>
            </a:extLst>
          </p:cNvPr>
          <p:cNvGrpSpPr>
            <a:grpSpLocks/>
          </p:cNvGrpSpPr>
          <p:nvPr/>
        </p:nvGrpSpPr>
        <p:grpSpPr bwMode="auto">
          <a:xfrm>
            <a:off x="8015288" y="3671888"/>
            <a:ext cx="711200" cy="2424112"/>
            <a:chOff x="8015288" y="3671888"/>
            <a:chExt cx="711200" cy="2424112"/>
          </a:xfrm>
        </p:grpSpPr>
        <p:sp>
          <p:nvSpPr>
            <p:cNvPr id="115738" name="Line 71">
              <a:extLst>
                <a:ext uri="{FF2B5EF4-FFF2-40B4-BE49-F238E27FC236}">
                  <a16:creationId xmlns:a16="http://schemas.microsoft.com/office/drawing/2014/main" id="{09571B00-661A-4509-B81A-B3F3F15062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8038" y="3671888"/>
              <a:ext cx="0" cy="2424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9" name="Text Box 72">
              <a:extLst>
                <a:ext uri="{FF2B5EF4-FFF2-40B4-BE49-F238E27FC236}">
                  <a16:creationId xmlns:a16="http://schemas.microsoft.com/office/drawing/2014/main" id="{91FA0D32-555D-4AAE-8FDF-99CA4CBE2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5288" y="4689475"/>
              <a:ext cx="711200" cy="369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defer</a:t>
              </a:r>
            </a:p>
          </p:txBody>
        </p:sp>
      </p:grpSp>
      <p:grpSp>
        <p:nvGrpSpPr>
          <p:cNvPr id="115727" name="Group 361">
            <a:extLst>
              <a:ext uri="{FF2B5EF4-FFF2-40B4-BE49-F238E27FC236}">
                <a16:creationId xmlns:a16="http://schemas.microsoft.com/office/drawing/2014/main" id="{05B2C324-17AE-4369-912B-FC46999039B4}"/>
              </a:ext>
            </a:extLst>
          </p:cNvPr>
          <p:cNvGrpSpPr>
            <a:grpSpLocks/>
          </p:cNvGrpSpPr>
          <p:nvPr/>
        </p:nvGrpSpPr>
        <p:grpSpPr bwMode="auto">
          <a:xfrm>
            <a:off x="4327525" y="1117600"/>
            <a:ext cx="650875" cy="561975"/>
            <a:chOff x="2967" y="478"/>
            <a:chExt cx="788" cy="625"/>
          </a:xfrm>
        </p:grpSpPr>
        <p:pic>
          <p:nvPicPr>
            <p:cNvPr id="115736" name="Picture 358" descr="access_point_stylized_small">
              <a:extLst>
                <a:ext uri="{FF2B5EF4-FFF2-40B4-BE49-F238E27FC236}">
                  <a16:creationId xmlns:a16="http://schemas.microsoft.com/office/drawing/2014/main" id="{A8E78CCE-F5B0-4B0F-92A9-F75988B1C5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7" name="Picture 360" descr="antenna_radiation_stylized">
              <a:extLst>
                <a:ext uri="{FF2B5EF4-FFF2-40B4-BE49-F238E27FC236}">
                  <a16:creationId xmlns:a16="http://schemas.microsoft.com/office/drawing/2014/main" id="{9F63F721-BE20-45F6-8163-21BC7A6572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5728" name="Group 356">
            <a:extLst>
              <a:ext uri="{FF2B5EF4-FFF2-40B4-BE49-F238E27FC236}">
                <a16:creationId xmlns:a16="http://schemas.microsoft.com/office/drawing/2014/main" id="{DADFB3EB-A590-4D50-8FC8-CD069615D706}"/>
              </a:ext>
            </a:extLst>
          </p:cNvPr>
          <p:cNvGrpSpPr>
            <a:grpSpLocks/>
          </p:cNvGrpSpPr>
          <p:nvPr/>
        </p:nvGrpSpPr>
        <p:grpSpPr bwMode="auto">
          <a:xfrm>
            <a:off x="1514475" y="1057275"/>
            <a:ext cx="609600" cy="598488"/>
            <a:chOff x="313" y="1497"/>
            <a:chExt cx="1152" cy="1014"/>
          </a:xfrm>
        </p:grpSpPr>
        <p:pic>
          <p:nvPicPr>
            <p:cNvPr id="115734" name="Picture 354" descr="laptop_stylized_small">
              <a:extLst>
                <a:ext uri="{FF2B5EF4-FFF2-40B4-BE49-F238E27FC236}">
                  <a16:creationId xmlns:a16="http://schemas.microsoft.com/office/drawing/2014/main" id="{D052AE64-3E33-44CD-AB77-58268231FF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5" name="Picture 355" descr="antenna_stylized">
              <a:extLst>
                <a:ext uri="{FF2B5EF4-FFF2-40B4-BE49-F238E27FC236}">
                  <a16:creationId xmlns:a16="http://schemas.microsoft.com/office/drawing/2014/main" id="{872D594D-5343-4896-B444-4439AD95C8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5729" name="Group 356">
            <a:extLst>
              <a:ext uri="{FF2B5EF4-FFF2-40B4-BE49-F238E27FC236}">
                <a16:creationId xmlns:a16="http://schemas.microsoft.com/office/drawing/2014/main" id="{D73096CA-C189-41AD-A2B4-BE3B5FC276D2}"/>
              </a:ext>
            </a:extLst>
          </p:cNvPr>
          <p:cNvGrpSpPr>
            <a:grpSpLocks/>
          </p:cNvGrpSpPr>
          <p:nvPr/>
        </p:nvGrpSpPr>
        <p:grpSpPr bwMode="auto">
          <a:xfrm>
            <a:off x="7966075" y="1087438"/>
            <a:ext cx="609600" cy="598487"/>
            <a:chOff x="313" y="1497"/>
            <a:chExt cx="1152" cy="1014"/>
          </a:xfrm>
        </p:grpSpPr>
        <p:pic>
          <p:nvPicPr>
            <p:cNvPr id="115732" name="Picture 354" descr="laptop_stylized_small">
              <a:extLst>
                <a:ext uri="{FF2B5EF4-FFF2-40B4-BE49-F238E27FC236}">
                  <a16:creationId xmlns:a16="http://schemas.microsoft.com/office/drawing/2014/main" id="{D4884EC0-417F-46AD-A55E-D05DE19BD2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3" name="Picture 355" descr="antenna_stylized">
              <a:extLst>
                <a:ext uri="{FF2B5EF4-FFF2-40B4-BE49-F238E27FC236}">
                  <a16:creationId xmlns:a16="http://schemas.microsoft.com/office/drawing/2014/main" id="{AE673344-24BE-4055-B2AD-A717222493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5730" name="页脚占位符 4">
            <a:extLst>
              <a:ext uri="{FF2B5EF4-FFF2-40B4-BE49-F238E27FC236}">
                <a16:creationId xmlns:a16="http://schemas.microsoft.com/office/drawing/2014/main" id="{F3980096-0458-4DA0-926F-C2A9408C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/>
              <a:t>4:Local area network  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5731" name="灯片编号占位符 5">
            <a:extLst>
              <a:ext uri="{FF2B5EF4-FFF2-40B4-BE49-F238E27FC236}">
                <a16:creationId xmlns:a16="http://schemas.microsoft.com/office/drawing/2014/main" id="{91E4ABE7-2A2B-4063-986D-FC5ED646C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F51B74DE-0610-412F-9606-9FB7FF7F2E6F}" type="slidenum">
              <a:rPr lang="en-US" altLang="zh-CN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>
            <a:extLst>
              <a:ext uri="{FF2B5EF4-FFF2-40B4-BE49-F238E27FC236}">
                <a16:creationId xmlns:a16="http://schemas.microsoft.com/office/drawing/2014/main" id="{5DAC1CDF-E70A-4463-BAA8-4666908D9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Gulim" panose="020B0600000101010101" pitchFamily="34" charset="-127"/>
              </a:rPr>
              <a:t>RTS/CTS (Continued)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256818E9-7B1E-4E35-AA19-E20267E32C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54125"/>
            <a:ext cx="8324850" cy="46482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ko-KR" sz="2400" dirty="0">
                <a:solidFill>
                  <a:srgbClr val="FF0000"/>
                </a:solidFill>
                <a:ea typeface="Gulim" pitchFamily="34" charset="-127"/>
              </a:rPr>
              <a:t>Avoid hidden terminal problems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ko-KR" sz="2400" dirty="0">
                <a:ea typeface="Gulim" pitchFamily="34" charset="-127"/>
              </a:rPr>
              <a:t>Also,</a:t>
            </a:r>
            <a:r>
              <a:rPr lang="en-US" altLang="ko-KR" sz="2400" dirty="0">
                <a:solidFill>
                  <a:srgbClr val="FF0000"/>
                </a:solidFill>
                <a:ea typeface="Gulim" pitchFamily="34" charset="-127"/>
              </a:rPr>
              <a:t> reduce bandwidth waste by collisions</a:t>
            </a:r>
          </a:p>
          <a:p>
            <a:pPr lvl="1">
              <a:defRPr/>
            </a:pPr>
            <a:r>
              <a:rPr lang="en-US" altLang="ko-KR" dirty="0">
                <a:ea typeface="Gulim" pitchFamily="34" charset="-127"/>
              </a:rPr>
              <a:t>Data frame can be as large as 2300bytes</a:t>
            </a:r>
          </a:p>
          <a:p>
            <a:pPr lvl="1">
              <a:defRPr/>
            </a:pPr>
            <a:r>
              <a:rPr lang="en-US" altLang="ko-KR" dirty="0">
                <a:ea typeface="Gulim" pitchFamily="34" charset="-127"/>
              </a:rPr>
              <a:t>RTS = 20bytes, CTS = 14bytes</a:t>
            </a:r>
          </a:p>
          <a:p>
            <a:pPr lvl="1">
              <a:defRPr/>
            </a:pPr>
            <a:r>
              <a:rPr lang="en-US" altLang="ko-KR" dirty="0">
                <a:ea typeface="Gulim" pitchFamily="34" charset="-127"/>
              </a:rPr>
              <a:t>The bigger is the data frame, the more advantageous</a:t>
            </a:r>
          </a:p>
          <a:p>
            <a:pPr marL="342900" lvl="1" indent="-342900">
              <a:buSzPct val="85000"/>
              <a:buFont typeface="Wingdings" pitchFamily="2" charset="2"/>
              <a:buChar char="q"/>
              <a:defRPr/>
            </a:pPr>
            <a:r>
              <a:rPr lang="en-US" altLang="ko-KR" dirty="0">
                <a:ea typeface="Gulim" pitchFamily="34" charset="-127"/>
              </a:rPr>
              <a:t>Price :</a:t>
            </a:r>
            <a:r>
              <a:rPr lang="en-US" altLang="ko-KR" dirty="0">
                <a:solidFill>
                  <a:srgbClr val="FF0000"/>
                </a:solidFill>
                <a:ea typeface="Gulim" pitchFamily="34" charset="-127"/>
              </a:rPr>
              <a:t> extended delay </a:t>
            </a:r>
            <a:r>
              <a:rPr lang="en-US" altLang="ko-KR" dirty="0">
                <a:ea typeface="Gulim" pitchFamily="34" charset="-127"/>
              </a:rPr>
              <a:t>and</a:t>
            </a:r>
            <a:r>
              <a:rPr lang="en-US" altLang="ko-KR" dirty="0">
                <a:solidFill>
                  <a:srgbClr val="FF0000"/>
                </a:solidFill>
                <a:ea typeface="Gulim" pitchFamily="34" charset="-127"/>
              </a:rPr>
              <a:t> more resource consumption!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ko-KR" sz="2400" dirty="0">
                <a:ea typeface="Gulim" pitchFamily="34" charset="-127"/>
              </a:rPr>
              <a:t>RTS threshold</a:t>
            </a:r>
          </a:p>
          <a:p>
            <a:pPr lvl="1">
              <a:defRPr/>
            </a:pPr>
            <a:r>
              <a:rPr lang="en-US" altLang="ko-KR" dirty="0">
                <a:ea typeface="Gulim" pitchFamily="34" charset="-127"/>
              </a:rPr>
              <a:t>Enable RTS/CTS for frames which are bigger than RTS threshold</a:t>
            </a:r>
          </a:p>
          <a:p>
            <a:pPr lvl="1">
              <a:defRPr/>
            </a:pPr>
            <a:r>
              <a:rPr lang="en-US" altLang="ko-KR" dirty="0">
                <a:ea typeface="Gulim" pitchFamily="34" charset="-127"/>
              </a:rPr>
              <a:t>Each node’s decision</a:t>
            </a:r>
          </a:p>
        </p:txBody>
      </p:sp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D8A47520-2BA3-401C-BE19-886ED69BA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ko-KR" altLang="en-US">
              <a:ea typeface="Gulim" pitchFamily="34" charset="-127"/>
            </a:endParaRPr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ko-KR" altLang="en-US">
              <a:ea typeface="Gulim" pitchFamily="34" charset="-127"/>
            </a:endParaRPr>
          </a:p>
        </p:txBody>
      </p:sp>
      <p:sp>
        <p:nvSpPr>
          <p:cNvPr id="59397" name="Rectangle 7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Gulim" pitchFamily="34" charset="-127"/>
              </a:rPr>
              <a:t>CSMA/CA access method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391F97-F866-4E0B-B71C-A75B7C5B6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1153821"/>
            <a:ext cx="7452747" cy="2715040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C5414B3-5DA4-49F8-ABAA-EBF86990B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3400" y="4164230"/>
            <a:ext cx="7772400" cy="1989964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50CD36-AD67-44B6-B4B8-144F09EF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894994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62" name="Group 2">
            <a:extLst>
              <a:ext uri="{FF2B5EF4-FFF2-40B4-BE49-F238E27FC236}">
                <a16:creationId xmlns:a16="http://schemas.microsoft.com/office/drawing/2014/main" id="{7FD6265D-BEF0-464A-AED2-16289BC6FEE7}"/>
              </a:ext>
            </a:extLst>
          </p:cNvPr>
          <p:cNvGrpSpPr>
            <a:grpSpLocks/>
          </p:cNvGrpSpPr>
          <p:nvPr/>
        </p:nvGrpSpPr>
        <p:grpSpPr bwMode="auto">
          <a:xfrm>
            <a:off x="288925" y="1812925"/>
            <a:ext cx="8077200" cy="985838"/>
            <a:chOff x="240" y="887"/>
            <a:chExt cx="5088" cy="621"/>
          </a:xfrm>
        </p:grpSpPr>
        <p:sp>
          <p:nvSpPr>
            <p:cNvPr id="117774" name="Rectangle 3">
              <a:extLst>
                <a:ext uri="{FF2B5EF4-FFF2-40B4-BE49-F238E27FC236}">
                  <a16:creationId xmlns:a16="http://schemas.microsoft.com/office/drawing/2014/main" id="{3227190F-C4F9-4A07-A0F1-35E488D3F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frame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control</a:t>
              </a:r>
            </a:p>
          </p:txBody>
        </p:sp>
        <p:sp>
          <p:nvSpPr>
            <p:cNvPr id="117775" name="Rectangle 4">
              <a:extLst>
                <a:ext uri="{FF2B5EF4-FFF2-40B4-BE49-F238E27FC236}">
                  <a16:creationId xmlns:a16="http://schemas.microsoft.com/office/drawing/2014/main" id="{C299FD03-0A38-4E23-9293-D3822F099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duration</a:t>
              </a:r>
            </a:p>
          </p:txBody>
        </p:sp>
        <p:sp>
          <p:nvSpPr>
            <p:cNvPr id="117776" name="Rectangle 5">
              <a:extLst>
                <a:ext uri="{FF2B5EF4-FFF2-40B4-BE49-F238E27FC236}">
                  <a16:creationId xmlns:a16="http://schemas.microsoft.com/office/drawing/2014/main" id="{4E813B92-8968-4F35-B327-243722740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address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1</a:t>
              </a:r>
            </a:p>
          </p:txBody>
        </p:sp>
        <p:sp>
          <p:nvSpPr>
            <p:cNvPr id="117777" name="Rectangle 6">
              <a:extLst>
                <a:ext uri="{FF2B5EF4-FFF2-40B4-BE49-F238E27FC236}">
                  <a16:creationId xmlns:a16="http://schemas.microsoft.com/office/drawing/2014/main" id="{A963ADBC-740C-4B20-A551-C81A72CF7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address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2</a:t>
              </a:r>
            </a:p>
          </p:txBody>
        </p:sp>
        <p:sp>
          <p:nvSpPr>
            <p:cNvPr id="117778" name="Rectangle 7">
              <a:extLst>
                <a:ext uri="{FF2B5EF4-FFF2-40B4-BE49-F238E27FC236}">
                  <a16:creationId xmlns:a16="http://schemas.microsoft.com/office/drawing/2014/main" id="{6B658D64-B583-4836-8AB7-DA42D555D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address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4</a:t>
              </a:r>
            </a:p>
          </p:txBody>
        </p:sp>
        <p:sp>
          <p:nvSpPr>
            <p:cNvPr id="117779" name="Rectangle 8">
              <a:extLst>
                <a:ext uri="{FF2B5EF4-FFF2-40B4-BE49-F238E27FC236}">
                  <a16:creationId xmlns:a16="http://schemas.microsoft.com/office/drawing/2014/main" id="{2D1C0544-9C7D-497D-9C97-28FAF665C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address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3</a:t>
              </a:r>
            </a:p>
          </p:txBody>
        </p:sp>
        <p:sp>
          <p:nvSpPr>
            <p:cNvPr id="117780" name="Rectangle 9">
              <a:extLst>
                <a:ext uri="{FF2B5EF4-FFF2-40B4-BE49-F238E27FC236}">
                  <a16:creationId xmlns:a16="http://schemas.microsoft.com/office/drawing/2014/main" id="{EE603C70-493F-45EF-B409-E2479EC82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781" name="Rectangle 10">
              <a:extLst>
                <a:ext uri="{FF2B5EF4-FFF2-40B4-BE49-F238E27FC236}">
                  <a16:creationId xmlns:a16="http://schemas.microsoft.com/office/drawing/2014/main" id="{73BF7EDD-5A6D-42DD-9FB2-C60B932DA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104"/>
              <a:ext cx="864" cy="38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payload</a:t>
              </a:r>
            </a:p>
          </p:txBody>
        </p:sp>
        <p:sp>
          <p:nvSpPr>
            <p:cNvPr id="117782" name="Rectangle 11">
              <a:extLst>
                <a:ext uri="{FF2B5EF4-FFF2-40B4-BE49-F238E27FC236}">
                  <a16:creationId xmlns:a16="http://schemas.microsoft.com/office/drawing/2014/main" id="{40E426FB-2BB6-4BBC-829F-592016627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CRC</a:t>
              </a:r>
            </a:p>
          </p:txBody>
        </p:sp>
        <p:sp>
          <p:nvSpPr>
            <p:cNvPr id="117783" name="Text Box 12">
              <a:extLst>
                <a:ext uri="{FF2B5EF4-FFF2-40B4-BE49-F238E27FC236}">
                  <a16:creationId xmlns:a16="http://schemas.microsoft.com/office/drawing/2014/main" id="{72C405BB-1D84-459C-904D-6AF9E0434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7784" name="Text Box 13">
              <a:extLst>
                <a:ext uri="{FF2B5EF4-FFF2-40B4-BE49-F238E27FC236}">
                  <a16:creationId xmlns:a16="http://schemas.microsoft.com/office/drawing/2014/main" id="{DE0DBB18-70E6-49C8-BFD7-0FA7C4B35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7785" name="Text Box 14">
              <a:extLst>
                <a:ext uri="{FF2B5EF4-FFF2-40B4-BE49-F238E27FC236}">
                  <a16:creationId xmlns:a16="http://schemas.microsoft.com/office/drawing/2014/main" id="{1C034659-3D3C-45B4-834A-A13F10805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17786" name="Text Box 15">
              <a:extLst>
                <a:ext uri="{FF2B5EF4-FFF2-40B4-BE49-F238E27FC236}">
                  <a16:creationId xmlns:a16="http://schemas.microsoft.com/office/drawing/2014/main" id="{A278FBAC-9179-4663-BDE9-87FECFB45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17787" name="Text Box 16">
              <a:extLst>
                <a:ext uri="{FF2B5EF4-FFF2-40B4-BE49-F238E27FC236}">
                  <a16:creationId xmlns:a16="http://schemas.microsoft.com/office/drawing/2014/main" id="{B619B431-8985-4FE5-BEF5-011326277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17788" name="Text Box 17">
              <a:extLst>
                <a:ext uri="{FF2B5EF4-FFF2-40B4-BE49-F238E27FC236}">
                  <a16:creationId xmlns:a16="http://schemas.microsoft.com/office/drawing/2014/main" id="{6A779042-D84B-47BA-B345-D7DF75EE1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7789" name="Text Box 18">
              <a:extLst>
                <a:ext uri="{FF2B5EF4-FFF2-40B4-BE49-F238E27FC236}">
                  <a16:creationId xmlns:a16="http://schemas.microsoft.com/office/drawing/2014/main" id="{E2F877DB-565C-4089-9A91-4CF122A15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8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17790" name="Text Box 19">
              <a:extLst>
                <a:ext uri="{FF2B5EF4-FFF2-40B4-BE49-F238E27FC236}">
                  <a16:creationId xmlns:a16="http://schemas.microsoft.com/office/drawing/2014/main" id="{35A2F9B7-C3A4-47E5-8C3C-289175651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912"/>
              <a:ext cx="6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0 - 2312</a:t>
              </a:r>
            </a:p>
          </p:txBody>
        </p:sp>
        <p:sp>
          <p:nvSpPr>
            <p:cNvPr id="117791" name="Text Box 20">
              <a:extLst>
                <a:ext uri="{FF2B5EF4-FFF2-40B4-BE49-F238E27FC236}">
                  <a16:creationId xmlns:a16="http://schemas.microsoft.com/office/drawing/2014/main" id="{32FA8E85-5F98-4A90-BDC0-C44695214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2" y="8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17792" name="Text Box 21">
              <a:extLst>
                <a:ext uri="{FF2B5EF4-FFF2-40B4-BE49-F238E27FC236}">
                  <a16:creationId xmlns:a16="http://schemas.microsoft.com/office/drawing/2014/main" id="{03D6CE9D-BDF2-47E0-8C08-843D6E869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1142"/>
              <a:ext cx="50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seq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control</a:t>
              </a:r>
            </a:p>
          </p:txBody>
        </p:sp>
      </p:grpSp>
      <p:sp>
        <p:nvSpPr>
          <p:cNvPr id="117763" name="Rectangle 49">
            <a:extLst>
              <a:ext uri="{FF2B5EF4-FFF2-40B4-BE49-F238E27FC236}">
                <a16:creationId xmlns:a16="http://schemas.microsoft.com/office/drawing/2014/main" id="{DE93F237-5768-4D27-A269-922F0E7B6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7163"/>
            <a:ext cx="6405563" cy="1143000"/>
          </a:xfrm>
        </p:spPr>
        <p:txBody>
          <a:bodyPr/>
          <a:lstStyle/>
          <a:p>
            <a:r>
              <a:rPr lang="en-US" altLang="zh-CN">
                <a:latin typeface="Gill Sans MT" panose="020B0502020104020203" pitchFamily="34" charset="0"/>
                <a:ea typeface="宋体" panose="02010600030101010101" pitchFamily="2" charset="-122"/>
              </a:rPr>
              <a:t>802.11 frame: addressing</a:t>
            </a:r>
          </a:p>
        </p:txBody>
      </p:sp>
      <p:sp>
        <p:nvSpPr>
          <p:cNvPr id="117764" name="Text Box 52">
            <a:extLst>
              <a:ext uri="{FF2B5EF4-FFF2-40B4-BE49-F238E27FC236}">
                <a16:creationId xmlns:a16="http://schemas.microsoft.com/office/drawing/2014/main" id="{C995BFBF-EA1C-461F-8E4C-C54AE936F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4719638"/>
            <a:ext cx="27352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C0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Address 2: </a:t>
            </a:r>
            <a:r>
              <a:rPr lang="en-US" altLang="zh-CN" sz="2000">
                <a:latin typeface="Gill Sans MT" panose="020B0502020104020203" pitchFamily="34" charset="0"/>
                <a:ea typeface="ＭＳ Ｐゴシック" panose="020B0600070205080204" pitchFamily="34" charset="-128"/>
              </a:rPr>
              <a:t>MAC address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Gill Sans MT" panose="020B0502020104020203" pitchFamily="34" charset="0"/>
                <a:ea typeface="ＭＳ Ｐゴシック" panose="020B0600070205080204" pitchFamily="34" charset="-128"/>
              </a:rPr>
              <a:t>of wireless host or AP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Gill Sans MT" panose="020B0502020104020203" pitchFamily="34" charset="0"/>
                <a:ea typeface="ＭＳ Ｐゴシック" panose="020B0600070205080204" pitchFamily="34" charset="-128"/>
              </a:rPr>
              <a:t>transmitting this frame</a:t>
            </a:r>
          </a:p>
        </p:txBody>
      </p:sp>
      <p:sp>
        <p:nvSpPr>
          <p:cNvPr id="117765" name="Line 53">
            <a:extLst>
              <a:ext uri="{FF2B5EF4-FFF2-40B4-BE49-F238E27FC236}">
                <a16:creationId xmlns:a16="http://schemas.microsoft.com/office/drawing/2014/main" id="{F85B72F4-ED5A-4F20-9B2B-23FEF68A2E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4725" y="2835275"/>
            <a:ext cx="1235075" cy="73025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7766" name="Line 54">
            <a:extLst>
              <a:ext uri="{FF2B5EF4-FFF2-40B4-BE49-F238E27FC236}">
                <a16:creationId xmlns:a16="http://schemas.microsoft.com/office/drawing/2014/main" id="{5D206421-3F34-4DE1-91BF-A3A021BBB99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86113" y="2849563"/>
            <a:ext cx="44450" cy="187325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7767" name="Text Box 55">
            <a:extLst>
              <a:ext uri="{FF2B5EF4-FFF2-40B4-BE49-F238E27FC236}">
                <a16:creationId xmlns:a16="http://schemas.microsoft.com/office/drawing/2014/main" id="{201D4CD4-3445-4A0E-B853-60127FE9D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3486150"/>
            <a:ext cx="27352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C0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Address 1: </a:t>
            </a:r>
            <a:r>
              <a:rPr lang="en-US" altLang="zh-CN" sz="2000">
                <a:latin typeface="Gill Sans MT" panose="020B0502020104020203" pitchFamily="34" charset="0"/>
                <a:ea typeface="ＭＳ Ｐゴシック" panose="020B0600070205080204" pitchFamily="34" charset="-128"/>
              </a:rPr>
              <a:t>MAC address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Gill Sans MT" panose="020B0502020104020203" pitchFamily="34" charset="0"/>
                <a:ea typeface="ＭＳ Ｐゴシック" panose="020B0600070205080204" pitchFamily="34" charset="-128"/>
              </a:rPr>
              <a:t>of wireless host or AP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Gill Sans MT" panose="020B0502020104020203" pitchFamily="34" charset="0"/>
                <a:ea typeface="ＭＳ Ｐゴシック" panose="020B0600070205080204" pitchFamily="34" charset="-128"/>
              </a:rPr>
              <a:t>to receive this frame</a:t>
            </a:r>
          </a:p>
        </p:txBody>
      </p:sp>
      <p:sp>
        <p:nvSpPr>
          <p:cNvPr id="117768" name="Line 56">
            <a:extLst>
              <a:ext uri="{FF2B5EF4-FFF2-40B4-BE49-F238E27FC236}">
                <a16:creationId xmlns:a16="http://schemas.microsoft.com/office/drawing/2014/main" id="{8B01825E-4D39-455A-9A7A-E4FDF9B01E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78275" y="2879725"/>
            <a:ext cx="609600" cy="8366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7769" name="Text Box 57">
            <a:extLst>
              <a:ext uri="{FF2B5EF4-FFF2-40B4-BE49-F238E27FC236}">
                <a16:creationId xmlns:a16="http://schemas.microsoft.com/office/drawing/2014/main" id="{55323F1D-BBD8-42EF-BC20-329C1DA07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863" y="3851275"/>
            <a:ext cx="30495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C0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Address 3: </a:t>
            </a:r>
            <a:r>
              <a:rPr lang="en-US" altLang="zh-CN" sz="2000">
                <a:latin typeface="Gill Sans MT" panose="020B0502020104020203" pitchFamily="34" charset="0"/>
                <a:ea typeface="ＭＳ Ｐゴシック" panose="020B0600070205080204" pitchFamily="34" charset="-128"/>
              </a:rPr>
              <a:t>MAC address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Gill Sans MT" panose="020B0502020104020203" pitchFamily="34" charset="0"/>
                <a:ea typeface="ＭＳ Ｐゴシック" panose="020B0600070205080204" pitchFamily="34" charset="-128"/>
              </a:rPr>
              <a:t>of router interface to which AP is attached</a:t>
            </a:r>
          </a:p>
        </p:txBody>
      </p:sp>
      <p:sp>
        <p:nvSpPr>
          <p:cNvPr id="117770" name="Text Box 58">
            <a:extLst>
              <a:ext uri="{FF2B5EF4-FFF2-40B4-BE49-F238E27FC236}">
                <a16:creationId xmlns:a16="http://schemas.microsoft.com/office/drawing/2014/main" id="{FEA7F9A9-9601-4366-8AAB-4A414E074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3071813"/>
            <a:ext cx="26066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C0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Address 4: </a:t>
            </a:r>
            <a:r>
              <a:rPr lang="en-US" altLang="zh-CN" sz="2000">
                <a:latin typeface="Gill Sans MT" panose="020B0502020104020203" pitchFamily="34" charset="0"/>
                <a:ea typeface="ＭＳ Ｐゴシック" panose="020B0600070205080204" pitchFamily="34" charset="-128"/>
              </a:rPr>
              <a:t>used only in ad hoc mode</a:t>
            </a:r>
          </a:p>
        </p:txBody>
      </p:sp>
      <p:sp>
        <p:nvSpPr>
          <p:cNvPr id="117771" name="Line 59">
            <a:extLst>
              <a:ext uri="{FF2B5EF4-FFF2-40B4-BE49-F238E27FC236}">
                <a16:creationId xmlns:a16="http://schemas.microsoft.com/office/drawing/2014/main" id="{3E981DF7-740D-475A-9A2D-47121159CA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94350" y="2833688"/>
            <a:ext cx="290513" cy="379412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7772" name="页脚占位符 4">
            <a:extLst>
              <a:ext uri="{FF2B5EF4-FFF2-40B4-BE49-F238E27FC236}">
                <a16:creationId xmlns:a16="http://schemas.microsoft.com/office/drawing/2014/main" id="{D1A4F07E-2F00-4316-B739-1871A570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/>
              <a:t>  </a:t>
            </a:r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117773" name="灯片编号占位符 5">
            <a:extLst>
              <a:ext uri="{FF2B5EF4-FFF2-40B4-BE49-F238E27FC236}">
                <a16:creationId xmlns:a16="http://schemas.microsoft.com/office/drawing/2014/main" id="{A45AB74A-68BA-4169-B73B-2DF8A92B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52F26957-8844-4D68-9FA5-47644F740036}" type="slidenum">
              <a:rPr lang="en-US" altLang="zh-CN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Oval 3">
            <a:extLst>
              <a:ext uri="{FF2B5EF4-FFF2-40B4-BE49-F238E27FC236}">
                <a16:creationId xmlns:a16="http://schemas.microsoft.com/office/drawing/2014/main" id="{F5961AEE-3851-4C9F-BFE6-E1403CB10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788" y="1216025"/>
            <a:ext cx="2454275" cy="2374900"/>
          </a:xfrm>
          <a:prstGeom prst="ellipse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9811" name="Line 23">
            <a:extLst>
              <a:ext uri="{FF2B5EF4-FFF2-40B4-BE49-F238E27FC236}">
                <a16:creationId xmlns:a16="http://schemas.microsoft.com/office/drawing/2014/main" id="{56B22460-E53B-4203-A006-77C809225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7289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12" name="Line 25">
            <a:extLst>
              <a:ext uri="{FF2B5EF4-FFF2-40B4-BE49-F238E27FC236}">
                <a16:creationId xmlns:a16="http://schemas.microsoft.com/office/drawing/2014/main" id="{3709065A-9254-44B0-9F6D-B799867BFD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2271713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9813" name="Group 26">
            <a:extLst>
              <a:ext uri="{FF2B5EF4-FFF2-40B4-BE49-F238E27FC236}">
                <a16:creationId xmlns:a16="http://schemas.microsoft.com/office/drawing/2014/main" id="{A57E13DC-621C-4493-9B54-C071BC4753AC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1433513"/>
            <a:ext cx="2362200" cy="1762125"/>
            <a:chOff x="3744" y="1392"/>
            <a:chExt cx="1488" cy="1110"/>
          </a:xfrm>
        </p:grpSpPr>
        <p:sp>
          <p:nvSpPr>
            <p:cNvPr id="119902" name="Freeform 27">
              <a:extLst>
                <a:ext uri="{FF2B5EF4-FFF2-40B4-BE49-F238E27FC236}">
                  <a16:creationId xmlns:a16="http://schemas.microsoft.com/office/drawing/2014/main" id="{D4D90381-F539-465F-AA7E-372FCF852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392"/>
              <a:ext cx="1488" cy="1110"/>
            </a:xfrm>
            <a:custGeom>
              <a:avLst/>
              <a:gdLst>
                <a:gd name="T0" fmla="*/ 1 w 2135"/>
                <a:gd name="T1" fmla="*/ 1 h 1662"/>
                <a:gd name="T2" fmla="*/ 1 w 2135"/>
                <a:gd name="T3" fmla="*/ 1 h 1662"/>
                <a:gd name="T4" fmla="*/ 3 w 2135"/>
                <a:gd name="T5" fmla="*/ 1 h 1662"/>
                <a:gd name="T6" fmla="*/ 6 w 2135"/>
                <a:gd name="T7" fmla="*/ 1 h 1662"/>
                <a:gd name="T8" fmla="*/ 9 w 2135"/>
                <a:gd name="T9" fmla="*/ 1 h 1662"/>
                <a:gd name="T10" fmla="*/ 9 w 2135"/>
                <a:gd name="T11" fmla="*/ 3 h 1662"/>
                <a:gd name="T12" fmla="*/ 7 w 2135"/>
                <a:gd name="T13" fmla="*/ 4 h 1662"/>
                <a:gd name="T14" fmla="*/ 3 w 2135"/>
                <a:gd name="T15" fmla="*/ 3 h 1662"/>
                <a:gd name="T16" fmla="*/ 2 w 2135"/>
                <a:gd name="T17" fmla="*/ 3 h 1662"/>
                <a:gd name="T18" fmla="*/ 1 w 2135"/>
                <a:gd name="T19" fmla="*/ 3 h 1662"/>
                <a:gd name="T20" fmla="*/ 1 w 2135"/>
                <a:gd name="T21" fmla="*/ 1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03" name="Text Box 28">
              <a:extLst>
                <a:ext uri="{FF2B5EF4-FFF2-40B4-BE49-F238E27FC236}">
                  <a16:creationId xmlns:a16="http://schemas.microsoft.com/office/drawing/2014/main" id="{8984EE64-AB8F-4306-9C29-017711201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776"/>
              <a:ext cx="6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Internet</a:t>
              </a:r>
            </a:p>
          </p:txBody>
        </p:sp>
      </p:grpSp>
      <p:grpSp>
        <p:nvGrpSpPr>
          <p:cNvPr id="119814" name="Group 161">
            <a:extLst>
              <a:ext uri="{FF2B5EF4-FFF2-40B4-BE49-F238E27FC236}">
                <a16:creationId xmlns:a16="http://schemas.microsoft.com/office/drawing/2014/main" id="{4783848B-0E46-450C-9F25-B64E0F578D1A}"/>
              </a:ext>
            </a:extLst>
          </p:cNvPr>
          <p:cNvGrpSpPr>
            <a:grpSpLocks/>
          </p:cNvGrpSpPr>
          <p:nvPr/>
        </p:nvGrpSpPr>
        <p:grpSpPr bwMode="auto">
          <a:xfrm>
            <a:off x="4699000" y="2284413"/>
            <a:ext cx="787400" cy="525462"/>
            <a:chOff x="2960" y="1439"/>
            <a:chExt cx="496" cy="331"/>
          </a:xfrm>
        </p:grpSpPr>
        <p:grpSp>
          <p:nvGrpSpPr>
            <p:cNvPr id="119887" name="Group 4">
              <a:extLst>
                <a:ext uri="{FF2B5EF4-FFF2-40B4-BE49-F238E27FC236}">
                  <a16:creationId xmlns:a16="http://schemas.microsoft.com/office/drawing/2014/main" id="{7F4D91EB-1CD6-4C2A-BBB8-2ABF7EB4D2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623"/>
              <a:ext cx="315" cy="147"/>
              <a:chOff x="3600" y="219"/>
              <a:chExt cx="360" cy="175"/>
            </a:xfrm>
          </p:grpSpPr>
          <p:sp>
            <p:nvSpPr>
              <p:cNvPr id="119889" name="Oval 5">
                <a:extLst>
                  <a:ext uri="{FF2B5EF4-FFF2-40B4-BE49-F238E27FC236}">
                    <a16:creationId xmlns:a16="http://schemas.microsoft.com/office/drawing/2014/main" id="{74B5731B-3BD7-44A7-A8AB-8DF6430B1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8"/>
                <a:ext cx="357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90" name="Line 6">
                <a:extLst>
                  <a:ext uri="{FF2B5EF4-FFF2-40B4-BE49-F238E27FC236}">
                    <a16:creationId xmlns:a16="http://schemas.microsoft.com/office/drawing/2014/main" id="{FB9E9AA5-FD51-482B-AC16-B60C327596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891" name="Line 7">
                <a:extLst>
                  <a:ext uri="{FF2B5EF4-FFF2-40B4-BE49-F238E27FC236}">
                    <a16:creationId xmlns:a16="http://schemas.microsoft.com/office/drawing/2014/main" id="{F95F0E86-4374-4593-8DC2-18E7E7C619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892" name="Rectangle 8">
                <a:extLst>
                  <a:ext uri="{FF2B5EF4-FFF2-40B4-BE49-F238E27FC236}">
                    <a16:creationId xmlns:a16="http://schemas.microsoft.com/office/drawing/2014/main" id="{CE634F2C-BB66-441F-A04E-984DABBB1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93" name="Oval 9">
                <a:extLst>
                  <a:ext uri="{FF2B5EF4-FFF2-40B4-BE49-F238E27FC236}">
                    <a16:creationId xmlns:a16="http://schemas.microsoft.com/office/drawing/2014/main" id="{9F4E2137-F821-4395-9FE4-0F27A9DC4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119894" name="Group 10">
                <a:extLst>
                  <a:ext uri="{FF2B5EF4-FFF2-40B4-BE49-F238E27FC236}">
                    <a16:creationId xmlns:a16="http://schemas.microsoft.com/office/drawing/2014/main" id="{46FE9ABC-9BC7-41B0-B9F5-D5663B9C6A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9899" name="Line 11">
                  <a:extLst>
                    <a:ext uri="{FF2B5EF4-FFF2-40B4-BE49-F238E27FC236}">
                      <a16:creationId xmlns:a16="http://schemas.microsoft.com/office/drawing/2014/main" id="{F7EC0B0B-C090-448E-8BFB-FF1320D0CA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9900" name="Line 12">
                  <a:extLst>
                    <a:ext uri="{FF2B5EF4-FFF2-40B4-BE49-F238E27FC236}">
                      <a16:creationId xmlns:a16="http://schemas.microsoft.com/office/drawing/2014/main" id="{70FACDF1-9C9F-42B5-8E3F-C17AD54B31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5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9901" name="Line 13">
                  <a:extLst>
                    <a:ext uri="{FF2B5EF4-FFF2-40B4-BE49-F238E27FC236}">
                      <a16:creationId xmlns:a16="http://schemas.microsoft.com/office/drawing/2014/main" id="{A3431311-BA70-487F-8304-C53C0D3EFE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895" name="Group 14">
                <a:extLst>
                  <a:ext uri="{FF2B5EF4-FFF2-40B4-BE49-F238E27FC236}">
                    <a16:creationId xmlns:a16="http://schemas.microsoft.com/office/drawing/2014/main" id="{83D01169-34C7-49FF-A3E8-0F0EA75C9B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9896" name="Line 15">
                  <a:extLst>
                    <a:ext uri="{FF2B5EF4-FFF2-40B4-BE49-F238E27FC236}">
                      <a16:creationId xmlns:a16="http://schemas.microsoft.com/office/drawing/2014/main" id="{1BE99391-536E-4038-AA53-AB6F8B34F4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7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9897" name="Line 16">
                  <a:extLst>
                    <a:ext uri="{FF2B5EF4-FFF2-40B4-BE49-F238E27FC236}">
                      <a16:creationId xmlns:a16="http://schemas.microsoft.com/office/drawing/2014/main" id="{457DD439-7506-4D18-8DC0-56D99E5227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9898" name="Line 17">
                  <a:extLst>
                    <a:ext uri="{FF2B5EF4-FFF2-40B4-BE49-F238E27FC236}">
                      <a16:creationId xmlns:a16="http://schemas.microsoft.com/office/drawing/2014/main" id="{5D63C6D0-EEE4-486B-B92A-C1D6B42C5B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19888" name="Text Box 29">
              <a:extLst>
                <a:ext uri="{FF2B5EF4-FFF2-40B4-BE49-F238E27FC236}">
                  <a16:creationId xmlns:a16="http://schemas.microsoft.com/office/drawing/2014/main" id="{E39859E7-DAC5-4625-874A-480880E2D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0" y="1439"/>
              <a:ext cx="4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router</a:t>
              </a:r>
            </a:p>
          </p:txBody>
        </p:sp>
      </p:grpSp>
      <p:sp>
        <p:nvSpPr>
          <p:cNvPr id="119815" name="Text Box 90">
            <a:extLst>
              <a:ext uri="{FF2B5EF4-FFF2-40B4-BE49-F238E27FC236}">
                <a16:creationId xmlns:a16="http://schemas.microsoft.com/office/drawing/2014/main" id="{FA332D0F-3C45-409A-8B2D-6232EE3AC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200" y="2347913"/>
            <a:ext cx="47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19816" name="Text Box 93">
            <a:extLst>
              <a:ext uri="{FF2B5EF4-FFF2-40B4-BE49-F238E27FC236}">
                <a16:creationId xmlns:a16="http://schemas.microsoft.com/office/drawing/2014/main" id="{B6C4C1BD-3A11-4C7B-88E6-E3FD2E618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525" y="2376488"/>
            <a:ext cx="47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R1</a:t>
            </a:r>
          </a:p>
        </p:txBody>
      </p:sp>
      <p:grpSp>
        <p:nvGrpSpPr>
          <p:cNvPr id="7" name="Group 157">
            <a:extLst>
              <a:ext uri="{FF2B5EF4-FFF2-40B4-BE49-F238E27FC236}">
                <a16:creationId xmlns:a16="http://schemas.microsoft.com/office/drawing/2014/main" id="{B3D2CBB8-A88A-42F3-9AA5-221ECC36BA81}"/>
              </a:ext>
            </a:extLst>
          </p:cNvPr>
          <p:cNvGrpSpPr>
            <a:grpSpLocks/>
          </p:cNvGrpSpPr>
          <p:nvPr/>
        </p:nvGrpSpPr>
        <p:grpSpPr bwMode="auto">
          <a:xfrm>
            <a:off x="349250" y="2392363"/>
            <a:ext cx="5356225" cy="3916362"/>
            <a:chOff x="268" y="1180"/>
            <a:chExt cx="3374" cy="2467"/>
          </a:xfrm>
        </p:grpSpPr>
        <p:sp>
          <p:nvSpPr>
            <p:cNvPr id="119858" name="Line 94">
              <a:extLst>
                <a:ext uri="{FF2B5EF4-FFF2-40B4-BE49-F238E27FC236}">
                  <a16:creationId xmlns:a16="http://schemas.microsoft.com/office/drawing/2014/main" id="{786686AC-8E53-410B-8732-CFE3D53F2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2" y="1180"/>
              <a:ext cx="566" cy="21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859" name="Rectangle 98">
              <a:extLst>
                <a:ext uri="{FF2B5EF4-FFF2-40B4-BE49-F238E27FC236}">
                  <a16:creationId xmlns:a16="http://schemas.microsoft.com/office/drawing/2014/main" id="{3B811355-23A1-45DF-84E1-AB3A93FDB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2897"/>
              <a:ext cx="3280" cy="2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9860" name="Freeform 95">
              <a:extLst>
                <a:ext uri="{FF2B5EF4-FFF2-40B4-BE49-F238E27FC236}">
                  <a16:creationId xmlns:a16="http://schemas.microsoft.com/office/drawing/2014/main" id="{912D7B72-ADC4-49F4-BF4A-FCF930411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" y="1426"/>
              <a:ext cx="3374" cy="1668"/>
            </a:xfrm>
            <a:custGeom>
              <a:avLst/>
              <a:gdLst>
                <a:gd name="T0" fmla="*/ 1397 w 3374"/>
                <a:gd name="T1" fmla="*/ 0 h 1668"/>
                <a:gd name="T2" fmla="*/ 104 w 3374"/>
                <a:gd name="T3" fmla="*/ 1445 h 1668"/>
                <a:gd name="T4" fmla="*/ 1294 w 3374"/>
                <a:gd name="T5" fmla="*/ 1418 h 1668"/>
                <a:gd name="T6" fmla="*/ 3374 w 3374"/>
                <a:gd name="T7" fmla="*/ 1445 h 1668"/>
                <a:gd name="T8" fmla="*/ 1585 w 3374"/>
                <a:gd name="T9" fmla="*/ 75 h 1668"/>
                <a:gd name="T10" fmla="*/ 1397 w 3374"/>
                <a:gd name="T11" fmla="*/ 0 h 16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74"/>
                <a:gd name="T19" fmla="*/ 0 h 1668"/>
                <a:gd name="T20" fmla="*/ 3374 w 3374"/>
                <a:gd name="T21" fmla="*/ 1668 h 16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74" h="1668">
                  <a:moveTo>
                    <a:pt x="1397" y="0"/>
                  </a:moveTo>
                  <a:cubicBezTo>
                    <a:pt x="1255" y="557"/>
                    <a:pt x="999" y="1064"/>
                    <a:pt x="104" y="1445"/>
                  </a:cubicBezTo>
                  <a:cubicBezTo>
                    <a:pt x="0" y="1641"/>
                    <a:pt x="719" y="1436"/>
                    <a:pt x="1294" y="1418"/>
                  </a:cubicBezTo>
                  <a:cubicBezTo>
                    <a:pt x="1839" y="1418"/>
                    <a:pt x="3326" y="1668"/>
                    <a:pt x="3374" y="1445"/>
                  </a:cubicBezTo>
                  <a:cubicBezTo>
                    <a:pt x="1983" y="1002"/>
                    <a:pt x="1929" y="582"/>
                    <a:pt x="1585" y="75"/>
                  </a:cubicBezTo>
                  <a:cubicBezTo>
                    <a:pt x="1491" y="25"/>
                    <a:pt x="1529" y="67"/>
                    <a:pt x="1397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bg1">
                    <a:alpha val="17998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61" name="Rectangle 96">
              <a:extLst>
                <a:ext uri="{FF2B5EF4-FFF2-40B4-BE49-F238E27FC236}">
                  <a16:creationId xmlns:a16="http://schemas.microsoft.com/office/drawing/2014/main" id="{FE101F1A-5193-493A-BB36-ABC90E6B9C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84652">
              <a:off x="1621" y="1314"/>
              <a:ext cx="355" cy="115"/>
            </a:xfrm>
            <a:prstGeom prst="rect">
              <a:avLst/>
            </a:prstGeom>
            <a:solidFill>
              <a:srgbClr val="262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9862" name="Text Box 97">
              <a:extLst>
                <a:ext uri="{FF2B5EF4-FFF2-40B4-BE49-F238E27FC236}">
                  <a16:creationId xmlns:a16="http://schemas.microsoft.com/office/drawing/2014/main" id="{37736AF8-CD12-4BFA-8770-27B0BB38C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" y="2923"/>
              <a:ext cx="29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AP MAC addr  H1 MAC addr R1 MAC addr</a:t>
              </a:r>
            </a:p>
          </p:txBody>
        </p:sp>
        <p:sp>
          <p:nvSpPr>
            <p:cNvPr id="119863" name="Line 99">
              <a:extLst>
                <a:ext uri="{FF2B5EF4-FFF2-40B4-BE49-F238E27FC236}">
                  <a16:creationId xmlns:a16="http://schemas.microsoft.com/office/drawing/2014/main" id="{7150D4E2-3EB6-4957-9A19-9616C76331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" y="2897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864" name="Line 100">
              <a:extLst>
                <a:ext uri="{FF2B5EF4-FFF2-40B4-BE49-F238E27FC236}">
                  <a16:creationId xmlns:a16="http://schemas.microsoft.com/office/drawing/2014/main" id="{C18C3069-DE43-4C21-A77F-1DEC8AF8E4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2897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865" name="Line 101">
              <a:extLst>
                <a:ext uri="{FF2B5EF4-FFF2-40B4-BE49-F238E27FC236}">
                  <a16:creationId xmlns:a16="http://schemas.microsoft.com/office/drawing/2014/main" id="{6A51B521-8BC0-4E7D-8F61-E5E5DD06E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2897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19866" name="Group 106">
              <a:extLst>
                <a:ext uri="{FF2B5EF4-FFF2-40B4-BE49-F238E27FC236}">
                  <a16:creationId xmlns:a16="http://schemas.microsoft.com/office/drawing/2014/main" id="{E799E08A-B2B1-48E5-899A-E51B864D94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" y="3107"/>
              <a:ext cx="120" cy="114"/>
              <a:chOff x="1300" y="3186"/>
              <a:chExt cx="120" cy="114"/>
            </a:xfrm>
          </p:grpSpPr>
          <p:sp>
            <p:nvSpPr>
              <p:cNvPr id="119884" name="Rectangle 105">
                <a:extLst>
                  <a:ext uri="{FF2B5EF4-FFF2-40B4-BE49-F238E27FC236}">
                    <a16:creationId xmlns:a16="http://schemas.microsoft.com/office/drawing/2014/main" id="{C0D55AF0-F1E8-49F7-8FA3-FFAB053D4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85" name="Freeform 103">
                <a:extLst>
                  <a:ext uri="{FF2B5EF4-FFF2-40B4-BE49-F238E27FC236}">
                    <a16:creationId xmlns:a16="http://schemas.microsoft.com/office/drawing/2014/main" id="{3D5FA5B6-A728-4F53-AD78-3054BEF684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9886" name="Freeform 104">
                <a:extLst>
                  <a:ext uri="{FF2B5EF4-FFF2-40B4-BE49-F238E27FC236}">
                    <a16:creationId xmlns:a16="http://schemas.microsoft.com/office/drawing/2014/main" id="{F5127DFD-D4A6-432F-815E-69E469B20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9867" name="Group 107">
              <a:extLst>
                <a:ext uri="{FF2B5EF4-FFF2-40B4-BE49-F238E27FC236}">
                  <a16:creationId xmlns:a16="http://schemas.microsoft.com/office/drawing/2014/main" id="{D28049C6-DFF2-4A3F-9C1A-808196ED59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" y="2839"/>
              <a:ext cx="120" cy="114"/>
              <a:chOff x="1300" y="3186"/>
              <a:chExt cx="120" cy="114"/>
            </a:xfrm>
          </p:grpSpPr>
          <p:sp>
            <p:nvSpPr>
              <p:cNvPr id="119881" name="Rectangle 108">
                <a:extLst>
                  <a:ext uri="{FF2B5EF4-FFF2-40B4-BE49-F238E27FC236}">
                    <a16:creationId xmlns:a16="http://schemas.microsoft.com/office/drawing/2014/main" id="{01CCCBE8-A216-4150-849C-957CB6688A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82" name="Freeform 109">
                <a:extLst>
                  <a:ext uri="{FF2B5EF4-FFF2-40B4-BE49-F238E27FC236}">
                    <a16:creationId xmlns:a16="http://schemas.microsoft.com/office/drawing/2014/main" id="{948E5C94-39AF-44A2-861D-B8467FDA94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9883" name="Freeform 110">
                <a:extLst>
                  <a:ext uri="{FF2B5EF4-FFF2-40B4-BE49-F238E27FC236}">
                    <a16:creationId xmlns:a16="http://schemas.microsoft.com/office/drawing/2014/main" id="{3AF299E5-3251-4C44-BCC5-54B55DE20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9868" name="Group 111">
              <a:extLst>
                <a:ext uri="{FF2B5EF4-FFF2-40B4-BE49-F238E27FC236}">
                  <a16:creationId xmlns:a16="http://schemas.microsoft.com/office/drawing/2014/main" id="{2E07DB75-D608-4923-8B83-1E8BA24FC5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851"/>
              <a:ext cx="120" cy="114"/>
              <a:chOff x="1300" y="3186"/>
              <a:chExt cx="120" cy="114"/>
            </a:xfrm>
          </p:grpSpPr>
          <p:sp>
            <p:nvSpPr>
              <p:cNvPr id="119878" name="Rectangle 112">
                <a:extLst>
                  <a:ext uri="{FF2B5EF4-FFF2-40B4-BE49-F238E27FC236}">
                    <a16:creationId xmlns:a16="http://schemas.microsoft.com/office/drawing/2014/main" id="{B4AA8CB0-6615-4D9A-821C-F58CA6C9C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79" name="Freeform 113">
                <a:extLst>
                  <a:ext uri="{FF2B5EF4-FFF2-40B4-BE49-F238E27FC236}">
                    <a16:creationId xmlns:a16="http://schemas.microsoft.com/office/drawing/2014/main" id="{D17DFA75-94F5-4D11-9581-B998698EE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9880" name="Freeform 114">
                <a:extLst>
                  <a:ext uri="{FF2B5EF4-FFF2-40B4-BE49-F238E27FC236}">
                    <a16:creationId xmlns:a16="http://schemas.microsoft.com/office/drawing/2014/main" id="{A45FF524-5090-4F16-82DC-103EEF766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9869" name="Line 115">
              <a:extLst>
                <a:ext uri="{FF2B5EF4-FFF2-40B4-BE49-F238E27FC236}">
                  <a16:creationId xmlns:a16="http://schemas.microsoft.com/office/drawing/2014/main" id="{7CB26832-A1ED-4BCC-A6BE-5B42DE7B7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4" y="2903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19870" name="Group 116">
              <a:extLst>
                <a:ext uri="{FF2B5EF4-FFF2-40B4-BE49-F238E27FC236}">
                  <a16:creationId xmlns:a16="http://schemas.microsoft.com/office/drawing/2014/main" id="{04A72A97-2970-478C-BADD-181D489A85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2" y="3103"/>
              <a:ext cx="120" cy="114"/>
              <a:chOff x="1300" y="3186"/>
              <a:chExt cx="120" cy="114"/>
            </a:xfrm>
          </p:grpSpPr>
          <p:sp>
            <p:nvSpPr>
              <p:cNvPr id="119875" name="Rectangle 117">
                <a:extLst>
                  <a:ext uri="{FF2B5EF4-FFF2-40B4-BE49-F238E27FC236}">
                    <a16:creationId xmlns:a16="http://schemas.microsoft.com/office/drawing/2014/main" id="{D5F7C29E-FC14-4888-AF5A-89E4F3EB7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76" name="Freeform 118">
                <a:extLst>
                  <a:ext uri="{FF2B5EF4-FFF2-40B4-BE49-F238E27FC236}">
                    <a16:creationId xmlns:a16="http://schemas.microsoft.com/office/drawing/2014/main" id="{86E1C67F-EF94-43D5-AE38-59CEF1DEDA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9877" name="Freeform 119">
                <a:extLst>
                  <a:ext uri="{FF2B5EF4-FFF2-40B4-BE49-F238E27FC236}">
                    <a16:creationId xmlns:a16="http://schemas.microsoft.com/office/drawing/2014/main" id="{32ADF11D-C71E-4E44-AEDF-F7B3C9055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9871" name="Text Box 120">
              <a:extLst>
                <a:ext uri="{FF2B5EF4-FFF2-40B4-BE49-F238E27FC236}">
                  <a16:creationId xmlns:a16="http://schemas.microsoft.com/office/drawing/2014/main" id="{5D8E6BF8-D82B-496D-87C4-D0A3325C1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" y="3182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address 1</a:t>
              </a:r>
            </a:p>
          </p:txBody>
        </p:sp>
        <p:sp>
          <p:nvSpPr>
            <p:cNvPr id="119872" name="Text Box 121">
              <a:extLst>
                <a:ext uri="{FF2B5EF4-FFF2-40B4-BE49-F238E27FC236}">
                  <a16:creationId xmlns:a16="http://schemas.microsoft.com/office/drawing/2014/main" id="{B4C0E0A9-E32E-4703-8317-C2B7458B7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" y="3180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address 2</a:t>
              </a:r>
            </a:p>
          </p:txBody>
        </p:sp>
        <p:sp>
          <p:nvSpPr>
            <p:cNvPr id="119873" name="Text Box 122">
              <a:extLst>
                <a:ext uri="{FF2B5EF4-FFF2-40B4-BE49-F238E27FC236}">
                  <a16:creationId xmlns:a16="http://schemas.microsoft.com/office/drawing/2014/main" id="{C94E9AC4-AF24-4327-97E5-B5BE9DCED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0" y="3171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address 3</a:t>
              </a:r>
            </a:p>
          </p:txBody>
        </p:sp>
        <p:sp>
          <p:nvSpPr>
            <p:cNvPr id="119874" name="Text Box 123">
              <a:extLst>
                <a:ext uri="{FF2B5EF4-FFF2-40B4-BE49-F238E27FC236}">
                  <a16:creationId xmlns:a16="http://schemas.microsoft.com/office/drawing/2014/main" id="{E269697A-FAEC-45EC-ABE8-BFA40F388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9" y="3414"/>
              <a:ext cx="96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802.</a:t>
              </a:r>
              <a:r>
                <a:rPr lang="en-US" altLang="zh-CN" sz="1800" b="1">
                  <a:solidFill>
                    <a:srgbClr val="C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11</a:t>
              </a:r>
              <a:r>
                <a:rPr lang="en-US" altLang="zh-CN" sz="1800">
                  <a:solidFill>
                    <a:srgbClr val="C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frame</a:t>
              </a:r>
            </a:p>
          </p:txBody>
        </p:sp>
      </p:grpSp>
      <p:grpSp>
        <p:nvGrpSpPr>
          <p:cNvPr id="12" name="Group 160">
            <a:extLst>
              <a:ext uri="{FF2B5EF4-FFF2-40B4-BE49-F238E27FC236}">
                <a16:creationId xmlns:a16="http://schemas.microsoft.com/office/drawing/2014/main" id="{C2C76F17-35F4-4523-90D0-EC424DF92679}"/>
              </a:ext>
            </a:extLst>
          </p:cNvPr>
          <p:cNvGrpSpPr>
            <a:grpSpLocks/>
          </p:cNvGrpSpPr>
          <p:nvPr/>
        </p:nvGrpSpPr>
        <p:grpSpPr bwMode="auto">
          <a:xfrm>
            <a:off x="3811588" y="2811463"/>
            <a:ext cx="4186237" cy="2155825"/>
            <a:chOff x="2401" y="1771"/>
            <a:chExt cx="2637" cy="1358"/>
          </a:xfrm>
        </p:grpSpPr>
        <p:sp>
          <p:nvSpPr>
            <p:cNvPr id="119831" name="Freeform 130">
              <a:extLst>
                <a:ext uri="{FF2B5EF4-FFF2-40B4-BE49-F238E27FC236}">
                  <a16:creationId xmlns:a16="http://schemas.microsoft.com/office/drawing/2014/main" id="{BE2EBBBF-D5A9-4109-98D8-F832E363C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2002"/>
              <a:ext cx="2419" cy="441"/>
            </a:xfrm>
            <a:custGeom>
              <a:avLst/>
              <a:gdLst>
                <a:gd name="T0" fmla="*/ 54 w 2419"/>
                <a:gd name="T1" fmla="*/ 9 h 441"/>
                <a:gd name="T2" fmla="*/ 0 w 2419"/>
                <a:gd name="T3" fmla="*/ 437 h 441"/>
                <a:gd name="T4" fmla="*/ 2419 w 2419"/>
                <a:gd name="T5" fmla="*/ 369 h 441"/>
                <a:gd name="T6" fmla="*/ 336 w 2419"/>
                <a:gd name="T7" fmla="*/ 5 h 441"/>
                <a:gd name="T8" fmla="*/ 54 w 2419"/>
                <a:gd name="T9" fmla="*/ 9 h 4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9"/>
                <a:gd name="T16" fmla="*/ 0 h 441"/>
                <a:gd name="T17" fmla="*/ 2419 w 2419"/>
                <a:gd name="T18" fmla="*/ 441 h 4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9" h="441">
                  <a:moveTo>
                    <a:pt x="54" y="9"/>
                  </a:moveTo>
                  <a:cubicBezTo>
                    <a:pt x="45" y="275"/>
                    <a:pt x="38" y="312"/>
                    <a:pt x="0" y="437"/>
                  </a:cubicBezTo>
                  <a:cubicBezTo>
                    <a:pt x="499" y="418"/>
                    <a:pt x="2363" y="441"/>
                    <a:pt x="2419" y="369"/>
                  </a:cubicBezTo>
                  <a:cubicBezTo>
                    <a:pt x="921" y="148"/>
                    <a:pt x="719" y="337"/>
                    <a:pt x="336" y="5"/>
                  </a:cubicBezTo>
                  <a:cubicBezTo>
                    <a:pt x="205" y="9"/>
                    <a:pt x="231" y="0"/>
                    <a:pt x="54" y="9"/>
                  </a:cubicBez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bg1">
                    <a:alpha val="17998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2" name="Line 127">
              <a:extLst>
                <a:ext uri="{FF2B5EF4-FFF2-40B4-BE49-F238E27FC236}">
                  <a16:creationId xmlns:a16="http://schemas.microsoft.com/office/drawing/2014/main" id="{0E983615-42AB-4E3F-A43B-53B351CCDC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1" y="1771"/>
              <a:ext cx="60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833" name="Rectangle 129">
              <a:extLst>
                <a:ext uri="{FF2B5EF4-FFF2-40B4-BE49-F238E27FC236}">
                  <a16:creationId xmlns:a16="http://schemas.microsoft.com/office/drawing/2014/main" id="{33744A71-E15D-4D54-A1BB-2A6ED183E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98"/>
              <a:ext cx="2385" cy="2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9834" name="Rectangle 131">
              <a:extLst>
                <a:ext uri="{FF2B5EF4-FFF2-40B4-BE49-F238E27FC236}">
                  <a16:creationId xmlns:a16="http://schemas.microsoft.com/office/drawing/2014/main" id="{A613B7C0-8492-47B8-A74E-4296906F0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1848"/>
              <a:ext cx="355" cy="115"/>
            </a:xfrm>
            <a:prstGeom prst="rect">
              <a:avLst/>
            </a:prstGeom>
            <a:solidFill>
              <a:srgbClr val="262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9835" name="Text Box 132">
              <a:extLst>
                <a:ext uri="{FF2B5EF4-FFF2-40B4-BE49-F238E27FC236}">
                  <a16:creationId xmlns:a16="http://schemas.microsoft.com/office/drawing/2014/main" id="{BD548104-906C-4AC2-A241-A9A2C0F8D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2" y="2424"/>
              <a:ext cx="20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R1 MAC addr  H1 MAC addr </a:t>
              </a:r>
            </a:p>
          </p:txBody>
        </p:sp>
        <p:sp>
          <p:nvSpPr>
            <p:cNvPr id="119836" name="Line 133">
              <a:extLst>
                <a:ext uri="{FF2B5EF4-FFF2-40B4-BE49-F238E27FC236}">
                  <a16:creationId xmlns:a16="http://schemas.microsoft.com/office/drawing/2014/main" id="{BDE656CF-403C-4947-9C9F-226255E97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2" y="2398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837" name="Line 134">
              <a:extLst>
                <a:ext uri="{FF2B5EF4-FFF2-40B4-BE49-F238E27FC236}">
                  <a16:creationId xmlns:a16="http://schemas.microsoft.com/office/drawing/2014/main" id="{3DA586D9-EAE6-4299-BBB8-7449D45AB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2" y="2398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838" name="Line 135">
              <a:extLst>
                <a:ext uri="{FF2B5EF4-FFF2-40B4-BE49-F238E27FC236}">
                  <a16:creationId xmlns:a16="http://schemas.microsoft.com/office/drawing/2014/main" id="{2BB112F7-A3C8-4F32-8235-5975B0029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2" y="2398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19839" name="Group 136">
              <a:extLst>
                <a:ext uri="{FF2B5EF4-FFF2-40B4-BE49-F238E27FC236}">
                  <a16:creationId xmlns:a16="http://schemas.microsoft.com/office/drawing/2014/main" id="{05C85397-1D96-4A72-9BB1-B6555E293A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8" y="2608"/>
              <a:ext cx="120" cy="114"/>
              <a:chOff x="1300" y="3186"/>
              <a:chExt cx="120" cy="114"/>
            </a:xfrm>
          </p:grpSpPr>
          <p:sp>
            <p:nvSpPr>
              <p:cNvPr id="119855" name="Rectangle 137">
                <a:extLst>
                  <a:ext uri="{FF2B5EF4-FFF2-40B4-BE49-F238E27FC236}">
                    <a16:creationId xmlns:a16="http://schemas.microsoft.com/office/drawing/2014/main" id="{5977385C-87AC-4702-A47E-59B5B897C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56" name="Freeform 138">
                <a:extLst>
                  <a:ext uri="{FF2B5EF4-FFF2-40B4-BE49-F238E27FC236}">
                    <a16:creationId xmlns:a16="http://schemas.microsoft.com/office/drawing/2014/main" id="{8AEE3A41-B0D5-4521-9978-7AE2ADAA3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9857" name="Freeform 139">
                <a:extLst>
                  <a:ext uri="{FF2B5EF4-FFF2-40B4-BE49-F238E27FC236}">
                    <a16:creationId xmlns:a16="http://schemas.microsoft.com/office/drawing/2014/main" id="{64DFB6C6-0734-431A-AC06-F7D0C68A1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9840" name="Group 140">
              <a:extLst>
                <a:ext uri="{FF2B5EF4-FFF2-40B4-BE49-F238E27FC236}">
                  <a16:creationId xmlns:a16="http://schemas.microsoft.com/office/drawing/2014/main" id="{DBA975F9-03CC-4D7B-92F0-73892F55AF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4" y="2340"/>
              <a:ext cx="120" cy="114"/>
              <a:chOff x="1300" y="3186"/>
              <a:chExt cx="120" cy="114"/>
            </a:xfrm>
          </p:grpSpPr>
          <p:sp>
            <p:nvSpPr>
              <p:cNvPr id="119852" name="Rectangle 141">
                <a:extLst>
                  <a:ext uri="{FF2B5EF4-FFF2-40B4-BE49-F238E27FC236}">
                    <a16:creationId xmlns:a16="http://schemas.microsoft.com/office/drawing/2014/main" id="{DEDA22BC-5162-4B4E-AC6E-E9C6824E9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53" name="Freeform 142">
                <a:extLst>
                  <a:ext uri="{FF2B5EF4-FFF2-40B4-BE49-F238E27FC236}">
                    <a16:creationId xmlns:a16="http://schemas.microsoft.com/office/drawing/2014/main" id="{C1DAE46A-3410-40B6-9CBC-AA168E270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9854" name="Freeform 143">
                <a:extLst>
                  <a:ext uri="{FF2B5EF4-FFF2-40B4-BE49-F238E27FC236}">
                    <a16:creationId xmlns:a16="http://schemas.microsoft.com/office/drawing/2014/main" id="{EF85D690-82F6-4B89-971D-3B0CE02E2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9841" name="Group 144">
              <a:extLst>
                <a:ext uri="{FF2B5EF4-FFF2-40B4-BE49-F238E27FC236}">
                  <a16:creationId xmlns:a16="http://schemas.microsoft.com/office/drawing/2014/main" id="{E39BECF7-5A7E-4C0F-8616-C27C238147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14" y="2352"/>
              <a:ext cx="120" cy="114"/>
              <a:chOff x="1300" y="3186"/>
              <a:chExt cx="120" cy="114"/>
            </a:xfrm>
          </p:grpSpPr>
          <p:sp>
            <p:nvSpPr>
              <p:cNvPr id="119849" name="Rectangle 145">
                <a:extLst>
                  <a:ext uri="{FF2B5EF4-FFF2-40B4-BE49-F238E27FC236}">
                    <a16:creationId xmlns:a16="http://schemas.microsoft.com/office/drawing/2014/main" id="{6F16FD9B-C339-4B11-87C5-6687E17E0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50" name="Freeform 146">
                <a:extLst>
                  <a:ext uri="{FF2B5EF4-FFF2-40B4-BE49-F238E27FC236}">
                    <a16:creationId xmlns:a16="http://schemas.microsoft.com/office/drawing/2014/main" id="{EABB7408-4149-4837-B723-FE8EFA1B7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9851" name="Freeform 147">
                <a:extLst>
                  <a:ext uri="{FF2B5EF4-FFF2-40B4-BE49-F238E27FC236}">
                    <a16:creationId xmlns:a16="http://schemas.microsoft.com/office/drawing/2014/main" id="{AD7DDFBC-B2C6-40EB-94A6-EB756606E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9842" name="Group 149">
              <a:extLst>
                <a:ext uri="{FF2B5EF4-FFF2-40B4-BE49-F238E27FC236}">
                  <a16:creationId xmlns:a16="http://schemas.microsoft.com/office/drawing/2014/main" id="{A87F1B02-B1D9-43C4-A266-256B6E632C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0" y="2604"/>
              <a:ext cx="120" cy="114"/>
              <a:chOff x="1300" y="3186"/>
              <a:chExt cx="120" cy="114"/>
            </a:xfrm>
          </p:grpSpPr>
          <p:sp>
            <p:nvSpPr>
              <p:cNvPr id="119846" name="Rectangle 150">
                <a:extLst>
                  <a:ext uri="{FF2B5EF4-FFF2-40B4-BE49-F238E27FC236}">
                    <a16:creationId xmlns:a16="http://schemas.microsoft.com/office/drawing/2014/main" id="{394A5191-616C-4C17-B65A-2EBAADDC4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9847" name="Freeform 151">
                <a:extLst>
                  <a:ext uri="{FF2B5EF4-FFF2-40B4-BE49-F238E27FC236}">
                    <a16:creationId xmlns:a16="http://schemas.microsoft.com/office/drawing/2014/main" id="{F2C75B26-0C37-44EA-A055-DC10FAFD9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9848" name="Freeform 152">
                <a:extLst>
                  <a:ext uri="{FF2B5EF4-FFF2-40B4-BE49-F238E27FC236}">
                    <a16:creationId xmlns:a16="http://schemas.microsoft.com/office/drawing/2014/main" id="{A19344DD-7FBD-431A-A53C-EBDFF8A94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3186"/>
                <a:ext cx="48" cy="114"/>
              </a:xfrm>
              <a:custGeom>
                <a:avLst/>
                <a:gdLst>
                  <a:gd name="T0" fmla="*/ 2 w 60"/>
                  <a:gd name="T1" fmla="*/ 0 h 150"/>
                  <a:gd name="T2" fmla="*/ 2 w 60"/>
                  <a:gd name="T3" fmla="*/ 2 h 150"/>
                  <a:gd name="T4" fmla="*/ 2 w 60"/>
                  <a:gd name="T5" fmla="*/ 2 h 150"/>
                  <a:gd name="T6" fmla="*/ 0 w 60"/>
                  <a:gd name="T7" fmla="*/ 3 h 1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150"/>
                  <a:gd name="T14" fmla="*/ 60 w 60"/>
                  <a:gd name="T15" fmla="*/ 150 h 1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15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9843" name="Text Box 153">
              <a:extLst>
                <a:ext uri="{FF2B5EF4-FFF2-40B4-BE49-F238E27FC236}">
                  <a16:creationId xmlns:a16="http://schemas.microsoft.com/office/drawing/2014/main" id="{A279C14F-37E0-43EE-B212-232CAF7E3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5" y="2683"/>
              <a:ext cx="81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dest. address </a:t>
              </a:r>
            </a:p>
          </p:txBody>
        </p:sp>
        <p:sp>
          <p:nvSpPr>
            <p:cNvPr id="119844" name="Text Box 154">
              <a:extLst>
                <a:ext uri="{FF2B5EF4-FFF2-40B4-BE49-F238E27FC236}">
                  <a16:creationId xmlns:a16="http://schemas.microsoft.com/office/drawing/2014/main" id="{C2996A06-F1F3-4A25-9C20-4B7093607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2" y="2681"/>
              <a:ext cx="91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source address </a:t>
              </a:r>
            </a:p>
          </p:txBody>
        </p:sp>
        <p:sp>
          <p:nvSpPr>
            <p:cNvPr id="119845" name="Text Box 156">
              <a:extLst>
                <a:ext uri="{FF2B5EF4-FFF2-40B4-BE49-F238E27FC236}">
                  <a16:creationId xmlns:a16="http://schemas.microsoft.com/office/drawing/2014/main" id="{3E7872F5-8B08-4275-974D-75EA43617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6" y="2896"/>
              <a:ext cx="89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802.</a:t>
              </a:r>
              <a:r>
                <a:rPr lang="en-US" altLang="zh-CN" sz="1800" b="1">
                  <a:solidFill>
                    <a:srgbClr val="C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3</a:t>
              </a:r>
              <a:r>
                <a:rPr lang="en-US" altLang="zh-CN" sz="1800">
                  <a:solidFill>
                    <a:srgbClr val="FF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frame</a:t>
              </a:r>
            </a:p>
          </p:txBody>
        </p:sp>
      </p:grpSp>
      <p:grpSp>
        <p:nvGrpSpPr>
          <p:cNvPr id="119819" name="Group 361">
            <a:extLst>
              <a:ext uri="{FF2B5EF4-FFF2-40B4-BE49-F238E27FC236}">
                <a16:creationId xmlns:a16="http://schemas.microsoft.com/office/drawing/2014/main" id="{FE074A59-E0DC-4707-8DDB-85B3844ADD62}"/>
              </a:ext>
            </a:extLst>
          </p:cNvPr>
          <p:cNvGrpSpPr>
            <a:grpSpLocks/>
          </p:cNvGrpSpPr>
          <p:nvPr/>
        </p:nvGrpSpPr>
        <p:grpSpPr bwMode="auto">
          <a:xfrm>
            <a:off x="3311525" y="2235200"/>
            <a:ext cx="762000" cy="663575"/>
            <a:chOff x="2967" y="478"/>
            <a:chExt cx="788" cy="625"/>
          </a:xfrm>
        </p:grpSpPr>
        <p:pic>
          <p:nvPicPr>
            <p:cNvPr id="119829" name="Picture 358" descr="access_point_stylized_small">
              <a:extLst>
                <a:ext uri="{FF2B5EF4-FFF2-40B4-BE49-F238E27FC236}">
                  <a16:creationId xmlns:a16="http://schemas.microsoft.com/office/drawing/2014/main" id="{35F2E385-EFB5-4DB4-B5A4-D1BD0F7FDE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830" name="Picture 360" descr="antenna_radiation_stylized">
              <a:extLst>
                <a:ext uri="{FF2B5EF4-FFF2-40B4-BE49-F238E27FC236}">
                  <a16:creationId xmlns:a16="http://schemas.microsoft.com/office/drawing/2014/main" id="{4560FF8D-59C0-432F-9199-83D6C8DA88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9820" name="Group 356">
            <a:extLst>
              <a:ext uri="{FF2B5EF4-FFF2-40B4-BE49-F238E27FC236}">
                <a16:creationId xmlns:a16="http://schemas.microsoft.com/office/drawing/2014/main" id="{EE05EEC0-9E99-45CE-925E-98A7D160D0EA}"/>
              </a:ext>
            </a:extLst>
          </p:cNvPr>
          <p:cNvGrpSpPr>
            <a:grpSpLocks/>
          </p:cNvGrpSpPr>
          <p:nvPr/>
        </p:nvGrpSpPr>
        <p:grpSpPr bwMode="auto">
          <a:xfrm>
            <a:off x="1909763" y="1798638"/>
            <a:ext cx="609600" cy="598487"/>
            <a:chOff x="313" y="1497"/>
            <a:chExt cx="1152" cy="1014"/>
          </a:xfrm>
        </p:grpSpPr>
        <p:pic>
          <p:nvPicPr>
            <p:cNvPr id="119827" name="Picture 354" descr="laptop_stylized_small">
              <a:extLst>
                <a:ext uri="{FF2B5EF4-FFF2-40B4-BE49-F238E27FC236}">
                  <a16:creationId xmlns:a16="http://schemas.microsoft.com/office/drawing/2014/main" id="{A0229633-205D-4B1B-9E19-15262EB30A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828" name="Picture 355" descr="antenna_stylized">
              <a:extLst>
                <a:ext uri="{FF2B5EF4-FFF2-40B4-BE49-F238E27FC236}">
                  <a16:creationId xmlns:a16="http://schemas.microsoft.com/office/drawing/2014/main" id="{097B92D0-E177-412F-8D54-481B7AAEC7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9821" name="Group 356">
            <a:extLst>
              <a:ext uri="{FF2B5EF4-FFF2-40B4-BE49-F238E27FC236}">
                <a16:creationId xmlns:a16="http://schemas.microsoft.com/office/drawing/2014/main" id="{12BCD53E-72BE-4D89-8AB8-D963F95581E0}"/>
              </a:ext>
            </a:extLst>
          </p:cNvPr>
          <p:cNvGrpSpPr>
            <a:grpSpLocks/>
          </p:cNvGrpSpPr>
          <p:nvPr/>
        </p:nvGrpSpPr>
        <p:grpSpPr bwMode="auto">
          <a:xfrm>
            <a:off x="2874963" y="1493838"/>
            <a:ext cx="609600" cy="598487"/>
            <a:chOff x="313" y="1497"/>
            <a:chExt cx="1152" cy="1014"/>
          </a:xfrm>
        </p:grpSpPr>
        <p:pic>
          <p:nvPicPr>
            <p:cNvPr id="119825" name="Picture 354" descr="laptop_stylized_small">
              <a:extLst>
                <a:ext uri="{FF2B5EF4-FFF2-40B4-BE49-F238E27FC236}">
                  <a16:creationId xmlns:a16="http://schemas.microsoft.com/office/drawing/2014/main" id="{1D1B775F-2805-457E-B97F-D5471CAFE2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826" name="Picture 355" descr="antenna_stylized">
              <a:extLst>
                <a:ext uri="{FF2B5EF4-FFF2-40B4-BE49-F238E27FC236}">
                  <a16:creationId xmlns:a16="http://schemas.microsoft.com/office/drawing/2014/main" id="{7C8CE517-C341-4B57-97FB-6EAA8478B9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9822" name="Rectangle 49">
            <a:extLst>
              <a:ext uri="{FF2B5EF4-FFF2-40B4-BE49-F238E27FC236}">
                <a16:creationId xmlns:a16="http://schemas.microsoft.com/office/drawing/2014/main" id="{FAC2C150-D96D-4C7E-85D2-DC244C7A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7163"/>
            <a:ext cx="76215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0099"/>
                </a:solidFill>
                <a:latin typeface="Gill Sans MT" panose="020B0502020104020203" pitchFamily="34" charset="0"/>
                <a:ea typeface="宋体" panose="02010600030101010101" pitchFamily="2" charset="-122"/>
              </a:rPr>
              <a:t>802.11 frame: addressing</a:t>
            </a:r>
          </a:p>
        </p:txBody>
      </p:sp>
      <p:sp>
        <p:nvSpPr>
          <p:cNvPr id="119823" name="页脚占位符 4">
            <a:extLst>
              <a:ext uri="{FF2B5EF4-FFF2-40B4-BE49-F238E27FC236}">
                <a16:creationId xmlns:a16="http://schemas.microsoft.com/office/drawing/2014/main" id="{719EAF1F-8D2B-45DF-8315-08039B249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/>
              <a:t>  </a:t>
            </a:r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119824" name="灯片编号占位符 5">
            <a:extLst>
              <a:ext uri="{FF2B5EF4-FFF2-40B4-BE49-F238E27FC236}">
                <a16:creationId xmlns:a16="http://schemas.microsoft.com/office/drawing/2014/main" id="{20985765-1FB9-4776-A6C1-C9C053FB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9E7B33AD-8517-4FE4-A3B0-CEF48D9C3E55}" type="slidenum">
              <a:rPr lang="en-US" altLang="zh-CN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58" name="Group 2">
            <a:extLst>
              <a:ext uri="{FF2B5EF4-FFF2-40B4-BE49-F238E27FC236}">
                <a16:creationId xmlns:a16="http://schemas.microsoft.com/office/drawing/2014/main" id="{0C75A255-EB23-44DE-A879-F3894600FDAA}"/>
              </a:ext>
            </a:extLst>
          </p:cNvPr>
          <p:cNvGrpSpPr>
            <a:grpSpLocks/>
          </p:cNvGrpSpPr>
          <p:nvPr/>
        </p:nvGrpSpPr>
        <p:grpSpPr bwMode="auto">
          <a:xfrm>
            <a:off x="519113" y="2179638"/>
            <a:ext cx="8077200" cy="985837"/>
            <a:chOff x="240" y="887"/>
            <a:chExt cx="5088" cy="621"/>
          </a:xfrm>
        </p:grpSpPr>
        <p:sp>
          <p:nvSpPr>
            <p:cNvPr id="121892" name="Rectangle 3">
              <a:extLst>
                <a:ext uri="{FF2B5EF4-FFF2-40B4-BE49-F238E27FC236}">
                  <a16:creationId xmlns:a16="http://schemas.microsoft.com/office/drawing/2014/main" id="{DB1F237A-F4D5-44A2-B637-C6F6D1D49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frame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control</a:t>
              </a:r>
            </a:p>
          </p:txBody>
        </p:sp>
        <p:sp>
          <p:nvSpPr>
            <p:cNvPr id="121893" name="Rectangle 4">
              <a:extLst>
                <a:ext uri="{FF2B5EF4-FFF2-40B4-BE49-F238E27FC236}">
                  <a16:creationId xmlns:a16="http://schemas.microsoft.com/office/drawing/2014/main" id="{11257AD0-ADD1-458C-BB6A-802DBAB48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duration</a:t>
              </a:r>
            </a:p>
          </p:txBody>
        </p:sp>
        <p:sp>
          <p:nvSpPr>
            <p:cNvPr id="121894" name="Rectangle 5">
              <a:extLst>
                <a:ext uri="{FF2B5EF4-FFF2-40B4-BE49-F238E27FC236}">
                  <a16:creationId xmlns:a16="http://schemas.microsoft.com/office/drawing/2014/main" id="{7625323B-286C-4178-B958-F960CBBC5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address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1</a:t>
              </a:r>
            </a:p>
          </p:txBody>
        </p:sp>
        <p:sp>
          <p:nvSpPr>
            <p:cNvPr id="121895" name="Rectangle 6">
              <a:extLst>
                <a:ext uri="{FF2B5EF4-FFF2-40B4-BE49-F238E27FC236}">
                  <a16:creationId xmlns:a16="http://schemas.microsoft.com/office/drawing/2014/main" id="{95503535-D672-433C-9B89-9C01CD1A4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address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2</a:t>
              </a:r>
            </a:p>
          </p:txBody>
        </p:sp>
        <p:sp>
          <p:nvSpPr>
            <p:cNvPr id="121896" name="Rectangle 7">
              <a:extLst>
                <a:ext uri="{FF2B5EF4-FFF2-40B4-BE49-F238E27FC236}">
                  <a16:creationId xmlns:a16="http://schemas.microsoft.com/office/drawing/2014/main" id="{7092FFFE-A939-40BB-88F3-5858B1158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address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4</a:t>
              </a:r>
            </a:p>
          </p:txBody>
        </p:sp>
        <p:sp>
          <p:nvSpPr>
            <p:cNvPr id="121897" name="Rectangle 8">
              <a:extLst>
                <a:ext uri="{FF2B5EF4-FFF2-40B4-BE49-F238E27FC236}">
                  <a16:creationId xmlns:a16="http://schemas.microsoft.com/office/drawing/2014/main" id="{DE6C5812-684E-4A93-B67B-2874433B6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address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3</a:t>
              </a:r>
            </a:p>
          </p:txBody>
        </p:sp>
        <p:sp>
          <p:nvSpPr>
            <p:cNvPr id="121898" name="Rectangle 9">
              <a:extLst>
                <a:ext uri="{FF2B5EF4-FFF2-40B4-BE49-F238E27FC236}">
                  <a16:creationId xmlns:a16="http://schemas.microsoft.com/office/drawing/2014/main" id="{4544FA64-4883-4894-8ECA-2545DAD5F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1899" name="Rectangle 10">
              <a:extLst>
                <a:ext uri="{FF2B5EF4-FFF2-40B4-BE49-F238E27FC236}">
                  <a16:creationId xmlns:a16="http://schemas.microsoft.com/office/drawing/2014/main" id="{E655122A-58F6-421A-BCAD-1B770CA93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104"/>
              <a:ext cx="864" cy="38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payload</a:t>
              </a:r>
            </a:p>
          </p:txBody>
        </p:sp>
        <p:sp>
          <p:nvSpPr>
            <p:cNvPr id="121900" name="Rectangle 11">
              <a:extLst>
                <a:ext uri="{FF2B5EF4-FFF2-40B4-BE49-F238E27FC236}">
                  <a16:creationId xmlns:a16="http://schemas.microsoft.com/office/drawing/2014/main" id="{9A553654-0FE4-44DC-98B8-FA750B6E6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104"/>
              <a:ext cx="52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CRC</a:t>
              </a:r>
            </a:p>
          </p:txBody>
        </p:sp>
        <p:sp>
          <p:nvSpPr>
            <p:cNvPr id="121901" name="Text Box 12">
              <a:extLst>
                <a:ext uri="{FF2B5EF4-FFF2-40B4-BE49-F238E27FC236}">
                  <a16:creationId xmlns:a16="http://schemas.microsoft.com/office/drawing/2014/main" id="{1C36B76B-698E-4513-A532-538544FAD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21902" name="Text Box 13">
              <a:extLst>
                <a:ext uri="{FF2B5EF4-FFF2-40B4-BE49-F238E27FC236}">
                  <a16:creationId xmlns:a16="http://schemas.microsoft.com/office/drawing/2014/main" id="{9ED21FA0-762B-4987-80A3-65FB1CFEA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21903" name="Text Box 14">
              <a:extLst>
                <a:ext uri="{FF2B5EF4-FFF2-40B4-BE49-F238E27FC236}">
                  <a16:creationId xmlns:a16="http://schemas.microsoft.com/office/drawing/2014/main" id="{9AF51FDB-C436-4238-9D1F-616EE88928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1904" name="Text Box 15">
              <a:extLst>
                <a:ext uri="{FF2B5EF4-FFF2-40B4-BE49-F238E27FC236}">
                  <a16:creationId xmlns:a16="http://schemas.microsoft.com/office/drawing/2014/main" id="{EF26A4B8-4D2C-428A-8C8D-B38A06CE3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1905" name="Text Box 16">
              <a:extLst>
                <a:ext uri="{FF2B5EF4-FFF2-40B4-BE49-F238E27FC236}">
                  <a16:creationId xmlns:a16="http://schemas.microsoft.com/office/drawing/2014/main" id="{63306874-1850-4AF4-8B1A-96CD97C40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1906" name="Text Box 17">
              <a:extLst>
                <a:ext uri="{FF2B5EF4-FFF2-40B4-BE49-F238E27FC236}">
                  <a16:creationId xmlns:a16="http://schemas.microsoft.com/office/drawing/2014/main" id="{B4726B02-E902-4FFD-9C89-D501DB2D5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91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21907" name="Text Box 18">
              <a:extLst>
                <a:ext uri="{FF2B5EF4-FFF2-40B4-BE49-F238E27FC236}">
                  <a16:creationId xmlns:a16="http://schemas.microsoft.com/office/drawing/2014/main" id="{45BF8CEC-15E1-4138-8149-F1B9E9F47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8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1908" name="Text Box 19">
              <a:extLst>
                <a:ext uri="{FF2B5EF4-FFF2-40B4-BE49-F238E27FC236}">
                  <a16:creationId xmlns:a16="http://schemas.microsoft.com/office/drawing/2014/main" id="{B6F024E8-E257-43AF-99C5-101DFBD3C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912"/>
              <a:ext cx="6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0 - 2312</a:t>
              </a:r>
            </a:p>
          </p:txBody>
        </p:sp>
        <p:sp>
          <p:nvSpPr>
            <p:cNvPr id="121909" name="Text Box 20">
              <a:extLst>
                <a:ext uri="{FF2B5EF4-FFF2-40B4-BE49-F238E27FC236}">
                  <a16:creationId xmlns:a16="http://schemas.microsoft.com/office/drawing/2014/main" id="{39CAC66E-D54E-4A57-8B6E-4B0B39FCC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2" y="8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21910" name="Text Box 21">
              <a:extLst>
                <a:ext uri="{FF2B5EF4-FFF2-40B4-BE49-F238E27FC236}">
                  <a16:creationId xmlns:a16="http://schemas.microsoft.com/office/drawing/2014/main" id="{9331C117-B566-499A-9EB5-B71AD03AA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1142"/>
              <a:ext cx="50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seq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control</a:t>
              </a:r>
            </a:p>
          </p:txBody>
        </p:sp>
      </p:grpSp>
      <p:grpSp>
        <p:nvGrpSpPr>
          <p:cNvPr id="121859" name="Group 23">
            <a:extLst>
              <a:ext uri="{FF2B5EF4-FFF2-40B4-BE49-F238E27FC236}">
                <a16:creationId xmlns:a16="http://schemas.microsoft.com/office/drawing/2014/main" id="{6E6833B4-F860-4AE2-B0A2-C258C4441D1B}"/>
              </a:ext>
            </a:extLst>
          </p:cNvPr>
          <p:cNvGrpSpPr>
            <a:grpSpLocks/>
          </p:cNvGrpSpPr>
          <p:nvPr/>
        </p:nvGrpSpPr>
        <p:grpSpPr bwMode="auto">
          <a:xfrm>
            <a:off x="442913" y="3856038"/>
            <a:ext cx="8534400" cy="954087"/>
            <a:chOff x="240" y="1991"/>
            <a:chExt cx="5376" cy="601"/>
          </a:xfrm>
        </p:grpSpPr>
        <p:sp>
          <p:nvSpPr>
            <p:cNvPr id="121870" name="Rectangle 24">
              <a:extLst>
                <a:ext uri="{FF2B5EF4-FFF2-40B4-BE49-F238E27FC236}">
                  <a16:creationId xmlns:a16="http://schemas.microsoft.com/office/drawing/2014/main" id="{4D424F9C-B30C-4E66-8F76-6EE8AC27D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208"/>
              <a:ext cx="62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Type</a:t>
              </a:r>
            </a:p>
          </p:txBody>
        </p:sp>
        <p:sp>
          <p:nvSpPr>
            <p:cNvPr id="121871" name="Rectangle 25">
              <a:extLst>
                <a:ext uri="{FF2B5EF4-FFF2-40B4-BE49-F238E27FC236}">
                  <a16:creationId xmlns:a16="http://schemas.microsoft.com/office/drawing/2014/main" id="{8861551B-0144-4C51-A2B1-76633921F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From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AP</a:t>
              </a:r>
            </a:p>
          </p:txBody>
        </p:sp>
        <p:sp>
          <p:nvSpPr>
            <p:cNvPr id="121872" name="Rectangle 26">
              <a:extLst>
                <a:ext uri="{FF2B5EF4-FFF2-40B4-BE49-F238E27FC236}">
                  <a16:creationId xmlns:a16="http://schemas.microsoft.com/office/drawing/2014/main" id="{E82AB45A-BD25-49E9-B21B-CA22DCC86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208"/>
              <a:ext cx="67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Subtype</a:t>
              </a:r>
            </a:p>
          </p:txBody>
        </p:sp>
        <p:sp>
          <p:nvSpPr>
            <p:cNvPr id="121873" name="Rectangle 27">
              <a:extLst>
                <a:ext uri="{FF2B5EF4-FFF2-40B4-BE49-F238E27FC236}">
                  <a16:creationId xmlns:a16="http://schemas.microsoft.com/office/drawing/2014/main" id="{6C71453B-31D6-4AB8-9049-12DFEF64F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To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AP</a:t>
              </a:r>
            </a:p>
          </p:txBody>
        </p:sp>
        <p:sp>
          <p:nvSpPr>
            <p:cNvPr id="121874" name="Rectangle 28">
              <a:extLst>
                <a:ext uri="{FF2B5EF4-FFF2-40B4-BE49-F238E27FC236}">
                  <a16:creationId xmlns:a16="http://schemas.microsoft.com/office/drawing/2014/main" id="{DE99F958-7DB6-430D-93F1-C31E0D239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More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frag</a:t>
              </a:r>
            </a:p>
          </p:txBody>
        </p:sp>
        <p:sp>
          <p:nvSpPr>
            <p:cNvPr id="121875" name="Rectangle 29">
              <a:extLst>
                <a:ext uri="{FF2B5EF4-FFF2-40B4-BE49-F238E27FC236}">
                  <a16:creationId xmlns:a16="http://schemas.microsoft.com/office/drawing/2014/main" id="{E66554D0-1DA4-450B-8E79-9D702C9F5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WEP</a:t>
              </a:r>
            </a:p>
          </p:txBody>
        </p:sp>
        <p:sp>
          <p:nvSpPr>
            <p:cNvPr id="121876" name="Rectangle 30">
              <a:extLst>
                <a:ext uri="{FF2B5EF4-FFF2-40B4-BE49-F238E27FC236}">
                  <a16:creationId xmlns:a16="http://schemas.microsoft.com/office/drawing/2014/main" id="{84EDB3B7-464A-4335-8462-8172DEB6D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More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data</a:t>
              </a:r>
            </a:p>
          </p:txBody>
        </p:sp>
        <p:sp>
          <p:nvSpPr>
            <p:cNvPr id="121877" name="Rectangle 31">
              <a:extLst>
                <a:ext uri="{FF2B5EF4-FFF2-40B4-BE49-F238E27FC236}">
                  <a16:creationId xmlns:a16="http://schemas.microsoft.com/office/drawing/2014/main" id="{070AD5F3-6190-4DE2-AEF1-A3CFDA8F7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Power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mgt</a:t>
              </a:r>
            </a:p>
          </p:txBody>
        </p:sp>
        <p:sp>
          <p:nvSpPr>
            <p:cNvPr id="121878" name="Rectangle 32">
              <a:extLst>
                <a:ext uri="{FF2B5EF4-FFF2-40B4-BE49-F238E27FC236}">
                  <a16:creationId xmlns:a16="http://schemas.microsoft.com/office/drawing/2014/main" id="{E69BEE61-48A2-4B60-B008-AFE1CF3BD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Retry</a:t>
              </a:r>
            </a:p>
          </p:txBody>
        </p:sp>
        <p:sp>
          <p:nvSpPr>
            <p:cNvPr id="121879" name="Rectangle 33">
              <a:extLst>
                <a:ext uri="{FF2B5EF4-FFF2-40B4-BE49-F238E27FC236}">
                  <a16:creationId xmlns:a16="http://schemas.microsoft.com/office/drawing/2014/main" id="{1FAC545C-BFC9-4B03-B793-2C5CCEDC0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2208"/>
              <a:ext cx="43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Rsvd</a:t>
              </a:r>
            </a:p>
          </p:txBody>
        </p:sp>
        <p:sp>
          <p:nvSpPr>
            <p:cNvPr id="121880" name="Rectangle 34">
              <a:extLst>
                <a:ext uri="{FF2B5EF4-FFF2-40B4-BE49-F238E27FC236}">
                  <a16:creationId xmlns:a16="http://schemas.microsoft.com/office/drawing/2014/main" id="{94AA112C-7021-46A8-8E6A-119162119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208"/>
              <a:ext cx="62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Protocol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  <a:ea typeface="ＭＳ Ｐゴシック" panose="020B0600070205080204" pitchFamily="34" charset="-128"/>
                </a:rPr>
                <a:t>version</a:t>
              </a:r>
            </a:p>
          </p:txBody>
        </p:sp>
        <p:sp>
          <p:nvSpPr>
            <p:cNvPr id="121881" name="Text Box 35">
              <a:extLst>
                <a:ext uri="{FF2B5EF4-FFF2-40B4-BE49-F238E27FC236}">
                  <a16:creationId xmlns:a16="http://schemas.microsoft.com/office/drawing/2014/main" id="{857A7EFF-DED9-454E-8B08-A4AB5EB75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199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21882" name="Text Box 36">
              <a:extLst>
                <a:ext uri="{FF2B5EF4-FFF2-40B4-BE49-F238E27FC236}">
                  <a16:creationId xmlns:a16="http://schemas.microsoft.com/office/drawing/2014/main" id="{E56276F1-CBB0-4F2C-AF36-9E5011B55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21883" name="Text Box 37">
              <a:extLst>
                <a:ext uri="{FF2B5EF4-FFF2-40B4-BE49-F238E27FC236}">
                  <a16:creationId xmlns:a16="http://schemas.microsoft.com/office/drawing/2014/main" id="{92D3B0AD-F588-473A-9E97-BDB0A911F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21884" name="Text Box 38">
              <a:extLst>
                <a:ext uri="{FF2B5EF4-FFF2-40B4-BE49-F238E27FC236}">
                  <a16:creationId xmlns:a16="http://schemas.microsoft.com/office/drawing/2014/main" id="{0B60FA61-C786-40FC-A13B-FBF11EFBD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1885" name="Text Box 39">
              <a:extLst>
                <a:ext uri="{FF2B5EF4-FFF2-40B4-BE49-F238E27FC236}">
                  <a16:creationId xmlns:a16="http://schemas.microsoft.com/office/drawing/2014/main" id="{D6544B22-D6B9-4E6E-8390-D2E3DBF08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1886" name="Text Box 40">
              <a:extLst>
                <a:ext uri="{FF2B5EF4-FFF2-40B4-BE49-F238E27FC236}">
                  <a16:creationId xmlns:a16="http://schemas.microsoft.com/office/drawing/2014/main" id="{B288489A-D13C-4FDC-8BE8-A864504A7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1887" name="Text Box 41">
              <a:extLst>
                <a:ext uri="{FF2B5EF4-FFF2-40B4-BE49-F238E27FC236}">
                  <a16:creationId xmlns:a16="http://schemas.microsoft.com/office/drawing/2014/main" id="{B6E2C71F-35BB-4D10-9A94-EB91D2742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1888" name="Text Box 42">
              <a:extLst>
                <a:ext uri="{FF2B5EF4-FFF2-40B4-BE49-F238E27FC236}">
                  <a16:creationId xmlns:a16="http://schemas.microsoft.com/office/drawing/2014/main" id="{2AA8E1B6-8CBA-45B9-B0E7-0C90E78BC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1889" name="Text Box 43">
              <a:extLst>
                <a:ext uri="{FF2B5EF4-FFF2-40B4-BE49-F238E27FC236}">
                  <a16:creationId xmlns:a16="http://schemas.microsoft.com/office/drawing/2014/main" id="{B834A028-698A-4AD3-A6E8-0284FF6C0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1890" name="Text Box 44">
              <a:extLst>
                <a:ext uri="{FF2B5EF4-FFF2-40B4-BE49-F238E27FC236}">
                  <a16:creationId xmlns:a16="http://schemas.microsoft.com/office/drawing/2014/main" id="{0FE1B0C1-BCFF-4C6B-8E41-251BE1CBF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1891" name="Text Box 45">
              <a:extLst>
                <a:ext uri="{FF2B5EF4-FFF2-40B4-BE49-F238E27FC236}">
                  <a16:creationId xmlns:a16="http://schemas.microsoft.com/office/drawing/2014/main" id="{B57518D1-47BB-454A-96B2-0DEBA3867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0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21860" name="Freeform 47">
            <a:extLst>
              <a:ext uri="{FF2B5EF4-FFF2-40B4-BE49-F238E27FC236}">
                <a16:creationId xmlns:a16="http://schemas.microsoft.com/office/drawing/2014/main" id="{5EE1657D-A286-4E21-811A-EA6C705E9875}"/>
              </a:ext>
            </a:extLst>
          </p:cNvPr>
          <p:cNvSpPr>
            <a:spLocks/>
          </p:cNvSpPr>
          <p:nvPr/>
        </p:nvSpPr>
        <p:spPr bwMode="auto">
          <a:xfrm>
            <a:off x="430213" y="3144838"/>
            <a:ext cx="8713787" cy="1066800"/>
          </a:xfrm>
          <a:custGeom>
            <a:avLst/>
            <a:gdLst>
              <a:gd name="T0" fmla="*/ 2147483646 w 5489"/>
              <a:gd name="T1" fmla="*/ 0 h 672"/>
              <a:gd name="T2" fmla="*/ 0 w 5489"/>
              <a:gd name="T3" fmla="*/ 2147483646 h 672"/>
              <a:gd name="T4" fmla="*/ 2147483646 w 5489"/>
              <a:gd name="T5" fmla="*/ 2147483646 h 672"/>
              <a:gd name="T6" fmla="*/ 2147483646 w 5489"/>
              <a:gd name="T7" fmla="*/ 0 h 672"/>
              <a:gd name="T8" fmla="*/ 2147483646 w 5489"/>
              <a:gd name="T9" fmla="*/ 0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489"/>
              <a:gd name="T16" fmla="*/ 0 h 672"/>
              <a:gd name="T17" fmla="*/ 5489 w 5489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489" h="672">
                <a:moveTo>
                  <a:pt x="64" y="0"/>
                </a:moveTo>
                <a:lnTo>
                  <a:pt x="0" y="664"/>
                </a:lnTo>
                <a:lnTo>
                  <a:pt x="5392" y="672"/>
                </a:lnTo>
                <a:cubicBezTo>
                  <a:pt x="5489" y="561"/>
                  <a:pt x="976" y="408"/>
                  <a:pt x="584" y="0"/>
                </a:cubicBezTo>
                <a:cubicBezTo>
                  <a:pt x="152" y="0"/>
                  <a:pt x="172" y="0"/>
                  <a:pt x="64" y="0"/>
                </a:cubicBezTo>
                <a:close/>
              </a:path>
            </a:pathLst>
          </a:custGeom>
          <a:gradFill rotWithShape="1">
            <a:gsLst>
              <a:gs pos="0">
                <a:schemeClr val="tx1"/>
              </a:gs>
              <a:gs pos="100000">
                <a:schemeClr val="bg1">
                  <a:alpha val="17998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1" name="Text Box 49">
            <a:extLst>
              <a:ext uri="{FF2B5EF4-FFF2-40B4-BE49-F238E27FC236}">
                <a16:creationId xmlns:a16="http://schemas.microsoft.com/office/drawing/2014/main" id="{92782989-6C50-4F1F-B56A-BCB8FC76F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1335088"/>
            <a:ext cx="31813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duration of reserved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transmission time (RTS/CTS)</a:t>
            </a:r>
          </a:p>
        </p:txBody>
      </p:sp>
      <p:sp>
        <p:nvSpPr>
          <p:cNvPr id="121862" name="Line 50">
            <a:extLst>
              <a:ext uri="{FF2B5EF4-FFF2-40B4-BE49-F238E27FC236}">
                <a16:creationId xmlns:a16="http://schemas.microsoft.com/office/drawing/2014/main" id="{3B9D4CB7-D2E1-4DFB-8CD4-E962CC60E1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1554163"/>
            <a:ext cx="258763" cy="639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1863" name="Text Box 51">
            <a:extLst>
              <a:ext uri="{FF2B5EF4-FFF2-40B4-BE49-F238E27FC236}">
                <a16:creationId xmlns:a16="http://schemas.microsoft.com/office/drawing/2014/main" id="{545936F7-E8C8-490A-BF36-861A97473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6138" y="1196975"/>
            <a:ext cx="1403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frame seq #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(for RDT)</a:t>
            </a:r>
          </a:p>
        </p:txBody>
      </p:sp>
      <p:sp>
        <p:nvSpPr>
          <p:cNvPr id="121864" name="Line 52">
            <a:extLst>
              <a:ext uri="{FF2B5EF4-FFF2-40B4-BE49-F238E27FC236}">
                <a16:creationId xmlns:a16="http://schemas.microsoft.com/office/drawing/2014/main" id="{403A5572-7F9B-4574-B74D-0D96891794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1493838"/>
            <a:ext cx="487363" cy="912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1865" name="Line 53">
            <a:extLst>
              <a:ext uri="{FF2B5EF4-FFF2-40B4-BE49-F238E27FC236}">
                <a16:creationId xmlns:a16="http://schemas.microsoft.com/office/drawing/2014/main" id="{5718F680-372B-43C9-BC7A-7887BAC7BD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2950" y="4908550"/>
            <a:ext cx="258763" cy="639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1866" name="Text Box 54">
            <a:extLst>
              <a:ext uri="{FF2B5EF4-FFF2-40B4-BE49-F238E27FC236}">
                <a16:creationId xmlns:a16="http://schemas.microsoft.com/office/drawing/2014/main" id="{E42A2956-13D3-42CC-8594-D89FDD594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5480050"/>
            <a:ext cx="25796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frame type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(RTS, CTS, ACK, data)</a:t>
            </a:r>
          </a:p>
        </p:txBody>
      </p:sp>
      <p:sp>
        <p:nvSpPr>
          <p:cNvPr id="121867" name="Rectangle 49">
            <a:extLst>
              <a:ext uri="{FF2B5EF4-FFF2-40B4-BE49-F238E27FC236}">
                <a16:creationId xmlns:a16="http://schemas.microsoft.com/office/drawing/2014/main" id="{AC712639-071D-45A4-A622-C57B111F6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0099"/>
                </a:solidFill>
                <a:latin typeface="Gill Sans MT" panose="020B0502020104020203" pitchFamily="34" charset="0"/>
                <a:ea typeface="宋体" panose="02010600030101010101" pitchFamily="2" charset="-122"/>
              </a:rPr>
              <a:t>802.11 frame: more</a:t>
            </a:r>
          </a:p>
        </p:txBody>
      </p:sp>
      <p:sp>
        <p:nvSpPr>
          <p:cNvPr id="121868" name="页脚占位符 4">
            <a:extLst>
              <a:ext uri="{FF2B5EF4-FFF2-40B4-BE49-F238E27FC236}">
                <a16:creationId xmlns:a16="http://schemas.microsoft.com/office/drawing/2014/main" id="{26B17DE2-A9C6-4A52-8160-DE5AF9AB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/>
              <a:t> </a:t>
            </a:r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121869" name="灯片编号占位符 5">
            <a:extLst>
              <a:ext uri="{FF2B5EF4-FFF2-40B4-BE49-F238E27FC236}">
                <a16:creationId xmlns:a16="http://schemas.microsoft.com/office/drawing/2014/main" id="{FDF0422D-633E-41DF-985D-65C0F93CD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D2B59E8-14A9-4948-9A0B-2A2B1C67376E}" type="slidenum">
              <a:rPr lang="en-US" altLang="zh-CN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바닥글 개체 틀 3">
            <a:extLst>
              <a:ext uri="{FF2B5EF4-FFF2-40B4-BE49-F238E27FC236}">
                <a16:creationId xmlns:a16="http://schemas.microsoft.com/office/drawing/2014/main" id="{A9ED7E98-5A7B-4C90-BE39-117323FEC57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tabLst>
                <a:tab pos="4956175" algn="l"/>
                <a:tab pos="7053263" algn="r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tabLst>
                <a:tab pos="4956175" algn="l"/>
                <a:tab pos="7053263" algn="r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85BC343-633F-4B3B-8E4A-E8E8BCE6485C}" type="slidenum">
              <a:rPr lang="en-US" altLang="ko-KR" sz="1400" smtClean="0"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24931" name="Rectangle 26">
            <a:extLst>
              <a:ext uri="{FF2B5EF4-FFF2-40B4-BE49-F238E27FC236}">
                <a16:creationId xmlns:a16="http://schemas.microsoft.com/office/drawing/2014/main" id="{03218D9D-BC7E-44FB-A347-4B3AE5082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Gulim" panose="020B0600000101010101" pitchFamily="34" charset="-127"/>
              </a:rPr>
              <a:t>802.11 – MAC frame format</a:t>
            </a:r>
          </a:p>
        </p:txBody>
      </p:sp>
      <p:sp>
        <p:nvSpPr>
          <p:cNvPr id="124932" name="Rectangle 27">
            <a:extLst>
              <a:ext uri="{FF2B5EF4-FFF2-40B4-BE49-F238E27FC236}">
                <a16:creationId xmlns:a16="http://schemas.microsoft.com/office/drawing/2014/main" id="{A2A533E0-EF04-4075-809A-1BE75B2AC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6888" y="1117600"/>
            <a:ext cx="7772400" cy="4648200"/>
          </a:xfrm>
        </p:spPr>
        <p:txBody>
          <a:bodyPr/>
          <a:lstStyle/>
          <a:p>
            <a:r>
              <a:rPr lang="en-US" altLang="ko-KR" sz="1800">
                <a:ea typeface="Gulim" panose="020B0600000101010101" pitchFamily="34" charset="-127"/>
              </a:rPr>
              <a:t>Type/subtype</a:t>
            </a:r>
          </a:p>
          <a:p>
            <a:pPr lvl="1"/>
            <a:r>
              <a:rPr lang="en-US" altLang="ko-KR" sz="1600">
                <a:ea typeface="Gulim" panose="020B0600000101010101" pitchFamily="34" charset="-127"/>
              </a:rPr>
              <a:t>control frames(01), management frames(00), data frames(10)</a:t>
            </a:r>
          </a:p>
          <a:p>
            <a:pPr lvl="1"/>
            <a:r>
              <a:rPr lang="en-US" altLang="ko-KR" sz="1200">
                <a:ea typeface="Gulim" panose="020B0600000101010101" pitchFamily="34" charset="-127"/>
              </a:rPr>
              <a:t>E.g., data frame: type=10,subtype=0000</a:t>
            </a:r>
            <a:br>
              <a:rPr lang="en-US" altLang="ko-KR" sz="1200">
                <a:ea typeface="Gulim" panose="020B0600000101010101" pitchFamily="34" charset="-127"/>
              </a:rPr>
            </a:br>
            <a:r>
              <a:rPr lang="en-US" altLang="ko-KR" sz="1200">
                <a:ea typeface="Gulim" panose="020B0600000101010101" pitchFamily="34" charset="-127"/>
              </a:rPr>
              <a:t>	      beacon: type=00,subtype=1000</a:t>
            </a:r>
            <a:br>
              <a:rPr lang="en-US" altLang="ko-KR" sz="1200">
                <a:ea typeface="Gulim" panose="020B0600000101010101" pitchFamily="34" charset="-127"/>
              </a:rPr>
            </a:br>
            <a:r>
              <a:rPr lang="en-US" altLang="ko-KR" sz="1200">
                <a:ea typeface="Gulim" panose="020B0600000101010101" pitchFamily="34" charset="-127"/>
              </a:rPr>
              <a:t>	      RTS: type= 01,subtype=1011</a:t>
            </a:r>
          </a:p>
          <a:p>
            <a:r>
              <a:rPr lang="en-US" altLang="ko-KR" sz="1800">
                <a:ea typeface="Gulim" panose="020B0600000101010101" pitchFamily="34" charset="-127"/>
              </a:rPr>
              <a:t>Sequence numbers</a:t>
            </a:r>
          </a:p>
          <a:p>
            <a:pPr lvl="1"/>
            <a:r>
              <a:rPr lang="en-US" altLang="ko-KR" sz="1600">
                <a:ea typeface="Gulim" panose="020B0600000101010101" pitchFamily="34" charset="-127"/>
              </a:rPr>
              <a:t>important against duplicated frames due to lost ACKs </a:t>
            </a:r>
          </a:p>
          <a:p>
            <a:r>
              <a:rPr lang="en-US" altLang="ko-KR" sz="1800">
                <a:ea typeface="Gulim" panose="020B0600000101010101" pitchFamily="34" charset="-127"/>
              </a:rPr>
              <a:t>Addresses</a:t>
            </a:r>
          </a:p>
          <a:p>
            <a:pPr lvl="1"/>
            <a:r>
              <a:rPr lang="en-US" altLang="ko-KR" sz="1600">
                <a:ea typeface="Gulim" panose="020B0600000101010101" pitchFamily="34" charset="-127"/>
              </a:rPr>
              <a:t>receiver, transmitter (physical), BSS identifier, sender (logical)</a:t>
            </a:r>
          </a:p>
          <a:p>
            <a:r>
              <a:rPr lang="en-US" altLang="ko-KR" sz="1800">
                <a:ea typeface="Gulim" panose="020B0600000101010101" pitchFamily="34" charset="-127"/>
              </a:rPr>
              <a:t>Miscellaneous</a:t>
            </a:r>
          </a:p>
          <a:p>
            <a:pPr lvl="1"/>
            <a:r>
              <a:rPr lang="en-US" altLang="ko-KR" sz="1600">
                <a:ea typeface="Gulim" panose="020B0600000101010101" pitchFamily="34" charset="-127"/>
              </a:rPr>
              <a:t>duration, checksum, frame control, data</a:t>
            </a:r>
          </a:p>
        </p:txBody>
      </p:sp>
      <p:grpSp>
        <p:nvGrpSpPr>
          <p:cNvPr id="124933" name="组合 49">
            <a:extLst>
              <a:ext uri="{FF2B5EF4-FFF2-40B4-BE49-F238E27FC236}">
                <a16:creationId xmlns:a16="http://schemas.microsoft.com/office/drawing/2014/main" id="{9EA2A605-E58D-4BBE-8D6C-6F397F9FA267}"/>
              </a:ext>
            </a:extLst>
          </p:cNvPr>
          <p:cNvGrpSpPr>
            <a:grpSpLocks/>
          </p:cNvGrpSpPr>
          <p:nvPr/>
        </p:nvGrpSpPr>
        <p:grpSpPr bwMode="auto">
          <a:xfrm>
            <a:off x="222250" y="4268788"/>
            <a:ext cx="8621713" cy="2028825"/>
            <a:chOff x="196850" y="3971925"/>
            <a:chExt cx="8621713" cy="2028825"/>
          </a:xfrm>
        </p:grpSpPr>
        <p:sp>
          <p:nvSpPr>
            <p:cNvPr id="124934" name="Text Box 13">
              <a:extLst>
                <a:ext uri="{FF2B5EF4-FFF2-40B4-BE49-F238E27FC236}">
                  <a16:creationId xmlns:a16="http://schemas.microsoft.com/office/drawing/2014/main" id="{DE3FCAE9-2E50-4100-B9F5-8C9C2002E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313" y="3989388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2</a:t>
              </a:r>
            </a:p>
          </p:txBody>
        </p:sp>
        <p:sp>
          <p:nvSpPr>
            <p:cNvPr id="124935" name="Text Box 14">
              <a:extLst>
                <a:ext uri="{FF2B5EF4-FFF2-40B4-BE49-F238E27FC236}">
                  <a16:creationId xmlns:a16="http://schemas.microsoft.com/office/drawing/2014/main" id="{7C841405-9B63-494D-BB4F-638548695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0388" y="400526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2</a:t>
              </a:r>
            </a:p>
          </p:txBody>
        </p:sp>
        <p:sp>
          <p:nvSpPr>
            <p:cNvPr id="124936" name="Text Box 15">
              <a:extLst>
                <a:ext uri="{FF2B5EF4-FFF2-40B4-BE49-F238E27FC236}">
                  <a16:creationId xmlns:a16="http://schemas.microsoft.com/office/drawing/2014/main" id="{DFBDBB52-7206-4E56-A5B9-BE9649F14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4788" y="400526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6</a:t>
              </a:r>
            </a:p>
          </p:txBody>
        </p:sp>
        <p:sp>
          <p:nvSpPr>
            <p:cNvPr id="124937" name="Text Box 16">
              <a:extLst>
                <a:ext uri="{FF2B5EF4-FFF2-40B4-BE49-F238E27FC236}">
                  <a16:creationId xmlns:a16="http://schemas.microsoft.com/office/drawing/2014/main" id="{17937E33-9D1E-43E5-B636-DB94C0BEA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188" y="400526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6</a:t>
              </a:r>
            </a:p>
          </p:txBody>
        </p:sp>
        <p:sp>
          <p:nvSpPr>
            <p:cNvPr id="124938" name="Text Box 17">
              <a:extLst>
                <a:ext uri="{FF2B5EF4-FFF2-40B4-BE49-F238E27FC236}">
                  <a16:creationId xmlns:a16="http://schemas.microsoft.com/office/drawing/2014/main" id="{8DE2455B-CA1E-4CA5-ABAC-A8CFC7A90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3588" y="400526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6</a:t>
              </a:r>
            </a:p>
          </p:txBody>
        </p:sp>
        <p:sp>
          <p:nvSpPr>
            <p:cNvPr id="124939" name="Text Box 18">
              <a:extLst>
                <a:ext uri="{FF2B5EF4-FFF2-40B4-BE49-F238E27FC236}">
                  <a16:creationId xmlns:a16="http://schemas.microsoft.com/office/drawing/2014/main" id="{189B37EF-5945-467D-8D75-79B133156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8588" y="400526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6</a:t>
              </a:r>
            </a:p>
          </p:txBody>
        </p:sp>
        <p:sp>
          <p:nvSpPr>
            <p:cNvPr id="124940" name="Text Box 19">
              <a:extLst>
                <a:ext uri="{FF2B5EF4-FFF2-40B4-BE49-F238E27FC236}">
                  <a16:creationId xmlns:a16="http://schemas.microsoft.com/office/drawing/2014/main" id="{C4B6F356-2699-43E3-A643-0DA9D2A7C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4188" y="400526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2</a:t>
              </a:r>
            </a:p>
          </p:txBody>
        </p:sp>
        <p:sp>
          <p:nvSpPr>
            <p:cNvPr id="124941" name="Text Box 20">
              <a:extLst>
                <a:ext uri="{FF2B5EF4-FFF2-40B4-BE49-F238E27FC236}">
                  <a16:creationId xmlns:a16="http://schemas.microsoft.com/office/drawing/2014/main" id="{15252087-D407-4671-A774-96DC5CAB3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1188" y="400526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4</a:t>
              </a:r>
            </a:p>
          </p:txBody>
        </p:sp>
        <p:sp>
          <p:nvSpPr>
            <p:cNvPr id="124942" name="Text Box 21">
              <a:extLst>
                <a:ext uri="{FF2B5EF4-FFF2-40B4-BE49-F238E27FC236}">
                  <a16:creationId xmlns:a16="http://schemas.microsoft.com/office/drawing/2014/main" id="{FCDB99B5-555A-418D-BB01-0BCCD324F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388" y="4005263"/>
              <a:ext cx="815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0-2312</a:t>
              </a:r>
            </a:p>
          </p:txBody>
        </p:sp>
        <p:sp>
          <p:nvSpPr>
            <p:cNvPr id="124943" name="Text Box 22">
              <a:extLst>
                <a:ext uri="{FF2B5EF4-FFF2-40B4-BE49-F238E27FC236}">
                  <a16:creationId xmlns:a16="http://schemas.microsoft.com/office/drawing/2014/main" id="{FA51B3DE-449E-4ED5-9DE0-EBCAFE7B5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50" y="3971925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800">
                  <a:ea typeface="Gulim" panose="020B0600000101010101" pitchFamily="34" charset="-127"/>
                </a:rPr>
                <a:t>bytes</a:t>
              </a:r>
            </a:p>
          </p:txBody>
        </p:sp>
        <p:grpSp>
          <p:nvGrpSpPr>
            <p:cNvPr id="124944" name="Group 0">
              <a:extLst>
                <a:ext uri="{FF2B5EF4-FFF2-40B4-BE49-F238E27FC236}">
                  <a16:creationId xmlns:a16="http://schemas.microsoft.com/office/drawing/2014/main" id="{201C1554-40EB-43CA-8DE9-FD2D08C708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825" y="4365625"/>
              <a:ext cx="8567738" cy="1635125"/>
              <a:chOff x="68" y="2509"/>
              <a:chExt cx="5397" cy="1030"/>
            </a:xfrm>
          </p:grpSpPr>
          <p:sp>
            <p:nvSpPr>
              <p:cNvPr id="124945" name="Rectangle 4">
                <a:extLst>
                  <a:ext uri="{FF2B5EF4-FFF2-40B4-BE49-F238E27FC236}">
                    <a16:creationId xmlns:a16="http://schemas.microsoft.com/office/drawing/2014/main" id="{FD8D9E00-FA17-48A8-BD1A-C511683B3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" y="2509"/>
                <a:ext cx="565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Frame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Control</a:t>
                </a:r>
              </a:p>
            </p:txBody>
          </p:sp>
          <p:sp>
            <p:nvSpPr>
              <p:cNvPr id="124946" name="Rectangle 5">
                <a:extLst>
                  <a:ext uri="{FF2B5EF4-FFF2-40B4-BE49-F238E27FC236}">
                    <a16:creationId xmlns:a16="http://schemas.microsoft.com/office/drawing/2014/main" id="{378AC0D4-72E7-4112-974C-046BB9010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5" y="2509"/>
                <a:ext cx="576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Duration/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ID</a:t>
                </a:r>
              </a:p>
            </p:txBody>
          </p:sp>
          <p:sp>
            <p:nvSpPr>
              <p:cNvPr id="124947" name="Rectangle 6">
                <a:extLst>
                  <a:ext uri="{FF2B5EF4-FFF2-40B4-BE49-F238E27FC236}">
                    <a16:creationId xmlns:a16="http://schemas.microsoft.com/office/drawing/2014/main" id="{5EBB66E0-5724-4EBE-88CA-2C239398B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" y="2509"/>
                <a:ext cx="576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Address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1</a:t>
                </a:r>
              </a:p>
            </p:txBody>
          </p:sp>
          <p:sp>
            <p:nvSpPr>
              <p:cNvPr id="124948" name="Rectangle 7">
                <a:extLst>
                  <a:ext uri="{FF2B5EF4-FFF2-40B4-BE49-F238E27FC236}">
                    <a16:creationId xmlns:a16="http://schemas.microsoft.com/office/drawing/2014/main" id="{7F3CA00A-09EE-4FF3-9C08-8BD14F4BC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7" y="2509"/>
                <a:ext cx="576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Address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2</a:t>
                </a:r>
              </a:p>
            </p:txBody>
          </p:sp>
          <p:sp>
            <p:nvSpPr>
              <p:cNvPr id="124949" name="Rectangle 8">
                <a:extLst>
                  <a:ext uri="{FF2B5EF4-FFF2-40B4-BE49-F238E27FC236}">
                    <a16:creationId xmlns:a16="http://schemas.microsoft.com/office/drawing/2014/main" id="{DC415490-6E3E-4FFE-8541-32F753E6C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3" y="2509"/>
                <a:ext cx="576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Address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3</a:t>
                </a:r>
              </a:p>
            </p:txBody>
          </p:sp>
          <p:sp>
            <p:nvSpPr>
              <p:cNvPr id="124950" name="Rectangle 9">
                <a:extLst>
                  <a:ext uri="{FF2B5EF4-FFF2-40B4-BE49-F238E27FC236}">
                    <a16:creationId xmlns:a16="http://schemas.microsoft.com/office/drawing/2014/main" id="{EEFD509E-566F-42B3-B391-77C277BFE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9" y="2509"/>
                <a:ext cx="624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Sequence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Control</a:t>
                </a:r>
              </a:p>
            </p:txBody>
          </p:sp>
          <p:sp>
            <p:nvSpPr>
              <p:cNvPr id="124951" name="Rectangle 10">
                <a:extLst>
                  <a:ext uri="{FF2B5EF4-FFF2-40B4-BE49-F238E27FC236}">
                    <a16:creationId xmlns:a16="http://schemas.microsoft.com/office/drawing/2014/main" id="{10F6FD19-1E92-4D89-8EB3-78290C875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3" y="2509"/>
                <a:ext cx="576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Address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4</a:t>
                </a:r>
              </a:p>
            </p:txBody>
          </p:sp>
          <p:sp>
            <p:nvSpPr>
              <p:cNvPr id="124952" name="Rectangle 11">
                <a:extLst>
                  <a:ext uri="{FF2B5EF4-FFF2-40B4-BE49-F238E27FC236}">
                    <a16:creationId xmlns:a16="http://schemas.microsoft.com/office/drawing/2014/main" id="{388A1E81-3DFA-4BE8-950C-019C94C70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9" y="2509"/>
                <a:ext cx="624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Data</a:t>
                </a:r>
              </a:p>
            </p:txBody>
          </p:sp>
          <p:sp>
            <p:nvSpPr>
              <p:cNvPr id="124953" name="Rectangle 12">
                <a:extLst>
                  <a:ext uri="{FF2B5EF4-FFF2-40B4-BE49-F238E27FC236}">
                    <a16:creationId xmlns:a16="http://schemas.microsoft.com/office/drawing/2014/main" id="{C8B54EB4-7A34-44FF-85B3-4721E36CE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" y="2509"/>
                <a:ext cx="432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CRC</a:t>
                </a:r>
              </a:p>
            </p:txBody>
          </p:sp>
          <p:sp>
            <p:nvSpPr>
              <p:cNvPr id="124954" name="Rectangle 28">
                <a:extLst>
                  <a:ext uri="{FF2B5EF4-FFF2-40B4-BE49-F238E27FC236}">
                    <a16:creationId xmlns:a16="http://schemas.microsoft.com/office/drawing/2014/main" id="{77DE9F1C-EE5F-4191-A33E-0D74C1E39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" y="3203"/>
                <a:ext cx="558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Protocol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version</a:t>
                </a:r>
              </a:p>
            </p:txBody>
          </p:sp>
          <p:sp>
            <p:nvSpPr>
              <p:cNvPr id="124955" name="Rectangle 29">
                <a:extLst>
                  <a:ext uri="{FF2B5EF4-FFF2-40B4-BE49-F238E27FC236}">
                    <a16:creationId xmlns:a16="http://schemas.microsoft.com/office/drawing/2014/main" id="{73072D97-68AD-47B3-90BD-E1C8FB4DE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3203"/>
                <a:ext cx="394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Type</a:t>
                </a:r>
              </a:p>
            </p:txBody>
          </p:sp>
          <p:sp>
            <p:nvSpPr>
              <p:cNvPr id="124956" name="Rectangle 30">
                <a:extLst>
                  <a:ext uri="{FF2B5EF4-FFF2-40B4-BE49-F238E27FC236}">
                    <a16:creationId xmlns:a16="http://schemas.microsoft.com/office/drawing/2014/main" id="{ABD20A51-724E-4411-965F-CF20D920AD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" y="3203"/>
                <a:ext cx="499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Subtype</a:t>
                </a:r>
              </a:p>
            </p:txBody>
          </p:sp>
          <p:sp>
            <p:nvSpPr>
              <p:cNvPr id="124957" name="Rectangle 31">
                <a:extLst>
                  <a:ext uri="{FF2B5EF4-FFF2-40B4-BE49-F238E27FC236}">
                    <a16:creationId xmlns:a16="http://schemas.microsoft.com/office/drawing/2014/main" id="{A250DADD-96FE-4821-A19C-F84289CC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3203"/>
                <a:ext cx="318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To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DS</a:t>
                </a:r>
              </a:p>
            </p:txBody>
          </p:sp>
          <p:sp>
            <p:nvSpPr>
              <p:cNvPr id="124958" name="Rectangle 32">
                <a:extLst>
                  <a:ext uri="{FF2B5EF4-FFF2-40B4-BE49-F238E27FC236}">
                    <a16:creationId xmlns:a16="http://schemas.microsoft.com/office/drawing/2014/main" id="{E64CFFA0-150D-4F96-B67B-B3A33CAA4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6" y="3203"/>
                <a:ext cx="454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More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Frag</a:t>
                </a:r>
              </a:p>
            </p:txBody>
          </p:sp>
          <p:sp>
            <p:nvSpPr>
              <p:cNvPr id="124959" name="Rectangle 33">
                <a:extLst>
                  <a:ext uri="{FF2B5EF4-FFF2-40B4-BE49-F238E27FC236}">
                    <a16:creationId xmlns:a16="http://schemas.microsoft.com/office/drawing/2014/main" id="{EB8E3E2F-BB2F-4BE1-BAC8-21353E8A2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203"/>
                <a:ext cx="363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Retry</a:t>
                </a:r>
              </a:p>
            </p:txBody>
          </p:sp>
          <p:sp>
            <p:nvSpPr>
              <p:cNvPr id="124960" name="Rectangle 34">
                <a:extLst>
                  <a:ext uri="{FF2B5EF4-FFF2-40B4-BE49-F238E27FC236}">
                    <a16:creationId xmlns:a16="http://schemas.microsoft.com/office/drawing/2014/main" id="{07541BB5-6630-4BF8-A42B-9F9AE0E096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3" y="3203"/>
                <a:ext cx="408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Power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Mgmt</a:t>
                </a:r>
              </a:p>
            </p:txBody>
          </p:sp>
          <p:sp>
            <p:nvSpPr>
              <p:cNvPr id="124961" name="Rectangle 35">
                <a:extLst>
                  <a:ext uri="{FF2B5EF4-FFF2-40B4-BE49-F238E27FC236}">
                    <a16:creationId xmlns:a16="http://schemas.microsoft.com/office/drawing/2014/main" id="{233660E1-7811-4BEA-A7E3-6976E7829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1" y="3203"/>
                <a:ext cx="408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More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Data</a:t>
                </a:r>
              </a:p>
            </p:txBody>
          </p:sp>
          <p:sp>
            <p:nvSpPr>
              <p:cNvPr id="124962" name="Rectangle 36">
                <a:extLst>
                  <a:ext uri="{FF2B5EF4-FFF2-40B4-BE49-F238E27FC236}">
                    <a16:creationId xmlns:a16="http://schemas.microsoft.com/office/drawing/2014/main" id="{5D9A005C-F5CB-47B3-AF71-FC1F62BBB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9" y="3203"/>
                <a:ext cx="363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WEP</a:t>
                </a:r>
              </a:p>
            </p:txBody>
          </p:sp>
          <p:sp>
            <p:nvSpPr>
              <p:cNvPr id="124963" name="Text Box 37">
                <a:extLst>
                  <a:ext uri="{FF2B5EF4-FFF2-40B4-BE49-F238E27FC236}">
                    <a16:creationId xmlns:a16="http://schemas.microsoft.com/office/drawing/2014/main" id="{DD3EF5C3-1EBD-4FA3-B6E6-4D3190201C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" y="2991"/>
                <a:ext cx="19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2</a:t>
                </a:r>
              </a:p>
            </p:txBody>
          </p:sp>
          <p:sp>
            <p:nvSpPr>
              <p:cNvPr id="124964" name="Text Box 38">
                <a:extLst>
                  <a:ext uri="{FF2B5EF4-FFF2-40B4-BE49-F238E27FC236}">
                    <a16:creationId xmlns:a16="http://schemas.microsoft.com/office/drawing/2014/main" id="{0B20FC3D-1109-46C1-B6F2-BFA5DE70AE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2991"/>
                <a:ext cx="19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2</a:t>
                </a:r>
              </a:p>
            </p:txBody>
          </p:sp>
          <p:sp>
            <p:nvSpPr>
              <p:cNvPr id="124965" name="Text Box 39">
                <a:extLst>
                  <a:ext uri="{FF2B5EF4-FFF2-40B4-BE49-F238E27FC236}">
                    <a16:creationId xmlns:a16="http://schemas.microsoft.com/office/drawing/2014/main" id="{7A9AC7DF-BF08-4F30-A05A-E34787E861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8" y="2991"/>
                <a:ext cx="19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4</a:t>
                </a:r>
              </a:p>
            </p:txBody>
          </p:sp>
          <p:sp>
            <p:nvSpPr>
              <p:cNvPr id="124966" name="Text Box 40">
                <a:extLst>
                  <a:ext uri="{FF2B5EF4-FFF2-40B4-BE49-F238E27FC236}">
                    <a16:creationId xmlns:a16="http://schemas.microsoft.com/office/drawing/2014/main" id="{7F78FA3B-BA6E-4D57-B10B-A91FA76EC1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4" y="2991"/>
                <a:ext cx="17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1</a:t>
                </a:r>
              </a:p>
            </p:txBody>
          </p:sp>
          <p:sp>
            <p:nvSpPr>
              <p:cNvPr id="124967" name="Line 46">
                <a:extLst>
                  <a:ext uri="{FF2B5EF4-FFF2-40B4-BE49-F238E27FC236}">
                    <a16:creationId xmlns:a16="http://schemas.microsoft.com/office/drawing/2014/main" id="{6D229DB4-40F0-4397-8712-EB6A7C710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" y="284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68" name="Line 47">
                <a:extLst>
                  <a:ext uri="{FF2B5EF4-FFF2-40B4-BE49-F238E27FC236}">
                    <a16:creationId xmlns:a16="http://schemas.microsoft.com/office/drawing/2014/main" id="{DBE32D3B-9DAD-44B9-8146-7BF0F843D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5" y="2843"/>
                <a:ext cx="3880" cy="3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69" name="Rectangle 48">
                <a:extLst>
                  <a:ext uri="{FF2B5EF4-FFF2-40B4-BE49-F238E27FC236}">
                    <a16:creationId xmlns:a16="http://schemas.microsoft.com/office/drawing/2014/main" id="{8BBF41F9-05DC-43CD-8E42-0DAE6827B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9" y="3203"/>
                <a:ext cx="317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From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DS</a:t>
                </a:r>
              </a:p>
            </p:txBody>
          </p:sp>
          <p:sp>
            <p:nvSpPr>
              <p:cNvPr id="124970" name="Text Box 49">
                <a:extLst>
                  <a:ext uri="{FF2B5EF4-FFF2-40B4-BE49-F238E27FC236}">
                    <a16:creationId xmlns:a16="http://schemas.microsoft.com/office/drawing/2014/main" id="{23E8412A-37A4-4095-AFF0-0D6B706F8A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2" y="2991"/>
                <a:ext cx="17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1</a:t>
                </a:r>
              </a:p>
            </p:txBody>
          </p:sp>
          <p:sp>
            <p:nvSpPr>
              <p:cNvPr id="124971" name="Rectangle 50">
                <a:extLst>
                  <a:ext uri="{FF2B5EF4-FFF2-40B4-BE49-F238E27FC236}">
                    <a16:creationId xmlns:a16="http://schemas.microsoft.com/office/drawing/2014/main" id="{F101CD16-D616-4FEE-822E-1EEFE4DA8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2" y="3203"/>
                <a:ext cx="363" cy="336"/>
              </a:xfrm>
              <a:prstGeom prst="rect">
                <a:avLst/>
              </a:prstGeom>
              <a:solidFill>
                <a:srgbClr val="DADAF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Order</a:t>
                </a:r>
              </a:p>
            </p:txBody>
          </p:sp>
          <p:sp>
            <p:nvSpPr>
              <p:cNvPr id="124972" name="Text Box 51">
                <a:extLst>
                  <a:ext uri="{FF2B5EF4-FFF2-40B4-BE49-F238E27FC236}">
                    <a16:creationId xmlns:a16="http://schemas.microsoft.com/office/drawing/2014/main" id="{0AF78FDB-C49E-487C-8D12-912588661C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" y="2976"/>
                <a:ext cx="35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bits</a:t>
                </a:r>
              </a:p>
            </p:txBody>
          </p:sp>
          <p:sp>
            <p:nvSpPr>
              <p:cNvPr id="124973" name="Text Box 52">
                <a:extLst>
                  <a:ext uri="{FF2B5EF4-FFF2-40B4-BE49-F238E27FC236}">
                    <a16:creationId xmlns:a16="http://schemas.microsoft.com/office/drawing/2014/main" id="{F00871D1-6329-44F3-968C-AF1F8566B9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2" y="2976"/>
                <a:ext cx="17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1</a:t>
                </a:r>
              </a:p>
            </p:txBody>
          </p:sp>
          <p:sp>
            <p:nvSpPr>
              <p:cNvPr id="124974" name="Text Box 53">
                <a:extLst>
                  <a:ext uri="{FF2B5EF4-FFF2-40B4-BE49-F238E27FC236}">
                    <a16:creationId xmlns:a16="http://schemas.microsoft.com/office/drawing/2014/main" id="{D9A7589C-E46C-4353-97AB-C336E513B5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1" y="2976"/>
                <a:ext cx="17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1</a:t>
                </a:r>
              </a:p>
            </p:txBody>
          </p:sp>
          <p:sp>
            <p:nvSpPr>
              <p:cNvPr id="124975" name="Text Box 54">
                <a:extLst>
                  <a:ext uri="{FF2B5EF4-FFF2-40B4-BE49-F238E27FC236}">
                    <a16:creationId xmlns:a16="http://schemas.microsoft.com/office/drawing/2014/main" id="{BCA0B126-C2F2-4A52-9A7E-E5FA118ED2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2976"/>
                <a:ext cx="17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1</a:t>
                </a:r>
              </a:p>
            </p:txBody>
          </p:sp>
          <p:sp>
            <p:nvSpPr>
              <p:cNvPr id="124976" name="Text Box 55">
                <a:extLst>
                  <a:ext uri="{FF2B5EF4-FFF2-40B4-BE49-F238E27FC236}">
                    <a16:creationId xmlns:a16="http://schemas.microsoft.com/office/drawing/2014/main" id="{DE9EF67C-75D5-4980-A3E0-B05916DAC1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2" y="2976"/>
                <a:ext cx="17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1</a:t>
                </a:r>
              </a:p>
            </p:txBody>
          </p:sp>
          <p:sp>
            <p:nvSpPr>
              <p:cNvPr id="124977" name="Text Box 56">
                <a:extLst>
                  <a:ext uri="{FF2B5EF4-FFF2-40B4-BE49-F238E27FC236}">
                    <a16:creationId xmlns:a16="http://schemas.microsoft.com/office/drawing/2014/main" id="{F851BF79-9ADF-45C7-B568-E2FDB964AD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0" y="2976"/>
                <a:ext cx="17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1</a:t>
                </a:r>
              </a:p>
            </p:txBody>
          </p:sp>
          <p:sp>
            <p:nvSpPr>
              <p:cNvPr id="124978" name="Text Box 57">
                <a:extLst>
                  <a:ext uri="{FF2B5EF4-FFF2-40B4-BE49-F238E27FC236}">
                    <a16:creationId xmlns:a16="http://schemas.microsoft.com/office/drawing/2014/main" id="{2FB4C5D1-BF4F-44DD-B5E7-D8AFC5ECDC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8" y="2976"/>
                <a:ext cx="17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de-DE" altLang="ko-KR" sz="1600">
                    <a:ea typeface="Gulim" panose="020B0600000101010101" pitchFamily="34" charset="-127"/>
                  </a:rPr>
                  <a:t>1</a:t>
                </a:r>
              </a:p>
            </p:txBody>
          </p:sp>
        </p:grpSp>
      </p:grpSp>
      <p:sp>
        <p:nvSpPr>
          <p:cNvPr id="51" name="灯片编号占位符 6">
            <a:extLst>
              <a:ext uri="{FF2B5EF4-FFF2-40B4-BE49-F238E27FC236}">
                <a16:creationId xmlns:a16="http://schemas.microsoft.com/office/drawing/2014/main" id="{13FDEE0C-473D-477E-9219-D4F8FCBE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바닥글 개체 틀 3">
            <a:extLst>
              <a:ext uri="{FF2B5EF4-FFF2-40B4-BE49-F238E27FC236}">
                <a16:creationId xmlns:a16="http://schemas.microsoft.com/office/drawing/2014/main" id="{5709E463-B385-4CF8-AA12-FB62F32B2E3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tabLst>
                <a:tab pos="4956175" algn="l"/>
                <a:tab pos="7053263" algn="r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tabLst>
                <a:tab pos="4956175" algn="l"/>
                <a:tab pos="7053263" algn="r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7ADD323-EEE1-465A-B845-227B945615FB}" type="slidenum">
              <a:rPr lang="en-US" altLang="ko-KR" sz="1400" smtClean="0"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91357D77-4B51-4D3E-8FBA-B6B83DD3CD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Gulim" panose="020B0600000101010101" pitchFamily="34" charset="-127"/>
              </a:rPr>
              <a:t>MAC address format</a:t>
            </a:r>
          </a:p>
        </p:txBody>
      </p:sp>
      <p:graphicFrame>
        <p:nvGraphicFramePr>
          <p:cNvPr id="126980" name="Object 6">
            <a:extLst>
              <a:ext uri="{FF2B5EF4-FFF2-40B4-BE49-F238E27FC236}">
                <a16:creationId xmlns:a16="http://schemas.microsoft.com/office/drawing/2014/main" id="{1EC05CCB-8DDB-442D-AA58-4AC0F0F85C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295400"/>
          <a:ext cx="8218488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95" name="Dokument" r:id="rId4" imgW="8211312" imgH="2465832" progId="Word.Document.8">
                  <p:embed/>
                </p:oleObj>
              </mc:Choice>
              <mc:Fallback>
                <p:oleObj name="Dokument" r:id="rId4" imgW="8211312" imgH="2465832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95400"/>
                        <a:ext cx="8218488" cy="246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1" name="Text Box 7">
            <a:extLst>
              <a:ext uri="{FF2B5EF4-FFF2-40B4-BE49-F238E27FC236}">
                <a16:creationId xmlns:a16="http://schemas.microsoft.com/office/drawing/2014/main" id="{F29B9883-9C54-41BA-BF9F-EEFE09C7D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3870325"/>
            <a:ext cx="6477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DS: Distribution System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AP: Access Point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DA: Destination Address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SA: Source Address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BSSID: Basic Service Set Identifier – MAC address of AP, cf: (E)SSID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RA: Receiver Address (AP)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ea typeface="Gulim" panose="020B0600000101010101" pitchFamily="34" charset="-127"/>
              </a:rPr>
              <a:t>TA: Transmitter Address (AP)</a:t>
            </a:r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A83C68E4-0316-43D9-BEAB-4DDEC10F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바닥글 개체 틀 3">
            <a:extLst>
              <a:ext uri="{FF2B5EF4-FFF2-40B4-BE49-F238E27FC236}">
                <a16:creationId xmlns:a16="http://schemas.microsoft.com/office/drawing/2014/main" id="{6A8FC8B0-A985-4C5B-90E1-3664CC24243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tabLst>
                <a:tab pos="4956175" algn="l"/>
                <a:tab pos="7053263" algn="r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tabLst>
                <a:tab pos="4956175" algn="l"/>
                <a:tab pos="7053263" algn="r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956175" algn="l"/>
                <a:tab pos="7053263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3C2B469-2592-4D46-948D-16E49D15EF06}" type="slidenum">
              <a:rPr lang="en-US" altLang="ko-KR" sz="1400" smtClean="0"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29027" name="Rectangle 1026">
            <a:extLst>
              <a:ext uri="{FF2B5EF4-FFF2-40B4-BE49-F238E27FC236}">
                <a16:creationId xmlns:a16="http://schemas.microsoft.com/office/drawing/2014/main" id="{0BC348DF-EDAC-4CE0-9536-D16401F31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8000" y="0"/>
            <a:ext cx="7772400" cy="1143000"/>
          </a:xfrm>
        </p:spPr>
        <p:txBody>
          <a:bodyPr/>
          <a:lstStyle/>
          <a:p>
            <a:r>
              <a:rPr lang="de-DE" altLang="ko-KR">
                <a:ea typeface="Gulim" panose="020B0600000101010101" pitchFamily="34" charset="-127"/>
              </a:rPr>
              <a:t>Special Frames: ACK, RTS, CTS</a:t>
            </a:r>
          </a:p>
        </p:txBody>
      </p:sp>
      <p:sp>
        <p:nvSpPr>
          <p:cNvPr id="129028" name="Rectangle 1027">
            <a:extLst>
              <a:ext uri="{FF2B5EF4-FFF2-40B4-BE49-F238E27FC236}">
                <a16:creationId xmlns:a16="http://schemas.microsoft.com/office/drawing/2014/main" id="{317EE84D-7C43-458D-8172-982700557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ko-KR" sz="2000">
                <a:ea typeface="Gulim" panose="020B0600000101010101" pitchFamily="34" charset="-127"/>
              </a:rPr>
              <a:t>Acknowledgement</a:t>
            </a:r>
          </a:p>
          <a:p>
            <a:endParaRPr lang="de-DE" altLang="ko-KR" sz="2000">
              <a:ea typeface="Gulim" panose="020B0600000101010101" pitchFamily="34" charset="-127"/>
            </a:endParaRPr>
          </a:p>
          <a:p>
            <a:endParaRPr lang="de-DE" altLang="ko-KR" sz="2000">
              <a:ea typeface="Gulim" panose="020B0600000101010101" pitchFamily="34" charset="-127"/>
            </a:endParaRPr>
          </a:p>
          <a:p>
            <a:endParaRPr lang="de-DE" altLang="ko-KR" sz="2000">
              <a:ea typeface="Gulim" panose="020B0600000101010101" pitchFamily="34" charset="-127"/>
            </a:endParaRPr>
          </a:p>
          <a:p>
            <a:r>
              <a:rPr lang="de-DE" altLang="ko-KR" sz="2000">
                <a:ea typeface="Gulim" panose="020B0600000101010101" pitchFamily="34" charset="-127"/>
              </a:rPr>
              <a:t>Request To Send</a:t>
            </a:r>
          </a:p>
          <a:p>
            <a:endParaRPr lang="de-DE" altLang="ko-KR" sz="2000">
              <a:ea typeface="Gulim" panose="020B0600000101010101" pitchFamily="34" charset="-127"/>
            </a:endParaRPr>
          </a:p>
          <a:p>
            <a:endParaRPr lang="de-DE" altLang="ko-KR" sz="2000">
              <a:ea typeface="Gulim" panose="020B0600000101010101" pitchFamily="34" charset="-127"/>
            </a:endParaRPr>
          </a:p>
          <a:p>
            <a:endParaRPr lang="de-DE" altLang="ko-KR" sz="2000">
              <a:ea typeface="Gulim" panose="020B0600000101010101" pitchFamily="34" charset="-127"/>
            </a:endParaRPr>
          </a:p>
          <a:p>
            <a:r>
              <a:rPr lang="de-DE" altLang="ko-KR" sz="2000">
                <a:ea typeface="Gulim" panose="020B0600000101010101" pitchFamily="34" charset="-127"/>
              </a:rPr>
              <a:t>Clear To Send</a:t>
            </a:r>
          </a:p>
        </p:txBody>
      </p:sp>
      <p:grpSp>
        <p:nvGrpSpPr>
          <p:cNvPr id="129029" name="组合 36">
            <a:extLst>
              <a:ext uri="{FF2B5EF4-FFF2-40B4-BE49-F238E27FC236}">
                <a16:creationId xmlns:a16="http://schemas.microsoft.com/office/drawing/2014/main" id="{57CEAFDD-EBD8-4B02-9700-498A8A9A8E5E}"/>
              </a:ext>
            </a:extLst>
          </p:cNvPr>
          <p:cNvGrpSpPr>
            <a:grpSpLocks/>
          </p:cNvGrpSpPr>
          <p:nvPr/>
        </p:nvGrpSpPr>
        <p:grpSpPr bwMode="auto">
          <a:xfrm>
            <a:off x="3225800" y="1138238"/>
            <a:ext cx="5761038" cy="4032250"/>
            <a:chOff x="2843213" y="1125538"/>
            <a:chExt cx="5761037" cy="4032250"/>
          </a:xfrm>
        </p:grpSpPr>
        <p:sp>
          <p:nvSpPr>
            <p:cNvPr id="129030" name="Rectangle 1047">
              <a:extLst>
                <a:ext uri="{FF2B5EF4-FFF2-40B4-BE49-F238E27FC236}">
                  <a16:creationId xmlns:a16="http://schemas.microsoft.com/office/drawing/2014/main" id="{C55EA755-5DD8-43EE-8328-A513A038E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813" y="3040063"/>
              <a:ext cx="896937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Frame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Control</a:t>
              </a:r>
            </a:p>
          </p:txBody>
        </p:sp>
        <p:sp>
          <p:nvSpPr>
            <p:cNvPr id="129031" name="Rectangle 1048">
              <a:extLst>
                <a:ext uri="{FF2B5EF4-FFF2-40B4-BE49-F238E27FC236}">
                  <a16:creationId xmlns:a16="http://schemas.microsoft.com/office/drawing/2014/main" id="{AA5A6EC3-115D-4F4C-879A-A4C548BF3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0750" y="3040063"/>
              <a:ext cx="9144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Duration</a:t>
              </a:r>
            </a:p>
          </p:txBody>
        </p:sp>
        <p:sp>
          <p:nvSpPr>
            <p:cNvPr id="129032" name="Rectangle 1049">
              <a:extLst>
                <a:ext uri="{FF2B5EF4-FFF2-40B4-BE49-F238E27FC236}">
                  <a16:creationId xmlns:a16="http://schemas.microsoft.com/office/drawing/2014/main" id="{E1ACA093-DF87-4E1C-835B-401CC7B77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5150" y="3040063"/>
              <a:ext cx="9144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Receiver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Address</a:t>
              </a:r>
            </a:p>
          </p:txBody>
        </p:sp>
        <p:sp>
          <p:nvSpPr>
            <p:cNvPr id="129033" name="Rectangle 1050">
              <a:extLst>
                <a:ext uri="{FF2B5EF4-FFF2-40B4-BE49-F238E27FC236}">
                  <a16:creationId xmlns:a16="http://schemas.microsoft.com/office/drawing/2014/main" id="{978A2986-2FF4-48CF-A51F-E9B9999F9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9550" y="3040063"/>
              <a:ext cx="11303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Transmitter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Address</a:t>
              </a:r>
            </a:p>
          </p:txBody>
        </p:sp>
        <p:sp>
          <p:nvSpPr>
            <p:cNvPr id="129034" name="Rectangle 1051">
              <a:extLst>
                <a:ext uri="{FF2B5EF4-FFF2-40B4-BE49-F238E27FC236}">
                  <a16:creationId xmlns:a16="http://schemas.microsoft.com/office/drawing/2014/main" id="{8A66862F-C6CB-4EE0-80C5-4B50BF4B3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9850" y="3040063"/>
              <a:ext cx="9144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CRC</a:t>
              </a:r>
            </a:p>
          </p:txBody>
        </p:sp>
        <p:sp>
          <p:nvSpPr>
            <p:cNvPr id="129035" name="Text Box 1052">
              <a:extLst>
                <a:ext uri="{FF2B5EF4-FFF2-40B4-BE49-F238E27FC236}">
                  <a16:creationId xmlns:a16="http://schemas.microsoft.com/office/drawing/2014/main" id="{5E794649-9B63-4F47-A8EA-EA51206D9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1475" y="2719388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2</a:t>
              </a:r>
            </a:p>
          </p:txBody>
        </p:sp>
        <p:sp>
          <p:nvSpPr>
            <p:cNvPr id="129036" name="Text Box 1053">
              <a:extLst>
                <a:ext uri="{FF2B5EF4-FFF2-40B4-BE49-F238E27FC236}">
                  <a16:creationId xmlns:a16="http://schemas.microsoft.com/office/drawing/2014/main" id="{C72A8F36-2402-4C85-AF1B-4457B94CE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5550" y="2735263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2</a:t>
              </a:r>
            </a:p>
          </p:txBody>
        </p:sp>
        <p:sp>
          <p:nvSpPr>
            <p:cNvPr id="129037" name="Text Box 1054">
              <a:extLst>
                <a:ext uri="{FF2B5EF4-FFF2-40B4-BE49-F238E27FC236}">
                  <a16:creationId xmlns:a16="http://schemas.microsoft.com/office/drawing/2014/main" id="{F6EB9826-7631-4AAA-A0A1-0DBAFEB7D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9950" y="2735263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6</a:t>
              </a:r>
            </a:p>
          </p:txBody>
        </p:sp>
        <p:sp>
          <p:nvSpPr>
            <p:cNvPr id="129038" name="Text Box 1055">
              <a:extLst>
                <a:ext uri="{FF2B5EF4-FFF2-40B4-BE49-F238E27FC236}">
                  <a16:creationId xmlns:a16="http://schemas.microsoft.com/office/drawing/2014/main" id="{42B752A1-E580-4CB3-8B81-2FBC93B77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8163" y="2735263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6</a:t>
              </a:r>
            </a:p>
          </p:txBody>
        </p:sp>
        <p:sp>
          <p:nvSpPr>
            <p:cNvPr id="129039" name="Text Box 1056">
              <a:extLst>
                <a:ext uri="{FF2B5EF4-FFF2-40B4-BE49-F238E27FC236}">
                  <a16:creationId xmlns:a16="http://schemas.microsoft.com/office/drawing/2014/main" id="{AE89B3F8-7F19-46EE-9817-4EADCFD07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9250" y="2735263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4</a:t>
              </a:r>
            </a:p>
          </p:txBody>
        </p:sp>
        <p:sp>
          <p:nvSpPr>
            <p:cNvPr id="129040" name="Text Box 1057">
              <a:extLst>
                <a:ext uri="{FF2B5EF4-FFF2-40B4-BE49-F238E27FC236}">
                  <a16:creationId xmlns:a16="http://schemas.microsoft.com/office/drawing/2014/main" id="{F9125C77-153F-43CE-8C47-187E570FD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013" y="2659063"/>
              <a:ext cx="72167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bytes</a:t>
              </a:r>
            </a:p>
          </p:txBody>
        </p:sp>
        <p:sp>
          <p:nvSpPr>
            <p:cNvPr id="129041" name="Rectangle 1058">
              <a:extLst>
                <a:ext uri="{FF2B5EF4-FFF2-40B4-BE49-F238E27FC236}">
                  <a16:creationId xmlns:a16="http://schemas.microsoft.com/office/drawing/2014/main" id="{FAC9EC7D-63CC-49A8-A80A-F88D46B20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4624388"/>
              <a:ext cx="896938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Frame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Control</a:t>
              </a:r>
            </a:p>
          </p:txBody>
        </p:sp>
        <p:sp>
          <p:nvSpPr>
            <p:cNvPr id="129042" name="Rectangle 1059">
              <a:extLst>
                <a:ext uri="{FF2B5EF4-FFF2-40B4-BE49-F238E27FC236}">
                  <a16:creationId xmlns:a16="http://schemas.microsoft.com/office/drawing/2014/main" id="{2CE39597-075D-4BBE-9F4A-7ED2FB568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213" y="4624388"/>
              <a:ext cx="9144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Duration</a:t>
              </a:r>
            </a:p>
          </p:txBody>
        </p:sp>
        <p:sp>
          <p:nvSpPr>
            <p:cNvPr id="129043" name="Rectangle 1060">
              <a:extLst>
                <a:ext uri="{FF2B5EF4-FFF2-40B4-BE49-F238E27FC236}">
                  <a16:creationId xmlns:a16="http://schemas.microsoft.com/office/drawing/2014/main" id="{49DB3DCE-6DD6-4863-9BAF-AB4778E20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2613" y="4624388"/>
              <a:ext cx="9144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Receiver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Address</a:t>
              </a:r>
            </a:p>
          </p:txBody>
        </p:sp>
        <p:sp>
          <p:nvSpPr>
            <p:cNvPr id="129044" name="Rectangle 1061">
              <a:extLst>
                <a:ext uri="{FF2B5EF4-FFF2-40B4-BE49-F238E27FC236}">
                  <a16:creationId xmlns:a16="http://schemas.microsoft.com/office/drawing/2014/main" id="{87ABEE26-0093-4281-977F-499B5E94A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7013" y="4624388"/>
              <a:ext cx="9144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CRC</a:t>
              </a:r>
            </a:p>
          </p:txBody>
        </p:sp>
        <p:sp>
          <p:nvSpPr>
            <p:cNvPr id="129045" name="Text Box 1063">
              <a:extLst>
                <a:ext uri="{FF2B5EF4-FFF2-40B4-BE49-F238E27FC236}">
                  <a16:creationId xmlns:a16="http://schemas.microsoft.com/office/drawing/2014/main" id="{22C22D39-D233-4039-97CA-55F98E091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8938" y="4303713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2</a:t>
              </a:r>
            </a:p>
          </p:txBody>
        </p:sp>
        <p:sp>
          <p:nvSpPr>
            <p:cNvPr id="129046" name="Text Box 1064">
              <a:extLst>
                <a:ext uri="{FF2B5EF4-FFF2-40B4-BE49-F238E27FC236}">
                  <a16:creationId xmlns:a16="http://schemas.microsoft.com/office/drawing/2014/main" id="{B27FC9E8-486F-4464-8D3E-3730BDDB0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3013" y="4319588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2</a:t>
              </a:r>
            </a:p>
          </p:txBody>
        </p:sp>
        <p:sp>
          <p:nvSpPr>
            <p:cNvPr id="129047" name="Text Box 1065">
              <a:extLst>
                <a:ext uri="{FF2B5EF4-FFF2-40B4-BE49-F238E27FC236}">
                  <a16:creationId xmlns:a16="http://schemas.microsoft.com/office/drawing/2014/main" id="{29815446-480F-47BC-A8FC-B14B7FC25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7413" y="4319588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6</a:t>
              </a:r>
            </a:p>
          </p:txBody>
        </p:sp>
        <p:sp>
          <p:nvSpPr>
            <p:cNvPr id="129048" name="Text Box 1066">
              <a:extLst>
                <a:ext uri="{FF2B5EF4-FFF2-40B4-BE49-F238E27FC236}">
                  <a16:creationId xmlns:a16="http://schemas.microsoft.com/office/drawing/2014/main" id="{C6C1197A-B9E8-42CB-9FE5-86467E5FB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3713" y="4319588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4</a:t>
              </a:r>
            </a:p>
          </p:txBody>
        </p:sp>
        <p:sp>
          <p:nvSpPr>
            <p:cNvPr id="129049" name="Text Box 1068">
              <a:extLst>
                <a:ext uri="{FF2B5EF4-FFF2-40B4-BE49-F238E27FC236}">
                  <a16:creationId xmlns:a16="http://schemas.microsoft.com/office/drawing/2014/main" id="{FF5849E6-1118-46AC-ACC0-EB85B18C5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475" y="4243388"/>
              <a:ext cx="72167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bytes</a:t>
              </a:r>
            </a:p>
          </p:txBody>
        </p:sp>
        <p:sp>
          <p:nvSpPr>
            <p:cNvPr id="129050" name="Rectangle 1080">
              <a:extLst>
                <a:ext uri="{FF2B5EF4-FFF2-40B4-BE49-F238E27FC236}">
                  <a16:creationId xmlns:a16="http://schemas.microsoft.com/office/drawing/2014/main" id="{B0101326-D9D0-4B97-9EC0-C5B958C0A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713" y="1506538"/>
              <a:ext cx="896937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Frame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Control</a:t>
              </a:r>
            </a:p>
          </p:txBody>
        </p:sp>
        <p:sp>
          <p:nvSpPr>
            <p:cNvPr id="129051" name="Rectangle 1081">
              <a:extLst>
                <a:ext uri="{FF2B5EF4-FFF2-40B4-BE49-F238E27FC236}">
                  <a16:creationId xmlns:a16="http://schemas.microsoft.com/office/drawing/2014/main" id="{357254FC-F535-4D69-BFDF-D56F4A4FB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650" y="1506538"/>
              <a:ext cx="9144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Duration</a:t>
              </a:r>
            </a:p>
          </p:txBody>
        </p:sp>
        <p:sp>
          <p:nvSpPr>
            <p:cNvPr id="129052" name="Rectangle 1082">
              <a:extLst>
                <a:ext uri="{FF2B5EF4-FFF2-40B4-BE49-F238E27FC236}">
                  <a16:creationId xmlns:a16="http://schemas.microsoft.com/office/drawing/2014/main" id="{605D0ACC-2E0C-48BD-944F-33DCF2B6D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7050" y="1506538"/>
              <a:ext cx="9144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Receiver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Address</a:t>
              </a:r>
            </a:p>
          </p:txBody>
        </p:sp>
        <p:sp>
          <p:nvSpPr>
            <p:cNvPr id="129053" name="Rectangle 1083">
              <a:extLst>
                <a:ext uri="{FF2B5EF4-FFF2-40B4-BE49-F238E27FC236}">
                  <a16:creationId xmlns:a16="http://schemas.microsoft.com/office/drawing/2014/main" id="{2303578B-9A7E-4546-8CD7-EB36C87EB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450" y="1506538"/>
              <a:ext cx="914400" cy="533400"/>
            </a:xfrm>
            <a:prstGeom prst="rect">
              <a:avLst/>
            </a:prstGeom>
            <a:solidFill>
              <a:srgbClr val="DADAF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CRC</a:t>
              </a:r>
            </a:p>
          </p:txBody>
        </p:sp>
        <p:sp>
          <p:nvSpPr>
            <p:cNvPr id="129054" name="Text Box 1084">
              <a:extLst>
                <a:ext uri="{FF2B5EF4-FFF2-40B4-BE49-F238E27FC236}">
                  <a16:creationId xmlns:a16="http://schemas.microsoft.com/office/drawing/2014/main" id="{8C90FCA2-E4C8-4BA4-8B04-FE1E2291B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375" y="1185863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2</a:t>
              </a:r>
            </a:p>
          </p:txBody>
        </p:sp>
        <p:sp>
          <p:nvSpPr>
            <p:cNvPr id="129055" name="Text Box 1085">
              <a:extLst>
                <a:ext uri="{FF2B5EF4-FFF2-40B4-BE49-F238E27FC236}">
                  <a16:creationId xmlns:a16="http://schemas.microsoft.com/office/drawing/2014/main" id="{65FD0209-A009-4788-AB51-AD5C8E73A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7450" y="1201738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2</a:t>
              </a:r>
            </a:p>
          </p:txBody>
        </p:sp>
        <p:sp>
          <p:nvSpPr>
            <p:cNvPr id="129056" name="Text Box 1086">
              <a:extLst>
                <a:ext uri="{FF2B5EF4-FFF2-40B4-BE49-F238E27FC236}">
                  <a16:creationId xmlns:a16="http://schemas.microsoft.com/office/drawing/2014/main" id="{0121C61C-107E-4AAB-BD94-9C7A963FF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1850" y="1201738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6</a:t>
              </a:r>
            </a:p>
          </p:txBody>
        </p:sp>
        <p:sp>
          <p:nvSpPr>
            <p:cNvPr id="129057" name="Text Box 1087">
              <a:extLst>
                <a:ext uri="{FF2B5EF4-FFF2-40B4-BE49-F238E27FC236}">
                  <a16:creationId xmlns:a16="http://schemas.microsoft.com/office/drawing/2014/main" id="{FBD39EC7-B8F2-47CA-8E88-CE7166F6B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8150" y="1201738"/>
              <a:ext cx="3097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4</a:t>
              </a:r>
            </a:p>
          </p:txBody>
        </p:sp>
        <p:sp>
          <p:nvSpPr>
            <p:cNvPr id="129058" name="Text Box 1088">
              <a:extLst>
                <a:ext uri="{FF2B5EF4-FFF2-40B4-BE49-F238E27FC236}">
                  <a16:creationId xmlns:a16="http://schemas.microsoft.com/office/drawing/2014/main" id="{A774DE97-0C7E-49C4-8ED4-28DEEFC8B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3913" y="1125538"/>
              <a:ext cx="72167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bytes</a:t>
              </a:r>
            </a:p>
          </p:txBody>
        </p:sp>
        <p:sp>
          <p:nvSpPr>
            <p:cNvPr id="129059" name="Text Box 1089">
              <a:extLst>
                <a:ext uri="{FF2B5EF4-FFF2-40B4-BE49-F238E27FC236}">
                  <a16:creationId xmlns:a16="http://schemas.microsoft.com/office/drawing/2014/main" id="{3D1B30D5-7593-4214-A7B8-919C6505F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3213" y="1577975"/>
              <a:ext cx="600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ACK</a:t>
              </a:r>
            </a:p>
          </p:txBody>
        </p:sp>
        <p:sp>
          <p:nvSpPr>
            <p:cNvPr id="129060" name="Text Box 1090">
              <a:extLst>
                <a:ext uri="{FF2B5EF4-FFF2-40B4-BE49-F238E27FC236}">
                  <a16:creationId xmlns:a16="http://schemas.microsoft.com/office/drawing/2014/main" id="{21A10417-588B-4B5F-B2FD-C58CCE4C2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3213" y="3163888"/>
              <a:ext cx="5950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RTS</a:t>
              </a:r>
            </a:p>
          </p:txBody>
        </p:sp>
        <p:sp>
          <p:nvSpPr>
            <p:cNvPr id="129061" name="Text Box 1091">
              <a:extLst>
                <a:ext uri="{FF2B5EF4-FFF2-40B4-BE49-F238E27FC236}">
                  <a16:creationId xmlns:a16="http://schemas.microsoft.com/office/drawing/2014/main" id="{BE25BCDB-5B96-484B-A47E-386485EA7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3213" y="4719638"/>
              <a:ext cx="5889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de-DE" altLang="ko-KR" sz="1600">
                  <a:ea typeface="Gulim" panose="020B0600000101010101" pitchFamily="34" charset="-127"/>
                </a:rPr>
                <a:t>CTS</a:t>
              </a:r>
            </a:p>
          </p:txBody>
        </p:sp>
      </p:grpSp>
      <p:sp>
        <p:nvSpPr>
          <p:cNvPr id="38" name="灯片编号占位符 6">
            <a:extLst>
              <a:ext uri="{FF2B5EF4-FFF2-40B4-BE49-F238E27FC236}">
                <a16:creationId xmlns:a16="http://schemas.microsoft.com/office/drawing/2014/main" id="{F43D5BD4-3B1C-43DA-87C5-5C678FA3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4">
            <a:extLst>
              <a:ext uri="{FF2B5EF4-FFF2-40B4-BE49-F238E27FC236}">
                <a16:creationId xmlns:a16="http://schemas.microsoft.com/office/drawing/2014/main" id="{4013121D-A1CA-4ADD-A9CE-C15966086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4788"/>
            <a:ext cx="8610600" cy="114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Wireless communication technology</a:t>
            </a: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31075" name="组合 19">
            <a:extLst>
              <a:ext uri="{FF2B5EF4-FFF2-40B4-BE49-F238E27FC236}">
                <a16:creationId xmlns:a16="http://schemas.microsoft.com/office/drawing/2014/main" id="{98C4CD3B-6F37-4D20-A1F6-0875F8529F30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1270000"/>
            <a:ext cx="8586788" cy="5087938"/>
            <a:chOff x="-57150" y="1844675"/>
            <a:chExt cx="9201150" cy="5233988"/>
          </a:xfrm>
        </p:grpSpPr>
        <p:sp>
          <p:nvSpPr>
            <p:cNvPr id="131076" name="Text Box 19">
              <a:extLst>
                <a:ext uri="{FF2B5EF4-FFF2-40B4-BE49-F238E27FC236}">
                  <a16:creationId xmlns:a16="http://schemas.microsoft.com/office/drawing/2014/main" id="{AD3A386B-EE5A-41CC-ABAD-15C906B0A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1730" y="6463790"/>
              <a:ext cx="2202270" cy="394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Transmission range</a:t>
              </a:r>
              <a:endParaRPr lang="zh-CN" altLang="en-US" sz="180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31077" name="Text Box 5">
              <a:extLst>
                <a:ext uri="{FF2B5EF4-FFF2-40B4-BE49-F238E27FC236}">
                  <a16:creationId xmlns:a16="http://schemas.microsoft.com/office/drawing/2014/main" id="{F4526592-96D4-432D-B01D-141F72546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7150" y="2363788"/>
              <a:ext cx="1123950" cy="4714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1 Gb/s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100 Mb/s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10 Mb/s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1 Mb/s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100 kb/s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10 kb/s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31078" name="Line 6">
              <a:extLst>
                <a:ext uri="{FF2B5EF4-FFF2-40B4-BE49-F238E27FC236}">
                  <a16:creationId xmlns:a16="http://schemas.microsoft.com/office/drawing/2014/main" id="{11FB6785-DC19-4F50-A60F-1B300D517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1550" y="6034088"/>
              <a:ext cx="74168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79" name="Line 7">
              <a:extLst>
                <a:ext uri="{FF2B5EF4-FFF2-40B4-BE49-F238E27FC236}">
                  <a16:creationId xmlns:a16="http://schemas.microsoft.com/office/drawing/2014/main" id="{CEE01081-7377-4ED8-85AE-44C5325DD3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864394" y="4342607"/>
              <a:ext cx="3960813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80" name="Text Box 8">
              <a:extLst>
                <a:ext uri="{FF2B5EF4-FFF2-40B4-BE49-F238E27FC236}">
                  <a16:creationId xmlns:a16="http://schemas.microsoft.com/office/drawing/2014/main" id="{40DBF680-8607-425C-A7DB-CD0BCE1EA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6068" y="1844675"/>
              <a:ext cx="1133645" cy="394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Data rate</a:t>
              </a:r>
              <a:endParaRPr lang="zh-CN" altLang="en-US" sz="180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31081" name="Text Box 9">
              <a:extLst>
                <a:ext uri="{FF2B5EF4-FFF2-40B4-BE49-F238E27FC236}">
                  <a16:creationId xmlns:a16="http://schemas.microsoft.com/office/drawing/2014/main" id="{41A7E9FF-7F28-4AED-A7C0-496B18256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9775" y="5978525"/>
              <a:ext cx="6775450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PAN                        LAN                        MAN                         WAN</a:t>
              </a:r>
            </a:p>
          </p:txBody>
        </p:sp>
        <p:sp>
          <p:nvSpPr>
            <p:cNvPr id="131082" name="Oval 10">
              <a:extLst>
                <a:ext uri="{FF2B5EF4-FFF2-40B4-BE49-F238E27FC236}">
                  <a16:creationId xmlns:a16="http://schemas.microsoft.com/office/drawing/2014/main" id="{DD2C45E5-5605-4022-975C-9240F7F77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4810125"/>
              <a:ext cx="1439863" cy="720725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802.15.4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ZigBee</a:t>
              </a:r>
            </a:p>
          </p:txBody>
        </p:sp>
        <p:sp>
          <p:nvSpPr>
            <p:cNvPr id="131083" name="Oval 11">
              <a:extLst>
                <a:ext uri="{FF2B5EF4-FFF2-40B4-BE49-F238E27FC236}">
                  <a16:creationId xmlns:a16="http://schemas.microsoft.com/office/drawing/2014/main" id="{073E941A-C628-4E37-949D-7E3C5CC38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4233863"/>
              <a:ext cx="1439863" cy="6477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802.15.1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Bluetooth</a:t>
              </a:r>
              <a:endPara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31084" name="Oval 12">
              <a:extLst>
                <a:ext uri="{FF2B5EF4-FFF2-40B4-BE49-F238E27FC236}">
                  <a16:creationId xmlns:a16="http://schemas.microsoft.com/office/drawing/2014/main" id="{828CFF18-113B-4019-94C5-B62B7D32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2651125"/>
              <a:ext cx="1439863" cy="64770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802.15.3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UWB</a:t>
              </a:r>
              <a:endParaRPr lang="zh-CN" altLang="en-US" sz="180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31085" name="Oval 13">
              <a:extLst>
                <a:ext uri="{FF2B5EF4-FFF2-40B4-BE49-F238E27FC236}">
                  <a16:creationId xmlns:a16="http://schemas.microsoft.com/office/drawing/2014/main" id="{CFB90F5E-6F94-4C4C-B016-DD1A63904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3298825"/>
              <a:ext cx="1439863" cy="647700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802.11g, a</a:t>
              </a:r>
            </a:p>
          </p:txBody>
        </p:sp>
        <p:sp>
          <p:nvSpPr>
            <p:cNvPr id="131086" name="Oval 14">
              <a:extLst>
                <a:ext uri="{FF2B5EF4-FFF2-40B4-BE49-F238E27FC236}">
                  <a16:creationId xmlns:a16="http://schemas.microsoft.com/office/drawing/2014/main" id="{EA90392A-3877-472C-96D1-4CDACBD8F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3802063"/>
              <a:ext cx="1439863" cy="647700"/>
            </a:xfrm>
            <a:prstGeom prst="ellipse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802.11b</a:t>
              </a:r>
            </a:p>
          </p:txBody>
        </p:sp>
        <p:sp>
          <p:nvSpPr>
            <p:cNvPr id="131087" name="Oval 15">
              <a:extLst>
                <a:ext uri="{FF2B5EF4-FFF2-40B4-BE49-F238E27FC236}">
                  <a16:creationId xmlns:a16="http://schemas.microsoft.com/office/drawing/2014/main" id="{F361670A-5C38-45C0-8D91-55E1CA50D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925" y="3586163"/>
              <a:ext cx="1439863" cy="647700"/>
            </a:xfrm>
            <a:prstGeom prst="ellipse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802.16</a:t>
              </a:r>
            </a:p>
          </p:txBody>
        </p:sp>
        <p:sp>
          <p:nvSpPr>
            <p:cNvPr id="131088" name="Oval 16">
              <a:extLst>
                <a:ext uri="{FF2B5EF4-FFF2-40B4-BE49-F238E27FC236}">
                  <a16:creationId xmlns:a16="http://schemas.microsoft.com/office/drawing/2014/main" id="{39BCF511-5C67-459D-8583-E76214346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588" y="5099050"/>
              <a:ext cx="1439862" cy="647700"/>
            </a:xfrm>
            <a:prstGeom prst="ellipse">
              <a:avLst/>
            </a:prstGeom>
            <a:solidFill>
              <a:srgbClr val="CC66FF"/>
            </a:solidFill>
            <a:ln w="38100" cmpd="dbl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2G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Mobile communication</a:t>
              </a:r>
              <a:endParaRPr lang="zh-CN" altLang="en-US" sz="180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31089" name="Oval 17">
              <a:extLst>
                <a:ext uri="{FF2B5EF4-FFF2-40B4-BE49-F238E27FC236}">
                  <a16:creationId xmlns:a16="http://schemas.microsoft.com/office/drawing/2014/main" id="{44FB7A56-FFC1-4789-8BF1-EDBA8E6B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588" y="4306888"/>
              <a:ext cx="1439862" cy="647700"/>
            </a:xfrm>
            <a:prstGeom prst="ellipse">
              <a:avLst/>
            </a:prstGeom>
            <a:solidFill>
              <a:srgbClr val="66FF33"/>
            </a:solidFill>
            <a:ln w="38100" cmpd="dbl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3G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Mobile communication</a:t>
              </a:r>
              <a:endParaRPr lang="zh-CN" altLang="en-US" sz="180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31090" name="Oval 18">
              <a:extLst>
                <a:ext uri="{FF2B5EF4-FFF2-40B4-BE49-F238E27FC236}">
                  <a16:creationId xmlns:a16="http://schemas.microsoft.com/office/drawing/2014/main" id="{F295E6A6-9936-4142-94C4-590D357BE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9563" y="2794000"/>
              <a:ext cx="1439862" cy="647700"/>
            </a:xfrm>
            <a:prstGeom prst="ellipse">
              <a:avLst/>
            </a:prstGeom>
            <a:solidFill>
              <a:srgbClr val="CC9900"/>
            </a:solidFill>
            <a:ln w="38100" cmpd="dbl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4G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Mobile communication</a:t>
              </a:r>
              <a:endParaRPr lang="zh-CN" altLang="en-US" sz="180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31091" name="Text Box 20">
              <a:extLst>
                <a:ext uri="{FF2B5EF4-FFF2-40B4-BE49-F238E27FC236}">
                  <a16:creationId xmlns:a16="http://schemas.microsoft.com/office/drawing/2014/main" id="{694EDEB6-FEAC-4668-B14C-6169F54D0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9813" y="2908300"/>
              <a:ext cx="717550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Wi-Fi</a:t>
              </a:r>
            </a:p>
          </p:txBody>
        </p:sp>
        <p:sp>
          <p:nvSpPr>
            <p:cNvPr id="131092" name="Text Box 21">
              <a:extLst>
                <a:ext uri="{FF2B5EF4-FFF2-40B4-BE49-F238E27FC236}">
                  <a16:creationId xmlns:a16="http://schemas.microsoft.com/office/drawing/2014/main" id="{F54F779E-CCB8-433C-9AA9-FCB140BD8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5" y="3195638"/>
              <a:ext cx="946150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黑体" panose="02010609060101010101" pitchFamily="49" charset="-122"/>
                </a:rPr>
                <a:t>WiMAX</a:t>
              </a:r>
            </a:p>
          </p:txBody>
        </p:sp>
      </p:grpSp>
      <p:sp>
        <p:nvSpPr>
          <p:cNvPr id="21" name="灯片编号占位符 6">
            <a:extLst>
              <a:ext uri="{FF2B5EF4-FFF2-40B4-BE49-F238E27FC236}">
                <a16:creationId xmlns:a16="http://schemas.microsoft.com/office/drawing/2014/main" id="{03C5CA33-0B48-4B8F-8749-7DEF5FA6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2925" y="6400800"/>
            <a:ext cx="676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标题 1">
            <a:extLst>
              <a:ext uri="{FF2B5EF4-FFF2-40B4-BE49-F238E27FC236}">
                <a16:creationId xmlns:a16="http://schemas.microsoft.com/office/drawing/2014/main" id="{07FC62BA-82D5-44E2-9E7A-17CAE6E8E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Wireless standards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2100" name="灯片编号占位符 3">
            <a:extLst>
              <a:ext uri="{FF2B5EF4-FFF2-40B4-BE49-F238E27FC236}">
                <a16:creationId xmlns:a16="http://schemas.microsoft.com/office/drawing/2014/main" id="{B470BFDC-8025-4454-9396-A9EB2BB0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748E41EE-DF44-4921-A58B-C72CCCDEB9CD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132101" name="Picture 2">
            <a:extLst>
              <a:ext uri="{FF2B5EF4-FFF2-40B4-BE49-F238E27FC236}">
                <a16:creationId xmlns:a16="http://schemas.microsoft.com/office/drawing/2014/main" id="{AA5634AC-226E-4685-B2C9-A8AFD1AFC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1349375"/>
            <a:ext cx="7065963" cy="509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标题 1">
            <a:extLst>
              <a:ext uri="{FF2B5EF4-FFF2-40B4-BE49-F238E27FC236}">
                <a16:creationId xmlns:a16="http://schemas.microsoft.com/office/drawing/2014/main" id="{39D24696-FD81-4C0D-BBC1-D656ECC78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IEEE 802.15.4 and ZigBee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24" name="灯片编号占位符 3">
            <a:extLst>
              <a:ext uri="{FF2B5EF4-FFF2-40B4-BE49-F238E27FC236}">
                <a16:creationId xmlns:a16="http://schemas.microsoft.com/office/drawing/2014/main" id="{7CD2E572-0613-4267-977B-173BE6C6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498DFF6C-6198-4153-B565-7C1C8C50C7D9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3125" name="矩形 4">
            <a:extLst>
              <a:ext uri="{FF2B5EF4-FFF2-40B4-BE49-F238E27FC236}">
                <a16:creationId xmlns:a16="http://schemas.microsoft.com/office/drawing/2014/main" id="{7A8451B2-A2F6-4595-BAD6-61EB5BB40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8" y="1627188"/>
            <a:ext cx="4303712" cy="433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1800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IEEE 802.15.4 Working Group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     </a:t>
            </a:r>
            <a:r>
              <a:rPr lang="en-US" altLang="zh-CN" sz="2000">
                <a:ea typeface="宋体" panose="02010600030101010101" pitchFamily="2" charset="-122"/>
              </a:rPr>
              <a:t>Defining lower layers of protocol stack: MAC and PHY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1800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ZigBee Alliance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    </a:t>
            </a:r>
            <a:r>
              <a:rPr lang="en-US" altLang="zh-CN" sz="2000">
                <a:ea typeface="宋体" panose="02010600030101010101" pitchFamily="2" charset="-122"/>
              </a:rPr>
              <a:t>Defining upper layers of protocol stack from network to application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800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pic>
        <p:nvPicPr>
          <p:cNvPr id="133126" name="Picture 2">
            <a:extLst>
              <a:ext uri="{FF2B5EF4-FFF2-40B4-BE49-F238E27FC236}">
                <a16:creationId xmlns:a16="http://schemas.microsoft.com/office/drawing/2014/main" id="{90024184-6F82-4ABC-B5B0-C626F2BCD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1747838"/>
            <a:ext cx="410527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标题 1">
            <a:extLst>
              <a:ext uri="{FF2B5EF4-FFF2-40B4-BE49-F238E27FC236}">
                <a16:creationId xmlns:a16="http://schemas.microsoft.com/office/drawing/2014/main" id="{C0070F21-B102-4DC7-94A3-319D43F8E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ZigBee overview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4148" name="灯片编号占位符 3">
            <a:extLst>
              <a:ext uri="{FF2B5EF4-FFF2-40B4-BE49-F238E27FC236}">
                <a16:creationId xmlns:a16="http://schemas.microsoft.com/office/drawing/2014/main" id="{57EDF107-9C70-4F91-9E00-2368AA220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AE799D8C-F6F7-4287-87DB-AC22EFC01147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4149" name="矩形 4">
            <a:extLst>
              <a:ext uri="{FF2B5EF4-FFF2-40B4-BE49-F238E27FC236}">
                <a16:creationId xmlns:a16="http://schemas.microsoft.com/office/drawing/2014/main" id="{9CB3343B-BECA-4F19-A853-AB0F8843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1471613"/>
            <a:ext cx="7950200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0850" indent="-45085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ts val="12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400">
                <a:ea typeface="宋体" panose="02010600030101010101" pitchFamily="2" charset="-122"/>
              </a:rPr>
              <a:t>ZigBee was created to address the market need for a cost-effective, standards based wireless networking solution that supports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low data-rates</a:t>
            </a:r>
            <a:r>
              <a:rPr lang="en-US" altLang="zh-CN" sz="2400">
                <a:ea typeface="宋体" panose="02010600030101010101" pitchFamily="2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low-power consumption</a:t>
            </a:r>
            <a:r>
              <a:rPr lang="en-US" altLang="zh-CN" sz="2400">
                <a:ea typeface="宋体" panose="02010600030101010101" pitchFamily="2" charset="-122"/>
              </a:rPr>
              <a:t>, security, and reliability.</a:t>
            </a:r>
          </a:p>
          <a:p>
            <a:pPr algn="just">
              <a:spcBef>
                <a:spcPts val="12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400">
                <a:ea typeface="宋体" panose="02010600030101010101" pitchFamily="2" charset="-122"/>
              </a:rPr>
              <a:t>ZigBee is the only standards-based technology that addresses the unique needs of most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remote monitoring and control </a:t>
            </a:r>
            <a:r>
              <a:rPr lang="en-US" altLang="zh-CN" sz="2400">
                <a:ea typeface="宋体" panose="02010600030101010101" pitchFamily="2" charset="-122"/>
              </a:rPr>
              <a:t>and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sensory network </a:t>
            </a:r>
            <a:r>
              <a:rPr lang="en-US" altLang="zh-CN" sz="2400">
                <a:ea typeface="宋体" panose="02010600030101010101" pitchFamily="2" charset="-122"/>
              </a:rPr>
              <a:t>applications.</a:t>
            </a:r>
          </a:p>
          <a:p>
            <a:pPr algn="just">
              <a:spcBef>
                <a:spcPts val="12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400">
                <a:ea typeface="宋体" panose="02010600030101010101" pitchFamily="2" charset="-122"/>
              </a:rPr>
              <a:t>The initial markets for the ZigBee Alliance include Home Automation, Building Automation and Industrial Automation.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标题 1">
            <a:extLst>
              <a:ext uri="{FF2B5EF4-FFF2-40B4-BE49-F238E27FC236}">
                <a16:creationId xmlns:a16="http://schemas.microsoft.com/office/drawing/2014/main" id="{BB11A901-4CF4-4C3D-8C62-E6970CEA8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157163"/>
            <a:ext cx="8847137" cy="11430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How to achieve low power consumption?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135172" name="灯片编号占位符 3">
            <a:extLst>
              <a:ext uri="{FF2B5EF4-FFF2-40B4-BE49-F238E27FC236}">
                <a16:creationId xmlns:a16="http://schemas.microsoft.com/office/drawing/2014/main" id="{F0595E2A-621F-4D55-B4BA-45426803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B56F00B1-DF35-4E7C-AC07-0A378B4BA468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5173" name="矩形 4">
            <a:extLst>
              <a:ext uri="{FF2B5EF4-FFF2-40B4-BE49-F238E27FC236}">
                <a16:creationId xmlns:a16="http://schemas.microsoft.com/office/drawing/2014/main" id="{AA744CCF-0ABF-418C-BA92-B2A2C11D7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147763"/>
            <a:ext cx="7583488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000">
                <a:ea typeface="宋体" panose="02010600030101010101" pitchFamily="2" charset="-122"/>
              </a:rPr>
              <a:t>The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duty cycle </a:t>
            </a:r>
            <a:r>
              <a:rPr lang="en-US" altLang="zh-CN" sz="2000">
                <a:ea typeface="宋体" panose="02010600030101010101" pitchFamily="2" charset="-122"/>
              </a:rPr>
              <a:t>of battery is designed to be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very low</a:t>
            </a:r>
            <a:r>
              <a:rPr lang="en-US" altLang="zh-CN" sz="2000">
                <a:ea typeface="宋体" panose="02010600030101010101" pitchFamily="2" charset="-122"/>
              </a:rPr>
              <a:t>, resulting in very low average power consumption.</a:t>
            </a:r>
          </a:p>
          <a:p>
            <a:pPr algn="just">
              <a:spcBef>
                <a:spcPct val="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000">
                <a:ea typeface="宋体" panose="02010600030101010101" pitchFamily="2" charset="-122"/>
              </a:rPr>
              <a:t>Once associated with a network, a ZigBee node can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wake up </a:t>
            </a:r>
            <a:r>
              <a:rPr lang="en-US" altLang="zh-CN" sz="2000">
                <a:ea typeface="宋体" panose="02010600030101010101" pitchFamily="2" charset="-122"/>
              </a:rPr>
              <a:t>and communicate with other devices and return to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sleep</a:t>
            </a:r>
            <a:r>
              <a:rPr lang="en-US" altLang="zh-CN" sz="2000">
                <a:ea typeface="宋体" panose="02010600030101010101" pitchFamily="2" charset="-122"/>
              </a:rPr>
              <a:t>.</a:t>
            </a:r>
          </a:p>
          <a:p>
            <a:pPr algn="just">
              <a:spcBef>
                <a:spcPct val="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Short range </a:t>
            </a:r>
            <a:r>
              <a:rPr lang="en-US" altLang="zh-CN" sz="2000">
                <a:ea typeface="宋体" panose="02010600030101010101" pitchFamily="2" charset="-122"/>
              </a:rPr>
              <a:t>operation.</a:t>
            </a:r>
          </a:p>
          <a:p>
            <a:pPr algn="just">
              <a:spcBef>
                <a:spcPct val="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p"/>
            </a:pP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Simple</a:t>
            </a:r>
            <a:r>
              <a:rPr lang="en-US" altLang="zh-CN" sz="2000">
                <a:ea typeface="宋体" panose="02010600030101010101" pitchFamily="2" charset="-122"/>
              </a:rPr>
              <a:t> but flexible protocol.</a:t>
            </a:r>
          </a:p>
        </p:txBody>
      </p:sp>
      <p:pic>
        <p:nvPicPr>
          <p:cNvPr id="135174" name="Picture 2">
            <a:extLst>
              <a:ext uri="{FF2B5EF4-FFF2-40B4-BE49-F238E27FC236}">
                <a16:creationId xmlns:a16="http://schemas.microsoft.com/office/drawing/2014/main" id="{9E42AB33-3638-4C28-A359-6A54162F4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3282950"/>
            <a:ext cx="3832225" cy="314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5" name="Picture 4">
            <a:extLst>
              <a:ext uri="{FF2B5EF4-FFF2-40B4-BE49-F238E27FC236}">
                <a16:creationId xmlns:a16="http://schemas.microsoft.com/office/drawing/2014/main" id="{B1FE26E7-68C3-40AC-8EBC-2E6645E8B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113" y="3560763"/>
            <a:ext cx="4275137" cy="28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标题 1">
            <a:extLst>
              <a:ext uri="{FF2B5EF4-FFF2-40B4-BE49-F238E27FC236}">
                <a16:creationId xmlns:a16="http://schemas.microsoft.com/office/drawing/2014/main" id="{81CCC296-4DA3-4B97-A4CE-17849B985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00" y="169863"/>
            <a:ext cx="7908925" cy="1143000"/>
          </a:xfrm>
        </p:spPr>
        <p:txBody>
          <a:bodyPr/>
          <a:lstStyle/>
          <a:p>
            <a:r>
              <a:rPr lang="en-US" altLang="zh-CN" sz="3200">
                <a:ea typeface="宋体" panose="02010600030101010101" pitchFamily="2" charset="-122"/>
              </a:rPr>
              <a:t>Interference and Coexistence in the 2.4GHz Band</a:t>
            </a:r>
            <a:endParaRPr lang="zh-CN" altLang="en-US" sz="3200">
              <a:ea typeface="宋体" panose="02010600030101010101" pitchFamily="2" charset="-122"/>
            </a:endParaRPr>
          </a:p>
        </p:txBody>
      </p:sp>
      <p:sp>
        <p:nvSpPr>
          <p:cNvPr id="136196" name="灯片编号占位符 3">
            <a:extLst>
              <a:ext uri="{FF2B5EF4-FFF2-40B4-BE49-F238E27FC236}">
                <a16:creationId xmlns:a16="http://schemas.microsoft.com/office/drawing/2014/main" id="{CA47E6CD-E46C-4E8C-A411-EF8DDB46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9877EA14-A466-47CD-A5A3-08876C92BAF6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136197" name="Picture 2">
            <a:extLst>
              <a:ext uri="{FF2B5EF4-FFF2-40B4-BE49-F238E27FC236}">
                <a16:creationId xmlns:a16="http://schemas.microsoft.com/office/drawing/2014/main" id="{D2519329-BD07-4424-A340-69A1E3936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1541463"/>
            <a:ext cx="7781925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灯片编号占位符 6">
            <a:extLst>
              <a:ext uri="{FF2B5EF4-FFF2-40B4-BE49-F238E27FC236}">
                <a16:creationId xmlns:a16="http://schemas.microsoft.com/office/drawing/2014/main" id="{6DB09116-1D77-45DB-927E-BC70F09F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pitchFamily="18" charset="0"/>
              </a:rPr>
              <a:t>4-</a:t>
            </a:r>
            <a:fld id="{669DDDCE-4C77-444F-90E4-192CA11C96CC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7220" name="Rectangle 2">
            <a:extLst>
              <a:ext uri="{FF2B5EF4-FFF2-40B4-BE49-F238E27FC236}">
                <a16:creationId xmlns:a16="http://schemas.microsoft.com/office/drawing/2014/main" id="{119CD062-9B32-48E7-8232-350BE764B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Chapter 4:Local area network  Summary</a:t>
            </a:r>
          </a:p>
        </p:txBody>
      </p:sp>
      <p:sp>
        <p:nvSpPr>
          <p:cNvPr id="137221" name="Rectangle 3">
            <a:extLst>
              <a:ext uri="{FF2B5EF4-FFF2-40B4-BE49-F238E27FC236}">
                <a16:creationId xmlns:a16="http://schemas.microsoft.com/office/drawing/2014/main" id="{920734CF-CDCE-4915-93D3-0924660CA56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5950" y="1831975"/>
            <a:ext cx="7307263" cy="4402138"/>
          </a:xfr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various link layer technologies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LAN model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Ethernet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hubs, switches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VLAN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IEEE 802.11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IEEE 802.15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6280</TotalTime>
  <Words>4509</Words>
  <Application>Microsoft Office PowerPoint</Application>
  <PresentationFormat>全屏显示(4:3)</PresentationFormat>
  <Paragraphs>1347</Paragraphs>
  <Slides>77</Slides>
  <Notes>35</Notes>
  <HiddenSlides>3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77</vt:i4>
      </vt:variant>
    </vt:vector>
  </HeadingPairs>
  <TitlesOfParts>
    <vt:vector size="95" baseType="lpstr">
      <vt:lpstr>Gulim</vt:lpstr>
      <vt:lpstr>Malgun Gothic</vt:lpstr>
      <vt:lpstr>ＭＳ Ｐゴシック</vt:lpstr>
      <vt:lpstr>黑体</vt:lpstr>
      <vt:lpstr>楷体</vt:lpstr>
      <vt:lpstr>宋体</vt:lpstr>
      <vt:lpstr>Arial</vt:lpstr>
      <vt:lpstr>Cambria Math</vt:lpstr>
      <vt:lpstr>Comic Sans MS</vt:lpstr>
      <vt:lpstr>Gill Sans MT</vt:lpstr>
      <vt:lpstr>Symbol</vt:lpstr>
      <vt:lpstr>Times New Roman</vt:lpstr>
      <vt:lpstr>Wingdings</vt:lpstr>
      <vt:lpstr>ZapfDingbats</vt:lpstr>
      <vt:lpstr>Office 主题</vt:lpstr>
      <vt:lpstr>Visio</vt:lpstr>
      <vt:lpstr>Clip</vt:lpstr>
      <vt:lpstr>Dokument</vt:lpstr>
      <vt:lpstr>PowerPoint 演示文稿</vt:lpstr>
      <vt:lpstr>LAN technologies</vt:lpstr>
      <vt:lpstr>Keypoints and Difficulties</vt:lpstr>
      <vt:lpstr>LAN model</vt:lpstr>
      <vt:lpstr>LAN model</vt:lpstr>
      <vt:lpstr>LLC and MAC</vt:lpstr>
      <vt:lpstr>IEEE 802 working group</vt:lpstr>
      <vt:lpstr>LAN Addresses</vt:lpstr>
      <vt:lpstr>LAN Address (more)</vt:lpstr>
      <vt:lpstr>LAN Address </vt:lpstr>
      <vt:lpstr>MAC Addresses</vt:lpstr>
      <vt:lpstr>Ethernet</vt:lpstr>
      <vt:lpstr>Ethernet: physical topology</vt:lpstr>
      <vt:lpstr>Ethernet: unreliable, connectionless</vt:lpstr>
      <vt:lpstr>802.3 Ethernet standards: link &amp; physical layers</vt:lpstr>
      <vt:lpstr>Ethernet Frame Structure</vt:lpstr>
      <vt:lpstr>Ethernet Frame Structure</vt:lpstr>
      <vt:lpstr>Ethernet Frame Structure (more)</vt:lpstr>
      <vt:lpstr>Ethernet Frame Structure (more)</vt:lpstr>
      <vt:lpstr>Exercises-1</vt:lpstr>
      <vt:lpstr>Ethernet: uses CSMA/CD</vt:lpstr>
      <vt:lpstr>Ethernet: uses CSMA/CD</vt:lpstr>
      <vt:lpstr>Ethernet’s CSMA/CD (more)</vt:lpstr>
      <vt:lpstr>Ethernet’s CSMA/CD (more)</vt:lpstr>
      <vt:lpstr>Interconnecting LANs</vt:lpstr>
      <vt:lpstr>Hubs</vt:lpstr>
      <vt:lpstr>Hubs (more)</vt:lpstr>
      <vt:lpstr>Hub limitations</vt:lpstr>
      <vt:lpstr>Ethernet switch</vt:lpstr>
      <vt:lpstr>Switch: multiple simultaneous transmissions</vt:lpstr>
      <vt:lpstr>Switch forwarding table</vt:lpstr>
      <vt:lpstr>Switch: self-learning</vt:lpstr>
      <vt:lpstr>Switch: frame filtering/forwarding</vt:lpstr>
      <vt:lpstr>Self-learning, forwarding: example</vt:lpstr>
      <vt:lpstr>Interconnecting switches</vt:lpstr>
      <vt:lpstr>Self-learning multi-switch example</vt:lpstr>
      <vt:lpstr>Institutional network</vt:lpstr>
      <vt:lpstr>Switches vs. routers</vt:lpstr>
      <vt:lpstr>VLANs: motivation</vt:lpstr>
      <vt:lpstr>VLANs</vt:lpstr>
      <vt:lpstr>Port-based VLAN</vt:lpstr>
      <vt:lpstr>VLANS spanning multiple switches</vt:lpstr>
      <vt:lpstr>PowerPoint 演示文稿</vt:lpstr>
      <vt:lpstr>Wireless communications</vt:lpstr>
      <vt:lpstr>the challenges of Wireless communications</vt:lpstr>
      <vt:lpstr>Wireless communication technology</vt:lpstr>
      <vt:lpstr>IEEE Wireless Technology</vt:lpstr>
      <vt:lpstr>infrastructure vs. ad-hoc networks</vt:lpstr>
      <vt:lpstr>IEEE standard 802.11</vt:lpstr>
      <vt:lpstr>IEEE 802.11 physical layer</vt:lpstr>
      <vt:lpstr>IEEE 802.11 protocol architecture </vt:lpstr>
      <vt:lpstr>802.11 - MAC layer</vt:lpstr>
      <vt:lpstr>802.11 MAC functions</vt:lpstr>
      <vt:lpstr>DCF CSMA/CA Illustrated</vt:lpstr>
      <vt:lpstr>802.11 - MAC </vt:lpstr>
      <vt:lpstr>CSMA/CA access method </vt:lpstr>
      <vt:lpstr>CSMA/CA access method (Continued)</vt:lpstr>
      <vt:lpstr>A simplified example</vt:lpstr>
      <vt:lpstr>LAN hidden terminal problem </vt:lpstr>
      <vt:lpstr>LAN exposed terminal problem</vt:lpstr>
      <vt:lpstr>RTS/CTS</vt:lpstr>
      <vt:lpstr>Collision Avoidance: RTS-CTS exchange</vt:lpstr>
      <vt:lpstr>RTS/CTS (Continued)</vt:lpstr>
      <vt:lpstr>CSMA/CA access method </vt:lpstr>
      <vt:lpstr>802.11 frame: addressing</vt:lpstr>
      <vt:lpstr>PowerPoint 演示文稿</vt:lpstr>
      <vt:lpstr>PowerPoint 演示文稿</vt:lpstr>
      <vt:lpstr>802.11 – MAC frame format</vt:lpstr>
      <vt:lpstr>MAC address format</vt:lpstr>
      <vt:lpstr>Special Frames: ACK, RTS, CTS</vt:lpstr>
      <vt:lpstr>Wireless communication technology</vt:lpstr>
      <vt:lpstr>Wireless standards</vt:lpstr>
      <vt:lpstr>IEEE 802.15.4 and ZigBee</vt:lpstr>
      <vt:lpstr>ZigBee overview</vt:lpstr>
      <vt:lpstr>How to achieve low power consumption?</vt:lpstr>
      <vt:lpstr>Interference and Coexistence in the 2.4GHz Band</vt:lpstr>
      <vt:lpstr>Chapter 4:Local area network  Summary</vt:lpstr>
    </vt:vector>
  </TitlesOfParts>
  <Company>University of Massachusetts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I: Introduction</dc:title>
  <dc:creator>Don Towsley</dc:creator>
  <cp:lastModifiedBy>hu Hu</cp:lastModifiedBy>
  <cp:revision>246</cp:revision>
  <cp:lastPrinted>2000-10-23T11:49:35Z</cp:lastPrinted>
  <dcterms:created xsi:type="dcterms:W3CDTF">1999-10-08T19:08:27Z</dcterms:created>
  <dcterms:modified xsi:type="dcterms:W3CDTF">2022-09-20T13:24:36Z</dcterms:modified>
</cp:coreProperties>
</file>
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notesSlides/notesSlide8.xml" ContentType="application/vnd.openxmlformats-officedocument.presentationml.notesSlide+xml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notesSlides/notesSlide9.xml" ContentType="application/vnd.openxmlformats-officedocument.presentationml.notesSlide+xml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ppt/embeddings/oleObject59.bin" ContentType="application/vnd.openxmlformats-officedocument.oleObject"/>
  <Override PartName="/ppt/embeddings/oleObject60.bin" ContentType="application/vnd.openxmlformats-officedocument.oleObject"/>
  <Override PartName="/ppt/embeddings/oleObject61.bin" ContentType="application/vnd.openxmlformats-officedocument.oleObject"/>
  <Override PartName="/ppt/embeddings/oleObject62.bin" ContentType="application/vnd.openxmlformats-officedocument.oleObject"/>
  <Override PartName="/ppt/embeddings/oleObject63.bin" ContentType="application/vnd.openxmlformats-officedocument.oleObject"/>
  <Override PartName="/ppt/embeddings/oleObject64.bin" ContentType="application/vnd.openxmlformats-officedocument.oleObject"/>
  <Override PartName="/ppt/embeddings/oleObject65.bin" ContentType="application/vnd.openxmlformats-officedocument.oleObject"/>
  <Override PartName="/ppt/embeddings/oleObject66.bin" ContentType="application/vnd.openxmlformats-officedocument.oleObject"/>
  <Override PartName="/ppt/notesSlides/notesSlide10.xml" ContentType="application/vnd.openxmlformats-officedocument.presentationml.notesSlide+xml"/>
  <Override PartName="/ppt/embeddings/oleObject67.bin" ContentType="application/vnd.openxmlformats-officedocument.oleObject"/>
  <Override PartName="/ppt/embeddings/oleObject68.bin" ContentType="application/vnd.openxmlformats-officedocument.oleObject"/>
  <Override PartName="/ppt/embeddings/oleObject69.bin" ContentType="application/vnd.openxmlformats-officedocument.oleObject"/>
  <Override PartName="/ppt/embeddings/oleObject70.bin" ContentType="application/vnd.openxmlformats-officedocument.oleObject"/>
  <Override PartName="/ppt/embeddings/oleObject71.bin" ContentType="application/vnd.openxmlformats-officedocument.oleObject"/>
  <Override PartName="/ppt/embeddings/oleObject72.bin" ContentType="application/vnd.openxmlformats-officedocument.oleObject"/>
  <Override PartName="/ppt/embeddings/oleObject73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74" r:id="rId2"/>
    <p:sldId id="354" r:id="rId3"/>
    <p:sldId id="386" r:id="rId4"/>
    <p:sldId id="295" r:id="rId5"/>
    <p:sldId id="296" r:id="rId6"/>
    <p:sldId id="313" r:id="rId7"/>
    <p:sldId id="314" r:id="rId8"/>
    <p:sldId id="387" r:id="rId9"/>
    <p:sldId id="389" r:id="rId10"/>
    <p:sldId id="315" r:id="rId11"/>
    <p:sldId id="300" r:id="rId12"/>
    <p:sldId id="301" r:id="rId13"/>
    <p:sldId id="302" r:id="rId14"/>
    <p:sldId id="303" r:id="rId15"/>
    <p:sldId id="309" r:id="rId16"/>
    <p:sldId id="310" r:id="rId17"/>
    <p:sldId id="316" r:id="rId18"/>
    <p:sldId id="311" r:id="rId19"/>
    <p:sldId id="312" r:id="rId20"/>
    <p:sldId id="305" r:id="rId21"/>
    <p:sldId id="308" r:id="rId22"/>
    <p:sldId id="307" r:id="rId23"/>
    <p:sldId id="391" r:id="rId24"/>
    <p:sldId id="390" r:id="rId25"/>
    <p:sldId id="392" r:id="rId26"/>
    <p:sldId id="393" r:id="rId2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84028"/>
    <a:srgbClr val="EFFB00"/>
    <a:srgbClr val="90840D"/>
    <a:srgbClr val="EAFBAD"/>
    <a:srgbClr val="8E8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33"/>
    <p:restoredTop sz="78250" autoAdjust="0"/>
  </p:normalViewPr>
  <p:slideViewPr>
    <p:cSldViewPr>
      <p:cViewPr varScale="1">
        <p:scale>
          <a:sx n="73" d="100"/>
          <a:sy n="73" d="100"/>
        </p:scale>
        <p:origin x="653" y="5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image" Target="../media/image41.wmf"/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12" Type="http://schemas.openxmlformats.org/officeDocument/2006/relationships/image" Target="../media/image40.wmf"/><Relationship Id="rId2" Type="http://schemas.openxmlformats.org/officeDocument/2006/relationships/image" Target="../media/image30.wmf"/><Relationship Id="rId16" Type="http://schemas.openxmlformats.org/officeDocument/2006/relationships/image" Target="../media/image44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11" Type="http://schemas.openxmlformats.org/officeDocument/2006/relationships/image" Target="../media/image39.wmf"/><Relationship Id="rId5" Type="http://schemas.openxmlformats.org/officeDocument/2006/relationships/image" Target="../media/image33.wmf"/><Relationship Id="rId15" Type="http://schemas.openxmlformats.org/officeDocument/2006/relationships/image" Target="../media/image43.wmf"/><Relationship Id="rId10" Type="http://schemas.openxmlformats.org/officeDocument/2006/relationships/image" Target="../media/image38.wmf"/><Relationship Id="rId4" Type="http://schemas.openxmlformats.org/officeDocument/2006/relationships/image" Target="../media/image32.wmf"/><Relationship Id="rId9" Type="http://schemas.openxmlformats.org/officeDocument/2006/relationships/image" Target="../media/image37.wmf"/><Relationship Id="rId14" Type="http://schemas.openxmlformats.org/officeDocument/2006/relationships/image" Target="../media/image4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4" Type="http://schemas.openxmlformats.org/officeDocument/2006/relationships/image" Target="../media/image5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image" Target="../media/image57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7" Type="http://schemas.openxmlformats.org/officeDocument/2006/relationships/image" Target="../media/image66.wmf"/><Relationship Id="rId2" Type="http://schemas.openxmlformats.org/officeDocument/2006/relationships/image" Target="../media/image61.wmf"/><Relationship Id="rId1" Type="http://schemas.openxmlformats.org/officeDocument/2006/relationships/image" Target="../media/image60.e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image" Target="../media/image67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10" Type="http://schemas.openxmlformats.org/officeDocument/2006/relationships/image" Target="../media/image78.wmf"/><Relationship Id="rId4" Type="http://schemas.openxmlformats.org/officeDocument/2006/relationships/image" Target="../media/image72.wmf"/><Relationship Id="rId9" Type="http://schemas.openxmlformats.org/officeDocument/2006/relationships/image" Target="../media/image7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7" Type="http://schemas.openxmlformats.org/officeDocument/2006/relationships/image" Target="../media/image85.emf"/><Relationship Id="rId2" Type="http://schemas.openxmlformats.org/officeDocument/2006/relationships/image" Target="../media/image80.emf"/><Relationship Id="rId1" Type="http://schemas.openxmlformats.org/officeDocument/2006/relationships/image" Target="../media/image79.emf"/><Relationship Id="rId6" Type="http://schemas.openxmlformats.org/officeDocument/2006/relationships/image" Target="../media/image84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2025/6/19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739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410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函数g</a:t>
            </a:r>
            <a:r>
              <a:rPr lang="en-US" dirty="0"/>
              <a:t>(x)</a:t>
            </a:r>
            <a:r>
              <a:rPr lang="en-US" dirty="0" err="1"/>
              <a:t>可以有无穷多个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迭代格式是否收敛取决于函数g</a:t>
            </a:r>
            <a:r>
              <a:rPr lang="en-US" dirty="0"/>
              <a:t>(x)的形式和初始值x0</a:t>
            </a:r>
            <a:r>
              <a:rPr lang="zh-CN" altLang="en-US" dirty="0"/>
              <a:t>。</a:t>
            </a:r>
            <a:r>
              <a:rPr lang="zh-CN" altLang="en-CN" dirty="0"/>
              <a:t>具体</a:t>
            </a:r>
            <a:r>
              <a:rPr lang="zh-CN" altLang="en-US" dirty="0"/>
              <a:t>的</a:t>
            </a:r>
            <a:r>
              <a:rPr lang="en-CN" dirty="0"/>
              <a:t>收敛</a:t>
            </a:r>
            <a:r>
              <a:rPr lang="zh-CN" altLang="en-US" dirty="0"/>
              <a:t>条件请查阅相关资料，我们下次课上讨论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另外对于收敛的迭代格式</a:t>
            </a:r>
            <a:r>
              <a:rPr lang="zh-CN" altLang="en-US" dirty="0"/>
              <a:t>，</a:t>
            </a:r>
            <a:r>
              <a:rPr lang="en-CN" dirty="0"/>
              <a:t>函数g</a:t>
            </a:r>
            <a:r>
              <a:rPr lang="en-US" dirty="0"/>
              <a:t>(x)</a:t>
            </a:r>
            <a:r>
              <a:rPr lang="en-US" dirty="0" err="1"/>
              <a:t>也可能有多种取法</a:t>
            </a:r>
            <a:r>
              <a:rPr lang="zh-CN" altLang="en-US" dirty="0"/>
              <a:t>。</a:t>
            </a:r>
            <a:r>
              <a:rPr lang="en-CN" dirty="0"/>
              <a:t>函数g</a:t>
            </a:r>
            <a:r>
              <a:rPr lang="en-US" dirty="0"/>
              <a:t>(x)</a:t>
            </a:r>
            <a:r>
              <a:rPr lang="zh-CN" altLang="en-US" dirty="0"/>
              <a:t>不同的取法</a:t>
            </a:r>
            <a:r>
              <a:rPr lang="en-US" dirty="0" err="1"/>
              <a:t>会影响迭代收敛的速度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计算机或计算器里优先选用的是收敛快的迭代格式，一般计算机都采用牛顿迭代格式。那牛顿迭代格式是什么样的呢？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572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67610A-C09E-BB48-95AF-3824090EE723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3122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函数g</a:t>
            </a:r>
            <a:r>
              <a:rPr lang="en-US" dirty="0"/>
              <a:t>(x)</a:t>
            </a:r>
            <a:r>
              <a:rPr lang="en-US" dirty="0" err="1"/>
              <a:t>可以有无穷多个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迭代格式是否收敛取决于函数g</a:t>
            </a:r>
            <a:r>
              <a:rPr lang="en-US" dirty="0"/>
              <a:t>(x)的形式和初始值x0</a:t>
            </a:r>
            <a:r>
              <a:rPr lang="zh-CN" altLang="en-US" dirty="0"/>
              <a:t>。</a:t>
            </a:r>
            <a:r>
              <a:rPr lang="zh-CN" altLang="en-CN" dirty="0"/>
              <a:t>具体</a:t>
            </a:r>
            <a:r>
              <a:rPr lang="zh-CN" altLang="en-US" dirty="0"/>
              <a:t>的</a:t>
            </a:r>
            <a:r>
              <a:rPr lang="en-CN" dirty="0"/>
              <a:t>收敛</a:t>
            </a:r>
            <a:r>
              <a:rPr lang="zh-CN" altLang="en-US" dirty="0"/>
              <a:t>条件请查阅相关资料，我们下次课上讨论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另外对于收敛的迭代格式</a:t>
            </a:r>
            <a:r>
              <a:rPr lang="zh-CN" altLang="en-US" dirty="0"/>
              <a:t>，</a:t>
            </a:r>
            <a:r>
              <a:rPr lang="en-CN" dirty="0"/>
              <a:t>函数g</a:t>
            </a:r>
            <a:r>
              <a:rPr lang="en-US" dirty="0"/>
              <a:t>(x)</a:t>
            </a:r>
            <a:r>
              <a:rPr lang="en-US" dirty="0" err="1"/>
              <a:t>也可能有多种取法</a:t>
            </a:r>
            <a:r>
              <a:rPr lang="zh-CN" altLang="en-US" dirty="0"/>
              <a:t>。</a:t>
            </a:r>
            <a:r>
              <a:rPr lang="en-CN" dirty="0"/>
              <a:t>函数g</a:t>
            </a:r>
            <a:r>
              <a:rPr lang="en-US" dirty="0"/>
              <a:t>(x)</a:t>
            </a:r>
            <a:r>
              <a:rPr lang="zh-CN" altLang="en-US" dirty="0"/>
              <a:t>不同的取法</a:t>
            </a:r>
            <a:r>
              <a:rPr lang="en-US" dirty="0" err="1"/>
              <a:t>会影响迭代收敛的速度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计算机或计算器里优先选用的是收敛快的迭代格式，一般计算机都采用牛顿迭代格式。那牛顿迭代格式是什么样的呢？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524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函数g</a:t>
            </a:r>
            <a:r>
              <a:rPr lang="en-US" dirty="0"/>
              <a:t>(x)</a:t>
            </a:r>
            <a:r>
              <a:rPr lang="en-US" dirty="0" err="1"/>
              <a:t>可以有无穷多个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迭代格式是否收敛取决于函数g</a:t>
            </a:r>
            <a:r>
              <a:rPr lang="en-US" dirty="0"/>
              <a:t>(x)的形式和初始值x0</a:t>
            </a:r>
            <a:r>
              <a:rPr lang="zh-CN" altLang="en-US" dirty="0"/>
              <a:t>。</a:t>
            </a:r>
            <a:r>
              <a:rPr lang="zh-CN" altLang="en-CN" dirty="0"/>
              <a:t>具体</a:t>
            </a:r>
            <a:r>
              <a:rPr lang="zh-CN" altLang="en-US" dirty="0"/>
              <a:t>的</a:t>
            </a:r>
            <a:r>
              <a:rPr lang="en-CN" dirty="0"/>
              <a:t>收敛</a:t>
            </a:r>
            <a:r>
              <a:rPr lang="zh-CN" altLang="en-US" dirty="0"/>
              <a:t>条件请查阅相关资料，我们下次课上讨论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另外对于收敛的迭代格式</a:t>
            </a:r>
            <a:r>
              <a:rPr lang="zh-CN" altLang="en-US" dirty="0"/>
              <a:t>，</a:t>
            </a:r>
            <a:r>
              <a:rPr lang="en-CN" dirty="0"/>
              <a:t>函数g</a:t>
            </a:r>
            <a:r>
              <a:rPr lang="en-US" dirty="0"/>
              <a:t>(x)</a:t>
            </a:r>
            <a:r>
              <a:rPr lang="en-US" dirty="0" err="1"/>
              <a:t>也可能有多种取法</a:t>
            </a:r>
            <a:r>
              <a:rPr lang="zh-CN" altLang="en-US" dirty="0"/>
              <a:t>。</a:t>
            </a:r>
            <a:r>
              <a:rPr lang="en-CN" dirty="0"/>
              <a:t>函数g</a:t>
            </a:r>
            <a:r>
              <a:rPr lang="en-US" dirty="0"/>
              <a:t>(x)</a:t>
            </a:r>
            <a:r>
              <a:rPr lang="zh-CN" altLang="en-US" dirty="0"/>
              <a:t>不同的取法</a:t>
            </a:r>
            <a:r>
              <a:rPr lang="en-US" dirty="0" err="1"/>
              <a:t>会影响迭代收敛的速度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计算机或计算器里优先选用的是收敛快的迭代格式，一般计算机都采用牛顿迭代格式。那牛顿迭代格式是什么样的呢？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593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600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67610A-C09E-BB48-95AF-3824090EE723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9352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628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6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1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1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audio" Target="../media/audio2.bin"/><Relationship Id="rId7" Type="http://schemas.openxmlformats.org/officeDocument/2006/relationships/audio" Target="../media/audio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audio" Target="../media/audio5.bin"/><Relationship Id="rId11" Type="http://schemas.openxmlformats.org/officeDocument/2006/relationships/image" Target="../media/image7.wmf"/><Relationship Id="rId5" Type="http://schemas.openxmlformats.org/officeDocument/2006/relationships/audio" Target="../media/audio4.bin"/><Relationship Id="rId10" Type="http://schemas.openxmlformats.org/officeDocument/2006/relationships/oleObject" Target="../embeddings/oleObject2.bin"/><Relationship Id="rId4" Type="http://schemas.openxmlformats.org/officeDocument/2006/relationships/audio" Target="../media/audio3.bin"/><Relationship Id="rId9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5.bin"/><Relationship Id="rId3" Type="http://schemas.openxmlformats.org/officeDocument/2006/relationships/audio" Target="../media/audio6.bin"/><Relationship Id="rId7" Type="http://schemas.openxmlformats.org/officeDocument/2006/relationships/audio" Target="../media/audio7.bin"/><Relationship Id="rId12" Type="http://schemas.openxmlformats.org/officeDocument/2006/relationships/image" Target="../media/image9.wmf"/><Relationship Id="rId17" Type="http://schemas.openxmlformats.org/officeDocument/2006/relationships/image" Target="../media/image13.jpe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wmf"/><Relationship Id="rId1" Type="http://schemas.openxmlformats.org/officeDocument/2006/relationships/vmlDrawing" Target="../drawings/vmlDrawing2.vml"/><Relationship Id="rId6" Type="http://schemas.openxmlformats.org/officeDocument/2006/relationships/audio" Target="../media/audio4.bin"/><Relationship Id="rId11" Type="http://schemas.openxmlformats.org/officeDocument/2006/relationships/oleObject" Target="../embeddings/oleObject4.bin"/><Relationship Id="rId5" Type="http://schemas.openxmlformats.org/officeDocument/2006/relationships/audio" Target="../media/audio5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4" Type="http://schemas.openxmlformats.org/officeDocument/2006/relationships/audio" Target="../media/audio3.bin"/><Relationship Id="rId9" Type="http://schemas.openxmlformats.org/officeDocument/2006/relationships/oleObject" Target="../embeddings/oleObject3.bin"/><Relationship Id="rId1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7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0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15.png"/><Relationship Id="rId21" Type="http://schemas.openxmlformats.org/officeDocument/2006/relationships/image" Target="../media/image27.png"/><Relationship Id="rId7" Type="http://schemas.openxmlformats.org/officeDocument/2006/relationships/image" Target="../media/image19.png"/><Relationship Id="rId12" Type="http://schemas.openxmlformats.org/officeDocument/2006/relationships/image" Target="../media/image180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170.png"/><Relationship Id="rId24" Type="http://schemas.openxmlformats.org/officeDocument/2006/relationships/image" Target="../media/image30.png"/><Relationship Id="rId5" Type="http://schemas.openxmlformats.org/officeDocument/2006/relationships/image" Target="../media/image17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9" Type="http://schemas.openxmlformats.org/officeDocument/2006/relationships/image" Target="../media/image25.png"/><Relationship Id="rId4" Type="http://schemas.openxmlformats.org/officeDocument/2006/relationships/image" Target="../media/image16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15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37.png"/><Relationship Id="rId5" Type="http://schemas.openxmlformats.org/officeDocument/2006/relationships/image" Target="../media/image17.png"/><Relationship Id="rId10" Type="http://schemas.openxmlformats.org/officeDocument/2006/relationships/image" Target="../media/image36.png"/><Relationship Id="rId4" Type="http://schemas.openxmlformats.org/officeDocument/2006/relationships/image" Target="../media/image16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7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bin"/><Relationship Id="rId2" Type="http://schemas.openxmlformats.org/officeDocument/2006/relationships/audio" Target="../media/audio2.bin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8.bin"/><Relationship Id="rId4" Type="http://schemas.openxmlformats.org/officeDocument/2006/relationships/audio" Target="../media/audio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27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26.wmf"/><Relationship Id="rId5" Type="http://schemas.openxmlformats.org/officeDocument/2006/relationships/image" Target="../media/image28.jpeg"/><Relationship Id="rId10" Type="http://schemas.openxmlformats.org/officeDocument/2006/relationships/oleObject" Target="../embeddings/oleObject9.bin"/><Relationship Id="rId4" Type="http://schemas.openxmlformats.org/officeDocument/2006/relationships/audio" Target="../media/audio6.bin"/><Relationship Id="rId9" Type="http://schemas.openxmlformats.org/officeDocument/2006/relationships/image" Target="../media/image25.w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wmf"/><Relationship Id="rId18" Type="http://schemas.openxmlformats.org/officeDocument/2006/relationships/oleObject" Target="../embeddings/oleObject17.bin"/><Relationship Id="rId26" Type="http://schemas.openxmlformats.org/officeDocument/2006/relationships/oleObject" Target="../embeddings/oleObject21.bin"/><Relationship Id="rId21" Type="http://schemas.openxmlformats.org/officeDocument/2006/relationships/image" Target="../media/image36.wmf"/><Relationship Id="rId34" Type="http://schemas.openxmlformats.org/officeDocument/2006/relationships/oleObject" Target="../embeddings/oleObject25.bin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34.wmf"/><Relationship Id="rId25" Type="http://schemas.openxmlformats.org/officeDocument/2006/relationships/image" Target="../media/image38.wmf"/><Relationship Id="rId33" Type="http://schemas.openxmlformats.org/officeDocument/2006/relationships/image" Target="../media/image4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29" Type="http://schemas.openxmlformats.org/officeDocument/2006/relationships/image" Target="../media/image40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31.wmf"/><Relationship Id="rId24" Type="http://schemas.openxmlformats.org/officeDocument/2006/relationships/oleObject" Target="../embeddings/oleObject20.bin"/><Relationship Id="rId32" Type="http://schemas.openxmlformats.org/officeDocument/2006/relationships/oleObject" Target="../embeddings/oleObject24.bin"/><Relationship Id="rId37" Type="http://schemas.openxmlformats.org/officeDocument/2006/relationships/image" Target="../media/image44.wmf"/><Relationship Id="rId5" Type="http://schemas.openxmlformats.org/officeDocument/2006/relationships/audio" Target="../media/audio5.bin"/><Relationship Id="rId15" Type="http://schemas.openxmlformats.org/officeDocument/2006/relationships/image" Target="../media/image33.wmf"/><Relationship Id="rId23" Type="http://schemas.openxmlformats.org/officeDocument/2006/relationships/image" Target="../media/image37.wmf"/><Relationship Id="rId28" Type="http://schemas.openxmlformats.org/officeDocument/2006/relationships/oleObject" Target="../embeddings/oleObject22.bin"/><Relationship Id="rId36" Type="http://schemas.openxmlformats.org/officeDocument/2006/relationships/oleObject" Target="../embeddings/oleObject26.bin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35.wmf"/><Relationship Id="rId31" Type="http://schemas.openxmlformats.org/officeDocument/2006/relationships/image" Target="../media/image41.wmf"/><Relationship Id="rId4" Type="http://schemas.openxmlformats.org/officeDocument/2006/relationships/audio" Target="../media/audio4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15.bin"/><Relationship Id="rId22" Type="http://schemas.openxmlformats.org/officeDocument/2006/relationships/oleObject" Target="../embeddings/oleObject19.bin"/><Relationship Id="rId27" Type="http://schemas.openxmlformats.org/officeDocument/2006/relationships/image" Target="../media/image39.wmf"/><Relationship Id="rId30" Type="http://schemas.openxmlformats.org/officeDocument/2006/relationships/oleObject" Target="../embeddings/oleObject23.bin"/><Relationship Id="rId35" Type="http://schemas.openxmlformats.org/officeDocument/2006/relationships/image" Target="../media/image43.wmf"/><Relationship Id="rId8" Type="http://schemas.openxmlformats.org/officeDocument/2006/relationships/oleObject" Target="../embeddings/oleObject12.bin"/><Relationship Id="rId3" Type="http://schemas.openxmlformats.org/officeDocument/2006/relationships/audio" Target="../media/audio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bin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49.wmf"/><Relationship Id="rId3" Type="http://schemas.openxmlformats.org/officeDocument/2006/relationships/notesSlide" Target="../notesSlides/notesSlide8.xml"/><Relationship Id="rId21" Type="http://schemas.openxmlformats.org/officeDocument/2006/relationships/oleObject" Target="../embeddings/oleObject33.bin"/><Relationship Id="rId7" Type="http://schemas.openxmlformats.org/officeDocument/2006/relationships/audio" Target="../media/audio2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1" Type="http://schemas.openxmlformats.org/officeDocument/2006/relationships/vmlDrawing" Target="../drawings/vmlDrawing5.vml"/><Relationship Id="rId6" Type="http://schemas.openxmlformats.org/officeDocument/2006/relationships/audio" Target="../media/audio4.bin"/><Relationship Id="rId11" Type="http://schemas.openxmlformats.org/officeDocument/2006/relationships/oleObject" Target="../embeddings/oleObject28.bin"/><Relationship Id="rId5" Type="http://schemas.openxmlformats.org/officeDocument/2006/relationships/audio" Target="../media/audio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32.bin"/><Relationship Id="rId4" Type="http://schemas.openxmlformats.org/officeDocument/2006/relationships/audio" Target="../media/audio3.bin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jpeg"/><Relationship Id="rId4" Type="http://schemas.openxmlformats.org/officeDocument/2006/relationships/image" Target="../media/image5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3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7" Type="http://schemas.openxmlformats.org/officeDocument/2006/relationships/image" Target="../media/image5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8.e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57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63.wmf"/><Relationship Id="rId4" Type="http://schemas.openxmlformats.org/officeDocument/2006/relationships/image" Target="../media/image60.e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6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8.e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67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74.wmf"/><Relationship Id="rId26" Type="http://schemas.openxmlformats.org/officeDocument/2006/relationships/image" Target="../media/image78.wmf"/><Relationship Id="rId3" Type="http://schemas.openxmlformats.org/officeDocument/2006/relationships/notesSlide" Target="../notesSlides/notesSlide9.xml"/><Relationship Id="rId21" Type="http://schemas.openxmlformats.org/officeDocument/2006/relationships/oleObject" Target="../embeddings/oleObject57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55.bin"/><Relationship Id="rId25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.wmf"/><Relationship Id="rId20" Type="http://schemas.openxmlformats.org/officeDocument/2006/relationships/image" Target="../media/image75.wmf"/><Relationship Id="rId1" Type="http://schemas.openxmlformats.org/officeDocument/2006/relationships/vmlDrawing" Target="../drawings/vmlDrawing11.vml"/><Relationship Id="rId6" Type="http://schemas.openxmlformats.org/officeDocument/2006/relationships/audio" Target="../media/audio9.bin"/><Relationship Id="rId11" Type="http://schemas.openxmlformats.org/officeDocument/2006/relationships/oleObject" Target="../embeddings/oleObject52.bin"/><Relationship Id="rId24" Type="http://schemas.openxmlformats.org/officeDocument/2006/relationships/image" Target="../media/image77.wmf"/><Relationship Id="rId5" Type="http://schemas.openxmlformats.org/officeDocument/2006/relationships/audio" Target="../media/audio3.bin"/><Relationship Id="rId15" Type="http://schemas.openxmlformats.org/officeDocument/2006/relationships/oleObject" Target="../embeddings/oleObject54.bin"/><Relationship Id="rId23" Type="http://schemas.openxmlformats.org/officeDocument/2006/relationships/oleObject" Target="../embeddings/oleObject58.bin"/><Relationship Id="rId10" Type="http://schemas.openxmlformats.org/officeDocument/2006/relationships/image" Target="../media/image70.wmf"/><Relationship Id="rId19" Type="http://schemas.openxmlformats.org/officeDocument/2006/relationships/oleObject" Target="../embeddings/oleObject56.bin"/><Relationship Id="rId4" Type="http://schemas.openxmlformats.org/officeDocument/2006/relationships/audio" Target="../media/audio6.bin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72.wmf"/><Relationship Id="rId22" Type="http://schemas.openxmlformats.org/officeDocument/2006/relationships/image" Target="../media/image7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13" Type="http://schemas.openxmlformats.org/officeDocument/2006/relationships/oleObject" Target="../embeddings/oleObject65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8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5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0.e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10" Type="http://schemas.openxmlformats.org/officeDocument/2006/relationships/image" Target="../media/image82.emf"/><Relationship Id="rId4" Type="http://schemas.openxmlformats.org/officeDocument/2006/relationships/image" Target="../media/image79.e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84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audio" Target="../media/audio5.bin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90.wmf"/><Relationship Id="rId3" Type="http://schemas.openxmlformats.org/officeDocument/2006/relationships/notesSlide" Target="../notesSlides/notesSlide10.xml"/><Relationship Id="rId21" Type="http://schemas.openxmlformats.org/officeDocument/2006/relationships/oleObject" Target="../embeddings/oleObject73.bin"/><Relationship Id="rId7" Type="http://schemas.openxmlformats.org/officeDocument/2006/relationships/audio" Target="../media/audio2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wmf"/><Relationship Id="rId20" Type="http://schemas.openxmlformats.org/officeDocument/2006/relationships/image" Target="../media/image91.wmf"/><Relationship Id="rId1" Type="http://schemas.openxmlformats.org/officeDocument/2006/relationships/vmlDrawing" Target="../drawings/vmlDrawing13.vml"/><Relationship Id="rId6" Type="http://schemas.openxmlformats.org/officeDocument/2006/relationships/audio" Target="../media/audio1.bin"/><Relationship Id="rId11" Type="http://schemas.openxmlformats.org/officeDocument/2006/relationships/oleObject" Target="../embeddings/oleObject68.bin"/><Relationship Id="rId5" Type="http://schemas.openxmlformats.org/officeDocument/2006/relationships/audio" Target="../media/audio3.bin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72.bin"/><Relationship Id="rId4" Type="http://schemas.openxmlformats.org/officeDocument/2006/relationships/audio" Target="../media/audio9.bin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88.wmf"/><Relationship Id="rId22" Type="http://schemas.openxmlformats.org/officeDocument/2006/relationships/image" Target="../media/image92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非线性方程求根</a:t>
            </a:r>
            <a:endParaRPr lang="en-US" sz="36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C9CC3-A950-934A-B9E2-43A3708EEC93}"/>
              </a:ext>
            </a:extLst>
          </p:cNvPr>
          <p:cNvSpPr/>
          <p:nvPr/>
        </p:nvSpPr>
        <p:spPr>
          <a:xfrm>
            <a:off x="6533876" y="6274713"/>
            <a:ext cx="2457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&lt;&lt;</a:t>
            </a:r>
            <a:r>
              <a:rPr lang="zh-CN" altLang="en-US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&gt;&gt;</a:t>
            </a:r>
            <a:r>
              <a:rPr lang="en-US" altLang="en-CN" sz="22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</a:t>
            </a:r>
            <a:endParaRPr lang="en-US" altLang="en-CN" sz="22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095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问题的引出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（自由落体）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52DF07-8C2C-514F-8F06-5B77F5D9BEFF}"/>
                  </a:ext>
                </a:extLst>
              </p:cNvPr>
              <p:cNvSpPr txBox="1"/>
              <p:nvPr/>
            </p:nvSpPr>
            <p:spPr>
              <a:xfrm>
                <a:off x="3886199" y="1066800"/>
                <a:ext cx="510540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Font typeface="Wingdings" pitchFamily="2" charset="2"/>
                  <a:buChar char="Ø"/>
                </a:pP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铅球从</a:t>
                </a:r>
                <a:r>
                  <a:rPr lang="en-US" altLang="zh-CN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50</a:t>
                </a:r>
                <a:r>
                  <a:rPr lang="zh-CN" altLang="en-US" sz="28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米的空中进行自由落体运动，求球落地的时间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𝒕</m:t>
                    </m:r>
                  </m:oMath>
                </a14:m>
                <a:endParaRPr lang="en-US" altLang="zh-CN" sz="28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52DF07-8C2C-514F-8F06-5B77F5D9B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199" y="1066800"/>
                <a:ext cx="5105401" cy="954107"/>
              </a:xfrm>
              <a:prstGeom prst="rect">
                <a:avLst/>
              </a:prstGeom>
              <a:blipFill>
                <a:blip r:embed="rId3"/>
                <a:stretch>
                  <a:fillRect l="-1985" t="-7895" r="-2730" b="-1447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4">
            <a:extLst>
              <a:ext uri="{FF2B5EF4-FFF2-40B4-BE49-F238E27FC236}">
                <a16:creationId xmlns:a16="http://schemas.microsoft.com/office/drawing/2014/main" id="{8326B877-D875-C342-9022-629271EC8B9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4445" r="23333" b="10000"/>
          <a:stretch/>
        </p:blipFill>
        <p:spPr>
          <a:xfrm>
            <a:off x="4572000" y="4926600"/>
            <a:ext cx="925958" cy="1398000"/>
          </a:xfrm>
          <a:prstGeom prst="rect">
            <a:avLst/>
          </a:prstGeom>
        </p:spPr>
      </p:pic>
      <p:pic>
        <p:nvPicPr>
          <p:cNvPr id="1026" name="Picture 2" descr="Leaning Tower of Pisa - Where are Sue &amp; Mike?">
            <a:extLst>
              <a:ext uri="{FF2B5EF4-FFF2-40B4-BE49-F238E27FC236}">
                <a16:creationId xmlns:a16="http://schemas.microsoft.com/office/drawing/2014/main" id="{8D827DE4-FB22-F04D-8560-0C1916689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42" y="1095894"/>
            <a:ext cx="3555457" cy="515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1C44DF-9756-6242-BC99-0451EBC0BB9B}"/>
              </a:ext>
            </a:extLst>
          </p:cNvPr>
          <p:cNvSpPr txBox="1"/>
          <p:nvPr/>
        </p:nvSpPr>
        <p:spPr>
          <a:xfrm>
            <a:off x="1066800" y="6282467"/>
            <a:ext cx="2347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自由落体实验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B1AB74-6708-964E-9EA6-F83D04B7837E}"/>
                  </a:ext>
                </a:extLst>
              </p:cNvPr>
              <p:cNvSpPr txBox="1"/>
              <p:nvPr/>
            </p:nvSpPr>
            <p:spPr>
              <a:xfrm>
                <a:off x="4343400" y="2064603"/>
                <a:ext cx="447678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解：铅球初速度为</a:t>
                </a:r>
                <a:r>
                  <a:rPr lang="en-US" altLang="zh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0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，其运动位移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𝑺</m:t>
                    </m:r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与时间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𝒕</m:t>
                    </m:r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的关系满足：</a:t>
                </a:r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B1AB74-6708-964E-9EA6-F83D04B78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2064603"/>
                <a:ext cx="4476784" cy="830997"/>
              </a:xfrm>
              <a:prstGeom prst="rect">
                <a:avLst/>
              </a:prstGeom>
              <a:blipFill>
                <a:blip r:embed="rId6"/>
                <a:stretch>
                  <a:fillRect l="-2266" t="-5970" r="-1983" b="-134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35D1D4-B2F9-E547-8DBC-B2B852C399F5}"/>
                  </a:ext>
                </a:extLst>
              </p:cNvPr>
              <p:cNvSpPr txBox="1"/>
              <p:nvPr/>
            </p:nvSpPr>
            <p:spPr>
              <a:xfrm>
                <a:off x="5736686" y="2819400"/>
                <a:ext cx="1365117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𝒈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CN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35D1D4-B2F9-E547-8DBC-B2B852C39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686" y="2819400"/>
                <a:ext cx="1365117" cy="691471"/>
              </a:xfrm>
              <a:prstGeom prst="rect">
                <a:avLst/>
              </a:prstGeom>
              <a:blipFill>
                <a:blip r:embed="rId7"/>
                <a:stretch>
                  <a:fillRect l="-4587" t="-1818" r="-1835" b="-1454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4FD46D0-6A31-134F-95C5-4E09678D5BAC}"/>
              </a:ext>
            </a:extLst>
          </p:cNvPr>
          <p:cNvSpPr txBox="1"/>
          <p:nvPr/>
        </p:nvSpPr>
        <p:spPr>
          <a:xfrm>
            <a:off x="4343400" y="3962400"/>
            <a:ext cx="447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可得</a:t>
            </a:r>
            <a:endParaRPr lang="en-US" altLang="zh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4B5F2A-140D-1249-A5E9-770726F21EB0}"/>
                  </a:ext>
                </a:extLst>
              </p:cNvPr>
              <p:cNvSpPr txBox="1"/>
              <p:nvPr/>
            </p:nvSpPr>
            <p:spPr>
              <a:xfrm>
                <a:off x="5115364" y="3657600"/>
                <a:ext cx="1193339" cy="1091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num>
                            <m:den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CN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4B5F2A-140D-1249-A5E9-770726F21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5364" y="3657600"/>
                <a:ext cx="1193339" cy="1091196"/>
              </a:xfrm>
              <a:prstGeom prst="rect">
                <a:avLst/>
              </a:prstGeom>
              <a:blipFill>
                <a:blip r:embed="rId8"/>
                <a:stretch>
                  <a:fillRect l="-5263" r="-526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E562F3-923A-8942-A904-1F5C76CEA375}"/>
                  </a:ext>
                </a:extLst>
              </p:cNvPr>
              <p:cNvSpPr/>
              <p:nvPr/>
            </p:nvSpPr>
            <p:spPr>
              <a:xfrm>
                <a:off x="6389998" y="3581400"/>
                <a:ext cx="2613536" cy="1183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</m:num>
                            <m:den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den>
                          </m:f>
                        </m:e>
                      </m:ra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rad>
                    </m:oMath>
                  </m:oMathPara>
                </a14:m>
                <a:endParaRPr lang="en-CN" sz="2400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E562F3-923A-8942-A904-1F5C76CEA3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998" y="3581400"/>
                <a:ext cx="2613536" cy="11835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D91C8A92-6A8D-984F-9406-1EA7D4507A87}"/>
              </a:ext>
            </a:extLst>
          </p:cNvPr>
          <p:cNvSpPr/>
          <p:nvPr/>
        </p:nvSpPr>
        <p:spPr>
          <a:xfrm>
            <a:off x="8229600" y="3886200"/>
            <a:ext cx="701799" cy="609600"/>
          </a:xfrm>
          <a:prstGeom prst="ellipse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6A836E-DD97-A143-89F8-8C30AE2AD970}"/>
              </a:ext>
            </a:extLst>
          </p:cNvPr>
          <p:cNvSpPr txBox="1"/>
          <p:nvPr/>
        </p:nvSpPr>
        <p:spPr>
          <a:xfrm>
            <a:off x="6553200" y="5191780"/>
            <a:ext cx="2378199" cy="523220"/>
          </a:xfrm>
          <a:prstGeom prst="rect">
            <a:avLst/>
          </a:prstGeom>
          <a:solidFill>
            <a:srgbClr val="EAFBAD"/>
          </a:solidFill>
          <a:ln w="38100">
            <a:solidFill>
              <a:srgbClr val="8E8C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你如何求解？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6BCE1866-4E29-2F44-9E08-3837C616924D}"/>
              </a:ext>
            </a:extLst>
          </p:cNvPr>
          <p:cNvSpPr/>
          <p:nvPr/>
        </p:nvSpPr>
        <p:spPr>
          <a:xfrm>
            <a:off x="8458390" y="4664050"/>
            <a:ext cx="244218" cy="430358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1E4AF9-3F56-AA41-9BDE-3803604278FC}"/>
              </a:ext>
            </a:extLst>
          </p:cNvPr>
          <p:cNvSpPr txBox="1"/>
          <p:nvPr/>
        </p:nvSpPr>
        <p:spPr>
          <a:xfrm>
            <a:off x="5868683" y="6208753"/>
            <a:ext cx="3076571" cy="523220"/>
          </a:xfrm>
          <a:prstGeom prst="rect">
            <a:avLst/>
          </a:prstGeom>
          <a:solidFill>
            <a:srgbClr val="EAFBAD"/>
          </a:solidFill>
          <a:ln w="38100">
            <a:solidFill>
              <a:srgbClr val="8E8C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计算机如何求解？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36CB533E-9FC1-4747-9FF7-2C25CA2B3FB0}"/>
              </a:ext>
            </a:extLst>
          </p:cNvPr>
          <p:cNvSpPr/>
          <p:nvPr/>
        </p:nvSpPr>
        <p:spPr>
          <a:xfrm>
            <a:off x="8458390" y="5812372"/>
            <a:ext cx="244218" cy="332986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1091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16" grpId="0"/>
      <p:bldP spid="5" grpId="0"/>
      <p:bldP spid="6" grpId="0"/>
      <p:bldP spid="18" grpId="0" animBg="1"/>
      <p:bldP spid="21" grpId="0" animBg="1"/>
      <p:bldP spid="20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计算机如何开方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？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89EEF4-82F8-D54F-A461-BC84BAD46C20}"/>
                  </a:ext>
                </a:extLst>
              </p:cNvPr>
              <p:cNvSpPr txBox="1"/>
              <p:nvPr/>
            </p:nvSpPr>
            <p:spPr>
              <a:xfrm>
                <a:off x="685800" y="1356599"/>
                <a:ext cx="1217833" cy="412870"/>
              </a:xfrm>
              <a:prstGeom prst="rect">
                <a:avLst/>
              </a:prstGeom>
              <a:noFill/>
              <a:ln w="381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CN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rad>
                    </m:oMath>
                  </m:oMathPara>
                </a14:m>
                <a:endParaRPr lang="en-CN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89EEF4-82F8-D54F-A461-BC84BAD46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356599"/>
                <a:ext cx="1217833" cy="412870"/>
              </a:xfrm>
              <a:prstGeom prst="rect">
                <a:avLst/>
              </a:prstGeom>
              <a:blipFill>
                <a:blip r:embed="rId4"/>
                <a:stretch>
                  <a:fillRect l="-2000" r="-4000" b="-2778"/>
                </a:stretch>
              </a:blipFill>
              <a:ln w="381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Arrow 3">
            <a:extLst>
              <a:ext uri="{FF2B5EF4-FFF2-40B4-BE49-F238E27FC236}">
                <a16:creationId xmlns:a16="http://schemas.microsoft.com/office/drawing/2014/main" id="{E407F45A-9E8A-4A47-BCDE-2A631F538C0B}"/>
              </a:ext>
            </a:extLst>
          </p:cNvPr>
          <p:cNvSpPr/>
          <p:nvPr/>
        </p:nvSpPr>
        <p:spPr>
          <a:xfrm>
            <a:off x="2514600" y="1459815"/>
            <a:ext cx="381000" cy="206435"/>
          </a:xfrm>
          <a:prstGeom prst="rightArrow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CFB589-79F7-224B-A442-43D29F66270C}"/>
                  </a:ext>
                </a:extLst>
              </p:cNvPr>
              <p:cNvSpPr txBox="1"/>
              <p:nvPr/>
            </p:nvSpPr>
            <p:spPr>
              <a:xfrm>
                <a:off x="3449691" y="1342172"/>
                <a:ext cx="2760179" cy="377667"/>
              </a:xfrm>
              <a:prstGeom prst="rect">
                <a:avLst/>
              </a:prstGeom>
              <a:noFill/>
              <a:ln w="381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CN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CFB589-79F7-224B-A442-43D29F662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691" y="1342172"/>
                <a:ext cx="2760179" cy="377667"/>
              </a:xfrm>
              <a:prstGeom prst="rect">
                <a:avLst/>
              </a:prstGeom>
              <a:blipFill>
                <a:blip r:embed="rId5"/>
                <a:stretch>
                  <a:fillRect l="-2262" r="-905" b="-24242"/>
                </a:stretch>
              </a:blipFill>
              <a:ln w="381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05FBDBB-8250-B241-9843-EBEBDEE3718D}"/>
              </a:ext>
            </a:extLst>
          </p:cNvPr>
          <p:cNvSpPr txBox="1"/>
          <p:nvPr/>
        </p:nvSpPr>
        <p:spPr>
          <a:xfrm>
            <a:off x="381000" y="2057400"/>
            <a:ext cx="4476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非线性方程求根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问题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Bent Arrow 11">
            <a:extLst>
              <a:ext uri="{FF2B5EF4-FFF2-40B4-BE49-F238E27FC236}">
                <a16:creationId xmlns:a16="http://schemas.microsoft.com/office/drawing/2014/main" id="{AA2B20BE-FEAC-2D4D-9DEE-136F99E3D7F9}"/>
              </a:ext>
            </a:extLst>
          </p:cNvPr>
          <p:cNvSpPr/>
          <p:nvPr/>
        </p:nvSpPr>
        <p:spPr>
          <a:xfrm rot="10800000">
            <a:off x="4801316" y="1752600"/>
            <a:ext cx="652876" cy="549866"/>
          </a:xfrm>
          <a:prstGeom prst="bentArrow">
            <a:avLst>
              <a:gd name="adj1" fmla="val 13083"/>
              <a:gd name="adj2" fmla="val 12880"/>
              <a:gd name="adj3" fmla="val 25000"/>
              <a:gd name="adj4" fmla="val 43750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pic>
        <p:nvPicPr>
          <p:cNvPr id="1026" name="Picture 2" descr="How a CPU is made - YouTube">
            <a:extLst>
              <a:ext uri="{FF2B5EF4-FFF2-40B4-BE49-F238E27FC236}">
                <a16:creationId xmlns:a16="http://schemas.microsoft.com/office/drawing/2014/main" id="{9A5F635E-6BA7-B044-9ACE-9751E111EA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6" r="5229"/>
          <a:stretch/>
        </p:blipFill>
        <p:spPr bwMode="auto">
          <a:xfrm>
            <a:off x="6877450" y="1107705"/>
            <a:ext cx="1824002" cy="1140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9" name="Group 7">
            <a:extLst>
              <a:ext uri="{FF2B5EF4-FFF2-40B4-BE49-F238E27FC236}">
                <a16:creationId xmlns:a16="http://schemas.microsoft.com/office/drawing/2014/main" id="{C57C50B3-B814-C943-8BB9-6AF2CF9CA79E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2743200"/>
            <a:ext cx="4038600" cy="838200"/>
            <a:chOff x="672" y="912"/>
            <a:chExt cx="2544" cy="528"/>
          </a:xfrm>
        </p:grpSpPr>
        <p:pic>
          <p:nvPicPr>
            <p:cNvPr id="61" name="Picture 5" descr="DARTS">
              <a:extLst>
                <a:ext uri="{FF2B5EF4-FFF2-40B4-BE49-F238E27FC236}">
                  <a16:creationId xmlns:a16="http://schemas.microsoft.com/office/drawing/2014/main" id="{6A672C3C-58BB-0147-96E0-F9C78226E7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912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Text Box 6">
              <a:extLst>
                <a:ext uri="{FF2B5EF4-FFF2-40B4-BE49-F238E27FC236}">
                  <a16:creationId xmlns:a16="http://schemas.microsoft.com/office/drawing/2014/main" id="{6BC64F1F-B381-9249-B9A1-94CAFB4EA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008"/>
              <a:ext cx="196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zh-CN" altLang="en-US" sz="3200" b="1" dirty="0">
                  <a:cs typeface="楷体_GB2312" charset="0"/>
                </a:rPr>
                <a:t>求</a:t>
              </a:r>
              <a:r>
                <a:rPr kumimoji="1" lang="en-US" altLang="zh-CN" sz="3200" b="1" dirty="0">
                  <a:cs typeface="宋体" charset="0"/>
                </a:rPr>
                <a:t> </a:t>
              </a:r>
              <a:r>
                <a:rPr kumimoji="1" lang="en-US" altLang="zh-CN" sz="3200" b="1" i="1" dirty="0">
                  <a:cs typeface="宋体" charset="0"/>
                </a:rPr>
                <a:t>f </a:t>
              </a:r>
              <a:r>
                <a:rPr kumimoji="1" lang="en-US" altLang="zh-CN" sz="3200" b="1" dirty="0">
                  <a:cs typeface="宋体" charset="0"/>
                </a:rPr>
                <a:t>(</a:t>
              </a:r>
              <a:r>
                <a:rPr kumimoji="1" lang="en-US" altLang="zh-CN" sz="3200" b="1" i="1" dirty="0">
                  <a:cs typeface="宋体" charset="0"/>
                </a:rPr>
                <a:t>x</a:t>
              </a:r>
              <a:r>
                <a:rPr kumimoji="1" lang="en-US" altLang="zh-CN" sz="3200" b="1" dirty="0">
                  <a:cs typeface="宋体" charset="0"/>
                </a:rPr>
                <a:t>) = 0 </a:t>
              </a:r>
              <a:r>
                <a:rPr kumimoji="1" lang="zh-CN" altLang="en-US" sz="3200" b="1" dirty="0">
                  <a:cs typeface="楷体_GB2312" charset="0"/>
                </a:rPr>
                <a:t>的根</a:t>
              </a:r>
              <a:endParaRPr kumimoji="1" lang="en-US" altLang="zh-CN" sz="3200" b="1" dirty="0">
                <a:cs typeface="楷体_GB2312" charset="0"/>
              </a:endParaRPr>
            </a:p>
          </p:txBody>
        </p:sp>
      </p:grpSp>
      <p:sp>
        <p:nvSpPr>
          <p:cNvPr id="63" name="Rectangle 3">
            <a:extLst>
              <a:ext uri="{FF2B5EF4-FFF2-40B4-BE49-F238E27FC236}">
                <a16:creationId xmlns:a16="http://schemas.microsoft.com/office/drawing/2014/main" id="{3C2912F0-9652-DA47-8722-435CFE88A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49" y="3694113"/>
            <a:ext cx="8053351" cy="3072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9pPr>
          </a:lstStyle>
          <a:p>
            <a:pPr eaLnBrk="1" hangingPunct="1">
              <a:buFont typeface="Wingdings" charset="2"/>
              <a:buChar char="Ø"/>
            </a:pPr>
            <a:r>
              <a:rPr lang="zh-CN" altLang="en-US" sz="2800" dirty="0">
                <a:latin typeface="黑体"/>
                <a:ea typeface="黑体"/>
                <a:cs typeface="黑体"/>
              </a:rPr>
              <a:t>若</a:t>
            </a:r>
            <a:r>
              <a:rPr lang="en-US" altLang="en-US" sz="2800" dirty="0">
                <a:latin typeface="黑体"/>
                <a:ea typeface="黑体"/>
                <a:cs typeface="黑体"/>
              </a:rPr>
              <a:t>有</a:t>
            </a:r>
            <a:r>
              <a:rPr lang="en-US" sz="2800" i="1" dirty="0">
                <a:latin typeface="Times New Roman" charset="0"/>
                <a:cs typeface="楷体_GB2312" charset="0"/>
              </a:rPr>
              <a:t>α</a:t>
            </a:r>
            <a:r>
              <a:rPr lang="en-US" altLang="en-US" sz="2800" dirty="0" err="1">
                <a:latin typeface="黑体"/>
                <a:ea typeface="黑体"/>
                <a:cs typeface="黑体"/>
                <a:sym typeface="Arial" charset="0"/>
              </a:rPr>
              <a:t>使得</a:t>
            </a:r>
            <a:r>
              <a:rPr lang="en-US" sz="2800" i="1" dirty="0" err="1">
                <a:latin typeface="Times New Roman" charset="0"/>
                <a:cs typeface="楷体_GB2312" charset="0"/>
              </a:rPr>
              <a:t>f</a:t>
            </a:r>
            <a:r>
              <a:rPr lang="en-US" sz="2800" dirty="0">
                <a:latin typeface="Times New Roman" charset="0"/>
                <a:cs typeface="楷体_GB2312" charset="0"/>
              </a:rPr>
              <a:t>(</a:t>
            </a:r>
            <a:r>
              <a:rPr lang="en-US" sz="2800" i="1" dirty="0">
                <a:latin typeface="Times New Roman" charset="0"/>
                <a:cs typeface="楷体_GB2312" charset="0"/>
              </a:rPr>
              <a:t>α</a:t>
            </a:r>
            <a:r>
              <a:rPr lang="en-US" sz="2800" dirty="0">
                <a:latin typeface="Times New Roman" charset="0"/>
                <a:cs typeface="楷体_GB2312" charset="0"/>
              </a:rPr>
              <a:t>)=0</a:t>
            </a:r>
            <a:r>
              <a:rPr lang="en-US" altLang="en-US" sz="2800" dirty="0">
                <a:latin typeface="黑体"/>
                <a:ea typeface="黑体"/>
                <a:cs typeface="黑体"/>
              </a:rPr>
              <a:t>，则称</a:t>
            </a:r>
            <a:r>
              <a:rPr lang="el-GR" sz="2800" i="1" dirty="0">
                <a:latin typeface="Times New Roman" charset="0"/>
                <a:cs typeface="楷体_GB2312" charset="0"/>
              </a:rPr>
              <a:t>α</a:t>
            </a:r>
            <a:r>
              <a:rPr lang="en-US" altLang="en-US" sz="2800" dirty="0" err="1">
                <a:latin typeface="Times New Roman" charset="0"/>
                <a:cs typeface="楷体_GB2312" charset="0"/>
              </a:rPr>
              <a:t>为</a:t>
            </a:r>
            <a:r>
              <a:rPr lang="en-US" sz="2800" i="1" dirty="0" err="1">
                <a:latin typeface="Times New Roman" charset="0"/>
                <a:cs typeface="楷体_GB2312" charset="0"/>
              </a:rPr>
              <a:t>f</a:t>
            </a:r>
            <a:r>
              <a:rPr lang="en-US" sz="2800" dirty="0">
                <a:latin typeface="Times New Roman" charset="0"/>
                <a:cs typeface="楷体_GB2312" charset="0"/>
              </a:rPr>
              <a:t>(</a:t>
            </a:r>
            <a:r>
              <a:rPr lang="en-US" sz="2800" i="1" dirty="0">
                <a:latin typeface="Times New Roman" charset="0"/>
                <a:cs typeface="楷体_GB2312" charset="0"/>
              </a:rPr>
              <a:t>x</a:t>
            </a:r>
            <a:r>
              <a:rPr lang="en-US" sz="2800" dirty="0">
                <a:latin typeface="Times New Roman" charset="0"/>
                <a:cs typeface="楷体_GB2312" charset="0"/>
              </a:rPr>
              <a:t>)=0</a:t>
            </a:r>
            <a:r>
              <a:rPr lang="en-US" altLang="en-US" sz="2800" dirty="0">
                <a:latin typeface="黑体"/>
                <a:ea typeface="黑体"/>
                <a:cs typeface="黑体"/>
              </a:rPr>
              <a:t>的根或零点</a:t>
            </a:r>
            <a:endParaRPr lang="en-US" sz="2800" dirty="0">
              <a:latin typeface="黑体"/>
              <a:ea typeface="黑体"/>
              <a:cs typeface="黑体"/>
            </a:endParaRPr>
          </a:p>
          <a:p>
            <a:pPr eaLnBrk="1" hangingPunct="1">
              <a:buFont typeface="Wingdings" charset="2"/>
              <a:buChar char="Ø"/>
            </a:pPr>
            <a:r>
              <a:rPr lang="en-US" altLang="en-US" sz="2800" dirty="0">
                <a:latin typeface="Times New Roman" charset="0"/>
                <a:cs typeface="楷体_GB2312" charset="0"/>
              </a:rPr>
              <a:t> </a:t>
            </a:r>
            <a:r>
              <a:rPr lang="en-US" altLang="en-US" sz="2800" dirty="0" err="1">
                <a:latin typeface="Times New Roman" charset="0"/>
                <a:cs typeface="楷体_GB2312" charset="0"/>
              </a:rPr>
              <a:t>设有正整数</a:t>
            </a:r>
            <a:r>
              <a:rPr lang="en-US" sz="2800" i="1" dirty="0" err="1">
                <a:latin typeface="Times New Roman" charset="0"/>
                <a:cs typeface="楷体_GB2312" charset="0"/>
              </a:rPr>
              <a:t>m</a:t>
            </a:r>
            <a:r>
              <a:rPr lang="en-US" altLang="en-US" sz="2800" dirty="0" err="1">
                <a:latin typeface="Times New Roman" charset="0"/>
                <a:cs typeface="楷体_GB2312" charset="0"/>
              </a:rPr>
              <a:t>使得</a:t>
            </a:r>
            <a:r>
              <a:rPr lang="en-US" sz="2800" i="1" dirty="0" err="1">
                <a:latin typeface="Times New Roman" charset="0"/>
                <a:cs typeface="楷体_GB2312" charset="0"/>
              </a:rPr>
              <a:t>f</a:t>
            </a:r>
            <a:r>
              <a:rPr lang="en-US" sz="2800" dirty="0">
                <a:latin typeface="Times New Roman" charset="0"/>
                <a:cs typeface="楷体_GB2312" charset="0"/>
              </a:rPr>
              <a:t>(</a:t>
            </a:r>
            <a:r>
              <a:rPr lang="en-US" sz="2800" i="1" dirty="0">
                <a:latin typeface="Times New Roman" charset="0"/>
                <a:cs typeface="楷体_GB2312" charset="0"/>
              </a:rPr>
              <a:t>x</a:t>
            </a:r>
            <a:r>
              <a:rPr lang="en-US" sz="2800" dirty="0">
                <a:latin typeface="Times New Roman" charset="0"/>
                <a:cs typeface="楷体_GB2312" charset="0"/>
              </a:rPr>
              <a:t>)=(</a:t>
            </a:r>
            <a:r>
              <a:rPr lang="en-US" sz="2800" i="1" dirty="0">
                <a:latin typeface="Times New Roman" charset="0"/>
                <a:cs typeface="楷体_GB2312" charset="0"/>
              </a:rPr>
              <a:t>x</a:t>
            </a:r>
            <a:r>
              <a:rPr lang="en-US" sz="2800" dirty="0">
                <a:latin typeface="Times New Roman" charset="0"/>
                <a:cs typeface="楷体_GB2312" charset="0"/>
              </a:rPr>
              <a:t>-</a:t>
            </a:r>
            <a:r>
              <a:rPr lang="el-GR" sz="2800" i="1" dirty="0">
                <a:latin typeface="Times New Roman" charset="0"/>
                <a:cs typeface="楷体_GB2312" charset="0"/>
              </a:rPr>
              <a:t>α</a:t>
            </a:r>
            <a:r>
              <a:rPr lang="en-US" sz="2800" dirty="0">
                <a:latin typeface="Times New Roman" charset="0"/>
                <a:cs typeface="楷体_GB2312" charset="0"/>
              </a:rPr>
              <a:t>)</a:t>
            </a:r>
            <a:r>
              <a:rPr lang="en-US" sz="2800" i="1" baseline="30000" dirty="0">
                <a:latin typeface="Times New Roman" charset="0"/>
                <a:cs typeface="楷体_GB2312" charset="0"/>
              </a:rPr>
              <a:t>m</a:t>
            </a:r>
            <a:r>
              <a:rPr lang="en-US" sz="2800" i="1" dirty="0">
                <a:latin typeface="Times New Roman" charset="0"/>
                <a:cs typeface="楷体_GB2312" charset="0"/>
              </a:rPr>
              <a:t>g</a:t>
            </a:r>
            <a:r>
              <a:rPr lang="en-US" sz="2800" dirty="0">
                <a:latin typeface="Times New Roman" charset="0"/>
                <a:cs typeface="楷体_GB2312" charset="0"/>
              </a:rPr>
              <a:t>(</a:t>
            </a:r>
            <a:r>
              <a:rPr lang="en-US" sz="2800" i="1" dirty="0">
                <a:latin typeface="Times New Roman" charset="0"/>
                <a:cs typeface="楷体_GB2312" charset="0"/>
              </a:rPr>
              <a:t>x</a:t>
            </a:r>
            <a:r>
              <a:rPr lang="en-US" sz="2800" dirty="0">
                <a:latin typeface="Times New Roman" charset="0"/>
                <a:cs typeface="楷体_GB2312" charset="0"/>
              </a:rPr>
              <a:t>)</a:t>
            </a:r>
            <a:r>
              <a:rPr lang="zh-CN" altLang="en-US" sz="2800" dirty="0">
                <a:latin typeface="Times New Roman" charset="0"/>
                <a:cs typeface="楷体_GB2312" charset="0"/>
              </a:rPr>
              <a:t>，</a:t>
            </a:r>
            <a:r>
              <a:rPr lang="en-US" altLang="en-US" sz="2800" dirty="0" err="1">
                <a:latin typeface="Times New Roman" charset="0"/>
                <a:cs typeface="楷体_GB2312" charset="0"/>
              </a:rPr>
              <a:t>且</a:t>
            </a:r>
            <a:r>
              <a:rPr lang="en-US" sz="2800" i="1" dirty="0" err="1">
                <a:latin typeface="Times New Roman" charset="0"/>
                <a:cs typeface="楷体_GB2312" charset="0"/>
              </a:rPr>
              <a:t>g</a:t>
            </a:r>
            <a:r>
              <a:rPr lang="en-US" sz="2800" dirty="0">
                <a:latin typeface="Times New Roman" charset="0"/>
                <a:cs typeface="楷体_GB2312" charset="0"/>
              </a:rPr>
              <a:t>(</a:t>
            </a:r>
            <a:r>
              <a:rPr lang="el-GR" sz="2800" i="1" dirty="0">
                <a:latin typeface="Times New Roman" charset="0"/>
                <a:cs typeface="楷体_GB2312" charset="0"/>
              </a:rPr>
              <a:t>α</a:t>
            </a:r>
            <a:r>
              <a:rPr lang="en-US" sz="2800" dirty="0">
                <a:latin typeface="Times New Roman" charset="0"/>
                <a:cs typeface="楷体_GB2312" charset="0"/>
              </a:rPr>
              <a:t>)</a:t>
            </a:r>
            <a:r>
              <a:rPr lang="en-US" sz="2800" dirty="0">
                <a:latin typeface="Times New Roman" charset="0"/>
                <a:cs typeface="楷体_GB2312" charset="0"/>
                <a:sym typeface="Symbol" charset="0"/>
              </a:rPr>
              <a:t>0</a:t>
            </a:r>
            <a:r>
              <a:rPr lang="en-US" sz="2800" dirty="0">
                <a:latin typeface="Times New Roman" charset="0"/>
                <a:cs typeface="楷体_GB2312" charset="0"/>
              </a:rPr>
              <a:t> </a:t>
            </a:r>
            <a:r>
              <a:rPr lang="en-US" altLang="en-US" sz="2800" dirty="0">
                <a:latin typeface="Times New Roman" charset="0"/>
                <a:cs typeface="楷体_GB2312" charset="0"/>
              </a:rPr>
              <a:t>，</a:t>
            </a:r>
          </a:p>
          <a:p>
            <a:pPr eaLnBrk="1" hangingPunct="1">
              <a:buFont typeface="Wingdings" charset="2"/>
              <a:buChar char="v"/>
            </a:pPr>
            <a:r>
              <a:rPr lang="en-US" altLang="en-US" sz="2800" dirty="0">
                <a:latin typeface="Times New Roman" charset="0"/>
                <a:cs typeface="楷体_GB2312" charset="0"/>
              </a:rPr>
              <a:t>        当</a:t>
            </a:r>
            <a:r>
              <a:rPr lang="en-US" sz="2800" i="1" dirty="0">
                <a:latin typeface="Times New Roman" charset="0"/>
                <a:cs typeface="楷体_GB2312" charset="0"/>
              </a:rPr>
              <a:t>m</a:t>
            </a:r>
            <a:r>
              <a:rPr lang="en-US" sz="2800" dirty="0">
                <a:latin typeface="Times New Roman" charset="0"/>
                <a:cs typeface="楷体_GB2312" charset="0"/>
                <a:sym typeface="Symbol" charset="0"/>
              </a:rPr>
              <a:t>2</a:t>
            </a:r>
            <a:r>
              <a:rPr lang="en-US" altLang="en-US" sz="2800" dirty="0">
                <a:latin typeface="Times New Roman" charset="0"/>
                <a:cs typeface="楷体_GB2312" charset="0"/>
              </a:rPr>
              <a:t>时，称</a:t>
            </a:r>
            <a:r>
              <a:rPr lang="el-GR" sz="2800" i="1" dirty="0">
                <a:latin typeface="Times New Roman" charset="0"/>
                <a:cs typeface="楷体_GB2312" charset="0"/>
              </a:rPr>
              <a:t>α</a:t>
            </a:r>
            <a:r>
              <a:rPr lang="en-US" altLang="en-US" sz="2800" dirty="0" err="1">
                <a:latin typeface="Times New Roman" charset="0"/>
                <a:cs typeface="楷体_GB2312" charset="0"/>
              </a:rPr>
              <a:t>为</a:t>
            </a:r>
            <a:r>
              <a:rPr lang="en-US" sz="2800" i="1" dirty="0" err="1">
                <a:latin typeface="Times New Roman" charset="0"/>
                <a:cs typeface="楷体_GB2312" charset="0"/>
              </a:rPr>
              <a:t>f</a:t>
            </a:r>
            <a:r>
              <a:rPr lang="en-US" sz="2800" dirty="0">
                <a:latin typeface="Times New Roman" charset="0"/>
                <a:cs typeface="楷体_GB2312" charset="0"/>
              </a:rPr>
              <a:t>(</a:t>
            </a:r>
            <a:r>
              <a:rPr lang="en-US" sz="2800" i="1" dirty="0">
                <a:latin typeface="Times New Roman" charset="0"/>
                <a:cs typeface="楷体_GB2312" charset="0"/>
              </a:rPr>
              <a:t>x</a:t>
            </a:r>
            <a:r>
              <a:rPr lang="en-US" sz="2800" dirty="0">
                <a:latin typeface="Times New Roman" charset="0"/>
                <a:cs typeface="楷体_GB2312" charset="0"/>
              </a:rPr>
              <a:t>)=0</a:t>
            </a:r>
            <a:r>
              <a:rPr lang="en-US" altLang="en-US" sz="2800" dirty="0">
                <a:latin typeface="Times New Roman" charset="0"/>
                <a:cs typeface="楷体_GB2312" charset="0"/>
              </a:rPr>
              <a:t>的</a:t>
            </a:r>
            <a:r>
              <a:rPr lang="en-US" sz="2800" i="1" dirty="0">
                <a:latin typeface="Times New Roman" charset="0"/>
                <a:cs typeface="楷体_GB2312" charset="0"/>
              </a:rPr>
              <a:t>m</a:t>
            </a:r>
            <a:r>
              <a:rPr lang="en-US" altLang="en-US" sz="2800" b="1" dirty="0">
                <a:latin typeface="Times New Roman" charset="0"/>
                <a:cs typeface="楷体_GB2312" charset="0"/>
              </a:rPr>
              <a:t>重根</a:t>
            </a:r>
            <a:r>
              <a:rPr lang="zh-CN" altLang="en-US" sz="2800" dirty="0">
                <a:latin typeface="Times New Roman" charset="0"/>
                <a:cs typeface="楷体_GB2312" charset="0"/>
              </a:rPr>
              <a:t>；</a:t>
            </a:r>
            <a:r>
              <a:rPr lang="en-US" altLang="zh-CN" sz="2800" dirty="0">
                <a:latin typeface="Times New Roman" charset="0"/>
                <a:cs typeface="楷体_GB2312" charset="0"/>
              </a:rPr>
              <a:t>   </a:t>
            </a:r>
          </a:p>
          <a:p>
            <a:pPr eaLnBrk="1" hangingPunct="1">
              <a:buFont typeface="Wingdings" charset="2"/>
              <a:buChar char="v"/>
            </a:pPr>
            <a:r>
              <a:rPr lang="en-US" altLang="en-US" sz="2800" dirty="0">
                <a:latin typeface="Times New Roman" charset="0"/>
                <a:cs typeface="楷体_GB2312" charset="0"/>
              </a:rPr>
              <a:t>        </a:t>
            </a:r>
            <a:r>
              <a:rPr lang="en-US" altLang="en-US" sz="2800" dirty="0" err="1">
                <a:latin typeface="Times New Roman" charset="0"/>
                <a:cs typeface="楷体_GB2312" charset="0"/>
              </a:rPr>
              <a:t>当</a:t>
            </a:r>
            <a:r>
              <a:rPr lang="en-US" sz="2800" i="1" dirty="0" err="1">
                <a:latin typeface="Times New Roman" charset="0"/>
                <a:cs typeface="楷体_GB2312" charset="0"/>
              </a:rPr>
              <a:t>m</a:t>
            </a:r>
            <a:r>
              <a:rPr lang="en-US" sz="2800" dirty="0">
                <a:latin typeface="Times New Roman" charset="0"/>
                <a:cs typeface="楷体_GB2312" charset="0"/>
              </a:rPr>
              <a:t>=1</a:t>
            </a:r>
            <a:r>
              <a:rPr lang="en-US" altLang="en-US" sz="2800" dirty="0">
                <a:latin typeface="Times New Roman" charset="0"/>
                <a:cs typeface="楷体_GB2312" charset="0"/>
              </a:rPr>
              <a:t>时，称</a:t>
            </a:r>
            <a:r>
              <a:rPr lang="el-GR" sz="2800" i="1" dirty="0">
                <a:latin typeface="Times New Roman" charset="0"/>
                <a:cs typeface="楷体_GB2312" charset="0"/>
              </a:rPr>
              <a:t>α</a:t>
            </a:r>
            <a:r>
              <a:rPr lang="en-US" altLang="en-US" sz="2800" dirty="0" err="1">
                <a:latin typeface="Times New Roman" charset="0"/>
                <a:cs typeface="楷体_GB2312" charset="0"/>
              </a:rPr>
              <a:t>为</a:t>
            </a:r>
            <a:r>
              <a:rPr lang="en-US" sz="2800" i="1" dirty="0" err="1">
                <a:latin typeface="Times New Roman" charset="0"/>
                <a:cs typeface="楷体_GB2312" charset="0"/>
              </a:rPr>
              <a:t>f</a:t>
            </a:r>
            <a:r>
              <a:rPr lang="en-US" sz="2800" dirty="0">
                <a:latin typeface="Times New Roman" charset="0"/>
                <a:cs typeface="楷体_GB2312" charset="0"/>
              </a:rPr>
              <a:t>(</a:t>
            </a:r>
            <a:r>
              <a:rPr lang="en-US" sz="2800" i="1" dirty="0">
                <a:latin typeface="Times New Roman" charset="0"/>
                <a:cs typeface="楷体_GB2312" charset="0"/>
              </a:rPr>
              <a:t>x</a:t>
            </a:r>
            <a:r>
              <a:rPr lang="en-US" sz="2800" dirty="0">
                <a:latin typeface="Times New Roman" charset="0"/>
                <a:cs typeface="楷体_GB2312" charset="0"/>
              </a:rPr>
              <a:t>)=0</a:t>
            </a:r>
            <a:r>
              <a:rPr lang="en-US" altLang="en-US" sz="2800" dirty="0">
                <a:latin typeface="Times New Roman" charset="0"/>
                <a:cs typeface="楷体_GB2312" charset="0"/>
              </a:rPr>
              <a:t>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楷体_GB2312" charset="0"/>
              </a:rPr>
              <a:t>单根</a:t>
            </a:r>
            <a:r>
              <a:rPr lang="en-US" sz="2800" dirty="0">
                <a:latin typeface="Times New Roman" charset="0"/>
                <a:cs typeface="楷体_GB2312" charset="0"/>
              </a:rPr>
              <a:t>.</a:t>
            </a:r>
          </a:p>
          <a:p>
            <a:pPr marL="0" indent="0" eaLnBrk="1" hangingPunct="1">
              <a:buNone/>
            </a:pPr>
            <a:r>
              <a:rPr lang="en-US" altLang="en-US" sz="2800" dirty="0">
                <a:latin typeface="Times New Roman" charset="0"/>
                <a:cs typeface="楷体_GB2312" charset="0"/>
              </a:rPr>
              <a:t>若</a:t>
            </a:r>
            <a:r>
              <a:rPr lang="el-GR" sz="2800" i="1" dirty="0">
                <a:latin typeface="Times New Roman" charset="0"/>
                <a:cs typeface="楷体_GB2312" charset="0"/>
              </a:rPr>
              <a:t>α</a:t>
            </a:r>
            <a:r>
              <a:rPr lang="en-US" altLang="en-US" sz="2800" dirty="0" err="1">
                <a:latin typeface="Times New Roman" charset="0"/>
                <a:cs typeface="楷体_GB2312" charset="0"/>
              </a:rPr>
              <a:t>为</a:t>
            </a:r>
            <a:r>
              <a:rPr lang="en-US" sz="2800" i="1" dirty="0" err="1">
                <a:latin typeface="Times New Roman" charset="0"/>
                <a:cs typeface="楷体_GB2312" charset="0"/>
              </a:rPr>
              <a:t>f</a:t>
            </a:r>
            <a:r>
              <a:rPr lang="en-US" sz="2800" dirty="0">
                <a:latin typeface="Times New Roman" charset="0"/>
                <a:cs typeface="楷体_GB2312" charset="0"/>
              </a:rPr>
              <a:t>(</a:t>
            </a:r>
            <a:r>
              <a:rPr lang="en-US" sz="2800" i="1" dirty="0">
                <a:latin typeface="Times New Roman" charset="0"/>
                <a:cs typeface="楷体_GB2312" charset="0"/>
              </a:rPr>
              <a:t>x</a:t>
            </a:r>
            <a:r>
              <a:rPr lang="en-US" sz="2800" dirty="0">
                <a:latin typeface="Times New Roman" charset="0"/>
                <a:cs typeface="楷体_GB2312" charset="0"/>
              </a:rPr>
              <a:t>)=0</a:t>
            </a:r>
            <a:r>
              <a:rPr lang="en-US" altLang="en-US" sz="2800" dirty="0">
                <a:latin typeface="Times New Roman" charset="0"/>
                <a:cs typeface="楷体_GB2312" charset="0"/>
              </a:rPr>
              <a:t>的</a:t>
            </a:r>
            <a:r>
              <a:rPr lang="en-US" sz="2800" i="1" dirty="0">
                <a:latin typeface="Times New Roman" charset="0"/>
                <a:cs typeface="楷体_GB2312" charset="0"/>
              </a:rPr>
              <a:t>m</a:t>
            </a:r>
            <a:r>
              <a:rPr lang="en-US" altLang="en-US" sz="2800" dirty="0">
                <a:latin typeface="Times New Roman" charset="0"/>
                <a:cs typeface="楷体_GB2312" charset="0"/>
              </a:rPr>
              <a:t>重根，则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楷体_GB2312" charset="0"/>
              </a:rPr>
              <a:t>其导数具有以下特点：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  <a:cs typeface="楷体_GB2312" charset="0"/>
            </a:endParaRPr>
          </a:p>
          <a:p>
            <a:pPr marL="0" indent="0" eaLnBrk="1" hangingPunct="1">
              <a:buFontTx/>
              <a:buNone/>
            </a:pPr>
            <a:r>
              <a:rPr lang="en-US" sz="2800" i="1" dirty="0">
                <a:latin typeface="Times New Roman" charset="0"/>
                <a:cs typeface="楷体_GB2312" charset="0"/>
              </a:rPr>
              <a:t>       f</a:t>
            </a:r>
            <a:r>
              <a:rPr lang="en-US" sz="2800" dirty="0">
                <a:latin typeface="Times New Roman" charset="0"/>
                <a:cs typeface="楷体_GB2312" charset="0"/>
              </a:rPr>
              <a:t>(</a:t>
            </a:r>
            <a:r>
              <a:rPr lang="el-GR" sz="2800" i="1" dirty="0">
                <a:latin typeface="Times New Roman" charset="0"/>
                <a:cs typeface="楷体_GB2312" charset="0"/>
              </a:rPr>
              <a:t>α</a:t>
            </a:r>
            <a:r>
              <a:rPr lang="en-US" sz="2800" dirty="0">
                <a:latin typeface="Times New Roman" charset="0"/>
                <a:cs typeface="楷体_GB2312" charset="0"/>
              </a:rPr>
              <a:t>)=</a:t>
            </a:r>
            <a:r>
              <a:rPr lang="en-US" sz="2800" i="1" dirty="0">
                <a:latin typeface="Times New Roman" charset="0"/>
                <a:cs typeface="楷体_GB2312" charset="0"/>
              </a:rPr>
              <a:t>f</a:t>
            </a:r>
            <a:r>
              <a:rPr lang="en-US" sz="2800" i="1" dirty="0">
                <a:latin typeface="Times New Roman" charset="0"/>
                <a:cs typeface="楷体_GB2312" charset="0"/>
                <a:sym typeface="Symbol" charset="0"/>
              </a:rPr>
              <a:t></a:t>
            </a:r>
            <a:r>
              <a:rPr lang="en-US" sz="2800" dirty="0">
                <a:latin typeface="Times New Roman" charset="0"/>
                <a:cs typeface="楷体_GB2312" charset="0"/>
              </a:rPr>
              <a:t>(</a:t>
            </a:r>
            <a:r>
              <a:rPr lang="el-GR" sz="2800" i="1" dirty="0">
                <a:latin typeface="Times New Roman" charset="0"/>
                <a:cs typeface="楷体_GB2312" charset="0"/>
              </a:rPr>
              <a:t>α</a:t>
            </a:r>
            <a:r>
              <a:rPr lang="en-US" sz="2800" dirty="0">
                <a:latin typeface="Times New Roman" charset="0"/>
                <a:cs typeface="楷体_GB2312" charset="0"/>
              </a:rPr>
              <a:t>)=</a:t>
            </a:r>
            <a:r>
              <a:rPr lang="en-US" sz="2800" dirty="0">
                <a:latin typeface="Times New Roman" charset="0"/>
                <a:cs typeface="楷体_GB2312" charset="0"/>
                <a:sym typeface="Symbol" charset="0"/>
              </a:rPr>
              <a:t></a:t>
            </a:r>
            <a:r>
              <a:rPr lang="en-US" sz="2800" dirty="0">
                <a:latin typeface="Times New Roman" charset="0"/>
                <a:cs typeface="楷体_GB2312" charset="0"/>
              </a:rPr>
              <a:t>=</a:t>
            </a:r>
            <a:r>
              <a:rPr lang="en-US" sz="2800" i="1" dirty="0">
                <a:latin typeface="Times New Roman" charset="0"/>
                <a:cs typeface="楷体_GB2312" charset="0"/>
              </a:rPr>
              <a:t>f</a:t>
            </a:r>
            <a:r>
              <a:rPr lang="en-US" sz="2800" i="1" baseline="30000" dirty="0">
                <a:latin typeface="Times New Roman" charset="0"/>
                <a:cs typeface="楷体_GB2312" charset="0"/>
              </a:rPr>
              <a:t> </a:t>
            </a:r>
            <a:r>
              <a:rPr lang="en-US" sz="2800" baseline="30000" dirty="0">
                <a:latin typeface="Times New Roman" charset="0"/>
                <a:cs typeface="楷体_GB2312" charset="0"/>
              </a:rPr>
              <a:t>(</a:t>
            </a:r>
            <a:r>
              <a:rPr lang="en-US" sz="2800" i="1" baseline="30000" dirty="0">
                <a:latin typeface="Times New Roman" charset="0"/>
                <a:cs typeface="楷体_GB2312" charset="0"/>
              </a:rPr>
              <a:t>m</a:t>
            </a:r>
            <a:r>
              <a:rPr lang="en-US" sz="2800" baseline="30000" dirty="0">
                <a:latin typeface="Times New Roman" charset="0"/>
                <a:cs typeface="楷体_GB2312" charset="0"/>
              </a:rPr>
              <a:t>-1)</a:t>
            </a:r>
            <a:r>
              <a:rPr lang="en-US" sz="2800" dirty="0">
                <a:latin typeface="Times New Roman" charset="0"/>
                <a:cs typeface="楷体_GB2312" charset="0"/>
              </a:rPr>
              <a:t>(</a:t>
            </a:r>
            <a:r>
              <a:rPr lang="el-GR" sz="2800" i="1" dirty="0">
                <a:latin typeface="Times New Roman" charset="0"/>
                <a:cs typeface="楷体_GB2312" charset="0"/>
              </a:rPr>
              <a:t>α</a:t>
            </a:r>
            <a:r>
              <a:rPr lang="en-US" sz="2800" dirty="0">
                <a:latin typeface="Times New Roman" charset="0"/>
                <a:cs typeface="楷体_GB2312" charset="0"/>
              </a:rPr>
              <a:t>)=0,</a:t>
            </a:r>
            <a:r>
              <a:rPr lang="en-US" sz="2800" i="1" dirty="0">
                <a:latin typeface="Times New Roman" charset="0"/>
                <a:cs typeface="楷体_GB2312" charset="0"/>
              </a:rPr>
              <a:t> f</a:t>
            </a:r>
            <a:r>
              <a:rPr lang="en-US" sz="2800" i="1" baseline="30000" dirty="0">
                <a:latin typeface="Times New Roman" charset="0"/>
                <a:cs typeface="楷体_GB2312" charset="0"/>
              </a:rPr>
              <a:t> </a:t>
            </a:r>
            <a:r>
              <a:rPr lang="en-US" sz="2800" baseline="30000" dirty="0">
                <a:latin typeface="Times New Roman" charset="0"/>
                <a:cs typeface="楷体_GB2312" charset="0"/>
              </a:rPr>
              <a:t>(</a:t>
            </a:r>
            <a:r>
              <a:rPr lang="en-US" sz="2800" i="1" baseline="30000" dirty="0">
                <a:latin typeface="Times New Roman" charset="0"/>
                <a:cs typeface="楷体_GB2312" charset="0"/>
              </a:rPr>
              <a:t>m</a:t>
            </a:r>
            <a:r>
              <a:rPr lang="en-US" sz="2800" baseline="30000" dirty="0">
                <a:latin typeface="Times New Roman" charset="0"/>
                <a:cs typeface="楷体_GB2312" charset="0"/>
              </a:rPr>
              <a:t>)</a:t>
            </a:r>
            <a:r>
              <a:rPr lang="en-US" sz="2800" dirty="0">
                <a:latin typeface="Times New Roman" charset="0"/>
                <a:cs typeface="楷体_GB2312" charset="0"/>
              </a:rPr>
              <a:t>(</a:t>
            </a:r>
            <a:r>
              <a:rPr lang="el-GR" sz="2800" i="1" dirty="0">
                <a:latin typeface="Times New Roman" charset="0"/>
                <a:cs typeface="楷体_GB2312" charset="0"/>
              </a:rPr>
              <a:t>α</a:t>
            </a:r>
            <a:r>
              <a:rPr lang="en-US" sz="2800" dirty="0">
                <a:latin typeface="Times New Roman" charset="0"/>
                <a:cs typeface="楷体_GB2312" charset="0"/>
              </a:rPr>
              <a:t>)</a:t>
            </a:r>
            <a:r>
              <a:rPr lang="en-US" sz="2800" dirty="0">
                <a:latin typeface="Times New Roman" charset="0"/>
                <a:cs typeface="楷体_GB2312" charset="0"/>
                <a:sym typeface="Symbol" charset="0"/>
              </a:rPr>
              <a:t></a:t>
            </a:r>
            <a:r>
              <a:rPr lang="en-US" sz="2800" dirty="0">
                <a:latin typeface="Times New Roman" charset="0"/>
                <a:cs typeface="楷体_GB2312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5475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/>
      <p:bldP spid="12" grpId="0" animBg="1"/>
      <p:bldP spid="63" grpId="0" uiExpand="1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Line 3"/>
          <p:cNvSpPr>
            <a:spLocks noChangeShapeType="1"/>
          </p:cNvSpPr>
          <p:nvPr/>
        </p:nvSpPr>
        <p:spPr bwMode="auto">
          <a:xfrm>
            <a:off x="1828800" y="3031232"/>
            <a:ext cx="510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sp>
        <p:nvSpPr>
          <p:cNvPr id="45060" name="Freeform 4"/>
          <p:cNvSpPr>
            <a:spLocks/>
          </p:cNvSpPr>
          <p:nvPr/>
        </p:nvSpPr>
        <p:spPr bwMode="auto">
          <a:xfrm>
            <a:off x="2514600" y="1659632"/>
            <a:ext cx="3048000" cy="2057400"/>
          </a:xfrm>
          <a:custGeom>
            <a:avLst/>
            <a:gdLst>
              <a:gd name="T0" fmla="*/ 0 w 1920"/>
              <a:gd name="T1" fmla="*/ 1296 h 1296"/>
              <a:gd name="T2" fmla="*/ 672 w 1920"/>
              <a:gd name="T3" fmla="*/ 1152 h 1296"/>
              <a:gd name="T4" fmla="*/ 1248 w 1920"/>
              <a:gd name="T5" fmla="*/ 960 h 1296"/>
              <a:gd name="T6" fmla="*/ 1536 w 1920"/>
              <a:gd name="T7" fmla="*/ 768 h 1296"/>
              <a:gd name="T8" fmla="*/ 1776 w 1920"/>
              <a:gd name="T9" fmla="*/ 384 h 1296"/>
              <a:gd name="T10" fmla="*/ 1920 w 1920"/>
              <a:gd name="T11" fmla="*/ 0 h 1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20" h="1296">
                <a:moveTo>
                  <a:pt x="0" y="1296"/>
                </a:moveTo>
                <a:cubicBezTo>
                  <a:pt x="232" y="1252"/>
                  <a:pt x="464" y="1208"/>
                  <a:pt x="672" y="1152"/>
                </a:cubicBezTo>
                <a:cubicBezTo>
                  <a:pt x="880" y="1096"/>
                  <a:pt x="1104" y="1024"/>
                  <a:pt x="1248" y="960"/>
                </a:cubicBezTo>
                <a:cubicBezTo>
                  <a:pt x="1392" y="896"/>
                  <a:pt x="1448" y="864"/>
                  <a:pt x="1536" y="768"/>
                </a:cubicBezTo>
                <a:cubicBezTo>
                  <a:pt x="1624" y="672"/>
                  <a:pt x="1712" y="512"/>
                  <a:pt x="1776" y="384"/>
                </a:cubicBezTo>
                <a:cubicBezTo>
                  <a:pt x="1840" y="256"/>
                  <a:pt x="1880" y="128"/>
                  <a:pt x="1920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sp>
        <p:nvSpPr>
          <p:cNvPr id="45064" name="Line 8"/>
          <p:cNvSpPr>
            <a:spLocks noChangeShapeType="1"/>
          </p:cNvSpPr>
          <p:nvPr/>
        </p:nvSpPr>
        <p:spPr bwMode="auto">
          <a:xfrm>
            <a:off x="4114800" y="3031232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sp>
        <p:nvSpPr>
          <p:cNvPr id="45066" name="Oval 10"/>
          <p:cNvSpPr>
            <a:spLocks noChangeArrowheads="1"/>
          </p:cNvSpPr>
          <p:nvPr/>
        </p:nvSpPr>
        <p:spPr bwMode="auto">
          <a:xfrm>
            <a:off x="4724400" y="2988370"/>
            <a:ext cx="111125" cy="111125"/>
          </a:xfrm>
          <a:prstGeom prst="ellipse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grpSp>
        <p:nvGrpSpPr>
          <p:cNvPr id="45071" name="Group 15"/>
          <p:cNvGrpSpPr>
            <a:grpSpLocks/>
          </p:cNvGrpSpPr>
          <p:nvPr/>
        </p:nvGrpSpPr>
        <p:grpSpPr bwMode="auto">
          <a:xfrm>
            <a:off x="2362200" y="2726432"/>
            <a:ext cx="304800" cy="990600"/>
            <a:chOff x="1440" y="1920"/>
            <a:chExt cx="192" cy="624"/>
          </a:xfrm>
        </p:grpSpPr>
        <p:sp>
          <p:nvSpPr>
            <p:cNvPr id="45063" name="Line 7"/>
            <p:cNvSpPr>
              <a:spLocks noChangeShapeType="1"/>
            </p:cNvSpPr>
            <p:nvPr/>
          </p:nvSpPr>
          <p:spPr bwMode="auto">
            <a:xfrm flipV="1">
              <a:off x="1536" y="2112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45067" name="Text Box 11"/>
            <p:cNvSpPr txBox="1">
              <a:spLocks noChangeArrowheads="1"/>
            </p:cNvSpPr>
            <p:nvPr/>
          </p:nvSpPr>
          <p:spPr bwMode="auto">
            <a:xfrm>
              <a:off x="1440" y="1920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b="1" i="1" dirty="0">
                  <a:cs typeface="宋体" charset="0"/>
                </a:rPr>
                <a:t>a</a:t>
              </a:r>
            </a:p>
          </p:txBody>
        </p:sp>
      </p:grpSp>
      <p:grpSp>
        <p:nvGrpSpPr>
          <p:cNvPr id="45072" name="Group 16"/>
          <p:cNvGrpSpPr>
            <a:grpSpLocks/>
          </p:cNvGrpSpPr>
          <p:nvPr/>
        </p:nvGrpSpPr>
        <p:grpSpPr bwMode="auto">
          <a:xfrm>
            <a:off x="5410200" y="1659632"/>
            <a:ext cx="304800" cy="1738313"/>
            <a:chOff x="3360" y="1248"/>
            <a:chExt cx="192" cy="1095"/>
          </a:xfrm>
        </p:grpSpPr>
        <p:sp>
          <p:nvSpPr>
            <p:cNvPr id="45062" name="Line 6"/>
            <p:cNvSpPr>
              <a:spLocks noChangeShapeType="1"/>
            </p:cNvSpPr>
            <p:nvPr/>
          </p:nvSpPr>
          <p:spPr bwMode="auto">
            <a:xfrm>
              <a:off x="3456" y="1248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45068" name="Text Box 12"/>
            <p:cNvSpPr txBox="1">
              <a:spLocks noChangeArrowheads="1"/>
            </p:cNvSpPr>
            <p:nvPr/>
          </p:nvSpPr>
          <p:spPr bwMode="auto">
            <a:xfrm>
              <a:off x="3360" y="211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b="1" i="1" dirty="0">
                  <a:cs typeface="宋体" charset="0"/>
                </a:rPr>
                <a:t>b</a:t>
              </a:r>
            </a:p>
          </p:txBody>
        </p:sp>
      </p:grpSp>
      <p:sp>
        <p:nvSpPr>
          <p:cNvPr id="45069" name="Text Box 13"/>
          <p:cNvSpPr txBox="1">
            <a:spLocks noChangeArrowheads="1"/>
          </p:cNvSpPr>
          <p:nvPr/>
        </p:nvSpPr>
        <p:spPr bwMode="auto">
          <a:xfrm>
            <a:off x="4191000" y="2650232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i="1" dirty="0">
                <a:cs typeface="宋体" charset="0"/>
              </a:rPr>
              <a:t>x</a:t>
            </a:r>
            <a:r>
              <a:rPr lang="en-US" altLang="zh-CN" sz="1800" b="1" baseline="-25000" dirty="0">
                <a:cs typeface="宋体" charset="0"/>
              </a:rPr>
              <a:t>1</a:t>
            </a:r>
            <a:endParaRPr lang="en-US" altLang="zh-CN" sz="1800" b="1" i="1" dirty="0">
              <a:cs typeface="宋体" charset="0"/>
            </a:endParaRPr>
          </a:p>
        </p:txBody>
      </p:sp>
      <p:sp>
        <p:nvSpPr>
          <p:cNvPr id="45065" name="Line 9"/>
          <p:cNvSpPr>
            <a:spLocks noChangeShapeType="1"/>
          </p:cNvSpPr>
          <p:nvPr/>
        </p:nvSpPr>
        <p:spPr bwMode="auto">
          <a:xfrm flipV="1">
            <a:off x="4876800" y="2955032"/>
            <a:ext cx="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sp>
        <p:nvSpPr>
          <p:cNvPr id="45070" name="Text Box 14"/>
          <p:cNvSpPr txBox="1">
            <a:spLocks noChangeArrowheads="1"/>
          </p:cNvSpPr>
          <p:nvPr/>
        </p:nvSpPr>
        <p:spPr bwMode="auto">
          <a:xfrm>
            <a:off x="4983163" y="3042345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i="1">
                <a:cs typeface="宋体" charset="0"/>
              </a:rPr>
              <a:t>x</a:t>
            </a:r>
            <a:r>
              <a:rPr lang="en-US" altLang="zh-CN" sz="1800" b="1" baseline="-25000">
                <a:cs typeface="宋体" charset="0"/>
              </a:rPr>
              <a:t>2</a:t>
            </a:r>
            <a:endParaRPr lang="en-US" altLang="zh-CN" sz="1800" b="1" i="1">
              <a:cs typeface="宋体" charset="0"/>
            </a:endParaRPr>
          </a:p>
        </p:txBody>
      </p:sp>
      <p:sp>
        <p:nvSpPr>
          <p:cNvPr id="45074" name="Text Box 18"/>
          <p:cNvSpPr txBox="1">
            <a:spLocks noChangeArrowheads="1"/>
          </p:cNvSpPr>
          <p:nvPr/>
        </p:nvSpPr>
        <p:spPr bwMode="auto">
          <a:xfrm>
            <a:off x="3924300" y="2610545"/>
            <a:ext cx="431676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i="1" dirty="0">
                <a:cs typeface="宋体" charset="0"/>
              </a:rPr>
              <a:t>a</a:t>
            </a:r>
            <a:r>
              <a:rPr lang="en-US" altLang="zh-CN" sz="1800" b="1" baseline="-25000" dirty="0">
                <a:cs typeface="宋体" charset="0"/>
              </a:rPr>
              <a:t>1</a:t>
            </a:r>
            <a:endParaRPr lang="en-US" altLang="zh-CN" sz="1800" b="1" i="1" dirty="0">
              <a:cs typeface="宋体" charset="0"/>
            </a:endParaRPr>
          </a:p>
          <a:p>
            <a:pPr>
              <a:spcBef>
                <a:spcPct val="50000"/>
              </a:spcBef>
              <a:defRPr/>
            </a:pPr>
            <a:endParaRPr lang="en-US" altLang="zh-CN" sz="1800" b="1" i="1" dirty="0">
              <a:cs typeface="宋体" charset="0"/>
            </a:endParaRPr>
          </a:p>
        </p:txBody>
      </p:sp>
      <p:sp>
        <p:nvSpPr>
          <p:cNvPr id="45075" name="Text Box 19"/>
          <p:cNvSpPr txBox="1">
            <a:spLocks noChangeArrowheads="1"/>
          </p:cNvSpPr>
          <p:nvPr/>
        </p:nvSpPr>
        <p:spPr bwMode="auto">
          <a:xfrm>
            <a:off x="4787900" y="3115370"/>
            <a:ext cx="648196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i="1" dirty="0">
                <a:cs typeface="宋体" charset="0"/>
              </a:rPr>
              <a:t>b</a:t>
            </a:r>
            <a:r>
              <a:rPr lang="en-US" altLang="zh-CN" sz="1800" b="1" baseline="-25000" dirty="0">
                <a:cs typeface="宋体" charset="0"/>
              </a:rPr>
              <a:t>2</a:t>
            </a:r>
            <a:endParaRPr lang="en-US" altLang="zh-CN" sz="1800" b="1" i="1" dirty="0">
              <a:cs typeface="宋体" charset="0"/>
            </a:endParaRPr>
          </a:p>
          <a:p>
            <a:pPr>
              <a:spcBef>
                <a:spcPct val="50000"/>
              </a:spcBef>
              <a:defRPr/>
            </a:pPr>
            <a:endParaRPr lang="en-US" altLang="zh-CN" sz="1800" b="1" i="1" dirty="0">
              <a:cs typeface="宋体" charset="0"/>
            </a:endParaRPr>
          </a:p>
        </p:txBody>
      </p:sp>
      <p:sp>
        <p:nvSpPr>
          <p:cNvPr id="45076" name="Oval 20"/>
          <p:cNvSpPr>
            <a:spLocks noChangeArrowheads="1"/>
          </p:cNvSpPr>
          <p:nvPr/>
        </p:nvSpPr>
        <p:spPr bwMode="auto">
          <a:xfrm>
            <a:off x="990600" y="1798712"/>
            <a:ext cx="3200400" cy="8382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CC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zh-CN" altLang="en-US" dirty="0">
                <a:cs typeface="宋体" charset="0"/>
              </a:rPr>
              <a:t>何时停止</a:t>
            </a:r>
            <a:r>
              <a:rPr lang="en-US" altLang="zh-CN" dirty="0">
                <a:cs typeface="宋体" charset="0"/>
              </a:rPr>
              <a:t>?</a:t>
            </a:r>
          </a:p>
        </p:txBody>
      </p:sp>
      <p:grpSp>
        <p:nvGrpSpPr>
          <p:cNvPr id="45080" name="Group 24"/>
          <p:cNvGrpSpPr>
            <a:grpSpLocks/>
          </p:cNvGrpSpPr>
          <p:nvPr/>
        </p:nvGrpSpPr>
        <p:grpSpPr bwMode="auto">
          <a:xfrm>
            <a:off x="1622425" y="3853979"/>
            <a:ext cx="4184650" cy="533400"/>
            <a:chOff x="590" y="1776"/>
            <a:chExt cx="2636" cy="336"/>
          </a:xfrm>
        </p:grpSpPr>
        <p:graphicFrame>
          <p:nvGraphicFramePr>
            <p:cNvPr id="6173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8624906"/>
                </p:ext>
              </p:extLst>
            </p:nvPr>
          </p:nvGraphicFramePr>
          <p:xfrm>
            <a:off x="590" y="1776"/>
            <a:ext cx="1042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Equation" r:id="rId8" imgW="901309" imgH="253890" progId="Equation.3">
                    <p:embed/>
                  </p:oleObj>
                </mc:Choice>
                <mc:Fallback>
                  <p:oleObj name="Equation" r:id="rId8" imgW="901309" imgH="253890" progId="Equation.3">
                    <p:embed/>
                    <p:pic>
                      <p:nvPicPr>
                        <p:cNvPr id="617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1776"/>
                          <a:ext cx="1042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4" name="Object 22"/>
            <p:cNvGraphicFramePr>
              <a:graphicFrameLocks noChangeAspect="1"/>
            </p:cNvGraphicFramePr>
            <p:nvPr/>
          </p:nvGraphicFramePr>
          <p:xfrm>
            <a:off x="2400" y="1776"/>
            <a:ext cx="826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Equation" r:id="rId10" imgW="672808" imgH="253890" progId="Equation.3">
                    <p:embed/>
                  </p:oleObj>
                </mc:Choice>
                <mc:Fallback>
                  <p:oleObj name="Equation" r:id="rId10" imgW="672808" imgH="253890" progId="Equation.3">
                    <p:embed/>
                    <p:pic>
                      <p:nvPicPr>
                        <p:cNvPr id="6174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776"/>
                          <a:ext cx="826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9" name="Text Box 23"/>
            <p:cNvSpPr txBox="1">
              <a:spLocks noChangeArrowheads="1"/>
            </p:cNvSpPr>
            <p:nvPr/>
          </p:nvSpPr>
          <p:spPr bwMode="auto">
            <a:xfrm>
              <a:off x="1872" y="18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b="1">
                  <a:cs typeface="楷体_GB2312" charset="0"/>
                </a:rPr>
                <a:t>或</a:t>
              </a:r>
              <a:endParaRPr lang="en-US" altLang="zh-CN" b="1">
                <a:cs typeface="楷体_GB2312" charset="0"/>
              </a:endParaRPr>
            </a:p>
          </p:txBody>
        </p:sp>
      </p:grpSp>
      <p:sp>
        <p:nvSpPr>
          <p:cNvPr id="45081" name="AutoShape 25"/>
          <p:cNvSpPr>
            <a:spLocks noChangeArrowheads="1"/>
          </p:cNvSpPr>
          <p:nvPr/>
        </p:nvSpPr>
        <p:spPr bwMode="auto">
          <a:xfrm>
            <a:off x="5105400" y="4763616"/>
            <a:ext cx="3427040" cy="609600"/>
          </a:xfrm>
          <a:prstGeom prst="wedgeEllipseCallout">
            <a:avLst>
              <a:gd name="adj1" fmla="val -44259"/>
              <a:gd name="adj2" fmla="val -134634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zh-CN" altLang="en-US" sz="2000" b="1">
                <a:cs typeface="楷体_GB2312" charset="0"/>
              </a:rPr>
              <a:t>不能保证</a:t>
            </a:r>
            <a:r>
              <a:rPr lang="en-US" altLang="zh-CN" sz="2000" b="1">
                <a:cs typeface="宋体" charset="0"/>
              </a:rPr>
              <a:t> </a:t>
            </a:r>
            <a:r>
              <a:rPr lang="en-US" altLang="zh-CN" sz="2000" b="1" i="1">
                <a:cs typeface="宋体" charset="0"/>
              </a:rPr>
              <a:t>x</a:t>
            </a:r>
            <a:r>
              <a:rPr lang="en-US" altLang="zh-CN" sz="2000" b="1">
                <a:cs typeface="宋体" charset="0"/>
              </a:rPr>
              <a:t> </a:t>
            </a:r>
            <a:r>
              <a:rPr lang="zh-CN" altLang="en-US" sz="2000" b="1">
                <a:cs typeface="楷体_GB2312" charset="0"/>
              </a:rPr>
              <a:t>的精度</a:t>
            </a:r>
            <a:endParaRPr lang="en-US" altLang="zh-CN" sz="2000" b="1">
              <a:cs typeface="楷体_GB2312" charset="0"/>
            </a:endParaRPr>
          </a:p>
        </p:txBody>
      </p:sp>
      <p:grpSp>
        <p:nvGrpSpPr>
          <p:cNvPr id="45085" name="Group 29"/>
          <p:cNvGrpSpPr>
            <a:grpSpLocks/>
          </p:cNvGrpSpPr>
          <p:nvPr/>
        </p:nvGrpSpPr>
        <p:grpSpPr bwMode="auto">
          <a:xfrm>
            <a:off x="2741613" y="5221560"/>
            <a:ext cx="3352800" cy="1371600"/>
            <a:chOff x="1728" y="2832"/>
            <a:chExt cx="2112" cy="864"/>
          </a:xfrm>
        </p:grpSpPr>
        <p:sp>
          <p:nvSpPr>
            <p:cNvPr id="45083" name="Freeform 27"/>
            <p:cNvSpPr>
              <a:spLocks/>
            </p:cNvSpPr>
            <p:nvPr/>
          </p:nvSpPr>
          <p:spPr bwMode="auto">
            <a:xfrm>
              <a:off x="1728" y="3264"/>
              <a:ext cx="1152" cy="432"/>
            </a:xfrm>
            <a:custGeom>
              <a:avLst/>
              <a:gdLst>
                <a:gd name="T0" fmla="*/ 0 w 1152"/>
                <a:gd name="T1" fmla="*/ 432 h 432"/>
                <a:gd name="T2" fmla="*/ 48 w 1152"/>
                <a:gd name="T3" fmla="*/ 144 h 432"/>
                <a:gd name="T4" fmla="*/ 240 w 1152"/>
                <a:gd name="T5" fmla="*/ 48 h 432"/>
                <a:gd name="T6" fmla="*/ 1152 w 1152"/>
                <a:gd name="T7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2" h="432">
                  <a:moveTo>
                    <a:pt x="0" y="432"/>
                  </a:moveTo>
                  <a:cubicBezTo>
                    <a:pt x="4" y="320"/>
                    <a:pt x="8" y="208"/>
                    <a:pt x="48" y="144"/>
                  </a:cubicBezTo>
                  <a:cubicBezTo>
                    <a:pt x="88" y="80"/>
                    <a:pt x="56" y="72"/>
                    <a:pt x="240" y="48"/>
                  </a:cubicBezTo>
                  <a:cubicBezTo>
                    <a:pt x="424" y="24"/>
                    <a:pt x="788" y="12"/>
                    <a:pt x="1152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45084" name="Freeform 28"/>
            <p:cNvSpPr>
              <a:spLocks/>
            </p:cNvSpPr>
            <p:nvPr/>
          </p:nvSpPr>
          <p:spPr bwMode="auto">
            <a:xfrm flipH="1" flipV="1">
              <a:off x="2688" y="2832"/>
              <a:ext cx="1152" cy="432"/>
            </a:xfrm>
            <a:custGeom>
              <a:avLst/>
              <a:gdLst>
                <a:gd name="T0" fmla="*/ 0 w 1152"/>
                <a:gd name="T1" fmla="*/ 432 h 432"/>
                <a:gd name="T2" fmla="*/ 48 w 1152"/>
                <a:gd name="T3" fmla="*/ 144 h 432"/>
                <a:gd name="T4" fmla="*/ 240 w 1152"/>
                <a:gd name="T5" fmla="*/ 48 h 432"/>
                <a:gd name="T6" fmla="*/ 1152 w 1152"/>
                <a:gd name="T7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2" h="432">
                  <a:moveTo>
                    <a:pt x="0" y="432"/>
                  </a:moveTo>
                  <a:cubicBezTo>
                    <a:pt x="4" y="320"/>
                    <a:pt x="8" y="208"/>
                    <a:pt x="48" y="144"/>
                  </a:cubicBezTo>
                  <a:cubicBezTo>
                    <a:pt x="88" y="80"/>
                    <a:pt x="56" y="72"/>
                    <a:pt x="240" y="48"/>
                  </a:cubicBezTo>
                  <a:cubicBezTo>
                    <a:pt x="424" y="24"/>
                    <a:pt x="788" y="12"/>
                    <a:pt x="1152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</p:grpSp>
      <p:grpSp>
        <p:nvGrpSpPr>
          <p:cNvPr id="45087" name="Group 31"/>
          <p:cNvGrpSpPr>
            <a:grpSpLocks/>
          </p:cNvGrpSpPr>
          <p:nvPr/>
        </p:nvGrpSpPr>
        <p:grpSpPr bwMode="auto">
          <a:xfrm>
            <a:off x="1828800" y="4840560"/>
            <a:ext cx="5334000" cy="1828800"/>
            <a:chOff x="1152" y="2592"/>
            <a:chExt cx="3360" cy="1152"/>
          </a:xfrm>
        </p:grpSpPr>
        <p:sp>
          <p:nvSpPr>
            <p:cNvPr id="45082" name="Line 26"/>
            <p:cNvSpPr>
              <a:spLocks noChangeShapeType="1"/>
            </p:cNvSpPr>
            <p:nvPr/>
          </p:nvSpPr>
          <p:spPr bwMode="auto">
            <a:xfrm>
              <a:off x="1152" y="3264"/>
              <a:ext cx="33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45086" name="Line 30"/>
            <p:cNvSpPr>
              <a:spLocks noChangeShapeType="1"/>
            </p:cNvSpPr>
            <p:nvPr/>
          </p:nvSpPr>
          <p:spPr bwMode="auto">
            <a:xfrm flipV="1">
              <a:off x="2784" y="2592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</p:grpSp>
      <p:sp>
        <p:nvSpPr>
          <p:cNvPr id="45088" name="Text Box 32"/>
          <p:cNvSpPr txBox="1">
            <a:spLocks noChangeArrowheads="1"/>
          </p:cNvSpPr>
          <p:nvPr/>
        </p:nvSpPr>
        <p:spPr bwMode="auto">
          <a:xfrm>
            <a:off x="4572000" y="2650232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 i="1">
                <a:solidFill>
                  <a:srgbClr val="FF3300"/>
                </a:solidFill>
                <a:cs typeface="宋体" charset="0"/>
              </a:rPr>
              <a:t>x*</a:t>
            </a:r>
          </a:p>
        </p:txBody>
      </p:sp>
      <p:sp>
        <p:nvSpPr>
          <p:cNvPr id="45089" name="Line 33"/>
          <p:cNvSpPr>
            <a:spLocks noChangeShapeType="1"/>
          </p:cNvSpPr>
          <p:nvPr/>
        </p:nvSpPr>
        <p:spPr bwMode="auto">
          <a:xfrm>
            <a:off x="2133600" y="5678760"/>
            <a:ext cx="426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sp>
        <p:nvSpPr>
          <p:cNvPr id="45090" name="Text Box 34"/>
          <p:cNvSpPr txBox="1">
            <a:spLocks noChangeArrowheads="1"/>
          </p:cNvSpPr>
          <p:nvPr/>
        </p:nvSpPr>
        <p:spPr bwMode="auto">
          <a:xfrm>
            <a:off x="4038600" y="529776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b="1" i="1">
                <a:cs typeface="宋体" charset="0"/>
                <a:sym typeface="Symbol" charset="0"/>
              </a:rPr>
              <a:t></a:t>
            </a:r>
            <a:r>
              <a:rPr lang="en-US" altLang="zh-CN" sz="2000" b="1" baseline="-25000">
                <a:cs typeface="宋体" charset="0"/>
                <a:sym typeface="Symbol" charset="0"/>
              </a:rPr>
              <a:t>2</a:t>
            </a:r>
            <a:endParaRPr lang="en-US" altLang="zh-CN" sz="2000" b="1" i="1">
              <a:cs typeface="宋体" charset="0"/>
            </a:endParaRPr>
          </a:p>
        </p:txBody>
      </p:sp>
      <p:grpSp>
        <p:nvGrpSpPr>
          <p:cNvPr id="45094" name="Group 38"/>
          <p:cNvGrpSpPr>
            <a:grpSpLocks/>
          </p:cNvGrpSpPr>
          <p:nvPr/>
        </p:nvGrpSpPr>
        <p:grpSpPr bwMode="auto">
          <a:xfrm>
            <a:off x="4191000" y="5678760"/>
            <a:ext cx="1981200" cy="549275"/>
            <a:chOff x="2640" y="3120"/>
            <a:chExt cx="1248" cy="346"/>
          </a:xfrm>
        </p:grpSpPr>
        <p:sp>
          <p:nvSpPr>
            <p:cNvPr id="45091" name="Line 35"/>
            <p:cNvSpPr>
              <a:spLocks noChangeShapeType="1"/>
            </p:cNvSpPr>
            <p:nvPr/>
          </p:nvSpPr>
          <p:spPr bwMode="auto">
            <a:xfrm>
              <a:off x="3792" y="312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45092" name="Text Box 36"/>
            <p:cNvSpPr txBox="1">
              <a:spLocks noChangeArrowheads="1"/>
            </p:cNvSpPr>
            <p:nvPr/>
          </p:nvSpPr>
          <p:spPr bwMode="auto">
            <a:xfrm>
              <a:off x="3696" y="3216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b="1" i="1">
                  <a:cs typeface="宋体" charset="0"/>
                </a:rPr>
                <a:t>x</a:t>
              </a:r>
            </a:p>
          </p:txBody>
        </p:sp>
        <p:sp>
          <p:nvSpPr>
            <p:cNvPr id="45093" name="Text Box 37"/>
            <p:cNvSpPr txBox="1">
              <a:spLocks noChangeArrowheads="1"/>
            </p:cNvSpPr>
            <p:nvPr/>
          </p:nvSpPr>
          <p:spPr bwMode="auto">
            <a:xfrm>
              <a:off x="2640" y="321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b="1" i="1">
                  <a:solidFill>
                    <a:srgbClr val="FF3300"/>
                  </a:solidFill>
                  <a:cs typeface="宋体" charset="0"/>
                </a:rPr>
                <a:t>x*</a:t>
              </a:r>
            </a:p>
          </p:txBody>
        </p:sp>
      </p:grp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467544" y="951111"/>
            <a:ext cx="85689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863600" indent="-863600">
              <a:defRPr kumimoji="1"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宋体" charset="0"/>
              </a:defRPr>
            </a:lvl1pPr>
            <a:lvl2pPr marL="10541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12446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43510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accent2"/>
                </a:solidFill>
                <a:cs typeface="楷体_GB2312" charset="0"/>
              </a:rPr>
              <a:t>原理：</a:t>
            </a:r>
            <a:r>
              <a:rPr lang="zh-CN" altLang="en-US" b="1" dirty="0">
                <a:cs typeface="楷体_GB2312" charset="0"/>
              </a:rPr>
              <a:t>若</a:t>
            </a:r>
            <a:r>
              <a:rPr lang="en-US" altLang="zh-CN" b="1" dirty="0">
                <a:cs typeface="楷体_GB2312" charset="0"/>
              </a:rPr>
              <a:t> </a:t>
            </a:r>
            <a:r>
              <a:rPr lang="en-US" altLang="zh-CN" b="1" i="1" dirty="0">
                <a:cs typeface="楷体_GB2312" charset="0"/>
              </a:rPr>
              <a:t>f</a:t>
            </a:r>
            <a:r>
              <a:rPr lang="en-US" altLang="zh-CN" b="1" dirty="0">
                <a:cs typeface="楷体_GB2312" charset="0"/>
              </a:rPr>
              <a:t> </a:t>
            </a:r>
            <a:r>
              <a:rPr lang="en-US" altLang="zh-CN" b="1" dirty="0">
                <a:cs typeface="楷体_GB2312" charset="0"/>
                <a:sym typeface="Symbol" charset="0"/>
              </a:rPr>
              <a:t>C[</a:t>
            </a:r>
            <a:r>
              <a:rPr lang="en-US" altLang="zh-CN" b="1" i="1" dirty="0">
                <a:cs typeface="楷体_GB2312" charset="0"/>
                <a:sym typeface="Symbol" charset="0"/>
              </a:rPr>
              <a:t>a</a:t>
            </a:r>
            <a:r>
              <a:rPr lang="en-US" altLang="zh-CN" b="1" dirty="0">
                <a:cs typeface="楷体_GB2312" charset="0"/>
                <a:sym typeface="Symbol" charset="0"/>
              </a:rPr>
              <a:t>, </a:t>
            </a:r>
            <a:r>
              <a:rPr lang="en-US" altLang="zh-CN" b="1" i="1" dirty="0">
                <a:cs typeface="楷体_GB2312" charset="0"/>
                <a:sym typeface="Symbol" charset="0"/>
              </a:rPr>
              <a:t>b</a:t>
            </a:r>
            <a:r>
              <a:rPr lang="en-US" altLang="zh-CN" b="1" dirty="0">
                <a:cs typeface="楷体_GB2312" charset="0"/>
                <a:sym typeface="Symbol" charset="0"/>
              </a:rPr>
              <a:t>]</a:t>
            </a:r>
            <a:r>
              <a:rPr lang="zh-CN" altLang="en-US" b="1" dirty="0">
                <a:cs typeface="楷体_GB2312" charset="0"/>
                <a:sym typeface="Symbol" charset="0"/>
              </a:rPr>
              <a:t>，且</a:t>
            </a:r>
            <a:r>
              <a:rPr lang="en-US" altLang="zh-CN" b="1" dirty="0">
                <a:cs typeface="楷体_GB2312" charset="0"/>
                <a:sym typeface="Symbol" charset="0"/>
              </a:rPr>
              <a:t> </a:t>
            </a:r>
            <a:r>
              <a:rPr lang="en-US" altLang="zh-CN" b="1" i="1" dirty="0">
                <a:cs typeface="楷体_GB2312" charset="0"/>
                <a:sym typeface="Symbol" charset="0"/>
              </a:rPr>
              <a:t>f </a:t>
            </a:r>
            <a:r>
              <a:rPr lang="en-US" altLang="zh-CN" b="1" dirty="0">
                <a:cs typeface="楷体_GB2312" charset="0"/>
                <a:sym typeface="Symbol" charset="0"/>
              </a:rPr>
              <a:t>(</a:t>
            </a:r>
            <a:r>
              <a:rPr lang="en-US" altLang="zh-CN" b="1" i="1" dirty="0">
                <a:cs typeface="楷体_GB2312" charset="0"/>
                <a:sym typeface="Symbol" charset="0"/>
              </a:rPr>
              <a:t>a</a:t>
            </a:r>
            <a:r>
              <a:rPr lang="en-US" altLang="zh-CN" b="1" dirty="0">
                <a:cs typeface="楷体_GB2312" charset="0"/>
                <a:sym typeface="Symbol" charset="0"/>
              </a:rPr>
              <a:t>) · </a:t>
            </a:r>
            <a:r>
              <a:rPr lang="en-US" altLang="zh-CN" b="1" i="1" dirty="0">
                <a:cs typeface="楷体_GB2312" charset="0"/>
                <a:sym typeface="Symbol" charset="0"/>
              </a:rPr>
              <a:t>f </a:t>
            </a:r>
            <a:r>
              <a:rPr lang="en-US" altLang="zh-CN" b="1" dirty="0">
                <a:cs typeface="楷体_GB2312" charset="0"/>
                <a:sym typeface="Symbol" charset="0"/>
              </a:rPr>
              <a:t>(</a:t>
            </a:r>
            <a:r>
              <a:rPr lang="en-US" altLang="zh-CN" b="1" i="1" dirty="0">
                <a:cs typeface="楷体_GB2312" charset="0"/>
                <a:sym typeface="Symbol" charset="0"/>
              </a:rPr>
              <a:t>b</a:t>
            </a:r>
            <a:r>
              <a:rPr lang="en-US" altLang="zh-CN" b="1" dirty="0">
                <a:cs typeface="楷体_GB2312" charset="0"/>
                <a:sym typeface="Symbol" charset="0"/>
              </a:rPr>
              <a:t>) &lt; 0</a:t>
            </a:r>
            <a:r>
              <a:rPr lang="zh-CN" altLang="en-US" b="1" dirty="0">
                <a:cs typeface="楷体_GB2312" charset="0"/>
                <a:sym typeface="Symbol" charset="0"/>
              </a:rPr>
              <a:t>，则</a:t>
            </a:r>
            <a:r>
              <a:rPr lang="en-US" altLang="zh-CN" b="1" dirty="0">
                <a:cs typeface="楷体_GB2312" charset="0"/>
                <a:sym typeface="Symbol" charset="0"/>
              </a:rPr>
              <a:t> </a:t>
            </a:r>
            <a:r>
              <a:rPr lang="en-US" altLang="zh-CN" b="1" i="1" dirty="0">
                <a:cs typeface="楷体_GB2312" charset="0"/>
                <a:sym typeface="Symbol" charset="0"/>
              </a:rPr>
              <a:t>f</a:t>
            </a:r>
            <a:r>
              <a:rPr lang="en-US" altLang="zh-CN" b="1" dirty="0">
                <a:cs typeface="楷体_GB2312" charset="0"/>
                <a:sym typeface="Symbol" charset="0"/>
              </a:rPr>
              <a:t> </a:t>
            </a:r>
            <a:r>
              <a:rPr lang="zh-CN" altLang="en-US" b="1" dirty="0">
                <a:cs typeface="楷体_GB2312" charset="0"/>
                <a:sym typeface="Symbol" charset="0"/>
              </a:rPr>
              <a:t>在</a:t>
            </a:r>
            <a:r>
              <a:rPr lang="en-US" altLang="zh-CN" b="1" dirty="0">
                <a:cs typeface="楷体_GB2312" charset="0"/>
                <a:sym typeface="Symbol" charset="0"/>
              </a:rPr>
              <a:t> (</a:t>
            </a:r>
            <a:r>
              <a:rPr lang="en-US" altLang="zh-CN" b="1" i="1" dirty="0">
                <a:cs typeface="楷体_GB2312" charset="0"/>
                <a:sym typeface="Symbol" charset="0"/>
              </a:rPr>
              <a:t>a</a:t>
            </a:r>
            <a:r>
              <a:rPr lang="en-US" altLang="zh-CN" b="1" dirty="0">
                <a:cs typeface="楷体_GB2312" charset="0"/>
                <a:sym typeface="Symbol" charset="0"/>
              </a:rPr>
              <a:t>, </a:t>
            </a:r>
            <a:r>
              <a:rPr lang="en-US" altLang="zh-CN" b="1" i="1" dirty="0">
                <a:cs typeface="楷体_GB2312" charset="0"/>
                <a:sym typeface="Symbol" charset="0"/>
              </a:rPr>
              <a:t>b</a:t>
            </a:r>
            <a:r>
              <a:rPr lang="en-US" altLang="zh-CN" b="1" dirty="0">
                <a:cs typeface="楷体_GB2312" charset="0"/>
                <a:sym typeface="Symbol" charset="0"/>
              </a:rPr>
              <a:t>) </a:t>
            </a:r>
            <a:r>
              <a:rPr lang="zh-CN" altLang="en-US" b="1" dirty="0">
                <a:cs typeface="楷体_GB2312" charset="0"/>
                <a:sym typeface="Symbol" charset="0"/>
              </a:rPr>
              <a:t>上必有一根</a:t>
            </a:r>
            <a:endParaRPr lang="en-US" altLang="zh-CN" sz="3600" dirty="0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15FCE82-4886-8D42-8E61-2635D4682DEE}"/>
              </a:ext>
            </a:extLst>
          </p:cNvPr>
          <p:cNvSpPr txBox="1">
            <a:spLocks/>
          </p:cNvSpPr>
          <p:nvPr/>
        </p:nvSpPr>
        <p:spPr>
          <a:xfrm>
            <a:off x="330743" y="762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、二分法 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Bisection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Method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0" name="Process 39">
            <a:extLst>
              <a:ext uri="{FF2B5EF4-FFF2-40B4-BE49-F238E27FC236}">
                <a16:creationId xmlns:a16="http://schemas.microsoft.com/office/drawing/2014/main" id="{DCB10682-3BEC-B946-8190-BB67652056D6}"/>
              </a:ext>
            </a:extLst>
          </p:cNvPr>
          <p:cNvSpPr/>
          <p:nvPr/>
        </p:nvSpPr>
        <p:spPr>
          <a:xfrm>
            <a:off x="330743" y="7620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176CBA-BBD2-3A30-5491-FC1489710928}"/>
              </a:ext>
            </a:extLst>
          </p:cNvPr>
          <p:cNvSpPr txBox="1"/>
          <p:nvPr/>
        </p:nvSpPr>
        <p:spPr>
          <a:xfrm>
            <a:off x="403225" y="393017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精度条件：</a:t>
            </a:r>
          </a:p>
        </p:txBody>
      </p:sp>
    </p:spTree>
    <p:extLst>
      <p:ext uri="{BB962C8B-B14F-4D97-AF65-F5344CB8AC3E}">
        <p14:creationId xmlns:p14="http://schemas.microsoft.com/office/powerpoint/2010/main" val="241936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50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0" dur="500"/>
                                        <p:tgtEl>
                                          <p:spTgt spid="450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450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0" dur="500"/>
                                        <p:tgtEl>
                                          <p:spTgt spid="4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50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5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6" grpId="0" animBg="1"/>
      <p:bldP spid="45069" grpId="0" autoUpdateAnimBg="0"/>
      <p:bldP spid="45070" grpId="0" autoUpdateAnimBg="0"/>
      <p:bldP spid="45074" grpId="0" autoUpdateAnimBg="0"/>
      <p:bldP spid="45075" grpId="0" autoUpdateAnimBg="0"/>
      <p:bldP spid="45076" grpId="0" animBg="1" autoUpdateAnimBg="0"/>
      <p:bldP spid="45081" grpId="0" animBg="1" autoUpdateAnimBg="0"/>
      <p:bldP spid="45088" grpId="0" autoUpdateAnimBg="0"/>
      <p:bldP spid="45090" grpId="0" autoUpdateAnimBg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6553200" y="0"/>
            <a:ext cx="2590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kumimoji="1" lang="en-US" altLang="zh-CN" sz="1800" b="1">
                <a:cs typeface="宋体" charset="0"/>
              </a:rPr>
              <a:t>§2  Bisection Method</a:t>
            </a:r>
            <a:endParaRPr kumimoji="1" lang="en-US" altLang="zh-CN" sz="2000" b="1">
              <a:solidFill>
                <a:schemeClr val="tx2"/>
              </a:solidFill>
              <a:cs typeface="楷体_GB2312" charset="0"/>
            </a:endParaRPr>
          </a:p>
        </p:txBody>
      </p:sp>
      <p:grpSp>
        <p:nvGrpSpPr>
          <p:cNvPr id="46085" name="Group 5"/>
          <p:cNvGrpSpPr>
            <a:grpSpLocks/>
          </p:cNvGrpSpPr>
          <p:nvPr/>
        </p:nvGrpSpPr>
        <p:grpSpPr bwMode="auto">
          <a:xfrm>
            <a:off x="609600" y="228600"/>
            <a:ext cx="1905000" cy="1371600"/>
            <a:chOff x="480" y="384"/>
            <a:chExt cx="1200" cy="864"/>
          </a:xfrm>
        </p:grpSpPr>
        <p:sp>
          <p:nvSpPr>
            <p:cNvPr id="46083" name="Text Box 3"/>
            <p:cNvSpPr txBox="1">
              <a:spLocks noChangeArrowheads="1"/>
            </p:cNvSpPr>
            <p:nvPr/>
          </p:nvSpPr>
          <p:spPr bwMode="auto">
            <a:xfrm>
              <a:off x="480" y="480"/>
              <a:ext cx="12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zh-CN" altLang="en-US" sz="2400" b="1" dirty="0">
                  <a:solidFill>
                    <a:schemeClr val="accent2"/>
                  </a:solidFill>
                  <a:cs typeface="楷体_GB2312" charset="0"/>
                </a:rPr>
                <a:t>误差</a:t>
              </a:r>
              <a:r>
                <a:rPr kumimoji="1" lang="en-US" altLang="zh-CN" sz="2400" b="1" dirty="0">
                  <a:cs typeface="楷体_GB2312" charset="0"/>
                </a:rPr>
                <a:t>   </a:t>
              </a:r>
              <a:r>
                <a:rPr kumimoji="1" lang="zh-CN" altLang="en-US" sz="2400" b="1" dirty="0">
                  <a:cs typeface="楷体_GB2312" charset="0"/>
                </a:rPr>
                <a:t>分析：</a:t>
              </a:r>
              <a:endParaRPr kumimoji="1" lang="en-US" altLang="zh-CN" sz="2400" b="1" dirty="0">
                <a:cs typeface="楷体_GB2312" charset="0"/>
              </a:endParaRPr>
            </a:p>
          </p:txBody>
        </p:sp>
        <p:pic>
          <p:nvPicPr>
            <p:cNvPr id="7214" name="Picture 4" descr="MAGNIFY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384"/>
              <a:ext cx="628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6090" name="Group 10"/>
          <p:cNvGrpSpPr>
            <a:grpSpLocks/>
          </p:cNvGrpSpPr>
          <p:nvPr/>
        </p:nvGrpSpPr>
        <p:grpSpPr bwMode="auto">
          <a:xfrm>
            <a:off x="1828800" y="685800"/>
            <a:ext cx="5400675" cy="665163"/>
            <a:chOff x="1200" y="816"/>
            <a:chExt cx="3402" cy="419"/>
          </a:xfrm>
        </p:grpSpPr>
        <p:sp>
          <p:nvSpPr>
            <p:cNvPr id="46086" name="Text Box 6"/>
            <p:cNvSpPr txBox="1">
              <a:spLocks noChangeArrowheads="1"/>
            </p:cNvSpPr>
            <p:nvPr/>
          </p:nvSpPr>
          <p:spPr bwMode="auto">
            <a:xfrm>
              <a:off x="1200" y="912"/>
              <a:ext cx="12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zh-CN" altLang="en-US" sz="2400" b="1" dirty="0">
                  <a:cs typeface="楷体_GB2312" charset="0"/>
                </a:rPr>
                <a:t>第</a:t>
              </a:r>
              <a:r>
                <a:rPr kumimoji="1" lang="en-US" altLang="zh-CN" sz="2400" b="1" dirty="0">
                  <a:cs typeface="楷体_GB2312" charset="0"/>
                </a:rPr>
                <a:t>1</a:t>
              </a:r>
              <a:r>
                <a:rPr kumimoji="1" lang="zh-CN" altLang="en-US" sz="2400" b="1" dirty="0">
                  <a:cs typeface="楷体_GB2312" charset="0"/>
                </a:rPr>
                <a:t>步产生的</a:t>
              </a:r>
              <a:endParaRPr kumimoji="1" lang="en-US" altLang="zh-CN" sz="2400" b="1" dirty="0">
                <a:cs typeface="楷体_GB2312" charset="0"/>
              </a:endParaRPr>
            </a:p>
          </p:txBody>
        </p:sp>
        <p:graphicFrame>
          <p:nvGraphicFramePr>
            <p:cNvPr id="7210" name="Object 7"/>
            <p:cNvGraphicFramePr>
              <a:graphicFrameLocks noChangeAspect="1"/>
            </p:cNvGraphicFramePr>
            <p:nvPr/>
          </p:nvGraphicFramePr>
          <p:xfrm>
            <a:off x="2352" y="816"/>
            <a:ext cx="617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Equation" r:id="rId9" imgW="672808" imgH="393529" progId="Equation.3">
                    <p:embed/>
                  </p:oleObj>
                </mc:Choice>
                <mc:Fallback>
                  <p:oleObj name="Equation" r:id="rId9" imgW="672808" imgH="393529" progId="Equation.3">
                    <p:embed/>
                    <p:pic>
                      <p:nvPicPr>
                        <p:cNvPr id="721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816"/>
                          <a:ext cx="617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88" name="Text Box 8"/>
            <p:cNvSpPr txBox="1">
              <a:spLocks noChangeArrowheads="1"/>
            </p:cNvSpPr>
            <p:nvPr/>
          </p:nvSpPr>
          <p:spPr bwMode="auto">
            <a:xfrm>
              <a:off x="2976" y="912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zh-CN" altLang="en-US" sz="2400" b="1" dirty="0">
                  <a:cs typeface="楷体_GB2312" charset="0"/>
                </a:rPr>
                <a:t>有误差</a:t>
              </a:r>
              <a:endParaRPr kumimoji="1" lang="en-US" altLang="zh-CN" sz="2400" b="1" dirty="0">
                <a:cs typeface="宋体" charset="0"/>
              </a:endParaRPr>
            </a:p>
          </p:txBody>
        </p:sp>
        <p:graphicFrame>
          <p:nvGraphicFramePr>
            <p:cNvPr id="7212" name="Object 9"/>
            <p:cNvGraphicFramePr>
              <a:graphicFrameLocks noChangeAspect="1"/>
            </p:cNvGraphicFramePr>
            <p:nvPr/>
          </p:nvGraphicFramePr>
          <p:xfrm>
            <a:off x="3648" y="816"/>
            <a:ext cx="954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" name="Equation" r:id="rId11" imgW="1002865" imgH="393529" progId="Equation.3">
                    <p:embed/>
                  </p:oleObj>
                </mc:Choice>
                <mc:Fallback>
                  <p:oleObj name="Equation" r:id="rId11" imgW="1002865" imgH="393529" progId="Equation.3">
                    <p:embed/>
                    <p:pic>
                      <p:nvPicPr>
                        <p:cNvPr id="7212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816"/>
                          <a:ext cx="954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091" name="Text Box 11"/>
          <p:cNvSpPr txBox="1">
            <a:spLocks noChangeArrowheads="1"/>
          </p:cNvSpPr>
          <p:nvPr/>
        </p:nvSpPr>
        <p:spPr bwMode="auto">
          <a:xfrm>
            <a:off x="1828800" y="1447800"/>
            <a:ext cx="342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400" b="1" dirty="0">
                <a:cs typeface="楷体_GB2312" charset="0"/>
              </a:rPr>
              <a:t>第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en-US" altLang="zh-CN" sz="2400" b="1" i="1" dirty="0">
                <a:cs typeface="楷体_GB2312" charset="0"/>
              </a:rPr>
              <a:t>k </a:t>
            </a:r>
            <a:r>
              <a:rPr kumimoji="1" lang="zh-CN" altLang="en-US" sz="2400" b="1" dirty="0">
                <a:cs typeface="楷体_GB2312" charset="0"/>
              </a:rPr>
              <a:t>步产生的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en-US" altLang="zh-CN" sz="2400" b="1" i="1" dirty="0" err="1">
                <a:cs typeface="楷体_GB2312" charset="0"/>
              </a:rPr>
              <a:t>x</a:t>
            </a:r>
            <a:r>
              <a:rPr kumimoji="1" lang="en-US" altLang="zh-CN" sz="2400" b="1" i="1" baseline="-25000" dirty="0" err="1">
                <a:cs typeface="楷体_GB2312" charset="0"/>
              </a:rPr>
              <a:t>k</a:t>
            </a:r>
            <a:r>
              <a:rPr kumimoji="1" lang="en-US" altLang="zh-CN" sz="2400" b="1" i="1" baseline="-25000" dirty="0">
                <a:cs typeface="楷体_GB2312" charset="0"/>
              </a:rPr>
              <a:t> </a:t>
            </a:r>
            <a:r>
              <a:rPr kumimoji="1" lang="en-US" altLang="zh-CN" sz="2400" b="1" i="1" dirty="0">
                <a:cs typeface="楷体_GB2312" charset="0"/>
              </a:rPr>
              <a:t> </a:t>
            </a:r>
            <a:r>
              <a:rPr kumimoji="1" lang="zh-CN" altLang="en-US" sz="2400" b="1" dirty="0">
                <a:cs typeface="楷体_GB2312" charset="0"/>
              </a:rPr>
              <a:t>有误差</a:t>
            </a:r>
            <a:endParaRPr kumimoji="1" lang="en-US" altLang="zh-CN" sz="2400" b="1" dirty="0">
              <a:cs typeface="楷体_GB2312" charset="0"/>
            </a:endParaRPr>
          </a:p>
        </p:txBody>
      </p:sp>
      <p:graphicFrame>
        <p:nvGraphicFramePr>
          <p:cNvPr id="46092" name="Object 12"/>
          <p:cNvGraphicFramePr>
            <a:graphicFrameLocks noChangeAspect="1"/>
          </p:cNvGraphicFramePr>
          <p:nvPr/>
        </p:nvGraphicFramePr>
        <p:xfrm>
          <a:off x="5181600" y="1295400"/>
          <a:ext cx="180181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13" imgW="1016000" imgH="393700" progId="Equation.3">
                  <p:embed/>
                </p:oleObj>
              </mc:Choice>
              <mc:Fallback>
                <p:oleObj name="Equation" r:id="rId13" imgW="1016000" imgH="393700" progId="Equation.3">
                  <p:embed/>
                  <p:pic>
                    <p:nvPicPr>
                      <p:cNvPr id="4609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295400"/>
                        <a:ext cx="1801813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3" name="Text Box 13"/>
          <p:cNvSpPr txBox="1">
            <a:spLocks noChangeArrowheads="1"/>
          </p:cNvSpPr>
          <p:nvPr/>
        </p:nvSpPr>
        <p:spPr bwMode="auto">
          <a:xfrm>
            <a:off x="609600" y="19050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400" b="1" dirty="0">
                <a:cs typeface="楷体_GB2312" charset="0"/>
              </a:rPr>
              <a:t>对于给定的精度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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 ,</a:t>
            </a:r>
            <a:r>
              <a:rPr kumimoji="1" lang="zh-CN" altLang="en-US" sz="2400" b="1" dirty="0">
                <a:cs typeface="楷体_GB2312" charset="0"/>
              </a:rPr>
              <a:t>可估计二分法所需的步数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en-US" altLang="zh-CN" sz="2400" b="1" i="1" dirty="0">
                <a:cs typeface="楷体_GB2312" charset="0"/>
              </a:rPr>
              <a:t>k </a:t>
            </a:r>
            <a:r>
              <a:rPr kumimoji="1" lang="zh-CN" altLang="en-US" sz="2400" b="1" dirty="0">
                <a:cs typeface="楷体_GB2312" charset="0"/>
              </a:rPr>
              <a:t>：</a:t>
            </a:r>
            <a:endParaRPr kumimoji="1" lang="en-US" altLang="zh-CN" sz="2400" b="1" i="1" dirty="0">
              <a:cs typeface="楷体_GB2312" charset="0"/>
            </a:endParaRPr>
          </a:p>
        </p:txBody>
      </p:sp>
      <p:graphicFrame>
        <p:nvGraphicFramePr>
          <p:cNvPr id="46094" name="Object 14"/>
          <p:cNvGraphicFramePr>
            <a:graphicFrameLocks noChangeAspect="1"/>
          </p:cNvGraphicFramePr>
          <p:nvPr/>
        </p:nvGraphicFramePr>
        <p:xfrm>
          <a:off x="1676400" y="2362200"/>
          <a:ext cx="514032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15" imgW="2273300" imgH="393700" progId="Equation.3">
                  <p:embed/>
                </p:oleObj>
              </mc:Choice>
              <mc:Fallback>
                <p:oleObj name="Equation" r:id="rId15" imgW="2273300" imgH="393700" progId="Equation.3">
                  <p:embed/>
                  <p:pic>
                    <p:nvPicPr>
                      <p:cNvPr id="4609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362200"/>
                        <a:ext cx="5140325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110" name="Group 30"/>
          <p:cNvGrpSpPr>
            <a:grpSpLocks/>
          </p:cNvGrpSpPr>
          <p:nvPr/>
        </p:nvGrpSpPr>
        <p:grpSpPr bwMode="auto">
          <a:xfrm flipV="1">
            <a:off x="762000" y="2895600"/>
            <a:ext cx="685800" cy="838200"/>
            <a:chOff x="2355" y="3183"/>
            <a:chExt cx="649" cy="841"/>
          </a:xfrm>
        </p:grpSpPr>
        <p:sp>
          <p:nvSpPr>
            <p:cNvPr id="7195" name="Freeform 16"/>
            <p:cNvSpPr>
              <a:spLocks/>
            </p:cNvSpPr>
            <p:nvPr/>
          </p:nvSpPr>
          <p:spPr bwMode="auto">
            <a:xfrm>
              <a:off x="2355" y="3183"/>
              <a:ext cx="649" cy="841"/>
            </a:xfrm>
            <a:custGeom>
              <a:avLst/>
              <a:gdLst>
                <a:gd name="T0" fmla="*/ 150 w 649"/>
                <a:gd name="T1" fmla="*/ 6 h 841"/>
                <a:gd name="T2" fmla="*/ 204 w 649"/>
                <a:gd name="T3" fmla="*/ 6 h 841"/>
                <a:gd name="T4" fmla="*/ 282 w 649"/>
                <a:gd name="T5" fmla="*/ 18 h 841"/>
                <a:gd name="T6" fmla="*/ 385 w 649"/>
                <a:gd name="T7" fmla="*/ 54 h 841"/>
                <a:gd name="T8" fmla="*/ 529 w 649"/>
                <a:gd name="T9" fmla="*/ 114 h 841"/>
                <a:gd name="T10" fmla="*/ 565 w 649"/>
                <a:gd name="T11" fmla="*/ 144 h 841"/>
                <a:gd name="T12" fmla="*/ 619 w 649"/>
                <a:gd name="T13" fmla="*/ 240 h 841"/>
                <a:gd name="T14" fmla="*/ 649 w 649"/>
                <a:gd name="T15" fmla="*/ 300 h 841"/>
                <a:gd name="T16" fmla="*/ 619 w 649"/>
                <a:gd name="T17" fmla="*/ 342 h 841"/>
                <a:gd name="T18" fmla="*/ 619 w 649"/>
                <a:gd name="T19" fmla="*/ 372 h 841"/>
                <a:gd name="T20" fmla="*/ 643 w 649"/>
                <a:gd name="T21" fmla="*/ 420 h 841"/>
                <a:gd name="T22" fmla="*/ 637 w 649"/>
                <a:gd name="T23" fmla="*/ 462 h 841"/>
                <a:gd name="T24" fmla="*/ 595 w 649"/>
                <a:gd name="T25" fmla="*/ 492 h 841"/>
                <a:gd name="T26" fmla="*/ 607 w 649"/>
                <a:gd name="T27" fmla="*/ 528 h 841"/>
                <a:gd name="T28" fmla="*/ 589 w 649"/>
                <a:gd name="T29" fmla="*/ 577 h 841"/>
                <a:gd name="T30" fmla="*/ 529 w 649"/>
                <a:gd name="T31" fmla="*/ 595 h 841"/>
                <a:gd name="T32" fmla="*/ 505 w 649"/>
                <a:gd name="T33" fmla="*/ 631 h 841"/>
                <a:gd name="T34" fmla="*/ 457 w 649"/>
                <a:gd name="T35" fmla="*/ 649 h 841"/>
                <a:gd name="T36" fmla="*/ 360 w 649"/>
                <a:gd name="T37" fmla="*/ 655 h 841"/>
                <a:gd name="T38" fmla="*/ 300 w 649"/>
                <a:gd name="T39" fmla="*/ 637 h 841"/>
                <a:gd name="T40" fmla="*/ 258 w 649"/>
                <a:gd name="T41" fmla="*/ 589 h 841"/>
                <a:gd name="T42" fmla="*/ 222 w 649"/>
                <a:gd name="T43" fmla="*/ 528 h 841"/>
                <a:gd name="T44" fmla="*/ 240 w 649"/>
                <a:gd name="T45" fmla="*/ 504 h 841"/>
                <a:gd name="T46" fmla="*/ 276 w 649"/>
                <a:gd name="T47" fmla="*/ 498 h 841"/>
                <a:gd name="T48" fmla="*/ 306 w 649"/>
                <a:gd name="T49" fmla="*/ 522 h 841"/>
                <a:gd name="T50" fmla="*/ 282 w 649"/>
                <a:gd name="T51" fmla="*/ 498 h 841"/>
                <a:gd name="T52" fmla="*/ 270 w 649"/>
                <a:gd name="T53" fmla="*/ 492 h 841"/>
                <a:gd name="T54" fmla="*/ 246 w 649"/>
                <a:gd name="T55" fmla="*/ 474 h 841"/>
                <a:gd name="T56" fmla="*/ 204 w 649"/>
                <a:gd name="T57" fmla="*/ 486 h 841"/>
                <a:gd name="T58" fmla="*/ 198 w 649"/>
                <a:gd name="T59" fmla="*/ 516 h 841"/>
                <a:gd name="T60" fmla="*/ 204 w 649"/>
                <a:gd name="T61" fmla="*/ 607 h 841"/>
                <a:gd name="T62" fmla="*/ 228 w 649"/>
                <a:gd name="T63" fmla="*/ 703 h 841"/>
                <a:gd name="T64" fmla="*/ 228 w 649"/>
                <a:gd name="T65" fmla="*/ 793 h 841"/>
                <a:gd name="T66" fmla="*/ 204 w 649"/>
                <a:gd name="T67" fmla="*/ 829 h 841"/>
                <a:gd name="T68" fmla="*/ 150 w 649"/>
                <a:gd name="T69" fmla="*/ 835 h 841"/>
                <a:gd name="T70" fmla="*/ 132 w 649"/>
                <a:gd name="T71" fmla="*/ 775 h 841"/>
                <a:gd name="T72" fmla="*/ 108 w 649"/>
                <a:gd name="T73" fmla="*/ 709 h 841"/>
                <a:gd name="T74" fmla="*/ 96 w 649"/>
                <a:gd name="T75" fmla="*/ 685 h 841"/>
                <a:gd name="T76" fmla="*/ 84 w 649"/>
                <a:gd name="T77" fmla="*/ 655 h 841"/>
                <a:gd name="T78" fmla="*/ 48 w 649"/>
                <a:gd name="T79" fmla="*/ 522 h 841"/>
                <a:gd name="T80" fmla="*/ 18 w 649"/>
                <a:gd name="T81" fmla="*/ 366 h 841"/>
                <a:gd name="T82" fmla="*/ 0 w 649"/>
                <a:gd name="T83" fmla="*/ 270 h 84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649" h="841">
                  <a:moveTo>
                    <a:pt x="108" y="0"/>
                  </a:moveTo>
                  <a:lnTo>
                    <a:pt x="132" y="6"/>
                  </a:lnTo>
                  <a:lnTo>
                    <a:pt x="150" y="6"/>
                  </a:lnTo>
                  <a:lnTo>
                    <a:pt x="168" y="12"/>
                  </a:lnTo>
                  <a:lnTo>
                    <a:pt x="180" y="12"/>
                  </a:lnTo>
                  <a:lnTo>
                    <a:pt x="204" y="6"/>
                  </a:lnTo>
                  <a:lnTo>
                    <a:pt x="228" y="6"/>
                  </a:lnTo>
                  <a:lnTo>
                    <a:pt x="252" y="12"/>
                  </a:lnTo>
                  <a:lnTo>
                    <a:pt x="282" y="18"/>
                  </a:lnTo>
                  <a:lnTo>
                    <a:pt x="312" y="24"/>
                  </a:lnTo>
                  <a:lnTo>
                    <a:pt x="342" y="36"/>
                  </a:lnTo>
                  <a:lnTo>
                    <a:pt x="385" y="54"/>
                  </a:lnTo>
                  <a:lnTo>
                    <a:pt x="427" y="72"/>
                  </a:lnTo>
                  <a:lnTo>
                    <a:pt x="481" y="96"/>
                  </a:lnTo>
                  <a:lnTo>
                    <a:pt x="529" y="114"/>
                  </a:lnTo>
                  <a:lnTo>
                    <a:pt x="547" y="120"/>
                  </a:lnTo>
                  <a:lnTo>
                    <a:pt x="559" y="132"/>
                  </a:lnTo>
                  <a:lnTo>
                    <a:pt x="565" y="144"/>
                  </a:lnTo>
                  <a:lnTo>
                    <a:pt x="577" y="162"/>
                  </a:lnTo>
                  <a:lnTo>
                    <a:pt x="595" y="192"/>
                  </a:lnTo>
                  <a:lnTo>
                    <a:pt x="619" y="240"/>
                  </a:lnTo>
                  <a:lnTo>
                    <a:pt x="637" y="264"/>
                  </a:lnTo>
                  <a:lnTo>
                    <a:pt x="643" y="288"/>
                  </a:lnTo>
                  <a:lnTo>
                    <a:pt x="649" y="300"/>
                  </a:lnTo>
                  <a:lnTo>
                    <a:pt x="643" y="318"/>
                  </a:lnTo>
                  <a:lnTo>
                    <a:pt x="631" y="336"/>
                  </a:lnTo>
                  <a:lnTo>
                    <a:pt x="619" y="342"/>
                  </a:lnTo>
                  <a:lnTo>
                    <a:pt x="613" y="348"/>
                  </a:lnTo>
                  <a:lnTo>
                    <a:pt x="613" y="360"/>
                  </a:lnTo>
                  <a:lnTo>
                    <a:pt x="619" y="372"/>
                  </a:lnTo>
                  <a:lnTo>
                    <a:pt x="625" y="384"/>
                  </a:lnTo>
                  <a:lnTo>
                    <a:pt x="637" y="402"/>
                  </a:lnTo>
                  <a:lnTo>
                    <a:pt x="643" y="420"/>
                  </a:lnTo>
                  <a:lnTo>
                    <a:pt x="643" y="432"/>
                  </a:lnTo>
                  <a:lnTo>
                    <a:pt x="643" y="450"/>
                  </a:lnTo>
                  <a:lnTo>
                    <a:pt x="637" y="462"/>
                  </a:lnTo>
                  <a:lnTo>
                    <a:pt x="625" y="474"/>
                  </a:lnTo>
                  <a:lnTo>
                    <a:pt x="607" y="486"/>
                  </a:lnTo>
                  <a:lnTo>
                    <a:pt x="595" y="492"/>
                  </a:lnTo>
                  <a:lnTo>
                    <a:pt x="595" y="504"/>
                  </a:lnTo>
                  <a:lnTo>
                    <a:pt x="601" y="516"/>
                  </a:lnTo>
                  <a:lnTo>
                    <a:pt x="607" y="528"/>
                  </a:lnTo>
                  <a:lnTo>
                    <a:pt x="601" y="546"/>
                  </a:lnTo>
                  <a:lnTo>
                    <a:pt x="601" y="565"/>
                  </a:lnTo>
                  <a:lnTo>
                    <a:pt x="589" y="577"/>
                  </a:lnTo>
                  <a:lnTo>
                    <a:pt x="577" y="583"/>
                  </a:lnTo>
                  <a:lnTo>
                    <a:pt x="553" y="589"/>
                  </a:lnTo>
                  <a:lnTo>
                    <a:pt x="529" y="595"/>
                  </a:lnTo>
                  <a:lnTo>
                    <a:pt x="517" y="595"/>
                  </a:lnTo>
                  <a:lnTo>
                    <a:pt x="511" y="619"/>
                  </a:lnTo>
                  <a:lnTo>
                    <a:pt x="505" y="631"/>
                  </a:lnTo>
                  <a:lnTo>
                    <a:pt x="493" y="643"/>
                  </a:lnTo>
                  <a:lnTo>
                    <a:pt x="475" y="649"/>
                  </a:lnTo>
                  <a:lnTo>
                    <a:pt x="457" y="649"/>
                  </a:lnTo>
                  <a:lnTo>
                    <a:pt x="433" y="649"/>
                  </a:lnTo>
                  <a:lnTo>
                    <a:pt x="403" y="655"/>
                  </a:lnTo>
                  <a:lnTo>
                    <a:pt x="360" y="655"/>
                  </a:lnTo>
                  <a:lnTo>
                    <a:pt x="342" y="655"/>
                  </a:lnTo>
                  <a:lnTo>
                    <a:pt x="324" y="649"/>
                  </a:lnTo>
                  <a:lnTo>
                    <a:pt x="300" y="637"/>
                  </a:lnTo>
                  <a:lnTo>
                    <a:pt x="282" y="625"/>
                  </a:lnTo>
                  <a:lnTo>
                    <a:pt x="270" y="607"/>
                  </a:lnTo>
                  <a:lnTo>
                    <a:pt x="258" y="589"/>
                  </a:lnTo>
                  <a:lnTo>
                    <a:pt x="240" y="565"/>
                  </a:lnTo>
                  <a:lnTo>
                    <a:pt x="228" y="540"/>
                  </a:lnTo>
                  <a:lnTo>
                    <a:pt x="222" y="528"/>
                  </a:lnTo>
                  <a:lnTo>
                    <a:pt x="228" y="522"/>
                  </a:lnTo>
                  <a:lnTo>
                    <a:pt x="234" y="510"/>
                  </a:lnTo>
                  <a:lnTo>
                    <a:pt x="240" y="504"/>
                  </a:lnTo>
                  <a:lnTo>
                    <a:pt x="252" y="498"/>
                  </a:lnTo>
                  <a:lnTo>
                    <a:pt x="264" y="498"/>
                  </a:lnTo>
                  <a:lnTo>
                    <a:pt x="276" y="498"/>
                  </a:lnTo>
                  <a:lnTo>
                    <a:pt x="288" y="510"/>
                  </a:lnTo>
                  <a:lnTo>
                    <a:pt x="300" y="516"/>
                  </a:lnTo>
                  <a:lnTo>
                    <a:pt x="306" y="522"/>
                  </a:lnTo>
                  <a:lnTo>
                    <a:pt x="318" y="528"/>
                  </a:lnTo>
                  <a:lnTo>
                    <a:pt x="306" y="516"/>
                  </a:lnTo>
                  <a:lnTo>
                    <a:pt x="282" y="498"/>
                  </a:lnTo>
                  <a:lnTo>
                    <a:pt x="288" y="492"/>
                  </a:lnTo>
                  <a:lnTo>
                    <a:pt x="282" y="492"/>
                  </a:lnTo>
                  <a:lnTo>
                    <a:pt x="270" y="492"/>
                  </a:lnTo>
                  <a:lnTo>
                    <a:pt x="264" y="486"/>
                  </a:lnTo>
                  <a:lnTo>
                    <a:pt x="252" y="480"/>
                  </a:lnTo>
                  <a:lnTo>
                    <a:pt x="246" y="474"/>
                  </a:lnTo>
                  <a:lnTo>
                    <a:pt x="228" y="474"/>
                  </a:lnTo>
                  <a:lnTo>
                    <a:pt x="216" y="474"/>
                  </a:lnTo>
                  <a:lnTo>
                    <a:pt x="204" y="486"/>
                  </a:lnTo>
                  <a:lnTo>
                    <a:pt x="198" y="492"/>
                  </a:lnTo>
                  <a:lnTo>
                    <a:pt x="198" y="504"/>
                  </a:lnTo>
                  <a:lnTo>
                    <a:pt x="198" y="516"/>
                  </a:lnTo>
                  <a:lnTo>
                    <a:pt x="198" y="546"/>
                  </a:lnTo>
                  <a:lnTo>
                    <a:pt x="198" y="577"/>
                  </a:lnTo>
                  <a:lnTo>
                    <a:pt x="204" y="607"/>
                  </a:lnTo>
                  <a:lnTo>
                    <a:pt x="204" y="637"/>
                  </a:lnTo>
                  <a:lnTo>
                    <a:pt x="216" y="679"/>
                  </a:lnTo>
                  <a:lnTo>
                    <a:pt x="228" y="703"/>
                  </a:lnTo>
                  <a:lnTo>
                    <a:pt x="234" y="721"/>
                  </a:lnTo>
                  <a:lnTo>
                    <a:pt x="234" y="763"/>
                  </a:lnTo>
                  <a:lnTo>
                    <a:pt x="228" y="793"/>
                  </a:lnTo>
                  <a:lnTo>
                    <a:pt x="222" y="811"/>
                  </a:lnTo>
                  <a:lnTo>
                    <a:pt x="216" y="823"/>
                  </a:lnTo>
                  <a:lnTo>
                    <a:pt x="204" y="829"/>
                  </a:lnTo>
                  <a:lnTo>
                    <a:pt x="186" y="835"/>
                  </a:lnTo>
                  <a:lnTo>
                    <a:pt x="168" y="841"/>
                  </a:lnTo>
                  <a:lnTo>
                    <a:pt x="150" y="835"/>
                  </a:lnTo>
                  <a:lnTo>
                    <a:pt x="144" y="829"/>
                  </a:lnTo>
                  <a:lnTo>
                    <a:pt x="138" y="787"/>
                  </a:lnTo>
                  <a:lnTo>
                    <a:pt x="132" y="775"/>
                  </a:lnTo>
                  <a:lnTo>
                    <a:pt x="132" y="769"/>
                  </a:lnTo>
                  <a:lnTo>
                    <a:pt x="126" y="745"/>
                  </a:lnTo>
                  <a:lnTo>
                    <a:pt x="108" y="709"/>
                  </a:lnTo>
                  <a:lnTo>
                    <a:pt x="102" y="697"/>
                  </a:lnTo>
                  <a:lnTo>
                    <a:pt x="102" y="685"/>
                  </a:lnTo>
                  <a:lnTo>
                    <a:pt x="96" y="685"/>
                  </a:lnTo>
                  <a:lnTo>
                    <a:pt x="96" y="679"/>
                  </a:lnTo>
                  <a:lnTo>
                    <a:pt x="96" y="673"/>
                  </a:lnTo>
                  <a:lnTo>
                    <a:pt x="84" y="655"/>
                  </a:lnTo>
                  <a:lnTo>
                    <a:pt x="78" y="613"/>
                  </a:lnTo>
                  <a:lnTo>
                    <a:pt x="60" y="571"/>
                  </a:lnTo>
                  <a:lnTo>
                    <a:pt x="48" y="522"/>
                  </a:lnTo>
                  <a:lnTo>
                    <a:pt x="30" y="468"/>
                  </a:lnTo>
                  <a:lnTo>
                    <a:pt x="24" y="426"/>
                  </a:lnTo>
                  <a:lnTo>
                    <a:pt x="18" y="366"/>
                  </a:lnTo>
                  <a:lnTo>
                    <a:pt x="18" y="306"/>
                  </a:lnTo>
                  <a:lnTo>
                    <a:pt x="18" y="300"/>
                  </a:lnTo>
                  <a:lnTo>
                    <a:pt x="0" y="270"/>
                  </a:lnTo>
                  <a:lnTo>
                    <a:pt x="72" y="204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FFBD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6" name="Freeform 17"/>
            <p:cNvSpPr>
              <a:spLocks/>
            </p:cNvSpPr>
            <p:nvPr/>
          </p:nvSpPr>
          <p:spPr bwMode="auto">
            <a:xfrm>
              <a:off x="2457" y="3183"/>
              <a:ext cx="445" cy="132"/>
            </a:xfrm>
            <a:custGeom>
              <a:avLst/>
              <a:gdLst>
                <a:gd name="T0" fmla="*/ 24 w 445"/>
                <a:gd name="T1" fmla="*/ 0 h 132"/>
                <a:gd name="T2" fmla="*/ 42 w 445"/>
                <a:gd name="T3" fmla="*/ 6 h 132"/>
                <a:gd name="T4" fmla="*/ 60 w 445"/>
                <a:gd name="T5" fmla="*/ 6 h 132"/>
                <a:gd name="T6" fmla="*/ 72 w 445"/>
                <a:gd name="T7" fmla="*/ 12 h 132"/>
                <a:gd name="T8" fmla="*/ 90 w 445"/>
                <a:gd name="T9" fmla="*/ 6 h 132"/>
                <a:gd name="T10" fmla="*/ 102 w 445"/>
                <a:gd name="T11" fmla="*/ 6 h 132"/>
                <a:gd name="T12" fmla="*/ 120 w 445"/>
                <a:gd name="T13" fmla="*/ 6 h 132"/>
                <a:gd name="T14" fmla="*/ 144 w 445"/>
                <a:gd name="T15" fmla="*/ 6 h 132"/>
                <a:gd name="T16" fmla="*/ 174 w 445"/>
                <a:gd name="T17" fmla="*/ 18 h 132"/>
                <a:gd name="T18" fmla="*/ 210 w 445"/>
                <a:gd name="T19" fmla="*/ 24 h 132"/>
                <a:gd name="T20" fmla="*/ 246 w 445"/>
                <a:gd name="T21" fmla="*/ 36 h 132"/>
                <a:gd name="T22" fmla="*/ 289 w 445"/>
                <a:gd name="T23" fmla="*/ 54 h 132"/>
                <a:gd name="T24" fmla="*/ 337 w 445"/>
                <a:gd name="T25" fmla="*/ 72 h 132"/>
                <a:gd name="T26" fmla="*/ 379 w 445"/>
                <a:gd name="T27" fmla="*/ 96 h 132"/>
                <a:gd name="T28" fmla="*/ 409 w 445"/>
                <a:gd name="T29" fmla="*/ 108 h 132"/>
                <a:gd name="T30" fmla="*/ 427 w 445"/>
                <a:gd name="T31" fmla="*/ 114 h 132"/>
                <a:gd name="T32" fmla="*/ 445 w 445"/>
                <a:gd name="T33" fmla="*/ 126 h 132"/>
                <a:gd name="T34" fmla="*/ 433 w 445"/>
                <a:gd name="T35" fmla="*/ 120 h 132"/>
                <a:gd name="T36" fmla="*/ 421 w 445"/>
                <a:gd name="T37" fmla="*/ 120 h 132"/>
                <a:gd name="T38" fmla="*/ 409 w 445"/>
                <a:gd name="T39" fmla="*/ 126 h 132"/>
                <a:gd name="T40" fmla="*/ 403 w 445"/>
                <a:gd name="T41" fmla="*/ 126 h 132"/>
                <a:gd name="T42" fmla="*/ 385 w 445"/>
                <a:gd name="T43" fmla="*/ 120 h 132"/>
                <a:gd name="T44" fmla="*/ 367 w 445"/>
                <a:gd name="T45" fmla="*/ 108 h 132"/>
                <a:gd name="T46" fmla="*/ 349 w 445"/>
                <a:gd name="T47" fmla="*/ 96 h 132"/>
                <a:gd name="T48" fmla="*/ 325 w 445"/>
                <a:gd name="T49" fmla="*/ 84 h 132"/>
                <a:gd name="T50" fmla="*/ 301 w 445"/>
                <a:gd name="T51" fmla="*/ 72 h 132"/>
                <a:gd name="T52" fmla="*/ 271 w 445"/>
                <a:gd name="T53" fmla="*/ 60 h 132"/>
                <a:gd name="T54" fmla="*/ 246 w 445"/>
                <a:gd name="T55" fmla="*/ 54 h 132"/>
                <a:gd name="T56" fmla="*/ 222 w 445"/>
                <a:gd name="T57" fmla="*/ 42 h 132"/>
                <a:gd name="T58" fmla="*/ 204 w 445"/>
                <a:gd name="T59" fmla="*/ 36 h 132"/>
                <a:gd name="T60" fmla="*/ 186 w 445"/>
                <a:gd name="T61" fmla="*/ 36 h 132"/>
                <a:gd name="T62" fmla="*/ 174 w 445"/>
                <a:gd name="T63" fmla="*/ 30 h 132"/>
                <a:gd name="T64" fmla="*/ 150 w 445"/>
                <a:gd name="T65" fmla="*/ 30 h 132"/>
                <a:gd name="T66" fmla="*/ 126 w 445"/>
                <a:gd name="T67" fmla="*/ 30 h 132"/>
                <a:gd name="T68" fmla="*/ 102 w 445"/>
                <a:gd name="T69" fmla="*/ 30 h 132"/>
                <a:gd name="T70" fmla="*/ 84 w 445"/>
                <a:gd name="T71" fmla="*/ 36 h 132"/>
                <a:gd name="T72" fmla="*/ 66 w 445"/>
                <a:gd name="T73" fmla="*/ 42 h 132"/>
                <a:gd name="T74" fmla="*/ 54 w 445"/>
                <a:gd name="T75" fmla="*/ 60 h 132"/>
                <a:gd name="T76" fmla="*/ 42 w 445"/>
                <a:gd name="T77" fmla="*/ 72 h 132"/>
                <a:gd name="T78" fmla="*/ 30 w 445"/>
                <a:gd name="T79" fmla="*/ 90 h 132"/>
                <a:gd name="T80" fmla="*/ 18 w 445"/>
                <a:gd name="T81" fmla="*/ 108 h 132"/>
                <a:gd name="T82" fmla="*/ 12 w 445"/>
                <a:gd name="T83" fmla="*/ 120 h 132"/>
                <a:gd name="T84" fmla="*/ 0 w 445"/>
                <a:gd name="T85" fmla="*/ 132 h 132"/>
                <a:gd name="T86" fmla="*/ 24 w 445"/>
                <a:gd name="T87" fmla="*/ 0 h 1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45" h="132">
                  <a:moveTo>
                    <a:pt x="24" y="0"/>
                  </a:moveTo>
                  <a:lnTo>
                    <a:pt x="42" y="6"/>
                  </a:lnTo>
                  <a:lnTo>
                    <a:pt x="60" y="6"/>
                  </a:lnTo>
                  <a:lnTo>
                    <a:pt x="72" y="12"/>
                  </a:lnTo>
                  <a:lnTo>
                    <a:pt x="90" y="6"/>
                  </a:lnTo>
                  <a:lnTo>
                    <a:pt x="102" y="6"/>
                  </a:lnTo>
                  <a:lnTo>
                    <a:pt x="120" y="6"/>
                  </a:lnTo>
                  <a:lnTo>
                    <a:pt x="144" y="6"/>
                  </a:lnTo>
                  <a:lnTo>
                    <a:pt x="174" y="18"/>
                  </a:lnTo>
                  <a:lnTo>
                    <a:pt x="210" y="24"/>
                  </a:lnTo>
                  <a:lnTo>
                    <a:pt x="246" y="36"/>
                  </a:lnTo>
                  <a:lnTo>
                    <a:pt x="289" y="54"/>
                  </a:lnTo>
                  <a:lnTo>
                    <a:pt x="337" y="72"/>
                  </a:lnTo>
                  <a:lnTo>
                    <a:pt x="379" y="96"/>
                  </a:lnTo>
                  <a:lnTo>
                    <a:pt x="409" y="108"/>
                  </a:lnTo>
                  <a:lnTo>
                    <a:pt x="427" y="114"/>
                  </a:lnTo>
                  <a:lnTo>
                    <a:pt x="445" y="126"/>
                  </a:lnTo>
                  <a:lnTo>
                    <a:pt x="433" y="120"/>
                  </a:lnTo>
                  <a:lnTo>
                    <a:pt x="421" y="120"/>
                  </a:lnTo>
                  <a:lnTo>
                    <a:pt x="409" y="126"/>
                  </a:lnTo>
                  <a:lnTo>
                    <a:pt x="403" y="126"/>
                  </a:lnTo>
                  <a:lnTo>
                    <a:pt x="385" y="120"/>
                  </a:lnTo>
                  <a:lnTo>
                    <a:pt x="367" y="108"/>
                  </a:lnTo>
                  <a:lnTo>
                    <a:pt x="349" y="96"/>
                  </a:lnTo>
                  <a:lnTo>
                    <a:pt x="325" y="84"/>
                  </a:lnTo>
                  <a:lnTo>
                    <a:pt x="301" y="72"/>
                  </a:lnTo>
                  <a:lnTo>
                    <a:pt x="271" y="60"/>
                  </a:lnTo>
                  <a:lnTo>
                    <a:pt x="246" y="54"/>
                  </a:lnTo>
                  <a:lnTo>
                    <a:pt x="222" y="42"/>
                  </a:lnTo>
                  <a:lnTo>
                    <a:pt x="204" y="36"/>
                  </a:lnTo>
                  <a:lnTo>
                    <a:pt x="186" y="36"/>
                  </a:lnTo>
                  <a:lnTo>
                    <a:pt x="174" y="30"/>
                  </a:lnTo>
                  <a:lnTo>
                    <a:pt x="150" y="30"/>
                  </a:lnTo>
                  <a:lnTo>
                    <a:pt x="126" y="30"/>
                  </a:lnTo>
                  <a:lnTo>
                    <a:pt x="102" y="30"/>
                  </a:lnTo>
                  <a:lnTo>
                    <a:pt x="84" y="36"/>
                  </a:lnTo>
                  <a:lnTo>
                    <a:pt x="66" y="42"/>
                  </a:lnTo>
                  <a:lnTo>
                    <a:pt x="54" y="60"/>
                  </a:lnTo>
                  <a:lnTo>
                    <a:pt x="42" y="72"/>
                  </a:lnTo>
                  <a:lnTo>
                    <a:pt x="30" y="90"/>
                  </a:lnTo>
                  <a:lnTo>
                    <a:pt x="18" y="108"/>
                  </a:lnTo>
                  <a:lnTo>
                    <a:pt x="12" y="120"/>
                  </a:lnTo>
                  <a:lnTo>
                    <a:pt x="0" y="13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7" name="Freeform 18"/>
            <p:cNvSpPr>
              <a:spLocks/>
            </p:cNvSpPr>
            <p:nvPr/>
          </p:nvSpPr>
          <p:spPr bwMode="auto">
            <a:xfrm>
              <a:off x="2884" y="3417"/>
              <a:ext cx="96" cy="114"/>
            </a:xfrm>
            <a:custGeom>
              <a:avLst/>
              <a:gdLst>
                <a:gd name="T0" fmla="*/ 90 w 96"/>
                <a:gd name="T1" fmla="*/ 108 h 114"/>
                <a:gd name="T2" fmla="*/ 96 w 96"/>
                <a:gd name="T3" fmla="*/ 96 h 114"/>
                <a:gd name="T4" fmla="*/ 96 w 96"/>
                <a:gd name="T5" fmla="*/ 84 h 114"/>
                <a:gd name="T6" fmla="*/ 90 w 96"/>
                <a:gd name="T7" fmla="*/ 66 h 114"/>
                <a:gd name="T8" fmla="*/ 78 w 96"/>
                <a:gd name="T9" fmla="*/ 54 h 114"/>
                <a:gd name="T10" fmla="*/ 66 w 96"/>
                <a:gd name="T11" fmla="*/ 36 h 114"/>
                <a:gd name="T12" fmla="*/ 42 w 96"/>
                <a:gd name="T13" fmla="*/ 24 h 114"/>
                <a:gd name="T14" fmla="*/ 24 w 96"/>
                <a:gd name="T15" fmla="*/ 12 h 114"/>
                <a:gd name="T16" fmla="*/ 0 w 96"/>
                <a:gd name="T17" fmla="*/ 0 h 114"/>
                <a:gd name="T18" fmla="*/ 24 w 96"/>
                <a:gd name="T19" fmla="*/ 18 h 114"/>
                <a:gd name="T20" fmla="*/ 30 w 96"/>
                <a:gd name="T21" fmla="*/ 24 h 114"/>
                <a:gd name="T22" fmla="*/ 42 w 96"/>
                <a:gd name="T23" fmla="*/ 30 h 114"/>
                <a:gd name="T24" fmla="*/ 54 w 96"/>
                <a:gd name="T25" fmla="*/ 42 h 114"/>
                <a:gd name="T26" fmla="*/ 60 w 96"/>
                <a:gd name="T27" fmla="*/ 48 h 114"/>
                <a:gd name="T28" fmla="*/ 72 w 96"/>
                <a:gd name="T29" fmla="*/ 60 h 114"/>
                <a:gd name="T30" fmla="*/ 78 w 96"/>
                <a:gd name="T31" fmla="*/ 72 h 114"/>
                <a:gd name="T32" fmla="*/ 84 w 96"/>
                <a:gd name="T33" fmla="*/ 90 h 114"/>
                <a:gd name="T34" fmla="*/ 84 w 96"/>
                <a:gd name="T35" fmla="*/ 102 h 114"/>
                <a:gd name="T36" fmla="*/ 84 w 96"/>
                <a:gd name="T37" fmla="*/ 114 h 114"/>
                <a:gd name="T38" fmla="*/ 90 w 96"/>
                <a:gd name="T39" fmla="*/ 108 h 11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114">
                  <a:moveTo>
                    <a:pt x="90" y="108"/>
                  </a:moveTo>
                  <a:lnTo>
                    <a:pt x="96" y="96"/>
                  </a:lnTo>
                  <a:lnTo>
                    <a:pt x="96" y="84"/>
                  </a:lnTo>
                  <a:lnTo>
                    <a:pt x="90" y="66"/>
                  </a:lnTo>
                  <a:lnTo>
                    <a:pt x="78" y="54"/>
                  </a:lnTo>
                  <a:lnTo>
                    <a:pt x="66" y="36"/>
                  </a:lnTo>
                  <a:lnTo>
                    <a:pt x="42" y="24"/>
                  </a:lnTo>
                  <a:lnTo>
                    <a:pt x="24" y="12"/>
                  </a:lnTo>
                  <a:lnTo>
                    <a:pt x="0" y="0"/>
                  </a:lnTo>
                  <a:lnTo>
                    <a:pt x="24" y="18"/>
                  </a:lnTo>
                  <a:lnTo>
                    <a:pt x="30" y="24"/>
                  </a:lnTo>
                  <a:lnTo>
                    <a:pt x="42" y="30"/>
                  </a:lnTo>
                  <a:lnTo>
                    <a:pt x="54" y="42"/>
                  </a:lnTo>
                  <a:lnTo>
                    <a:pt x="60" y="48"/>
                  </a:lnTo>
                  <a:lnTo>
                    <a:pt x="72" y="60"/>
                  </a:lnTo>
                  <a:lnTo>
                    <a:pt x="78" y="72"/>
                  </a:lnTo>
                  <a:lnTo>
                    <a:pt x="84" y="90"/>
                  </a:lnTo>
                  <a:lnTo>
                    <a:pt x="84" y="102"/>
                  </a:lnTo>
                  <a:lnTo>
                    <a:pt x="84" y="114"/>
                  </a:lnTo>
                  <a:lnTo>
                    <a:pt x="90" y="108"/>
                  </a:lnTo>
                  <a:close/>
                </a:path>
              </a:pathLst>
            </a:custGeom>
            <a:solidFill>
              <a:srgbClr val="FCA4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8" name="Freeform 19"/>
            <p:cNvSpPr>
              <a:spLocks/>
            </p:cNvSpPr>
            <p:nvPr/>
          </p:nvSpPr>
          <p:spPr bwMode="auto">
            <a:xfrm>
              <a:off x="2848" y="3537"/>
              <a:ext cx="114" cy="138"/>
            </a:xfrm>
            <a:custGeom>
              <a:avLst/>
              <a:gdLst>
                <a:gd name="T0" fmla="*/ 108 w 114"/>
                <a:gd name="T1" fmla="*/ 132 h 138"/>
                <a:gd name="T2" fmla="*/ 114 w 114"/>
                <a:gd name="T3" fmla="*/ 114 h 138"/>
                <a:gd name="T4" fmla="*/ 108 w 114"/>
                <a:gd name="T5" fmla="*/ 96 h 138"/>
                <a:gd name="T6" fmla="*/ 108 w 114"/>
                <a:gd name="T7" fmla="*/ 84 h 138"/>
                <a:gd name="T8" fmla="*/ 96 w 114"/>
                <a:gd name="T9" fmla="*/ 66 h 138"/>
                <a:gd name="T10" fmla="*/ 90 w 114"/>
                <a:gd name="T11" fmla="*/ 54 h 138"/>
                <a:gd name="T12" fmla="*/ 72 w 114"/>
                <a:gd name="T13" fmla="*/ 42 h 138"/>
                <a:gd name="T14" fmla="*/ 54 w 114"/>
                <a:gd name="T15" fmla="*/ 30 h 138"/>
                <a:gd name="T16" fmla="*/ 30 w 114"/>
                <a:gd name="T17" fmla="*/ 18 h 138"/>
                <a:gd name="T18" fmla="*/ 0 w 114"/>
                <a:gd name="T19" fmla="*/ 0 h 138"/>
                <a:gd name="T20" fmla="*/ 18 w 114"/>
                <a:gd name="T21" fmla="*/ 12 h 138"/>
                <a:gd name="T22" fmla="*/ 30 w 114"/>
                <a:gd name="T23" fmla="*/ 24 h 138"/>
                <a:gd name="T24" fmla="*/ 48 w 114"/>
                <a:gd name="T25" fmla="*/ 36 h 138"/>
                <a:gd name="T26" fmla="*/ 60 w 114"/>
                <a:gd name="T27" fmla="*/ 48 h 138"/>
                <a:gd name="T28" fmla="*/ 72 w 114"/>
                <a:gd name="T29" fmla="*/ 60 h 138"/>
                <a:gd name="T30" fmla="*/ 84 w 114"/>
                <a:gd name="T31" fmla="*/ 78 h 138"/>
                <a:gd name="T32" fmla="*/ 90 w 114"/>
                <a:gd name="T33" fmla="*/ 96 h 138"/>
                <a:gd name="T34" fmla="*/ 96 w 114"/>
                <a:gd name="T35" fmla="*/ 120 h 138"/>
                <a:gd name="T36" fmla="*/ 102 w 114"/>
                <a:gd name="T37" fmla="*/ 138 h 138"/>
                <a:gd name="T38" fmla="*/ 108 w 114"/>
                <a:gd name="T39" fmla="*/ 132 h 13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14" h="138">
                  <a:moveTo>
                    <a:pt x="108" y="132"/>
                  </a:moveTo>
                  <a:lnTo>
                    <a:pt x="114" y="114"/>
                  </a:lnTo>
                  <a:lnTo>
                    <a:pt x="108" y="96"/>
                  </a:lnTo>
                  <a:lnTo>
                    <a:pt x="108" y="84"/>
                  </a:lnTo>
                  <a:lnTo>
                    <a:pt x="96" y="66"/>
                  </a:lnTo>
                  <a:lnTo>
                    <a:pt x="90" y="54"/>
                  </a:lnTo>
                  <a:lnTo>
                    <a:pt x="72" y="42"/>
                  </a:lnTo>
                  <a:lnTo>
                    <a:pt x="54" y="30"/>
                  </a:lnTo>
                  <a:lnTo>
                    <a:pt x="30" y="18"/>
                  </a:lnTo>
                  <a:lnTo>
                    <a:pt x="0" y="0"/>
                  </a:lnTo>
                  <a:lnTo>
                    <a:pt x="18" y="12"/>
                  </a:lnTo>
                  <a:lnTo>
                    <a:pt x="30" y="24"/>
                  </a:lnTo>
                  <a:lnTo>
                    <a:pt x="48" y="36"/>
                  </a:lnTo>
                  <a:lnTo>
                    <a:pt x="60" y="48"/>
                  </a:lnTo>
                  <a:lnTo>
                    <a:pt x="72" y="60"/>
                  </a:lnTo>
                  <a:lnTo>
                    <a:pt x="84" y="78"/>
                  </a:lnTo>
                  <a:lnTo>
                    <a:pt x="90" y="96"/>
                  </a:lnTo>
                  <a:lnTo>
                    <a:pt x="96" y="120"/>
                  </a:lnTo>
                  <a:lnTo>
                    <a:pt x="102" y="138"/>
                  </a:lnTo>
                  <a:lnTo>
                    <a:pt x="108" y="132"/>
                  </a:lnTo>
                  <a:close/>
                </a:path>
              </a:pathLst>
            </a:custGeom>
            <a:solidFill>
              <a:srgbClr val="FCA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9" name="Freeform 20"/>
            <p:cNvSpPr>
              <a:spLocks/>
            </p:cNvSpPr>
            <p:nvPr/>
          </p:nvSpPr>
          <p:spPr bwMode="auto">
            <a:xfrm>
              <a:off x="2794" y="3675"/>
              <a:ext cx="90" cy="103"/>
            </a:xfrm>
            <a:custGeom>
              <a:avLst/>
              <a:gdLst>
                <a:gd name="T0" fmla="*/ 0 w 90"/>
                <a:gd name="T1" fmla="*/ 0 h 103"/>
                <a:gd name="T2" fmla="*/ 24 w 90"/>
                <a:gd name="T3" fmla="*/ 12 h 103"/>
                <a:gd name="T4" fmla="*/ 48 w 90"/>
                <a:gd name="T5" fmla="*/ 24 h 103"/>
                <a:gd name="T6" fmla="*/ 66 w 90"/>
                <a:gd name="T7" fmla="*/ 36 h 103"/>
                <a:gd name="T8" fmla="*/ 78 w 90"/>
                <a:gd name="T9" fmla="*/ 48 h 103"/>
                <a:gd name="T10" fmla="*/ 84 w 90"/>
                <a:gd name="T11" fmla="*/ 67 h 103"/>
                <a:gd name="T12" fmla="*/ 90 w 90"/>
                <a:gd name="T13" fmla="*/ 85 h 103"/>
                <a:gd name="T14" fmla="*/ 90 w 90"/>
                <a:gd name="T15" fmla="*/ 103 h 103"/>
                <a:gd name="T16" fmla="*/ 84 w 90"/>
                <a:gd name="T17" fmla="*/ 103 h 103"/>
                <a:gd name="T18" fmla="*/ 72 w 90"/>
                <a:gd name="T19" fmla="*/ 103 h 103"/>
                <a:gd name="T20" fmla="*/ 72 w 90"/>
                <a:gd name="T21" fmla="*/ 91 h 103"/>
                <a:gd name="T22" fmla="*/ 66 w 90"/>
                <a:gd name="T23" fmla="*/ 73 h 103"/>
                <a:gd name="T24" fmla="*/ 60 w 90"/>
                <a:gd name="T25" fmla="*/ 54 h 103"/>
                <a:gd name="T26" fmla="*/ 48 w 90"/>
                <a:gd name="T27" fmla="*/ 36 h 103"/>
                <a:gd name="T28" fmla="*/ 30 w 90"/>
                <a:gd name="T29" fmla="*/ 24 h 103"/>
                <a:gd name="T30" fmla="*/ 18 w 90"/>
                <a:gd name="T31" fmla="*/ 12 h 103"/>
                <a:gd name="T32" fmla="*/ 0 w 90"/>
                <a:gd name="T33" fmla="*/ 0 h 10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0" h="103">
                  <a:moveTo>
                    <a:pt x="0" y="0"/>
                  </a:moveTo>
                  <a:lnTo>
                    <a:pt x="24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48"/>
                  </a:lnTo>
                  <a:lnTo>
                    <a:pt x="84" y="67"/>
                  </a:lnTo>
                  <a:lnTo>
                    <a:pt x="90" y="85"/>
                  </a:lnTo>
                  <a:lnTo>
                    <a:pt x="90" y="103"/>
                  </a:lnTo>
                  <a:lnTo>
                    <a:pt x="84" y="103"/>
                  </a:lnTo>
                  <a:lnTo>
                    <a:pt x="72" y="103"/>
                  </a:lnTo>
                  <a:lnTo>
                    <a:pt x="72" y="91"/>
                  </a:lnTo>
                  <a:lnTo>
                    <a:pt x="66" y="73"/>
                  </a:lnTo>
                  <a:lnTo>
                    <a:pt x="60" y="54"/>
                  </a:lnTo>
                  <a:lnTo>
                    <a:pt x="48" y="36"/>
                  </a:lnTo>
                  <a:lnTo>
                    <a:pt x="30" y="24"/>
                  </a:lnTo>
                  <a:lnTo>
                    <a:pt x="18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0" name="Freeform 21"/>
            <p:cNvSpPr>
              <a:spLocks/>
            </p:cNvSpPr>
            <p:nvPr/>
          </p:nvSpPr>
          <p:spPr bwMode="auto">
            <a:xfrm>
              <a:off x="2577" y="3681"/>
              <a:ext cx="235" cy="151"/>
            </a:xfrm>
            <a:custGeom>
              <a:avLst/>
              <a:gdLst>
                <a:gd name="T0" fmla="*/ 84 w 235"/>
                <a:gd name="T1" fmla="*/ 24 h 151"/>
                <a:gd name="T2" fmla="*/ 120 w 235"/>
                <a:gd name="T3" fmla="*/ 30 h 151"/>
                <a:gd name="T4" fmla="*/ 157 w 235"/>
                <a:gd name="T5" fmla="*/ 42 h 151"/>
                <a:gd name="T6" fmla="*/ 175 w 235"/>
                <a:gd name="T7" fmla="*/ 54 h 151"/>
                <a:gd name="T8" fmla="*/ 199 w 235"/>
                <a:gd name="T9" fmla="*/ 73 h 151"/>
                <a:gd name="T10" fmla="*/ 217 w 235"/>
                <a:gd name="T11" fmla="*/ 91 h 151"/>
                <a:gd name="T12" fmla="*/ 235 w 235"/>
                <a:gd name="T13" fmla="*/ 109 h 151"/>
                <a:gd name="T14" fmla="*/ 205 w 235"/>
                <a:gd name="T15" fmla="*/ 85 h 151"/>
                <a:gd name="T16" fmla="*/ 175 w 235"/>
                <a:gd name="T17" fmla="*/ 67 h 151"/>
                <a:gd name="T18" fmla="*/ 157 w 235"/>
                <a:gd name="T19" fmla="*/ 48 h 151"/>
                <a:gd name="T20" fmla="*/ 132 w 235"/>
                <a:gd name="T21" fmla="*/ 48 h 151"/>
                <a:gd name="T22" fmla="*/ 114 w 235"/>
                <a:gd name="T23" fmla="*/ 42 h 151"/>
                <a:gd name="T24" fmla="*/ 102 w 235"/>
                <a:gd name="T25" fmla="*/ 36 h 151"/>
                <a:gd name="T26" fmla="*/ 108 w 235"/>
                <a:gd name="T27" fmla="*/ 54 h 151"/>
                <a:gd name="T28" fmla="*/ 108 w 235"/>
                <a:gd name="T29" fmla="*/ 73 h 151"/>
                <a:gd name="T30" fmla="*/ 114 w 235"/>
                <a:gd name="T31" fmla="*/ 91 h 151"/>
                <a:gd name="T32" fmla="*/ 120 w 235"/>
                <a:gd name="T33" fmla="*/ 109 h 151"/>
                <a:gd name="T34" fmla="*/ 126 w 235"/>
                <a:gd name="T35" fmla="*/ 127 h 151"/>
                <a:gd name="T36" fmla="*/ 132 w 235"/>
                <a:gd name="T37" fmla="*/ 133 h 151"/>
                <a:gd name="T38" fmla="*/ 138 w 235"/>
                <a:gd name="T39" fmla="*/ 151 h 151"/>
                <a:gd name="T40" fmla="*/ 126 w 235"/>
                <a:gd name="T41" fmla="*/ 133 h 151"/>
                <a:gd name="T42" fmla="*/ 120 w 235"/>
                <a:gd name="T43" fmla="*/ 115 h 151"/>
                <a:gd name="T44" fmla="*/ 108 w 235"/>
                <a:gd name="T45" fmla="*/ 97 h 151"/>
                <a:gd name="T46" fmla="*/ 102 w 235"/>
                <a:gd name="T47" fmla="*/ 85 h 151"/>
                <a:gd name="T48" fmla="*/ 96 w 235"/>
                <a:gd name="T49" fmla="*/ 67 h 151"/>
                <a:gd name="T50" fmla="*/ 96 w 235"/>
                <a:gd name="T51" fmla="*/ 54 h 151"/>
                <a:gd name="T52" fmla="*/ 84 w 235"/>
                <a:gd name="T53" fmla="*/ 42 h 151"/>
                <a:gd name="T54" fmla="*/ 78 w 235"/>
                <a:gd name="T55" fmla="*/ 30 h 151"/>
                <a:gd name="T56" fmla="*/ 66 w 235"/>
                <a:gd name="T57" fmla="*/ 18 h 151"/>
                <a:gd name="T58" fmla="*/ 54 w 235"/>
                <a:gd name="T59" fmla="*/ 12 h 151"/>
                <a:gd name="T60" fmla="*/ 36 w 235"/>
                <a:gd name="T61" fmla="*/ 12 h 151"/>
                <a:gd name="T62" fmla="*/ 18 w 235"/>
                <a:gd name="T63" fmla="*/ 18 h 151"/>
                <a:gd name="T64" fmla="*/ 12 w 235"/>
                <a:gd name="T65" fmla="*/ 30 h 151"/>
                <a:gd name="T66" fmla="*/ 30 w 235"/>
                <a:gd name="T67" fmla="*/ 42 h 151"/>
                <a:gd name="T68" fmla="*/ 36 w 235"/>
                <a:gd name="T69" fmla="*/ 54 h 151"/>
                <a:gd name="T70" fmla="*/ 42 w 235"/>
                <a:gd name="T71" fmla="*/ 79 h 151"/>
                <a:gd name="T72" fmla="*/ 42 w 235"/>
                <a:gd name="T73" fmla="*/ 91 h 151"/>
                <a:gd name="T74" fmla="*/ 42 w 235"/>
                <a:gd name="T75" fmla="*/ 79 h 151"/>
                <a:gd name="T76" fmla="*/ 36 w 235"/>
                <a:gd name="T77" fmla="*/ 67 h 151"/>
                <a:gd name="T78" fmla="*/ 30 w 235"/>
                <a:gd name="T79" fmla="*/ 54 h 151"/>
                <a:gd name="T80" fmla="*/ 24 w 235"/>
                <a:gd name="T81" fmla="*/ 42 h 151"/>
                <a:gd name="T82" fmla="*/ 12 w 235"/>
                <a:gd name="T83" fmla="*/ 36 h 151"/>
                <a:gd name="T84" fmla="*/ 0 w 235"/>
                <a:gd name="T85" fmla="*/ 36 h 151"/>
                <a:gd name="T86" fmla="*/ 6 w 235"/>
                <a:gd name="T87" fmla="*/ 24 h 151"/>
                <a:gd name="T88" fmla="*/ 6 w 235"/>
                <a:gd name="T89" fmla="*/ 18 h 151"/>
                <a:gd name="T90" fmla="*/ 12 w 235"/>
                <a:gd name="T91" fmla="*/ 6 h 151"/>
                <a:gd name="T92" fmla="*/ 24 w 235"/>
                <a:gd name="T93" fmla="*/ 6 h 151"/>
                <a:gd name="T94" fmla="*/ 36 w 235"/>
                <a:gd name="T95" fmla="*/ 0 h 151"/>
                <a:gd name="T96" fmla="*/ 54 w 235"/>
                <a:gd name="T97" fmla="*/ 0 h 151"/>
                <a:gd name="T98" fmla="*/ 72 w 235"/>
                <a:gd name="T99" fmla="*/ 12 h 151"/>
                <a:gd name="T100" fmla="*/ 84 w 235"/>
                <a:gd name="T101" fmla="*/ 24 h 15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35" h="151">
                  <a:moveTo>
                    <a:pt x="84" y="24"/>
                  </a:moveTo>
                  <a:lnTo>
                    <a:pt x="120" y="30"/>
                  </a:lnTo>
                  <a:lnTo>
                    <a:pt x="157" y="42"/>
                  </a:lnTo>
                  <a:lnTo>
                    <a:pt x="175" y="54"/>
                  </a:lnTo>
                  <a:lnTo>
                    <a:pt x="199" y="73"/>
                  </a:lnTo>
                  <a:lnTo>
                    <a:pt x="217" y="91"/>
                  </a:lnTo>
                  <a:lnTo>
                    <a:pt x="235" y="109"/>
                  </a:lnTo>
                  <a:lnTo>
                    <a:pt x="205" y="85"/>
                  </a:lnTo>
                  <a:lnTo>
                    <a:pt x="175" y="67"/>
                  </a:lnTo>
                  <a:lnTo>
                    <a:pt x="157" y="48"/>
                  </a:lnTo>
                  <a:lnTo>
                    <a:pt x="132" y="48"/>
                  </a:lnTo>
                  <a:lnTo>
                    <a:pt x="114" y="42"/>
                  </a:lnTo>
                  <a:lnTo>
                    <a:pt x="102" y="36"/>
                  </a:lnTo>
                  <a:lnTo>
                    <a:pt x="108" y="54"/>
                  </a:lnTo>
                  <a:lnTo>
                    <a:pt x="108" y="73"/>
                  </a:lnTo>
                  <a:lnTo>
                    <a:pt x="114" y="91"/>
                  </a:lnTo>
                  <a:lnTo>
                    <a:pt x="120" y="109"/>
                  </a:lnTo>
                  <a:lnTo>
                    <a:pt x="126" y="127"/>
                  </a:lnTo>
                  <a:lnTo>
                    <a:pt x="132" y="133"/>
                  </a:lnTo>
                  <a:lnTo>
                    <a:pt x="138" y="151"/>
                  </a:lnTo>
                  <a:lnTo>
                    <a:pt x="126" y="133"/>
                  </a:lnTo>
                  <a:lnTo>
                    <a:pt x="120" y="115"/>
                  </a:lnTo>
                  <a:lnTo>
                    <a:pt x="108" y="97"/>
                  </a:lnTo>
                  <a:lnTo>
                    <a:pt x="102" y="85"/>
                  </a:lnTo>
                  <a:lnTo>
                    <a:pt x="96" y="67"/>
                  </a:lnTo>
                  <a:lnTo>
                    <a:pt x="96" y="54"/>
                  </a:lnTo>
                  <a:lnTo>
                    <a:pt x="84" y="42"/>
                  </a:lnTo>
                  <a:lnTo>
                    <a:pt x="78" y="30"/>
                  </a:lnTo>
                  <a:lnTo>
                    <a:pt x="66" y="18"/>
                  </a:lnTo>
                  <a:lnTo>
                    <a:pt x="54" y="12"/>
                  </a:lnTo>
                  <a:lnTo>
                    <a:pt x="36" y="12"/>
                  </a:lnTo>
                  <a:lnTo>
                    <a:pt x="18" y="18"/>
                  </a:lnTo>
                  <a:lnTo>
                    <a:pt x="12" y="30"/>
                  </a:lnTo>
                  <a:lnTo>
                    <a:pt x="30" y="42"/>
                  </a:lnTo>
                  <a:lnTo>
                    <a:pt x="36" y="54"/>
                  </a:lnTo>
                  <a:lnTo>
                    <a:pt x="42" y="79"/>
                  </a:lnTo>
                  <a:lnTo>
                    <a:pt x="42" y="91"/>
                  </a:lnTo>
                  <a:lnTo>
                    <a:pt x="42" y="79"/>
                  </a:lnTo>
                  <a:lnTo>
                    <a:pt x="36" y="67"/>
                  </a:lnTo>
                  <a:lnTo>
                    <a:pt x="30" y="54"/>
                  </a:lnTo>
                  <a:lnTo>
                    <a:pt x="24" y="42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6" y="24"/>
                  </a:lnTo>
                  <a:lnTo>
                    <a:pt x="6" y="18"/>
                  </a:lnTo>
                  <a:lnTo>
                    <a:pt x="12" y="6"/>
                  </a:lnTo>
                  <a:lnTo>
                    <a:pt x="24" y="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72" y="12"/>
                  </a:lnTo>
                  <a:lnTo>
                    <a:pt x="84" y="24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1" name="Freeform 22"/>
            <p:cNvSpPr>
              <a:spLocks/>
            </p:cNvSpPr>
            <p:nvPr/>
          </p:nvSpPr>
          <p:spPr bwMode="auto">
            <a:xfrm>
              <a:off x="2643" y="3651"/>
              <a:ext cx="48" cy="42"/>
            </a:xfrm>
            <a:custGeom>
              <a:avLst/>
              <a:gdLst>
                <a:gd name="T0" fmla="*/ 6 w 48"/>
                <a:gd name="T1" fmla="*/ 42 h 42"/>
                <a:gd name="T2" fmla="*/ 12 w 48"/>
                <a:gd name="T3" fmla="*/ 30 h 42"/>
                <a:gd name="T4" fmla="*/ 12 w 48"/>
                <a:gd name="T5" fmla="*/ 18 h 42"/>
                <a:gd name="T6" fmla="*/ 24 w 48"/>
                <a:gd name="T7" fmla="*/ 12 h 42"/>
                <a:gd name="T8" fmla="*/ 30 w 48"/>
                <a:gd name="T9" fmla="*/ 6 h 42"/>
                <a:gd name="T10" fmla="*/ 48 w 48"/>
                <a:gd name="T11" fmla="*/ 0 h 42"/>
                <a:gd name="T12" fmla="*/ 36 w 48"/>
                <a:gd name="T13" fmla="*/ 0 h 42"/>
                <a:gd name="T14" fmla="*/ 18 w 48"/>
                <a:gd name="T15" fmla="*/ 6 h 42"/>
                <a:gd name="T16" fmla="*/ 6 w 48"/>
                <a:gd name="T17" fmla="*/ 18 h 42"/>
                <a:gd name="T18" fmla="*/ 0 w 48"/>
                <a:gd name="T19" fmla="*/ 30 h 42"/>
                <a:gd name="T20" fmla="*/ 6 w 48"/>
                <a:gd name="T21" fmla="*/ 42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8" h="42">
                  <a:moveTo>
                    <a:pt x="6" y="42"/>
                  </a:moveTo>
                  <a:lnTo>
                    <a:pt x="12" y="30"/>
                  </a:lnTo>
                  <a:lnTo>
                    <a:pt x="12" y="18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18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6" y="4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2" name="Freeform 23"/>
            <p:cNvSpPr>
              <a:spLocks/>
            </p:cNvSpPr>
            <p:nvPr/>
          </p:nvSpPr>
          <p:spPr bwMode="auto">
            <a:xfrm>
              <a:off x="2619" y="3621"/>
              <a:ext cx="18" cy="48"/>
            </a:xfrm>
            <a:custGeom>
              <a:avLst/>
              <a:gdLst>
                <a:gd name="T0" fmla="*/ 0 w 18"/>
                <a:gd name="T1" fmla="*/ 48 h 48"/>
                <a:gd name="T2" fmla="*/ 0 w 18"/>
                <a:gd name="T3" fmla="*/ 36 h 48"/>
                <a:gd name="T4" fmla="*/ 0 w 18"/>
                <a:gd name="T5" fmla="*/ 24 h 48"/>
                <a:gd name="T6" fmla="*/ 12 w 18"/>
                <a:gd name="T7" fmla="*/ 18 h 48"/>
                <a:gd name="T8" fmla="*/ 18 w 18"/>
                <a:gd name="T9" fmla="*/ 6 h 48"/>
                <a:gd name="T10" fmla="*/ 12 w 18"/>
                <a:gd name="T11" fmla="*/ 0 h 48"/>
                <a:gd name="T12" fmla="*/ 0 w 18"/>
                <a:gd name="T13" fmla="*/ 4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48">
                  <a:moveTo>
                    <a:pt x="0" y="48"/>
                  </a:moveTo>
                  <a:lnTo>
                    <a:pt x="0" y="36"/>
                  </a:lnTo>
                  <a:lnTo>
                    <a:pt x="0" y="24"/>
                  </a:lnTo>
                  <a:lnTo>
                    <a:pt x="12" y="18"/>
                  </a:lnTo>
                  <a:lnTo>
                    <a:pt x="18" y="6"/>
                  </a:lnTo>
                  <a:lnTo>
                    <a:pt x="12" y="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3" name="Freeform 24"/>
            <p:cNvSpPr>
              <a:spLocks/>
            </p:cNvSpPr>
            <p:nvPr/>
          </p:nvSpPr>
          <p:spPr bwMode="auto">
            <a:xfrm>
              <a:off x="2523" y="3627"/>
              <a:ext cx="72" cy="193"/>
            </a:xfrm>
            <a:custGeom>
              <a:avLst/>
              <a:gdLst>
                <a:gd name="T0" fmla="*/ 30 w 72"/>
                <a:gd name="T1" fmla="*/ 193 h 193"/>
                <a:gd name="T2" fmla="*/ 36 w 72"/>
                <a:gd name="T3" fmla="*/ 169 h 193"/>
                <a:gd name="T4" fmla="*/ 30 w 72"/>
                <a:gd name="T5" fmla="*/ 139 h 193"/>
                <a:gd name="T6" fmla="*/ 30 w 72"/>
                <a:gd name="T7" fmla="*/ 102 h 193"/>
                <a:gd name="T8" fmla="*/ 30 w 72"/>
                <a:gd name="T9" fmla="*/ 66 h 193"/>
                <a:gd name="T10" fmla="*/ 30 w 72"/>
                <a:gd name="T11" fmla="*/ 54 h 193"/>
                <a:gd name="T12" fmla="*/ 36 w 72"/>
                <a:gd name="T13" fmla="*/ 42 h 193"/>
                <a:gd name="T14" fmla="*/ 48 w 72"/>
                <a:gd name="T15" fmla="*/ 36 h 193"/>
                <a:gd name="T16" fmla="*/ 60 w 72"/>
                <a:gd name="T17" fmla="*/ 30 h 193"/>
                <a:gd name="T18" fmla="*/ 66 w 72"/>
                <a:gd name="T19" fmla="*/ 24 h 193"/>
                <a:gd name="T20" fmla="*/ 66 w 72"/>
                <a:gd name="T21" fmla="*/ 12 h 193"/>
                <a:gd name="T22" fmla="*/ 72 w 72"/>
                <a:gd name="T23" fmla="*/ 0 h 193"/>
                <a:gd name="T24" fmla="*/ 60 w 72"/>
                <a:gd name="T25" fmla="*/ 12 h 193"/>
                <a:gd name="T26" fmla="*/ 60 w 72"/>
                <a:gd name="T27" fmla="*/ 24 h 193"/>
                <a:gd name="T28" fmla="*/ 48 w 72"/>
                <a:gd name="T29" fmla="*/ 24 h 193"/>
                <a:gd name="T30" fmla="*/ 36 w 72"/>
                <a:gd name="T31" fmla="*/ 30 h 193"/>
                <a:gd name="T32" fmla="*/ 30 w 72"/>
                <a:gd name="T33" fmla="*/ 36 h 193"/>
                <a:gd name="T34" fmla="*/ 24 w 72"/>
                <a:gd name="T35" fmla="*/ 42 h 193"/>
                <a:gd name="T36" fmla="*/ 12 w 72"/>
                <a:gd name="T37" fmla="*/ 36 h 193"/>
                <a:gd name="T38" fmla="*/ 6 w 72"/>
                <a:gd name="T39" fmla="*/ 24 h 193"/>
                <a:gd name="T40" fmla="*/ 6 w 72"/>
                <a:gd name="T41" fmla="*/ 12 h 193"/>
                <a:gd name="T42" fmla="*/ 0 w 72"/>
                <a:gd name="T43" fmla="*/ 6 h 193"/>
                <a:gd name="T44" fmla="*/ 0 w 72"/>
                <a:gd name="T45" fmla="*/ 18 h 193"/>
                <a:gd name="T46" fmla="*/ 0 w 72"/>
                <a:gd name="T47" fmla="*/ 36 h 193"/>
                <a:gd name="T48" fmla="*/ 0 w 72"/>
                <a:gd name="T49" fmla="*/ 48 h 193"/>
                <a:gd name="T50" fmla="*/ 6 w 72"/>
                <a:gd name="T51" fmla="*/ 60 h 193"/>
                <a:gd name="T52" fmla="*/ 0 w 72"/>
                <a:gd name="T53" fmla="*/ 72 h 193"/>
                <a:gd name="T54" fmla="*/ 6 w 72"/>
                <a:gd name="T55" fmla="*/ 90 h 193"/>
                <a:gd name="T56" fmla="*/ 12 w 72"/>
                <a:gd name="T57" fmla="*/ 102 h 193"/>
                <a:gd name="T58" fmla="*/ 12 w 72"/>
                <a:gd name="T59" fmla="*/ 115 h 193"/>
                <a:gd name="T60" fmla="*/ 18 w 72"/>
                <a:gd name="T61" fmla="*/ 127 h 193"/>
                <a:gd name="T62" fmla="*/ 18 w 72"/>
                <a:gd name="T63" fmla="*/ 139 h 193"/>
                <a:gd name="T64" fmla="*/ 12 w 72"/>
                <a:gd name="T65" fmla="*/ 145 h 193"/>
                <a:gd name="T66" fmla="*/ 0 w 72"/>
                <a:gd name="T67" fmla="*/ 139 h 193"/>
                <a:gd name="T68" fmla="*/ 6 w 72"/>
                <a:gd name="T69" fmla="*/ 151 h 193"/>
                <a:gd name="T70" fmla="*/ 12 w 72"/>
                <a:gd name="T71" fmla="*/ 163 h 193"/>
                <a:gd name="T72" fmla="*/ 12 w 72"/>
                <a:gd name="T73" fmla="*/ 175 h 193"/>
                <a:gd name="T74" fmla="*/ 18 w 72"/>
                <a:gd name="T75" fmla="*/ 187 h 193"/>
                <a:gd name="T76" fmla="*/ 30 w 72"/>
                <a:gd name="T77" fmla="*/ 193 h 193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72" h="193">
                  <a:moveTo>
                    <a:pt x="30" y="193"/>
                  </a:moveTo>
                  <a:lnTo>
                    <a:pt x="36" y="169"/>
                  </a:lnTo>
                  <a:lnTo>
                    <a:pt x="30" y="139"/>
                  </a:lnTo>
                  <a:lnTo>
                    <a:pt x="30" y="102"/>
                  </a:lnTo>
                  <a:lnTo>
                    <a:pt x="30" y="6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8" y="36"/>
                  </a:lnTo>
                  <a:lnTo>
                    <a:pt x="60" y="30"/>
                  </a:lnTo>
                  <a:lnTo>
                    <a:pt x="66" y="24"/>
                  </a:lnTo>
                  <a:lnTo>
                    <a:pt x="66" y="12"/>
                  </a:lnTo>
                  <a:lnTo>
                    <a:pt x="72" y="0"/>
                  </a:lnTo>
                  <a:lnTo>
                    <a:pt x="60" y="12"/>
                  </a:lnTo>
                  <a:lnTo>
                    <a:pt x="60" y="24"/>
                  </a:lnTo>
                  <a:lnTo>
                    <a:pt x="48" y="24"/>
                  </a:lnTo>
                  <a:lnTo>
                    <a:pt x="36" y="30"/>
                  </a:lnTo>
                  <a:lnTo>
                    <a:pt x="30" y="36"/>
                  </a:lnTo>
                  <a:lnTo>
                    <a:pt x="24" y="42"/>
                  </a:lnTo>
                  <a:lnTo>
                    <a:pt x="12" y="36"/>
                  </a:lnTo>
                  <a:lnTo>
                    <a:pt x="6" y="24"/>
                  </a:lnTo>
                  <a:lnTo>
                    <a:pt x="6" y="12"/>
                  </a:lnTo>
                  <a:lnTo>
                    <a:pt x="0" y="6"/>
                  </a:lnTo>
                  <a:lnTo>
                    <a:pt x="0" y="18"/>
                  </a:lnTo>
                  <a:lnTo>
                    <a:pt x="0" y="36"/>
                  </a:lnTo>
                  <a:lnTo>
                    <a:pt x="0" y="48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6" y="90"/>
                  </a:lnTo>
                  <a:lnTo>
                    <a:pt x="12" y="102"/>
                  </a:lnTo>
                  <a:lnTo>
                    <a:pt x="12" y="115"/>
                  </a:lnTo>
                  <a:lnTo>
                    <a:pt x="18" y="127"/>
                  </a:lnTo>
                  <a:lnTo>
                    <a:pt x="18" y="139"/>
                  </a:lnTo>
                  <a:lnTo>
                    <a:pt x="12" y="145"/>
                  </a:lnTo>
                  <a:lnTo>
                    <a:pt x="0" y="139"/>
                  </a:lnTo>
                  <a:lnTo>
                    <a:pt x="6" y="151"/>
                  </a:lnTo>
                  <a:lnTo>
                    <a:pt x="12" y="163"/>
                  </a:lnTo>
                  <a:lnTo>
                    <a:pt x="12" y="175"/>
                  </a:lnTo>
                  <a:lnTo>
                    <a:pt x="18" y="187"/>
                  </a:lnTo>
                  <a:lnTo>
                    <a:pt x="30" y="193"/>
                  </a:lnTo>
                  <a:close/>
                </a:path>
              </a:pathLst>
            </a:custGeom>
            <a:solidFill>
              <a:srgbClr val="FCA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4" name="Freeform 25"/>
            <p:cNvSpPr>
              <a:spLocks/>
            </p:cNvSpPr>
            <p:nvPr/>
          </p:nvSpPr>
          <p:spPr bwMode="auto">
            <a:xfrm>
              <a:off x="2421" y="3778"/>
              <a:ext cx="36" cy="36"/>
            </a:xfrm>
            <a:custGeom>
              <a:avLst/>
              <a:gdLst>
                <a:gd name="T0" fmla="*/ 6 w 36"/>
                <a:gd name="T1" fmla="*/ 12 h 36"/>
                <a:gd name="T2" fmla="*/ 12 w 36"/>
                <a:gd name="T3" fmla="*/ 12 h 36"/>
                <a:gd name="T4" fmla="*/ 24 w 36"/>
                <a:gd name="T5" fmla="*/ 12 h 36"/>
                <a:gd name="T6" fmla="*/ 30 w 36"/>
                <a:gd name="T7" fmla="*/ 18 h 36"/>
                <a:gd name="T8" fmla="*/ 36 w 36"/>
                <a:gd name="T9" fmla="*/ 36 h 36"/>
                <a:gd name="T10" fmla="*/ 36 w 36"/>
                <a:gd name="T11" fmla="*/ 24 h 36"/>
                <a:gd name="T12" fmla="*/ 30 w 36"/>
                <a:gd name="T13" fmla="*/ 12 h 36"/>
                <a:gd name="T14" fmla="*/ 24 w 36"/>
                <a:gd name="T15" fmla="*/ 6 h 36"/>
                <a:gd name="T16" fmla="*/ 12 w 36"/>
                <a:gd name="T17" fmla="*/ 0 h 36"/>
                <a:gd name="T18" fmla="*/ 0 w 36"/>
                <a:gd name="T19" fmla="*/ 0 h 36"/>
                <a:gd name="T20" fmla="*/ 6 w 36"/>
                <a:gd name="T21" fmla="*/ 12 h 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" h="36">
                  <a:moveTo>
                    <a:pt x="6" y="12"/>
                  </a:moveTo>
                  <a:lnTo>
                    <a:pt x="12" y="12"/>
                  </a:lnTo>
                  <a:lnTo>
                    <a:pt x="24" y="12"/>
                  </a:lnTo>
                  <a:lnTo>
                    <a:pt x="30" y="18"/>
                  </a:lnTo>
                  <a:lnTo>
                    <a:pt x="36" y="36"/>
                  </a:lnTo>
                  <a:lnTo>
                    <a:pt x="36" y="24"/>
                  </a:lnTo>
                  <a:lnTo>
                    <a:pt x="30" y="12"/>
                  </a:lnTo>
                  <a:lnTo>
                    <a:pt x="24" y="6"/>
                  </a:lnTo>
                  <a:lnTo>
                    <a:pt x="12" y="0"/>
                  </a:lnTo>
                  <a:lnTo>
                    <a:pt x="0" y="0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5" name="Freeform 26"/>
            <p:cNvSpPr>
              <a:spLocks/>
            </p:cNvSpPr>
            <p:nvPr/>
          </p:nvSpPr>
          <p:spPr bwMode="auto">
            <a:xfrm>
              <a:off x="2355" y="3405"/>
              <a:ext cx="60" cy="108"/>
            </a:xfrm>
            <a:custGeom>
              <a:avLst/>
              <a:gdLst>
                <a:gd name="T0" fmla="*/ 0 w 60"/>
                <a:gd name="T1" fmla="*/ 42 h 108"/>
                <a:gd name="T2" fmla="*/ 6 w 60"/>
                <a:gd name="T3" fmla="*/ 54 h 108"/>
                <a:gd name="T4" fmla="*/ 12 w 60"/>
                <a:gd name="T5" fmla="*/ 66 h 108"/>
                <a:gd name="T6" fmla="*/ 18 w 60"/>
                <a:gd name="T7" fmla="*/ 72 h 108"/>
                <a:gd name="T8" fmla="*/ 24 w 60"/>
                <a:gd name="T9" fmla="*/ 78 h 108"/>
                <a:gd name="T10" fmla="*/ 30 w 60"/>
                <a:gd name="T11" fmla="*/ 96 h 108"/>
                <a:gd name="T12" fmla="*/ 36 w 60"/>
                <a:gd name="T13" fmla="*/ 108 h 108"/>
                <a:gd name="T14" fmla="*/ 36 w 60"/>
                <a:gd name="T15" fmla="*/ 90 h 108"/>
                <a:gd name="T16" fmla="*/ 30 w 60"/>
                <a:gd name="T17" fmla="*/ 78 h 108"/>
                <a:gd name="T18" fmla="*/ 24 w 60"/>
                <a:gd name="T19" fmla="*/ 66 h 108"/>
                <a:gd name="T20" fmla="*/ 18 w 60"/>
                <a:gd name="T21" fmla="*/ 54 h 108"/>
                <a:gd name="T22" fmla="*/ 30 w 60"/>
                <a:gd name="T23" fmla="*/ 48 h 108"/>
                <a:gd name="T24" fmla="*/ 36 w 60"/>
                <a:gd name="T25" fmla="*/ 42 h 108"/>
                <a:gd name="T26" fmla="*/ 42 w 60"/>
                <a:gd name="T27" fmla="*/ 36 h 108"/>
                <a:gd name="T28" fmla="*/ 54 w 60"/>
                <a:gd name="T29" fmla="*/ 18 h 108"/>
                <a:gd name="T30" fmla="*/ 60 w 60"/>
                <a:gd name="T31" fmla="*/ 0 h 108"/>
                <a:gd name="T32" fmla="*/ 0 w 60"/>
                <a:gd name="T33" fmla="*/ 42 h 10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0" h="108">
                  <a:moveTo>
                    <a:pt x="0" y="42"/>
                  </a:moveTo>
                  <a:lnTo>
                    <a:pt x="6" y="54"/>
                  </a:lnTo>
                  <a:lnTo>
                    <a:pt x="12" y="66"/>
                  </a:lnTo>
                  <a:lnTo>
                    <a:pt x="18" y="72"/>
                  </a:lnTo>
                  <a:lnTo>
                    <a:pt x="24" y="78"/>
                  </a:lnTo>
                  <a:lnTo>
                    <a:pt x="30" y="96"/>
                  </a:lnTo>
                  <a:lnTo>
                    <a:pt x="36" y="108"/>
                  </a:lnTo>
                  <a:lnTo>
                    <a:pt x="36" y="90"/>
                  </a:lnTo>
                  <a:lnTo>
                    <a:pt x="30" y="78"/>
                  </a:lnTo>
                  <a:lnTo>
                    <a:pt x="24" y="66"/>
                  </a:lnTo>
                  <a:lnTo>
                    <a:pt x="18" y="54"/>
                  </a:lnTo>
                  <a:lnTo>
                    <a:pt x="30" y="48"/>
                  </a:lnTo>
                  <a:lnTo>
                    <a:pt x="36" y="42"/>
                  </a:lnTo>
                  <a:lnTo>
                    <a:pt x="42" y="36"/>
                  </a:lnTo>
                  <a:lnTo>
                    <a:pt x="54" y="18"/>
                  </a:lnTo>
                  <a:lnTo>
                    <a:pt x="6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6" name="Freeform 27"/>
            <p:cNvSpPr>
              <a:spLocks/>
            </p:cNvSpPr>
            <p:nvPr/>
          </p:nvSpPr>
          <p:spPr bwMode="auto">
            <a:xfrm>
              <a:off x="2487" y="3952"/>
              <a:ext cx="42" cy="72"/>
            </a:xfrm>
            <a:custGeom>
              <a:avLst/>
              <a:gdLst>
                <a:gd name="T0" fmla="*/ 0 w 42"/>
                <a:gd name="T1" fmla="*/ 6 h 72"/>
                <a:gd name="T2" fmla="*/ 12 w 42"/>
                <a:gd name="T3" fmla="*/ 0 h 72"/>
                <a:gd name="T4" fmla="*/ 18 w 42"/>
                <a:gd name="T5" fmla="*/ 0 h 72"/>
                <a:gd name="T6" fmla="*/ 30 w 42"/>
                <a:gd name="T7" fmla="*/ 0 h 72"/>
                <a:gd name="T8" fmla="*/ 36 w 42"/>
                <a:gd name="T9" fmla="*/ 6 h 72"/>
                <a:gd name="T10" fmla="*/ 42 w 42"/>
                <a:gd name="T11" fmla="*/ 12 h 72"/>
                <a:gd name="T12" fmla="*/ 42 w 42"/>
                <a:gd name="T13" fmla="*/ 24 h 72"/>
                <a:gd name="T14" fmla="*/ 42 w 42"/>
                <a:gd name="T15" fmla="*/ 42 h 72"/>
                <a:gd name="T16" fmla="*/ 42 w 42"/>
                <a:gd name="T17" fmla="*/ 54 h 72"/>
                <a:gd name="T18" fmla="*/ 42 w 42"/>
                <a:gd name="T19" fmla="*/ 60 h 72"/>
                <a:gd name="T20" fmla="*/ 36 w 42"/>
                <a:gd name="T21" fmla="*/ 72 h 72"/>
                <a:gd name="T22" fmla="*/ 30 w 42"/>
                <a:gd name="T23" fmla="*/ 72 h 72"/>
                <a:gd name="T24" fmla="*/ 18 w 42"/>
                <a:gd name="T25" fmla="*/ 72 h 72"/>
                <a:gd name="T26" fmla="*/ 12 w 42"/>
                <a:gd name="T27" fmla="*/ 66 h 72"/>
                <a:gd name="T28" fmla="*/ 12 w 42"/>
                <a:gd name="T29" fmla="*/ 60 h 72"/>
                <a:gd name="T30" fmla="*/ 6 w 42"/>
                <a:gd name="T31" fmla="*/ 42 h 72"/>
                <a:gd name="T32" fmla="*/ 6 w 42"/>
                <a:gd name="T33" fmla="*/ 36 h 72"/>
                <a:gd name="T34" fmla="*/ 6 w 42"/>
                <a:gd name="T35" fmla="*/ 18 h 72"/>
                <a:gd name="T36" fmla="*/ 0 w 42"/>
                <a:gd name="T37" fmla="*/ 6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2" h="72">
                  <a:moveTo>
                    <a:pt x="0" y="6"/>
                  </a:moveTo>
                  <a:lnTo>
                    <a:pt x="12" y="0"/>
                  </a:lnTo>
                  <a:lnTo>
                    <a:pt x="18" y="0"/>
                  </a:lnTo>
                  <a:lnTo>
                    <a:pt x="30" y="0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2" y="24"/>
                  </a:lnTo>
                  <a:lnTo>
                    <a:pt x="42" y="42"/>
                  </a:lnTo>
                  <a:lnTo>
                    <a:pt x="42" y="54"/>
                  </a:lnTo>
                  <a:lnTo>
                    <a:pt x="42" y="60"/>
                  </a:lnTo>
                  <a:lnTo>
                    <a:pt x="36" y="72"/>
                  </a:lnTo>
                  <a:lnTo>
                    <a:pt x="30" y="72"/>
                  </a:lnTo>
                  <a:lnTo>
                    <a:pt x="18" y="72"/>
                  </a:lnTo>
                  <a:lnTo>
                    <a:pt x="12" y="66"/>
                  </a:lnTo>
                  <a:lnTo>
                    <a:pt x="12" y="60"/>
                  </a:lnTo>
                  <a:lnTo>
                    <a:pt x="6" y="42"/>
                  </a:lnTo>
                  <a:lnTo>
                    <a:pt x="6" y="36"/>
                  </a:lnTo>
                  <a:lnTo>
                    <a:pt x="6" y="18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CA4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7" name="Freeform 28"/>
            <p:cNvSpPr>
              <a:spLocks/>
            </p:cNvSpPr>
            <p:nvPr/>
          </p:nvSpPr>
          <p:spPr bwMode="auto">
            <a:xfrm>
              <a:off x="2439" y="3832"/>
              <a:ext cx="84" cy="60"/>
            </a:xfrm>
            <a:custGeom>
              <a:avLst/>
              <a:gdLst>
                <a:gd name="T0" fmla="*/ 0 w 84"/>
                <a:gd name="T1" fmla="*/ 0 h 60"/>
                <a:gd name="T2" fmla="*/ 0 w 84"/>
                <a:gd name="T3" fmla="*/ 12 h 60"/>
                <a:gd name="T4" fmla="*/ 6 w 84"/>
                <a:gd name="T5" fmla="*/ 18 h 60"/>
                <a:gd name="T6" fmla="*/ 6 w 84"/>
                <a:gd name="T7" fmla="*/ 24 h 60"/>
                <a:gd name="T8" fmla="*/ 12 w 84"/>
                <a:gd name="T9" fmla="*/ 24 h 60"/>
                <a:gd name="T10" fmla="*/ 18 w 84"/>
                <a:gd name="T11" fmla="*/ 30 h 60"/>
                <a:gd name="T12" fmla="*/ 12 w 84"/>
                <a:gd name="T13" fmla="*/ 30 h 60"/>
                <a:gd name="T14" fmla="*/ 12 w 84"/>
                <a:gd name="T15" fmla="*/ 36 h 60"/>
                <a:gd name="T16" fmla="*/ 18 w 84"/>
                <a:gd name="T17" fmla="*/ 42 h 60"/>
                <a:gd name="T18" fmla="*/ 18 w 84"/>
                <a:gd name="T19" fmla="*/ 48 h 60"/>
                <a:gd name="T20" fmla="*/ 18 w 84"/>
                <a:gd name="T21" fmla="*/ 54 h 60"/>
                <a:gd name="T22" fmla="*/ 24 w 84"/>
                <a:gd name="T23" fmla="*/ 60 h 60"/>
                <a:gd name="T24" fmla="*/ 30 w 84"/>
                <a:gd name="T25" fmla="*/ 54 h 60"/>
                <a:gd name="T26" fmla="*/ 36 w 84"/>
                <a:gd name="T27" fmla="*/ 48 h 60"/>
                <a:gd name="T28" fmla="*/ 42 w 84"/>
                <a:gd name="T29" fmla="*/ 42 h 60"/>
                <a:gd name="T30" fmla="*/ 54 w 84"/>
                <a:gd name="T31" fmla="*/ 42 h 60"/>
                <a:gd name="T32" fmla="*/ 60 w 84"/>
                <a:gd name="T33" fmla="*/ 42 h 60"/>
                <a:gd name="T34" fmla="*/ 72 w 84"/>
                <a:gd name="T35" fmla="*/ 48 h 60"/>
                <a:gd name="T36" fmla="*/ 60 w 84"/>
                <a:gd name="T37" fmla="*/ 42 h 60"/>
                <a:gd name="T38" fmla="*/ 48 w 84"/>
                <a:gd name="T39" fmla="*/ 36 h 60"/>
                <a:gd name="T40" fmla="*/ 36 w 84"/>
                <a:gd name="T41" fmla="*/ 36 h 60"/>
                <a:gd name="T42" fmla="*/ 30 w 84"/>
                <a:gd name="T43" fmla="*/ 42 h 60"/>
                <a:gd name="T44" fmla="*/ 24 w 84"/>
                <a:gd name="T45" fmla="*/ 48 h 60"/>
                <a:gd name="T46" fmla="*/ 18 w 84"/>
                <a:gd name="T47" fmla="*/ 42 h 60"/>
                <a:gd name="T48" fmla="*/ 24 w 84"/>
                <a:gd name="T49" fmla="*/ 36 h 60"/>
                <a:gd name="T50" fmla="*/ 30 w 84"/>
                <a:gd name="T51" fmla="*/ 30 h 60"/>
                <a:gd name="T52" fmla="*/ 36 w 84"/>
                <a:gd name="T53" fmla="*/ 30 h 60"/>
                <a:gd name="T54" fmla="*/ 42 w 84"/>
                <a:gd name="T55" fmla="*/ 30 h 60"/>
                <a:gd name="T56" fmla="*/ 36 w 84"/>
                <a:gd name="T57" fmla="*/ 24 h 60"/>
                <a:gd name="T58" fmla="*/ 24 w 84"/>
                <a:gd name="T59" fmla="*/ 24 h 60"/>
                <a:gd name="T60" fmla="*/ 18 w 84"/>
                <a:gd name="T61" fmla="*/ 30 h 60"/>
                <a:gd name="T62" fmla="*/ 18 w 84"/>
                <a:gd name="T63" fmla="*/ 24 h 60"/>
                <a:gd name="T64" fmla="*/ 30 w 84"/>
                <a:gd name="T65" fmla="*/ 18 h 60"/>
                <a:gd name="T66" fmla="*/ 42 w 84"/>
                <a:gd name="T67" fmla="*/ 18 h 60"/>
                <a:gd name="T68" fmla="*/ 54 w 84"/>
                <a:gd name="T69" fmla="*/ 18 h 60"/>
                <a:gd name="T70" fmla="*/ 72 w 84"/>
                <a:gd name="T71" fmla="*/ 18 h 60"/>
                <a:gd name="T72" fmla="*/ 84 w 84"/>
                <a:gd name="T73" fmla="*/ 24 h 60"/>
                <a:gd name="T74" fmla="*/ 72 w 84"/>
                <a:gd name="T75" fmla="*/ 18 h 60"/>
                <a:gd name="T76" fmla="*/ 54 w 84"/>
                <a:gd name="T77" fmla="*/ 12 h 60"/>
                <a:gd name="T78" fmla="*/ 48 w 84"/>
                <a:gd name="T79" fmla="*/ 12 h 60"/>
                <a:gd name="T80" fmla="*/ 36 w 84"/>
                <a:gd name="T81" fmla="*/ 12 h 60"/>
                <a:gd name="T82" fmla="*/ 24 w 84"/>
                <a:gd name="T83" fmla="*/ 12 h 60"/>
                <a:gd name="T84" fmla="*/ 12 w 84"/>
                <a:gd name="T85" fmla="*/ 12 h 60"/>
                <a:gd name="T86" fmla="*/ 6 w 84"/>
                <a:gd name="T87" fmla="*/ 6 h 60"/>
                <a:gd name="T88" fmla="*/ 0 w 84"/>
                <a:gd name="T89" fmla="*/ 0 h 6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4" h="60">
                  <a:moveTo>
                    <a:pt x="0" y="0"/>
                  </a:moveTo>
                  <a:lnTo>
                    <a:pt x="0" y="12"/>
                  </a:lnTo>
                  <a:lnTo>
                    <a:pt x="6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12" y="36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18" y="54"/>
                  </a:lnTo>
                  <a:lnTo>
                    <a:pt x="24" y="60"/>
                  </a:lnTo>
                  <a:lnTo>
                    <a:pt x="30" y="54"/>
                  </a:lnTo>
                  <a:lnTo>
                    <a:pt x="36" y="48"/>
                  </a:lnTo>
                  <a:lnTo>
                    <a:pt x="42" y="42"/>
                  </a:lnTo>
                  <a:lnTo>
                    <a:pt x="54" y="42"/>
                  </a:lnTo>
                  <a:lnTo>
                    <a:pt x="60" y="42"/>
                  </a:lnTo>
                  <a:lnTo>
                    <a:pt x="72" y="48"/>
                  </a:lnTo>
                  <a:lnTo>
                    <a:pt x="60" y="42"/>
                  </a:lnTo>
                  <a:lnTo>
                    <a:pt x="48" y="36"/>
                  </a:lnTo>
                  <a:lnTo>
                    <a:pt x="36" y="36"/>
                  </a:lnTo>
                  <a:lnTo>
                    <a:pt x="30" y="42"/>
                  </a:lnTo>
                  <a:lnTo>
                    <a:pt x="24" y="48"/>
                  </a:lnTo>
                  <a:lnTo>
                    <a:pt x="18" y="42"/>
                  </a:lnTo>
                  <a:lnTo>
                    <a:pt x="24" y="36"/>
                  </a:lnTo>
                  <a:lnTo>
                    <a:pt x="30" y="30"/>
                  </a:lnTo>
                  <a:lnTo>
                    <a:pt x="36" y="30"/>
                  </a:lnTo>
                  <a:lnTo>
                    <a:pt x="42" y="30"/>
                  </a:lnTo>
                  <a:lnTo>
                    <a:pt x="36" y="24"/>
                  </a:lnTo>
                  <a:lnTo>
                    <a:pt x="24" y="24"/>
                  </a:lnTo>
                  <a:lnTo>
                    <a:pt x="18" y="30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54" y="18"/>
                  </a:lnTo>
                  <a:lnTo>
                    <a:pt x="72" y="18"/>
                  </a:lnTo>
                  <a:lnTo>
                    <a:pt x="84" y="24"/>
                  </a:lnTo>
                  <a:lnTo>
                    <a:pt x="72" y="18"/>
                  </a:lnTo>
                  <a:lnTo>
                    <a:pt x="54" y="12"/>
                  </a:lnTo>
                  <a:lnTo>
                    <a:pt x="48" y="12"/>
                  </a:lnTo>
                  <a:lnTo>
                    <a:pt x="36" y="12"/>
                  </a:lnTo>
                  <a:lnTo>
                    <a:pt x="24" y="12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8" name="Freeform 29"/>
            <p:cNvSpPr>
              <a:spLocks/>
            </p:cNvSpPr>
            <p:nvPr/>
          </p:nvSpPr>
          <p:spPr bwMode="auto">
            <a:xfrm>
              <a:off x="2475" y="3916"/>
              <a:ext cx="24" cy="18"/>
            </a:xfrm>
            <a:custGeom>
              <a:avLst/>
              <a:gdLst>
                <a:gd name="T0" fmla="*/ 0 w 24"/>
                <a:gd name="T1" fmla="*/ 0 h 18"/>
                <a:gd name="T2" fmla="*/ 0 w 24"/>
                <a:gd name="T3" fmla="*/ 6 h 18"/>
                <a:gd name="T4" fmla="*/ 6 w 24"/>
                <a:gd name="T5" fmla="*/ 12 h 18"/>
                <a:gd name="T6" fmla="*/ 6 w 24"/>
                <a:gd name="T7" fmla="*/ 18 h 18"/>
                <a:gd name="T8" fmla="*/ 12 w 24"/>
                <a:gd name="T9" fmla="*/ 18 h 18"/>
                <a:gd name="T10" fmla="*/ 18 w 24"/>
                <a:gd name="T11" fmla="*/ 12 h 18"/>
                <a:gd name="T12" fmla="*/ 24 w 24"/>
                <a:gd name="T13" fmla="*/ 12 h 18"/>
                <a:gd name="T14" fmla="*/ 18 w 24"/>
                <a:gd name="T15" fmla="*/ 12 h 18"/>
                <a:gd name="T16" fmla="*/ 12 w 24"/>
                <a:gd name="T17" fmla="*/ 12 h 18"/>
                <a:gd name="T18" fmla="*/ 0 w 24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18">
                  <a:moveTo>
                    <a:pt x="0" y="0"/>
                  </a:moveTo>
                  <a:lnTo>
                    <a:pt x="0" y="6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18" y="12"/>
                  </a:lnTo>
                  <a:lnTo>
                    <a:pt x="12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119" name="Group 39"/>
          <p:cNvGrpSpPr>
            <a:grpSpLocks/>
          </p:cNvGrpSpPr>
          <p:nvPr/>
        </p:nvGrpSpPr>
        <p:grpSpPr bwMode="auto">
          <a:xfrm>
            <a:off x="762000" y="3962400"/>
            <a:ext cx="685800" cy="762000"/>
            <a:chOff x="2355" y="3183"/>
            <a:chExt cx="649" cy="841"/>
          </a:xfrm>
        </p:grpSpPr>
        <p:sp>
          <p:nvSpPr>
            <p:cNvPr id="7181" name="Freeform 40"/>
            <p:cNvSpPr>
              <a:spLocks/>
            </p:cNvSpPr>
            <p:nvPr/>
          </p:nvSpPr>
          <p:spPr bwMode="auto">
            <a:xfrm>
              <a:off x="2355" y="3183"/>
              <a:ext cx="649" cy="841"/>
            </a:xfrm>
            <a:custGeom>
              <a:avLst/>
              <a:gdLst>
                <a:gd name="T0" fmla="*/ 150 w 649"/>
                <a:gd name="T1" fmla="*/ 6 h 841"/>
                <a:gd name="T2" fmla="*/ 204 w 649"/>
                <a:gd name="T3" fmla="*/ 6 h 841"/>
                <a:gd name="T4" fmla="*/ 282 w 649"/>
                <a:gd name="T5" fmla="*/ 18 h 841"/>
                <a:gd name="T6" fmla="*/ 385 w 649"/>
                <a:gd name="T7" fmla="*/ 54 h 841"/>
                <a:gd name="T8" fmla="*/ 529 w 649"/>
                <a:gd name="T9" fmla="*/ 114 h 841"/>
                <a:gd name="T10" fmla="*/ 565 w 649"/>
                <a:gd name="T11" fmla="*/ 144 h 841"/>
                <a:gd name="T12" fmla="*/ 619 w 649"/>
                <a:gd name="T13" fmla="*/ 240 h 841"/>
                <a:gd name="T14" fmla="*/ 649 w 649"/>
                <a:gd name="T15" fmla="*/ 300 h 841"/>
                <a:gd name="T16" fmla="*/ 619 w 649"/>
                <a:gd name="T17" fmla="*/ 342 h 841"/>
                <a:gd name="T18" fmla="*/ 619 w 649"/>
                <a:gd name="T19" fmla="*/ 372 h 841"/>
                <a:gd name="T20" fmla="*/ 643 w 649"/>
                <a:gd name="T21" fmla="*/ 420 h 841"/>
                <a:gd name="T22" fmla="*/ 637 w 649"/>
                <a:gd name="T23" fmla="*/ 462 h 841"/>
                <a:gd name="T24" fmla="*/ 595 w 649"/>
                <a:gd name="T25" fmla="*/ 492 h 841"/>
                <a:gd name="T26" fmla="*/ 607 w 649"/>
                <a:gd name="T27" fmla="*/ 528 h 841"/>
                <a:gd name="T28" fmla="*/ 589 w 649"/>
                <a:gd name="T29" fmla="*/ 577 h 841"/>
                <a:gd name="T30" fmla="*/ 529 w 649"/>
                <a:gd name="T31" fmla="*/ 595 h 841"/>
                <a:gd name="T32" fmla="*/ 505 w 649"/>
                <a:gd name="T33" fmla="*/ 631 h 841"/>
                <a:gd name="T34" fmla="*/ 457 w 649"/>
                <a:gd name="T35" fmla="*/ 649 h 841"/>
                <a:gd name="T36" fmla="*/ 360 w 649"/>
                <a:gd name="T37" fmla="*/ 655 h 841"/>
                <a:gd name="T38" fmla="*/ 300 w 649"/>
                <a:gd name="T39" fmla="*/ 637 h 841"/>
                <a:gd name="T40" fmla="*/ 258 w 649"/>
                <a:gd name="T41" fmla="*/ 589 h 841"/>
                <a:gd name="T42" fmla="*/ 222 w 649"/>
                <a:gd name="T43" fmla="*/ 528 h 841"/>
                <a:gd name="T44" fmla="*/ 240 w 649"/>
                <a:gd name="T45" fmla="*/ 504 h 841"/>
                <a:gd name="T46" fmla="*/ 276 w 649"/>
                <a:gd name="T47" fmla="*/ 498 h 841"/>
                <a:gd name="T48" fmla="*/ 306 w 649"/>
                <a:gd name="T49" fmla="*/ 522 h 841"/>
                <a:gd name="T50" fmla="*/ 282 w 649"/>
                <a:gd name="T51" fmla="*/ 498 h 841"/>
                <a:gd name="T52" fmla="*/ 270 w 649"/>
                <a:gd name="T53" fmla="*/ 492 h 841"/>
                <a:gd name="T54" fmla="*/ 246 w 649"/>
                <a:gd name="T55" fmla="*/ 474 h 841"/>
                <a:gd name="T56" fmla="*/ 204 w 649"/>
                <a:gd name="T57" fmla="*/ 486 h 841"/>
                <a:gd name="T58" fmla="*/ 198 w 649"/>
                <a:gd name="T59" fmla="*/ 516 h 841"/>
                <a:gd name="T60" fmla="*/ 204 w 649"/>
                <a:gd name="T61" fmla="*/ 607 h 841"/>
                <a:gd name="T62" fmla="*/ 228 w 649"/>
                <a:gd name="T63" fmla="*/ 703 h 841"/>
                <a:gd name="T64" fmla="*/ 228 w 649"/>
                <a:gd name="T65" fmla="*/ 793 h 841"/>
                <a:gd name="T66" fmla="*/ 204 w 649"/>
                <a:gd name="T67" fmla="*/ 829 h 841"/>
                <a:gd name="T68" fmla="*/ 150 w 649"/>
                <a:gd name="T69" fmla="*/ 835 h 841"/>
                <a:gd name="T70" fmla="*/ 132 w 649"/>
                <a:gd name="T71" fmla="*/ 775 h 841"/>
                <a:gd name="T72" fmla="*/ 108 w 649"/>
                <a:gd name="T73" fmla="*/ 709 h 841"/>
                <a:gd name="T74" fmla="*/ 96 w 649"/>
                <a:gd name="T75" fmla="*/ 685 h 841"/>
                <a:gd name="T76" fmla="*/ 84 w 649"/>
                <a:gd name="T77" fmla="*/ 655 h 841"/>
                <a:gd name="T78" fmla="*/ 48 w 649"/>
                <a:gd name="T79" fmla="*/ 522 h 841"/>
                <a:gd name="T80" fmla="*/ 18 w 649"/>
                <a:gd name="T81" fmla="*/ 366 h 841"/>
                <a:gd name="T82" fmla="*/ 0 w 649"/>
                <a:gd name="T83" fmla="*/ 270 h 84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649" h="841">
                  <a:moveTo>
                    <a:pt x="108" y="0"/>
                  </a:moveTo>
                  <a:lnTo>
                    <a:pt x="132" y="6"/>
                  </a:lnTo>
                  <a:lnTo>
                    <a:pt x="150" y="6"/>
                  </a:lnTo>
                  <a:lnTo>
                    <a:pt x="168" y="12"/>
                  </a:lnTo>
                  <a:lnTo>
                    <a:pt x="180" y="12"/>
                  </a:lnTo>
                  <a:lnTo>
                    <a:pt x="204" y="6"/>
                  </a:lnTo>
                  <a:lnTo>
                    <a:pt x="228" y="6"/>
                  </a:lnTo>
                  <a:lnTo>
                    <a:pt x="252" y="12"/>
                  </a:lnTo>
                  <a:lnTo>
                    <a:pt x="282" y="18"/>
                  </a:lnTo>
                  <a:lnTo>
                    <a:pt x="312" y="24"/>
                  </a:lnTo>
                  <a:lnTo>
                    <a:pt x="342" y="36"/>
                  </a:lnTo>
                  <a:lnTo>
                    <a:pt x="385" y="54"/>
                  </a:lnTo>
                  <a:lnTo>
                    <a:pt x="427" y="72"/>
                  </a:lnTo>
                  <a:lnTo>
                    <a:pt x="481" y="96"/>
                  </a:lnTo>
                  <a:lnTo>
                    <a:pt x="529" y="114"/>
                  </a:lnTo>
                  <a:lnTo>
                    <a:pt x="547" y="120"/>
                  </a:lnTo>
                  <a:lnTo>
                    <a:pt x="559" y="132"/>
                  </a:lnTo>
                  <a:lnTo>
                    <a:pt x="565" y="144"/>
                  </a:lnTo>
                  <a:lnTo>
                    <a:pt x="577" y="162"/>
                  </a:lnTo>
                  <a:lnTo>
                    <a:pt x="595" y="192"/>
                  </a:lnTo>
                  <a:lnTo>
                    <a:pt x="619" y="240"/>
                  </a:lnTo>
                  <a:lnTo>
                    <a:pt x="637" y="264"/>
                  </a:lnTo>
                  <a:lnTo>
                    <a:pt x="643" y="288"/>
                  </a:lnTo>
                  <a:lnTo>
                    <a:pt x="649" y="300"/>
                  </a:lnTo>
                  <a:lnTo>
                    <a:pt x="643" y="318"/>
                  </a:lnTo>
                  <a:lnTo>
                    <a:pt x="631" y="336"/>
                  </a:lnTo>
                  <a:lnTo>
                    <a:pt x="619" y="342"/>
                  </a:lnTo>
                  <a:lnTo>
                    <a:pt x="613" y="348"/>
                  </a:lnTo>
                  <a:lnTo>
                    <a:pt x="613" y="360"/>
                  </a:lnTo>
                  <a:lnTo>
                    <a:pt x="619" y="372"/>
                  </a:lnTo>
                  <a:lnTo>
                    <a:pt x="625" y="384"/>
                  </a:lnTo>
                  <a:lnTo>
                    <a:pt x="637" y="402"/>
                  </a:lnTo>
                  <a:lnTo>
                    <a:pt x="643" y="420"/>
                  </a:lnTo>
                  <a:lnTo>
                    <a:pt x="643" y="432"/>
                  </a:lnTo>
                  <a:lnTo>
                    <a:pt x="643" y="450"/>
                  </a:lnTo>
                  <a:lnTo>
                    <a:pt x="637" y="462"/>
                  </a:lnTo>
                  <a:lnTo>
                    <a:pt x="625" y="474"/>
                  </a:lnTo>
                  <a:lnTo>
                    <a:pt x="607" y="486"/>
                  </a:lnTo>
                  <a:lnTo>
                    <a:pt x="595" y="492"/>
                  </a:lnTo>
                  <a:lnTo>
                    <a:pt x="595" y="504"/>
                  </a:lnTo>
                  <a:lnTo>
                    <a:pt x="601" y="516"/>
                  </a:lnTo>
                  <a:lnTo>
                    <a:pt x="607" y="528"/>
                  </a:lnTo>
                  <a:lnTo>
                    <a:pt x="601" y="546"/>
                  </a:lnTo>
                  <a:lnTo>
                    <a:pt x="601" y="565"/>
                  </a:lnTo>
                  <a:lnTo>
                    <a:pt x="589" y="577"/>
                  </a:lnTo>
                  <a:lnTo>
                    <a:pt x="577" y="583"/>
                  </a:lnTo>
                  <a:lnTo>
                    <a:pt x="553" y="589"/>
                  </a:lnTo>
                  <a:lnTo>
                    <a:pt x="529" y="595"/>
                  </a:lnTo>
                  <a:lnTo>
                    <a:pt x="517" y="595"/>
                  </a:lnTo>
                  <a:lnTo>
                    <a:pt x="511" y="619"/>
                  </a:lnTo>
                  <a:lnTo>
                    <a:pt x="505" y="631"/>
                  </a:lnTo>
                  <a:lnTo>
                    <a:pt x="493" y="643"/>
                  </a:lnTo>
                  <a:lnTo>
                    <a:pt x="475" y="649"/>
                  </a:lnTo>
                  <a:lnTo>
                    <a:pt x="457" y="649"/>
                  </a:lnTo>
                  <a:lnTo>
                    <a:pt x="433" y="649"/>
                  </a:lnTo>
                  <a:lnTo>
                    <a:pt x="403" y="655"/>
                  </a:lnTo>
                  <a:lnTo>
                    <a:pt x="360" y="655"/>
                  </a:lnTo>
                  <a:lnTo>
                    <a:pt x="342" y="655"/>
                  </a:lnTo>
                  <a:lnTo>
                    <a:pt x="324" y="649"/>
                  </a:lnTo>
                  <a:lnTo>
                    <a:pt x="300" y="637"/>
                  </a:lnTo>
                  <a:lnTo>
                    <a:pt x="282" y="625"/>
                  </a:lnTo>
                  <a:lnTo>
                    <a:pt x="270" y="607"/>
                  </a:lnTo>
                  <a:lnTo>
                    <a:pt x="258" y="589"/>
                  </a:lnTo>
                  <a:lnTo>
                    <a:pt x="240" y="565"/>
                  </a:lnTo>
                  <a:lnTo>
                    <a:pt x="228" y="540"/>
                  </a:lnTo>
                  <a:lnTo>
                    <a:pt x="222" y="528"/>
                  </a:lnTo>
                  <a:lnTo>
                    <a:pt x="228" y="522"/>
                  </a:lnTo>
                  <a:lnTo>
                    <a:pt x="234" y="510"/>
                  </a:lnTo>
                  <a:lnTo>
                    <a:pt x="240" y="504"/>
                  </a:lnTo>
                  <a:lnTo>
                    <a:pt x="252" y="498"/>
                  </a:lnTo>
                  <a:lnTo>
                    <a:pt x="264" y="498"/>
                  </a:lnTo>
                  <a:lnTo>
                    <a:pt x="276" y="498"/>
                  </a:lnTo>
                  <a:lnTo>
                    <a:pt x="288" y="510"/>
                  </a:lnTo>
                  <a:lnTo>
                    <a:pt x="300" y="516"/>
                  </a:lnTo>
                  <a:lnTo>
                    <a:pt x="306" y="522"/>
                  </a:lnTo>
                  <a:lnTo>
                    <a:pt x="318" y="528"/>
                  </a:lnTo>
                  <a:lnTo>
                    <a:pt x="306" y="516"/>
                  </a:lnTo>
                  <a:lnTo>
                    <a:pt x="282" y="498"/>
                  </a:lnTo>
                  <a:lnTo>
                    <a:pt x="288" y="492"/>
                  </a:lnTo>
                  <a:lnTo>
                    <a:pt x="282" y="492"/>
                  </a:lnTo>
                  <a:lnTo>
                    <a:pt x="270" y="492"/>
                  </a:lnTo>
                  <a:lnTo>
                    <a:pt x="264" y="486"/>
                  </a:lnTo>
                  <a:lnTo>
                    <a:pt x="252" y="480"/>
                  </a:lnTo>
                  <a:lnTo>
                    <a:pt x="246" y="474"/>
                  </a:lnTo>
                  <a:lnTo>
                    <a:pt x="228" y="474"/>
                  </a:lnTo>
                  <a:lnTo>
                    <a:pt x="216" y="474"/>
                  </a:lnTo>
                  <a:lnTo>
                    <a:pt x="204" y="486"/>
                  </a:lnTo>
                  <a:lnTo>
                    <a:pt x="198" y="492"/>
                  </a:lnTo>
                  <a:lnTo>
                    <a:pt x="198" y="504"/>
                  </a:lnTo>
                  <a:lnTo>
                    <a:pt x="198" y="516"/>
                  </a:lnTo>
                  <a:lnTo>
                    <a:pt x="198" y="546"/>
                  </a:lnTo>
                  <a:lnTo>
                    <a:pt x="198" y="577"/>
                  </a:lnTo>
                  <a:lnTo>
                    <a:pt x="204" y="607"/>
                  </a:lnTo>
                  <a:lnTo>
                    <a:pt x="204" y="637"/>
                  </a:lnTo>
                  <a:lnTo>
                    <a:pt x="216" y="679"/>
                  </a:lnTo>
                  <a:lnTo>
                    <a:pt x="228" y="703"/>
                  </a:lnTo>
                  <a:lnTo>
                    <a:pt x="234" y="721"/>
                  </a:lnTo>
                  <a:lnTo>
                    <a:pt x="234" y="763"/>
                  </a:lnTo>
                  <a:lnTo>
                    <a:pt x="228" y="793"/>
                  </a:lnTo>
                  <a:lnTo>
                    <a:pt x="222" y="811"/>
                  </a:lnTo>
                  <a:lnTo>
                    <a:pt x="216" y="823"/>
                  </a:lnTo>
                  <a:lnTo>
                    <a:pt x="204" y="829"/>
                  </a:lnTo>
                  <a:lnTo>
                    <a:pt x="186" y="835"/>
                  </a:lnTo>
                  <a:lnTo>
                    <a:pt x="168" y="841"/>
                  </a:lnTo>
                  <a:lnTo>
                    <a:pt x="150" y="835"/>
                  </a:lnTo>
                  <a:lnTo>
                    <a:pt x="144" y="829"/>
                  </a:lnTo>
                  <a:lnTo>
                    <a:pt x="138" y="787"/>
                  </a:lnTo>
                  <a:lnTo>
                    <a:pt x="132" y="775"/>
                  </a:lnTo>
                  <a:lnTo>
                    <a:pt x="132" y="769"/>
                  </a:lnTo>
                  <a:lnTo>
                    <a:pt x="126" y="745"/>
                  </a:lnTo>
                  <a:lnTo>
                    <a:pt x="108" y="709"/>
                  </a:lnTo>
                  <a:lnTo>
                    <a:pt x="102" y="697"/>
                  </a:lnTo>
                  <a:lnTo>
                    <a:pt x="102" y="685"/>
                  </a:lnTo>
                  <a:lnTo>
                    <a:pt x="96" y="685"/>
                  </a:lnTo>
                  <a:lnTo>
                    <a:pt x="96" y="679"/>
                  </a:lnTo>
                  <a:lnTo>
                    <a:pt x="96" y="673"/>
                  </a:lnTo>
                  <a:lnTo>
                    <a:pt x="84" y="655"/>
                  </a:lnTo>
                  <a:lnTo>
                    <a:pt x="78" y="613"/>
                  </a:lnTo>
                  <a:lnTo>
                    <a:pt x="60" y="571"/>
                  </a:lnTo>
                  <a:lnTo>
                    <a:pt x="48" y="522"/>
                  </a:lnTo>
                  <a:lnTo>
                    <a:pt x="30" y="468"/>
                  </a:lnTo>
                  <a:lnTo>
                    <a:pt x="24" y="426"/>
                  </a:lnTo>
                  <a:lnTo>
                    <a:pt x="18" y="366"/>
                  </a:lnTo>
                  <a:lnTo>
                    <a:pt x="18" y="306"/>
                  </a:lnTo>
                  <a:lnTo>
                    <a:pt x="18" y="300"/>
                  </a:lnTo>
                  <a:lnTo>
                    <a:pt x="0" y="270"/>
                  </a:lnTo>
                  <a:lnTo>
                    <a:pt x="72" y="204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FFBD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2" name="Freeform 41"/>
            <p:cNvSpPr>
              <a:spLocks/>
            </p:cNvSpPr>
            <p:nvPr/>
          </p:nvSpPr>
          <p:spPr bwMode="auto">
            <a:xfrm>
              <a:off x="2457" y="3183"/>
              <a:ext cx="445" cy="132"/>
            </a:xfrm>
            <a:custGeom>
              <a:avLst/>
              <a:gdLst>
                <a:gd name="T0" fmla="*/ 24 w 445"/>
                <a:gd name="T1" fmla="*/ 0 h 132"/>
                <a:gd name="T2" fmla="*/ 42 w 445"/>
                <a:gd name="T3" fmla="*/ 6 h 132"/>
                <a:gd name="T4" fmla="*/ 60 w 445"/>
                <a:gd name="T5" fmla="*/ 6 h 132"/>
                <a:gd name="T6" fmla="*/ 72 w 445"/>
                <a:gd name="T7" fmla="*/ 12 h 132"/>
                <a:gd name="T8" fmla="*/ 90 w 445"/>
                <a:gd name="T9" fmla="*/ 6 h 132"/>
                <a:gd name="T10" fmla="*/ 102 w 445"/>
                <a:gd name="T11" fmla="*/ 6 h 132"/>
                <a:gd name="T12" fmla="*/ 120 w 445"/>
                <a:gd name="T13" fmla="*/ 6 h 132"/>
                <a:gd name="T14" fmla="*/ 144 w 445"/>
                <a:gd name="T15" fmla="*/ 6 h 132"/>
                <a:gd name="T16" fmla="*/ 174 w 445"/>
                <a:gd name="T17" fmla="*/ 18 h 132"/>
                <a:gd name="T18" fmla="*/ 210 w 445"/>
                <a:gd name="T19" fmla="*/ 24 h 132"/>
                <a:gd name="T20" fmla="*/ 246 w 445"/>
                <a:gd name="T21" fmla="*/ 36 h 132"/>
                <a:gd name="T22" fmla="*/ 289 w 445"/>
                <a:gd name="T23" fmla="*/ 54 h 132"/>
                <a:gd name="T24" fmla="*/ 337 w 445"/>
                <a:gd name="T25" fmla="*/ 72 h 132"/>
                <a:gd name="T26" fmla="*/ 379 w 445"/>
                <a:gd name="T27" fmla="*/ 96 h 132"/>
                <a:gd name="T28" fmla="*/ 409 w 445"/>
                <a:gd name="T29" fmla="*/ 108 h 132"/>
                <a:gd name="T30" fmla="*/ 427 w 445"/>
                <a:gd name="T31" fmla="*/ 114 h 132"/>
                <a:gd name="T32" fmla="*/ 445 w 445"/>
                <a:gd name="T33" fmla="*/ 126 h 132"/>
                <a:gd name="T34" fmla="*/ 433 w 445"/>
                <a:gd name="T35" fmla="*/ 120 h 132"/>
                <a:gd name="T36" fmla="*/ 421 w 445"/>
                <a:gd name="T37" fmla="*/ 120 h 132"/>
                <a:gd name="T38" fmla="*/ 409 w 445"/>
                <a:gd name="T39" fmla="*/ 126 h 132"/>
                <a:gd name="T40" fmla="*/ 403 w 445"/>
                <a:gd name="T41" fmla="*/ 126 h 132"/>
                <a:gd name="T42" fmla="*/ 385 w 445"/>
                <a:gd name="T43" fmla="*/ 120 h 132"/>
                <a:gd name="T44" fmla="*/ 367 w 445"/>
                <a:gd name="T45" fmla="*/ 108 h 132"/>
                <a:gd name="T46" fmla="*/ 349 w 445"/>
                <a:gd name="T47" fmla="*/ 96 h 132"/>
                <a:gd name="T48" fmla="*/ 325 w 445"/>
                <a:gd name="T49" fmla="*/ 84 h 132"/>
                <a:gd name="T50" fmla="*/ 301 w 445"/>
                <a:gd name="T51" fmla="*/ 72 h 132"/>
                <a:gd name="T52" fmla="*/ 271 w 445"/>
                <a:gd name="T53" fmla="*/ 60 h 132"/>
                <a:gd name="T54" fmla="*/ 246 w 445"/>
                <a:gd name="T55" fmla="*/ 54 h 132"/>
                <a:gd name="T56" fmla="*/ 222 w 445"/>
                <a:gd name="T57" fmla="*/ 42 h 132"/>
                <a:gd name="T58" fmla="*/ 204 w 445"/>
                <a:gd name="T59" fmla="*/ 36 h 132"/>
                <a:gd name="T60" fmla="*/ 186 w 445"/>
                <a:gd name="T61" fmla="*/ 36 h 132"/>
                <a:gd name="T62" fmla="*/ 174 w 445"/>
                <a:gd name="T63" fmla="*/ 30 h 132"/>
                <a:gd name="T64" fmla="*/ 150 w 445"/>
                <a:gd name="T65" fmla="*/ 30 h 132"/>
                <a:gd name="T66" fmla="*/ 126 w 445"/>
                <a:gd name="T67" fmla="*/ 30 h 132"/>
                <a:gd name="T68" fmla="*/ 102 w 445"/>
                <a:gd name="T69" fmla="*/ 30 h 132"/>
                <a:gd name="T70" fmla="*/ 84 w 445"/>
                <a:gd name="T71" fmla="*/ 36 h 132"/>
                <a:gd name="T72" fmla="*/ 66 w 445"/>
                <a:gd name="T73" fmla="*/ 42 h 132"/>
                <a:gd name="T74" fmla="*/ 54 w 445"/>
                <a:gd name="T75" fmla="*/ 60 h 132"/>
                <a:gd name="T76" fmla="*/ 42 w 445"/>
                <a:gd name="T77" fmla="*/ 72 h 132"/>
                <a:gd name="T78" fmla="*/ 30 w 445"/>
                <a:gd name="T79" fmla="*/ 90 h 132"/>
                <a:gd name="T80" fmla="*/ 18 w 445"/>
                <a:gd name="T81" fmla="*/ 108 h 132"/>
                <a:gd name="T82" fmla="*/ 12 w 445"/>
                <a:gd name="T83" fmla="*/ 120 h 132"/>
                <a:gd name="T84" fmla="*/ 0 w 445"/>
                <a:gd name="T85" fmla="*/ 132 h 132"/>
                <a:gd name="T86" fmla="*/ 24 w 445"/>
                <a:gd name="T87" fmla="*/ 0 h 1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45" h="132">
                  <a:moveTo>
                    <a:pt x="24" y="0"/>
                  </a:moveTo>
                  <a:lnTo>
                    <a:pt x="42" y="6"/>
                  </a:lnTo>
                  <a:lnTo>
                    <a:pt x="60" y="6"/>
                  </a:lnTo>
                  <a:lnTo>
                    <a:pt x="72" y="12"/>
                  </a:lnTo>
                  <a:lnTo>
                    <a:pt x="90" y="6"/>
                  </a:lnTo>
                  <a:lnTo>
                    <a:pt x="102" y="6"/>
                  </a:lnTo>
                  <a:lnTo>
                    <a:pt x="120" y="6"/>
                  </a:lnTo>
                  <a:lnTo>
                    <a:pt x="144" y="6"/>
                  </a:lnTo>
                  <a:lnTo>
                    <a:pt x="174" y="18"/>
                  </a:lnTo>
                  <a:lnTo>
                    <a:pt x="210" y="24"/>
                  </a:lnTo>
                  <a:lnTo>
                    <a:pt x="246" y="36"/>
                  </a:lnTo>
                  <a:lnTo>
                    <a:pt x="289" y="54"/>
                  </a:lnTo>
                  <a:lnTo>
                    <a:pt x="337" y="72"/>
                  </a:lnTo>
                  <a:lnTo>
                    <a:pt x="379" y="96"/>
                  </a:lnTo>
                  <a:lnTo>
                    <a:pt x="409" y="108"/>
                  </a:lnTo>
                  <a:lnTo>
                    <a:pt x="427" y="114"/>
                  </a:lnTo>
                  <a:lnTo>
                    <a:pt x="445" y="126"/>
                  </a:lnTo>
                  <a:lnTo>
                    <a:pt x="433" y="120"/>
                  </a:lnTo>
                  <a:lnTo>
                    <a:pt x="421" y="120"/>
                  </a:lnTo>
                  <a:lnTo>
                    <a:pt x="409" y="126"/>
                  </a:lnTo>
                  <a:lnTo>
                    <a:pt x="403" y="126"/>
                  </a:lnTo>
                  <a:lnTo>
                    <a:pt x="385" y="120"/>
                  </a:lnTo>
                  <a:lnTo>
                    <a:pt x="367" y="108"/>
                  </a:lnTo>
                  <a:lnTo>
                    <a:pt x="349" y="96"/>
                  </a:lnTo>
                  <a:lnTo>
                    <a:pt x="325" y="84"/>
                  </a:lnTo>
                  <a:lnTo>
                    <a:pt x="301" y="72"/>
                  </a:lnTo>
                  <a:lnTo>
                    <a:pt x="271" y="60"/>
                  </a:lnTo>
                  <a:lnTo>
                    <a:pt x="246" y="54"/>
                  </a:lnTo>
                  <a:lnTo>
                    <a:pt x="222" y="42"/>
                  </a:lnTo>
                  <a:lnTo>
                    <a:pt x="204" y="36"/>
                  </a:lnTo>
                  <a:lnTo>
                    <a:pt x="186" y="36"/>
                  </a:lnTo>
                  <a:lnTo>
                    <a:pt x="174" y="30"/>
                  </a:lnTo>
                  <a:lnTo>
                    <a:pt x="150" y="30"/>
                  </a:lnTo>
                  <a:lnTo>
                    <a:pt x="126" y="30"/>
                  </a:lnTo>
                  <a:lnTo>
                    <a:pt x="102" y="30"/>
                  </a:lnTo>
                  <a:lnTo>
                    <a:pt x="84" y="36"/>
                  </a:lnTo>
                  <a:lnTo>
                    <a:pt x="66" y="42"/>
                  </a:lnTo>
                  <a:lnTo>
                    <a:pt x="54" y="60"/>
                  </a:lnTo>
                  <a:lnTo>
                    <a:pt x="42" y="72"/>
                  </a:lnTo>
                  <a:lnTo>
                    <a:pt x="30" y="90"/>
                  </a:lnTo>
                  <a:lnTo>
                    <a:pt x="18" y="108"/>
                  </a:lnTo>
                  <a:lnTo>
                    <a:pt x="12" y="120"/>
                  </a:lnTo>
                  <a:lnTo>
                    <a:pt x="0" y="13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3" name="Freeform 42"/>
            <p:cNvSpPr>
              <a:spLocks/>
            </p:cNvSpPr>
            <p:nvPr/>
          </p:nvSpPr>
          <p:spPr bwMode="auto">
            <a:xfrm>
              <a:off x="2884" y="3417"/>
              <a:ext cx="96" cy="114"/>
            </a:xfrm>
            <a:custGeom>
              <a:avLst/>
              <a:gdLst>
                <a:gd name="T0" fmla="*/ 90 w 96"/>
                <a:gd name="T1" fmla="*/ 108 h 114"/>
                <a:gd name="T2" fmla="*/ 96 w 96"/>
                <a:gd name="T3" fmla="*/ 96 h 114"/>
                <a:gd name="T4" fmla="*/ 96 w 96"/>
                <a:gd name="T5" fmla="*/ 84 h 114"/>
                <a:gd name="T6" fmla="*/ 90 w 96"/>
                <a:gd name="T7" fmla="*/ 66 h 114"/>
                <a:gd name="T8" fmla="*/ 78 w 96"/>
                <a:gd name="T9" fmla="*/ 54 h 114"/>
                <a:gd name="T10" fmla="*/ 66 w 96"/>
                <a:gd name="T11" fmla="*/ 36 h 114"/>
                <a:gd name="T12" fmla="*/ 42 w 96"/>
                <a:gd name="T13" fmla="*/ 24 h 114"/>
                <a:gd name="T14" fmla="*/ 24 w 96"/>
                <a:gd name="T15" fmla="*/ 12 h 114"/>
                <a:gd name="T16" fmla="*/ 0 w 96"/>
                <a:gd name="T17" fmla="*/ 0 h 114"/>
                <a:gd name="T18" fmla="*/ 24 w 96"/>
                <a:gd name="T19" fmla="*/ 18 h 114"/>
                <a:gd name="T20" fmla="*/ 30 w 96"/>
                <a:gd name="T21" fmla="*/ 24 h 114"/>
                <a:gd name="T22" fmla="*/ 42 w 96"/>
                <a:gd name="T23" fmla="*/ 30 h 114"/>
                <a:gd name="T24" fmla="*/ 54 w 96"/>
                <a:gd name="T25" fmla="*/ 42 h 114"/>
                <a:gd name="T26" fmla="*/ 60 w 96"/>
                <a:gd name="T27" fmla="*/ 48 h 114"/>
                <a:gd name="T28" fmla="*/ 72 w 96"/>
                <a:gd name="T29" fmla="*/ 60 h 114"/>
                <a:gd name="T30" fmla="*/ 78 w 96"/>
                <a:gd name="T31" fmla="*/ 72 h 114"/>
                <a:gd name="T32" fmla="*/ 84 w 96"/>
                <a:gd name="T33" fmla="*/ 90 h 114"/>
                <a:gd name="T34" fmla="*/ 84 w 96"/>
                <a:gd name="T35" fmla="*/ 102 h 114"/>
                <a:gd name="T36" fmla="*/ 84 w 96"/>
                <a:gd name="T37" fmla="*/ 114 h 114"/>
                <a:gd name="T38" fmla="*/ 90 w 96"/>
                <a:gd name="T39" fmla="*/ 108 h 11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114">
                  <a:moveTo>
                    <a:pt x="90" y="108"/>
                  </a:moveTo>
                  <a:lnTo>
                    <a:pt x="96" y="96"/>
                  </a:lnTo>
                  <a:lnTo>
                    <a:pt x="96" y="84"/>
                  </a:lnTo>
                  <a:lnTo>
                    <a:pt x="90" y="66"/>
                  </a:lnTo>
                  <a:lnTo>
                    <a:pt x="78" y="54"/>
                  </a:lnTo>
                  <a:lnTo>
                    <a:pt x="66" y="36"/>
                  </a:lnTo>
                  <a:lnTo>
                    <a:pt x="42" y="24"/>
                  </a:lnTo>
                  <a:lnTo>
                    <a:pt x="24" y="12"/>
                  </a:lnTo>
                  <a:lnTo>
                    <a:pt x="0" y="0"/>
                  </a:lnTo>
                  <a:lnTo>
                    <a:pt x="24" y="18"/>
                  </a:lnTo>
                  <a:lnTo>
                    <a:pt x="30" y="24"/>
                  </a:lnTo>
                  <a:lnTo>
                    <a:pt x="42" y="30"/>
                  </a:lnTo>
                  <a:lnTo>
                    <a:pt x="54" y="42"/>
                  </a:lnTo>
                  <a:lnTo>
                    <a:pt x="60" y="48"/>
                  </a:lnTo>
                  <a:lnTo>
                    <a:pt x="72" y="60"/>
                  </a:lnTo>
                  <a:lnTo>
                    <a:pt x="78" y="72"/>
                  </a:lnTo>
                  <a:lnTo>
                    <a:pt x="84" y="90"/>
                  </a:lnTo>
                  <a:lnTo>
                    <a:pt x="84" y="102"/>
                  </a:lnTo>
                  <a:lnTo>
                    <a:pt x="84" y="114"/>
                  </a:lnTo>
                  <a:lnTo>
                    <a:pt x="90" y="108"/>
                  </a:lnTo>
                  <a:close/>
                </a:path>
              </a:pathLst>
            </a:custGeom>
            <a:solidFill>
              <a:srgbClr val="FCA4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4" name="Freeform 43"/>
            <p:cNvSpPr>
              <a:spLocks/>
            </p:cNvSpPr>
            <p:nvPr/>
          </p:nvSpPr>
          <p:spPr bwMode="auto">
            <a:xfrm>
              <a:off x="2848" y="3537"/>
              <a:ext cx="114" cy="138"/>
            </a:xfrm>
            <a:custGeom>
              <a:avLst/>
              <a:gdLst>
                <a:gd name="T0" fmla="*/ 108 w 114"/>
                <a:gd name="T1" fmla="*/ 132 h 138"/>
                <a:gd name="T2" fmla="*/ 114 w 114"/>
                <a:gd name="T3" fmla="*/ 114 h 138"/>
                <a:gd name="T4" fmla="*/ 108 w 114"/>
                <a:gd name="T5" fmla="*/ 96 h 138"/>
                <a:gd name="T6" fmla="*/ 108 w 114"/>
                <a:gd name="T7" fmla="*/ 84 h 138"/>
                <a:gd name="T8" fmla="*/ 96 w 114"/>
                <a:gd name="T9" fmla="*/ 66 h 138"/>
                <a:gd name="T10" fmla="*/ 90 w 114"/>
                <a:gd name="T11" fmla="*/ 54 h 138"/>
                <a:gd name="T12" fmla="*/ 72 w 114"/>
                <a:gd name="T13" fmla="*/ 42 h 138"/>
                <a:gd name="T14" fmla="*/ 54 w 114"/>
                <a:gd name="T15" fmla="*/ 30 h 138"/>
                <a:gd name="T16" fmla="*/ 30 w 114"/>
                <a:gd name="T17" fmla="*/ 18 h 138"/>
                <a:gd name="T18" fmla="*/ 0 w 114"/>
                <a:gd name="T19" fmla="*/ 0 h 138"/>
                <a:gd name="T20" fmla="*/ 18 w 114"/>
                <a:gd name="T21" fmla="*/ 12 h 138"/>
                <a:gd name="T22" fmla="*/ 30 w 114"/>
                <a:gd name="T23" fmla="*/ 24 h 138"/>
                <a:gd name="T24" fmla="*/ 48 w 114"/>
                <a:gd name="T25" fmla="*/ 36 h 138"/>
                <a:gd name="T26" fmla="*/ 60 w 114"/>
                <a:gd name="T27" fmla="*/ 48 h 138"/>
                <a:gd name="T28" fmla="*/ 72 w 114"/>
                <a:gd name="T29" fmla="*/ 60 h 138"/>
                <a:gd name="T30" fmla="*/ 84 w 114"/>
                <a:gd name="T31" fmla="*/ 78 h 138"/>
                <a:gd name="T32" fmla="*/ 90 w 114"/>
                <a:gd name="T33" fmla="*/ 96 h 138"/>
                <a:gd name="T34" fmla="*/ 96 w 114"/>
                <a:gd name="T35" fmla="*/ 120 h 138"/>
                <a:gd name="T36" fmla="*/ 102 w 114"/>
                <a:gd name="T37" fmla="*/ 138 h 138"/>
                <a:gd name="T38" fmla="*/ 108 w 114"/>
                <a:gd name="T39" fmla="*/ 132 h 13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14" h="138">
                  <a:moveTo>
                    <a:pt x="108" y="132"/>
                  </a:moveTo>
                  <a:lnTo>
                    <a:pt x="114" y="114"/>
                  </a:lnTo>
                  <a:lnTo>
                    <a:pt x="108" y="96"/>
                  </a:lnTo>
                  <a:lnTo>
                    <a:pt x="108" y="84"/>
                  </a:lnTo>
                  <a:lnTo>
                    <a:pt x="96" y="66"/>
                  </a:lnTo>
                  <a:lnTo>
                    <a:pt x="90" y="54"/>
                  </a:lnTo>
                  <a:lnTo>
                    <a:pt x="72" y="42"/>
                  </a:lnTo>
                  <a:lnTo>
                    <a:pt x="54" y="30"/>
                  </a:lnTo>
                  <a:lnTo>
                    <a:pt x="30" y="18"/>
                  </a:lnTo>
                  <a:lnTo>
                    <a:pt x="0" y="0"/>
                  </a:lnTo>
                  <a:lnTo>
                    <a:pt x="18" y="12"/>
                  </a:lnTo>
                  <a:lnTo>
                    <a:pt x="30" y="24"/>
                  </a:lnTo>
                  <a:lnTo>
                    <a:pt x="48" y="36"/>
                  </a:lnTo>
                  <a:lnTo>
                    <a:pt x="60" y="48"/>
                  </a:lnTo>
                  <a:lnTo>
                    <a:pt x="72" y="60"/>
                  </a:lnTo>
                  <a:lnTo>
                    <a:pt x="84" y="78"/>
                  </a:lnTo>
                  <a:lnTo>
                    <a:pt x="90" y="96"/>
                  </a:lnTo>
                  <a:lnTo>
                    <a:pt x="96" y="120"/>
                  </a:lnTo>
                  <a:lnTo>
                    <a:pt x="102" y="138"/>
                  </a:lnTo>
                  <a:lnTo>
                    <a:pt x="108" y="132"/>
                  </a:lnTo>
                  <a:close/>
                </a:path>
              </a:pathLst>
            </a:custGeom>
            <a:solidFill>
              <a:srgbClr val="FCA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5" name="Freeform 44"/>
            <p:cNvSpPr>
              <a:spLocks/>
            </p:cNvSpPr>
            <p:nvPr/>
          </p:nvSpPr>
          <p:spPr bwMode="auto">
            <a:xfrm>
              <a:off x="2794" y="3675"/>
              <a:ext cx="90" cy="103"/>
            </a:xfrm>
            <a:custGeom>
              <a:avLst/>
              <a:gdLst>
                <a:gd name="T0" fmla="*/ 0 w 90"/>
                <a:gd name="T1" fmla="*/ 0 h 103"/>
                <a:gd name="T2" fmla="*/ 24 w 90"/>
                <a:gd name="T3" fmla="*/ 12 h 103"/>
                <a:gd name="T4" fmla="*/ 48 w 90"/>
                <a:gd name="T5" fmla="*/ 24 h 103"/>
                <a:gd name="T6" fmla="*/ 66 w 90"/>
                <a:gd name="T7" fmla="*/ 36 h 103"/>
                <a:gd name="T8" fmla="*/ 78 w 90"/>
                <a:gd name="T9" fmla="*/ 48 h 103"/>
                <a:gd name="T10" fmla="*/ 84 w 90"/>
                <a:gd name="T11" fmla="*/ 67 h 103"/>
                <a:gd name="T12" fmla="*/ 90 w 90"/>
                <a:gd name="T13" fmla="*/ 85 h 103"/>
                <a:gd name="T14" fmla="*/ 90 w 90"/>
                <a:gd name="T15" fmla="*/ 103 h 103"/>
                <a:gd name="T16" fmla="*/ 84 w 90"/>
                <a:gd name="T17" fmla="*/ 103 h 103"/>
                <a:gd name="T18" fmla="*/ 72 w 90"/>
                <a:gd name="T19" fmla="*/ 103 h 103"/>
                <a:gd name="T20" fmla="*/ 72 w 90"/>
                <a:gd name="T21" fmla="*/ 91 h 103"/>
                <a:gd name="T22" fmla="*/ 66 w 90"/>
                <a:gd name="T23" fmla="*/ 73 h 103"/>
                <a:gd name="T24" fmla="*/ 60 w 90"/>
                <a:gd name="T25" fmla="*/ 54 h 103"/>
                <a:gd name="T26" fmla="*/ 48 w 90"/>
                <a:gd name="T27" fmla="*/ 36 h 103"/>
                <a:gd name="T28" fmla="*/ 30 w 90"/>
                <a:gd name="T29" fmla="*/ 24 h 103"/>
                <a:gd name="T30" fmla="*/ 18 w 90"/>
                <a:gd name="T31" fmla="*/ 12 h 103"/>
                <a:gd name="T32" fmla="*/ 0 w 90"/>
                <a:gd name="T33" fmla="*/ 0 h 10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0" h="103">
                  <a:moveTo>
                    <a:pt x="0" y="0"/>
                  </a:moveTo>
                  <a:lnTo>
                    <a:pt x="24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48"/>
                  </a:lnTo>
                  <a:lnTo>
                    <a:pt x="84" y="67"/>
                  </a:lnTo>
                  <a:lnTo>
                    <a:pt x="90" y="85"/>
                  </a:lnTo>
                  <a:lnTo>
                    <a:pt x="90" y="103"/>
                  </a:lnTo>
                  <a:lnTo>
                    <a:pt x="84" y="103"/>
                  </a:lnTo>
                  <a:lnTo>
                    <a:pt x="72" y="103"/>
                  </a:lnTo>
                  <a:lnTo>
                    <a:pt x="72" y="91"/>
                  </a:lnTo>
                  <a:lnTo>
                    <a:pt x="66" y="73"/>
                  </a:lnTo>
                  <a:lnTo>
                    <a:pt x="60" y="54"/>
                  </a:lnTo>
                  <a:lnTo>
                    <a:pt x="48" y="36"/>
                  </a:lnTo>
                  <a:lnTo>
                    <a:pt x="30" y="24"/>
                  </a:lnTo>
                  <a:lnTo>
                    <a:pt x="18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6" name="Freeform 45"/>
            <p:cNvSpPr>
              <a:spLocks/>
            </p:cNvSpPr>
            <p:nvPr/>
          </p:nvSpPr>
          <p:spPr bwMode="auto">
            <a:xfrm>
              <a:off x="2577" y="3681"/>
              <a:ext cx="235" cy="151"/>
            </a:xfrm>
            <a:custGeom>
              <a:avLst/>
              <a:gdLst>
                <a:gd name="T0" fmla="*/ 84 w 235"/>
                <a:gd name="T1" fmla="*/ 24 h 151"/>
                <a:gd name="T2" fmla="*/ 120 w 235"/>
                <a:gd name="T3" fmla="*/ 30 h 151"/>
                <a:gd name="T4" fmla="*/ 157 w 235"/>
                <a:gd name="T5" fmla="*/ 42 h 151"/>
                <a:gd name="T6" fmla="*/ 175 w 235"/>
                <a:gd name="T7" fmla="*/ 54 h 151"/>
                <a:gd name="T8" fmla="*/ 199 w 235"/>
                <a:gd name="T9" fmla="*/ 73 h 151"/>
                <a:gd name="T10" fmla="*/ 217 w 235"/>
                <a:gd name="T11" fmla="*/ 91 h 151"/>
                <a:gd name="T12" fmla="*/ 235 w 235"/>
                <a:gd name="T13" fmla="*/ 109 h 151"/>
                <a:gd name="T14" fmla="*/ 205 w 235"/>
                <a:gd name="T15" fmla="*/ 85 h 151"/>
                <a:gd name="T16" fmla="*/ 175 w 235"/>
                <a:gd name="T17" fmla="*/ 67 h 151"/>
                <a:gd name="T18" fmla="*/ 157 w 235"/>
                <a:gd name="T19" fmla="*/ 48 h 151"/>
                <a:gd name="T20" fmla="*/ 132 w 235"/>
                <a:gd name="T21" fmla="*/ 48 h 151"/>
                <a:gd name="T22" fmla="*/ 114 w 235"/>
                <a:gd name="T23" fmla="*/ 42 h 151"/>
                <a:gd name="T24" fmla="*/ 102 w 235"/>
                <a:gd name="T25" fmla="*/ 36 h 151"/>
                <a:gd name="T26" fmla="*/ 108 w 235"/>
                <a:gd name="T27" fmla="*/ 54 h 151"/>
                <a:gd name="T28" fmla="*/ 108 w 235"/>
                <a:gd name="T29" fmla="*/ 73 h 151"/>
                <a:gd name="T30" fmla="*/ 114 w 235"/>
                <a:gd name="T31" fmla="*/ 91 h 151"/>
                <a:gd name="T32" fmla="*/ 120 w 235"/>
                <a:gd name="T33" fmla="*/ 109 h 151"/>
                <a:gd name="T34" fmla="*/ 126 w 235"/>
                <a:gd name="T35" fmla="*/ 127 h 151"/>
                <a:gd name="T36" fmla="*/ 132 w 235"/>
                <a:gd name="T37" fmla="*/ 133 h 151"/>
                <a:gd name="T38" fmla="*/ 138 w 235"/>
                <a:gd name="T39" fmla="*/ 151 h 151"/>
                <a:gd name="T40" fmla="*/ 126 w 235"/>
                <a:gd name="T41" fmla="*/ 133 h 151"/>
                <a:gd name="T42" fmla="*/ 120 w 235"/>
                <a:gd name="T43" fmla="*/ 115 h 151"/>
                <a:gd name="T44" fmla="*/ 108 w 235"/>
                <a:gd name="T45" fmla="*/ 97 h 151"/>
                <a:gd name="T46" fmla="*/ 102 w 235"/>
                <a:gd name="T47" fmla="*/ 85 h 151"/>
                <a:gd name="T48" fmla="*/ 96 w 235"/>
                <a:gd name="T49" fmla="*/ 67 h 151"/>
                <a:gd name="T50" fmla="*/ 96 w 235"/>
                <a:gd name="T51" fmla="*/ 54 h 151"/>
                <a:gd name="T52" fmla="*/ 84 w 235"/>
                <a:gd name="T53" fmla="*/ 42 h 151"/>
                <a:gd name="T54" fmla="*/ 78 w 235"/>
                <a:gd name="T55" fmla="*/ 30 h 151"/>
                <a:gd name="T56" fmla="*/ 66 w 235"/>
                <a:gd name="T57" fmla="*/ 18 h 151"/>
                <a:gd name="T58" fmla="*/ 54 w 235"/>
                <a:gd name="T59" fmla="*/ 12 h 151"/>
                <a:gd name="T60" fmla="*/ 36 w 235"/>
                <a:gd name="T61" fmla="*/ 12 h 151"/>
                <a:gd name="T62" fmla="*/ 18 w 235"/>
                <a:gd name="T63" fmla="*/ 18 h 151"/>
                <a:gd name="T64" fmla="*/ 12 w 235"/>
                <a:gd name="T65" fmla="*/ 30 h 151"/>
                <a:gd name="T66" fmla="*/ 30 w 235"/>
                <a:gd name="T67" fmla="*/ 42 h 151"/>
                <a:gd name="T68" fmla="*/ 36 w 235"/>
                <a:gd name="T69" fmla="*/ 54 h 151"/>
                <a:gd name="T70" fmla="*/ 42 w 235"/>
                <a:gd name="T71" fmla="*/ 79 h 151"/>
                <a:gd name="T72" fmla="*/ 42 w 235"/>
                <a:gd name="T73" fmla="*/ 91 h 151"/>
                <a:gd name="T74" fmla="*/ 42 w 235"/>
                <a:gd name="T75" fmla="*/ 79 h 151"/>
                <a:gd name="T76" fmla="*/ 36 w 235"/>
                <a:gd name="T77" fmla="*/ 67 h 151"/>
                <a:gd name="T78" fmla="*/ 30 w 235"/>
                <a:gd name="T79" fmla="*/ 54 h 151"/>
                <a:gd name="T80" fmla="*/ 24 w 235"/>
                <a:gd name="T81" fmla="*/ 42 h 151"/>
                <a:gd name="T82" fmla="*/ 12 w 235"/>
                <a:gd name="T83" fmla="*/ 36 h 151"/>
                <a:gd name="T84" fmla="*/ 0 w 235"/>
                <a:gd name="T85" fmla="*/ 36 h 151"/>
                <a:gd name="T86" fmla="*/ 6 w 235"/>
                <a:gd name="T87" fmla="*/ 24 h 151"/>
                <a:gd name="T88" fmla="*/ 6 w 235"/>
                <a:gd name="T89" fmla="*/ 18 h 151"/>
                <a:gd name="T90" fmla="*/ 12 w 235"/>
                <a:gd name="T91" fmla="*/ 6 h 151"/>
                <a:gd name="T92" fmla="*/ 24 w 235"/>
                <a:gd name="T93" fmla="*/ 6 h 151"/>
                <a:gd name="T94" fmla="*/ 36 w 235"/>
                <a:gd name="T95" fmla="*/ 0 h 151"/>
                <a:gd name="T96" fmla="*/ 54 w 235"/>
                <a:gd name="T97" fmla="*/ 0 h 151"/>
                <a:gd name="T98" fmla="*/ 72 w 235"/>
                <a:gd name="T99" fmla="*/ 12 h 151"/>
                <a:gd name="T100" fmla="*/ 84 w 235"/>
                <a:gd name="T101" fmla="*/ 24 h 15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35" h="151">
                  <a:moveTo>
                    <a:pt x="84" y="24"/>
                  </a:moveTo>
                  <a:lnTo>
                    <a:pt x="120" y="30"/>
                  </a:lnTo>
                  <a:lnTo>
                    <a:pt x="157" y="42"/>
                  </a:lnTo>
                  <a:lnTo>
                    <a:pt x="175" y="54"/>
                  </a:lnTo>
                  <a:lnTo>
                    <a:pt x="199" y="73"/>
                  </a:lnTo>
                  <a:lnTo>
                    <a:pt x="217" y="91"/>
                  </a:lnTo>
                  <a:lnTo>
                    <a:pt x="235" y="109"/>
                  </a:lnTo>
                  <a:lnTo>
                    <a:pt x="205" y="85"/>
                  </a:lnTo>
                  <a:lnTo>
                    <a:pt x="175" y="67"/>
                  </a:lnTo>
                  <a:lnTo>
                    <a:pt x="157" y="48"/>
                  </a:lnTo>
                  <a:lnTo>
                    <a:pt x="132" y="48"/>
                  </a:lnTo>
                  <a:lnTo>
                    <a:pt x="114" y="42"/>
                  </a:lnTo>
                  <a:lnTo>
                    <a:pt x="102" y="36"/>
                  </a:lnTo>
                  <a:lnTo>
                    <a:pt x="108" y="54"/>
                  </a:lnTo>
                  <a:lnTo>
                    <a:pt x="108" y="73"/>
                  </a:lnTo>
                  <a:lnTo>
                    <a:pt x="114" y="91"/>
                  </a:lnTo>
                  <a:lnTo>
                    <a:pt x="120" y="109"/>
                  </a:lnTo>
                  <a:lnTo>
                    <a:pt x="126" y="127"/>
                  </a:lnTo>
                  <a:lnTo>
                    <a:pt x="132" y="133"/>
                  </a:lnTo>
                  <a:lnTo>
                    <a:pt x="138" y="151"/>
                  </a:lnTo>
                  <a:lnTo>
                    <a:pt x="126" y="133"/>
                  </a:lnTo>
                  <a:lnTo>
                    <a:pt x="120" y="115"/>
                  </a:lnTo>
                  <a:lnTo>
                    <a:pt x="108" y="97"/>
                  </a:lnTo>
                  <a:lnTo>
                    <a:pt x="102" y="85"/>
                  </a:lnTo>
                  <a:lnTo>
                    <a:pt x="96" y="67"/>
                  </a:lnTo>
                  <a:lnTo>
                    <a:pt x="96" y="54"/>
                  </a:lnTo>
                  <a:lnTo>
                    <a:pt x="84" y="42"/>
                  </a:lnTo>
                  <a:lnTo>
                    <a:pt x="78" y="30"/>
                  </a:lnTo>
                  <a:lnTo>
                    <a:pt x="66" y="18"/>
                  </a:lnTo>
                  <a:lnTo>
                    <a:pt x="54" y="12"/>
                  </a:lnTo>
                  <a:lnTo>
                    <a:pt x="36" y="12"/>
                  </a:lnTo>
                  <a:lnTo>
                    <a:pt x="18" y="18"/>
                  </a:lnTo>
                  <a:lnTo>
                    <a:pt x="12" y="30"/>
                  </a:lnTo>
                  <a:lnTo>
                    <a:pt x="30" y="42"/>
                  </a:lnTo>
                  <a:lnTo>
                    <a:pt x="36" y="54"/>
                  </a:lnTo>
                  <a:lnTo>
                    <a:pt x="42" y="79"/>
                  </a:lnTo>
                  <a:lnTo>
                    <a:pt x="42" y="91"/>
                  </a:lnTo>
                  <a:lnTo>
                    <a:pt x="42" y="79"/>
                  </a:lnTo>
                  <a:lnTo>
                    <a:pt x="36" y="67"/>
                  </a:lnTo>
                  <a:lnTo>
                    <a:pt x="30" y="54"/>
                  </a:lnTo>
                  <a:lnTo>
                    <a:pt x="24" y="42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6" y="24"/>
                  </a:lnTo>
                  <a:lnTo>
                    <a:pt x="6" y="18"/>
                  </a:lnTo>
                  <a:lnTo>
                    <a:pt x="12" y="6"/>
                  </a:lnTo>
                  <a:lnTo>
                    <a:pt x="24" y="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72" y="12"/>
                  </a:lnTo>
                  <a:lnTo>
                    <a:pt x="84" y="24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7" name="Freeform 46"/>
            <p:cNvSpPr>
              <a:spLocks/>
            </p:cNvSpPr>
            <p:nvPr/>
          </p:nvSpPr>
          <p:spPr bwMode="auto">
            <a:xfrm>
              <a:off x="2643" y="3651"/>
              <a:ext cx="48" cy="42"/>
            </a:xfrm>
            <a:custGeom>
              <a:avLst/>
              <a:gdLst>
                <a:gd name="T0" fmla="*/ 6 w 48"/>
                <a:gd name="T1" fmla="*/ 42 h 42"/>
                <a:gd name="T2" fmla="*/ 12 w 48"/>
                <a:gd name="T3" fmla="*/ 30 h 42"/>
                <a:gd name="T4" fmla="*/ 12 w 48"/>
                <a:gd name="T5" fmla="*/ 18 h 42"/>
                <a:gd name="T6" fmla="*/ 24 w 48"/>
                <a:gd name="T7" fmla="*/ 12 h 42"/>
                <a:gd name="T8" fmla="*/ 30 w 48"/>
                <a:gd name="T9" fmla="*/ 6 h 42"/>
                <a:gd name="T10" fmla="*/ 48 w 48"/>
                <a:gd name="T11" fmla="*/ 0 h 42"/>
                <a:gd name="T12" fmla="*/ 36 w 48"/>
                <a:gd name="T13" fmla="*/ 0 h 42"/>
                <a:gd name="T14" fmla="*/ 18 w 48"/>
                <a:gd name="T15" fmla="*/ 6 h 42"/>
                <a:gd name="T16" fmla="*/ 6 w 48"/>
                <a:gd name="T17" fmla="*/ 18 h 42"/>
                <a:gd name="T18" fmla="*/ 0 w 48"/>
                <a:gd name="T19" fmla="*/ 30 h 42"/>
                <a:gd name="T20" fmla="*/ 6 w 48"/>
                <a:gd name="T21" fmla="*/ 42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8" h="42">
                  <a:moveTo>
                    <a:pt x="6" y="42"/>
                  </a:moveTo>
                  <a:lnTo>
                    <a:pt x="12" y="30"/>
                  </a:lnTo>
                  <a:lnTo>
                    <a:pt x="12" y="18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18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6" y="4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8" name="Freeform 47"/>
            <p:cNvSpPr>
              <a:spLocks/>
            </p:cNvSpPr>
            <p:nvPr/>
          </p:nvSpPr>
          <p:spPr bwMode="auto">
            <a:xfrm>
              <a:off x="2619" y="3621"/>
              <a:ext cx="18" cy="48"/>
            </a:xfrm>
            <a:custGeom>
              <a:avLst/>
              <a:gdLst>
                <a:gd name="T0" fmla="*/ 0 w 18"/>
                <a:gd name="T1" fmla="*/ 48 h 48"/>
                <a:gd name="T2" fmla="*/ 0 w 18"/>
                <a:gd name="T3" fmla="*/ 36 h 48"/>
                <a:gd name="T4" fmla="*/ 0 w 18"/>
                <a:gd name="T5" fmla="*/ 24 h 48"/>
                <a:gd name="T6" fmla="*/ 12 w 18"/>
                <a:gd name="T7" fmla="*/ 18 h 48"/>
                <a:gd name="T8" fmla="*/ 18 w 18"/>
                <a:gd name="T9" fmla="*/ 6 h 48"/>
                <a:gd name="T10" fmla="*/ 12 w 18"/>
                <a:gd name="T11" fmla="*/ 0 h 48"/>
                <a:gd name="T12" fmla="*/ 0 w 18"/>
                <a:gd name="T13" fmla="*/ 4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48">
                  <a:moveTo>
                    <a:pt x="0" y="48"/>
                  </a:moveTo>
                  <a:lnTo>
                    <a:pt x="0" y="36"/>
                  </a:lnTo>
                  <a:lnTo>
                    <a:pt x="0" y="24"/>
                  </a:lnTo>
                  <a:lnTo>
                    <a:pt x="12" y="18"/>
                  </a:lnTo>
                  <a:lnTo>
                    <a:pt x="18" y="6"/>
                  </a:lnTo>
                  <a:lnTo>
                    <a:pt x="12" y="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9" name="Freeform 48"/>
            <p:cNvSpPr>
              <a:spLocks/>
            </p:cNvSpPr>
            <p:nvPr/>
          </p:nvSpPr>
          <p:spPr bwMode="auto">
            <a:xfrm>
              <a:off x="2523" y="3627"/>
              <a:ext cx="72" cy="193"/>
            </a:xfrm>
            <a:custGeom>
              <a:avLst/>
              <a:gdLst>
                <a:gd name="T0" fmla="*/ 30 w 72"/>
                <a:gd name="T1" fmla="*/ 193 h 193"/>
                <a:gd name="T2" fmla="*/ 36 w 72"/>
                <a:gd name="T3" fmla="*/ 169 h 193"/>
                <a:gd name="T4" fmla="*/ 30 w 72"/>
                <a:gd name="T5" fmla="*/ 139 h 193"/>
                <a:gd name="T6" fmla="*/ 30 w 72"/>
                <a:gd name="T7" fmla="*/ 102 h 193"/>
                <a:gd name="T8" fmla="*/ 30 w 72"/>
                <a:gd name="T9" fmla="*/ 66 h 193"/>
                <a:gd name="T10" fmla="*/ 30 w 72"/>
                <a:gd name="T11" fmla="*/ 54 h 193"/>
                <a:gd name="T12" fmla="*/ 36 w 72"/>
                <a:gd name="T13" fmla="*/ 42 h 193"/>
                <a:gd name="T14" fmla="*/ 48 w 72"/>
                <a:gd name="T15" fmla="*/ 36 h 193"/>
                <a:gd name="T16" fmla="*/ 60 w 72"/>
                <a:gd name="T17" fmla="*/ 30 h 193"/>
                <a:gd name="T18" fmla="*/ 66 w 72"/>
                <a:gd name="T19" fmla="*/ 24 h 193"/>
                <a:gd name="T20" fmla="*/ 66 w 72"/>
                <a:gd name="T21" fmla="*/ 12 h 193"/>
                <a:gd name="T22" fmla="*/ 72 w 72"/>
                <a:gd name="T23" fmla="*/ 0 h 193"/>
                <a:gd name="T24" fmla="*/ 60 w 72"/>
                <a:gd name="T25" fmla="*/ 12 h 193"/>
                <a:gd name="T26" fmla="*/ 60 w 72"/>
                <a:gd name="T27" fmla="*/ 24 h 193"/>
                <a:gd name="T28" fmla="*/ 48 w 72"/>
                <a:gd name="T29" fmla="*/ 24 h 193"/>
                <a:gd name="T30" fmla="*/ 36 w 72"/>
                <a:gd name="T31" fmla="*/ 30 h 193"/>
                <a:gd name="T32" fmla="*/ 30 w 72"/>
                <a:gd name="T33" fmla="*/ 36 h 193"/>
                <a:gd name="T34" fmla="*/ 24 w 72"/>
                <a:gd name="T35" fmla="*/ 42 h 193"/>
                <a:gd name="T36" fmla="*/ 12 w 72"/>
                <a:gd name="T37" fmla="*/ 36 h 193"/>
                <a:gd name="T38" fmla="*/ 6 w 72"/>
                <a:gd name="T39" fmla="*/ 24 h 193"/>
                <a:gd name="T40" fmla="*/ 6 w 72"/>
                <a:gd name="T41" fmla="*/ 12 h 193"/>
                <a:gd name="T42" fmla="*/ 0 w 72"/>
                <a:gd name="T43" fmla="*/ 6 h 193"/>
                <a:gd name="T44" fmla="*/ 0 w 72"/>
                <a:gd name="T45" fmla="*/ 18 h 193"/>
                <a:gd name="T46" fmla="*/ 0 w 72"/>
                <a:gd name="T47" fmla="*/ 36 h 193"/>
                <a:gd name="T48" fmla="*/ 0 w 72"/>
                <a:gd name="T49" fmla="*/ 48 h 193"/>
                <a:gd name="T50" fmla="*/ 6 w 72"/>
                <a:gd name="T51" fmla="*/ 60 h 193"/>
                <a:gd name="T52" fmla="*/ 0 w 72"/>
                <a:gd name="T53" fmla="*/ 72 h 193"/>
                <a:gd name="T54" fmla="*/ 6 w 72"/>
                <a:gd name="T55" fmla="*/ 90 h 193"/>
                <a:gd name="T56" fmla="*/ 12 w 72"/>
                <a:gd name="T57" fmla="*/ 102 h 193"/>
                <a:gd name="T58" fmla="*/ 12 w 72"/>
                <a:gd name="T59" fmla="*/ 115 h 193"/>
                <a:gd name="T60" fmla="*/ 18 w 72"/>
                <a:gd name="T61" fmla="*/ 127 h 193"/>
                <a:gd name="T62" fmla="*/ 18 w 72"/>
                <a:gd name="T63" fmla="*/ 139 h 193"/>
                <a:gd name="T64" fmla="*/ 12 w 72"/>
                <a:gd name="T65" fmla="*/ 145 h 193"/>
                <a:gd name="T66" fmla="*/ 0 w 72"/>
                <a:gd name="T67" fmla="*/ 139 h 193"/>
                <a:gd name="T68" fmla="*/ 6 w 72"/>
                <a:gd name="T69" fmla="*/ 151 h 193"/>
                <a:gd name="T70" fmla="*/ 12 w 72"/>
                <a:gd name="T71" fmla="*/ 163 h 193"/>
                <a:gd name="T72" fmla="*/ 12 w 72"/>
                <a:gd name="T73" fmla="*/ 175 h 193"/>
                <a:gd name="T74" fmla="*/ 18 w 72"/>
                <a:gd name="T75" fmla="*/ 187 h 193"/>
                <a:gd name="T76" fmla="*/ 30 w 72"/>
                <a:gd name="T77" fmla="*/ 193 h 193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72" h="193">
                  <a:moveTo>
                    <a:pt x="30" y="193"/>
                  </a:moveTo>
                  <a:lnTo>
                    <a:pt x="36" y="169"/>
                  </a:lnTo>
                  <a:lnTo>
                    <a:pt x="30" y="139"/>
                  </a:lnTo>
                  <a:lnTo>
                    <a:pt x="30" y="102"/>
                  </a:lnTo>
                  <a:lnTo>
                    <a:pt x="30" y="6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8" y="36"/>
                  </a:lnTo>
                  <a:lnTo>
                    <a:pt x="60" y="30"/>
                  </a:lnTo>
                  <a:lnTo>
                    <a:pt x="66" y="24"/>
                  </a:lnTo>
                  <a:lnTo>
                    <a:pt x="66" y="12"/>
                  </a:lnTo>
                  <a:lnTo>
                    <a:pt x="72" y="0"/>
                  </a:lnTo>
                  <a:lnTo>
                    <a:pt x="60" y="12"/>
                  </a:lnTo>
                  <a:lnTo>
                    <a:pt x="60" y="24"/>
                  </a:lnTo>
                  <a:lnTo>
                    <a:pt x="48" y="24"/>
                  </a:lnTo>
                  <a:lnTo>
                    <a:pt x="36" y="30"/>
                  </a:lnTo>
                  <a:lnTo>
                    <a:pt x="30" y="36"/>
                  </a:lnTo>
                  <a:lnTo>
                    <a:pt x="24" y="42"/>
                  </a:lnTo>
                  <a:lnTo>
                    <a:pt x="12" y="36"/>
                  </a:lnTo>
                  <a:lnTo>
                    <a:pt x="6" y="24"/>
                  </a:lnTo>
                  <a:lnTo>
                    <a:pt x="6" y="12"/>
                  </a:lnTo>
                  <a:lnTo>
                    <a:pt x="0" y="6"/>
                  </a:lnTo>
                  <a:lnTo>
                    <a:pt x="0" y="18"/>
                  </a:lnTo>
                  <a:lnTo>
                    <a:pt x="0" y="36"/>
                  </a:lnTo>
                  <a:lnTo>
                    <a:pt x="0" y="48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6" y="90"/>
                  </a:lnTo>
                  <a:lnTo>
                    <a:pt x="12" y="102"/>
                  </a:lnTo>
                  <a:lnTo>
                    <a:pt x="12" y="115"/>
                  </a:lnTo>
                  <a:lnTo>
                    <a:pt x="18" y="127"/>
                  </a:lnTo>
                  <a:lnTo>
                    <a:pt x="18" y="139"/>
                  </a:lnTo>
                  <a:lnTo>
                    <a:pt x="12" y="145"/>
                  </a:lnTo>
                  <a:lnTo>
                    <a:pt x="0" y="139"/>
                  </a:lnTo>
                  <a:lnTo>
                    <a:pt x="6" y="151"/>
                  </a:lnTo>
                  <a:lnTo>
                    <a:pt x="12" y="163"/>
                  </a:lnTo>
                  <a:lnTo>
                    <a:pt x="12" y="175"/>
                  </a:lnTo>
                  <a:lnTo>
                    <a:pt x="18" y="187"/>
                  </a:lnTo>
                  <a:lnTo>
                    <a:pt x="30" y="193"/>
                  </a:lnTo>
                  <a:close/>
                </a:path>
              </a:pathLst>
            </a:custGeom>
            <a:solidFill>
              <a:srgbClr val="FCA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0" name="Freeform 49"/>
            <p:cNvSpPr>
              <a:spLocks/>
            </p:cNvSpPr>
            <p:nvPr/>
          </p:nvSpPr>
          <p:spPr bwMode="auto">
            <a:xfrm>
              <a:off x="2421" y="3778"/>
              <a:ext cx="36" cy="36"/>
            </a:xfrm>
            <a:custGeom>
              <a:avLst/>
              <a:gdLst>
                <a:gd name="T0" fmla="*/ 6 w 36"/>
                <a:gd name="T1" fmla="*/ 12 h 36"/>
                <a:gd name="T2" fmla="*/ 12 w 36"/>
                <a:gd name="T3" fmla="*/ 12 h 36"/>
                <a:gd name="T4" fmla="*/ 24 w 36"/>
                <a:gd name="T5" fmla="*/ 12 h 36"/>
                <a:gd name="T6" fmla="*/ 30 w 36"/>
                <a:gd name="T7" fmla="*/ 18 h 36"/>
                <a:gd name="T8" fmla="*/ 36 w 36"/>
                <a:gd name="T9" fmla="*/ 36 h 36"/>
                <a:gd name="T10" fmla="*/ 36 w 36"/>
                <a:gd name="T11" fmla="*/ 24 h 36"/>
                <a:gd name="T12" fmla="*/ 30 w 36"/>
                <a:gd name="T13" fmla="*/ 12 h 36"/>
                <a:gd name="T14" fmla="*/ 24 w 36"/>
                <a:gd name="T15" fmla="*/ 6 h 36"/>
                <a:gd name="T16" fmla="*/ 12 w 36"/>
                <a:gd name="T17" fmla="*/ 0 h 36"/>
                <a:gd name="T18" fmla="*/ 0 w 36"/>
                <a:gd name="T19" fmla="*/ 0 h 36"/>
                <a:gd name="T20" fmla="*/ 6 w 36"/>
                <a:gd name="T21" fmla="*/ 12 h 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" h="36">
                  <a:moveTo>
                    <a:pt x="6" y="12"/>
                  </a:moveTo>
                  <a:lnTo>
                    <a:pt x="12" y="12"/>
                  </a:lnTo>
                  <a:lnTo>
                    <a:pt x="24" y="12"/>
                  </a:lnTo>
                  <a:lnTo>
                    <a:pt x="30" y="18"/>
                  </a:lnTo>
                  <a:lnTo>
                    <a:pt x="36" y="36"/>
                  </a:lnTo>
                  <a:lnTo>
                    <a:pt x="36" y="24"/>
                  </a:lnTo>
                  <a:lnTo>
                    <a:pt x="30" y="12"/>
                  </a:lnTo>
                  <a:lnTo>
                    <a:pt x="24" y="6"/>
                  </a:lnTo>
                  <a:lnTo>
                    <a:pt x="12" y="0"/>
                  </a:lnTo>
                  <a:lnTo>
                    <a:pt x="0" y="0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1" name="Freeform 50"/>
            <p:cNvSpPr>
              <a:spLocks/>
            </p:cNvSpPr>
            <p:nvPr/>
          </p:nvSpPr>
          <p:spPr bwMode="auto">
            <a:xfrm>
              <a:off x="2355" y="3405"/>
              <a:ext cx="60" cy="108"/>
            </a:xfrm>
            <a:custGeom>
              <a:avLst/>
              <a:gdLst>
                <a:gd name="T0" fmla="*/ 0 w 60"/>
                <a:gd name="T1" fmla="*/ 42 h 108"/>
                <a:gd name="T2" fmla="*/ 6 w 60"/>
                <a:gd name="T3" fmla="*/ 54 h 108"/>
                <a:gd name="T4" fmla="*/ 12 w 60"/>
                <a:gd name="T5" fmla="*/ 66 h 108"/>
                <a:gd name="T6" fmla="*/ 18 w 60"/>
                <a:gd name="T7" fmla="*/ 72 h 108"/>
                <a:gd name="T8" fmla="*/ 24 w 60"/>
                <a:gd name="T9" fmla="*/ 78 h 108"/>
                <a:gd name="T10" fmla="*/ 30 w 60"/>
                <a:gd name="T11" fmla="*/ 96 h 108"/>
                <a:gd name="T12" fmla="*/ 36 w 60"/>
                <a:gd name="T13" fmla="*/ 108 h 108"/>
                <a:gd name="T14" fmla="*/ 36 w 60"/>
                <a:gd name="T15" fmla="*/ 90 h 108"/>
                <a:gd name="T16" fmla="*/ 30 w 60"/>
                <a:gd name="T17" fmla="*/ 78 h 108"/>
                <a:gd name="T18" fmla="*/ 24 w 60"/>
                <a:gd name="T19" fmla="*/ 66 h 108"/>
                <a:gd name="T20" fmla="*/ 18 w 60"/>
                <a:gd name="T21" fmla="*/ 54 h 108"/>
                <a:gd name="T22" fmla="*/ 30 w 60"/>
                <a:gd name="T23" fmla="*/ 48 h 108"/>
                <a:gd name="T24" fmla="*/ 36 w 60"/>
                <a:gd name="T25" fmla="*/ 42 h 108"/>
                <a:gd name="T26" fmla="*/ 42 w 60"/>
                <a:gd name="T27" fmla="*/ 36 h 108"/>
                <a:gd name="T28" fmla="*/ 54 w 60"/>
                <a:gd name="T29" fmla="*/ 18 h 108"/>
                <a:gd name="T30" fmla="*/ 60 w 60"/>
                <a:gd name="T31" fmla="*/ 0 h 108"/>
                <a:gd name="T32" fmla="*/ 0 w 60"/>
                <a:gd name="T33" fmla="*/ 42 h 10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0" h="108">
                  <a:moveTo>
                    <a:pt x="0" y="42"/>
                  </a:moveTo>
                  <a:lnTo>
                    <a:pt x="6" y="54"/>
                  </a:lnTo>
                  <a:lnTo>
                    <a:pt x="12" y="66"/>
                  </a:lnTo>
                  <a:lnTo>
                    <a:pt x="18" y="72"/>
                  </a:lnTo>
                  <a:lnTo>
                    <a:pt x="24" y="78"/>
                  </a:lnTo>
                  <a:lnTo>
                    <a:pt x="30" y="96"/>
                  </a:lnTo>
                  <a:lnTo>
                    <a:pt x="36" y="108"/>
                  </a:lnTo>
                  <a:lnTo>
                    <a:pt x="36" y="90"/>
                  </a:lnTo>
                  <a:lnTo>
                    <a:pt x="30" y="78"/>
                  </a:lnTo>
                  <a:lnTo>
                    <a:pt x="24" y="66"/>
                  </a:lnTo>
                  <a:lnTo>
                    <a:pt x="18" y="54"/>
                  </a:lnTo>
                  <a:lnTo>
                    <a:pt x="30" y="48"/>
                  </a:lnTo>
                  <a:lnTo>
                    <a:pt x="36" y="42"/>
                  </a:lnTo>
                  <a:lnTo>
                    <a:pt x="42" y="36"/>
                  </a:lnTo>
                  <a:lnTo>
                    <a:pt x="54" y="18"/>
                  </a:lnTo>
                  <a:lnTo>
                    <a:pt x="6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2" name="Freeform 51"/>
            <p:cNvSpPr>
              <a:spLocks/>
            </p:cNvSpPr>
            <p:nvPr/>
          </p:nvSpPr>
          <p:spPr bwMode="auto">
            <a:xfrm>
              <a:off x="2487" y="3952"/>
              <a:ext cx="42" cy="72"/>
            </a:xfrm>
            <a:custGeom>
              <a:avLst/>
              <a:gdLst>
                <a:gd name="T0" fmla="*/ 0 w 42"/>
                <a:gd name="T1" fmla="*/ 6 h 72"/>
                <a:gd name="T2" fmla="*/ 12 w 42"/>
                <a:gd name="T3" fmla="*/ 0 h 72"/>
                <a:gd name="T4" fmla="*/ 18 w 42"/>
                <a:gd name="T5" fmla="*/ 0 h 72"/>
                <a:gd name="T6" fmla="*/ 30 w 42"/>
                <a:gd name="T7" fmla="*/ 0 h 72"/>
                <a:gd name="T8" fmla="*/ 36 w 42"/>
                <a:gd name="T9" fmla="*/ 6 h 72"/>
                <a:gd name="T10" fmla="*/ 42 w 42"/>
                <a:gd name="T11" fmla="*/ 12 h 72"/>
                <a:gd name="T12" fmla="*/ 42 w 42"/>
                <a:gd name="T13" fmla="*/ 24 h 72"/>
                <a:gd name="T14" fmla="*/ 42 w 42"/>
                <a:gd name="T15" fmla="*/ 42 h 72"/>
                <a:gd name="T16" fmla="*/ 42 w 42"/>
                <a:gd name="T17" fmla="*/ 54 h 72"/>
                <a:gd name="T18" fmla="*/ 42 w 42"/>
                <a:gd name="T19" fmla="*/ 60 h 72"/>
                <a:gd name="T20" fmla="*/ 36 w 42"/>
                <a:gd name="T21" fmla="*/ 72 h 72"/>
                <a:gd name="T22" fmla="*/ 30 w 42"/>
                <a:gd name="T23" fmla="*/ 72 h 72"/>
                <a:gd name="T24" fmla="*/ 18 w 42"/>
                <a:gd name="T25" fmla="*/ 72 h 72"/>
                <a:gd name="T26" fmla="*/ 12 w 42"/>
                <a:gd name="T27" fmla="*/ 66 h 72"/>
                <a:gd name="T28" fmla="*/ 12 w 42"/>
                <a:gd name="T29" fmla="*/ 60 h 72"/>
                <a:gd name="T30" fmla="*/ 6 w 42"/>
                <a:gd name="T31" fmla="*/ 42 h 72"/>
                <a:gd name="T32" fmla="*/ 6 w 42"/>
                <a:gd name="T33" fmla="*/ 36 h 72"/>
                <a:gd name="T34" fmla="*/ 6 w 42"/>
                <a:gd name="T35" fmla="*/ 18 h 72"/>
                <a:gd name="T36" fmla="*/ 0 w 42"/>
                <a:gd name="T37" fmla="*/ 6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2" h="72">
                  <a:moveTo>
                    <a:pt x="0" y="6"/>
                  </a:moveTo>
                  <a:lnTo>
                    <a:pt x="12" y="0"/>
                  </a:lnTo>
                  <a:lnTo>
                    <a:pt x="18" y="0"/>
                  </a:lnTo>
                  <a:lnTo>
                    <a:pt x="30" y="0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2" y="24"/>
                  </a:lnTo>
                  <a:lnTo>
                    <a:pt x="42" y="42"/>
                  </a:lnTo>
                  <a:lnTo>
                    <a:pt x="42" y="54"/>
                  </a:lnTo>
                  <a:lnTo>
                    <a:pt x="42" y="60"/>
                  </a:lnTo>
                  <a:lnTo>
                    <a:pt x="36" y="72"/>
                  </a:lnTo>
                  <a:lnTo>
                    <a:pt x="30" y="72"/>
                  </a:lnTo>
                  <a:lnTo>
                    <a:pt x="18" y="72"/>
                  </a:lnTo>
                  <a:lnTo>
                    <a:pt x="12" y="66"/>
                  </a:lnTo>
                  <a:lnTo>
                    <a:pt x="12" y="60"/>
                  </a:lnTo>
                  <a:lnTo>
                    <a:pt x="6" y="42"/>
                  </a:lnTo>
                  <a:lnTo>
                    <a:pt x="6" y="36"/>
                  </a:lnTo>
                  <a:lnTo>
                    <a:pt x="6" y="18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CA4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3" name="Freeform 52"/>
            <p:cNvSpPr>
              <a:spLocks/>
            </p:cNvSpPr>
            <p:nvPr/>
          </p:nvSpPr>
          <p:spPr bwMode="auto">
            <a:xfrm>
              <a:off x="2439" y="3832"/>
              <a:ext cx="84" cy="60"/>
            </a:xfrm>
            <a:custGeom>
              <a:avLst/>
              <a:gdLst>
                <a:gd name="T0" fmla="*/ 0 w 84"/>
                <a:gd name="T1" fmla="*/ 0 h 60"/>
                <a:gd name="T2" fmla="*/ 0 w 84"/>
                <a:gd name="T3" fmla="*/ 12 h 60"/>
                <a:gd name="T4" fmla="*/ 6 w 84"/>
                <a:gd name="T5" fmla="*/ 18 h 60"/>
                <a:gd name="T6" fmla="*/ 6 w 84"/>
                <a:gd name="T7" fmla="*/ 24 h 60"/>
                <a:gd name="T8" fmla="*/ 12 w 84"/>
                <a:gd name="T9" fmla="*/ 24 h 60"/>
                <a:gd name="T10" fmla="*/ 18 w 84"/>
                <a:gd name="T11" fmla="*/ 30 h 60"/>
                <a:gd name="T12" fmla="*/ 12 w 84"/>
                <a:gd name="T13" fmla="*/ 30 h 60"/>
                <a:gd name="T14" fmla="*/ 12 w 84"/>
                <a:gd name="T15" fmla="*/ 36 h 60"/>
                <a:gd name="T16" fmla="*/ 18 w 84"/>
                <a:gd name="T17" fmla="*/ 42 h 60"/>
                <a:gd name="T18" fmla="*/ 18 w 84"/>
                <a:gd name="T19" fmla="*/ 48 h 60"/>
                <a:gd name="T20" fmla="*/ 18 w 84"/>
                <a:gd name="T21" fmla="*/ 54 h 60"/>
                <a:gd name="T22" fmla="*/ 24 w 84"/>
                <a:gd name="T23" fmla="*/ 60 h 60"/>
                <a:gd name="T24" fmla="*/ 30 w 84"/>
                <a:gd name="T25" fmla="*/ 54 h 60"/>
                <a:gd name="T26" fmla="*/ 36 w 84"/>
                <a:gd name="T27" fmla="*/ 48 h 60"/>
                <a:gd name="T28" fmla="*/ 42 w 84"/>
                <a:gd name="T29" fmla="*/ 42 h 60"/>
                <a:gd name="T30" fmla="*/ 54 w 84"/>
                <a:gd name="T31" fmla="*/ 42 h 60"/>
                <a:gd name="T32" fmla="*/ 60 w 84"/>
                <a:gd name="T33" fmla="*/ 42 h 60"/>
                <a:gd name="T34" fmla="*/ 72 w 84"/>
                <a:gd name="T35" fmla="*/ 48 h 60"/>
                <a:gd name="T36" fmla="*/ 60 w 84"/>
                <a:gd name="T37" fmla="*/ 42 h 60"/>
                <a:gd name="T38" fmla="*/ 48 w 84"/>
                <a:gd name="T39" fmla="*/ 36 h 60"/>
                <a:gd name="T40" fmla="*/ 36 w 84"/>
                <a:gd name="T41" fmla="*/ 36 h 60"/>
                <a:gd name="T42" fmla="*/ 30 w 84"/>
                <a:gd name="T43" fmla="*/ 42 h 60"/>
                <a:gd name="T44" fmla="*/ 24 w 84"/>
                <a:gd name="T45" fmla="*/ 48 h 60"/>
                <a:gd name="T46" fmla="*/ 18 w 84"/>
                <a:gd name="T47" fmla="*/ 42 h 60"/>
                <a:gd name="T48" fmla="*/ 24 w 84"/>
                <a:gd name="T49" fmla="*/ 36 h 60"/>
                <a:gd name="T50" fmla="*/ 30 w 84"/>
                <a:gd name="T51" fmla="*/ 30 h 60"/>
                <a:gd name="T52" fmla="*/ 36 w 84"/>
                <a:gd name="T53" fmla="*/ 30 h 60"/>
                <a:gd name="T54" fmla="*/ 42 w 84"/>
                <a:gd name="T55" fmla="*/ 30 h 60"/>
                <a:gd name="T56" fmla="*/ 36 w 84"/>
                <a:gd name="T57" fmla="*/ 24 h 60"/>
                <a:gd name="T58" fmla="*/ 24 w 84"/>
                <a:gd name="T59" fmla="*/ 24 h 60"/>
                <a:gd name="T60" fmla="*/ 18 w 84"/>
                <a:gd name="T61" fmla="*/ 30 h 60"/>
                <a:gd name="T62" fmla="*/ 18 w 84"/>
                <a:gd name="T63" fmla="*/ 24 h 60"/>
                <a:gd name="T64" fmla="*/ 30 w 84"/>
                <a:gd name="T65" fmla="*/ 18 h 60"/>
                <a:gd name="T66" fmla="*/ 42 w 84"/>
                <a:gd name="T67" fmla="*/ 18 h 60"/>
                <a:gd name="T68" fmla="*/ 54 w 84"/>
                <a:gd name="T69" fmla="*/ 18 h 60"/>
                <a:gd name="T70" fmla="*/ 72 w 84"/>
                <a:gd name="T71" fmla="*/ 18 h 60"/>
                <a:gd name="T72" fmla="*/ 84 w 84"/>
                <a:gd name="T73" fmla="*/ 24 h 60"/>
                <a:gd name="T74" fmla="*/ 72 w 84"/>
                <a:gd name="T75" fmla="*/ 18 h 60"/>
                <a:gd name="T76" fmla="*/ 54 w 84"/>
                <a:gd name="T77" fmla="*/ 12 h 60"/>
                <a:gd name="T78" fmla="*/ 48 w 84"/>
                <a:gd name="T79" fmla="*/ 12 h 60"/>
                <a:gd name="T80" fmla="*/ 36 w 84"/>
                <a:gd name="T81" fmla="*/ 12 h 60"/>
                <a:gd name="T82" fmla="*/ 24 w 84"/>
                <a:gd name="T83" fmla="*/ 12 h 60"/>
                <a:gd name="T84" fmla="*/ 12 w 84"/>
                <a:gd name="T85" fmla="*/ 12 h 60"/>
                <a:gd name="T86" fmla="*/ 6 w 84"/>
                <a:gd name="T87" fmla="*/ 6 h 60"/>
                <a:gd name="T88" fmla="*/ 0 w 84"/>
                <a:gd name="T89" fmla="*/ 0 h 6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4" h="60">
                  <a:moveTo>
                    <a:pt x="0" y="0"/>
                  </a:moveTo>
                  <a:lnTo>
                    <a:pt x="0" y="12"/>
                  </a:lnTo>
                  <a:lnTo>
                    <a:pt x="6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12" y="36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18" y="54"/>
                  </a:lnTo>
                  <a:lnTo>
                    <a:pt x="24" y="60"/>
                  </a:lnTo>
                  <a:lnTo>
                    <a:pt x="30" y="54"/>
                  </a:lnTo>
                  <a:lnTo>
                    <a:pt x="36" y="48"/>
                  </a:lnTo>
                  <a:lnTo>
                    <a:pt x="42" y="42"/>
                  </a:lnTo>
                  <a:lnTo>
                    <a:pt x="54" y="42"/>
                  </a:lnTo>
                  <a:lnTo>
                    <a:pt x="60" y="42"/>
                  </a:lnTo>
                  <a:lnTo>
                    <a:pt x="72" y="48"/>
                  </a:lnTo>
                  <a:lnTo>
                    <a:pt x="60" y="42"/>
                  </a:lnTo>
                  <a:lnTo>
                    <a:pt x="48" y="36"/>
                  </a:lnTo>
                  <a:lnTo>
                    <a:pt x="36" y="36"/>
                  </a:lnTo>
                  <a:lnTo>
                    <a:pt x="30" y="42"/>
                  </a:lnTo>
                  <a:lnTo>
                    <a:pt x="24" y="48"/>
                  </a:lnTo>
                  <a:lnTo>
                    <a:pt x="18" y="42"/>
                  </a:lnTo>
                  <a:lnTo>
                    <a:pt x="24" y="36"/>
                  </a:lnTo>
                  <a:lnTo>
                    <a:pt x="30" y="30"/>
                  </a:lnTo>
                  <a:lnTo>
                    <a:pt x="36" y="30"/>
                  </a:lnTo>
                  <a:lnTo>
                    <a:pt x="42" y="30"/>
                  </a:lnTo>
                  <a:lnTo>
                    <a:pt x="36" y="24"/>
                  </a:lnTo>
                  <a:lnTo>
                    <a:pt x="24" y="24"/>
                  </a:lnTo>
                  <a:lnTo>
                    <a:pt x="18" y="30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54" y="18"/>
                  </a:lnTo>
                  <a:lnTo>
                    <a:pt x="72" y="18"/>
                  </a:lnTo>
                  <a:lnTo>
                    <a:pt x="84" y="24"/>
                  </a:lnTo>
                  <a:lnTo>
                    <a:pt x="72" y="18"/>
                  </a:lnTo>
                  <a:lnTo>
                    <a:pt x="54" y="12"/>
                  </a:lnTo>
                  <a:lnTo>
                    <a:pt x="48" y="12"/>
                  </a:lnTo>
                  <a:lnTo>
                    <a:pt x="36" y="12"/>
                  </a:lnTo>
                  <a:lnTo>
                    <a:pt x="24" y="12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4" name="Freeform 53"/>
            <p:cNvSpPr>
              <a:spLocks/>
            </p:cNvSpPr>
            <p:nvPr/>
          </p:nvSpPr>
          <p:spPr bwMode="auto">
            <a:xfrm>
              <a:off x="2475" y="3916"/>
              <a:ext cx="24" cy="18"/>
            </a:xfrm>
            <a:custGeom>
              <a:avLst/>
              <a:gdLst>
                <a:gd name="T0" fmla="*/ 0 w 24"/>
                <a:gd name="T1" fmla="*/ 0 h 18"/>
                <a:gd name="T2" fmla="*/ 0 w 24"/>
                <a:gd name="T3" fmla="*/ 6 h 18"/>
                <a:gd name="T4" fmla="*/ 6 w 24"/>
                <a:gd name="T5" fmla="*/ 12 h 18"/>
                <a:gd name="T6" fmla="*/ 6 w 24"/>
                <a:gd name="T7" fmla="*/ 18 h 18"/>
                <a:gd name="T8" fmla="*/ 12 w 24"/>
                <a:gd name="T9" fmla="*/ 18 h 18"/>
                <a:gd name="T10" fmla="*/ 18 w 24"/>
                <a:gd name="T11" fmla="*/ 12 h 18"/>
                <a:gd name="T12" fmla="*/ 24 w 24"/>
                <a:gd name="T13" fmla="*/ 12 h 18"/>
                <a:gd name="T14" fmla="*/ 18 w 24"/>
                <a:gd name="T15" fmla="*/ 12 h 18"/>
                <a:gd name="T16" fmla="*/ 12 w 24"/>
                <a:gd name="T17" fmla="*/ 12 h 18"/>
                <a:gd name="T18" fmla="*/ 0 w 24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18">
                  <a:moveTo>
                    <a:pt x="0" y="0"/>
                  </a:moveTo>
                  <a:lnTo>
                    <a:pt x="0" y="6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18" y="12"/>
                  </a:lnTo>
                  <a:lnTo>
                    <a:pt x="12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134" name="Text Box 54"/>
          <p:cNvSpPr txBox="1">
            <a:spLocks noChangeArrowheads="1"/>
          </p:cNvSpPr>
          <p:nvPr/>
        </p:nvSpPr>
        <p:spPr bwMode="auto">
          <a:xfrm>
            <a:off x="1600200" y="3124200"/>
            <a:ext cx="5791200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kumimoji="1" lang="en-US" altLang="zh-CN" sz="2400" b="1" dirty="0">
                <a:cs typeface="楷体_GB2312" charset="0"/>
              </a:rPr>
              <a:t>①</a:t>
            </a:r>
            <a:r>
              <a:rPr kumimoji="1" lang="zh-CN" altLang="en-US" sz="2400" b="1" dirty="0">
                <a:cs typeface="楷体_GB2312" charset="0"/>
              </a:rPr>
              <a:t>简单</a:t>
            </a:r>
            <a:r>
              <a:rPr kumimoji="1" lang="en-US" altLang="zh-CN" sz="2400" b="1" dirty="0">
                <a:cs typeface="楷体_GB2312" charset="0"/>
              </a:rPr>
              <a:t>;  </a:t>
            </a:r>
          </a:p>
          <a:p>
            <a:pPr>
              <a:lnSpc>
                <a:spcPct val="90000"/>
              </a:lnSpc>
              <a:defRPr/>
            </a:pPr>
            <a:r>
              <a:rPr kumimoji="1" lang="en-US" altLang="zh-CN" sz="2400" b="1" dirty="0">
                <a:cs typeface="楷体_GB2312" charset="0"/>
              </a:rPr>
              <a:t>② </a:t>
            </a:r>
            <a:r>
              <a:rPr kumimoji="1" lang="zh-CN" altLang="en-US" sz="2400" b="1" dirty="0">
                <a:cs typeface="楷体_GB2312" charset="0"/>
              </a:rPr>
              <a:t>对</a:t>
            </a:r>
            <a:r>
              <a:rPr kumimoji="1" lang="en-US" altLang="zh-CN" sz="2400" b="1" i="1" dirty="0">
                <a:cs typeface="楷体_GB2312" charset="0"/>
              </a:rPr>
              <a:t>f </a:t>
            </a:r>
            <a:r>
              <a:rPr kumimoji="1" lang="en-US" altLang="zh-CN" sz="2400" b="1" dirty="0">
                <a:cs typeface="楷体_GB2312" charset="0"/>
              </a:rPr>
              <a:t>(</a:t>
            </a:r>
            <a:r>
              <a:rPr kumimoji="1" lang="en-US" altLang="zh-CN" sz="2400" b="1" i="1" dirty="0">
                <a:cs typeface="楷体_GB2312" charset="0"/>
              </a:rPr>
              <a:t>x</a:t>
            </a:r>
            <a:r>
              <a:rPr kumimoji="1" lang="en-US" altLang="zh-CN" sz="2400" b="1" dirty="0">
                <a:cs typeface="楷体_GB2312" charset="0"/>
              </a:rPr>
              <a:t>)</a:t>
            </a:r>
            <a:r>
              <a:rPr kumimoji="1" lang="en-US" altLang="zh-CN" sz="2400" b="1" i="1" dirty="0">
                <a:cs typeface="楷体_GB2312" charset="0"/>
              </a:rPr>
              <a:t> </a:t>
            </a:r>
            <a:r>
              <a:rPr kumimoji="1" lang="zh-CN" altLang="en-US" sz="2400" b="1" dirty="0">
                <a:cs typeface="楷体_GB2312" charset="0"/>
              </a:rPr>
              <a:t>要求不高</a:t>
            </a:r>
            <a:r>
              <a:rPr kumimoji="1" lang="en-US" altLang="zh-CN" sz="2400" b="1" dirty="0">
                <a:cs typeface="楷体_GB2312" charset="0"/>
              </a:rPr>
              <a:t>(</a:t>
            </a:r>
            <a:r>
              <a:rPr kumimoji="1" lang="zh-CN" altLang="en-US" sz="2400" b="1" dirty="0">
                <a:cs typeface="楷体_GB2312" charset="0"/>
              </a:rPr>
              <a:t>只要连续即可</a:t>
            </a:r>
            <a:r>
              <a:rPr kumimoji="1" lang="en-US" altLang="zh-CN" sz="2400" b="1" dirty="0">
                <a:cs typeface="楷体_GB2312" charset="0"/>
              </a:rPr>
              <a:t>) .</a:t>
            </a:r>
          </a:p>
        </p:txBody>
      </p:sp>
      <p:sp>
        <p:nvSpPr>
          <p:cNvPr id="46135" name="Text Box 55"/>
          <p:cNvSpPr txBox="1">
            <a:spLocks noChangeArrowheads="1"/>
          </p:cNvSpPr>
          <p:nvPr/>
        </p:nvSpPr>
        <p:spPr bwMode="auto">
          <a:xfrm>
            <a:off x="1600200" y="4038600"/>
            <a:ext cx="3962400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kumimoji="1" lang="en-US" altLang="zh-CN" sz="2400" b="1" dirty="0">
                <a:cs typeface="楷体_GB2312" charset="0"/>
              </a:rPr>
              <a:t>①</a:t>
            </a:r>
            <a:r>
              <a:rPr kumimoji="1" lang="zh-CN" altLang="en-US" sz="2400" b="1" dirty="0">
                <a:cs typeface="楷体_GB2312" charset="0"/>
              </a:rPr>
              <a:t>无法求复根及偶重根</a:t>
            </a:r>
            <a:r>
              <a:rPr kumimoji="1" lang="en-US" altLang="zh-CN" sz="2400" b="1" dirty="0">
                <a:cs typeface="楷体_GB2312" charset="0"/>
              </a:rPr>
              <a:t>  </a:t>
            </a:r>
          </a:p>
          <a:p>
            <a:pPr>
              <a:lnSpc>
                <a:spcPct val="90000"/>
              </a:lnSpc>
              <a:defRPr/>
            </a:pPr>
            <a:r>
              <a:rPr kumimoji="1" lang="en-US" altLang="zh-CN" sz="2400" b="1" dirty="0">
                <a:cs typeface="楷体_GB2312" charset="0"/>
              </a:rPr>
              <a:t>② </a:t>
            </a:r>
            <a:r>
              <a:rPr kumimoji="1" lang="zh-CN" altLang="en-US" sz="2400" b="1" dirty="0">
                <a:cs typeface="楷体_GB2312" charset="0"/>
              </a:rPr>
              <a:t>收敛慢</a:t>
            </a:r>
            <a:r>
              <a:rPr kumimoji="1" lang="en-US" altLang="zh-CN" sz="2400" b="1" dirty="0">
                <a:cs typeface="楷体_GB2312" charset="0"/>
              </a:rPr>
              <a:t>  </a:t>
            </a:r>
          </a:p>
        </p:txBody>
      </p:sp>
      <p:sp>
        <p:nvSpPr>
          <p:cNvPr id="46136" name="AutoShape 56" descr="再生纸"/>
          <p:cNvSpPr>
            <a:spLocks noChangeArrowheads="1"/>
          </p:cNvSpPr>
          <p:nvPr/>
        </p:nvSpPr>
        <p:spPr bwMode="auto">
          <a:xfrm>
            <a:off x="457200" y="4940340"/>
            <a:ext cx="8064500" cy="1736646"/>
          </a:xfrm>
          <a:prstGeom prst="roundRect">
            <a:avLst>
              <a:gd name="adj" fmla="val 16667"/>
            </a:avLst>
          </a:prstGeom>
          <a:blipFill dpi="0" rotWithShape="0">
            <a:blip r:embed="rId17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kumimoji="1" lang="zh-CN" altLang="en-US" sz="2400" b="1" dirty="0">
                <a:effectLst>
                  <a:outerShdw blurRad="38100" dist="38100" dir="2700000" algn="tl">
                    <a:srgbClr val="DDDDDD"/>
                  </a:outerShdw>
                </a:effectLst>
                <a:cs typeface="楷体_GB2312" charset="0"/>
              </a:rPr>
              <a:t>注：</a:t>
            </a:r>
            <a:r>
              <a:rPr kumimoji="1" lang="zh-CN" altLang="en-US" sz="2400" b="1" dirty="0">
                <a:cs typeface="楷体_GB2312" charset="0"/>
              </a:rPr>
              <a:t>用二分法求根，最好先给出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en-US" altLang="zh-CN" sz="2400" b="1" i="1" dirty="0">
                <a:cs typeface="楷体_GB2312" charset="0"/>
              </a:rPr>
              <a:t>f </a:t>
            </a:r>
            <a:r>
              <a:rPr kumimoji="1" lang="en-US" altLang="zh-CN" sz="2400" b="1" dirty="0">
                <a:cs typeface="楷体_GB2312" charset="0"/>
              </a:rPr>
              <a:t>(</a:t>
            </a:r>
            <a:r>
              <a:rPr kumimoji="1" lang="en-US" altLang="zh-CN" sz="2400" b="1" i="1" dirty="0">
                <a:cs typeface="楷体_GB2312" charset="0"/>
              </a:rPr>
              <a:t>x</a:t>
            </a:r>
            <a:r>
              <a:rPr kumimoji="1" lang="en-US" altLang="zh-CN" sz="2400" b="1" dirty="0">
                <a:cs typeface="楷体_GB2312" charset="0"/>
              </a:rPr>
              <a:t>)</a:t>
            </a:r>
            <a:r>
              <a:rPr kumimoji="1" lang="en-US" altLang="zh-CN" sz="2400" b="1" i="1" dirty="0">
                <a:cs typeface="楷体_GB2312" charset="0"/>
              </a:rPr>
              <a:t> </a:t>
            </a:r>
            <a:r>
              <a:rPr kumimoji="1" lang="zh-CN" altLang="en-US" sz="2400" b="1" dirty="0">
                <a:cs typeface="楷体_GB2312" charset="0"/>
              </a:rPr>
              <a:t>草图以确定根的大概位置。或用搜索程序，将</a:t>
            </a:r>
            <a:r>
              <a:rPr kumimoji="1" lang="en-US" altLang="zh-CN" sz="2400" b="1" dirty="0">
                <a:cs typeface="楷体_GB2312" charset="0"/>
              </a:rPr>
              <a:t>[</a:t>
            </a:r>
            <a:r>
              <a:rPr kumimoji="1" lang="en-US" altLang="zh-CN" sz="2400" b="1" i="1" dirty="0">
                <a:cs typeface="楷体_GB2312" charset="0"/>
              </a:rPr>
              <a:t>a</a:t>
            </a:r>
            <a:r>
              <a:rPr kumimoji="1" lang="en-US" altLang="zh-CN" sz="2400" b="1" dirty="0">
                <a:cs typeface="楷体_GB2312" charset="0"/>
              </a:rPr>
              <a:t>, </a:t>
            </a:r>
            <a:r>
              <a:rPr kumimoji="1" lang="en-US" altLang="zh-CN" sz="2400" b="1" i="1" dirty="0">
                <a:cs typeface="楷体_GB2312" charset="0"/>
              </a:rPr>
              <a:t>b</a:t>
            </a:r>
            <a:r>
              <a:rPr kumimoji="1" lang="en-US" altLang="zh-CN" sz="2400" b="1" dirty="0">
                <a:cs typeface="楷体_GB2312" charset="0"/>
              </a:rPr>
              <a:t>]</a:t>
            </a:r>
            <a:r>
              <a:rPr kumimoji="1" lang="zh-CN" altLang="en-US" sz="2400" b="1" dirty="0">
                <a:cs typeface="楷体_GB2312" charset="0"/>
              </a:rPr>
              <a:t>分为若干小区间，对每一个满足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en-US" altLang="zh-CN" sz="2400" b="1" i="1" dirty="0">
                <a:cs typeface="楷体_GB2312" charset="0"/>
              </a:rPr>
              <a:t>f </a:t>
            </a:r>
            <a:r>
              <a:rPr kumimoji="1" lang="en-US" altLang="zh-CN" sz="2400" b="1" dirty="0">
                <a:cs typeface="楷体_GB2312" charset="0"/>
              </a:rPr>
              <a:t>(</a:t>
            </a:r>
            <a:r>
              <a:rPr kumimoji="1" lang="en-US" altLang="zh-CN" sz="2400" b="1" i="1" dirty="0" err="1">
                <a:cs typeface="楷体_GB2312" charset="0"/>
              </a:rPr>
              <a:t>a</a:t>
            </a:r>
            <a:r>
              <a:rPr kumimoji="1" lang="en-US" altLang="zh-CN" sz="2400" b="1" i="1" baseline="-25000" dirty="0" err="1">
                <a:cs typeface="楷体_GB2312" charset="0"/>
              </a:rPr>
              <a:t>k</a:t>
            </a:r>
            <a:r>
              <a:rPr kumimoji="1" lang="en-US" altLang="zh-CN" sz="2400" b="1" dirty="0">
                <a:cs typeface="楷体_GB2312" charset="0"/>
              </a:rPr>
              <a:t>)·</a:t>
            </a:r>
            <a:r>
              <a:rPr kumimoji="1" lang="en-US" altLang="zh-CN" sz="2400" b="1" i="1" dirty="0">
                <a:cs typeface="楷体_GB2312" charset="0"/>
              </a:rPr>
              <a:t>f </a:t>
            </a:r>
            <a:r>
              <a:rPr kumimoji="1" lang="en-US" altLang="zh-CN" sz="2400" b="1" dirty="0">
                <a:cs typeface="楷体_GB2312" charset="0"/>
              </a:rPr>
              <a:t>(</a:t>
            </a:r>
            <a:r>
              <a:rPr kumimoji="1" lang="en-US" altLang="zh-CN" sz="2400" b="1" i="1" dirty="0">
                <a:cs typeface="楷体_GB2312" charset="0"/>
              </a:rPr>
              <a:t>b</a:t>
            </a:r>
            <a:r>
              <a:rPr kumimoji="1" lang="en-US" altLang="zh-CN" sz="2400" b="1" i="1" baseline="-25000" dirty="0">
                <a:cs typeface="楷体_GB2312" charset="0"/>
              </a:rPr>
              <a:t>k</a:t>
            </a:r>
            <a:r>
              <a:rPr kumimoji="1" lang="en-US" altLang="zh-CN" sz="2400" b="1" dirty="0">
                <a:cs typeface="楷体_GB2312" charset="0"/>
              </a:rPr>
              <a:t>) &lt; 0 </a:t>
            </a:r>
            <a:r>
              <a:rPr kumimoji="1" lang="zh-CN" altLang="en-US" sz="2400" b="1" dirty="0">
                <a:cs typeface="楷体_GB2312" charset="0"/>
              </a:rPr>
              <a:t>的区间调用二分法程序，可找出区间</a:t>
            </a:r>
            <a:r>
              <a:rPr kumimoji="1" lang="en-US" altLang="zh-CN" sz="2400" b="1" dirty="0">
                <a:cs typeface="楷体_GB2312" charset="0"/>
              </a:rPr>
              <a:t>[</a:t>
            </a:r>
            <a:r>
              <a:rPr kumimoji="1" lang="en-US" altLang="zh-CN" sz="2400" b="1" i="1" dirty="0">
                <a:cs typeface="楷体_GB2312" charset="0"/>
              </a:rPr>
              <a:t>a</a:t>
            </a:r>
            <a:r>
              <a:rPr kumimoji="1" lang="en-US" altLang="zh-CN" sz="2400" b="1" dirty="0">
                <a:cs typeface="楷体_GB2312" charset="0"/>
              </a:rPr>
              <a:t>, </a:t>
            </a:r>
            <a:r>
              <a:rPr kumimoji="1" lang="en-US" altLang="zh-CN" sz="2400" b="1" i="1" dirty="0">
                <a:cs typeface="楷体_GB2312" charset="0"/>
              </a:rPr>
              <a:t>b</a:t>
            </a:r>
            <a:r>
              <a:rPr kumimoji="1" lang="en-US" altLang="zh-CN" sz="2400" b="1" dirty="0">
                <a:cs typeface="楷体_GB2312" charset="0"/>
              </a:rPr>
              <a:t>]</a:t>
            </a:r>
            <a:r>
              <a:rPr kumimoji="1" lang="zh-CN" altLang="en-US" sz="2400" b="1" dirty="0">
                <a:cs typeface="楷体_GB2312" charset="0"/>
              </a:rPr>
              <a:t>内的多个根，且不必要求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en-US" altLang="zh-CN" sz="2400" b="1" i="1" dirty="0">
                <a:cs typeface="楷体_GB2312" charset="0"/>
              </a:rPr>
              <a:t>f </a:t>
            </a:r>
            <a:r>
              <a:rPr kumimoji="1" lang="en-US" altLang="zh-CN" sz="2400" b="1" dirty="0">
                <a:cs typeface="楷体_GB2312" charset="0"/>
              </a:rPr>
              <a:t>(</a:t>
            </a:r>
            <a:r>
              <a:rPr kumimoji="1" lang="en-US" altLang="zh-CN" sz="2400" b="1" i="1" dirty="0">
                <a:cs typeface="楷体_GB2312" charset="0"/>
              </a:rPr>
              <a:t>a</a:t>
            </a:r>
            <a:r>
              <a:rPr kumimoji="1" lang="en-US" altLang="zh-CN" sz="2400" b="1" dirty="0">
                <a:cs typeface="楷体_GB2312" charset="0"/>
              </a:rPr>
              <a:t>)·</a:t>
            </a:r>
            <a:r>
              <a:rPr kumimoji="1" lang="en-US" altLang="zh-CN" sz="2400" b="1" i="1" dirty="0">
                <a:cs typeface="楷体_GB2312" charset="0"/>
              </a:rPr>
              <a:t>f </a:t>
            </a:r>
            <a:r>
              <a:rPr kumimoji="1" lang="en-US" altLang="zh-CN" sz="2400" b="1" dirty="0">
                <a:cs typeface="楷体_GB2312" charset="0"/>
              </a:rPr>
              <a:t>(</a:t>
            </a:r>
            <a:r>
              <a:rPr kumimoji="1" lang="en-US" altLang="zh-CN" sz="2400" b="1" i="1" dirty="0">
                <a:cs typeface="楷体_GB2312" charset="0"/>
              </a:rPr>
              <a:t>b</a:t>
            </a:r>
            <a:r>
              <a:rPr kumimoji="1" lang="en-US" altLang="zh-CN" sz="2400" b="1" dirty="0">
                <a:cs typeface="楷体_GB2312" charset="0"/>
              </a:rPr>
              <a:t>) &lt; 0 </a:t>
            </a:r>
            <a:r>
              <a:rPr kumimoji="1" lang="zh-CN" altLang="en-US" sz="2400" b="1" dirty="0">
                <a:cs typeface="楷体_GB2312" charset="0"/>
              </a:rPr>
              <a:t>。</a:t>
            </a:r>
            <a:endParaRPr kumimoji="1" lang="en-US" altLang="zh-CN" sz="2400" b="1" dirty="0">
              <a:cs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61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6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61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461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1" grpId="0" autoUpdateAnimBg="0"/>
      <p:bldP spid="46093" grpId="0" autoUpdateAnimBg="0"/>
      <p:bldP spid="46134" grpId="0" autoUpdateAnimBg="0"/>
      <p:bldP spid="46135" grpId="0" autoUpdateAnimBg="0"/>
      <p:bldP spid="46136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536" y="1916832"/>
          <a:ext cx="8352928" cy="4268000"/>
        </p:xfrm>
        <a:graphic>
          <a:graphicData uri="http://schemas.openxmlformats.org/drawingml/2006/table">
            <a:tbl>
              <a:tblPr/>
              <a:tblGrid>
                <a:gridCol w="809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3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35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n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有根区间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xn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f(xn)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/>
                        </a:rPr>
                        <a:t>误差上限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[10, 11]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r-H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-6.75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[10.5, 11]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10.75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-1.4375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[10.75, 11]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10.875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r-H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1.265625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[10.75, 10.875]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10.8125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-0.08984375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0.0625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[10.8125, 10.875]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10.84375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0.586914063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0.03125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[10.8125, 10.84375]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10.828125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0.248291016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0.015625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[10.8125, 10.828125]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10.8203125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0.079162598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0.0078125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[10.8125, 10.8203125]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10.81640625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-0.005355835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0.00390625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[10.81640625, 10.8203125]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10.81835938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0.036899567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0.001953125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[10.81640625, 10.818359375]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10.81738281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0.000976563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Box 55"/>
          <p:cNvSpPr txBox="1">
            <a:spLocks noChangeArrowheads="1"/>
          </p:cNvSpPr>
          <p:nvPr/>
        </p:nvSpPr>
        <p:spPr bwMode="auto">
          <a:xfrm>
            <a:off x="647564" y="384332"/>
            <a:ext cx="7848872" cy="1428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kumimoji="1" lang="zh-CN" altLang="en-US" sz="2400" b="1" dirty="0">
                <a:latin typeface="黑体"/>
                <a:ea typeface="黑体"/>
                <a:cs typeface="黑体"/>
              </a:rPr>
              <a:t>习题、验证</a:t>
            </a:r>
            <a:r>
              <a:rPr kumimoji="1" lang="en-US" altLang="zh-CN" sz="2400" b="1" dirty="0">
                <a:latin typeface="黑体"/>
                <a:ea typeface="黑体"/>
                <a:cs typeface="黑体"/>
              </a:rPr>
              <a:t>x^2-117=0</a:t>
            </a:r>
            <a:r>
              <a:rPr kumimoji="1" lang="zh-CN" altLang="en-US" sz="2400" b="1" dirty="0">
                <a:latin typeface="黑体"/>
                <a:ea typeface="黑体"/>
                <a:cs typeface="黑体"/>
              </a:rPr>
              <a:t>在</a:t>
            </a:r>
            <a:r>
              <a:rPr kumimoji="1" lang="en-US" altLang="zh-CN" sz="2400" b="1" dirty="0">
                <a:latin typeface="黑体"/>
                <a:ea typeface="黑体"/>
                <a:cs typeface="黑体"/>
              </a:rPr>
              <a:t>[10,11]</a:t>
            </a:r>
            <a:r>
              <a:rPr kumimoji="1" lang="zh-CN" altLang="en-US" sz="2400" b="1" dirty="0">
                <a:latin typeface="黑体"/>
                <a:ea typeface="黑体"/>
                <a:cs typeface="黑体"/>
              </a:rPr>
              <a:t>内有唯一实根</a:t>
            </a:r>
            <a:r>
              <a:rPr kumimoji="1" lang="zh-CN" altLang="zh-CN" sz="2400" b="1" dirty="0">
                <a:latin typeface="黑体"/>
                <a:ea typeface="黑体"/>
                <a:cs typeface="黑体"/>
              </a:rPr>
              <a:t>，</a:t>
            </a:r>
            <a:r>
              <a:rPr kumimoji="1" lang="zh-CN" altLang="en-US" sz="2400" b="1" dirty="0">
                <a:latin typeface="黑体"/>
                <a:ea typeface="黑体"/>
                <a:cs typeface="黑体"/>
              </a:rPr>
              <a:t>用二分法求解此根，误差不超过</a:t>
            </a:r>
            <a:r>
              <a:rPr kumimoji="1" lang="en-US" altLang="zh-CN" sz="2400" b="1" dirty="0">
                <a:latin typeface="黑体"/>
                <a:ea typeface="黑体"/>
                <a:cs typeface="黑体"/>
              </a:rPr>
              <a:t>10^(-1)</a:t>
            </a:r>
            <a:r>
              <a:rPr kumimoji="1" lang="zh-CN" altLang="en-US" sz="2400" b="1" dirty="0">
                <a:latin typeface="黑体"/>
                <a:ea typeface="黑体"/>
                <a:cs typeface="黑体"/>
              </a:rPr>
              <a:t>。若要误差不超过</a:t>
            </a:r>
            <a:r>
              <a:rPr kumimoji="1" lang="en-US" altLang="zh-CN" sz="2400" b="1" dirty="0">
                <a:latin typeface="黑体"/>
                <a:ea typeface="黑体"/>
                <a:cs typeface="黑体"/>
              </a:rPr>
              <a:t>10^(-3)</a:t>
            </a:r>
            <a:r>
              <a:rPr kumimoji="1" lang="zh-CN" altLang="en-US" sz="2400" b="1" dirty="0">
                <a:latin typeface="黑体"/>
                <a:ea typeface="黑体"/>
                <a:cs typeface="黑体"/>
              </a:rPr>
              <a:t>或</a:t>
            </a:r>
            <a:r>
              <a:rPr kumimoji="1" lang="en-US" altLang="zh-CN" sz="2400" b="1" dirty="0">
                <a:latin typeface="黑体"/>
                <a:ea typeface="黑体"/>
                <a:cs typeface="黑体"/>
              </a:rPr>
              <a:t>10^(-4)</a:t>
            </a:r>
            <a:r>
              <a:rPr kumimoji="1" lang="zh-CN" altLang="en-US" sz="2400" b="1" dirty="0">
                <a:latin typeface="黑体"/>
                <a:ea typeface="黑体"/>
                <a:cs typeface="黑体"/>
              </a:rPr>
              <a:t>，问要作多少次二分？（</a:t>
            </a:r>
            <a:r>
              <a:rPr kumimoji="1" lang="en-US" altLang="zh-CN" sz="2400" b="1" dirty="0">
                <a:latin typeface="黑体"/>
                <a:ea typeface="黑体"/>
                <a:cs typeface="黑体"/>
              </a:rPr>
              <a:t>log2=0.3010</a:t>
            </a:r>
            <a:r>
              <a:rPr kumimoji="1" lang="zh-CN" altLang="en-US" sz="2400" b="1" dirty="0">
                <a:latin typeface="黑体"/>
                <a:ea typeface="黑体"/>
                <a:cs typeface="黑体"/>
              </a:rPr>
              <a:t>）</a:t>
            </a:r>
            <a:endParaRPr kumimoji="1" lang="en-US" altLang="zh-CN" sz="2400" b="1" dirty="0">
              <a:latin typeface="黑体"/>
              <a:ea typeface="黑体"/>
              <a:cs typeface="黑体"/>
            </a:endParaRPr>
          </a:p>
          <a:p>
            <a:pPr>
              <a:lnSpc>
                <a:spcPct val="90000"/>
              </a:lnSpc>
              <a:defRPr/>
            </a:pPr>
            <a:endParaRPr kumimoji="1" lang="en-US" altLang="zh-CN" sz="2400" b="1" dirty="0">
              <a:latin typeface="黑体"/>
              <a:ea typeface="黑体"/>
              <a:cs typeface="黑体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39952" y="6393666"/>
            <a:ext cx="31590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cs typeface="楷体_GB2312" charset="0"/>
              </a:rPr>
              <a:t>分别要作</a:t>
            </a:r>
            <a:r>
              <a:rPr kumimoji="1" lang="en-US" altLang="zh-CN" dirty="0">
                <a:cs typeface="楷体_GB2312" charset="0"/>
              </a:rPr>
              <a:t>10</a:t>
            </a:r>
            <a:r>
              <a:rPr kumimoji="1" lang="zh-CN" altLang="en-US" dirty="0">
                <a:cs typeface="楷体_GB2312" charset="0"/>
              </a:rPr>
              <a:t>、</a:t>
            </a:r>
            <a:r>
              <a:rPr kumimoji="1" lang="en-US" altLang="zh-CN" dirty="0">
                <a:cs typeface="楷体_GB2312" charset="0"/>
              </a:rPr>
              <a:t>14</a:t>
            </a:r>
            <a:r>
              <a:rPr kumimoji="1" lang="zh-CN" altLang="en-US" dirty="0">
                <a:cs typeface="楷体_GB2312" charset="0"/>
              </a:rPr>
              <a:t>次二分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78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5"/>
          <p:cNvSpPr txBox="1">
            <a:spLocks noChangeArrowheads="1"/>
          </p:cNvSpPr>
          <p:nvPr/>
        </p:nvSpPr>
        <p:spPr bwMode="auto">
          <a:xfrm>
            <a:off x="1295128" y="3068960"/>
            <a:ext cx="7848872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kumimoji="1" lang="zh-CN" altLang="en-US" sz="3600" b="1" dirty="0">
                <a:latin typeface="黑体"/>
                <a:ea typeface="黑体"/>
                <a:cs typeface="黑体"/>
              </a:rPr>
              <a:t>没法确定根的区间怎么办呢？</a:t>
            </a:r>
            <a:endParaRPr kumimoji="1" lang="en-US" altLang="zh-CN" sz="3600" b="1" dirty="0">
              <a:latin typeface="黑体"/>
              <a:ea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328389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、不动点迭代法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5FBDBB-8250-B241-9843-EBEBDEE3718D}"/>
              </a:ext>
            </a:extLst>
          </p:cNvPr>
          <p:cNvSpPr txBox="1"/>
          <p:nvPr/>
        </p:nvSpPr>
        <p:spPr>
          <a:xfrm>
            <a:off x="381000" y="1143000"/>
            <a:ext cx="4476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非线性方程求根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问题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4">
                <a:extLst>
                  <a:ext uri="{FF2B5EF4-FFF2-40B4-BE49-F238E27FC236}">
                    <a16:creationId xmlns:a16="http://schemas.microsoft.com/office/drawing/2014/main" id="{FC85858A-9107-574A-A747-70B143E148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777" y="1972270"/>
                <a:ext cx="190535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𝒇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 (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𝒙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) = 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𝟎</m:t>
                      </m:r>
                    </m:oMath>
                  </m:oMathPara>
                </a14:m>
                <a:endParaRPr lang="en-US" altLang="zh-CN" sz="2400" b="1" i="1" dirty="0">
                  <a:cs typeface="宋体" charset="0"/>
                </a:endParaRPr>
              </a:p>
            </p:txBody>
          </p:sp>
        </mc:Choice>
        <mc:Fallback xmlns="">
          <p:sp>
            <p:nvSpPr>
              <p:cNvPr id="16" name="Text Box 4">
                <a:extLst>
                  <a:ext uri="{FF2B5EF4-FFF2-40B4-BE49-F238E27FC236}">
                    <a16:creationId xmlns:a16="http://schemas.microsoft.com/office/drawing/2014/main" id="{FC85858A-9107-574A-A747-70B143E14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4777" y="1972270"/>
                <a:ext cx="1905358" cy="461665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5">
                <a:extLst>
                  <a:ext uri="{FF2B5EF4-FFF2-40B4-BE49-F238E27FC236}">
                    <a16:creationId xmlns:a16="http://schemas.microsoft.com/office/drawing/2014/main" id="{EEFBF4D6-EB01-694C-93C6-D22B4E1AB6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14642" y="1972270"/>
                <a:ext cx="167675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𝒙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 = 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𝒈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 (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𝒙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)</m:t>
                      </m:r>
                    </m:oMath>
                  </m:oMathPara>
                </a14:m>
                <a:endParaRPr lang="en-US" altLang="zh-CN" sz="2400" b="1" i="1" dirty="0">
                  <a:cs typeface="宋体" charset="0"/>
                </a:endParaRPr>
              </a:p>
            </p:txBody>
          </p:sp>
        </mc:Choice>
        <mc:Fallback xmlns="">
          <p:sp>
            <p:nvSpPr>
              <p:cNvPr id="17" name="Text Box 5">
                <a:extLst>
                  <a:ext uri="{FF2B5EF4-FFF2-40B4-BE49-F238E27FC236}">
                    <a16:creationId xmlns:a16="http://schemas.microsoft.com/office/drawing/2014/main" id="{EEFBF4D6-EB01-694C-93C6-D22B4E1AB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4642" y="1972270"/>
                <a:ext cx="1676758" cy="461665"/>
              </a:xfrm>
              <a:prstGeom prst="rect">
                <a:avLst/>
              </a:prstGeom>
              <a:blipFill>
                <a:blip r:embed="rId4"/>
                <a:stretch>
                  <a:fillRect b="-216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8">
            <a:extLst>
              <a:ext uri="{FF2B5EF4-FFF2-40B4-BE49-F238E27FC236}">
                <a16:creationId xmlns:a16="http://schemas.microsoft.com/office/drawing/2014/main" id="{FE8F066F-DDC4-A743-BB2B-19B6E3E4D68B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743670"/>
            <a:ext cx="1447800" cy="533400"/>
            <a:chOff x="1680" y="720"/>
            <a:chExt cx="912" cy="336"/>
          </a:xfrm>
        </p:grpSpPr>
        <p:sp>
          <p:nvSpPr>
            <p:cNvPr id="19" name="AutoShape 6">
              <a:extLst>
                <a:ext uri="{FF2B5EF4-FFF2-40B4-BE49-F238E27FC236}">
                  <a16:creationId xmlns:a16="http://schemas.microsoft.com/office/drawing/2014/main" id="{37D4F8F7-3402-3D41-AC37-BCF77F0EC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960"/>
              <a:ext cx="912" cy="96"/>
            </a:xfrm>
            <a:prstGeom prst="leftRightArrow">
              <a:avLst>
                <a:gd name="adj1" fmla="val 50000"/>
                <a:gd name="adj2" fmla="val 190000"/>
              </a:avLst>
            </a:prstGeom>
            <a:solidFill>
              <a:schemeClr val="accent4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20" name="Text Box 7">
              <a:extLst>
                <a:ext uri="{FF2B5EF4-FFF2-40B4-BE49-F238E27FC236}">
                  <a16:creationId xmlns:a16="http://schemas.microsoft.com/office/drawing/2014/main" id="{503761A1-36AD-FE42-96DA-4D10E2506D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720"/>
              <a:ext cx="9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2000" b="1" dirty="0">
                  <a:latin typeface="SimSun" panose="02010600030101010101" pitchFamily="2" charset="-122"/>
                  <a:ea typeface="SimSun" panose="02010600030101010101" pitchFamily="2" charset="-122"/>
                  <a:cs typeface="楷体_GB2312" charset="0"/>
                </a:rPr>
                <a:t>等价变换</a:t>
              </a:r>
              <a:endPara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  <a:cs typeface="楷体_GB231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AutoShape 9">
                <a:extLst>
                  <a:ext uri="{FF2B5EF4-FFF2-40B4-BE49-F238E27FC236}">
                    <a16:creationId xmlns:a16="http://schemas.microsoft.com/office/drawing/2014/main" id="{D97F63DD-E0ED-DD48-8B34-A05BAE599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400" y="2510135"/>
                <a:ext cx="2611293" cy="461665"/>
              </a:xfrm>
              <a:prstGeom prst="wedgeEllipseCallout">
                <a:avLst>
                  <a:gd name="adj1" fmla="val 979"/>
                  <a:gd name="adj2" fmla="val -75547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𝒇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 (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𝒙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) </m:t>
                    </m:r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  <a:cs typeface="楷体_GB2312" charset="0"/>
                  </a:rPr>
                  <a:t>的根</a:t>
                </a:r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  <a:cs typeface="楷体_GB2312" charset="0"/>
                </a:endParaRPr>
              </a:p>
            </p:txBody>
          </p:sp>
        </mc:Choice>
        <mc:Fallback xmlns="">
          <p:sp>
            <p:nvSpPr>
              <p:cNvPr id="21" name="AutoShape 9">
                <a:extLst>
                  <a:ext uri="{FF2B5EF4-FFF2-40B4-BE49-F238E27FC236}">
                    <a16:creationId xmlns:a16="http://schemas.microsoft.com/office/drawing/2014/main" id="{D97F63DD-E0ED-DD48-8B34-A05BAE5990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2510135"/>
                <a:ext cx="2611293" cy="461665"/>
              </a:xfrm>
              <a:prstGeom prst="wedgeEllipseCallout">
                <a:avLst>
                  <a:gd name="adj1" fmla="val 979"/>
                  <a:gd name="adj2" fmla="val -75547"/>
                </a:avLst>
              </a:prstGeom>
              <a:blipFill>
                <a:blip r:embed="rId5"/>
                <a:stretch>
                  <a:fillRect b="-319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AutoShape 10">
                <a:extLst>
                  <a:ext uri="{FF2B5EF4-FFF2-40B4-BE49-F238E27FC236}">
                    <a16:creationId xmlns:a16="http://schemas.microsoft.com/office/drawing/2014/main" id="{252327E0-6725-D344-BE53-C889A7DAA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1600" y="2498725"/>
                <a:ext cx="3200400" cy="542604"/>
              </a:xfrm>
              <a:prstGeom prst="wedgeEllipseCallout">
                <a:avLst>
                  <a:gd name="adj1" fmla="val 5752"/>
                  <a:gd name="adj2" fmla="val -74008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𝒈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 (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𝒙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) </m:t>
                    </m:r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  <a:cs typeface="楷体_GB2312" charset="0"/>
                  </a:rPr>
                  <a:t>的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楷体_GB2312" charset="0"/>
                  </a:rPr>
                  <a:t>不动点</a:t>
                </a:r>
                <a:endParaRPr lang="en-US" altLang="zh-CN" sz="2400" b="1" dirty="0">
                  <a:solidFill>
                    <a:srgbClr val="0000FF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楷体_GB2312" charset="0"/>
                </a:endParaRPr>
              </a:p>
            </p:txBody>
          </p:sp>
        </mc:Choice>
        <mc:Fallback xmlns="">
          <p:sp>
            <p:nvSpPr>
              <p:cNvPr id="22" name="AutoShape 10">
                <a:extLst>
                  <a:ext uri="{FF2B5EF4-FFF2-40B4-BE49-F238E27FC236}">
                    <a16:creationId xmlns:a16="http://schemas.microsoft.com/office/drawing/2014/main" id="{252327E0-6725-D344-BE53-C889A7DAA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2498725"/>
                <a:ext cx="3200400" cy="542604"/>
              </a:xfrm>
              <a:prstGeom prst="wedgeEllipseCallout">
                <a:avLst>
                  <a:gd name="adj1" fmla="val 5752"/>
                  <a:gd name="adj2" fmla="val -74008"/>
                </a:avLst>
              </a:prstGeom>
              <a:blipFill>
                <a:blip r:embed="rId6"/>
                <a:stretch>
                  <a:fillRect b="-1636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AutoShape 11">
            <a:extLst>
              <a:ext uri="{FF2B5EF4-FFF2-40B4-BE49-F238E27FC236}">
                <a16:creationId xmlns:a16="http://schemas.microsoft.com/office/drawing/2014/main" id="{BBB6CB98-AA7C-F64B-BFE6-DF65F961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716" y="2727325"/>
            <a:ext cx="609600" cy="152400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宋体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7AE164-2428-D34B-AE62-5AA839AB8606}"/>
              </a:ext>
            </a:extLst>
          </p:cNvPr>
          <p:cNvSpPr txBox="1"/>
          <p:nvPr/>
        </p:nvSpPr>
        <p:spPr>
          <a:xfrm>
            <a:off x="5791200" y="5481935"/>
            <a:ext cx="2501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不动点迭代法</a:t>
            </a:r>
            <a:endParaRPr lang="en-US" altLang="zh-CN" sz="24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1724877-1E53-5741-A7D3-FAFC264AB6B9}"/>
              </a:ext>
            </a:extLst>
          </p:cNvPr>
          <p:cNvGrpSpPr/>
          <p:nvPr/>
        </p:nvGrpSpPr>
        <p:grpSpPr>
          <a:xfrm>
            <a:off x="381000" y="3115270"/>
            <a:ext cx="3501603" cy="2595265"/>
            <a:chOff x="782493" y="4262735"/>
            <a:chExt cx="3501603" cy="259526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C48B10D1-FF51-E342-9068-370112921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00826" y="4843285"/>
              <a:ext cx="2437014" cy="1862315"/>
            </a:xfrm>
            <a:prstGeom prst="rect">
              <a:avLst/>
            </a:prstGeom>
          </p:spPr>
        </p:pic>
        <p:sp>
          <p:nvSpPr>
            <p:cNvPr id="34" name="Line 6">
              <a:extLst>
                <a:ext uri="{FF2B5EF4-FFF2-40B4-BE49-F238E27FC236}">
                  <a16:creationId xmlns:a16="http://schemas.microsoft.com/office/drawing/2014/main" id="{BCD2FED6-851B-9C49-99DF-B6F261788C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5057" y="5943600"/>
              <a:ext cx="300388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35" name="Line 7">
              <a:extLst>
                <a:ext uri="{FF2B5EF4-FFF2-40B4-BE49-F238E27FC236}">
                  <a16:creationId xmlns:a16="http://schemas.microsoft.com/office/drawing/2014/main" id="{6CE21FDA-F5FA-644A-A241-A27B6C2E87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5399" y="4425914"/>
              <a:ext cx="8021" cy="243208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4415608A-EFD0-424D-9F33-FB8844799B0D}"/>
                    </a:ext>
                  </a:extLst>
                </p:cNvPr>
                <p:cNvSpPr/>
                <p:nvPr/>
              </p:nvSpPr>
              <p:spPr>
                <a:xfrm>
                  <a:off x="3852568" y="5867400"/>
                  <a:ext cx="43152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CN" sz="2400" b="1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61B9B7B-D03A-FD47-91F4-4D1AEA7BA7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2568" y="5867400"/>
                  <a:ext cx="431528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F63F33C-09F6-8C41-BE6D-BF61D36EF931}"/>
                    </a:ext>
                  </a:extLst>
                </p:cNvPr>
                <p:cNvSpPr/>
                <p:nvPr/>
              </p:nvSpPr>
              <p:spPr>
                <a:xfrm>
                  <a:off x="1314660" y="4262735"/>
                  <a:ext cx="43794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m:oMathPara>
                  </a14:m>
                  <a:endParaRPr lang="en-CN" sz="2400" b="1" dirty="0"/>
                </a:p>
              </p:txBody>
            </p:sp>
          </mc:Choice>
          <mc:Fallback xmlns="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036D046-1C79-AB48-AD80-02DD16A4C8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4660" y="4262735"/>
                  <a:ext cx="437940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0811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Line 7">
              <a:extLst>
                <a:ext uri="{FF2B5EF4-FFF2-40B4-BE49-F238E27FC236}">
                  <a16:creationId xmlns:a16="http://schemas.microsoft.com/office/drawing/2014/main" id="{686904E0-FCEF-D749-A4DA-3608127AA4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3800" y="5867400"/>
              <a:ext cx="8021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39" name="Line 7">
              <a:extLst>
                <a:ext uri="{FF2B5EF4-FFF2-40B4-BE49-F238E27FC236}">
                  <a16:creationId xmlns:a16="http://schemas.microsoft.com/office/drawing/2014/main" id="{24652EA0-3920-8347-88B7-1EE143DAB6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19200" y="4800600"/>
              <a:ext cx="152400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1B3D490E-48C3-3648-9450-125F39C69F07}"/>
                    </a:ext>
                  </a:extLst>
                </p:cNvPr>
                <p:cNvSpPr/>
                <p:nvPr/>
              </p:nvSpPr>
              <p:spPr>
                <a:xfrm>
                  <a:off x="793521" y="4641185"/>
                  <a:ext cx="436707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15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23CC97A-72F6-3048-A086-EAACECBB84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521" y="4641185"/>
                  <a:ext cx="43670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E5E662FD-97A2-C143-AA16-53CA0F08AD9D}"/>
                    </a:ext>
                  </a:extLst>
                </p:cNvPr>
                <p:cNvSpPr/>
                <p:nvPr/>
              </p:nvSpPr>
              <p:spPr>
                <a:xfrm>
                  <a:off x="782493" y="5802868"/>
                  <a:ext cx="436707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0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B45088BA-31C8-EE4A-81F1-FACC3C3AD3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493" y="5802868"/>
                  <a:ext cx="43670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3C10C4B9-B664-EF48-92F1-D2E62A5A85AB}"/>
                    </a:ext>
                  </a:extLst>
                </p:cNvPr>
                <p:cNvSpPr/>
                <p:nvPr/>
              </p:nvSpPr>
              <p:spPr>
                <a:xfrm>
                  <a:off x="3525693" y="5955268"/>
                  <a:ext cx="436707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09FA1B76-7A1F-1A43-99C6-D18B74073A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5693" y="5955268"/>
                  <a:ext cx="43670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1D9ABC-CB30-984F-BB32-466B83FC7635}"/>
                  </a:ext>
                </a:extLst>
              </p:cNvPr>
              <p:cNvSpPr txBox="1"/>
              <p:nvPr/>
            </p:nvSpPr>
            <p:spPr>
              <a:xfrm>
                <a:off x="2663428" y="3424535"/>
                <a:ext cx="1603772" cy="28321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CN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1D9ABC-CB30-984F-BB32-466B83FC7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428" y="3424535"/>
                <a:ext cx="1603772" cy="283219"/>
              </a:xfrm>
              <a:prstGeom prst="rect">
                <a:avLst/>
              </a:prstGeom>
              <a:blipFill>
                <a:blip r:embed="rId16"/>
                <a:stretch>
                  <a:fillRect l="-4724" t="-4348" r="-3150" b="-3478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AutoShape 11">
            <a:extLst>
              <a:ext uri="{FF2B5EF4-FFF2-40B4-BE49-F238E27FC236}">
                <a16:creationId xmlns:a16="http://schemas.microsoft.com/office/drawing/2014/main" id="{6581834B-A657-8C49-8D9B-1EFC7C5AA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286193"/>
            <a:ext cx="609600" cy="152400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宋体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6E3A4C5-9814-1744-91BF-E1FBC61A7040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t="25337"/>
          <a:stretch/>
        </p:blipFill>
        <p:spPr>
          <a:xfrm>
            <a:off x="5413770" y="3639261"/>
            <a:ext cx="2551877" cy="1461673"/>
          </a:xfrm>
          <a:prstGeom prst="rect">
            <a:avLst/>
          </a:prstGeom>
          <a:ln>
            <a:noFill/>
          </a:ln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7B64C153-C0E8-334D-910E-FC825A12E176}"/>
              </a:ext>
            </a:extLst>
          </p:cNvPr>
          <p:cNvGrpSpPr/>
          <p:nvPr/>
        </p:nvGrpSpPr>
        <p:grpSpPr>
          <a:xfrm>
            <a:off x="4953000" y="3272135"/>
            <a:ext cx="3733800" cy="2249185"/>
            <a:chOff x="5715000" y="4648200"/>
            <a:chExt cx="3733800" cy="2249185"/>
          </a:xfrm>
        </p:grpSpPr>
        <p:sp>
          <p:nvSpPr>
            <p:cNvPr id="47" name="Line 7">
              <a:extLst>
                <a:ext uri="{FF2B5EF4-FFF2-40B4-BE49-F238E27FC236}">
                  <a16:creationId xmlns:a16="http://schemas.microsoft.com/office/drawing/2014/main" id="{53F37B0C-0622-5E44-AA66-3A1387C949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64180" y="4648200"/>
              <a:ext cx="15572" cy="22098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E5E832D0-0AD1-8345-AAE1-FDC280A6BDAD}"/>
                    </a:ext>
                  </a:extLst>
                </p:cNvPr>
                <p:cNvSpPr/>
                <p:nvPr/>
              </p:nvSpPr>
              <p:spPr>
                <a:xfrm>
                  <a:off x="9017272" y="6243935"/>
                  <a:ext cx="43152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CN" sz="2400" b="1" dirty="0"/>
                </a:p>
              </p:txBody>
            </p:sp>
          </mc:Choice>
          <mc:Fallback xmlns=""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BBA1029F-8E84-8148-B218-A821872975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7272" y="6243935"/>
                  <a:ext cx="431528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E9462168-9A48-F344-B016-7B6A325D8C83}"/>
                    </a:ext>
                  </a:extLst>
                </p:cNvPr>
                <p:cNvSpPr/>
                <p:nvPr/>
              </p:nvSpPr>
              <p:spPr>
                <a:xfrm>
                  <a:off x="5735493" y="5193268"/>
                  <a:ext cx="436707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EA1B0C5E-C248-D147-BDA7-2F65B4C20A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5493" y="5193268"/>
                  <a:ext cx="43670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271EF976-1F05-A64D-86BF-A01C91BD24D3}"/>
                    </a:ext>
                  </a:extLst>
                </p:cNvPr>
                <p:cNvSpPr/>
                <p:nvPr/>
              </p:nvSpPr>
              <p:spPr>
                <a:xfrm>
                  <a:off x="5715000" y="6336268"/>
                  <a:ext cx="436707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0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C04E78A-B174-5944-BCF7-E1E948ACC1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6336268"/>
                  <a:ext cx="43670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Line 6">
              <a:extLst>
                <a:ext uri="{FF2B5EF4-FFF2-40B4-BE49-F238E27FC236}">
                  <a16:creationId xmlns:a16="http://schemas.microsoft.com/office/drawing/2014/main" id="{A66299DC-2E48-6449-A33B-073FA2DD5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7774" y="6474794"/>
              <a:ext cx="3010026" cy="220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2" name="Line 7">
              <a:extLst>
                <a:ext uri="{FF2B5EF4-FFF2-40B4-BE49-F238E27FC236}">
                  <a16:creationId xmlns:a16="http://schemas.microsoft.com/office/drawing/2014/main" id="{F7EAF25D-721F-A44B-AFFA-00B122B71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96000" y="5334000"/>
              <a:ext cx="152400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3" name="Line 7">
              <a:extLst>
                <a:ext uri="{FF2B5EF4-FFF2-40B4-BE49-F238E27FC236}">
                  <a16:creationId xmlns:a16="http://schemas.microsoft.com/office/drawing/2014/main" id="{38CBC87B-367A-AF46-84B3-F8B94CD426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757469" y="6400800"/>
              <a:ext cx="5531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E8243EF-219D-194F-827C-47749701F8C7}"/>
                    </a:ext>
                  </a:extLst>
                </p:cNvPr>
                <p:cNvSpPr/>
                <p:nvPr/>
              </p:nvSpPr>
              <p:spPr>
                <a:xfrm>
                  <a:off x="8509670" y="6528053"/>
                  <a:ext cx="436707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E1E75F00-AE6A-0445-A300-9A7817EAC1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9670" y="6528053"/>
                  <a:ext cx="43670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B8BC7EB-B477-9649-8145-FBA2584F6286}"/>
                  </a:ext>
                </a:extLst>
              </p:cNvPr>
              <p:cNvSpPr/>
              <p:nvPr/>
            </p:nvSpPr>
            <p:spPr>
              <a:xfrm>
                <a:off x="5458798" y="3191470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CN" sz="2400" b="1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B8BC7EB-B477-9649-8145-FBA2584F62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798" y="3191470"/>
                <a:ext cx="437940" cy="461665"/>
              </a:xfrm>
              <a:prstGeom prst="rect">
                <a:avLst/>
              </a:prstGeom>
              <a:blipFill>
                <a:blip r:embed="rId20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D0E07A2-FA60-984E-B869-0148039B0C1C}"/>
                  </a:ext>
                </a:extLst>
              </p:cNvPr>
              <p:cNvSpPr txBox="1"/>
              <p:nvPr/>
            </p:nvSpPr>
            <p:spPr>
              <a:xfrm>
                <a:off x="6763876" y="4100926"/>
                <a:ext cx="2336345" cy="28321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rgbClr val="0000FF"/>
                    </a:solidFill>
                  </a:rPr>
                  <a:t>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CN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D0E07A2-FA60-984E-B869-0148039B0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876" y="4100926"/>
                <a:ext cx="2336345" cy="283219"/>
              </a:xfrm>
              <a:prstGeom prst="rect">
                <a:avLst/>
              </a:prstGeom>
              <a:blipFill>
                <a:blip r:embed="rId21"/>
                <a:stretch>
                  <a:fillRect l="-5946" t="-26087" r="-2162" b="-4782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A3CCC4D-4B35-9240-A69B-54D979B2F20D}"/>
                  </a:ext>
                </a:extLst>
              </p:cNvPr>
              <p:cNvSpPr txBox="1"/>
              <p:nvPr/>
            </p:nvSpPr>
            <p:spPr>
              <a:xfrm>
                <a:off x="7042802" y="3376136"/>
                <a:ext cx="625171" cy="27699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84028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084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084028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CN" b="1" dirty="0">
                  <a:solidFill>
                    <a:srgbClr val="084028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A3CCC4D-4B35-9240-A69B-54D979B2F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802" y="3376136"/>
                <a:ext cx="625171" cy="276999"/>
              </a:xfrm>
              <a:prstGeom prst="rect">
                <a:avLst/>
              </a:prstGeom>
              <a:blipFill>
                <a:blip r:embed="rId22"/>
                <a:stretch>
                  <a:fillRect l="-8000" r="-6000" b="-2608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Line 62">
            <a:extLst>
              <a:ext uri="{FF2B5EF4-FFF2-40B4-BE49-F238E27FC236}">
                <a16:creationId xmlns:a16="http://schemas.microsoft.com/office/drawing/2014/main" id="{52F25E41-9037-7540-A4DC-BB0A049639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4503003"/>
            <a:ext cx="18594" cy="597932"/>
          </a:xfrm>
          <a:prstGeom prst="line">
            <a:avLst/>
          </a:prstGeom>
          <a:noFill/>
          <a:ln w="222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sp>
        <p:nvSpPr>
          <p:cNvPr id="60" name="Line 66">
            <a:extLst>
              <a:ext uri="{FF2B5EF4-FFF2-40B4-BE49-F238E27FC236}">
                <a16:creationId xmlns:a16="http://schemas.microsoft.com/office/drawing/2014/main" id="{5DCDE779-6131-DE44-B3B8-7194ABFF3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3594" y="4459108"/>
            <a:ext cx="516807" cy="2206"/>
          </a:xfrm>
          <a:prstGeom prst="line">
            <a:avLst/>
          </a:prstGeom>
          <a:noFill/>
          <a:ln w="222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sp>
        <p:nvSpPr>
          <p:cNvPr id="73" name="Line 67">
            <a:extLst>
              <a:ext uri="{FF2B5EF4-FFF2-40B4-BE49-F238E27FC236}">
                <a16:creationId xmlns:a16="http://schemas.microsoft.com/office/drawing/2014/main" id="{034DAC40-B9FC-994C-B829-2CFDA5C9C3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0401" y="4188741"/>
            <a:ext cx="25043" cy="921907"/>
          </a:xfrm>
          <a:prstGeom prst="line">
            <a:avLst/>
          </a:prstGeom>
          <a:noFill/>
          <a:ln w="222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44AE7B3-4C02-2447-9A00-18E99344A7BA}"/>
                  </a:ext>
                </a:extLst>
              </p:cNvPr>
              <p:cNvSpPr txBox="1"/>
              <p:nvPr/>
            </p:nvSpPr>
            <p:spPr>
              <a:xfrm>
                <a:off x="5615315" y="5100935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44AE7B3-4C02-2447-9A00-18E99344A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315" y="5100935"/>
                <a:ext cx="281423" cy="276999"/>
              </a:xfrm>
              <a:prstGeom prst="rect">
                <a:avLst/>
              </a:prstGeom>
              <a:blipFill>
                <a:blip r:embed="rId23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15B654D-D558-3A46-B0A6-3DD18B9F3FFA}"/>
                  </a:ext>
                </a:extLst>
              </p:cNvPr>
              <p:cNvSpPr txBox="1"/>
              <p:nvPr/>
            </p:nvSpPr>
            <p:spPr>
              <a:xfrm>
                <a:off x="6131211" y="5100935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15B654D-D558-3A46-B0A6-3DD18B9F3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211" y="5100935"/>
                <a:ext cx="276101" cy="276999"/>
              </a:xfrm>
              <a:prstGeom prst="rect">
                <a:avLst/>
              </a:prstGeom>
              <a:blipFill>
                <a:blip r:embed="rId24"/>
                <a:stretch>
                  <a:fillRect l="-8696" r="-4348" b="-130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Line 66">
            <a:extLst>
              <a:ext uri="{FF2B5EF4-FFF2-40B4-BE49-F238E27FC236}">
                <a16:creationId xmlns:a16="http://schemas.microsoft.com/office/drawing/2014/main" id="{BF4A1836-6818-814D-869D-0C87C0156B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994" y="4186535"/>
            <a:ext cx="284636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sp>
        <p:nvSpPr>
          <p:cNvPr id="77" name="Line 67">
            <a:extLst>
              <a:ext uri="{FF2B5EF4-FFF2-40B4-BE49-F238E27FC236}">
                <a16:creationId xmlns:a16="http://schemas.microsoft.com/office/drawing/2014/main" id="{BC7CA862-C2A1-6B44-A93B-4C00D7AFCA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28157" y="4034151"/>
            <a:ext cx="25042" cy="1074292"/>
          </a:xfrm>
          <a:prstGeom prst="line">
            <a:avLst/>
          </a:prstGeom>
          <a:noFill/>
          <a:ln w="222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sp>
        <p:nvSpPr>
          <p:cNvPr id="78" name="Line 66">
            <a:extLst>
              <a:ext uri="{FF2B5EF4-FFF2-40B4-BE49-F238E27FC236}">
                <a16:creationId xmlns:a16="http://schemas.microsoft.com/office/drawing/2014/main" id="{304270D6-1EF5-FF40-8251-259BCFD00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3364" y="4034135"/>
            <a:ext cx="284636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9214E86-0688-C64D-BC45-44A86A3269E5}"/>
                  </a:ext>
                </a:extLst>
              </p:cNvPr>
              <p:cNvSpPr txBox="1"/>
              <p:nvPr/>
            </p:nvSpPr>
            <p:spPr>
              <a:xfrm>
                <a:off x="6429499" y="5100935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9214E86-0688-C64D-BC45-44A86A326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499" y="5100935"/>
                <a:ext cx="281423" cy="276999"/>
              </a:xfrm>
              <a:prstGeom prst="rect">
                <a:avLst/>
              </a:prstGeom>
              <a:blipFill>
                <a:blip r:embed="rId25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D003772B-37D3-EA4C-8899-CD6EC20EDD67}"/>
                  </a:ext>
                </a:extLst>
              </p:cNvPr>
              <p:cNvSpPr/>
              <p:nvPr/>
            </p:nvSpPr>
            <p:spPr>
              <a:xfrm>
                <a:off x="6637595" y="4519774"/>
                <a:ext cx="16219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𝑔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D003772B-37D3-EA4C-8899-CD6EC20EDD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7595" y="4519774"/>
                <a:ext cx="1621918" cy="369332"/>
              </a:xfrm>
              <a:prstGeom prst="rect">
                <a:avLst/>
              </a:prstGeom>
              <a:blipFill>
                <a:blip r:embed="rId2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724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 animBg="1"/>
      <p:bldP spid="22" grpId="0" animBg="1"/>
      <p:bldP spid="129" grpId="0" animBg="1"/>
      <p:bldP spid="31" grpId="0"/>
      <p:bldP spid="43" grpId="0"/>
      <p:bldP spid="44" grpId="0" animBg="1"/>
      <p:bldP spid="55" grpId="0"/>
      <p:bldP spid="56" grpId="0"/>
      <p:bldP spid="57" grpId="0"/>
      <p:bldP spid="58" grpId="0" animBg="1"/>
      <p:bldP spid="60" grpId="0" animBg="1"/>
      <p:bldP spid="73" grpId="0" animBg="1"/>
      <p:bldP spid="74" grpId="0"/>
      <p:bldP spid="75" grpId="0"/>
      <p:bldP spid="76" grpId="0" animBg="1"/>
      <p:bldP spid="77" grpId="0" animBg="1"/>
      <p:bldP spid="78" grpId="0" animBg="1"/>
      <p:bldP spid="79" grpId="0"/>
      <p:bldP spid="8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4C2763-103F-1648-BEBD-D3394D4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、不动点迭代法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FB547DE-1111-1440-B076-01D81E52669B}"/>
              </a:ext>
            </a:extLst>
          </p:cNvPr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5FBDBB-8250-B241-9843-EBEBDEE3718D}"/>
              </a:ext>
            </a:extLst>
          </p:cNvPr>
          <p:cNvSpPr txBox="1"/>
          <p:nvPr/>
        </p:nvSpPr>
        <p:spPr>
          <a:xfrm>
            <a:off x="381000" y="1143000"/>
            <a:ext cx="4476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非线性方程求根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问题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4">
                <a:extLst>
                  <a:ext uri="{FF2B5EF4-FFF2-40B4-BE49-F238E27FC236}">
                    <a16:creationId xmlns:a16="http://schemas.microsoft.com/office/drawing/2014/main" id="{FC85858A-9107-574A-A747-70B143E148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777" y="1972270"/>
                <a:ext cx="190535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𝒇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 (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𝒙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) = 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𝟎</m:t>
                      </m:r>
                    </m:oMath>
                  </m:oMathPara>
                </a14:m>
                <a:endParaRPr lang="en-US" altLang="zh-CN" sz="2400" b="1" i="1" dirty="0">
                  <a:cs typeface="宋体" charset="0"/>
                </a:endParaRPr>
              </a:p>
            </p:txBody>
          </p:sp>
        </mc:Choice>
        <mc:Fallback xmlns="">
          <p:sp>
            <p:nvSpPr>
              <p:cNvPr id="16" name="Text Box 4">
                <a:extLst>
                  <a:ext uri="{FF2B5EF4-FFF2-40B4-BE49-F238E27FC236}">
                    <a16:creationId xmlns:a16="http://schemas.microsoft.com/office/drawing/2014/main" id="{FC85858A-9107-574A-A747-70B143E14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4777" y="1972270"/>
                <a:ext cx="1905358" cy="461665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5">
                <a:extLst>
                  <a:ext uri="{FF2B5EF4-FFF2-40B4-BE49-F238E27FC236}">
                    <a16:creationId xmlns:a16="http://schemas.microsoft.com/office/drawing/2014/main" id="{EEFBF4D6-EB01-694C-93C6-D22B4E1AB6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14642" y="1972270"/>
                <a:ext cx="167675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𝒙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 = 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𝒈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 (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𝒙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cs typeface="宋体" charset="0"/>
                        </a:rPr>
                        <m:t>)</m:t>
                      </m:r>
                    </m:oMath>
                  </m:oMathPara>
                </a14:m>
                <a:endParaRPr lang="en-US" altLang="zh-CN" sz="2400" b="1" i="1" dirty="0">
                  <a:cs typeface="宋体" charset="0"/>
                </a:endParaRPr>
              </a:p>
            </p:txBody>
          </p:sp>
        </mc:Choice>
        <mc:Fallback xmlns="">
          <p:sp>
            <p:nvSpPr>
              <p:cNvPr id="17" name="Text Box 5">
                <a:extLst>
                  <a:ext uri="{FF2B5EF4-FFF2-40B4-BE49-F238E27FC236}">
                    <a16:creationId xmlns:a16="http://schemas.microsoft.com/office/drawing/2014/main" id="{EEFBF4D6-EB01-694C-93C6-D22B4E1AB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4642" y="1972270"/>
                <a:ext cx="1676758" cy="461665"/>
              </a:xfrm>
              <a:prstGeom prst="rect">
                <a:avLst/>
              </a:prstGeom>
              <a:blipFill>
                <a:blip r:embed="rId4"/>
                <a:stretch>
                  <a:fillRect b="-216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8">
            <a:extLst>
              <a:ext uri="{FF2B5EF4-FFF2-40B4-BE49-F238E27FC236}">
                <a16:creationId xmlns:a16="http://schemas.microsoft.com/office/drawing/2014/main" id="{FE8F066F-DDC4-A743-BB2B-19B6E3E4D68B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743670"/>
            <a:ext cx="1447800" cy="533400"/>
            <a:chOff x="1680" y="720"/>
            <a:chExt cx="912" cy="336"/>
          </a:xfrm>
        </p:grpSpPr>
        <p:sp>
          <p:nvSpPr>
            <p:cNvPr id="19" name="AutoShape 6">
              <a:extLst>
                <a:ext uri="{FF2B5EF4-FFF2-40B4-BE49-F238E27FC236}">
                  <a16:creationId xmlns:a16="http://schemas.microsoft.com/office/drawing/2014/main" id="{37D4F8F7-3402-3D41-AC37-BCF77F0EC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960"/>
              <a:ext cx="912" cy="96"/>
            </a:xfrm>
            <a:prstGeom prst="leftRightArrow">
              <a:avLst>
                <a:gd name="adj1" fmla="val 50000"/>
                <a:gd name="adj2" fmla="val 190000"/>
              </a:avLst>
            </a:prstGeom>
            <a:solidFill>
              <a:schemeClr val="accent4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20" name="Text Box 7">
              <a:extLst>
                <a:ext uri="{FF2B5EF4-FFF2-40B4-BE49-F238E27FC236}">
                  <a16:creationId xmlns:a16="http://schemas.microsoft.com/office/drawing/2014/main" id="{503761A1-36AD-FE42-96DA-4D10E2506D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720"/>
              <a:ext cx="9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2000" b="1" dirty="0">
                  <a:latin typeface="SimSun" panose="02010600030101010101" pitchFamily="2" charset="-122"/>
                  <a:ea typeface="SimSun" panose="02010600030101010101" pitchFamily="2" charset="-122"/>
                  <a:cs typeface="楷体_GB2312" charset="0"/>
                </a:rPr>
                <a:t>等价变换</a:t>
              </a:r>
              <a:endPara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  <a:cs typeface="楷体_GB231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AutoShape 9">
                <a:extLst>
                  <a:ext uri="{FF2B5EF4-FFF2-40B4-BE49-F238E27FC236}">
                    <a16:creationId xmlns:a16="http://schemas.microsoft.com/office/drawing/2014/main" id="{D97F63DD-E0ED-DD48-8B34-A05BAE599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400" y="2510135"/>
                <a:ext cx="2611293" cy="461665"/>
              </a:xfrm>
              <a:prstGeom prst="wedgeEllipseCallout">
                <a:avLst>
                  <a:gd name="adj1" fmla="val 979"/>
                  <a:gd name="adj2" fmla="val -75547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𝒇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 (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𝒙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) </m:t>
                    </m:r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  <a:cs typeface="楷体_GB2312" charset="0"/>
                  </a:rPr>
                  <a:t>的根</a:t>
                </a:r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  <a:cs typeface="楷体_GB2312" charset="0"/>
                </a:endParaRPr>
              </a:p>
            </p:txBody>
          </p:sp>
        </mc:Choice>
        <mc:Fallback xmlns="">
          <p:sp>
            <p:nvSpPr>
              <p:cNvPr id="21" name="AutoShape 9">
                <a:extLst>
                  <a:ext uri="{FF2B5EF4-FFF2-40B4-BE49-F238E27FC236}">
                    <a16:creationId xmlns:a16="http://schemas.microsoft.com/office/drawing/2014/main" id="{D97F63DD-E0ED-DD48-8B34-A05BAE5990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2510135"/>
                <a:ext cx="2611293" cy="461665"/>
              </a:xfrm>
              <a:prstGeom prst="wedgeEllipseCallout">
                <a:avLst>
                  <a:gd name="adj1" fmla="val 979"/>
                  <a:gd name="adj2" fmla="val -75547"/>
                </a:avLst>
              </a:prstGeom>
              <a:blipFill>
                <a:blip r:embed="rId5"/>
                <a:stretch>
                  <a:fillRect b="-3191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AutoShape 10">
                <a:extLst>
                  <a:ext uri="{FF2B5EF4-FFF2-40B4-BE49-F238E27FC236}">
                    <a16:creationId xmlns:a16="http://schemas.microsoft.com/office/drawing/2014/main" id="{252327E0-6725-D344-BE53-C889A7DAA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1600" y="2498725"/>
                <a:ext cx="3200400" cy="542604"/>
              </a:xfrm>
              <a:prstGeom prst="wedgeEllipseCallout">
                <a:avLst>
                  <a:gd name="adj1" fmla="val 5752"/>
                  <a:gd name="adj2" fmla="val -74008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𝒈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 (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𝒙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宋体" charset="0"/>
                      </a:rPr>
                      <m:t>) </m:t>
                    </m:r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  <a:cs typeface="楷体_GB2312" charset="0"/>
                  </a:rPr>
                  <a:t>的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SimSun" panose="02010600030101010101" pitchFamily="2" charset="-122"/>
                    <a:ea typeface="SimSun" panose="02010600030101010101" pitchFamily="2" charset="-122"/>
                    <a:cs typeface="楷体_GB2312" charset="0"/>
                  </a:rPr>
                  <a:t>不动点</a:t>
                </a:r>
                <a:endParaRPr lang="en-US" altLang="zh-CN" sz="2400" b="1" dirty="0">
                  <a:solidFill>
                    <a:srgbClr val="0000FF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楷体_GB2312" charset="0"/>
                </a:endParaRPr>
              </a:p>
            </p:txBody>
          </p:sp>
        </mc:Choice>
        <mc:Fallback xmlns="">
          <p:sp>
            <p:nvSpPr>
              <p:cNvPr id="22" name="AutoShape 10">
                <a:extLst>
                  <a:ext uri="{FF2B5EF4-FFF2-40B4-BE49-F238E27FC236}">
                    <a16:creationId xmlns:a16="http://schemas.microsoft.com/office/drawing/2014/main" id="{252327E0-6725-D344-BE53-C889A7DAA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2498725"/>
                <a:ext cx="3200400" cy="542604"/>
              </a:xfrm>
              <a:prstGeom prst="wedgeEllipseCallout">
                <a:avLst>
                  <a:gd name="adj1" fmla="val 5752"/>
                  <a:gd name="adj2" fmla="val -74008"/>
                </a:avLst>
              </a:prstGeom>
              <a:blipFill>
                <a:blip r:embed="rId6"/>
                <a:stretch>
                  <a:fillRect b="-1636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AutoShape 11">
            <a:extLst>
              <a:ext uri="{FF2B5EF4-FFF2-40B4-BE49-F238E27FC236}">
                <a16:creationId xmlns:a16="http://schemas.microsoft.com/office/drawing/2014/main" id="{BBB6CB98-AA7C-F64B-BFE6-DF65F961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716" y="2727325"/>
            <a:ext cx="609600" cy="152400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宋体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70C036-C795-F947-ADFD-63D1DBFC83FC}"/>
              </a:ext>
            </a:extLst>
          </p:cNvPr>
          <p:cNvSpPr txBox="1"/>
          <p:nvPr/>
        </p:nvSpPr>
        <p:spPr>
          <a:xfrm>
            <a:off x="478530" y="3200400"/>
            <a:ext cx="2501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不动点迭代法</a:t>
            </a:r>
            <a:endParaRPr lang="en-US" altLang="zh-CN" sz="24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7DDD303-1D67-F549-8CD3-32EC7E7F1C40}"/>
                  </a:ext>
                </a:extLst>
              </p:cNvPr>
              <p:cNvSpPr txBox="1"/>
              <p:nvPr/>
            </p:nvSpPr>
            <p:spPr>
              <a:xfrm>
                <a:off x="707578" y="3722390"/>
                <a:ext cx="78268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建立迭代格式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𝒌</m:t>
                        </m:r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𝒈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𝒌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，从一初值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出发，计算序列：</a:t>
                </a:r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7DDD303-1D67-F549-8CD3-32EC7E7F1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78" y="3722390"/>
                <a:ext cx="7826822" cy="461665"/>
              </a:xfrm>
              <a:prstGeom prst="rect">
                <a:avLst/>
              </a:prstGeom>
              <a:blipFill>
                <a:blip r:embed="rId7"/>
                <a:stretch>
                  <a:fillRect l="-1135" t="-13514" r="-5186" b="-2702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49F6975-CB19-894E-A1A5-00CB55E861F7}"/>
                  </a:ext>
                </a:extLst>
              </p:cNvPr>
              <p:cNvSpPr/>
              <p:nvPr/>
            </p:nvSpPr>
            <p:spPr>
              <a:xfrm>
                <a:off x="1505987" y="4260255"/>
                <a:ext cx="13731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𝒈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b="1" dirty="0"/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49F6975-CB19-894E-A1A5-00CB55E861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987" y="4260255"/>
                <a:ext cx="1373196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5A348C3F-01B9-404D-987B-95C1453DA33A}"/>
                  </a:ext>
                </a:extLst>
              </p:cNvPr>
              <p:cNvSpPr/>
              <p:nvPr/>
            </p:nvSpPr>
            <p:spPr>
              <a:xfrm>
                <a:off x="1492114" y="4619698"/>
                <a:ext cx="13731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𝒈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b="1" dirty="0"/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5A348C3F-01B9-404D-987B-95C1453DA3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114" y="4619698"/>
                <a:ext cx="1373196" cy="369332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9A9D236-4DF5-5F48-9A16-A034785A0A4D}"/>
                  </a:ext>
                </a:extLst>
              </p:cNvPr>
              <p:cNvSpPr/>
              <p:nvPr/>
            </p:nvSpPr>
            <p:spPr>
              <a:xfrm>
                <a:off x="1260601" y="5240966"/>
                <a:ext cx="16349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𝒌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𝒈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𝒌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en-CN" b="1" dirty="0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9A9D236-4DF5-5F48-9A16-A034785A0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601" y="5240966"/>
                <a:ext cx="1634999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CD26E0E-508D-6B41-8435-3BB14EC71C05}"/>
              </a:ext>
            </a:extLst>
          </p:cNvPr>
          <p:cNvSpPr txBox="1"/>
          <p:nvPr/>
        </p:nvSpPr>
        <p:spPr>
          <a:xfrm rot="5400000">
            <a:off x="2001900" y="4769865"/>
            <a:ext cx="1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/>
              <a:t>…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5F0571-ACEE-F74C-AA32-4BBBBD239DD5}"/>
              </a:ext>
            </a:extLst>
          </p:cNvPr>
          <p:cNvSpPr txBox="1"/>
          <p:nvPr/>
        </p:nvSpPr>
        <p:spPr>
          <a:xfrm rot="5400000">
            <a:off x="2026611" y="5439987"/>
            <a:ext cx="1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/>
              <a:t>…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C42E85-0480-4647-B2F7-000D49E54EF9}"/>
              </a:ext>
            </a:extLst>
          </p:cNvPr>
          <p:cNvSpPr/>
          <p:nvPr/>
        </p:nvSpPr>
        <p:spPr>
          <a:xfrm>
            <a:off x="1240934" y="4260255"/>
            <a:ext cx="1730866" cy="17310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35ED0A3-28A1-1E4E-A1F9-8BA6FABA8AF9}"/>
                  </a:ext>
                </a:extLst>
              </p:cNvPr>
              <p:cNvSpPr txBox="1"/>
              <p:nvPr/>
            </p:nvSpPr>
            <p:spPr>
              <a:xfrm>
                <a:off x="3499948" y="4255441"/>
                <a:ext cx="5313309" cy="572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若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序列收敛</a:t>
                </a:r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，即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limLowPr>
                          <m:e>
                            <m:r>
                              <a:rPr lang="en-US" altLang="zh-CN" sz="2400" b="1" i="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𝐥𝐢𝐦</m:t>
                            </m:r>
                          </m:e>
                          <m:lim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𝒌</m:t>
                            </m:r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∗</m:t>
                            </m:r>
                          </m:sup>
                        </m:sSup>
                      </m:e>
                    </m:func>
                  </m:oMath>
                </a14:m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35ED0A3-28A1-1E4E-A1F9-8BA6FABA8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948" y="4255441"/>
                <a:ext cx="5313309" cy="572849"/>
              </a:xfrm>
              <a:prstGeom prst="rect">
                <a:avLst/>
              </a:prstGeom>
              <a:blipFill>
                <a:blip r:embed="rId11"/>
                <a:stretch>
                  <a:fillRect l="-1905" t="-10870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D296A66-D88F-A949-8A8B-692BFB6A6368}"/>
                  </a:ext>
                </a:extLst>
              </p:cNvPr>
              <p:cNvSpPr txBox="1"/>
              <p:nvPr/>
            </p:nvSpPr>
            <p:spPr>
              <a:xfrm>
                <a:off x="3449691" y="4812534"/>
                <a:ext cx="5313309" cy="573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由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limLowPr>
                          <m:e>
                            <m:r>
                              <a:rPr lang="en-US" altLang="zh-CN" sz="2400" b="1" i="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𝐥𝐢𝐦</m:t>
                            </m:r>
                          </m:e>
                          <m:lim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𝒌</m:t>
                            </m:r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𝒌</m:t>
                            </m:r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+</m:t>
                            </m:r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limLow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𝒍𝒊𝒎</m:t>
                                </m:r>
                              </m:e>
                              <m:lim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𝒌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𝒈</m:t>
                            </m:r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𝒌</m:t>
                                </m:r>
                              </m:sub>
                            </m:s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D296A66-D88F-A949-8A8B-692BFB6A6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691" y="4812534"/>
                <a:ext cx="5313309" cy="573106"/>
              </a:xfrm>
              <a:prstGeom prst="rect">
                <a:avLst/>
              </a:prstGeom>
              <a:blipFill>
                <a:blip r:embed="rId12"/>
                <a:stretch>
                  <a:fillRect l="-1667" t="-10870" b="-1087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2F2638D-59C1-4641-AC06-832445B08245}"/>
                  </a:ext>
                </a:extLst>
              </p:cNvPr>
              <p:cNvSpPr txBox="1"/>
              <p:nvPr/>
            </p:nvSpPr>
            <p:spPr>
              <a:xfrm>
                <a:off x="3499947" y="5403255"/>
                <a:ext cx="22912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可得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∗</m:t>
                        </m:r>
                      </m:sup>
                    </m:sSup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𝒈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∗</m:t>
                        </m:r>
                      </m:sup>
                    </m:sSup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endParaRPr lang="en-US" altLang="zh-CN" sz="2400" b="1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2F2638D-59C1-4641-AC06-832445B08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947" y="5403255"/>
                <a:ext cx="2291253" cy="461665"/>
              </a:xfrm>
              <a:prstGeom prst="rect">
                <a:avLst/>
              </a:prstGeom>
              <a:blipFill>
                <a:blip r:embed="rId13"/>
                <a:stretch>
                  <a:fillRect l="-4396" t="-13514" b="-2702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AutoShape 11">
            <a:extLst>
              <a:ext uri="{FF2B5EF4-FFF2-40B4-BE49-F238E27FC236}">
                <a16:creationId xmlns:a16="http://schemas.microsoft.com/office/drawing/2014/main" id="{7D02D511-5192-F140-9CB6-0DC44AECF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2147" y="5570094"/>
            <a:ext cx="914400" cy="172701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50E6EF4-5B7B-B94B-A7D8-9F4FDF1E7CA3}"/>
                  </a:ext>
                </a:extLst>
              </p:cNvPr>
              <p:cNvSpPr/>
              <p:nvPr/>
            </p:nvSpPr>
            <p:spPr>
              <a:xfrm>
                <a:off x="6938998" y="5403255"/>
                <a:ext cx="15601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𝒇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𝟎</m:t>
                      </m:r>
                    </m:oMath>
                  </m:oMathPara>
                </a14:m>
                <a:endParaRPr lang="en-CN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50E6EF4-5B7B-B94B-A7D8-9F4FDF1E7C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998" y="5403255"/>
                <a:ext cx="1560171" cy="461665"/>
              </a:xfrm>
              <a:prstGeom prst="rect">
                <a:avLst/>
              </a:prstGeom>
              <a:blipFill>
                <a:blip r:embed="rId14"/>
                <a:stretch>
                  <a:fillRect l="-806" b="-1891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36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66" grpId="0"/>
      <p:bldP spid="67" grpId="0" animBg="1"/>
      <p:bldP spid="68" grpId="0"/>
      <p:bldP spid="69" grpId="0"/>
      <p:bldP spid="70" grpId="0"/>
      <p:bldP spid="71" grpId="0" animBg="1"/>
      <p:bldP spid="7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496187"/>
              </p:ext>
            </p:extLst>
          </p:nvPr>
        </p:nvGraphicFramePr>
        <p:xfrm>
          <a:off x="990600" y="1143000"/>
          <a:ext cx="6984776" cy="4762231"/>
        </p:xfrm>
        <a:graphic>
          <a:graphicData uri="http://schemas.openxmlformats.org/drawingml/2006/table">
            <a:tbl>
              <a:tblPr/>
              <a:tblGrid>
                <a:gridCol w="1557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3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416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1" lang="en-US" altLang="zh-CN" sz="1800" b="1" i="1" dirty="0">
                          <a:cs typeface="楷体_GB2312" charset="0"/>
                        </a:rPr>
                        <a:t>x</a:t>
                      </a:r>
                      <a:r>
                        <a:rPr kumimoji="1" lang="en-US" altLang="zh-CN" sz="1800" b="1" i="0" baseline="-25000" dirty="0">
                          <a:cs typeface="楷体_GB2312" charset="0"/>
                        </a:rPr>
                        <a:t>n+1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=11</a:t>
                      </a: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kumimoji="1" lang="en-US" altLang="zh-CN" sz="1800" b="1" i="1" dirty="0" err="1">
                          <a:cs typeface="楷体_GB2312" charset="0"/>
                        </a:rPr>
                        <a:t>x</a:t>
                      </a:r>
                      <a:r>
                        <a:rPr kumimoji="1" lang="en-US" altLang="zh-CN" sz="1800" b="1" i="0" baseline="-25000" dirty="0" err="1">
                          <a:cs typeface="楷体_GB2312" charset="0"/>
                        </a:rPr>
                        <a:t>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1" lang="en-US" altLang="zh-CN" sz="1800" b="1" i="1" dirty="0">
                          <a:cs typeface="楷体_GB2312" charset="0"/>
                        </a:rPr>
                        <a:t>x</a:t>
                      </a:r>
                      <a:r>
                        <a:rPr kumimoji="1" lang="en-US" altLang="zh-CN" sz="1800" b="1" i="0" baseline="-25000" dirty="0">
                          <a:cs typeface="楷体_GB2312" charset="0"/>
                        </a:rPr>
                        <a:t>n+1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=</a:t>
                      </a:r>
                      <a:r>
                        <a:rPr kumimoji="1" lang="en-US" altLang="zh-CN" sz="1800" b="1" i="1" dirty="0" err="1">
                          <a:cs typeface="楷体_GB2312" charset="0"/>
                        </a:rPr>
                        <a:t>x</a:t>
                      </a:r>
                      <a:r>
                        <a:rPr kumimoji="1" lang="en-US" altLang="zh-CN" sz="1800" b="1" i="0" baseline="-25000" dirty="0" err="1">
                          <a:cs typeface="楷体_GB2312" charset="0"/>
                        </a:rPr>
                        <a:t>n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^2+</a:t>
                      </a:r>
                      <a:r>
                        <a:rPr kumimoji="1" lang="en-US" altLang="zh-CN" sz="1800" b="1" i="1" dirty="0" err="1">
                          <a:cs typeface="楷体_GB2312" charset="0"/>
                        </a:rPr>
                        <a:t>x</a:t>
                      </a:r>
                      <a:r>
                        <a:rPr kumimoji="1" lang="en-US" altLang="zh-CN" sz="1800" b="1" i="0" baseline="-25000" dirty="0" err="1">
                          <a:cs typeface="楷体_GB2312" charset="0"/>
                        </a:rPr>
                        <a:t>n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-11</a:t>
                      </a: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1" lang="en-US" altLang="zh-CN" sz="1800" b="1" i="1" dirty="0">
                          <a:cs typeface="楷体_GB2312" charset="0"/>
                        </a:rPr>
                        <a:t>x</a:t>
                      </a:r>
                      <a:r>
                        <a:rPr kumimoji="1" lang="en-US" altLang="zh-CN" sz="1800" b="1" i="0" baseline="-25000" dirty="0">
                          <a:cs typeface="楷体_GB2312" charset="0"/>
                        </a:rPr>
                        <a:t>n+1</a:t>
                      </a:r>
                      <a:r>
                        <a:rPr lang="is-I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=(11</a:t>
                      </a: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  <a:r>
                        <a:rPr kumimoji="1" lang="en-US" altLang="zh-CN" sz="1800" b="1" i="1" dirty="0">
                          <a:cs typeface="楷体_GB2312" charset="0"/>
                        </a:rPr>
                        <a:t>x</a:t>
                      </a:r>
                      <a:r>
                        <a:rPr kumimoji="1" lang="en-US" altLang="zh-CN" sz="1800" b="1" i="0" baseline="-25000" dirty="0">
                          <a:cs typeface="楷体_GB2312" charset="0"/>
                        </a:rPr>
                        <a:t>n</a:t>
                      </a:r>
                      <a:r>
                        <a:rPr lang="is-I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)^(1/3)</a:t>
                      </a: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20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72"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10.53728243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67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-75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10.72271659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67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5433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10.78525033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67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29522805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10.80617585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67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r-H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8.72E+14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10.81316004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67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7.60E+29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10.81548911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67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uk-U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5.77E+59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r-H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10.81626557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67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r-H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3.33E+119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10.81652441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67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464" marR="9464" marT="946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r-H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1.11E+239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10.81661069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 Box 55"/>
          <p:cNvSpPr txBox="1">
            <a:spLocks noChangeArrowheads="1"/>
          </p:cNvSpPr>
          <p:nvPr/>
        </p:nvSpPr>
        <p:spPr bwMode="auto">
          <a:xfrm>
            <a:off x="683568" y="626590"/>
            <a:ext cx="7848872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kumimoji="1" lang="zh-CN" altLang="en-US" sz="2800" b="1" dirty="0">
                <a:latin typeface="黑体"/>
                <a:ea typeface="黑体"/>
                <a:cs typeface="黑体"/>
              </a:rPr>
              <a:t>例、用不动点迭代法求</a:t>
            </a:r>
            <a:r>
              <a:rPr kumimoji="1" lang="en-US" altLang="zh-CN" sz="2800" b="1" dirty="0">
                <a:latin typeface="黑体"/>
                <a:ea typeface="黑体"/>
                <a:cs typeface="黑体"/>
              </a:rPr>
              <a:t>f(x)=x^2-117</a:t>
            </a:r>
            <a:r>
              <a:rPr kumimoji="1" lang="zh-CN" altLang="en-US" sz="2800" b="1" dirty="0">
                <a:latin typeface="黑体"/>
                <a:ea typeface="黑体"/>
                <a:cs typeface="黑体"/>
              </a:rPr>
              <a:t>的根</a:t>
            </a:r>
            <a:endParaRPr kumimoji="1" lang="en-US" altLang="zh-CN" sz="2800" b="1" dirty="0">
              <a:latin typeface="黑体"/>
              <a:ea typeface="黑体"/>
              <a:cs typeface="黑体"/>
            </a:endParaRPr>
          </a:p>
          <a:p>
            <a:pPr>
              <a:lnSpc>
                <a:spcPct val="90000"/>
              </a:lnSpc>
              <a:defRPr/>
            </a:pPr>
            <a:endParaRPr kumimoji="1" lang="en-US" altLang="zh-CN" sz="2800" b="1" dirty="0">
              <a:latin typeface="黑体"/>
              <a:ea typeface="黑体"/>
              <a:cs typeface="黑体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F3987-C200-4145-BE45-C1A1A93F6B5A}"/>
              </a:ext>
            </a:extLst>
          </p:cNvPr>
          <p:cNvSpPr txBox="1"/>
          <p:nvPr/>
        </p:nvSpPr>
        <p:spPr>
          <a:xfrm>
            <a:off x="3124200" y="6231410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问题：什么样的迭代格式才收敛？</a:t>
            </a:r>
            <a:endParaRPr lang="en-US" altLang="zh-CN" sz="24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419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0" name="Rectangle 10"/>
          <p:cNvSpPr>
            <a:spLocks noChangeArrowheads="1"/>
          </p:cNvSpPr>
          <p:nvPr/>
        </p:nvSpPr>
        <p:spPr bwMode="auto">
          <a:xfrm>
            <a:off x="6248400" y="0"/>
            <a:ext cx="2895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kumimoji="1" lang="en-US" altLang="zh-CN" sz="1800" b="1">
                <a:cs typeface="宋体" charset="0"/>
              </a:rPr>
              <a:t>§3  Fixed-Point Iteration</a:t>
            </a:r>
            <a:endParaRPr kumimoji="1" lang="en-US" altLang="zh-CN" sz="2000" b="1">
              <a:solidFill>
                <a:schemeClr val="tx2"/>
              </a:solidFill>
              <a:cs typeface="楷体_GB2312" charset="0"/>
            </a:endParaRPr>
          </a:p>
        </p:txBody>
      </p:sp>
      <p:grpSp>
        <p:nvGrpSpPr>
          <p:cNvPr id="51214" name="Group 14"/>
          <p:cNvGrpSpPr>
            <a:grpSpLocks/>
          </p:cNvGrpSpPr>
          <p:nvPr/>
        </p:nvGrpSpPr>
        <p:grpSpPr bwMode="auto">
          <a:xfrm>
            <a:off x="533400" y="533399"/>
            <a:ext cx="3505200" cy="2971800"/>
            <a:chOff x="1296" y="1056"/>
            <a:chExt cx="2208" cy="1872"/>
          </a:xfrm>
        </p:grpSpPr>
        <p:sp>
          <p:nvSpPr>
            <p:cNvPr id="51206" name="Line 6"/>
            <p:cNvSpPr>
              <a:spLocks noChangeShapeType="1"/>
            </p:cNvSpPr>
            <p:nvPr/>
          </p:nvSpPr>
          <p:spPr bwMode="auto">
            <a:xfrm>
              <a:off x="1296" y="2784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07" name="Line 7"/>
            <p:cNvSpPr>
              <a:spLocks noChangeShapeType="1"/>
            </p:cNvSpPr>
            <p:nvPr/>
          </p:nvSpPr>
          <p:spPr bwMode="auto">
            <a:xfrm flipV="1">
              <a:off x="1344" y="1104"/>
              <a:ext cx="0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08" name="Text Box 8"/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x</a:t>
              </a:r>
            </a:p>
          </p:txBody>
        </p:sp>
        <p:sp>
          <p:nvSpPr>
            <p:cNvPr id="51209" name="Text Box 9"/>
            <p:cNvSpPr txBox="1">
              <a:spLocks noChangeArrowheads="1"/>
            </p:cNvSpPr>
            <p:nvPr/>
          </p:nvSpPr>
          <p:spPr bwMode="auto">
            <a:xfrm>
              <a:off x="1344" y="105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y</a:t>
              </a:r>
            </a:p>
          </p:txBody>
        </p:sp>
        <p:sp>
          <p:nvSpPr>
            <p:cNvPr id="51211" name="Line 11"/>
            <p:cNvSpPr>
              <a:spLocks noChangeShapeType="1"/>
            </p:cNvSpPr>
            <p:nvPr/>
          </p:nvSpPr>
          <p:spPr bwMode="auto">
            <a:xfrm flipV="1">
              <a:off x="1344" y="1296"/>
              <a:ext cx="1488" cy="14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12" name="Text Box 12"/>
            <p:cNvSpPr txBox="1">
              <a:spLocks noChangeArrowheads="1"/>
            </p:cNvSpPr>
            <p:nvPr/>
          </p:nvSpPr>
          <p:spPr bwMode="auto">
            <a:xfrm>
              <a:off x="2832" y="1104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 dirty="0">
                  <a:cs typeface="宋体" charset="0"/>
                </a:rPr>
                <a:t>y = x</a:t>
              </a:r>
            </a:p>
          </p:txBody>
        </p:sp>
      </p:grpSp>
      <p:grpSp>
        <p:nvGrpSpPr>
          <p:cNvPr id="51215" name="Group 15"/>
          <p:cNvGrpSpPr>
            <a:grpSpLocks/>
          </p:cNvGrpSpPr>
          <p:nvPr/>
        </p:nvGrpSpPr>
        <p:grpSpPr bwMode="auto">
          <a:xfrm>
            <a:off x="5181600" y="3581400"/>
            <a:ext cx="3505200" cy="2971800"/>
            <a:chOff x="1296" y="1056"/>
            <a:chExt cx="2208" cy="1872"/>
          </a:xfrm>
        </p:grpSpPr>
        <p:sp>
          <p:nvSpPr>
            <p:cNvPr id="51216" name="Line 16"/>
            <p:cNvSpPr>
              <a:spLocks noChangeShapeType="1"/>
            </p:cNvSpPr>
            <p:nvPr/>
          </p:nvSpPr>
          <p:spPr bwMode="auto">
            <a:xfrm>
              <a:off x="1296" y="2784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17" name="Line 17"/>
            <p:cNvSpPr>
              <a:spLocks noChangeShapeType="1"/>
            </p:cNvSpPr>
            <p:nvPr/>
          </p:nvSpPr>
          <p:spPr bwMode="auto">
            <a:xfrm flipV="1">
              <a:off x="1344" y="1104"/>
              <a:ext cx="0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18" name="Text Box 18"/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x</a:t>
              </a:r>
            </a:p>
          </p:txBody>
        </p:sp>
        <p:sp>
          <p:nvSpPr>
            <p:cNvPr id="51219" name="Text Box 19"/>
            <p:cNvSpPr txBox="1">
              <a:spLocks noChangeArrowheads="1"/>
            </p:cNvSpPr>
            <p:nvPr/>
          </p:nvSpPr>
          <p:spPr bwMode="auto">
            <a:xfrm>
              <a:off x="1344" y="105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y</a:t>
              </a:r>
            </a:p>
          </p:txBody>
        </p:sp>
        <p:sp>
          <p:nvSpPr>
            <p:cNvPr id="51220" name="Line 20"/>
            <p:cNvSpPr>
              <a:spLocks noChangeShapeType="1"/>
            </p:cNvSpPr>
            <p:nvPr/>
          </p:nvSpPr>
          <p:spPr bwMode="auto">
            <a:xfrm flipV="1">
              <a:off x="1344" y="1296"/>
              <a:ext cx="1488" cy="14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21" name="Text Box 21"/>
            <p:cNvSpPr txBox="1">
              <a:spLocks noChangeArrowheads="1"/>
            </p:cNvSpPr>
            <p:nvPr/>
          </p:nvSpPr>
          <p:spPr bwMode="auto">
            <a:xfrm>
              <a:off x="2832" y="1104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y = x</a:t>
              </a:r>
            </a:p>
          </p:txBody>
        </p:sp>
      </p:grpSp>
      <p:grpSp>
        <p:nvGrpSpPr>
          <p:cNvPr id="51222" name="Group 22"/>
          <p:cNvGrpSpPr>
            <a:grpSpLocks/>
          </p:cNvGrpSpPr>
          <p:nvPr/>
        </p:nvGrpSpPr>
        <p:grpSpPr bwMode="auto">
          <a:xfrm>
            <a:off x="5105400" y="304800"/>
            <a:ext cx="3505200" cy="2971800"/>
            <a:chOff x="1296" y="1056"/>
            <a:chExt cx="2208" cy="1872"/>
          </a:xfrm>
        </p:grpSpPr>
        <p:sp>
          <p:nvSpPr>
            <p:cNvPr id="51223" name="Line 23"/>
            <p:cNvSpPr>
              <a:spLocks noChangeShapeType="1"/>
            </p:cNvSpPr>
            <p:nvPr/>
          </p:nvSpPr>
          <p:spPr bwMode="auto">
            <a:xfrm>
              <a:off x="1296" y="2784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24" name="Line 24"/>
            <p:cNvSpPr>
              <a:spLocks noChangeShapeType="1"/>
            </p:cNvSpPr>
            <p:nvPr/>
          </p:nvSpPr>
          <p:spPr bwMode="auto">
            <a:xfrm flipV="1">
              <a:off x="1344" y="1104"/>
              <a:ext cx="0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25" name="Text Box 25"/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x</a:t>
              </a:r>
            </a:p>
          </p:txBody>
        </p:sp>
        <p:sp>
          <p:nvSpPr>
            <p:cNvPr id="51226" name="Text Box 26"/>
            <p:cNvSpPr txBox="1">
              <a:spLocks noChangeArrowheads="1"/>
            </p:cNvSpPr>
            <p:nvPr/>
          </p:nvSpPr>
          <p:spPr bwMode="auto">
            <a:xfrm>
              <a:off x="1344" y="105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y</a:t>
              </a:r>
            </a:p>
          </p:txBody>
        </p:sp>
        <p:sp>
          <p:nvSpPr>
            <p:cNvPr id="51227" name="Line 27"/>
            <p:cNvSpPr>
              <a:spLocks noChangeShapeType="1"/>
            </p:cNvSpPr>
            <p:nvPr/>
          </p:nvSpPr>
          <p:spPr bwMode="auto">
            <a:xfrm flipV="1">
              <a:off x="1344" y="1296"/>
              <a:ext cx="1488" cy="14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28" name="Text Box 28"/>
            <p:cNvSpPr txBox="1">
              <a:spLocks noChangeArrowheads="1"/>
            </p:cNvSpPr>
            <p:nvPr/>
          </p:nvSpPr>
          <p:spPr bwMode="auto">
            <a:xfrm>
              <a:off x="2832" y="1104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y = x</a:t>
              </a:r>
            </a:p>
          </p:txBody>
        </p:sp>
      </p:grpSp>
      <p:grpSp>
        <p:nvGrpSpPr>
          <p:cNvPr id="51229" name="Group 29"/>
          <p:cNvGrpSpPr>
            <a:grpSpLocks/>
          </p:cNvGrpSpPr>
          <p:nvPr/>
        </p:nvGrpSpPr>
        <p:grpSpPr bwMode="auto">
          <a:xfrm>
            <a:off x="533400" y="3581400"/>
            <a:ext cx="3505200" cy="2971800"/>
            <a:chOff x="1296" y="1056"/>
            <a:chExt cx="2208" cy="1872"/>
          </a:xfrm>
        </p:grpSpPr>
        <p:sp>
          <p:nvSpPr>
            <p:cNvPr id="51230" name="Line 30"/>
            <p:cNvSpPr>
              <a:spLocks noChangeShapeType="1"/>
            </p:cNvSpPr>
            <p:nvPr/>
          </p:nvSpPr>
          <p:spPr bwMode="auto">
            <a:xfrm>
              <a:off x="1296" y="2784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31" name="Line 31"/>
            <p:cNvSpPr>
              <a:spLocks noChangeShapeType="1"/>
            </p:cNvSpPr>
            <p:nvPr/>
          </p:nvSpPr>
          <p:spPr bwMode="auto">
            <a:xfrm flipV="1">
              <a:off x="1344" y="1104"/>
              <a:ext cx="0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32" name="Text Box 32"/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x</a:t>
              </a:r>
            </a:p>
          </p:txBody>
        </p:sp>
        <p:sp>
          <p:nvSpPr>
            <p:cNvPr id="51233" name="Text Box 33"/>
            <p:cNvSpPr txBox="1">
              <a:spLocks noChangeArrowheads="1"/>
            </p:cNvSpPr>
            <p:nvPr/>
          </p:nvSpPr>
          <p:spPr bwMode="auto">
            <a:xfrm>
              <a:off x="1344" y="105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y</a:t>
              </a:r>
            </a:p>
          </p:txBody>
        </p:sp>
        <p:sp>
          <p:nvSpPr>
            <p:cNvPr id="51234" name="Line 34"/>
            <p:cNvSpPr>
              <a:spLocks noChangeShapeType="1"/>
            </p:cNvSpPr>
            <p:nvPr/>
          </p:nvSpPr>
          <p:spPr bwMode="auto">
            <a:xfrm flipV="1">
              <a:off x="1344" y="1296"/>
              <a:ext cx="1488" cy="14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35" name="Text Box 35"/>
            <p:cNvSpPr txBox="1">
              <a:spLocks noChangeArrowheads="1"/>
            </p:cNvSpPr>
            <p:nvPr/>
          </p:nvSpPr>
          <p:spPr bwMode="auto">
            <a:xfrm>
              <a:off x="2832" y="1104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y = x</a:t>
              </a:r>
            </a:p>
          </p:txBody>
        </p:sp>
      </p:grpSp>
      <p:grpSp>
        <p:nvGrpSpPr>
          <p:cNvPr id="51242" name="Group 42"/>
          <p:cNvGrpSpPr>
            <a:grpSpLocks/>
          </p:cNvGrpSpPr>
          <p:nvPr/>
        </p:nvGrpSpPr>
        <p:grpSpPr bwMode="auto">
          <a:xfrm>
            <a:off x="2667000" y="990600"/>
            <a:ext cx="533400" cy="2347913"/>
            <a:chOff x="1536" y="624"/>
            <a:chExt cx="336" cy="1479"/>
          </a:xfrm>
        </p:grpSpPr>
        <p:sp>
          <p:nvSpPr>
            <p:cNvPr id="51240" name="Line 40"/>
            <p:cNvSpPr>
              <a:spLocks noChangeShapeType="1"/>
            </p:cNvSpPr>
            <p:nvPr/>
          </p:nvSpPr>
          <p:spPr bwMode="auto">
            <a:xfrm>
              <a:off x="1680" y="624"/>
              <a:ext cx="0" cy="12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41" name="Text Box 41"/>
            <p:cNvSpPr txBox="1">
              <a:spLocks noChangeArrowheads="1"/>
            </p:cNvSpPr>
            <p:nvPr/>
          </p:nvSpPr>
          <p:spPr bwMode="auto">
            <a:xfrm>
              <a:off x="1536" y="187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solidFill>
                    <a:srgbClr val="FF3300"/>
                  </a:solidFill>
                  <a:cs typeface="宋体" charset="0"/>
                </a:rPr>
                <a:t>x*</a:t>
              </a:r>
            </a:p>
          </p:txBody>
        </p:sp>
      </p:grpSp>
      <p:grpSp>
        <p:nvGrpSpPr>
          <p:cNvPr id="51246" name="Group 46"/>
          <p:cNvGrpSpPr>
            <a:grpSpLocks/>
          </p:cNvGrpSpPr>
          <p:nvPr/>
        </p:nvGrpSpPr>
        <p:grpSpPr bwMode="auto">
          <a:xfrm>
            <a:off x="6172200" y="1828800"/>
            <a:ext cx="533400" cy="1509713"/>
            <a:chOff x="3888" y="1152"/>
            <a:chExt cx="336" cy="951"/>
          </a:xfrm>
        </p:grpSpPr>
        <p:sp>
          <p:nvSpPr>
            <p:cNvPr id="51244" name="Line 44"/>
            <p:cNvSpPr>
              <a:spLocks noChangeShapeType="1"/>
            </p:cNvSpPr>
            <p:nvPr/>
          </p:nvSpPr>
          <p:spPr bwMode="auto">
            <a:xfrm>
              <a:off x="4055" y="1152"/>
              <a:ext cx="0" cy="76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45" name="Text Box 45"/>
            <p:cNvSpPr txBox="1">
              <a:spLocks noChangeArrowheads="1"/>
            </p:cNvSpPr>
            <p:nvPr/>
          </p:nvSpPr>
          <p:spPr bwMode="auto">
            <a:xfrm>
              <a:off x="3888" y="187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solidFill>
                    <a:srgbClr val="FF3300"/>
                  </a:solidFill>
                  <a:cs typeface="宋体" charset="0"/>
                </a:rPr>
                <a:t>x*</a:t>
              </a:r>
            </a:p>
          </p:txBody>
        </p:sp>
      </p:grpSp>
      <p:grpSp>
        <p:nvGrpSpPr>
          <p:cNvPr id="51247" name="Group 47"/>
          <p:cNvGrpSpPr>
            <a:grpSpLocks/>
          </p:cNvGrpSpPr>
          <p:nvPr/>
        </p:nvGrpSpPr>
        <p:grpSpPr bwMode="auto">
          <a:xfrm>
            <a:off x="2403475" y="4267200"/>
            <a:ext cx="533400" cy="2347913"/>
            <a:chOff x="1536" y="624"/>
            <a:chExt cx="336" cy="1479"/>
          </a:xfrm>
        </p:grpSpPr>
        <p:sp>
          <p:nvSpPr>
            <p:cNvPr id="51248" name="Line 48"/>
            <p:cNvSpPr>
              <a:spLocks noChangeShapeType="1"/>
            </p:cNvSpPr>
            <p:nvPr/>
          </p:nvSpPr>
          <p:spPr bwMode="auto">
            <a:xfrm>
              <a:off x="1680" y="624"/>
              <a:ext cx="0" cy="12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49" name="Text Box 49"/>
            <p:cNvSpPr txBox="1">
              <a:spLocks noChangeArrowheads="1"/>
            </p:cNvSpPr>
            <p:nvPr/>
          </p:nvSpPr>
          <p:spPr bwMode="auto">
            <a:xfrm>
              <a:off x="1536" y="187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solidFill>
                    <a:srgbClr val="FF3300"/>
                  </a:solidFill>
                  <a:cs typeface="宋体" charset="0"/>
                </a:rPr>
                <a:t>x*</a:t>
              </a:r>
            </a:p>
          </p:txBody>
        </p:sp>
      </p:grpSp>
      <p:grpSp>
        <p:nvGrpSpPr>
          <p:cNvPr id="51253" name="Group 53"/>
          <p:cNvGrpSpPr>
            <a:grpSpLocks/>
          </p:cNvGrpSpPr>
          <p:nvPr/>
        </p:nvGrpSpPr>
        <p:grpSpPr bwMode="auto">
          <a:xfrm>
            <a:off x="6324600" y="5029200"/>
            <a:ext cx="533400" cy="1585913"/>
            <a:chOff x="3984" y="3168"/>
            <a:chExt cx="336" cy="999"/>
          </a:xfrm>
        </p:grpSpPr>
        <p:sp>
          <p:nvSpPr>
            <p:cNvPr id="51251" name="Line 51"/>
            <p:cNvSpPr>
              <a:spLocks noChangeShapeType="1"/>
            </p:cNvSpPr>
            <p:nvPr/>
          </p:nvSpPr>
          <p:spPr bwMode="auto">
            <a:xfrm>
              <a:off x="4128" y="3168"/>
              <a:ext cx="0" cy="81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52" name="Text Box 52"/>
            <p:cNvSpPr txBox="1">
              <a:spLocks noChangeArrowheads="1"/>
            </p:cNvSpPr>
            <p:nvPr/>
          </p:nvSpPr>
          <p:spPr bwMode="auto">
            <a:xfrm>
              <a:off x="3984" y="3936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solidFill>
                    <a:srgbClr val="FF3300"/>
                  </a:solidFill>
                  <a:cs typeface="宋体" charset="0"/>
                </a:rPr>
                <a:t>x*</a:t>
              </a:r>
            </a:p>
          </p:txBody>
        </p:sp>
      </p:grpSp>
      <p:grpSp>
        <p:nvGrpSpPr>
          <p:cNvPr id="51258" name="Group 58"/>
          <p:cNvGrpSpPr>
            <a:grpSpLocks/>
          </p:cNvGrpSpPr>
          <p:nvPr/>
        </p:nvGrpSpPr>
        <p:grpSpPr bwMode="auto">
          <a:xfrm>
            <a:off x="609600" y="914400"/>
            <a:ext cx="3505200" cy="1143000"/>
            <a:chOff x="240" y="576"/>
            <a:chExt cx="2208" cy="720"/>
          </a:xfrm>
        </p:grpSpPr>
        <p:sp>
          <p:nvSpPr>
            <p:cNvPr id="51236" name="Freeform 36"/>
            <p:cNvSpPr>
              <a:spLocks/>
            </p:cNvSpPr>
            <p:nvPr/>
          </p:nvSpPr>
          <p:spPr bwMode="auto">
            <a:xfrm>
              <a:off x="240" y="616"/>
              <a:ext cx="2016" cy="680"/>
            </a:xfrm>
            <a:custGeom>
              <a:avLst/>
              <a:gdLst>
                <a:gd name="T0" fmla="*/ 0 w 2016"/>
                <a:gd name="T1" fmla="*/ 680 h 680"/>
                <a:gd name="T2" fmla="*/ 336 w 2016"/>
                <a:gd name="T3" fmla="*/ 392 h 680"/>
                <a:gd name="T4" fmla="*/ 720 w 2016"/>
                <a:gd name="T5" fmla="*/ 200 h 680"/>
                <a:gd name="T6" fmla="*/ 1200 w 2016"/>
                <a:gd name="T7" fmla="*/ 56 h 680"/>
                <a:gd name="T8" fmla="*/ 1584 w 2016"/>
                <a:gd name="T9" fmla="*/ 8 h 680"/>
                <a:gd name="T10" fmla="*/ 2016 w 2016"/>
                <a:gd name="T11" fmla="*/ 8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16" h="680">
                  <a:moveTo>
                    <a:pt x="0" y="680"/>
                  </a:moveTo>
                  <a:cubicBezTo>
                    <a:pt x="108" y="576"/>
                    <a:pt x="216" y="472"/>
                    <a:pt x="336" y="392"/>
                  </a:cubicBezTo>
                  <a:cubicBezTo>
                    <a:pt x="456" y="312"/>
                    <a:pt x="576" y="256"/>
                    <a:pt x="720" y="200"/>
                  </a:cubicBezTo>
                  <a:cubicBezTo>
                    <a:pt x="864" y="144"/>
                    <a:pt x="1056" y="88"/>
                    <a:pt x="1200" y="56"/>
                  </a:cubicBezTo>
                  <a:cubicBezTo>
                    <a:pt x="1344" y="24"/>
                    <a:pt x="1448" y="16"/>
                    <a:pt x="1584" y="8"/>
                  </a:cubicBezTo>
                  <a:cubicBezTo>
                    <a:pt x="1720" y="0"/>
                    <a:pt x="1868" y="4"/>
                    <a:pt x="2016" y="8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54" name="Text Box 54"/>
            <p:cNvSpPr txBox="1">
              <a:spLocks noChangeArrowheads="1"/>
            </p:cNvSpPr>
            <p:nvPr/>
          </p:nvSpPr>
          <p:spPr bwMode="auto">
            <a:xfrm>
              <a:off x="1872" y="576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y=g</a:t>
              </a:r>
              <a:r>
                <a:rPr lang="en-US" altLang="zh-CN" sz="1800" b="1">
                  <a:cs typeface="宋体" charset="0"/>
                </a:rPr>
                <a:t>(</a:t>
              </a:r>
              <a:r>
                <a:rPr lang="en-US" altLang="zh-CN" sz="1800" b="1" i="1">
                  <a:cs typeface="宋体" charset="0"/>
                </a:rPr>
                <a:t>x</a:t>
              </a:r>
              <a:r>
                <a:rPr lang="en-US" altLang="zh-CN" sz="1800" b="1">
                  <a:cs typeface="宋体" charset="0"/>
                </a:rPr>
                <a:t>)</a:t>
              </a:r>
            </a:p>
          </p:txBody>
        </p:sp>
      </p:grpSp>
      <p:grpSp>
        <p:nvGrpSpPr>
          <p:cNvPr id="51259" name="Group 59"/>
          <p:cNvGrpSpPr>
            <a:grpSpLocks/>
          </p:cNvGrpSpPr>
          <p:nvPr/>
        </p:nvGrpSpPr>
        <p:grpSpPr bwMode="auto">
          <a:xfrm>
            <a:off x="5562600" y="914400"/>
            <a:ext cx="3048000" cy="1284288"/>
            <a:chOff x="3504" y="624"/>
            <a:chExt cx="1920" cy="739"/>
          </a:xfrm>
        </p:grpSpPr>
        <p:sp>
          <p:nvSpPr>
            <p:cNvPr id="51237" name="Freeform 37"/>
            <p:cNvSpPr>
              <a:spLocks/>
            </p:cNvSpPr>
            <p:nvPr/>
          </p:nvSpPr>
          <p:spPr bwMode="auto">
            <a:xfrm>
              <a:off x="3504" y="624"/>
              <a:ext cx="1632" cy="720"/>
            </a:xfrm>
            <a:custGeom>
              <a:avLst/>
              <a:gdLst>
                <a:gd name="T0" fmla="*/ 0 w 1632"/>
                <a:gd name="T1" fmla="*/ 0 h 720"/>
                <a:gd name="T2" fmla="*/ 144 w 1632"/>
                <a:gd name="T3" fmla="*/ 240 h 720"/>
                <a:gd name="T4" fmla="*/ 384 w 1632"/>
                <a:gd name="T5" fmla="*/ 432 h 720"/>
                <a:gd name="T6" fmla="*/ 720 w 1632"/>
                <a:gd name="T7" fmla="*/ 576 h 720"/>
                <a:gd name="T8" fmla="*/ 1104 w 1632"/>
                <a:gd name="T9" fmla="*/ 672 h 720"/>
                <a:gd name="T10" fmla="*/ 1632 w 1632"/>
                <a:gd name="T11" fmla="*/ 72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32" h="720">
                  <a:moveTo>
                    <a:pt x="0" y="0"/>
                  </a:moveTo>
                  <a:cubicBezTo>
                    <a:pt x="40" y="84"/>
                    <a:pt x="80" y="168"/>
                    <a:pt x="144" y="240"/>
                  </a:cubicBezTo>
                  <a:cubicBezTo>
                    <a:pt x="208" y="312"/>
                    <a:pt x="288" y="376"/>
                    <a:pt x="384" y="432"/>
                  </a:cubicBezTo>
                  <a:cubicBezTo>
                    <a:pt x="480" y="488"/>
                    <a:pt x="600" y="536"/>
                    <a:pt x="720" y="576"/>
                  </a:cubicBezTo>
                  <a:cubicBezTo>
                    <a:pt x="840" y="616"/>
                    <a:pt x="952" y="648"/>
                    <a:pt x="1104" y="672"/>
                  </a:cubicBezTo>
                  <a:cubicBezTo>
                    <a:pt x="1256" y="696"/>
                    <a:pt x="1444" y="708"/>
                    <a:pt x="1632" y="72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55" name="Text Box 55"/>
            <p:cNvSpPr txBox="1">
              <a:spLocks noChangeArrowheads="1"/>
            </p:cNvSpPr>
            <p:nvPr/>
          </p:nvSpPr>
          <p:spPr bwMode="auto">
            <a:xfrm>
              <a:off x="4848" y="1152"/>
              <a:ext cx="57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y=g</a:t>
              </a:r>
              <a:r>
                <a:rPr lang="en-US" altLang="zh-CN" sz="1800" b="1">
                  <a:cs typeface="宋体" charset="0"/>
                </a:rPr>
                <a:t>(</a:t>
              </a:r>
              <a:r>
                <a:rPr lang="en-US" altLang="zh-CN" sz="1800" b="1" i="1">
                  <a:cs typeface="宋体" charset="0"/>
                </a:rPr>
                <a:t>x</a:t>
              </a:r>
              <a:r>
                <a:rPr lang="en-US" altLang="zh-CN" sz="1800" b="1">
                  <a:cs typeface="宋体" charset="0"/>
                </a:rPr>
                <a:t>)</a:t>
              </a:r>
            </a:p>
          </p:txBody>
        </p:sp>
      </p:grpSp>
      <p:grpSp>
        <p:nvGrpSpPr>
          <p:cNvPr id="51260" name="Group 60"/>
          <p:cNvGrpSpPr>
            <a:grpSpLocks/>
          </p:cNvGrpSpPr>
          <p:nvPr/>
        </p:nvGrpSpPr>
        <p:grpSpPr bwMode="auto">
          <a:xfrm>
            <a:off x="609600" y="3810000"/>
            <a:ext cx="2286000" cy="2743200"/>
            <a:chOff x="384" y="2400"/>
            <a:chExt cx="1440" cy="1728"/>
          </a:xfrm>
        </p:grpSpPr>
        <p:sp>
          <p:nvSpPr>
            <p:cNvPr id="51238" name="Freeform 38"/>
            <p:cNvSpPr>
              <a:spLocks/>
            </p:cNvSpPr>
            <p:nvPr/>
          </p:nvSpPr>
          <p:spPr bwMode="auto">
            <a:xfrm>
              <a:off x="384" y="2400"/>
              <a:ext cx="1392" cy="1728"/>
            </a:xfrm>
            <a:custGeom>
              <a:avLst/>
              <a:gdLst>
                <a:gd name="T0" fmla="*/ 0 w 1392"/>
                <a:gd name="T1" fmla="*/ 1728 h 1728"/>
                <a:gd name="T2" fmla="*/ 432 w 1392"/>
                <a:gd name="T3" fmla="*/ 1536 h 1728"/>
                <a:gd name="T4" fmla="*/ 816 w 1392"/>
                <a:gd name="T5" fmla="*/ 1104 h 1728"/>
                <a:gd name="T6" fmla="*/ 1152 w 1392"/>
                <a:gd name="T7" fmla="*/ 576 h 1728"/>
                <a:gd name="T8" fmla="*/ 1392 w 1392"/>
                <a:gd name="T9" fmla="*/ 0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2" h="1728">
                  <a:moveTo>
                    <a:pt x="0" y="1728"/>
                  </a:moveTo>
                  <a:cubicBezTo>
                    <a:pt x="148" y="1684"/>
                    <a:pt x="296" y="1640"/>
                    <a:pt x="432" y="1536"/>
                  </a:cubicBezTo>
                  <a:cubicBezTo>
                    <a:pt x="568" y="1432"/>
                    <a:pt x="696" y="1264"/>
                    <a:pt x="816" y="1104"/>
                  </a:cubicBezTo>
                  <a:cubicBezTo>
                    <a:pt x="936" y="944"/>
                    <a:pt x="1056" y="760"/>
                    <a:pt x="1152" y="576"/>
                  </a:cubicBezTo>
                  <a:cubicBezTo>
                    <a:pt x="1248" y="392"/>
                    <a:pt x="1320" y="196"/>
                    <a:pt x="1392" y="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56" name="Text Box 56"/>
            <p:cNvSpPr txBox="1">
              <a:spLocks noChangeArrowheads="1"/>
            </p:cNvSpPr>
            <p:nvPr/>
          </p:nvSpPr>
          <p:spPr bwMode="auto">
            <a:xfrm>
              <a:off x="1248" y="2400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y=g</a:t>
              </a:r>
              <a:r>
                <a:rPr lang="en-US" altLang="zh-CN" sz="1800" b="1">
                  <a:cs typeface="宋体" charset="0"/>
                </a:rPr>
                <a:t>(</a:t>
              </a:r>
              <a:r>
                <a:rPr lang="en-US" altLang="zh-CN" sz="1800" b="1" i="1">
                  <a:cs typeface="宋体" charset="0"/>
                </a:rPr>
                <a:t>x</a:t>
              </a:r>
              <a:r>
                <a:rPr lang="en-US" altLang="zh-CN" sz="1800" b="1">
                  <a:cs typeface="宋体" charset="0"/>
                </a:rPr>
                <a:t>)</a:t>
              </a:r>
            </a:p>
          </p:txBody>
        </p:sp>
      </p:grpSp>
      <p:grpSp>
        <p:nvGrpSpPr>
          <p:cNvPr id="51261" name="Group 61"/>
          <p:cNvGrpSpPr>
            <a:grpSpLocks/>
          </p:cNvGrpSpPr>
          <p:nvPr/>
        </p:nvGrpSpPr>
        <p:grpSpPr bwMode="auto">
          <a:xfrm>
            <a:off x="5410200" y="3810000"/>
            <a:ext cx="2514600" cy="2057400"/>
            <a:chOff x="3408" y="2400"/>
            <a:chExt cx="1584" cy="1296"/>
          </a:xfrm>
        </p:grpSpPr>
        <p:sp>
          <p:nvSpPr>
            <p:cNvPr id="51239" name="Freeform 39"/>
            <p:cNvSpPr>
              <a:spLocks/>
            </p:cNvSpPr>
            <p:nvPr/>
          </p:nvSpPr>
          <p:spPr bwMode="auto">
            <a:xfrm>
              <a:off x="3888" y="2400"/>
              <a:ext cx="1104" cy="1296"/>
            </a:xfrm>
            <a:custGeom>
              <a:avLst/>
              <a:gdLst>
                <a:gd name="T0" fmla="*/ 0 w 1104"/>
                <a:gd name="T1" fmla="*/ 0 h 1296"/>
                <a:gd name="T2" fmla="*/ 96 w 1104"/>
                <a:gd name="T3" fmla="*/ 528 h 1296"/>
                <a:gd name="T4" fmla="*/ 336 w 1104"/>
                <a:gd name="T5" fmla="*/ 864 h 1296"/>
                <a:gd name="T6" fmla="*/ 672 w 1104"/>
                <a:gd name="T7" fmla="*/ 1152 h 1296"/>
                <a:gd name="T8" fmla="*/ 1104 w 1104"/>
                <a:gd name="T9" fmla="*/ 1296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4" h="1296">
                  <a:moveTo>
                    <a:pt x="0" y="0"/>
                  </a:moveTo>
                  <a:cubicBezTo>
                    <a:pt x="20" y="192"/>
                    <a:pt x="40" y="384"/>
                    <a:pt x="96" y="528"/>
                  </a:cubicBezTo>
                  <a:cubicBezTo>
                    <a:pt x="152" y="672"/>
                    <a:pt x="240" y="760"/>
                    <a:pt x="336" y="864"/>
                  </a:cubicBezTo>
                  <a:cubicBezTo>
                    <a:pt x="432" y="968"/>
                    <a:pt x="544" y="1080"/>
                    <a:pt x="672" y="1152"/>
                  </a:cubicBezTo>
                  <a:cubicBezTo>
                    <a:pt x="800" y="1224"/>
                    <a:pt x="952" y="1260"/>
                    <a:pt x="1104" y="1296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57" name="Text Box 57"/>
            <p:cNvSpPr txBox="1">
              <a:spLocks noChangeArrowheads="1"/>
            </p:cNvSpPr>
            <p:nvPr/>
          </p:nvSpPr>
          <p:spPr bwMode="auto">
            <a:xfrm>
              <a:off x="3408" y="2496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y=g</a:t>
              </a:r>
              <a:r>
                <a:rPr lang="en-US" altLang="zh-CN" sz="1800" b="1">
                  <a:cs typeface="宋体" charset="0"/>
                </a:rPr>
                <a:t>(</a:t>
              </a:r>
              <a:r>
                <a:rPr lang="en-US" altLang="zh-CN" sz="1800" b="1" i="1">
                  <a:cs typeface="宋体" charset="0"/>
                </a:rPr>
                <a:t>x</a:t>
              </a:r>
              <a:r>
                <a:rPr lang="en-US" altLang="zh-CN" sz="1800" b="1">
                  <a:cs typeface="宋体" charset="0"/>
                </a:rPr>
                <a:t>)</a:t>
              </a:r>
            </a:p>
          </p:txBody>
        </p:sp>
      </p:grpSp>
      <p:grpSp>
        <p:nvGrpSpPr>
          <p:cNvPr id="51265" name="Group 65"/>
          <p:cNvGrpSpPr>
            <a:grpSpLocks/>
          </p:cNvGrpSpPr>
          <p:nvPr/>
        </p:nvGrpSpPr>
        <p:grpSpPr bwMode="auto">
          <a:xfrm>
            <a:off x="914400" y="1219200"/>
            <a:ext cx="457200" cy="2119313"/>
            <a:chOff x="432" y="768"/>
            <a:chExt cx="288" cy="1335"/>
          </a:xfrm>
        </p:grpSpPr>
        <p:sp>
          <p:nvSpPr>
            <p:cNvPr id="51262" name="Line 62"/>
            <p:cNvSpPr>
              <a:spLocks noChangeShapeType="1"/>
            </p:cNvSpPr>
            <p:nvPr/>
          </p:nvSpPr>
          <p:spPr bwMode="auto">
            <a:xfrm>
              <a:off x="576" y="1008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63" name="Text Box 63"/>
            <p:cNvSpPr txBox="1">
              <a:spLocks noChangeArrowheads="1"/>
            </p:cNvSpPr>
            <p:nvPr/>
          </p:nvSpPr>
          <p:spPr bwMode="auto">
            <a:xfrm>
              <a:off x="480" y="1872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x</a:t>
              </a:r>
              <a:r>
                <a:rPr lang="en-US" altLang="zh-CN" sz="1800" b="1" baseline="-25000">
                  <a:cs typeface="宋体" charset="0"/>
                </a:rPr>
                <a:t>0</a:t>
              </a:r>
              <a:endParaRPr lang="en-US" altLang="zh-CN" sz="1800" b="1" i="1">
                <a:cs typeface="宋体" charset="0"/>
              </a:endParaRPr>
            </a:p>
          </p:txBody>
        </p:sp>
        <p:sp>
          <p:nvSpPr>
            <p:cNvPr id="51264" name="Text Box 64"/>
            <p:cNvSpPr txBox="1">
              <a:spLocks noChangeArrowheads="1"/>
            </p:cNvSpPr>
            <p:nvPr/>
          </p:nvSpPr>
          <p:spPr bwMode="auto">
            <a:xfrm>
              <a:off x="432" y="76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p</a:t>
              </a:r>
              <a:r>
                <a:rPr lang="en-US" altLang="zh-CN" sz="1800" b="1" baseline="-25000">
                  <a:cs typeface="宋体" charset="0"/>
                </a:rPr>
                <a:t>0</a:t>
              </a:r>
              <a:endParaRPr lang="en-US" altLang="zh-CN" sz="1800" b="1" i="1">
                <a:cs typeface="宋体" charset="0"/>
              </a:endParaRPr>
            </a:p>
          </p:txBody>
        </p:sp>
      </p:grpSp>
      <p:grpSp>
        <p:nvGrpSpPr>
          <p:cNvPr id="51270" name="Group 70"/>
          <p:cNvGrpSpPr>
            <a:grpSpLocks/>
          </p:cNvGrpSpPr>
          <p:nvPr/>
        </p:nvGrpSpPr>
        <p:grpSpPr bwMode="auto">
          <a:xfrm>
            <a:off x="1143000" y="1600200"/>
            <a:ext cx="1371600" cy="1738313"/>
            <a:chOff x="576" y="1008"/>
            <a:chExt cx="864" cy="1095"/>
          </a:xfrm>
        </p:grpSpPr>
        <p:sp>
          <p:nvSpPr>
            <p:cNvPr id="51266" name="Line 66"/>
            <p:cNvSpPr>
              <a:spLocks noChangeShapeType="1"/>
            </p:cNvSpPr>
            <p:nvPr/>
          </p:nvSpPr>
          <p:spPr bwMode="auto">
            <a:xfrm>
              <a:off x="576" y="1008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67" name="Line 67"/>
            <p:cNvSpPr>
              <a:spLocks noChangeShapeType="1"/>
            </p:cNvSpPr>
            <p:nvPr/>
          </p:nvSpPr>
          <p:spPr bwMode="auto">
            <a:xfrm>
              <a:off x="1296" y="1008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68" name="Text Box 68"/>
            <p:cNvSpPr txBox="1">
              <a:spLocks noChangeArrowheads="1"/>
            </p:cNvSpPr>
            <p:nvPr/>
          </p:nvSpPr>
          <p:spPr bwMode="auto">
            <a:xfrm>
              <a:off x="1200" y="1872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x</a:t>
              </a:r>
              <a:r>
                <a:rPr lang="en-US" altLang="zh-CN" sz="1800" b="1" baseline="-25000">
                  <a:cs typeface="宋体" charset="0"/>
                </a:rPr>
                <a:t>1</a:t>
              </a:r>
              <a:endParaRPr lang="en-US" altLang="zh-CN" sz="1800" b="1" i="1">
                <a:cs typeface="宋体" charset="0"/>
              </a:endParaRPr>
            </a:p>
          </p:txBody>
        </p:sp>
      </p:grpSp>
      <p:grpSp>
        <p:nvGrpSpPr>
          <p:cNvPr id="51272" name="Group 72"/>
          <p:cNvGrpSpPr>
            <a:grpSpLocks/>
          </p:cNvGrpSpPr>
          <p:nvPr/>
        </p:nvGrpSpPr>
        <p:grpSpPr bwMode="auto">
          <a:xfrm>
            <a:off x="2057400" y="762000"/>
            <a:ext cx="381000" cy="838200"/>
            <a:chOff x="1152" y="480"/>
            <a:chExt cx="240" cy="528"/>
          </a:xfrm>
        </p:grpSpPr>
        <p:sp>
          <p:nvSpPr>
            <p:cNvPr id="51269" name="Text Box 69"/>
            <p:cNvSpPr txBox="1">
              <a:spLocks noChangeArrowheads="1"/>
            </p:cNvSpPr>
            <p:nvPr/>
          </p:nvSpPr>
          <p:spPr bwMode="auto">
            <a:xfrm>
              <a:off x="1152" y="480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p</a:t>
              </a:r>
              <a:r>
                <a:rPr lang="en-US" altLang="zh-CN" sz="1800" b="1" baseline="-25000">
                  <a:cs typeface="宋体" charset="0"/>
                </a:rPr>
                <a:t>1</a:t>
              </a:r>
              <a:endParaRPr lang="en-US" altLang="zh-CN" sz="1800" b="1" i="1">
                <a:cs typeface="宋体" charset="0"/>
              </a:endParaRPr>
            </a:p>
          </p:txBody>
        </p:sp>
        <p:sp>
          <p:nvSpPr>
            <p:cNvPr id="51271" name="Line 71"/>
            <p:cNvSpPr>
              <a:spLocks noChangeShapeType="1"/>
            </p:cNvSpPr>
            <p:nvPr/>
          </p:nvSpPr>
          <p:spPr bwMode="auto">
            <a:xfrm flipV="1">
              <a:off x="1296" y="72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</p:grpSp>
      <p:grpSp>
        <p:nvGrpSpPr>
          <p:cNvPr id="51275" name="Group 75"/>
          <p:cNvGrpSpPr>
            <a:grpSpLocks/>
          </p:cNvGrpSpPr>
          <p:nvPr/>
        </p:nvGrpSpPr>
        <p:grpSpPr bwMode="auto">
          <a:xfrm>
            <a:off x="2286000" y="1143000"/>
            <a:ext cx="457200" cy="1905000"/>
            <a:chOff x="1296" y="720"/>
            <a:chExt cx="288" cy="1200"/>
          </a:xfrm>
        </p:grpSpPr>
        <p:sp>
          <p:nvSpPr>
            <p:cNvPr id="51273" name="Line 73"/>
            <p:cNvSpPr>
              <a:spLocks noChangeShapeType="1"/>
            </p:cNvSpPr>
            <p:nvPr/>
          </p:nvSpPr>
          <p:spPr bwMode="auto">
            <a:xfrm>
              <a:off x="1296" y="72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74" name="Line 74"/>
            <p:cNvSpPr>
              <a:spLocks noChangeShapeType="1"/>
            </p:cNvSpPr>
            <p:nvPr/>
          </p:nvSpPr>
          <p:spPr bwMode="auto">
            <a:xfrm>
              <a:off x="1584" y="720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</p:grpSp>
      <p:sp>
        <p:nvSpPr>
          <p:cNvPr id="51276" name="Text Box 76"/>
          <p:cNvSpPr txBox="1">
            <a:spLocks noChangeArrowheads="1"/>
          </p:cNvSpPr>
          <p:nvPr/>
        </p:nvSpPr>
        <p:spPr bwMode="auto">
          <a:xfrm>
            <a:off x="2971800" y="1600200"/>
            <a:ext cx="9144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4800" b="1">
                <a:solidFill>
                  <a:srgbClr val="FF3300"/>
                </a:solidFill>
                <a:cs typeface="宋体" charset="0"/>
                <a:sym typeface="Wingdings" charset="0"/>
              </a:rPr>
              <a:t></a:t>
            </a:r>
            <a:endParaRPr lang="en-US" altLang="zh-CN" sz="4800" b="1">
              <a:solidFill>
                <a:srgbClr val="FF3300"/>
              </a:solidFill>
              <a:cs typeface="宋体" charset="0"/>
            </a:endParaRPr>
          </a:p>
        </p:txBody>
      </p:sp>
      <p:grpSp>
        <p:nvGrpSpPr>
          <p:cNvPr id="51281" name="Group 81"/>
          <p:cNvGrpSpPr>
            <a:grpSpLocks/>
          </p:cNvGrpSpPr>
          <p:nvPr/>
        </p:nvGrpSpPr>
        <p:grpSpPr bwMode="auto">
          <a:xfrm>
            <a:off x="5486400" y="685800"/>
            <a:ext cx="457200" cy="2652713"/>
            <a:chOff x="3456" y="432"/>
            <a:chExt cx="288" cy="1671"/>
          </a:xfrm>
        </p:grpSpPr>
        <p:sp>
          <p:nvSpPr>
            <p:cNvPr id="51278" name="Line 78"/>
            <p:cNvSpPr>
              <a:spLocks noChangeShapeType="1"/>
            </p:cNvSpPr>
            <p:nvPr/>
          </p:nvSpPr>
          <p:spPr bwMode="auto">
            <a:xfrm>
              <a:off x="3552" y="672"/>
              <a:ext cx="0" cy="1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79" name="Text Box 79"/>
            <p:cNvSpPr txBox="1">
              <a:spLocks noChangeArrowheads="1"/>
            </p:cNvSpPr>
            <p:nvPr/>
          </p:nvSpPr>
          <p:spPr bwMode="auto">
            <a:xfrm>
              <a:off x="3456" y="1872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x</a:t>
              </a:r>
              <a:r>
                <a:rPr lang="en-US" altLang="zh-CN" sz="1800" b="1" baseline="-25000">
                  <a:cs typeface="宋体" charset="0"/>
                </a:rPr>
                <a:t>0</a:t>
              </a:r>
              <a:endParaRPr lang="en-US" altLang="zh-CN" sz="1800" b="1" i="1">
                <a:cs typeface="宋体" charset="0"/>
              </a:endParaRPr>
            </a:p>
          </p:txBody>
        </p:sp>
        <p:sp>
          <p:nvSpPr>
            <p:cNvPr id="51280" name="Text Box 80"/>
            <p:cNvSpPr txBox="1">
              <a:spLocks noChangeArrowheads="1"/>
            </p:cNvSpPr>
            <p:nvPr/>
          </p:nvSpPr>
          <p:spPr bwMode="auto">
            <a:xfrm>
              <a:off x="3504" y="432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p</a:t>
              </a:r>
              <a:r>
                <a:rPr lang="en-US" altLang="zh-CN" sz="1800" b="1" baseline="-25000">
                  <a:cs typeface="宋体" charset="0"/>
                </a:rPr>
                <a:t>0</a:t>
              </a:r>
              <a:endParaRPr lang="en-US" altLang="zh-CN" sz="1800" b="1" i="1">
                <a:cs typeface="宋体" charset="0"/>
              </a:endParaRPr>
            </a:p>
          </p:txBody>
        </p:sp>
      </p:grpSp>
      <p:sp>
        <p:nvSpPr>
          <p:cNvPr id="51282" name="Line 82"/>
          <p:cNvSpPr>
            <a:spLocks noChangeShapeType="1"/>
          </p:cNvSpPr>
          <p:nvPr/>
        </p:nvSpPr>
        <p:spPr bwMode="auto">
          <a:xfrm>
            <a:off x="5638800" y="1066800"/>
            <a:ext cx="1524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grpSp>
        <p:nvGrpSpPr>
          <p:cNvPr id="51286" name="Group 86"/>
          <p:cNvGrpSpPr>
            <a:grpSpLocks/>
          </p:cNvGrpSpPr>
          <p:nvPr/>
        </p:nvGrpSpPr>
        <p:grpSpPr bwMode="auto">
          <a:xfrm>
            <a:off x="7010400" y="1066800"/>
            <a:ext cx="381000" cy="2271713"/>
            <a:chOff x="4416" y="672"/>
            <a:chExt cx="240" cy="1431"/>
          </a:xfrm>
        </p:grpSpPr>
        <p:sp>
          <p:nvSpPr>
            <p:cNvPr id="51283" name="Line 83"/>
            <p:cNvSpPr>
              <a:spLocks noChangeShapeType="1"/>
            </p:cNvSpPr>
            <p:nvPr/>
          </p:nvSpPr>
          <p:spPr bwMode="auto">
            <a:xfrm>
              <a:off x="4512" y="672"/>
              <a:ext cx="0" cy="1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84" name="Text Box 84"/>
            <p:cNvSpPr txBox="1">
              <a:spLocks noChangeArrowheads="1"/>
            </p:cNvSpPr>
            <p:nvPr/>
          </p:nvSpPr>
          <p:spPr bwMode="auto">
            <a:xfrm>
              <a:off x="4416" y="1872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x</a:t>
              </a:r>
              <a:r>
                <a:rPr lang="en-US" altLang="zh-CN" sz="1800" b="1" baseline="-25000">
                  <a:cs typeface="宋体" charset="0"/>
                </a:rPr>
                <a:t>1</a:t>
              </a:r>
              <a:endParaRPr lang="en-US" altLang="zh-CN" sz="1800" b="1" i="1">
                <a:cs typeface="宋体" charset="0"/>
              </a:endParaRPr>
            </a:p>
          </p:txBody>
        </p:sp>
      </p:grpSp>
      <p:grpSp>
        <p:nvGrpSpPr>
          <p:cNvPr id="51290" name="Group 90"/>
          <p:cNvGrpSpPr>
            <a:grpSpLocks/>
          </p:cNvGrpSpPr>
          <p:nvPr/>
        </p:nvGrpSpPr>
        <p:grpSpPr bwMode="auto">
          <a:xfrm>
            <a:off x="6172200" y="1981200"/>
            <a:ext cx="1371600" cy="1066800"/>
            <a:chOff x="3888" y="1248"/>
            <a:chExt cx="864" cy="672"/>
          </a:xfrm>
        </p:grpSpPr>
        <p:sp>
          <p:nvSpPr>
            <p:cNvPr id="51287" name="Text Box 87"/>
            <p:cNvSpPr txBox="1">
              <a:spLocks noChangeArrowheads="1"/>
            </p:cNvSpPr>
            <p:nvPr/>
          </p:nvSpPr>
          <p:spPr bwMode="auto">
            <a:xfrm>
              <a:off x="4512" y="124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p</a:t>
              </a:r>
              <a:r>
                <a:rPr lang="en-US" altLang="zh-CN" sz="1800" b="1" baseline="-25000">
                  <a:cs typeface="宋体" charset="0"/>
                </a:rPr>
                <a:t>1</a:t>
              </a:r>
              <a:endParaRPr lang="en-US" altLang="zh-CN" sz="1800" b="1" i="1">
                <a:cs typeface="宋体" charset="0"/>
              </a:endParaRPr>
            </a:p>
          </p:txBody>
        </p:sp>
        <p:sp>
          <p:nvSpPr>
            <p:cNvPr id="51288" name="Line 88"/>
            <p:cNvSpPr>
              <a:spLocks noChangeShapeType="1"/>
            </p:cNvSpPr>
            <p:nvPr/>
          </p:nvSpPr>
          <p:spPr bwMode="auto">
            <a:xfrm flipH="1">
              <a:off x="3888" y="129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89" name="Line 89"/>
            <p:cNvSpPr>
              <a:spLocks noChangeShapeType="1"/>
            </p:cNvSpPr>
            <p:nvPr/>
          </p:nvSpPr>
          <p:spPr bwMode="auto">
            <a:xfrm>
              <a:off x="3888" y="1296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</p:grpSp>
      <p:sp>
        <p:nvSpPr>
          <p:cNvPr id="51291" name="Text Box 91"/>
          <p:cNvSpPr txBox="1">
            <a:spLocks noChangeArrowheads="1"/>
          </p:cNvSpPr>
          <p:nvPr/>
        </p:nvSpPr>
        <p:spPr bwMode="auto">
          <a:xfrm>
            <a:off x="7467600" y="990600"/>
            <a:ext cx="9144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4800" b="1">
                <a:solidFill>
                  <a:srgbClr val="FF3300"/>
                </a:solidFill>
                <a:cs typeface="宋体" charset="0"/>
                <a:sym typeface="Wingdings" charset="0"/>
              </a:rPr>
              <a:t></a:t>
            </a:r>
            <a:endParaRPr lang="en-US" altLang="zh-CN" sz="4800" b="1">
              <a:solidFill>
                <a:srgbClr val="FF3300"/>
              </a:solidFill>
              <a:cs typeface="宋体" charset="0"/>
            </a:endParaRPr>
          </a:p>
        </p:txBody>
      </p:sp>
      <p:grpSp>
        <p:nvGrpSpPr>
          <p:cNvPr id="51295" name="Group 95"/>
          <p:cNvGrpSpPr>
            <a:grpSpLocks/>
          </p:cNvGrpSpPr>
          <p:nvPr/>
        </p:nvGrpSpPr>
        <p:grpSpPr bwMode="auto">
          <a:xfrm>
            <a:off x="2057400" y="4876800"/>
            <a:ext cx="533400" cy="1738313"/>
            <a:chOff x="1296" y="3072"/>
            <a:chExt cx="336" cy="1095"/>
          </a:xfrm>
        </p:grpSpPr>
        <p:sp>
          <p:nvSpPr>
            <p:cNvPr id="51292" name="Text Box 92"/>
            <p:cNvSpPr txBox="1">
              <a:spLocks noChangeArrowheads="1"/>
            </p:cNvSpPr>
            <p:nvPr/>
          </p:nvSpPr>
          <p:spPr bwMode="auto">
            <a:xfrm>
              <a:off x="1296" y="3936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x</a:t>
              </a:r>
              <a:r>
                <a:rPr lang="en-US" altLang="zh-CN" sz="1800" b="1" baseline="-25000">
                  <a:cs typeface="宋体" charset="0"/>
                </a:rPr>
                <a:t>0</a:t>
              </a:r>
              <a:endParaRPr lang="en-US" altLang="zh-CN" sz="1800" b="1" i="1">
                <a:cs typeface="宋体" charset="0"/>
              </a:endParaRPr>
            </a:p>
          </p:txBody>
        </p:sp>
        <p:sp>
          <p:nvSpPr>
            <p:cNvPr id="51293" name="Line 93"/>
            <p:cNvSpPr>
              <a:spLocks noChangeShapeType="1"/>
            </p:cNvSpPr>
            <p:nvPr/>
          </p:nvSpPr>
          <p:spPr bwMode="auto">
            <a:xfrm flipV="1">
              <a:off x="1392" y="3216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94" name="Text Box 94"/>
            <p:cNvSpPr txBox="1">
              <a:spLocks noChangeArrowheads="1"/>
            </p:cNvSpPr>
            <p:nvPr/>
          </p:nvSpPr>
          <p:spPr bwMode="auto">
            <a:xfrm>
              <a:off x="1392" y="3072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p</a:t>
              </a:r>
              <a:r>
                <a:rPr lang="en-US" altLang="zh-CN" sz="1800" b="1" baseline="-25000">
                  <a:cs typeface="宋体" charset="0"/>
                </a:rPr>
                <a:t>0</a:t>
              </a:r>
              <a:endParaRPr lang="en-US" altLang="zh-CN" sz="1800" b="1" i="1">
                <a:cs typeface="宋体" charset="0"/>
              </a:endParaRPr>
            </a:p>
          </p:txBody>
        </p:sp>
      </p:grpSp>
      <p:grpSp>
        <p:nvGrpSpPr>
          <p:cNvPr id="51299" name="Group 99"/>
          <p:cNvGrpSpPr>
            <a:grpSpLocks/>
          </p:cNvGrpSpPr>
          <p:nvPr/>
        </p:nvGrpSpPr>
        <p:grpSpPr bwMode="auto">
          <a:xfrm>
            <a:off x="1676400" y="5105400"/>
            <a:ext cx="533400" cy="1509713"/>
            <a:chOff x="1056" y="3216"/>
            <a:chExt cx="336" cy="951"/>
          </a:xfrm>
        </p:grpSpPr>
        <p:sp>
          <p:nvSpPr>
            <p:cNvPr id="51296" name="Line 96"/>
            <p:cNvSpPr>
              <a:spLocks noChangeShapeType="1"/>
            </p:cNvSpPr>
            <p:nvPr/>
          </p:nvSpPr>
          <p:spPr bwMode="auto">
            <a:xfrm flipH="1">
              <a:off x="1152" y="321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97" name="Line 97"/>
            <p:cNvSpPr>
              <a:spLocks noChangeShapeType="1"/>
            </p:cNvSpPr>
            <p:nvPr/>
          </p:nvSpPr>
          <p:spPr bwMode="auto">
            <a:xfrm>
              <a:off x="1152" y="3216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298" name="Text Box 98"/>
            <p:cNvSpPr txBox="1">
              <a:spLocks noChangeArrowheads="1"/>
            </p:cNvSpPr>
            <p:nvPr/>
          </p:nvSpPr>
          <p:spPr bwMode="auto">
            <a:xfrm>
              <a:off x="1056" y="3936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x</a:t>
              </a:r>
              <a:r>
                <a:rPr lang="en-US" altLang="zh-CN" sz="1800" b="1" baseline="-25000">
                  <a:cs typeface="宋体" charset="0"/>
                </a:rPr>
                <a:t>1</a:t>
              </a:r>
              <a:endParaRPr lang="en-US" altLang="zh-CN" sz="1800" b="1" i="1">
                <a:cs typeface="宋体" charset="0"/>
              </a:endParaRPr>
            </a:p>
          </p:txBody>
        </p:sp>
      </p:grpSp>
      <p:grpSp>
        <p:nvGrpSpPr>
          <p:cNvPr id="51303" name="Group 103"/>
          <p:cNvGrpSpPr>
            <a:grpSpLocks/>
          </p:cNvGrpSpPr>
          <p:nvPr/>
        </p:nvGrpSpPr>
        <p:grpSpPr bwMode="auto">
          <a:xfrm>
            <a:off x="1295400" y="5486400"/>
            <a:ext cx="914400" cy="838200"/>
            <a:chOff x="816" y="3456"/>
            <a:chExt cx="576" cy="528"/>
          </a:xfrm>
        </p:grpSpPr>
        <p:sp>
          <p:nvSpPr>
            <p:cNvPr id="51300" name="Text Box 100"/>
            <p:cNvSpPr txBox="1">
              <a:spLocks noChangeArrowheads="1"/>
            </p:cNvSpPr>
            <p:nvPr/>
          </p:nvSpPr>
          <p:spPr bwMode="auto">
            <a:xfrm>
              <a:off x="1152" y="3456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p</a:t>
              </a:r>
              <a:r>
                <a:rPr lang="en-US" altLang="zh-CN" sz="1800" b="1" baseline="-25000">
                  <a:cs typeface="宋体" charset="0"/>
                </a:rPr>
                <a:t>1</a:t>
              </a:r>
              <a:endParaRPr lang="en-US" altLang="zh-CN" sz="1800" b="1" i="1">
                <a:cs typeface="宋体" charset="0"/>
              </a:endParaRPr>
            </a:p>
          </p:txBody>
        </p:sp>
        <p:sp>
          <p:nvSpPr>
            <p:cNvPr id="51301" name="Line 101"/>
            <p:cNvSpPr>
              <a:spLocks noChangeShapeType="1"/>
            </p:cNvSpPr>
            <p:nvPr/>
          </p:nvSpPr>
          <p:spPr bwMode="auto">
            <a:xfrm flipH="1">
              <a:off x="816" y="355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302" name="Line 102"/>
            <p:cNvSpPr>
              <a:spLocks noChangeShapeType="1"/>
            </p:cNvSpPr>
            <p:nvPr/>
          </p:nvSpPr>
          <p:spPr bwMode="auto">
            <a:xfrm>
              <a:off x="816" y="3552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</p:grpSp>
      <p:sp>
        <p:nvSpPr>
          <p:cNvPr id="51304" name="Text Box 104"/>
          <p:cNvSpPr txBox="1">
            <a:spLocks noChangeArrowheads="1"/>
          </p:cNvSpPr>
          <p:nvPr/>
        </p:nvSpPr>
        <p:spPr bwMode="auto">
          <a:xfrm>
            <a:off x="2971800" y="4724400"/>
            <a:ext cx="9144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4800">
                <a:solidFill>
                  <a:srgbClr val="FF3300"/>
                </a:solidFill>
                <a:cs typeface="宋体" charset="0"/>
                <a:sym typeface="Webdings" charset="0"/>
              </a:rPr>
              <a:t></a:t>
            </a:r>
            <a:endParaRPr lang="en-US" altLang="zh-CN" sz="4800">
              <a:solidFill>
                <a:srgbClr val="FF3300"/>
              </a:solidFill>
              <a:cs typeface="宋体" charset="0"/>
            </a:endParaRPr>
          </a:p>
        </p:txBody>
      </p:sp>
      <p:sp>
        <p:nvSpPr>
          <p:cNvPr id="51307" name="Line 107"/>
          <p:cNvSpPr>
            <a:spLocks noChangeShapeType="1"/>
          </p:cNvSpPr>
          <p:nvPr/>
        </p:nvSpPr>
        <p:spPr bwMode="auto">
          <a:xfrm>
            <a:off x="6248400" y="4419600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grpSp>
        <p:nvGrpSpPr>
          <p:cNvPr id="51310" name="Group 110"/>
          <p:cNvGrpSpPr>
            <a:grpSpLocks/>
          </p:cNvGrpSpPr>
          <p:nvPr/>
        </p:nvGrpSpPr>
        <p:grpSpPr bwMode="auto">
          <a:xfrm>
            <a:off x="5943600" y="4191000"/>
            <a:ext cx="533400" cy="2424113"/>
            <a:chOff x="3744" y="2640"/>
            <a:chExt cx="336" cy="1527"/>
          </a:xfrm>
        </p:grpSpPr>
        <p:sp>
          <p:nvSpPr>
            <p:cNvPr id="51305" name="Text Box 105"/>
            <p:cNvSpPr txBox="1">
              <a:spLocks noChangeArrowheads="1"/>
            </p:cNvSpPr>
            <p:nvPr/>
          </p:nvSpPr>
          <p:spPr bwMode="auto">
            <a:xfrm>
              <a:off x="3840" y="3936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x</a:t>
              </a:r>
              <a:r>
                <a:rPr lang="en-US" altLang="zh-CN" sz="1800" b="1" baseline="-25000">
                  <a:cs typeface="宋体" charset="0"/>
                </a:rPr>
                <a:t>0</a:t>
              </a:r>
              <a:endParaRPr lang="en-US" altLang="zh-CN" sz="1800" b="1" i="1">
                <a:cs typeface="宋体" charset="0"/>
              </a:endParaRPr>
            </a:p>
          </p:txBody>
        </p:sp>
        <p:sp>
          <p:nvSpPr>
            <p:cNvPr id="51306" name="Line 106"/>
            <p:cNvSpPr>
              <a:spLocks noChangeShapeType="1"/>
            </p:cNvSpPr>
            <p:nvPr/>
          </p:nvSpPr>
          <p:spPr bwMode="auto">
            <a:xfrm flipV="1">
              <a:off x="3936" y="2784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309" name="Text Box 109"/>
            <p:cNvSpPr txBox="1">
              <a:spLocks noChangeArrowheads="1"/>
            </p:cNvSpPr>
            <p:nvPr/>
          </p:nvSpPr>
          <p:spPr bwMode="auto">
            <a:xfrm>
              <a:off x="3744" y="2640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p</a:t>
              </a:r>
              <a:r>
                <a:rPr lang="en-US" altLang="zh-CN" sz="1800" b="1" baseline="-25000">
                  <a:cs typeface="宋体" charset="0"/>
                </a:rPr>
                <a:t>0</a:t>
              </a:r>
              <a:endParaRPr lang="en-US" altLang="zh-CN" sz="1800" b="1" i="1">
                <a:cs typeface="宋体" charset="0"/>
              </a:endParaRPr>
            </a:p>
          </p:txBody>
        </p:sp>
      </p:grpSp>
      <p:grpSp>
        <p:nvGrpSpPr>
          <p:cNvPr id="51312" name="Group 112"/>
          <p:cNvGrpSpPr>
            <a:grpSpLocks/>
          </p:cNvGrpSpPr>
          <p:nvPr/>
        </p:nvGrpSpPr>
        <p:grpSpPr bwMode="auto">
          <a:xfrm>
            <a:off x="7010400" y="4419600"/>
            <a:ext cx="381000" cy="2195513"/>
            <a:chOff x="4416" y="2784"/>
            <a:chExt cx="240" cy="1383"/>
          </a:xfrm>
        </p:grpSpPr>
        <p:sp>
          <p:nvSpPr>
            <p:cNvPr id="51308" name="Line 108"/>
            <p:cNvSpPr>
              <a:spLocks noChangeShapeType="1"/>
            </p:cNvSpPr>
            <p:nvPr/>
          </p:nvSpPr>
          <p:spPr bwMode="auto">
            <a:xfrm>
              <a:off x="4512" y="2784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311" name="Text Box 111"/>
            <p:cNvSpPr txBox="1">
              <a:spLocks noChangeArrowheads="1"/>
            </p:cNvSpPr>
            <p:nvPr/>
          </p:nvSpPr>
          <p:spPr bwMode="auto">
            <a:xfrm>
              <a:off x="4416" y="3936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x</a:t>
              </a:r>
              <a:r>
                <a:rPr lang="en-US" altLang="zh-CN" sz="1800" b="1" baseline="-25000">
                  <a:cs typeface="宋体" charset="0"/>
                </a:rPr>
                <a:t>1</a:t>
              </a:r>
              <a:endParaRPr lang="en-US" altLang="zh-CN" sz="1800" b="1" i="1">
                <a:cs typeface="宋体" charset="0"/>
              </a:endParaRPr>
            </a:p>
          </p:txBody>
        </p:sp>
      </p:grpSp>
      <p:grpSp>
        <p:nvGrpSpPr>
          <p:cNvPr id="51315" name="Group 115"/>
          <p:cNvGrpSpPr>
            <a:grpSpLocks/>
          </p:cNvGrpSpPr>
          <p:nvPr/>
        </p:nvGrpSpPr>
        <p:grpSpPr bwMode="auto">
          <a:xfrm>
            <a:off x="6019800" y="5257800"/>
            <a:ext cx="1524000" cy="1066800"/>
            <a:chOff x="3792" y="3312"/>
            <a:chExt cx="960" cy="672"/>
          </a:xfrm>
        </p:grpSpPr>
        <p:sp>
          <p:nvSpPr>
            <p:cNvPr id="51285" name="Text Box 85"/>
            <p:cNvSpPr txBox="1">
              <a:spLocks noChangeArrowheads="1"/>
            </p:cNvSpPr>
            <p:nvPr/>
          </p:nvSpPr>
          <p:spPr bwMode="auto">
            <a:xfrm>
              <a:off x="4512" y="3312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b="1" i="1">
                  <a:cs typeface="宋体" charset="0"/>
                </a:rPr>
                <a:t>p</a:t>
              </a:r>
              <a:r>
                <a:rPr lang="en-US" altLang="zh-CN" sz="1800" b="1" baseline="-25000">
                  <a:cs typeface="宋体" charset="0"/>
                </a:rPr>
                <a:t>1</a:t>
              </a:r>
              <a:endParaRPr lang="en-US" altLang="zh-CN" sz="1800" b="1" i="1">
                <a:cs typeface="宋体" charset="0"/>
              </a:endParaRPr>
            </a:p>
          </p:txBody>
        </p:sp>
        <p:sp>
          <p:nvSpPr>
            <p:cNvPr id="51313" name="Line 113"/>
            <p:cNvSpPr>
              <a:spLocks noChangeShapeType="1"/>
            </p:cNvSpPr>
            <p:nvPr/>
          </p:nvSpPr>
          <p:spPr bwMode="auto">
            <a:xfrm flipH="1">
              <a:off x="3792" y="3513"/>
              <a:ext cx="6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1314" name="Line 114"/>
            <p:cNvSpPr>
              <a:spLocks noChangeShapeType="1"/>
            </p:cNvSpPr>
            <p:nvPr/>
          </p:nvSpPr>
          <p:spPr bwMode="auto">
            <a:xfrm>
              <a:off x="3792" y="3504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</p:grpSp>
      <p:sp>
        <p:nvSpPr>
          <p:cNvPr id="51316" name="Text Box 116"/>
          <p:cNvSpPr txBox="1">
            <a:spLocks noChangeArrowheads="1"/>
          </p:cNvSpPr>
          <p:nvPr/>
        </p:nvSpPr>
        <p:spPr bwMode="auto">
          <a:xfrm>
            <a:off x="7543800" y="4648200"/>
            <a:ext cx="9144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4800">
                <a:solidFill>
                  <a:srgbClr val="FF3300"/>
                </a:solidFill>
                <a:cs typeface="宋体" charset="0"/>
                <a:sym typeface="Webdings" charset="0"/>
              </a:rPr>
              <a:t></a:t>
            </a:r>
            <a:endParaRPr lang="en-US" altLang="zh-CN" sz="4800">
              <a:solidFill>
                <a:srgbClr val="FF3300"/>
              </a:solidFill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32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2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5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12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12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512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12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512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512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12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12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12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9" dur="500"/>
                                        <p:tgtEl>
                                          <p:spTgt spid="51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1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512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512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9" dur="500"/>
                                        <p:tgtEl>
                                          <p:spTgt spid="512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4" dur="500"/>
                                        <p:tgtEl>
                                          <p:spTgt spid="513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1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1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512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13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513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4" dur="500"/>
                                        <p:tgtEl>
                                          <p:spTgt spid="51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51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1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6" grpId="0" autoUpdateAnimBg="0"/>
      <p:bldP spid="51291" grpId="0" autoUpdateAnimBg="0"/>
      <p:bldP spid="51304" grpId="0" autoUpdateAnimBg="0"/>
      <p:bldP spid="5131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9592" y="1844825"/>
            <a:ext cx="792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cs typeface="宋体" charset="0"/>
              </a:rPr>
              <a:t>( II ) </a:t>
            </a:r>
            <a:r>
              <a:rPr kumimoji="1" lang="en-US" altLang="zh-CN" sz="2400" b="1" dirty="0">
                <a:cs typeface="宋体" charset="0"/>
                <a:sym typeface="Symbol" charset="0"/>
              </a:rPr>
              <a:t> 0  </a:t>
            </a:r>
            <a:r>
              <a:rPr kumimoji="1" lang="en-US" altLang="zh-CN" sz="2400" b="1" i="1" dirty="0">
                <a:cs typeface="宋体" charset="0"/>
                <a:sym typeface="Symbol" charset="0"/>
              </a:rPr>
              <a:t>L</a:t>
            </a:r>
            <a:r>
              <a:rPr kumimoji="1" lang="en-US" altLang="zh-CN" sz="2400" b="1" dirty="0">
                <a:cs typeface="宋体" charset="0"/>
                <a:sym typeface="Symbol" charset="0"/>
              </a:rPr>
              <a:t> &lt; 1 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使得</a:t>
            </a:r>
            <a:r>
              <a:rPr kumimoji="1" lang="en-US" altLang="zh-CN" sz="2400" b="1" dirty="0">
                <a:cs typeface="宋体" charset="0"/>
                <a:sym typeface="Symbol" charset="0"/>
              </a:rPr>
              <a:t> | </a:t>
            </a:r>
            <a:r>
              <a:rPr kumimoji="1" lang="en-US" altLang="zh-CN" sz="2400" b="1" i="1" dirty="0">
                <a:cs typeface="宋体" charset="0"/>
                <a:sym typeface="Symbol" charset="0"/>
              </a:rPr>
              <a:t>g</a:t>
            </a:r>
            <a:r>
              <a:rPr kumimoji="1" lang="zh-CN" altLang="en-US" sz="2400" b="1" dirty="0">
                <a:cs typeface="宋体" charset="0"/>
                <a:sym typeface="Symbol" charset="0"/>
              </a:rPr>
              <a:t>’</a:t>
            </a:r>
            <a:r>
              <a:rPr kumimoji="1" lang="en-US" altLang="zh-CN" sz="2400" b="1" dirty="0">
                <a:cs typeface="宋体" charset="0"/>
                <a:sym typeface="Symbol" charset="0"/>
              </a:rPr>
              <a:t>(</a:t>
            </a:r>
            <a:r>
              <a:rPr kumimoji="1" lang="en-US" altLang="zh-CN" sz="2400" b="1" i="1" dirty="0">
                <a:cs typeface="宋体" charset="0"/>
                <a:sym typeface="Symbol" charset="0"/>
              </a:rPr>
              <a:t>x</a:t>
            </a:r>
            <a:r>
              <a:rPr kumimoji="1" lang="en-US" altLang="zh-CN" sz="2400" b="1" dirty="0">
                <a:cs typeface="宋体" charset="0"/>
                <a:sym typeface="Symbol" charset="0"/>
              </a:rPr>
              <a:t>) |  </a:t>
            </a:r>
            <a:r>
              <a:rPr kumimoji="1" lang="en-US" altLang="zh-CN" sz="2400" b="1" i="1" dirty="0">
                <a:cs typeface="宋体" charset="0"/>
                <a:sym typeface="Symbol" charset="0"/>
              </a:rPr>
              <a:t>L</a:t>
            </a:r>
            <a:r>
              <a:rPr kumimoji="1" lang="en-US" altLang="zh-CN" sz="2400" b="1" dirty="0">
                <a:cs typeface="宋体" charset="0"/>
                <a:sym typeface="Symbol" charset="0"/>
              </a:rPr>
              <a:t> &lt; 1 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对</a:t>
            </a:r>
            <a:r>
              <a:rPr kumimoji="1" lang="en-US" altLang="zh-CN" sz="2400" b="1" dirty="0">
                <a:cs typeface="宋体" charset="0"/>
                <a:sym typeface="Symbol" charset="0"/>
              </a:rPr>
              <a:t>  </a:t>
            </a:r>
            <a:r>
              <a:rPr kumimoji="1" lang="en-US" altLang="zh-CN" sz="2400" b="1" i="1" dirty="0">
                <a:cs typeface="楷体_GB2312" charset="0"/>
              </a:rPr>
              <a:t>x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[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a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, 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b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] 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成立。</a:t>
            </a:r>
            <a:endParaRPr kumimoji="1" lang="en-US" altLang="zh-CN" sz="2400" b="1" dirty="0">
              <a:cs typeface="楷体_GB2312" charset="0"/>
              <a:sym typeface="Symbol" charset="0"/>
            </a:endParaRPr>
          </a:p>
        </p:txBody>
      </p:sp>
      <p:sp>
        <p:nvSpPr>
          <p:cNvPr id="52241" name="Rectangle 17"/>
          <p:cNvSpPr>
            <a:spLocks noChangeArrowheads="1"/>
          </p:cNvSpPr>
          <p:nvPr/>
        </p:nvSpPr>
        <p:spPr bwMode="auto">
          <a:xfrm>
            <a:off x="6248400" y="0"/>
            <a:ext cx="2895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kumimoji="1" lang="en-US" altLang="zh-CN" sz="1800" b="1">
                <a:cs typeface="宋体" charset="0"/>
              </a:rPr>
              <a:t>§3  Fixed-Point Iteration</a:t>
            </a:r>
            <a:endParaRPr kumimoji="1" lang="en-US" altLang="zh-CN" sz="2000" b="1">
              <a:solidFill>
                <a:schemeClr val="tx2"/>
              </a:solidFill>
              <a:cs typeface="楷体_GB2312" charset="0"/>
            </a:endParaRPr>
          </a:p>
        </p:txBody>
      </p:sp>
      <p:sp>
        <p:nvSpPr>
          <p:cNvPr id="52243" name="AutoShape 19" descr="白色大理石"/>
          <p:cNvSpPr>
            <a:spLocks noChangeArrowheads="1"/>
          </p:cNvSpPr>
          <p:nvPr/>
        </p:nvSpPr>
        <p:spPr bwMode="auto">
          <a:xfrm>
            <a:off x="457200" y="381000"/>
            <a:ext cx="1066800" cy="609600"/>
          </a:xfrm>
          <a:prstGeom prst="bevel">
            <a:avLst>
              <a:gd name="adj" fmla="val 12500"/>
            </a:avLst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>
                <a:cs typeface="楷体_GB2312" charset="0"/>
              </a:rPr>
              <a:t>定理</a:t>
            </a:r>
            <a:endParaRPr lang="en-US" altLang="zh-CN" sz="2800" b="1">
              <a:cs typeface="楷体_GB2312" charset="0"/>
            </a:endParaRPr>
          </a:p>
        </p:txBody>
      </p:sp>
      <p:sp>
        <p:nvSpPr>
          <p:cNvPr id="52244" name="Text Box 20"/>
          <p:cNvSpPr txBox="1">
            <a:spLocks noChangeArrowheads="1"/>
          </p:cNvSpPr>
          <p:nvPr/>
        </p:nvSpPr>
        <p:spPr bwMode="auto">
          <a:xfrm>
            <a:off x="1524000" y="533400"/>
            <a:ext cx="502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400" b="1" dirty="0">
                <a:cs typeface="楷体_GB2312" charset="0"/>
              </a:rPr>
              <a:t>考虑方程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en-US" altLang="zh-CN" sz="2400" b="1" i="1" dirty="0">
                <a:cs typeface="楷体_GB2312" charset="0"/>
              </a:rPr>
              <a:t>x</a:t>
            </a:r>
            <a:r>
              <a:rPr kumimoji="1" lang="en-US" altLang="zh-CN" sz="2400" b="1" dirty="0">
                <a:cs typeface="楷体_GB2312" charset="0"/>
              </a:rPr>
              <a:t> = </a:t>
            </a:r>
            <a:r>
              <a:rPr kumimoji="1" lang="en-US" altLang="zh-CN" sz="2400" b="1" i="1" dirty="0">
                <a:cs typeface="楷体_GB2312" charset="0"/>
              </a:rPr>
              <a:t>g</a:t>
            </a:r>
            <a:r>
              <a:rPr kumimoji="1" lang="en-US" altLang="zh-CN" sz="2400" b="1" dirty="0">
                <a:cs typeface="楷体_GB2312" charset="0"/>
              </a:rPr>
              <a:t>(</a:t>
            </a:r>
            <a:r>
              <a:rPr kumimoji="1" lang="en-US" altLang="zh-CN" sz="2400" b="1" i="1" dirty="0">
                <a:cs typeface="楷体_GB2312" charset="0"/>
              </a:rPr>
              <a:t>x</a:t>
            </a:r>
            <a:r>
              <a:rPr kumimoji="1" lang="en-US" altLang="zh-CN" sz="2400" b="1" dirty="0">
                <a:cs typeface="楷体_GB2312" charset="0"/>
              </a:rPr>
              <a:t>),  </a:t>
            </a:r>
            <a:r>
              <a:rPr kumimoji="1" lang="en-US" altLang="zh-CN" sz="2400" b="1" i="1" dirty="0">
                <a:cs typeface="楷体_GB2312" charset="0"/>
              </a:rPr>
              <a:t>g</a:t>
            </a:r>
            <a:r>
              <a:rPr kumimoji="1" lang="en-US" altLang="zh-CN" sz="2400" b="1" dirty="0">
                <a:cs typeface="楷体_GB2312" charset="0"/>
              </a:rPr>
              <a:t>(</a:t>
            </a:r>
            <a:r>
              <a:rPr kumimoji="1" lang="en-US" altLang="zh-CN" sz="2400" b="1" i="1" dirty="0">
                <a:cs typeface="楷体_GB2312" charset="0"/>
              </a:rPr>
              <a:t>x</a:t>
            </a:r>
            <a:r>
              <a:rPr kumimoji="1" lang="en-US" altLang="zh-CN" sz="2400" b="1" dirty="0">
                <a:cs typeface="楷体_GB2312" charset="0"/>
              </a:rPr>
              <a:t>)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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C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[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a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, 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b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],  </a:t>
            </a:r>
            <a:r>
              <a:rPr kumimoji="1" lang="zh-CN" altLang="en-US" sz="2400" b="1" dirty="0">
                <a:cs typeface="楷体_GB2312" charset="0"/>
              </a:rPr>
              <a:t>若</a:t>
            </a:r>
            <a:endParaRPr kumimoji="1" lang="en-US" altLang="zh-CN" sz="2400" b="1" dirty="0">
              <a:cs typeface="楷体_GB2312" charset="0"/>
            </a:endParaRPr>
          </a:p>
        </p:txBody>
      </p:sp>
      <p:sp>
        <p:nvSpPr>
          <p:cNvPr id="52245" name="Text Box 21"/>
          <p:cNvSpPr txBox="1">
            <a:spLocks noChangeArrowheads="1"/>
          </p:cNvSpPr>
          <p:nvPr/>
        </p:nvSpPr>
        <p:spPr bwMode="auto">
          <a:xfrm>
            <a:off x="914400" y="1219200"/>
            <a:ext cx="7620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cs typeface="楷体_GB2312" charset="0"/>
              </a:rPr>
              <a:t>( I )  </a:t>
            </a:r>
            <a:r>
              <a:rPr kumimoji="1" lang="zh-CN" altLang="en-US" sz="2400" b="1" dirty="0">
                <a:cs typeface="楷体_GB2312" charset="0"/>
              </a:rPr>
              <a:t>当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en-US" altLang="zh-CN" sz="2400" b="1" i="1" dirty="0">
                <a:cs typeface="楷体_GB2312" charset="0"/>
              </a:rPr>
              <a:t>x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[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a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, 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b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] 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时，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 </a:t>
            </a:r>
            <a:r>
              <a:rPr kumimoji="1" lang="en-US" altLang="zh-CN" sz="2400" b="1" i="1" dirty="0">
                <a:cs typeface="楷体_GB2312" charset="0"/>
              </a:rPr>
              <a:t>g</a:t>
            </a:r>
            <a:r>
              <a:rPr kumimoji="1" lang="en-US" altLang="zh-CN" sz="2400" b="1" dirty="0">
                <a:cs typeface="楷体_GB2312" charset="0"/>
              </a:rPr>
              <a:t>(</a:t>
            </a:r>
            <a:r>
              <a:rPr kumimoji="1" lang="en-US" altLang="zh-CN" sz="2400" b="1" i="1" dirty="0">
                <a:cs typeface="楷体_GB2312" charset="0"/>
              </a:rPr>
              <a:t>x</a:t>
            </a:r>
            <a:r>
              <a:rPr kumimoji="1" lang="en-US" altLang="zh-CN" sz="2400" b="1" dirty="0">
                <a:cs typeface="楷体_GB2312" charset="0"/>
              </a:rPr>
              <a:t>)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[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a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, 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b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]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；</a:t>
            </a:r>
            <a:endParaRPr kumimoji="1" lang="en-US" altLang="zh-CN" sz="2400" b="1" dirty="0">
              <a:cs typeface="楷体_GB2312" charset="0"/>
              <a:sym typeface="Symbol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971600" y="2314269"/>
            <a:ext cx="7704856" cy="898707"/>
            <a:chOff x="971600" y="2314269"/>
            <a:chExt cx="7704856" cy="898707"/>
          </a:xfrm>
        </p:grpSpPr>
        <p:sp>
          <p:nvSpPr>
            <p:cNvPr id="3" name="Rectangle 2"/>
            <p:cNvSpPr/>
            <p:nvPr/>
          </p:nvSpPr>
          <p:spPr>
            <a:xfrm>
              <a:off x="971600" y="2314269"/>
              <a:ext cx="7704856" cy="8987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spcBef>
                  <a:spcPct val="50000"/>
                </a:spcBef>
                <a:defRPr/>
              </a:pPr>
              <a:r>
                <a:rPr kumimoji="1" lang="zh-CN" altLang="en-US" sz="2400" b="1" dirty="0">
                  <a:cs typeface="楷体_GB2312" charset="0"/>
                </a:rPr>
                <a:t>则任取</a:t>
              </a:r>
              <a:r>
                <a:rPr kumimoji="1" lang="en-US" altLang="zh-CN" sz="2400" b="1" dirty="0">
                  <a:cs typeface="楷体_GB2312" charset="0"/>
                </a:rPr>
                <a:t> </a:t>
              </a:r>
              <a:r>
                <a:rPr kumimoji="1" lang="en-US" altLang="zh-CN" sz="2400" b="1" i="1" dirty="0">
                  <a:cs typeface="楷体_GB2312" charset="0"/>
                </a:rPr>
                <a:t>x</a:t>
              </a:r>
              <a:r>
                <a:rPr kumimoji="1" lang="en-US" altLang="zh-CN" sz="2400" b="1" baseline="-25000" dirty="0">
                  <a:cs typeface="楷体_GB2312" charset="0"/>
                </a:rPr>
                <a:t>0</a:t>
              </a:r>
              <a:r>
                <a:rPr kumimoji="1" lang="en-US" altLang="zh-CN" sz="2400" b="1" dirty="0">
                  <a:cs typeface="楷体_GB2312" charset="0"/>
                  <a:sym typeface="Symbol" charset="0"/>
                </a:rPr>
                <a:t>[</a:t>
              </a:r>
              <a:r>
                <a:rPr kumimoji="1" lang="en-US" altLang="zh-CN" sz="2400" b="1" i="1" dirty="0">
                  <a:cs typeface="楷体_GB2312" charset="0"/>
                  <a:sym typeface="Symbol" charset="0"/>
                </a:rPr>
                <a:t>a</a:t>
              </a:r>
              <a:r>
                <a:rPr kumimoji="1" lang="en-US" altLang="zh-CN" sz="2400" b="1" dirty="0">
                  <a:cs typeface="楷体_GB2312" charset="0"/>
                  <a:sym typeface="Symbol" charset="0"/>
                </a:rPr>
                <a:t>, </a:t>
              </a:r>
              <a:r>
                <a:rPr kumimoji="1" lang="en-US" altLang="zh-CN" sz="2400" b="1" i="1" dirty="0">
                  <a:cs typeface="楷体_GB2312" charset="0"/>
                  <a:sym typeface="Symbol" charset="0"/>
                </a:rPr>
                <a:t>b</a:t>
              </a:r>
              <a:r>
                <a:rPr kumimoji="1" lang="en-US" altLang="zh-CN" sz="2400" b="1" dirty="0">
                  <a:cs typeface="楷体_GB2312" charset="0"/>
                  <a:sym typeface="Symbol" charset="0"/>
                </a:rPr>
                <a:t>]</a:t>
              </a:r>
              <a:r>
                <a:rPr kumimoji="1" lang="zh-CN" altLang="en-US" sz="2400" b="1" dirty="0">
                  <a:cs typeface="楷体_GB2312" charset="0"/>
                  <a:sym typeface="Symbol" charset="0"/>
                </a:rPr>
                <a:t>，由</a:t>
              </a:r>
              <a:r>
                <a:rPr kumimoji="1" lang="en-US" altLang="zh-CN" sz="2400" b="1" dirty="0">
                  <a:cs typeface="楷体_GB2312" charset="0"/>
                  <a:sym typeface="Symbol" charset="0"/>
                </a:rPr>
                <a:t> </a:t>
              </a:r>
              <a:r>
                <a:rPr kumimoji="1" lang="en-US" altLang="zh-CN" sz="2400" b="1" i="1" dirty="0">
                  <a:cs typeface="楷体_GB2312" charset="0"/>
                </a:rPr>
                <a:t>x</a:t>
              </a:r>
              <a:r>
                <a:rPr kumimoji="1" lang="en-US" altLang="zh-CN" sz="2400" b="1" i="1" baseline="-25000" dirty="0">
                  <a:cs typeface="楷体_GB2312" charset="0"/>
                </a:rPr>
                <a:t>k</a:t>
              </a:r>
              <a:r>
                <a:rPr kumimoji="1" lang="en-US" altLang="zh-CN" sz="2400" b="1" baseline="-25000" dirty="0">
                  <a:cs typeface="楷体_GB2312" charset="0"/>
                </a:rPr>
                <a:t>+1</a:t>
              </a:r>
              <a:r>
                <a:rPr kumimoji="1" lang="en-US" altLang="zh-CN" sz="2400" b="1" dirty="0">
                  <a:cs typeface="楷体_GB2312" charset="0"/>
                </a:rPr>
                <a:t> = </a:t>
              </a:r>
              <a:r>
                <a:rPr kumimoji="1" lang="en-US" altLang="zh-CN" sz="2400" b="1" i="1" dirty="0">
                  <a:cs typeface="楷体_GB2312" charset="0"/>
                </a:rPr>
                <a:t>g</a:t>
              </a:r>
              <a:r>
                <a:rPr kumimoji="1" lang="en-US" altLang="zh-CN" sz="2400" b="1" dirty="0">
                  <a:cs typeface="楷体_GB2312" charset="0"/>
                </a:rPr>
                <a:t>(</a:t>
              </a:r>
              <a:r>
                <a:rPr kumimoji="1" lang="en-US" altLang="zh-CN" sz="2400" b="1" i="1" dirty="0" err="1">
                  <a:cs typeface="楷体_GB2312" charset="0"/>
                </a:rPr>
                <a:t>x</a:t>
              </a:r>
              <a:r>
                <a:rPr kumimoji="1" lang="en-US" altLang="zh-CN" sz="2400" b="1" i="1" baseline="-25000" dirty="0" err="1">
                  <a:cs typeface="楷体_GB2312" charset="0"/>
                </a:rPr>
                <a:t>k</a:t>
              </a:r>
              <a:r>
                <a:rPr kumimoji="1" lang="en-US" altLang="zh-CN" sz="2400" b="1" dirty="0">
                  <a:cs typeface="楷体_GB2312" charset="0"/>
                </a:rPr>
                <a:t>) </a:t>
              </a:r>
              <a:r>
                <a:rPr kumimoji="1" lang="zh-CN" altLang="en-US" sz="2400" b="1" dirty="0">
                  <a:cs typeface="楷体_GB2312" charset="0"/>
                </a:rPr>
                <a:t>得到的序列</a:t>
              </a:r>
              <a:r>
                <a:rPr kumimoji="1" lang="en-US" altLang="zh-CN" sz="2400" b="1" dirty="0">
                  <a:cs typeface="楷体_GB2312" charset="0"/>
                </a:rPr>
                <a:t>               </a:t>
              </a:r>
              <a:r>
                <a:rPr kumimoji="1" lang="zh-CN" altLang="en-US" sz="2400" b="1" dirty="0">
                  <a:cs typeface="楷体_GB2312" charset="0"/>
                </a:rPr>
                <a:t>收敛于</a:t>
              </a:r>
              <a:r>
                <a:rPr kumimoji="1" lang="en-US" altLang="zh-CN" sz="2400" b="1" i="1" dirty="0">
                  <a:cs typeface="楷体_GB2312" charset="0"/>
                </a:rPr>
                <a:t>g</a:t>
              </a:r>
              <a:r>
                <a:rPr kumimoji="1" lang="en-US" altLang="zh-CN" sz="2400" b="1" dirty="0">
                  <a:cs typeface="楷体_GB2312" charset="0"/>
                </a:rPr>
                <a:t>(</a:t>
              </a:r>
              <a:r>
                <a:rPr kumimoji="1" lang="en-US" altLang="zh-CN" sz="2400" b="1" i="1" dirty="0">
                  <a:cs typeface="楷体_GB2312" charset="0"/>
                </a:rPr>
                <a:t>x</a:t>
              </a:r>
              <a:r>
                <a:rPr kumimoji="1" lang="en-US" altLang="zh-CN" sz="2400" b="1" dirty="0">
                  <a:cs typeface="楷体_GB2312" charset="0"/>
                </a:rPr>
                <a:t>) </a:t>
              </a:r>
              <a:r>
                <a:rPr kumimoji="1" lang="zh-CN" altLang="en-US" sz="2400" b="1" dirty="0">
                  <a:cs typeface="楷体_GB2312" charset="0"/>
                </a:rPr>
                <a:t>在</a:t>
              </a:r>
              <a:r>
                <a:rPr kumimoji="1" lang="en-US" altLang="zh-CN" sz="2400" b="1" dirty="0">
                  <a:cs typeface="楷体_GB2312" charset="0"/>
                  <a:sym typeface="Symbol" charset="0"/>
                </a:rPr>
                <a:t>[</a:t>
              </a:r>
              <a:r>
                <a:rPr kumimoji="1" lang="en-US" altLang="zh-CN" sz="2400" b="1" i="1" dirty="0">
                  <a:cs typeface="楷体_GB2312" charset="0"/>
                  <a:sym typeface="Symbol" charset="0"/>
                </a:rPr>
                <a:t>a</a:t>
              </a:r>
              <a:r>
                <a:rPr kumimoji="1" lang="en-US" altLang="zh-CN" sz="2400" b="1" dirty="0">
                  <a:cs typeface="楷体_GB2312" charset="0"/>
                  <a:sym typeface="Symbol" charset="0"/>
                </a:rPr>
                <a:t>, </a:t>
              </a:r>
              <a:r>
                <a:rPr kumimoji="1" lang="en-US" altLang="zh-CN" sz="2400" b="1" i="1" dirty="0">
                  <a:cs typeface="楷体_GB2312" charset="0"/>
                  <a:sym typeface="Symbol" charset="0"/>
                </a:rPr>
                <a:t>b</a:t>
              </a:r>
              <a:r>
                <a:rPr kumimoji="1" lang="en-US" altLang="zh-CN" sz="2400" b="1" dirty="0">
                  <a:cs typeface="楷体_GB2312" charset="0"/>
                  <a:sym typeface="Symbol" charset="0"/>
                </a:rPr>
                <a:t>]</a:t>
              </a:r>
              <a:r>
                <a:rPr kumimoji="1" lang="zh-CN" altLang="en-US" sz="2400" b="1" dirty="0">
                  <a:cs typeface="楷体_GB2312" charset="0"/>
                  <a:sym typeface="Symbol" charset="0"/>
                </a:rPr>
                <a:t>上的唯一不动点。并且有误差估计式：</a:t>
              </a:r>
              <a:endParaRPr lang="en-US" sz="2400" dirty="0"/>
            </a:p>
          </p:txBody>
        </p:sp>
        <p:graphicFrame>
          <p:nvGraphicFramePr>
            <p:cNvPr id="10253" name="Object 22"/>
            <p:cNvGraphicFramePr>
              <a:graphicFrameLocks noChangeAspect="1"/>
            </p:cNvGraphicFramePr>
            <p:nvPr/>
          </p:nvGraphicFramePr>
          <p:xfrm>
            <a:off x="6858000" y="2362200"/>
            <a:ext cx="1173163" cy="446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" name="Equation" r:id="rId6" imgW="622030" imgH="279279" progId="Equation.3">
                    <p:embed/>
                  </p:oleObj>
                </mc:Choice>
                <mc:Fallback>
                  <p:oleObj name="Equation" r:id="rId6" imgW="622030" imgH="279279" progId="Equation.3">
                    <p:embed/>
                    <p:pic>
                      <p:nvPicPr>
                        <p:cNvPr id="10253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8000" y="2362200"/>
                          <a:ext cx="1173163" cy="446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54" name="Group 27"/>
          <p:cNvGrpSpPr>
            <a:grpSpLocks/>
          </p:cNvGrpSpPr>
          <p:nvPr/>
        </p:nvGrpSpPr>
        <p:grpSpPr bwMode="auto">
          <a:xfrm>
            <a:off x="1066800" y="3276600"/>
            <a:ext cx="3773488" cy="749300"/>
            <a:chOff x="672" y="1920"/>
            <a:chExt cx="2377" cy="472"/>
          </a:xfrm>
        </p:grpSpPr>
        <p:graphicFrame>
          <p:nvGraphicFramePr>
            <p:cNvPr id="10262" name="Object 23"/>
            <p:cNvGraphicFramePr>
              <a:graphicFrameLocks noChangeAspect="1"/>
            </p:cNvGraphicFramePr>
            <p:nvPr/>
          </p:nvGraphicFramePr>
          <p:xfrm>
            <a:off x="1008" y="1920"/>
            <a:ext cx="2041" cy="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name="Equation" r:id="rId8" imgW="1777229" imgH="393529" progId="Equation.3">
                    <p:embed/>
                  </p:oleObj>
                </mc:Choice>
                <mc:Fallback>
                  <p:oleObj name="Equation" r:id="rId8" imgW="1777229" imgH="393529" progId="Equation.3">
                    <p:embed/>
                    <p:pic>
                      <p:nvPicPr>
                        <p:cNvPr id="10262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920"/>
                          <a:ext cx="2041" cy="4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48" name="Text Box 24"/>
            <p:cNvSpPr txBox="1">
              <a:spLocks noChangeArrowheads="1"/>
            </p:cNvSpPr>
            <p:nvPr/>
          </p:nvSpPr>
          <p:spPr bwMode="auto">
            <a:xfrm>
              <a:off x="672" y="20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b="1">
                  <a:cs typeface="宋体" charset="0"/>
                  <a:sym typeface="Wingdings" charset="0"/>
                </a:rPr>
                <a:t></a:t>
              </a:r>
              <a:endParaRPr lang="en-US" altLang="zh-CN" b="1">
                <a:cs typeface="宋体" charset="0"/>
              </a:endParaRPr>
            </a:p>
          </p:txBody>
        </p:sp>
      </p:grpSp>
      <p:sp>
        <p:nvSpPr>
          <p:cNvPr id="52253" name="Text Box 29"/>
          <p:cNvSpPr txBox="1">
            <a:spLocks noChangeArrowheads="1"/>
          </p:cNvSpPr>
          <p:nvPr/>
        </p:nvSpPr>
        <p:spPr bwMode="auto">
          <a:xfrm>
            <a:off x="5334000" y="38862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cs typeface="宋体" charset="0"/>
              </a:rPr>
              <a:t>( </a:t>
            </a:r>
            <a:r>
              <a:rPr lang="en-US" altLang="zh-CN" b="1" i="1" dirty="0">
                <a:cs typeface="宋体" charset="0"/>
              </a:rPr>
              <a:t>k</a:t>
            </a:r>
            <a:r>
              <a:rPr lang="en-US" altLang="zh-CN" b="1" dirty="0">
                <a:cs typeface="宋体" charset="0"/>
              </a:rPr>
              <a:t> = 1, 2, … )</a:t>
            </a:r>
            <a:endParaRPr lang="en-US" altLang="zh-CN" b="1" i="1" dirty="0">
              <a:cs typeface="宋体" charset="0"/>
            </a:endParaRPr>
          </a:p>
        </p:txBody>
      </p:sp>
      <p:sp>
        <p:nvSpPr>
          <p:cNvPr id="52254" name="Text Box 30"/>
          <p:cNvSpPr txBox="1">
            <a:spLocks noChangeArrowheads="1"/>
          </p:cNvSpPr>
          <p:nvPr/>
        </p:nvSpPr>
        <p:spPr bwMode="auto">
          <a:xfrm>
            <a:off x="914400" y="53340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cs typeface="楷体_GB2312" charset="0"/>
              </a:rPr>
              <a:t>且存在极限</a:t>
            </a:r>
            <a:endParaRPr lang="en-US" altLang="zh-CN" sz="2400" b="1" dirty="0">
              <a:cs typeface="楷体_GB2312" charset="0"/>
            </a:endParaRPr>
          </a:p>
        </p:txBody>
      </p:sp>
      <p:graphicFrame>
        <p:nvGraphicFramePr>
          <p:cNvPr id="10259" name="Object 31"/>
          <p:cNvGraphicFramePr>
            <a:graphicFrameLocks noChangeAspect="1"/>
          </p:cNvGraphicFramePr>
          <p:nvPr/>
        </p:nvGraphicFramePr>
        <p:xfrm>
          <a:off x="2819400" y="5181600"/>
          <a:ext cx="2709863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10" imgW="1422400" imgH="431800" progId="Equation.3">
                  <p:embed/>
                </p:oleObj>
              </mc:Choice>
              <mc:Fallback>
                <p:oleObj name="Equation" r:id="rId10" imgW="1422400" imgH="431800" progId="Equation.3">
                  <p:embed/>
                  <p:pic>
                    <p:nvPicPr>
                      <p:cNvPr id="10259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181600"/>
                        <a:ext cx="2709863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1066800" y="4114800"/>
            <a:ext cx="3733800" cy="815975"/>
            <a:chOff x="1066800" y="4114800"/>
            <a:chExt cx="3733800" cy="815975"/>
          </a:xfrm>
        </p:grpSpPr>
        <p:grpSp>
          <p:nvGrpSpPr>
            <p:cNvPr id="10255" name="Group 28"/>
            <p:cNvGrpSpPr>
              <a:grpSpLocks/>
            </p:cNvGrpSpPr>
            <p:nvPr/>
          </p:nvGrpSpPr>
          <p:grpSpPr bwMode="auto">
            <a:xfrm>
              <a:off x="1066800" y="4191000"/>
              <a:ext cx="3733800" cy="739775"/>
              <a:chOff x="672" y="2400"/>
              <a:chExt cx="2352" cy="466"/>
            </a:xfrm>
          </p:grpSpPr>
          <p:sp>
            <p:nvSpPr>
              <p:cNvPr id="52249" name="Text Box 25"/>
              <p:cNvSpPr txBox="1">
                <a:spLocks noChangeArrowheads="1"/>
              </p:cNvSpPr>
              <p:nvPr/>
            </p:nvSpPr>
            <p:spPr bwMode="auto">
              <a:xfrm>
                <a:off x="672" y="249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b="1">
                    <a:cs typeface="宋体" charset="0"/>
                    <a:sym typeface="Wingdings" charset="0"/>
                  </a:rPr>
                  <a:t></a:t>
                </a:r>
                <a:endParaRPr lang="en-US" altLang="zh-CN" b="1">
                  <a:cs typeface="宋体" charset="0"/>
                </a:endParaRPr>
              </a:p>
            </p:txBody>
          </p:sp>
          <p:graphicFrame>
            <p:nvGraphicFramePr>
              <p:cNvPr id="10261" name="Object 26"/>
              <p:cNvGraphicFramePr>
                <a:graphicFrameLocks noChangeAspect="1"/>
              </p:cNvGraphicFramePr>
              <p:nvPr/>
            </p:nvGraphicFramePr>
            <p:xfrm>
              <a:off x="1008" y="2400"/>
              <a:ext cx="2016" cy="4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7" name="Equation" r:id="rId12" imgW="1663700" imgH="393700" progId="Equation.3">
                      <p:embed/>
                    </p:oleObj>
                  </mc:Choice>
                  <mc:Fallback>
                    <p:oleObj name="Equation" r:id="rId12" imgW="1663700" imgH="393700" progId="Equation.3">
                      <p:embed/>
                      <p:pic>
                        <p:nvPicPr>
                          <p:cNvPr id="10261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2400"/>
                            <a:ext cx="2016" cy="4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8" name="Text Box 42"/>
            <p:cNvSpPr txBox="1">
              <a:spLocks noChangeArrowheads="1"/>
            </p:cNvSpPr>
            <p:nvPr/>
          </p:nvSpPr>
          <p:spPr bwMode="auto">
            <a:xfrm>
              <a:off x="3352800" y="4114800"/>
              <a:ext cx="30480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200" b="1" i="1" dirty="0">
                  <a:cs typeface="宋体" charset="0"/>
                </a:rPr>
                <a:t>k</a:t>
              </a:r>
            </a:p>
          </p:txBody>
        </p:sp>
      </p:grpSp>
      <p:sp>
        <p:nvSpPr>
          <p:cNvPr id="30" name="Text Box 34"/>
          <p:cNvSpPr txBox="1">
            <a:spLocks noChangeArrowheads="1"/>
          </p:cNvSpPr>
          <p:nvPr/>
        </p:nvSpPr>
        <p:spPr bwMode="auto">
          <a:xfrm>
            <a:off x="4495800" y="2590800"/>
            <a:ext cx="76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4000">
                <a:solidFill>
                  <a:srgbClr val="FF3300"/>
                </a:solidFill>
                <a:cs typeface="宋体" charset="0"/>
                <a:sym typeface="Webdings" charset="0"/>
              </a:rPr>
              <a:t></a:t>
            </a:r>
            <a:endParaRPr lang="en-US" altLang="zh-CN" sz="4000">
              <a:solidFill>
                <a:srgbClr val="FF3300"/>
              </a:solidFill>
              <a:cs typeface="宋体" charset="0"/>
            </a:endParaRPr>
          </a:p>
        </p:txBody>
      </p:sp>
      <p:sp>
        <p:nvSpPr>
          <p:cNvPr id="31" name="Text Box 36"/>
          <p:cNvSpPr txBox="1">
            <a:spLocks noChangeArrowheads="1"/>
          </p:cNvSpPr>
          <p:nvPr/>
        </p:nvSpPr>
        <p:spPr bwMode="auto">
          <a:xfrm>
            <a:off x="3810000" y="2590800"/>
            <a:ext cx="76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4000">
                <a:solidFill>
                  <a:srgbClr val="FF3300"/>
                </a:solidFill>
                <a:cs typeface="宋体" charset="0"/>
                <a:sym typeface="Webdings" charset="0"/>
              </a:rPr>
              <a:t></a:t>
            </a:r>
            <a:endParaRPr lang="en-US" altLang="zh-CN" sz="4000">
              <a:solidFill>
                <a:srgbClr val="FF3300"/>
              </a:solidFill>
              <a:cs typeface="宋体" charset="0"/>
            </a:endParaRP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7543800" y="2133600"/>
            <a:ext cx="76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4000" dirty="0">
                <a:solidFill>
                  <a:srgbClr val="FF3300"/>
                </a:solidFill>
                <a:cs typeface="宋体" charset="0"/>
                <a:sym typeface="Webdings" charset="0"/>
              </a:rPr>
              <a:t></a:t>
            </a:r>
            <a:endParaRPr lang="en-US" altLang="zh-CN" sz="4000" dirty="0">
              <a:solidFill>
                <a:srgbClr val="FF3300"/>
              </a:solidFill>
              <a:cs typeface="宋体" charset="0"/>
            </a:endParaRPr>
          </a:p>
        </p:txBody>
      </p:sp>
      <p:sp>
        <p:nvSpPr>
          <p:cNvPr id="33" name="Text Box 39"/>
          <p:cNvSpPr txBox="1">
            <a:spLocks noChangeArrowheads="1"/>
          </p:cNvSpPr>
          <p:nvPr/>
        </p:nvSpPr>
        <p:spPr bwMode="auto">
          <a:xfrm>
            <a:off x="2438400" y="3276600"/>
            <a:ext cx="76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4000">
                <a:solidFill>
                  <a:srgbClr val="FF3300"/>
                </a:solidFill>
                <a:cs typeface="宋体" charset="0"/>
                <a:sym typeface="Webdings" charset="0"/>
              </a:rPr>
              <a:t></a:t>
            </a:r>
            <a:endParaRPr lang="en-US" altLang="zh-CN" sz="4000">
              <a:solidFill>
                <a:srgbClr val="FF3300"/>
              </a:solidFill>
              <a:cs typeface="宋体" charset="0"/>
            </a:endParaRPr>
          </a:p>
        </p:txBody>
      </p:sp>
      <p:sp>
        <p:nvSpPr>
          <p:cNvPr id="34" name="Text Box 40"/>
          <p:cNvSpPr txBox="1">
            <a:spLocks noChangeArrowheads="1"/>
          </p:cNvSpPr>
          <p:nvPr/>
        </p:nvSpPr>
        <p:spPr bwMode="auto">
          <a:xfrm>
            <a:off x="2514600" y="4191000"/>
            <a:ext cx="76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4000">
                <a:solidFill>
                  <a:srgbClr val="FF3300"/>
                </a:solidFill>
                <a:cs typeface="宋体" charset="0"/>
                <a:sym typeface="Webdings" charset="0"/>
              </a:rPr>
              <a:t></a:t>
            </a:r>
            <a:endParaRPr lang="en-US" altLang="zh-CN" sz="4000">
              <a:solidFill>
                <a:srgbClr val="FF3300"/>
              </a:solidFill>
              <a:cs typeface="宋体" charset="0"/>
            </a:endParaRPr>
          </a:p>
        </p:txBody>
      </p:sp>
      <p:sp>
        <p:nvSpPr>
          <p:cNvPr id="35" name="Text Box 41"/>
          <p:cNvSpPr txBox="1">
            <a:spLocks noChangeArrowheads="1"/>
          </p:cNvSpPr>
          <p:nvPr/>
        </p:nvSpPr>
        <p:spPr bwMode="auto">
          <a:xfrm>
            <a:off x="4191000" y="5181600"/>
            <a:ext cx="76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4000" dirty="0">
                <a:solidFill>
                  <a:srgbClr val="FF3300"/>
                </a:solidFill>
                <a:cs typeface="宋体" charset="0"/>
                <a:sym typeface="Webdings" charset="0"/>
              </a:rPr>
              <a:t></a:t>
            </a:r>
            <a:endParaRPr lang="en-US" altLang="zh-CN" sz="4000" dirty="0">
              <a:solidFill>
                <a:srgbClr val="FF3300"/>
              </a:solidFill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24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2245" grpId="0"/>
      <p:bldP spid="52253" grpId="0"/>
      <p:bldP spid="52254" grpId="0"/>
      <p:bldP spid="30" grpId="0" autoUpdateAnimBg="0"/>
      <p:bldP spid="31" grpId="0" autoUpdateAnimBg="0"/>
      <p:bldP spid="32" grpId="0" autoUpdateAnimBg="0"/>
      <p:bldP spid="33" grpId="0" autoUpdateAnimBg="0"/>
      <p:bldP spid="34" grpId="0" autoUpdateAnimBg="0"/>
      <p:bldP spid="3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6248400" y="0"/>
            <a:ext cx="2895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kumimoji="1" lang="en-US" altLang="zh-CN" sz="1800" b="1">
                <a:cs typeface="宋体" charset="0"/>
              </a:rPr>
              <a:t>§3  Fixed-Point Iteration</a:t>
            </a:r>
            <a:endParaRPr kumimoji="1" lang="en-US" altLang="zh-CN" sz="2000" b="1">
              <a:solidFill>
                <a:schemeClr val="tx2"/>
              </a:solidFill>
              <a:cs typeface="楷体_GB2312" charset="0"/>
            </a:endParaRP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457200" y="381000"/>
            <a:ext cx="601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400" b="1" dirty="0">
                <a:solidFill>
                  <a:schemeClr val="accent2"/>
                </a:solidFill>
                <a:cs typeface="楷体_GB2312" charset="0"/>
              </a:rPr>
              <a:t>证明：</a:t>
            </a:r>
            <a:r>
              <a:rPr kumimoji="1" lang="en-US" altLang="zh-CN" sz="2400" b="1" dirty="0">
                <a:cs typeface="楷体_GB2312" charset="0"/>
              </a:rPr>
              <a:t>①  </a:t>
            </a:r>
            <a:r>
              <a:rPr kumimoji="1" lang="en-US" altLang="zh-CN" sz="2400" b="1" i="1" dirty="0">
                <a:cs typeface="楷体_GB2312" charset="0"/>
              </a:rPr>
              <a:t>g</a:t>
            </a:r>
            <a:r>
              <a:rPr kumimoji="1" lang="en-US" altLang="zh-CN" sz="2400" b="1" dirty="0">
                <a:cs typeface="楷体_GB2312" charset="0"/>
              </a:rPr>
              <a:t>(</a:t>
            </a:r>
            <a:r>
              <a:rPr kumimoji="1" lang="en-US" altLang="zh-CN" sz="2400" b="1" i="1" dirty="0">
                <a:cs typeface="楷体_GB2312" charset="0"/>
              </a:rPr>
              <a:t>x</a:t>
            </a:r>
            <a:r>
              <a:rPr kumimoji="1" lang="en-US" altLang="zh-CN" sz="2400" b="1" dirty="0">
                <a:cs typeface="楷体_GB2312" charset="0"/>
              </a:rPr>
              <a:t>) </a:t>
            </a:r>
            <a:r>
              <a:rPr kumimoji="1" lang="zh-CN" altLang="en-US" sz="2400" b="1" dirty="0">
                <a:cs typeface="楷体_GB2312" charset="0"/>
              </a:rPr>
              <a:t>在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[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a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, 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b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]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上</a:t>
            </a:r>
            <a:r>
              <a:rPr kumimoji="1" lang="zh-CN" altLang="en-US" sz="2400" b="1" dirty="0">
                <a:solidFill>
                  <a:srgbClr val="3333CC"/>
                </a:solidFill>
                <a:cs typeface="楷体_GB2312" charset="0"/>
                <a:sym typeface="Symbol" charset="0"/>
              </a:rPr>
              <a:t>存在不动点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？</a:t>
            </a:r>
            <a:endParaRPr kumimoji="1" lang="en-US" altLang="zh-CN" sz="2400" b="1" dirty="0">
              <a:cs typeface="楷体_GB2312" charset="0"/>
              <a:sym typeface="Symbol" charset="0"/>
            </a:endParaRPr>
          </a:p>
        </p:txBody>
      </p:sp>
      <p:grpSp>
        <p:nvGrpSpPr>
          <p:cNvPr id="53254" name="Group 6"/>
          <p:cNvGrpSpPr>
            <a:grpSpLocks/>
          </p:cNvGrpSpPr>
          <p:nvPr/>
        </p:nvGrpSpPr>
        <p:grpSpPr bwMode="auto">
          <a:xfrm>
            <a:off x="1371600" y="914400"/>
            <a:ext cx="2470150" cy="468313"/>
            <a:chOff x="864" y="624"/>
            <a:chExt cx="1556" cy="295"/>
          </a:xfrm>
        </p:grpSpPr>
        <p:sp>
          <p:nvSpPr>
            <p:cNvPr id="53252" name="Text Box 4"/>
            <p:cNvSpPr txBox="1">
              <a:spLocks noChangeArrowheads="1"/>
            </p:cNvSpPr>
            <p:nvPr/>
          </p:nvSpPr>
          <p:spPr bwMode="auto">
            <a:xfrm>
              <a:off x="864" y="6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b="1">
                  <a:cs typeface="楷体_GB2312" charset="0"/>
                </a:rPr>
                <a:t>令</a:t>
              </a:r>
              <a:endParaRPr lang="en-US" altLang="zh-CN" b="1">
                <a:cs typeface="楷体_GB2312" charset="0"/>
              </a:endParaRPr>
            </a:p>
          </p:txBody>
        </p:sp>
        <p:graphicFrame>
          <p:nvGraphicFramePr>
            <p:cNvPr id="11299" name="Object 5"/>
            <p:cNvGraphicFramePr>
              <a:graphicFrameLocks noChangeAspect="1"/>
            </p:cNvGraphicFramePr>
            <p:nvPr/>
          </p:nvGraphicFramePr>
          <p:xfrm>
            <a:off x="1152" y="672"/>
            <a:ext cx="126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8" name="Equation" r:id="rId6" imgW="1040948" imgH="203112" progId="Equation.3">
                    <p:embed/>
                  </p:oleObj>
                </mc:Choice>
                <mc:Fallback>
                  <p:oleObj name="Equation" r:id="rId6" imgW="1040948" imgH="203112" progId="Equation.3">
                    <p:embed/>
                    <p:pic>
                      <p:nvPicPr>
                        <p:cNvPr id="1129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672"/>
                          <a:ext cx="1268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256" name="Object 8"/>
          <p:cNvGraphicFramePr>
            <a:graphicFrameLocks noChangeAspect="1"/>
          </p:cNvGraphicFramePr>
          <p:nvPr/>
        </p:nvGraphicFramePr>
        <p:xfrm>
          <a:off x="4267200" y="990600"/>
          <a:ext cx="22637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8" imgW="965200" imgH="203200" progId="Equation.3">
                  <p:embed/>
                </p:oleObj>
              </mc:Choice>
              <mc:Fallback>
                <p:oleObj name="Equation" r:id="rId8" imgW="965200" imgH="203200" progId="Equation.3">
                  <p:embed/>
                  <p:pic>
                    <p:nvPicPr>
                      <p:cNvPr id="532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990600"/>
                        <a:ext cx="22637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61" name="Group 13"/>
          <p:cNvGrpSpPr>
            <a:grpSpLocks/>
          </p:cNvGrpSpPr>
          <p:nvPr/>
        </p:nvGrpSpPr>
        <p:grpSpPr bwMode="auto">
          <a:xfrm>
            <a:off x="1447800" y="1524000"/>
            <a:ext cx="5243513" cy="922338"/>
            <a:chOff x="912" y="1008"/>
            <a:chExt cx="3303" cy="581"/>
          </a:xfrm>
        </p:grpSpPr>
        <p:graphicFrame>
          <p:nvGraphicFramePr>
            <p:cNvPr id="11294" name="Object 9"/>
            <p:cNvGraphicFramePr>
              <a:graphicFrameLocks noChangeAspect="1"/>
            </p:cNvGraphicFramePr>
            <p:nvPr/>
          </p:nvGraphicFramePr>
          <p:xfrm>
            <a:off x="912" y="1008"/>
            <a:ext cx="175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name="Equation" r:id="rId10" imgW="1422400" imgH="203200" progId="Equation.3">
                    <p:embed/>
                  </p:oleObj>
                </mc:Choice>
                <mc:Fallback>
                  <p:oleObj name="Equation" r:id="rId10" imgW="1422400" imgH="203200" progId="Equation.3">
                    <p:embed/>
                    <p:pic>
                      <p:nvPicPr>
                        <p:cNvPr id="11294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008"/>
                          <a:ext cx="175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5" name="Object 10"/>
            <p:cNvGraphicFramePr>
              <a:graphicFrameLocks noChangeAspect="1"/>
            </p:cNvGraphicFramePr>
            <p:nvPr/>
          </p:nvGraphicFramePr>
          <p:xfrm>
            <a:off x="2736" y="1008"/>
            <a:ext cx="1479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name="Equation" r:id="rId12" imgW="1218671" imgH="203112" progId="Equation.3">
                    <p:embed/>
                  </p:oleObj>
                </mc:Choice>
                <mc:Fallback>
                  <p:oleObj name="Equation" r:id="rId12" imgW="1218671" imgH="203112" progId="Equation.3">
                    <p:embed/>
                    <p:pic>
                      <p:nvPicPr>
                        <p:cNvPr id="11295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008"/>
                          <a:ext cx="1479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6" name="Object 11"/>
            <p:cNvGraphicFramePr>
              <a:graphicFrameLocks noChangeAspect="1"/>
            </p:cNvGraphicFramePr>
            <p:nvPr/>
          </p:nvGraphicFramePr>
          <p:xfrm>
            <a:off x="1056" y="1344"/>
            <a:ext cx="663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" name="Equation" r:id="rId14" imgW="545626" imgH="203024" progId="Equation.3">
                    <p:embed/>
                  </p:oleObj>
                </mc:Choice>
                <mc:Fallback>
                  <p:oleObj name="Equation" r:id="rId14" imgW="545626" imgH="203024" progId="Equation.3">
                    <p:embed/>
                    <p:pic>
                      <p:nvPicPr>
                        <p:cNvPr id="1129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344"/>
                          <a:ext cx="663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0" name="Text Box 12"/>
            <p:cNvSpPr txBox="1">
              <a:spLocks noChangeArrowheads="1"/>
            </p:cNvSpPr>
            <p:nvPr/>
          </p:nvSpPr>
          <p:spPr bwMode="auto">
            <a:xfrm>
              <a:off x="1680" y="1296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zh-CN" altLang="en-US" sz="2400" b="1" dirty="0">
                  <a:solidFill>
                    <a:srgbClr val="FF0000"/>
                  </a:solidFill>
                  <a:cs typeface="楷体_GB2312" charset="0"/>
                </a:rPr>
                <a:t>有根</a:t>
              </a:r>
              <a:endParaRPr kumimoji="1" lang="en-US" altLang="zh-CN" sz="2400" b="1" dirty="0">
                <a:solidFill>
                  <a:srgbClr val="FF0000"/>
                </a:solidFill>
                <a:cs typeface="楷体_GB2312" charset="0"/>
              </a:endParaRPr>
            </a:p>
          </p:txBody>
        </p:sp>
      </p:grpSp>
      <p:sp>
        <p:nvSpPr>
          <p:cNvPr id="53262" name="Text Box 14"/>
          <p:cNvSpPr txBox="1">
            <a:spLocks noChangeArrowheads="1"/>
          </p:cNvSpPr>
          <p:nvPr/>
        </p:nvSpPr>
        <p:spPr bwMode="auto">
          <a:xfrm>
            <a:off x="1371600" y="26670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cs typeface="楷体_GB2312" charset="0"/>
              </a:rPr>
              <a:t>②  </a:t>
            </a:r>
            <a:r>
              <a:rPr kumimoji="1" lang="zh-CN" altLang="en-US" sz="2400" b="1" dirty="0">
                <a:solidFill>
                  <a:srgbClr val="3333CC"/>
                </a:solidFill>
                <a:cs typeface="楷体_GB2312" charset="0"/>
                <a:sym typeface="Symbol" charset="0"/>
              </a:rPr>
              <a:t>不动点</a:t>
            </a:r>
            <a:r>
              <a:rPr kumimoji="1" lang="zh-CN" altLang="en-US" sz="2400" b="1" dirty="0">
                <a:solidFill>
                  <a:srgbClr val="FF0000"/>
                </a:solidFill>
                <a:cs typeface="楷体_GB2312" charset="0"/>
                <a:sym typeface="Symbol" charset="0"/>
              </a:rPr>
              <a:t>唯一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？</a:t>
            </a:r>
            <a:endParaRPr kumimoji="1" lang="en-US" altLang="zh-CN" sz="2400" b="1" dirty="0">
              <a:cs typeface="楷体_GB2312" charset="0"/>
              <a:sym typeface="Symbol" charset="0"/>
            </a:endParaRPr>
          </a:p>
        </p:txBody>
      </p:sp>
      <p:grpSp>
        <p:nvGrpSpPr>
          <p:cNvPr id="53265" name="Group 17"/>
          <p:cNvGrpSpPr>
            <a:grpSpLocks/>
          </p:cNvGrpSpPr>
          <p:nvPr/>
        </p:nvGrpSpPr>
        <p:grpSpPr bwMode="auto">
          <a:xfrm>
            <a:off x="1371600" y="3200400"/>
            <a:ext cx="5257800" cy="388938"/>
            <a:chOff x="864" y="2016"/>
            <a:chExt cx="3312" cy="245"/>
          </a:xfrm>
        </p:grpSpPr>
        <p:sp>
          <p:nvSpPr>
            <p:cNvPr id="53263" name="Text Box 15"/>
            <p:cNvSpPr txBox="1">
              <a:spLocks noChangeArrowheads="1"/>
            </p:cNvSpPr>
            <p:nvPr/>
          </p:nvSpPr>
          <p:spPr bwMode="auto">
            <a:xfrm>
              <a:off x="864" y="2016"/>
              <a:ext cx="331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defRPr/>
              </a:pPr>
              <a:r>
                <a:rPr kumimoji="1" lang="zh-CN" altLang="en-US" sz="2400" b="1" dirty="0">
                  <a:cs typeface="楷体_GB2312" charset="0"/>
                </a:rPr>
                <a:t>反证：若不然，设还有</a:t>
              </a:r>
              <a:r>
                <a:rPr kumimoji="1" lang="en-US" altLang="zh-CN" sz="2400" b="1" dirty="0">
                  <a:cs typeface="楷体_GB2312" charset="0"/>
                </a:rPr>
                <a:t>                 </a:t>
              </a:r>
              <a:r>
                <a:rPr kumimoji="1" lang="zh-CN" altLang="en-US" sz="2400" b="1" dirty="0">
                  <a:cs typeface="楷体_GB2312" charset="0"/>
                </a:rPr>
                <a:t>，则</a:t>
              </a:r>
              <a:endParaRPr kumimoji="1" lang="en-US" altLang="zh-CN" sz="2400" b="1" dirty="0">
                <a:cs typeface="楷体_GB2312" charset="0"/>
              </a:endParaRPr>
            </a:p>
          </p:txBody>
        </p:sp>
        <p:graphicFrame>
          <p:nvGraphicFramePr>
            <p:cNvPr id="11293" name="Object 16"/>
            <p:cNvGraphicFramePr>
              <a:graphicFrameLocks noChangeAspect="1"/>
            </p:cNvGraphicFramePr>
            <p:nvPr/>
          </p:nvGraphicFramePr>
          <p:xfrm>
            <a:off x="2880" y="2016"/>
            <a:ext cx="906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" name="Equation" r:id="rId16" imgW="647419" imgH="203112" progId="Equation.3">
                    <p:embed/>
                  </p:oleObj>
                </mc:Choice>
                <mc:Fallback>
                  <p:oleObj name="Equation" r:id="rId16" imgW="647419" imgH="203112" progId="Equation.3">
                    <p:embed/>
                    <p:pic>
                      <p:nvPicPr>
                        <p:cNvPr id="11293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016"/>
                          <a:ext cx="906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266" name="Object 18"/>
          <p:cNvGraphicFramePr>
            <a:graphicFrameLocks noChangeAspect="1"/>
          </p:cNvGraphicFramePr>
          <p:nvPr/>
        </p:nvGraphicFramePr>
        <p:xfrm>
          <a:off x="2476500" y="3657600"/>
          <a:ext cx="38100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8" imgW="1879600" imgH="203200" progId="Equation.3">
                  <p:embed/>
                </p:oleObj>
              </mc:Choice>
              <mc:Fallback>
                <p:oleObj name="Equation" r:id="rId18" imgW="1879600" imgH="203200" progId="Equation.3">
                  <p:embed/>
                  <p:pic>
                    <p:nvPicPr>
                      <p:cNvPr id="5326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3657600"/>
                        <a:ext cx="381000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7" name="Object 19"/>
          <p:cNvGraphicFramePr>
            <a:graphicFrameLocks noChangeAspect="1"/>
          </p:cNvGraphicFramePr>
          <p:nvPr/>
        </p:nvGraphicFramePr>
        <p:xfrm>
          <a:off x="1371600" y="3692525"/>
          <a:ext cx="11430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20" imgW="583693" imgH="177646" progId="Equation.3">
                  <p:embed/>
                </p:oleObj>
              </mc:Choice>
              <mc:Fallback>
                <p:oleObj name="Equation" r:id="rId20" imgW="583693" imgH="177646" progId="Equation.3">
                  <p:embed/>
                  <p:pic>
                    <p:nvPicPr>
                      <p:cNvPr id="5326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692525"/>
                        <a:ext cx="11430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74" name="Group 26"/>
          <p:cNvGrpSpPr>
            <a:grpSpLocks/>
          </p:cNvGrpSpPr>
          <p:nvPr/>
        </p:nvGrpSpPr>
        <p:grpSpPr bwMode="auto">
          <a:xfrm>
            <a:off x="6400800" y="3581400"/>
            <a:ext cx="2562225" cy="457200"/>
            <a:chOff x="2994" y="3072"/>
            <a:chExt cx="1614" cy="288"/>
          </a:xfrm>
        </p:grpSpPr>
        <p:sp>
          <p:nvSpPr>
            <p:cNvPr id="53268" name="Text Box 20"/>
            <p:cNvSpPr txBox="1">
              <a:spLocks noChangeArrowheads="1"/>
            </p:cNvSpPr>
            <p:nvPr/>
          </p:nvSpPr>
          <p:spPr bwMode="auto">
            <a:xfrm>
              <a:off x="3120" y="3072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b="1">
                  <a:cs typeface="楷体_GB2312" charset="0"/>
                </a:rPr>
                <a:t>在</a:t>
              </a:r>
              <a:endParaRPr lang="en-US" altLang="zh-CN" b="1">
                <a:cs typeface="楷体_GB2312" charset="0"/>
              </a:endParaRPr>
            </a:p>
          </p:txBody>
        </p:sp>
        <p:sp>
          <p:nvSpPr>
            <p:cNvPr id="53269" name="Text Box 21"/>
            <p:cNvSpPr txBox="1">
              <a:spLocks noChangeArrowheads="1"/>
            </p:cNvSpPr>
            <p:nvPr/>
          </p:nvSpPr>
          <p:spPr bwMode="auto">
            <a:xfrm>
              <a:off x="3648" y="3072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b="1">
                  <a:cs typeface="楷体_GB2312" charset="0"/>
                </a:rPr>
                <a:t>和</a:t>
              </a:r>
              <a:endParaRPr lang="en-US" altLang="zh-CN" b="1">
                <a:cs typeface="楷体_GB2312" charset="0"/>
              </a:endParaRPr>
            </a:p>
          </p:txBody>
        </p:sp>
        <p:sp>
          <p:nvSpPr>
            <p:cNvPr id="53270" name="Text Box 22"/>
            <p:cNvSpPr txBox="1">
              <a:spLocks noChangeArrowheads="1"/>
            </p:cNvSpPr>
            <p:nvPr/>
          </p:nvSpPr>
          <p:spPr bwMode="auto">
            <a:xfrm>
              <a:off x="4032" y="3072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b="1">
                  <a:cs typeface="楷体_GB2312" charset="0"/>
                </a:rPr>
                <a:t>之间。</a:t>
              </a:r>
              <a:endParaRPr lang="en-US" altLang="zh-CN" b="1">
                <a:cs typeface="楷体_GB2312" charset="0"/>
              </a:endParaRPr>
            </a:p>
          </p:txBody>
        </p:sp>
        <p:graphicFrame>
          <p:nvGraphicFramePr>
            <p:cNvPr id="11289" name="Object 23"/>
            <p:cNvGraphicFramePr>
              <a:graphicFrameLocks noChangeAspect="1"/>
            </p:cNvGraphicFramePr>
            <p:nvPr/>
          </p:nvGraphicFramePr>
          <p:xfrm>
            <a:off x="2994" y="3120"/>
            <a:ext cx="13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" name="Equation" r:id="rId22" imgW="126835" imgH="202936" progId="Equation.3">
                    <p:embed/>
                  </p:oleObj>
                </mc:Choice>
                <mc:Fallback>
                  <p:oleObj name="Equation" r:id="rId22" imgW="126835" imgH="202936" progId="Equation.3">
                    <p:embed/>
                    <p:pic>
                      <p:nvPicPr>
                        <p:cNvPr id="11289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4" y="3120"/>
                          <a:ext cx="13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0" name="Object 24"/>
            <p:cNvGraphicFramePr>
              <a:graphicFrameLocks noChangeAspect="1"/>
            </p:cNvGraphicFramePr>
            <p:nvPr/>
          </p:nvGraphicFramePr>
          <p:xfrm>
            <a:off x="3408" y="3120"/>
            <a:ext cx="266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7" name="Equation" r:id="rId24" imgW="228402" imgH="177646" progId="Equation.3">
                    <p:embed/>
                  </p:oleObj>
                </mc:Choice>
                <mc:Fallback>
                  <p:oleObj name="Equation" r:id="rId24" imgW="228402" imgH="177646" progId="Equation.3">
                    <p:embed/>
                    <p:pic>
                      <p:nvPicPr>
                        <p:cNvPr id="1129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3120"/>
                          <a:ext cx="266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1" name="Object 25"/>
            <p:cNvGraphicFramePr>
              <a:graphicFrameLocks noChangeAspect="1"/>
            </p:cNvGraphicFramePr>
            <p:nvPr/>
          </p:nvGraphicFramePr>
          <p:xfrm>
            <a:off x="3888" y="3120"/>
            <a:ext cx="19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" name="Equation" r:id="rId26" imgW="152202" imgH="177569" progId="Equation.3">
                    <p:embed/>
                  </p:oleObj>
                </mc:Choice>
                <mc:Fallback>
                  <p:oleObj name="Equation" r:id="rId26" imgW="152202" imgH="177569" progId="Equation.3">
                    <p:embed/>
                    <p:pic>
                      <p:nvPicPr>
                        <p:cNvPr id="11291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3120"/>
                          <a:ext cx="19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275" name="Object 27"/>
          <p:cNvGraphicFramePr>
            <a:graphicFrameLocks noChangeAspect="1"/>
          </p:cNvGraphicFramePr>
          <p:nvPr/>
        </p:nvGraphicFramePr>
        <p:xfrm>
          <a:off x="1447800" y="4114800"/>
          <a:ext cx="34655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28" imgW="1688367" imgH="203112" progId="Equation.3">
                  <p:embed/>
                </p:oleObj>
              </mc:Choice>
              <mc:Fallback>
                <p:oleObj name="Equation" r:id="rId28" imgW="1688367" imgH="203112" progId="Equation.3">
                  <p:embed/>
                  <p:pic>
                    <p:nvPicPr>
                      <p:cNvPr id="5327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114800"/>
                        <a:ext cx="34655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78" name="Group 30"/>
          <p:cNvGrpSpPr>
            <a:grpSpLocks/>
          </p:cNvGrpSpPr>
          <p:nvPr/>
        </p:nvGrpSpPr>
        <p:grpSpPr bwMode="auto">
          <a:xfrm>
            <a:off x="5029200" y="4114800"/>
            <a:ext cx="3352800" cy="457200"/>
            <a:chOff x="3216" y="2592"/>
            <a:chExt cx="2112" cy="288"/>
          </a:xfrm>
        </p:grpSpPr>
        <p:sp>
          <p:nvSpPr>
            <p:cNvPr id="53276" name="Text Box 28"/>
            <p:cNvSpPr txBox="1">
              <a:spLocks noChangeArrowheads="1"/>
            </p:cNvSpPr>
            <p:nvPr/>
          </p:nvSpPr>
          <p:spPr bwMode="auto">
            <a:xfrm>
              <a:off x="3216" y="259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b="1">
                  <a:cs typeface="楷体_GB2312" charset="0"/>
                </a:rPr>
                <a:t>而</a:t>
              </a:r>
              <a:endParaRPr lang="en-US" altLang="zh-CN" b="1">
                <a:cs typeface="楷体_GB2312" charset="0"/>
              </a:endParaRPr>
            </a:p>
          </p:txBody>
        </p:sp>
        <p:graphicFrame>
          <p:nvGraphicFramePr>
            <p:cNvPr id="11285" name="Object 29"/>
            <p:cNvGraphicFramePr>
              <a:graphicFrameLocks noChangeAspect="1"/>
            </p:cNvGraphicFramePr>
            <p:nvPr/>
          </p:nvGraphicFramePr>
          <p:xfrm>
            <a:off x="3504" y="2592"/>
            <a:ext cx="1824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0" name="Equation" r:id="rId30" imgW="1459866" imgH="203112" progId="Equation.3">
                    <p:embed/>
                  </p:oleObj>
                </mc:Choice>
                <mc:Fallback>
                  <p:oleObj name="Equation" r:id="rId30" imgW="1459866" imgH="203112" progId="Equation.3">
                    <p:embed/>
                    <p:pic>
                      <p:nvPicPr>
                        <p:cNvPr id="11285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592"/>
                          <a:ext cx="1824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79" name="Text Box 31"/>
          <p:cNvSpPr txBox="1">
            <a:spLocks noChangeArrowheads="1"/>
          </p:cNvSpPr>
          <p:nvPr/>
        </p:nvSpPr>
        <p:spPr bwMode="auto">
          <a:xfrm>
            <a:off x="1371600" y="47244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cs typeface="楷体_GB2312" charset="0"/>
              </a:rPr>
              <a:t>③  </a:t>
            </a:r>
            <a:r>
              <a:rPr kumimoji="1" lang="zh-CN" altLang="en-US" sz="2400" b="1" dirty="0">
                <a:cs typeface="楷体_GB2312" charset="0"/>
              </a:rPr>
              <a:t>当</a:t>
            </a:r>
            <a:r>
              <a:rPr kumimoji="1" lang="en-US" altLang="zh-CN" sz="2400" b="1" i="1" dirty="0">
                <a:cs typeface="楷体_GB2312" charset="0"/>
              </a:rPr>
              <a:t>k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  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时，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en-US" altLang="zh-CN" sz="2400" b="1" i="1" dirty="0" err="1">
                <a:cs typeface="楷体_GB2312" charset="0"/>
                <a:sym typeface="Symbol" charset="0"/>
              </a:rPr>
              <a:t>x</a:t>
            </a:r>
            <a:r>
              <a:rPr kumimoji="1" lang="en-US" altLang="zh-CN" sz="2400" b="1" i="1" baseline="-25000" dirty="0" err="1">
                <a:cs typeface="楷体_GB2312" charset="0"/>
                <a:sym typeface="Symbol" charset="0"/>
              </a:rPr>
              <a:t>k</a:t>
            </a:r>
            <a:r>
              <a:rPr kumimoji="1" lang="en-US" altLang="zh-CN" sz="2400" b="1" i="1" baseline="-25000" dirty="0">
                <a:cs typeface="楷体_GB2312" charset="0"/>
                <a:sym typeface="Symbol" charset="0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cs typeface="楷体_GB2312" charset="0"/>
                <a:sym typeface="Symbol" charset="0"/>
              </a:rPr>
              <a:t>收敛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到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 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x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* 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？</a:t>
            </a:r>
            <a:endParaRPr kumimoji="1" lang="en-US" altLang="zh-CN" sz="2400" b="1" dirty="0">
              <a:cs typeface="楷体_GB2312" charset="0"/>
              <a:sym typeface="Symbol" charset="0"/>
            </a:endParaRPr>
          </a:p>
        </p:txBody>
      </p:sp>
      <p:graphicFrame>
        <p:nvGraphicFramePr>
          <p:cNvPr id="53280" name="Object 32"/>
          <p:cNvGraphicFramePr>
            <a:graphicFrameLocks noChangeAspect="1"/>
          </p:cNvGraphicFramePr>
          <p:nvPr/>
        </p:nvGraphicFramePr>
        <p:xfrm>
          <a:off x="1524000" y="5334000"/>
          <a:ext cx="13716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32" imgW="736600" imgH="228600" progId="Equation.3">
                  <p:embed/>
                </p:oleObj>
              </mc:Choice>
              <mc:Fallback>
                <p:oleObj name="Equation" r:id="rId32" imgW="736600" imgH="228600" progId="Equation.3">
                  <p:embed/>
                  <p:pic>
                    <p:nvPicPr>
                      <p:cNvPr id="5328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334000"/>
                        <a:ext cx="13716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82" name="Object 34"/>
          <p:cNvGraphicFramePr>
            <a:graphicFrameLocks noChangeAspect="1"/>
          </p:cNvGraphicFramePr>
          <p:nvPr/>
        </p:nvGraphicFramePr>
        <p:xfrm>
          <a:off x="2971800" y="5334000"/>
          <a:ext cx="44958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34" imgW="2603500" imgH="228600" progId="Equation.3">
                  <p:embed/>
                </p:oleObj>
              </mc:Choice>
              <mc:Fallback>
                <p:oleObj name="Equation" r:id="rId34" imgW="2603500" imgH="228600" progId="Equation.3">
                  <p:embed/>
                  <p:pic>
                    <p:nvPicPr>
                      <p:cNvPr id="53282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334000"/>
                        <a:ext cx="44958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83" name="Object 35"/>
          <p:cNvGraphicFramePr>
            <a:graphicFrameLocks noChangeAspect="1"/>
          </p:cNvGraphicFramePr>
          <p:nvPr/>
        </p:nvGraphicFramePr>
        <p:xfrm>
          <a:off x="2590800" y="5867400"/>
          <a:ext cx="51339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36" imgW="2527300" imgH="241300" progId="Equation.3">
                  <p:embed/>
                </p:oleObj>
              </mc:Choice>
              <mc:Fallback>
                <p:oleObj name="Equation" r:id="rId36" imgW="2527300" imgH="241300" progId="Equation.3">
                  <p:embed/>
                  <p:pic>
                    <p:nvPicPr>
                      <p:cNvPr id="53283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867400"/>
                        <a:ext cx="51339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84" name="Text Box 36"/>
          <p:cNvSpPr txBox="1">
            <a:spLocks noChangeArrowheads="1"/>
          </p:cNvSpPr>
          <p:nvPr/>
        </p:nvSpPr>
        <p:spPr bwMode="auto">
          <a:xfrm>
            <a:off x="3352800" y="1981200"/>
            <a:ext cx="685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3600" b="1">
                <a:solidFill>
                  <a:srgbClr val="FF3300"/>
                </a:solidFill>
                <a:cs typeface="宋体" charset="0"/>
                <a:sym typeface="Wingdings" charset="0"/>
              </a:rPr>
              <a:t></a:t>
            </a:r>
            <a:endParaRPr lang="en-US" altLang="zh-CN" sz="3600" b="1">
              <a:solidFill>
                <a:srgbClr val="FF3300"/>
              </a:solidFill>
              <a:cs typeface="宋体" charset="0"/>
            </a:endParaRPr>
          </a:p>
        </p:txBody>
      </p:sp>
      <p:sp>
        <p:nvSpPr>
          <p:cNvPr id="53285" name="Text Box 37"/>
          <p:cNvSpPr txBox="1">
            <a:spLocks noChangeArrowheads="1"/>
          </p:cNvSpPr>
          <p:nvPr/>
        </p:nvSpPr>
        <p:spPr bwMode="auto">
          <a:xfrm>
            <a:off x="8229600" y="3962400"/>
            <a:ext cx="685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3600" b="1">
                <a:solidFill>
                  <a:srgbClr val="FF3300"/>
                </a:solidFill>
                <a:cs typeface="宋体" charset="0"/>
                <a:sym typeface="Wingdings" charset="0"/>
              </a:rPr>
              <a:t></a:t>
            </a:r>
            <a:endParaRPr lang="en-US" altLang="zh-CN" sz="3600" b="1">
              <a:solidFill>
                <a:srgbClr val="FF3300"/>
              </a:solidFill>
              <a:cs typeface="宋体" charset="0"/>
            </a:endParaRPr>
          </a:p>
        </p:txBody>
      </p:sp>
      <p:sp>
        <p:nvSpPr>
          <p:cNvPr id="53286" name="Text Box 38"/>
          <p:cNvSpPr txBox="1">
            <a:spLocks noChangeArrowheads="1"/>
          </p:cNvSpPr>
          <p:nvPr/>
        </p:nvSpPr>
        <p:spPr bwMode="auto">
          <a:xfrm>
            <a:off x="7620000" y="5715000"/>
            <a:ext cx="685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3600" b="1">
                <a:solidFill>
                  <a:srgbClr val="FF3300"/>
                </a:solidFill>
                <a:cs typeface="宋体" charset="0"/>
                <a:sym typeface="Wingdings" charset="0"/>
              </a:rPr>
              <a:t></a:t>
            </a:r>
            <a:endParaRPr lang="en-US" altLang="zh-CN" sz="3600" b="1">
              <a:solidFill>
                <a:srgbClr val="FF3300"/>
              </a:solidFill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09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3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3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32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32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32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3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3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32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32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3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32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3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3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autoUpdateAnimBg="0"/>
      <p:bldP spid="53262" grpId="0" autoUpdateAnimBg="0"/>
      <p:bldP spid="53279" grpId="0" autoUpdateAnimBg="0"/>
      <p:bldP spid="53284" grpId="0" autoUpdateAnimBg="0"/>
      <p:bldP spid="53285" grpId="0" autoUpdateAnimBg="0"/>
      <p:bldP spid="5328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6248400" y="99169"/>
            <a:ext cx="2895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kumimoji="1" lang="en-US" altLang="zh-CN" sz="1800" b="1">
                <a:cs typeface="宋体" charset="0"/>
              </a:rPr>
              <a:t>§3  Fixed-Point Iteration</a:t>
            </a:r>
            <a:endParaRPr kumimoji="1" lang="en-US" altLang="zh-CN" sz="2000" b="1">
              <a:solidFill>
                <a:schemeClr val="tx2"/>
              </a:solidFill>
              <a:cs typeface="楷体_GB2312" charset="0"/>
            </a:endParaRPr>
          </a:p>
        </p:txBody>
      </p:sp>
      <p:grpSp>
        <p:nvGrpSpPr>
          <p:cNvPr id="54290" name="Group 18"/>
          <p:cNvGrpSpPr>
            <a:grpSpLocks/>
          </p:cNvGrpSpPr>
          <p:nvPr/>
        </p:nvGrpSpPr>
        <p:grpSpPr bwMode="auto">
          <a:xfrm>
            <a:off x="685800" y="1017538"/>
            <a:ext cx="4051300" cy="749300"/>
            <a:chOff x="432" y="192"/>
            <a:chExt cx="2552" cy="472"/>
          </a:xfrm>
        </p:grpSpPr>
        <p:sp>
          <p:nvSpPr>
            <p:cNvPr id="54274" name="Text Box 2"/>
            <p:cNvSpPr txBox="1">
              <a:spLocks noChangeArrowheads="1"/>
            </p:cNvSpPr>
            <p:nvPr/>
          </p:nvSpPr>
          <p:spPr bwMode="auto">
            <a:xfrm>
              <a:off x="432" y="336"/>
              <a:ext cx="336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defRPr/>
              </a:pPr>
              <a:r>
                <a:rPr kumimoji="1" lang="en-US" altLang="zh-CN" b="1">
                  <a:cs typeface="楷体_GB2312" charset="0"/>
                </a:rPr>
                <a:t>④</a:t>
              </a:r>
              <a:endParaRPr kumimoji="1" lang="en-US" altLang="zh-CN" b="1">
                <a:cs typeface="宋体" charset="0"/>
              </a:endParaRPr>
            </a:p>
          </p:txBody>
        </p:sp>
        <p:graphicFrame>
          <p:nvGraphicFramePr>
            <p:cNvPr id="12310" name="Object 9"/>
            <p:cNvGraphicFramePr>
              <a:graphicFrameLocks noChangeAspect="1"/>
            </p:cNvGraphicFramePr>
            <p:nvPr/>
          </p:nvGraphicFramePr>
          <p:xfrm>
            <a:off x="768" y="192"/>
            <a:ext cx="2216" cy="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" name="Equation" r:id="rId9" imgW="1930400" imgH="393700" progId="Equation.3">
                    <p:embed/>
                  </p:oleObj>
                </mc:Choice>
                <mc:Fallback>
                  <p:oleObj name="Equation" r:id="rId9" imgW="1930400" imgH="393700" progId="Equation.3">
                    <p:embed/>
                    <p:pic>
                      <p:nvPicPr>
                        <p:cNvPr id="1231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92"/>
                          <a:ext cx="2216" cy="4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291" name="Object 19"/>
          <p:cNvGraphicFramePr>
            <a:graphicFrameLocks noChangeAspect="1"/>
          </p:cNvGraphicFramePr>
          <p:nvPr/>
        </p:nvGraphicFramePr>
        <p:xfrm>
          <a:off x="990600" y="1779538"/>
          <a:ext cx="703738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11" imgW="3784600" imgH="228600" progId="Equation.3">
                  <p:embed/>
                </p:oleObj>
              </mc:Choice>
              <mc:Fallback>
                <p:oleObj name="Equation" r:id="rId11" imgW="3784600" imgH="228600" progId="Equation.3">
                  <p:embed/>
                  <p:pic>
                    <p:nvPicPr>
                      <p:cNvPr id="5429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779538"/>
                        <a:ext cx="703738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2" name="Text Box 20"/>
          <p:cNvSpPr txBox="1">
            <a:spLocks noChangeArrowheads="1"/>
          </p:cNvSpPr>
          <p:nvPr/>
        </p:nvSpPr>
        <p:spPr bwMode="auto">
          <a:xfrm>
            <a:off x="7924800" y="1779538"/>
            <a:ext cx="685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3600" b="1">
                <a:solidFill>
                  <a:srgbClr val="FF3300"/>
                </a:solidFill>
                <a:cs typeface="宋体" charset="0"/>
                <a:sym typeface="Wingdings" charset="0"/>
              </a:rPr>
              <a:t></a:t>
            </a:r>
            <a:endParaRPr lang="en-US" altLang="zh-CN" sz="3600" b="1">
              <a:solidFill>
                <a:srgbClr val="FF3300"/>
              </a:solidFill>
              <a:cs typeface="宋体" charset="0"/>
            </a:endParaRPr>
          </a:p>
        </p:txBody>
      </p:sp>
      <p:grpSp>
        <p:nvGrpSpPr>
          <p:cNvPr id="54295" name="Group 23"/>
          <p:cNvGrpSpPr>
            <a:grpSpLocks/>
          </p:cNvGrpSpPr>
          <p:nvPr/>
        </p:nvGrpSpPr>
        <p:grpSpPr bwMode="auto">
          <a:xfrm>
            <a:off x="685800" y="2671936"/>
            <a:ext cx="4003675" cy="787400"/>
            <a:chOff x="432" y="1089"/>
            <a:chExt cx="2522" cy="496"/>
          </a:xfrm>
        </p:grpSpPr>
        <p:graphicFrame>
          <p:nvGraphicFramePr>
            <p:cNvPr id="12307" name="Object 13"/>
            <p:cNvGraphicFramePr>
              <a:graphicFrameLocks noChangeAspect="1"/>
            </p:cNvGraphicFramePr>
            <p:nvPr/>
          </p:nvGraphicFramePr>
          <p:xfrm>
            <a:off x="768" y="1089"/>
            <a:ext cx="2186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name="Equation" r:id="rId13" imgW="1803400" imgH="419100" progId="Equation.3">
                    <p:embed/>
                  </p:oleObj>
                </mc:Choice>
                <mc:Fallback>
                  <p:oleObj name="Equation" r:id="rId13" imgW="1803400" imgH="419100" progId="Equation.3">
                    <p:embed/>
                    <p:pic>
                      <p:nvPicPr>
                        <p:cNvPr id="1230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089"/>
                          <a:ext cx="2186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3" name="Text Box 21"/>
            <p:cNvSpPr txBox="1">
              <a:spLocks noChangeArrowheads="1"/>
            </p:cNvSpPr>
            <p:nvPr/>
          </p:nvSpPr>
          <p:spPr bwMode="auto">
            <a:xfrm>
              <a:off x="432" y="1248"/>
              <a:ext cx="336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defRPr/>
              </a:pPr>
              <a:r>
                <a:rPr kumimoji="1" lang="en-US" altLang="zh-CN" b="1">
                  <a:cs typeface="楷体_GB2312" charset="0"/>
                </a:rPr>
                <a:t>⑤</a:t>
              </a:r>
            </a:p>
          </p:txBody>
        </p:sp>
      </p:grpSp>
      <p:graphicFrame>
        <p:nvGraphicFramePr>
          <p:cNvPr id="54296" name="Object 24"/>
          <p:cNvGraphicFramePr>
            <a:graphicFrameLocks noChangeAspect="1"/>
          </p:cNvGraphicFramePr>
          <p:nvPr/>
        </p:nvGraphicFramePr>
        <p:xfrm>
          <a:off x="1143000" y="3433936"/>
          <a:ext cx="644366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15" imgW="3276600" imgH="482600" progId="Equation.3">
                  <p:embed/>
                </p:oleObj>
              </mc:Choice>
              <mc:Fallback>
                <p:oleObj name="Equation" r:id="rId15" imgW="3276600" imgH="482600" progId="Equation.3">
                  <p:embed/>
                  <p:pic>
                    <p:nvPicPr>
                      <p:cNvPr id="5429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433936"/>
                        <a:ext cx="6443663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7" name="Text Box 25"/>
          <p:cNvSpPr txBox="1">
            <a:spLocks noChangeArrowheads="1"/>
          </p:cNvSpPr>
          <p:nvPr/>
        </p:nvSpPr>
        <p:spPr bwMode="auto">
          <a:xfrm>
            <a:off x="6781800" y="3814936"/>
            <a:ext cx="685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3600" b="1">
                <a:solidFill>
                  <a:srgbClr val="FF3300"/>
                </a:solidFill>
                <a:cs typeface="宋体" charset="0"/>
                <a:sym typeface="Wingdings" charset="0"/>
              </a:rPr>
              <a:t></a:t>
            </a:r>
            <a:endParaRPr lang="en-US" altLang="zh-CN" sz="3600" b="1">
              <a:solidFill>
                <a:srgbClr val="FF3300"/>
              </a:solidFill>
              <a:cs typeface="宋体" charset="0"/>
            </a:endParaRPr>
          </a:p>
        </p:txBody>
      </p:sp>
      <p:grpSp>
        <p:nvGrpSpPr>
          <p:cNvPr id="54299" name="Group 27"/>
          <p:cNvGrpSpPr>
            <a:grpSpLocks/>
          </p:cNvGrpSpPr>
          <p:nvPr/>
        </p:nvGrpSpPr>
        <p:grpSpPr bwMode="auto">
          <a:xfrm>
            <a:off x="685800" y="4735537"/>
            <a:ext cx="3654425" cy="790575"/>
            <a:chOff x="432" y="2256"/>
            <a:chExt cx="2302" cy="498"/>
          </a:xfrm>
        </p:grpSpPr>
        <p:graphicFrame>
          <p:nvGraphicFramePr>
            <p:cNvPr id="12305" name="Object 17"/>
            <p:cNvGraphicFramePr>
              <a:graphicFrameLocks noChangeAspect="1"/>
            </p:cNvGraphicFramePr>
            <p:nvPr/>
          </p:nvGraphicFramePr>
          <p:xfrm>
            <a:off x="768" y="2256"/>
            <a:ext cx="1966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" name="Equation" r:id="rId17" imgW="1637589" imgH="431613" progId="Equation.3">
                    <p:embed/>
                  </p:oleObj>
                </mc:Choice>
                <mc:Fallback>
                  <p:oleObj name="Equation" r:id="rId17" imgW="1637589" imgH="431613" progId="Equation.3">
                    <p:embed/>
                    <p:pic>
                      <p:nvPicPr>
                        <p:cNvPr id="1230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256"/>
                          <a:ext cx="1966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8" name="Text Box 26"/>
            <p:cNvSpPr txBox="1">
              <a:spLocks noChangeArrowheads="1"/>
            </p:cNvSpPr>
            <p:nvPr/>
          </p:nvSpPr>
          <p:spPr bwMode="auto">
            <a:xfrm>
              <a:off x="432" y="2352"/>
              <a:ext cx="336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defRPr/>
              </a:pPr>
              <a:r>
                <a:rPr kumimoji="1" lang="en-US" altLang="zh-CN" b="1">
                  <a:cs typeface="楷体_GB2312" charset="0"/>
                </a:rPr>
                <a:t>⑥</a:t>
              </a:r>
            </a:p>
          </p:txBody>
        </p:sp>
      </p:grpSp>
      <p:graphicFrame>
        <p:nvGraphicFramePr>
          <p:cNvPr id="54300" name="Object 28"/>
          <p:cNvGraphicFramePr>
            <a:graphicFrameLocks noChangeAspect="1"/>
          </p:cNvGraphicFramePr>
          <p:nvPr/>
        </p:nvGraphicFramePr>
        <p:xfrm>
          <a:off x="1143000" y="5497537"/>
          <a:ext cx="51149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9" imgW="2781300" imgH="431800" progId="Equation.3">
                  <p:embed/>
                </p:oleObj>
              </mc:Choice>
              <mc:Fallback>
                <p:oleObj name="Equation" r:id="rId19" imgW="2781300" imgH="431800" progId="Equation.3">
                  <p:embed/>
                  <p:pic>
                    <p:nvPicPr>
                      <p:cNvPr id="5430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497537"/>
                        <a:ext cx="511492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01" name="Text Box 29"/>
          <p:cNvSpPr txBox="1">
            <a:spLocks noChangeArrowheads="1"/>
          </p:cNvSpPr>
          <p:nvPr/>
        </p:nvSpPr>
        <p:spPr bwMode="auto">
          <a:xfrm>
            <a:off x="6248400" y="5573737"/>
            <a:ext cx="685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3600" b="1">
                <a:solidFill>
                  <a:srgbClr val="FF3300"/>
                </a:solidFill>
                <a:cs typeface="宋体" charset="0"/>
                <a:sym typeface="Wingdings" charset="0"/>
              </a:rPr>
              <a:t></a:t>
            </a:r>
            <a:endParaRPr lang="en-US" altLang="zh-CN" sz="3600" b="1">
              <a:solidFill>
                <a:srgbClr val="FF3300"/>
              </a:solidFill>
              <a:cs typeface="宋体" charset="0"/>
            </a:endParaRPr>
          </a:p>
        </p:txBody>
      </p:sp>
      <p:grpSp>
        <p:nvGrpSpPr>
          <p:cNvPr id="54307" name="Group 35"/>
          <p:cNvGrpSpPr>
            <a:grpSpLocks/>
          </p:cNvGrpSpPr>
          <p:nvPr/>
        </p:nvGrpSpPr>
        <p:grpSpPr bwMode="auto">
          <a:xfrm>
            <a:off x="4724400" y="1988840"/>
            <a:ext cx="3733800" cy="1143000"/>
            <a:chOff x="2976" y="816"/>
            <a:chExt cx="2352" cy="720"/>
          </a:xfrm>
        </p:grpSpPr>
        <p:sp>
          <p:nvSpPr>
            <p:cNvPr id="54302" name="AutoShape 30"/>
            <p:cNvSpPr>
              <a:spLocks noChangeArrowheads="1"/>
            </p:cNvSpPr>
            <p:nvPr/>
          </p:nvSpPr>
          <p:spPr bwMode="auto">
            <a:xfrm>
              <a:off x="2976" y="816"/>
              <a:ext cx="2352" cy="720"/>
            </a:xfrm>
            <a:prstGeom prst="wedgeEllipseCallout">
              <a:avLst>
                <a:gd name="adj1" fmla="val -72194"/>
                <a:gd name="adj2" fmla="val -88056"/>
              </a:avLst>
            </a:prstGeom>
            <a:gradFill rotWithShape="0">
              <a:gsLst>
                <a:gs pos="0">
                  <a:schemeClr val="bg1"/>
                </a:gs>
                <a:gs pos="100000">
                  <a:srgbClr val="CCFFCC"/>
                </a:gs>
              </a:gsLst>
              <a:lin ang="2700000" scaled="1"/>
            </a:gradFill>
            <a:ln w="9525">
              <a:solidFill>
                <a:srgbClr val="CC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r>
                <a:rPr kumimoji="1" lang="zh-CN" altLang="en-US" sz="2400" b="1" dirty="0">
                  <a:cs typeface="楷体_GB2312" charset="0"/>
                </a:rPr>
                <a:t>可用</a:t>
              </a:r>
              <a:r>
                <a:rPr kumimoji="1" lang="en-US" altLang="zh-CN" sz="2400" b="1" dirty="0">
                  <a:cs typeface="楷体_GB2312" charset="0"/>
                </a:rPr>
                <a:t>                  </a:t>
              </a:r>
              <a:r>
                <a:rPr kumimoji="1" lang="zh-CN" altLang="en-US" sz="2400" b="1" dirty="0">
                  <a:cs typeface="楷体_GB2312" charset="0"/>
                </a:rPr>
                <a:t>  来控制收敛精度</a:t>
              </a:r>
              <a:endParaRPr kumimoji="1" lang="en-US" altLang="zh-CN" sz="2400" b="1" dirty="0">
                <a:cs typeface="楷体_GB2312" charset="0"/>
              </a:endParaRPr>
            </a:p>
            <a:p>
              <a:pPr algn="ctr">
                <a:defRPr/>
              </a:pPr>
              <a:endParaRPr lang="en-US" altLang="zh-CN" sz="2400" b="1" dirty="0">
                <a:cs typeface="宋体" charset="0"/>
              </a:endParaRPr>
            </a:p>
          </p:txBody>
        </p:sp>
        <p:graphicFrame>
          <p:nvGraphicFramePr>
            <p:cNvPr id="12304" name="Object 31"/>
            <p:cNvGraphicFramePr>
              <a:graphicFrameLocks noChangeAspect="1"/>
            </p:cNvGraphicFramePr>
            <p:nvPr/>
          </p:nvGraphicFramePr>
          <p:xfrm>
            <a:off x="3792" y="912"/>
            <a:ext cx="85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" name="Equation" r:id="rId21" imgW="711200" imgH="228600" progId="Equation.3">
                    <p:embed/>
                  </p:oleObj>
                </mc:Choice>
                <mc:Fallback>
                  <p:oleObj name="Equation" r:id="rId21" imgW="711200" imgH="228600" progId="Equation.3">
                    <p:embed/>
                    <p:pic>
                      <p:nvPicPr>
                        <p:cNvPr id="12304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912"/>
                          <a:ext cx="85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305" name="AutoShape 33"/>
          <p:cNvSpPr>
            <a:spLocks noChangeArrowheads="1"/>
          </p:cNvSpPr>
          <p:nvPr/>
        </p:nvSpPr>
        <p:spPr bwMode="auto">
          <a:xfrm>
            <a:off x="3200400" y="3814936"/>
            <a:ext cx="3657600" cy="838200"/>
          </a:xfrm>
          <a:prstGeom prst="wedgeEllipseCallout">
            <a:avLst>
              <a:gd name="adj1" fmla="val -55903"/>
              <a:gd name="adj2" fmla="val -131819"/>
            </a:avLst>
          </a:prstGeom>
          <a:gradFill rotWithShape="0">
            <a:gsLst>
              <a:gs pos="0">
                <a:schemeClr val="bg1"/>
              </a:gs>
              <a:gs pos="100000">
                <a:srgbClr val="CCFFCC"/>
              </a:gs>
            </a:gsLst>
            <a:lin ang="2700000" scaled="1"/>
          </a:gradFill>
          <a:ln w="9525">
            <a:solidFill>
              <a:srgbClr val="CC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kumimoji="1" lang="en-US" altLang="zh-CN" sz="2400" b="1" i="1" dirty="0">
                <a:cs typeface="楷体_GB2312" charset="0"/>
              </a:rPr>
              <a:t>L </a:t>
            </a:r>
            <a:r>
              <a:rPr kumimoji="1" lang="zh-CN" altLang="en-US" sz="2400" b="1" dirty="0">
                <a:cs typeface="楷体_GB2312" charset="0"/>
              </a:rPr>
              <a:t>越</a:t>
            </a:r>
            <a:r>
              <a:rPr kumimoji="1" lang="en-US" altLang="zh-CN" sz="2400" b="1" dirty="0">
                <a:cs typeface="楷体_GB2312" charset="0"/>
              </a:rPr>
              <a:t>      </a:t>
            </a:r>
            <a:r>
              <a:rPr kumimoji="1" lang="zh-CN" altLang="en-US" sz="2400" b="1" dirty="0">
                <a:cs typeface="楷体_GB2312" charset="0"/>
              </a:rPr>
              <a:t>收敛越快</a:t>
            </a:r>
            <a:endParaRPr kumimoji="1" lang="en-US" altLang="zh-CN" sz="2400" b="1" dirty="0">
              <a:cs typeface="楷体_GB2312" charset="0"/>
            </a:endParaRPr>
          </a:p>
        </p:txBody>
      </p:sp>
      <p:sp>
        <p:nvSpPr>
          <p:cNvPr id="54306" name="Text Box 34"/>
          <p:cNvSpPr txBox="1">
            <a:spLocks noChangeArrowheads="1"/>
          </p:cNvSpPr>
          <p:nvPr/>
        </p:nvSpPr>
        <p:spPr bwMode="auto">
          <a:xfrm>
            <a:off x="4419600" y="3891136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FF3300"/>
                </a:solidFill>
                <a:cs typeface="楷体_GB2312" charset="0"/>
              </a:rPr>
              <a:t>小</a:t>
            </a:r>
            <a:endParaRPr lang="en-US" altLang="zh-CN" sz="2800" b="1">
              <a:solidFill>
                <a:srgbClr val="FF3300"/>
              </a:solidFill>
              <a:cs typeface="楷体_GB2312" charset="0"/>
            </a:endParaRPr>
          </a:p>
        </p:txBody>
      </p: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827584" y="548680"/>
            <a:ext cx="2819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800" b="1" dirty="0">
                <a:latin typeface="黑体"/>
                <a:ea typeface="黑体"/>
                <a:cs typeface="黑体"/>
                <a:sym typeface="Symbol" charset="0"/>
              </a:rPr>
              <a:t>误差估计</a:t>
            </a:r>
            <a:endParaRPr kumimoji="1" lang="en-US" altLang="zh-CN" sz="2800" b="1" dirty="0">
              <a:latin typeface="黑体"/>
              <a:ea typeface="黑体"/>
              <a:cs typeface="黑体"/>
              <a:sym typeface="Symbo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85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42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42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4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4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42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543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4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4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543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543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92" grpId="0" autoUpdateAnimBg="0"/>
      <p:bldP spid="54297" grpId="0" autoUpdateAnimBg="0"/>
      <p:bldP spid="54301" grpId="0" autoUpdateAnimBg="0"/>
      <p:bldP spid="54305" grpId="0" animBg="1" autoUpdateAnimBg="0"/>
      <p:bldP spid="5430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8" name="Group 6"/>
          <p:cNvGrpSpPr>
            <a:grpSpLocks/>
          </p:cNvGrpSpPr>
          <p:nvPr/>
        </p:nvGrpSpPr>
        <p:grpSpPr bwMode="auto">
          <a:xfrm>
            <a:off x="899592" y="3789040"/>
            <a:ext cx="7533455" cy="2225675"/>
            <a:chOff x="624" y="2208"/>
            <a:chExt cx="4224" cy="1402"/>
          </a:xfrm>
        </p:grpSpPr>
        <p:sp>
          <p:nvSpPr>
            <p:cNvPr id="54279" name="Text Box 7"/>
            <p:cNvSpPr txBox="1">
              <a:spLocks noChangeArrowheads="1"/>
            </p:cNvSpPr>
            <p:nvPr/>
          </p:nvSpPr>
          <p:spPr bwMode="auto">
            <a:xfrm>
              <a:off x="624" y="2208"/>
              <a:ext cx="4224" cy="1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125000"/>
                </a:lnSpc>
              </a:pPr>
              <a:r>
                <a:rPr lang="en-US" altLang="zh-CN" sz="2800" b="1" dirty="0"/>
                <a:t> </a:t>
              </a:r>
              <a:r>
                <a:rPr lang="zh-CN" altLang="en-US" sz="2800" b="1" dirty="0">
                  <a:solidFill>
                    <a:schemeClr val="accent2"/>
                  </a:solidFill>
                </a:rPr>
                <a:t>注</a:t>
              </a:r>
              <a:r>
                <a:rPr lang="en-US" altLang="zh-CN" sz="2800" b="1" dirty="0"/>
                <a:t>   </a:t>
              </a:r>
              <a:r>
                <a:rPr lang="zh-CN" altLang="en-US" sz="2800" b="1" dirty="0"/>
                <a:t>由于</a:t>
              </a:r>
              <a:r>
                <a:rPr lang="en-US" altLang="zh-CN" sz="2800" b="1" dirty="0"/>
                <a:t> </a:t>
              </a:r>
              <a:r>
                <a:rPr lang="en-US" altLang="zh-CN" sz="2800" b="1" i="1" dirty="0"/>
                <a:t>x</a:t>
              </a:r>
              <a:r>
                <a:rPr lang="en-US" altLang="zh-CN" sz="2800" b="1" i="1" baseline="30000" dirty="0"/>
                <a:t>*</a:t>
              </a:r>
              <a:r>
                <a:rPr lang="en-US" altLang="zh-CN" sz="2800" b="1" dirty="0"/>
                <a:t> </a:t>
              </a:r>
              <a:r>
                <a:rPr lang="zh-CN" altLang="en-US" sz="2800" b="1" dirty="0"/>
                <a:t>事先未知，故实际应用时，代之以近似判则</a:t>
              </a:r>
              <a:r>
                <a:rPr lang="en-US" altLang="zh-CN" sz="2800" b="1" dirty="0"/>
                <a:t>                     </a:t>
              </a:r>
              <a:r>
                <a:rPr lang="zh-CN" altLang="en-US" sz="2800" b="1" dirty="0"/>
                <a:t>    。但需注意，这实际上是假设了</a:t>
              </a:r>
              <a:r>
                <a:rPr lang="en-US" altLang="zh-CN" sz="2800" b="1" i="1" dirty="0"/>
                <a:t>x</a:t>
              </a:r>
              <a:r>
                <a:rPr lang="en-US" altLang="zh-CN" sz="2800" b="1" baseline="-25000" dirty="0"/>
                <a:t>0</a:t>
              </a:r>
              <a:r>
                <a:rPr lang="zh-CN" altLang="en-US" sz="2800" b="1" dirty="0"/>
                <a:t>充分接近</a:t>
              </a:r>
              <a:r>
                <a:rPr lang="en-US" altLang="zh-CN" sz="2800" b="1" dirty="0"/>
                <a:t> </a:t>
              </a:r>
              <a:r>
                <a:rPr lang="en-US" altLang="zh-CN" sz="2800" b="1" i="1" dirty="0"/>
                <a:t>x</a:t>
              </a:r>
              <a:r>
                <a:rPr lang="en-US" altLang="zh-CN" sz="2800" b="1" i="1" baseline="30000" dirty="0"/>
                <a:t>*</a:t>
              </a:r>
              <a:r>
                <a:rPr lang="en-US" altLang="zh-CN" sz="2800" b="1" dirty="0"/>
                <a:t> </a:t>
              </a:r>
              <a:r>
                <a:rPr lang="zh-CN" altLang="en-US" sz="2800" b="1" dirty="0"/>
                <a:t>，若</a:t>
              </a:r>
              <a:r>
                <a:rPr lang="en-US" altLang="zh-CN" sz="2800" b="1" dirty="0"/>
                <a:t> </a:t>
              </a:r>
              <a:r>
                <a:rPr lang="en-US" altLang="zh-CN" sz="2800" b="1" i="1" dirty="0"/>
                <a:t>x</a:t>
              </a:r>
              <a:r>
                <a:rPr lang="en-US" altLang="zh-CN" sz="2800" b="1" baseline="-25000" dirty="0"/>
                <a:t>0</a:t>
              </a:r>
              <a:r>
                <a:rPr lang="en-US" altLang="zh-CN" sz="2800" b="1" dirty="0"/>
                <a:t> </a:t>
              </a:r>
              <a:r>
                <a:rPr lang="zh-CN" altLang="en-US" sz="2800" b="1" dirty="0"/>
                <a:t>离</a:t>
              </a:r>
              <a:r>
                <a:rPr lang="en-US" altLang="zh-CN" sz="2800" b="1" dirty="0"/>
                <a:t>  </a:t>
              </a:r>
              <a:r>
                <a:rPr lang="en-US" altLang="zh-CN" sz="2800" b="1" i="1" dirty="0"/>
                <a:t>x</a:t>
              </a:r>
              <a:r>
                <a:rPr lang="en-US" altLang="zh-CN" sz="2800" b="1" i="1" baseline="30000" dirty="0"/>
                <a:t>* </a:t>
              </a:r>
              <a:r>
                <a:rPr lang="en-US" altLang="zh-CN" sz="2800" b="1" dirty="0"/>
                <a:t> </a:t>
              </a:r>
              <a:r>
                <a:rPr lang="zh-CN" altLang="en-US" sz="2800" b="1" dirty="0"/>
                <a:t>较远，迭代格式可能不收敛。</a:t>
              </a:r>
              <a:r>
                <a:rPr lang="en-US" altLang="zh-CN" sz="2800" b="1" dirty="0"/>
                <a:t> </a:t>
              </a:r>
            </a:p>
          </p:txBody>
        </p:sp>
        <p:graphicFrame>
          <p:nvGraphicFramePr>
            <p:cNvPr id="54280" name="Object 8"/>
            <p:cNvGraphicFramePr>
              <a:graphicFrameLocks noChangeAspect="1"/>
            </p:cNvGraphicFramePr>
            <p:nvPr/>
          </p:nvGraphicFramePr>
          <p:xfrm>
            <a:off x="1431" y="2584"/>
            <a:ext cx="1152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" name="Equation" r:id="rId3" imgW="761760" imgH="228600" progId="Equation.3">
                    <p:embed/>
                  </p:oleObj>
                </mc:Choice>
                <mc:Fallback>
                  <p:oleObj name="Equation" r:id="rId3" imgW="761760" imgH="228600" progId="Equation.3">
                    <p:embed/>
                    <p:pic>
                      <p:nvPicPr>
                        <p:cNvPr id="5428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1" y="2584"/>
                          <a:ext cx="1152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AutoShape 36" descr="再生纸"/>
          <p:cNvSpPr>
            <a:spLocks noChangeArrowheads="1"/>
          </p:cNvSpPr>
          <p:nvPr/>
        </p:nvSpPr>
        <p:spPr bwMode="auto">
          <a:xfrm>
            <a:off x="683568" y="1484784"/>
            <a:ext cx="7988300" cy="1828800"/>
          </a:xfrm>
          <a:prstGeom prst="roundRect">
            <a:avLst>
              <a:gd name="adj" fmla="val 16667"/>
            </a:avLst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565150" indent="-565150">
              <a:defRPr/>
            </a:pPr>
            <a:r>
              <a:rPr kumimoji="1" lang="zh-CN" altLang="en-US" sz="2400" b="1" dirty="0">
                <a:cs typeface="楷体_GB2312" charset="0"/>
              </a:rPr>
              <a:t>定理条件非必要条件，可将</a:t>
            </a:r>
            <a:r>
              <a:rPr kumimoji="1" lang="en-US" altLang="zh-CN" sz="2400" b="1" dirty="0">
                <a:cs typeface="楷体_GB2312" charset="0"/>
              </a:rPr>
              <a:t>[</a:t>
            </a:r>
            <a:r>
              <a:rPr kumimoji="1" lang="en-US" altLang="zh-CN" sz="2400" b="1" i="1" dirty="0">
                <a:cs typeface="楷体_GB2312" charset="0"/>
              </a:rPr>
              <a:t>a</a:t>
            </a:r>
            <a:r>
              <a:rPr kumimoji="1" lang="en-US" altLang="zh-CN" sz="2400" b="1" dirty="0">
                <a:cs typeface="楷体_GB2312" charset="0"/>
              </a:rPr>
              <a:t>, </a:t>
            </a:r>
            <a:r>
              <a:rPr kumimoji="1" lang="en-US" altLang="zh-CN" sz="2400" b="1" i="1" dirty="0">
                <a:cs typeface="楷体_GB2312" charset="0"/>
              </a:rPr>
              <a:t>b</a:t>
            </a:r>
            <a:r>
              <a:rPr kumimoji="1" lang="en-US" altLang="zh-CN" sz="2400" b="1" dirty="0">
                <a:cs typeface="楷体_GB2312" charset="0"/>
              </a:rPr>
              <a:t>]</a:t>
            </a:r>
            <a:r>
              <a:rPr kumimoji="1" lang="zh-CN" altLang="en-US" sz="2400" b="1" dirty="0">
                <a:cs typeface="楷体_GB2312" charset="0"/>
              </a:rPr>
              <a:t>缩小，定义</a:t>
            </a:r>
            <a:r>
              <a:rPr kumimoji="1" lang="zh-CN" altLang="en-US" sz="2400" b="1" dirty="0">
                <a:solidFill>
                  <a:schemeClr val="accent2"/>
                </a:solidFill>
                <a:cs typeface="楷体_GB2312" charset="0"/>
              </a:rPr>
              <a:t>局部收敛性</a:t>
            </a:r>
            <a:r>
              <a:rPr kumimoji="1" lang="zh-CN" altLang="en-US" sz="2400" b="1" dirty="0">
                <a:cs typeface="楷体_GB2312" charset="0"/>
              </a:rPr>
              <a:t>：</a:t>
            </a:r>
            <a:endParaRPr kumimoji="1" lang="en-US" altLang="zh-CN" sz="2400" b="1" dirty="0">
              <a:cs typeface="楷体_GB2312" charset="0"/>
            </a:endParaRPr>
          </a:p>
          <a:p>
            <a:pPr marL="565150" indent="-565150">
              <a:defRPr/>
            </a:pPr>
            <a:r>
              <a:rPr kumimoji="1" lang="zh-CN" altLang="en-US" sz="2400" b="1" dirty="0">
                <a:cs typeface="楷体_GB2312" charset="0"/>
              </a:rPr>
              <a:t>若在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en-US" altLang="zh-CN" sz="2400" b="1" i="1" dirty="0">
                <a:cs typeface="楷体_GB2312" charset="0"/>
              </a:rPr>
              <a:t>x</a:t>
            </a:r>
            <a:r>
              <a:rPr kumimoji="1" lang="en-US" altLang="zh-CN" sz="2400" b="1" dirty="0">
                <a:cs typeface="楷体_GB2312" charset="0"/>
              </a:rPr>
              <a:t>* </a:t>
            </a:r>
            <a:r>
              <a:rPr kumimoji="1" lang="zh-CN" altLang="en-US" sz="2400" b="1" dirty="0">
                <a:cs typeface="楷体_GB2312" charset="0"/>
              </a:rPr>
              <a:t>的某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 </a:t>
            </a:r>
            <a:r>
              <a:rPr kumimoji="1" lang="zh-CN" altLang="en-US" sz="2400" b="1" dirty="0">
                <a:cs typeface="楷体_GB2312" charset="0"/>
              </a:rPr>
              <a:t>领域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en-US" altLang="zh-CN" sz="2400" b="1" i="1" dirty="0">
                <a:cs typeface="楷体_GB2312" charset="0"/>
              </a:rPr>
              <a:t>B</a:t>
            </a:r>
            <a:r>
              <a:rPr kumimoji="1" lang="en-US" altLang="zh-CN" sz="2400" b="1" i="1" baseline="-25000" dirty="0">
                <a:cs typeface="楷体_GB2312" charset="0"/>
                <a:sym typeface="Symbol" charset="0"/>
              </a:rPr>
              <a:t> 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= { 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x 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| | 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x  x* | 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 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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 } 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有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 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g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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C</a:t>
            </a:r>
            <a:r>
              <a:rPr kumimoji="1" lang="en-US" altLang="zh-CN" sz="2400" b="1" baseline="30000" dirty="0">
                <a:cs typeface="楷体_GB2312" charset="0"/>
                <a:sym typeface="Symbol" charset="0"/>
              </a:rPr>
              <a:t>1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[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a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, 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b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] </a:t>
            </a:r>
          </a:p>
          <a:p>
            <a:pPr marL="565150" indent="-565150">
              <a:defRPr/>
            </a:pPr>
            <a:r>
              <a:rPr kumimoji="1" lang="zh-CN" altLang="en-US" sz="2400" b="1" dirty="0">
                <a:cs typeface="楷体_GB2312" charset="0"/>
                <a:sym typeface="Symbol" charset="0"/>
              </a:rPr>
              <a:t>且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 | 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g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’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(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x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*) | &lt; 1</a:t>
            </a:r>
            <a:r>
              <a:rPr kumimoji="1" lang="zh-CN" altLang="en-US" sz="2400" b="1" dirty="0">
                <a:cs typeface="楷体_GB2312" charset="0"/>
                <a:sym typeface="Symbol" charset="0"/>
              </a:rPr>
              <a:t>，</a:t>
            </a:r>
            <a:r>
              <a:rPr kumimoji="1" lang="zh-CN" altLang="en-US" sz="2400" b="1" dirty="0">
                <a:cs typeface="楷体_GB2312" charset="0"/>
              </a:rPr>
              <a:t>则由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</a:t>
            </a:r>
            <a:r>
              <a:rPr kumimoji="1" lang="en-US" altLang="zh-CN" sz="2400" b="1" i="1" dirty="0">
                <a:cs typeface="楷体_GB2312" charset="0"/>
                <a:sym typeface="Symbol" charset="0"/>
              </a:rPr>
              <a:t>x</a:t>
            </a:r>
            <a:r>
              <a:rPr kumimoji="1" lang="en-US" altLang="zh-CN" sz="2400" b="1" baseline="-25000" dirty="0">
                <a:cs typeface="楷体_GB2312" charset="0"/>
                <a:sym typeface="Symbol" charset="0"/>
              </a:rPr>
              <a:t>0</a:t>
            </a:r>
            <a:r>
              <a:rPr kumimoji="1" lang="en-US" altLang="zh-CN" sz="2400" b="1" dirty="0">
                <a:cs typeface="楷体_GB2312" charset="0"/>
                <a:sym typeface="Symbol" charset="0"/>
              </a:rPr>
              <a:t></a:t>
            </a:r>
            <a:r>
              <a:rPr kumimoji="1" lang="en-US" altLang="zh-CN" sz="2400" b="1" i="1" dirty="0">
                <a:cs typeface="楷体_GB2312" charset="0"/>
              </a:rPr>
              <a:t>B</a:t>
            </a:r>
            <a:r>
              <a:rPr kumimoji="1" lang="en-US" altLang="zh-CN" sz="2400" b="1" i="1" baseline="-25000" dirty="0">
                <a:cs typeface="楷体_GB2312" charset="0"/>
                <a:sym typeface="Symbol" charset="0"/>
              </a:rPr>
              <a:t> </a:t>
            </a:r>
            <a:r>
              <a:rPr kumimoji="1" lang="zh-CN" altLang="en-US" sz="2400" b="1" dirty="0">
                <a:cs typeface="楷体_GB2312" charset="0"/>
              </a:rPr>
              <a:t>开始的迭代收敛。</a:t>
            </a:r>
            <a:endParaRPr kumimoji="1" lang="en-US" altLang="zh-CN" sz="2400" b="1" dirty="0">
              <a:cs typeface="楷体_GB2312" charset="0"/>
            </a:endParaRPr>
          </a:p>
          <a:p>
            <a:pPr marL="565150" indent="-565150">
              <a:defRPr/>
            </a:pPr>
            <a:r>
              <a:rPr kumimoji="1" lang="zh-CN" altLang="en-US" sz="2400" b="1" dirty="0">
                <a:cs typeface="楷体_GB2312" charset="0"/>
              </a:rPr>
              <a:t>即</a:t>
            </a:r>
            <a:r>
              <a:rPr kumimoji="1" lang="zh-CN" altLang="en-US" sz="2400" b="1" dirty="0">
                <a:solidFill>
                  <a:schemeClr val="accent2"/>
                </a:solidFill>
                <a:cs typeface="楷体_GB2312" charset="0"/>
              </a:rPr>
              <a:t>调整初值可得到收敛的结果。</a:t>
            </a:r>
            <a:endParaRPr kumimoji="1" lang="en-US" altLang="zh-CN" sz="2400" b="1" dirty="0">
              <a:solidFill>
                <a:schemeClr val="accent2"/>
              </a:solidFill>
              <a:cs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0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04800" y="346075"/>
            <a:ext cx="7239000" cy="1122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sz="2800" b="1" dirty="0"/>
              <a:t> </a:t>
            </a:r>
            <a:r>
              <a:rPr lang="zh-CN" altLang="en-US" sz="2800" b="1" dirty="0"/>
              <a:t>例、试建立收敛的迭代格式求解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x – e </a:t>
            </a:r>
            <a:r>
              <a:rPr lang="en-US" altLang="zh-CN" sz="2800" b="1" i="1" baseline="30000" dirty="0"/>
              <a:t>–x </a:t>
            </a:r>
            <a:r>
              <a:rPr lang="en-US" altLang="zh-CN" sz="2800" b="1" i="1" dirty="0"/>
              <a:t>=</a:t>
            </a:r>
            <a:r>
              <a:rPr lang="en-US" altLang="zh-CN" sz="2800" b="1" dirty="0"/>
              <a:t>0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 dirty="0"/>
              <a:t>              </a:t>
            </a:r>
            <a:r>
              <a:rPr lang="zh-CN" altLang="en-US" sz="2800" b="1" dirty="0"/>
              <a:t>在</a:t>
            </a:r>
            <a:r>
              <a:rPr lang="en-US" altLang="zh-CN" sz="2800" b="1" dirty="0"/>
              <a:t>x=0.5</a:t>
            </a:r>
            <a:r>
              <a:rPr lang="zh-CN" altLang="en-US" sz="2800" b="1" dirty="0"/>
              <a:t>附近的一个根（</a:t>
            </a:r>
            <a:r>
              <a:rPr lang="en-US" altLang="zh-CN" sz="2800" b="1" dirty="0" err="1"/>
              <a:t>ε</a:t>
            </a:r>
            <a:r>
              <a:rPr lang="en-US" altLang="zh-CN" sz="2800" b="1" dirty="0"/>
              <a:t>=10</a:t>
            </a:r>
            <a:r>
              <a:rPr lang="en-US" altLang="zh-CN" sz="2800" b="1" baseline="30000" dirty="0"/>
              <a:t>-3</a:t>
            </a:r>
            <a:r>
              <a:rPr lang="zh-CN" altLang="en-US" sz="2800" b="1" dirty="0"/>
              <a:t>）。</a:t>
            </a:r>
            <a:r>
              <a:rPr lang="en-US" altLang="zh-CN" sz="2800" b="1" dirty="0"/>
              <a:t> </a:t>
            </a:r>
          </a:p>
        </p:txBody>
      </p:sp>
      <p:sp>
        <p:nvSpPr>
          <p:cNvPr id="21528" name="Text Box 24"/>
          <p:cNvSpPr txBox="1">
            <a:spLocks noChangeArrowheads="1"/>
          </p:cNvSpPr>
          <p:nvPr/>
        </p:nvSpPr>
        <p:spPr bwMode="auto">
          <a:xfrm>
            <a:off x="304800" y="144780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000099"/>
                </a:solidFill>
                <a:cs typeface="黑体" charset="0"/>
              </a:rPr>
              <a:t>解</a:t>
            </a:r>
            <a:endParaRPr lang="en-US" altLang="zh-CN" sz="2400" b="1" dirty="0">
              <a:solidFill>
                <a:srgbClr val="000099"/>
              </a:solidFill>
              <a:cs typeface="黑体" charset="0"/>
            </a:endParaRPr>
          </a:p>
        </p:txBody>
      </p:sp>
      <p:sp>
        <p:nvSpPr>
          <p:cNvPr id="21529" name="Text Box 25"/>
          <p:cNvSpPr txBox="1">
            <a:spLocks noChangeArrowheads="1"/>
          </p:cNvSpPr>
          <p:nvPr/>
        </p:nvSpPr>
        <p:spPr bwMode="auto">
          <a:xfrm>
            <a:off x="990600" y="1524000"/>
            <a:ext cx="218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/>
              <a:t>建立迭代格式</a:t>
            </a:r>
            <a:r>
              <a:rPr lang="en-US" altLang="zh-CN" sz="2400" b="1" dirty="0"/>
              <a:t>  </a:t>
            </a:r>
          </a:p>
        </p:txBody>
      </p:sp>
      <p:graphicFrame>
        <p:nvGraphicFramePr>
          <p:cNvPr id="21531" name="Object 27"/>
          <p:cNvGraphicFramePr>
            <a:graphicFrameLocks noChangeAspect="1"/>
          </p:cNvGraphicFramePr>
          <p:nvPr/>
        </p:nvGraphicFramePr>
        <p:xfrm>
          <a:off x="3276600" y="1524000"/>
          <a:ext cx="49530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2260440" imgH="241200" progId="Equation.3">
                  <p:embed/>
                </p:oleObj>
              </mc:Choice>
              <mc:Fallback>
                <p:oleObj name="Equation" r:id="rId3" imgW="2260440" imgH="241200" progId="Equation.3">
                  <p:embed/>
                  <p:pic>
                    <p:nvPicPr>
                      <p:cNvPr id="2153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524000"/>
                        <a:ext cx="49530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2" name="Object 28"/>
          <p:cNvGraphicFramePr>
            <a:graphicFrameLocks noChangeAspect="1"/>
          </p:cNvGraphicFramePr>
          <p:nvPr/>
        </p:nvGraphicFramePr>
        <p:xfrm>
          <a:off x="1187624" y="1953442"/>
          <a:ext cx="4321001" cy="1115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1752480" imgH="545760" progId="Equation.3">
                  <p:embed/>
                </p:oleObj>
              </mc:Choice>
              <mc:Fallback>
                <p:oleObj name="Equation" r:id="rId5" imgW="1752480" imgH="545760" progId="Equation.3">
                  <p:embed/>
                  <p:pic>
                    <p:nvPicPr>
                      <p:cNvPr id="2153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1953442"/>
                        <a:ext cx="4321001" cy="1115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38" name="Group 34"/>
          <p:cNvGrpSpPr>
            <a:grpSpLocks/>
          </p:cNvGrpSpPr>
          <p:nvPr/>
        </p:nvGrpSpPr>
        <p:grpSpPr bwMode="auto">
          <a:xfrm>
            <a:off x="971550" y="3068638"/>
            <a:ext cx="5975350" cy="2714625"/>
            <a:chOff x="612" y="1933"/>
            <a:chExt cx="3764" cy="1710"/>
          </a:xfrm>
        </p:grpSpPr>
        <p:sp>
          <p:nvSpPr>
            <p:cNvPr id="21533" name="Text Box 29"/>
            <p:cNvSpPr txBox="1">
              <a:spLocks noChangeArrowheads="1"/>
            </p:cNvSpPr>
            <p:nvPr/>
          </p:nvSpPr>
          <p:spPr bwMode="auto">
            <a:xfrm>
              <a:off x="612" y="2205"/>
              <a:ext cx="3764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572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宋体" charset="0"/>
                </a:defRPr>
              </a:lvl1pPr>
              <a:lvl2pPr marL="9144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3716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8288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2860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 eaLnBrk="1" hangingPunct="1"/>
              <a:r>
                <a:rPr lang="en-US" altLang="zh-CN" dirty="0"/>
                <a:t>0       0.5                                        6      0.56486</a:t>
              </a:r>
            </a:p>
            <a:p>
              <a:pPr eaLnBrk="1" hangingPunct="1">
                <a:buFontTx/>
                <a:buAutoNum type="arabicPlain"/>
              </a:pPr>
              <a:r>
                <a:rPr lang="en-US" altLang="zh-CN" dirty="0"/>
                <a:t>0.60653                                   7      0.56844</a:t>
              </a:r>
            </a:p>
            <a:p>
              <a:pPr eaLnBrk="1" hangingPunct="1">
                <a:buFontTx/>
                <a:buAutoNum type="arabicPlain" startAt="2"/>
              </a:pPr>
              <a:r>
                <a:rPr lang="en-US" altLang="zh-CN" dirty="0"/>
                <a:t>0.54524                                   8       0.56641</a:t>
              </a:r>
            </a:p>
            <a:p>
              <a:pPr eaLnBrk="1" hangingPunct="1">
                <a:buFontTx/>
                <a:buAutoNum type="arabicPlain" startAt="3"/>
              </a:pPr>
              <a:r>
                <a:rPr lang="en-US" altLang="zh-CN" dirty="0"/>
                <a:t>0.57970                                   9       0.56756</a:t>
              </a:r>
            </a:p>
            <a:p>
              <a:pPr eaLnBrk="1" hangingPunct="1">
                <a:buFontTx/>
                <a:buAutoNum type="arabicPlain" startAt="4"/>
              </a:pPr>
              <a:r>
                <a:rPr lang="en-US" altLang="zh-CN" dirty="0"/>
                <a:t>0.56006                                  10      0.56691</a:t>
              </a:r>
            </a:p>
            <a:p>
              <a:pPr eaLnBrk="1" hangingPunct="1"/>
              <a:r>
                <a:rPr lang="en-US" altLang="zh-CN" dirty="0"/>
                <a:t>5    0.57117</a:t>
              </a:r>
            </a:p>
          </p:txBody>
        </p:sp>
        <p:graphicFrame>
          <p:nvGraphicFramePr>
            <p:cNvPr id="21534" name="Object 30"/>
            <p:cNvGraphicFramePr>
              <a:graphicFrameLocks noChangeAspect="1"/>
            </p:cNvGraphicFramePr>
            <p:nvPr/>
          </p:nvGraphicFramePr>
          <p:xfrm>
            <a:off x="657" y="1933"/>
            <a:ext cx="3315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2" name="Equation" r:id="rId7" imgW="2286000" imgH="228600" progId="Equation.DSMT4">
                    <p:embed/>
                  </p:oleObj>
                </mc:Choice>
                <mc:Fallback>
                  <p:oleObj name="Equation" r:id="rId7" imgW="2286000" imgH="228600" progId="Equation.DSMT4">
                    <p:embed/>
                    <p:pic>
                      <p:nvPicPr>
                        <p:cNvPr id="21534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933"/>
                          <a:ext cx="3315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537" name="Object 33"/>
          <p:cNvGraphicFramePr>
            <a:graphicFrameLocks noChangeAspect="1"/>
          </p:cNvGraphicFramePr>
          <p:nvPr/>
        </p:nvGraphicFramePr>
        <p:xfrm>
          <a:off x="611188" y="5805488"/>
          <a:ext cx="6215062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2438280" imgH="253800" progId="Equation.3">
                  <p:embed/>
                </p:oleObj>
              </mc:Choice>
              <mc:Fallback>
                <p:oleObj name="Equation" r:id="rId9" imgW="2438280" imgH="253800" progId="Equation.3">
                  <p:embed/>
                  <p:pic>
                    <p:nvPicPr>
                      <p:cNvPr id="21537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805488"/>
                        <a:ext cx="6215062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606420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2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8" grpId="0"/>
      <p:bldP spid="215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8600" y="177929"/>
            <a:ext cx="8820472" cy="584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800" b="1" dirty="0"/>
              <a:t>习题：黄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版</a:t>
            </a:r>
            <a:r>
              <a:rPr lang="en-US" altLang="zh-CN" sz="2800" b="1" dirty="0"/>
              <a:t>P239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7.7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），使两步迭代值之差</a:t>
            </a:r>
            <a:r>
              <a:rPr lang="en-US" altLang="zh-CN" sz="2800" b="1" dirty="0"/>
              <a:t>&lt;0.02</a:t>
            </a:r>
          </a:p>
        </p:txBody>
      </p:sp>
      <p:graphicFrame>
        <p:nvGraphicFramePr>
          <p:cNvPr id="3" name="Object 27"/>
          <p:cNvGraphicFramePr>
            <a:graphicFrameLocks noChangeAspect="1"/>
          </p:cNvGraphicFramePr>
          <p:nvPr/>
        </p:nvGraphicFramePr>
        <p:xfrm>
          <a:off x="1475656" y="4293096"/>
          <a:ext cx="197485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901700" imgH="419100" progId="Equation.3">
                  <p:embed/>
                </p:oleObj>
              </mc:Choice>
              <mc:Fallback>
                <p:oleObj name="Equation" r:id="rId3" imgW="901700" imgH="419100" progId="Equation.3">
                  <p:embed/>
                  <p:pic>
                    <p:nvPicPr>
                      <p:cNvPr id="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293096"/>
                        <a:ext cx="197485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7"/>
          <p:cNvGraphicFramePr>
            <a:graphicFrameLocks noChangeAspect="1"/>
          </p:cNvGraphicFramePr>
          <p:nvPr/>
        </p:nvGraphicFramePr>
        <p:xfrm>
          <a:off x="1259632" y="2852936"/>
          <a:ext cx="24765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1130300" imgH="419100" progId="Equation.3">
                  <p:embed/>
                </p:oleObj>
              </mc:Choice>
              <mc:Fallback>
                <p:oleObj name="Equation" r:id="rId5" imgW="1130300" imgH="419100" progId="Equation.3">
                  <p:embed/>
                  <p:pic>
                    <p:nvPicPr>
                      <p:cNvPr id="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2852936"/>
                        <a:ext cx="247650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2276872"/>
          <a:ext cx="4104456" cy="3157220"/>
        </p:xfrm>
        <a:graphic>
          <a:graphicData uri="http://schemas.openxmlformats.org/drawingml/2006/table">
            <a:tbl>
              <a:tblPr/>
              <a:tblGrid>
                <a:gridCol w="2052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176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Xn+1-Xn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76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-0.048110331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765">
                <a:tc>
                  <a:txBody>
                    <a:bodyPr/>
                    <a:lstStyle/>
                    <a:p>
                      <a:pPr algn="l" fontAlgn="b"/>
                      <a:r>
                        <a:rPr lang="it-IT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0.951889669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-0.022624652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765">
                <a:tc>
                  <a:txBody>
                    <a:bodyPr/>
                    <a:lstStyle/>
                    <a:p>
                      <a:pPr algn="l" fontAlgn="b"/>
                      <a:r>
                        <a:rPr lang="hr-H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0.929265017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-0.010452914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765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0.918812103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-0.004789605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765"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0.914022498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-0.002186284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765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0.911836214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-0.000996222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765"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0.910839992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-0.000453586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76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0.910386405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-0.000206446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765">
                <a:tc>
                  <a:txBody>
                    <a:bodyPr/>
                    <a:lstStyle/>
                    <a:p>
                      <a:pPr algn="l" fontAlgn="b"/>
                      <a:r>
                        <a:rPr lang="fi-FI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0.910179959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-9.39E-05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765">
                <a:tc>
                  <a:txBody>
                    <a:bodyPr/>
                    <a:lstStyle/>
                    <a:p>
                      <a:pPr algn="l" fontAlgn="b"/>
                      <a:r>
                        <a:rPr lang="is-I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0.910086012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84D0BB90-EDA2-A580-A999-620F7605C2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2867" y="1114905"/>
            <a:ext cx="9156867" cy="101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1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1026"/>
          <p:cNvSpPr txBox="1">
            <a:spLocks noChangeArrowheads="1"/>
          </p:cNvSpPr>
          <p:nvPr/>
        </p:nvSpPr>
        <p:spPr bwMode="auto">
          <a:xfrm>
            <a:off x="381000" y="533400"/>
            <a:ext cx="321113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457200" indent="-457200" eaLnBrk="1" hangingPunct="1">
              <a:buFont typeface="Wingdings" charset="2"/>
              <a:buChar char="Ø"/>
            </a:pPr>
            <a:r>
              <a:rPr lang="zh-CN" altLang="en-US" sz="3200" b="1" dirty="0">
                <a:latin typeface="黑体" charset="0"/>
                <a:cs typeface="黑体" charset="0"/>
              </a:rPr>
              <a:t>收敛速度定义</a:t>
            </a:r>
            <a:r>
              <a:rPr lang="en-US" altLang="zh-CN" sz="3200" b="1" dirty="0"/>
              <a:t> </a:t>
            </a:r>
          </a:p>
        </p:txBody>
      </p:sp>
      <p:sp>
        <p:nvSpPr>
          <p:cNvPr id="27658" name="Text Box 1034"/>
          <p:cNvSpPr txBox="1">
            <a:spLocks noChangeArrowheads="1"/>
          </p:cNvSpPr>
          <p:nvPr/>
        </p:nvSpPr>
        <p:spPr bwMode="auto">
          <a:xfrm>
            <a:off x="1331640" y="4077072"/>
            <a:ext cx="6480720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800" dirty="0">
                <a:latin typeface="黑体"/>
                <a:ea typeface="黑体"/>
                <a:cs typeface="黑体"/>
              </a:rPr>
              <a:t>则称该迭代格式是</a:t>
            </a:r>
            <a:r>
              <a:rPr lang="en-US" altLang="zh-CN" sz="2800" dirty="0">
                <a:latin typeface="黑体"/>
                <a:ea typeface="黑体"/>
                <a:cs typeface="黑体"/>
              </a:rPr>
              <a:t> </a:t>
            </a:r>
            <a:r>
              <a:rPr lang="en-US" altLang="zh-CN" sz="2800" i="1" dirty="0">
                <a:solidFill>
                  <a:srgbClr val="CC0066"/>
                </a:solidFill>
                <a:latin typeface="黑体"/>
                <a:ea typeface="黑体"/>
                <a:cs typeface="黑体"/>
              </a:rPr>
              <a:t>p </a:t>
            </a:r>
            <a:r>
              <a:rPr lang="zh-CN" altLang="en-US" sz="2800" dirty="0">
                <a:solidFill>
                  <a:srgbClr val="CC0066"/>
                </a:solidFill>
                <a:latin typeface="黑体"/>
                <a:ea typeface="黑体"/>
                <a:cs typeface="黑体"/>
              </a:rPr>
              <a:t>阶收敛</a:t>
            </a:r>
            <a:r>
              <a:rPr lang="zh-CN" altLang="en-US" sz="2800" dirty="0">
                <a:latin typeface="黑体"/>
                <a:ea typeface="黑体"/>
                <a:cs typeface="黑体"/>
              </a:rPr>
              <a:t>的：</a:t>
            </a:r>
            <a:endParaRPr lang="en-US" altLang="zh-CN" sz="2800" dirty="0">
              <a:latin typeface="黑体"/>
              <a:ea typeface="黑体"/>
              <a:cs typeface="黑体"/>
            </a:endParaRPr>
          </a:p>
          <a:p>
            <a:pPr marL="457200" indent="-457200" eaLnBrk="1" hangingPunct="1">
              <a:lnSpc>
                <a:spcPct val="125000"/>
              </a:lnSpc>
              <a:buFont typeface="Wingdings" charset="2"/>
              <a:buChar char="v"/>
            </a:pPr>
            <a:r>
              <a:rPr lang="en-US" altLang="zh-CN" sz="2800" i="1" dirty="0">
                <a:latin typeface="黑体"/>
                <a:ea typeface="黑体"/>
                <a:cs typeface="黑体"/>
              </a:rPr>
              <a:t>p</a:t>
            </a:r>
            <a:r>
              <a:rPr lang="en-US" altLang="zh-CN" sz="2800" dirty="0">
                <a:latin typeface="黑体"/>
                <a:ea typeface="黑体"/>
                <a:cs typeface="黑体"/>
              </a:rPr>
              <a:t>=1</a:t>
            </a:r>
            <a:r>
              <a:rPr lang="zh-CN" altLang="en-US" sz="2800" dirty="0">
                <a:latin typeface="黑体"/>
                <a:ea typeface="黑体"/>
                <a:cs typeface="黑体"/>
              </a:rPr>
              <a:t>时称为</a:t>
            </a:r>
            <a:r>
              <a:rPr lang="zh-CN" altLang="en-US" sz="2800" dirty="0">
                <a:solidFill>
                  <a:srgbClr val="CC0066"/>
                </a:solidFill>
                <a:latin typeface="黑体"/>
                <a:ea typeface="黑体"/>
                <a:cs typeface="黑体"/>
              </a:rPr>
              <a:t>线性收敛</a:t>
            </a:r>
            <a:endParaRPr lang="en-US" altLang="zh-CN" sz="2800" dirty="0">
              <a:solidFill>
                <a:srgbClr val="CC0066"/>
              </a:solidFill>
              <a:latin typeface="黑体"/>
              <a:ea typeface="黑体"/>
              <a:cs typeface="黑体"/>
            </a:endParaRPr>
          </a:p>
          <a:p>
            <a:pPr marL="457200" indent="-457200" eaLnBrk="1" hangingPunct="1">
              <a:lnSpc>
                <a:spcPct val="125000"/>
              </a:lnSpc>
              <a:buFont typeface="Wingdings" charset="2"/>
              <a:buChar char="v"/>
            </a:pPr>
            <a:r>
              <a:rPr lang="en-US" altLang="zh-CN" sz="2800" dirty="0">
                <a:latin typeface="黑体"/>
                <a:ea typeface="黑体"/>
                <a:cs typeface="黑体"/>
              </a:rPr>
              <a:t>1&lt;</a:t>
            </a:r>
            <a:r>
              <a:rPr lang="en-US" altLang="zh-CN" sz="2800" i="1" dirty="0">
                <a:latin typeface="黑体"/>
                <a:ea typeface="黑体"/>
                <a:cs typeface="黑体"/>
              </a:rPr>
              <a:t>p</a:t>
            </a:r>
            <a:r>
              <a:rPr lang="en-US" altLang="zh-CN" sz="2800" dirty="0">
                <a:latin typeface="黑体"/>
                <a:ea typeface="黑体"/>
                <a:cs typeface="黑体"/>
              </a:rPr>
              <a:t>&lt;2 </a:t>
            </a:r>
            <a:r>
              <a:rPr lang="zh-CN" altLang="en-US" sz="2800" dirty="0">
                <a:latin typeface="黑体"/>
                <a:ea typeface="黑体"/>
                <a:cs typeface="黑体"/>
              </a:rPr>
              <a:t>时称为</a:t>
            </a:r>
            <a:r>
              <a:rPr lang="zh-CN" altLang="en-US" sz="2800" dirty="0">
                <a:solidFill>
                  <a:srgbClr val="CC0066"/>
                </a:solidFill>
                <a:latin typeface="黑体"/>
                <a:ea typeface="黑体"/>
                <a:cs typeface="黑体"/>
              </a:rPr>
              <a:t>超线性收敛</a:t>
            </a:r>
            <a:endParaRPr lang="en-US" altLang="zh-CN" sz="2800" dirty="0">
              <a:solidFill>
                <a:srgbClr val="CC0066"/>
              </a:solidFill>
              <a:latin typeface="黑体"/>
              <a:ea typeface="黑体"/>
              <a:cs typeface="黑体"/>
            </a:endParaRPr>
          </a:p>
          <a:p>
            <a:pPr marL="457200" indent="-457200" eaLnBrk="1" hangingPunct="1">
              <a:lnSpc>
                <a:spcPct val="125000"/>
              </a:lnSpc>
              <a:buFont typeface="Wingdings" charset="2"/>
              <a:buChar char="v"/>
            </a:pPr>
            <a:r>
              <a:rPr lang="en-US" altLang="zh-CN" sz="2800" i="1" dirty="0">
                <a:latin typeface="黑体"/>
                <a:ea typeface="黑体"/>
                <a:cs typeface="黑体"/>
              </a:rPr>
              <a:t>p</a:t>
            </a:r>
            <a:r>
              <a:rPr lang="en-US" altLang="zh-CN" sz="2800" dirty="0">
                <a:latin typeface="黑体"/>
                <a:ea typeface="黑体"/>
                <a:cs typeface="黑体"/>
              </a:rPr>
              <a:t>=2  </a:t>
            </a:r>
            <a:r>
              <a:rPr lang="zh-CN" altLang="en-US" sz="2800" dirty="0">
                <a:latin typeface="黑体"/>
                <a:ea typeface="黑体"/>
                <a:cs typeface="黑体"/>
              </a:rPr>
              <a:t>时称为</a:t>
            </a:r>
            <a:r>
              <a:rPr lang="zh-CN" altLang="en-US" sz="2800" dirty="0">
                <a:solidFill>
                  <a:srgbClr val="CC0066"/>
                </a:solidFill>
                <a:latin typeface="黑体"/>
                <a:ea typeface="黑体"/>
                <a:cs typeface="黑体"/>
              </a:rPr>
              <a:t>平方收敛</a:t>
            </a:r>
            <a:endParaRPr lang="en-US" altLang="zh-CN" sz="2800" dirty="0">
              <a:latin typeface="黑体"/>
              <a:ea typeface="黑体"/>
              <a:cs typeface="黑体"/>
            </a:endParaRPr>
          </a:p>
        </p:txBody>
      </p:sp>
      <p:graphicFrame>
        <p:nvGraphicFramePr>
          <p:cNvPr id="27659" name="Object 1035"/>
          <p:cNvGraphicFramePr>
            <a:graphicFrameLocks noChangeAspect="1"/>
          </p:cNvGraphicFramePr>
          <p:nvPr/>
        </p:nvGraphicFramePr>
        <p:xfrm>
          <a:off x="3275856" y="2931344"/>
          <a:ext cx="2417763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1041400" imgH="431800" progId="Equation.3">
                  <p:embed/>
                </p:oleObj>
              </mc:Choice>
              <mc:Fallback>
                <p:oleObj name="Equation" r:id="rId3" imgW="1041400" imgH="431800" progId="Equation.3">
                  <p:embed/>
                  <p:pic>
                    <p:nvPicPr>
                      <p:cNvPr id="27659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2931344"/>
                        <a:ext cx="2417763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61" name="Group 1037"/>
          <p:cNvGrpSpPr>
            <a:grpSpLocks/>
          </p:cNvGrpSpPr>
          <p:nvPr/>
        </p:nvGrpSpPr>
        <p:grpSpPr bwMode="auto">
          <a:xfrm>
            <a:off x="568777" y="1412792"/>
            <a:ext cx="7413625" cy="1992314"/>
            <a:chOff x="192" y="576"/>
            <a:chExt cx="4670" cy="1255"/>
          </a:xfrm>
        </p:grpSpPr>
        <p:sp>
          <p:nvSpPr>
            <p:cNvPr id="27652" name="Text Box 1028"/>
            <p:cNvSpPr txBox="1">
              <a:spLocks noChangeArrowheads="1"/>
            </p:cNvSpPr>
            <p:nvPr/>
          </p:nvSpPr>
          <p:spPr bwMode="auto">
            <a:xfrm>
              <a:off x="192" y="576"/>
              <a:ext cx="4670" cy="1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125000"/>
                </a:lnSpc>
              </a:pPr>
              <a:r>
                <a:rPr lang="en-US" altLang="zh-CN" sz="2600" b="1" dirty="0">
                  <a:solidFill>
                    <a:srgbClr val="FF3300"/>
                  </a:solidFill>
                </a:rPr>
                <a:t> </a:t>
              </a:r>
              <a:r>
                <a:rPr lang="zh-CN" altLang="en-US" sz="2600" b="1" dirty="0">
                  <a:solidFill>
                    <a:srgbClr val="FF3300"/>
                  </a:solidFill>
                </a:rPr>
                <a:t>定义</a:t>
              </a:r>
              <a:r>
                <a:rPr lang="en-US" altLang="zh-CN" sz="2600" b="1" dirty="0">
                  <a:solidFill>
                    <a:srgbClr val="FF3300"/>
                  </a:solidFill>
                </a:rPr>
                <a:t>   </a:t>
              </a:r>
              <a:r>
                <a:rPr lang="en-US" altLang="zh-CN" sz="2600" b="1" dirty="0"/>
                <a:t>   </a:t>
              </a:r>
              <a:r>
                <a:rPr lang="zh-CN" altLang="en-US" sz="2600" b="1" dirty="0"/>
                <a:t>设迭代格式</a:t>
              </a:r>
              <a:r>
                <a:rPr lang="en-US" altLang="zh-CN" sz="2600" b="1" dirty="0"/>
                <a:t>                          </a:t>
              </a:r>
              <a:r>
                <a:rPr lang="zh-CN" altLang="en-US" sz="2600" b="1" dirty="0"/>
                <a:t>的解序列</a:t>
              </a:r>
              <a:r>
                <a:rPr lang="en-US" altLang="zh-CN" sz="2600" b="1" dirty="0"/>
                <a:t>        </a:t>
              </a:r>
              <a:r>
                <a:rPr lang="zh-CN" altLang="en-US" sz="2600" b="1" dirty="0"/>
                <a:t>收敛于</a:t>
              </a:r>
              <a:r>
                <a:rPr lang="en-US" altLang="zh-CN" sz="2600" b="1" dirty="0"/>
                <a:t>                  </a:t>
              </a:r>
              <a:r>
                <a:rPr lang="zh-CN" altLang="en-US" sz="2600" b="1" dirty="0"/>
                <a:t>的根</a:t>
              </a:r>
              <a:r>
                <a:rPr lang="en-US" altLang="zh-CN" sz="2600" b="1" dirty="0"/>
                <a:t>     </a:t>
              </a:r>
              <a:r>
                <a:rPr lang="zh-CN" altLang="en-US" sz="2600" b="1" dirty="0"/>
                <a:t>，如果迭代误差</a:t>
              </a:r>
              <a:r>
                <a:rPr lang="en-US" altLang="zh-CN" sz="2600" b="1" dirty="0"/>
                <a:t>                             </a:t>
              </a:r>
              <a:r>
                <a:rPr lang="zh-CN" altLang="en-US" sz="2600" b="1" dirty="0"/>
                <a:t>当</a:t>
              </a:r>
              <a:r>
                <a:rPr lang="en-US" altLang="zh-CN" sz="2600" b="1" dirty="0"/>
                <a:t>              </a:t>
              </a:r>
              <a:r>
                <a:rPr lang="zh-CN" altLang="en-US" sz="2600" b="1" dirty="0"/>
                <a:t>时满足渐近关系式</a:t>
              </a:r>
              <a:endParaRPr lang="en-US" altLang="zh-CN" sz="2600" b="1" dirty="0"/>
            </a:p>
            <a:p>
              <a:pPr eaLnBrk="1" hangingPunct="1"/>
              <a:endParaRPr lang="en-US" altLang="zh-CN" sz="2600" b="1" dirty="0"/>
            </a:p>
          </p:txBody>
        </p:sp>
        <p:graphicFrame>
          <p:nvGraphicFramePr>
            <p:cNvPr id="27653" name="Object 1029"/>
            <p:cNvGraphicFramePr>
              <a:graphicFrameLocks noChangeAspect="1"/>
            </p:cNvGraphicFramePr>
            <p:nvPr/>
          </p:nvGraphicFramePr>
          <p:xfrm>
            <a:off x="2055" y="642"/>
            <a:ext cx="1156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" name="公式" r:id="rId5" imgW="787320" imgH="203040" progId="Equation.3">
                    <p:embed/>
                  </p:oleObj>
                </mc:Choice>
                <mc:Fallback>
                  <p:oleObj name="公式" r:id="rId5" imgW="787320" imgH="203040" progId="Equation.3">
                    <p:embed/>
                    <p:pic>
                      <p:nvPicPr>
                        <p:cNvPr id="27653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5" y="642"/>
                          <a:ext cx="1156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4" name="Object 10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3122915"/>
                </p:ext>
              </p:extLst>
            </p:nvPr>
          </p:nvGraphicFramePr>
          <p:xfrm>
            <a:off x="4088" y="607"/>
            <a:ext cx="402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0" name="公式" r:id="rId7" imgW="291960" imgH="228600" progId="Equation.3">
                    <p:embed/>
                  </p:oleObj>
                </mc:Choice>
                <mc:Fallback>
                  <p:oleObj name="公式" r:id="rId7" imgW="291960" imgH="228600" progId="Equation.3">
                    <p:embed/>
                    <p:pic>
                      <p:nvPicPr>
                        <p:cNvPr id="27654" name="Object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8" y="607"/>
                          <a:ext cx="402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5" name="Object 10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3919364"/>
                </p:ext>
              </p:extLst>
            </p:nvPr>
          </p:nvGraphicFramePr>
          <p:xfrm>
            <a:off x="3733" y="879"/>
            <a:ext cx="1093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1" name="公式" r:id="rId9" imgW="749160" imgH="228600" progId="Equation.3">
                    <p:embed/>
                  </p:oleObj>
                </mc:Choice>
                <mc:Fallback>
                  <p:oleObj name="公式" r:id="rId9" imgW="749160" imgH="228600" progId="Equation.3">
                    <p:embed/>
                    <p:pic>
                      <p:nvPicPr>
                        <p:cNvPr id="27655" name="Object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" y="879"/>
                          <a:ext cx="1093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6" name="Object 10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4729054"/>
                </p:ext>
              </p:extLst>
            </p:nvPr>
          </p:nvGraphicFramePr>
          <p:xfrm>
            <a:off x="453" y="1284"/>
            <a:ext cx="65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2" name="公式" r:id="rId11" imgW="431640" imgH="164880" progId="Equation.3">
                    <p:embed/>
                  </p:oleObj>
                </mc:Choice>
                <mc:Fallback>
                  <p:oleObj name="公式" r:id="rId11" imgW="431640" imgH="164880" progId="Equation.3">
                    <p:embed/>
                    <p:pic>
                      <p:nvPicPr>
                        <p:cNvPr id="27656" name="Object 10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1284"/>
                          <a:ext cx="65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7" name="Object 10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7906495"/>
                </p:ext>
              </p:extLst>
            </p:nvPr>
          </p:nvGraphicFramePr>
          <p:xfrm>
            <a:off x="693" y="925"/>
            <a:ext cx="821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3" name="Equation" r:id="rId13" imgW="558720" imgH="203040" progId="Equation.3">
                    <p:embed/>
                  </p:oleObj>
                </mc:Choice>
                <mc:Fallback>
                  <p:oleObj name="Equation" r:id="rId13" imgW="558720" imgH="203040" progId="Equation.3">
                    <p:embed/>
                    <p:pic>
                      <p:nvPicPr>
                        <p:cNvPr id="27657" name="Object 1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3" y="925"/>
                          <a:ext cx="821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0" name="Object 10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3217546"/>
                </p:ext>
              </p:extLst>
            </p:nvPr>
          </p:nvGraphicFramePr>
          <p:xfrm>
            <a:off x="1965" y="925"/>
            <a:ext cx="22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4" name="Equation" r:id="rId15" imgW="164880" imgH="203040" progId="Equation.3">
                    <p:embed/>
                  </p:oleObj>
                </mc:Choice>
                <mc:Fallback>
                  <p:oleObj name="Equation" r:id="rId15" imgW="164880" imgH="203040" progId="Equation.3">
                    <p:embed/>
                    <p:pic>
                      <p:nvPicPr>
                        <p:cNvPr id="27660" name="Object 10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5" y="925"/>
                          <a:ext cx="22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3885996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304800" y="457200"/>
            <a:ext cx="7543800" cy="584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800" b="1" dirty="0">
                <a:solidFill>
                  <a:srgbClr val="002060"/>
                </a:solidFill>
              </a:rPr>
              <a:t>二分法：线性收敛</a:t>
            </a:r>
            <a:endParaRPr lang="en-US" altLang="zh-CN" sz="2800" b="1" dirty="0">
              <a:solidFill>
                <a:srgbClr val="002060"/>
              </a:solidFill>
            </a:endParaRPr>
          </a:p>
        </p:txBody>
      </p:sp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450773" y="1628800"/>
          <a:ext cx="8153675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3149600" imgH="444500" progId="Equation.3">
                  <p:embed/>
                </p:oleObj>
              </mc:Choice>
              <mc:Fallback>
                <p:oleObj name="Equation" r:id="rId3" imgW="3149600" imgH="444500" progId="Equation.3">
                  <p:embed/>
                  <p:pic>
                    <p:nvPicPr>
                      <p:cNvPr id="471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773" y="1628800"/>
                        <a:ext cx="8153675" cy="108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381000" y="3276600"/>
            <a:ext cx="7543800" cy="584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800" b="1" dirty="0">
                <a:solidFill>
                  <a:srgbClr val="002060"/>
                </a:solidFill>
              </a:rPr>
              <a:t>不动点迭代法解单根：线性收敛</a:t>
            </a:r>
            <a:endParaRPr lang="en-US" altLang="zh-CN" sz="2800" b="1" dirty="0">
              <a:solidFill>
                <a:srgbClr val="002060"/>
              </a:solidFill>
            </a:endParaRPr>
          </a:p>
        </p:txBody>
      </p:sp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990600" y="4308972"/>
          <a:ext cx="6965776" cy="1856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2870200" imgH="812800" progId="Equation.3">
                  <p:embed/>
                </p:oleObj>
              </mc:Choice>
              <mc:Fallback>
                <p:oleObj name="Equation" r:id="rId5" imgW="2870200" imgH="812800" progId="Equation.3">
                  <p:embed/>
                  <p:pic>
                    <p:nvPicPr>
                      <p:cNvPr id="471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308972"/>
                        <a:ext cx="6965776" cy="1856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774514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6248400" y="0"/>
            <a:ext cx="2895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kumimoji="1" lang="en-US" altLang="zh-CN" sz="1800" b="1">
                <a:cs typeface="宋体" charset="0"/>
              </a:rPr>
              <a:t>§3  Fixed-Point Iteration</a:t>
            </a:r>
            <a:endParaRPr kumimoji="1" lang="en-US" altLang="zh-CN" sz="2000" b="1">
              <a:solidFill>
                <a:schemeClr val="tx2"/>
              </a:solidFill>
              <a:cs typeface="楷体_GB2312" charset="0"/>
            </a:endParaRPr>
          </a:p>
        </p:txBody>
      </p:sp>
      <p:grpSp>
        <p:nvGrpSpPr>
          <p:cNvPr id="57412" name="Group 68"/>
          <p:cNvGrpSpPr>
            <a:grpSpLocks/>
          </p:cNvGrpSpPr>
          <p:nvPr/>
        </p:nvGrpSpPr>
        <p:grpSpPr bwMode="auto">
          <a:xfrm>
            <a:off x="533400" y="152400"/>
            <a:ext cx="7848600" cy="900113"/>
            <a:chOff x="336" y="96"/>
            <a:chExt cx="4944" cy="567"/>
          </a:xfrm>
        </p:grpSpPr>
        <p:grpSp>
          <p:nvGrpSpPr>
            <p:cNvPr id="13341" name="Group 13"/>
            <p:cNvGrpSpPr>
              <a:grpSpLocks/>
            </p:cNvGrpSpPr>
            <p:nvPr/>
          </p:nvGrpSpPr>
          <p:grpSpPr bwMode="auto">
            <a:xfrm flipH="1">
              <a:off x="336" y="96"/>
              <a:ext cx="648" cy="456"/>
              <a:chOff x="432" y="288"/>
              <a:chExt cx="549" cy="456"/>
            </a:xfrm>
          </p:grpSpPr>
          <p:grpSp>
            <p:nvGrpSpPr>
              <p:cNvPr id="13343" name="Group 6"/>
              <p:cNvGrpSpPr>
                <a:grpSpLocks/>
              </p:cNvGrpSpPr>
              <p:nvPr/>
            </p:nvGrpSpPr>
            <p:grpSpPr bwMode="auto">
              <a:xfrm>
                <a:off x="572" y="401"/>
                <a:ext cx="409" cy="343"/>
                <a:chOff x="572" y="401"/>
                <a:chExt cx="409" cy="343"/>
              </a:xfrm>
            </p:grpSpPr>
            <p:sp>
              <p:nvSpPr>
                <p:cNvPr id="13350" name="Freeform 4"/>
                <p:cNvSpPr>
                  <a:spLocks/>
                </p:cNvSpPr>
                <p:nvPr/>
              </p:nvSpPr>
              <p:spPr bwMode="auto">
                <a:xfrm>
                  <a:off x="572" y="406"/>
                  <a:ext cx="406" cy="338"/>
                </a:xfrm>
                <a:custGeom>
                  <a:avLst/>
                  <a:gdLst>
                    <a:gd name="T0" fmla="*/ 30 w 1624"/>
                    <a:gd name="T1" fmla="*/ 0 h 1350"/>
                    <a:gd name="T2" fmla="*/ 144 w 1624"/>
                    <a:gd name="T3" fmla="*/ 84 h 1350"/>
                    <a:gd name="T4" fmla="*/ 227 w 1624"/>
                    <a:gd name="T5" fmla="*/ 147 h 1350"/>
                    <a:gd name="T6" fmla="*/ 306 w 1624"/>
                    <a:gd name="T7" fmla="*/ 205 h 1350"/>
                    <a:gd name="T8" fmla="*/ 339 w 1624"/>
                    <a:gd name="T9" fmla="*/ 226 h 1350"/>
                    <a:gd name="T10" fmla="*/ 385 w 1624"/>
                    <a:gd name="T11" fmla="*/ 250 h 1350"/>
                    <a:gd name="T12" fmla="*/ 406 w 1624"/>
                    <a:gd name="T13" fmla="*/ 261 h 1350"/>
                    <a:gd name="T14" fmla="*/ 397 w 1624"/>
                    <a:gd name="T15" fmla="*/ 291 h 1350"/>
                    <a:gd name="T16" fmla="*/ 381 w 1624"/>
                    <a:gd name="T17" fmla="*/ 317 h 1350"/>
                    <a:gd name="T18" fmla="*/ 364 w 1624"/>
                    <a:gd name="T19" fmla="*/ 332 h 1350"/>
                    <a:gd name="T20" fmla="*/ 354 w 1624"/>
                    <a:gd name="T21" fmla="*/ 338 h 1350"/>
                    <a:gd name="T22" fmla="*/ 316 w 1624"/>
                    <a:gd name="T23" fmla="*/ 304 h 1350"/>
                    <a:gd name="T24" fmla="*/ 264 w 1624"/>
                    <a:gd name="T25" fmla="*/ 262 h 1350"/>
                    <a:gd name="T26" fmla="*/ 192 w 1624"/>
                    <a:gd name="T27" fmla="*/ 198 h 1350"/>
                    <a:gd name="T28" fmla="*/ 131 w 1624"/>
                    <a:gd name="T29" fmla="*/ 148 h 1350"/>
                    <a:gd name="T30" fmla="*/ 60 w 1624"/>
                    <a:gd name="T31" fmla="*/ 86 h 1350"/>
                    <a:gd name="T32" fmla="*/ 0 w 1624"/>
                    <a:gd name="T33" fmla="*/ 36 h 1350"/>
                    <a:gd name="T34" fmla="*/ 30 w 1624"/>
                    <a:gd name="T35" fmla="*/ 0 h 135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624" h="1350">
                      <a:moveTo>
                        <a:pt x="119" y="0"/>
                      </a:moveTo>
                      <a:lnTo>
                        <a:pt x="574" y="334"/>
                      </a:lnTo>
                      <a:lnTo>
                        <a:pt x="907" y="588"/>
                      </a:lnTo>
                      <a:lnTo>
                        <a:pt x="1224" y="817"/>
                      </a:lnTo>
                      <a:lnTo>
                        <a:pt x="1355" y="901"/>
                      </a:lnTo>
                      <a:lnTo>
                        <a:pt x="1541" y="1000"/>
                      </a:lnTo>
                      <a:lnTo>
                        <a:pt x="1624" y="1043"/>
                      </a:lnTo>
                      <a:lnTo>
                        <a:pt x="1589" y="1161"/>
                      </a:lnTo>
                      <a:lnTo>
                        <a:pt x="1522" y="1267"/>
                      </a:lnTo>
                      <a:lnTo>
                        <a:pt x="1456" y="1325"/>
                      </a:lnTo>
                      <a:lnTo>
                        <a:pt x="1416" y="1350"/>
                      </a:lnTo>
                      <a:lnTo>
                        <a:pt x="1262" y="1215"/>
                      </a:lnTo>
                      <a:lnTo>
                        <a:pt x="1057" y="1045"/>
                      </a:lnTo>
                      <a:lnTo>
                        <a:pt x="769" y="792"/>
                      </a:lnTo>
                      <a:lnTo>
                        <a:pt x="522" y="590"/>
                      </a:lnTo>
                      <a:lnTo>
                        <a:pt x="241" y="343"/>
                      </a:lnTo>
                      <a:lnTo>
                        <a:pt x="0" y="144"/>
                      </a:lnTo>
                      <a:lnTo>
                        <a:pt x="119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31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1" name="Freeform 5"/>
                <p:cNvSpPr>
                  <a:spLocks/>
                </p:cNvSpPr>
                <p:nvPr/>
              </p:nvSpPr>
              <p:spPr bwMode="auto">
                <a:xfrm>
                  <a:off x="575" y="401"/>
                  <a:ext cx="406" cy="339"/>
                </a:xfrm>
                <a:custGeom>
                  <a:avLst/>
                  <a:gdLst>
                    <a:gd name="T0" fmla="*/ 30 w 1624"/>
                    <a:gd name="T1" fmla="*/ 0 h 1356"/>
                    <a:gd name="T2" fmla="*/ 144 w 1624"/>
                    <a:gd name="T3" fmla="*/ 83 h 1356"/>
                    <a:gd name="T4" fmla="*/ 227 w 1624"/>
                    <a:gd name="T5" fmla="*/ 147 h 1356"/>
                    <a:gd name="T6" fmla="*/ 306 w 1624"/>
                    <a:gd name="T7" fmla="*/ 204 h 1356"/>
                    <a:gd name="T8" fmla="*/ 339 w 1624"/>
                    <a:gd name="T9" fmla="*/ 225 h 1356"/>
                    <a:gd name="T10" fmla="*/ 385 w 1624"/>
                    <a:gd name="T11" fmla="*/ 250 h 1356"/>
                    <a:gd name="T12" fmla="*/ 406 w 1624"/>
                    <a:gd name="T13" fmla="*/ 261 h 1356"/>
                    <a:gd name="T14" fmla="*/ 403 w 1624"/>
                    <a:gd name="T15" fmla="*/ 274 h 1356"/>
                    <a:gd name="T16" fmla="*/ 398 w 1624"/>
                    <a:gd name="T17" fmla="*/ 291 h 1356"/>
                    <a:gd name="T18" fmla="*/ 391 w 1624"/>
                    <a:gd name="T19" fmla="*/ 305 h 1356"/>
                    <a:gd name="T20" fmla="*/ 381 w 1624"/>
                    <a:gd name="T21" fmla="*/ 318 h 1356"/>
                    <a:gd name="T22" fmla="*/ 375 w 1624"/>
                    <a:gd name="T23" fmla="*/ 325 h 1356"/>
                    <a:gd name="T24" fmla="*/ 364 w 1624"/>
                    <a:gd name="T25" fmla="*/ 333 h 1356"/>
                    <a:gd name="T26" fmla="*/ 355 w 1624"/>
                    <a:gd name="T27" fmla="*/ 339 h 1356"/>
                    <a:gd name="T28" fmla="*/ 316 w 1624"/>
                    <a:gd name="T29" fmla="*/ 304 h 1356"/>
                    <a:gd name="T30" fmla="*/ 264 w 1624"/>
                    <a:gd name="T31" fmla="*/ 261 h 1356"/>
                    <a:gd name="T32" fmla="*/ 192 w 1624"/>
                    <a:gd name="T33" fmla="*/ 198 h 1356"/>
                    <a:gd name="T34" fmla="*/ 131 w 1624"/>
                    <a:gd name="T35" fmla="*/ 148 h 1356"/>
                    <a:gd name="T36" fmla="*/ 60 w 1624"/>
                    <a:gd name="T37" fmla="*/ 86 h 1356"/>
                    <a:gd name="T38" fmla="*/ 0 w 1624"/>
                    <a:gd name="T39" fmla="*/ 36 h 1356"/>
                    <a:gd name="T40" fmla="*/ 30 w 1624"/>
                    <a:gd name="T41" fmla="*/ 0 h 135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1624" h="1356">
                      <a:moveTo>
                        <a:pt x="119" y="0"/>
                      </a:moveTo>
                      <a:lnTo>
                        <a:pt x="574" y="333"/>
                      </a:lnTo>
                      <a:lnTo>
                        <a:pt x="907" y="588"/>
                      </a:lnTo>
                      <a:lnTo>
                        <a:pt x="1224" y="817"/>
                      </a:lnTo>
                      <a:lnTo>
                        <a:pt x="1355" y="901"/>
                      </a:lnTo>
                      <a:lnTo>
                        <a:pt x="1541" y="1000"/>
                      </a:lnTo>
                      <a:lnTo>
                        <a:pt x="1624" y="1043"/>
                      </a:lnTo>
                      <a:lnTo>
                        <a:pt x="1612" y="1097"/>
                      </a:lnTo>
                      <a:lnTo>
                        <a:pt x="1592" y="1164"/>
                      </a:lnTo>
                      <a:lnTo>
                        <a:pt x="1563" y="1219"/>
                      </a:lnTo>
                      <a:lnTo>
                        <a:pt x="1525" y="1272"/>
                      </a:lnTo>
                      <a:lnTo>
                        <a:pt x="1500" y="1299"/>
                      </a:lnTo>
                      <a:lnTo>
                        <a:pt x="1457" y="1330"/>
                      </a:lnTo>
                      <a:lnTo>
                        <a:pt x="1419" y="1356"/>
                      </a:lnTo>
                      <a:lnTo>
                        <a:pt x="1262" y="1215"/>
                      </a:lnTo>
                      <a:lnTo>
                        <a:pt x="1057" y="1045"/>
                      </a:lnTo>
                      <a:lnTo>
                        <a:pt x="769" y="792"/>
                      </a:lnTo>
                      <a:lnTo>
                        <a:pt x="522" y="590"/>
                      </a:lnTo>
                      <a:lnTo>
                        <a:pt x="240" y="343"/>
                      </a:lnTo>
                      <a:lnTo>
                        <a:pt x="0" y="144"/>
                      </a:lnTo>
                      <a:lnTo>
                        <a:pt x="119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3344" name="Group 9"/>
              <p:cNvGrpSpPr>
                <a:grpSpLocks/>
              </p:cNvGrpSpPr>
              <p:nvPr/>
            </p:nvGrpSpPr>
            <p:grpSpPr bwMode="auto">
              <a:xfrm>
                <a:off x="452" y="288"/>
                <a:ext cx="233" cy="185"/>
                <a:chOff x="452" y="288"/>
                <a:chExt cx="233" cy="185"/>
              </a:xfrm>
            </p:grpSpPr>
            <p:sp>
              <p:nvSpPr>
                <p:cNvPr id="13348" name="Freeform 7"/>
                <p:cNvSpPr>
                  <a:spLocks/>
                </p:cNvSpPr>
                <p:nvPr/>
              </p:nvSpPr>
              <p:spPr bwMode="auto">
                <a:xfrm>
                  <a:off x="457" y="291"/>
                  <a:ext cx="228" cy="182"/>
                </a:xfrm>
                <a:custGeom>
                  <a:avLst/>
                  <a:gdLst>
                    <a:gd name="T0" fmla="*/ 0 w 912"/>
                    <a:gd name="T1" fmla="*/ 163 h 725"/>
                    <a:gd name="T2" fmla="*/ 36 w 912"/>
                    <a:gd name="T3" fmla="*/ 182 h 725"/>
                    <a:gd name="T4" fmla="*/ 70 w 912"/>
                    <a:gd name="T5" fmla="*/ 141 h 725"/>
                    <a:gd name="T6" fmla="*/ 78 w 912"/>
                    <a:gd name="T7" fmla="*/ 136 h 725"/>
                    <a:gd name="T8" fmla="*/ 87 w 912"/>
                    <a:gd name="T9" fmla="*/ 134 h 725"/>
                    <a:gd name="T10" fmla="*/ 95 w 912"/>
                    <a:gd name="T11" fmla="*/ 136 h 725"/>
                    <a:gd name="T12" fmla="*/ 116 w 912"/>
                    <a:gd name="T13" fmla="*/ 152 h 725"/>
                    <a:gd name="T14" fmla="*/ 149 w 912"/>
                    <a:gd name="T15" fmla="*/ 110 h 725"/>
                    <a:gd name="T16" fmla="*/ 127 w 912"/>
                    <a:gd name="T17" fmla="*/ 91 h 725"/>
                    <a:gd name="T18" fmla="*/ 122 w 912"/>
                    <a:gd name="T19" fmla="*/ 82 h 725"/>
                    <a:gd name="T20" fmla="*/ 121 w 912"/>
                    <a:gd name="T21" fmla="*/ 72 h 725"/>
                    <a:gd name="T22" fmla="*/ 122 w 912"/>
                    <a:gd name="T23" fmla="*/ 64 h 725"/>
                    <a:gd name="T24" fmla="*/ 125 w 912"/>
                    <a:gd name="T25" fmla="*/ 58 h 725"/>
                    <a:gd name="T26" fmla="*/ 130 w 912"/>
                    <a:gd name="T27" fmla="*/ 52 h 725"/>
                    <a:gd name="T28" fmla="*/ 144 w 912"/>
                    <a:gd name="T29" fmla="*/ 40 h 725"/>
                    <a:gd name="T30" fmla="*/ 161 w 912"/>
                    <a:gd name="T31" fmla="*/ 28 h 725"/>
                    <a:gd name="T32" fmla="*/ 185 w 912"/>
                    <a:gd name="T33" fmla="*/ 16 h 725"/>
                    <a:gd name="T34" fmla="*/ 209 w 912"/>
                    <a:gd name="T35" fmla="*/ 7 h 725"/>
                    <a:gd name="T36" fmla="*/ 228 w 912"/>
                    <a:gd name="T37" fmla="*/ 0 h 725"/>
                    <a:gd name="T38" fmla="*/ 188 w 912"/>
                    <a:gd name="T39" fmla="*/ 5 h 725"/>
                    <a:gd name="T40" fmla="*/ 152 w 912"/>
                    <a:gd name="T41" fmla="*/ 14 h 725"/>
                    <a:gd name="T42" fmla="*/ 131 w 912"/>
                    <a:gd name="T43" fmla="*/ 20 h 725"/>
                    <a:gd name="T44" fmla="*/ 118 w 912"/>
                    <a:gd name="T45" fmla="*/ 25 h 725"/>
                    <a:gd name="T46" fmla="*/ 94 w 912"/>
                    <a:gd name="T47" fmla="*/ 39 h 725"/>
                    <a:gd name="T48" fmla="*/ 79 w 912"/>
                    <a:gd name="T49" fmla="*/ 52 h 725"/>
                    <a:gd name="T50" fmla="*/ 66 w 912"/>
                    <a:gd name="T51" fmla="*/ 65 h 725"/>
                    <a:gd name="T52" fmla="*/ 53 w 912"/>
                    <a:gd name="T53" fmla="*/ 79 h 725"/>
                    <a:gd name="T54" fmla="*/ 43 w 912"/>
                    <a:gd name="T55" fmla="*/ 93 h 725"/>
                    <a:gd name="T56" fmla="*/ 31 w 912"/>
                    <a:gd name="T57" fmla="*/ 112 h 725"/>
                    <a:gd name="T58" fmla="*/ 20 w 912"/>
                    <a:gd name="T59" fmla="*/ 131 h 725"/>
                    <a:gd name="T60" fmla="*/ 0 w 912"/>
                    <a:gd name="T61" fmla="*/ 163 h 725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912" h="725">
                      <a:moveTo>
                        <a:pt x="0" y="650"/>
                      </a:moveTo>
                      <a:lnTo>
                        <a:pt x="142" y="725"/>
                      </a:lnTo>
                      <a:lnTo>
                        <a:pt x="278" y="561"/>
                      </a:lnTo>
                      <a:lnTo>
                        <a:pt x="310" y="541"/>
                      </a:lnTo>
                      <a:lnTo>
                        <a:pt x="346" y="532"/>
                      </a:lnTo>
                      <a:lnTo>
                        <a:pt x="380" y="541"/>
                      </a:lnTo>
                      <a:lnTo>
                        <a:pt x="462" y="606"/>
                      </a:lnTo>
                      <a:lnTo>
                        <a:pt x="595" y="439"/>
                      </a:lnTo>
                      <a:lnTo>
                        <a:pt x="509" y="362"/>
                      </a:lnTo>
                      <a:lnTo>
                        <a:pt x="486" y="325"/>
                      </a:lnTo>
                      <a:lnTo>
                        <a:pt x="482" y="288"/>
                      </a:lnTo>
                      <a:lnTo>
                        <a:pt x="488" y="253"/>
                      </a:lnTo>
                      <a:lnTo>
                        <a:pt x="499" y="232"/>
                      </a:lnTo>
                      <a:lnTo>
                        <a:pt x="520" y="206"/>
                      </a:lnTo>
                      <a:lnTo>
                        <a:pt x="576" y="160"/>
                      </a:lnTo>
                      <a:lnTo>
                        <a:pt x="643" y="112"/>
                      </a:lnTo>
                      <a:lnTo>
                        <a:pt x="739" y="64"/>
                      </a:lnTo>
                      <a:lnTo>
                        <a:pt x="837" y="29"/>
                      </a:lnTo>
                      <a:lnTo>
                        <a:pt x="912" y="0"/>
                      </a:lnTo>
                      <a:lnTo>
                        <a:pt x="752" y="20"/>
                      </a:lnTo>
                      <a:lnTo>
                        <a:pt x="607" y="54"/>
                      </a:lnTo>
                      <a:lnTo>
                        <a:pt x="523" y="80"/>
                      </a:lnTo>
                      <a:lnTo>
                        <a:pt x="472" y="99"/>
                      </a:lnTo>
                      <a:lnTo>
                        <a:pt x="374" y="157"/>
                      </a:lnTo>
                      <a:lnTo>
                        <a:pt x="314" y="208"/>
                      </a:lnTo>
                      <a:lnTo>
                        <a:pt x="263" y="259"/>
                      </a:lnTo>
                      <a:lnTo>
                        <a:pt x="213" y="314"/>
                      </a:lnTo>
                      <a:lnTo>
                        <a:pt x="171" y="372"/>
                      </a:lnTo>
                      <a:lnTo>
                        <a:pt x="122" y="448"/>
                      </a:lnTo>
                      <a:lnTo>
                        <a:pt x="80" y="522"/>
                      </a:lnTo>
                      <a:lnTo>
                        <a:pt x="0" y="65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9" name="Freeform 8"/>
                <p:cNvSpPr>
                  <a:spLocks/>
                </p:cNvSpPr>
                <p:nvPr/>
              </p:nvSpPr>
              <p:spPr bwMode="auto">
                <a:xfrm>
                  <a:off x="452" y="288"/>
                  <a:ext cx="228" cy="181"/>
                </a:xfrm>
                <a:custGeom>
                  <a:avLst/>
                  <a:gdLst>
                    <a:gd name="T0" fmla="*/ 0 w 912"/>
                    <a:gd name="T1" fmla="*/ 163 h 725"/>
                    <a:gd name="T2" fmla="*/ 36 w 912"/>
                    <a:gd name="T3" fmla="*/ 181 h 725"/>
                    <a:gd name="T4" fmla="*/ 70 w 912"/>
                    <a:gd name="T5" fmla="*/ 140 h 725"/>
                    <a:gd name="T6" fmla="*/ 78 w 912"/>
                    <a:gd name="T7" fmla="*/ 135 h 725"/>
                    <a:gd name="T8" fmla="*/ 87 w 912"/>
                    <a:gd name="T9" fmla="*/ 133 h 725"/>
                    <a:gd name="T10" fmla="*/ 95 w 912"/>
                    <a:gd name="T11" fmla="*/ 135 h 725"/>
                    <a:gd name="T12" fmla="*/ 115 w 912"/>
                    <a:gd name="T13" fmla="*/ 151 h 725"/>
                    <a:gd name="T14" fmla="*/ 149 w 912"/>
                    <a:gd name="T15" fmla="*/ 110 h 725"/>
                    <a:gd name="T16" fmla="*/ 127 w 912"/>
                    <a:gd name="T17" fmla="*/ 90 h 725"/>
                    <a:gd name="T18" fmla="*/ 122 w 912"/>
                    <a:gd name="T19" fmla="*/ 81 h 725"/>
                    <a:gd name="T20" fmla="*/ 121 w 912"/>
                    <a:gd name="T21" fmla="*/ 72 h 725"/>
                    <a:gd name="T22" fmla="*/ 122 w 912"/>
                    <a:gd name="T23" fmla="*/ 63 h 725"/>
                    <a:gd name="T24" fmla="*/ 125 w 912"/>
                    <a:gd name="T25" fmla="*/ 58 h 725"/>
                    <a:gd name="T26" fmla="*/ 130 w 912"/>
                    <a:gd name="T27" fmla="*/ 51 h 725"/>
                    <a:gd name="T28" fmla="*/ 144 w 912"/>
                    <a:gd name="T29" fmla="*/ 40 h 725"/>
                    <a:gd name="T30" fmla="*/ 161 w 912"/>
                    <a:gd name="T31" fmla="*/ 28 h 725"/>
                    <a:gd name="T32" fmla="*/ 185 w 912"/>
                    <a:gd name="T33" fmla="*/ 16 h 725"/>
                    <a:gd name="T34" fmla="*/ 209 w 912"/>
                    <a:gd name="T35" fmla="*/ 7 h 725"/>
                    <a:gd name="T36" fmla="*/ 228 w 912"/>
                    <a:gd name="T37" fmla="*/ 0 h 725"/>
                    <a:gd name="T38" fmla="*/ 188 w 912"/>
                    <a:gd name="T39" fmla="*/ 5 h 725"/>
                    <a:gd name="T40" fmla="*/ 152 w 912"/>
                    <a:gd name="T41" fmla="*/ 13 h 725"/>
                    <a:gd name="T42" fmla="*/ 131 w 912"/>
                    <a:gd name="T43" fmla="*/ 20 h 725"/>
                    <a:gd name="T44" fmla="*/ 118 w 912"/>
                    <a:gd name="T45" fmla="*/ 25 h 725"/>
                    <a:gd name="T46" fmla="*/ 105 w 912"/>
                    <a:gd name="T47" fmla="*/ 31 h 725"/>
                    <a:gd name="T48" fmla="*/ 94 w 912"/>
                    <a:gd name="T49" fmla="*/ 39 h 725"/>
                    <a:gd name="T50" fmla="*/ 79 w 912"/>
                    <a:gd name="T51" fmla="*/ 52 h 725"/>
                    <a:gd name="T52" fmla="*/ 66 w 912"/>
                    <a:gd name="T53" fmla="*/ 65 h 725"/>
                    <a:gd name="T54" fmla="*/ 53 w 912"/>
                    <a:gd name="T55" fmla="*/ 78 h 725"/>
                    <a:gd name="T56" fmla="*/ 43 w 912"/>
                    <a:gd name="T57" fmla="*/ 93 h 725"/>
                    <a:gd name="T58" fmla="*/ 31 w 912"/>
                    <a:gd name="T59" fmla="*/ 112 h 725"/>
                    <a:gd name="T60" fmla="*/ 20 w 912"/>
                    <a:gd name="T61" fmla="*/ 130 h 725"/>
                    <a:gd name="T62" fmla="*/ 0 w 912"/>
                    <a:gd name="T63" fmla="*/ 163 h 72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912" h="725">
                      <a:moveTo>
                        <a:pt x="0" y="651"/>
                      </a:moveTo>
                      <a:lnTo>
                        <a:pt x="142" y="725"/>
                      </a:lnTo>
                      <a:lnTo>
                        <a:pt x="278" y="561"/>
                      </a:lnTo>
                      <a:lnTo>
                        <a:pt x="310" y="542"/>
                      </a:lnTo>
                      <a:lnTo>
                        <a:pt x="346" y="532"/>
                      </a:lnTo>
                      <a:lnTo>
                        <a:pt x="380" y="542"/>
                      </a:lnTo>
                      <a:lnTo>
                        <a:pt x="461" y="606"/>
                      </a:lnTo>
                      <a:lnTo>
                        <a:pt x="595" y="439"/>
                      </a:lnTo>
                      <a:lnTo>
                        <a:pt x="508" y="362"/>
                      </a:lnTo>
                      <a:lnTo>
                        <a:pt x="486" y="325"/>
                      </a:lnTo>
                      <a:lnTo>
                        <a:pt x="482" y="288"/>
                      </a:lnTo>
                      <a:lnTo>
                        <a:pt x="488" y="253"/>
                      </a:lnTo>
                      <a:lnTo>
                        <a:pt x="499" y="232"/>
                      </a:lnTo>
                      <a:lnTo>
                        <a:pt x="520" y="206"/>
                      </a:lnTo>
                      <a:lnTo>
                        <a:pt x="576" y="160"/>
                      </a:lnTo>
                      <a:lnTo>
                        <a:pt x="643" y="112"/>
                      </a:lnTo>
                      <a:lnTo>
                        <a:pt x="739" y="64"/>
                      </a:lnTo>
                      <a:lnTo>
                        <a:pt x="837" y="29"/>
                      </a:lnTo>
                      <a:lnTo>
                        <a:pt x="912" y="0"/>
                      </a:lnTo>
                      <a:lnTo>
                        <a:pt x="752" y="20"/>
                      </a:lnTo>
                      <a:lnTo>
                        <a:pt x="607" y="54"/>
                      </a:lnTo>
                      <a:lnTo>
                        <a:pt x="523" y="80"/>
                      </a:lnTo>
                      <a:lnTo>
                        <a:pt x="472" y="99"/>
                      </a:lnTo>
                      <a:lnTo>
                        <a:pt x="420" y="125"/>
                      </a:lnTo>
                      <a:lnTo>
                        <a:pt x="374" y="157"/>
                      </a:lnTo>
                      <a:lnTo>
                        <a:pt x="314" y="208"/>
                      </a:lnTo>
                      <a:lnTo>
                        <a:pt x="263" y="260"/>
                      </a:lnTo>
                      <a:lnTo>
                        <a:pt x="213" y="314"/>
                      </a:lnTo>
                      <a:lnTo>
                        <a:pt x="171" y="372"/>
                      </a:lnTo>
                      <a:lnTo>
                        <a:pt x="122" y="449"/>
                      </a:lnTo>
                      <a:lnTo>
                        <a:pt x="80" y="522"/>
                      </a:lnTo>
                      <a:lnTo>
                        <a:pt x="0" y="65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3345" name="Group 12"/>
              <p:cNvGrpSpPr>
                <a:grpSpLocks/>
              </p:cNvGrpSpPr>
              <p:nvPr/>
            </p:nvGrpSpPr>
            <p:grpSpPr bwMode="auto">
              <a:xfrm>
                <a:off x="432" y="443"/>
                <a:ext cx="67" cy="65"/>
                <a:chOff x="432" y="443"/>
                <a:chExt cx="67" cy="65"/>
              </a:xfrm>
            </p:grpSpPr>
            <p:sp>
              <p:nvSpPr>
                <p:cNvPr id="13346" name="Freeform 10"/>
                <p:cNvSpPr>
                  <a:spLocks/>
                </p:cNvSpPr>
                <p:nvPr/>
              </p:nvSpPr>
              <p:spPr bwMode="auto">
                <a:xfrm>
                  <a:off x="432" y="448"/>
                  <a:ext cx="66" cy="60"/>
                </a:xfrm>
                <a:custGeom>
                  <a:avLst/>
                  <a:gdLst>
                    <a:gd name="T0" fmla="*/ 16 w 265"/>
                    <a:gd name="T1" fmla="*/ 0 h 241"/>
                    <a:gd name="T2" fmla="*/ 43 w 265"/>
                    <a:gd name="T3" fmla="*/ 17 h 241"/>
                    <a:gd name="T4" fmla="*/ 66 w 265"/>
                    <a:gd name="T5" fmla="*/ 32 h 241"/>
                    <a:gd name="T6" fmla="*/ 50 w 265"/>
                    <a:gd name="T7" fmla="*/ 60 h 241"/>
                    <a:gd name="T8" fmla="*/ 42 w 265"/>
                    <a:gd name="T9" fmla="*/ 59 h 241"/>
                    <a:gd name="T10" fmla="*/ 35 w 265"/>
                    <a:gd name="T11" fmla="*/ 57 h 241"/>
                    <a:gd name="T12" fmla="*/ 27 w 265"/>
                    <a:gd name="T13" fmla="*/ 54 h 241"/>
                    <a:gd name="T14" fmla="*/ 17 w 265"/>
                    <a:gd name="T15" fmla="*/ 46 h 241"/>
                    <a:gd name="T16" fmla="*/ 8 w 265"/>
                    <a:gd name="T17" fmla="*/ 38 h 241"/>
                    <a:gd name="T18" fmla="*/ 3 w 265"/>
                    <a:gd name="T19" fmla="*/ 30 h 241"/>
                    <a:gd name="T20" fmla="*/ 0 w 265"/>
                    <a:gd name="T21" fmla="*/ 23 h 241"/>
                    <a:gd name="T22" fmla="*/ 16 w 265"/>
                    <a:gd name="T23" fmla="*/ 0 h 24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65" h="241">
                      <a:moveTo>
                        <a:pt x="66" y="0"/>
                      </a:moveTo>
                      <a:lnTo>
                        <a:pt x="172" y="67"/>
                      </a:lnTo>
                      <a:lnTo>
                        <a:pt x="265" y="128"/>
                      </a:lnTo>
                      <a:lnTo>
                        <a:pt x="199" y="241"/>
                      </a:lnTo>
                      <a:lnTo>
                        <a:pt x="170" y="237"/>
                      </a:lnTo>
                      <a:lnTo>
                        <a:pt x="141" y="227"/>
                      </a:lnTo>
                      <a:lnTo>
                        <a:pt x="110" y="215"/>
                      </a:lnTo>
                      <a:lnTo>
                        <a:pt x="67" y="186"/>
                      </a:lnTo>
                      <a:lnTo>
                        <a:pt x="33" y="152"/>
                      </a:lnTo>
                      <a:lnTo>
                        <a:pt x="14" y="122"/>
                      </a:lnTo>
                      <a:lnTo>
                        <a:pt x="0" y="93"/>
                      </a:lnTo>
                      <a:lnTo>
                        <a:pt x="66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7" name="Freeform 11"/>
                <p:cNvSpPr>
                  <a:spLocks/>
                </p:cNvSpPr>
                <p:nvPr/>
              </p:nvSpPr>
              <p:spPr bwMode="auto">
                <a:xfrm>
                  <a:off x="433" y="443"/>
                  <a:ext cx="66" cy="61"/>
                </a:xfrm>
                <a:custGeom>
                  <a:avLst/>
                  <a:gdLst>
                    <a:gd name="T0" fmla="*/ 16 w 265"/>
                    <a:gd name="T1" fmla="*/ 0 h 241"/>
                    <a:gd name="T2" fmla="*/ 43 w 265"/>
                    <a:gd name="T3" fmla="*/ 17 h 241"/>
                    <a:gd name="T4" fmla="*/ 66 w 265"/>
                    <a:gd name="T5" fmla="*/ 32 h 241"/>
                    <a:gd name="T6" fmla="*/ 50 w 265"/>
                    <a:gd name="T7" fmla="*/ 61 h 241"/>
                    <a:gd name="T8" fmla="*/ 42 w 265"/>
                    <a:gd name="T9" fmla="*/ 60 h 241"/>
                    <a:gd name="T10" fmla="*/ 34 w 265"/>
                    <a:gd name="T11" fmla="*/ 57 h 241"/>
                    <a:gd name="T12" fmla="*/ 27 w 265"/>
                    <a:gd name="T13" fmla="*/ 54 h 241"/>
                    <a:gd name="T14" fmla="*/ 17 w 265"/>
                    <a:gd name="T15" fmla="*/ 47 h 241"/>
                    <a:gd name="T16" fmla="*/ 8 w 265"/>
                    <a:gd name="T17" fmla="*/ 38 h 241"/>
                    <a:gd name="T18" fmla="*/ 3 w 265"/>
                    <a:gd name="T19" fmla="*/ 31 h 241"/>
                    <a:gd name="T20" fmla="*/ 0 w 265"/>
                    <a:gd name="T21" fmla="*/ 24 h 241"/>
                    <a:gd name="T22" fmla="*/ 16 w 265"/>
                    <a:gd name="T23" fmla="*/ 0 h 24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65" h="241">
                      <a:moveTo>
                        <a:pt x="66" y="0"/>
                      </a:moveTo>
                      <a:lnTo>
                        <a:pt x="172" y="67"/>
                      </a:lnTo>
                      <a:lnTo>
                        <a:pt x="265" y="128"/>
                      </a:lnTo>
                      <a:lnTo>
                        <a:pt x="199" y="241"/>
                      </a:lnTo>
                      <a:lnTo>
                        <a:pt x="168" y="237"/>
                      </a:lnTo>
                      <a:lnTo>
                        <a:pt x="136" y="225"/>
                      </a:lnTo>
                      <a:lnTo>
                        <a:pt x="110" y="214"/>
                      </a:lnTo>
                      <a:lnTo>
                        <a:pt x="67" y="186"/>
                      </a:lnTo>
                      <a:lnTo>
                        <a:pt x="33" y="151"/>
                      </a:lnTo>
                      <a:lnTo>
                        <a:pt x="14" y="122"/>
                      </a:lnTo>
                      <a:lnTo>
                        <a:pt x="0" y="93"/>
                      </a:lnTo>
                      <a:lnTo>
                        <a:pt x="66" y="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57358" name="Text Box 14"/>
            <p:cNvSpPr txBox="1">
              <a:spLocks noChangeArrowheads="1"/>
            </p:cNvSpPr>
            <p:nvPr/>
          </p:nvSpPr>
          <p:spPr bwMode="auto">
            <a:xfrm>
              <a:off x="676" y="336"/>
              <a:ext cx="46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800" b="1">
                  <a:cs typeface="楷体_GB2312" charset="0"/>
                </a:rPr>
                <a:t>改进、加速收敛</a:t>
              </a:r>
              <a:r>
                <a:rPr lang="en-US" altLang="zh-CN" sz="2800" b="1">
                  <a:cs typeface="楷体_GB2312" charset="0"/>
                </a:rPr>
                <a:t>  </a:t>
              </a:r>
              <a:r>
                <a:rPr lang="en-US" altLang="zh-CN" b="1">
                  <a:solidFill>
                    <a:srgbClr val="008000"/>
                  </a:solidFill>
                  <a:latin typeface="Arial" charset="0"/>
                  <a:cs typeface="楷体_GB2312" charset="0"/>
                </a:rPr>
                <a:t>/* accelerating convergence */</a:t>
              </a:r>
            </a:p>
          </p:txBody>
        </p:sp>
      </p:grpSp>
      <p:sp>
        <p:nvSpPr>
          <p:cNvPr id="57360" name="Text Box 16"/>
          <p:cNvSpPr txBox="1">
            <a:spLocks noChangeArrowheads="1"/>
          </p:cNvSpPr>
          <p:nvPr/>
        </p:nvSpPr>
        <p:spPr bwMode="auto">
          <a:xfrm>
            <a:off x="533400" y="10668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楷体_GB2312" charset="0"/>
                <a:cs typeface="楷体_GB2312" charset="0"/>
                <a:sym typeface="Wingdings" charset="0"/>
              </a:rPr>
              <a:t> 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charset="0"/>
                <a:cs typeface="楷体_GB2312" charset="0"/>
                <a:sym typeface="Wingdings" charset="0"/>
              </a:rPr>
              <a:t>一、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charset="0"/>
                <a:cs typeface="楷体_GB2312" charset="0"/>
              </a:rPr>
              <a:t>待定参数法：</a:t>
            </a:r>
            <a:endParaRPr kumimoji="1" lang="en-US" altLang="zh-CN" sz="2400" b="1" dirty="0">
              <a:solidFill>
                <a:srgbClr val="0000FF"/>
              </a:solidFill>
              <a:latin typeface="楷体_GB2312" charset="0"/>
              <a:cs typeface="楷体_GB2312" charset="0"/>
            </a:endParaRPr>
          </a:p>
        </p:txBody>
      </p:sp>
      <p:grpSp>
        <p:nvGrpSpPr>
          <p:cNvPr id="57387" name="Group 43"/>
          <p:cNvGrpSpPr>
            <a:grpSpLocks/>
          </p:cNvGrpSpPr>
          <p:nvPr/>
        </p:nvGrpSpPr>
        <p:grpSpPr bwMode="auto">
          <a:xfrm>
            <a:off x="990600" y="1524000"/>
            <a:ext cx="6499225" cy="927100"/>
            <a:chOff x="624" y="1056"/>
            <a:chExt cx="3872" cy="584"/>
          </a:xfrm>
        </p:grpSpPr>
        <p:sp>
          <p:nvSpPr>
            <p:cNvPr id="57385" name="Text Box 41"/>
            <p:cNvSpPr txBox="1">
              <a:spLocks noChangeArrowheads="1"/>
            </p:cNvSpPr>
            <p:nvPr/>
          </p:nvSpPr>
          <p:spPr bwMode="auto">
            <a:xfrm>
              <a:off x="624" y="1056"/>
              <a:ext cx="379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cs typeface="楷体_GB2312" charset="0"/>
                </a:rPr>
                <a:t>若</a:t>
              </a:r>
              <a:r>
                <a:rPr lang="en-US" altLang="zh-CN" sz="2400" b="1" dirty="0">
                  <a:cs typeface="宋体" charset="0"/>
                </a:rPr>
                <a:t> | </a:t>
              </a:r>
              <a:r>
                <a:rPr lang="en-US" altLang="zh-CN" sz="2400" b="1" i="1" dirty="0">
                  <a:cs typeface="宋体" charset="0"/>
                </a:rPr>
                <a:t>g</a:t>
              </a:r>
              <a:r>
                <a:rPr lang="zh-CN" altLang="en-US" sz="2400" b="1" dirty="0">
                  <a:cs typeface="宋体" charset="0"/>
                </a:rPr>
                <a:t>’</a:t>
              </a:r>
              <a:r>
                <a:rPr lang="en-US" altLang="zh-CN" sz="2400" b="1" dirty="0">
                  <a:cs typeface="宋体" charset="0"/>
                </a:rPr>
                <a:t>(</a:t>
              </a:r>
              <a:r>
                <a:rPr lang="en-US" altLang="zh-CN" sz="2400" b="1" i="1" dirty="0">
                  <a:cs typeface="宋体" charset="0"/>
                </a:rPr>
                <a:t>x</a:t>
              </a:r>
              <a:r>
                <a:rPr lang="en-US" altLang="zh-CN" sz="2400" b="1" dirty="0">
                  <a:cs typeface="宋体" charset="0"/>
                </a:rPr>
                <a:t>) | </a:t>
              </a:r>
              <a:r>
                <a:rPr lang="en-US" altLang="zh-CN" sz="2400" b="1" dirty="0">
                  <a:cs typeface="宋体" charset="0"/>
                  <a:sym typeface="Symbol" charset="0"/>
                </a:rPr>
                <a:t> 1</a:t>
              </a:r>
              <a:r>
                <a:rPr lang="zh-CN" altLang="en-US" sz="2400" b="1" dirty="0">
                  <a:cs typeface="宋体" charset="0"/>
                  <a:sym typeface="Symbol" charset="0"/>
                </a:rPr>
                <a:t>，</a:t>
              </a:r>
              <a:r>
                <a:rPr lang="zh-CN" altLang="en-US" sz="2400" b="1" dirty="0">
                  <a:cs typeface="楷体_GB2312" charset="0"/>
                  <a:sym typeface="Symbol" charset="0"/>
                </a:rPr>
                <a:t>则将</a:t>
              </a:r>
              <a:r>
                <a:rPr lang="en-US" altLang="zh-CN" sz="2400" b="1" dirty="0">
                  <a:cs typeface="楷体_GB2312" charset="0"/>
                  <a:sym typeface="Symbol" charset="0"/>
                </a:rPr>
                <a:t> </a:t>
              </a:r>
              <a:r>
                <a:rPr lang="en-US" altLang="zh-CN" sz="2400" b="1" i="1" dirty="0">
                  <a:cs typeface="宋体" charset="0"/>
                  <a:sym typeface="Symbol" charset="0"/>
                </a:rPr>
                <a:t>x </a:t>
              </a:r>
              <a:r>
                <a:rPr lang="en-US" altLang="zh-CN" sz="2400" b="1" dirty="0">
                  <a:cs typeface="宋体" charset="0"/>
                  <a:sym typeface="Symbol" charset="0"/>
                </a:rPr>
                <a:t>= </a:t>
              </a:r>
              <a:r>
                <a:rPr lang="en-US" altLang="zh-CN" sz="2400" b="1" i="1" dirty="0">
                  <a:cs typeface="宋体" charset="0"/>
                  <a:sym typeface="Symbol" charset="0"/>
                </a:rPr>
                <a:t>g</a:t>
              </a:r>
              <a:r>
                <a:rPr lang="en-US" altLang="zh-CN" sz="2400" b="1" dirty="0">
                  <a:cs typeface="宋体" charset="0"/>
                  <a:sym typeface="Symbol" charset="0"/>
                </a:rPr>
                <a:t>(</a:t>
              </a:r>
              <a:r>
                <a:rPr lang="en-US" altLang="zh-CN" sz="2400" b="1" i="1" dirty="0">
                  <a:cs typeface="宋体" charset="0"/>
                  <a:sym typeface="Symbol" charset="0"/>
                </a:rPr>
                <a:t>x</a:t>
              </a:r>
              <a:r>
                <a:rPr lang="en-US" altLang="zh-CN" sz="2400" b="1" dirty="0">
                  <a:cs typeface="宋体" charset="0"/>
                  <a:sym typeface="Symbol" charset="0"/>
                </a:rPr>
                <a:t>) </a:t>
              </a:r>
              <a:r>
                <a:rPr lang="zh-CN" altLang="en-US" sz="2400" b="1" dirty="0">
                  <a:cs typeface="楷体_GB2312" charset="0"/>
                  <a:sym typeface="Symbol" charset="0"/>
                </a:rPr>
                <a:t>等价地改造为</a:t>
              </a:r>
              <a:endParaRPr lang="en-US" altLang="zh-CN" sz="2400" b="1" dirty="0">
                <a:cs typeface="楷体_GB2312" charset="0"/>
              </a:endParaRPr>
            </a:p>
          </p:txBody>
        </p:sp>
        <p:graphicFrame>
          <p:nvGraphicFramePr>
            <p:cNvPr id="13340" name="Object 42"/>
            <p:cNvGraphicFramePr>
              <a:graphicFrameLocks noChangeAspect="1"/>
            </p:cNvGraphicFramePr>
            <p:nvPr/>
          </p:nvGraphicFramePr>
          <p:xfrm>
            <a:off x="912" y="1392"/>
            <a:ext cx="358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6" name="Equation" r:id="rId7" imgW="2921000" imgH="203200" progId="Equation.3">
                    <p:embed/>
                  </p:oleObj>
                </mc:Choice>
                <mc:Fallback>
                  <p:oleObj name="Equation" r:id="rId7" imgW="2921000" imgH="203200" progId="Equation.3">
                    <p:embed/>
                    <p:pic>
                      <p:nvPicPr>
                        <p:cNvPr id="1334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392"/>
                          <a:ext cx="3584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390" name="Group 46"/>
          <p:cNvGrpSpPr>
            <a:grpSpLocks/>
          </p:cNvGrpSpPr>
          <p:nvPr/>
        </p:nvGrpSpPr>
        <p:grpSpPr bwMode="auto">
          <a:xfrm>
            <a:off x="990600" y="2438400"/>
            <a:ext cx="5786438" cy="457200"/>
            <a:chOff x="624" y="1657"/>
            <a:chExt cx="3645" cy="288"/>
          </a:xfrm>
        </p:grpSpPr>
        <p:graphicFrame>
          <p:nvGraphicFramePr>
            <p:cNvPr id="13337" name="Object 44"/>
            <p:cNvGraphicFramePr>
              <a:graphicFrameLocks noChangeAspect="1"/>
            </p:cNvGraphicFramePr>
            <p:nvPr/>
          </p:nvGraphicFramePr>
          <p:xfrm>
            <a:off x="1632" y="1680"/>
            <a:ext cx="2637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7" name="Equation" r:id="rId9" imgW="1854200" imgH="203200" progId="Equation.3">
                    <p:embed/>
                  </p:oleObj>
                </mc:Choice>
                <mc:Fallback>
                  <p:oleObj name="Equation" r:id="rId9" imgW="1854200" imgH="203200" progId="Equation.3">
                    <p:embed/>
                    <p:pic>
                      <p:nvPicPr>
                        <p:cNvPr id="13337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1680"/>
                          <a:ext cx="2637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89" name="Text Box 45"/>
            <p:cNvSpPr txBox="1">
              <a:spLocks noChangeArrowheads="1"/>
            </p:cNvSpPr>
            <p:nvPr/>
          </p:nvSpPr>
          <p:spPr bwMode="auto">
            <a:xfrm>
              <a:off x="624" y="1657"/>
              <a:ext cx="11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cs typeface="楷体_GB2312" charset="0"/>
                </a:rPr>
                <a:t>求</a:t>
              </a:r>
              <a:r>
                <a:rPr lang="en-US" altLang="zh-CN" sz="2400" b="1" i="1" dirty="0">
                  <a:solidFill>
                    <a:schemeClr val="accent2"/>
                  </a:solidFill>
                  <a:cs typeface="宋体" charset="0"/>
                </a:rPr>
                <a:t>K</a:t>
              </a:r>
              <a:r>
                <a:rPr lang="zh-CN" altLang="en-US" sz="2400" b="1" dirty="0">
                  <a:cs typeface="楷体_GB2312" charset="0"/>
                </a:rPr>
                <a:t>，使得</a:t>
              </a:r>
              <a:endParaRPr lang="en-US" altLang="zh-CN" sz="2400" b="1" dirty="0">
                <a:cs typeface="楷体_GB2312" charset="0"/>
              </a:endParaRPr>
            </a:p>
          </p:txBody>
        </p:sp>
      </p:grpSp>
      <p:grpSp>
        <p:nvGrpSpPr>
          <p:cNvPr id="57393" name="Group 49"/>
          <p:cNvGrpSpPr>
            <a:grpSpLocks/>
          </p:cNvGrpSpPr>
          <p:nvPr/>
        </p:nvGrpSpPr>
        <p:grpSpPr bwMode="auto">
          <a:xfrm>
            <a:off x="533400" y="2971800"/>
            <a:ext cx="6172200" cy="457200"/>
            <a:chOff x="336" y="2016"/>
            <a:chExt cx="3888" cy="288"/>
          </a:xfrm>
        </p:grpSpPr>
        <p:sp>
          <p:nvSpPr>
            <p:cNvPr id="57391" name="Rectangle 47"/>
            <p:cNvSpPr>
              <a:spLocks noChangeArrowheads="1"/>
            </p:cNvSpPr>
            <p:nvPr/>
          </p:nvSpPr>
          <p:spPr bwMode="auto">
            <a:xfrm>
              <a:off x="336" y="2016"/>
              <a:ext cx="3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zh-CN" altLang="en-US" sz="2400" b="1" dirty="0">
                  <a:solidFill>
                    <a:schemeClr val="accent2"/>
                  </a:solidFill>
                  <a:cs typeface="楷体_GB2312" charset="0"/>
                </a:rPr>
                <a:t>例：</a:t>
              </a:r>
              <a:r>
                <a:rPr kumimoji="1" lang="zh-CN" altLang="en-US" sz="2400" b="1" dirty="0">
                  <a:cs typeface="楷体_GB2312" charset="0"/>
                </a:rPr>
                <a:t>求</a:t>
              </a:r>
              <a:r>
                <a:rPr kumimoji="1" lang="en-US" altLang="zh-CN" sz="2400" b="1" dirty="0">
                  <a:cs typeface="楷体_GB2312" charset="0"/>
                </a:rPr>
                <a:t>                                  </a:t>
              </a:r>
              <a:r>
                <a:rPr kumimoji="1" lang="zh-CN" altLang="en-US" sz="2400" b="1" dirty="0">
                  <a:cs typeface="楷体_GB2312" charset="0"/>
                </a:rPr>
                <a:t>     在</a:t>
              </a:r>
              <a:r>
                <a:rPr kumimoji="1" lang="en-US" altLang="zh-CN" sz="2400" b="1" dirty="0">
                  <a:cs typeface="楷体_GB2312" charset="0"/>
                </a:rPr>
                <a:t> (1, 2) </a:t>
              </a:r>
              <a:r>
                <a:rPr kumimoji="1" lang="zh-CN" altLang="en-US" sz="2400" b="1" dirty="0">
                  <a:cs typeface="楷体_GB2312" charset="0"/>
                </a:rPr>
                <a:t>的实根。</a:t>
              </a:r>
              <a:endParaRPr kumimoji="1" lang="en-US" altLang="zh-CN" sz="2400" b="1" dirty="0">
                <a:cs typeface="楷体_GB2312" charset="0"/>
              </a:endParaRPr>
            </a:p>
          </p:txBody>
        </p:sp>
        <p:graphicFrame>
          <p:nvGraphicFramePr>
            <p:cNvPr id="13336" name="Object 48"/>
            <p:cNvGraphicFramePr>
              <a:graphicFrameLocks noChangeAspect="1"/>
            </p:cNvGraphicFramePr>
            <p:nvPr/>
          </p:nvGraphicFramePr>
          <p:xfrm>
            <a:off x="960" y="2016"/>
            <a:ext cx="1618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8" name="Equation" r:id="rId11" imgW="1422400" imgH="228600" progId="Equation.3">
                    <p:embed/>
                  </p:oleObj>
                </mc:Choice>
                <mc:Fallback>
                  <p:oleObj name="Equation" r:id="rId11" imgW="1422400" imgH="228600" progId="Equation.3">
                    <p:embed/>
                    <p:pic>
                      <p:nvPicPr>
                        <p:cNvPr id="13336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016"/>
                          <a:ext cx="1618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397" name="Group 53"/>
          <p:cNvGrpSpPr>
            <a:grpSpLocks/>
          </p:cNvGrpSpPr>
          <p:nvPr/>
        </p:nvGrpSpPr>
        <p:grpSpPr bwMode="auto">
          <a:xfrm>
            <a:off x="1143000" y="3352800"/>
            <a:ext cx="7162800" cy="950913"/>
            <a:chOff x="720" y="2352"/>
            <a:chExt cx="4512" cy="599"/>
          </a:xfrm>
        </p:grpSpPr>
        <p:graphicFrame>
          <p:nvGraphicFramePr>
            <p:cNvPr id="13332" name="Object 50"/>
            <p:cNvGraphicFramePr>
              <a:graphicFrameLocks noChangeAspect="1"/>
            </p:cNvGraphicFramePr>
            <p:nvPr/>
          </p:nvGraphicFramePr>
          <p:xfrm>
            <a:off x="1392" y="2352"/>
            <a:ext cx="1528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9" name="Equation" r:id="rId13" imgW="1333500" imgH="393700" progId="Equation.3">
                    <p:embed/>
                  </p:oleObj>
                </mc:Choice>
                <mc:Fallback>
                  <p:oleObj name="Equation" r:id="rId13" imgW="1333500" imgH="393700" progId="Equation.3">
                    <p:embed/>
                    <p:pic>
                      <p:nvPicPr>
                        <p:cNvPr id="13332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352"/>
                          <a:ext cx="1528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95" name="Text Box 51"/>
            <p:cNvSpPr txBox="1">
              <a:spLocks noChangeArrowheads="1"/>
            </p:cNvSpPr>
            <p:nvPr/>
          </p:nvSpPr>
          <p:spPr bwMode="auto">
            <a:xfrm>
              <a:off x="720" y="2400"/>
              <a:ext cx="45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latin typeface="楷体_GB2312" charset="0"/>
                  <a:cs typeface="楷体_GB2312" charset="0"/>
                </a:rPr>
                <a:t>如果用</a:t>
              </a:r>
              <a:r>
                <a:rPr lang="en-US" altLang="zh-CN" sz="2400" b="1" dirty="0">
                  <a:latin typeface="楷体_GB2312" charset="0"/>
                  <a:cs typeface="楷体_GB2312" charset="0"/>
                </a:rPr>
                <a:t>                             </a:t>
              </a:r>
              <a:r>
                <a:rPr lang="zh-CN" altLang="en-US" sz="2400" b="1" dirty="0">
                  <a:latin typeface="楷体_GB2312" charset="0"/>
                  <a:cs typeface="楷体_GB2312" charset="0"/>
                </a:rPr>
                <a:t>         进行迭代，则在</a:t>
              </a:r>
              <a:r>
                <a:rPr lang="en-US" altLang="zh-CN" sz="2400" b="1" dirty="0">
                  <a:cs typeface="楷体_GB2312" charset="0"/>
                </a:rPr>
                <a:t>(1, 2)</a:t>
              </a:r>
              <a:r>
                <a:rPr lang="zh-CN" altLang="en-US" sz="2400" b="1" dirty="0">
                  <a:latin typeface="楷体_GB2312" charset="0"/>
                  <a:cs typeface="楷体_GB2312" charset="0"/>
                </a:rPr>
                <a:t>中有</a:t>
              </a:r>
              <a:endParaRPr lang="en-US" altLang="zh-CN" sz="2400" b="1" dirty="0">
                <a:latin typeface="楷体_GB2312" charset="0"/>
                <a:cs typeface="楷体_GB2312" charset="0"/>
              </a:endParaRPr>
            </a:p>
          </p:txBody>
        </p:sp>
        <p:graphicFrame>
          <p:nvGraphicFramePr>
            <p:cNvPr id="13334" name="Object 52"/>
            <p:cNvGraphicFramePr>
              <a:graphicFrameLocks noChangeAspect="1"/>
            </p:cNvGraphicFramePr>
            <p:nvPr/>
          </p:nvGraphicFramePr>
          <p:xfrm>
            <a:off x="1920" y="2688"/>
            <a:ext cx="132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0" name="Equation" r:id="rId15" imgW="1168400" imgH="228600" progId="Equation.3">
                    <p:embed/>
                  </p:oleObj>
                </mc:Choice>
                <mc:Fallback>
                  <p:oleObj name="Equation" r:id="rId15" imgW="1168400" imgH="228600" progId="Equation.3">
                    <p:embed/>
                    <p:pic>
                      <p:nvPicPr>
                        <p:cNvPr id="13334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688"/>
                          <a:ext cx="132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401" name="Group 57"/>
          <p:cNvGrpSpPr>
            <a:grpSpLocks/>
          </p:cNvGrpSpPr>
          <p:nvPr/>
        </p:nvGrpSpPr>
        <p:grpSpPr bwMode="auto">
          <a:xfrm>
            <a:off x="1143000" y="4114800"/>
            <a:ext cx="6346825" cy="723900"/>
            <a:chOff x="720" y="2976"/>
            <a:chExt cx="3998" cy="456"/>
          </a:xfrm>
        </p:grpSpPr>
        <p:sp>
          <p:nvSpPr>
            <p:cNvPr id="57399" name="Text Box 55"/>
            <p:cNvSpPr txBox="1">
              <a:spLocks noChangeArrowheads="1"/>
            </p:cNvSpPr>
            <p:nvPr/>
          </p:nvSpPr>
          <p:spPr bwMode="auto">
            <a:xfrm>
              <a:off x="720" y="3024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cs typeface="楷体_GB2312" charset="0"/>
                </a:rPr>
                <a:t>现令</a:t>
              </a:r>
              <a:endParaRPr lang="en-US" altLang="zh-CN" sz="2400" b="1" dirty="0">
                <a:cs typeface="楷体_GB2312" charset="0"/>
              </a:endParaRPr>
            </a:p>
          </p:txBody>
        </p:sp>
        <p:graphicFrame>
          <p:nvGraphicFramePr>
            <p:cNvPr id="13331" name="Object 56"/>
            <p:cNvGraphicFramePr>
              <a:graphicFrameLocks noChangeAspect="1"/>
            </p:cNvGraphicFramePr>
            <p:nvPr/>
          </p:nvGraphicFramePr>
          <p:xfrm>
            <a:off x="1200" y="2976"/>
            <a:ext cx="3518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1" name="Equation" r:id="rId17" imgW="3022600" imgH="393700" progId="Equation.3">
                    <p:embed/>
                  </p:oleObj>
                </mc:Choice>
                <mc:Fallback>
                  <p:oleObj name="Equation" r:id="rId17" imgW="3022600" imgH="393700" progId="Equation.3">
                    <p:embed/>
                    <p:pic>
                      <p:nvPicPr>
                        <p:cNvPr id="13331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2976"/>
                          <a:ext cx="3518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407" name="Group 63"/>
          <p:cNvGrpSpPr>
            <a:grpSpLocks/>
          </p:cNvGrpSpPr>
          <p:nvPr/>
        </p:nvGrpSpPr>
        <p:grpSpPr bwMode="auto">
          <a:xfrm>
            <a:off x="1143000" y="4800600"/>
            <a:ext cx="6537325" cy="655638"/>
            <a:chOff x="768" y="3360"/>
            <a:chExt cx="4118" cy="413"/>
          </a:xfrm>
        </p:grpSpPr>
        <p:sp>
          <p:nvSpPr>
            <p:cNvPr id="57402" name="Text Box 58"/>
            <p:cNvSpPr txBox="1">
              <a:spLocks noChangeArrowheads="1"/>
            </p:cNvSpPr>
            <p:nvPr/>
          </p:nvSpPr>
          <p:spPr bwMode="auto">
            <a:xfrm>
              <a:off x="768" y="3408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cs typeface="楷体_GB2312" charset="0"/>
                </a:rPr>
                <a:t>希望</a:t>
              </a:r>
              <a:endParaRPr lang="en-US" altLang="zh-CN" sz="2400" b="1" dirty="0">
                <a:cs typeface="楷体_GB2312" charset="0"/>
              </a:endParaRPr>
            </a:p>
          </p:txBody>
        </p:sp>
        <p:graphicFrame>
          <p:nvGraphicFramePr>
            <p:cNvPr id="13327" name="Object 59"/>
            <p:cNvGraphicFramePr>
              <a:graphicFrameLocks noChangeAspect="1"/>
            </p:cNvGraphicFramePr>
            <p:nvPr/>
          </p:nvGraphicFramePr>
          <p:xfrm>
            <a:off x="1248" y="3408"/>
            <a:ext cx="1977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2" name="Equation" r:id="rId19" imgW="1727200" imgH="228600" progId="Equation.3">
                    <p:embed/>
                  </p:oleObj>
                </mc:Choice>
                <mc:Fallback>
                  <p:oleObj name="Equation" r:id="rId19" imgW="1727200" imgH="228600" progId="Equation.3">
                    <p:embed/>
                    <p:pic>
                      <p:nvPicPr>
                        <p:cNvPr id="13327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408"/>
                          <a:ext cx="1977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Object 61"/>
            <p:cNvGraphicFramePr>
              <a:graphicFrameLocks noChangeAspect="1"/>
            </p:cNvGraphicFramePr>
            <p:nvPr/>
          </p:nvGraphicFramePr>
          <p:xfrm>
            <a:off x="3696" y="3360"/>
            <a:ext cx="1190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3" name="Equation" r:id="rId21" imgW="939392" imgH="393529" progId="Equation.3">
                    <p:embed/>
                  </p:oleObj>
                </mc:Choice>
                <mc:Fallback>
                  <p:oleObj name="Equation" r:id="rId21" imgW="939392" imgH="393529" progId="Equation.3">
                    <p:embed/>
                    <p:pic>
                      <p:nvPicPr>
                        <p:cNvPr id="13328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360"/>
                          <a:ext cx="1190" cy="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406" name="Text Box 62"/>
            <p:cNvSpPr txBox="1">
              <a:spLocks noChangeArrowheads="1"/>
            </p:cNvSpPr>
            <p:nvPr/>
          </p:nvSpPr>
          <p:spPr bwMode="auto">
            <a:xfrm>
              <a:off x="3168" y="340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cs typeface="楷体_GB2312" charset="0"/>
                </a:rPr>
                <a:t>，即</a:t>
              </a:r>
              <a:endParaRPr lang="en-US" altLang="zh-CN" sz="2400" b="1" dirty="0">
                <a:cs typeface="楷体_GB2312" charset="0"/>
              </a:endParaRPr>
            </a:p>
          </p:txBody>
        </p:sp>
      </p:grpSp>
      <p:grpSp>
        <p:nvGrpSpPr>
          <p:cNvPr id="57411" name="Group 67"/>
          <p:cNvGrpSpPr>
            <a:grpSpLocks/>
          </p:cNvGrpSpPr>
          <p:nvPr/>
        </p:nvGrpSpPr>
        <p:grpSpPr bwMode="auto">
          <a:xfrm>
            <a:off x="1143000" y="5334000"/>
            <a:ext cx="7239000" cy="1212850"/>
            <a:chOff x="720" y="3360"/>
            <a:chExt cx="4560" cy="764"/>
          </a:xfrm>
        </p:grpSpPr>
        <p:sp>
          <p:nvSpPr>
            <p:cNvPr id="57408" name="Text Box 64"/>
            <p:cNvSpPr txBox="1">
              <a:spLocks noChangeArrowheads="1"/>
            </p:cNvSpPr>
            <p:nvPr/>
          </p:nvSpPr>
          <p:spPr bwMode="auto">
            <a:xfrm>
              <a:off x="720" y="3360"/>
              <a:ext cx="4560" cy="7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2400" b="1" dirty="0">
                  <a:latin typeface="楷体_GB2312" charset="0"/>
                  <a:cs typeface="楷体_GB2312" charset="0"/>
                </a:rPr>
                <a:t>在</a:t>
              </a:r>
              <a:r>
                <a:rPr lang="en-US" altLang="zh-CN" sz="2400" b="1" dirty="0">
                  <a:latin typeface="楷体_GB2312" charset="0"/>
                  <a:cs typeface="楷体_GB2312" charset="0"/>
                </a:rPr>
                <a:t> </a:t>
              </a:r>
              <a:r>
                <a:rPr lang="en-US" altLang="zh-CN" sz="2400" b="1" dirty="0">
                  <a:cs typeface="楷体_GB2312" charset="0"/>
                </a:rPr>
                <a:t>(1, 2) </a:t>
              </a:r>
              <a:r>
                <a:rPr lang="zh-CN" altLang="en-US" sz="2400" b="1" dirty="0">
                  <a:latin typeface="楷体_GB2312" charset="0"/>
                  <a:cs typeface="楷体_GB2312" charset="0"/>
                </a:rPr>
                <a:t>上可取任意</a:t>
              </a:r>
              <a:r>
                <a:rPr lang="en-US" altLang="zh-CN" sz="2400" b="1" dirty="0">
                  <a:latin typeface="楷体_GB2312" charset="0"/>
                  <a:cs typeface="楷体_GB2312" charset="0"/>
                </a:rPr>
                <a:t>                 </a:t>
              </a:r>
              <a:r>
                <a:rPr lang="zh-CN" altLang="en-US" sz="2400" b="1" dirty="0">
                  <a:latin typeface="楷体_GB2312" charset="0"/>
                  <a:cs typeface="楷体_GB2312" charset="0"/>
                </a:rPr>
                <a:t>      ，例如</a:t>
              </a:r>
              <a:r>
                <a:rPr lang="en-US" altLang="zh-CN" sz="2400" b="1" i="1" dirty="0">
                  <a:solidFill>
                    <a:schemeClr val="accent2"/>
                  </a:solidFill>
                  <a:cs typeface="楷体_GB2312" charset="0"/>
                </a:rPr>
                <a:t>K </a:t>
              </a:r>
              <a:r>
                <a:rPr lang="en-US" altLang="zh-CN" sz="2400" b="1" dirty="0">
                  <a:solidFill>
                    <a:schemeClr val="accent2"/>
                  </a:solidFill>
                  <a:cs typeface="楷体_GB2312" charset="0"/>
                </a:rPr>
                <a:t>= </a:t>
              </a:r>
              <a:r>
                <a:rPr lang="en-US" altLang="zh-CN" sz="2400" b="1" dirty="0">
                  <a:solidFill>
                    <a:schemeClr val="accent2"/>
                  </a:solidFill>
                  <a:cs typeface="楷体_GB2312" charset="0"/>
                  <a:sym typeface="Symbol" charset="0"/>
                </a:rPr>
                <a:t></a:t>
              </a:r>
              <a:r>
                <a:rPr lang="en-US" altLang="zh-CN" sz="2400" b="1" dirty="0">
                  <a:solidFill>
                    <a:schemeClr val="accent2"/>
                  </a:solidFill>
                  <a:cs typeface="楷体_GB2312" charset="0"/>
                </a:rPr>
                <a:t>0.5</a:t>
              </a:r>
              <a:r>
                <a:rPr lang="zh-CN" altLang="en-US" sz="2400" b="1" i="1" dirty="0">
                  <a:cs typeface="楷体_GB2312" charset="0"/>
                </a:rPr>
                <a:t>，</a:t>
              </a:r>
              <a:r>
                <a:rPr lang="zh-CN" altLang="en-US" sz="2400" b="1" dirty="0">
                  <a:cs typeface="楷体_GB2312" charset="0"/>
                </a:rPr>
                <a:t>则对应</a:t>
              </a:r>
              <a:r>
                <a:rPr lang="en-US" altLang="zh-CN" sz="2400" b="1" dirty="0">
                  <a:cs typeface="楷体_GB2312" charset="0"/>
                </a:rPr>
                <a:t>             </a:t>
              </a:r>
              <a:r>
                <a:rPr lang="en-US" altLang="zh-CN" sz="2400" b="1" dirty="0">
                  <a:latin typeface="楷体_GB2312" charset="0"/>
                  <a:cs typeface="楷体_GB2312" charset="0"/>
                </a:rPr>
                <a:t>               </a:t>
              </a:r>
              <a:r>
                <a:rPr lang="zh-CN" altLang="en-US" sz="2400" b="1" dirty="0">
                  <a:latin typeface="楷体_GB2312" charset="0"/>
                  <a:cs typeface="楷体_GB2312" charset="0"/>
                </a:rPr>
                <a:t>        即产生收敛序列。</a:t>
              </a:r>
              <a:endParaRPr lang="en-US" altLang="zh-CN" sz="2400" b="1" dirty="0">
                <a:latin typeface="楷体_GB2312" charset="0"/>
                <a:cs typeface="楷体_GB2312" charset="0"/>
              </a:endParaRPr>
            </a:p>
          </p:txBody>
        </p:sp>
        <p:graphicFrame>
          <p:nvGraphicFramePr>
            <p:cNvPr id="13324" name="Object 65"/>
            <p:cNvGraphicFramePr>
              <a:graphicFrameLocks noChangeAspect="1"/>
            </p:cNvGraphicFramePr>
            <p:nvPr/>
          </p:nvGraphicFramePr>
          <p:xfrm>
            <a:off x="2496" y="3408"/>
            <a:ext cx="873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4" name="Equation" r:id="rId23" imgW="761669" imgH="393529" progId="Equation.3">
                    <p:embed/>
                  </p:oleObj>
                </mc:Choice>
                <mc:Fallback>
                  <p:oleObj name="Equation" r:id="rId23" imgW="761669" imgH="393529" progId="Equation.3">
                    <p:embed/>
                    <p:pic>
                      <p:nvPicPr>
                        <p:cNvPr id="13324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408"/>
                          <a:ext cx="873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5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1494932"/>
                </p:ext>
              </p:extLst>
            </p:nvPr>
          </p:nvGraphicFramePr>
          <p:xfrm>
            <a:off x="1488" y="3702"/>
            <a:ext cx="1440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5" name="Equation" r:id="rId25" imgW="1231366" imgH="393529" progId="Equation.3">
                    <p:embed/>
                  </p:oleObj>
                </mc:Choice>
                <mc:Fallback>
                  <p:oleObj name="Equation" r:id="rId25" imgW="1231366" imgH="393529" progId="Equation.3">
                    <p:embed/>
                    <p:pic>
                      <p:nvPicPr>
                        <p:cNvPr id="13325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3702"/>
                          <a:ext cx="1440" cy="4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3047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4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73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3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7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74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74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74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6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2"/>
          <p:cNvSpPr txBox="1">
            <a:spLocks noChangeArrowheads="1"/>
          </p:cNvSpPr>
          <p:nvPr/>
        </p:nvSpPr>
        <p:spPr bwMode="auto">
          <a:xfrm>
            <a:off x="323850" y="836613"/>
            <a:ext cx="8583613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zh-CN" altLang="en-US" sz="2800" b="1">
                <a:latin typeface="黑体" charset="0"/>
                <a:cs typeface="黑体" charset="0"/>
              </a:rPr>
              <a:t>设 </a:t>
            </a:r>
            <a:r>
              <a:rPr kumimoji="1" lang="en-US" altLang="zh-CN" sz="2800" b="1" i="1">
                <a:latin typeface="黑体" charset="0"/>
                <a:cs typeface="黑体" charset="0"/>
              </a:rPr>
              <a:t>x</a:t>
            </a:r>
            <a:r>
              <a:rPr kumimoji="1" lang="en-US" altLang="zh-CN" sz="2800" b="1" i="1" baseline="-25000">
                <a:latin typeface="黑体" charset="0"/>
                <a:cs typeface="黑体" charset="0"/>
              </a:rPr>
              <a:t>k </a:t>
            </a:r>
            <a:r>
              <a:rPr kumimoji="1" lang="zh-CN" altLang="en-US" sz="2800" b="1">
                <a:latin typeface="黑体" charset="0"/>
                <a:cs typeface="黑体" charset="0"/>
              </a:rPr>
              <a:t>是根 </a:t>
            </a:r>
            <a:r>
              <a:rPr kumimoji="1" lang="en-US" altLang="zh-CN" sz="2800" b="1" i="1">
                <a:latin typeface="黑体" charset="0"/>
                <a:cs typeface="黑体" charset="0"/>
              </a:rPr>
              <a:t>x</a:t>
            </a:r>
            <a:r>
              <a:rPr kumimoji="1" lang="en-US" altLang="zh-CN" sz="2800" b="1" baseline="30000">
                <a:latin typeface="黑体" charset="0"/>
                <a:cs typeface="黑体" charset="0"/>
              </a:rPr>
              <a:t>*</a:t>
            </a:r>
            <a:r>
              <a:rPr kumimoji="1" lang="en-US" altLang="zh-CN" sz="2800" b="1">
                <a:latin typeface="黑体" charset="0"/>
                <a:cs typeface="黑体" charset="0"/>
              </a:rPr>
              <a:t> </a:t>
            </a:r>
            <a:r>
              <a:rPr kumimoji="1" lang="zh-CN" altLang="en-US" sz="2800" b="1">
                <a:latin typeface="黑体" charset="0"/>
                <a:cs typeface="黑体" charset="0"/>
              </a:rPr>
              <a:t>的某个预测值，用迭代公式校正一次得：</a:t>
            </a:r>
          </a:p>
        </p:txBody>
      </p:sp>
      <p:sp>
        <p:nvSpPr>
          <p:cNvPr id="6149" name="Rectangle 7"/>
          <p:cNvSpPr>
            <a:spLocks noChangeArrowheads="1"/>
          </p:cNvSpPr>
          <p:nvPr/>
        </p:nvSpPr>
        <p:spPr bwMode="auto">
          <a:xfrm>
            <a:off x="381000" y="304800"/>
            <a:ext cx="3711575" cy="55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457200" indent="-457200">
              <a:buFont typeface="Wingdings" charset="0"/>
              <a:buChar char="Ø"/>
            </a:pPr>
            <a:r>
              <a:rPr lang="zh-CN" altLang="en-US" sz="3000" b="1">
                <a:solidFill>
                  <a:srgbClr val="0000FF"/>
                </a:solidFill>
                <a:latin typeface="黑体" charset="0"/>
                <a:cs typeface="黑体" charset="0"/>
              </a:rPr>
              <a:t>二、</a:t>
            </a:r>
            <a:r>
              <a:rPr lang="en-US" altLang="zh-CN" sz="3000" b="1">
                <a:solidFill>
                  <a:srgbClr val="0000FF"/>
                </a:solidFill>
                <a:latin typeface="黑体" charset="0"/>
                <a:cs typeface="黑体" charset="0"/>
              </a:rPr>
              <a:t>Aitken</a:t>
            </a:r>
            <a:r>
              <a:rPr lang="zh-CN" altLang="en-US" sz="3000" b="1">
                <a:solidFill>
                  <a:srgbClr val="0000FF"/>
                </a:solidFill>
                <a:latin typeface="黑体" charset="0"/>
                <a:cs typeface="黑体" charset="0"/>
              </a:rPr>
              <a:t>加速法</a:t>
            </a:r>
          </a:p>
        </p:txBody>
      </p:sp>
      <p:graphicFrame>
        <p:nvGraphicFramePr>
          <p:cNvPr id="101384" name="Object 8"/>
          <p:cNvGraphicFramePr>
            <a:graphicFrameLocks noChangeAspect="1"/>
          </p:cNvGraphicFramePr>
          <p:nvPr/>
        </p:nvGraphicFramePr>
        <p:xfrm>
          <a:off x="2268538" y="1557338"/>
          <a:ext cx="337026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1435100" imgH="241300" progId="Equation.3">
                  <p:embed/>
                </p:oleObj>
              </mc:Choice>
              <mc:Fallback>
                <p:oleObj name="Equation" r:id="rId3" imgW="1435100" imgH="241300" progId="Equation.3">
                  <p:embed/>
                  <p:pic>
                    <p:nvPicPr>
                      <p:cNvPr id="1013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557338"/>
                        <a:ext cx="337026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651500" y="1557338"/>
          <a:ext cx="18065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762000" imgH="241300" progId="Equation.3">
                  <p:embed/>
                </p:oleObj>
              </mc:Choice>
              <mc:Fallback>
                <p:oleObj name="Equation" r:id="rId5" imgW="762000" imgH="241300" progId="Equation.3">
                  <p:embed/>
                  <p:pic>
                    <p:nvPicPr>
                      <p:cNvPr id="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1557338"/>
                        <a:ext cx="180657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5649913" y="2814638"/>
          <a:ext cx="216217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838200" imgH="241300" progId="Equation.3">
                  <p:embed/>
                </p:oleObj>
              </mc:Choice>
              <mc:Fallback>
                <p:oleObj name="Equation" r:id="rId7" imgW="838200" imgH="241300" progId="Equation.3">
                  <p:embed/>
                  <p:pic>
                    <p:nvPicPr>
                      <p:cNvPr id="1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3" y="2814638"/>
                        <a:ext cx="2162175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4138613" y="2781300"/>
          <a:ext cx="149225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9" imgW="533400" imgH="241300" progId="Equation.3">
                  <p:embed/>
                </p:oleObj>
              </mc:Choice>
              <mc:Fallback>
                <p:oleObj name="Equation" r:id="rId9" imgW="533400" imgH="241300" progId="Equation.3">
                  <p:embed/>
                  <p:pic>
                    <p:nvPicPr>
                      <p:cNvPr id="1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8613" y="2781300"/>
                        <a:ext cx="1492250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7"/>
          <p:cNvGrpSpPr>
            <a:grpSpLocks/>
          </p:cNvGrpSpPr>
          <p:nvPr/>
        </p:nvGrpSpPr>
        <p:grpSpPr bwMode="auto">
          <a:xfrm>
            <a:off x="395288" y="2205038"/>
            <a:ext cx="8229600" cy="657225"/>
            <a:chOff x="288" y="750"/>
            <a:chExt cx="5184" cy="414"/>
          </a:xfrm>
        </p:grpSpPr>
        <p:sp>
          <p:nvSpPr>
            <p:cNvPr id="15" name="Text Box 6"/>
            <p:cNvSpPr txBox="1">
              <a:spLocks noChangeArrowheads="1"/>
            </p:cNvSpPr>
            <p:nvPr/>
          </p:nvSpPr>
          <p:spPr bwMode="auto">
            <a:xfrm>
              <a:off x="288" y="768"/>
              <a:ext cx="51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zh-CN" altLang="en-US" sz="2800" b="1" dirty="0">
                  <a:latin typeface="黑体" charset="0"/>
                  <a:cs typeface="黑体" charset="0"/>
                </a:rPr>
                <a:t>将     </a:t>
              </a:r>
              <a:r>
                <a:rPr kumimoji="1" lang="en-US" altLang="zh-CN" sz="2800" b="1" dirty="0">
                  <a:latin typeface="黑体" charset="0"/>
                  <a:cs typeface="黑体" charset="0"/>
                </a:rPr>
                <a:t>   </a:t>
              </a:r>
              <a:r>
                <a:rPr kumimoji="1" lang="zh-CN" altLang="en-US" sz="2800" b="1" dirty="0">
                  <a:latin typeface="黑体" charset="0"/>
                  <a:cs typeface="黑体" charset="0"/>
                </a:rPr>
                <a:t>再校正一次，</a:t>
              </a:r>
            </a:p>
          </p:txBody>
        </p:sp>
        <p:graphicFrame>
          <p:nvGraphicFramePr>
            <p:cNvPr id="14349" name="Object 13"/>
            <p:cNvGraphicFramePr>
              <a:graphicFrameLocks noChangeAspect="1"/>
            </p:cNvGraphicFramePr>
            <p:nvPr/>
          </p:nvGraphicFramePr>
          <p:xfrm>
            <a:off x="612" y="750"/>
            <a:ext cx="485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4" name="Equation" r:id="rId11" imgW="254000" imgH="215900" progId="Equation.3">
                    <p:embed/>
                  </p:oleObj>
                </mc:Choice>
                <mc:Fallback>
                  <p:oleObj name="Equation" r:id="rId11" imgW="254000" imgH="215900" progId="Equation.3">
                    <p:embed/>
                    <p:pic>
                      <p:nvPicPr>
                        <p:cNvPr id="1434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750"/>
                          <a:ext cx="485" cy="4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14"/>
          <p:cNvGraphicFramePr>
            <a:graphicFrameLocks noChangeAspect="1"/>
          </p:cNvGraphicFramePr>
          <p:nvPr/>
        </p:nvGraphicFramePr>
        <p:xfrm>
          <a:off x="4284663" y="3933825"/>
          <a:ext cx="3021012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13" imgW="1219200" imgH="444500" progId="Equation.3">
                  <p:embed/>
                </p:oleObj>
              </mc:Choice>
              <mc:Fallback>
                <p:oleObj name="Equation" r:id="rId13" imgW="1219200" imgH="444500" progId="Equation.3">
                  <p:embed/>
                  <p:pic>
                    <p:nvPicPr>
                      <p:cNvPr id="1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3933825"/>
                        <a:ext cx="3021012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381000" y="5507038"/>
            <a:ext cx="13716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黑体" charset="0"/>
                <a:cs typeface="黑体" charset="0"/>
              </a:rPr>
              <a:t>因此有</a:t>
            </a:r>
          </a:p>
        </p:txBody>
      </p:sp>
      <p:graphicFrame>
        <p:nvGraphicFramePr>
          <p:cNvPr id="19" name="Object 14"/>
          <p:cNvGraphicFramePr>
            <a:graphicFrameLocks noChangeAspect="1"/>
          </p:cNvGraphicFramePr>
          <p:nvPr/>
        </p:nvGraphicFramePr>
        <p:xfrm>
          <a:off x="1979613" y="5262563"/>
          <a:ext cx="6481762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15" imgW="2616200" imgH="444500" progId="Equation.3">
                  <p:embed/>
                </p:oleObj>
              </mc:Choice>
              <mc:Fallback>
                <p:oleObj name="Equation" r:id="rId15" imgW="2616200" imgH="444500" progId="Equation.3">
                  <p:embed/>
                  <p:pic>
                    <p:nvPicPr>
                      <p:cNvPr id="1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262563"/>
                        <a:ext cx="6481762" cy="111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323850" y="3573463"/>
            <a:ext cx="8229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黑体" charset="0"/>
                <a:cs typeface="黑体" charset="0"/>
              </a:rPr>
              <a:t>上面两式相除，得</a:t>
            </a:r>
          </a:p>
        </p:txBody>
      </p:sp>
    </p:spTree>
    <p:extLst>
      <p:ext uri="{BB962C8B-B14F-4D97-AF65-F5344CB8AC3E}">
        <p14:creationId xmlns:p14="http://schemas.microsoft.com/office/powerpoint/2010/main" val="63006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 build="p" autoUpdateAnimBg="0"/>
      <p:bldP spid="18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6248400" y="0"/>
            <a:ext cx="2895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kumimoji="1" lang="en-US" altLang="zh-CN" sz="1800" b="1">
                <a:cs typeface="宋体" charset="0"/>
              </a:rPr>
              <a:t>§3  Fixed-Point Iteration</a:t>
            </a:r>
            <a:endParaRPr kumimoji="1" lang="en-US" altLang="zh-CN" sz="2000" b="1">
              <a:solidFill>
                <a:schemeClr val="tx2"/>
              </a:solidFill>
              <a:cs typeface="楷体_GB2312" charset="0"/>
            </a:endParaRPr>
          </a:p>
        </p:txBody>
      </p:sp>
      <p:grpSp>
        <p:nvGrpSpPr>
          <p:cNvPr id="59407" name="Group 15"/>
          <p:cNvGrpSpPr>
            <a:grpSpLocks/>
          </p:cNvGrpSpPr>
          <p:nvPr/>
        </p:nvGrpSpPr>
        <p:grpSpPr bwMode="auto">
          <a:xfrm>
            <a:off x="304800" y="1295400"/>
            <a:ext cx="5715000" cy="4206875"/>
            <a:chOff x="1104" y="672"/>
            <a:chExt cx="3600" cy="2650"/>
          </a:xfrm>
        </p:grpSpPr>
        <p:sp>
          <p:nvSpPr>
            <p:cNvPr id="59396" name="Line 4"/>
            <p:cNvSpPr>
              <a:spLocks noChangeShapeType="1"/>
            </p:cNvSpPr>
            <p:nvPr/>
          </p:nvSpPr>
          <p:spPr bwMode="auto">
            <a:xfrm>
              <a:off x="1104" y="3120"/>
              <a:ext cx="3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9397" name="Line 5"/>
            <p:cNvSpPr>
              <a:spLocks noChangeShapeType="1"/>
            </p:cNvSpPr>
            <p:nvPr/>
          </p:nvSpPr>
          <p:spPr bwMode="auto">
            <a:xfrm flipV="1">
              <a:off x="1200" y="768"/>
              <a:ext cx="0" cy="24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9398" name="Freeform 6"/>
            <p:cNvSpPr>
              <a:spLocks/>
            </p:cNvSpPr>
            <p:nvPr/>
          </p:nvSpPr>
          <p:spPr bwMode="auto">
            <a:xfrm>
              <a:off x="1584" y="1056"/>
              <a:ext cx="2544" cy="1296"/>
            </a:xfrm>
            <a:custGeom>
              <a:avLst/>
              <a:gdLst>
                <a:gd name="T0" fmla="*/ 0 w 2736"/>
                <a:gd name="T1" fmla="*/ 0 h 1104"/>
                <a:gd name="T2" fmla="*/ 192 w 2736"/>
                <a:gd name="T3" fmla="*/ 336 h 1104"/>
                <a:gd name="T4" fmla="*/ 672 w 2736"/>
                <a:gd name="T5" fmla="*/ 768 h 1104"/>
                <a:gd name="T6" fmla="*/ 1248 w 2736"/>
                <a:gd name="T7" fmla="*/ 960 h 1104"/>
                <a:gd name="T8" fmla="*/ 1872 w 2736"/>
                <a:gd name="T9" fmla="*/ 1056 h 1104"/>
                <a:gd name="T10" fmla="*/ 2736 w 2736"/>
                <a:gd name="T11" fmla="*/ 1104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36" h="1104">
                  <a:moveTo>
                    <a:pt x="0" y="0"/>
                  </a:moveTo>
                  <a:cubicBezTo>
                    <a:pt x="40" y="104"/>
                    <a:pt x="80" y="208"/>
                    <a:pt x="192" y="336"/>
                  </a:cubicBezTo>
                  <a:cubicBezTo>
                    <a:pt x="304" y="464"/>
                    <a:pt x="496" y="664"/>
                    <a:pt x="672" y="768"/>
                  </a:cubicBezTo>
                  <a:cubicBezTo>
                    <a:pt x="848" y="872"/>
                    <a:pt x="1048" y="912"/>
                    <a:pt x="1248" y="960"/>
                  </a:cubicBezTo>
                  <a:cubicBezTo>
                    <a:pt x="1448" y="1008"/>
                    <a:pt x="1624" y="1032"/>
                    <a:pt x="1872" y="1056"/>
                  </a:cubicBezTo>
                  <a:cubicBezTo>
                    <a:pt x="2120" y="1080"/>
                    <a:pt x="2428" y="1092"/>
                    <a:pt x="2736" y="110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9400" name="Line 8"/>
            <p:cNvSpPr>
              <a:spLocks noChangeShapeType="1"/>
            </p:cNvSpPr>
            <p:nvPr/>
          </p:nvSpPr>
          <p:spPr bwMode="auto">
            <a:xfrm flipV="1">
              <a:off x="1200" y="1056"/>
              <a:ext cx="2063" cy="206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9401" name="Text Box 9"/>
            <p:cNvSpPr txBox="1">
              <a:spLocks noChangeArrowheads="1"/>
            </p:cNvSpPr>
            <p:nvPr/>
          </p:nvSpPr>
          <p:spPr bwMode="auto">
            <a:xfrm>
              <a:off x="4464" y="288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000" b="1" i="1">
                  <a:cs typeface="宋体" charset="0"/>
                </a:rPr>
                <a:t>x</a:t>
              </a:r>
            </a:p>
          </p:txBody>
        </p:sp>
        <p:sp>
          <p:nvSpPr>
            <p:cNvPr id="59402" name="Text Box 10"/>
            <p:cNvSpPr txBox="1">
              <a:spLocks noChangeArrowheads="1"/>
            </p:cNvSpPr>
            <p:nvPr/>
          </p:nvSpPr>
          <p:spPr bwMode="auto">
            <a:xfrm>
              <a:off x="1248" y="672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000" b="1" i="1">
                  <a:cs typeface="宋体" charset="0"/>
                </a:rPr>
                <a:t>y</a:t>
              </a:r>
            </a:p>
          </p:txBody>
        </p:sp>
        <p:sp>
          <p:nvSpPr>
            <p:cNvPr id="59403" name="Text Box 11"/>
            <p:cNvSpPr txBox="1">
              <a:spLocks noChangeArrowheads="1"/>
            </p:cNvSpPr>
            <p:nvPr/>
          </p:nvSpPr>
          <p:spPr bwMode="auto">
            <a:xfrm>
              <a:off x="3168" y="1008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000" b="1" i="1">
                  <a:cs typeface="宋体" charset="0"/>
                </a:rPr>
                <a:t>y = x</a:t>
              </a:r>
            </a:p>
          </p:txBody>
        </p:sp>
        <p:sp>
          <p:nvSpPr>
            <p:cNvPr id="59404" name="Text Box 12"/>
            <p:cNvSpPr txBox="1">
              <a:spLocks noChangeArrowheads="1"/>
            </p:cNvSpPr>
            <p:nvPr/>
          </p:nvSpPr>
          <p:spPr bwMode="auto">
            <a:xfrm>
              <a:off x="1584" y="912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000" b="1" i="1">
                  <a:cs typeface="宋体" charset="0"/>
                </a:rPr>
                <a:t>y </a:t>
              </a:r>
              <a:r>
                <a:rPr lang="en-US" altLang="zh-CN" sz="2000" b="1">
                  <a:cs typeface="宋体" charset="0"/>
                </a:rPr>
                <a:t>=</a:t>
              </a:r>
              <a:r>
                <a:rPr lang="en-US" altLang="zh-CN" sz="2000" b="1" i="1">
                  <a:cs typeface="宋体" charset="0"/>
                </a:rPr>
                <a:t> g</a:t>
              </a:r>
              <a:r>
                <a:rPr lang="en-US" altLang="zh-CN" sz="2000" b="1">
                  <a:cs typeface="宋体" charset="0"/>
                </a:rPr>
                <a:t>(</a:t>
              </a:r>
              <a:r>
                <a:rPr lang="en-US" altLang="zh-CN" sz="2000" b="1" i="1">
                  <a:cs typeface="宋体" charset="0"/>
                </a:rPr>
                <a:t>x</a:t>
              </a:r>
              <a:r>
                <a:rPr lang="en-US" altLang="zh-CN" sz="2000" b="1">
                  <a:cs typeface="宋体" charset="0"/>
                </a:rPr>
                <a:t>)</a:t>
              </a:r>
            </a:p>
          </p:txBody>
        </p:sp>
        <p:sp>
          <p:nvSpPr>
            <p:cNvPr id="59405" name="Line 13"/>
            <p:cNvSpPr>
              <a:spLocks noChangeShapeType="1"/>
            </p:cNvSpPr>
            <p:nvPr/>
          </p:nvSpPr>
          <p:spPr bwMode="auto">
            <a:xfrm>
              <a:off x="2304" y="2016"/>
              <a:ext cx="0" cy="1104"/>
            </a:xfrm>
            <a:prstGeom prst="line">
              <a:avLst/>
            </a:prstGeom>
            <a:noFill/>
            <a:ln w="15875">
              <a:solidFill>
                <a:srgbClr val="FF33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9406" name="Text Box 14"/>
            <p:cNvSpPr txBox="1">
              <a:spLocks noChangeArrowheads="1"/>
            </p:cNvSpPr>
            <p:nvPr/>
          </p:nvSpPr>
          <p:spPr bwMode="auto">
            <a:xfrm>
              <a:off x="2160" y="307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000" b="1" i="1">
                  <a:solidFill>
                    <a:srgbClr val="FF3300"/>
                  </a:solidFill>
                  <a:cs typeface="宋体" charset="0"/>
                </a:rPr>
                <a:t>x</a:t>
              </a:r>
              <a:r>
                <a:rPr lang="en-US" altLang="zh-CN" sz="2000" b="1">
                  <a:solidFill>
                    <a:srgbClr val="FF3300"/>
                  </a:solidFill>
                  <a:cs typeface="宋体" charset="0"/>
                </a:rPr>
                <a:t>*</a:t>
              </a:r>
              <a:endParaRPr lang="en-US" altLang="zh-CN" sz="2000" b="1" i="1">
                <a:solidFill>
                  <a:srgbClr val="FF3300"/>
                </a:solidFill>
                <a:cs typeface="宋体" charset="0"/>
              </a:endParaRPr>
            </a:p>
          </p:txBody>
        </p:sp>
      </p:grpSp>
      <p:grpSp>
        <p:nvGrpSpPr>
          <p:cNvPr id="59411" name="Group 19"/>
          <p:cNvGrpSpPr>
            <a:grpSpLocks/>
          </p:cNvGrpSpPr>
          <p:nvPr/>
        </p:nvGrpSpPr>
        <p:grpSpPr bwMode="auto">
          <a:xfrm>
            <a:off x="4572000" y="3962400"/>
            <a:ext cx="457200" cy="1539875"/>
            <a:chOff x="3072" y="2496"/>
            <a:chExt cx="288" cy="970"/>
          </a:xfrm>
        </p:grpSpPr>
        <p:sp>
          <p:nvSpPr>
            <p:cNvPr id="59408" name="Line 16"/>
            <p:cNvSpPr>
              <a:spLocks noChangeShapeType="1"/>
            </p:cNvSpPr>
            <p:nvPr/>
          </p:nvSpPr>
          <p:spPr bwMode="auto">
            <a:xfrm>
              <a:off x="3168" y="2496"/>
              <a:ext cx="0" cy="76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9409" name="Text Box 17"/>
            <p:cNvSpPr txBox="1">
              <a:spLocks noChangeArrowheads="1"/>
            </p:cNvSpPr>
            <p:nvPr/>
          </p:nvSpPr>
          <p:spPr bwMode="auto">
            <a:xfrm>
              <a:off x="3072" y="321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000" b="1" i="1">
                  <a:cs typeface="宋体" charset="0"/>
                </a:rPr>
                <a:t>x</a:t>
              </a:r>
              <a:r>
                <a:rPr lang="en-US" altLang="zh-CN" sz="2000" b="1" baseline="-25000">
                  <a:cs typeface="宋体" charset="0"/>
                </a:rPr>
                <a:t>0</a:t>
              </a:r>
              <a:endParaRPr lang="en-US" altLang="zh-CN" sz="2000" b="1" i="1">
                <a:cs typeface="宋体" charset="0"/>
              </a:endParaRPr>
            </a:p>
          </p:txBody>
        </p:sp>
      </p:grpSp>
      <p:sp>
        <p:nvSpPr>
          <p:cNvPr id="59410" name="Text Box 18"/>
          <p:cNvSpPr txBox="1">
            <a:spLocks noChangeArrowheads="1"/>
          </p:cNvSpPr>
          <p:nvPr/>
        </p:nvSpPr>
        <p:spPr bwMode="auto">
          <a:xfrm>
            <a:off x="4572000" y="35814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000" b="1" i="1">
                <a:cs typeface="宋体" charset="0"/>
              </a:rPr>
              <a:t>P</a:t>
            </a:r>
            <a:r>
              <a:rPr lang="en-US" altLang="zh-CN" sz="2000" b="1">
                <a:cs typeface="宋体" charset="0"/>
              </a:rPr>
              <a:t>(</a:t>
            </a:r>
            <a:r>
              <a:rPr lang="en-US" altLang="zh-CN" sz="2000" b="1" i="1">
                <a:cs typeface="宋体" charset="0"/>
              </a:rPr>
              <a:t>x</a:t>
            </a:r>
            <a:r>
              <a:rPr lang="en-US" altLang="zh-CN" sz="2000" b="1" baseline="-25000">
                <a:cs typeface="宋体" charset="0"/>
              </a:rPr>
              <a:t>0</a:t>
            </a:r>
            <a:r>
              <a:rPr lang="en-US" altLang="zh-CN" sz="2000" b="1">
                <a:cs typeface="宋体" charset="0"/>
              </a:rPr>
              <a:t>, </a:t>
            </a:r>
            <a:r>
              <a:rPr lang="en-US" altLang="zh-CN" sz="2000" b="1" i="1">
                <a:cs typeface="宋体" charset="0"/>
              </a:rPr>
              <a:t>x</a:t>
            </a:r>
            <a:r>
              <a:rPr lang="en-US" altLang="zh-CN" sz="2000" b="1" baseline="-25000">
                <a:cs typeface="宋体" charset="0"/>
              </a:rPr>
              <a:t>1</a:t>
            </a:r>
            <a:r>
              <a:rPr lang="en-US" altLang="zh-CN" sz="2000" b="1">
                <a:cs typeface="宋体" charset="0"/>
              </a:rPr>
              <a:t>)</a:t>
            </a:r>
            <a:endParaRPr lang="en-US" altLang="zh-CN" sz="2000" b="1" i="1">
              <a:cs typeface="宋体" charset="0"/>
            </a:endParaRPr>
          </a:p>
        </p:txBody>
      </p:sp>
      <p:grpSp>
        <p:nvGrpSpPr>
          <p:cNvPr id="59415" name="Group 23"/>
          <p:cNvGrpSpPr>
            <a:grpSpLocks/>
          </p:cNvGrpSpPr>
          <p:nvPr/>
        </p:nvGrpSpPr>
        <p:grpSpPr bwMode="auto">
          <a:xfrm>
            <a:off x="1447800" y="3962400"/>
            <a:ext cx="3276600" cy="1539875"/>
            <a:chOff x="1104" y="2496"/>
            <a:chExt cx="2064" cy="970"/>
          </a:xfrm>
        </p:grpSpPr>
        <p:sp>
          <p:nvSpPr>
            <p:cNvPr id="59412" name="Line 20"/>
            <p:cNvSpPr>
              <a:spLocks noChangeShapeType="1"/>
            </p:cNvSpPr>
            <p:nvPr/>
          </p:nvSpPr>
          <p:spPr bwMode="auto">
            <a:xfrm flipH="1">
              <a:off x="1248" y="2496"/>
              <a:ext cx="192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9413" name="Line 21"/>
            <p:cNvSpPr>
              <a:spLocks noChangeShapeType="1"/>
            </p:cNvSpPr>
            <p:nvPr/>
          </p:nvSpPr>
          <p:spPr bwMode="auto">
            <a:xfrm>
              <a:off x="1248" y="2496"/>
              <a:ext cx="0" cy="76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9414" name="Text Box 22"/>
            <p:cNvSpPr txBox="1">
              <a:spLocks noChangeArrowheads="1"/>
            </p:cNvSpPr>
            <p:nvPr/>
          </p:nvSpPr>
          <p:spPr bwMode="auto">
            <a:xfrm>
              <a:off x="1104" y="321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000" b="1" i="1">
                  <a:cs typeface="宋体" charset="0"/>
                </a:rPr>
                <a:t>x</a:t>
              </a:r>
              <a:r>
                <a:rPr lang="en-US" altLang="zh-CN" sz="2000" b="1" baseline="-25000">
                  <a:cs typeface="宋体" charset="0"/>
                </a:rPr>
                <a:t>1</a:t>
              </a:r>
              <a:endParaRPr lang="en-US" altLang="zh-CN" sz="2000" b="1" i="1">
                <a:cs typeface="宋体" charset="0"/>
              </a:endParaRPr>
            </a:p>
          </p:txBody>
        </p:sp>
      </p:grpSp>
      <p:grpSp>
        <p:nvGrpSpPr>
          <p:cNvPr id="59420" name="Group 28"/>
          <p:cNvGrpSpPr>
            <a:grpSpLocks/>
          </p:cNvGrpSpPr>
          <p:nvPr/>
        </p:nvGrpSpPr>
        <p:grpSpPr bwMode="auto">
          <a:xfrm>
            <a:off x="1676400" y="2971800"/>
            <a:ext cx="1219200" cy="2530475"/>
            <a:chOff x="1248" y="1872"/>
            <a:chExt cx="768" cy="1594"/>
          </a:xfrm>
        </p:grpSpPr>
        <p:sp>
          <p:nvSpPr>
            <p:cNvPr id="59416" name="Line 24"/>
            <p:cNvSpPr>
              <a:spLocks noChangeShapeType="1"/>
            </p:cNvSpPr>
            <p:nvPr/>
          </p:nvSpPr>
          <p:spPr bwMode="auto">
            <a:xfrm flipV="1">
              <a:off x="1248" y="1872"/>
              <a:ext cx="0" cy="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9417" name="Line 25"/>
            <p:cNvSpPr>
              <a:spLocks noChangeShapeType="1"/>
            </p:cNvSpPr>
            <p:nvPr/>
          </p:nvSpPr>
          <p:spPr bwMode="auto">
            <a:xfrm>
              <a:off x="1248" y="1872"/>
              <a:ext cx="62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9418" name="Line 26"/>
            <p:cNvSpPr>
              <a:spLocks noChangeShapeType="1"/>
            </p:cNvSpPr>
            <p:nvPr/>
          </p:nvSpPr>
          <p:spPr bwMode="auto">
            <a:xfrm>
              <a:off x="1872" y="1872"/>
              <a:ext cx="0" cy="1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宋体" charset="0"/>
              </a:endParaRPr>
            </a:p>
          </p:txBody>
        </p:sp>
        <p:sp>
          <p:nvSpPr>
            <p:cNvPr id="59419" name="Text Box 27"/>
            <p:cNvSpPr txBox="1">
              <a:spLocks noChangeArrowheads="1"/>
            </p:cNvSpPr>
            <p:nvPr/>
          </p:nvSpPr>
          <p:spPr bwMode="auto">
            <a:xfrm>
              <a:off x="1728" y="321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000" b="1" i="1">
                  <a:cs typeface="宋体" charset="0"/>
                </a:rPr>
                <a:t>x</a:t>
              </a:r>
              <a:r>
                <a:rPr lang="en-US" altLang="zh-CN" sz="2000" b="1" baseline="-25000">
                  <a:cs typeface="宋体" charset="0"/>
                </a:rPr>
                <a:t>2</a:t>
              </a:r>
              <a:endParaRPr lang="en-US" altLang="zh-CN" sz="2000" b="1" i="1">
                <a:cs typeface="宋体" charset="0"/>
              </a:endParaRPr>
            </a:p>
          </p:txBody>
        </p:sp>
      </p:grpSp>
      <p:sp>
        <p:nvSpPr>
          <p:cNvPr id="59421" name="Line 29"/>
          <p:cNvSpPr>
            <a:spLocks noChangeShapeType="1"/>
          </p:cNvSpPr>
          <p:nvPr/>
        </p:nvSpPr>
        <p:spPr bwMode="auto">
          <a:xfrm>
            <a:off x="1676400" y="2971800"/>
            <a:ext cx="3048000" cy="9906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sp>
        <p:nvSpPr>
          <p:cNvPr id="59422" name="Line 30"/>
          <p:cNvSpPr>
            <a:spLocks noChangeShapeType="1"/>
          </p:cNvSpPr>
          <p:nvPr/>
        </p:nvSpPr>
        <p:spPr bwMode="auto">
          <a:xfrm>
            <a:off x="2438400" y="3200400"/>
            <a:ext cx="0" cy="1981200"/>
          </a:xfrm>
          <a:prstGeom prst="line">
            <a:avLst/>
          </a:prstGeom>
          <a:noFill/>
          <a:ln w="15875">
            <a:solidFill>
              <a:srgbClr val="008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宋体" charset="0"/>
            </a:endParaRPr>
          </a:p>
        </p:txBody>
      </p:sp>
      <p:grpSp>
        <p:nvGrpSpPr>
          <p:cNvPr id="59425" name="Group 33"/>
          <p:cNvGrpSpPr>
            <a:grpSpLocks/>
          </p:cNvGrpSpPr>
          <p:nvPr/>
        </p:nvGrpSpPr>
        <p:grpSpPr bwMode="auto">
          <a:xfrm>
            <a:off x="2133600" y="5715000"/>
            <a:ext cx="533400" cy="457200"/>
            <a:chOff x="1536" y="3600"/>
            <a:chExt cx="336" cy="288"/>
          </a:xfrm>
        </p:grpSpPr>
        <p:sp>
          <p:nvSpPr>
            <p:cNvPr id="59423" name="AutoShape 31"/>
            <p:cNvSpPr>
              <a:spLocks noChangeArrowheads="1"/>
            </p:cNvSpPr>
            <p:nvPr/>
          </p:nvSpPr>
          <p:spPr bwMode="auto">
            <a:xfrm>
              <a:off x="1536" y="3600"/>
              <a:ext cx="336" cy="288"/>
            </a:xfrm>
            <a:prstGeom prst="wedgeRectCallout">
              <a:avLst>
                <a:gd name="adj1" fmla="val 7736"/>
                <a:gd name="adj2" fmla="val -169097"/>
              </a:avLst>
            </a:prstGeom>
            <a:gradFill rotWithShape="0">
              <a:gsLst>
                <a:gs pos="0">
                  <a:schemeClr val="bg1"/>
                </a:gs>
                <a:gs pos="100000">
                  <a:srgbClr val="CCFFCC"/>
                </a:gs>
              </a:gsLst>
              <a:lin ang="5400000" scaled="1"/>
            </a:gradFill>
            <a:ln w="9525">
              <a:solidFill>
                <a:srgbClr val="CC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endParaRPr lang="en-US">
                <a:cs typeface="宋体" charset="0"/>
              </a:endParaRPr>
            </a:p>
          </p:txBody>
        </p:sp>
        <p:graphicFrame>
          <p:nvGraphicFramePr>
            <p:cNvPr id="15384" name="Object 32"/>
            <p:cNvGraphicFramePr>
              <a:graphicFrameLocks noChangeAspect="1"/>
            </p:cNvGraphicFramePr>
            <p:nvPr/>
          </p:nvGraphicFramePr>
          <p:xfrm>
            <a:off x="1632" y="3648"/>
            <a:ext cx="149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4" name="Equation" r:id="rId9" imgW="139639" imgH="190417" progId="Equation.3">
                    <p:embed/>
                  </p:oleObj>
                </mc:Choice>
                <mc:Fallback>
                  <p:oleObj name="Equation" r:id="rId9" imgW="139639" imgH="190417" progId="Equation.3">
                    <p:embed/>
                    <p:pic>
                      <p:nvPicPr>
                        <p:cNvPr id="15384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3648"/>
                          <a:ext cx="149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426" name="Text Box 34"/>
          <p:cNvSpPr txBox="1">
            <a:spLocks noChangeArrowheads="1"/>
          </p:cNvSpPr>
          <p:nvPr/>
        </p:nvSpPr>
        <p:spPr bwMode="auto">
          <a:xfrm>
            <a:off x="609600" y="2743200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000" b="1" i="1">
                <a:cs typeface="宋体" charset="0"/>
              </a:rPr>
              <a:t>P</a:t>
            </a:r>
            <a:r>
              <a:rPr lang="en-US" altLang="zh-CN" sz="2000" b="1">
                <a:cs typeface="宋体" charset="0"/>
              </a:rPr>
              <a:t>(</a:t>
            </a:r>
            <a:r>
              <a:rPr lang="en-US" altLang="zh-CN" sz="2000" b="1" i="1">
                <a:cs typeface="宋体" charset="0"/>
              </a:rPr>
              <a:t>x</a:t>
            </a:r>
            <a:r>
              <a:rPr lang="en-US" altLang="zh-CN" sz="2000" b="1" baseline="-25000">
                <a:cs typeface="宋体" charset="0"/>
              </a:rPr>
              <a:t>1</a:t>
            </a:r>
            <a:r>
              <a:rPr lang="en-US" altLang="zh-CN" sz="2000" b="1">
                <a:cs typeface="宋体" charset="0"/>
              </a:rPr>
              <a:t>, </a:t>
            </a:r>
            <a:r>
              <a:rPr lang="en-US" altLang="zh-CN" sz="2000" b="1" i="1">
                <a:cs typeface="宋体" charset="0"/>
              </a:rPr>
              <a:t>x</a:t>
            </a:r>
            <a:r>
              <a:rPr lang="en-US" altLang="zh-CN" sz="2000" b="1" baseline="-25000">
                <a:cs typeface="宋体" charset="0"/>
              </a:rPr>
              <a:t>2</a:t>
            </a:r>
            <a:r>
              <a:rPr lang="en-US" altLang="zh-CN" sz="2000" b="1">
                <a:cs typeface="宋体" charset="0"/>
              </a:rPr>
              <a:t>)</a:t>
            </a:r>
            <a:endParaRPr lang="en-US" altLang="zh-CN" sz="2000" b="1" i="1">
              <a:cs typeface="宋体" charset="0"/>
            </a:endParaRPr>
          </a:p>
        </p:txBody>
      </p:sp>
      <p:graphicFrame>
        <p:nvGraphicFramePr>
          <p:cNvPr id="59427" name="Object 35"/>
          <p:cNvGraphicFramePr>
            <a:graphicFrameLocks noChangeAspect="1"/>
          </p:cNvGraphicFramePr>
          <p:nvPr/>
        </p:nvGraphicFramePr>
        <p:xfrm>
          <a:off x="2819400" y="5638800"/>
          <a:ext cx="284956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11" imgW="1422400" imgH="457200" progId="Equation.3">
                  <p:embed/>
                </p:oleObj>
              </mc:Choice>
              <mc:Fallback>
                <p:oleObj name="Equation" r:id="rId11" imgW="1422400" imgH="457200" progId="Equation.3">
                  <p:embed/>
                  <p:pic>
                    <p:nvPicPr>
                      <p:cNvPr id="59427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638800"/>
                        <a:ext cx="2849563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430" name="Group 38"/>
          <p:cNvGrpSpPr>
            <a:grpSpLocks/>
          </p:cNvGrpSpPr>
          <p:nvPr/>
        </p:nvGrpSpPr>
        <p:grpSpPr bwMode="auto">
          <a:xfrm>
            <a:off x="3581400" y="304800"/>
            <a:ext cx="5092700" cy="715963"/>
            <a:chOff x="2160" y="624"/>
            <a:chExt cx="3208" cy="451"/>
          </a:xfrm>
        </p:grpSpPr>
        <p:sp>
          <p:nvSpPr>
            <p:cNvPr id="59428" name="Text Box 36"/>
            <p:cNvSpPr txBox="1">
              <a:spLocks noChangeArrowheads="1"/>
            </p:cNvSpPr>
            <p:nvPr/>
          </p:nvSpPr>
          <p:spPr bwMode="auto">
            <a:xfrm>
              <a:off x="2160" y="672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cs typeface="楷体_GB2312" charset="0"/>
                </a:rPr>
                <a:t>一般地，有：</a:t>
              </a:r>
              <a:endParaRPr lang="en-US" altLang="zh-CN" sz="2400" b="1" dirty="0">
                <a:cs typeface="楷体_GB2312" charset="0"/>
              </a:endParaRPr>
            </a:p>
          </p:txBody>
        </p:sp>
        <p:graphicFrame>
          <p:nvGraphicFramePr>
            <p:cNvPr id="15382" name="Object 37"/>
            <p:cNvGraphicFramePr>
              <a:graphicFrameLocks noChangeAspect="1"/>
            </p:cNvGraphicFramePr>
            <p:nvPr/>
          </p:nvGraphicFramePr>
          <p:xfrm>
            <a:off x="3312" y="624"/>
            <a:ext cx="2056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6" name="Equation" r:id="rId13" imgW="1841500" imgH="457200" progId="Equation.3">
                    <p:embed/>
                  </p:oleObj>
                </mc:Choice>
                <mc:Fallback>
                  <p:oleObj name="Equation" r:id="rId13" imgW="1841500" imgH="457200" progId="Equation.3">
                    <p:embed/>
                    <p:pic>
                      <p:nvPicPr>
                        <p:cNvPr id="15382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624"/>
                          <a:ext cx="2056" cy="4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436" name="Group 44"/>
          <p:cNvGrpSpPr>
            <a:grpSpLocks/>
          </p:cNvGrpSpPr>
          <p:nvPr/>
        </p:nvGrpSpPr>
        <p:grpSpPr bwMode="auto">
          <a:xfrm>
            <a:off x="5486400" y="1066800"/>
            <a:ext cx="3429000" cy="2057400"/>
            <a:chOff x="3456" y="816"/>
            <a:chExt cx="2160" cy="1296"/>
          </a:xfrm>
        </p:grpSpPr>
        <p:graphicFrame>
          <p:nvGraphicFramePr>
            <p:cNvPr id="15376" name="Object 39"/>
            <p:cNvGraphicFramePr>
              <a:graphicFrameLocks noChangeAspect="1"/>
            </p:cNvGraphicFramePr>
            <p:nvPr/>
          </p:nvGraphicFramePr>
          <p:xfrm>
            <a:off x="3456" y="816"/>
            <a:ext cx="1680" cy="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7" name="Equation" r:id="rId15" imgW="1778000" imgH="939800" progId="Equation.3">
                    <p:embed/>
                  </p:oleObj>
                </mc:Choice>
                <mc:Fallback>
                  <p:oleObj name="Equation" r:id="rId15" imgW="1778000" imgH="939800" progId="Equation.3">
                    <p:embed/>
                    <p:pic>
                      <p:nvPicPr>
                        <p:cNvPr id="15376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816"/>
                          <a:ext cx="1680" cy="9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377" name="Group 43"/>
            <p:cNvGrpSpPr>
              <a:grpSpLocks/>
            </p:cNvGrpSpPr>
            <p:nvPr/>
          </p:nvGrpSpPr>
          <p:grpSpPr bwMode="auto">
            <a:xfrm>
              <a:off x="3456" y="1824"/>
              <a:ext cx="2160" cy="288"/>
              <a:chOff x="3408" y="1872"/>
              <a:chExt cx="2160" cy="288"/>
            </a:xfrm>
          </p:grpSpPr>
          <p:sp>
            <p:nvSpPr>
              <p:cNvPr id="59432" name="Text Box 40"/>
              <p:cNvSpPr txBox="1">
                <a:spLocks noChangeArrowheads="1"/>
              </p:cNvSpPr>
              <p:nvPr/>
            </p:nvSpPr>
            <p:spPr bwMode="auto">
              <a:xfrm>
                <a:off x="3696" y="1872"/>
                <a:ext cx="18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kumimoji="1" lang="zh-CN" altLang="en-US" sz="2400" b="1" dirty="0">
                    <a:cs typeface="楷体_GB2312" charset="0"/>
                  </a:rPr>
                  <a:t>比</a:t>
                </a:r>
                <a:r>
                  <a:rPr kumimoji="1" lang="en-US" altLang="zh-CN" sz="2400" b="1" dirty="0">
                    <a:cs typeface="楷体_GB2312" charset="0"/>
                  </a:rPr>
                  <a:t>       </a:t>
                </a:r>
                <a:r>
                  <a:rPr kumimoji="1" lang="zh-CN" altLang="en-US" sz="2400" b="1" dirty="0">
                    <a:cs typeface="楷体_GB2312" charset="0"/>
                  </a:rPr>
                  <a:t>  收敛得略快。</a:t>
                </a:r>
                <a:endParaRPr kumimoji="1" lang="en-US" altLang="zh-CN" sz="2400" b="1" dirty="0">
                  <a:cs typeface="宋体" charset="0"/>
                </a:endParaRPr>
              </a:p>
            </p:txBody>
          </p:sp>
          <p:graphicFrame>
            <p:nvGraphicFramePr>
              <p:cNvPr id="15379" name="Object 41"/>
              <p:cNvGraphicFramePr>
                <a:graphicFrameLocks noChangeAspect="1"/>
              </p:cNvGraphicFramePr>
              <p:nvPr/>
            </p:nvGraphicFramePr>
            <p:xfrm>
              <a:off x="3408" y="1872"/>
              <a:ext cx="346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318" name="Equation" r:id="rId17" imgW="317087" imgH="215619" progId="Equation.3">
                      <p:embed/>
                    </p:oleObj>
                  </mc:Choice>
                  <mc:Fallback>
                    <p:oleObj name="Equation" r:id="rId17" imgW="317087" imgH="215619" progId="Equation.3">
                      <p:embed/>
                      <p:pic>
                        <p:nvPicPr>
                          <p:cNvPr id="15379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1872"/>
                            <a:ext cx="346" cy="2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80" name="Object 42"/>
              <p:cNvGraphicFramePr>
                <a:graphicFrameLocks noChangeAspect="1"/>
              </p:cNvGraphicFramePr>
              <p:nvPr/>
            </p:nvGraphicFramePr>
            <p:xfrm>
              <a:off x="3929" y="1879"/>
              <a:ext cx="35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319" name="Equation" r:id="rId19" imgW="317087" imgH="215619" progId="Equation.3">
                      <p:embed/>
                    </p:oleObj>
                  </mc:Choice>
                  <mc:Fallback>
                    <p:oleObj name="Equation" r:id="rId19" imgW="317087" imgH="215619" progId="Equation.3">
                      <p:embed/>
                      <p:pic>
                        <p:nvPicPr>
                          <p:cNvPr id="1538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9" y="1879"/>
                            <a:ext cx="35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9437" name="Text Box 45"/>
          <p:cNvSpPr txBox="1">
            <a:spLocks noChangeArrowheads="1"/>
          </p:cNvSpPr>
          <p:nvPr/>
        </p:nvSpPr>
        <p:spPr bwMode="auto">
          <a:xfrm>
            <a:off x="5867400" y="3352800"/>
            <a:ext cx="30970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en-US" altLang="zh-CN" sz="2400" b="1" dirty="0">
                <a:solidFill>
                  <a:schemeClr val="accent2"/>
                </a:solidFill>
                <a:latin typeface="楷体_GB2312" charset="0"/>
                <a:cs typeface="楷体_GB2312" charset="0"/>
                <a:sym typeface="Wingdings" charset="0"/>
              </a:rPr>
              <a:t></a:t>
            </a:r>
            <a:r>
              <a:rPr kumimoji="1" lang="en-US" altLang="zh-CN" sz="2400" b="1" dirty="0">
                <a:latin typeface="楷体_GB2312" charset="0"/>
                <a:cs typeface="楷体_GB2312" charset="0"/>
                <a:sym typeface="Wingdings" charset="0"/>
              </a:rPr>
              <a:t> </a:t>
            </a:r>
            <a:r>
              <a:rPr kumimoji="1" lang="en-US" altLang="zh-CN" sz="2400" b="1" dirty="0" err="1">
                <a:latin typeface="楷体_GB2312" charset="0"/>
                <a:cs typeface="楷体_GB2312" charset="0"/>
                <a:sym typeface="Wingdings" charset="0"/>
              </a:rPr>
              <a:t>Steffensen</a:t>
            </a:r>
            <a:r>
              <a:rPr kumimoji="1" lang="en-US" altLang="zh-CN" sz="2400" b="1" dirty="0">
                <a:latin typeface="楷体_GB2312" charset="0"/>
                <a:cs typeface="楷体_GB2312" charset="0"/>
                <a:sym typeface="Wingdings" charset="0"/>
              </a:rPr>
              <a:t> </a:t>
            </a:r>
            <a:r>
              <a:rPr kumimoji="1" lang="en-US" altLang="zh-CN" sz="2400" b="1" dirty="0">
                <a:cs typeface="楷体_GB2312" charset="0"/>
              </a:rPr>
              <a:t> </a:t>
            </a:r>
            <a:r>
              <a:rPr kumimoji="1" lang="zh-CN" altLang="en-US" sz="2400" b="1" dirty="0">
                <a:latin typeface="楷体_GB2312" charset="0"/>
                <a:cs typeface="楷体_GB2312" charset="0"/>
              </a:rPr>
              <a:t>加速：</a:t>
            </a:r>
            <a:endParaRPr kumimoji="1" lang="en-US" altLang="zh-CN" sz="2400" b="1" dirty="0">
              <a:latin typeface="楷体_GB2312" charset="0"/>
              <a:cs typeface="楷体_GB2312" charset="0"/>
            </a:endParaRPr>
          </a:p>
        </p:txBody>
      </p:sp>
      <p:graphicFrame>
        <p:nvGraphicFramePr>
          <p:cNvPr id="59438" name="Object 46"/>
          <p:cNvGraphicFramePr>
            <a:graphicFrameLocks noChangeAspect="1"/>
          </p:cNvGraphicFramePr>
          <p:nvPr/>
        </p:nvGraphicFramePr>
        <p:xfrm>
          <a:off x="6248400" y="3886200"/>
          <a:ext cx="23622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21" imgW="1816100" imgH="736600" progId="Equation.3">
                  <p:embed/>
                </p:oleObj>
              </mc:Choice>
              <mc:Fallback>
                <p:oleObj name="Equation" r:id="rId21" imgW="1816100" imgH="736600" progId="Equation.3">
                  <p:embed/>
                  <p:pic>
                    <p:nvPicPr>
                      <p:cNvPr id="59438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886200"/>
                        <a:ext cx="2362200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7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94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94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94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94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5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94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594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594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9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10" grpId="0" autoUpdateAnimBg="0"/>
      <p:bldP spid="59426" grpId="0" autoUpdateAnimBg="0"/>
      <p:bldP spid="5943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94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C855976-0C46-9BF7-C9E8-86A25B512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709" y="0"/>
            <a:ext cx="22445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32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421BB1-7CD1-F24B-CFCF-1F09DD838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855" y="0"/>
            <a:ext cx="3158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03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81BDA3-DC15-FEC1-3240-E738F15B7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651"/>
            <a:ext cx="9144000" cy="617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75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29828</TotalTime>
  <Words>1928</Words>
  <Application>Microsoft Office PowerPoint</Application>
  <PresentationFormat>全屏显示(4:3)</PresentationFormat>
  <Paragraphs>379</Paragraphs>
  <Slides>26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黑体</vt:lpstr>
      <vt:lpstr>楷体_GB2312</vt:lpstr>
      <vt:lpstr>宋体</vt:lpstr>
      <vt:lpstr>宋体</vt:lpstr>
      <vt:lpstr>Arial</vt:lpstr>
      <vt:lpstr>Calibri</vt:lpstr>
      <vt:lpstr>Cambria Math</vt:lpstr>
      <vt:lpstr>Times New Roman</vt:lpstr>
      <vt:lpstr>Wingdings</vt:lpstr>
      <vt:lpstr>Office Theme</vt:lpstr>
      <vt:lpstr>Equation</vt:lpstr>
      <vt:lpstr>公式</vt:lpstr>
      <vt:lpstr>非线性方程求根</vt:lpstr>
      <vt:lpstr>问题的引出（自由落体）</vt:lpstr>
      <vt:lpstr>计算机如何开方？</vt:lpstr>
      <vt:lpstr>PowerPoint 演示文稿</vt:lpstr>
      <vt:lpstr>PowerPoint 演示文稿</vt:lpstr>
      <vt:lpstr>PowerPoint 演示文稿</vt:lpstr>
      <vt:lpstr>PowerPoint 演示文稿</vt:lpstr>
      <vt:lpstr>2、不动点迭代法</vt:lpstr>
      <vt:lpstr>2、不动点迭代法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liu qing</cp:lastModifiedBy>
  <cp:revision>2094</cp:revision>
  <dcterms:created xsi:type="dcterms:W3CDTF">2006-08-16T00:00:00Z</dcterms:created>
  <dcterms:modified xsi:type="dcterms:W3CDTF">2025-06-19T14:14:51Z</dcterms:modified>
</cp:coreProperties>
</file>
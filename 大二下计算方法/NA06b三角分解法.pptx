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74" r:id="rId3"/>
    <p:sldId id="375" r:id="rId5"/>
    <p:sldId id="376" r:id="rId6"/>
    <p:sldId id="377" r:id="rId7"/>
    <p:sldId id="300" r:id="rId8"/>
    <p:sldId id="292" r:id="rId9"/>
    <p:sldId id="293" r:id="rId10"/>
    <p:sldId id="294" r:id="rId11"/>
    <p:sldId id="303" r:id="rId12"/>
    <p:sldId id="296" r:id="rId13"/>
    <p:sldId id="297" r:id="rId14"/>
    <p:sldId id="378" r:id="rId15"/>
    <p:sldId id="381" r:id="rId16"/>
    <p:sldId id="382" r:id="rId17"/>
    <p:sldId id="383" r:id="rId18"/>
    <p:sldId id="384" r:id="rId19"/>
    <p:sldId id="385" r:id="rId20"/>
    <p:sldId id="386" r:id="rId21"/>
    <p:sldId id="379" r:id="rId22"/>
    <p:sldId id="387" r:id="rId23"/>
    <p:sldId id="380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84028"/>
    <a:srgbClr val="EFFB00"/>
    <a:srgbClr val="90840D"/>
    <a:srgbClr val="EAFBAD"/>
    <a:srgbClr val="8E8C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083"/>
    <p:restoredTop sz="91355"/>
  </p:normalViewPr>
  <p:slideViewPr>
    <p:cSldViewPr showGuides="1">
      <p:cViewPr varScale="1">
        <p:scale>
          <a:sx n="61" d="100"/>
          <a:sy n="61" d="100"/>
        </p:scale>
        <p:origin x="960" y="44"/>
      </p:cViewPr>
      <p:guideLst>
        <p:guide orient="horz" pos="2152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7" Type="http://schemas.openxmlformats.org/officeDocument/2006/relationships/image" Target="../media/image8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.wmf"/><Relationship Id="rId8" Type="http://schemas.openxmlformats.org/officeDocument/2006/relationships/image" Target="../media/image18.wmf"/><Relationship Id="rId7" Type="http://schemas.openxmlformats.org/officeDocument/2006/relationships/image" Target="../media/image16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27.wmf"/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emf"/></Relationships>
</file>

<file path=ppt/drawings/_rels/vmlDrawing5.vml.rels><?xml version="1.0" encoding="UTF-8" standalone="yes"?>
<Relationships xmlns="http://schemas.openxmlformats.org/package/2006/relationships"><Relationship Id="rId5" Type="http://schemas.openxmlformats.org/officeDocument/2006/relationships/image" Target="../media/image32.wmf"/><Relationship Id="rId4" Type="http://schemas.openxmlformats.org/officeDocument/2006/relationships/image" Target="../media/image31.wmf"/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37.wmf"/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45.wmf"/><Relationship Id="rId8" Type="http://schemas.openxmlformats.org/officeDocument/2006/relationships/image" Target="../media/image44.wmf"/><Relationship Id="rId7" Type="http://schemas.openxmlformats.org/officeDocument/2006/relationships/image" Target="../media/image43.wmf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1" Type="http://schemas.openxmlformats.org/officeDocument/2006/relationships/image" Target="../media/image48.wmf"/><Relationship Id="rId10" Type="http://schemas.openxmlformats.org/officeDocument/2006/relationships/image" Target="../media/image46.wmf"/><Relationship Id="rId1" Type="http://schemas.openxmlformats.org/officeDocument/2006/relationships/image" Target="../media/image34.wmf"/></Relationships>
</file>

<file path=ppt/drawings/_rels/vmlDrawing8.vml.rels><?xml version="1.0" encoding="UTF-8" standalone="yes"?>
<Relationships xmlns="http://schemas.openxmlformats.org/package/2006/relationships"><Relationship Id="rId6" Type="http://schemas.openxmlformats.org/officeDocument/2006/relationships/image" Target="../media/image5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emf"/></Relationships>
</file>

<file path=ppt/drawings/_rels/vmlDrawing9.vml.rels><?xml version="1.0" encoding="UTF-8" standalone="yes"?>
<Relationships xmlns="http://schemas.openxmlformats.org/package/2006/relationships"><Relationship Id="rId7" Type="http://schemas.openxmlformats.org/officeDocument/2006/relationships/image" Target="../media/image61.w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0EE2C-B419-45DE-BFFD-ED88C3BCD1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9922F-842D-4D55-B456-071B03B210C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5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1" Type="http://schemas.openxmlformats.org/officeDocument/2006/relationships/vmlDrawing" Target="../drawings/vmlDrawing1.vml"/><Relationship Id="rId20" Type="http://schemas.openxmlformats.org/officeDocument/2006/relationships/slideLayout" Target="../slideLayouts/slideLayout7.xml"/><Relationship Id="rId2" Type="http://schemas.openxmlformats.org/officeDocument/2006/relationships/image" Target="../media/image2.wmf"/><Relationship Id="rId19" Type="http://schemas.openxmlformats.org/officeDocument/2006/relationships/audio" Target="../media/audio3.wav"/><Relationship Id="rId18" Type="http://schemas.openxmlformats.org/officeDocument/2006/relationships/audio" Target="../media/audio2.wav"/><Relationship Id="rId17" Type="http://schemas.openxmlformats.org/officeDocument/2006/relationships/audio" Target="../media/audio1.wav"/><Relationship Id="rId16" Type="http://schemas.openxmlformats.org/officeDocument/2006/relationships/image" Target="../media/image9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8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7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6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.bin"/><Relationship Id="rId8" Type="http://schemas.openxmlformats.org/officeDocument/2006/relationships/image" Target="../media/image13.wmf"/><Relationship Id="rId7" Type="http://schemas.openxmlformats.org/officeDocument/2006/relationships/oleObject" Target="../embeddings/oleObject12.bin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1.wmf"/><Relationship Id="rId3" Type="http://schemas.openxmlformats.org/officeDocument/2006/relationships/oleObject" Target="../embeddings/oleObject10.bin"/><Relationship Id="rId26" Type="http://schemas.openxmlformats.org/officeDocument/2006/relationships/vmlDrawing" Target="../drawings/vmlDrawing2.vml"/><Relationship Id="rId25" Type="http://schemas.openxmlformats.org/officeDocument/2006/relationships/slideLayout" Target="../slideLayouts/slideLayout7.xml"/><Relationship Id="rId24" Type="http://schemas.openxmlformats.org/officeDocument/2006/relationships/audio" Target="../media/audio6.wav"/><Relationship Id="rId23" Type="http://schemas.openxmlformats.org/officeDocument/2006/relationships/audio" Target="../media/audio3.wav"/><Relationship Id="rId22" Type="http://schemas.openxmlformats.org/officeDocument/2006/relationships/audio" Target="../media/audio5.wav"/><Relationship Id="rId21" Type="http://schemas.openxmlformats.org/officeDocument/2006/relationships/audio" Target="../media/audio2.wav"/><Relationship Id="rId20" Type="http://schemas.openxmlformats.org/officeDocument/2006/relationships/audio" Target="../media/audio4.wav"/><Relationship Id="rId2" Type="http://schemas.openxmlformats.org/officeDocument/2006/relationships/image" Target="../media/image10.wmf"/><Relationship Id="rId19" Type="http://schemas.openxmlformats.org/officeDocument/2006/relationships/image" Target="../media/image19.wmf"/><Relationship Id="rId18" Type="http://schemas.openxmlformats.org/officeDocument/2006/relationships/oleObject" Target="../embeddings/oleObject17.bin"/><Relationship Id="rId17" Type="http://schemas.openxmlformats.org/officeDocument/2006/relationships/image" Target="../media/image18.wmf"/><Relationship Id="rId16" Type="http://schemas.openxmlformats.org/officeDocument/2006/relationships/oleObject" Target="../embeddings/oleObject16.bin"/><Relationship Id="rId15" Type="http://schemas.openxmlformats.org/officeDocument/2006/relationships/image" Target="../media/image17.jpeg"/><Relationship Id="rId14" Type="http://schemas.openxmlformats.org/officeDocument/2006/relationships/image" Target="../media/image16.wmf"/><Relationship Id="rId13" Type="http://schemas.openxmlformats.org/officeDocument/2006/relationships/oleObject" Target="../embeddings/oleObject15.bin"/><Relationship Id="rId12" Type="http://schemas.openxmlformats.org/officeDocument/2006/relationships/image" Target="../media/image15.wmf"/><Relationship Id="rId11" Type="http://schemas.openxmlformats.org/officeDocument/2006/relationships/oleObject" Target="../embeddings/oleObject14.bin"/><Relationship Id="rId10" Type="http://schemas.openxmlformats.org/officeDocument/2006/relationships/image" Target="../media/image14.wmf"/><Relationship Id="rId1" Type="http://schemas.openxmlformats.org/officeDocument/2006/relationships/oleObject" Target="../embeddings/oleObject9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audio" Target="../media/audio3.wav"/><Relationship Id="rId8" Type="http://schemas.openxmlformats.org/officeDocument/2006/relationships/audio" Target="../media/audio5.wav"/><Relationship Id="rId7" Type="http://schemas.openxmlformats.org/officeDocument/2006/relationships/image" Target="../media/image23.wmf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9.bin"/><Relationship Id="rId3" Type="http://schemas.openxmlformats.org/officeDocument/2006/relationships/image" Target="../media/image21.wmf"/><Relationship Id="rId2" Type="http://schemas.openxmlformats.org/officeDocument/2006/relationships/oleObject" Target="../embeddings/oleObject18.bin"/><Relationship Id="rId14" Type="http://schemas.openxmlformats.org/officeDocument/2006/relationships/vmlDrawing" Target="../drawings/vmlDrawing3.vml"/><Relationship Id="rId13" Type="http://schemas.openxmlformats.org/officeDocument/2006/relationships/slideLayout" Target="../slideLayouts/slideLayout7.xml"/><Relationship Id="rId12" Type="http://schemas.openxmlformats.org/officeDocument/2006/relationships/audio" Target="../media/audio4.wav"/><Relationship Id="rId11" Type="http://schemas.openxmlformats.org/officeDocument/2006/relationships/audio" Target="../media/audio2.wav"/><Relationship Id="rId10" Type="http://schemas.openxmlformats.org/officeDocument/2006/relationships/audio" Target="../media/audio6.wav"/><Relationship Id="rId1" Type="http://schemas.openxmlformats.org/officeDocument/2006/relationships/image" Target="../media/image20.wmf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7.wmf"/><Relationship Id="rId7" Type="http://schemas.openxmlformats.org/officeDocument/2006/relationships/oleObject" Target="../embeddings/oleObject24.bin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5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24.emf"/><Relationship Id="rId10" Type="http://schemas.openxmlformats.org/officeDocument/2006/relationships/vmlDrawing" Target="../drawings/vmlDrawing4.vml"/><Relationship Id="rId1" Type="http://schemas.openxmlformats.org/officeDocument/2006/relationships/oleObject" Target="../embeddings/oleObject21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wmf"/><Relationship Id="rId8" Type="http://schemas.openxmlformats.org/officeDocument/2006/relationships/oleObject" Target="../embeddings/oleObject28.bin"/><Relationship Id="rId7" Type="http://schemas.openxmlformats.org/officeDocument/2006/relationships/image" Target="../media/image30.wmf"/><Relationship Id="rId6" Type="http://schemas.openxmlformats.org/officeDocument/2006/relationships/oleObject" Target="../embeddings/oleObject27.bin"/><Relationship Id="rId5" Type="http://schemas.openxmlformats.org/officeDocument/2006/relationships/image" Target="../media/image29.wmf"/><Relationship Id="rId4" Type="http://schemas.openxmlformats.org/officeDocument/2006/relationships/oleObject" Target="../embeddings/oleObject26.bin"/><Relationship Id="rId3" Type="http://schemas.openxmlformats.org/officeDocument/2006/relationships/image" Target="../media/image17.jpeg"/><Relationship Id="rId2" Type="http://schemas.openxmlformats.org/officeDocument/2006/relationships/image" Target="../media/image28.wmf"/><Relationship Id="rId19" Type="http://schemas.openxmlformats.org/officeDocument/2006/relationships/vmlDrawing" Target="../drawings/vmlDrawing5.vml"/><Relationship Id="rId18" Type="http://schemas.openxmlformats.org/officeDocument/2006/relationships/slideLayout" Target="../slideLayouts/slideLayout7.xml"/><Relationship Id="rId17" Type="http://schemas.openxmlformats.org/officeDocument/2006/relationships/audio" Target="../media/audio6.wav"/><Relationship Id="rId16" Type="http://schemas.openxmlformats.org/officeDocument/2006/relationships/audio" Target="../media/audio1.wav"/><Relationship Id="rId15" Type="http://schemas.openxmlformats.org/officeDocument/2006/relationships/audio" Target="../media/audio3.wav"/><Relationship Id="rId14" Type="http://schemas.openxmlformats.org/officeDocument/2006/relationships/audio" Target="../media/audio2.wav"/><Relationship Id="rId13" Type="http://schemas.openxmlformats.org/officeDocument/2006/relationships/audio" Target="../media/audio4.wav"/><Relationship Id="rId12" Type="http://schemas.openxmlformats.org/officeDocument/2006/relationships/audio" Target="../media/audio5.wav"/><Relationship Id="rId11" Type="http://schemas.openxmlformats.org/officeDocument/2006/relationships/image" Target="../media/image32.wmf"/><Relationship Id="rId10" Type="http://schemas.openxmlformats.org/officeDocument/2006/relationships/oleObject" Target="../embeddings/oleObject29.bin"/><Relationship Id="rId1" Type="http://schemas.openxmlformats.org/officeDocument/2006/relationships/oleObject" Target="../embeddings/oleObject25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wmf"/><Relationship Id="rId8" Type="http://schemas.openxmlformats.org/officeDocument/2006/relationships/oleObject" Target="../embeddings/oleObject33.bin"/><Relationship Id="rId7" Type="http://schemas.openxmlformats.org/officeDocument/2006/relationships/image" Target="../media/image36.wmf"/><Relationship Id="rId6" Type="http://schemas.openxmlformats.org/officeDocument/2006/relationships/oleObject" Target="../embeddings/oleObject32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31.bin"/><Relationship Id="rId3" Type="http://schemas.openxmlformats.org/officeDocument/2006/relationships/image" Target="../media/image34.wmf"/><Relationship Id="rId2" Type="http://schemas.openxmlformats.org/officeDocument/2006/relationships/oleObject" Target="../embeddings/oleObject30.bin"/><Relationship Id="rId15" Type="http://schemas.openxmlformats.org/officeDocument/2006/relationships/vmlDrawing" Target="../drawings/vmlDrawing6.vml"/><Relationship Id="rId14" Type="http://schemas.openxmlformats.org/officeDocument/2006/relationships/slideLayout" Target="../slideLayouts/slideLayout7.xml"/><Relationship Id="rId13" Type="http://schemas.openxmlformats.org/officeDocument/2006/relationships/audio" Target="../media/audio4.wav"/><Relationship Id="rId12" Type="http://schemas.openxmlformats.org/officeDocument/2006/relationships/audio" Target="../media/audio2.wav"/><Relationship Id="rId11" Type="http://schemas.openxmlformats.org/officeDocument/2006/relationships/audio" Target="../media/audio1.wav"/><Relationship Id="rId10" Type="http://schemas.openxmlformats.org/officeDocument/2006/relationships/audio" Target="../media/audio5.wav"/><Relationship Id="rId1" Type="http://schemas.openxmlformats.org/officeDocument/2006/relationships/image" Target="../media/image33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.bin"/><Relationship Id="rId8" Type="http://schemas.openxmlformats.org/officeDocument/2006/relationships/image" Target="../media/image40.wmf"/><Relationship Id="rId7" Type="http://schemas.openxmlformats.org/officeDocument/2006/relationships/oleObject" Target="../embeddings/oleObject37.bin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38.wmf"/><Relationship Id="rId30" Type="http://schemas.openxmlformats.org/officeDocument/2006/relationships/vmlDrawing" Target="../drawings/vmlDrawing7.vml"/><Relationship Id="rId3" Type="http://schemas.openxmlformats.org/officeDocument/2006/relationships/oleObject" Target="../embeddings/oleObject35.bin"/><Relationship Id="rId29" Type="http://schemas.openxmlformats.org/officeDocument/2006/relationships/slideLayout" Target="../slideLayouts/slideLayout7.xml"/><Relationship Id="rId28" Type="http://schemas.openxmlformats.org/officeDocument/2006/relationships/audio" Target="../media/audio4.wav"/><Relationship Id="rId27" Type="http://schemas.openxmlformats.org/officeDocument/2006/relationships/audio" Target="../media/audio2.wav"/><Relationship Id="rId26" Type="http://schemas.openxmlformats.org/officeDocument/2006/relationships/audio" Target="../media/audio3.wav"/><Relationship Id="rId25" Type="http://schemas.openxmlformats.org/officeDocument/2006/relationships/audio" Target="../media/audio5.wav"/><Relationship Id="rId24" Type="http://schemas.openxmlformats.org/officeDocument/2006/relationships/image" Target="../media/image48.wmf"/><Relationship Id="rId23" Type="http://schemas.openxmlformats.org/officeDocument/2006/relationships/oleObject" Target="../embeddings/oleObject44.bin"/><Relationship Id="rId22" Type="http://schemas.openxmlformats.org/officeDocument/2006/relationships/image" Target="../media/image47.jpeg"/><Relationship Id="rId21" Type="http://schemas.openxmlformats.org/officeDocument/2006/relationships/image" Target="../media/image46.wmf"/><Relationship Id="rId20" Type="http://schemas.openxmlformats.org/officeDocument/2006/relationships/oleObject" Target="../embeddings/oleObject43.bin"/><Relationship Id="rId2" Type="http://schemas.openxmlformats.org/officeDocument/2006/relationships/image" Target="../media/image34.wmf"/><Relationship Id="rId19" Type="http://schemas.openxmlformats.org/officeDocument/2006/relationships/image" Target="../media/image45.wmf"/><Relationship Id="rId18" Type="http://schemas.openxmlformats.org/officeDocument/2006/relationships/oleObject" Target="../embeddings/oleObject42.bin"/><Relationship Id="rId17" Type="http://schemas.openxmlformats.org/officeDocument/2006/relationships/image" Target="../media/image17.jpeg"/><Relationship Id="rId16" Type="http://schemas.openxmlformats.org/officeDocument/2006/relationships/image" Target="../media/image44.wmf"/><Relationship Id="rId15" Type="http://schemas.openxmlformats.org/officeDocument/2006/relationships/oleObject" Target="../embeddings/oleObject41.bin"/><Relationship Id="rId14" Type="http://schemas.openxmlformats.org/officeDocument/2006/relationships/image" Target="../media/image43.wmf"/><Relationship Id="rId13" Type="http://schemas.openxmlformats.org/officeDocument/2006/relationships/oleObject" Target="../embeddings/oleObject40.bin"/><Relationship Id="rId12" Type="http://schemas.openxmlformats.org/officeDocument/2006/relationships/image" Target="../media/image42.wmf"/><Relationship Id="rId11" Type="http://schemas.openxmlformats.org/officeDocument/2006/relationships/oleObject" Target="../embeddings/oleObject39.bin"/><Relationship Id="rId10" Type="http://schemas.openxmlformats.org/officeDocument/2006/relationships/image" Target="../media/image41.wmf"/><Relationship Id="rId1" Type="http://schemas.openxmlformats.org/officeDocument/2006/relationships/oleObject" Target="../embeddings/oleObject34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9.bin"/><Relationship Id="rId8" Type="http://schemas.openxmlformats.org/officeDocument/2006/relationships/image" Target="../media/image52.wmf"/><Relationship Id="rId7" Type="http://schemas.openxmlformats.org/officeDocument/2006/relationships/oleObject" Target="../embeddings/oleObject48.bin"/><Relationship Id="rId6" Type="http://schemas.openxmlformats.org/officeDocument/2006/relationships/image" Target="../media/image51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50.wmf"/><Relationship Id="rId3" Type="http://schemas.openxmlformats.org/officeDocument/2006/relationships/oleObject" Target="../embeddings/oleObject46.bin"/><Relationship Id="rId2" Type="http://schemas.openxmlformats.org/officeDocument/2006/relationships/image" Target="../media/image49.emf"/><Relationship Id="rId14" Type="http://schemas.openxmlformats.org/officeDocument/2006/relationships/vmlDrawing" Target="../drawings/vmlDrawing8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54.wmf"/><Relationship Id="rId11" Type="http://schemas.openxmlformats.org/officeDocument/2006/relationships/oleObject" Target="../embeddings/oleObject50.bin"/><Relationship Id="rId10" Type="http://schemas.openxmlformats.org/officeDocument/2006/relationships/image" Target="../media/image53.wmf"/><Relationship Id="rId1" Type="http://schemas.openxmlformats.org/officeDocument/2006/relationships/oleObject" Target="../embeddings/oleObject45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5.bin"/><Relationship Id="rId8" Type="http://schemas.openxmlformats.org/officeDocument/2006/relationships/image" Target="../media/image58.wmf"/><Relationship Id="rId7" Type="http://schemas.openxmlformats.org/officeDocument/2006/relationships/oleObject" Target="../embeddings/oleObject54.bin"/><Relationship Id="rId6" Type="http://schemas.openxmlformats.org/officeDocument/2006/relationships/image" Target="../media/image57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56.wmf"/><Relationship Id="rId3" Type="http://schemas.openxmlformats.org/officeDocument/2006/relationships/oleObject" Target="../embeddings/oleObject52.bin"/><Relationship Id="rId2" Type="http://schemas.openxmlformats.org/officeDocument/2006/relationships/image" Target="../media/image55.wmf"/><Relationship Id="rId19" Type="http://schemas.openxmlformats.org/officeDocument/2006/relationships/vmlDrawing" Target="../drawings/vmlDrawing9.vml"/><Relationship Id="rId18" Type="http://schemas.openxmlformats.org/officeDocument/2006/relationships/slideLayout" Target="../slideLayouts/slideLayout7.xml"/><Relationship Id="rId17" Type="http://schemas.openxmlformats.org/officeDocument/2006/relationships/audio" Target="../media/audio4.wav"/><Relationship Id="rId16" Type="http://schemas.openxmlformats.org/officeDocument/2006/relationships/audio" Target="../media/audio2.wav"/><Relationship Id="rId15" Type="http://schemas.openxmlformats.org/officeDocument/2006/relationships/audio" Target="../media/audio5.wav"/><Relationship Id="rId14" Type="http://schemas.openxmlformats.org/officeDocument/2006/relationships/image" Target="../media/image61.wmf"/><Relationship Id="rId13" Type="http://schemas.openxmlformats.org/officeDocument/2006/relationships/oleObject" Target="../embeddings/oleObject57.bin"/><Relationship Id="rId12" Type="http://schemas.openxmlformats.org/officeDocument/2006/relationships/image" Target="../media/image60.wmf"/><Relationship Id="rId11" Type="http://schemas.openxmlformats.org/officeDocument/2006/relationships/oleObject" Target="../embeddings/oleObject56.bin"/><Relationship Id="rId10" Type="http://schemas.openxmlformats.org/officeDocument/2006/relationships/image" Target="../media/image59.wmf"/><Relationship Id="rId1" Type="http://schemas.openxmlformats.org/officeDocument/2006/relationships/oleObject" Target="../embeddings/oleObject51.bin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7.xml"/><Relationship Id="rId4" Type="http://schemas.openxmlformats.org/officeDocument/2006/relationships/audio" Target="../media/audio1.wav"/><Relationship Id="rId3" Type="http://schemas.openxmlformats.org/officeDocument/2006/relationships/image" Target="../media/image62.wmf"/><Relationship Id="rId2" Type="http://schemas.openxmlformats.org/officeDocument/2006/relationships/oleObject" Target="../embeddings/oleObject58.bin"/><Relationship Id="rId1" Type="http://schemas.openxmlformats.org/officeDocument/2006/relationships/image" Target="../media/image47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6.png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1" Type="http://schemas.openxmlformats.org/officeDocument/2006/relationships/image" Target="../media/image7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4.png"/><Relationship Id="rId2" Type="http://schemas.openxmlformats.org/officeDocument/2006/relationships/image" Target="../media/image65.png"/><Relationship Id="rId1" Type="http://schemas.openxmlformats.org/officeDocument/2006/relationships/image" Target="../media/image6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1" Type="http://schemas.openxmlformats.org/officeDocument/2006/relationships/image" Target="../media/image7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" y="1142331"/>
            <a:ext cx="8991600" cy="27622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b="1" dirty="0">
                <a:latin typeface="宋体" panose="02010600030101010101" pitchFamily="2" charset="-122"/>
                <a:ea typeface="宋体" panose="02010600030101010101" pitchFamily="2" charset="-122"/>
              </a:rPr>
              <a:t>三 角 分 解 法</a:t>
            </a:r>
            <a:endParaRPr lang="en-US" sz="3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27" name="Picture 3" descr="0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13597" cy="128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42899" y="0"/>
            <a:ext cx="2857501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Huazhong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University of</a:t>
            </a:r>
            <a:endParaRPr kumimoji="0" lang="en-US" altLang="zh-CN" b="1" i="0" u="none" strike="noStrike" cap="none" normalizeH="0" baseline="0" dirty="0">
              <a:ln>
                <a:noFill/>
              </a:ln>
              <a:solidFill>
                <a:srgbClr val="01416E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Science and Technology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33876" y="6274713"/>
            <a:ext cx="245772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en-US" sz="22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zh-CN" altLang="en-US" sz="22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计算方法</a:t>
            </a:r>
            <a:r>
              <a:rPr lang="en-US" altLang="en-US" sz="22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&gt;&gt;</a:t>
            </a:r>
            <a:r>
              <a:rPr lang="en-US" altLang="en-US" sz="2200" b="1" dirty="0" err="1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课程</a:t>
            </a:r>
            <a:endParaRPr lang="en-US" altLang="en-US" sz="2200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70" name="Group 6"/>
          <p:cNvGrpSpPr/>
          <p:nvPr/>
        </p:nvGrpSpPr>
        <p:grpSpPr bwMode="auto">
          <a:xfrm>
            <a:off x="609600" y="1676400"/>
            <a:ext cx="3810000" cy="423863"/>
            <a:chOff x="480" y="1104"/>
            <a:chExt cx="2400" cy="267"/>
          </a:xfrm>
        </p:grpSpPr>
        <p:sp>
          <p:nvSpPr>
            <p:cNvPr id="36868" name="Text Box 4"/>
            <p:cNvSpPr txBox="1">
              <a:spLocks noChangeArrowheads="1"/>
            </p:cNvSpPr>
            <p:nvPr/>
          </p:nvSpPr>
          <p:spPr bwMode="auto">
            <a:xfrm>
              <a:off x="480" y="1104"/>
              <a:ext cx="62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b="1">
                  <a:solidFill>
                    <a:schemeClr val="accent2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Step 1:</a:t>
              </a:r>
              <a:endParaRPr lang="en-US" altLang="zh-CN" sz="2000" b="1">
                <a:solidFill>
                  <a:schemeClr val="accent2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082" name="Object 5"/>
            <p:cNvGraphicFramePr>
              <a:graphicFrameLocks noChangeAspect="1"/>
            </p:cNvGraphicFramePr>
            <p:nvPr/>
          </p:nvGraphicFramePr>
          <p:xfrm>
            <a:off x="1104" y="1104"/>
            <a:ext cx="1776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" name="Equation" r:id="rId1" imgW="36271200" imgH="5486400" progId="Equation.3">
                    <p:embed/>
                  </p:oleObj>
                </mc:Choice>
                <mc:Fallback>
                  <p:oleObj name="Equation" r:id="rId1" imgW="36271200" imgH="54864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1104"/>
                          <a:ext cx="1776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902" name="Group 38"/>
          <p:cNvGrpSpPr/>
          <p:nvPr/>
        </p:nvGrpSpPr>
        <p:grpSpPr bwMode="auto">
          <a:xfrm>
            <a:off x="468313" y="2209800"/>
            <a:ext cx="5651500" cy="1524000"/>
            <a:chOff x="295" y="1392"/>
            <a:chExt cx="3560" cy="960"/>
          </a:xfrm>
        </p:grpSpPr>
        <p:sp>
          <p:nvSpPr>
            <p:cNvPr id="36871" name="Text Box 7"/>
            <p:cNvSpPr txBox="1">
              <a:spLocks noChangeArrowheads="1"/>
            </p:cNvSpPr>
            <p:nvPr/>
          </p:nvSpPr>
          <p:spPr bwMode="auto">
            <a:xfrm>
              <a:off x="295" y="1680"/>
              <a:ext cx="10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400" b="1" dirty="0">
                  <a:latin typeface="Times New Roman" panose="02020603050405020304" charset="0"/>
                  <a:ea typeface="宋体" panose="02010600030101010101" pitchFamily="2" charset="-122"/>
                  <a:cs typeface="楷体_GB2312" charset="0"/>
                </a:rPr>
                <a:t>记</a:t>
              </a:r>
              <a:r>
                <a:rPr lang="en-US" altLang="zh-CN" b="1" dirty="0">
                  <a:latin typeface="Times New Roman" panose="02020603050405020304" charset="0"/>
                  <a:ea typeface="宋体" panose="02010600030101010101" pitchFamily="2" charset="-122"/>
                  <a:cs typeface="楷体_GB2312" charset="0"/>
                </a:rPr>
                <a:t>  </a:t>
              </a:r>
              <a:r>
                <a:rPr lang="en-US" altLang="zh-CN" b="1" i="1" dirty="0">
                  <a:latin typeface="Times New Roman" panose="02020603050405020304" charset="0"/>
                  <a:ea typeface="宋体" panose="02010600030101010101" pitchFamily="2" charset="-122"/>
                  <a:cs typeface="楷体_GB2312" charset="0"/>
                </a:rPr>
                <a:t>L</a:t>
              </a:r>
              <a:r>
                <a:rPr lang="en-US" altLang="zh-CN" b="1" baseline="-25000" dirty="0">
                  <a:latin typeface="Times New Roman" panose="02020603050405020304" charset="0"/>
                  <a:ea typeface="宋体" panose="02010600030101010101" pitchFamily="2" charset="-122"/>
                  <a:cs typeface="楷体_GB2312" charset="0"/>
                </a:rPr>
                <a:t>1</a:t>
              </a:r>
              <a:r>
                <a:rPr lang="en-US" altLang="zh-CN" b="1" dirty="0">
                  <a:latin typeface="Times New Roman" panose="02020603050405020304" charset="0"/>
                  <a:ea typeface="宋体" panose="02010600030101010101" pitchFamily="2" charset="-122"/>
                  <a:cs typeface="楷体_GB2312" charset="0"/>
                </a:rPr>
                <a:t> =</a:t>
              </a:r>
              <a:endParaRPr lang="en-US" altLang="zh-CN" b="1" dirty="0">
                <a:latin typeface="Times New Roman" panose="02020603050405020304" charset="0"/>
                <a:ea typeface="宋体" panose="02010600030101010101" pitchFamily="2" charset="-122"/>
                <a:cs typeface="楷体_GB2312" charset="0"/>
              </a:endParaRPr>
            </a:p>
          </p:txBody>
        </p:sp>
        <p:grpSp>
          <p:nvGrpSpPr>
            <p:cNvPr id="2073" name="Group 13"/>
            <p:cNvGrpSpPr/>
            <p:nvPr/>
          </p:nvGrpSpPr>
          <p:grpSpPr bwMode="auto">
            <a:xfrm>
              <a:off x="1248" y="1392"/>
              <a:ext cx="1056" cy="960"/>
              <a:chOff x="1392" y="1776"/>
              <a:chExt cx="1056" cy="960"/>
            </a:xfrm>
          </p:grpSpPr>
          <p:graphicFrame>
            <p:nvGraphicFramePr>
              <p:cNvPr id="2076" name="Object 8"/>
              <p:cNvGraphicFramePr>
                <a:graphicFrameLocks noChangeAspect="1"/>
              </p:cNvGraphicFramePr>
              <p:nvPr/>
            </p:nvGraphicFramePr>
            <p:xfrm>
              <a:off x="1440" y="1776"/>
              <a:ext cx="955" cy="9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43" name="Equation" r:id="rId3" imgW="24688800" imgH="21945600" progId="Equation.3">
                      <p:embed/>
                    </p:oleObj>
                  </mc:Choice>
                  <mc:Fallback>
                    <p:oleObj name="Equation" r:id="rId3" imgW="24688800" imgH="21945600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0" y="1776"/>
                            <a:ext cx="955" cy="9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873" name="Line 9"/>
              <p:cNvSpPr>
                <a:spLocks noChangeShapeType="1"/>
              </p:cNvSpPr>
              <p:nvPr/>
            </p:nvSpPr>
            <p:spPr bwMode="auto">
              <a:xfrm>
                <a:off x="2064" y="2304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874" name="Oval 10"/>
              <p:cNvSpPr>
                <a:spLocks noChangeArrowheads="1"/>
              </p:cNvSpPr>
              <p:nvPr/>
            </p:nvSpPr>
            <p:spPr bwMode="auto">
              <a:xfrm>
                <a:off x="1872" y="2400"/>
                <a:ext cx="240" cy="28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6875" name="Oval 11"/>
              <p:cNvSpPr>
                <a:spLocks noChangeArrowheads="1"/>
              </p:cNvSpPr>
              <p:nvPr/>
            </p:nvSpPr>
            <p:spPr bwMode="auto">
              <a:xfrm>
                <a:off x="2112" y="1824"/>
                <a:ext cx="240" cy="38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6876" name="AutoShape 12"/>
              <p:cNvSpPr>
                <a:spLocks noChangeArrowheads="1"/>
              </p:cNvSpPr>
              <p:nvPr/>
            </p:nvSpPr>
            <p:spPr bwMode="auto">
              <a:xfrm>
                <a:off x="1392" y="1776"/>
                <a:ext cx="1056" cy="960"/>
              </a:xfrm>
              <a:prstGeom prst="bracketPair">
                <a:avLst>
                  <a:gd name="adj" fmla="val 10120"/>
                </a:avLst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36878" name="Text Box 14"/>
            <p:cNvSpPr txBox="1">
              <a:spLocks noChangeArrowheads="1"/>
            </p:cNvSpPr>
            <p:nvPr/>
          </p:nvSpPr>
          <p:spPr bwMode="auto">
            <a:xfrm>
              <a:off x="2304" y="1680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/>
                <a:t>，则</a:t>
              </a:r>
              <a:endParaRPr lang="en-US" altLang="zh-CN" b="1"/>
            </a:p>
          </p:txBody>
        </p:sp>
        <p:graphicFrame>
          <p:nvGraphicFramePr>
            <p:cNvPr id="2075" name="Object 15"/>
            <p:cNvGraphicFramePr>
              <a:graphicFrameLocks noChangeAspect="1"/>
            </p:cNvGraphicFramePr>
            <p:nvPr/>
          </p:nvGraphicFramePr>
          <p:xfrm>
            <a:off x="2784" y="1680"/>
            <a:ext cx="1071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4" name="Equation" r:id="rId5" imgW="23164800" imgH="5486400" progId="Equation.3">
                    <p:embed/>
                  </p:oleObj>
                </mc:Choice>
                <mc:Fallback>
                  <p:oleObj name="Equation" r:id="rId5" imgW="23164800" imgH="54864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1680"/>
                          <a:ext cx="1071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886" name="Group 22"/>
          <p:cNvGrpSpPr/>
          <p:nvPr/>
        </p:nvGrpSpPr>
        <p:grpSpPr bwMode="auto">
          <a:xfrm>
            <a:off x="6172200" y="2362200"/>
            <a:ext cx="1752600" cy="1143000"/>
            <a:chOff x="3984" y="1392"/>
            <a:chExt cx="1104" cy="720"/>
          </a:xfrm>
        </p:grpSpPr>
        <p:graphicFrame>
          <p:nvGraphicFramePr>
            <p:cNvPr id="2067" name="Object 16"/>
            <p:cNvGraphicFramePr>
              <a:graphicFrameLocks noChangeAspect="1"/>
            </p:cNvGraphicFramePr>
            <p:nvPr/>
          </p:nvGraphicFramePr>
          <p:xfrm>
            <a:off x="4032" y="1392"/>
            <a:ext cx="1008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" name="Equation" r:id="rId7" imgW="21945600" imgH="5791200" progId="Equation.3">
                    <p:embed/>
                  </p:oleObj>
                </mc:Choice>
                <mc:Fallback>
                  <p:oleObj name="Equation" r:id="rId7" imgW="21945600" imgH="57912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1392"/>
                          <a:ext cx="1008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8" name="Object 17"/>
            <p:cNvGraphicFramePr>
              <a:graphicFrameLocks noChangeAspect="1"/>
            </p:cNvGraphicFramePr>
            <p:nvPr/>
          </p:nvGraphicFramePr>
          <p:xfrm>
            <a:off x="4272" y="1680"/>
            <a:ext cx="480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6" name="Equation" r:id="rId9" imgW="6705600" imgH="4572000" progId="Equation.3">
                    <p:embed/>
                  </p:oleObj>
                </mc:Choice>
                <mc:Fallback>
                  <p:oleObj name="Equation" r:id="rId9" imgW="6705600" imgH="457200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1680"/>
                          <a:ext cx="480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9" name="Object 18"/>
            <p:cNvGraphicFramePr>
              <a:graphicFrameLocks noChangeAspect="1"/>
            </p:cNvGraphicFramePr>
            <p:nvPr/>
          </p:nvGraphicFramePr>
          <p:xfrm>
            <a:off x="4752" y="1728"/>
            <a:ext cx="320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7" name="Equation" r:id="rId11" imgW="6096000" imgH="4876800" progId="Equation.3">
                    <p:embed/>
                  </p:oleObj>
                </mc:Choice>
                <mc:Fallback>
                  <p:oleObj name="Equation" r:id="rId11" imgW="6096000" imgH="48768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1728"/>
                          <a:ext cx="320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3" name="Oval 19"/>
            <p:cNvSpPr>
              <a:spLocks noChangeArrowheads="1"/>
            </p:cNvSpPr>
            <p:nvPr/>
          </p:nvSpPr>
          <p:spPr bwMode="auto">
            <a:xfrm>
              <a:off x="4128" y="1680"/>
              <a:ext cx="96" cy="336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6884" name="AutoShape 20"/>
            <p:cNvSpPr>
              <a:spLocks noChangeArrowheads="1"/>
            </p:cNvSpPr>
            <p:nvPr/>
          </p:nvSpPr>
          <p:spPr bwMode="auto">
            <a:xfrm>
              <a:off x="3984" y="1392"/>
              <a:ext cx="1104" cy="672"/>
            </a:xfrm>
            <a:prstGeom prst="bracketPair">
              <a:avLst>
                <a:gd name="adj" fmla="val 9523"/>
              </a:avLst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36901" name="Group 37"/>
          <p:cNvGrpSpPr/>
          <p:nvPr/>
        </p:nvGrpSpPr>
        <p:grpSpPr bwMode="auto">
          <a:xfrm>
            <a:off x="533400" y="4038600"/>
            <a:ext cx="5943600" cy="1636713"/>
            <a:chOff x="336" y="2304"/>
            <a:chExt cx="3744" cy="1031"/>
          </a:xfrm>
        </p:grpSpPr>
        <p:sp>
          <p:nvSpPr>
            <p:cNvPr id="36888" name="Text Box 24"/>
            <p:cNvSpPr txBox="1">
              <a:spLocks noChangeArrowheads="1"/>
            </p:cNvSpPr>
            <p:nvPr/>
          </p:nvSpPr>
          <p:spPr bwMode="auto">
            <a:xfrm>
              <a:off x="336" y="2448"/>
              <a:ext cx="9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000" b="1">
                  <a:solidFill>
                    <a:schemeClr val="accent2"/>
                  </a:solidFill>
                </a:rPr>
                <a:t>Step </a:t>
              </a:r>
              <a:r>
                <a:rPr lang="en-US" altLang="zh-CN" sz="2000" b="1" i="1">
                  <a:solidFill>
                    <a:schemeClr val="accent2"/>
                  </a:solidFill>
                </a:rPr>
                <a:t>n</a:t>
              </a:r>
              <a:r>
                <a:rPr lang="en-US" altLang="zh-CN" sz="2000" b="1">
                  <a:solidFill>
                    <a:schemeClr val="accent2"/>
                  </a:solidFill>
                </a:rPr>
                <a:t> </a:t>
              </a:r>
              <a:r>
                <a:rPr lang="en-US" altLang="zh-CN" sz="2000" b="1">
                  <a:solidFill>
                    <a:schemeClr val="accent2"/>
                  </a:solidFill>
                  <a:sym typeface="Symbol" panose="05050102010706020507" pitchFamily="18" charset="2"/>
                </a:rPr>
                <a:t> 1:</a:t>
              </a:r>
              <a:endParaRPr lang="en-US" altLang="zh-CN" sz="2000" b="1">
                <a:solidFill>
                  <a:schemeClr val="accent2"/>
                </a:solidFill>
              </a:endParaRPr>
            </a:p>
          </p:txBody>
        </p:sp>
        <p:graphicFrame>
          <p:nvGraphicFramePr>
            <p:cNvPr id="2065" name="Object 27"/>
            <p:cNvGraphicFramePr>
              <a:graphicFrameLocks noChangeAspect="1"/>
            </p:cNvGraphicFramePr>
            <p:nvPr/>
          </p:nvGraphicFramePr>
          <p:xfrm>
            <a:off x="384" y="2304"/>
            <a:ext cx="2832" cy="10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8" name="Equation" r:id="rId13" imgW="77724000" imgH="23164800" progId="Equation.3">
                    <p:embed/>
                  </p:oleObj>
                </mc:Choice>
                <mc:Fallback>
                  <p:oleObj name="Equation" r:id="rId13" imgW="77724000" imgH="2316480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2304"/>
                          <a:ext cx="2832" cy="10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2" name="Text Box 28"/>
            <p:cNvSpPr txBox="1">
              <a:spLocks noChangeArrowheads="1"/>
            </p:cNvSpPr>
            <p:nvPr/>
          </p:nvSpPr>
          <p:spPr bwMode="auto">
            <a:xfrm>
              <a:off x="3312" y="2400"/>
              <a:ext cx="768" cy="5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400" b="1" dirty="0">
                  <a:latin typeface="Times New Roman" panose="02020603050405020304" charset="0"/>
                  <a:ea typeface="宋体" panose="02010600030101010101" pitchFamily="2" charset="-122"/>
                  <a:cs typeface="楷体_GB2312" charset="0"/>
                </a:rPr>
                <a:t>其中</a:t>
              </a:r>
              <a:endParaRPr lang="en-US" altLang="zh-CN" sz="2400" b="1" dirty="0">
                <a:latin typeface="Times New Roman" panose="02020603050405020304" charset="0"/>
                <a:ea typeface="宋体" panose="02010600030101010101" pitchFamily="2" charset="-122"/>
                <a:cs typeface="楷体_GB2312" charset="0"/>
              </a:endParaRPr>
            </a:p>
            <a:p>
              <a:pPr>
                <a:spcBef>
                  <a:spcPct val="50000"/>
                </a:spcBef>
                <a:defRPr/>
              </a:pPr>
              <a:r>
                <a:rPr lang="en-US" altLang="zh-CN" b="1" i="1" dirty="0">
                  <a:latin typeface="Times New Roman" panose="02020603050405020304" charset="0"/>
                  <a:ea typeface="宋体" panose="02010600030101010101" pitchFamily="2" charset="-122"/>
                  <a:cs typeface="楷体_GB2312" charset="0"/>
                </a:rPr>
                <a:t>   L</a:t>
              </a:r>
              <a:r>
                <a:rPr lang="en-US" altLang="zh-CN" b="1" i="1" baseline="-25000" dirty="0">
                  <a:latin typeface="Times New Roman" panose="02020603050405020304" charset="0"/>
                  <a:ea typeface="宋体" panose="02010600030101010101" pitchFamily="2" charset="-122"/>
                  <a:cs typeface="楷体_GB2312" charset="0"/>
                </a:rPr>
                <a:t>k</a:t>
              </a:r>
              <a:r>
                <a:rPr lang="en-US" altLang="zh-CN" b="1" dirty="0">
                  <a:latin typeface="Times New Roman" panose="02020603050405020304" charset="0"/>
                  <a:ea typeface="宋体" panose="02010600030101010101" pitchFamily="2" charset="-122"/>
                  <a:cs typeface="楷体_GB2312" charset="0"/>
                </a:rPr>
                <a:t> =</a:t>
              </a:r>
              <a:endParaRPr lang="en-US" altLang="zh-CN" b="1" dirty="0">
                <a:latin typeface="Times New Roman" panose="02020603050405020304" charset="0"/>
                <a:ea typeface="宋体" panose="02010600030101010101" pitchFamily="2" charset="-122"/>
                <a:cs typeface="楷体_GB2312" charset="0"/>
              </a:endParaRPr>
            </a:p>
          </p:txBody>
        </p:sp>
      </p:grpSp>
      <p:grpSp>
        <p:nvGrpSpPr>
          <p:cNvPr id="36903" name="Group 39"/>
          <p:cNvGrpSpPr/>
          <p:nvPr/>
        </p:nvGrpSpPr>
        <p:grpSpPr bwMode="auto">
          <a:xfrm>
            <a:off x="6248400" y="3886200"/>
            <a:ext cx="2438400" cy="2209800"/>
            <a:chOff x="3936" y="2448"/>
            <a:chExt cx="1536" cy="1392"/>
          </a:xfrm>
        </p:grpSpPr>
        <p:graphicFrame>
          <p:nvGraphicFramePr>
            <p:cNvPr id="2057" name="Object 29"/>
            <p:cNvGraphicFramePr>
              <a:graphicFrameLocks noChangeAspect="1"/>
            </p:cNvGraphicFramePr>
            <p:nvPr/>
          </p:nvGraphicFramePr>
          <p:xfrm>
            <a:off x="3984" y="2484"/>
            <a:ext cx="1450" cy="1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" name="Equation" r:id="rId15" imgW="36576000" imgH="33528000" progId="Equation.3">
                    <p:embed/>
                  </p:oleObj>
                </mc:Choice>
                <mc:Fallback>
                  <p:oleObj name="Equation" r:id="rId15" imgW="36576000" imgH="3352800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2484"/>
                          <a:ext cx="1450" cy="1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4" name="Line 30"/>
            <p:cNvSpPr>
              <a:spLocks noChangeShapeType="1"/>
            </p:cNvSpPr>
            <p:nvPr/>
          </p:nvSpPr>
          <p:spPr bwMode="auto">
            <a:xfrm>
              <a:off x="4224" y="2736"/>
              <a:ext cx="19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6895" name="Line 31"/>
            <p:cNvSpPr>
              <a:spLocks noChangeShapeType="1"/>
            </p:cNvSpPr>
            <p:nvPr/>
          </p:nvSpPr>
          <p:spPr bwMode="auto">
            <a:xfrm>
              <a:off x="4944" y="3312"/>
              <a:ext cx="19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6896" name="Oval 32"/>
            <p:cNvSpPr>
              <a:spLocks noChangeArrowheads="1"/>
            </p:cNvSpPr>
            <p:nvPr/>
          </p:nvSpPr>
          <p:spPr bwMode="auto">
            <a:xfrm>
              <a:off x="4080" y="2928"/>
              <a:ext cx="192" cy="7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6897" name="Oval 33"/>
            <p:cNvSpPr>
              <a:spLocks noChangeArrowheads="1"/>
            </p:cNvSpPr>
            <p:nvPr/>
          </p:nvSpPr>
          <p:spPr bwMode="auto">
            <a:xfrm>
              <a:off x="4944" y="3504"/>
              <a:ext cx="144" cy="24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6898" name="Oval 34"/>
            <p:cNvSpPr>
              <a:spLocks noChangeArrowheads="1"/>
            </p:cNvSpPr>
            <p:nvPr/>
          </p:nvSpPr>
          <p:spPr bwMode="auto">
            <a:xfrm>
              <a:off x="4752" y="2544"/>
              <a:ext cx="480" cy="62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6899" name="AutoShape 35"/>
            <p:cNvSpPr>
              <a:spLocks noChangeArrowheads="1"/>
            </p:cNvSpPr>
            <p:nvPr/>
          </p:nvSpPr>
          <p:spPr bwMode="auto">
            <a:xfrm>
              <a:off x="3936" y="2448"/>
              <a:ext cx="1536" cy="1392"/>
            </a:xfrm>
            <a:prstGeom prst="bracketPair">
              <a:avLst>
                <a:gd name="adj" fmla="val 7500"/>
              </a:avLst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5" name="Title 1"/>
          <p:cNvSpPr txBox="1"/>
          <p:nvPr/>
        </p:nvSpPr>
        <p:spPr>
          <a:xfrm>
            <a:off x="330743" y="182881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4000" b="1" dirty="0">
                <a:latin typeface="楷体_GB2312" charset="0"/>
              </a:rPr>
              <a:t>高斯消元法的矩阵形式</a:t>
            </a:r>
            <a:endParaRPr lang="en-US" sz="3800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" name="Process 35"/>
          <p:cNvSpPr/>
          <p:nvPr/>
        </p:nvSpPr>
        <p:spPr>
          <a:xfrm>
            <a:off x="330743" y="944881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9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8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68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9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9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8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69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9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3962400" y="0"/>
            <a:ext cx="5181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 b="1"/>
              <a:t>§2 Matrix Factorization – Matrix Form of G.E.</a:t>
            </a:r>
            <a:endParaRPr lang="en-US" altLang="zh-CN" sz="1800" b="1"/>
          </a:p>
        </p:txBody>
      </p:sp>
      <p:graphicFrame>
        <p:nvGraphicFramePr>
          <p:cNvPr id="37891" name="Object 3"/>
          <p:cNvGraphicFramePr>
            <a:graphicFrameLocks noChangeAspect="1"/>
          </p:cNvGraphicFramePr>
          <p:nvPr/>
        </p:nvGraphicFramePr>
        <p:xfrm>
          <a:off x="533400" y="1143000"/>
          <a:ext cx="8699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Equation" r:id="rId1" imgW="8839200" imgH="5791200" progId="Equation.3">
                  <p:embed/>
                </p:oleObj>
              </mc:Choice>
              <mc:Fallback>
                <p:oleObj name="Equation" r:id="rId1" imgW="8839200" imgH="5791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143000"/>
                        <a:ext cx="86995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900" name="Group 12"/>
          <p:cNvGrpSpPr/>
          <p:nvPr/>
        </p:nvGrpSpPr>
        <p:grpSpPr bwMode="auto">
          <a:xfrm>
            <a:off x="1447800" y="304800"/>
            <a:ext cx="2286000" cy="2209800"/>
            <a:chOff x="1824" y="1584"/>
            <a:chExt cx="1440" cy="1392"/>
          </a:xfrm>
        </p:grpSpPr>
        <p:graphicFrame>
          <p:nvGraphicFramePr>
            <p:cNvPr id="3099" name="Object 5"/>
            <p:cNvGraphicFramePr>
              <a:graphicFrameLocks noChangeAspect="1"/>
            </p:cNvGraphicFramePr>
            <p:nvPr/>
          </p:nvGraphicFramePr>
          <p:xfrm>
            <a:off x="1878" y="1620"/>
            <a:ext cx="1341" cy="1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9" name="Equation" r:id="rId3" imgW="33832800" imgH="33528000" progId="Equation.3">
                    <p:embed/>
                  </p:oleObj>
                </mc:Choice>
                <mc:Fallback>
                  <p:oleObj name="Equation" r:id="rId3" imgW="33832800" imgH="335280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8" y="1620"/>
                          <a:ext cx="1341" cy="1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894" name="Line 6"/>
            <p:cNvSpPr>
              <a:spLocks noChangeShapeType="1"/>
            </p:cNvSpPr>
            <p:nvPr/>
          </p:nvSpPr>
          <p:spPr bwMode="auto">
            <a:xfrm>
              <a:off x="2064" y="1872"/>
              <a:ext cx="19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7895" name="Line 7"/>
            <p:cNvSpPr>
              <a:spLocks noChangeShapeType="1"/>
            </p:cNvSpPr>
            <p:nvPr/>
          </p:nvSpPr>
          <p:spPr bwMode="auto">
            <a:xfrm>
              <a:off x="2784" y="2448"/>
              <a:ext cx="192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7896" name="Oval 8"/>
            <p:cNvSpPr>
              <a:spLocks noChangeArrowheads="1"/>
            </p:cNvSpPr>
            <p:nvPr/>
          </p:nvSpPr>
          <p:spPr bwMode="auto">
            <a:xfrm>
              <a:off x="1920" y="2064"/>
              <a:ext cx="192" cy="768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7897" name="Oval 9"/>
            <p:cNvSpPr>
              <a:spLocks noChangeArrowheads="1"/>
            </p:cNvSpPr>
            <p:nvPr/>
          </p:nvSpPr>
          <p:spPr bwMode="auto">
            <a:xfrm>
              <a:off x="2784" y="2640"/>
              <a:ext cx="144" cy="24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7898" name="Oval 10"/>
            <p:cNvSpPr>
              <a:spLocks noChangeArrowheads="1"/>
            </p:cNvSpPr>
            <p:nvPr/>
          </p:nvSpPr>
          <p:spPr bwMode="auto">
            <a:xfrm>
              <a:off x="2592" y="1680"/>
              <a:ext cx="480" cy="62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7899" name="AutoShape 11"/>
            <p:cNvSpPr>
              <a:spLocks noChangeArrowheads="1"/>
            </p:cNvSpPr>
            <p:nvPr/>
          </p:nvSpPr>
          <p:spPr bwMode="auto">
            <a:xfrm>
              <a:off x="1824" y="1584"/>
              <a:ext cx="1440" cy="1392"/>
            </a:xfrm>
            <a:prstGeom prst="bracketPair">
              <a:avLst>
                <a:gd name="adj" fmla="val 7500"/>
              </a:avLst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graphicFrame>
        <p:nvGraphicFramePr>
          <p:cNvPr id="37901" name="Object 13"/>
          <p:cNvGraphicFramePr>
            <a:graphicFrameLocks noChangeAspect="1"/>
          </p:cNvGraphicFramePr>
          <p:nvPr/>
        </p:nvGraphicFramePr>
        <p:xfrm>
          <a:off x="4114800" y="1219200"/>
          <a:ext cx="1647825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name="Equation" r:id="rId5" imgW="24688800" imgH="5791200" progId="Equation.3">
                  <p:embed/>
                </p:oleObj>
              </mc:Choice>
              <mc:Fallback>
                <p:oleObj name="Equation" r:id="rId5" imgW="24688800" imgH="5791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219200"/>
                        <a:ext cx="1647825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913" name="Group 25"/>
          <p:cNvGrpSpPr/>
          <p:nvPr/>
        </p:nvGrpSpPr>
        <p:grpSpPr bwMode="auto">
          <a:xfrm>
            <a:off x="5867400" y="762000"/>
            <a:ext cx="2362200" cy="1282700"/>
            <a:chOff x="3696" y="432"/>
            <a:chExt cx="1488" cy="808"/>
          </a:xfrm>
        </p:grpSpPr>
        <p:grpSp>
          <p:nvGrpSpPr>
            <p:cNvPr id="3088" name="Group 19"/>
            <p:cNvGrpSpPr/>
            <p:nvPr/>
          </p:nvGrpSpPr>
          <p:grpSpPr bwMode="auto">
            <a:xfrm>
              <a:off x="3696" y="432"/>
              <a:ext cx="816" cy="808"/>
              <a:chOff x="3600" y="480"/>
              <a:chExt cx="816" cy="808"/>
            </a:xfrm>
          </p:grpSpPr>
          <p:graphicFrame>
            <p:nvGraphicFramePr>
              <p:cNvPr id="3094" name="Object 14"/>
              <p:cNvGraphicFramePr>
                <a:graphicFrameLocks noChangeAspect="1"/>
              </p:cNvGraphicFramePr>
              <p:nvPr/>
            </p:nvGraphicFramePr>
            <p:xfrm>
              <a:off x="3600" y="480"/>
              <a:ext cx="812" cy="8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1" name="Equation" r:id="rId7" imgW="17983200" imgH="21336000" progId="Equation.3">
                      <p:embed/>
                    </p:oleObj>
                  </mc:Choice>
                  <mc:Fallback>
                    <p:oleObj name="Equation" r:id="rId7" imgW="17983200" imgH="21336000" progId="Equation.3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00" y="480"/>
                            <a:ext cx="812" cy="8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903" name="Line 15"/>
              <p:cNvSpPr>
                <a:spLocks noChangeShapeType="1"/>
              </p:cNvSpPr>
              <p:nvPr/>
            </p:nvSpPr>
            <p:spPr bwMode="auto">
              <a:xfrm>
                <a:off x="4080" y="912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sys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3096" name="Object 16"/>
              <p:cNvGraphicFramePr>
                <a:graphicFrameLocks noChangeAspect="1"/>
              </p:cNvGraphicFramePr>
              <p:nvPr/>
            </p:nvGraphicFramePr>
            <p:xfrm>
              <a:off x="3648" y="864"/>
              <a:ext cx="376" cy="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2" name="Equation" r:id="rId9" imgW="6705600" imgH="5791200" progId="Equation.3">
                      <p:embed/>
                    </p:oleObj>
                  </mc:Choice>
                  <mc:Fallback>
                    <p:oleObj name="Equation" r:id="rId9" imgW="6705600" imgH="5791200" progId="Equation.3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48" y="864"/>
                            <a:ext cx="376" cy="3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905" name="Oval 17"/>
              <p:cNvSpPr>
                <a:spLocks noChangeArrowheads="1"/>
              </p:cNvSpPr>
              <p:nvPr/>
            </p:nvSpPr>
            <p:spPr bwMode="auto">
              <a:xfrm>
                <a:off x="4080" y="528"/>
                <a:ext cx="288" cy="38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7906" name="AutoShape 18"/>
              <p:cNvSpPr>
                <a:spLocks noChangeArrowheads="1"/>
              </p:cNvSpPr>
              <p:nvPr/>
            </p:nvSpPr>
            <p:spPr bwMode="auto">
              <a:xfrm>
                <a:off x="3600" y="480"/>
                <a:ext cx="816" cy="768"/>
              </a:xfrm>
              <a:prstGeom prst="bracketPair">
                <a:avLst>
                  <a:gd name="adj" fmla="val 7477"/>
                </a:avLst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3089" name="Group 23"/>
            <p:cNvGrpSpPr/>
            <p:nvPr/>
          </p:nvGrpSpPr>
          <p:grpSpPr bwMode="auto">
            <a:xfrm>
              <a:off x="4560" y="624"/>
              <a:ext cx="432" cy="240"/>
              <a:chOff x="1488" y="2352"/>
              <a:chExt cx="432" cy="240"/>
            </a:xfrm>
          </p:grpSpPr>
          <p:sp>
            <p:nvSpPr>
              <p:cNvPr id="37908" name="Text Box 20"/>
              <p:cNvSpPr txBox="1">
                <a:spLocks noChangeArrowheads="1"/>
              </p:cNvSpPr>
              <p:nvPr/>
            </p:nvSpPr>
            <p:spPr bwMode="auto">
              <a:xfrm>
                <a:off x="1488" y="2352"/>
                <a:ext cx="43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defRPr/>
                </a:pPr>
                <a:r>
                  <a:rPr lang="zh-CN" altLang="en-US" sz="1600" b="1">
                    <a:latin typeface="Times New Roman" panose="02020603050405020304" charset="0"/>
                    <a:ea typeface="宋体" panose="02010600030101010101" pitchFamily="2" charset="-122"/>
                    <a:cs typeface="楷体_GB2312" charset="0"/>
                  </a:rPr>
                  <a:t>记为</a:t>
                </a:r>
                <a:endParaRPr lang="en-US" altLang="zh-CN" sz="1600" b="1">
                  <a:latin typeface="Times New Roman" panose="02020603050405020304" charset="0"/>
                  <a:ea typeface="宋体" panose="02010600030101010101" pitchFamily="2" charset="-122"/>
                  <a:cs typeface="楷体_GB2312" charset="0"/>
                </a:endParaRPr>
              </a:p>
            </p:txBody>
          </p:sp>
          <p:sp>
            <p:nvSpPr>
              <p:cNvPr id="37909" name="Line 21"/>
              <p:cNvSpPr>
                <a:spLocks noChangeShapeType="1"/>
              </p:cNvSpPr>
              <p:nvPr/>
            </p:nvSpPr>
            <p:spPr bwMode="auto">
              <a:xfrm>
                <a:off x="1536" y="2544"/>
                <a:ext cx="2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910" name="Line 22"/>
              <p:cNvSpPr>
                <a:spLocks noChangeShapeType="1"/>
              </p:cNvSpPr>
              <p:nvPr/>
            </p:nvSpPr>
            <p:spPr bwMode="auto">
              <a:xfrm>
                <a:off x="1536" y="2592"/>
                <a:ext cx="2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7912" name="Text Box 24"/>
            <p:cNvSpPr txBox="1">
              <a:spLocks noChangeArrowheads="1"/>
            </p:cNvSpPr>
            <p:nvPr/>
          </p:nvSpPr>
          <p:spPr bwMode="auto">
            <a:xfrm>
              <a:off x="4896" y="672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2800" b="1" i="1">
                  <a:latin typeface="Times New Roman" panose="02020603050405020304" charset="0"/>
                  <a:ea typeface="宋体" panose="02010600030101010101" pitchFamily="2" charset="-122"/>
                </a:rPr>
                <a:t>L</a:t>
              </a:r>
              <a:endParaRPr lang="en-US" altLang="zh-CN" sz="2800" b="1" i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7914" name="AutoShape 26"/>
          <p:cNvSpPr>
            <a:spLocks noChangeArrowheads="1"/>
          </p:cNvSpPr>
          <p:nvPr/>
        </p:nvSpPr>
        <p:spPr bwMode="auto">
          <a:xfrm>
            <a:off x="2133600" y="2667000"/>
            <a:ext cx="6400800" cy="1143000"/>
          </a:xfrm>
          <a:prstGeom prst="wedgeEllipseCallout">
            <a:avLst>
              <a:gd name="adj1" fmla="val 21403"/>
              <a:gd name="adj2" fmla="val -112778"/>
            </a:avLst>
          </a:prstGeom>
          <a:gradFill rotWithShape="0">
            <a:gsLst>
              <a:gs pos="0">
                <a:schemeClr val="bg1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/>
              <a:t>单位下三角阵</a:t>
            </a:r>
            <a:endParaRPr lang="en-US" altLang="zh-CN" b="1"/>
          </a:p>
          <a:p>
            <a:pPr algn="ctr" eaLnBrk="1" hangingPunct="1"/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/* unitary lower-triangular matrix */</a:t>
            </a:r>
            <a:endParaRPr lang="en-US" altLang="zh-CN" sz="2000" b="1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grpSp>
        <p:nvGrpSpPr>
          <p:cNvPr id="37922" name="Group 34"/>
          <p:cNvGrpSpPr/>
          <p:nvPr/>
        </p:nvGrpSpPr>
        <p:grpSpPr bwMode="auto">
          <a:xfrm>
            <a:off x="533400" y="3048000"/>
            <a:ext cx="3276600" cy="1828800"/>
            <a:chOff x="336" y="1776"/>
            <a:chExt cx="2064" cy="1152"/>
          </a:xfrm>
        </p:grpSpPr>
        <p:sp>
          <p:nvSpPr>
            <p:cNvPr id="37915" name="Text Box 27"/>
            <p:cNvSpPr txBox="1">
              <a:spLocks noChangeArrowheads="1"/>
            </p:cNvSpPr>
            <p:nvPr/>
          </p:nvSpPr>
          <p:spPr bwMode="auto">
            <a:xfrm>
              <a:off x="336" y="2160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b="1">
                  <a:latin typeface="Times New Roman" panose="02020603050405020304" charset="0"/>
                  <a:ea typeface="宋体" panose="02010600030101010101" pitchFamily="2" charset="-122"/>
                  <a:cs typeface="楷体_GB2312" charset="0"/>
                </a:rPr>
                <a:t>记</a:t>
              </a:r>
              <a:r>
                <a:rPr lang="en-US" altLang="zh-CN" b="1">
                  <a:latin typeface="Times New Roman" panose="02020603050405020304" charset="0"/>
                  <a:ea typeface="宋体" panose="02010600030101010101" pitchFamily="2" charset="-122"/>
                </a:rPr>
                <a:t> </a:t>
              </a:r>
              <a:r>
                <a:rPr lang="en-US" altLang="zh-CN" sz="2800" b="1" i="1">
                  <a:latin typeface="Times New Roman" panose="02020603050405020304" charset="0"/>
                  <a:ea typeface="宋体" panose="02010600030101010101" pitchFamily="2" charset="-122"/>
                </a:rPr>
                <a:t>U</a:t>
              </a:r>
              <a:r>
                <a:rPr lang="en-US" altLang="zh-CN" b="1">
                  <a:latin typeface="Times New Roman" panose="02020603050405020304" charset="0"/>
                  <a:ea typeface="宋体" panose="02010600030101010101" pitchFamily="2" charset="-122"/>
                </a:rPr>
                <a:t> =</a:t>
              </a:r>
              <a:endParaRPr lang="en-US" altLang="zh-CN" b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grpSp>
          <p:nvGrpSpPr>
            <p:cNvPr id="3084" name="Group 33"/>
            <p:cNvGrpSpPr/>
            <p:nvPr/>
          </p:nvGrpSpPr>
          <p:grpSpPr bwMode="auto">
            <a:xfrm>
              <a:off x="1008" y="1776"/>
              <a:ext cx="1392" cy="1152"/>
              <a:chOff x="1824" y="2688"/>
              <a:chExt cx="1392" cy="1152"/>
            </a:xfrm>
          </p:grpSpPr>
          <p:graphicFrame>
            <p:nvGraphicFramePr>
              <p:cNvPr id="3085" name="Object 30"/>
              <p:cNvGraphicFramePr>
                <a:graphicFrameLocks noChangeAspect="1"/>
              </p:cNvGraphicFramePr>
              <p:nvPr/>
            </p:nvGraphicFramePr>
            <p:xfrm>
              <a:off x="1872" y="2688"/>
              <a:ext cx="1317" cy="11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3" name="Equation" r:id="rId11" imgW="29870400" imgH="22555200" progId="Equation.3">
                      <p:embed/>
                    </p:oleObj>
                  </mc:Choice>
                  <mc:Fallback>
                    <p:oleObj name="Equation" r:id="rId11" imgW="29870400" imgH="22555200" progId="Equation.3">
                      <p:embed/>
                      <p:pic>
                        <p:nvPicPr>
                          <p:cNvPr id="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72" y="2688"/>
                            <a:ext cx="1317" cy="112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919" name="Oval 31"/>
              <p:cNvSpPr>
                <a:spLocks noChangeArrowheads="1"/>
              </p:cNvSpPr>
              <p:nvPr/>
            </p:nvSpPr>
            <p:spPr bwMode="auto">
              <a:xfrm>
                <a:off x="1968" y="3264"/>
                <a:ext cx="528" cy="528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7920" name="AutoShape 32"/>
              <p:cNvSpPr>
                <a:spLocks noChangeArrowheads="1"/>
              </p:cNvSpPr>
              <p:nvPr/>
            </p:nvSpPr>
            <p:spPr bwMode="auto">
              <a:xfrm>
                <a:off x="1824" y="2688"/>
                <a:ext cx="1392" cy="1152"/>
              </a:xfrm>
              <a:prstGeom prst="bracketPair">
                <a:avLst>
                  <a:gd name="adj" fmla="val 7727"/>
                </a:avLst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graphicFrame>
        <p:nvGraphicFramePr>
          <p:cNvPr id="37923" name="Object 35"/>
          <p:cNvGraphicFramePr>
            <a:graphicFrameLocks noChangeAspect="1"/>
          </p:cNvGraphicFramePr>
          <p:nvPr/>
        </p:nvGraphicFramePr>
        <p:xfrm>
          <a:off x="4572000" y="3581400"/>
          <a:ext cx="2286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4" name="Equation" r:id="rId13" imgW="20116800" imgH="4876800" progId="Equation.3">
                  <p:embed/>
                </p:oleObj>
              </mc:Choice>
              <mc:Fallback>
                <p:oleObj name="Equation" r:id="rId13" imgW="20116800" imgH="487680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581400"/>
                        <a:ext cx="22860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24" name="AutoShape 36"/>
          <p:cNvSpPr>
            <a:spLocks noChangeArrowheads="1"/>
          </p:cNvSpPr>
          <p:nvPr/>
        </p:nvSpPr>
        <p:spPr bwMode="auto">
          <a:xfrm>
            <a:off x="4191000" y="4800600"/>
            <a:ext cx="4191000" cy="1143000"/>
          </a:xfrm>
          <a:prstGeom prst="wedgeEllipseCallout">
            <a:avLst>
              <a:gd name="adj1" fmla="val -8713"/>
              <a:gd name="adj2" fmla="val -119028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en-US" altLang="zh-CN" b="1" i="1"/>
              <a:t>A</a:t>
            </a:r>
            <a:r>
              <a:rPr lang="en-US" altLang="zh-CN" b="1"/>
              <a:t> </a:t>
            </a:r>
            <a:r>
              <a:rPr lang="zh-CN" altLang="en-US" b="1"/>
              <a:t>的</a:t>
            </a:r>
            <a:r>
              <a:rPr lang="en-US" altLang="zh-CN" b="1"/>
              <a:t> </a:t>
            </a:r>
            <a:r>
              <a:rPr lang="en-US" altLang="zh-CN" b="1" i="1"/>
              <a:t>LU</a:t>
            </a:r>
            <a:r>
              <a:rPr lang="en-US" altLang="zh-CN" b="1"/>
              <a:t> </a:t>
            </a:r>
            <a:r>
              <a:rPr lang="zh-CN" altLang="en-US" b="1"/>
              <a:t>分解</a:t>
            </a:r>
            <a:endParaRPr lang="en-US" altLang="zh-CN" b="1"/>
          </a:p>
          <a:p>
            <a:pPr algn="ctr">
              <a:defRPr/>
            </a:pP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/* </a:t>
            </a:r>
            <a:r>
              <a:rPr lang="en-US" altLang="zh-CN" sz="2000" b="1" i="1">
                <a:solidFill>
                  <a:srgbClr val="008000"/>
                </a:solidFill>
              </a:rPr>
              <a:t>LU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 factorization */</a:t>
            </a:r>
            <a:endParaRPr lang="en-US" altLang="zh-CN" sz="2000" b="1" i="1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AutoShape 28" descr="再生纸"/>
          <p:cNvSpPr>
            <a:spLocks noChangeArrowheads="1"/>
          </p:cNvSpPr>
          <p:nvPr/>
        </p:nvSpPr>
        <p:spPr bwMode="auto">
          <a:xfrm>
            <a:off x="685800" y="4918635"/>
            <a:ext cx="7988300" cy="1752600"/>
          </a:xfrm>
          <a:prstGeom prst="roundRect">
            <a:avLst>
              <a:gd name="adj" fmla="val 16667"/>
            </a:avLst>
          </a:prstGeom>
          <a:blipFill dpi="0" rotWithShape="0">
            <a:blip r:embed="rId15"/>
            <a:srcRect/>
            <a:tile tx="0" ty="0" sx="100000" sy="100000" flip="none" algn="tl"/>
          </a:blipFill>
          <a:ln>
            <a:noFill/>
          </a:ln>
          <a:effectLst>
            <a:prstShdw prst="shdw17" dist="17961" dir="2700000">
              <a:srgbClr val="FFFFFF">
                <a:gamma/>
                <a:shade val="60000"/>
                <a:invGamma/>
                <a:alpha val="74998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round/>
              </a14:hiddenLine>
            </a:ext>
          </a:extLst>
        </p:spPr>
        <p:txBody>
          <a:bodyPr anchor="ctr"/>
          <a:lstStyle>
            <a:lvl1pPr marL="565150" indent="-5651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注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b="1" i="1" dirty="0"/>
              <a:t>L</a:t>
            </a:r>
            <a:r>
              <a:rPr lang="en-US" altLang="zh-CN" b="1" dirty="0"/>
              <a:t> </a:t>
            </a:r>
            <a:r>
              <a:rPr lang="zh-CN" altLang="en-US" b="1" dirty="0"/>
              <a:t>为一般下三角阵而</a:t>
            </a:r>
            <a:r>
              <a:rPr lang="en-US" altLang="zh-CN" b="1" dirty="0"/>
              <a:t> </a:t>
            </a:r>
            <a:r>
              <a:rPr lang="en-US" altLang="zh-CN" b="1" i="1" dirty="0"/>
              <a:t>U</a:t>
            </a:r>
            <a:r>
              <a:rPr lang="en-US" altLang="zh-CN" b="1" dirty="0"/>
              <a:t> </a:t>
            </a:r>
            <a:r>
              <a:rPr lang="zh-CN" altLang="en-US" b="1" dirty="0"/>
              <a:t>为</a:t>
            </a:r>
            <a:r>
              <a:rPr lang="zh-CN" altLang="en-US" b="1" dirty="0">
                <a:solidFill>
                  <a:schemeClr val="accent2"/>
                </a:solidFill>
              </a:rPr>
              <a:t>单位</a:t>
            </a:r>
            <a:r>
              <a:rPr lang="zh-CN" altLang="en-US" b="1" dirty="0"/>
              <a:t>上三角阵的分解称为</a:t>
            </a:r>
            <a:r>
              <a:rPr lang="en-US" altLang="zh-CN" b="1" dirty="0">
                <a:solidFill>
                  <a:schemeClr val="accent2"/>
                </a:solidFill>
              </a:rPr>
              <a:t>Crout </a:t>
            </a:r>
            <a:r>
              <a:rPr lang="zh-CN" altLang="en-US" b="1" dirty="0">
                <a:solidFill>
                  <a:schemeClr val="accent2"/>
                </a:solidFill>
              </a:rPr>
              <a:t>分解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pPr eaLnBrk="1" hangingPunct="1"/>
            <a:r>
              <a:rPr lang="en-US" altLang="zh-CN" b="1" dirty="0"/>
              <a:t>        </a:t>
            </a:r>
            <a:r>
              <a:rPr lang="zh-CN" altLang="en-US" b="1" dirty="0"/>
              <a:t>实际上只要考虑</a:t>
            </a:r>
            <a:r>
              <a:rPr lang="en-US" altLang="zh-CN" b="1" dirty="0"/>
              <a:t> </a:t>
            </a:r>
            <a:r>
              <a:rPr lang="en-US" altLang="zh-CN" b="1" i="1" dirty="0"/>
              <a:t>A</a:t>
            </a:r>
            <a:r>
              <a:rPr lang="en-US" altLang="zh-CN" b="1" dirty="0"/>
              <a:t>* </a:t>
            </a:r>
            <a:r>
              <a:rPr lang="zh-CN" altLang="en-US" b="1" dirty="0"/>
              <a:t>的</a:t>
            </a:r>
            <a:r>
              <a:rPr lang="en-US" altLang="zh-CN" b="1" dirty="0"/>
              <a:t> </a:t>
            </a:r>
            <a:r>
              <a:rPr lang="en-US" altLang="zh-CN" b="1" i="1" dirty="0"/>
              <a:t>LU</a:t>
            </a:r>
            <a:r>
              <a:rPr lang="en-US" altLang="zh-CN" b="1" dirty="0"/>
              <a:t> </a:t>
            </a:r>
            <a:r>
              <a:rPr lang="zh-CN" altLang="en-US" b="1" dirty="0"/>
              <a:t>分解，即</a:t>
            </a:r>
            <a:r>
              <a:rPr lang="en-US" altLang="zh-CN" b="1" dirty="0"/>
              <a:t> </a:t>
            </a:r>
            <a:r>
              <a:rPr lang="en-US" altLang="zh-CN" b="1" i="1" dirty="0"/>
              <a:t>              </a:t>
            </a:r>
            <a:r>
              <a:rPr lang="zh-CN" altLang="en-US" b="1" dirty="0"/>
              <a:t>，则</a:t>
            </a:r>
            <a:endParaRPr lang="en-US" altLang="zh-CN" b="1" dirty="0"/>
          </a:p>
          <a:p>
            <a:pPr eaLnBrk="1" hangingPunct="1"/>
            <a:r>
              <a:rPr lang="en-US" altLang="zh-CN" b="1" dirty="0"/>
              <a:t>                        </a:t>
            </a:r>
            <a:r>
              <a:rPr lang="zh-CN" altLang="en-US" b="1" dirty="0"/>
              <a:t>即是</a:t>
            </a:r>
            <a:r>
              <a:rPr lang="en-US" altLang="zh-CN" b="1" dirty="0"/>
              <a:t> </a:t>
            </a:r>
            <a:r>
              <a:rPr lang="en-US" altLang="zh-CN" b="1" i="1" dirty="0"/>
              <a:t>A </a:t>
            </a:r>
            <a:r>
              <a:rPr lang="zh-CN" altLang="en-US" b="1" dirty="0"/>
              <a:t>的</a:t>
            </a:r>
            <a:r>
              <a:rPr lang="en-US" altLang="zh-CN" b="1" dirty="0"/>
              <a:t> Crout </a:t>
            </a:r>
            <a:r>
              <a:rPr lang="zh-CN" altLang="en-US" b="1" dirty="0"/>
              <a:t>分解。</a:t>
            </a:r>
            <a:endParaRPr lang="en-US" altLang="zh-CN" b="1" dirty="0"/>
          </a:p>
        </p:txBody>
      </p:sp>
      <p:graphicFrame>
        <p:nvGraphicFramePr>
          <p:cNvPr id="8" name="Object 29"/>
          <p:cNvGraphicFramePr>
            <a:graphicFrameLocks noChangeAspect="1"/>
          </p:cNvGraphicFramePr>
          <p:nvPr/>
        </p:nvGraphicFramePr>
        <p:xfrm>
          <a:off x="6313488" y="5734610"/>
          <a:ext cx="121920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" name="Equation" r:id="rId16" imgW="14935200" imgH="5181600" progId="Equation.3">
                  <p:embed/>
                </p:oleObj>
              </mc:Choice>
              <mc:Fallback>
                <p:oleObj name="Equation" r:id="rId16" imgW="14935200" imgH="51816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3488" y="5734610"/>
                        <a:ext cx="1219200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0"/>
          <p:cNvGraphicFramePr>
            <a:graphicFrameLocks noChangeAspect="1"/>
          </p:cNvGraphicFramePr>
          <p:nvPr/>
        </p:nvGraphicFramePr>
        <p:xfrm>
          <a:off x="1524000" y="6115610"/>
          <a:ext cx="11430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6" name="Equation" r:id="rId18" imgW="17678400" imgH="5181600" progId="Equation.3">
                  <p:embed/>
                </p:oleObj>
              </mc:Choice>
              <mc:Fallback>
                <p:oleObj name="Equation" r:id="rId18" imgW="17678400" imgH="51816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6115610"/>
                        <a:ext cx="11430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0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79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379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0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79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79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79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0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14" grpId="0" animBg="1" autoUpdateAnimBg="0"/>
      <p:bldP spid="37924" grpId="0" animBg="1" autoUpdateAnimBg="0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/>
          </p:cNvSpPr>
          <p:nvPr/>
        </p:nvSpPr>
        <p:spPr bwMode="auto">
          <a:xfrm>
            <a:off x="5029200" y="0"/>
            <a:ext cx="4114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 b="1"/>
              <a:t>§2 Matrix Factorization – Doolittle</a:t>
            </a:r>
            <a:endParaRPr lang="en-US" altLang="zh-CN" sz="1800" b="1"/>
          </a:p>
        </p:txBody>
      </p:sp>
      <p:sp>
        <p:nvSpPr>
          <p:cNvPr id="40093" name="Text Box 157"/>
          <p:cNvSpPr txBox="1">
            <a:spLocks noChangeArrowheads="1"/>
          </p:cNvSpPr>
          <p:nvPr/>
        </p:nvSpPr>
        <p:spPr bwMode="auto">
          <a:xfrm>
            <a:off x="457200" y="457200"/>
            <a:ext cx="7315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accent2"/>
                </a:solidFill>
                <a:latin typeface="楷体_GB2312" charset="0"/>
                <a:sym typeface="Wingdings" panose="05000000000000000000" pitchFamily="2" charset="2"/>
              </a:rPr>
              <a:t> </a:t>
            </a:r>
            <a:r>
              <a:rPr lang="zh-CN" altLang="en-US" b="1">
                <a:latin typeface="楷体_GB2312" charset="0"/>
              </a:rPr>
              <a:t>道立特分解法</a:t>
            </a:r>
            <a:r>
              <a:rPr lang="en-US" altLang="zh-CN" b="1">
                <a:latin typeface="楷体_GB2312" charset="0"/>
              </a:rPr>
              <a:t> 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/* Doolittle Factorization */</a:t>
            </a:r>
            <a:r>
              <a:rPr lang="zh-CN" altLang="en-US" b="1">
                <a:latin typeface="楷体_GB2312" charset="0"/>
              </a:rPr>
              <a:t>：</a:t>
            </a:r>
            <a:endParaRPr lang="en-US" altLang="zh-CN" b="1">
              <a:latin typeface="楷体_GB2312" charset="0"/>
            </a:endParaRPr>
          </a:p>
          <a:p>
            <a:pPr eaLnBrk="1" hangingPunct="1"/>
            <a:r>
              <a:rPr lang="en-US" altLang="zh-CN" b="1">
                <a:latin typeface="楷体_GB2312" charset="0"/>
              </a:rPr>
              <a:t>        </a:t>
            </a:r>
            <a:r>
              <a:rPr lang="en-US" altLang="zh-CN" b="1"/>
              <a:t>——</a:t>
            </a:r>
            <a:r>
              <a:rPr lang="en-US" altLang="zh-CN" b="1">
                <a:latin typeface="楷体_GB2312" charset="0"/>
              </a:rPr>
              <a:t> </a:t>
            </a:r>
            <a:r>
              <a:rPr lang="en-US" altLang="zh-CN" b="1" i="1"/>
              <a:t>LU</a:t>
            </a:r>
            <a:r>
              <a:rPr lang="en-US" altLang="zh-CN" b="1"/>
              <a:t> </a:t>
            </a:r>
            <a:r>
              <a:rPr lang="zh-CN" altLang="en-US" b="1">
                <a:latin typeface="楷体_GB2312" charset="0"/>
              </a:rPr>
              <a:t>分解的紧凑格式</a:t>
            </a:r>
            <a:r>
              <a:rPr lang="en-US" altLang="zh-CN" b="1">
                <a:latin typeface="楷体_GB2312" charset="0"/>
              </a:rPr>
              <a:t> 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/* compact form */</a:t>
            </a:r>
            <a:endParaRPr lang="en-US" altLang="zh-CN" sz="2000" b="1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grpSp>
        <p:nvGrpSpPr>
          <p:cNvPr id="40100" name="Group 164"/>
          <p:cNvGrpSpPr/>
          <p:nvPr/>
        </p:nvGrpSpPr>
        <p:grpSpPr bwMode="auto">
          <a:xfrm>
            <a:off x="1981200" y="1447800"/>
            <a:ext cx="3810000" cy="1295400"/>
            <a:chOff x="624" y="912"/>
            <a:chExt cx="2400" cy="816"/>
          </a:xfrm>
        </p:grpSpPr>
        <p:sp>
          <p:nvSpPr>
            <p:cNvPr id="40094" name="Rectangle 158"/>
            <p:cNvSpPr>
              <a:spLocks noChangeArrowheads="1"/>
            </p:cNvSpPr>
            <p:nvPr/>
          </p:nvSpPr>
          <p:spPr bwMode="auto">
            <a:xfrm>
              <a:off x="624" y="912"/>
              <a:ext cx="864" cy="81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095" name="AutoShape 159"/>
            <p:cNvSpPr>
              <a:spLocks noChangeArrowheads="1"/>
            </p:cNvSpPr>
            <p:nvPr/>
          </p:nvSpPr>
          <p:spPr bwMode="auto">
            <a:xfrm>
              <a:off x="2016" y="912"/>
              <a:ext cx="864" cy="816"/>
            </a:xfrm>
            <a:prstGeom prst="rtTriangl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096" name="AutoShape 160"/>
            <p:cNvSpPr>
              <a:spLocks noChangeArrowheads="1"/>
            </p:cNvSpPr>
            <p:nvPr/>
          </p:nvSpPr>
          <p:spPr bwMode="auto">
            <a:xfrm flipH="1" flipV="1">
              <a:off x="2160" y="912"/>
              <a:ext cx="864" cy="816"/>
            </a:xfrm>
            <a:prstGeom prst="rtTriangl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5151" name="Group 163"/>
            <p:cNvGrpSpPr/>
            <p:nvPr/>
          </p:nvGrpSpPr>
          <p:grpSpPr bwMode="auto">
            <a:xfrm>
              <a:off x="1680" y="1296"/>
              <a:ext cx="144" cy="48"/>
              <a:chOff x="1344" y="3168"/>
              <a:chExt cx="144" cy="48"/>
            </a:xfrm>
          </p:grpSpPr>
          <p:sp>
            <p:nvSpPr>
              <p:cNvPr id="40097" name="Line 161"/>
              <p:cNvSpPr>
                <a:spLocks noChangeShapeType="1"/>
              </p:cNvSpPr>
              <p:nvPr/>
            </p:nvSpPr>
            <p:spPr bwMode="auto">
              <a:xfrm>
                <a:off x="1344" y="3168"/>
                <a:ext cx="144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098" name="Line 162"/>
              <p:cNvSpPr>
                <a:spLocks noChangeShapeType="1"/>
              </p:cNvSpPr>
              <p:nvPr/>
            </p:nvSpPr>
            <p:spPr bwMode="auto">
              <a:xfrm>
                <a:off x="1344" y="3216"/>
                <a:ext cx="144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40108" name="Group 172"/>
          <p:cNvGrpSpPr/>
          <p:nvPr/>
        </p:nvGrpSpPr>
        <p:grpSpPr bwMode="auto">
          <a:xfrm>
            <a:off x="1981200" y="1600200"/>
            <a:ext cx="1371600" cy="1177925"/>
            <a:chOff x="1248" y="934"/>
            <a:chExt cx="864" cy="816"/>
          </a:xfrm>
        </p:grpSpPr>
        <p:sp>
          <p:nvSpPr>
            <p:cNvPr id="40106" name="Rectangle 170"/>
            <p:cNvSpPr>
              <a:spLocks noChangeArrowheads="1"/>
            </p:cNvSpPr>
            <p:nvPr/>
          </p:nvSpPr>
          <p:spPr bwMode="auto">
            <a:xfrm>
              <a:off x="1248" y="934"/>
              <a:ext cx="96" cy="81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107" name="Rectangle 171"/>
            <p:cNvSpPr>
              <a:spLocks noChangeArrowheads="1"/>
            </p:cNvSpPr>
            <p:nvPr/>
          </p:nvSpPr>
          <p:spPr bwMode="auto">
            <a:xfrm>
              <a:off x="1344" y="934"/>
              <a:ext cx="768" cy="816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40109" name="Rectangle 173"/>
          <p:cNvSpPr>
            <a:spLocks noChangeArrowheads="1"/>
          </p:cNvSpPr>
          <p:nvPr/>
        </p:nvSpPr>
        <p:spPr bwMode="auto">
          <a:xfrm>
            <a:off x="4191000" y="1524000"/>
            <a:ext cx="152400" cy="121920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40113" name="Group 177"/>
          <p:cNvGrpSpPr/>
          <p:nvPr/>
        </p:nvGrpSpPr>
        <p:grpSpPr bwMode="auto">
          <a:xfrm>
            <a:off x="1981200" y="1447800"/>
            <a:ext cx="3810000" cy="152400"/>
            <a:chOff x="1248" y="912"/>
            <a:chExt cx="2400" cy="96"/>
          </a:xfrm>
        </p:grpSpPr>
        <p:sp>
          <p:nvSpPr>
            <p:cNvPr id="40110" name="Rectangle 174"/>
            <p:cNvSpPr>
              <a:spLocks noChangeArrowheads="1"/>
            </p:cNvSpPr>
            <p:nvPr/>
          </p:nvSpPr>
          <p:spPr bwMode="auto">
            <a:xfrm>
              <a:off x="1248" y="912"/>
              <a:ext cx="864" cy="9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111" name="Rectangle 175"/>
            <p:cNvSpPr>
              <a:spLocks noChangeArrowheads="1"/>
            </p:cNvSpPr>
            <p:nvPr/>
          </p:nvSpPr>
          <p:spPr bwMode="auto">
            <a:xfrm>
              <a:off x="2784" y="912"/>
              <a:ext cx="864" cy="9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40112" name="Rectangle 176"/>
          <p:cNvSpPr>
            <a:spLocks noChangeArrowheads="1"/>
          </p:cNvSpPr>
          <p:nvPr/>
        </p:nvSpPr>
        <p:spPr bwMode="auto">
          <a:xfrm rot="-2886845">
            <a:off x="4797425" y="1193800"/>
            <a:ext cx="152400" cy="182880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40116" name="Group 180"/>
          <p:cNvGrpSpPr/>
          <p:nvPr/>
        </p:nvGrpSpPr>
        <p:grpSpPr bwMode="auto">
          <a:xfrm>
            <a:off x="2133600" y="1600200"/>
            <a:ext cx="3657600" cy="152400"/>
            <a:chOff x="1344" y="1008"/>
            <a:chExt cx="2304" cy="96"/>
          </a:xfrm>
        </p:grpSpPr>
        <p:sp>
          <p:nvSpPr>
            <p:cNvPr id="40114" name="Rectangle 178"/>
            <p:cNvSpPr>
              <a:spLocks noChangeArrowheads="1"/>
            </p:cNvSpPr>
            <p:nvPr/>
          </p:nvSpPr>
          <p:spPr bwMode="auto">
            <a:xfrm>
              <a:off x="1344" y="1008"/>
              <a:ext cx="768" cy="9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115" name="Rectangle 179"/>
            <p:cNvSpPr>
              <a:spLocks noChangeArrowheads="1"/>
            </p:cNvSpPr>
            <p:nvPr/>
          </p:nvSpPr>
          <p:spPr bwMode="auto">
            <a:xfrm>
              <a:off x="2880" y="1008"/>
              <a:ext cx="768" cy="9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40119" name="Group 183"/>
          <p:cNvGrpSpPr/>
          <p:nvPr/>
        </p:nvGrpSpPr>
        <p:grpSpPr bwMode="auto">
          <a:xfrm>
            <a:off x="2133600" y="1752600"/>
            <a:ext cx="1219200" cy="1025525"/>
            <a:chOff x="1344" y="1104"/>
            <a:chExt cx="768" cy="646"/>
          </a:xfrm>
        </p:grpSpPr>
        <p:sp>
          <p:nvSpPr>
            <p:cNvPr id="40117" name="Rectangle 181"/>
            <p:cNvSpPr>
              <a:spLocks noChangeArrowheads="1"/>
            </p:cNvSpPr>
            <p:nvPr/>
          </p:nvSpPr>
          <p:spPr bwMode="auto">
            <a:xfrm>
              <a:off x="1344" y="1104"/>
              <a:ext cx="96" cy="64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FFFFCC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118" name="Rectangle 182"/>
            <p:cNvSpPr>
              <a:spLocks noChangeArrowheads="1"/>
            </p:cNvSpPr>
            <p:nvPr/>
          </p:nvSpPr>
          <p:spPr bwMode="auto">
            <a:xfrm>
              <a:off x="1440" y="1104"/>
              <a:ext cx="672" cy="646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40120" name="Rectangle 184"/>
          <p:cNvSpPr>
            <a:spLocks noChangeArrowheads="1"/>
          </p:cNvSpPr>
          <p:nvPr/>
        </p:nvSpPr>
        <p:spPr bwMode="auto">
          <a:xfrm>
            <a:off x="4343400" y="1752600"/>
            <a:ext cx="152400" cy="990600"/>
          </a:xfrm>
          <a:prstGeom prst="rect">
            <a:avLst/>
          </a:prstGeom>
          <a:solidFill>
            <a:srgbClr val="3366FF"/>
          </a:solidFill>
          <a:ln w="9525">
            <a:solidFill>
              <a:srgbClr val="3366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0121" name="AutoShape 185"/>
          <p:cNvSpPr>
            <a:spLocks noChangeArrowheads="1"/>
          </p:cNvSpPr>
          <p:nvPr/>
        </p:nvSpPr>
        <p:spPr bwMode="auto">
          <a:xfrm>
            <a:off x="838200" y="3124200"/>
            <a:ext cx="2667000" cy="1143000"/>
          </a:xfrm>
          <a:prstGeom prst="wedgeEllipseCallout">
            <a:avLst>
              <a:gd name="adj1" fmla="val 20296"/>
              <a:gd name="adj2" fmla="val -119722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/>
              <a:t>反复计算</a:t>
            </a:r>
            <a:r>
              <a:rPr lang="en-US" altLang="zh-CN" b="1"/>
              <a:t>,</a:t>
            </a:r>
            <a:endParaRPr lang="en-US" altLang="zh-CN" b="1"/>
          </a:p>
          <a:p>
            <a:pPr algn="ctr" eaLnBrk="1" hangingPunct="1"/>
            <a:r>
              <a:rPr lang="zh-CN" altLang="en-US" b="1"/>
              <a:t>很浪费哦</a:t>
            </a:r>
            <a:r>
              <a:rPr lang="en-US" altLang="zh-CN" b="1"/>
              <a:t> ……</a:t>
            </a:r>
            <a:endParaRPr lang="en-US" altLang="zh-CN" b="1"/>
          </a:p>
        </p:txBody>
      </p:sp>
      <p:grpSp>
        <p:nvGrpSpPr>
          <p:cNvPr id="40130" name="Group 194"/>
          <p:cNvGrpSpPr/>
          <p:nvPr/>
        </p:nvGrpSpPr>
        <p:grpSpPr bwMode="auto">
          <a:xfrm>
            <a:off x="838200" y="2819400"/>
            <a:ext cx="7262813" cy="749300"/>
            <a:chOff x="528" y="2976"/>
            <a:chExt cx="4176" cy="472"/>
          </a:xfrm>
        </p:grpSpPr>
        <p:sp>
          <p:nvSpPr>
            <p:cNvPr id="40122" name="Text Box 186"/>
            <p:cNvSpPr txBox="1">
              <a:spLocks noChangeArrowheads="1"/>
            </p:cNvSpPr>
            <p:nvPr/>
          </p:nvSpPr>
          <p:spPr bwMode="auto">
            <a:xfrm>
              <a:off x="1152" y="3072"/>
              <a:ext cx="35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latin typeface="楷体_GB2312" charset="0"/>
                </a:rPr>
                <a:t>通过比较法直接导出</a:t>
              </a:r>
              <a:r>
                <a:rPr lang="en-US" altLang="zh-CN" b="1" i="1"/>
                <a:t>L </a:t>
              </a:r>
              <a:r>
                <a:rPr lang="zh-CN" altLang="en-US" b="1"/>
                <a:t>和</a:t>
              </a:r>
              <a:r>
                <a:rPr lang="en-US" altLang="zh-CN" b="1" i="1"/>
                <a:t> U </a:t>
              </a:r>
              <a:r>
                <a:rPr lang="zh-CN" altLang="en-US" b="1">
                  <a:latin typeface="楷体_GB2312" charset="0"/>
                </a:rPr>
                <a:t>的计算公式。</a:t>
              </a:r>
              <a:endParaRPr lang="en-US" altLang="zh-CN" b="1">
                <a:latin typeface="楷体_GB2312" charset="0"/>
              </a:endParaRPr>
            </a:p>
          </p:txBody>
        </p:sp>
        <p:pic>
          <p:nvPicPr>
            <p:cNvPr id="5138" name="Picture 189" descr="LIGHT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2976"/>
              <a:ext cx="279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126" name="Text Box 190"/>
            <p:cNvSpPr txBox="1">
              <a:spLocks noChangeArrowheads="1"/>
            </p:cNvSpPr>
            <p:nvPr/>
          </p:nvSpPr>
          <p:spPr bwMode="auto">
            <a:xfrm>
              <a:off x="816" y="2976"/>
              <a:ext cx="336" cy="4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kumimoji="0" lang="zh-CN" altLang="en-US" b="1">
                  <a:solidFill>
                    <a:schemeClr val="accent2"/>
                  </a:solidFill>
                  <a:latin typeface="Times New Roman" panose="02020603050405020304" charset="0"/>
                  <a:ea typeface="宋体" panose="02010600030101010101" pitchFamily="2" charset="-122"/>
                  <a:cs typeface="楷体_GB2312" charset="0"/>
                </a:rPr>
                <a:t>思路</a:t>
              </a:r>
              <a:endParaRPr kumimoji="0" lang="en-US" altLang="zh-CN" b="1">
                <a:solidFill>
                  <a:schemeClr val="accent2"/>
                </a:solidFill>
                <a:latin typeface="Times New Roman" panose="02020603050405020304" charset="0"/>
                <a:ea typeface="宋体" panose="02010600030101010101" pitchFamily="2" charset="-122"/>
                <a:cs typeface="楷体_GB2312" charset="0"/>
              </a:endParaRPr>
            </a:p>
          </p:txBody>
        </p:sp>
      </p:grpSp>
      <p:graphicFrame>
        <p:nvGraphicFramePr>
          <p:cNvPr id="40131" name="Object 195"/>
          <p:cNvGraphicFramePr>
            <a:graphicFrameLocks noChangeAspect="1"/>
          </p:cNvGraphicFramePr>
          <p:nvPr/>
        </p:nvGraphicFramePr>
        <p:xfrm>
          <a:off x="1447800" y="3505200"/>
          <a:ext cx="5599113" cy="182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Equation" r:id="rId2" imgW="74980800" imgH="23164800" progId="Equation.3">
                  <p:embed/>
                </p:oleObj>
              </mc:Choice>
              <mc:Fallback>
                <p:oleObj name="Equation" r:id="rId2" imgW="74980800" imgH="23164800" progId="Equation.3">
                  <p:embed/>
                  <p:pic>
                    <p:nvPicPr>
                      <p:cNvPr id="0" name="Object 1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505200"/>
                        <a:ext cx="5599113" cy="182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33" name="Object 197"/>
          <p:cNvGraphicFramePr>
            <a:graphicFrameLocks noChangeAspect="1"/>
          </p:cNvGraphicFramePr>
          <p:nvPr/>
        </p:nvGraphicFramePr>
        <p:xfrm>
          <a:off x="3657600" y="5486400"/>
          <a:ext cx="1546225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4" imgW="17068800" imgH="10668000" progId="Equation.3">
                  <p:embed/>
                </p:oleObj>
              </mc:Choice>
              <mc:Fallback>
                <p:oleObj name="Equation" r:id="rId4" imgW="17068800" imgH="10668000" progId="Equation.3">
                  <p:embed/>
                  <p:pic>
                    <p:nvPicPr>
                      <p:cNvPr id="0" name="Object 1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5486400"/>
                        <a:ext cx="1546225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134" name="Object 198"/>
          <p:cNvGraphicFramePr>
            <a:graphicFrameLocks noChangeAspect="1"/>
          </p:cNvGraphicFramePr>
          <p:nvPr/>
        </p:nvGraphicFramePr>
        <p:xfrm>
          <a:off x="2209800" y="5715000"/>
          <a:ext cx="1408113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Equation" r:id="rId6" imgW="15544800" imgH="5791200" progId="Equation.3">
                  <p:embed/>
                </p:oleObj>
              </mc:Choice>
              <mc:Fallback>
                <p:oleObj name="Equation" r:id="rId6" imgW="15544800" imgH="5791200" progId="Equation.3">
                  <p:embed/>
                  <p:pic>
                    <p:nvPicPr>
                      <p:cNvPr id="0" name="Object 1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715000"/>
                        <a:ext cx="1408113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0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1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01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1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01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01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1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01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01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01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01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401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01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401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93" grpId="0" autoUpdateAnimBg="0"/>
      <p:bldP spid="40109" grpId="0" animBg="1"/>
      <p:bldP spid="40112" grpId="0" animBg="1"/>
      <p:bldP spid="40120" grpId="0" animBg="1"/>
      <p:bldP spid="40121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6"/>
          <p:cNvGrpSpPr/>
          <p:nvPr/>
        </p:nvGrpSpPr>
        <p:grpSpPr bwMode="auto">
          <a:xfrm>
            <a:off x="382588" y="1125538"/>
            <a:ext cx="8393112" cy="2509837"/>
            <a:chOff x="241" y="1168"/>
            <a:chExt cx="5287" cy="1582"/>
          </a:xfrm>
        </p:grpSpPr>
        <p:graphicFrame>
          <p:nvGraphicFramePr>
            <p:cNvPr id="6171" name="Object 12"/>
            <p:cNvGraphicFramePr>
              <a:graphicFrameLocks noChangeAspect="1"/>
            </p:cNvGraphicFramePr>
            <p:nvPr/>
          </p:nvGraphicFramePr>
          <p:xfrm>
            <a:off x="241" y="1168"/>
            <a:ext cx="5287" cy="10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6" name="Equation" r:id="rId1" imgW="4279265" imgH="877570" progId="Equation.3">
                    <p:embed/>
                  </p:oleObj>
                </mc:Choice>
                <mc:Fallback>
                  <p:oleObj name="Equation" r:id="rId1" imgW="4279265" imgH="87757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" y="1168"/>
                          <a:ext cx="5287" cy="10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2" name="Rectangle 19"/>
            <p:cNvSpPr>
              <a:spLocks noChangeArrowheads="1"/>
            </p:cNvSpPr>
            <p:nvPr/>
          </p:nvSpPr>
          <p:spPr bwMode="auto">
            <a:xfrm>
              <a:off x="1020" y="2116"/>
              <a:ext cx="3901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6000" b="1" i="1">
                  <a:solidFill>
                    <a:srgbClr val="0000CC"/>
                  </a:solidFill>
                  <a:ea typeface="黑体" panose="02010609060101010101" pitchFamily="49" charset="-122"/>
                </a:rPr>
                <a:t>L    </a:t>
              </a:r>
              <a:r>
                <a:rPr lang="en-US" altLang="zh-CN" sz="6000" b="1">
                  <a:solidFill>
                    <a:srgbClr val="0000CC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 </a:t>
              </a:r>
              <a:r>
                <a:rPr lang="en-US" altLang="zh-CN" sz="6000" b="1" i="1">
                  <a:solidFill>
                    <a:srgbClr val="0000CC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   U     </a:t>
              </a:r>
              <a:r>
                <a:rPr lang="en-US" altLang="zh-CN" sz="6000" b="1">
                  <a:solidFill>
                    <a:srgbClr val="0000CC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=    </a:t>
              </a:r>
              <a:r>
                <a:rPr lang="en-US" altLang="zh-CN" sz="6000" b="1" i="1">
                  <a:solidFill>
                    <a:srgbClr val="0000CC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A</a:t>
              </a:r>
              <a:endParaRPr lang="en-US" altLang="zh-CN" sz="6000" b="1" i="1">
                <a:solidFill>
                  <a:srgbClr val="0000CC"/>
                </a:solidFill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876566" name="Rectangle 22"/>
          <p:cNvSpPr>
            <a:spLocks noChangeArrowheads="1"/>
          </p:cNvSpPr>
          <p:nvPr/>
        </p:nvSpPr>
        <p:spPr bwMode="auto">
          <a:xfrm>
            <a:off x="234950" y="3462338"/>
            <a:ext cx="4178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FF"/>
                </a:solidFill>
                <a:ea typeface="黑体" panose="02010609060101010101" pitchFamily="49" charset="-122"/>
                <a:sym typeface="Wingdings 2" panose="05020102010507070707" pitchFamily="2" charset="2"/>
              </a:rPr>
              <a:t></a:t>
            </a:r>
            <a:r>
              <a:rPr lang="zh-CN" altLang="en-US" b="1">
                <a:ea typeface="黑体" panose="02010609060101010101" pitchFamily="49" charset="-122"/>
              </a:rPr>
              <a:t>比较等式两边的</a:t>
            </a:r>
            <a:r>
              <a:rPr lang="zh-CN" altLang="en-US" b="1">
                <a:solidFill>
                  <a:srgbClr val="0000FF"/>
                </a:solidFill>
                <a:ea typeface="黑体" panose="02010609060101010101" pitchFamily="49" charset="-122"/>
              </a:rPr>
              <a:t>第一行</a:t>
            </a:r>
            <a:r>
              <a:rPr lang="zh-CN" altLang="en-US" b="1">
                <a:ea typeface="黑体" panose="02010609060101010101" pitchFamily="49" charset="-122"/>
              </a:rPr>
              <a:t>得：</a:t>
            </a:r>
            <a:endParaRPr lang="zh-CN" altLang="en-US" b="1">
              <a:ea typeface="黑体" panose="02010609060101010101" pitchFamily="49" charset="-122"/>
            </a:endParaRPr>
          </a:p>
        </p:txBody>
      </p:sp>
      <p:sp>
        <p:nvSpPr>
          <p:cNvPr id="876567" name="Rectangle 23"/>
          <p:cNvSpPr>
            <a:spLocks noChangeArrowheads="1"/>
          </p:cNvSpPr>
          <p:nvPr/>
        </p:nvSpPr>
        <p:spPr bwMode="auto">
          <a:xfrm>
            <a:off x="4197350" y="3462338"/>
            <a:ext cx="1195388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600" b="1" i="1">
                <a:solidFill>
                  <a:srgbClr val="0000CC"/>
                </a:solidFill>
                <a:ea typeface="黑体" panose="02010609060101010101" pitchFamily="49" charset="-122"/>
              </a:rPr>
              <a:t>u</a:t>
            </a:r>
            <a:r>
              <a:rPr lang="en-US" altLang="zh-CN" sz="2600" b="1" baseline="-25000">
                <a:solidFill>
                  <a:srgbClr val="0000CC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600" b="1" i="1" baseline="-25000">
                <a:solidFill>
                  <a:srgbClr val="0000CC"/>
                </a:solidFill>
                <a:ea typeface="黑体" panose="02010609060101010101" pitchFamily="49" charset="-122"/>
              </a:rPr>
              <a:t>j </a:t>
            </a:r>
            <a:r>
              <a:rPr lang="en-US" altLang="zh-CN" sz="2600" b="1" i="1">
                <a:solidFill>
                  <a:srgbClr val="0000CC"/>
                </a:solidFill>
                <a:ea typeface="黑体" panose="02010609060101010101" pitchFamily="49" charset="-122"/>
              </a:rPr>
              <a:t>= a</a:t>
            </a:r>
            <a:r>
              <a:rPr lang="en-US" altLang="zh-CN" sz="2600" b="1" baseline="-25000">
                <a:solidFill>
                  <a:srgbClr val="0000CC"/>
                </a:solidFill>
                <a:ea typeface="黑体" panose="02010609060101010101" pitchFamily="49" charset="-122"/>
              </a:rPr>
              <a:t>1</a:t>
            </a:r>
            <a:r>
              <a:rPr lang="en-US" altLang="zh-CN" sz="2600" b="1" i="1" baseline="-25000">
                <a:solidFill>
                  <a:srgbClr val="0000CC"/>
                </a:solidFill>
                <a:ea typeface="黑体" panose="02010609060101010101" pitchFamily="49" charset="-122"/>
              </a:rPr>
              <a:t>j</a:t>
            </a:r>
            <a:endParaRPr lang="en-US" altLang="zh-CN" sz="2600" b="1" i="1" baseline="-25000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876568" name="Rectangle 24"/>
          <p:cNvSpPr>
            <a:spLocks noChangeArrowheads="1"/>
          </p:cNvSpPr>
          <p:nvPr/>
        </p:nvSpPr>
        <p:spPr bwMode="auto">
          <a:xfrm>
            <a:off x="539750" y="3995738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a typeface="黑体" panose="02010609060101010101" pitchFamily="49" charset="-122"/>
              </a:rPr>
              <a:t>比较等式两边的</a:t>
            </a:r>
            <a:r>
              <a:rPr lang="zh-CN" altLang="en-US" b="1">
                <a:solidFill>
                  <a:srgbClr val="0000FF"/>
                </a:solidFill>
                <a:ea typeface="黑体" panose="02010609060101010101" pitchFamily="49" charset="-122"/>
              </a:rPr>
              <a:t>第一列</a:t>
            </a:r>
            <a:r>
              <a:rPr lang="zh-CN" altLang="en-US" b="1">
                <a:ea typeface="黑体" panose="02010609060101010101" pitchFamily="49" charset="-122"/>
              </a:rPr>
              <a:t>得：</a:t>
            </a:r>
            <a:endParaRPr lang="zh-CN" altLang="en-US" sz="2600" b="1" baseline="-2500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876569" name="Object 25"/>
          <p:cNvGraphicFramePr>
            <a:graphicFrameLocks noChangeAspect="1"/>
          </p:cNvGraphicFramePr>
          <p:nvPr/>
        </p:nvGraphicFramePr>
        <p:xfrm>
          <a:off x="4273550" y="3995738"/>
          <a:ext cx="14747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3" imgW="17678400" imgH="5486400" progId="Equation.DSMT4">
                  <p:embed/>
                </p:oleObj>
              </mc:Choice>
              <mc:Fallback>
                <p:oleObj name="Equation" r:id="rId3" imgW="17678400" imgH="54864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3550" y="3995738"/>
                        <a:ext cx="14747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6570" name="Rectangle 26"/>
          <p:cNvSpPr>
            <a:spLocks noChangeArrowheads="1"/>
          </p:cNvSpPr>
          <p:nvPr/>
        </p:nvSpPr>
        <p:spPr bwMode="auto">
          <a:xfrm>
            <a:off x="234950" y="4754563"/>
            <a:ext cx="4178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FF"/>
                </a:solidFill>
                <a:ea typeface="黑体" panose="02010609060101010101" pitchFamily="49" charset="-122"/>
                <a:sym typeface="Wingdings 2" panose="05020102010507070707" pitchFamily="2" charset="2"/>
              </a:rPr>
              <a:t></a:t>
            </a:r>
            <a:r>
              <a:rPr lang="zh-CN" altLang="en-US" b="1">
                <a:ea typeface="黑体" panose="02010609060101010101" pitchFamily="49" charset="-122"/>
              </a:rPr>
              <a:t>比较等式两边的</a:t>
            </a:r>
            <a:r>
              <a:rPr lang="zh-CN" altLang="en-US" b="1">
                <a:solidFill>
                  <a:srgbClr val="0000FF"/>
                </a:solidFill>
                <a:ea typeface="黑体" panose="02010609060101010101" pitchFamily="49" charset="-122"/>
              </a:rPr>
              <a:t>第二行</a:t>
            </a:r>
            <a:r>
              <a:rPr lang="zh-CN" altLang="en-US" b="1">
                <a:ea typeface="黑体" panose="02010609060101010101" pitchFamily="49" charset="-122"/>
              </a:rPr>
              <a:t>得：</a:t>
            </a:r>
            <a:endParaRPr lang="zh-CN" altLang="en-US" b="1">
              <a:ea typeface="黑体" panose="02010609060101010101" pitchFamily="49" charset="-122"/>
            </a:endParaRPr>
          </a:p>
        </p:txBody>
      </p:sp>
      <p:graphicFrame>
        <p:nvGraphicFramePr>
          <p:cNvPr id="876571" name="Object 27"/>
          <p:cNvGraphicFramePr>
            <a:graphicFrameLocks noChangeAspect="1"/>
          </p:cNvGraphicFramePr>
          <p:nvPr/>
        </p:nvGraphicFramePr>
        <p:xfrm>
          <a:off x="4197350" y="4754563"/>
          <a:ext cx="20351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Equation" r:id="rId5" imgW="24384000" imgH="5791200" progId="Equation.DSMT4">
                  <p:embed/>
                </p:oleObj>
              </mc:Choice>
              <mc:Fallback>
                <p:oleObj name="Equation" r:id="rId5" imgW="24384000" imgH="57912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7350" y="4754563"/>
                        <a:ext cx="20351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6572" name="Rectangle 28"/>
          <p:cNvSpPr>
            <a:spLocks noChangeArrowheads="1"/>
          </p:cNvSpPr>
          <p:nvPr/>
        </p:nvSpPr>
        <p:spPr bwMode="auto">
          <a:xfrm>
            <a:off x="539750" y="5364163"/>
            <a:ext cx="386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a typeface="黑体" panose="02010609060101010101" pitchFamily="49" charset="-122"/>
              </a:rPr>
              <a:t>比较等式两边的</a:t>
            </a:r>
            <a:r>
              <a:rPr lang="zh-CN" altLang="en-US" b="1">
                <a:solidFill>
                  <a:srgbClr val="0000FF"/>
                </a:solidFill>
                <a:ea typeface="黑体" panose="02010609060101010101" pitchFamily="49" charset="-122"/>
              </a:rPr>
              <a:t>第二列</a:t>
            </a:r>
            <a:r>
              <a:rPr lang="zh-CN" altLang="en-US" b="1">
                <a:ea typeface="黑体" panose="02010609060101010101" pitchFamily="49" charset="-122"/>
              </a:rPr>
              <a:t>得：</a:t>
            </a:r>
            <a:endParaRPr lang="zh-CN" altLang="en-US" b="1">
              <a:ea typeface="黑体" panose="02010609060101010101" pitchFamily="49" charset="-122"/>
            </a:endParaRPr>
          </a:p>
        </p:txBody>
      </p:sp>
      <p:graphicFrame>
        <p:nvGraphicFramePr>
          <p:cNvPr id="876573" name="Object 29"/>
          <p:cNvGraphicFramePr>
            <a:graphicFrameLocks noChangeAspect="1"/>
          </p:cNvGraphicFramePr>
          <p:nvPr/>
        </p:nvGraphicFramePr>
        <p:xfrm>
          <a:off x="4197350" y="5287963"/>
          <a:ext cx="26701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Equation" r:id="rId7" imgW="32004000" imgH="6096000" progId="Equation.3">
                  <p:embed/>
                </p:oleObj>
              </mc:Choice>
              <mc:Fallback>
                <p:oleObj name="Equation" r:id="rId7" imgW="32004000" imgH="60960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7350" y="5287963"/>
                        <a:ext cx="267017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6574" name="Rectangle 30"/>
          <p:cNvSpPr>
            <a:spLocks noChangeArrowheads="1"/>
          </p:cNvSpPr>
          <p:nvPr/>
        </p:nvSpPr>
        <p:spPr bwMode="auto">
          <a:xfrm>
            <a:off x="5416550" y="3462338"/>
            <a:ext cx="1804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ea typeface="黑体" panose="02010609060101010101" pitchFamily="49" charset="-122"/>
              </a:rPr>
              <a:t>( </a:t>
            </a:r>
            <a:r>
              <a:rPr lang="en-US" altLang="zh-CN" b="1" i="1">
                <a:ea typeface="黑体" panose="02010609060101010101" pitchFamily="49" charset="-122"/>
              </a:rPr>
              <a:t>j = </a:t>
            </a:r>
            <a:r>
              <a:rPr lang="en-US" altLang="zh-CN" b="1">
                <a:ea typeface="黑体" panose="02010609060101010101" pitchFamily="49" charset="-122"/>
              </a:rPr>
              <a:t>1,…, </a:t>
            </a:r>
            <a:r>
              <a:rPr lang="en-US" altLang="zh-CN" b="1" i="1">
                <a:ea typeface="黑体" panose="02010609060101010101" pitchFamily="49" charset="-122"/>
              </a:rPr>
              <a:t>n </a:t>
            </a:r>
            <a:r>
              <a:rPr lang="en-US" altLang="zh-CN" b="1">
                <a:ea typeface="黑体" panose="02010609060101010101" pitchFamily="49" charset="-122"/>
              </a:rPr>
              <a:t>)</a:t>
            </a:r>
            <a:endParaRPr lang="zh-CN" altLang="en-US" b="1">
              <a:ea typeface="黑体" panose="02010609060101010101" pitchFamily="49" charset="-122"/>
            </a:endParaRPr>
          </a:p>
        </p:txBody>
      </p:sp>
      <p:sp>
        <p:nvSpPr>
          <p:cNvPr id="876575" name="Rectangle 31"/>
          <p:cNvSpPr>
            <a:spLocks noChangeArrowheads="1"/>
          </p:cNvSpPr>
          <p:nvPr/>
        </p:nvSpPr>
        <p:spPr bwMode="auto">
          <a:xfrm>
            <a:off x="5797550" y="3995738"/>
            <a:ext cx="1804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ea typeface="黑体" panose="02010609060101010101" pitchFamily="49" charset="-122"/>
              </a:rPr>
              <a:t>( </a:t>
            </a:r>
            <a:r>
              <a:rPr lang="en-US" altLang="zh-CN" b="1" i="1">
                <a:ea typeface="黑体" panose="02010609060101010101" pitchFamily="49" charset="-122"/>
              </a:rPr>
              <a:t>i = </a:t>
            </a:r>
            <a:r>
              <a:rPr lang="en-US" altLang="zh-CN" b="1">
                <a:ea typeface="黑体" panose="02010609060101010101" pitchFamily="49" charset="-122"/>
              </a:rPr>
              <a:t>2,…, </a:t>
            </a:r>
            <a:r>
              <a:rPr lang="en-US" altLang="zh-CN" b="1" i="1">
                <a:ea typeface="黑体" panose="02010609060101010101" pitchFamily="49" charset="-122"/>
              </a:rPr>
              <a:t>n </a:t>
            </a:r>
            <a:r>
              <a:rPr lang="en-US" altLang="zh-CN" b="1">
                <a:ea typeface="黑体" panose="02010609060101010101" pitchFamily="49" charset="-122"/>
              </a:rPr>
              <a:t>)</a:t>
            </a:r>
            <a:endParaRPr lang="zh-CN" altLang="en-US" b="1">
              <a:ea typeface="黑体" panose="02010609060101010101" pitchFamily="49" charset="-122"/>
            </a:endParaRPr>
          </a:p>
        </p:txBody>
      </p:sp>
      <p:sp>
        <p:nvSpPr>
          <p:cNvPr id="876576" name="Rectangle 32"/>
          <p:cNvSpPr>
            <a:spLocks noChangeArrowheads="1"/>
          </p:cNvSpPr>
          <p:nvPr/>
        </p:nvSpPr>
        <p:spPr bwMode="auto">
          <a:xfrm>
            <a:off x="6407150" y="4754563"/>
            <a:ext cx="1804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ea typeface="黑体" panose="02010609060101010101" pitchFamily="49" charset="-122"/>
              </a:rPr>
              <a:t>( </a:t>
            </a:r>
            <a:r>
              <a:rPr lang="en-US" altLang="zh-CN" b="1" i="1">
                <a:ea typeface="黑体" panose="02010609060101010101" pitchFamily="49" charset="-122"/>
              </a:rPr>
              <a:t>j = </a:t>
            </a:r>
            <a:r>
              <a:rPr lang="en-US" altLang="zh-CN" b="1">
                <a:ea typeface="黑体" panose="02010609060101010101" pitchFamily="49" charset="-122"/>
              </a:rPr>
              <a:t>2,…, </a:t>
            </a:r>
            <a:r>
              <a:rPr lang="en-US" altLang="zh-CN" b="1" i="1">
                <a:ea typeface="黑体" panose="02010609060101010101" pitchFamily="49" charset="-122"/>
              </a:rPr>
              <a:t>n </a:t>
            </a:r>
            <a:r>
              <a:rPr lang="en-US" altLang="zh-CN" b="1">
                <a:ea typeface="黑体" panose="02010609060101010101" pitchFamily="49" charset="-122"/>
              </a:rPr>
              <a:t>)</a:t>
            </a:r>
            <a:endParaRPr lang="zh-CN" altLang="en-US" b="1">
              <a:ea typeface="黑体" panose="02010609060101010101" pitchFamily="49" charset="-122"/>
            </a:endParaRPr>
          </a:p>
        </p:txBody>
      </p:sp>
      <p:sp>
        <p:nvSpPr>
          <p:cNvPr id="876577" name="Rectangle 33"/>
          <p:cNvSpPr>
            <a:spLocks noChangeArrowheads="1"/>
          </p:cNvSpPr>
          <p:nvPr/>
        </p:nvSpPr>
        <p:spPr bwMode="auto">
          <a:xfrm>
            <a:off x="7016750" y="5314950"/>
            <a:ext cx="1804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ea typeface="黑体" panose="02010609060101010101" pitchFamily="49" charset="-122"/>
              </a:rPr>
              <a:t>( </a:t>
            </a:r>
            <a:r>
              <a:rPr lang="en-US" altLang="zh-CN" b="1" i="1">
                <a:ea typeface="黑体" panose="02010609060101010101" pitchFamily="49" charset="-122"/>
              </a:rPr>
              <a:t>i = </a:t>
            </a:r>
            <a:r>
              <a:rPr lang="en-US" altLang="zh-CN" b="1">
                <a:ea typeface="黑体" panose="02010609060101010101" pitchFamily="49" charset="-122"/>
              </a:rPr>
              <a:t>3,…, </a:t>
            </a:r>
            <a:r>
              <a:rPr lang="en-US" altLang="zh-CN" b="1" i="1">
                <a:ea typeface="黑体" panose="02010609060101010101" pitchFamily="49" charset="-122"/>
              </a:rPr>
              <a:t>n </a:t>
            </a:r>
            <a:r>
              <a:rPr lang="en-US" altLang="zh-CN" b="1">
                <a:ea typeface="黑体" panose="02010609060101010101" pitchFamily="49" charset="-122"/>
              </a:rPr>
              <a:t>)</a:t>
            </a:r>
            <a:endParaRPr lang="zh-CN" altLang="en-US" b="1">
              <a:ea typeface="黑体" panose="02010609060101010101" pitchFamily="49" charset="-122"/>
            </a:endParaRPr>
          </a:p>
        </p:txBody>
      </p:sp>
      <p:grpSp>
        <p:nvGrpSpPr>
          <p:cNvPr id="3" name="Group 34"/>
          <p:cNvGrpSpPr/>
          <p:nvPr/>
        </p:nvGrpSpPr>
        <p:grpSpPr bwMode="auto">
          <a:xfrm>
            <a:off x="5568950" y="3462338"/>
            <a:ext cx="3163888" cy="466725"/>
            <a:chOff x="3456" y="2736"/>
            <a:chExt cx="1993" cy="294"/>
          </a:xfrm>
        </p:grpSpPr>
        <p:sp>
          <p:nvSpPr>
            <p:cNvPr id="6169" name="Line 35"/>
            <p:cNvSpPr>
              <a:spLocks noChangeShapeType="1"/>
            </p:cNvSpPr>
            <p:nvPr/>
          </p:nvSpPr>
          <p:spPr bwMode="auto">
            <a:xfrm flipH="1">
              <a:off x="3456" y="2880"/>
              <a:ext cx="864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miter lim="800000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170" name="Rectangle 36"/>
            <p:cNvSpPr>
              <a:spLocks noChangeArrowheads="1"/>
            </p:cNvSpPr>
            <p:nvPr/>
          </p:nvSpPr>
          <p:spPr bwMode="auto">
            <a:xfrm>
              <a:off x="4320" y="2736"/>
              <a:ext cx="1129" cy="2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hlink"/>
              </a:solidFill>
              <a:miter lim="800000"/>
            </a:ln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rgbClr val="0000CC"/>
                  </a:solidFill>
                  <a:ea typeface="黑体" panose="02010609060101010101" pitchFamily="49" charset="-122"/>
                </a:rPr>
                <a:t>U</a:t>
              </a:r>
              <a:r>
                <a:rPr lang="en-US" altLang="zh-CN" b="1" i="1">
                  <a:solidFill>
                    <a:schemeClr val="hlink"/>
                  </a:solidFill>
                  <a:ea typeface="黑体" panose="02010609060101010101" pitchFamily="49" charset="-122"/>
                </a:rPr>
                <a:t> </a:t>
              </a:r>
              <a:r>
                <a:rPr lang="zh-CN" altLang="en-US" b="1">
                  <a:ea typeface="黑体" panose="02010609060101010101" pitchFamily="49" charset="-122"/>
                </a:rPr>
                <a:t>的第一行 </a:t>
              </a:r>
              <a:endParaRPr lang="zh-CN" altLang="en-US" b="1">
                <a:ea typeface="黑体" panose="02010609060101010101" pitchFamily="49" charset="-122"/>
              </a:endParaRPr>
            </a:p>
          </p:txBody>
        </p:sp>
      </p:grpSp>
      <p:grpSp>
        <p:nvGrpSpPr>
          <p:cNvPr id="4" name="Group 37"/>
          <p:cNvGrpSpPr/>
          <p:nvPr/>
        </p:nvGrpSpPr>
        <p:grpSpPr bwMode="auto">
          <a:xfrm>
            <a:off x="5797550" y="3995738"/>
            <a:ext cx="2900363" cy="466725"/>
            <a:chOff x="3600" y="3120"/>
            <a:chExt cx="1827" cy="294"/>
          </a:xfrm>
        </p:grpSpPr>
        <p:sp>
          <p:nvSpPr>
            <p:cNvPr id="6167" name="Line 38"/>
            <p:cNvSpPr>
              <a:spLocks noChangeShapeType="1"/>
            </p:cNvSpPr>
            <p:nvPr/>
          </p:nvSpPr>
          <p:spPr bwMode="auto">
            <a:xfrm flipH="1">
              <a:off x="3600" y="3264"/>
              <a:ext cx="72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miter lim="800000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168" name="Rectangle 39"/>
            <p:cNvSpPr>
              <a:spLocks noChangeArrowheads="1"/>
            </p:cNvSpPr>
            <p:nvPr/>
          </p:nvSpPr>
          <p:spPr bwMode="auto">
            <a:xfrm>
              <a:off x="4320" y="3120"/>
              <a:ext cx="1107" cy="2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hlink"/>
              </a:solidFill>
              <a:miter lim="800000"/>
            </a:ln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rgbClr val="0000CC"/>
                  </a:solidFill>
                  <a:ea typeface="黑体" panose="02010609060101010101" pitchFamily="49" charset="-122"/>
                </a:rPr>
                <a:t>L</a:t>
              </a:r>
              <a:r>
                <a:rPr lang="en-US" altLang="zh-CN" b="1" i="1">
                  <a:solidFill>
                    <a:schemeClr val="hlink"/>
                  </a:solidFill>
                  <a:ea typeface="黑体" panose="02010609060101010101" pitchFamily="49" charset="-122"/>
                </a:rPr>
                <a:t> </a:t>
              </a:r>
              <a:r>
                <a:rPr lang="zh-CN" altLang="en-US" b="1">
                  <a:ea typeface="黑体" panose="02010609060101010101" pitchFamily="49" charset="-122"/>
                </a:rPr>
                <a:t>的第一列 </a:t>
              </a:r>
              <a:endParaRPr lang="zh-CN" altLang="en-US" b="1">
                <a:ea typeface="黑体" panose="02010609060101010101" pitchFamily="49" charset="-122"/>
              </a:endParaRPr>
            </a:p>
          </p:txBody>
        </p:sp>
      </p:grpSp>
      <p:grpSp>
        <p:nvGrpSpPr>
          <p:cNvPr id="5" name="Group 40"/>
          <p:cNvGrpSpPr/>
          <p:nvPr/>
        </p:nvGrpSpPr>
        <p:grpSpPr bwMode="auto">
          <a:xfrm>
            <a:off x="6254750" y="4754563"/>
            <a:ext cx="2478088" cy="466725"/>
            <a:chOff x="3888" y="3456"/>
            <a:chExt cx="1561" cy="294"/>
          </a:xfrm>
        </p:grpSpPr>
        <p:sp>
          <p:nvSpPr>
            <p:cNvPr id="6165" name="Line 41"/>
            <p:cNvSpPr>
              <a:spLocks noChangeShapeType="1"/>
            </p:cNvSpPr>
            <p:nvPr/>
          </p:nvSpPr>
          <p:spPr bwMode="auto">
            <a:xfrm flipH="1">
              <a:off x="3888" y="3600"/>
              <a:ext cx="432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miter lim="800000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166" name="Rectangle 42"/>
            <p:cNvSpPr>
              <a:spLocks noChangeArrowheads="1"/>
            </p:cNvSpPr>
            <p:nvPr/>
          </p:nvSpPr>
          <p:spPr bwMode="auto">
            <a:xfrm>
              <a:off x="4320" y="3456"/>
              <a:ext cx="1129" cy="2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hlink"/>
              </a:solidFill>
              <a:miter lim="800000"/>
            </a:ln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rgbClr val="0000CC"/>
                  </a:solidFill>
                  <a:ea typeface="黑体" panose="02010609060101010101" pitchFamily="49" charset="-122"/>
                </a:rPr>
                <a:t>U</a:t>
              </a:r>
              <a:r>
                <a:rPr lang="en-US" altLang="zh-CN" b="1" i="1">
                  <a:solidFill>
                    <a:schemeClr val="hlink"/>
                  </a:solidFill>
                  <a:ea typeface="黑体" panose="02010609060101010101" pitchFamily="49" charset="-122"/>
                </a:rPr>
                <a:t> </a:t>
              </a:r>
              <a:r>
                <a:rPr lang="zh-CN" altLang="en-US" b="1">
                  <a:ea typeface="黑体" panose="02010609060101010101" pitchFamily="49" charset="-122"/>
                </a:rPr>
                <a:t>的第二行 </a:t>
              </a:r>
              <a:endParaRPr lang="zh-CN" altLang="en-US" b="1">
                <a:ea typeface="黑体" panose="02010609060101010101" pitchFamily="49" charset="-122"/>
              </a:endParaRPr>
            </a:p>
          </p:txBody>
        </p:sp>
      </p:grpSp>
      <p:grpSp>
        <p:nvGrpSpPr>
          <p:cNvPr id="6" name="Group 43"/>
          <p:cNvGrpSpPr/>
          <p:nvPr/>
        </p:nvGrpSpPr>
        <p:grpSpPr bwMode="auto">
          <a:xfrm>
            <a:off x="6864350" y="5373688"/>
            <a:ext cx="2028825" cy="466725"/>
            <a:chOff x="4320" y="3750"/>
            <a:chExt cx="1278" cy="294"/>
          </a:xfrm>
        </p:grpSpPr>
        <p:sp>
          <p:nvSpPr>
            <p:cNvPr id="6163" name="Line 44"/>
            <p:cNvSpPr>
              <a:spLocks noChangeShapeType="1"/>
            </p:cNvSpPr>
            <p:nvPr/>
          </p:nvSpPr>
          <p:spPr bwMode="auto">
            <a:xfrm flipH="1">
              <a:off x="4320" y="3888"/>
              <a:ext cx="24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miter lim="800000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164" name="Rectangle 45"/>
            <p:cNvSpPr>
              <a:spLocks noChangeArrowheads="1"/>
            </p:cNvSpPr>
            <p:nvPr/>
          </p:nvSpPr>
          <p:spPr bwMode="auto">
            <a:xfrm>
              <a:off x="4491" y="3750"/>
              <a:ext cx="1107" cy="2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hlink"/>
              </a:solidFill>
              <a:miter lim="800000"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rgbClr val="0000CC"/>
                  </a:solidFill>
                  <a:ea typeface="黑体" panose="02010609060101010101" pitchFamily="49" charset="-122"/>
                </a:rPr>
                <a:t>L</a:t>
              </a:r>
              <a:r>
                <a:rPr lang="en-US" altLang="zh-CN" b="1" i="1">
                  <a:solidFill>
                    <a:schemeClr val="hlink"/>
                  </a:solidFill>
                  <a:ea typeface="黑体" panose="02010609060101010101" pitchFamily="49" charset="-122"/>
                </a:rPr>
                <a:t> </a:t>
              </a:r>
              <a:r>
                <a:rPr lang="zh-CN" altLang="en-US" b="1">
                  <a:ea typeface="黑体" panose="02010609060101010101" pitchFamily="49" charset="-122"/>
                </a:rPr>
                <a:t>的第二列 </a:t>
              </a:r>
              <a:endParaRPr lang="zh-CN" altLang="en-US" b="1"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7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876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765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76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7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765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6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876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76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765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876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76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765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6566" grpId="0" autoUpdateAnimBg="0"/>
      <p:bldP spid="876567" grpId="0" autoUpdateAnimBg="0"/>
      <p:bldP spid="876568" grpId="0" autoUpdateAnimBg="0"/>
      <p:bldP spid="876570" grpId="0" autoUpdateAnimBg="0"/>
      <p:bldP spid="876572" grpId="0" autoUpdateAnimBg="0"/>
      <p:bldP spid="876574" grpId="0" autoUpdateAnimBg="0"/>
      <p:bldP spid="876575" grpId="0" autoUpdateAnimBg="0"/>
      <p:bldP spid="876576" grpId="0" autoUpdateAnimBg="0"/>
      <p:bldP spid="876577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6" name="Group 6"/>
          <p:cNvGrpSpPr/>
          <p:nvPr/>
        </p:nvGrpSpPr>
        <p:grpSpPr bwMode="auto">
          <a:xfrm>
            <a:off x="498475" y="793750"/>
            <a:ext cx="5029200" cy="1009650"/>
            <a:chOff x="192" y="432"/>
            <a:chExt cx="3168" cy="636"/>
          </a:xfrm>
        </p:grpSpPr>
        <p:sp>
          <p:nvSpPr>
            <p:cNvPr id="40964" name="Text Box 4"/>
            <p:cNvSpPr txBox="1">
              <a:spLocks noChangeArrowheads="1"/>
            </p:cNvSpPr>
            <p:nvPr/>
          </p:nvSpPr>
          <p:spPr bwMode="auto">
            <a:xfrm>
              <a:off x="192" y="432"/>
              <a:ext cx="1824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endParaRPr lang="en-US" altLang="zh-CN" b="1"/>
            </a:p>
            <a:p>
              <a:pPr eaLnBrk="1" hangingPunct="1">
                <a:defRPr/>
              </a:pPr>
              <a:r>
                <a:rPr lang="zh-CN" altLang="en-US" b="1"/>
                <a:t>对</a:t>
              </a:r>
              <a:r>
                <a:rPr lang="en-US" altLang="zh-CN" b="1"/>
                <a:t> </a:t>
              </a:r>
              <a:r>
                <a:rPr lang="en-US" altLang="zh-CN" b="1" i="1"/>
                <a:t>j</a:t>
              </a:r>
              <a:r>
                <a:rPr lang="en-US" altLang="zh-CN" b="1"/>
                <a:t> = </a:t>
              </a:r>
              <a:r>
                <a:rPr lang="en-US" altLang="zh-CN" b="1" i="1"/>
                <a:t>i</a:t>
              </a:r>
              <a:r>
                <a:rPr lang="en-US" altLang="zh-CN" b="1"/>
                <a:t>, </a:t>
              </a:r>
              <a:r>
                <a:rPr lang="en-US" altLang="zh-CN" b="1" i="1"/>
                <a:t>i</a:t>
              </a:r>
              <a:r>
                <a:rPr lang="en-US" altLang="zh-CN" b="1"/>
                <a:t>+1, …, </a:t>
              </a:r>
              <a:r>
                <a:rPr lang="en-US" altLang="zh-CN" b="1" i="1"/>
                <a:t>n</a:t>
              </a:r>
              <a:r>
                <a:rPr lang="en-US" altLang="zh-CN" b="1"/>
                <a:t> </a:t>
              </a:r>
              <a:r>
                <a:rPr lang="zh-CN" altLang="en-US" b="1"/>
                <a:t>有</a:t>
              </a:r>
              <a:endParaRPr lang="en-US" altLang="zh-CN" b="1"/>
            </a:p>
          </p:txBody>
        </p:sp>
        <p:graphicFrame>
          <p:nvGraphicFramePr>
            <p:cNvPr id="7214" name="Object 5"/>
            <p:cNvGraphicFramePr>
              <a:graphicFrameLocks noChangeAspect="1"/>
            </p:cNvGraphicFramePr>
            <p:nvPr/>
          </p:nvGraphicFramePr>
          <p:xfrm>
            <a:off x="1920" y="528"/>
            <a:ext cx="1440" cy="5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2" name="Equation" r:id="rId1" imgW="27127200" imgH="10363200" progId="Equation.3">
                    <p:embed/>
                  </p:oleObj>
                </mc:Choice>
                <mc:Fallback>
                  <p:oleObj name="Equation" r:id="rId1" imgW="27127200" imgH="103632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528"/>
                          <a:ext cx="1440" cy="5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967" name="AutoShape 7"/>
          <p:cNvSpPr>
            <a:spLocks noChangeArrowheads="1"/>
          </p:cNvSpPr>
          <p:nvPr/>
        </p:nvSpPr>
        <p:spPr bwMode="auto">
          <a:xfrm>
            <a:off x="5715000" y="641350"/>
            <a:ext cx="1752600" cy="609600"/>
          </a:xfrm>
          <a:prstGeom prst="wedgeEllipseCallout">
            <a:avLst>
              <a:gd name="adj1" fmla="val -64222"/>
              <a:gd name="adj2" fmla="val 77866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en-US" altLang="zh-CN" b="1" i="1"/>
              <a:t>l</a:t>
            </a:r>
            <a:r>
              <a:rPr lang="en-US" altLang="zh-CN" b="1" i="1" baseline="-25000"/>
              <a:t>ii</a:t>
            </a:r>
            <a:r>
              <a:rPr lang="en-US" altLang="zh-CN" b="1"/>
              <a:t> = 1</a:t>
            </a:r>
            <a:endParaRPr lang="en-US" altLang="zh-CN" b="1" i="1"/>
          </a:p>
        </p:txBody>
      </p:sp>
      <p:grpSp>
        <p:nvGrpSpPr>
          <p:cNvPr id="40970" name="Group 10"/>
          <p:cNvGrpSpPr/>
          <p:nvPr/>
        </p:nvGrpSpPr>
        <p:grpSpPr bwMode="auto">
          <a:xfrm>
            <a:off x="533400" y="1784350"/>
            <a:ext cx="3317875" cy="1066800"/>
            <a:chOff x="550" y="1104"/>
            <a:chExt cx="2090" cy="672"/>
          </a:xfrm>
        </p:grpSpPr>
        <p:sp>
          <p:nvSpPr>
            <p:cNvPr id="40969" name="AutoShape 9" descr="再生纸"/>
            <p:cNvSpPr>
              <a:spLocks noChangeArrowheads="1"/>
            </p:cNvSpPr>
            <p:nvPr/>
          </p:nvSpPr>
          <p:spPr bwMode="auto">
            <a:xfrm>
              <a:off x="912" y="1104"/>
              <a:ext cx="1728" cy="672"/>
            </a:xfrm>
            <a:prstGeom prst="bevel">
              <a:avLst>
                <a:gd name="adj" fmla="val 6380"/>
              </a:avLst>
            </a:prstGeom>
            <a:blipFill dpi="0" rotWithShape="0">
              <a:blip r:embed="rId3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aphicFrame>
          <p:nvGraphicFramePr>
            <p:cNvPr id="7212" name="Object 8"/>
            <p:cNvGraphicFramePr>
              <a:graphicFrameLocks noChangeAspect="1"/>
            </p:cNvGraphicFramePr>
            <p:nvPr/>
          </p:nvGraphicFramePr>
          <p:xfrm>
            <a:off x="550" y="1152"/>
            <a:ext cx="2046" cy="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3" name="Equation" r:id="rId4" imgW="33832800" imgH="10363200" progId="Equation.3">
                    <p:embed/>
                  </p:oleObj>
                </mc:Choice>
                <mc:Fallback>
                  <p:oleObj name="Equation" r:id="rId4" imgW="33832800" imgH="103632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" y="1152"/>
                          <a:ext cx="2046" cy="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974" name="Group 14"/>
          <p:cNvGrpSpPr/>
          <p:nvPr/>
        </p:nvGrpSpPr>
        <p:grpSpPr bwMode="auto">
          <a:xfrm>
            <a:off x="5410200" y="1784350"/>
            <a:ext cx="1828800" cy="990600"/>
            <a:chOff x="3072" y="1152"/>
            <a:chExt cx="1152" cy="624"/>
          </a:xfrm>
        </p:grpSpPr>
        <p:sp>
          <p:nvSpPr>
            <p:cNvPr id="40971" name="AutoShape 11"/>
            <p:cNvSpPr>
              <a:spLocks noChangeArrowheads="1"/>
            </p:cNvSpPr>
            <p:nvPr/>
          </p:nvSpPr>
          <p:spPr bwMode="auto">
            <a:xfrm>
              <a:off x="3072" y="1152"/>
              <a:ext cx="576" cy="624"/>
            </a:xfrm>
            <a:prstGeom prst="rtTriangl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972" name="AutoShape 12"/>
            <p:cNvSpPr>
              <a:spLocks noChangeArrowheads="1"/>
            </p:cNvSpPr>
            <p:nvPr/>
          </p:nvSpPr>
          <p:spPr bwMode="auto">
            <a:xfrm flipH="1" flipV="1">
              <a:off x="3648" y="1152"/>
              <a:ext cx="576" cy="624"/>
            </a:xfrm>
            <a:prstGeom prst="rtTriangl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40973" name="Rectangle 13"/>
          <p:cNvSpPr>
            <a:spLocks noChangeArrowheads="1"/>
          </p:cNvSpPr>
          <p:nvPr/>
        </p:nvSpPr>
        <p:spPr bwMode="auto">
          <a:xfrm>
            <a:off x="6553200" y="2012950"/>
            <a:ext cx="685800" cy="762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0975" name="Rectangle 15"/>
          <p:cNvSpPr>
            <a:spLocks noChangeArrowheads="1"/>
          </p:cNvSpPr>
          <p:nvPr/>
        </p:nvSpPr>
        <p:spPr bwMode="auto">
          <a:xfrm>
            <a:off x="5410200" y="2012950"/>
            <a:ext cx="228600" cy="76200"/>
          </a:xfrm>
          <a:prstGeom prst="rect">
            <a:avLst/>
          </a:prstGeom>
          <a:solidFill>
            <a:srgbClr val="3366FF"/>
          </a:solidFill>
          <a:ln w="9525">
            <a:solidFill>
              <a:srgbClr val="3366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0976" name="Rectangle 16"/>
          <p:cNvSpPr>
            <a:spLocks noChangeArrowheads="1"/>
          </p:cNvSpPr>
          <p:nvPr/>
        </p:nvSpPr>
        <p:spPr bwMode="auto">
          <a:xfrm>
            <a:off x="6553200" y="1784350"/>
            <a:ext cx="685800" cy="2286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0977" name="Oval 17"/>
          <p:cNvSpPr>
            <a:spLocks noChangeArrowheads="1"/>
          </p:cNvSpPr>
          <p:nvPr/>
        </p:nvSpPr>
        <p:spPr bwMode="auto">
          <a:xfrm>
            <a:off x="4191000" y="2165350"/>
            <a:ext cx="457200" cy="457200"/>
          </a:xfrm>
          <a:prstGeom prst="ellipse">
            <a:avLst/>
          </a:prstGeom>
          <a:noFill/>
          <a:ln w="158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i="1">
                <a:solidFill>
                  <a:schemeClr val="accent2"/>
                </a:solidFill>
                <a:latin typeface="Times New Roman" panose="02020603050405020304" charset="0"/>
                <a:ea typeface="宋体" panose="02010600030101010101" pitchFamily="2" charset="-122"/>
              </a:rPr>
              <a:t>a</a:t>
            </a:r>
            <a:endParaRPr lang="en-US" altLang="zh-CN" sz="2800" b="1" i="1">
              <a:solidFill>
                <a:schemeClr val="accent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40980" name="Group 20"/>
          <p:cNvGrpSpPr/>
          <p:nvPr/>
        </p:nvGrpSpPr>
        <p:grpSpPr bwMode="auto">
          <a:xfrm>
            <a:off x="609600" y="2851150"/>
            <a:ext cx="8066088" cy="852488"/>
            <a:chOff x="384" y="1872"/>
            <a:chExt cx="4414" cy="537"/>
          </a:xfrm>
        </p:grpSpPr>
        <p:sp>
          <p:nvSpPr>
            <p:cNvPr id="40978" name="Text Box 18"/>
            <p:cNvSpPr txBox="1">
              <a:spLocks noChangeArrowheads="1"/>
            </p:cNvSpPr>
            <p:nvPr/>
          </p:nvSpPr>
          <p:spPr bwMode="auto">
            <a:xfrm>
              <a:off x="384" y="1968"/>
              <a:ext cx="331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/>
                <a:t>第</a:t>
              </a:r>
              <a:r>
                <a:rPr lang="en-US" altLang="zh-CN" b="1"/>
                <a:t>i</a:t>
              </a:r>
              <a:r>
                <a:rPr lang="zh-CN" altLang="en-US" b="1"/>
                <a:t>列，对</a:t>
              </a:r>
              <a:r>
                <a:rPr lang="en-US" altLang="zh-CN" b="1"/>
                <a:t> </a:t>
              </a:r>
              <a:r>
                <a:rPr lang="en-US" altLang="zh-CN" b="1" i="1"/>
                <a:t>j</a:t>
              </a:r>
              <a:r>
                <a:rPr lang="en-US" altLang="zh-CN" b="1"/>
                <a:t> =  </a:t>
              </a:r>
              <a:r>
                <a:rPr lang="en-US" altLang="zh-CN" b="1" i="1"/>
                <a:t>i</a:t>
              </a:r>
              <a:r>
                <a:rPr lang="en-US" altLang="zh-CN" b="1"/>
                <a:t>+1, …, </a:t>
              </a:r>
              <a:r>
                <a:rPr lang="en-US" altLang="zh-CN" b="1" i="1"/>
                <a:t>n </a:t>
              </a:r>
              <a:r>
                <a:rPr lang="zh-CN" altLang="en-US" b="1"/>
                <a:t>有</a:t>
              </a:r>
              <a:endParaRPr lang="en-US" altLang="zh-CN" b="1"/>
            </a:p>
          </p:txBody>
        </p:sp>
        <p:graphicFrame>
          <p:nvGraphicFramePr>
            <p:cNvPr id="7208" name="Object 19"/>
            <p:cNvGraphicFramePr>
              <a:graphicFrameLocks noChangeAspect="1"/>
            </p:cNvGraphicFramePr>
            <p:nvPr/>
          </p:nvGraphicFramePr>
          <p:xfrm>
            <a:off x="3312" y="1872"/>
            <a:ext cx="1486" cy="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4" name="Equation" r:id="rId6" imgW="30784800" imgH="10363200" progId="Equation.3">
                    <p:embed/>
                  </p:oleObj>
                </mc:Choice>
                <mc:Fallback>
                  <p:oleObj name="Equation" r:id="rId6" imgW="30784800" imgH="103632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872"/>
                          <a:ext cx="1486" cy="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983" name="Group 23"/>
          <p:cNvGrpSpPr/>
          <p:nvPr/>
        </p:nvGrpSpPr>
        <p:grpSpPr bwMode="auto">
          <a:xfrm>
            <a:off x="609600" y="3689350"/>
            <a:ext cx="3810000" cy="990600"/>
            <a:chOff x="576" y="2400"/>
            <a:chExt cx="2400" cy="624"/>
          </a:xfrm>
        </p:grpSpPr>
        <p:sp>
          <p:nvSpPr>
            <p:cNvPr id="40982" name="AutoShape 22" descr="再生纸"/>
            <p:cNvSpPr>
              <a:spLocks noChangeArrowheads="1"/>
            </p:cNvSpPr>
            <p:nvPr/>
          </p:nvSpPr>
          <p:spPr bwMode="auto">
            <a:xfrm>
              <a:off x="912" y="2400"/>
              <a:ext cx="2064" cy="624"/>
            </a:xfrm>
            <a:prstGeom prst="bevel">
              <a:avLst>
                <a:gd name="adj" fmla="val 6250"/>
              </a:avLst>
            </a:prstGeom>
            <a:blipFill dpi="0" rotWithShape="0">
              <a:blip r:embed="rId3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aphicFrame>
          <p:nvGraphicFramePr>
            <p:cNvPr id="7206" name="Object 21"/>
            <p:cNvGraphicFramePr>
              <a:graphicFrameLocks noChangeAspect="1"/>
            </p:cNvGraphicFramePr>
            <p:nvPr/>
          </p:nvGraphicFramePr>
          <p:xfrm>
            <a:off x="576" y="2448"/>
            <a:ext cx="2344" cy="5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5" name="Equation" r:id="rId8" imgW="42672000" imgH="10363200" progId="Equation.3">
                    <p:embed/>
                  </p:oleObj>
                </mc:Choice>
                <mc:Fallback>
                  <p:oleObj name="Equation" r:id="rId8" imgW="42672000" imgH="103632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2448"/>
                          <a:ext cx="2344" cy="5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984" name="Group 24"/>
          <p:cNvGrpSpPr/>
          <p:nvPr/>
        </p:nvGrpSpPr>
        <p:grpSpPr bwMode="auto">
          <a:xfrm>
            <a:off x="5562600" y="3689350"/>
            <a:ext cx="1828800" cy="990600"/>
            <a:chOff x="3072" y="1152"/>
            <a:chExt cx="1152" cy="624"/>
          </a:xfrm>
        </p:grpSpPr>
        <p:sp>
          <p:nvSpPr>
            <p:cNvPr id="40985" name="AutoShape 25"/>
            <p:cNvSpPr>
              <a:spLocks noChangeArrowheads="1"/>
            </p:cNvSpPr>
            <p:nvPr/>
          </p:nvSpPr>
          <p:spPr bwMode="auto">
            <a:xfrm>
              <a:off x="3072" y="1152"/>
              <a:ext cx="576" cy="624"/>
            </a:xfrm>
            <a:prstGeom prst="rtTriangl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0986" name="AutoShape 26"/>
            <p:cNvSpPr>
              <a:spLocks noChangeArrowheads="1"/>
            </p:cNvSpPr>
            <p:nvPr/>
          </p:nvSpPr>
          <p:spPr bwMode="auto">
            <a:xfrm flipH="1" flipV="1">
              <a:off x="3648" y="1152"/>
              <a:ext cx="576" cy="624"/>
            </a:xfrm>
            <a:prstGeom prst="rtTriangl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40987" name="Rectangle 27"/>
          <p:cNvSpPr>
            <a:spLocks noChangeArrowheads="1"/>
          </p:cNvSpPr>
          <p:nvPr/>
        </p:nvSpPr>
        <p:spPr bwMode="auto">
          <a:xfrm>
            <a:off x="5715000" y="3917950"/>
            <a:ext cx="76200" cy="762000"/>
          </a:xfrm>
          <a:prstGeom prst="rect">
            <a:avLst/>
          </a:prstGeom>
          <a:solidFill>
            <a:srgbClr val="3366FF"/>
          </a:solidFill>
          <a:ln w="9525">
            <a:solidFill>
              <a:srgbClr val="3366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0988" name="Rectangle 28"/>
          <p:cNvSpPr>
            <a:spLocks noChangeArrowheads="1"/>
          </p:cNvSpPr>
          <p:nvPr/>
        </p:nvSpPr>
        <p:spPr bwMode="auto">
          <a:xfrm>
            <a:off x="5562600" y="3917950"/>
            <a:ext cx="152400" cy="762000"/>
          </a:xfrm>
          <a:prstGeom prst="rect">
            <a:avLst/>
          </a:prstGeom>
          <a:solidFill>
            <a:srgbClr val="3366FF"/>
          </a:solidFill>
          <a:ln w="9525">
            <a:solidFill>
              <a:srgbClr val="3366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0989" name="Rectangle 29"/>
          <p:cNvSpPr>
            <a:spLocks noChangeArrowheads="1"/>
          </p:cNvSpPr>
          <p:nvPr/>
        </p:nvSpPr>
        <p:spPr bwMode="auto">
          <a:xfrm>
            <a:off x="6705600" y="3689350"/>
            <a:ext cx="76200" cy="3048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0990" name="Oval 30"/>
          <p:cNvSpPr>
            <a:spLocks noChangeArrowheads="1"/>
          </p:cNvSpPr>
          <p:nvPr/>
        </p:nvSpPr>
        <p:spPr bwMode="auto">
          <a:xfrm>
            <a:off x="4724400" y="3994150"/>
            <a:ext cx="457200" cy="457200"/>
          </a:xfrm>
          <a:prstGeom prst="ellipse">
            <a:avLst/>
          </a:prstGeom>
          <a:noFill/>
          <a:ln w="158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i="1">
                <a:solidFill>
                  <a:schemeClr val="accent2"/>
                </a:solidFill>
                <a:latin typeface="Times New Roman" panose="02020603050405020304" charset="0"/>
                <a:ea typeface="宋体" panose="02010600030101010101" pitchFamily="2" charset="-122"/>
              </a:rPr>
              <a:t>b</a:t>
            </a:r>
            <a:endParaRPr lang="en-US" altLang="zh-CN" sz="2800" b="1" i="1">
              <a:solidFill>
                <a:schemeClr val="accent2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40995" name="Group 35"/>
          <p:cNvGrpSpPr/>
          <p:nvPr/>
        </p:nvGrpSpPr>
        <p:grpSpPr bwMode="auto">
          <a:xfrm>
            <a:off x="609600" y="4908550"/>
            <a:ext cx="5105400" cy="1905000"/>
            <a:chOff x="384" y="2976"/>
            <a:chExt cx="3216" cy="1200"/>
          </a:xfrm>
        </p:grpSpPr>
        <p:sp>
          <p:nvSpPr>
            <p:cNvPr id="40991" name="AutoShape 31"/>
            <p:cNvSpPr>
              <a:spLocks noChangeArrowheads="1"/>
            </p:cNvSpPr>
            <p:nvPr/>
          </p:nvSpPr>
          <p:spPr bwMode="auto">
            <a:xfrm>
              <a:off x="384" y="2976"/>
              <a:ext cx="3216" cy="1200"/>
            </a:xfrm>
            <a:prstGeom prst="foldedCorner">
              <a:avLst>
                <a:gd name="adj" fmla="val 12500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FFFFCC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altLang="zh-CN" sz="2000" b="1"/>
                <a:t>       </a:t>
              </a:r>
              <a:r>
                <a:rPr lang="en-US" altLang="zh-CN" sz="2000" b="1">
                  <a:latin typeface="Arial" panose="020B0604020202020204" pitchFamily="34" charset="0"/>
                </a:rPr>
                <a:t>Algorithm: Doolittle Factorization</a:t>
              </a:r>
              <a:endParaRPr lang="en-US" altLang="zh-CN" sz="2000" b="1">
                <a:latin typeface="Arial" panose="020B0604020202020204" pitchFamily="34" charset="0"/>
              </a:endParaRPr>
            </a:p>
            <a:p>
              <a:pPr>
                <a:defRPr/>
              </a:pPr>
              <a:r>
                <a:rPr lang="en-US" altLang="zh-CN" sz="2000" b="1" i="1"/>
                <a:t>Step 1</a:t>
              </a:r>
              <a:r>
                <a:rPr lang="en-US" altLang="zh-CN" sz="2000" b="1"/>
                <a:t>:  </a:t>
              </a:r>
              <a:r>
                <a:rPr lang="en-US" altLang="zh-CN" sz="2000" b="1" i="1"/>
                <a:t>u</a:t>
              </a:r>
              <a:r>
                <a:rPr lang="en-US" altLang="zh-CN" sz="2000" b="1" baseline="-25000"/>
                <a:t>1</a:t>
              </a:r>
              <a:r>
                <a:rPr lang="en-US" altLang="zh-CN" sz="2000" b="1" i="1" baseline="-25000"/>
                <a:t>j</a:t>
              </a:r>
              <a:r>
                <a:rPr lang="en-US" altLang="zh-CN" sz="2000" b="1"/>
                <a:t> = </a:t>
              </a:r>
              <a:r>
                <a:rPr lang="en-US" altLang="zh-CN" sz="2000" b="1" i="1"/>
                <a:t>a</a:t>
              </a:r>
              <a:r>
                <a:rPr lang="en-US" altLang="zh-CN" sz="2000" b="1" baseline="-25000"/>
                <a:t>1</a:t>
              </a:r>
              <a:r>
                <a:rPr lang="en-US" altLang="zh-CN" sz="2000" b="1" i="1" baseline="-25000"/>
                <a:t>j</a:t>
              </a:r>
              <a:r>
                <a:rPr lang="en-US" altLang="zh-CN" sz="2000" b="1"/>
                <a:t>;  </a:t>
              </a:r>
              <a:r>
                <a:rPr lang="en-US" altLang="zh-CN" sz="2000" b="1" i="1"/>
                <a:t>l</a:t>
              </a:r>
              <a:r>
                <a:rPr lang="en-US" altLang="zh-CN" sz="2000" b="1" i="1" baseline="-25000"/>
                <a:t>j</a:t>
              </a:r>
              <a:r>
                <a:rPr lang="en-US" altLang="zh-CN" sz="2000" b="1" baseline="-25000"/>
                <a:t>1</a:t>
              </a:r>
              <a:r>
                <a:rPr lang="en-US" altLang="zh-CN" sz="2000" b="1"/>
                <a:t> = </a:t>
              </a:r>
              <a:r>
                <a:rPr lang="en-US" altLang="zh-CN" sz="2000" b="1" i="1"/>
                <a:t>a</a:t>
              </a:r>
              <a:r>
                <a:rPr lang="en-US" altLang="zh-CN" sz="2000" b="1" i="1" baseline="-25000"/>
                <a:t>j</a:t>
              </a:r>
              <a:r>
                <a:rPr lang="en-US" altLang="zh-CN" sz="2000" b="1" baseline="-25000"/>
                <a:t>1</a:t>
              </a:r>
              <a:r>
                <a:rPr lang="en-US" altLang="zh-CN" sz="2000" b="1"/>
                <a:t> / </a:t>
              </a:r>
              <a:r>
                <a:rPr lang="en-US" altLang="zh-CN" sz="2000" b="1" i="1"/>
                <a:t>u</a:t>
              </a:r>
              <a:r>
                <a:rPr lang="en-US" altLang="zh-CN" sz="2000" b="1" baseline="-25000"/>
                <a:t>11</a:t>
              </a:r>
              <a:r>
                <a:rPr lang="en-US" altLang="zh-CN" sz="2000" b="1"/>
                <a:t>; ( </a:t>
              </a:r>
              <a:r>
                <a:rPr lang="en-US" altLang="zh-CN" sz="2000" b="1" i="1"/>
                <a:t>j</a:t>
              </a:r>
              <a:r>
                <a:rPr lang="en-US" altLang="zh-CN" sz="2000" b="1"/>
                <a:t> = 1, …, </a:t>
              </a:r>
              <a:r>
                <a:rPr lang="en-US" altLang="zh-CN" sz="2000" b="1" i="1"/>
                <a:t>n</a:t>
              </a:r>
              <a:r>
                <a:rPr lang="en-US" altLang="zh-CN" sz="2000" b="1"/>
                <a:t> )</a:t>
              </a:r>
              <a:endParaRPr lang="en-US" altLang="zh-CN" sz="2000" b="1"/>
            </a:p>
            <a:p>
              <a:pPr>
                <a:lnSpc>
                  <a:spcPct val="120000"/>
                </a:lnSpc>
                <a:defRPr/>
              </a:pPr>
              <a:r>
                <a:rPr lang="en-US" altLang="zh-CN" sz="2000" b="1" i="1"/>
                <a:t>Step 2</a:t>
              </a:r>
              <a:r>
                <a:rPr lang="en-US" altLang="zh-CN" sz="2000" b="1"/>
                <a:t>: compute       and       for </a:t>
              </a:r>
              <a:r>
                <a:rPr lang="en-US" altLang="zh-CN" sz="2000" b="1" i="1"/>
                <a:t>i </a:t>
              </a:r>
              <a:r>
                <a:rPr lang="en-US" altLang="zh-CN" sz="2000" b="1"/>
                <a:t>= 2, …, </a:t>
              </a:r>
              <a:r>
                <a:rPr lang="en-US" altLang="zh-CN" sz="2000" b="1" i="1"/>
                <a:t>n</a:t>
              </a:r>
              <a:r>
                <a:rPr lang="en-US" altLang="zh-CN" sz="2000" b="1">
                  <a:sym typeface="Symbol" panose="05050102010706020507" pitchFamily="18" charset="2"/>
                </a:rPr>
                <a:t>1;</a:t>
              </a:r>
              <a:endParaRPr lang="en-US" altLang="zh-CN" sz="2000" b="1">
                <a:sym typeface="Symbol" panose="05050102010706020507" pitchFamily="18" charset="2"/>
              </a:endParaRPr>
            </a:p>
            <a:p>
              <a:pPr>
                <a:lnSpc>
                  <a:spcPct val="140000"/>
                </a:lnSpc>
                <a:defRPr/>
              </a:pPr>
              <a:r>
                <a:rPr lang="en-US" altLang="zh-CN" sz="2000" b="1" i="1"/>
                <a:t>Step 3</a:t>
              </a:r>
              <a:r>
                <a:rPr lang="en-US" altLang="zh-CN" sz="2000" b="1"/>
                <a:t>: </a:t>
              </a:r>
              <a:endParaRPr lang="en-US" altLang="zh-CN" sz="2000" b="1"/>
            </a:p>
          </p:txBody>
        </p:sp>
        <p:sp>
          <p:nvSpPr>
            <p:cNvPr id="40992" name="Oval 32"/>
            <p:cNvSpPr>
              <a:spLocks noChangeArrowheads="1"/>
            </p:cNvSpPr>
            <p:nvPr/>
          </p:nvSpPr>
          <p:spPr bwMode="auto">
            <a:xfrm>
              <a:off x="1584" y="3504"/>
              <a:ext cx="192" cy="192"/>
            </a:xfrm>
            <a:prstGeom prst="ellips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2000" b="1" i="1">
                  <a:solidFill>
                    <a:schemeClr val="accent2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a</a:t>
              </a:r>
              <a:endParaRPr lang="en-US" altLang="zh-CN" sz="2000" b="1" i="1">
                <a:solidFill>
                  <a:schemeClr val="accent2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0993" name="Oval 33"/>
            <p:cNvSpPr>
              <a:spLocks noChangeArrowheads="1"/>
            </p:cNvSpPr>
            <p:nvPr/>
          </p:nvSpPr>
          <p:spPr bwMode="auto">
            <a:xfrm>
              <a:off x="2112" y="3504"/>
              <a:ext cx="192" cy="192"/>
            </a:xfrm>
            <a:prstGeom prst="ellips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2000" b="1" i="1">
                  <a:solidFill>
                    <a:schemeClr val="accent2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b</a:t>
              </a:r>
              <a:endParaRPr lang="en-US" altLang="zh-CN" sz="2000" b="1" i="1">
                <a:solidFill>
                  <a:schemeClr val="accent2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7202" name="Object 34"/>
            <p:cNvGraphicFramePr>
              <a:graphicFrameLocks noChangeAspect="1"/>
            </p:cNvGraphicFramePr>
            <p:nvPr/>
          </p:nvGraphicFramePr>
          <p:xfrm>
            <a:off x="960" y="3696"/>
            <a:ext cx="1294" cy="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6" name="Equation" r:id="rId10" imgW="30480000" imgH="10363200" progId="Equation.3">
                    <p:embed/>
                  </p:oleObj>
                </mc:Choice>
                <mc:Fallback>
                  <p:oleObj name="Equation" r:id="rId10" imgW="30480000" imgH="1036320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3696"/>
                          <a:ext cx="1294" cy="3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996" name="Rectangle 36"/>
          <p:cNvSpPr>
            <a:spLocks noChangeArrowheads="1"/>
          </p:cNvSpPr>
          <p:nvPr/>
        </p:nvSpPr>
        <p:spPr bwMode="auto">
          <a:xfrm>
            <a:off x="6019800" y="4908550"/>
            <a:ext cx="2057400" cy="1828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0997" name="Rectangle 37"/>
          <p:cNvSpPr>
            <a:spLocks noChangeArrowheads="1"/>
          </p:cNvSpPr>
          <p:nvPr/>
        </p:nvSpPr>
        <p:spPr bwMode="auto">
          <a:xfrm>
            <a:off x="6019800" y="4908550"/>
            <a:ext cx="2057400" cy="2286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0998" name="Rectangle 38"/>
          <p:cNvSpPr>
            <a:spLocks noChangeArrowheads="1"/>
          </p:cNvSpPr>
          <p:nvPr/>
        </p:nvSpPr>
        <p:spPr bwMode="auto">
          <a:xfrm>
            <a:off x="6019800" y="5137150"/>
            <a:ext cx="152400" cy="1600200"/>
          </a:xfrm>
          <a:prstGeom prst="rect">
            <a:avLst/>
          </a:prstGeom>
          <a:solidFill>
            <a:srgbClr val="3366FF"/>
          </a:solidFill>
          <a:ln w="9525">
            <a:solidFill>
              <a:srgbClr val="3366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0999" name="Rectangle 39"/>
          <p:cNvSpPr>
            <a:spLocks noChangeArrowheads="1"/>
          </p:cNvSpPr>
          <p:nvPr/>
        </p:nvSpPr>
        <p:spPr bwMode="auto">
          <a:xfrm>
            <a:off x="6172200" y="5137150"/>
            <a:ext cx="1905000" cy="1524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1000" name="Rectangle 40"/>
          <p:cNvSpPr>
            <a:spLocks noChangeArrowheads="1"/>
          </p:cNvSpPr>
          <p:nvPr/>
        </p:nvSpPr>
        <p:spPr bwMode="auto">
          <a:xfrm>
            <a:off x="6172200" y="5289550"/>
            <a:ext cx="152400" cy="1447800"/>
          </a:xfrm>
          <a:prstGeom prst="rect">
            <a:avLst/>
          </a:prstGeom>
          <a:solidFill>
            <a:srgbClr val="3366FF"/>
          </a:solidFill>
          <a:ln w="9525">
            <a:solidFill>
              <a:srgbClr val="3366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1001" name="Rectangle 41"/>
          <p:cNvSpPr>
            <a:spLocks noChangeArrowheads="1"/>
          </p:cNvSpPr>
          <p:nvPr/>
        </p:nvSpPr>
        <p:spPr bwMode="auto">
          <a:xfrm>
            <a:off x="6324600" y="5289550"/>
            <a:ext cx="1752600" cy="1524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1002" name="Rectangle 42"/>
          <p:cNvSpPr>
            <a:spLocks noChangeArrowheads="1"/>
          </p:cNvSpPr>
          <p:nvPr/>
        </p:nvSpPr>
        <p:spPr bwMode="auto">
          <a:xfrm>
            <a:off x="6324600" y="5441950"/>
            <a:ext cx="152400" cy="1295400"/>
          </a:xfrm>
          <a:prstGeom prst="rect">
            <a:avLst/>
          </a:prstGeom>
          <a:solidFill>
            <a:srgbClr val="3366FF"/>
          </a:solidFill>
          <a:ln w="9525">
            <a:solidFill>
              <a:srgbClr val="3366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1003" name="Line 43"/>
          <p:cNvSpPr>
            <a:spLocks noChangeShapeType="1"/>
          </p:cNvSpPr>
          <p:nvPr/>
        </p:nvSpPr>
        <p:spPr bwMode="auto">
          <a:xfrm>
            <a:off x="6629400" y="5594350"/>
            <a:ext cx="1066800" cy="838200"/>
          </a:xfrm>
          <a:prstGeom prst="line">
            <a:avLst/>
          </a:prstGeom>
          <a:noFill/>
          <a:ln w="76200">
            <a:solidFill>
              <a:schemeClr val="bg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41004" name="Rectangle 44"/>
          <p:cNvSpPr>
            <a:spLocks noChangeArrowheads="1"/>
          </p:cNvSpPr>
          <p:nvPr/>
        </p:nvSpPr>
        <p:spPr bwMode="auto">
          <a:xfrm>
            <a:off x="7772400" y="6432550"/>
            <a:ext cx="304800" cy="1524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1005" name="Rectangle 45"/>
          <p:cNvSpPr>
            <a:spLocks noChangeArrowheads="1"/>
          </p:cNvSpPr>
          <p:nvPr/>
        </p:nvSpPr>
        <p:spPr bwMode="auto">
          <a:xfrm>
            <a:off x="7772400" y="6584950"/>
            <a:ext cx="152400" cy="152400"/>
          </a:xfrm>
          <a:prstGeom prst="rect">
            <a:avLst/>
          </a:prstGeom>
          <a:solidFill>
            <a:srgbClr val="3366FF"/>
          </a:solidFill>
          <a:ln w="9525">
            <a:solidFill>
              <a:srgbClr val="3366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1006" name="Rectangle 46"/>
          <p:cNvSpPr>
            <a:spLocks noChangeArrowheads="1"/>
          </p:cNvSpPr>
          <p:nvPr/>
        </p:nvSpPr>
        <p:spPr bwMode="auto">
          <a:xfrm>
            <a:off x="7924800" y="6584950"/>
            <a:ext cx="152400" cy="1524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7197" name="Rectangle 30"/>
          <p:cNvSpPr>
            <a:spLocks noChangeArrowheads="1"/>
          </p:cNvSpPr>
          <p:nvPr/>
        </p:nvSpPr>
        <p:spPr bwMode="auto">
          <a:xfrm>
            <a:off x="323850" y="44450"/>
            <a:ext cx="7442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  <a:ea typeface="黑体" panose="02010609060101010101" pitchFamily="49" charset="-122"/>
                <a:sym typeface="Wingdings 2" panose="05020102010507070707" pitchFamily="2" charset="2"/>
              </a:rPr>
              <a:t>第 </a:t>
            </a:r>
            <a:r>
              <a:rPr lang="en-US" altLang="zh-CN" i="1">
                <a:solidFill>
                  <a:srgbClr val="000000"/>
                </a:solidFill>
                <a:ea typeface="黑体" panose="02010609060101010101" pitchFamily="49" charset="-122"/>
                <a:sym typeface="Wingdings 2" panose="05020102010507070707" pitchFamily="2" charset="2"/>
              </a:rPr>
              <a:t>i </a:t>
            </a:r>
            <a:r>
              <a:rPr lang="zh-CN" altLang="en-US">
                <a:solidFill>
                  <a:srgbClr val="000000"/>
                </a:solidFill>
                <a:ea typeface="黑体" panose="02010609060101010101" pitchFamily="49" charset="-122"/>
                <a:sym typeface="Wingdings 2" panose="05020102010507070707" pitchFamily="2" charset="2"/>
              </a:rPr>
              <a:t>步：此时 </a:t>
            </a:r>
            <a:r>
              <a:rPr lang="en-US" altLang="zh-CN" i="1">
                <a:solidFill>
                  <a:srgbClr val="000000"/>
                </a:solidFill>
                <a:ea typeface="黑体" panose="02010609060101010101" pitchFamily="49" charset="-122"/>
                <a:sym typeface="Wingdings 2" panose="05020102010507070707" pitchFamily="2" charset="2"/>
              </a:rPr>
              <a:t>U </a:t>
            </a:r>
            <a:r>
              <a:rPr lang="zh-CN" altLang="en-US">
                <a:solidFill>
                  <a:srgbClr val="000000"/>
                </a:solidFill>
                <a:ea typeface="黑体" panose="02010609060101010101" pitchFamily="49" charset="-122"/>
                <a:sym typeface="Wingdings 2" panose="05020102010507070707" pitchFamily="2" charset="2"/>
              </a:rPr>
              <a:t>的前 </a:t>
            </a:r>
            <a:r>
              <a:rPr lang="en-US" altLang="zh-CN" i="1">
                <a:solidFill>
                  <a:srgbClr val="000000"/>
                </a:solidFill>
                <a:ea typeface="黑体" panose="02010609060101010101" pitchFamily="49" charset="-122"/>
                <a:sym typeface="Wingdings 2" panose="05020102010507070707" pitchFamily="2" charset="2"/>
              </a:rPr>
              <a:t>i</a:t>
            </a:r>
            <a:r>
              <a:rPr lang="en-US" altLang="zh-CN">
                <a:solidFill>
                  <a:srgbClr val="000000"/>
                </a:solidFill>
                <a:ea typeface="黑体" panose="02010609060101010101" pitchFamily="49" charset="-122"/>
                <a:sym typeface="Wingdings 2" panose="05020102010507070707" pitchFamily="2" charset="2"/>
              </a:rPr>
              <a:t>-1 </a:t>
            </a:r>
            <a:r>
              <a:rPr lang="zh-CN" altLang="en-US">
                <a:solidFill>
                  <a:srgbClr val="000000"/>
                </a:solidFill>
                <a:ea typeface="黑体" panose="02010609060101010101" pitchFamily="49" charset="-122"/>
                <a:sym typeface="Wingdings 2" panose="05020102010507070707" pitchFamily="2" charset="2"/>
              </a:rPr>
              <a:t>行和</a:t>
            </a:r>
            <a:r>
              <a:rPr lang="zh-CN" altLang="en-US" i="1">
                <a:solidFill>
                  <a:srgbClr val="000000"/>
                </a:solidFill>
                <a:ea typeface="黑体" panose="02010609060101010101" pitchFamily="49" charset="-122"/>
                <a:sym typeface="Wingdings 2" panose="05020102010507070707" pitchFamily="2" charset="2"/>
              </a:rPr>
              <a:t> </a:t>
            </a:r>
            <a:r>
              <a:rPr lang="en-US" altLang="zh-CN" i="1">
                <a:solidFill>
                  <a:srgbClr val="000000"/>
                </a:solidFill>
                <a:ea typeface="黑体" panose="02010609060101010101" pitchFamily="49" charset="-122"/>
                <a:sym typeface="Wingdings 2" panose="05020102010507070707" pitchFamily="2" charset="2"/>
              </a:rPr>
              <a:t>L</a:t>
            </a:r>
            <a:r>
              <a:rPr lang="en-US" altLang="zh-CN">
                <a:solidFill>
                  <a:srgbClr val="000000"/>
                </a:solidFill>
                <a:ea typeface="黑体" panose="02010609060101010101" pitchFamily="49" charset="-122"/>
                <a:sym typeface="Wingdings 2" panose="05020102010507070707" pitchFamily="2" charset="2"/>
              </a:rPr>
              <a:t> </a:t>
            </a:r>
            <a:r>
              <a:rPr lang="zh-CN" altLang="en-US">
                <a:solidFill>
                  <a:srgbClr val="000000"/>
                </a:solidFill>
                <a:ea typeface="黑体" panose="02010609060101010101" pitchFamily="49" charset="-122"/>
                <a:sym typeface="Wingdings 2" panose="05020102010507070707" pitchFamily="2" charset="2"/>
              </a:rPr>
              <a:t>的前 </a:t>
            </a:r>
            <a:r>
              <a:rPr lang="en-US" altLang="zh-CN" i="1">
                <a:solidFill>
                  <a:srgbClr val="000000"/>
                </a:solidFill>
                <a:ea typeface="黑体" panose="02010609060101010101" pitchFamily="49" charset="-122"/>
                <a:sym typeface="Wingdings 2" panose="05020102010507070707" pitchFamily="2" charset="2"/>
              </a:rPr>
              <a:t>i</a:t>
            </a:r>
            <a:r>
              <a:rPr lang="en-US" altLang="zh-CN">
                <a:solidFill>
                  <a:srgbClr val="000000"/>
                </a:solidFill>
                <a:ea typeface="黑体" panose="02010609060101010101" pitchFamily="49" charset="-122"/>
                <a:sym typeface="Wingdings 2" panose="05020102010507070707" pitchFamily="2" charset="2"/>
              </a:rPr>
              <a:t>-1 </a:t>
            </a:r>
            <a:r>
              <a:rPr lang="zh-CN" altLang="en-US">
                <a:solidFill>
                  <a:srgbClr val="000000"/>
                </a:solidFill>
                <a:ea typeface="黑体" panose="02010609060101010101" pitchFamily="49" charset="-122"/>
                <a:sym typeface="Wingdings 2" panose="05020102010507070707" pitchFamily="2" charset="2"/>
              </a:rPr>
              <a:t>列已经求出</a:t>
            </a:r>
            <a:endParaRPr lang="zh-CN" altLang="en-US">
              <a:solidFill>
                <a:srgbClr val="000000"/>
              </a:solidFill>
              <a:ea typeface="黑体" panose="02010609060101010101" pitchFamily="49" charset="-122"/>
              <a:sym typeface="Wingdings 2" panose="05020102010507070707" pitchFamily="2" charset="2"/>
            </a:endParaRPr>
          </a:p>
        </p:txBody>
      </p:sp>
      <p:sp>
        <p:nvSpPr>
          <p:cNvPr id="7198" name="Rectangle 31"/>
          <p:cNvSpPr>
            <a:spLocks noChangeArrowheads="1"/>
          </p:cNvSpPr>
          <p:nvPr/>
        </p:nvSpPr>
        <p:spPr bwMode="auto">
          <a:xfrm>
            <a:off x="323850" y="476250"/>
            <a:ext cx="3990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比较等式两边</a:t>
            </a:r>
            <a:r>
              <a:rPr lang="zh-CN" altLang="en-US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的第</a:t>
            </a:r>
            <a:r>
              <a:rPr lang="zh-CN" altLang="en-US" i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i="1">
                <a:solidFill>
                  <a:srgbClr val="000000"/>
                </a:solidFill>
                <a:ea typeface="黑体" panose="02010609060101010101" pitchFamily="49" charset="-122"/>
                <a:sym typeface="Wingdings 2" panose="05020102010507070707" pitchFamily="2" charset="2"/>
              </a:rPr>
              <a:t>i</a:t>
            </a:r>
            <a:r>
              <a:rPr lang="en-US" altLang="zh-CN" sz="2600" i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 2" panose="05020102010507070707" pitchFamily="2" charset="2"/>
              </a:rPr>
              <a:t> </a:t>
            </a:r>
            <a:r>
              <a:rPr lang="zh-CN" altLang="en-US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行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得：</a:t>
            </a:r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09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6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09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09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09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09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09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09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09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6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09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09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0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0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4" dur="500"/>
                                        <p:tgtEl>
                                          <p:spTgt spid="409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6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409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09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409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09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410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10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410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410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10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410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9" dur="500"/>
                                        <p:tgtEl>
                                          <p:spTgt spid="410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7" grpId="0" animBg="1" autoUpdateAnimBg="0"/>
      <p:bldP spid="40973" grpId="0" animBg="1"/>
      <p:bldP spid="40975" grpId="0" animBg="1"/>
      <p:bldP spid="40976" grpId="0" animBg="1"/>
      <p:bldP spid="40977" grpId="0" animBg="1" autoUpdateAnimBg="0"/>
      <p:bldP spid="40987" grpId="0" animBg="1"/>
      <p:bldP spid="40988" grpId="0" animBg="1"/>
      <p:bldP spid="40989" grpId="0" animBg="1"/>
      <p:bldP spid="40990" grpId="0" animBg="1" autoUpdateAnimBg="0"/>
      <p:bldP spid="40996" grpId="0" animBg="1"/>
      <p:bldP spid="40997" grpId="0" animBg="1"/>
      <p:bldP spid="40998" grpId="0" animBg="1"/>
      <p:bldP spid="40999" grpId="0" animBg="1"/>
      <p:bldP spid="41000" grpId="0" animBg="1"/>
      <p:bldP spid="41001" grpId="0" animBg="1"/>
      <p:bldP spid="41002" grpId="0" animBg="1"/>
      <p:bldP spid="41004" grpId="0" animBg="1"/>
      <p:bldP spid="41005" grpId="0" animBg="1"/>
      <p:bldP spid="4100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5029200" y="0"/>
            <a:ext cx="4114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 b="1"/>
              <a:t>§2 Matrix Factorization – Choleski</a:t>
            </a:r>
            <a:endParaRPr lang="en-US" altLang="zh-CN" sz="1800" b="1"/>
          </a:p>
        </p:txBody>
      </p:sp>
      <p:sp>
        <p:nvSpPr>
          <p:cNvPr id="41990" name="Text Box 6"/>
          <p:cNvSpPr txBox="1">
            <a:spLocks noChangeArrowheads="1"/>
          </p:cNvSpPr>
          <p:nvPr/>
        </p:nvSpPr>
        <p:spPr bwMode="auto">
          <a:xfrm>
            <a:off x="457200" y="304800"/>
            <a:ext cx="81534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accent2"/>
                </a:solidFill>
                <a:latin typeface="楷体_GB2312" charset="0"/>
                <a:sym typeface="Wingdings" panose="05000000000000000000" pitchFamily="2" charset="2"/>
              </a:rPr>
              <a:t> </a:t>
            </a:r>
            <a:r>
              <a:rPr lang="zh-CN" altLang="en-US" b="1">
                <a:latin typeface="楷体_GB2312" charset="0"/>
              </a:rPr>
              <a:t>平方根法</a:t>
            </a:r>
            <a:r>
              <a:rPr lang="en-US" altLang="zh-CN" b="1">
                <a:latin typeface="楷体_GB2312" charset="0"/>
              </a:rPr>
              <a:t> 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/* Choleski</a:t>
            </a:r>
            <a:r>
              <a:rPr lang="zh-CN" altLang="en-US" sz="2000" b="1">
                <a:solidFill>
                  <a:srgbClr val="008000"/>
                </a:solidFill>
                <a:latin typeface="Arial" panose="020B0604020202020204" pitchFamily="34" charset="0"/>
              </a:rPr>
              <a:t>’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s Method */</a:t>
            </a:r>
            <a:r>
              <a:rPr lang="zh-CN" altLang="en-US" b="1">
                <a:latin typeface="楷体_GB2312" charset="0"/>
              </a:rPr>
              <a:t>：</a:t>
            </a:r>
            <a:endParaRPr lang="en-US" altLang="zh-CN" b="1">
              <a:latin typeface="楷体_GB2312" charset="0"/>
            </a:endParaRPr>
          </a:p>
          <a:p>
            <a:pPr eaLnBrk="1" hangingPunct="1"/>
            <a:r>
              <a:rPr lang="en-US" altLang="zh-CN" b="1">
                <a:latin typeface="楷体_GB2312" charset="0"/>
              </a:rPr>
              <a:t>        </a:t>
            </a:r>
            <a:r>
              <a:rPr lang="en-US" altLang="zh-CN" b="1"/>
              <a:t>——</a:t>
            </a:r>
            <a:r>
              <a:rPr lang="zh-CN" altLang="en-US" b="1">
                <a:solidFill>
                  <a:schemeClr val="accent2"/>
                </a:solidFill>
                <a:latin typeface="楷体_GB2312" charset="0"/>
              </a:rPr>
              <a:t>对称</a:t>
            </a:r>
            <a:r>
              <a:rPr lang="en-US" altLang="zh-CN"/>
              <a:t> 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/* symmetric */</a:t>
            </a:r>
            <a:r>
              <a:rPr lang="en-US" altLang="zh-CN"/>
              <a:t> </a:t>
            </a:r>
            <a:r>
              <a:rPr lang="zh-CN" altLang="en-US" b="1">
                <a:solidFill>
                  <a:schemeClr val="accent2"/>
                </a:solidFill>
                <a:latin typeface="楷体_GB2312" charset="0"/>
              </a:rPr>
              <a:t>正定</a:t>
            </a:r>
            <a:r>
              <a:rPr lang="en-US" altLang="zh-CN"/>
              <a:t> 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/* positive definite */</a:t>
            </a:r>
            <a:r>
              <a:rPr lang="en-US" altLang="zh-CN"/>
              <a:t> </a:t>
            </a:r>
            <a:endParaRPr lang="en-US" altLang="zh-CN"/>
          </a:p>
          <a:p>
            <a:pPr eaLnBrk="1" hangingPunct="1"/>
            <a:r>
              <a:rPr lang="en-US" altLang="zh-CN"/>
              <a:t>                         </a:t>
            </a:r>
            <a:r>
              <a:rPr lang="zh-CN" altLang="en-US" b="1">
                <a:latin typeface="楷体_GB2312" charset="0"/>
              </a:rPr>
              <a:t>矩阵的分解法</a:t>
            </a:r>
            <a:endParaRPr lang="en-US" altLang="zh-CN" sz="2000" b="1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grpSp>
        <p:nvGrpSpPr>
          <p:cNvPr id="42038" name="Group 54"/>
          <p:cNvGrpSpPr/>
          <p:nvPr/>
        </p:nvGrpSpPr>
        <p:grpSpPr bwMode="auto">
          <a:xfrm>
            <a:off x="539750" y="1412875"/>
            <a:ext cx="8208963" cy="603250"/>
            <a:chOff x="336" y="864"/>
            <a:chExt cx="4848" cy="380"/>
          </a:xfrm>
        </p:grpSpPr>
        <p:sp>
          <p:nvSpPr>
            <p:cNvPr id="41992" name="AutoShape 8" descr="水滴"/>
            <p:cNvSpPr>
              <a:spLocks noChangeArrowheads="1"/>
            </p:cNvSpPr>
            <p:nvPr/>
          </p:nvSpPr>
          <p:spPr bwMode="auto">
            <a:xfrm>
              <a:off x="336" y="912"/>
              <a:ext cx="576" cy="288"/>
            </a:xfrm>
            <a:prstGeom prst="roundRect">
              <a:avLst>
                <a:gd name="adj" fmla="val 16667"/>
              </a:avLst>
            </a:prstGeom>
            <a:blipFill dpi="0" rotWithShape="0">
              <a:blip r:embed="rId1"/>
              <a:srcRect/>
              <a:tile tx="0" ty="0" sx="100000" sy="100000" flip="none" algn="tl"/>
            </a:blipFill>
            <a:ln w="9525">
              <a:round/>
            </a:ln>
            <a:effectLst/>
            <a:scene3d>
              <a:camera prst="legacyObliqueTopLeft"/>
              <a:lightRig rig="legacyFlat3" dir="t"/>
            </a:scene3d>
            <a:sp3d extrusionH="2016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2800" b="1">
                  <a:solidFill>
                    <a:schemeClr val="accent2"/>
                  </a:solidFill>
                </a:rPr>
                <a:t>定义</a:t>
              </a:r>
              <a:endParaRPr kumimoji="0" lang="en-US" altLang="zh-CN" sz="2800" b="1">
                <a:solidFill>
                  <a:schemeClr val="accent2"/>
                </a:solidFill>
              </a:endParaRPr>
            </a:p>
          </p:txBody>
        </p:sp>
        <p:sp>
          <p:nvSpPr>
            <p:cNvPr id="41993" name="Text Box 9"/>
            <p:cNvSpPr txBox="1">
              <a:spLocks noChangeArrowheads="1"/>
            </p:cNvSpPr>
            <p:nvPr/>
          </p:nvSpPr>
          <p:spPr bwMode="auto">
            <a:xfrm>
              <a:off x="960" y="864"/>
              <a:ext cx="4224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40000"/>
                </a:lnSpc>
              </a:pPr>
              <a:r>
                <a:rPr lang="zh-CN" altLang="en-US" b="1"/>
                <a:t>一个矩阵</a:t>
              </a:r>
              <a:r>
                <a:rPr lang="en-US" altLang="zh-CN" b="1"/>
                <a:t> </a:t>
              </a:r>
              <a:r>
                <a:rPr lang="en-US" altLang="zh-CN" b="1" i="1"/>
                <a:t>A</a:t>
              </a:r>
              <a:r>
                <a:rPr lang="en-US" altLang="zh-CN" b="1"/>
                <a:t> = ( </a:t>
              </a:r>
              <a:r>
                <a:rPr lang="en-US" altLang="zh-CN" b="1" i="1"/>
                <a:t>a</a:t>
              </a:r>
              <a:r>
                <a:rPr lang="en-US" altLang="zh-CN" b="1" i="1" baseline="-25000"/>
                <a:t>ij</a:t>
              </a:r>
              <a:r>
                <a:rPr lang="en-US" altLang="zh-CN" b="1"/>
                <a:t> )</a:t>
              </a:r>
              <a:r>
                <a:rPr lang="en-US" altLang="zh-CN" b="1" i="1" baseline="-25000"/>
                <a:t>n</a:t>
              </a:r>
              <a:r>
                <a:rPr lang="en-US" altLang="zh-CN" b="1" baseline="-25000">
                  <a:sym typeface="Symbol" panose="05050102010706020507" pitchFamily="18" charset="2"/>
                </a:rPr>
                <a:t></a:t>
              </a:r>
              <a:r>
                <a:rPr lang="en-US" altLang="zh-CN" b="1" i="1" baseline="-25000"/>
                <a:t>n</a:t>
              </a:r>
              <a:r>
                <a:rPr lang="en-US" altLang="zh-CN" b="1"/>
                <a:t> </a:t>
              </a:r>
              <a:r>
                <a:rPr lang="zh-CN" altLang="en-US" b="1"/>
                <a:t>称为</a:t>
              </a:r>
              <a:r>
                <a:rPr lang="zh-CN" altLang="en-US" b="1">
                  <a:solidFill>
                    <a:schemeClr val="accent2"/>
                  </a:solidFill>
                </a:rPr>
                <a:t>对称阵</a:t>
              </a:r>
              <a:r>
                <a:rPr lang="zh-CN" altLang="en-US" b="1"/>
                <a:t>，如果</a:t>
              </a:r>
              <a:r>
                <a:rPr lang="en-US" altLang="zh-CN" b="1"/>
                <a:t> </a:t>
              </a:r>
              <a:r>
                <a:rPr lang="en-US" altLang="zh-CN" b="1" i="1"/>
                <a:t>a</a:t>
              </a:r>
              <a:r>
                <a:rPr lang="en-US" altLang="zh-CN" b="1" i="1" baseline="-25000"/>
                <a:t>ij</a:t>
              </a:r>
              <a:r>
                <a:rPr lang="en-US" altLang="zh-CN" b="1"/>
                <a:t> = </a:t>
              </a:r>
              <a:r>
                <a:rPr lang="en-US" altLang="zh-CN" b="1" i="1"/>
                <a:t>a</a:t>
              </a:r>
              <a:r>
                <a:rPr lang="en-US" altLang="zh-CN" b="1" i="1" baseline="-25000"/>
                <a:t>ji</a:t>
              </a:r>
              <a:r>
                <a:rPr lang="en-US" altLang="zh-CN" b="1"/>
                <a:t> </a:t>
              </a:r>
              <a:r>
                <a:rPr lang="zh-CN" altLang="en-US" b="1"/>
                <a:t>。</a:t>
              </a:r>
              <a:endParaRPr lang="en-US" altLang="zh-CN" b="1" i="1" baseline="-25000"/>
            </a:p>
          </p:txBody>
        </p:sp>
      </p:grpSp>
      <p:grpSp>
        <p:nvGrpSpPr>
          <p:cNvPr id="42039" name="Group 55"/>
          <p:cNvGrpSpPr/>
          <p:nvPr/>
        </p:nvGrpSpPr>
        <p:grpSpPr bwMode="auto">
          <a:xfrm>
            <a:off x="533400" y="2057400"/>
            <a:ext cx="8001000" cy="895350"/>
            <a:chOff x="336" y="1296"/>
            <a:chExt cx="5040" cy="564"/>
          </a:xfrm>
        </p:grpSpPr>
        <p:sp>
          <p:nvSpPr>
            <p:cNvPr id="41997" name="AutoShape 13" descr="水滴"/>
            <p:cNvSpPr>
              <a:spLocks noChangeArrowheads="1"/>
            </p:cNvSpPr>
            <p:nvPr/>
          </p:nvSpPr>
          <p:spPr bwMode="auto">
            <a:xfrm>
              <a:off x="336" y="1344"/>
              <a:ext cx="576" cy="288"/>
            </a:xfrm>
            <a:prstGeom prst="roundRect">
              <a:avLst>
                <a:gd name="adj" fmla="val 16667"/>
              </a:avLst>
            </a:prstGeom>
            <a:blipFill dpi="0" rotWithShape="0">
              <a:blip r:embed="rId1"/>
              <a:srcRect/>
              <a:tile tx="0" ty="0" sx="100000" sy="100000" flip="none" algn="tl"/>
            </a:blipFill>
            <a:ln w="9525">
              <a:round/>
            </a:ln>
            <a:effectLst/>
            <a:scene3d>
              <a:camera prst="legacyObliqueTopLeft"/>
              <a:lightRig rig="legacyFlat3" dir="t"/>
            </a:scene3d>
            <a:sp3d extrusionH="201600" prstMaterial="legacyMatte">
              <a:bevelT w="13500" h="13500" prst="angle"/>
              <a:bevelB w="13500" h="13500" prst="angle"/>
              <a:extrusionClr>
                <a:srgbClr val="CCFFFF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 sz="2800" b="1">
                  <a:solidFill>
                    <a:schemeClr val="accent2"/>
                  </a:solidFill>
                </a:rPr>
                <a:t>定义</a:t>
              </a:r>
              <a:endParaRPr kumimoji="0" lang="en-US" altLang="zh-CN" sz="2800" b="1">
                <a:solidFill>
                  <a:schemeClr val="accent2"/>
                </a:solidFill>
              </a:endParaRPr>
            </a:p>
          </p:txBody>
        </p:sp>
        <p:sp>
          <p:nvSpPr>
            <p:cNvPr id="41998" name="Text Box 14"/>
            <p:cNvSpPr txBox="1">
              <a:spLocks noChangeArrowheads="1"/>
            </p:cNvSpPr>
            <p:nvPr/>
          </p:nvSpPr>
          <p:spPr bwMode="auto">
            <a:xfrm>
              <a:off x="960" y="1296"/>
              <a:ext cx="4416" cy="5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zh-CN" altLang="en-US" b="1"/>
                <a:t>一个矩阵</a:t>
              </a:r>
              <a:r>
                <a:rPr lang="en-US" altLang="zh-CN" b="1"/>
                <a:t> </a:t>
              </a:r>
              <a:r>
                <a:rPr lang="en-US" altLang="zh-CN" b="1" i="1"/>
                <a:t>A</a:t>
              </a:r>
              <a:r>
                <a:rPr lang="en-US" altLang="zh-CN" b="1"/>
                <a:t> </a:t>
              </a:r>
              <a:r>
                <a:rPr lang="zh-CN" altLang="en-US" b="1"/>
                <a:t>称为</a:t>
              </a:r>
              <a:r>
                <a:rPr lang="zh-CN" altLang="en-US" b="1">
                  <a:solidFill>
                    <a:schemeClr val="accent2"/>
                  </a:solidFill>
                </a:rPr>
                <a:t>正定阵</a:t>
              </a:r>
              <a:r>
                <a:rPr lang="zh-CN" altLang="en-US" b="1"/>
                <a:t>，如果</a:t>
              </a:r>
              <a:r>
                <a:rPr lang="en-US" altLang="zh-CN" b="1"/>
                <a:t>                 </a:t>
              </a:r>
              <a:r>
                <a:rPr lang="zh-CN" altLang="en-US" b="1"/>
                <a:t>对任意非零向量</a:t>
              </a:r>
              <a:r>
                <a:rPr lang="en-US" altLang="zh-CN" b="1"/>
                <a:t>    </a:t>
              </a:r>
              <a:r>
                <a:rPr lang="zh-CN" altLang="en-US" b="1"/>
                <a:t>都成立。</a:t>
              </a:r>
              <a:endParaRPr lang="en-US" altLang="zh-CN" b="1" i="1" baseline="-25000"/>
            </a:p>
          </p:txBody>
        </p:sp>
        <p:graphicFrame>
          <p:nvGraphicFramePr>
            <p:cNvPr id="8211" name="Object 15"/>
            <p:cNvGraphicFramePr>
              <a:graphicFrameLocks noChangeAspect="1"/>
            </p:cNvGraphicFramePr>
            <p:nvPr/>
          </p:nvGraphicFramePr>
          <p:xfrm>
            <a:off x="3552" y="1296"/>
            <a:ext cx="816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4" name="Equation" r:id="rId2" imgW="15544800" imgH="4876800" progId="Equation.3">
                    <p:embed/>
                  </p:oleObj>
                </mc:Choice>
                <mc:Fallback>
                  <p:oleObj name="Equation" r:id="rId2" imgW="15544800" imgH="48768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1296"/>
                          <a:ext cx="816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2" name="Object 16"/>
            <p:cNvGraphicFramePr>
              <a:graphicFrameLocks noChangeAspect="1"/>
            </p:cNvGraphicFramePr>
            <p:nvPr/>
          </p:nvGraphicFramePr>
          <p:xfrm>
            <a:off x="1625" y="1601"/>
            <a:ext cx="151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5" name="Equation" r:id="rId4" imgW="3352800" imgH="4267200" progId="Equation.3">
                    <p:embed/>
                  </p:oleObj>
                </mc:Choice>
                <mc:Fallback>
                  <p:oleObj name="Equation" r:id="rId4" imgW="3352800" imgH="42672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5" y="1601"/>
                          <a:ext cx="151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002" name="Text Box 18"/>
          <p:cNvSpPr txBox="1">
            <a:spLocks noChangeArrowheads="1"/>
          </p:cNvSpPr>
          <p:nvPr/>
        </p:nvSpPr>
        <p:spPr bwMode="auto">
          <a:xfrm>
            <a:off x="457200" y="2971800"/>
            <a:ext cx="518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accent2"/>
                </a:solidFill>
                <a:latin typeface="楷体_GB2312" charset="0"/>
                <a:sym typeface="Wingdings" panose="05000000000000000000" pitchFamily="2" charset="2"/>
              </a:rPr>
              <a:t></a:t>
            </a:r>
            <a:r>
              <a:rPr lang="zh-CN" altLang="en-US" b="1">
                <a:solidFill>
                  <a:schemeClr val="accent2"/>
                </a:solidFill>
                <a:latin typeface="楷体_GB2312" charset="0"/>
                <a:sym typeface="Wingdings" panose="05000000000000000000" pitchFamily="2" charset="2"/>
              </a:rPr>
              <a:t>回顾：</a:t>
            </a:r>
            <a:r>
              <a:rPr lang="zh-CN" altLang="en-US" b="1">
                <a:latin typeface="楷体_GB2312" charset="0"/>
                <a:sym typeface="Wingdings" panose="05000000000000000000" pitchFamily="2" charset="2"/>
              </a:rPr>
              <a:t>对称正定阵的几个重要性质</a:t>
            </a:r>
            <a:endParaRPr lang="en-US" altLang="zh-CN" b="1">
              <a:latin typeface="楷体_GB2312" charset="0"/>
            </a:endParaRPr>
          </a:p>
        </p:txBody>
      </p:sp>
      <p:sp>
        <p:nvSpPr>
          <p:cNvPr id="42003" name="Text Box 19"/>
          <p:cNvSpPr txBox="1">
            <a:spLocks noChangeArrowheads="1"/>
          </p:cNvSpPr>
          <p:nvPr/>
        </p:nvSpPr>
        <p:spPr bwMode="auto">
          <a:xfrm>
            <a:off x="533400" y="3429000"/>
            <a:ext cx="419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008000"/>
                </a:solidFill>
                <a:sym typeface="Wingdings" panose="05000000000000000000" pitchFamily="2" charset="2"/>
              </a:rPr>
              <a:t></a:t>
            </a:r>
            <a:r>
              <a:rPr lang="en-US" altLang="zh-CN" b="1">
                <a:sym typeface="Wingdings" panose="05000000000000000000" pitchFamily="2" charset="2"/>
              </a:rPr>
              <a:t>  </a:t>
            </a:r>
            <a:r>
              <a:rPr lang="en-US" altLang="zh-CN" b="1" i="1">
                <a:sym typeface="Wingdings" panose="05000000000000000000" pitchFamily="2" charset="2"/>
              </a:rPr>
              <a:t>A</a:t>
            </a:r>
            <a:r>
              <a:rPr lang="en-US" altLang="zh-CN" b="1" baseline="30000">
                <a:sym typeface="Symbol" panose="05050102010706020507" pitchFamily="18" charset="2"/>
              </a:rPr>
              <a:t>1</a:t>
            </a:r>
            <a:r>
              <a:rPr lang="en-US" altLang="zh-CN" b="1">
                <a:sym typeface="Wingdings" panose="05000000000000000000" pitchFamily="2" charset="2"/>
              </a:rPr>
              <a:t> </a:t>
            </a:r>
            <a:r>
              <a:rPr lang="zh-CN" altLang="en-US" b="1"/>
              <a:t>亦对称正定，且</a:t>
            </a:r>
            <a:r>
              <a:rPr lang="en-US" altLang="zh-CN" b="1"/>
              <a:t> </a:t>
            </a:r>
            <a:r>
              <a:rPr lang="en-US" altLang="zh-CN" b="1" i="1"/>
              <a:t>a</a:t>
            </a:r>
            <a:r>
              <a:rPr lang="en-US" altLang="zh-CN" b="1" i="1" baseline="-25000"/>
              <a:t>ii</a:t>
            </a:r>
            <a:r>
              <a:rPr lang="en-US" altLang="zh-CN" b="1"/>
              <a:t> &gt; 0</a:t>
            </a:r>
            <a:endParaRPr lang="en-US" altLang="zh-CN" b="1"/>
          </a:p>
        </p:txBody>
      </p:sp>
      <p:sp>
        <p:nvSpPr>
          <p:cNvPr id="42012" name="Rectangle 28"/>
          <p:cNvSpPr>
            <a:spLocks noChangeArrowheads="1"/>
          </p:cNvSpPr>
          <p:nvPr/>
        </p:nvSpPr>
        <p:spPr bwMode="auto">
          <a:xfrm>
            <a:off x="609600" y="3886200"/>
            <a:ext cx="6781800" cy="16002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2037" name="Text Box 53"/>
          <p:cNvSpPr txBox="1">
            <a:spLocks noChangeArrowheads="1"/>
          </p:cNvSpPr>
          <p:nvPr/>
        </p:nvSpPr>
        <p:spPr bwMode="auto">
          <a:xfrm>
            <a:off x="539750" y="4005263"/>
            <a:ext cx="8001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008000"/>
                </a:solidFill>
                <a:sym typeface="Wingdings" panose="05000000000000000000" pitchFamily="2" charset="2"/>
              </a:rPr>
              <a:t></a:t>
            </a:r>
            <a:r>
              <a:rPr lang="en-US" altLang="zh-CN" b="1">
                <a:sym typeface="Wingdings" panose="05000000000000000000" pitchFamily="2" charset="2"/>
              </a:rPr>
              <a:t>  </a:t>
            </a:r>
            <a:r>
              <a:rPr lang="en-US" altLang="zh-CN" b="1" i="1">
                <a:sym typeface="Wingdings" panose="05000000000000000000" pitchFamily="2" charset="2"/>
              </a:rPr>
              <a:t>A</a:t>
            </a:r>
            <a:r>
              <a:rPr lang="en-US" altLang="zh-CN" b="1">
                <a:sym typeface="Wingdings" panose="05000000000000000000" pitchFamily="2" charset="2"/>
              </a:rPr>
              <a:t> </a:t>
            </a:r>
            <a:r>
              <a:rPr lang="zh-CN" altLang="en-US" b="1">
                <a:sym typeface="Wingdings" panose="05000000000000000000" pitchFamily="2" charset="2"/>
              </a:rPr>
              <a:t>的顺序主子阵</a:t>
            </a:r>
            <a:r>
              <a:rPr lang="en-US" altLang="zh-CN" b="1">
                <a:sym typeface="Wingdings" panose="05000000000000000000" pitchFamily="2" charset="2"/>
              </a:rPr>
              <a:t> 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/* 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leading principal submatrices */ </a:t>
            </a:r>
            <a:r>
              <a:rPr lang="en-US" altLang="zh-CN" b="1" i="1">
                <a:sym typeface="Wingdings" panose="05000000000000000000" pitchFamily="2" charset="2"/>
              </a:rPr>
              <a:t>A</a:t>
            </a:r>
            <a:r>
              <a:rPr lang="en-US" altLang="zh-CN" b="1" i="1" baseline="-25000">
                <a:sym typeface="Wingdings" panose="05000000000000000000" pitchFamily="2" charset="2"/>
              </a:rPr>
              <a:t>k</a:t>
            </a:r>
            <a:r>
              <a:rPr lang="en-US" altLang="zh-CN" b="1" i="1">
                <a:sym typeface="Wingdings" panose="05000000000000000000" pitchFamily="2" charset="2"/>
              </a:rPr>
              <a:t> </a:t>
            </a:r>
            <a:r>
              <a:rPr lang="zh-CN" altLang="en-US" b="1"/>
              <a:t>亦对</a:t>
            </a:r>
            <a:endParaRPr lang="en-US" altLang="zh-CN" b="1"/>
          </a:p>
          <a:p>
            <a:pPr eaLnBrk="1" hangingPunct="1"/>
            <a:r>
              <a:rPr lang="en-US" altLang="zh-CN" b="1"/>
              <a:t>     </a:t>
            </a:r>
            <a:r>
              <a:rPr lang="zh-CN" altLang="en-US" b="1"/>
              <a:t>称正定</a:t>
            </a:r>
            <a:endParaRPr lang="en-US" altLang="zh-CN" b="1"/>
          </a:p>
        </p:txBody>
      </p:sp>
      <p:sp>
        <p:nvSpPr>
          <p:cNvPr id="42046" name="Text Box 62"/>
          <p:cNvSpPr txBox="1">
            <a:spLocks noChangeArrowheads="1"/>
          </p:cNvSpPr>
          <p:nvPr/>
        </p:nvSpPr>
        <p:spPr bwMode="auto">
          <a:xfrm>
            <a:off x="539750" y="4868863"/>
            <a:ext cx="5694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008000"/>
                </a:solidFill>
                <a:sym typeface="Wingdings" panose="05000000000000000000" pitchFamily="2" charset="2"/>
              </a:rPr>
              <a:t></a:t>
            </a:r>
            <a:r>
              <a:rPr lang="en-US" altLang="zh-CN" b="1">
                <a:sym typeface="Wingdings" panose="05000000000000000000" pitchFamily="2" charset="2"/>
              </a:rPr>
              <a:t>  </a:t>
            </a:r>
            <a:r>
              <a:rPr lang="en-US" altLang="zh-CN" b="1" i="1">
                <a:sym typeface="Wingdings" panose="05000000000000000000" pitchFamily="2" charset="2"/>
              </a:rPr>
              <a:t>A</a:t>
            </a:r>
            <a:r>
              <a:rPr lang="en-US" altLang="zh-CN" b="1">
                <a:sym typeface="Wingdings" panose="05000000000000000000" pitchFamily="2" charset="2"/>
              </a:rPr>
              <a:t> </a:t>
            </a:r>
            <a:r>
              <a:rPr lang="zh-CN" altLang="en-US" b="1">
                <a:sym typeface="Wingdings" panose="05000000000000000000" pitchFamily="2" charset="2"/>
              </a:rPr>
              <a:t>的特征值</a:t>
            </a:r>
            <a:r>
              <a:rPr lang="en-US" altLang="zh-CN" b="1">
                <a:sym typeface="Wingdings" panose="05000000000000000000" pitchFamily="2" charset="2"/>
              </a:rPr>
              <a:t> 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/* 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eigen value */ </a:t>
            </a:r>
            <a:r>
              <a:rPr lang="en-US" altLang="zh-CN" b="1" i="1">
                <a:sym typeface="Symbol" panose="05050102010706020507" pitchFamily="18" charset="2"/>
              </a:rPr>
              <a:t></a:t>
            </a:r>
            <a:r>
              <a:rPr lang="en-US" altLang="zh-CN" b="1" i="1" baseline="-25000">
                <a:sym typeface="Wingdings" panose="05000000000000000000" pitchFamily="2" charset="2"/>
              </a:rPr>
              <a:t>i</a:t>
            </a:r>
            <a:r>
              <a:rPr lang="en-US" altLang="zh-CN" b="1" i="1">
                <a:sym typeface="Wingdings" panose="05000000000000000000" pitchFamily="2" charset="2"/>
              </a:rPr>
              <a:t> </a:t>
            </a:r>
            <a:r>
              <a:rPr lang="en-US" altLang="zh-CN" b="1">
                <a:sym typeface="Wingdings" panose="05000000000000000000" pitchFamily="2" charset="2"/>
              </a:rPr>
              <a:t>&gt; 0</a:t>
            </a:r>
            <a:r>
              <a:rPr lang="en-US" altLang="zh-CN" b="1"/>
              <a:t> </a:t>
            </a:r>
            <a:endParaRPr lang="en-US" altLang="zh-CN" b="1"/>
          </a:p>
        </p:txBody>
      </p:sp>
      <p:sp>
        <p:nvSpPr>
          <p:cNvPr id="42052" name="Text Box 68"/>
          <p:cNvSpPr txBox="1">
            <a:spLocks noChangeArrowheads="1"/>
          </p:cNvSpPr>
          <p:nvPr/>
        </p:nvSpPr>
        <p:spPr bwMode="auto">
          <a:xfrm>
            <a:off x="539750" y="5373688"/>
            <a:ext cx="518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008000"/>
                </a:solidFill>
                <a:sym typeface="Wingdings" panose="05000000000000000000" pitchFamily="2" charset="2"/>
              </a:rPr>
              <a:t></a:t>
            </a:r>
            <a:r>
              <a:rPr lang="en-US" altLang="zh-CN" b="1">
                <a:sym typeface="Wingdings" panose="05000000000000000000" pitchFamily="2" charset="2"/>
              </a:rPr>
              <a:t>  </a:t>
            </a:r>
            <a:r>
              <a:rPr lang="en-US" altLang="zh-CN" b="1" i="1">
                <a:sym typeface="Wingdings" panose="05000000000000000000" pitchFamily="2" charset="2"/>
              </a:rPr>
              <a:t>A</a:t>
            </a:r>
            <a:r>
              <a:rPr lang="en-US" altLang="zh-CN" b="1">
                <a:sym typeface="Wingdings" panose="05000000000000000000" pitchFamily="2" charset="2"/>
              </a:rPr>
              <a:t> </a:t>
            </a:r>
            <a:r>
              <a:rPr lang="zh-CN" altLang="en-US" b="1">
                <a:sym typeface="Wingdings" panose="05000000000000000000" pitchFamily="2" charset="2"/>
              </a:rPr>
              <a:t>的全部顺序主子式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 </a:t>
            </a:r>
            <a:r>
              <a:rPr lang="en-US" altLang="zh-CN" b="1"/>
              <a:t>det ( </a:t>
            </a:r>
            <a:r>
              <a:rPr lang="en-US" altLang="zh-CN" b="1" i="1">
                <a:sym typeface="Wingdings" panose="05000000000000000000" pitchFamily="2" charset="2"/>
              </a:rPr>
              <a:t>A</a:t>
            </a:r>
            <a:r>
              <a:rPr lang="en-US" altLang="zh-CN" b="1" i="1" baseline="-25000">
                <a:sym typeface="Wingdings" panose="05000000000000000000" pitchFamily="2" charset="2"/>
              </a:rPr>
              <a:t>k</a:t>
            </a:r>
            <a:r>
              <a:rPr lang="en-US" altLang="zh-CN" b="1" i="1">
                <a:sym typeface="Wingdings" panose="05000000000000000000" pitchFamily="2" charset="2"/>
              </a:rPr>
              <a:t> </a:t>
            </a:r>
            <a:r>
              <a:rPr lang="en-US" altLang="zh-CN" b="1">
                <a:sym typeface="Wingdings" panose="05000000000000000000" pitchFamily="2" charset="2"/>
              </a:rPr>
              <a:t>)</a:t>
            </a:r>
            <a:r>
              <a:rPr lang="en-US" altLang="zh-CN" b="1"/>
              <a:t> &gt; 0</a:t>
            </a:r>
            <a:endParaRPr lang="en-US" altLang="zh-CN" b="1"/>
          </a:p>
        </p:txBody>
      </p:sp>
      <p:grpSp>
        <p:nvGrpSpPr>
          <p:cNvPr id="56" name="Group 47"/>
          <p:cNvGrpSpPr/>
          <p:nvPr/>
        </p:nvGrpSpPr>
        <p:grpSpPr bwMode="auto">
          <a:xfrm>
            <a:off x="3352800" y="4343400"/>
            <a:ext cx="5257800" cy="1066800"/>
            <a:chOff x="2112" y="3360"/>
            <a:chExt cx="3312" cy="672"/>
          </a:xfrm>
        </p:grpSpPr>
        <p:sp>
          <p:nvSpPr>
            <p:cNvPr id="57" name="AutoShape 48"/>
            <p:cNvSpPr>
              <a:spLocks noChangeArrowheads="1"/>
            </p:cNvSpPr>
            <p:nvPr/>
          </p:nvSpPr>
          <p:spPr bwMode="auto">
            <a:xfrm>
              <a:off x="2112" y="3360"/>
              <a:ext cx="3312" cy="672"/>
            </a:xfrm>
            <a:prstGeom prst="wedgeEllipseCallout">
              <a:avLst>
                <a:gd name="adj1" fmla="val -34181"/>
                <a:gd name="adj2" fmla="val -101935"/>
              </a:avLst>
            </a:prstGeom>
            <a:gradFill rotWithShape="0">
              <a:gsLst>
                <a:gs pos="0">
                  <a:srgbClr val="C0C0C0"/>
                </a:gs>
                <a:gs pos="100000">
                  <a:schemeClr val="bg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r>
                <a:rPr lang="en-US" altLang="zh-CN" b="1" dirty="0">
                  <a:latin typeface="Times New Roman" panose="02020603050405020304" charset="0"/>
                  <a:ea typeface="宋体" panose="02010600030101010101" pitchFamily="2" charset="-122"/>
                  <a:cs typeface="楷体_GB2312" charset="0"/>
                </a:rPr>
                <a:t>                  </a:t>
              </a:r>
              <a:r>
                <a:rPr lang="zh-CN" altLang="en-US" b="1" dirty="0">
                  <a:latin typeface="Times New Roman" panose="02020603050405020304" charset="0"/>
                  <a:ea typeface="宋体" panose="02010600030101010101" pitchFamily="2" charset="-122"/>
                  <a:cs typeface="楷体_GB2312" charset="0"/>
                </a:rPr>
                <a:t>      </a:t>
              </a:r>
              <a:r>
                <a:rPr lang="zh-CN" altLang="en-US" sz="2400" b="1" dirty="0">
                  <a:latin typeface="Times New Roman" panose="02020603050405020304" charset="0"/>
                  <a:ea typeface="宋体" panose="02010600030101010101" pitchFamily="2" charset="-122"/>
                  <a:cs typeface="楷体_GB2312" charset="0"/>
                </a:rPr>
                <a:t>其中</a:t>
              </a:r>
              <a:endParaRPr lang="en-US" altLang="zh-CN" sz="2400" b="1" dirty="0">
                <a:latin typeface="Times New Roman" panose="02020603050405020304" charset="0"/>
                <a:ea typeface="宋体" panose="02010600030101010101" pitchFamily="2" charset="-122"/>
                <a:cs typeface="楷体_GB2312" charset="0"/>
              </a:endParaRPr>
            </a:p>
          </p:txBody>
        </p:sp>
        <p:graphicFrame>
          <p:nvGraphicFramePr>
            <p:cNvPr id="8206" name="Object 49"/>
            <p:cNvGraphicFramePr>
              <a:graphicFrameLocks noChangeAspect="1"/>
            </p:cNvGraphicFramePr>
            <p:nvPr/>
          </p:nvGraphicFramePr>
          <p:xfrm>
            <a:off x="2496" y="3456"/>
            <a:ext cx="960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6" name="Equation" r:id="rId6" imgW="22860000" imgH="5791200" progId="Equation.3">
                    <p:embed/>
                  </p:oleObj>
                </mc:Choice>
                <mc:Fallback>
                  <p:oleObj name="Equation" r:id="rId6" imgW="22860000" imgH="5791200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3456"/>
                          <a:ext cx="960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7" name="Object 50"/>
            <p:cNvGraphicFramePr>
              <a:graphicFrameLocks noChangeAspect="1"/>
            </p:cNvGraphicFramePr>
            <p:nvPr/>
          </p:nvGraphicFramePr>
          <p:xfrm>
            <a:off x="3888" y="3456"/>
            <a:ext cx="1012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7" name="Equation" r:id="rId8" imgW="22250400" imgH="5486400" progId="Equation.3">
                    <p:embed/>
                  </p:oleObj>
                </mc:Choice>
                <mc:Fallback>
                  <p:oleObj name="Equation" r:id="rId8" imgW="22250400" imgH="5486400" progId="Equation.3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3456"/>
                          <a:ext cx="1012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" name="AutoShape 51"/>
            <p:cNvSpPr>
              <a:spLocks noChangeArrowheads="1"/>
            </p:cNvSpPr>
            <p:nvPr/>
          </p:nvSpPr>
          <p:spPr bwMode="auto">
            <a:xfrm>
              <a:off x="3456" y="3744"/>
              <a:ext cx="576" cy="192"/>
            </a:xfrm>
            <a:prstGeom prst="wedgeRectCallout">
              <a:avLst>
                <a:gd name="adj1" fmla="val 125176"/>
                <a:gd name="adj2" fmla="val -102083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defRPr/>
              </a:pPr>
              <a:r>
                <a:rPr lang="zh-CN" altLang="en-US" sz="2000" b="1" dirty="0">
                  <a:latin typeface="楷体_GB2312" charset="0"/>
                  <a:ea typeface="宋体" panose="02010600030101010101" pitchFamily="2" charset="-122"/>
                  <a:cs typeface="楷体_GB2312" charset="0"/>
                </a:rPr>
                <a:t>第</a:t>
              </a:r>
              <a:r>
                <a:rPr lang="en-US" altLang="zh-CN" sz="2000" b="1" dirty="0">
                  <a:latin typeface="楷体_GB2312" charset="0"/>
                  <a:ea typeface="宋体" panose="02010600030101010101" pitchFamily="2" charset="-122"/>
                  <a:cs typeface="楷体_GB2312" charset="0"/>
                </a:rPr>
                <a:t> </a:t>
              </a:r>
              <a:r>
                <a:rPr lang="en-US" altLang="zh-CN" sz="2000" b="1" i="1" dirty="0" err="1">
                  <a:solidFill>
                    <a:schemeClr val="accent2"/>
                  </a:solidFill>
                  <a:latin typeface="Times New Roman" panose="02020603050405020304" charset="0"/>
                  <a:ea typeface="宋体" panose="02010600030101010101" pitchFamily="2" charset="-122"/>
                  <a:cs typeface="楷体_GB2312" charset="0"/>
                </a:rPr>
                <a:t>i</a:t>
              </a:r>
              <a:r>
                <a:rPr lang="en-US" altLang="zh-CN" sz="2000" b="1" dirty="0">
                  <a:solidFill>
                    <a:schemeClr val="accent2"/>
                  </a:solidFill>
                  <a:latin typeface="楷体_GB2312" charset="0"/>
                  <a:ea typeface="宋体" panose="02010600030101010101" pitchFamily="2" charset="-122"/>
                  <a:cs typeface="楷体_GB2312" charset="0"/>
                </a:rPr>
                <a:t> </a:t>
              </a:r>
              <a:r>
                <a:rPr lang="zh-CN" altLang="en-US" sz="2000" b="1" dirty="0">
                  <a:latin typeface="楷体_GB2312" charset="0"/>
                  <a:ea typeface="宋体" panose="02010600030101010101" pitchFamily="2" charset="-122"/>
                  <a:cs typeface="楷体_GB2312" charset="0"/>
                </a:rPr>
                <a:t>位</a:t>
              </a:r>
              <a:endParaRPr lang="en-US" altLang="zh-CN" sz="2000" b="1" dirty="0">
                <a:latin typeface="楷体_GB2312" charset="0"/>
                <a:ea typeface="宋体" panose="02010600030101010101" pitchFamily="2" charset="-122"/>
                <a:cs typeface="楷体_GB2312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0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20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0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0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2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0" grpId="0" autoUpdateAnimBg="0"/>
      <p:bldP spid="42002" grpId="0" autoUpdateAnimBg="0"/>
      <p:bldP spid="42003" grpId="0" autoUpdateAnimBg="0"/>
      <p:bldP spid="42012" grpId="0" animBg="1"/>
      <p:bldP spid="42037" grpId="0"/>
      <p:bldP spid="42046" grpId="0"/>
      <p:bldP spid="4205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 bwMode="auto">
          <a:xfrm>
            <a:off x="611188" y="4941888"/>
            <a:ext cx="3240087" cy="790575"/>
            <a:chOff x="-2772816" y="3212976"/>
            <a:chExt cx="3240360" cy="792088"/>
          </a:xfrm>
        </p:grpSpPr>
        <p:sp>
          <p:nvSpPr>
            <p:cNvPr id="43098" name="AutoShape 90"/>
            <p:cNvSpPr>
              <a:spLocks noChangeArrowheads="1"/>
            </p:cNvSpPr>
            <p:nvPr/>
          </p:nvSpPr>
          <p:spPr bwMode="auto">
            <a:xfrm>
              <a:off x="-2772816" y="3212976"/>
              <a:ext cx="3240360" cy="792088"/>
            </a:xfrm>
            <a:prstGeom prst="wedgeEllipseCallout">
              <a:avLst>
                <a:gd name="adj1" fmla="val 15222"/>
                <a:gd name="adj2" fmla="val -181875"/>
              </a:avLst>
            </a:prstGeom>
            <a:gradFill rotWithShape="0">
              <a:gsLst>
                <a:gs pos="0">
                  <a:schemeClr val="bg1"/>
                </a:gs>
                <a:gs pos="100000">
                  <a:srgbClr val="C0C0C0"/>
                </a:gs>
              </a:gsLst>
              <a:lin ang="18900000" scaled="1"/>
            </a:gra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en-US" altLang="zh-CN" b="1"/>
                <a:t>Since   </a:t>
              </a:r>
              <a:endParaRPr lang="en-US" altLang="zh-CN" sz="2000" b="1">
                <a:solidFill>
                  <a:schemeClr val="accent2"/>
                </a:solidFill>
              </a:endParaRPr>
            </a:p>
          </p:txBody>
        </p:sp>
        <p:graphicFrame>
          <p:nvGraphicFramePr>
            <p:cNvPr id="9270" name="Object 15"/>
            <p:cNvGraphicFramePr>
              <a:graphicFrameLocks noChangeAspect="1"/>
            </p:cNvGraphicFramePr>
            <p:nvPr/>
          </p:nvGraphicFramePr>
          <p:xfrm>
            <a:off x="-1295400" y="3356992"/>
            <a:ext cx="12954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2" name="Equation" r:id="rId1" imgW="15544800" imgH="4876800" progId="Equation.3">
                    <p:embed/>
                  </p:oleObj>
                </mc:Choice>
                <mc:Fallback>
                  <p:oleObj name="Equation" r:id="rId1" imgW="15544800" imgH="48768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1295400" y="3356992"/>
                          <a:ext cx="12954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42" name="Rectangle 34"/>
          <p:cNvSpPr>
            <a:spLocks noChangeArrowheads="1"/>
          </p:cNvSpPr>
          <p:nvPr/>
        </p:nvSpPr>
        <p:spPr bwMode="auto">
          <a:xfrm>
            <a:off x="5029200" y="115888"/>
            <a:ext cx="4114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 b="1"/>
              <a:t>§2 Matrix Factorization – Choleski</a:t>
            </a:r>
            <a:endParaRPr lang="en-US" altLang="zh-CN" sz="1800" b="1"/>
          </a:p>
        </p:txBody>
      </p:sp>
      <p:sp>
        <p:nvSpPr>
          <p:cNvPr id="43043" name="Text Box 35"/>
          <p:cNvSpPr txBox="1">
            <a:spLocks noChangeArrowheads="1"/>
          </p:cNvSpPr>
          <p:nvPr/>
        </p:nvSpPr>
        <p:spPr bwMode="auto">
          <a:xfrm>
            <a:off x="457200" y="809625"/>
            <a:ext cx="4619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楷体_GB2312" charset="0"/>
                <a:sym typeface="Wingdings" panose="05000000000000000000" pitchFamily="2" charset="2"/>
              </a:rPr>
              <a:t>将</a:t>
            </a:r>
            <a:r>
              <a:rPr lang="zh-CN" altLang="en-US" b="1">
                <a:latin typeface="楷体_GB2312" charset="0"/>
              </a:rPr>
              <a:t>对称</a:t>
            </a:r>
            <a:r>
              <a:rPr lang="en-US" altLang="zh-CN"/>
              <a:t> </a:t>
            </a:r>
            <a:r>
              <a:rPr lang="zh-CN" altLang="en-US" b="1">
                <a:latin typeface="楷体_GB2312" charset="0"/>
              </a:rPr>
              <a:t>正定阵</a:t>
            </a:r>
            <a:r>
              <a:rPr lang="en-US" altLang="zh-CN" b="1"/>
              <a:t> </a:t>
            </a:r>
            <a:r>
              <a:rPr lang="en-US" altLang="zh-CN" b="1" i="1"/>
              <a:t>A</a:t>
            </a:r>
            <a:r>
              <a:rPr lang="en-US" altLang="zh-CN" b="1"/>
              <a:t> </a:t>
            </a:r>
            <a:r>
              <a:rPr lang="zh-CN" altLang="en-US" b="1"/>
              <a:t>做</a:t>
            </a:r>
            <a:r>
              <a:rPr lang="en-US" altLang="zh-CN" b="1"/>
              <a:t> </a:t>
            </a:r>
            <a:r>
              <a:rPr lang="en-US" altLang="zh-CN" b="1" i="1"/>
              <a:t>LU</a:t>
            </a:r>
            <a:r>
              <a:rPr lang="en-US" altLang="zh-CN" b="1"/>
              <a:t> </a:t>
            </a:r>
            <a:r>
              <a:rPr lang="zh-CN" altLang="en-US" b="1">
                <a:latin typeface="楷体_GB2312" charset="0"/>
              </a:rPr>
              <a:t>分解</a:t>
            </a:r>
            <a:endParaRPr lang="en-US" altLang="zh-CN" sz="2000" b="1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grpSp>
        <p:nvGrpSpPr>
          <p:cNvPr id="43064" name="Group 56"/>
          <p:cNvGrpSpPr/>
          <p:nvPr/>
        </p:nvGrpSpPr>
        <p:grpSpPr bwMode="auto">
          <a:xfrm>
            <a:off x="609600" y="1343025"/>
            <a:ext cx="4953000" cy="1295400"/>
            <a:chOff x="384" y="624"/>
            <a:chExt cx="3120" cy="816"/>
          </a:xfrm>
        </p:grpSpPr>
        <p:sp>
          <p:nvSpPr>
            <p:cNvPr id="43044" name="Text Box 36"/>
            <p:cNvSpPr txBox="1">
              <a:spLocks noChangeArrowheads="1"/>
            </p:cNvSpPr>
            <p:nvPr/>
          </p:nvSpPr>
          <p:spPr bwMode="auto">
            <a:xfrm>
              <a:off x="384" y="912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i="1"/>
                <a:t>U</a:t>
              </a:r>
              <a:r>
                <a:rPr lang="en-US" altLang="zh-CN" b="1"/>
                <a:t> =</a:t>
              </a:r>
              <a:endParaRPr lang="en-US" altLang="zh-CN" b="1" i="1"/>
            </a:p>
          </p:txBody>
        </p:sp>
        <p:sp>
          <p:nvSpPr>
            <p:cNvPr id="43045" name="AutoShape 37"/>
            <p:cNvSpPr>
              <a:spLocks noChangeArrowheads="1"/>
            </p:cNvSpPr>
            <p:nvPr/>
          </p:nvSpPr>
          <p:spPr bwMode="auto">
            <a:xfrm flipH="1" flipV="1">
              <a:off x="864" y="720"/>
              <a:ext cx="672" cy="672"/>
            </a:xfrm>
            <a:prstGeom prst="rtTriangle">
              <a:avLst/>
            </a:prstGeom>
            <a:solidFill>
              <a:schemeClr val="folHlink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>
                <a:defRPr/>
              </a:pPr>
              <a:r>
                <a:rPr lang="en-US" altLang="zh-CN" b="1" i="1"/>
                <a:t>u</a:t>
              </a:r>
              <a:r>
                <a:rPr lang="en-US" altLang="zh-CN" b="1" i="1" baseline="-25000"/>
                <a:t>ij</a:t>
              </a:r>
              <a:endParaRPr lang="en-US" altLang="zh-CN" b="1" i="1"/>
            </a:p>
          </p:txBody>
        </p:sp>
        <p:sp>
          <p:nvSpPr>
            <p:cNvPr id="43047" name="AutoShape 39"/>
            <p:cNvSpPr>
              <a:spLocks noChangeArrowheads="1"/>
            </p:cNvSpPr>
            <p:nvPr/>
          </p:nvSpPr>
          <p:spPr bwMode="auto">
            <a:xfrm>
              <a:off x="816" y="672"/>
              <a:ext cx="768" cy="768"/>
            </a:xfrm>
            <a:prstGeom prst="bracketPair">
              <a:avLst>
                <a:gd name="adj" fmla="val 10139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3048" name="Text Box 40"/>
            <p:cNvSpPr txBox="1">
              <a:spLocks noChangeArrowheads="1"/>
            </p:cNvSpPr>
            <p:nvPr/>
          </p:nvSpPr>
          <p:spPr bwMode="auto">
            <a:xfrm>
              <a:off x="1632" y="91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b="1">
                  <a:latin typeface="Times New Roman" panose="02020603050405020304" charset="0"/>
                  <a:ea typeface="宋体" panose="02010600030101010101" pitchFamily="2" charset="-122"/>
                </a:rPr>
                <a:t>=</a:t>
              </a:r>
              <a:endParaRPr lang="en-US" altLang="zh-CN" b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3049" name="AutoShape 41"/>
            <p:cNvSpPr>
              <a:spLocks noChangeArrowheads="1"/>
            </p:cNvSpPr>
            <p:nvPr/>
          </p:nvSpPr>
          <p:spPr bwMode="auto">
            <a:xfrm>
              <a:off x="1872" y="672"/>
              <a:ext cx="768" cy="768"/>
            </a:xfrm>
            <a:prstGeom prst="bracketPair">
              <a:avLst>
                <a:gd name="adj" fmla="val 10139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3050" name="AutoShape 42"/>
            <p:cNvSpPr>
              <a:spLocks noChangeArrowheads="1"/>
            </p:cNvSpPr>
            <p:nvPr/>
          </p:nvSpPr>
          <p:spPr bwMode="auto">
            <a:xfrm flipH="1">
              <a:off x="1920" y="720"/>
              <a:ext cx="672" cy="672"/>
            </a:xfrm>
            <a:prstGeom prst="parallelogram">
              <a:avLst>
                <a:gd name="adj" fmla="val 85861"/>
              </a:avLst>
            </a:prstGeom>
            <a:solidFill>
              <a:schemeClr val="folHlink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3051" name="Text Box 43"/>
            <p:cNvSpPr txBox="1">
              <a:spLocks noChangeArrowheads="1"/>
            </p:cNvSpPr>
            <p:nvPr/>
          </p:nvSpPr>
          <p:spPr bwMode="auto">
            <a:xfrm>
              <a:off x="1872" y="672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1400" b="1" i="1"/>
                <a:t>u</a:t>
              </a:r>
              <a:r>
                <a:rPr lang="en-US" altLang="zh-CN" sz="1400" b="1" baseline="-25000"/>
                <a:t>11</a:t>
              </a:r>
              <a:endParaRPr lang="en-US" altLang="zh-CN" sz="1400" b="1" i="1"/>
            </a:p>
          </p:txBody>
        </p:sp>
        <p:sp>
          <p:nvSpPr>
            <p:cNvPr id="43055" name="AutoShape 47"/>
            <p:cNvSpPr>
              <a:spLocks noChangeArrowheads="1"/>
            </p:cNvSpPr>
            <p:nvPr/>
          </p:nvSpPr>
          <p:spPr bwMode="auto">
            <a:xfrm flipH="1" flipV="1">
              <a:off x="2880" y="672"/>
              <a:ext cx="576" cy="672"/>
            </a:xfrm>
            <a:prstGeom prst="rtTriangle">
              <a:avLst/>
            </a:prstGeom>
            <a:solidFill>
              <a:schemeClr val="folHlink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>
                <a:defRPr/>
              </a:pPr>
              <a:r>
                <a:rPr lang="en-US" altLang="zh-CN" sz="1600" b="1" i="1"/>
                <a:t>u</a:t>
              </a:r>
              <a:r>
                <a:rPr lang="en-US" altLang="zh-CN" sz="1600" b="1" i="1" baseline="-25000"/>
                <a:t>ij</a:t>
              </a:r>
              <a:r>
                <a:rPr lang="en-US" altLang="zh-CN" sz="1600" b="1"/>
                <a:t> / </a:t>
              </a:r>
              <a:r>
                <a:rPr lang="en-US" altLang="zh-CN" sz="1600" b="1" i="1"/>
                <a:t>u</a:t>
              </a:r>
              <a:r>
                <a:rPr lang="en-US" altLang="zh-CN" sz="1600" b="1" i="1" baseline="-25000"/>
                <a:t>ii</a:t>
              </a:r>
              <a:endParaRPr lang="en-US" altLang="zh-CN" sz="1600" b="1" i="1"/>
            </a:p>
          </p:txBody>
        </p:sp>
        <p:sp>
          <p:nvSpPr>
            <p:cNvPr id="43056" name="AutoShape 48"/>
            <p:cNvSpPr>
              <a:spLocks noChangeArrowheads="1"/>
            </p:cNvSpPr>
            <p:nvPr/>
          </p:nvSpPr>
          <p:spPr bwMode="auto">
            <a:xfrm>
              <a:off x="2736" y="624"/>
              <a:ext cx="768" cy="768"/>
            </a:xfrm>
            <a:prstGeom prst="bracketPair">
              <a:avLst>
                <a:gd name="adj" fmla="val 10139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3058" name="AutoShape 50"/>
            <p:cNvSpPr>
              <a:spLocks noChangeArrowheads="1"/>
            </p:cNvSpPr>
            <p:nvPr/>
          </p:nvSpPr>
          <p:spPr bwMode="auto">
            <a:xfrm flipH="1">
              <a:off x="2784" y="672"/>
              <a:ext cx="672" cy="672"/>
            </a:xfrm>
            <a:prstGeom prst="parallelogram">
              <a:avLst>
                <a:gd name="adj" fmla="val 85861"/>
              </a:avLst>
            </a:prstGeom>
            <a:solidFill>
              <a:srgbClr val="FF000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3059" name="Text Box 51"/>
            <p:cNvSpPr txBox="1">
              <a:spLocks noChangeArrowheads="1"/>
            </p:cNvSpPr>
            <p:nvPr/>
          </p:nvSpPr>
          <p:spPr bwMode="auto">
            <a:xfrm>
              <a:off x="2784" y="624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400" b="1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1400" b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3060" name="Text Box 52"/>
            <p:cNvSpPr txBox="1">
              <a:spLocks noChangeArrowheads="1"/>
            </p:cNvSpPr>
            <p:nvPr/>
          </p:nvSpPr>
          <p:spPr bwMode="auto">
            <a:xfrm>
              <a:off x="2880" y="720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400" b="1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1400" b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3061" name="Text Box 53"/>
            <p:cNvSpPr txBox="1">
              <a:spLocks noChangeArrowheads="1"/>
            </p:cNvSpPr>
            <p:nvPr/>
          </p:nvSpPr>
          <p:spPr bwMode="auto">
            <a:xfrm>
              <a:off x="3312" y="1200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1400" b="1"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1400" b="1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3062" name="Text Box 54"/>
            <p:cNvSpPr txBox="1">
              <a:spLocks noChangeArrowheads="1"/>
            </p:cNvSpPr>
            <p:nvPr/>
          </p:nvSpPr>
          <p:spPr bwMode="auto">
            <a:xfrm>
              <a:off x="2016" y="816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1400" b="1" i="1"/>
                <a:t>u</a:t>
              </a:r>
              <a:r>
                <a:rPr lang="en-US" altLang="zh-CN" sz="1400" b="1" baseline="-25000"/>
                <a:t>22</a:t>
              </a:r>
              <a:endParaRPr lang="en-US" altLang="zh-CN" sz="1400" b="1" i="1"/>
            </a:p>
          </p:txBody>
        </p:sp>
        <p:sp>
          <p:nvSpPr>
            <p:cNvPr id="43063" name="Text Box 55"/>
            <p:cNvSpPr txBox="1">
              <a:spLocks noChangeArrowheads="1"/>
            </p:cNvSpPr>
            <p:nvPr/>
          </p:nvSpPr>
          <p:spPr bwMode="auto">
            <a:xfrm>
              <a:off x="2352" y="1248"/>
              <a:ext cx="3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 sz="1400" b="1" i="1"/>
                <a:t>u</a:t>
              </a:r>
              <a:r>
                <a:rPr lang="en-US" altLang="zh-CN" sz="1400" b="1" i="1" baseline="-25000"/>
                <a:t>nn</a:t>
              </a:r>
              <a:endParaRPr lang="en-US" altLang="zh-CN" sz="1400" b="1" i="1"/>
            </a:p>
          </p:txBody>
        </p:sp>
      </p:grpSp>
      <p:grpSp>
        <p:nvGrpSpPr>
          <p:cNvPr id="43069" name="Group 61"/>
          <p:cNvGrpSpPr/>
          <p:nvPr/>
        </p:nvGrpSpPr>
        <p:grpSpPr bwMode="auto">
          <a:xfrm>
            <a:off x="5715000" y="1647825"/>
            <a:ext cx="1270000" cy="458788"/>
            <a:chOff x="3600" y="816"/>
            <a:chExt cx="800" cy="289"/>
          </a:xfrm>
        </p:grpSpPr>
        <p:sp>
          <p:nvSpPr>
            <p:cNvPr id="43065" name="Text Box 57"/>
            <p:cNvSpPr txBox="1">
              <a:spLocks noChangeArrowheads="1"/>
            </p:cNvSpPr>
            <p:nvPr/>
          </p:nvSpPr>
          <p:spPr bwMode="auto">
            <a:xfrm>
              <a:off x="3600" y="816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zh-CN" altLang="en-US" sz="1400" b="1">
                  <a:latin typeface="Times New Roman" panose="02020603050405020304" charset="0"/>
                  <a:ea typeface="宋体" panose="02010600030101010101" pitchFamily="2" charset="-122"/>
                  <a:cs typeface="楷体_GB2312" charset="0"/>
                </a:rPr>
                <a:t>记为</a:t>
              </a:r>
              <a:endParaRPr lang="en-US" altLang="zh-CN" sz="1400" b="1">
                <a:latin typeface="Times New Roman" panose="02020603050405020304" charset="0"/>
                <a:ea typeface="宋体" panose="02010600030101010101" pitchFamily="2" charset="-122"/>
                <a:cs typeface="楷体_GB2312" charset="0"/>
              </a:endParaRPr>
            </a:p>
          </p:txBody>
        </p:sp>
        <p:sp>
          <p:nvSpPr>
            <p:cNvPr id="43066" name="Line 58"/>
            <p:cNvSpPr>
              <a:spLocks noChangeShapeType="1"/>
            </p:cNvSpPr>
            <p:nvPr/>
          </p:nvSpPr>
          <p:spPr bwMode="auto">
            <a:xfrm>
              <a:off x="3648" y="1008"/>
              <a:ext cx="28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3067" name="Line 59"/>
            <p:cNvSpPr>
              <a:spLocks noChangeShapeType="1"/>
            </p:cNvSpPr>
            <p:nvPr/>
          </p:nvSpPr>
          <p:spPr bwMode="auto">
            <a:xfrm>
              <a:off x="3648" y="1056"/>
              <a:ext cx="28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9253" name="Object 60"/>
            <p:cNvGraphicFramePr>
              <a:graphicFrameLocks noChangeAspect="1"/>
            </p:cNvGraphicFramePr>
            <p:nvPr/>
          </p:nvGraphicFramePr>
          <p:xfrm>
            <a:off x="4032" y="864"/>
            <a:ext cx="368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3" name="Equation" r:id="rId3" imgW="7010400" imgH="5181600" progId="Equation.3">
                    <p:embed/>
                  </p:oleObj>
                </mc:Choice>
                <mc:Fallback>
                  <p:oleObj name="Equation" r:id="rId3" imgW="7010400" imgH="5181600" progId="Equation.3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864"/>
                          <a:ext cx="368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072" name="Group 64"/>
          <p:cNvGrpSpPr/>
          <p:nvPr/>
        </p:nvGrpSpPr>
        <p:grpSpPr bwMode="auto">
          <a:xfrm>
            <a:off x="533400" y="2790825"/>
            <a:ext cx="1600200" cy="457200"/>
            <a:chOff x="336" y="1680"/>
            <a:chExt cx="1008" cy="288"/>
          </a:xfrm>
        </p:grpSpPr>
        <p:sp>
          <p:nvSpPr>
            <p:cNvPr id="43070" name="Text Box 62"/>
            <p:cNvSpPr txBox="1">
              <a:spLocks noChangeArrowheads="1"/>
            </p:cNvSpPr>
            <p:nvPr/>
          </p:nvSpPr>
          <p:spPr bwMode="auto">
            <a:xfrm>
              <a:off x="336" y="1680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 </a:t>
              </a:r>
              <a:r>
                <a:rPr lang="en-US" altLang="zh-CN" b="1" i="1"/>
                <a:t>A </a:t>
              </a:r>
              <a:r>
                <a:rPr lang="zh-CN" altLang="en-US" b="1"/>
                <a:t>对称</a:t>
              </a:r>
              <a:endParaRPr lang="en-US" altLang="zh-CN" b="1"/>
            </a:p>
          </p:txBody>
        </p:sp>
        <p:sp>
          <p:nvSpPr>
            <p:cNvPr id="43071" name="AutoShape 63"/>
            <p:cNvSpPr>
              <a:spLocks noChangeArrowheads="1"/>
            </p:cNvSpPr>
            <p:nvPr/>
          </p:nvSpPr>
          <p:spPr bwMode="auto">
            <a:xfrm>
              <a:off x="1104" y="1776"/>
              <a:ext cx="240" cy="96"/>
            </a:xfrm>
            <a:prstGeom prst="rightArrow">
              <a:avLst>
                <a:gd name="adj1" fmla="val 50000"/>
                <a:gd name="adj2" fmla="val 625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graphicFrame>
        <p:nvGraphicFramePr>
          <p:cNvPr id="43073" name="Object 65"/>
          <p:cNvGraphicFramePr>
            <a:graphicFrameLocks noChangeAspect="1"/>
          </p:cNvGraphicFramePr>
          <p:nvPr/>
        </p:nvGraphicFramePr>
        <p:xfrm>
          <a:off x="2362200" y="2755900"/>
          <a:ext cx="914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4" name="Equation" r:id="rId5" imgW="11887200" imgH="5181600" progId="Equation.3">
                  <p:embed/>
                </p:oleObj>
              </mc:Choice>
              <mc:Fallback>
                <p:oleObj name="Equation" r:id="rId5" imgW="11887200" imgH="5181600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755900"/>
                        <a:ext cx="914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76" name="Group 68"/>
          <p:cNvGrpSpPr/>
          <p:nvPr/>
        </p:nvGrpSpPr>
        <p:grpSpPr bwMode="auto">
          <a:xfrm>
            <a:off x="3581400" y="2790825"/>
            <a:ext cx="1752600" cy="457200"/>
            <a:chOff x="2256" y="1702"/>
            <a:chExt cx="1104" cy="288"/>
          </a:xfrm>
        </p:grpSpPr>
        <p:sp>
          <p:nvSpPr>
            <p:cNvPr id="43074" name="Text Box 66"/>
            <p:cNvSpPr txBox="1">
              <a:spLocks noChangeArrowheads="1"/>
            </p:cNvSpPr>
            <p:nvPr/>
          </p:nvSpPr>
          <p:spPr bwMode="auto">
            <a:xfrm>
              <a:off x="2256" y="170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b="1">
                  <a:latin typeface="Times New Roman" panose="02020603050405020304" charset="0"/>
                  <a:ea typeface="宋体" panose="02010600030101010101" pitchFamily="2" charset="-122"/>
                  <a:cs typeface="楷体_GB2312" charset="0"/>
                </a:rPr>
                <a:t>即</a:t>
              </a:r>
              <a:endParaRPr lang="en-US" altLang="zh-CN" b="1">
                <a:latin typeface="Times New Roman" panose="02020603050405020304" charset="0"/>
                <a:ea typeface="宋体" panose="02010600030101010101" pitchFamily="2" charset="-122"/>
                <a:cs typeface="楷体_GB2312" charset="0"/>
              </a:endParaRPr>
            </a:p>
          </p:txBody>
        </p:sp>
        <p:graphicFrame>
          <p:nvGraphicFramePr>
            <p:cNvPr id="9247" name="Object 67"/>
            <p:cNvGraphicFramePr>
              <a:graphicFrameLocks noChangeAspect="1"/>
            </p:cNvGraphicFramePr>
            <p:nvPr/>
          </p:nvGraphicFramePr>
          <p:xfrm>
            <a:off x="2544" y="1728"/>
            <a:ext cx="816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5" name="Equation" r:id="rId7" imgW="15849600" imgH="4572000" progId="Equation.3">
                    <p:embed/>
                  </p:oleObj>
                </mc:Choice>
                <mc:Fallback>
                  <p:oleObj name="Equation" r:id="rId7" imgW="15849600" imgH="4572000" progId="Equation.3">
                    <p:embed/>
                    <p:pic>
                      <p:nvPicPr>
                        <p:cNvPr id="0" name="Object 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1728"/>
                          <a:ext cx="816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096" name="Group 88"/>
          <p:cNvGrpSpPr/>
          <p:nvPr/>
        </p:nvGrpSpPr>
        <p:grpSpPr bwMode="auto">
          <a:xfrm>
            <a:off x="685800" y="3213100"/>
            <a:ext cx="2667000" cy="1219200"/>
            <a:chOff x="528" y="2400"/>
            <a:chExt cx="1680" cy="768"/>
          </a:xfrm>
        </p:grpSpPr>
        <p:sp>
          <p:nvSpPr>
            <p:cNvPr id="43078" name="Text Box 70"/>
            <p:cNvSpPr txBox="1">
              <a:spLocks noChangeArrowheads="1"/>
            </p:cNvSpPr>
            <p:nvPr/>
          </p:nvSpPr>
          <p:spPr bwMode="auto">
            <a:xfrm>
              <a:off x="528" y="2640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b="1">
                  <a:latin typeface="楷体_GB2312" charset="0"/>
                </a:rPr>
                <a:t>记</a:t>
              </a:r>
              <a:r>
                <a:rPr lang="en-US" altLang="zh-CN" b="1">
                  <a:latin typeface="楷体_GB2312" charset="0"/>
                </a:rPr>
                <a:t> </a:t>
              </a:r>
              <a:r>
                <a:rPr lang="en-US" altLang="zh-CN" b="1" i="1"/>
                <a:t>D</a:t>
              </a:r>
              <a:r>
                <a:rPr lang="en-US" altLang="zh-CN" b="1" baseline="30000"/>
                <a:t>1/2</a:t>
              </a:r>
              <a:r>
                <a:rPr lang="en-US" altLang="zh-CN" b="1"/>
                <a:t> =</a:t>
              </a:r>
              <a:endParaRPr lang="en-US" altLang="zh-CN" b="1" i="1"/>
            </a:p>
          </p:txBody>
        </p:sp>
        <p:sp>
          <p:nvSpPr>
            <p:cNvPr id="43082" name="AutoShape 74"/>
            <p:cNvSpPr>
              <a:spLocks noChangeArrowheads="1"/>
            </p:cNvSpPr>
            <p:nvPr/>
          </p:nvSpPr>
          <p:spPr bwMode="auto">
            <a:xfrm>
              <a:off x="1440" y="2400"/>
              <a:ext cx="768" cy="768"/>
            </a:xfrm>
            <a:prstGeom prst="bracketPair">
              <a:avLst>
                <a:gd name="adj" fmla="val 10139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3083" name="AutoShape 75"/>
            <p:cNvSpPr>
              <a:spLocks noChangeArrowheads="1"/>
            </p:cNvSpPr>
            <p:nvPr/>
          </p:nvSpPr>
          <p:spPr bwMode="auto">
            <a:xfrm flipH="1">
              <a:off x="1488" y="2448"/>
              <a:ext cx="672" cy="672"/>
            </a:xfrm>
            <a:prstGeom prst="parallelogram">
              <a:avLst>
                <a:gd name="adj" fmla="val 85861"/>
              </a:avLst>
            </a:prstGeom>
            <a:solidFill>
              <a:schemeClr val="folHlink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/>
            </a:p>
          </p:txBody>
        </p:sp>
        <p:graphicFrame>
          <p:nvGraphicFramePr>
            <p:cNvPr id="9243" name="Object 85"/>
            <p:cNvGraphicFramePr>
              <a:graphicFrameLocks noChangeAspect="1"/>
            </p:cNvGraphicFramePr>
            <p:nvPr/>
          </p:nvGraphicFramePr>
          <p:xfrm>
            <a:off x="1488" y="2400"/>
            <a:ext cx="252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6" name="Equation" r:id="rId9" imgW="8229600" imgH="6096000" progId="Equation.3">
                    <p:embed/>
                  </p:oleObj>
                </mc:Choice>
                <mc:Fallback>
                  <p:oleObj name="Equation" r:id="rId9" imgW="8229600" imgH="6096000" progId="Equation.3">
                    <p:embed/>
                    <p:pic>
                      <p:nvPicPr>
                        <p:cNvPr id="0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2400"/>
                          <a:ext cx="252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4" name="Object 86"/>
            <p:cNvGraphicFramePr>
              <a:graphicFrameLocks noChangeAspect="1"/>
            </p:cNvGraphicFramePr>
            <p:nvPr/>
          </p:nvGraphicFramePr>
          <p:xfrm>
            <a:off x="1584" y="2592"/>
            <a:ext cx="261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7" name="Equation" r:id="rId11" imgW="8534400" imgH="6096000" progId="Equation.3">
                    <p:embed/>
                  </p:oleObj>
                </mc:Choice>
                <mc:Fallback>
                  <p:oleObj name="Equation" r:id="rId11" imgW="8534400" imgH="6096000" progId="Equation.3">
                    <p:embed/>
                    <p:pic>
                      <p:nvPicPr>
                        <p:cNvPr id="0" name="Object 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2592"/>
                          <a:ext cx="261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5" name="Object 87"/>
            <p:cNvGraphicFramePr>
              <a:graphicFrameLocks noChangeAspect="1"/>
            </p:cNvGraphicFramePr>
            <p:nvPr/>
          </p:nvGraphicFramePr>
          <p:xfrm>
            <a:off x="1872" y="2928"/>
            <a:ext cx="270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8" name="Equation" r:id="rId13" imgW="8839200" imgH="6400800" progId="Equation.3">
                    <p:embed/>
                  </p:oleObj>
                </mc:Choice>
                <mc:Fallback>
                  <p:oleObj name="Equation" r:id="rId13" imgW="8839200" imgH="6400800" progId="Equation.3">
                    <p:embed/>
                    <p:pic>
                      <p:nvPicPr>
                        <p:cNvPr id="0" name="Object 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2928"/>
                          <a:ext cx="270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97" name="AutoShape 89"/>
          <p:cNvSpPr>
            <a:spLocks noChangeArrowheads="1"/>
          </p:cNvSpPr>
          <p:nvPr/>
        </p:nvSpPr>
        <p:spPr bwMode="auto">
          <a:xfrm>
            <a:off x="838200" y="4848225"/>
            <a:ext cx="2971800" cy="762000"/>
          </a:xfrm>
          <a:prstGeom prst="wedgeEllipseCallout">
            <a:avLst>
              <a:gd name="adj1" fmla="val 15222"/>
              <a:gd name="adj2" fmla="val -179792"/>
            </a:avLst>
          </a:prstGeom>
          <a:gradFill rotWithShape="0">
            <a:gsLst>
              <a:gs pos="0">
                <a:schemeClr val="bg1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Why is </a:t>
            </a:r>
            <a:r>
              <a:rPr lang="en-US" altLang="zh-CN" b="1" i="1">
                <a:latin typeface="Times New Roman" panose="02020603050405020304" charset="0"/>
                <a:ea typeface="宋体" panose="02010600030101010101" pitchFamily="2" charset="-122"/>
              </a:rPr>
              <a:t>u</a:t>
            </a:r>
            <a:r>
              <a:rPr lang="en-US" altLang="zh-CN" b="1" i="1" baseline="-25000">
                <a:latin typeface="Times New Roman" panose="02020603050405020304" charset="0"/>
                <a:ea typeface="宋体" panose="02010600030101010101" pitchFamily="2" charset="-122"/>
              </a:rPr>
              <a:t>ii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</a:rPr>
              <a:t> &gt; 0?</a:t>
            </a:r>
            <a:endParaRPr lang="en-US" altLang="zh-CN" b="1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43101" name="Group 93"/>
          <p:cNvGrpSpPr/>
          <p:nvPr/>
        </p:nvGrpSpPr>
        <p:grpSpPr bwMode="auto">
          <a:xfrm>
            <a:off x="3733800" y="3248025"/>
            <a:ext cx="3810000" cy="457200"/>
            <a:chOff x="2544" y="2736"/>
            <a:chExt cx="2400" cy="288"/>
          </a:xfrm>
        </p:grpSpPr>
        <p:graphicFrame>
          <p:nvGraphicFramePr>
            <p:cNvPr id="9238" name="Object 91"/>
            <p:cNvGraphicFramePr>
              <a:graphicFrameLocks noChangeAspect="1"/>
            </p:cNvGraphicFramePr>
            <p:nvPr/>
          </p:nvGraphicFramePr>
          <p:xfrm>
            <a:off x="2832" y="2736"/>
            <a:ext cx="816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9" name="Equation" r:id="rId15" imgW="15849600" imgH="4876800" progId="Equation.3">
                    <p:embed/>
                  </p:oleObj>
                </mc:Choice>
                <mc:Fallback>
                  <p:oleObj name="Equation" r:id="rId15" imgW="15849600" imgH="4876800" progId="Equation.3">
                    <p:embed/>
                    <p:pic>
                      <p:nvPicPr>
                        <p:cNvPr id="0" name="Object 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2736"/>
                          <a:ext cx="816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100" name="Text Box 92"/>
            <p:cNvSpPr txBox="1">
              <a:spLocks noChangeArrowheads="1"/>
            </p:cNvSpPr>
            <p:nvPr/>
          </p:nvSpPr>
          <p:spPr bwMode="auto">
            <a:xfrm>
              <a:off x="2544" y="2736"/>
              <a:ext cx="24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楷体_GB2312" charset="0"/>
                </a:rPr>
                <a:t>则</a:t>
              </a:r>
              <a:r>
                <a:rPr lang="en-US" altLang="zh-CN" b="1" dirty="0">
                  <a:latin typeface="楷体_GB2312" charset="0"/>
                </a:rPr>
                <a:t>         </a:t>
              </a:r>
              <a:r>
                <a:rPr lang="zh-CN" altLang="en-US" b="1" dirty="0">
                  <a:latin typeface="楷体_GB2312" charset="0"/>
                </a:rPr>
                <a:t>            仍是下三角阵</a:t>
              </a:r>
              <a:endParaRPr lang="en-US" altLang="zh-CN" b="1" dirty="0">
                <a:latin typeface="楷体_GB2312" charset="0"/>
              </a:endParaRPr>
            </a:p>
          </p:txBody>
        </p:sp>
      </p:grpSp>
      <p:grpSp>
        <p:nvGrpSpPr>
          <p:cNvPr id="43104" name="Group 96"/>
          <p:cNvGrpSpPr/>
          <p:nvPr/>
        </p:nvGrpSpPr>
        <p:grpSpPr bwMode="auto">
          <a:xfrm>
            <a:off x="4648200" y="3781425"/>
            <a:ext cx="1524000" cy="762000"/>
            <a:chOff x="2976" y="2976"/>
            <a:chExt cx="960" cy="480"/>
          </a:xfrm>
        </p:grpSpPr>
        <p:sp>
          <p:nvSpPr>
            <p:cNvPr id="43103" name="AutoShape 95" descr="再生纸"/>
            <p:cNvSpPr>
              <a:spLocks noChangeArrowheads="1"/>
            </p:cNvSpPr>
            <p:nvPr/>
          </p:nvSpPr>
          <p:spPr bwMode="auto">
            <a:xfrm>
              <a:off x="2976" y="2976"/>
              <a:ext cx="960" cy="480"/>
            </a:xfrm>
            <a:prstGeom prst="bevel">
              <a:avLst>
                <a:gd name="adj" fmla="val 6667"/>
              </a:avLst>
            </a:prstGeom>
            <a:blipFill dpi="0" rotWithShape="0">
              <a:blip r:embed="rId17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aphicFrame>
          <p:nvGraphicFramePr>
            <p:cNvPr id="9237" name="Object 94"/>
            <p:cNvGraphicFramePr>
              <a:graphicFrameLocks noChangeAspect="1"/>
            </p:cNvGraphicFramePr>
            <p:nvPr/>
          </p:nvGraphicFramePr>
          <p:xfrm>
            <a:off x="3072" y="3072"/>
            <a:ext cx="816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0" name="Equation" r:id="rId18" imgW="14020800" imgH="4876800" progId="Equation.3">
                    <p:embed/>
                  </p:oleObj>
                </mc:Choice>
                <mc:Fallback>
                  <p:oleObj name="Equation" r:id="rId18" imgW="14020800" imgH="4876800" progId="Equation.3">
                    <p:embed/>
                    <p:pic>
                      <p:nvPicPr>
                        <p:cNvPr id="0" name="Object 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3072"/>
                          <a:ext cx="816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110" name="Group 102"/>
          <p:cNvGrpSpPr/>
          <p:nvPr/>
        </p:nvGrpSpPr>
        <p:grpSpPr bwMode="auto">
          <a:xfrm>
            <a:off x="609600" y="4467225"/>
            <a:ext cx="8001000" cy="1058863"/>
            <a:chOff x="432" y="2928"/>
            <a:chExt cx="5040" cy="667"/>
          </a:xfrm>
        </p:grpSpPr>
        <p:graphicFrame>
          <p:nvGraphicFramePr>
            <p:cNvPr id="9231" name="Object 103"/>
            <p:cNvGraphicFramePr>
              <a:graphicFrameLocks noChangeAspect="1"/>
            </p:cNvGraphicFramePr>
            <p:nvPr/>
          </p:nvGraphicFramePr>
          <p:xfrm>
            <a:off x="4800" y="3072"/>
            <a:ext cx="624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1" name="Equation" r:id="rId20" imgW="13716000" imgH="4572000" progId="Equation.3">
                    <p:embed/>
                  </p:oleObj>
                </mc:Choice>
                <mc:Fallback>
                  <p:oleObj name="Equation" r:id="rId20" imgW="13716000" imgH="4572000" progId="Equation.3">
                    <p:embed/>
                    <p:pic>
                      <p:nvPicPr>
                        <p:cNvPr id="0" name="Object 1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3072"/>
                          <a:ext cx="624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232" name="Group 104"/>
            <p:cNvGrpSpPr/>
            <p:nvPr/>
          </p:nvGrpSpPr>
          <p:grpSpPr bwMode="auto">
            <a:xfrm>
              <a:off x="432" y="2928"/>
              <a:ext cx="5040" cy="667"/>
              <a:chOff x="336" y="192"/>
              <a:chExt cx="5040" cy="667"/>
            </a:xfrm>
          </p:grpSpPr>
          <p:sp>
            <p:nvSpPr>
              <p:cNvPr id="43113" name="AutoShape 105" descr="白色大理石"/>
              <p:cNvSpPr>
                <a:spLocks noChangeArrowheads="1"/>
              </p:cNvSpPr>
              <p:nvPr/>
            </p:nvSpPr>
            <p:spPr bwMode="auto">
              <a:xfrm>
                <a:off x="336" y="192"/>
                <a:ext cx="672" cy="384"/>
              </a:xfrm>
              <a:prstGeom prst="bevel">
                <a:avLst>
                  <a:gd name="adj" fmla="val 12500"/>
                </a:avLst>
              </a:prstGeom>
              <a:blipFill dpi="0" rotWithShape="0">
                <a:blip r:embed="rId22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kumimoji="0" lang="zh-CN" altLang="en-US" sz="2800" b="1">
                    <a:latin typeface="Times New Roman" panose="02020603050405020304" charset="0"/>
                    <a:ea typeface="宋体" panose="02010600030101010101" pitchFamily="2" charset="-122"/>
                    <a:cs typeface="楷体_GB2312" charset="0"/>
                  </a:rPr>
                  <a:t>定理</a:t>
                </a:r>
                <a:endParaRPr kumimoji="0" lang="en-US" altLang="zh-CN" sz="2800" b="1">
                  <a:latin typeface="Times New Roman" panose="02020603050405020304" charset="0"/>
                  <a:ea typeface="宋体" panose="02010600030101010101" pitchFamily="2" charset="-122"/>
                  <a:cs typeface="楷体_GB2312" charset="0"/>
                </a:endParaRPr>
              </a:p>
            </p:txBody>
          </p:sp>
          <p:sp>
            <p:nvSpPr>
              <p:cNvPr id="43114" name="Text Box 106"/>
              <p:cNvSpPr txBox="1">
                <a:spLocks noChangeArrowheads="1"/>
              </p:cNvSpPr>
              <p:nvPr/>
            </p:nvSpPr>
            <p:spPr bwMode="auto">
              <a:xfrm>
                <a:off x="336" y="336"/>
                <a:ext cx="5040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1"/>
                  <a:t>               </a:t>
                </a:r>
                <a:r>
                  <a:rPr lang="zh-CN" altLang="en-US" b="1"/>
                  <a:t>设矩阵</a:t>
                </a:r>
                <a:r>
                  <a:rPr lang="en-US" altLang="zh-CN" b="1" i="1"/>
                  <a:t>A</a:t>
                </a:r>
                <a:r>
                  <a:rPr lang="zh-CN" altLang="en-US" b="1"/>
                  <a:t>对称正定，则存在非奇异下三角阵</a:t>
                </a:r>
                <a:r>
                  <a:rPr lang="en-US" altLang="zh-CN" b="1"/>
                  <a:t>          </a:t>
                </a:r>
                <a:r>
                  <a:rPr lang="zh-CN" altLang="en-US" b="1"/>
                  <a:t>使得</a:t>
                </a:r>
                <a:endParaRPr lang="en-US" altLang="zh-CN" b="1"/>
              </a:p>
            </p:txBody>
          </p:sp>
        </p:grpSp>
        <p:graphicFrame>
          <p:nvGraphicFramePr>
            <p:cNvPr id="9233" name="Object 107"/>
            <p:cNvGraphicFramePr>
              <a:graphicFrameLocks noChangeAspect="1"/>
            </p:cNvGraphicFramePr>
            <p:nvPr/>
          </p:nvGraphicFramePr>
          <p:xfrm>
            <a:off x="912" y="3312"/>
            <a:ext cx="672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2" name="Equation" r:id="rId23" imgW="14325600" imgH="5486400" progId="Equation.3">
                    <p:embed/>
                  </p:oleObj>
                </mc:Choice>
                <mc:Fallback>
                  <p:oleObj name="Equation" r:id="rId23" imgW="14325600" imgH="5486400" progId="Equation.3">
                    <p:embed/>
                    <p:pic>
                      <p:nvPicPr>
                        <p:cNvPr id="0" name="Object 1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3312"/>
                          <a:ext cx="672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30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30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7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0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0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430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8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43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43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4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43" grpId="0" autoUpdateAnimBg="0"/>
      <p:bldP spid="43097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1"/>
          <p:cNvSpPr>
            <a:spLocks noChangeArrowheads="1"/>
          </p:cNvSpPr>
          <p:nvPr/>
        </p:nvSpPr>
        <p:spPr bwMode="auto">
          <a:xfrm>
            <a:off x="539750" y="5373688"/>
            <a:ext cx="82581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求解第</a:t>
            </a:r>
            <a:r>
              <a:rPr lang="en-US" altLang="zh-CN"/>
              <a:t>i</a:t>
            </a:r>
            <a:r>
              <a:rPr lang="zh-CN" altLang="en-US"/>
              <a:t>行和第</a:t>
            </a:r>
            <a:r>
              <a:rPr lang="en-US" altLang="zh-CN"/>
              <a:t>i</a:t>
            </a:r>
            <a:r>
              <a:rPr lang="zh-CN" altLang="en-US"/>
              <a:t>列的元素                </a:t>
            </a:r>
            <a:r>
              <a:rPr lang="en-US" altLang="zh-CN"/>
              <a:t>                          </a:t>
            </a:r>
            <a:r>
              <a:rPr lang="en-US" altLang="zh-CN" i="1"/>
              <a:t>j</a:t>
            </a:r>
            <a:r>
              <a:rPr lang="en-US" altLang="zh-CN"/>
              <a:t> = </a:t>
            </a:r>
            <a:r>
              <a:rPr lang="en-US" altLang="zh-CN" i="1"/>
              <a:t>i</a:t>
            </a:r>
            <a:r>
              <a:rPr lang="en-US" altLang="zh-CN"/>
              <a:t>+1, …, </a:t>
            </a:r>
            <a:r>
              <a:rPr lang="en-US" altLang="zh-CN" i="1"/>
              <a:t>n</a:t>
            </a:r>
            <a:endParaRPr lang="en-US" altLang="zh-CN"/>
          </a:p>
        </p:txBody>
      </p:sp>
      <p:sp>
        <p:nvSpPr>
          <p:cNvPr id="11266" name="Rectangle 20"/>
          <p:cNvSpPr>
            <a:spLocks noChangeArrowheads="1"/>
          </p:cNvSpPr>
          <p:nvPr/>
        </p:nvSpPr>
        <p:spPr bwMode="auto">
          <a:xfrm>
            <a:off x="468313" y="4724400"/>
            <a:ext cx="7851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求解第</a:t>
            </a:r>
            <a:r>
              <a:rPr lang="en-US" altLang="zh-CN"/>
              <a:t>i</a:t>
            </a:r>
            <a:r>
              <a:rPr lang="zh-CN" altLang="en-US"/>
              <a:t>个对角元</a:t>
            </a:r>
            <a:r>
              <a:rPr lang="en-US" altLang="zh-CN"/>
              <a:t>                                                 </a:t>
            </a:r>
            <a:r>
              <a:rPr lang="en-US" altLang="zh-CN" i="1"/>
              <a:t>i</a:t>
            </a:r>
            <a:r>
              <a:rPr lang="en-US" altLang="zh-CN"/>
              <a:t> = 2, …, </a:t>
            </a:r>
            <a:r>
              <a:rPr lang="en-US" altLang="zh-CN" i="1"/>
              <a:t>n</a:t>
            </a:r>
            <a:r>
              <a:rPr lang="en-US" altLang="zh-CN">
                <a:sym typeface="Symbol" panose="05050102010706020507" pitchFamily="18" charset="2"/>
              </a:rPr>
              <a:t>1</a:t>
            </a:r>
            <a:endParaRPr lang="en-US" altLang="zh-CN"/>
          </a:p>
        </p:txBody>
      </p:sp>
      <p:sp>
        <p:nvSpPr>
          <p:cNvPr id="11267" name="Rectangle 19"/>
          <p:cNvSpPr>
            <a:spLocks noChangeArrowheads="1"/>
          </p:cNvSpPr>
          <p:nvPr/>
        </p:nvSpPr>
        <p:spPr bwMode="auto">
          <a:xfrm>
            <a:off x="468313" y="4076700"/>
            <a:ext cx="76755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求解第</a:t>
            </a:r>
            <a:r>
              <a:rPr lang="en-US" altLang="zh-CN"/>
              <a:t>1</a:t>
            </a:r>
            <a:r>
              <a:rPr lang="zh-CN" altLang="en-US"/>
              <a:t>行和第</a:t>
            </a:r>
            <a:r>
              <a:rPr lang="en-US" altLang="zh-CN"/>
              <a:t>1</a:t>
            </a:r>
            <a:r>
              <a:rPr lang="zh-CN" altLang="en-US"/>
              <a:t>列的元素                       </a:t>
            </a:r>
            <a:r>
              <a:rPr lang="en-US" altLang="zh-CN"/>
              <a:t>             </a:t>
            </a:r>
            <a:r>
              <a:rPr lang="en-US" altLang="zh-CN" i="1"/>
              <a:t>j</a:t>
            </a:r>
            <a:r>
              <a:rPr lang="en-US" altLang="zh-CN"/>
              <a:t> = 2, …, </a:t>
            </a:r>
            <a:r>
              <a:rPr lang="en-US" altLang="zh-CN" i="1"/>
              <a:t>n</a:t>
            </a:r>
            <a:endParaRPr lang="en-US" altLang="zh-CN"/>
          </a:p>
        </p:txBody>
      </p:sp>
      <p:sp>
        <p:nvSpPr>
          <p:cNvPr id="881667" name="Rectangle 3"/>
          <p:cNvSpPr>
            <a:spLocks noChangeArrowheads="1"/>
          </p:cNvSpPr>
          <p:nvPr/>
        </p:nvSpPr>
        <p:spPr bwMode="auto">
          <a:xfrm>
            <a:off x="323850" y="333375"/>
            <a:ext cx="8351838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0000"/>
                </a:solidFill>
                <a:ea typeface="黑体" panose="02010609060101010101" pitchFamily="49" charset="-122"/>
              </a:rPr>
              <a:t>平方根法（</a:t>
            </a:r>
            <a:r>
              <a:rPr lang="en-US" altLang="zh-CN" sz="2800" b="1">
                <a:solidFill>
                  <a:srgbClr val="000000"/>
                </a:solidFill>
                <a:ea typeface="黑体" panose="02010609060101010101" pitchFamily="49" charset="-122"/>
              </a:rPr>
              <a:t>Cholesky </a:t>
            </a:r>
            <a:r>
              <a:rPr lang="zh-CN" altLang="en-US" sz="2800" b="1">
                <a:ea typeface="黑体" panose="02010609060101010101" pitchFamily="49" charset="-122"/>
              </a:rPr>
              <a:t>分解）的计算</a:t>
            </a:r>
            <a:endParaRPr lang="zh-CN" altLang="en-US" sz="2800" b="1">
              <a:ea typeface="黑体" panose="02010609060101010101" pitchFamily="49" charset="-122"/>
            </a:endParaRPr>
          </a:p>
        </p:txBody>
      </p:sp>
      <p:sp>
        <p:nvSpPr>
          <p:cNvPr id="881672" name="Rectangle 8"/>
          <p:cNvSpPr>
            <a:spLocks noChangeArrowheads="1"/>
          </p:cNvSpPr>
          <p:nvPr/>
        </p:nvSpPr>
        <p:spPr bwMode="auto">
          <a:xfrm>
            <a:off x="755650" y="1054100"/>
            <a:ext cx="6130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00CC"/>
                </a:solidFill>
                <a:ea typeface="黑体" panose="02010609060101010101" pitchFamily="49" charset="-122"/>
              </a:rPr>
              <a:t>直接比较等式两边的元素</a:t>
            </a:r>
            <a:endParaRPr lang="zh-CN" altLang="en-US" b="1">
              <a:ea typeface="黑体" panose="02010609060101010101" pitchFamily="49" charset="-122"/>
            </a:endParaRPr>
          </a:p>
        </p:txBody>
      </p:sp>
      <p:graphicFrame>
        <p:nvGraphicFramePr>
          <p:cNvPr id="881673" name="Object 9"/>
          <p:cNvGraphicFramePr>
            <a:graphicFrameLocks noChangeAspect="1"/>
          </p:cNvGraphicFramePr>
          <p:nvPr/>
        </p:nvGraphicFramePr>
        <p:xfrm>
          <a:off x="450850" y="1484313"/>
          <a:ext cx="8545513" cy="174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" name="Equation" r:id="rId1" imgW="4352290" imgH="887095" progId="Equation.3">
                  <p:embed/>
                </p:oleObj>
              </mc:Choice>
              <mc:Fallback>
                <p:oleObj name="Equation" r:id="rId1" imgW="4352290" imgH="88709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" y="1484313"/>
                        <a:ext cx="8545513" cy="174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" name="Object 20"/>
          <p:cNvGraphicFramePr>
            <a:graphicFrameLocks noChangeAspect="1"/>
          </p:cNvGraphicFramePr>
          <p:nvPr/>
        </p:nvGraphicFramePr>
        <p:xfrm>
          <a:off x="3563938" y="3429000"/>
          <a:ext cx="140017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7" name="Equation" r:id="rId3" imgW="15240000" imgH="6096000" progId="Equation.3">
                  <p:embed/>
                </p:oleObj>
              </mc:Choice>
              <mc:Fallback>
                <p:oleObj name="Equation" r:id="rId3" imgW="15240000" imgH="60960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3429000"/>
                        <a:ext cx="1400175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Object 21"/>
          <p:cNvGraphicFramePr>
            <a:graphicFrameLocks noChangeAspect="1"/>
          </p:cNvGraphicFramePr>
          <p:nvPr/>
        </p:nvGraphicFramePr>
        <p:xfrm>
          <a:off x="3997325" y="4149725"/>
          <a:ext cx="1295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name="Equation" r:id="rId5" imgW="18288000" imgH="5791200" progId="Equation.3">
                  <p:embed/>
                </p:oleObj>
              </mc:Choice>
              <mc:Fallback>
                <p:oleObj name="Equation" r:id="rId5" imgW="18288000" imgH="57912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7325" y="4149725"/>
                        <a:ext cx="1295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Object 22"/>
          <p:cNvGraphicFramePr>
            <a:graphicFrameLocks noChangeAspect="1"/>
          </p:cNvGraphicFramePr>
          <p:nvPr/>
        </p:nvGraphicFramePr>
        <p:xfrm>
          <a:off x="4071938" y="4633913"/>
          <a:ext cx="1939925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9" name="Equation" r:id="rId7" imgW="29260800" imgH="8534400" progId="Equation.3">
                  <p:embed/>
                </p:oleObj>
              </mc:Choice>
              <mc:Fallback>
                <p:oleObj name="Equation" r:id="rId7" imgW="29260800" imgH="85344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1938" y="4633913"/>
                        <a:ext cx="1939925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5" name="Object 23"/>
          <p:cNvGraphicFramePr>
            <a:graphicFrameLocks noChangeAspect="1"/>
          </p:cNvGraphicFramePr>
          <p:nvPr/>
        </p:nvGraphicFramePr>
        <p:xfrm>
          <a:off x="4113213" y="5365750"/>
          <a:ext cx="254635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0" name="Equation" r:id="rId9" imgW="38404800" imgH="7315200" progId="Equation.3">
                  <p:embed/>
                </p:oleObj>
              </mc:Choice>
              <mc:Fallback>
                <p:oleObj name="Equation" r:id="rId9" imgW="38404800" imgH="73152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3213" y="5365750"/>
                        <a:ext cx="254635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6" name="Object 24"/>
          <p:cNvGraphicFramePr>
            <a:graphicFrameLocks noChangeAspect="1"/>
          </p:cNvGraphicFramePr>
          <p:nvPr/>
        </p:nvGraphicFramePr>
        <p:xfrm>
          <a:off x="3563938" y="6165850"/>
          <a:ext cx="212090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" name="Equation" r:id="rId11" imgW="32004000" imgH="8534400" progId="Equation.3">
                  <p:embed/>
                </p:oleObj>
              </mc:Choice>
              <mc:Fallback>
                <p:oleObj name="Equation" r:id="rId11" imgW="32004000" imgH="85344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6165850"/>
                        <a:ext cx="2120900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7" name="Rectangle 22"/>
          <p:cNvSpPr>
            <a:spLocks noChangeArrowheads="1"/>
          </p:cNvSpPr>
          <p:nvPr/>
        </p:nvSpPr>
        <p:spPr bwMode="auto">
          <a:xfrm>
            <a:off x="433388" y="3500438"/>
            <a:ext cx="23383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求解第一个元素</a:t>
            </a:r>
            <a:endParaRPr lang="en-US" altLang="en-US"/>
          </a:p>
        </p:txBody>
      </p:sp>
      <p:sp>
        <p:nvSpPr>
          <p:cNvPr id="11278" name="Rectangle 23"/>
          <p:cNvSpPr>
            <a:spLocks noChangeArrowheads="1"/>
          </p:cNvSpPr>
          <p:nvPr/>
        </p:nvSpPr>
        <p:spPr bwMode="auto">
          <a:xfrm>
            <a:off x="539750" y="6135688"/>
            <a:ext cx="26463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求解最后一个元素</a:t>
            </a:r>
            <a:endParaRPr lang="en-US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81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81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1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5" grpId="0"/>
      <p:bldP spid="11266" grpId="0"/>
      <p:bldP spid="11267" grpId="0"/>
      <p:bldP spid="881667" grpId="0"/>
      <p:bldP spid="881672" grpId="0"/>
      <p:bldP spid="11277" grpId="0"/>
      <p:bldP spid="1127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2" name="Rectangle 6"/>
          <p:cNvSpPr>
            <a:spLocks noChangeArrowheads="1"/>
          </p:cNvSpPr>
          <p:nvPr/>
        </p:nvSpPr>
        <p:spPr bwMode="auto">
          <a:xfrm>
            <a:off x="4114800" y="0"/>
            <a:ext cx="5029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 b="1"/>
              <a:t>§2 Matrix Factorization – Tridiagonal System</a:t>
            </a:r>
            <a:endParaRPr lang="en-US" altLang="zh-CN" sz="1800" b="1"/>
          </a:p>
        </p:txBody>
      </p:sp>
      <p:sp>
        <p:nvSpPr>
          <p:cNvPr id="45063" name="Text Box 7"/>
          <p:cNvSpPr txBox="1">
            <a:spLocks noChangeArrowheads="1"/>
          </p:cNvSpPr>
          <p:nvPr/>
        </p:nvSpPr>
        <p:spPr bwMode="auto">
          <a:xfrm>
            <a:off x="304804" y="304800"/>
            <a:ext cx="883919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chemeClr val="accent2"/>
                </a:solidFill>
                <a:latin typeface="楷体_GB2312" charset="0"/>
                <a:sym typeface="Wingdings" panose="05000000000000000000" pitchFamily="2" charset="2"/>
              </a:rPr>
              <a:t> </a:t>
            </a:r>
            <a:r>
              <a:rPr lang="zh-CN" altLang="en-US" sz="2800" b="1" dirty="0">
                <a:latin typeface="楷体_GB2312" charset="0"/>
              </a:rPr>
              <a:t>追赶法解</a:t>
            </a:r>
            <a:r>
              <a:rPr lang="zh-CN" altLang="en-US" sz="2800" b="1" dirty="0">
                <a:solidFill>
                  <a:schemeClr val="accent2"/>
                </a:solidFill>
                <a:latin typeface="楷体_GB2312" charset="0"/>
              </a:rPr>
              <a:t>三对角</a:t>
            </a:r>
            <a:r>
              <a:rPr lang="zh-CN" altLang="en-US" sz="2800" b="1" dirty="0">
                <a:latin typeface="楷体_GB2312" charset="0"/>
              </a:rPr>
              <a:t>方程组</a:t>
            </a:r>
            <a:r>
              <a:rPr lang="en-US" altLang="zh-CN" sz="2800" dirty="0"/>
              <a:t> </a:t>
            </a:r>
            <a:endParaRPr lang="en-US" altLang="zh-CN" sz="2800" dirty="0"/>
          </a:p>
          <a:p>
            <a:pPr eaLnBrk="1" hangingPunct="1"/>
            <a:r>
              <a:rPr lang="en-US" altLang="zh-CN" sz="2800" b="1" dirty="0">
                <a:solidFill>
                  <a:srgbClr val="008000"/>
                </a:solidFill>
                <a:latin typeface="Arial" panose="020B0604020202020204" pitchFamily="34" charset="0"/>
              </a:rPr>
              <a:t>/* </a:t>
            </a:r>
            <a:r>
              <a:rPr lang="en-US" altLang="zh-CN" sz="2800" b="1" dirty="0" err="1">
                <a:solidFill>
                  <a:srgbClr val="008000"/>
                </a:solidFill>
                <a:latin typeface="Arial" panose="020B0604020202020204" pitchFamily="34" charset="0"/>
              </a:rPr>
              <a:t>Crout</a:t>
            </a:r>
            <a:r>
              <a:rPr lang="en-US" altLang="zh-CN" sz="2800" b="1" dirty="0">
                <a:solidFill>
                  <a:srgbClr val="008000"/>
                </a:solidFill>
                <a:latin typeface="Arial" panose="020B0604020202020204" pitchFamily="34" charset="0"/>
              </a:rPr>
              <a:t> Reduction for Tridiagonal Linear System */</a:t>
            </a:r>
            <a:endParaRPr lang="en-US" altLang="zh-CN" sz="2800" b="1" dirty="0">
              <a:latin typeface="楷体_GB2312" charset="0"/>
            </a:endParaRPr>
          </a:p>
        </p:txBody>
      </p:sp>
      <p:grpSp>
        <p:nvGrpSpPr>
          <p:cNvPr id="45064" name="Group 8"/>
          <p:cNvGrpSpPr/>
          <p:nvPr/>
        </p:nvGrpSpPr>
        <p:grpSpPr bwMode="auto">
          <a:xfrm>
            <a:off x="2362200" y="1143000"/>
            <a:ext cx="3886200" cy="1806575"/>
            <a:chOff x="2112" y="672"/>
            <a:chExt cx="2448" cy="1138"/>
          </a:xfrm>
        </p:grpSpPr>
        <p:graphicFrame>
          <p:nvGraphicFramePr>
            <p:cNvPr id="11287" name="Object 9"/>
            <p:cNvGraphicFramePr>
              <a:graphicFrameLocks noChangeAspect="1"/>
            </p:cNvGraphicFramePr>
            <p:nvPr/>
          </p:nvGraphicFramePr>
          <p:xfrm>
            <a:off x="2112" y="672"/>
            <a:ext cx="2448" cy="1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2" name="Equation" r:id="rId1" imgW="60350400" imgH="28041600" progId="Equation.3">
                    <p:embed/>
                  </p:oleObj>
                </mc:Choice>
                <mc:Fallback>
                  <p:oleObj name="Equation" r:id="rId1" imgW="60350400" imgH="280416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672"/>
                          <a:ext cx="2448" cy="1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66" name="Oval 10"/>
            <p:cNvSpPr>
              <a:spLocks noChangeArrowheads="1"/>
            </p:cNvSpPr>
            <p:nvPr/>
          </p:nvSpPr>
          <p:spPr bwMode="auto">
            <a:xfrm>
              <a:off x="2256" y="1344"/>
              <a:ext cx="240" cy="336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5067" name="Oval 11"/>
            <p:cNvSpPr>
              <a:spLocks noChangeArrowheads="1"/>
            </p:cNvSpPr>
            <p:nvPr/>
          </p:nvSpPr>
          <p:spPr bwMode="auto">
            <a:xfrm>
              <a:off x="3264" y="816"/>
              <a:ext cx="240" cy="336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45068" name="Line 12"/>
            <p:cNvSpPr>
              <a:spLocks noChangeShapeType="1"/>
            </p:cNvSpPr>
            <p:nvPr/>
          </p:nvSpPr>
          <p:spPr bwMode="auto">
            <a:xfrm>
              <a:off x="3024" y="1152"/>
              <a:ext cx="384" cy="24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5069" name="Line 13"/>
            <p:cNvSpPr>
              <a:spLocks noChangeShapeType="1"/>
            </p:cNvSpPr>
            <p:nvPr/>
          </p:nvSpPr>
          <p:spPr bwMode="auto">
            <a:xfrm>
              <a:off x="2688" y="1152"/>
              <a:ext cx="384" cy="24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5070" name="Line 14"/>
            <p:cNvSpPr>
              <a:spLocks noChangeShapeType="1"/>
            </p:cNvSpPr>
            <p:nvPr/>
          </p:nvSpPr>
          <p:spPr bwMode="auto">
            <a:xfrm>
              <a:off x="2352" y="1152"/>
              <a:ext cx="384" cy="24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5071" name="Line 15"/>
            <p:cNvSpPr>
              <a:spLocks noChangeShapeType="1"/>
            </p:cNvSpPr>
            <p:nvPr/>
          </p:nvSpPr>
          <p:spPr bwMode="auto">
            <a:xfrm>
              <a:off x="3936" y="1200"/>
              <a:ext cx="0" cy="336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5072" name="Line 16"/>
            <p:cNvSpPr>
              <a:spLocks noChangeShapeType="1"/>
            </p:cNvSpPr>
            <p:nvPr/>
          </p:nvSpPr>
          <p:spPr bwMode="auto">
            <a:xfrm>
              <a:off x="4368" y="1200"/>
              <a:ext cx="0" cy="336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5073" name="Text Box 17"/>
          <p:cNvSpPr txBox="1">
            <a:spLocks noChangeArrowheads="1"/>
          </p:cNvSpPr>
          <p:nvPr/>
        </p:nvSpPr>
        <p:spPr bwMode="auto">
          <a:xfrm>
            <a:off x="533400" y="2895600"/>
            <a:ext cx="365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b="1" i="1">
                <a:solidFill>
                  <a:schemeClr val="accent2"/>
                </a:solidFill>
                <a:latin typeface="Times New Roman" panose="02020603050405020304" charset="0"/>
                <a:ea typeface="宋体" panose="02010600030101010101" pitchFamily="2" charset="-122"/>
                <a:cs typeface="楷体_GB2312" charset="0"/>
              </a:rPr>
              <a:t>Step 1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  <a:cs typeface="楷体_GB2312" charset="0"/>
              </a:rPr>
              <a:t>: </a:t>
            </a:r>
            <a:r>
              <a:rPr lang="zh-CN" altLang="en-US" b="1">
                <a:latin typeface="Times New Roman" panose="02020603050405020304" charset="0"/>
                <a:ea typeface="宋体" panose="02010600030101010101" pitchFamily="2" charset="-122"/>
                <a:cs typeface="楷体_GB2312" charset="0"/>
              </a:rPr>
              <a:t>对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  <a:cs typeface="楷体_GB2312" charset="0"/>
              </a:rPr>
              <a:t> </a:t>
            </a:r>
            <a:r>
              <a:rPr lang="en-US" altLang="zh-CN" b="1" i="1">
                <a:latin typeface="Times New Roman" panose="02020603050405020304" charset="0"/>
                <a:ea typeface="宋体" panose="02010600030101010101" pitchFamily="2" charset="-122"/>
                <a:cs typeface="楷体_GB2312" charset="0"/>
              </a:rPr>
              <a:t>A </a:t>
            </a:r>
            <a:r>
              <a:rPr lang="zh-CN" altLang="en-US" b="1">
                <a:latin typeface="Times New Roman" panose="02020603050405020304" charset="0"/>
                <a:ea typeface="宋体" panose="02010600030101010101" pitchFamily="2" charset="-122"/>
                <a:cs typeface="楷体_GB2312" charset="0"/>
              </a:rPr>
              <a:t>作</a:t>
            </a:r>
            <a:r>
              <a:rPr lang="en-US" altLang="zh-CN" b="1">
                <a:latin typeface="Times New Roman" panose="02020603050405020304" charset="0"/>
                <a:ea typeface="宋体" panose="02010600030101010101" pitchFamily="2" charset="-122"/>
                <a:cs typeface="楷体_GB2312" charset="0"/>
              </a:rPr>
              <a:t>Crout </a:t>
            </a:r>
            <a:r>
              <a:rPr lang="zh-CN" altLang="en-US" b="1">
                <a:latin typeface="Times New Roman" panose="02020603050405020304" charset="0"/>
                <a:ea typeface="宋体" panose="02010600030101010101" pitchFamily="2" charset="-122"/>
                <a:cs typeface="楷体_GB2312" charset="0"/>
              </a:rPr>
              <a:t>分解</a:t>
            </a:r>
            <a:endParaRPr lang="en-US" altLang="zh-CN" b="1">
              <a:latin typeface="Times New Roman" panose="02020603050405020304" charset="0"/>
              <a:ea typeface="宋体" panose="02010600030101010101" pitchFamily="2" charset="-122"/>
              <a:cs typeface="楷体_GB2312" charset="0"/>
            </a:endParaRPr>
          </a:p>
        </p:txBody>
      </p:sp>
      <p:grpSp>
        <p:nvGrpSpPr>
          <p:cNvPr id="45074" name="Group 18"/>
          <p:cNvGrpSpPr/>
          <p:nvPr/>
        </p:nvGrpSpPr>
        <p:grpSpPr bwMode="auto">
          <a:xfrm>
            <a:off x="1524000" y="3276600"/>
            <a:ext cx="4125913" cy="1752600"/>
            <a:chOff x="2208" y="864"/>
            <a:chExt cx="2599" cy="1104"/>
          </a:xfrm>
        </p:grpSpPr>
        <p:graphicFrame>
          <p:nvGraphicFramePr>
            <p:cNvPr id="11282" name="Object 19"/>
            <p:cNvGraphicFramePr>
              <a:graphicFrameLocks noChangeAspect="1"/>
            </p:cNvGraphicFramePr>
            <p:nvPr/>
          </p:nvGraphicFramePr>
          <p:xfrm>
            <a:off x="2208" y="864"/>
            <a:ext cx="2599" cy="1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3" name="Equation" r:id="rId3" imgW="71628000" imgH="28041600" progId="Equation.3">
                    <p:embed/>
                  </p:oleObj>
                </mc:Choice>
                <mc:Fallback>
                  <p:oleObj name="Equation" r:id="rId3" imgW="71628000" imgH="280416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" y="864"/>
                          <a:ext cx="2599" cy="11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6" name="Line 20"/>
            <p:cNvSpPr>
              <a:spLocks noChangeShapeType="1"/>
            </p:cNvSpPr>
            <p:nvPr/>
          </p:nvSpPr>
          <p:spPr bwMode="auto">
            <a:xfrm>
              <a:off x="2736" y="1152"/>
              <a:ext cx="624" cy="576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5077" name="Line 21"/>
            <p:cNvSpPr>
              <a:spLocks noChangeShapeType="1"/>
            </p:cNvSpPr>
            <p:nvPr/>
          </p:nvSpPr>
          <p:spPr bwMode="auto">
            <a:xfrm rot="367204">
              <a:off x="2637" y="1343"/>
              <a:ext cx="480" cy="384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5078" name="Line 22"/>
            <p:cNvSpPr>
              <a:spLocks noChangeShapeType="1"/>
            </p:cNvSpPr>
            <p:nvPr/>
          </p:nvSpPr>
          <p:spPr bwMode="auto">
            <a:xfrm>
              <a:off x="3792" y="1104"/>
              <a:ext cx="720" cy="672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45079" name="Line 23"/>
            <p:cNvSpPr>
              <a:spLocks noChangeShapeType="1"/>
            </p:cNvSpPr>
            <p:nvPr/>
          </p:nvSpPr>
          <p:spPr bwMode="auto">
            <a:xfrm rot="367204">
              <a:off x="4032" y="1152"/>
              <a:ext cx="480" cy="384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5080" name="Text Box 24"/>
          <p:cNvSpPr txBox="1">
            <a:spLocks noChangeArrowheads="1"/>
          </p:cNvSpPr>
          <p:nvPr/>
        </p:nvSpPr>
        <p:spPr bwMode="auto">
          <a:xfrm>
            <a:off x="5867400" y="3657600"/>
            <a:ext cx="2895600" cy="1077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b="1"/>
              <a:t>直接比较等式两边的元素，可得到计算公式。</a:t>
            </a:r>
            <a:endParaRPr lang="en-US" altLang="zh-CN" b="1"/>
          </a:p>
        </p:txBody>
      </p:sp>
      <p:grpSp>
        <p:nvGrpSpPr>
          <p:cNvPr id="45093" name="Group 37"/>
          <p:cNvGrpSpPr/>
          <p:nvPr/>
        </p:nvGrpSpPr>
        <p:grpSpPr bwMode="auto">
          <a:xfrm>
            <a:off x="533400" y="5029200"/>
            <a:ext cx="8229600" cy="690563"/>
            <a:chOff x="384" y="3168"/>
            <a:chExt cx="5184" cy="435"/>
          </a:xfrm>
        </p:grpSpPr>
        <p:sp>
          <p:nvSpPr>
            <p:cNvPr id="45081" name="Text Box 25"/>
            <p:cNvSpPr txBox="1">
              <a:spLocks noChangeArrowheads="1"/>
            </p:cNvSpPr>
            <p:nvPr/>
          </p:nvSpPr>
          <p:spPr bwMode="auto">
            <a:xfrm>
              <a:off x="384" y="3216"/>
              <a:ext cx="28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i="1">
                  <a:solidFill>
                    <a:schemeClr val="accent2"/>
                  </a:solidFill>
                </a:rPr>
                <a:t>Step 2</a:t>
              </a:r>
              <a:r>
                <a:rPr lang="en-US" altLang="zh-CN" b="1"/>
                <a:t>: </a:t>
              </a:r>
              <a:r>
                <a:rPr lang="zh-CN" altLang="en-US" b="1">
                  <a:solidFill>
                    <a:srgbClr val="FF0000"/>
                  </a:solidFill>
                </a:rPr>
                <a:t>追</a:t>
              </a:r>
              <a:r>
                <a:rPr lang="en-US" altLang="zh-CN" b="1"/>
                <a:t>——</a:t>
              </a:r>
              <a:r>
                <a:rPr lang="zh-CN" altLang="en-US" b="1"/>
                <a:t>即解</a:t>
              </a:r>
              <a:r>
                <a:rPr lang="en-US" altLang="zh-CN" b="1"/>
                <a:t>             </a:t>
              </a:r>
              <a:r>
                <a:rPr lang="zh-CN" altLang="en-US" b="1"/>
                <a:t>：</a:t>
              </a:r>
              <a:endParaRPr lang="en-US" altLang="zh-CN" b="1"/>
            </a:p>
          </p:txBody>
        </p:sp>
        <p:graphicFrame>
          <p:nvGraphicFramePr>
            <p:cNvPr id="11279" name="Object 26"/>
            <p:cNvGraphicFramePr>
              <a:graphicFrameLocks noChangeAspect="1"/>
            </p:cNvGraphicFramePr>
            <p:nvPr/>
          </p:nvGraphicFramePr>
          <p:xfrm>
            <a:off x="1992" y="3216"/>
            <a:ext cx="672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4" name="Equation" r:id="rId5" imgW="12801600" imgH="5486400" progId="Equation.3">
                    <p:embed/>
                  </p:oleObj>
                </mc:Choice>
                <mc:Fallback>
                  <p:oleObj name="Equation" r:id="rId5" imgW="12801600" imgH="548640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2" y="3216"/>
                          <a:ext cx="672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0" name="Object 27"/>
            <p:cNvGraphicFramePr>
              <a:graphicFrameLocks noChangeAspect="1"/>
            </p:cNvGraphicFramePr>
            <p:nvPr/>
          </p:nvGraphicFramePr>
          <p:xfrm>
            <a:off x="2736" y="3168"/>
            <a:ext cx="624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5" name="Equation" r:id="rId7" imgW="13716000" imgH="10363200" progId="Equation.3">
                    <p:embed/>
                  </p:oleObj>
                </mc:Choice>
                <mc:Fallback>
                  <p:oleObj name="Equation" r:id="rId7" imgW="13716000" imgH="1036320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3168"/>
                          <a:ext cx="624" cy="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1" name="Object 28"/>
            <p:cNvGraphicFramePr>
              <a:graphicFrameLocks noChangeAspect="1"/>
            </p:cNvGraphicFramePr>
            <p:nvPr/>
          </p:nvGraphicFramePr>
          <p:xfrm>
            <a:off x="3360" y="3168"/>
            <a:ext cx="2208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6" name="Equation" r:id="rId9" imgW="47244000" imgH="10363200" progId="Equation.3">
                    <p:embed/>
                  </p:oleObj>
                </mc:Choice>
                <mc:Fallback>
                  <p:oleObj name="Equation" r:id="rId9" imgW="47244000" imgH="1036320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3168"/>
                          <a:ext cx="2208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5094" name="Group 38"/>
          <p:cNvGrpSpPr/>
          <p:nvPr/>
        </p:nvGrpSpPr>
        <p:grpSpPr bwMode="auto">
          <a:xfrm>
            <a:off x="533400" y="5791200"/>
            <a:ext cx="8001000" cy="482600"/>
            <a:chOff x="384" y="3648"/>
            <a:chExt cx="5040" cy="304"/>
          </a:xfrm>
        </p:grpSpPr>
        <p:sp>
          <p:nvSpPr>
            <p:cNvPr id="45087" name="Text Box 31"/>
            <p:cNvSpPr txBox="1">
              <a:spLocks noChangeArrowheads="1"/>
            </p:cNvSpPr>
            <p:nvPr/>
          </p:nvSpPr>
          <p:spPr bwMode="auto">
            <a:xfrm>
              <a:off x="384" y="3648"/>
              <a:ext cx="28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i="1">
                  <a:solidFill>
                    <a:schemeClr val="accent2"/>
                  </a:solidFill>
                </a:rPr>
                <a:t>Step 3</a:t>
              </a:r>
              <a:r>
                <a:rPr lang="en-US" altLang="zh-CN" b="1"/>
                <a:t>: </a:t>
              </a:r>
              <a:r>
                <a:rPr lang="zh-CN" altLang="en-US" b="1">
                  <a:solidFill>
                    <a:srgbClr val="FF0000"/>
                  </a:solidFill>
                </a:rPr>
                <a:t>赶</a:t>
              </a:r>
              <a:r>
                <a:rPr lang="en-US" altLang="zh-CN" b="1"/>
                <a:t>——</a:t>
              </a:r>
              <a:r>
                <a:rPr lang="zh-CN" altLang="en-US" b="1"/>
                <a:t>即解</a:t>
              </a:r>
              <a:r>
                <a:rPr lang="en-US" altLang="zh-CN" b="1"/>
                <a:t>             </a:t>
              </a:r>
              <a:r>
                <a:rPr lang="zh-CN" altLang="en-US" b="1"/>
                <a:t>：</a:t>
              </a:r>
              <a:endParaRPr lang="en-US" altLang="zh-CN" b="1"/>
            </a:p>
          </p:txBody>
        </p:sp>
        <p:graphicFrame>
          <p:nvGraphicFramePr>
            <p:cNvPr id="11276" name="Object 35"/>
            <p:cNvGraphicFramePr>
              <a:graphicFrameLocks noChangeAspect="1"/>
            </p:cNvGraphicFramePr>
            <p:nvPr/>
          </p:nvGraphicFramePr>
          <p:xfrm>
            <a:off x="1984" y="3696"/>
            <a:ext cx="672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7" name="Equation" r:id="rId11" imgW="12801600" imgH="4876800" progId="Equation.3">
                    <p:embed/>
                  </p:oleObj>
                </mc:Choice>
                <mc:Fallback>
                  <p:oleObj name="Equation" r:id="rId11" imgW="12801600" imgH="487680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4" y="3696"/>
                          <a:ext cx="672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7" name="Object 36"/>
            <p:cNvGraphicFramePr>
              <a:graphicFrameLocks noChangeAspect="1"/>
            </p:cNvGraphicFramePr>
            <p:nvPr/>
          </p:nvGraphicFramePr>
          <p:xfrm>
            <a:off x="2736" y="3696"/>
            <a:ext cx="2688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8" name="Equation" r:id="rId13" imgW="62484000" imgH="5486400" progId="Equation.3">
                    <p:embed/>
                  </p:oleObj>
                </mc:Choice>
                <mc:Fallback>
                  <p:oleObj name="Equation" r:id="rId13" imgW="62484000" imgH="5486400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3696"/>
                          <a:ext cx="2688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095" name="AutoShape 39"/>
          <p:cNvSpPr>
            <a:spLocks noChangeArrowheads="1"/>
          </p:cNvSpPr>
          <p:nvPr/>
        </p:nvSpPr>
        <p:spPr bwMode="auto">
          <a:xfrm>
            <a:off x="2667000" y="2286000"/>
            <a:ext cx="4876800" cy="1676400"/>
          </a:xfrm>
          <a:prstGeom prst="wedgeEllipseCallout">
            <a:avLst>
              <a:gd name="adj1" fmla="val -41602"/>
              <a:gd name="adj2" fmla="val 70926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tIns="0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zh-CN" altLang="en-US" b="1"/>
              <a:t>与</a:t>
            </a:r>
            <a:r>
              <a:rPr lang="en-US" altLang="zh-CN" b="1"/>
              <a:t>G.E.</a:t>
            </a:r>
            <a:r>
              <a:rPr lang="zh-CN" altLang="en-US" b="1"/>
              <a:t>类似，一旦</a:t>
            </a:r>
            <a:endParaRPr lang="en-US" altLang="zh-CN" b="1"/>
          </a:p>
          <a:p>
            <a:pPr algn="ctr" eaLnBrk="1" hangingPunct="1">
              <a:lnSpc>
                <a:spcPct val="90000"/>
              </a:lnSpc>
            </a:pPr>
            <a:r>
              <a:rPr lang="en-US" altLang="zh-CN" b="1" i="1">
                <a:sym typeface="Symbol" panose="05050102010706020507" pitchFamily="18" charset="2"/>
              </a:rPr>
              <a:t></a:t>
            </a:r>
            <a:r>
              <a:rPr lang="en-US" altLang="zh-CN" b="1" i="1" baseline="-25000">
                <a:sym typeface="Symbol" panose="05050102010706020507" pitchFamily="18" charset="2"/>
              </a:rPr>
              <a:t>i </a:t>
            </a:r>
            <a:r>
              <a:rPr lang="en-US" altLang="zh-CN" b="1">
                <a:sym typeface="Symbol" panose="05050102010706020507" pitchFamily="18" charset="2"/>
              </a:rPr>
              <a:t>= 0</a:t>
            </a:r>
            <a:r>
              <a:rPr lang="en-US" altLang="zh-CN" b="1"/>
              <a:t> </a:t>
            </a:r>
            <a:r>
              <a:rPr lang="zh-CN" altLang="en-US" b="1"/>
              <a:t>则算法中断，故并非任何</a:t>
            </a:r>
            <a:endParaRPr lang="en-US" altLang="zh-CN" b="1"/>
          </a:p>
          <a:p>
            <a:pPr algn="ctr" eaLnBrk="1" hangingPunct="1">
              <a:lnSpc>
                <a:spcPct val="90000"/>
              </a:lnSpc>
            </a:pPr>
            <a:r>
              <a:rPr lang="zh-CN" altLang="en-US" b="1"/>
              <a:t>三对角阵都可以用此方法分解。</a:t>
            </a:r>
            <a:endParaRPr lang="en-US" altLang="zh-CN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50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50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0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0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450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3" grpId="0" autoUpdateAnimBg="0"/>
      <p:bldP spid="45073" grpId="0" autoUpdateAnimBg="0"/>
      <p:bldP spid="45080" grpId="0" autoUpdateAnimBg="0"/>
      <p:bldP spid="45095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4114800" y="0"/>
            <a:ext cx="5029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 b="1"/>
              <a:t>§2 Matrix Factorization – Tridiagonal System</a:t>
            </a:r>
            <a:endParaRPr lang="en-US" altLang="zh-CN" sz="1800" b="1"/>
          </a:p>
        </p:txBody>
      </p:sp>
      <p:grpSp>
        <p:nvGrpSpPr>
          <p:cNvPr id="46090" name="Group 10"/>
          <p:cNvGrpSpPr/>
          <p:nvPr/>
        </p:nvGrpSpPr>
        <p:grpSpPr bwMode="auto">
          <a:xfrm>
            <a:off x="603250" y="2228850"/>
            <a:ext cx="8001000" cy="1416050"/>
            <a:chOff x="384" y="192"/>
            <a:chExt cx="5040" cy="892"/>
          </a:xfrm>
        </p:grpSpPr>
        <p:grpSp>
          <p:nvGrpSpPr>
            <p:cNvPr id="12292" name="Group 5"/>
            <p:cNvGrpSpPr/>
            <p:nvPr/>
          </p:nvGrpSpPr>
          <p:grpSpPr bwMode="auto">
            <a:xfrm>
              <a:off x="384" y="192"/>
              <a:ext cx="5040" cy="892"/>
              <a:chOff x="336" y="192"/>
              <a:chExt cx="5040" cy="892"/>
            </a:xfrm>
          </p:grpSpPr>
          <p:sp>
            <p:nvSpPr>
              <p:cNvPr id="46086" name="AutoShape 6" descr="白色大理石"/>
              <p:cNvSpPr>
                <a:spLocks noChangeArrowheads="1"/>
              </p:cNvSpPr>
              <p:nvPr/>
            </p:nvSpPr>
            <p:spPr bwMode="auto">
              <a:xfrm>
                <a:off x="336" y="192"/>
                <a:ext cx="672" cy="384"/>
              </a:xfrm>
              <a:prstGeom prst="bevel">
                <a:avLst>
                  <a:gd name="adj" fmla="val 12500"/>
                </a:avLst>
              </a:prstGeom>
              <a:blipFill dpi="0" rotWithShape="0">
                <a:blip r:embed="rId1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kumimoji="0" lang="zh-CN" altLang="en-US" sz="2800" b="1">
                    <a:latin typeface="Times New Roman" panose="02020603050405020304" charset="0"/>
                    <a:ea typeface="宋体" panose="02010600030101010101" pitchFamily="2" charset="-122"/>
                    <a:cs typeface="楷体_GB2312" charset="0"/>
                  </a:rPr>
                  <a:t>定理</a:t>
                </a:r>
                <a:endParaRPr kumimoji="0" lang="en-US" altLang="zh-CN" sz="2800" b="1">
                  <a:latin typeface="Times New Roman" panose="02020603050405020304" charset="0"/>
                  <a:ea typeface="宋体" panose="02010600030101010101" pitchFamily="2" charset="-122"/>
                  <a:cs typeface="楷体_GB2312" charset="0"/>
                </a:endParaRPr>
              </a:p>
            </p:txBody>
          </p:sp>
          <p:sp>
            <p:nvSpPr>
              <p:cNvPr id="46087" name="Text Box 7"/>
              <p:cNvSpPr txBox="1">
                <a:spLocks noChangeArrowheads="1"/>
              </p:cNvSpPr>
              <p:nvPr/>
            </p:nvSpPr>
            <p:spPr bwMode="auto">
              <a:xfrm>
                <a:off x="336" y="336"/>
                <a:ext cx="5040" cy="7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1"/>
                  <a:t>               </a:t>
                </a:r>
                <a:r>
                  <a:rPr lang="zh-CN" altLang="en-US" b="1"/>
                  <a:t>若</a:t>
                </a:r>
                <a:r>
                  <a:rPr lang="en-US" altLang="zh-CN" b="1"/>
                  <a:t> </a:t>
                </a:r>
                <a:r>
                  <a:rPr lang="en-US" altLang="zh-CN" b="1" i="1"/>
                  <a:t>A</a:t>
                </a:r>
                <a:r>
                  <a:rPr lang="en-US" altLang="zh-CN" b="1"/>
                  <a:t> </a:t>
                </a:r>
                <a:r>
                  <a:rPr lang="zh-CN" altLang="en-US" b="1"/>
                  <a:t>为</a:t>
                </a:r>
                <a:r>
                  <a:rPr lang="zh-CN" altLang="en-US" b="1">
                    <a:solidFill>
                      <a:schemeClr val="accent2"/>
                    </a:solidFill>
                  </a:rPr>
                  <a:t>对角占优</a:t>
                </a:r>
                <a:r>
                  <a:rPr lang="en-US" altLang="zh-CN" b="1"/>
                  <a:t> </a:t>
                </a:r>
                <a:r>
                  <a:rPr lang="en-US" altLang="zh-CN" sz="2000" b="1">
                    <a:solidFill>
                      <a:srgbClr val="008000"/>
                    </a:solidFill>
                    <a:latin typeface="Arial" panose="020B0604020202020204" pitchFamily="34" charset="0"/>
                  </a:rPr>
                  <a:t>/* diagonally dominant */ </a:t>
                </a:r>
                <a:r>
                  <a:rPr lang="zh-CN" altLang="en-US" b="1"/>
                  <a:t>的三对角阵，且满足</a:t>
                </a:r>
                <a:r>
                  <a:rPr lang="en-US" altLang="zh-CN" b="1"/>
                  <a:t>                                                                 </a:t>
                </a:r>
                <a:r>
                  <a:rPr lang="zh-CN" altLang="en-US" b="1"/>
                  <a:t>，则追赶法可解以</a:t>
                </a:r>
                <a:r>
                  <a:rPr lang="en-US" altLang="zh-CN" b="1"/>
                  <a:t> </a:t>
                </a:r>
                <a:r>
                  <a:rPr lang="en-US" altLang="zh-CN" b="1" i="1"/>
                  <a:t>A</a:t>
                </a:r>
                <a:r>
                  <a:rPr lang="en-US" altLang="zh-CN" b="1"/>
                  <a:t> </a:t>
                </a:r>
                <a:r>
                  <a:rPr lang="zh-CN" altLang="en-US" b="1"/>
                  <a:t>为系数矩阵的方程组。</a:t>
                </a:r>
                <a:endParaRPr lang="en-US" altLang="zh-CN" b="1"/>
              </a:p>
            </p:txBody>
          </p:sp>
        </p:grpSp>
        <p:graphicFrame>
          <p:nvGraphicFramePr>
            <p:cNvPr id="12293" name="Object 9"/>
            <p:cNvGraphicFramePr>
              <a:graphicFrameLocks noChangeAspect="1"/>
            </p:cNvGraphicFramePr>
            <p:nvPr/>
          </p:nvGraphicFramePr>
          <p:xfrm>
            <a:off x="1440" y="576"/>
            <a:ext cx="3070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4" name="Equation" r:id="rId2" imgW="65227200" imgH="5486400" progId="Equation.3">
                    <p:embed/>
                  </p:oleObj>
                </mc:Choice>
                <mc:Fallback>
                  <p:oleObj name="Equation" r:id="rId2" imgW="65227200" imgH="54864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576"/>
                          <a:ext cx="3070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60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"/>
            <a:ext cx="4578343" cy="354707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6154" y="-7471"/>
            <a:ext cx="4747846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599294"/>
            <a:ext cx="3769601" cy="32348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35" y="6907234"/>
            <a:ext cx="4876800" cy="7053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11162" r="13491"/>
          <a:stretch>
            <a:fillRect/>
          </a:stretch>
        </p:blipFill>
        <p:spPr>
          <a:xfrm>
            <a:off x="152399" y="0"/>
            <a:ext cx="4114801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241" y="0"/>
            <a:ext cx="43828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97" y="0"/>
            <a:ext cx="4555703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029200" y="1676400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改进平方根法（接上页）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0" y="4482"/>
            <a:ext cx="5094370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l="1706" r="6158"/>
          <a:stretch>
            <a:fillRect/>
          </a:stretch>
        </p:blipFill>
        <p:spPr>
          <a:xfrm>
            <a:off x="5029199" y="35859"/>
            <a:ext cx="411480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82" y="0"/>
            <a:ext cx="47798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1946" y="0"/>
            <a:ext cx="332010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2400" y="1447800"/>
            <a:ext cx="6545430" cy="507107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5800" y="1337274"/>
            <a:ext cx="6387329" cy="54811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b="57843"/>
          <a:stretch>
            <a:fillRect/>
          </a:stretch>
        </p:blipFill>
        <p:spPr>
          <a:xfrm>
            <a:off x="7883" y="39581"/>
            <a:ext cx="9144000" cy="204809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 t="42158"/>
          <a:stretch>
            <a:fillRect/>
          </a:stretch>
        </p:blipFill>
        <p:spPr>
          <a:xfrm>
            <a:off x="0" y="2011680"/>
            <a:ext cx="9144000" cy="281009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/>
          <a:srcRect b="57843"/>
          <a:stretch>
            <a:fillRect/>
          </a:stretch>
        </p:blipFill>
        <p:spPr>
          <a:xfrm>
            <a:off x="7883" y="39581"/>
            <a:ext cx="9144000" cy="204809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48460"/>
            <a:ext cx="9144000" cy="21813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338330"/>
            <a:ext cx="9144000" cy="21813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2247</Words>
  <Application>WPS 演示</Application>
  <PresentationFormat>全屏显示(4:3)</PresentationFormat>
  <Paragraphs>211</Paragraphs>
  <Slides>21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58</vt:i4>
      </vt:variant>
      <vt:variant>
        <vt:lpstr>幻灯片标题</vt:lpstr>
      </vt:variant>
      <vt:variant>
        <vt:i4>21</vt:i4>
      </vt:variant>
    </vt:vector>
  </HeadingPairs>
  <TitlesOfParts>
    <vt:vector size="92" baseType="lpstr">
      <vt:lpstr>Arial</vt:lpstr>
      <vt:lpstr>宋体</vt:lpstr>
      <vt:lpstr>Wingdings</vt:lpstr>
      <vt:lpstr>Times New Roman</vt:lpstr>
      <vt:lpstr>楷体_GB2312</vt:lpstr>
      <vt:lpstr>新宋体</vt:lpstr>
      <vt:lpstr>Symbol</vt:lpstr>
      <vt:lpstr>黑体</vt:lpstr>
      <vt:lpstr>Wingdings 2</vt:lpstr>
      <vt:lpstr>微软雅黑</vt:lpstr>
      <vt:lpstr>Arial Unicode MS</vt:lpstr>
      <vt:lpstr>Calibri</vt:lpstr>
      <vt:lpstr>Office Theme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三 角 分 解 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[Insert name of your demo] Preparation Plan for 3rd-year Review</dc:title>
  <dc:creator>Frank</dc:creator>
  <cp:lastModifiedBy>太极熊</cp:lastModifiedBy>
  <cp:revision>2134</cp:revision>
  <dcterms:created xsi:type="dcterms:W3CDTF">2006-08-16T00:00:00Z</dcterms:created>
  <dcterms:modified xsi:type="dcterms:W3CDTF">2025-05-26T07:21:26Z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DC01C424092A42FE92E7D1E9DA4353D7_12</vt:lpwstr>
  </property>
  <property fmtid="{D5CDD505-2E9C-101B-9397-08002B2CF9AE}" pid="3" name="KSOProductBuildVer">
    <vt:lpwstr>2052-12.1.0.21171</vt:lpwstr>
  </property>
</Properties>
</file>
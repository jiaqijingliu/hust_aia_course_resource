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audio1.bin" ContentType="audio/unknown"/>
  <Override PartName="/ppt/media/audio2.bin" ContentType="audio/unknown"/>
  <Override PartName="/ppt/media/audio3.bin" ContentType="audio/unknown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audio4.bin" ContentType="audio/unknown"/>
  <Override PartName="/ppt/media/audio5.bin" ContentType="audio/unknown"/>
  <Override PartName="/ppt/media/audio6.bin" ContentType="audio/unknown"/>
  <Override PartName="/ppt/media/audio7.bin" ContentType="audio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74" r:id="rId2"/>
    <p:sldId id="327" r:id="rId3"/>
    <p:sldId id="328" r:id="rId4"/>
    <p:sldId id="311" r:id="rId5"/>
    <p:sldId id="312" r:id="rId6"/>
    <p:sldId id="313" r:id="rId7"/>
    <p:sldId id="314" r:id="rId8"/>
    <p:sldId id="324" r:id="rId9"/>
    <p:sldId id="323" r:id="rId10"/>
    <p:sldId id="315" r:id="rId11"/>
    <p:sldId id="316" r:id="rId12"/>
    <p:sldId id="317" r:id="rId13"/>
    <p:sldId id="325" r:id="rId14"/>
    <p:sldId id="318" r:id="rId15"/>
    <p:sldId id="301" r:id="rId16"/>
    <p:sldId id="302" r:id="rId17"/>
    <p:sldId id="303" r:id="rId18"/>
    <p:sldId id="305" r:id="rId19"/>
    <p:sldId id="326" r:id="rId20"/>
    <p:sldId id="375" r:id="rId21"/>
    <p:sldId id="3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84028"/>
    <a:srgbClr val="EFFB00"/>
    <a:srgbClr val="90840D"/>
    <a:srgbClr val="EAFBAD"/>
    <a:srgbClr val="8E8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84"/>
    <p:restoredTop sz="91355"/>
  </p:normalViewPr>
  <p:slideViewPr>
    <p:cSldViewPr>
      <p:cViewPr>
        <p:scale>
          <a:sx n="98" d="100"/>
          <a:sy n="98" d="100"/>
        </p:scale>
        <p:origin x="36" y="3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739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D66DB-C2F0-5D40-8755-10827CC9A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22A34-9B82-404B-82DF-21D368102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latin typeface="Times New Roman" pitchFamily="18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98270-F5E7-C24C-A909-D861848CC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1468C4D-3EBD-134D-AF20-F7D0DBD17D98}" type="slidenum">
              <a:rPr lang="en-US" altLang="zh-CN" sz="1200" b="0">
                <a:ea typeface="宋体" panose="02010600030101010101" pitchFamily="2" charset="-122"/>
              </a:rPr>
              <a:pPr eaLnBrk="1" hangingPunct="1"/>
              <a:t>2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1329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103B1-70BE-A140-AF23-00C3B3703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A282D-4C1F-A741-A687-9E40617F7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latin typeface="Times New Roman" pitchFamily="18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E3713-F903-B64C-B000-964C9229A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33B2ACF-D332-F049-AD6D-D7FA80B73270}" type="slidenum">
              <a:rPr lang="en-US" altLang="zh-CN" sz="1200" b="0">
                <a:ea typeface="宋体" panose="02010600030101010101" pitchFamily="2" charset="-122"/>
              </a:rPr>
              <a:pPr eaLnBrk="1" hangingPunct="1"/>
              <a:t>3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2540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830AB85A-998E-3A40-8E36-5E2FBA3550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C844D20-ECF9-F045-A8DD-1735071F6956}" type="slidenum">
              <a:rPr lang="en-US" altLang="zh-CN" sz="1200" b="0">
                <a:ea typeface="宋体" panose="02010600030101010101" pitchFamily="2" charset="-122"/>
              </a:rPr>
              <a:pPr eaLnBrk="1" hangingPunct="1"/>
              <a:t>7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A89DD816-9BA8-EA41-8BF9-6ED8BA02B5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166A1EA3-7C4E-BF45-8C41-F1D6752A8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Times New Roman" pitchFamily="18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3369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5BCD0016-A484-6E43-ADF8-26CD8E8D43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096DE36-977A-D54B-B2FC-4872113DA8EE}" type="slidenum">
              <a:rPr lang="en-US" altLang="zh-CN" sz="1200" b="0">
                <a:ea typeface="宋体" panose="02010600030101010101" pitchFamily="2" charset="-122"/>
              </a:rPr>
              <a:pPr eaLnBrk="1" hangingPunct="1"/>
              <a:t>8</a:t>
            </a:fld>
            <a:endParaRPr lang="en-US" altLang="zh-CN" sz="1200" b="0">
              <a:ea typeface="宋体" panose="02010600030101010101" pitchFamily="2" charset="-122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7F6165BF-EE01-DE4F-9D1B-4A87F3094B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05A60A43-B95E-BF42-BE61-9D6EF5852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Times New Roman" pitchFamily="18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8712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14313"/>
            <a:ext cx="7315200" cy="85248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1066800"/>
            <a:ext cx="43815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33900" y="1066800"/>
            <a:ext cx="4381500" cy="24765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33900" y="3695700"/>
            <a:ext cx="4381500" cy="24765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F0AF61-0224-A14A-8B54-02A403E6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DBB09-401A-AD47-A65D-776FF8D385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68850" y="6019800"/>
            <a:ext cx="4375150" cy="457200"/>
          </a:xfrm>
        </p:spPr>
        <p:txBody>
          <a:bodyPr/>
          <a:lstStyle>
            <a:lvl1pPr>
              <a:defRPr/>
            </a:lvl1pPr>
          </a:lstStyle>
          <a:p>
            <a:fld id="{5634BA5A-EA1A-5B4C-B0AE-CD6F6362F3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428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14313"/>
            <a:ext cx="7315200" cy="85248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0" y="1066800"/>
            <a:ext cx="8915400" cy="5105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152AE-D373-C248-84F9-B915240594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C2735-DA92-9F44-BA5E-4C5354227B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68850" y="6019800"/>
            <a:ext cx="4375150" cy="457200"/>
          </a:xfrm>
        </p:spPr>
        <p:txBody>
          <a:bodyPr/>
          <a:lstStyle>
            <a:lvl1pPr>
              <a:defRPr/>
            </a:lvl1pPr>
          </a:lstStyle>
          <a:p>
            <a:fld id="{823798DF-49B9-3844-A4BA-4A09B894E7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6676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9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2.emf"/><Relationship Id="rId3" Type="http://schemas.openxmlformats.org/officeDocument/2006/relationships/audio" Target="../media/audio2.bin"/><Relationship Id="rId7" Type="http://schemas.openxmlformats.org/officeDocument/2006/relationships/image" Target="../media/image6.emf"/><Relationship Id="rId12" Type="http://schemas.openxmlformats.org/officeDocument/2006/relationships/image" Target="../media/image9.emf"/><Relationship Id="rId17" Type="http://schemas.openxmlformats.org/officeDocument/2006/relationships/oleObject" Target="../embeddings/oleObject9.bin"/><Relationship Id="rId2" Type="http://schemas.openxmlformats.org/officeDocument/2006/relationships/audio" Target="../media/audio1.bin"/><Relationship Id="rId16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4.emf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8.emf"/><Relationship Id="rId4" Type="http://schemas.openxmlformats.org/officeDocument/2006/relationships/audio" Target="../media/audio3.bin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18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20.emf"/><Relationship Id="rId2" Type="http://schemas.openxmlformats.org/officeDocument/2006/relationships/audio" Target="../media/audio3.bin"/><Relationship Id="rId16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11" Type="http://schemas.openxmlformats.org/officeDocument/2006/relationships/image" Target="../media/image17.emf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19.emf"/><Relationship Id="rId10" Type="http://schemas.openxmlformats.org/officeDocument/2006/relationships/oleObject" Target="../embeddings/oleObject13.bin"/><Relationship Id="rId4" Type="http://schemas.openxmlformats.org/officeDocument/2006/relationships/image" Target="../media/image13.emf"/><Relationship Id="rId9" Type="http://schemas.openxmlformats.org/officeDocument/2006/relationships/image" Target="../media/image16.jpeg"/><Relationship Id="rId14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4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audio" Target="../media/audio2.bin"/><Relationship Id="rId7" Type="http://schemas.openxmlformats.org/officeDocument/2006/relationships/image" Target="../media/image31.emf"/><Relationship Id="rId2" Type="http://schemas.openxmlformats.org/officeDocument/2006/relationships/audio" Target="../media/audio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3.emf"/><Relationship Id="rId5" Type="http://schemas.openxmlformats.org/officeDocument/2006/relationships/image" Target="../media/image30.e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audio" Target="../media/audio2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7.emf"/><Relationship Id="rId2" Type="http://schemas.openxmlformats.org/officeDocument/2006/relationships/audio" Target="../media/audio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6.emf"/><Relationship Id="rId4" Type="http://schemas.openxmlformats.org/officeDocument/2006/relationships/audio" Target="../media/audio4.bin"/><Relationship Id="rId9" Type="http://schemas.openxmlformats.org/officeDocument/2006/relationships/oleObject" Target="../embeddings/oleObject3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38.emf"/><Relationship Id="rId7" Type="http://schemas.openxmlformats.org/officeDocument/2006/relationships/image" Target="../media/image40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45.emf"/><Relationship Id="rId18" Type="http://schemas.openxmlformats.org/officeDocument/2006/relationships/image" Target="../media/image48.emf"/><Relationship Id="rId3" Type="http://schemas.openxmlformats.org/officeDocument/2006/relationships/audio" Target="../media/audio5.bin"/><Relationship Id="rId21" Type="http://schemas.openxmlformats.org/officeDocument/2006/relationships/oleObject" Target="../embeddings/oleObject45.bin"/><Relationship Id="rId7" Type="http://schemas.openxmlformats.org/officeDocument/2006/relationships/audio" Target="../media/audio2.bin"/><Relationship Id="rId12" Type="http://schemas.openxmlformats.org/officeDocument/2006/relationships/oleObject" Target="../embeddings/oleObject41.bin"/><Relationship Id="rId17" Type="http://schemas.openxmlformats.org/officeDocument/2006/relationships/oleObject" Target="../embeddings/oleObject43.bin"/><Relationship Id="rId2" Type="http://schemas.openxmlformats.org/officeDocument/2006/relationships/audio" Target="../media/audio3.bin"/><Relationship Id="rId16" Type="http://schemas.openxmlformats.org/officeDocument/2006/relationships/image" Target="../media/image47.emf"/><Relationship Id="rId20" Type="http://schemas.openxmlformats.org/officeDocument/2006/relationships/image" Target="../media/image49.emf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7.bin"/><Relationship Id="rId11" Type="http://schemas.openxmlformats.org/officeDocument/2006/relationships/image" Target="../media/image44.emf"/><Relationship Id="rId5" Type="http://schemas.openxmlformats.org/officeDocument/2006/relationships/audio" Target="../media/audio4.bin"/><Relationship Id="rId15" Type="http://schemas.openxmlformats.org/officeDocument/2006/relationships/oleObject" Target="../embeddings/oleObject42.bin"/><Relationship Id="rId23" Type="http://schemas.openxmlformats.org/officeDocument/2006/relationships/oleObject" Target="../embeddings/oleObject46.bin"/><Relationship Id="rId10" Type="http://schemas.openxmlformats.org/officeDocument/2006/relationships/oleObject" Target="../embeddings/oleObject40.bin"/><Relationship Id="rId19" Type="http://schemas.openxmlformats.org/officeDocument/2006/relationships/oleObject" Target="../embeddings/oleObject44.bin"/><Relationship Id="rId4" Type="http://schemas.openxmlformats.org/officeDocument/2006/relationships/audio" Target="../media/audio6.bin"/><Relationship Id="rId9" Type="http://schemas.openxmlformats.org/officeDocument/2006/relationships/image" Target="../media/image43.emf"/><Relationship Id="rId14" Type="http://schemas.openxmlformats.org/officeDocument/2006/relationships/image" Target="../media/image46.jpeg"/><Relationship Id="rId22" Type="http://schemas.openxmlformats.org/officeDocument/2006/relationships/image" Target="../media/image50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55.emf"/><Relationship Id="rId18" Type="http://schemas.openxmlformats.org/officeDocument/2006/relationships/oleObject" Target="../embeddings/oleObject51.bin"/><Relationship Id="rId3" Type="http://schemas.openxmlformats.org/officeDocument/2006/relationships/audio" Target="../media/audio3.bin"/><Relationship Id="rId21" Type="http://schemas.openxmlformats.org/officeDocument/2006/relationships/image" Target="../media/image59.emf"/><Relationship Id="rId7" Type="http://schemas.openxmlformats.org/officeDocument/2006/relationships/image" Target="../media/image52.jpeg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57.emf"/><Relationship Id="rId2" Type="http://schemas.openxmlformats.org/officeDocument/2006/relationships/audio" Target="../media/audio6.bin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4.jpeg"/><Relationship Id="rId5" Type="http://schemas.openxmlformats.org/officeDocument/2006/relationships/audio" Target="../media/audio5.bin"/><Relationship Id="rId15" Type="http://schemas.openxmlformats.org/officeDocument/2006/relationships/image" Target="../media/image56.emf"/><Relationship Id="rId10" Type="http://schemas.openxmlformats.org/officeDocument/2006/relationships/image" Target="../media/image53.emf"/><Relationship Id="rId19" Type="http://schemas.openxmlformats.org/officeDocument/2006/relationships/image" Target="../media/image58.emf"/><Relationship Id="rId4" Type="http://schemas.openxmlformats.org/officeDocument/2006/relationships/audio" Target="../media/audio7.bin"/><Relationship Id="rId9" Type="http://schemas.openxmlformats.org/officeDocument/2006/relationships/oleObject" Target="../embeddings/oleObject47.bin"/><Relationship Id="rId14" Type="http://schemas.openxmlformats.org/officeDocument/2006/relationships/oleObject" Target="../embeddings/oleObject4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63.emf"/><Relationship Id="rId18" Type="http://schemas.openxmlformats.org/officeDocument/2006/relationships/oleObject" Target="../embeddings/oleObject59.bin"/><Relationship Id="rId3" Type="http://schemas.openxmlformats.org/officeDocument/2006/relationships/audio" Target="../media/audio3.bin"/><Relationship Id="rId7" Type="http://schemas.openxmlformats.org/officeDocument/2006/relationships/image" Target="../media/image60.e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65.emf"/><Relationship Id="rId2" Type="http://schemas.openxmlformats.org/officeDocument/2006/relationships/audio" Target="../media/audio6.bin"/><Relationship Id="rId16" Type="http://schemas.openxmlformats.org/officeDocument/2006/relationships/oleObject" Target="../embeddings/oleObject58.bin"/><Relationship Id="rId20" Type="http://schemas.openxmlformats.org/officeDocument/2006/relationships/image" Target="../media/image67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62.emf"/><Relationship Id="rId5" Type="http://schemas.openxmlformats.org/officeDocument/2006/relationships/image" Target="../media/image54.jpeg"/><Relationship Id="rId15" Type="http://schemas.openxmlformats.org/officeDocument/2006/relationships/image" Target="../media/image64.emf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66.emf"/><Relationship Id="rId4" Type="http://schemas.openxmlformats.org/officeDocument/2006/relationships/audio" Target="../media/audio4.bin"/><Relationship Id="rId9" Type="http://schemas.openxmlformats.org/officeDocument/2006/relationships/image" Target="../media/image61.emf"/><Relationship Id="rId14" Type="http://schemas.openxmlformats.org/officeDocument/2006/relationships/oleObject" Target="../embeddings/oleObject5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image" Target="../media/image54.jpeg"/><Relationship Id="rId18" Type="http://schemas.openxmlformats.org/officeDocument/2006/relationships/oleObject" Target="../embeddings/oleObject65.bin"/><Relationship Id="rId3" Type="http://schemas.openxmlformats.org/officeDocument/2006/relationships/audio" Target="../media/audio7.bin"/><Relationship Id="rId21" Type="http://schemas.openxmlformats.org/officeDocument/2006/relationships/image" Target="../media/image58.emf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70.emf"/><Relationship Id="rId17" Type="http://schemas.openxmlformats.org/officeDocument/2006/relationships/image" Target="../media/image72.emf"/><Relationship Id="rId2" Type="http://schemas.openxmlformats.org/officeDocument/2006/relationships/audio" Target="../media/audio3.bin"/><Relationship Id="rId16" Type="http://schemas.openxmlformats.org/officeDocument/2006/relationships/oleObject" Target="../embeddings/oleObject64.bin"/><Relationship Id="rId20" Type="http://schemas.openxmlformats.org/officeDocument/2006/relationships/oleObject" Target="../embeddings/oleObject5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jpeg"/><Relationship Id="rId11" Type="http://schemas.openxmlformats.org/officeDocument/2006/relationships/oleObject" Target="../embeddings/oleObject62.bin"/><Relationship Id="rId5" Type="http://schemas.openxmlformats.org/officeDocument/2006/relationships/audio" Target="../media/audio4.bin"/><Relationship Id="rId15" Type="http://schemas.openxmlformats.org/officeDocument/2006/relationships/image" Target="../media/image71.emf"/><Relationship Id="rId23" Type="http://schemas.openxmlformats.org/officeDocument/2006/relationships/image" Target="../media/image74.emf"/><Relationship Id="rId10" Type="http://schemas.openxmlformats.org/officeDocument/2006/relationships/image" Target="../media/image69.emf"/><Relationship Id="rId19" Type="http://schemas.openxmlformats.org/officeDocument/2006/relationships/image" Target="../media/image73.emf"/><Relationship Id="rId4" Type="http://schemas.openxmlformats.org/officeDocument/2006/relationships/audio" Target="../media/audio6.bin"/><Relationship Id="rId9" Type="http://schemas.openxmlformats.org/officeDocument/2006/relationships/oleObject" Target="../embeddings/oleObject61.bin"/><Relationship Id="rId14" Type="http://schemas.openxmlformats.org/officeDocument/2006/relationships/oleObject" Target="../embeddings/oleObject63.bin"/><Relationship Id="rId22" Type="http://schemas.openxmlformats.org/officeDocument/2006/relationships/oleObject" Target="../embeddings/oleObject6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audio" Target="../media/audio5.bin"/><Relationship Id="rId7" Type="http://schemas.openxmlformats.org/officeDocument/2006/relationships/oleObject" Target="../embeddings/oleObject67.bin"/><Relationship Id="rId2" Type="http://schemas.openxmlformats.org/officeDocument/2006/relationships/audio" Target="../media/audio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jpeg"/><Relationship Id="rId5" Type="http://schemas.openxmlformats.org/officeDocument/2006/relationships/audio" Target="../media/audio4.bin"/><Relationship Id="rId4" Type="http://schemas.openxmlformats.org/officeDocument/2006/relationships/audio" Target="../media/audio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8.emf"/><Relationship Id="rId18" Type="http://schemas.openxmlformats.org/officeDocument/2006/relationships/oleObject" Target="../embeddings/oleObject73.bin"/><Relationship Id="rId3" Type="http://schemas.openxmlformats.org/officeDocument/2006/relationships/audio" Target="../media/audio3.bin"/><Relationship Id="rId21" Type="http://schemas.openxmlformats.org/officeDocument/2006/relationships/image" Target="../media/image82.emf"/><Relationship Id="rId7" Type="http://schemas.openxmlformats.org/officeDocument/2006/relationships/image" Target="../media/image67.jpeg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80.emf"/><Relationship Id="rId2" Type="http://schemas.openxmlformats.org/officeDocument/2006/relationships/audio" Target="../media/audio6.bin"/><Relationship Id="rId16" Type="http://schemas.openxmlformats.org/officeDocument/2006/relationships/oleObject" Target="../embeddings/oleObject72.bin"/><Relationship Id="rId20" Type="http://schemas.openxmlformats.org/officeDocument/2006/relationships/oleObject" Target="../embeddings/oleObject74.bin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4.bin"/><Relationship Id="rId11" Type="http://schemas.openxmlformats.org/officeDocument/2006/relationships/image" Target="../media/image77.emf"/><Relationship Id="rId5" Type="http://schemas.openxmlformats.org/officeDocument/2006/relationships/audio" Target="../media/audio7.bin"/><Relationship Id="rId15" Type="http://schemas.openxmlformats.org/officeDocument/2006/relationships/image" Target="../media/image79.emf"/><Relationship Id="rId23" Type="http://schemas.openxmlformats.org/officeDocument/2006/relationships/image" Target="../media/image83.emf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81.emf"/><Relationship Id="rId4" Type="http://schemas.openxmlformats.org/officeDocument/2006/relationships/audio" Target="../media/audio2.bin"/><Relationship Id="rId9" Type="http://schemas.openxmlformats.org/officeDocument/2006/relationships/image" Target="../media/image76.emf"/><Relationship Id="rId14" Type="http://schemas.openxmlformats.org/officeDocument/2006/relationships/oleObject" Target="../embeddings/oleObject71.bin"/><Relationship Id="rId22" Type="http://schemas.openxmlformats.org/officeDocument/2006/relationships/oleObject" Target="../embeddings/oleObject75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解线性方程组的迭代法</a:t>
            </a:r>
            <a:endParaRPr lang="en-US" sz="36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95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>
            <a:extLst>
              <a:ext uri="{FF2B5EF4-FFF2-40B4-BE49-F238E27FC236}">
                <a16:creationId xmlns:a16="http://schemas.microsoft.com/office/drawing/2014/main" id="{F822176C-510A-D341-BADE-072BCF8B2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341438"/>
            <a:ext cx="7772400" cy="3095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/>
              <a:t>求解含有多个未知量</a:t>
            </a:r>
            <a:r>
              <a:rPr lang="en-US" altLang="zh-CN" sz="2800" i="1"/>
              <a:t>x</a:t>
            </a:r>
            <a:r>
              <a:rPr lang="en-US" altLang="zh-CN" sz="2800" baseline="-25000"/>
              <a:t>1</a:t>
            </a:r>
            <a:r>
              <a:rPr lang="en-US" altLang="zh-CN" sz="2800"/>
              <a:t>, </a:t>
            </a:r>
            <a:r>
              <a:rPr lang="en-US" altLang="zh-CN" sz="2800" i="1"/>
              <a:t>x</a:t>
            </a:r>
            <a:r>
              <a:rPr lang="en-US" altLang="zh-CN" sz="2800" baseline="-25000"/>
              <a:t>2</a:t>
            </a:r>
            <a:r>
              <a:rPr lang="en-US" altLang="zh-CN" sz="2800"/>
              <a:t>, …, </a:t>
            </a:r>
            <a:r>
              <a:rPr lang="en-US" altLang="zh-CN" sz="2800" i="1"/>
              <a:t>x</a:t>
            </a:r>
            <a:r>
              <a:rPr lang="en-US" altLang="zh-CN" sz="2800" baseline="-25000"/>
              <a:t>n</a:t>
            </a:r>
            <a:r>
              <a:rPr lang="zh-CN" altLang="en-US" sz="2800"/>
              <a:t>的线性方程组</a:t>
            </a:r>
            <a:endParaRPr lang="en-US" altLang="zh-CN" sz="2800"/>
          </a:p>
          <a:p>
            <a:pPr eaLnBrk="1" hangingPunct="1"/>
            <a:endParaRPr lang="en-US" altLang="zh-CN" sz="2800"/>
          </a:p>
          <a:p>
            <a:pPr eaLnBrk="1" hangingPunct="1"/>
            <a:endParaRPr lang="en-US" altLang="zh-CN" sz="2800"/>
          </a:p>
          <a:p>
            <a:pPr eaLnBrk="1" hangingPunct="1"/>
            <a:endParaRPr lang="en-US" altLang="zh-CN" sz="2800"/>
          </a:p>
        </p:txBody>
      </p:sp>
      <p:sp>
        <p:nvSpPr>
          <p:cNvPr id="665605" name="Rectangle 5">
            <a:extLst>
              <a:ext uri="{FF2B5EF4-FFF2-40B4-BE49-F238E27FC236}">
                <a16:creationId xmlns:a16="http://schemas.microsoft.com/office/drawing/2014/main" id="{91AF7B05-140B-D248-B526-51F219F33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2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aphicFrame>
        <p:nvGraphicFramePr>
          <p:cNvPr id="3075" name="Object 4">
            <a:extLst>
              <a:ext uri="{FF2B5EF4-FFF2-40B4-BE49-F238E27FC236}">
                <a16:creationId xmlns:a16="http://schemas.microsoft.com/office/drawing/2014/main" id="{0AA8AF97-39BC-7E49-87BF-2FDEB8F5B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2133600"/>
          <a:ext cx="4248150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767500" imgH="21653500" progId="Equation.3">
                  <p:embed/>
                </p:oleObj>
              </mc:Choice>
              <mc:Fallback>
                <p:oleObj name="Equation" r:id="rId3" imgW="44767500" imgH="21653500" progId="Equation.3">
                  <p:embed/>
                  <p:pic>
                    <p:nvPicPr>
                      <p:cNvPr id="3075" name="Object 4">
                        <a:extLst>
                          <a:ext uri="{FF2B5EF4-FFF2-40B4-BE49-F238E27FC236}">
                            <a16:creationId xmlns:a16="http://schemas.microsoft.com/office/drawing/2014/main" id="{0AA8AF97-39BC-7E49-87BF-2FDEB8F5BC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133600"/>
                        <a:ext cx="4248150" cy="203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8B836541-FA8B-2241-BDAC-D2DB4DCEE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30213"/>
            <a:ext cx="792480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en-US" sz="3200">
                <a:solidFill>
                  <a:srgbClr val="008000"/>
                </a:solidFill>
                <a:latin typeface="Arial" panose="020B0604020202020204" pitchFamily="34" charset="0"/>
              </a:rPr>
              <a:t>上次课程回顾</a:t>
            </a:r>
            <a:endParaRPr lang="en-US" altLang="zh-CN" sz="32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077" name="Object 4">
            <a:extLst>
              <a:ext uri="{FF2B5EF4-FFF2-40B4-BE49-F238E27FC236}">
                <a16:creationId xmlns:a16="http://schemas.microsoft.com/office/drawing/2014/main" id="{48F8C9EE-0557-0B44-85D0-E7BDE9E1EA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2388" y="4919663"/>
          <a:ext cx="6537325" cy="201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76600" imgH="1016000" progId="Equation.3">
                  <p:embed/>
                </p:oleObj>
              </mc:Choice>
              <mc:Fallback>
                <p:oleObj name="Equation" r:id="rId5" imgW="3276600" imgH="1016000" progId="Equation.3">
                  <p:embed/>
                  <p:pic>
                    <p:nvPicPr>
                      <p:cNvPr id="3077" name="Object 4">
                        <a:extLst>
                          <a:ext uri="{FF2B5EF4-FFF2-40B4-BE49-F238E27FC236}">
                            <a16:creationId xmlns:a16="http://schemas.microsoft.com/office/drawing/2014/main" id="{48F8C9EE-0557-0B44-85D0-E7BDE9E1EA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4919663"/>
                        <a:ext cx="6537325" cy="201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7">
            <a:extLst>
              <a:ext uri="{FF2B5EF4-FFF2-40B4-BE49-F238E27FC236}">
                <a16:creationId xmlns:a16="http://schemas.microsoft.com/office/drawing/2014/main" id="{D590402E-521E-D54B-9E55-A68D417E4509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246563"/>
            <a:ext cx="2943225" cy="838200"/>
            <a:chOff x="1440" y="1248"/>
            <a:chExt cx="1854" cy="528"/>
          </a:xfrm>
        </p:grpSpPr>
        <p:pic>
          <p:nvPicPr>
            <p:cNvPr id="4104" name="Picture 4" descr="DARTS">
              <a:extLst>
                <a:ext uri="{FF2B5EF4-FFF2-40B4-BE49-F238E27FC236}">
                  <a16:creationId xmlns:a16="http://schemas.microsoft.com/office/drawing/2014/main" id="{3496DB02-3617-6F44-9D2E-988ED69738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1248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6BFE3A89-5CB3-A94A-855E-FA3455224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344"/>
              <a:ext cx="6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3200">
                  <a:ea typeface="宋体" pitchFamily="2" charset="-122"/>
                </a:rPr>
                <a:t>求解</a:t>
              </a:r>
              <a:endParaRPr lang="en-US" altLang="zh-CN" sz="3200">
                <a:ea typeface="宋体" pitchFamily="2" charset="-122"/>
              </a:endParaRPr>
            </a:p>
          </p:txBody>
        </p:sp>
        <p:graphicFrame>
          <p:nvGraphicFramePr>
            <p:cNvPr id="4106" name="Object 6">
              <a:extLst>
                <a:ext uri="{FF2B5EF4-FFF2-40B4-BE49-F238E27FC236}">
                  <a16:creationId xmlns:a16="http://schemas.microsoft.com/office/drawing/2014/main" id="{8EA6F6B7-4914-0341-9131-FB83DBAEA1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0" y="1392"/>
            <a:ext cx="68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82600" imgH="228600" progId="Equation.3">
                    <p:embed/>
                  </p:oleObj>
                </mc:Choice>
                <mc:Fallback>
                  <p:oleObj name="Equation" r:id="rId8" imgW="482600" imgH="228600" progId="Equation.3">
                    <p:embed/>
                    <p:pic>
                      <p:nvPicPr>
                        <p:cNvPr id="4106" name="Object 6">
                          <a:extLst>
                            <a:ext uri="{FF2B5EF4-FFF2-40B4-BE49-F238E27FC236}">
                              <a16:creationId xmlns:a16="http://schemas.microsoft.com/office/drawing/2014/main" id="{8EA6F6B7-4914-0341-9131-FB83DBAEA1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0" y="1392"/>
                          <a:ext cx="684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8371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5" name="Rectangle 5">
            <a:extLst>
              <a:ext uri="{FF2B5EF4-FFF2-40B4-BE49-F238E27FC236}">
                <a16:creationId xmlns:a16="http://schemas.microsoft.com/office/drawing/2014/main" id="{8D12B914-24B5-A842-AFB3-D30B6B3DF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2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2380DCC-42F6-0D40-8144-541D43BD8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30213"/>
            <a:ext cx="792480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en-US" sz="3200">
                <a:solidFill>
                  <a:srgbClr val="008000"/>
                </a:solidFill>
                <a:latin typeface="Arial" panose="020B0604020202020204" pitchFamily="34" charset="0"/>
              </a:rPr>
              <a:t>上次课程回顾</a:t>
            </a:r>
            <a:endParaRPr lang="en-US" altLang="zh-CN" sz="32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F16F0C5C-A5C5-AF4A-912B-2EB8F9437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3" y="1196975"/>
            <a:ext cx="1841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zh-CN" altLang="en-US" sz="260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CDEC639-FBFE-7F48-9100-4DB4BAE29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25538"/>
            <a:ext cx="77724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²"/>
            </a:pPr>
            <a:r>
              <a:rPr lang="zh-CN" altLang="en-US">
                <a:ea typeface="宋体" panose="02010600030101010101" pitchFamily="2" charset="-122"/>
              </a:rPr>
              <a:t>当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为对角矩阵、上三角矩阵、下三角矩阵时，可直接求解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B719102-ECD8-BA42-9878-52CD7FCBD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2420938"/>
            <a:ext cx="77724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、通过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消元法</a:t>
            </a:r>
            <a:r>
              <a:rPr lang="zh-CN" altLang="en-US">
                <a:ea typeface="宋体" panose="02010600030101010101" pitchFamily="2" charset="-122"/>
              </a:rPr>
              <a:t>将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转化为上三角阵求解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ü"/>
            </a:pPr>
            <a:r>
              <a:rPr lang="zh-CN" altLang="en-US" sz="2400">
                <a:solidFill>
                  <a:srgbClr val="0000FF"/>
                </a:solidFill>
                <a:ea typeface="宋体" panose="02010600030101010101" pitchFamily="2" charset="-122"/>
              </a:rPr>
              <a:t>高斯消元法、列主元消元法、标度化列主元消元法、全主元消元法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 sz="24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ü"/>
            </a:pPr>
            <a:endParaRPr lang="en-US" altLang="zh-CN" sz="24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4DC54804-FDCA-EE41-8A9A-80CD72AE4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5157788"/>
            <a:ext cx="77724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zh-CN" dirty="0">
                <a:ea typeface="宋体" panose="02010600030101010101" pitchFamily="2" charset="-122"/>
              </a:rPr>
              <a:t>3</a:t>
            </a:r>
            <a:r>
              <a:rPr lang="zh-CN" altLang="en-US" dirty="0">
                <a:ea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矩阵分解法</a:t>
            </a:r>
            <a:r>
              <a:rPr lang="en-US" altLang="zh-CN" dirty="0">
                <a:ea typeface="宋体" panose="02010600030101010101" pitchFamily="2" charset="-122"/>
              </a:rPr>
              <a:t>——</a:t>
            </a:r>
            <a:r>
              <a:rPr lang="zh-CN" altLang="en-US" dirty="0">
                <a:ea typeface="宋体" panose="02010600030101010101" pitchFamily="2" charset="-122"/>
              </a:rPr>
              <a:t>将</a:t>
            </a:r>
            <a:r>
              <a:rPr lang="en-US" altLang="zh-CN" dirty="0">
                <a:ea typeface="宋体" panose="02010600030101010101" pitchFamily="2" charset="-122"/>
              </a:rPr>
              <a:t>A</a:t>
            </a:r>
            <a:r>
              <a:rPr lang="zh-CN" altLang="en-US" dirty="0">
                <a:ea typeface="宋体" panose="02010600030101010101" pitchFamily="2" charset="-122"/>
              </a:rPr>
              <a:t>进行三角分解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ü"/>
            </a:pPr>
            <a:r>
              <a:rPr lang="en-US" altLang="zh-CN" sz="2400" b="0" dirty="0">
                <a:solidFill>
                  <a:srgbClr val="0000FF"/>
                </a:solidFill>
                <a:ea typeface="宋体" panose="02010600030101010101" pitchFamily="2" charset="-122"/>
              </a:rPr>
              <a:t>LU</a:t>
            </a:r>
            <a:r>
              <a:rPr lang="zh-CN" altLang="en-US" sz="2400" b="0" dirty="0">
                <a:solidFill>
                  <a:srgbClr val="0000FF"/>
                </a:solidFill>
                <a:ea typeface="宋体" panose="02010600030101010101" pitchFamily="2" charset="-122"/>
              </a:rPr>
              <a:t>分解、</a:t>
            </a:r>
            <a:r>
              <a:rPr lang="en-US" altLang="zh-CN" sz="2400" b="0" dirty="0">
                <a:solidFill>
                  <a:srgbClr val="0000FF"/>
                </a:solidFill>
                <a:ea typeface="宋体" panose="02010600030101010101" pitchFamily="2" charset="-122"/>
              </a:rPr>
              <a:t>Crout</a:t>
            </a:r>
            <a:r>
              <a:rPr lang="zh-CN" altLang="en-US" sz="2400" b="0" dirty="0">
                <a:solidFill>
                  <a:srgbClr val="0000FF"/>
                </a:solidFill>
                <a:ea typeface="宋体" panose="02010600030101010101" pitchFamily="2" charset="-122"/>
              </a:rPr>
              <a:t>分解、</a:t>
            </a:r>
            <a:r>
              <a:rPr lang="zh-CN" altLang="sk-SK" sz="2400" b="0" dirty="0">
                <a:solidFill>
                  <a:srgbClr val="0000FF"/>
                </a:solidFill>
                <a:ea typeface="宋体" panose="02010600030101010101" pitchFamily="2" charset="-122"/>
              </a:rPr>
              <a:t>平方根法（</a:t>
            </a:r>
            <a:r>
              <a:rPr lang="sk-SK" altLang="zh-CN" sz="2400" b="0" dirty="0">
                <a:solidFill>
                  <a:srgbClr val="0000FF"/>
                </a:solidFill>
                <a:ea typeface="宋体" panose="02010600030101010101" pitchFamily="2" charset="-122"/>
              </a:rPr>
              <a:t>Cholesky </a:t>
            </a:r>
            <a:r>
              <a:rPr lang="zh-CN" altLang="sk-SK" sz="2400" b="0" dirty="0">
                <a:solidFill>
                  <a:srgbClr val="0000FF"/>
                </a:solidFill>
                <a:ea typeface="宋体" panose="02010600030101010101" pitchFamily="2" charset="-122"/>
              </a:rPr>
              <a:t>分解）</a:t>
            </a:r>
            <a:endParaRPr lang="en-US" altLang="zh-CN" b="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D3EDAF5-19C4-A140-A891-79E592E69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" y="3933825"/>
            <a:ext cx="7772400" cy="93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、通过将</a:t>
            </a:r>
            <a:r>
              <a:rPr lang="en-US" altLang="zh-CN" dirty="0">
                <a:ea typeface="宋体" panose="02010600030101010101" pitchFamily="2" charset="-122"/>
              </a:rPr>
              <a:t>A</a:t>
            </a:r>
            <a:r>
              <a:rPr lang="zh-CN" altLang="en-US" dirty="0">
                <a:ea typeface="宋体" panose="02010600030101010101" pitchFamily="2" charset="-122"/>
              </a:rPr>
              <a:t>转化为单位矩阵求解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ü"/>
            </a:pPr>
            <a:r>
              <a:rPr lang="ja-JP" altLang="en-US" sz="2400" dirty="0">
                <a:solidFill>
                  <a:srgbClr val="0000FF"/>
                </a:solidFill>
                <a:ea typeface="宋体" panose="02010600030101010101" pitchFamily="2" charset="-122"/>
              </a:rPr>
              <a:t>高斯</a:t>
            </a:r>
            <a:r>
              <a:rPr lang="en-US" altLang="ja-JP" sz="2400" dirty="0">
                <a:solidFill>
                  <a:srgbClr val="0000FF"/>
                </a:solidFill>
                <a:ea typeface="宋体" panose="02010600030101010101" pitchFamily="2" charset="-122"/>
              </a:rPr>
              <a:t>-</a:t>
            </a:r>
            <a:r>
              <a:rPr lang="ja-JP" altLang="en-US" sz="2400" dirty="0">
                <a:solidFill>
                  <a:srgbClr val="0000FF"/>
                </a:solidFill>
                <a:ea typeface="宋体" panose="02010600030101010101" pitchFamily="2" charset="-122"/>
              </a:rPr>
              <a:t>若当消去法 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148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>
            <a:extLst>
              <a:ext uri="{FF2B5EF4-FFF2-40B4-BE49-F238E27FC236}">
                <a16:creationId xmlns:a16="http://schemas.microsoft.com/office/drawing/2014/main" id="{9C366527-BD6A-8B47-A90E-9621FF147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marL="457200" indent="-457200" algn="l" eaLnBrk="1" hangingPunct="1">
              <a:buFont typeface="Wingdings" pitchFamily="2" charset="2"/>
              <a:buChar char="Ø"/>
            </a:pPr>
            <a:r>
              <a:rPr lang="zh-CN" altLang="en-US" sz="3200">
                <a:solidFill>
                  <a:srgbClr val="0000FF"/>
                </a:solidFill>
              </a:rPr>
              <a:t>线性方程组的解法</a:t>
            </a:r>
            <a:endParaRPr lang="en-US" altLang="en-CN" sz="3200">
              <a:solidFill>
                <a:srgbClr val="0000FF"/>
              </a:solidFill>
            </a:endParaRPr>
          </a:p>
        </p:txBody>
      </p:sp>
      <p:sp>
        <p:nvSpPr>
          <p:cNvPr id="727043" name="Rectangle 3">
            <a:extLst>
              <a:ext uri="{FF2B5EF4-FFF2-40B4-BE49-F238E27FC236}">
                <a16:creationId xmlns:a16="http://schemas.microsoft.com/office/drawing/2014/main" id="{E39D4C42-AFDB-E348-BF75-E55DCBDFD8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9638"/>
            <a:ext cx="8964612" cy="2519362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CN" dirty="0">
                <a:solidFill>
                  <a:srgbClr val="0000FF"/>
                </a:solidFill>
              </a:rPr>
              <a:t> </a:t>
            </a:r>
          </a:p>
          <a:p>
            <a:pPr lvl="1" eaLnBrk="1" hangingPunct="1">
              <a:buFont typeface="Wingdings" pitchFamily="2" charset="2"/>
              <a:buChar char="v"/>
            </a:pPr>
            <a:r>
              <a:rPr lang="en-US" altLang="zh-CN" sz="3200" dirty="0">
                <a:solidFill>
                  <a:srgbClr val="0000FF"/>
                </a:solidFill>
              </a:rPr>
              <a:t>    </a:t>
            </a:r>
            <a:r>
              <a:rPr lang="zh-CN" altLang="en-US" sz="3200" dirty="0">
                <a:solidFill>
                  <a:srgbClr val="0000FF"/>
                </a:solidFill>
              </a:rPr>
              <a:t>直接法</a:t>
            </a:r>
            <a:r>
              <a:rPr lang="en-US" altLang="zh-CN" sz="3200" dirty="0">
                <a:solidFill>
                  <a:srgbClr val="0000FF"/>
                </a:solidFill>
              </a:rPr>
              <a:t> </a:t>
            </a:r>
          </a:p>
          <a:p>
            <a:pPr lvl="1" eaLnBrk="1" hangingPunct="1">
              <a:buFontTx/>
              <a:buNone/>
            </a:pPr>
            <a:r>
              <a:rPr lang="en-US" altLang="zh-CN" dirty="0"/>
              <a:t>         </a:t>
            </a:r>
            <a:r>
              <a:rPr lang="zh-CN" altLang="en-US" sz="2400" dirty="0"/>
              <a:t>若不存在舍入误差，可得精确解。</a:t>
            </a:r>
            <a:endParaRPr lang="en-US" altLang="zh-CN" sz="2400" dirty="0"/>
          </a:p>
          <a:p>
            <a:pPr lvl="1" eaLnBrk="1" hangingPunct="1">
              <a:buFontTx/>
              <a:buNone/>
            </a:pPr>
            <a:r>
              <a:rPr lang="en-US" altLang="zh-CN" sz="2400" dirty="0"/>
              <a:t>          </a:t>
            </a:r>
            <a:r>
              <a:rPr lang="zh-CN" altLang="en-US" sz="2400" dirty="0"/>
              <a:t>适用于中小型方程组，对高阶方程组，即使矩阵是稀疏的，</a:t>
            </a:r>
            <a:r>
              <a:rPr lang="zh-CN" altLang="en-US" sz="2400" b="1" dirty="0"/>
              <a:t>运算中很难保持稀疏性</a:t>
            </a:r>
            <a:r>
              <a:rPr lang="zh-CN" altLang="en-US" sz="2400" dirty="0"/>
              <a:t>，导致存储量大，程序复杂</a:t>
            </a:r>
            <a:endParaRPr lang="en-US" altLang="zh-CN" sz="2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76E7C7F-CA18-6345-BF4F-5CC205A6A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4076700"/>
            <a:ext cx="88915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Font typeface="Wingdings" pitchFamily="2" charset="2"/>
              <a:buChar char="v"/>
            </a:pP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3200">
                <a:solidFill>
                  <a:srgbClr val="0000FF"/>
                </a:solidFill>
                <a:ea typeface="宋体" panose="02010600030101010101" pitchFamily="2" charset="-122"/>
              </a:rPr>
              <a:t>间接解法（迭代法）</a:t>
            </a:r>
            <a:endParaRPr lang="en-US" altLang="zh-CN" sz="32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</a:rPr>
              <a:t>       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Jacobi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法、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Gauss - Seidel </a:t>
            </a:r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</a:rPr>
              <a:t>法、松弛因子迭代法</a:t>
            </a:r>
            <a:endParaRPr lang="en-US" altLang="zh-CN" sz="24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zh-CN" sz="2400">
                <a:ea typeface="宋体" panose="02010600030101010101" pitchFamily="2" charset="-122"/>
              </a:rPr>
              <a:t>          </a:t>
            </a:r>
            <a:r>
              <a:rPr lang="zh-CN" altLang="en-US" sz="2400">
                <a:ea typeface="宋体" panose="02010600030101010101" pitchFamily="2" charset="-122"/>
              </a:rPr>
              <a:t>能保持矩阵的稀疏性，具有计算简单，程序编制容易的优点，并在很多情况下收敛较快，能有效地解一些高阶方程组</a:t>
            </a:r>
          </a:p>
        </p:txBody>
      </p:sp>
    </p:spTree>
    <p:extLst>
      <p:ext uri="{BB962C8B-B14F-4D97-AF65-F5344CB8AC3E}">
        <p14:creationId xmlns:p14="http://schemas.microsoft.com/office/powerpoint/2010/main" val="7896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2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2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1" name="Group 3">
            <a:extLst>
              <a:ext uri="{FF2B5EF4-FFF2-40B4-BE49-F238E27FC236}">
                <a16:creationId xmlns:a16="http://schemas.microsoft.com/office/drawing/2014/main" id="{CB49AD79-6857-CE42-BD4F-3BC71BD73A29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228725"/>
            <a:ext cx="2971800" cy="838200"/>
            <a:chOff x="1440" y="1248"/>
            <a:chExt cx="1872" cy="528"/>
          </a:xfrm>
        </p:grpSpPr>
        <p:pic>
          <p:nvPicPr>
            <p:cNvPr id="7255" name="Picture 4" descr="DARTS">
              <a:extLst>
                <a:ext uri="{FF2B5EF4-FFF2-40B4-BE49-F238E27FC236}">
                  <a16:creationId xmlns:a16="http://schemas.microsoft.com/office/drawing/2014/main" id="{C64CAF90-925E-064D-BFA3-403F36C91D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1248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3" name="Text Box 5">
              <a:extLst>
                <a:ext uri="{FF2B5EF4-FFF2-40B4-BE49-F238E27FC236}">
                  <a16:creationId xmlns:a16="http://schemas.microsoft.com/office/drawing/2014/main" id="{5C6965E6-CF15-BF47-B845-E4501B21A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344"/>
              <a:ext cx="6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3200">
                  <a:ea typeface="宋体" pitchFamily="2" charset="-122"/>
                </a:rPr>
                <a:t>求解</a:t>
              </a:r>
              <a:endParaRPr lang="en-US" altLang="zh-CN" sz="3200">
                <a:ea typeface="宋体" pitchFamily="2" charset="-122"/>
              </a:endParaRPr>
            </a:p>
          </p:txBody>
        </p:sp>
        <p:graphicFrame>
          <p:nvGraphicFramePr>
            <p:cNvPr id="7257" name="Object 6">
              <a:extLst>
                <a:ext uri="{FF2B5EF4-FFF2-40B4-BE49-F238E27FC236}">
                  <a16:creationId xmlns:a16="http://schemas.microsoft.com/office/drawing/2014/main" id="{7F660AE6-6462-4C4A-9A5A-07C72F7E65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2" y="1392"/>
            <a:ext cx="720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696700" imgH="5270500" progId="Equation.3">
                    <p:embed/>
                  </p:oleObj>
                </mc:Choice>
                <mc:Fallback>
                  <p:oleObj name="Equation" r:id="rId6" imgW="11696700" imgH="5270500" progId="Equation.3">
                    <p:embed/>
                    <p:pic>
                      <p:nvPicPr>
                        <p:cNvPr id="7257" name="Object 6">
                          <a:extLst>
                            <a:ext uri="{FF2B5EF4-FFF2-40B4-BE49-F238E27FC236}">
                              <a16:creationId xmlns:a16="http://schemas.microsoft.com/office/drawing/2014/main" id="{7F660AE6-6462-4C4A-9A5A-07C72F7E65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1392"/>
                          <a:ext cx="720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47" name="Group 19">
            <a:extLst>
              <a:ext uri="{FF2B5EF4-FFF2-40B4-BE49-F238E27FC236}">
                <a16:creationId xmlns:a16="http://schemas.microsoft.com/office/drawing/2014/main" id="{AEA3DE32-5DDE-D54E-97F6-48F3FC945BD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990725"/>
            <a:ext cx="6467475" cy="1160463"/>
            <a:chOff x="480" y="1584"/>
            <a:chExt cx="4074" cy="731"/>
          </a:xfrm>
        </p:grpSpPr>
        <p:grpSp>
          <p:nvGrpSpPr>
            <p:cNvPr id="7251" name="Group 8">
              <a:extLst>
                <a:ext uri="{FF2B5EF4-FFF2-40B4-BE49-F238E27FC236}">
                  <a16:creationId xmlns:a16="http://schemas.microsoft.com/office/drawing/2014/main" id="{E3ECF908-A0C7-4541-AB0A-4B4EA6A80A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584"/>
              <a:ext cx="720" cy="731"/>
              <a:chOff x="384" y="1968"/>
              <a:chExt cx="720" cy="637"/>
            </a:xfrm>
          </p:grpSpPr>
          <p:pic>
            <p:nvPicPr>
              <p:cNvPr id="7253" name="Picture 9" descr="LIGHT">
                <a:extLst>
                  <a:ext uri="{FF2B5EF4-FFF2-40B4-BE49-F238E27FC236}">
                    <a16:creationId xmlns:a16="http://schemas.microsoft.com/office/drawing/2014/main" id="{2AF038EF-6BCF-4042-BC66-C4AF4E135B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1968"/>
                <a:ext cx="381" cy="6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138" name="Text Box 10">
                <a:extLst>
                  <a:ext uri="{FF2B5EF4-FFF2-40B4-BE49-F238E27FC236}">
                    <a16:creationId xmlns:a16="http://schemas.microsoft.com/office/drawing/2014/main" id="{0B479F74-E09B-9D41-ACED-6A3D5D41FB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2064"/>
                <a:ext cx="336" cy="4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0" lang="zh-CN" altLang="en-US" sz="2400">
                    <a:solidFill>
                      <a:schemeClr val="accent2"/>
                    </a:solidFill>
                    <a:ea typeface="宋体" pitchFamily="2" charset="-122"/>
                  </a:rPr>
                  <a:t>思路</a:t>
                </a:r>
                <a:endParaRPr kumimoji="0" lang="en-US" altLang="zh-CN" sz="2400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48139" name="Text Box 11">
              <a:extLst>
                <a:ext uri="{FF2B5EF4-FFF2-40B4-BE49-F238E27FC236}">
                  <a16:creationId xmlns:a16="http://schemas.microsoft.com/office/drawing/2014/main" id="{54893E9C-8DD7-E44E-8693-6E26B0D6A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650"/>
              <a:ext cx="321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2400">
                  <a:latin typeface="楷体_GB2312" charset="0"/>
                </a:rPr>
                <a:t>与解</a:t>
              </a:r>
              <a:r>
                <a:rPr lang="en-US" altLang="zh-CN" sz="2400">
                  <a:latin typeface="楷体_GB2312" charset="0"/>
                </a:rPr>
                <a:t> </a:t>
              </a:r>
              <a:r>
                <a:rPr lang="en-US" altLang="zh-CN" sz="2400" i="1"/>
                <a:t>f</a:t>
              </a:r>
              <a:r>
                <a:rPr lang="en-US" altLang="zh-CN" sz="2400"/>
                <a:t> (</a:t>
              </a:r>
              <a:r>
                <a:rPr lang="en-US" altLang="zh-CN" sz="2400" i="1"/>
                <a:t>x</a:t>
              </a:r>
              <a:r>
                <a:rPr lang="en-US" altLang="zh-CN" sz="2400"/>
                <a:t>)=0 </a:t>
              </a:r>
              <a:r>
                <a:rPr lang="zh-CN" altLang="en-US" sz="2400"/>
                <a:t>的不动点迭代相似，将</a:t>
              </a:r>
              <a:endParaRPr lang="en-US" altLang="zh-CN" sz="2400"/>
            </a:p>
          </p:txBody>
        </p:sp>
      </p:grpSp>
      <p:grpSp>
        <p:nvGrpSpPr>
          <p:cNvPr id="48148" name="Group 20">
            <a:extLst>
              <a:ext uri="{FF2B5EF4-FFF2-40B4-BE49-F238E27FC236}">
                <a16:creationId xmlns:a16="http://schemas.microsoft.com/office/drawing/2014/main" id="{FDB7F736-659B-4B4C-9023-EF6101704D05}"/>
              </a:ext>
            </a:extLst>
          </p:cNvPr>
          <p:cNvGrpSpPr>
            <a:grpSpLocks/>
          </p:cNvGrpSpPr>
          <p:nvPr/>
        </p:nvGrpSpPr>
        <p:grpSpPr bwMode="auto">
          <a:xfrm>
            <a:off x="1679575" y="2078038"/>
            <a:ext cx="7239000" cy="1241425"/>
            <a:chOff x="1202" y="1639"/>
            <a:chExt cx="4368" cy="782"/>
          </a:xfrm>
        </p:grpSpPr>
        <p:graphicFrame>
          <p:nvGraphicFramePr>
            <p:cNvPr id="7245" name="Object 13">
              <a:extLst>
                <a:ext uri="{FF2B5EF4-FFF2-40B4-BE49-F238E27FC236}">
                  <a16:creationId xmlns:a16="http://schemas.microsoft.com/office/drawing/2014/main" id="{9D5AF1B9-D875-B147-821F-697A73DD8E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2" y="1639"/>
            <a:ext cx="57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1696700" imgH="5270500" progId="Equation.3">
                    <p:embed/>
                  </p:oleObj>
                </mc:Choice>
                <mc:Fallback>
                  <p:oleObj name="Equation" r:id="rId9" imgW="11696700" imgH="5270500" progId="Equation.3">
                    <p:embed/>
                    <p:pic>
                      <p:nvPicPr>
                        <p:cNvPr id="7245" name="Object 13">
                          <a:extLst>
                            <a:ext uri="{FF2B5EF4-FFF2-40B4-BE49-F238E27FC236}">
                              <a16:creationId xmlns:a16="http://schemas.microsoft.com/office/drawing/2014/main" id="{9D5AF1B9-D875-B147-821F-697A73DD8E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2" y="1639"/>
                          <a:ext cx="57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2" name="Text Box 14">
              <a:extLst>
                <a:ext uri="{FF2B5EF4-FFF2-40B4-BE49-F238E27FC236}">
                  <a16:creationId xmlns:a16="http://schemas.microsoft.com/office/drawing/2014/main" id="{563EFB07-A706-784D-963B-4844F3830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1896"/>
              <a:ext cx="4368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zh-CN" altLang="en-US" sz="2400"/>
                <a:t>改写为          </a:t>
              </a:r>
              <a:r>
                <a:rPr lang="en-US" altLang="zh-CN" sz="2400"/>
                <a:t>          </a:t>
              </a:r>
              <a:r>
                <a:rPr lang="zh-CN" altLang="en-US" sz="2400"/>
                <a:t>等价形式，建立迭代</a:t>
              </a:r>
              <a:r>
                <a:rPr lang="en-US" altLang="zh-CN" sz="2400"/>
                <a:t> </a:t>
              </a:r>
              <a:r>
                <a:rPr lang="zh-CN" altLang="en-US" sz="2400"/>
                <a:t>　</a:t>
              </a:r>
              <a:r>
                <a:rPr lang="en-US" altLang="zh-CN" sz="2400"/>
                <a:t>                     </a:t>
              </a:r>
              <a:r>
                <a:rPr lang="zh-CN" altLang="en-US" sz="2400"/>
                <a:t>从初值  </a:t>
              </a:r>
              <a:r>
                <a:rPr lang="en-US" altLang="zh-CN" sz="2400"/>
                <a:t>      </a:t>
              </a:r>
              <a:r>
                <a:rPr lang="zh-CN" altLang="en-US" sz="2400"/>
                <a:t>出发，得到序列</a:t>
              </a:r>
              <a:r>
                <a:rPr lang="en-US" altLang="zh-CN" sz="2400"/>
                <a:t>            </a:t>
              </a:r>
              <a:endParaRPr lang="en-US" altLang="zh-CN" sz="2400">
                <a:ea typeface="宋体" panose="02010600030101010101" pitchFamily="2" charset="-122"/>
              </a:endParaRPr>
            </a:p>
          </p:txBody>
        </p:sp>
        <p:graphicFrame>
          <p:nvGraphicFramePr>
            <p:cNvPr id="7247" name="Object 15">
              <a:extLst>
                <a:ext uri="{FF2B5EF4-FFF2-40B4-BE49-F238E27FC236}">
                  <a16:creationId xmlns:a16="http://schemas.microsoft.com/office/drawing/2014/main" id="{B02BF3BE-9D94-0448-94DA-77DCA1595F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1920"/>
            <a:ext cx="921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7843500" imgH="5270500" progId="Equation.3">
                    <p:embed/>
                  </p:oleObj>
                </mc:Choice>
                <mc:Fallback>
                  <p:oleObj name="Equation" r:id="rId11" imgW="17843500" imgH="5270500" progId="Equation.3">
                    <p:embed/>
                    <p:pic>
                      <p:nvPicPr>
                        <p:cNvPr id="7247" name="Object 15">
                          <a:extLst>
                            <a:ext uri="{FF2B5EF4-FFF2-40B4-BE49-F238E27FC236}">
                              <a16:creationId xmlns:a16="http://schemas.microsoft.com/office/drawing/2014/main" id="{B02BF3BE-9D94-0448-94DA-77DCA1595F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920"/>
                          <a:ext cx="921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48" name="Object 16">
              <a:extLst>
                <a:ext uri="{FF2B5EF4-FFF2-40B4-BE49-F238E27FC236}">
                  <a16:creationId xmlns:a16="http://schemas.microsoft.com/office/drawing/2014/main" id="{BEF95EFC-B6EF-E740-ACA4-AB1E1603C3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0" y="1945"/>
            <a:ext cx="121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6911300" imgH="5270500" progId="Equation.3">
                    <p:embed/>
                  </p:oleObj>
                </mc:Choice>
                <mc:Fallback>
                  <p:oleObj name="Equation" r:id="rId13" imgW="26911300" imgH="5270500" progId="Equation.3">
                    <p:embed/>
                    <p:pic>
                      <p:nvPicPr>
                        <p:cNvPr id="7248" name="Object 16">
                          <a:extLst>
                            <a:ext uri="{FF2B5EF4-FFF2-40B4-BE49-F238E27FC236}">
                              <a16:creationId xmlns:a16="http://schemas.microsoft.com/office/drawing/2014/main" id="{BEF95EFC-B6EF-E740-ACA4-AB1E1603C3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0" y="1945"/>
                          <a:ext cx="121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49" name="Object 17">
              <a:extLst>
                <a:ext uri="{FF2B5EF4-FFF2-40B4-BE49-F238E27FC236}">
                  <a16:creationId xmlns:a16="http://schemas.microsoft.com/office/drawing/2014/main" id="{58D1B28F-4CCA-FB4E-BD78-9F327D524D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2160"/>
            <a:ext cx="30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146800" imgH="4686300" progId="Equation.3">
                    <p:embed/>
                  </p:oleObj>
                </mc:Choice>
                <mc:Fallback>
                  <p:oleObj name="Equation" r:id="rId15" imgW="6146800" imgH="4686300" progId="Equation.3">
                    <p:embed/>
                    <p:pic>
                      <p:nvPicPr>
                        <p:cNvPr id="7249" name="Object 17">
                          <a:extLst>
                            <a:ext uri="{FF2B5EF4-FFF2-40B4-BE49-F238E27FC236}">
                              <a16:creationId xmlns:a16="http://schemas.microsoft.com/office/drawing/2014/main" id="{58D1B28F-4CCA-FB4E-BD78-9F327D524D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160"/>
                          <a:ext cx="30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50" name="Object 18">
              <a:extLst>
                <a:ext uri="{FF2B5EF4-FFF2-40B4-BE49-F238E27FC236}">
                  <a16:creationId xmlns:a16="http://schemas.microsoft.com/office/drawing/2014/main" id="{F88CBDBD-9986-8B43-9B93-FB2CB171D7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91" y="2160"/>
            <a:ext cx="576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9652000" imgH="5270500" progId="Equation.3">
                    <p:embed/>
                  </p:oleObj>
                </mc:Choice>
                <mc:Fallback>
                  <p:oleObj name="Equation" r:id="rId17" imgW="9652000" imgH="5270500" progId="Equation.3">
                    <p:embed/>
                    <p:pic>
                      <p:nvPicPr>
                        <p:cNvPr id="7250" name="Object 18">
                          <a:extLst>
                            <a:ext uri="{FF2B5EF4-FFF2-40B4-BE49-F238E27FC236}">
                              <a16:creationId xmlns:a16="http://schemas.microsoft.com/office/drawing/2014/main" id="{F88CBDBD-9986-8B43-9B93-FB2CB171D7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1" y="2160"/>
                          <a:ext cx="576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49" name="Group 21">
            <a:extLst>
              <a:ext uri="{FF2B5EF4-FFF2-40B4-BE49-F238E27FC236}">
                <a16:creationId xmlns:a16="http://schemas.microsoft.com/office/drawing/2014/main" id="{9A0E41B7-FB8A-9B41-8DAF-5742AE921E0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685800" y="3514725"/>
            <a:ext cx="609600" cy="762000"/>
            <a:chOff x="2355" y="3183"/>
            <a:chExt cx="649" cy="841"/>
          </a:xfrm>
        </p:grpSpPr>
        <p:sp>
          <p:nvSpPr>
            <p:cNvPr id="7231" name="Freeform 22">
              <a:extLst>
                <a:ext uri="{FF2B5EF4-FFF2-40B4-BE49-F238E27FC236}">
                  <a16:creationId xmlns:a16="http://schemas.microsoft.com/office/drawing/2014/main" id="{9A474614-3DA3-A742-BE5F-DCCC88E63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3183"/>
              <a:ext cx="649" cy="841"/>
            </a:xfrm>
            <a:custGeom>
              <a:avLst/>
              <a:gdLst>
                <a:gd name="T0" fmla="*/ 150 w 649"/>
                <a:gd name="T1" fmla="*/ 6 h 841"/>
                <a:gd name="T2" fmla="*/ 204 w 649"/>
                <a:gd name="T3" fmla="*/ 6 h 841"/>
                <a:gd name="T4" fmla="*/ 282 w 649"/>
                <a:gd name="T5" fmla="*/ 18 h 841"/>
                <a:gd name="T6" fmla="*/ 385 w 649"/>
                <a:gd name="T7" fmla="*/ 54 h 841"/>
                <a:gd name="T8" fmla="*/ 529 w 649"/>
                <a:gd name="T9" fmla="*/ 114 h 841"/>
                <a:gd name="T10" fmla="*/ 565 w 649"/>
                <a:gd name="T11" fmla="*/ 144 h 841"/>
                <a:gd name="T12" fmla="*/ 619 w 649"/>
                <a:gd name="T13" fmla="*/ 240 h 841"/>
                <a:gd name="T14" fmla="*/ 649 w 649"/>
                <a:gd name="T15" fmla="*/ 300 h 841"/>
                <a:gd name="T16" fmla="*/ 619 w 649"/>
                <a:gd name="T17" fmla="*/ 342 h 841"/>
                <a:gd name="T18" fmla="*/ 619 w 649"/>
                <a:gd name="T19" fmla="*/ 372 h 841"/>
                <a:gd name="T20" fmla="*/ 643 w 649"/>
                <a:gd name="T21" fmla="*/ 420 h 841"/>
                <a:gd name="T22" fmla="*/ 637 w 649"/>
                <a:gd name="T23" fmla="*/ 462 h 841"/>
                <a:gd name="T24" fmla="*/ 595 w 649"/>
                <a:gd name="T25" fmla="*/ 492 h 841"/>
                <a:gd name="T26" fmla="*/ 607 w 649"/>
                <a:gd name="T27" fmla="*/ 528 h 841"/>
                <a:gd name="T28" fmla="*/ 589 w 649"/>
                <a:gd name="T29" fmla="*/ 577 h 841"/>
                <a:gd name="T30" fmla="*/ 529 w 649"/>
                <a:gd name="T31" fmla="*/ 595 h 841"/>
                <a:gd name="T32" fmla="*/ 505 w 649"/>
                <a:gd name="T33" fmla="*/ 631 h 841"/>
                <a:gd name="T34" fmla="*/ 457 w 649"/>
                <a:gd name="T35" fmla="*/ 649 h 841"/>
                <a:gd name="T36" fmla="*/ 360 w 649"/>
                <a:gd name="T37" fmla="*/ 655 h 841"/>
                <a:gd name="T38" fmla="*/ 300 w 649"/>
                <a:gd name="T39" fmla="*/ 637 h 841"/>
                <a:gd name="T40" fmla="*/ 258 w 649"/>
                <a:gd name="T41" fmla="*/ 589 h 841"/>
                <a:gd name="T42" fmla="*/ 222 w 649"/>
                <a:gd name="T43" fmla="*/ 528 h 841"/>
                <a:gd name="T44" fmla="*/ 240 w 649"/>
                <a:gd name="T45" fmla="*/ 504 h 841"/>
                <a:gd name="T46" fmla="*/ 276 w 649"/>
                <a:gd name="T47" fmla="*/ 498 h 841"/>
                <a:gd name="T48" fmla="*/ 306 w 649"/>
                <a:gd name="T49" fmla="*/ 522 h 841"/>
                <a:gd name="T50" fmla="*/ 282 w 649"/>
                <a:gd name="T51" fmla="*/ 498 h 841"/>
                <a:gd name="T52" fmla="*/ 270 w 649"/>
                <a:gd name="T53" fmla="*/ 492 h 841"/>
                <a:gd name="T54" fmla="*/ 246 w 649"/>
                <a:gd name="T55" fmla="*/ 474 h 841"/>
                <a:gd name="T56" fmla="*/ 204 w 649"/>
                <a:gd name="T57" fmla="*/ 486 h 841"/>
                <a:gd name="T58" fmla="*/ 198 w 649"/>
                <a:gd name="T59" fmla="*/ 516 h 841"/>
                <a:gd name="T60" fmla="*/ 204 w 649"/>
                <a:gd name="T61" fmla="*/ 607 h 841"/>
                <a:gd name="T62" fmla="*/ 228 w 649"/>
                <a:gd name="T63" fmla="*/ 703 h 841"/>
                <a:gd name="T64" fmla="*/ 228 w 649"/>
                <a:gd name="T65" fmla="*/ 793 h 841"/>
                <a:gd name="T66" fmla="*/ 204 w 649"/>
                <a:gd name="T67" fmla="*/ 829 h 841"/>
                <a:gd name="T68" fmla="*/ 150 w 649"/>
                <a:gd name="T69" fmla="*/ 835 h 841"/>
                <a:gd name="T70" fmla="*/ 132 w 649"/>
                <a:gd name="T71" fmla="*/ 775 h 841"/>
                <a:gd name="T72" fmla="*/ 108 w 649"/>
                <a:gd name="T73" fmla="*/ 709 h 841"/>
                <a:gd name="T74" fmla="*/ 96 w 649"/>
                <a:gd name="T75" fmla="*/ 685 h 841"/>
                <a:gd name="T76" fmla="*/ 84 w 649"/>
                <a:gd name="T77" fmla="*/ 655 h 841"/>
                <a:gd name="T78" fmla="*/ 48 w 649"/>
                <a:gd name="T79" fmla="*/ 522 h 841"/>
                <a:gd name="T80" fmla="*/ 18 w 649"/>
                <a:gd name="T81" fmla="*/ 366 h 841"/>
                <a:gd name="T82" fmla="*/ 0 w 649"/>
                <a:gd name="T83" fmla="*/ 270 h 8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649" h="841">
                  <a:moveTo>
                    <a:pt x="108" y="0"/>
                  </a:moveTo>
                  <a:lnTo>
                    <a:pt x="132" y="6"/>
                  </a:lnTo>
                  <a:lnTo>
                    <a:pt x="150" y="6"/>
                  </a:lnTo>
                  <a:lnTo>
                    <a:pt x="168" y="12"/>
                  </a:lnTo>
                  <a:lnTo>
                    <a:pt x="180" y="12"/>
                  </a:lnTo>
                  <a:lnTo>
                    <a:pt x="204" y="6"/>
                  </a:lnTo>
                  <a:lnTo>
                    <a:pt x="228" y="6"/>
                  </a:lnTo>
                  <a:lnTo>
                    <a:pt x="252" y="12"/>
                  </a:lnTo>
                  <a:lnTo>
                    <a:pt x="282" y="18"/>
                  </a:lnTo>
                  <a:lnTo>
                    <a:pt x="312" y="24"/>
                  </a:lnTo>
                  <a:lnTo>
                    <a:pt x="342" y="36"/>
                  </a:lnTo>
                  <a:lnTo>
                    <a:pt x="385" y="54"/>
                  </a:lnTo>
                  <a:lnTo>
                    <a:pt x="427" y="72"/>
                  </a:lnTo>
                  <a:lnTo>
                    <a:pt x="481" y="96"/>
                  </a:lnTo>
                  <a:lnTo>
                    <a:pt x="529" y="114"/>
                  </a:lnTo>
                  <a:lnTo>
                    <a:pt x="547" y="120"/>
                  </a:lnTo>
                  <a:lnTo>
                    <a:pt x="559" y="132"/>
                  </a:lnTo>
                  <a:lnTo>
                    <a:pt x="565" y="144"/>
                  </a:lnTo>
                  <a:lnTo>
                    <a:pt x="577" y="162"/>
                  </a:lnTo>
                  <a:lnTo>
                    <a:pt x="595" y="192"/>
                  </a:lnTo>
                  <a:lnTo>
                    <a:pt x="619" y="240"/>
                  </a:lnTo>
                  <a:lnTo>
                    <a:pt x="637" y="264"/>
                  </a:lnTo>
                  <a:lnTo>
                    <a:pt x="643" y="288"/>
                  </a:lnTo>
                  <a:lnTo>
                    <a:pt x="649" y="300"/>
                  </a:lnTo>
                  <a:lnTo>
                    <a:pt x="643" y="318"/>
                  </a:lnTo>
                  <a:lnTo>
                    <a:pt x="631" y="336"/>
                  </a:lnTo>
                  <a:lnTo>
                    <a:pt x="619" y="342"/>
                  </a:lnTo>
                  <a:lnTo>
                    <a:pt x="613" y="348"/>
                  </a:lnTo>
                  <a:lnTo>
                    <a:pt x="613" y="360"/>
                  </a:lnTo>
                  <a:lnTo>
                    <a:pt x="619" y="372"/>
                  </a:lnTo>
                  <a:lnTo>
                    <a:pt x="625" y="384"/>
                  </a:lnTo>
                  <a:lnTo>
                    <a:pt x="637" y="402"/>
                  </a:lnTo>
                  <a:lnTo>
                    <a:pt x="643" y="420"/>
                  </a:lnTo>
                  <a:lnTo>
                    <a:pt x="643" y="432"/>
                  </a:lnTo>
                  <a:lnTo>
                    <a:pt x="643" y="450"/>
                  </a:lnTo>
                  <a:lnTo>
                    <a:pt x="637" y="462"/>
                  </a:lnTo>
                  <a:lnTo>
                    <a:pt x="625" y="474"/>
                  </a:lnTo>
                  <a:lnTo>
                    <a:pt x="607" y="486"/>
                  </a:lnTo>
                  <a:lnTo>
                    <a:pt x="595" y="492"/>
                  </a:lnTo>
                  <a:lnTo>
                    <a:pt x="595" y="504"/>
                  </a:lnTo>
                  <a:lnTo>
                    <a:pt x="601" y="516"/>
                  </a:lnTo>
                  <a:lnTo>
                    <a:pt x="607" y="528"/>
                  </a:lnTo>
                  <a:lnTo>
                    <a:pt x="601" y="546"/>
                  </a:lnTo>
                  <a:lnTo>
                    <a:pt x="601" y="565"/>
                  </a:lnTo>
                  <a:lnTo>
                    <a:pt x="589" y="577"/>
                  </a:lnTo>
                  <a:lnTo>
                    <a:pt x="577" y="583"/>
                  </a:lnTo>
                  <a:lnTo>
                    <a:pt x="553" y="589"/>
                  </a:lnTo>
                  <a:lnTo>
                    <a:pt x="529" y="595"/>
                  </a:lnTo>
                  <a:lnTo>
                    <a:pt x="517" y="595"/>
                  </a:lnTo>
                  <a:lnTo>
                    <a:pt x="511" y="619"/>
                  </a:lnTo>
                  <a:lnTo>
                    <a:pt x="505" y="631"/>
                  </a:lnTo>
                  <a:lnTo>
                    <a:pt x="493" y="643"/>
                  </a:lnTo>
                  <a:lnTo>
                    <a:pt x="475" y="649"/>
                  </a:lnTo>
                  <a:lnTo>
                    <a:pt x="457" y="649"/>
                  </a:lnTo>
                  <a:lnTo>
                    <a:pt x="433" y="649"/>
                  </a:lnTo>
                  <a:lnTo>
                    <a:pt x="403" y="655"/>
                  </a:lnTo>
                  <a:lnTo>
                    <a:pt x="360" y="655"/>
                  </a:lnTo>
                  <a:lnTo>
                    <a:pt x="342" y="655"/>
                  </a:lnTo>
                  <a:lnTo>
                    <a:pt x="324" y="649"/>
                  </a:lnTo>
                  <a:lnTo>
                    <a:pt x="300" y="637"/>
                  </a:lnTo>
                  <a:lnTo>
                    <a:pt x="282" y="625"/>
                  </a:lnTo>
                  <a:lnTo>
                    <a:pt x="270" y="607"/>
                  </a:lnTo>
                  <a:lnTo>
                    <a:pt x="258" y="589"/>
                  </a:lnTo>
                  <a:lnTo>
                    <a:pt x="240" y="565"/>
                  </a:lnTo>
                  <a:lnTo>
                    <a:pt x="228" y="540"/>
                  </a:lnTo>
                  <a:lnTo>
                    <a:pt x="222" y="528"/>
                  </a:lnTo>
                  <a:lnTo>
                    <a:pt x="228" y="522"/>
                  </a:lnTo>
                  <a:lnTo>
                    <a:pt x="234" y="510"/>
                  </a:lnTo>
                  <a:lnTo>
                    <a:pt x="240" y="504"/>
                  </a:lnTo>
                  <a:lnTo>
                    <a:pt x="252" y="498"/>
                  </a:lnTo>
                  <a:lnTo>
                    <a:pt x="264" y="498"/>
                  </a:lnTo>
                  <a:lnTo>
                    <a:pt x="276" y="498"/>
                  </a:lnTo>
                  <a:lnTo>
                    <a:pt x="288" y="510"/>
                  </a:lnTo>
                  <a:lnTo>
                    <a:pt x="300" y="516"/>
                  </a:lnTo>
                  <a:lnTo>
                    <a:pt x="306" y="522"/>
                  </a:lnTo>
                  <a:lnTo>
                    <a:pt x="318" y="528"/>
                  </a:lnTo>
                  <a:lnTo>
                    <a:pt x="306" y="516"/>
                  </a:lnTo>
                  <a:lnTo>
                    <a:pt x="282" y="498"/>
                  </a:lnTo>
                  <a:lnTo>
                    <a:pt x="288" y="492"/>
                  </a:lnTo>
                  <a:lnTo>
                    <a:pt x="282" y="492"/>
                  </a:lnTo>
                  <a:lnTo>
                    <a:pt x="270" y="492"/>
                  </a:lnTo>
                  <a:lnTo>
                    <a:pt x="264" y="486"/>
                  </a:lnTo>
                  <a:lnTo>
                    <a:pt x="252" y="480"/>
                  </a:lnTo>
                  <a:lnTo>
                    <a:pt x="246" y="474"/>
                  </a:lnTo>
                  <a:lnTo>
                    <a:pt x="228" y="474"/>
                  </a:lnTo>
                  <a:lnTo>
                    <a:pt x="216" y="474"/>
                  </a:lnTo>
                  <a:lnTo>
                    <a:pt x="204" y="486"/>
                  </a:lnTo>
                  <a:lnTo>
                    <a:pt x="198" y="492"/>
                  </a:lnTo>
                  <a:lnTo>
                    <a:pt x="198" y="504"/>
                  </a:lnTo>
                  <a:lnTo>
                    <a:pt x="198" y="516"/>
                  </a:lnTo>
                  <a:lnTo>
                    <a:pt x="198" y="546"/>
                  </a:lnTo>
                  <a:lnTo>
                    <a:pt x="198" y="577"/>
                  </a:lnTo>
                  <a:lnTo>
                    <a:pt x="204" y="607"/>
                  </a:lnTo>
                  <a:lnTo>
                    <a:pt x="204" y="637"/>
                  </a:lnTo>
                  <a:lnTo>
                    <a:pt x="216" y="679"/>
                  </a:lnTo>
                  <a:lnTo>
                    <a:pt x="228" y="703"/>
                  </a:lnTo>
                  <a:lnTo>
                    <a:pt x="234" y="721"/>
                  </a:lnTo>
                  <a:lnTo>
                    <a:pt x="234" y="763"/>
                  </a:lnTo>
                  <a:lnTo>
                    <a:pt x="228" y="793"/>
                  </a:lnTo>
                  <a:lnTo>
                    <a:pt x="222" y="811"/>
                  </a:lnTo>
                  <a:lnTo>
                    <a:pt x="216" y="823"/>
                  </a:lnTo>
                  <a:lnTo>
                    <a:pt x="204" y="829"/>
                  </a:lnTo>
                  <a:lnTo>
                    <a:pt x="186" y="835"/>
                  </a:lnTo>
                  <a:lnTo>
                    <a:pt x="168" y="841"/>
                  </a:lnTo>
                  <a:lnTo>
                    <a:pt x="150" y="835"/>
                  </a:lnTo>
                  <a:lnTo>
                    <a:pt x="144" y="829"/>
                  </a:lnTo>
                  <a:lnTo>
                    <a:pt x="138" y="787"/>
                  </a:lnTo>
                  <a:lnTo>
                    <a:pt x="132" y="775"/>
                  </a:lnTo>
                  <a:lnTo>
                    <a:pt x="132" y="769"/>
                  </a:lnTo>
                  <a:lnTo>
                    <a:pt x="126" y="745"/>
                  </a:lnTo>
                  <a:lnTo>
                    <a:pt x="108" y="709"/>
                  </a:lnTo>
                  <a:lnTo>
                    <a:pt x="102" y="697"/>
                  </a:lnTo>
                  <a:lnTo>
                    <a:pt x="102" y="685"/>
                  </a:lnTo>
                  <a:lnTo>
                    <a:pt x="96" y="685"/>
                  </a:lnTo>
                  <a:lnTo>
                    <a:pt x="96" y="679"/>
                  </a:lnTo>
                  <a:lnTo>
                    <a:pt x="96" y="673"/>
                  </a:lnTo>
                  <a:lnTo>
                    <a:pt x="84" y="655"/>
                  </a:lnTo>
                  <a:lnTo>
                    <a:pt x="78" y="613"/>
                  </a:lnTo>
                  <a:lnTo>
                    <a:pt x="60" y="571"/>
                  </a:lnTo>
                  <a:lnTo>
                    <a:pt x="48" y="522"/>
                  </a:lnTo>
                  <a:lnTo>
                    <a:pt x="30" y="468"/>
                  </a:lnTo>
                  <a:lnTo>
                    <a:pt x="24" y="426"/>
                  </a:lnTo>
                  <a:lnTo>
                    <a:pt x="18" y="366"/>
                  </a:lnTo>
                  <a:lnTo>
                    <a:pt x="18" y="306"/>
                  </a:lnTo>
                  <a:lnTo>
                    <a:pt x="18" y="300"/>
                  </a:lnTo>
                  <a:lnTo>
                    <a:pt x="0" y="270"/>
                  </a:lnTo>
                  <a:lnTo>
                    <a:pt x="72" y="204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FBD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2" name="Freeform 23">
              <a:extLst>
                <a:ext uri="{FF2B5EF4-FFF2-40B4-BE49-F238E27FC236}">
                  <a16:creationId xmlns:a16="http://schemas.microsoft.com/office/drawing/2014/main" id="{1BFFFEFF-370C-E843-B3F6-C1250C8FD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3183"/>
              <a:ext cx="445" cy="132"/>
            </a:xfrm>
            <a:custGeom>
              <a:avLst/>
              <a:gdLst>
                <a:gd name="T0" fmla="*/ 24 w 445"/>
                <a:gd name="T1" fmla="*/ 0 h 132"/>
                <a:gd name="T2" fmla="*/ 42 w 445"/>
                <a:gd name="T3" fmla="*/ 6 h 132"/>
                <a:gd name="T4" fmla="*/ 60 w 445"/>
                <a:gd name="T5" fmla="*/ 6 h 132"/>
                <a:gd name="T6" fmla="*/ 72 w 445"/>
                <a:gd name="T7" fmla="*/ 12 h 132"/>
                <a:gd name="T8" fmla="*/ 90 w 445"/>
                <a:gd name="T9" fmla="*/ 6 h 132"/>
                <a:gd name="T10" fmla="*/ 102 w 445"/>
                <a:gd name="T11" fmla="*/ 6 h 132"/>
                <a:gd name="T12" fmla="*/ 120 w 445"/>
                <a:gd name="T13" fmla="*/ 6 h 132"/>
                <a:gd name="T14" fmla="*/ 144 w 445"/>
                <a:gd name="T15" fmla="*/ 6 h 132"/>
                <a:gd name="T16" fmla="*/ 174 w 445"/>
                <a:gd name="T17" fmla="*/ 18 h 132"/>
                <a:gd name="T18" fmla="*/ 210 w 445"/>
                <a:gd name="T19" fmla="*/ 24 h 132"/>
                <a:gd name="T20" fmla="*/ 246 w 445"/>
                <a:gd name="T21" fmla="*/ 36 h 132"/>
                <a:gd name="T22" fmla="*/ 289 w 445"/>
                <a:gd name="T23" fmla="*/ 54 h 132"/>
                <a:gd name="T24" fmla="*/ 337 w 445"/>
                <a:gd name="T25" fmla="*/ 72 h 132"/>
                <a:gd name="T26" fmla="*/ 379 w 445"/>
                <a:gd name="T27" fmla="*/ 96 h 132"/>
                <a:gd name="T28" fmla="*/ 409 w 445"/>
                <a:gd name="T29" fmla="*/ 108 h 132"/>
                <a:gd name="T30" fmla="*/ 427 w 445"/>
                <a:gd name="T31" fmla="*/ 114 h 132"/>
                <a:gd name="T32" fmla="*/ 445 w 445"/>
                <a:gd name="T33" fmla="*/ 126 h 132"/>
                <a:gd name="T34" fmla="*/ 433 w 445"/>
                <a:gd name="T35" fmla="*/ 120 h 132"/>
                <a:gd name="T36" fmla="*/ 421 w 445"/>
                <a:gd name="T37" fmla="*/ 120 h 132"/>
                <a:gd name="T38" fmla="*/ 409 w 445"/>
                <a:gd name="T39" fmla="*/ 126 h 132"/>
                <a:gd name="T40" fmla="*/ 403 w 445"/>
                <a:gd name="T41" fmla="*/ 126 h 132"/>
                <a:gd name="T42" fmla="*/ 385 w 445"/>
                <a:gd name="T43" fmla="*/ 120 h 132"/>
                <a:gd name="T44" fmla="*/ 367 w 445"/>
                <a:gd name="T45" fmla="*/ 108 h 132"/>
                <a:gd name="T46" fmla="*/ 349 w 445"/>
                <a:gd name="T47" fmla="*/ 96 h 132"/>
                <a:gd name="T48" fmla="*/ 325 w 445"/>
                <a:gd name="T49" fmla="*/ 84 h 132"/>
                <a:gd name="T50" fmla="*/ 301 w 445"/>
                <a:gd name="T51" fmla="*/ 72 h 132"/>
                <a:gd name="T52" fmla="*/ 271 w 445"/>
                <a:gd name="T53" fmla="*/ 60 h 132"/>
                <a:gd name="T54" fmla="*/ 246 w 445"/>
                <a:gd name="T55" fmla="*/ 54 h 132"/>
                <a:gd name="T56" fmla="*/ 222 w 445"/>
                <a:gd name="T57" fmla="*/ 42 h 132"/>
                <a:gd name="T58" fmla="*/ 204 w 445"/>
                <a:gd name="T59" fmla="*/ 36 h 132"/>
                <a:gd name="T60" fmla="*/ 186 w 445"/>
                <a:gd name="T61" fmla="*/ 36 h 132"/>
                <a:gd name="T62" fmla="*/ 174 w 445"/>
                <a:gd name="T63" fmla="*/ 30 h 132"/>
                <a:gd name="T64" fmla="*/ 150 w 445"/>
                <a:gd name="T65" fmla="*/ 30 h 132"/>
                <a:gd name="T66" fmla="*/ 126 w 445"/>
                <a:gd name="T67" fmla="*/ 30 h 132"/>
                <a:gd name="T68" fmla="*/ 102 w 445"/>
                <a:gd name="T69" fmla="*/ 30 h 132"/>
                <a:gd name="T70" fmla="*/ 84 w 445"/>
                <a:gd name="T71" fmla="*/ 36 h 132"/>
                <a:gd name="T72" fmla="*/ 66 w 445"/>
                <a:gd name="T73" fmla="*/ 42 h 132"/>
                <a:gd name="T74" fmla="*/ 54 w 445"/>
                <a:gd name="T75" fmla="*/ 60 h 132"/>
                <a:gd name="T76" fmla="*/ 42 w 445"/>
                <a:gd name="T77" fmla="*/ 72 h 132"/>
                <a:gd name="T78" fmla="*/ 30 w 445"/>
                <a:gd name="T79" fmla="*/ 90 h 132"/>
                <a:gd name="T80" fmla="*/ 18 w 445"/>
                <a:gd name="T81" fmla="*/ 108 h 132"/>
                <a:gd name="T82" fmla="*/ 12 w 445"/>
                <a:gd name="T83" fmla="*/ 120 h 132"/>
                <a:gd name="T84" fmla="*/ 0 w 445"/>
                <a:gd name="T85" fmla="*/ 132 h 132"/>
                <a:gd name="T86" fmla="*/ 24 w 445"/>
                <a:gd name="T87" fmla="*/ 0 h 1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45" h="132">
                  <a:moveTo>
                    <a:pt x="24" y="0"/>
                  </a:moveTo>
                  <a:lnTo>
                    <a:pt x="42" y="6"/>
                  </a:lnTo>
                  <a:lnTo>
                    <a:pt x="60" y="6"/>
                  </a:lnTo>
                  <a:lnTo>
                    <a:pt x="72" y="12"/>
                  </a:lnTo>
                  <a:lnTo>
                    <a:pt x="90" y="6"/>
                  </a:lnTo>
                  <a:lnTo>
                    <a:pt x="102" y="6"/>
                  </a:lnTo>
                  <a:lnTo>
                    <a:pt x="120" y="6"/>
                  </a:lnTo>
                  <a:lnTo>
                    <a:pt x="144" y="6"/>
                  </a:lnTo>
                  <a:lnTo>
                    <a:pt x="174" y="18"/>
                  </a:lnTo>
                  <a:lnTo>
                    <a:pt x="210" y="24"/>
                  </a:lnTo>
                  <a:lnTo>
                    <a:pt x="246" y="36"/>
                  </a:lnTo>
                  <a:lnTo>
                    <a:pt x="289" y="54"/>
                  </a:lnTo>
                  <a:lnTo>
                    <a:pt x="337" y="72"/>
                  </a:lnTo>
                  <a:lnTo>
                    <a:pt x="379" y="96"/>
                  </a:lnTo>
                  <a:lnTo>
                    <a:pt x="409" y="108"/>
                  </a:lnTo>
                  <a:lnTo>
                    <a:pt x="427" y="114"/>
                  </a:lnTo>
                  <a:lnTo>
                    <a:pt x="445" y="126"/>
                  </a:lnTo>
                  <a:lnTo>
                    <a:pt x="433" y="120"/>
                  </a:lnTo>
                  <a:lnTo>
                    <a:pt x="421" y="120"/>
                  </a:lnTo>
                  <a:lnTo>
                    <a:pt x="409" y="126"/>
                  </a:lnTo>
                  <a:lnTo>
                    <a:pt x="403" y="126"/>
                  </a:lnTo>
                  <a:lnTo>
                    <a:pt x="385" y="120"/>
                  </a:lnTo>
                  <a:lnTo>
                    <a:pt x="367" y="108"/>
                  </a:lnTo>
                  <a:lnTo>
                    <a:pt x="349" y="96"/>
                  </a:lnTo>
                  <a:lnTo>
                    <a:pt x="325" y="84"/>
                  </a:lnTo>
                  <a:lnTo>
                    <a:pt x="301" y="72"/>
                  </a:lnTo>
                  <a:lnTo>
                    <a:pt x="271" y="60"/>
                  </a:lnTo>
                  <a:lnTo>
                    <a:pt x="246" y="54"/>
                  </a:lnTo>
                  <a:lnTo>
                    <a:pt x="222" y="42"/>
                  </a:lnTo>
                  <a:lnTo>
                    <a:pt x="204" y="36"/>
                  </a:lnTo>
                  <a:lnTo>
                    <a:pt x="186" y="36"/>
                  </a:lnTo>
                  <a:lnTo>
                    <a:pt x="174" y="30"/>
                  </a:lnTo>
                  <a:lnTo>
                    <a:pt x="150" y="30"/>
                  </a:lnTo>
                  <a:lnTo>
                    <a:pt x="126" y="30"/>
                  </a:lnTo>
                  <a:lnTo>
                    <a:pt x="102" y="30"/>
                  </a:lnTo>
                  <a:lnTo>
                    <a:pt x="84" y="36"/>
                  </a:lnTo>
                  <a:lnTo>
                    <a:pt x="66" y="42"/>
                  </a:lnTo>
                  <a:lnTo>
                    <a:pt x="54" y="60"/>
                  </a:lnTo>
                  <a:lnTo>
                    <a:pt x="42" y="72"/>
                  </a:lnTo>
                  <a:lnTo>
                    <a:pt x="30" y="90"/>
                  </a:lnTo>
                  <a:lnTo>
                    <a:pt x="18" y="108"/>
                  </a:lnTo>
                  <a:lnTo>
                    <a:pt x="12" y="120"/>
                  </a:lnTo>
                  <a:lnTo>
                    <a:pt x="0" y="13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3" name="Freeform 24">
              <a:extLst>
                <a:ext uri="{FF2B5EF4-FFF2-40B4-BE49-F238E27FC236}">
                  <a16:creationId xmlns:a16="http://schemas.microsoft.com/office/drawing/2014/main" id="{C5AF86F6-5840-2449-922D-7781D5936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3417"/>
              <a:ext cx="96" cy="114"/>
            </a:xfrm>
            <a:custGeom>
              <a:avLst/>
              <a:gdLst>
                <a:gd name="T0" fmla="*/ 90 w 96"/>
                <a:gd name="T1" fmla="*/ 108 h 114"/>
                <a:gd name="T2" fmla="*/ 96 w 96"/>
                <a:gd name="T3" fmla="*/ 96 h 114"/>
                <a:gd name="T4" fmla="*/ 96 w 96"/>
                <a:gd name="T5" fmla="*/ 84 h 114"/>
                <a:gd name="T6" fmla="*/ 90 w 96"/>
                <a:gd name="T7" fmla="*/ 66 h 114"/>
                <a:gd name="T8" fmla="*/ 78 w 96"/>
                <a:gd name="T9" fmla="*/ 54 h 114"/>
                <a:gd name="T10" fmla="*/ 66 w 96"/>
                <a:gd name="T11" fmla="*/ 36 h 114"/>
                <a:gd name="T12" fmla="*/ 42 w 96"/>
                <a:gd name="T13" fmla="*/ 24 h 114"/>
                <a:gd name="T14" fmla="*/ 24 w 96"/>
                <a:gd name="T15" fmla="*/ 12 h 114"/>
                <a:gd name="T16" fmla="*/ 0 w 96"/>
                <a:gd name="T17" fmla="*/ 0 h 114"/>
                <a:gd name="T18" fmla="*/ 24 w 96"/>
                <a:gd name="T19" fmla="*/ 18 h 114"/>
                <a:gd name="T20" fmla="*/ 30 w 96"/>
                <a:gd name="T21" fmla="*/ 24 h 114"/>
                <a:gd name="T22" fmla="*/ 42 w 96"/>
                <a:gd name="T23" fmla="*/ 30 h 114"/>
                <a:gd name="T24" fmla="*/ 54 w 96"/>
                <a:gd name="T25" fmla="*/ 42 h 114"/>
                <a:gd name="T26" fmla="*/ 60 w 96"/>
                <a:gd name="T27" fmla="*/ 48 h 114"/>
                <a:gd name="T28" fmla="*/ 72 w 96"/>
                <a:gd name="T29" fmla="*/ 60 h 114"/>
                <a:gd name="T30" fmla="*/ 78 w 96"/>
                <a:gd name="T31" fmla="*/ 72 h 114"/>
                <a:gd name="T32" fmla="*/ 84 w 96"/>
                <a:gd name="T33" fmla="*/ 90 h 114"/>
                <a:gd name="T34" fmla="*/ 84 w 96"/>
                <a:gd name="T35" fmla="*/ 102 h 114"/>
                <a:gd name="T36" fmla="*/ 84 w 96"/>
                <a:gd name="T37" fmla="*/ 114 h 114"/>
                <a:gd name="T38" fmla="*/ 90 w 96"/>
                <a:gd name="T39" fmla="*/ 108 h 11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6" h="114">
                  <a:moveTo>
                    <a:pt x="90" y="108"/>
                  </a:moveTo>
                  <a:lnTo>
                    <a:pt x="96" y="96"/>
                  </a:lnTo>
                  <a:lnTo>
                    <a:pt x="96" y="84"/>
                  </a:lnTo>
                  <a:lnTo>
                    <a:pt x="90" y="66"/>
                  </a:lnTo>
                  <a:lnTo>
                    <a:pt x="78" y="54"/>
                  </a:lnTo>
                  <a:lnTo>
                    <a:pt x="66" y="36"/>
                  </a:lnTo>
                  <a:lnTo>
                    <a:pt x="42" y="24"/>
                  </a:lnTo>
                  <a:lnTo>
                    <a:pt x="24" y="12"/>
                  </a:lnTo>
                  <a:lnTo>
                    <a:pt x="0" y="0"/>
                  </a:lnTo>
                  <a:lnTo>
                    <a:pt x="24" y="18"/>
                  </a:lnTo>
                  <a:lnTo>
                    <a:pt x="30" y="24"/>
                  </a:lnTo>
                  <a:lnTo>
                    <a:pt x="42" y="30"/>
                  </a:lnTo>
                  <a:lnTo>
                    <a:pt x="54" y="42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78" y="72"/>
                  </a:lnTo>
                  <a:lnTo>
                    <a:pt x="84" y="90"/>
                  </a:lnTo>
                  <a:lnTo>
                    <a:pt x="84" y="102"/>
                  </a:lnTo>
                  <a:lnTo>
                    <a:pt x="84" y="114"/>
                  </a:lnTo>
                  <a:lnTo>
                    <a:pt x="90" y="108"/>
                  </a:lnTo>
                  <a:close/>
                </a:path>
              </a:pathLst>
            </a:custGeom>
            <a:solidFill>
              <a:srgbClr val="FCA4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4" name="Freeform 25">
              <a:extLst>
                <a:ext uri="{FF2B5EF4-FFF2-40B4-BE49-F238E27FC236}">
                  <a16:creationId xmlns:a16="http://schemas.microsoft.com/office/drawing/2014/main" id="{96A36AE4-1F77-3146-A654-8C55F9EFE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" y="3537"/>
              <a:ext cx="114" cy="138"/>
            </a:xfrm>
            <a:custGeom>
              <a:avLst/>
              <a:gdLst>
                <a:gd name="T0" fmla="*/ 108 w 114"/>
                <a:gd name="T1" fmla="*/ 132 h 138"/>
                <a:gd name="T2" fmla="*/ 114 w 114"/>
                <a:gd name="T3" fmla="*/ 114 h 138"/>
                <a:gd name="T4" fmla="*/ 108 w 114"/>
                <a:gd name="T5" fmla="*/ 96 h 138"/>
                <a:gd name="T6" fmla="*/ 108 w 114"/>
                <a:gd name="T7" fmla="*/ 84 h 138"/>
                <a:gd name="T8" fmla="*/ 96 w 114"/>
                <a:gd name="T9" fmla="*/ 66 h 138"/>
                <a:gd name="T10" fmla="*/ 90 w 114"/>
                <a:gd name="T11" fmla="*/ 54 h 138"/>
                <a:gd name="T12" fmla="*/ 72 w 114"/>
                <a:gd name="T13" fmla="*/ 42 h 138"/>
                <a:gd name="T14" fmla="*/ 54 w 114"/>
                <a:gd name="T15" fmla="*/ 30 h 138"/>
                <a:gd name="T16" fmla="*/ 30 w 114"/>
                <a:gd name="T17" fmla="*/ 18 h 138"/>
                <a:gd name="T18" fmla="*/ 0 w 114"/>
                <a:gd name="T19" fmla="*/ 0 h 138"/>
                <a:gd name="T20" fmla="*/ 18 w 114"/>
                <a:gd name="T21" fmla="*/ 12 h 138"/>
                <a:gd name="T22" fmla="*/ 30 w 114"/>
                <a:gd name="T23" fmla="*/ 24 h 138"/>
                <a:gd name="T24" fmla="*/ 48 w 114"/>
                <a:gd name="T25" fmla="*/ 36 h 138"/>
                <a:gd name="T26" fmla="*/ 60 w 114"/>
                <a:gd name="T27" fmla="*/ 48 h 138"/>
                <a:gd name="T28" fmla="*/ 72 w 114"/>
                <a:gd name="T29" fmla="*/ 60 h 138"/>
                <a:gd name="T30" fmla="*/ 84 w 114"/>
                <a:gd name="T31" fmla="*/ 78 h 138"/>
                <a:gd name="T32" fmla="*/ 90 w 114"/>
                <a:gd name="T33" fmla="*/ 96 h 138"/>
                <a:gd name="T34" fmla="*/ 96 w 114"/>
                <a:gd name="T35" fmla="*/ 120 h 138"/>
                <a:gd name="T36" fmla="*/ 102 w 114"/>
                <a:gd name="T37" fmla="*/ 138 h 138"/>
                <a:gd name="T38" fmla="*/ 108 w 114"/>
                <a:gd name="T39" fmla="*/ 132 h 13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4" h="138">
                  <a:moveTo>
                    <a:pt x="108" y="132"/>
                  </a:moveTo>
                  <a:lnTo>
                    <a:pt x="114" y="114"/>
                  </a:lnTo>
                  <a:lnTo>
                    <a:pt x="108" y="96"/>
                  </a:lnTo>
                  <a:lnTo>
                    <a:pt x="108" y="84"/>
                  </a:lnTo>
                  <a:lnTo>
                    <a:pt x="96" y="66"/>
                  </a:lnTo>
                  <a:lnTo>
                    <a:pt x="90" y="54"/>
                  </a:lnTo>
                  <a:lnTo>
                    <a:pt x="72" y="42"/>
                  </a:lnTo>
                  <a:lnTo>
                    <a:pt x="54" y="30"/>
                  </a:lnTo>
                  <a:lnTo>
                    <a:pt x="30" y="18"/>
                  </a:lnTo>
                  <a:lnTo>
                    <a:pt x="0" y="0"/>
                  </a:lnTo>
                  <a:lnTo>
                    <a:pt x="18" y="12"/>
                  </a:lnTo>
                  <a:lnTo>
                    <a:pt x="30" y="24"/>
                  </a:lnTo>
                  <a:lnTo>
                    <a:pt x="48" y="36"/>
                  </a:lnTo>
                  <a:lnTo>
                    <a:pt x="60" y="48"/>
                  </a:lnTo>
                  <a:lnTo>
                    <a:pt x="72" y="60"/>
                  </a:lnTo>
                  <a:lnTo>
                    <a:pt x="84" y="78"/>
                  </a:lnTo>
                  <a:lnTo>
                    <a:pt x="90" y="96"/>
                  </a:lnTo>
                  <a:lnTo>
                    <a:pt x="96" y="120"/>
                  </a:lnTo>
                  <a:lnTo>
                    <a:pt x="102" y="138"/>
                  </a:lnTo>
                  <a:lnTo>
                    <a:pt x="108" y="132"/>
                  </a:lnTo>
                  <a:close/>
                </a:path>
              </a:pathLst>
            </a:custGeom>
            <a:solidFill>
              <a:srgbClr val="FCA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5" name="Freeform 26">
              <a:extLst>
                <a:ext uri="{FF2B5EF4-FFF2-40B4-BE49-F238E27FC236}">
                  <a16:creationId xmlns:a16="http://schemas.microsoft.com/office/drawing/2014/main" id="{EA15CBDD-EE70-4A4A-978D-540671BDA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675"/>
              <a:ext cx="90" cy="103"/>
            </a:xfrm>
            <a:custGeom>
              <a:avLst/>
              <a:gdLst>
                <a:gd name="T0" fmla="*/ 0 w 90"/>
                <a:gd name="T1" fmla="*/ 0 h 103"/>
                <a:gd name="T2" fmla="*/ 24 w 90"/>
                <a:gd name="T3" fmla="*/ 12 h 103"/>
                <a:gd name="T4" fmla="*/ 48 w 90"/>
                <a:gd name="T5" fmla="*/ 24 h 103"/>
                <a:gd name="T6" fmla="*/ 66 w 90"/>
                <a:gd name="T7" fmla="*/ 36 h 103"/>
                <a:gd name="T8" fmla="*/ 78 w 90"/>
                <a:gd name="T9" fmla="*/ 48 h 103"/>
                <a:gd name="T10" fmla="*/ 84 w 90"/>
                <a:gd name="T11" fmla="*/ 67 h 103"/>
                <a:gd name="T12" fmla="*/ 90 w 90"/>
                <a:gd name="T13" fmla="*/ 85 h 103"/>
                <a:gd name="T14" fmla="*/ 90 w 90"/>
                <a:gd name="T15" fmla="*/ 103 h 103"/>
                <a:gd name="T16" fmla="*/ 84 w 90"/>
                <a:gd name="T17" fmla="*/ 103 h 103"/>
                <a:gd name="T18" fmla="*/ 72 w 90"/>
                <a:gd name="T19" fmla="*/ 103 h 103"/>
                <a:gd name="T20" fmla="*/ 72 w 90"/>
                <a:gd name="T21" fmla="*/ 91 h 103"/>
                <a:gd name="T22" fmla="*/ 66 w 90"/>
                <a:gd name="T23" fmla="*/ 73 h 103"/>
                <a:gd name="T24" fmla="*/ 60 w 90"/>
                <a:gd name="T25" fmla="*/ 54 h 103"/>
                <a:gd name="T26" fmla="*/ 48 w 90"/>
                <a:gd name="T27" fmla="*/ 36 h 103"/>
                <a:gd name="T28" fmla="*/ 30 w 90"/>
                <a:gd name="T29" fmla="*/ 24 h 103"/>
                <a:gd name="T30" fmla="*/ 18 w 90"/>
                <a:gd name="T31" fmla="*/ 12 h 103"/>
                <a:gd name="T32" fmla="*/ 0 w 90"/>
                <a:gd name="T33" fmla="*/ 0 h 10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0" h="103">
                  <a:moveTo>
                    <a:pt x="0" y="0"/>
                  </a:moveTo>
                  <a:lnTo>
                    <a:pt x="24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48"/>
                  </a:lnTo>
                  <a:lnTo>
                    <a:pt x="84" y="67"/>
                  </a:lnTo>
                  <a:lnTo>
                    <a:pt x="90" y="85"/>
                  </a:lnTo>
                  <a:lnTo>
                    <a:pt x="90" y="103"/>
                  </a:lnTo>
                  <a:lnTo>
                    <a:pt x="84" y="103"/>
                  </a:lnTo>
                  <a:lnTo>
                    <a:pt x="72" y="103"/>
                  </a:lnTo>
                  <a:lnTo>
                    <a:pt x="72" y="91"/>
                  </a:lnTo>
                  <a:lnTo>
                    <a:pt x="66" y="73"/>
                  </a:lnTo>
                  <a:lnTo>
                    <a:pt x="60" y="54"/>
                  </a:lnTo>
                  <a:lnTo>
                    <a:pt x="48" y="36"/>
                  </a:lnTo>
                  <a:lnTo>
                    <a:pt x="30" y="24"/>
                  </a:lnTo>
                  <a:lnTo>
                    <a:pt x="18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6" name="Freeform 27">
              <a:extLst>
                <a:ext uri="{FF2B5EF4-FFF2-40B4-BE49-F238E27FC236}">
                  <a16:creationId xmlns:a16="http://schemas.microsoft.com/office/drawing/2014/main" id="{24EAC8AB-F80C-8644-8E7B-891BCFCEE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681"/>
              <a:ext cx="235" cy="151"/>
            </a:xfrm>
            <a:custGeom>
              <a:avLst/>
              <a:gdLst>
                <a:gd name="T0" fmla="*/ 84 w 235"/>
                <a:gd name="T1" fmla="*/ 24 h 151"/>
                <a:gd name="T2" fmla="*/ 120 w 235"/>
                <a:gd name="T3" fmla="*/ 30 h 151"/>
                <a:gd name="T4" fmla="*/ 157 w 235"/>
                <a:gd name="T5" fmla="*/ 42 h 151"/>
                <a:gd name="T6" fmla="*/ 175 w 235"/>
                <a:gd name="T7" fmla="*/ 54 h 151"/>
                <a:gd name="T8" fmla="*/ 199 w 235"/>
                <a:gd name="T9" fmla="*/ 73 h 151"/>
                <a:gd name="T10" fmla="*/ 217 w 235"/>
                <a:gd name="T11" fmla="*/ 91 h 151"/>
                <a:gd name="T12" fmla="*/ 235 w 235"/>
                <a:gd name="T13" fmla="*/ 109 h 151"/>
                <a:gd name="T14" fmla="*/ 205 w 235"/>
                <a:gd name="T15" fmla="*/ 85 h 151"/>
                <a:gd name="T16" fmla="*/ 175 w 235"/>
                <a:gd name="T17" fmla="*/ 67 h 151"/>
                <a:gd name="T18" fmla="*/ 157 w 235"/>
                <a:gd name="T19" fmla="*/ 48 h 151"/>
                <a:gd name="T20" fmla="*/ 132 w 235"/>
                <a:gd name="T21" fmla="*/ 48 h 151"/>
                <a:gd name="T22" fmla="*/ 114 w 235"/>
                <a:gd name="T23" fmla="*/ 42 h 151"/>
                <a:gd name="T24" fmla="*/ 102 w 235"/>
                <a:gd name="T25" fmla="*/ 36 h 151"/>
                <a:gd name="T26" fmla="*/ 108 w 235"/>
                <a:gd name="T27" fmla="*/ 54 h 151"/>
                <a:gd name="T28" fmla="*/ 108 w 235"/>
                <a:gd name="T29" fmla="*/ 73 h 151"/>
                <a:gd name="T30" fmla="*/ 114 w 235"/>
                <a:gd name="T31" fmla="*/ 91 h 151"/>
                <a:gd name="T32" fmla="*/ 120 w 235"/>
                <a:gd name="T33" fmla="*/ 109 h 151"/>
                <a:gd name="T34" fmla="*/ 126 w 235"/>
                <a:gd name="T35" fmla="*/ 127 h 151"/>
                <a:gd name="T36" fmla="*/ 132 w 235"/>
                <a:gd name="T37" fmla="*/ 133 h 151"/>
                <a:gd name="T38" fmla="*/ 138 w 235"/>
                <a:gd name="T39" fmla="*/ 151 h 151"/>
                <a:gd name="T40" fmla="*/ 126 w 235"/>
                <a:gd name="T41" fmla="*/ 133 h 151"/>
                <a:gd name="T42" fmla="*/ 120 w 235"/>
                <a:gd name="T43" fmla="*/ 115 h 151"/>
                <a:gd name="T44" fmla="*/ 108 w 235"/>
                <a:gd name="T45" fmla="*/ 97 h 151"/>
                <a:gd name="T46" fmla="*/ 102 w 235"/>
                <a:gd name="T47" fmla="*/ 85 h 151"/>
                <a:gd name="T48" fmla="*/ 96 w 235"/>
                <a:gd name="T49" fmla="*/ 67 h 151"/>
                <a:gd name="T50" fmla="*/ 96 w 235"/>
                <a:gd name="T51" fmla="*/ 54 h 151"/>
                <a:gd name="T52" fmla="*/ 84 w 235"/>
                <a:gd name="T53" fmla="*/ 42 h 151"/>
                <a:gd name="T54" fmla="*/ 78 w 235"/>
                <a:gd name="T55" fmla="*/ 30 h 151"/>
                <a:gd name="T56" fmla="*/ 66 w 235"/>
                <a:gd name="T57" fmla="*/ 18 h 151"/>
                <a:gd name="T58" fmla="*/ 54 w 235"/>
                <a:gd name="T59" fmla="*/ 12 h 151"/>
                <a:gd name="T60" fmla="*/ 36 w 235"/>
                <a:gd name="T61" fmla="*/ 12 h 151"/>
                <a:gd name="T62" fmla="*/ 18 w 235"/>
                <a:gd name="T63" fmla="*/ 18 h 151"/>
                <a:gd name="T64" fmla="*/ 12 w 235"/>
                <a:gd name="T65" fmla="*/ 30 h 151"/>
                <a:gd name="T66" fmla="*/ 30 w 235"/>
                <a:gd name="T67" fmla="*/ 42 h 151"/>
                <a:gd name="T68" fmla="*/ 36 w 235"/>
                <a:gd name="T69" fmla="*/ 54 h 151"/>
                <a:gd name="T70" fmla="*/ 42 w 235"/>
                <a:gd name="T71" fmla="*/ 79 h 151"/>
                <a:gd name="T72" fmla="*/ 42 w 235"/>
                <a:gd name="T73" fmla="*/ 91 h 151"/>
                <a:gd name="T74" fmla="*/ 42 w 235"/>
                <a:gd name="T75" fmla="*/ 79 h 151"/>
                <a:gd name="T76" fmla="*/ 36 w 235"/>
                <a:gd name="T77" fmla="*/ 67 h 151"/>
                <a:gd name="T78" fmla="*/ 30 w 235"/>
                <a:gd name="T79" fmla="*/ 54 h 151"/>
                <a:gd name="T80" fmla="*/ 24 w 235"/>
                <a:gd name="T81" fmla="*/ 42 h 151"/>
                <a:gd name="T82" fmla="*/ 12 w 235"/>
                <a:gd name="T83" fmla="*/ 36 h 151"/>
                <a:gd name="T84" fmla="*/ 0 w 235"/>
                <a:gd name="T85" fmla="*/ 36 h 151"/>
                <a:gd name="T86" fmla="*/ 6 w 235"/>
                <a:gd name="T87" fmla="*/ 24 h 151"/>
                <a:gd name="T88" fmla="*/ 6 w 235"/>
                <a:gd name="T89" fmla="*/ 18 h 151"/>
                <a:gd name="T90" fmla="*/ 12 w 235"/>
                <a:gd name="T91" fmla="*/ 6 h 151"/>
                <a:gd name="T92" fmla="*/ 24 w 235"/>
                <a:gd name="T93" fmla="*/ 6 h 151"/>
                <a:gd name="T94" fmla="*/ 36 w 235"/>
                <a:gd name="T95" fmla="*/ 0 h 151"/>
                <a:gd name="T96" fmla="*/ 54 w 235"/>
                <a:gd name="T97" fmla="*/ 0 h 151"/>
                <a:gd name="T98" fmla="*/ 72 w 235"/>
                <a:gd name="T99" fmla="*/ 12 h 151"/>
                <a:gd name="T100" fmla="*/ 84 w 235"/>
                <a:gd name="T101" fmla="*/ 24 h 15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35" h="151">
                  <a:moveTo>
                    <a:pt x="84" y="24"/>
                  </a:moveTo>
                  <a:lnTo>
                    <a:pt x="120" y="30"/>
                  </a:lnTo>
                  <a:lnTo>
                    <a:pt x="157" y="42"/>
                  </a:lnTo>
                  <a:lnTo>
                    <a:pt x="175" y="54"/>
                  </a:lnTo>
                  <a:lnTo>
                    <a:pt x="199" y="73"/>
                  </a:lnTo>
                  <a:lnTo>
                    <a:pt x="217" y="91"/>
                  </a:lnTo>
                  <a:lnTo>
                    <a:pt x="235" y="109"/>
                  </a:lnTo>
                  <a:lnTo>
                    <a:pt x="205" y="85"/>
                  </a:lnTo>
                  <a:lnTo>
                    <a:pt x="175" y="67"/>
                  </a:lnTo>
                  <a:lnTo>
                    <a:pt x="157" y="48"/>
                  </a:lnTo>
                  <a:lnTo>
                    <a:pt x="132" y="48"/>
                  </a:lnTo>
                  <a:lnTo>
                    <a:pt x="114" y="42"/>
                  </a:lnTo>
                  <a:lnTo>
                    <a:pt x="102" y="36"/>
                  </a:lnTo>
                  <a:lnTo>
                    <a:pt x="108" y="54"/>
                  </a:lnTo>
                  <a:lnTo>
                    <a:pt x="108" y="73"/>
                  </a:lnTo>
                  <a:lnTo>
                    <a:pt x="114" y="91"/>
                  </a:lnTo>
                  <a:lnTo>
                    <a:pt x="120" y="109"/>
                  </a:lnTo>
                  <a:lnTo>
                    <a:pt x="126" y="127"/>
                  </a:lnTo>
                  <a:lnTo>
                    <a:pt x="132" y="133"/>
                  </a:lnTo>
                  <a:lnTo>
                    <a:pt x="138" y="151"/>
                  </a:lnTo>
                  <a:lnTo>
                    <a:pt x="126" y="133"/>
                  </a:lnTo>
                  <a:lnTo>
                    <a:pt x="120" y="115"/>
                  </a:lnTo>
                  <a:lnTo>
                    <a:pt x="108" y="97"/>
                  </a:lnTo>
                  <a:lnTo>
                    <a:pt x="102" y="85"/>
                  </a:lnTo>
                  <a:lnTo>
                    <a:pt x="96" y="67"/>
                  </a:lnTo>
                  <a:lnTo>
                    <a:pt x="96" y="54"/>
                  </a:lnTo>
                  <a:lnTo>
                    <a:pt x="84" y="42"/>
                  </a:lnTo>
                  <a:lnTo>
                    <a:pt x="78" y="30"/>
                  </a:lnTo>
                  <a:lnTo>
                    <a:pt x="66" y="18"/>
                  </a:lnTo>
                  <a:lnTo>
                    <a:pt x="54" y="12"/>
                  </a:lnTo>
                  <a:lnTo>
                    <a:pt x="36" y="12"/>
                  </a:lnTo>
                  <a:lnTo>
                    <a:pt x="18" y="18"/>
                  </a:lnTo>
                  <a:lnTo>
                    <a:pt x="12" y="30"/>
                  </a:lnTo>
                  <a:lnTo>
                    <a:pt x="30" y="42"/>
                  </a:lnTo>
                  <a:lnTo>
                    <a:pt x="36" y="54"/>
                  </a:lnTo>
                  <a:lnTo>
                    <a:pt x="42" y="79"/>
                  </a:lnTo>
                  <a:lnTo>
                    <a:pt x="42" y="91"/>
                  </a:lnTo>
                  <a:lnTo>
                    <a:pt x="42" y="79"/>
                  </a:lnTo>
                  <a:lnTo>
                    <a:pt x="36" y="67"/>
                  </a:lnTo>
                  <a:lnTo>
                    <a:pt x="30" y="54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0" y="36"/>
                  </a:lnTo>
                  <a:lnTo>
                    <a:pt x="6" y="24"/>
                  </a:lnTo>
                  <a:lnTo>
                    <a:pt x="6" y="18"/>
                  </a:lnTo>
                  <a:lnTo>
                    <a:pt x="12" y="6"/>
                  </a:lnTo>
                  <a:lnTo>
                    <a:pt x="24" y="6"/>
                  </a:lnTo>
                  <a:lnTo>
                    <a:pt x="36" y="0"/>
                  </a:lnTo>
                  <a:lnTo>
                    <a:pt x="54" y="0"/>
                  </a:lnTo>
                  <a:lnTo>
                    <a:pt x="72" y="12"/>
                  </a:lnTo>
                  <a:lnTo>
                    <a:pt x="84" y="24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7" name="Freeform 28">
              <a:extLst>
                <a:ext uri="{FF2B5EF4-FFF2-40B4-BE49-F238E27FC236}">
                  <a16:creationId xmlns:a16="http://schemas.microsoft.com/office/drawing/2014/main" id="{0DAF5DF6-550F-254A-B75E-B57C38D09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3651"/>
              <a:ext cx="48" cy="42"/>
            </a:xfrm>
            <a:custGeom>
              <a:avLst/>
              <a:gdLst>
                <a:gd name="T0" fmla="*/ 6 w 48"/>
                <a:gd name="T1" fmla="*/ 42 h 42"/>
                <a:gd name="T2" fmla="*/ 12 w 48"/>
                <a:gd name="T3" fmla="*/ 30 h 42"/>
                <a:gd name="T4" fmla="*/ 12 w 48"/>
                <a:gd name="T5" fmla="*/ 18 h 42"/>
                <a:gd name="T6" fmla="*/ 24 w 48"/>
                <a:gd name="T7" fmla="*/ 12 h 42"/>
                <a:gd name="T8" fmla="*/ 30 w 48"/>
                <a:gd name="T9" fmla="*/ 6 h 42"/>
                <a:gd name="T10" fmla="*/ 48 w 48"/>
                <a:gd name="T11" fmla="*/ 0 h 42"/>
                <a:gd name="T12" fmla="*/ 36 w 48"/>
                <a:gd name="T13" fmla="*/ 0 h 42"/>
                <a:gd name="T14" fmla="*/ 18 w 48"/>
                <a:gd name="T15" fmla="*/ 6 h 42"/>
                <a:gd name="T16" fmla="*/ 6 w 48"/>
                <a:gd name="T17" fmla="*/ 18 h 42"/>
                <a:gd name="T18" fmla="*/ 0 w 48"/>
                <a:gd name="T19" fmla="*/ 30 h 42"/>
                <a:gd name="T20" fmla="*/ 6 w 48"/>
                <a:gd name="T21" fmla="*/ 42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8" h="42">
                  <a:moveTo>
                    <a:pt x="6" y="42"/>
                  </a:moveTo>
                  <a:lnTo>
                    <a:pt x="12" y="30"/>
                  </a:lnTo>
                  <a:lnTo>
                    <a:pt x="12" y="18"/>
                  </a:lnTo>
                  <a:lnTo>
                    <a:pt x="24" y="12"/>
                  </a:lnTo>
                  <a:lnTo>
                    <a:pt x="30" y="6"/>
                  </a:lnTo>
                  <a:lnTo>
                    <a:pt x="48" y="0"/>
                  </a:lnTo>
                  <a:lnTo>
                    <a:pt x="36" y="0"/>
                  </a:lnTo>
                  <a:lnTo>
                    <a:pt x="18" y="6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6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8" name="Freeform 29">
              <a:extLst>
                <a:ext uri="{FF2B5EF4-FFF2-40B4-BE49-F238E27FC236}">
                  <a16:creationId xmlns:a16="http://schemas.microsoft.com/office/drawing/2014/main" id="{CF196148-099D-984D-8DCA-47354E5E1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3621"/>
              <a:ext cx="18" cy="48"/>
            </a:xfrm>
            <a:custGeom>
              <a:avLst/>
              <a:gdLst>
                <a:gd name="T0" fmla="*/ 0 w 18"/>
                <a:gd name="T1" fmla="*/ 48 h 48"/>
                <a:gd name="T2" fmla="*/ 0 w 18"/>
                <a:gd name="T3" fmla="*/ 36 h 48"/>
                <a:gd name="T4" fmla="*/ 0 w 18"/>
                <a:gd name="T5" fmla="*/ 24 h 48"/>
                <a:gd name="T6" fmla="*/ 12 w 18"/>
                <a:gd name="T7" fmla="*/ 18 h 48"/>
                <a:gd name="T8" fmla="*/ 18 w 18"/>
                <a:gd name="T9" fmla="*/ 6 h 48"/>
                <a:gd name="T10" fmla="*/ 12 w 18"/>
                <a:gd name="T11" fmla="*/ 0 h 48"/>
                <a:gd name="T12" fmla="*/ 0 w 18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48">
                  <a:moveTo>
                    <a:pt x="0" y="48"/>
                  </a:moveTo>
                  <a:lnTo>
                    <a:pt x="0" y="36"/>
                  </a:lnTo>
                  <a:lnTo>
                    <a:pt x="0" y="24"/>
                  </a:lnTo>
                  <a:lnTo>
                    <a:pt x="12" y="18"/>
                  </a:lnTo>
                  <a:lnTo>
                    <a:pt x="18" y="6"/>
                  </a:lnTo>
                  <a:lnTo>
                    <a:pt x="12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39" name="Freeform 30">
              <a:extLst>
                <a:ext uri="{FF2B5EF4-FFF2-40B4-BE49-F238E27FC236}">
                  <a16:creationId xmlns:a16="http://schemas.microsoft.com/office/drawing/2014/main" id="{214B2A55-2457-864F-99FB-AEADF30F5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" y="3627"/>
              <a:ext cx="72" cy="193"/>
            </a:xfrm>
            <a:custGeom>
              <a:avLst/>
              <a:gdLst>
                <a:gd name="T0" fmla="*/ 30 w 72"/>
                <a:gd name="T1" fmla="*/ 193 h 193"/>
                <a:gd name="T2" fmla="*/ 36 w 72"/>
                <a:gd name="T3" fmla="*/ 169 h 193"/>
                <a:gd name="T4" fmla="*/ 30 w 72"/>
                <a:gd name="T5" fmla="*/ 139 h 193"/>
                <a:gd name="T6" fmla="*/ 30 w 72"/>
                <a:gd name="T7" fmla="*/ 102 h 193"/>
                <a:gd name="T8" fmla="*/ 30 w 72"/>
                <a:gd name="T9" fmla="*/ 66 h 193"/>
                <a:gd name="T10" fmla="*/ 30 w 72"/>
                <a:gd name="T11" fmla="*/ 54 h 193"/>
                <a:gd name="T12" fmla="*/ 36 w 72"/>
                <a:gd name="T13" fmla="*/ 42 h 193"/>
                <a:gd name="T14" fmla="*/ 48 w 72"/>
                <a:gd name="T15" fmla="*/ 36 h 193"/>
                <a:gd name="T16" fmla="*/ 60 w 72"/>
                <a:gd name="T17" fmla="*/ 30 h 193"/>
                <a:gd name="T18" fmla="*/ 66 w 72"/>
                <a:gd name="T19" fmla="*/ 24 h 193"/>
                <a:gd name="T20" fmla="*/ 66 w 72"/>
                <a:gd name="T21" fmla="*/ 12 h 193"/>
                <a:gd name="T22" fmla="*/ 72 w 72"/>
                <a:gd name="T23" fmla="*/ 0 h 193"/>
                <a:gd name="T24" fmla="*/ 60 w 72"/>
                <a:gd name="T25" fmla="*/ 12 h 193"/>
                <a:gd name="T26" fmla="*/ 60 w 72"/>
                <a:gd name="T27" fmla="*/ 24 h 193"/>
                <a:gd name="T28" fmla="*/ 48 w 72"/>
                <a:gd name="T29" fmla="*/ 24 h 193"/>
                <a:gd name="T30" fmla="*/ 36 w 72"/>
                <a:gd name="T31" fmla="*/ 30 h 193"/>
                <a:gd name="T32" fmla="*/ 30 w 72"/>
                <a:gd name="T33" fmla="*/ 36 h 193"/>
                <a:gd name="T34" fmla="*/ 24 w 72"/>
                <a:gd name="T35" fmla="*/ 42 h 193"/>
                <a:gd name="T36" fmla="*/ 12 w 72"/>
                <a:gd name="T37" fmla="*/ 36 h 193"/>
                <a:gd name="T38" fmla="*/ 6 w 72"/>
                <a:gd name="T39" fmla="*/ 24 h 193"/>
                <a:gd name="T40" fmla="*/ 6 w 72"/>
                <a:gd name="T41" fmla="*/ 12 h 193"/>
                <a:gd name="T42" fmla="*/ 0 w 72"/>
                <a:gd name="T43" fmla="*/ 6 h 193"/>
                <a:gd name="T44" fmla="*/ 0 w 72"/>
                <a:gd name="T45" fmla="*/ 18 h 193"/>
                <a:gd name="T46" fmla="*/ 0 w 72"/>
                <a:gd name="T47" fmla="*/ 36 h 193"/>
                <a:gd name="T48" fmla="*/ 0 w 72"/>
                <a:gd name="T49" fmla="*/ 48 h 193"/>
                <a:gd name="T50" fmla="*/ 6 w 72"/>
                <a:gd name="T51" fmla="*/ 60 h 193"/>
                <a:gd name="T52" fmla="*/ 0 w 72"/>
                <a:gd name="T53" fmla="*/ 72 h 193"/>
                <a:gd name="T54" fmla="*/ 6 w 72"/>
                <a:gd name="T55" fmla="*/ 90 h 193"/>
                <a:gd name="T56" fmla="*/ 12 w 72"/>
                <a:gd name="T57" fmla="*/ 102 h 193"/>
                <a:gd name="T58" fmla="*/ 12 w 72"/>
                <a:gd name="T59" fmla="*/ 115 h 193"/>
                <a:gd name="T60" fmla="*/ 18 w 72"/>
                <a:gd name="T61" fmla="*/ 127 h 193"/>
                <a:gd name="T62" fmla="*/ 18 w 72"/>
                <a:gd name="T63" fmla="*/ 139 h 193"/>
                <a:gd name="T64" fmla="*/ 12 w 72"/>
                <a:gd name="T65" fmla="*/ 145 h 193"/>
                <a:gd name="T66" fmla="*/ 0 w 72"/>
                <a:gd name="T67" fmla="*/ 139 h 193"/>
                <a:gd name="T68" fmla="*/ 6 w 72"/>
                <a:gd name="T69" fmla="*/ 151 h 193"/>
                <a:gd name="T70" fmla="*/ 12 w 72"/>
                <a:gd name="T71" fmla="*/ 163 h 193"/>
                <a:gd name="T72" fmla="*/ 12 w 72"/>
                <a:gd name="T73" fmla="*/ 175 h 193"/>
                <a:gd name="T74" fmla="*/ 18 w 72"/>
                <a:gd name="T75" fmla="*/ 187 h 193"/>
                <a:gd name="T76" fmla="*/ 30 w 72"/>
                <a:gd name="T77" fmla="*/ 193 h 19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72" h="193">
                  <a:moveTo>
                    <a:pt x="30" y="193"/>
                  </a:moveTo>
                  <a:lnTo>
                    <a:pt x="36" y="169"/>
                  </a:lnTo>
                  <a:lnTo>
                    <a:pt x="30" y="139"/>
                  </a:lnTo>
                  <a:lnTo>
                    <a:pt x="30" y="102"/>
                  </a:lnTo>
                  <a:lnTo>
                    <a:pt x="30" y="6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8" y="36"/>
                  </a:lnTo>
                  <a:lnTo>
                    <a:pt x="60" y="30"/>
                  </a:lnTo>
                  <a:lnTo>
                    <a:pt x="66" y="24"/>
                  </a:lnTo>
                  <a:lnTo>
                    <a:pt x="66" y="12"/>
                  </a:lnTo>
                  <a:lnTo>
                    <a:pt x="72" y="0"/>
                  </a:lnTo>
                  <a:lnTo>
                    <a:pt x="60" y="12"/>
                  </a:lnTo>
                  <a:lnTo>
                    <a:pt x="60" y="24"/>
                  </a:lnTo>
                  <a:lnTo>
                    <a:pt x="48" y="24"/>
                  </a:lnTo>
                  <a:lnTo>
                    <a:pt x="36" y="30"/>
                  </a:lnTo>
                  <a:lnTo>
                    <a:pt x="30" y="36"/>
                  </a:lnTo>
                  <a:lnTo>
                    <a:pt x="24" y="42"/>
                  </a:lnTo>
                  <a:lnTo>
                    <a:pt x="12" y="36"/>
                  </a:lnTo>
                  <a:lnTo>
                    <a:pt x="6" y="24"/>
                  </a:lnTo>
                  <a:lnTo>
                    <a:pt x="6" y="12"/>
                  </a:lnTo>
                  <a:lnTo>
                    <a:pt x="0" y="6"/>
                  </a:lnTo>
                  <a:lnTo>
                    <a:pt x="0" y="18"/>
                  </a:lnTo>
                  <a:lnTo>
                    <a:pt x="0" y="36"/>
                  </a:lnTo>
                  <a:lnTo>
                    <a:pt x="0" y="48"/>
                  </a:lnTo>
                  <a:lnTo>
                    <a:pt x="6" y="60"/>
                  </a:lnTo>
                  <a:lnTo>
                    <a:pt x="0" y="72"/>
                  </a:lnTo>
                  <a:lnTo>
                    <a:pt x="6" y="90"/>
                  </a:lnTo>
                  <a:lnTo>
                    <a:pt x="12" y="102"/>
                  </a:lnTo>
                  <a:lnTo>
                    <a:pt x="12" y="115"/>
                  </a:lnTo>
                  <a:lnTo>
                    <a:pt x="18" y="127"/>
                  </a:lnTo>
                  <a:lnTo>
                    <a:pt x="18" y="139"/>
                  </a:lnTo>
                  <a:lnTo>
                    <a:pt x="12" y="145"/>
                  </a:lnTo>
                  <a:lnTo>
                    <a:pt x="0" y="139"/>
                  </a:lnTo>
                  <a:lnTo>
                    <a:pt x="6" y="151"/>
                  </a:lnTo>
                  <a:lnTo>
                    <a:pt x="12" y="163"/>
                  </a:lnTo>
                  <a:lnTo>
                    <a:pt x="12" y="175"/>
                  </a:lnTo>
                  <a:lnTo>
                    <a:pt x="18" y="187"/>
                  </a:lnTo>
                  <a:lnTo>
                    <a:pt x="30" y="193"/>
                  </a:lnTo>
                  <a:close/>
                </a:path>
              </a:pathLst>
            </a:custGeom>
            <a:solidFill>
              <a:srgbClr val="FCA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40" name="Freeform 31">
              <a:extLst>
                <a:ext uri="{FF2B5EF4-FFF2-40B4-BE49-F238E27FC236}">
                  <a16:creationId xmlns:a16="http://schemas.microsoft.com/office/drawing/2014/main" id="{364CC934-8FB3-A34A-AE15-6E42477AB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" y="3778"/>
              <a:ext cx="36" cy="36"/>
            </a:xfrm>
            <a:custGeom>
              <a:avLst/>
              <a:gdLst>
                <a:gd name="T0" fmla="*/ 6 w 36"/>
                <a:gd name="T1" fmla="*/ 12 h 36"/>
                <a:gd name="T2" fmla="*/ 12 w 36"/>
                <a:gd name="T3" fmla="*/ 12 h 36"/>
                <a:gd name="T4" fmla="*/ 24 w 36"/>
                <a:gd name="T5" fmla="*/ 12 h 36"/>
                <a:gd name="T6" fmla="*/ 30 w 36"/>
                <a:gd name="T7" fmla="*/ 18 h 36"/>
                <a:gd name="T8" fmla="*/ 36 w 36"/>
                <a:gd name="T9" fmla="*/ 36 h 36"/>
                <a:gd name="T10" fmla="*/ 36 w 36"/>
                <a:gd name="T11" fmla="*/ 24 h 36"/>
                <a:gd name="T12" fmla="*/ 30 w 36"/>
                <a:gd name="T13" fmla="*/ 12 h 36"/>
                <a:gd name="T14" fmla="*/ 24 w 36"/>
                <a:gd name="T15" fmla="*/ 6 h 36"/>
                <a:gd name="T16" fmla="*/ 12 w 36"/>
                <a:gd name="T17" fmla="*/ 0 h 36"/>
                <a:gd name="T18" fmla="*/ 0 w 36"/>
                <a:gd name="T19" fmla="*/ 0 h 36"/>
                <a:gd name="T20" fmla="*/ 6 w 36"/>
                <a:gd name="T21" fmla="*/ 12 h 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" h="36">
                  <a:moveTo>
                    <a:pt x="6" y="12"/>
                  </a:moveTo>
                  <a:lnTo>
                    <a:pt x="12" y="12"/>
                  </a:lnTo>
                  <a:lnTo>
                    <a:pt x="24" y="12"/>
                  </a:lnTo>
                  <a:lnTo>
                    <a:pt x="30" y="18"/>
                  </a:lnTo>
                  <a:lnTo>
                    <a:pt x="36" y="36"/>
                  </a:lnTo>
                  <a:lnTo>
                    <a:pt x="36" y="24"/>
                  </a:lnTo>
                  <a:lnTo>
                    <a:pt x="30" y="12"/>
                  </a:lnTo>
                  <a:lnTo>
                    <a:pt x="24" y="6"/>
                  </a:lnTo>
                  <a:lnTo>
                    <a:pt x="12" y="0"/>
                  </a:lnTo>
                  <a:lnTo>
                    <a:pt x="0" y="0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41" name="Freeform 32">
              <a:extLst>
                <a:ext uri="{FF2B5EF4-FFF2-40B4-BE49-F238E27FC236}">
                  <a16:creationId xmlns:a16="http://schemas.microsoft.com/office/drawing/2014/main" id="{867A9CB9-D61E-C04C-A6B8-78F6C181A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3405"/>
              <a:ext cx="60" cy="108"/>
            </a:xfrm>
            <a:custGeom>
              <a:avLst/>
              <a:gdLst>
                <a:gd name="T0" fmla="*/ 0 w 60"/>
                <a:gd name="T1" fmla="*/ 42 h 108"/>
                <a:gd name="T2" fmla="*/ 6 w 60"/>
                <a:gd name="T3" fmla="*/ 54 h 108"/>
                <a:gd name="T4" fmla="*/ 12 w 60"/>
                <a:gd name="T5" fmla="*/ 66 h 108"/>
                <a:gd name="T6" fmla="*/ 18 w 60"/>
                <a:gd name="T7" fmla="*/ 72 h 108"/>
                <a:gd name="T8" fmla="*/ 24 w 60"/>
                <a:gd name="T9" fmla="*/ 78 h 108"/>
                <a:gd name="T10" fmla="*/ 30 w 60"/>
                <a:gd name="T11" fmla="*/ 96 h 108"/>
                <a:gd name="T12" fmla="*/ 36 w 60"/>
                <a:gd name="T13" fmla="*/ 108 h 108"/>
                <a:gd name="T14" fmla="*/ 36 w 60"/>
                <a:gd name="T15" fmla="*/ 90 h 108"/>
                <a:gd name="T16" fmla="*/ 30 w 60"/>
                <a:gd name="T17" fmla="*/ 78 h 108"/>
                <a:gd name="T18" fmla="*/ 24 w 60"/>
                <a:gd name="T19" fmla="*/ 66 h 108"/>
                <a:gd name="T20" fmla="*/ 18 w 60"/>
                <a:gd name="T21" fmla="*/ 54 h 108"/>
                <a:gd name="T22" fmla="*/ 30 w 60"/>
                <a:gd name="T23" fmla="*/ 48 h 108"/>
                <a:gd name="T24" fmla="*/ 36 w 60"/>
                <a:gd name="T25" fmla="*/ 42 h 108"/>
                <a:gd name="T26" fmla="*/ 42 w 60"/>
                <a:gd name="T27" fmla="*/ 36 h 108"/>
                <a:gd name="T28" fmla="*/ 54 w 60"/>
                <a:gd name="T29" fmla="*/ 18 h 108"/>
                <a:gd name="T30" fmla="*/ 60 w 60"/>
                <a:gd name="T31" fmla="*/ 0 h 108"/>
                <a:gd name="T32" fmla="*/ 0 w 60"/>
                <a:gd name="T33" fmla="*/ 42 h 10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0" h="108">
                  <a:moveTo>
                    <a:pt x="0" y="42"/>
                  </a:moveTo>
                  <a:lnTo>
                    <a:pt x="6" y="54"/>
                  </a:lnTo>
                  <a:lnTo>
                    <a:pt x="12" y="66"/>
                  </a:lnTo>
                  <a:lnTo>
                    <a:pt x="18" y="72"/>
                  </a:lnTo>
                  <a:lnTo>
                    <a:pt x="24" y="78"/>
                  </a:lnTo>
                  <a:lnTo>
                    <a:pt x="30" y="96"/>
                  </a:lnTo>
                  <a:lnTo>
                    <a:pt x="36" y="108"/>
                  </a:lnTo>
                  <a:lnTo>
                    <a:pt x="36" y="90"/>
                  </a:lnTo>
                  <a:lnTo>
                    <a:pt x="30" y="78"/>
                  </a:lnTo>
                  <a:lnTo>
                    <a:pt x="24" y="66"/>
                  </a:lnTo>
                  <a:lnTo>
                    <a:pt x="18" y="54"/>
                  </a:lnTo>
                  <a:lnTo>
                    <a:pt x="30" y="48"/>
                  </a:lnTo>
                  <a:lnTo>
                    <a:pt x="36" y="42"/>
                  </a:lnTo>
                  <a:lnTo>
                    <a:pt x="42" y="36"/>
                  </a:lnTo>
                  <a:lnTo>
                    <a:pt x="54" y="18"/>
                  </a:lnTo>
                  <a:lnTo>
                    <a:pt x="6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42" name="Freeform 33">
              <a:extLst>
                <a:ext uri="{FF2B5EF4-FFF2-40B4-BE49-F238E27FC236}">
                  <a16:creationId xmlns:a16="http://schemas.microsoft.com/office/drawing/2014/main" id="{404E27D2-59F3-0E42-84DE-5EEFF62F5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3952"/>
              <a:ext cx="42" cy="72"/>
            </a:xfrm>
            <a:custGeom>
              <a:avLst/>
              <a:gdLst>
                <a:gd name="T0" fmla="*/ 0 w 42"/>
                <a:gd name="T1" fmla="*/ 6 h 72"/>
                <a:gd name="T2" fmla="*/ 12 w 42"/>
                <a:gd name="T3" fmla="*/ 0 h 72"/>
                <a:gd name="T4" fmla="*/ 18 w 42"/>
                <a:gd name="T5" fmla="*/ 0 h 72"/>
                <a:gd name="T6" fmla="*/ 30 w 42"/>
                <a:gd name="T7" fmla="*/ 0 h 72"/>
                <a:gd name="T8" fmla="*/ 36 w 42"/>
                <a:gd name="T9" fmla="*/ 6 h 72"/>
                <a:gd name="T10" fmla="*/ 42 w 42"/>
                <a:gd name="T11" fmla="*/ 12 h 72"/>
                <a:gd name="T12" fmla="*/ 42 w 42"/>
                <a:gd name="T13" fmla="*/ 24 h 72"/>
                <a:gd name="T14" fmla="*/ 42 w 42"/>
                <a:gd name="T15" fmla="*/ 42 h 72"/>
                <a:gd name="T16" fmla="*/ 42 w 42"/>
                <a:gd name="T17" fmla="*/ 54 h 72"/>
                <a:gd name="T18" fmla="*/ 42 w 42"/>
                <a:gd name="T19" fmla="*/ 60 h 72"/>
                <a:gd name="T20" fmla="*/ 36 w 42"/>
                <a:gd name="T21" fmla="*/ 72 h 72"/>
                <a:gd name="T22" fmla="*/ 30 w 42"/>
                <a:gd name="T23" fmla="*/ 72 h 72"/>
                <a:gd name="T24" fmla="*/ 18 w 42"/>
                <a:gd name="T25" fmla="*/ 72 h 72"/>
                <a:gd name="T26" fmla="*/ 12 w 42"/>
                <a:gd name="T27" fmla="*/ 66 h 72"/>
                <a:gd name="T28" fmla="*/ 12 w 42"/>
                <a:gd name="T29" fmla="*/ 60 h 72"/>
                <a:gd name="T30" fmla="*/ 6 w 42"/>
                <a:gd name="T31" fmla="*/ 42 h 72"/>
                <a:gd name="T32" fmla="*/ 6 w 42"/>
                <a:gd name="T33" fmla="*/ 36 h 72"/>
                <a:gd name="T34" fmla="*/ 6 w 42"/>
                <a:gd name="T35" fmla="*/ 18 h 72"/>
                <a:gd name="T36" fmla="*/ 0 w 42"/>
                <a:gd name="T37" fmla="*/ 6 h 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2" h="72">
                  <a:moveTo>
                    <a:pt x="0" y="6"/>
                  </a:moveTo>
                  <a:lnTo>
                    <a:pt x="12" y="0"/>
                  </a:lnTo>
                  <a:lnTo>
                    <a:pt x="18" y="0"/>
                  </a:lnTo>
                  <a:lnTo>
                    <a:pt x="30" y="0"/>
                  </a:lnTo>
                  <a:lnTo>
                    <a:pt x="36" y="6"/>
                  </a:lnTo>
                  <a:lnTo>
                    <a:pt x="42" y="12"/>
                  </a:lnTo>
                  <a:lnTo>
                    <a:pt x="42" y="24"/>
                  </a:lnTo>
                  <a:lnTo>
                    <a:pt x="42" y="42"/>
                  </a:lnTo>
                  <a:lnTo>
                    <a:pt x="42" y="54"/>
                  </a:lnTo>
                  <a:lnTo>
                    <a:pt x="42" y="60"/>
                  </a:lnTo>
                  <a:lnTo>
                    <a:pt x="36" y="72"/>
                  </a:lnTo>
                  <a:lnTo>
                    <a:pt x="30" y="72"/>
                  </a:lnTo>
                  <a:lnTo>
                    <a:pt x="18" y="72"/>
                  </a:lnTo>
                  <a:lnTo>
                    <a:pt x="12" y="66"/>
                  </a:lnTo>
                  <a:lnTo>
                    <a:pt x="12" y="60"/>
                  </a:lnTo>
                  <a:lnTo>
                    <a:pt x="6" y="42"/>
                  </a:lnTo>
                  <a:lnTo>
                    <a:pt x="6" y="36"/>
                  </a:lnTo>
                  <a:lnTo>
                    <a:pt x="6" y="18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CA4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43" name="Freeform 34">
              <a:extLst>
                <a:ext uri="{FF2B5EF4-FFF2-40B4-BE49-F238E27FC236}">
                  <a16:creationId xmlns:a16="http://schemas.microsoft.com/office/drawing/2014/main" id="{04420C77-1B33-E142-9A07-B73E7AE60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9" y="3832"/>
              <a:ext cx="84" cy="60"/>
            </a:xfrm>
            <a:custGeom>
              <a:avLst/>
              <a:gdLst>
                <a:gd name="T0" fmla="*/ 0 w 84"/>
                <a:gd name="T1" fmla="*/ 0 h 60"/>
                <a:gd name="T2" fmla="*/ 0 w 84"/>
                <a:gd name="T3" fmla="*/ 12 h 60"/>
                <a:gd name="T4" fmla="*/ 6 w 84"/>
                <a:gd name="T5" fmla="*/ 18 h 60"/>
                <a:gd name="T6" fmla="*/ 6 w 84"/>
                <a:gd name="T7" fmla="*/ 24 h 60"/>
                <a:gd name="T8" fmla="*/ 12 w 84"/>
                <a:gd name="T9" fmla="*/ 24 h 60"/>
                <a:gd name="T10" fmla="*/ 18 w 84"/>
                <a:gd name="T11" fmla="*/ 30 h 60"/>
                <a:gd name="T12" fmla="*/ 12 w 84"/>
                <a:gd name="T13" fmla="*/ 30 h 60"/>
                <a:gd name="T14" fmla="*/ 12 w 84"/>
                <a:gd name="T15" fmla="*/ 36 h 60"/>
                <a:gd name="T16" fmla="*/ 18 w 84"/>
                <a:gd name="T17" fmla="*/ 42 h 60"/>
                <a:gd name="T18" fmla="*/ 18 w 84"/>
                <a:gd name="T19" fmla="*/ 48 h 60"/>
                <a:gd name="T20" fmla="*/ 18 w 84"/>
                <a:gd name="T21" fmla="*/ 54 h 60"/>
                <a:gd name="T22" fmla="*/ 24 w 84"/>
                <a:gd name="T23" fmla="*/ 60 h 60"/>
                <a:gd name="T24" fmla="*/ 30 w 84"/>
                <a:gd name="T25" fmla="*/ 54 h 60"/>
                <a:gd name="T26" fmla="*/ 36 w 84"/>
                <a:gd name="T27" fmla="*/ 48 h 60"/>
                <a:gd name="T28" fmla="*/ 42 w 84"/>
                <a:gd name="T29" fmla="*/ 42 h 60"/>
                <a:gd name="T30" fmla="*/ 54 w 84"/>
                <a:gd name="T31" fmla="*/ 42 h 60"/>
                <a:gd name="T32" fmla="*/ 60 w 84"/>
                <a:gd name="T33" fmla="*/ 42 h 60"/>
                <a:gd name="T34" fmla="*/ 72 w 84"/>
                <a:gd name="T35" fmla="*/ 48 h 60"/>
                <a:gd name="T36" fmla="*/ 60 w 84"/>
                <a:gd name="T37" fmla="*/ 42 h 60"/>
                <a:gd name="T38" fmla="*/ 48 w 84"/>
                <a:gd name="T39" fmla="*/ 36 h 60"/>
                <a:gd name="T40" fmla="*/ 36 w 84"/>
                <a:gd name="T41" fmla="*/ 36 h 60"/>
                <a:gd name="T42" fmla="*/ 30 w 84"/>
                <a:gd name="T43" fmla="*/ 42 h 60"/>
                <a:gd name="T44" fmla="*/ 24 w 84"/>
                <a:gd name="T45" fmla="*/ 48 h 60"/>
                <a:gd name="T46" fmla="*/ 18 w 84"/>
                <a:gd name="T47" fmla="*/ 42 h 60"/>
                <a:gd name="T48" fmla="*/ 24 w 84"/>
                <a:gd name="T49" fmla="*/ 36 h 60"/>
                <a:gd name="T50" fmla="*/ 30 w 84"/>
                <a:gd name="T51" fmla="*/ 30 h 60"/>
                <a:gd name="T52" fmla="*/ 36 w 84"/>
                <a:gd name="T53" fmla="*/ 30 h 60"/>
                <a:gd name="T54" fmla="*/ 42 w 84"/>
                <a:gd name="T55" fmla="*/ 30 h 60"/>
                <a:gd name="T56" fmla="*/ 36 w 84"/>
                <a:gd name="T57" fmla="*/ 24 h 60"/>
                <a:gd name="T58" fmla="*/ 24 w 84"/>
                <a:gd name="T59" fmla="*/ 24 h 60"/>
                <a:gd name="T60" fmla="*/ 18 w 84"/>
                <a:gd name="T61" fmla="*/ 30 h 60"/>
                <a:gd name="T62" fmla="*/ 18 w 84"/>
                <a:gd name="T63" fmla="*/ 24 h 60"/>
                <a:gd name="T64" fmla="*/ 30 w 84"/>
                <a:gd name="T65" fmla="*/ 18 h 60"/>
                <a:gd name="T66" fmla="*/ 42 w 84"/>
                <a:gd name="T67" fmla="*/ 18 h 60"/>
                <a:gd name="T68" fmla="*/ 54 w 84"/>
                <a:gd name="T69" fmla="*/ 18 h 60"/>
                <a:gd name="T70" fmla="*/ 72 w 84"/>
                <a:gd name="T71" fmla="*/ 18 h 60"/>
                <a:gd name="T72" fmla="*/ 84 w 84"/>
                <a:gd name="T73" fmla="*/ 24 h 60"/>
                <a:gd name="T74" fmla="*/ 72 w 84"/>
                <a:gd name="T75" fmla="*/ 18 h 60"/>
                <a:gd name="T76" fmla="*/ 54 w 84"/>
                <a:gd name="T77" fmla="*/ 12 h 60"/>
                <a:gd name="T78" fmla="*/ 48 w 84"/>
                <a:gd name="T79" fmla="*/ 12 h 60"/>
                <a:gd name="T80" fmla="*/ 36 w 84"/>
                <a:gd name="T81" fmla="*/ 12 h 60"/>
                <a:gd name="T82" fmla="*/ 24 w 84"/>
                <a:gd name="T83" fmla="*/ 12 h 60"/>
                <a:gd name="T84" fmla="*/ 12 w 84"/>
                <a:gd name="T85" fmla="*/ 12 h 60"/>
                <a:gd name="T86" fmla="*/ 6 w 84"/>
                <a:gd name="T87" fmla="*/ 6 h 60"/>
                <a:gd name="T88" fmla="*/ 0 w 84"/>
                <a:gd name="T89" fmla="*/ 0 h 6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4" h="60">
                  <a:moveTo>
                    <a:pt x="0" y="0"/>
                  </a:moveTo>
                  <a:lnTo>
                    <a:pt x="0" y="12"/>
                  </a:lnTo>
                  <a:lnTo>
                    <a:pt x="6" y="18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12" y="36"/>
                  </a:lnTo>
                  <a:lnTo>
                    <a:pt x="18" y="42"/>
                  </a:lnTo>
                  <a:lnTo>
                    <a:pt x="18" y="48"/>
                  </a:lnTo>
                  <a:lnTo>
                    <a:pt x="18" y="54"/>
                  </a:lnTo>
                  <a:lnTo>
                    <a:pt x="24" y="60"/>
                  </a:lnTo>
                  <a:lnTo>
                    <a:pt x="30" y="54"/>
                  </a:lnTo>
                  <a:lnTo>
                    <a:pt x="36" y="48"/>
                  </a:lnTo>
                  <a:lnTo>
                    <a:pt x="42" y="42"/>
                  </a:lnTo>
                  <a:lnTo>
                    <a:pt x="54" y="42"/>
                  </a:lnTo>
                  <a:lnTo>
                    <a:pt x="60" y="42"/>
                  </a:lnTo>
                  <a:lnTo>
                    <a:pt x="72" y="48"/>
                  </a:lnTo>
                  <a:lnTo>
                    <a:pt x="60" y="42"/>
                  </a:lnTo>
                  <a:lnTo>
                    <a:pt x="48" y="36"/>
                  </a:lnTo>
                  <a:lnTo>
                    <a:pt x="36" y="36"/>
                  </a:lnTo>
                  <a:lnTo>
                    <a:pt x="30" y="42"/>
                  </a:lnTo>
                  <a:lnTo>
                    <a:pt x="24" y="48"/>
                  </a:lnTo>
                  <a:lnTo>
                    <a:pt x="18" y="42"/>
                  </a:lnTo>
                  <a:lnTo>
                    <a:pt x="24" y="36"/>
                  </a:lnTo>
                  <a:lnTo>
                    <a:pt x="30" y="30"/>
                  </a:lnTo>
                  <a:lnTo>
                    <a:pt x="36" y="30"/>
                  </a:lnTo>
                  <a:lnTo>
                    <a:pt x="42" y="30"/>
                  </a:lnTo>
                  <a:lnTo>
                    <a:pt x="36" y="24"/>
                  </a:lnTo>
                  <a:lnTo>
                    <a:pt x="24" y="24"/>
                  </a:lnTo>
                  <a:lnTo>
                    <a:pt x="18" y="30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54" y="18"/>
                  </a:lnTo>
                  <a:lnTo>
                    <a:pt x="72" y="18"/>
                  </a:lnTo>
                  <a:lnTo>
                    <a:pt x="84" y="24"/>
                  </a:lnTo>
                  <a:lnTo>
                    <a:pt x="72" y="18"/>
                  </a:lnTo>
                  <a:lnTo>
                    <a:pt x="54" y="12"/>
                  </a:lnTo>
                  <a:lnTo>
                    <a:pt x="48" y="12"/>
                  </a:lnTo>
                  <a:lnTo>
                    <a:pt x="36" y="12"/>
                  </a:lnTo>
                  <a:lnTo>
                    <a:pt x="24" y="12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7244" name="Freeform 35">
              <a:extLst>
                <a:ext uri="{FF2B5EF4-FFF2-40B4-BE49-F238E27FC236}">
                  <a16:creationId xmlns:a16="http://schemas.microsoft.com/office/drawing/2014/main" id="{17BCB2E8-17A4-EA48-9D04-79F0E5CFE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5" y="3916"/>
              <a:ext cx="24" cy="18"/>
            </a:xfrm>
            <a:custGeom>
              <a:avLst/>
              <a:gdLst>
                <a:gd name="T0" fmla="*/ 0 w 24"/>
                <a:gd name="T1" fmla="*/ 0 h 18"/>
                <a:gd name="T2" fmla="*/ 0 w 24"/>
                <a:gd name="T3" fmla="*/ 6 h 18"/>
                <a:gd name="T4" fmla="*/ 6 w 24"/>
                <a:gd name="T5" fmla="*/ 12 h 18"/>
                <a:gd name="T6" fmla="*/ 6 w 24"/>
                <a:gd name="T7" fmla="*/ 18 h 18"/>
                <a:gd name="T8" fmla="*/ 12 w 24"/>
                <a:gd name="T9" fmla="*/ 18 h 18"/>
                <a:gd name="T10" fmla="*/ 18 w 24"/>
                <a:gd name="T11" fmla="*/ 12 h 18"/>
                <a:gd name="T12" fmla="*/ 24 w 24"/>
                <a:gd name="T13" fmla="*/ 12 h 18"/>
                <a:gd name="T14" fmla="*/ 18 w 24"/>
                <a:gd name="T15" fmla="*/ 12 h 18"/>
                <a:gd name="T16" fmla="*/ 12 w 24"/>
                <a:gd name="T17" fmla="*/ 12 h 18"/>
                <a:gd name="T18" fmla="*/ 0 w 24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18">
                  <a:moveTo>
                    <a:pt x="0" y="0"/>
                  </a:moveTo>
                  <a:lnTo>
                    <a:pt x="0" y="6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18" y="12"/>
                  </a:lnTo>
                  <a:lnTo>
                    <a:pt x="12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A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48164" name="Text Box 36">
            <a:extLst>
              <a:ext uri="{FF2B5EF4-FFF2-40B4-BE49-F238E27FC236}">
                <a16:creationId xmlns:a16="http://schemas.microsoft.com/office/drawing/2014/main" id="{52BD769E-861F-D546-9799-EFF92A08E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90925"/>
            <a:ext cx="67818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sz="2400"/>
              <a:t>计算精度可控，特别适用于求解系数为大型稀疏矩阵</a:t>
            </a:r>
            <a:r>
              <a:rPr lang="en-US" altLang="zh-CN" sz="2400"/>
              <a:t> 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</a:rPr>
              <a:t>/* sparse matrices */</a:t>
            </a:r>
            <a:r>
              <a:rPr lang="en-US" altLang="zh-CN" sz="2400"/>
              <a:t> </a:t>
            </a:r>
            <a:r>
              <a:rPr lang="zh-CN" altLang="en-US" sz="2400"/>
              <a:t>的方程组。</a:t>
            </a:r>
            <a:endParaRPr lang="en-US" altLang="zh-CN" sz="2400"/>
          </a:p>
        </p:txBody>
      </p:sp>
      <p:grpSp>
        <p:nvGrpSpPr>
          <p:cNvPr id="48219" name="Group 91">
            <a:extLst>
              <a:ext uri="{FF2B5EF4-FFF2-40B4-BE49-F238E27FC236}">
                <a16:creationId xmlns:a16="http://schemas.microsoft.com/office/drawing/2014/main" id="{EBD20425-CD75-A74C-9091-B2E55C45910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505325"/>
            <a:ext cx="1981200" cy="1295400"/>
            <a:chOff x="528" y="3024"/>
            <a:chExt cx="1248" cy="816"/>
          </a:xfrm>
        </p:grpSpPr>
        <p:grpSp>
          <p:nvGrpSpPr>
            <p:cNvPr id="7178" name="Group 89">
              <a:extLst>
                <a:ext uri="{FF2B5EF4-FFF2-40B4-BE49-F238E27FC236}">
                  <a16:creationId xmlns:a16="http://schemas.microsoft.com/office/drawing/2014/main" id="{2A62DBC1-23D4-B14D-A8CF-71E04848677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28" y="3024"/>
              <a:ext cx="576" cy="816"/>
              <a:chOff x="448" y="2989"/>
              <a:chExt cx="818" cy="1133"/>
            </a:xfrm>
          </p:grpSpPr>
          <p:grpSp>
            <p:nvGrpSpPr>
              <p:cNvPr id="7180" name="Group 52">
                <a:extLst>
                  <a:ext uri="{FF2B5EF4-FFF2-40B4-BE49-F238E27FC236}">
                    <a16:creationId xmlns:a16="http://schemas.microsoft.com/office/drawing/2014/main" id="{18C7836C-BC9B-D545-8006-069AFB76D0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8" y="2989"/>
                <a:ext cx="694" cy="689"/>
                <a:chOff x="448" y="2989"/>
                <a:chExt cx="694" cy="689"/>
              </a:xfrm>
            </p:grpSpPr>
            <p:grpSp>
              <p:nvGrpSpPr>
                <p:cNvPr id="7217" name="Group 46">
                  <a:extLst>
                    <a:ext uri="{FF2B5EF4-FFF2-40B4-BE49-F238E27FC236}">
                      <a16:creationId xmlns:a16="http://schemas.microsoft.com/office/drawing/2014/main" id="{1C19F0E7-F54C-274F-9050-CF27C5BA51C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1" y="2998"/>
                  <a:ext cx="681" cy="679"/>
                  <a:chOff x="461" y="2998"/>
                  <a:chExt cx="681" cy="679"/>
                </a:xfrm>
              </p:grpSpPr>
              <p:grpSp>
                <p:nvGrpSpPr>
                  <p:cNvPr id="7223" name="Group 40">
                    <a:extLst>
                      <a:ext uri="{FF2B5EF4-FFF2-40B4-BE49-F238E27FC236}">
                        <a16:creationId xmlns:a16="http://schemas.microsoft.com/office/drawing/2014/main" id="{F4DA93B6-AEDE-D14F-BAB8-1DC2BE6FDEB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1" y="2998"/>
                    <a:ext cx="681" cy="679"/>
                    <a:chOff x="461" y="2998"/>
                    <a:chExt cx="681" cy="679"/>
                  </a:xfrm>
                </p:grpSpPr>
                <p:sp>
                  <p:nvSpPr>
                    <p:cNvPr id="7229" name="Freeform 38">
                      <a:extLst>
                        <a:ext uri="{FF2B5EF4-FFF2-40B4-BE49-F238E27FC236}">
                          <a16:creationId xmlns:a16="http://schemas.microsoft.com/office/drawing/2014/main" id="{BA2896AC-CC52-9E41-A04B-C876086E3C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61" y="2998"/>
                      <a:ext cx="578" cy="394"/>
                    </a:xfrm>
                    <a:custGeom>
                      <a:avLst/>
                      <a:gdLst>
                        <a:gd name="T0" fmla="*/ 1 w 1155"/>
                        <a:gd name="T1" fmla="*/ 1 h 788"/>
                        <a:gd name="T2" fmla="*/ 1 w 1155"/>
                        <a:gd name="T3" fmla="*/ 1 h 788"/>
                        <a:gd name="T4" fmla="*/ 0 w 1155"/>
                        <a:gd name="T5" fmla="*/ 1 h 788"/>
                        <a:gd name="T6" fmla="*/ 1 w 1155"/>
                        <a:gd name="T7" fmla="*/ 1 h 788"/>
                        <a:gd name="T8" fmla="*/ 1 w 1155"/>
                        <a:gd name="T9" fmla="*/ 1 h 788"/>
                        <a:gd name="T10" fmla="*/ 1 w 1155"/>
                        <a:gd name="T11" fmla="*/ 1 h 788"/>
                        <a:gd name="T12" fmla="*/ 1 w 1155"/>
                        <a:gd name="T13" fmla="*/ 1 h 788"/>
                        <a:gd name="T14" fmla="*/ 1 w 1155"/>
                        <a:gd name="T15" fmla="*/ 1 h 788"/>
                        <a:gd name="T16" fmla="*/ 1 w 1155"/>
                        <a:gd name="T17" fmla="*/ 1 h 788"/>
                        <a:gd name="T18" fmla="*/ 1 w 1155"/>
                        <a:gd name="T19" fmla="*/ 1 h 788"/>
                        <a:gd name="T20" fmla="*/ 1 w 1155"/>
                        <a:gd name="T21" fmla="*/ 1 h 788"/>
                        <a:gd name="T22" fmla="*/ 1 w 1155"/>
                        <a:gd name="T23" fmla="*/ 1 h 788"/>
                        <a:gd name="T24" fmla="*/ 1 w 1155"/>
                        <a:gd name="T25" fmla="*/ 1 h 788"/>
                        <a:gd name="T26" fmla="*/ 1 w 1155"/>
                        <a:gd name="T27" fmla="*/ 1 h 788"/>
                        <a:gd name="T28" fmla="*/ 1 w 1155"/>
                        <a:gd name="T29" fmla="*/ 1 h 788"/>
                        <a:gd name="T30" fmla="*/ 1 w 1155"/>
                        <a:gd name="T31" fmla="*/ 1 h 788"/>
                        <a:gd name="T32" fmla="*/ 1 w 1155"/>
                        <a:gd name="T33" fmla="*/ 0 h 788"/>
                        <a:gd name="T34" fmla="*/ 1 w 1155"/>
                        <a:gd name="T35" fmla="*/ 0 h 788"/>
                        <a:gd name="T36" fmla="*/ 1 w 1155"/>
                        <a:gd name="T37" fmla="*/ 1 h 788"/>
                        <a:gd name="T38" fmla="*/ 1 w 1155"/>
                        <a:gd name="T39" fmla="*/ 1 h 788"/>
                        <a:gd name="T40" fmla="*/ 1 w 1155"/>
                        <a:gd name="T41" fmla="*/ 1 h 788"/>
                        <a:gd name="T42" fmla="*/ 1 w 1155"/>
                        <a:gd name="T43" fmla="*/ 1 h 788"/>
                        <a:gd name="T44" fmla="*/ 1 w 1155"/>
                        <a:gd name="T45" fmla="*/ 1 h 788"/>
                        <a:gd name="T46" fmla="*/ 1 w 1155"/>
                        <a:gd name="T47" fmla="*/ 1 h 788"/>
                        <a:gd name="T48" fmla="*/ 1 w 1155"/>
                        <a:gd name="T49" fmla="*/ 1 h 788"/>
                        <a:gd name="T50" fmla="*/ 1 w 1155"/>
                        <a:gd name="T51" fmla="*/ 1 h 788"/>
                        <a:gd name="T52" fmla="*/ 1 w 1155"/>
                        <a:gd name="T53" fmla="*/ 1 h 788"/>
                        <a:gd name="T54" fmla="*/ 1 w 1155"/>
                        <a:gd name="T55" fmla="*/ 1 h 788"/>
                        <a:gd name="T56" fmla="*/ 1 w 1155"/>
                        <a:gd name="T57" fmla="*/ 1 h 788"/>
                        <a:gd name="T58" fmla="*/ 1 w 1155"/>
                        <a:gd name="T59" fmla="*/ 1 h 788"/>
                        <a:gd name="T60" fmla="*/ 1 w 1155"/>
                        <a:gd name="T61" fmla="*/ 1 h 788"/>
                        <a:gd name="T62" fmla="*/ 1 w 1155"/>
                        <a:gd name="T63" fmla="*/ 1 h 788"/>
                        <a:gd name="T64" fmla="*/ 1 w 1155"/>
                        <a:gd name="T65" fmla="*/ 1 h 788"/>
                        <a:gd name="T66" fmla="*/ 1 w 1155"/>
                        <a:gd name="T67" fmla="*/ 1 h 788"/>
                        <a:gd name="T68" fmla="*/ 1 w 1155"/>
                        <a:gd name="T69" fmla="*/ 1 h 788"/>
                        <a:gd name="T70" fmla="*/ 1 w 1155"/>
                        <a:gd name="T71" fmla="*/ 1 h 788"/>
                        <a:gd name="T72" fmla="*/ 1 w 1155"/>
                        <a:gd name="T73" fmla="*/ 1 h 788"/>
                        <a:gd name="T74" fmla="*/ 1 w 1155"/>
                        <a:gd name="T75" fmla="*/ 1 h 788"/>
                        <a:gd name="T76" fmla="*/ 1 w 1155"/>
                        <a:gd name="T77" fmla="*/ 1 h 788"/>
                        <a:gd name="T78" fmla="*/ 1 w 1155"/>
                        <a:gd name="T79" fmla="*/ 1 h 788"/>
                        <a:gd name="T80" fmla="*/ 1 w 1155"/>
                        <a:gd name="T81" fmla="*/ 1 h 788"/>
                        <a:gd name="T82" fmla="*/ 1 w 1155"/>
                        <a:gd name="T83" fmla="*/ 1 h 788"/>
                        <a:gd name="T84" fmla="*/ 1 w 1155"/>
                        <a:gd name="T85" fmla="*/ 1 h 788"/>
                        <a:gd name="T86" fmla="*/ 1 w 1155"/>
                        <a:gd name="T87" fmla="*/ 1 h 788"/>
                        <a:gd name="T88" fmla="*/ 1 w 1155"/>
                        <a:gd name="T89" fmla="*/ 1 h 788"/>
                        <a:gd name="T90" fmla="*/ 1 w 1155"/>
                        <a:gd name="T91" fmla="*/ 1 h 788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</a:gdLst>
                      <a:ahLst/>
                      <a:cxnLst>
                        <a:cxn ang="T92">
                          <a:pos x="T0" y="T1"/>
                        </a:cxn>
                        <a:cxn ang="T93">
                          <a:pos x="T2" y="T3"/>
                        </a:cxn>
                        <a:cxn ang="T94">
                          <a:pos x="T4" y="T5"/>
                        </a:cxn>
                        <a:cxn ang="T95">
                          <a:pos x="T6" y="T7"/>
                        </a:cxn>
                        <a:cxn ang="T96">
                          <a:pos x="T8" y="T9"/>
                        </a:cxn>
                        <a:cxn ang="T97">
                          <a:pos x="T10" y="T11"/>
                        </a:cxn>
                        <a:cxn ang="T98">
                          <a:pos x="T12" y="T13"/>
                        </a:cxn>
                        <a:cxn ang="T99">
                          <a:pos x="T14" y="T15"/>
                        </a:cxn>
                        <a:cxn ang="T100">
                          <a:pos x="T16" y="T17"/>
                        </a:cxn>
                        <a:cxn ang="T101">
                          <a:pos x="T18" y="T19"/>
                        </a:cxn>
                        <a:cxn ang="T102">
                          <a:pos x="T20" y="T21"/>
                        </a:cxn>
                        <a:cxn ang="T103">
                          <a:pos x="T22" y="T23"/>
                        </a:cxn>
                        <a:cxn ang="T104">
                          <a:pos x="T24" y="T25"/>
                        </a:cxn>
                        <a:cxn ang="T105">
                          <a:pos x="T26" y="T27"/>
                        </a:cxn>
                        <a:cxn ang="T106">
                          <a:pos x="T28" y="T29"/>
                        </a:cxn>
                        <a:cxn ang="T107">
                          <a:pos x="T30" y="T31"/>
                        </a:cxn>
                        <a:cxn ang="T108">
                          <a:pos x="T32" y="T33"/>
                        </a:cxn>
                        <a:cxn ang="T109">
                          <a:pos x="T34" y="T35"/>
                        </a:cxn>
                        <a:cxn ang="T110">
                          <a:pos x="T36" y="T37"/>
                        </a:cxn>
                        <a:cxn ang="T111">
                          <a:pos x="T38" y="T39"/>
                        </a:cxn>
                        <a:cxn ang="T112">
                          <a:pos x="T40" y="T41"/>
                        </a:cxn>
                        <a:cxn ang="T113">
                          <a:pos x="T42" y="T43"/>
                        </a:cxn>
                        <a:cxn ang="T114">
                          <a:pos x="T44" y="T45"/>
                        </a:cxn>
                        <a:cxn ang="T115">
                          <a:pos x="T46" y="T47"/>
                        </a:cxn>
                        <a:cxn ang="T116">
                          <a:pos x="T48" y="T49"/>
                        </a:cxn>
                        <a:cxn ang="T117">
                          <a:pos x="T50" y="T51"/>
                        </a:cxn>
                        <a:cxn ang="T118">
                          <a:pos x="T52" y="T53"/>
                        </a:cxn>
                        <a:cxn ang="T119">
                          <a:pos x="T54" y="T55"/>
                        </a:cxn>
                        <a:cxn ang="T120">
                          <a:pos x="T56" y="T57"/>
                        </a:cxn>
                        <a:cxn ang="T121">
                          <a:pos x="T58" y="T59"/>
                        </a:cxn>
                        <a:cxn ang="T122">
                          <a:pos x="T60" y="T61"/>
                        </a:cxn>
                        <a:cxn ang="T123">
                          <a:pos x="T62" y="T63"/>
                        </a:cxn>
                        <a:cxn ang="T124">
                          <a:pos x="T64" y="T65"/>
                        </a:cxn>
                        <a:cxn ang="T125">
                          <a:pos x="T66" y="T67"/>
                        </a:cxn>
                        <a:cxn ang="T126">
                          <a:pos x="T68" y="T69"/>
                        </a:cxn>
                        <a:cxn ang="T127">
                          <a:pos x="T70" y="T71"/>
                        </a:cxn>
                        <a:cxn ang="T128">
                          <a:pos x="T72" y="T73"/>
                        </a:cxn>
                        <a:cxn ang="T129">
                          <a:pos x="T74" y="T75"/>
                        </a:cxn>
                        <a:cxn ang="T130">
                          <a:pos x="T76" y="T77"/>
                        </a:cxn>
                        <a:cxn ang="T131">
                          <a:pos x="T78" y="T79"/>
                        </a:cxn>
                        <a:cxn ang="T132">
                          <a:pos x="T80" y="T81"/>
                        </a:cxn>
                        <a:cxn ang="T133">
                          <a:pos x="T82" y="T83"/>
                        </a:cxn>
                        <a:cxn ang="T134">
                          <a:pos x="T84" y="T85"/>
                        </a:cxn>
                        <a:cxn ang="T135">
                          <a:pos x="T86" y="T87"/>
                        </a:cxn>
                        <a:cxn ang="T136">
                          <a:pos x="T88" y="T89"/>
                        </a:cxn>
                        <a:cxn ang="T137">
                          <a:pos x="T90" y="T91"/>
                        </a:cxn>
                      </a:cxnLst>
                      <a:rect l="0" t="0" r="r" b="b"/>
                      <a:pathLst>
                        <a:path w="1155" h="788">
                          <a:moveTo>
                            <a:pt x="24" y="788"/>
                          </a:moveTo>
                          <a:lnTo>
                            <a:pt x="7" y="695"/>
                          </a:lnTo>
                          <a:lnTo>
                            <a:pt x="0" y="605"/>
                          </a:lnTo>
                          <a:lnTo>
                            <a:pt x="3" y="543"/>
                          </a:lnTo>
                          <a:lnTo>
                            <a:pt x="14" y="487"/>
                          </a:lnTo>
                          <a:lnTo>
                            <a:pt x="31" y="425"/>
                          </a:lnTo>
                          <a:lnTo>
                            <a:pt x="58" y="362"/>
                          </a:lnTo>
                          <a:lnTo>
                            <a:pt x="93" y="297"/>
                          </a:lnTo>
                          <a:lnTo>
                            <a:pt x="128" y="245"/>
                          </a:lnTo>
                          <a:lnTo>
                            <a:pt x="169" y="193"/>
                          </a:lnTo>
                          <a:lnTo>
                            <a:pt x="217" y="148"/>
                          </a:lnTo>
                          <a:lnTo>
                            <a:pt x="266" y="110"/>
                          </a:lnTo>
                          <a:lnTo>
                            <a:pt x="318" y="79"/>
                          </a:lnTo>
                          <a:lnTo>
                            <a:pt x="381" y="52"/>
                          </a:lnTo>
                          <a:lnTo>
                            <a:pt x="454" y="27"/>
                          </a:lnTo>
                          <a:lnTo>
                            <a:pt x="516" y="10"/>
                          </a:lnTo>
                          <a:lnTo>
                            <a:pt x="592" y="0"/>
                          </a:lnTo>
                          <a:lnTo>
                            <a:pt x="689" y="0"/>
                          </a:lnTo>
                          <a:lnTo>
                            <a:pt x="761" y="14"/>
                          </a:lnTo>
                          <a:lnTo>
                            <a:pt x="848" y="34"/>
                          </a:lnTo>
                          <a:lnTo>
                            <a:pt x="934" y="72"/>
                          </a:lnTo>
                          <a:lnTo>
                            <a:pt x="1010" y="117"/>
                          </a:lnTo>
                          <a:lnTo>
                            <a:pt x="1062" y="162"/>
                          </a:lnTo>
                          <a:lnTo>
                            <a:pt x="1114" y="214"/>
                          </a:lnTo>
                          <a:lnTo>
                            <a:pt x="1155" y="266"/>
                          </a:lnTo>
                          <a:lnTo>
                            <a:pt x="1045" y="183"/>
                          </a:lnTo>
                          <a:lnTo>
                            <a:pt x="986" y="148"/>
                          </a:lnTo>
                          <a:lnTo>
                            <a:pt x="924" y="124"/>
                          </a:lnTo>
                          <a:lnTo>
                            <a:pt x="844" y="100"/>
                          </a:lnTo>
                          <a:lnTo>
                            <a:pt x="768" y="90"/>
                          </a:lnTo>
                          <a:lnTo>
                            <a:pt x="685" y="86"/>
                          </a:lnTo>
                          <a:lnTo>
                            <a:pt x="623" y="90"/>
                          </a:lnTo>
                          <a:lnTo>
                            <a:pt x="557" y="100"/>
                          </a:lnTo>
                          <a:lnTo>
                            <a:pt x="492" y="117"/>
                          </a:lnTo>
                          <a:lnTo>
                            <a:pt x="429" y="138"/>
                          </a:lnTo>
                          <a:lnTo>
                            <a:pt x="360" y="172"/>
                          </a:lnTo>
                          <a:lnTo>
                            <a:pt x="307" y="204"/>
                          </a:lnTo>
                          <a:lnTo>
                            <a:pt x="262" y="242"/>
                          </a:lnTo>
                          <a:lnTo>
                            <a:pt x="211" y="283"/>
                          </a:lnTo>
                          <a:lnTo>
                            <a:pt x="169" y="328"/>
                          </a:lnTo>
                          <a:lnTo>
                            <a:pt x="128" y="390"/>
                          </a:lnTo>
                          <a:lnTo>
                            <a:pt x="90" y="456"/>
                          </a:lnTo>
                          <a:lnTo>
                            <a:pt x="65" y="518"/>
                          </a:lnTo>
                          <a:lnTo>
                            <a:pt x="45" y="592"/>
                          </a:lnTo>
                          <a:lnTo>
                            <a:pt x="31" y="681"/>
                          </a:lnTo>
                          <a:lnTo>
                            <a:pt x="24" y="78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30" name="Freeform 39">
                      <a:extLst>
                        <a:ext uri="{FF2B5EF4-FFF2-40B4-BE49-F238E27FC236}">
                          <a16:creationId xmlns:a16="http://schemas.microsoft.com/office/drawing/2014/main" id="{B677FB85-AD98-9D4F-9925-00E7A90ABE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05" y="3193"/>
                      <a:ext cx="637" cy="484"/>
                    </a:xfrm>
                    <a:custGeom>
                      <a:avLst/>
                      <a:gdLst>
                        <a:gd name="T0" fmla="*/ 0 w 1274"/>
                        <a:gd name="T1" fmla="*/ 1 h 968"/>
                        <a:gd name="T2" fmla="*/ 1 w 1274"/>
                        <a:gd name="T3" fmla="*/ 1 h 968"/>
                        <a:gd name="T4" fmla="*/ 1 w 1274"/>
                        <a:gd name="T5" fmla="*/ 1 h 968"/>
                        <a:gd name="T6" fmla="*/ 1 w 1274"/>
                        <a:gd name="T7" fmla="*/ 1 h 968"/>
                        <a:gd name="T8" fmla="*/ 1 w 1274"/>
                        <a:gd name="T9" fmla="*/ 1 h 968"/>
                        <a:gd name="T10" fmla="*/ 1 w 1274"/>
                        <a:gd name="T11" fmla="*/ 1 h 968"/>
                        <a:gd name="T12" fmla="*/ 1 w 1274"/>
                        <a:gd name="T13" fmla="*/ 1 h 968"/>
                        <a:gd name="T14" fmla="*/ 1 w 1274"/>
                        <a:gd name="T15" fmla="*/ 1 h 968"/>
                        <a:gd name="T16" fmla="*/ 1 w 1274"/>
                        <a:gd name="T17" fmla="*/ 1 h 968"/>
                        <a:gd name="T18" fmla="*/ 1 w 1274"/>
                        <a:gd name="T19" fmla="*/ 1 h 968"/>
                        <a:gd name="T20" fmla="*/ 1 w 1274"/>
                        <a:gd name="T21" fmla="*/ 1 h 968"/>
                        <a:gd name="T22" fmla="*/ 1 w 1274"/>
                        <a:gd name="T23" fmla="*/ 1 h 968"/>
                        <a:gd name="T24" fmla="*/ 1 w 1274"/>
                        <a:gd name="T25" fmla="*/ 1 h 968"/>
                        <a:gd name="T26" fmla="*/ 1 w 1274"/>
                        <a:gd name="T27" fmla="*/ 1 h 968"/>
                        <a:gd name="T28" fmla="*/ 1 w 1274"/>
                        <a:gd name="T29" fmla="*/ 1 h 968"/>
                        <a:gd name="T30" fmla="*/ 1 w 1274"/>
                        <a:gd name="T31" fmla="*/ 1 h 968"/>
                        <a:gd name="T32" fmla="*/ 1 w 1274"/>
                        <a:gd name="T33" fmla="*/ 1 h 968"/>
                        <a:gd name="T34" fmla="*/ 1 w 1274"/>
                        <a:gd name="T35" fmla="*/ 1 h 968"/>
                        <a:gd name="T36" fmla="*/ 1 w 1274"/>
                        <a:gd name="T37" fmla="*/ 1 h 968"/>
                        <a:gd name="T38" fmla="*/ 1 w 1274"/>
                        <a:gd name="T39" fmla="*/ 1 h 968"/>
                        <a:gd name="T40" fmla="*/ 1 w 1274"/>
                        <a:gd name="T41" fmla="*/ 1 h 968"/>
                        <a:gd name="T42" fmla="*/ 1 w 1274"/>
                        <a:gd name="T43" fmla="*/ 1 h 968"/>
                        <a:gd name="T44" fmla="*/ 1 w 1274"/>
                        <a:gd name="T45" fmla="*/ 0 h 968"/>
                        <a:gd name="T46" fmla="*/ 1 w 1274"/>
                        <a:gd name="T47" fmla="*/ 1 h 968"/>
                        <a:gd name="T48" fmla="*/ 1 w 1274"/>
                        <a:gd name="T49" fmla="*/ 1 h 968"/>
                        <a:gd name="T50" fmla="*/ 1 w 1274"/>
                        <a:gd name="T51" fmla="*/ 1 h 968"/>
                        <a:gd name="T52" fmla="*/ 1 w 1274"/>
                        <a:gd name="T53" fmla="*/ 1 h 968"/>
                        <a:gd name="T54" fmla="*/ 1 w 1274"/>
                        <a:gd name="T55" fmla="*/ 1 h 968"/>
                        <a:gd name="T56" fmla="*/ 1 w 1274"/>
                        <a:gd name="T57" fmla="*/ 1 h 968"/>
                        <a:gd name="T58" fmla="*/ 1 w 1274"/>
                        <a:gd name="T59" fmla="*/ 1 h 968"/>
                        <a:gd name="T60" fmla="*/ 1 w 1274"/>
                        <a:gd name="T61" fmla="*/ 1 h 968"/>
                        <a:gd name="T62" fmla="*/ 1 w 1274"/>
                        <a:gd name="T63" fmla="*/ 1 h 968"/>
                        <a:gd name="T64" fmla="*/ 1 w 1274"/>
                        <a:gd name="T65" fmla="*/ 1 h 968"/>
                        <a:gd name="T66" fmla="*/ 1 w 1274"/>
                        <a:gd name="T67" fmla="*/ 1 h 968"/>
                        <a:gd name="T68" fmla="*/ 1 w 1274"/>
                        <a:gd name="T69" fmla="*/ 1 h 968"/>
                        <a:gd name="T70" fmla="*/ 1 w 1274"/>
                        <a:gd name="T71" fmla="*/ 1 h 968"/>
                        <a:gd name="T72" fmla="*/ 1 w 1274"/>
                        <a:gd name="T73" fmla="*/ 1 h 968"/>
                        <a:gd name="T74" fmla="*/ 1 w 1274"/>
                        <a:gd name="T75" fmla="*/ 1 h 968"/>
                        <a:gd name="T76" fmla="*/ 1 w 1274"/>
                        <a:gd name="T77" fmla="*/ 1 h 968"/>
                        <a:gd name="T78" fmla="*/ 1 w 1274"/>
                        <a:gd name="T79" fmla="*/ 1 h 968"/>
                        <a:gd name="T80" fmla="*/ 1 w 1274"/>
                        <a:gd name="T81" fmla="*/ 1 h 968"/>
                        <a:gd name="T82" fmla="*/ 1 w 1274"/>
                        <a:gd name="T83" fmla="*/ 1 h 968"/>
                        <a:gd name="T84" fmla="*/ 1 w 1274"/>
                        <a:gd name="T85" fmla="*/ 1 h 968"/>
                        <a:gd name="T86" fmla="*/ 1 w 1274"/>
                        <a:gd name="T87" fmla="*/ 1 h 968"/>
                        <a:gd name="T88" fmla="*/ 1 w 1274"/>
                        <a:gd name="T89" fmla="*/ 1 h 968"/>
                        <a:gd name="T90" fmla="*/ 1 w 1274"/>
                        <a:gd name="T91" fmla="*/ 1 h 968"/>
                        <a:gd name="T92" fmla="*/ 1 w 1274"/>
                        <a:gd name="T93" fmla="*/ 1 h 968"/>
                        <a:gd name="T94" fmla="*/ 1 w 1274"/>
                        <a:gd name="T95" fmla="*/ 1 h 968"/>
                        <a:gd name="T96" fmla="*/ 0 w 1274"/>
                        <a:gd name="T97" fmla="*/ 1 h 968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</a:gdLst>
                      <a:ahLst/>
                      <a:cxnLst>
                        <a:cxn ang="T98">
                          <a:pos x="T0" y="T1"/>
                        </a:cxn>
                        <a:cxn ang="T99">
                          <a:pos x="T2" y="T3"/>
                        </a:cxn>
                        <a:cxn ang="T100">
                          <a:pos x="T4" y="T5"/>
                        </a:cxn>
                        <a:cxn ang="T101">
                          <a:pos x="T6" y="T7"/>
                        </a:cxn>
                        <a:cxn ang="T102">
                          <a:pos x="T8" y="T9"/>
                        </a:cxn>
                        <a:cxn ang="T103">
                          <a:pos x="T10" y="T11"/>
                        </a:cxn>
                        <a:cxn ang="T104">
                          <a:pos x="T12" y="T13"/>
                        </a:cxn>
                        <a:cxn ang="T105">
                          <a:pos x="T14" y="T15"/>
                        </a:cxn>
                        <a:cxn ang="T106">
                          <a:pos x="T16" y="T17"/>
                        </a:cxn>
                        <a:cxn ang="T107">
                          <a:pos x="T18" y="T19"/>
                        </a:cxn>
                        <a:cxn ang="T108">
                          <a:pos x="T20" y="T21"/>
                        </a:cxn>
                        <a:cxn ang="T109">
                          <a:pos x="T22" y="T23"/>
                        </a:cxn>
                        <a:cxn ang="T110">
                          <a:pos x="T24" y="T25"/>
                        </a:cxn>
                        <a:cxn ang="T111">
                          <a:pos x="T26" y="T27"/>
                        </a:cxn>
                        <a:cxn ang="T112">
                          <a:pos x="T28" y="T29"/>
                        </a:cxn>
                        <a:cxn ang="T113">
                          <a:pos x="T30" y="T31"/>
                        </a:cxn>
                        <a:cxn ang="T114">
                          <a:pos x="T32" y="T33"/>
                        </a:cxn>
                        <a:cxn ang="T115">
                          <a:pos x="T34" y="T35"/>
                        </a:cxn>
                        <a:cxn ang="T116">
                          <a:pos x="T36" y="T37"/>
                        </a:cxn>
                        <a:cxn ang="T117">
                          <a:pos x="T38" y="T39"/>
                        </a:cxn>
                        <a:cxn ang="T118">
                          <a:pos x="T40" y="T41"/>
                        </a:cxn>
                        <a:cxn ang="T119">
                          <a:pos x="T42" y="T43"/>
                        </a:cxn>
                        <a:cxn ang="T120">
                          <a:pos x="T44" y="T45"/>
                        </a:cxn>
                        <a:cxn ang="T121">
                          <a:pos x="T46" y="T47"/>
                        </a:cxn>
                        <a:cxn ang="T122">
                          <a:pos x="T48" y="T49"/>
                        </a:cxn>
                        <a:cxn ang="T123">
                          <a:pos x="T50" y="T51"/>
                        </a:cxn>
                        <a:cxn ang="T124">
                          <a:pos x="T52" y="T53"/>
                        </a:cxn>
                        <a:cxn ang="T125">
                          <a:pos x="T54" y="T55"/>
                        </a:cxn>
                        <a:cxn ang="T126">
                          <a:pos x="T56" y="T57"/>
                        </a:cxn>
                        <a:cxn ang="T127">
                          <a:pos x="T58" y="T59"/>
                        </a:cxn>
                        <a:cxn ang="T128">
                          <a:pos x="T60" y="T61"/>
                        </a:cxn>
                        <a:cxn ang="T129">
                          <a:pos x="T62" y="T63"/>
                        </a:cxn>
                        <a:cxn ang="T130">
                          <a:pos x="T64" y="T65"/>
                        </a:cxn>
                        <a:cxn ang="T131">
                          <a:pos x="T66" y="T67"/>
                        </a:cxn>
                        <a:cxn ang="T132">
                          <a:pos x="T68" y="T69"/>
                        </a:cxn>
                        <a:cxn ang="T133">
                          <a:pos x="T70" y="T71"/>
                        </a:cxn>
                        <a:cxn ang="T134">
                          <a:pos x="T72" y="T73"/>
                        </a:cxn>
                        <a:cxn ang="T135">
                          <a:pos x="T74" y="T75"/>
                        </a:cxn>
                        <a:cxn ang="T136">
                          <a:pos x="T76" y="T77"/>
                        </a:cxn>
                        <a:cxn ang="T137">
                          <a:pos x="T78" y="T79"/>
                        </a:cxn>
                        <a:cxn ang="T138">
                          <a:pos x="T80" y="T81"/>
                        </a:cxn>
                        <a:cxn ang="T139">
                          <a:pos x="T82" y="T83"/>
                        </a:cxn>
                        <a:cxn ang="T140">
                          <a:pos x="T84" y="T85"/>
                        </a:cxn>
                        <a:cxn ang="T141">
                          <a:pos x="T86" y="T87"/>
                        </a:cxn>
                        <a:cxn ang="T142">
                          <a:pos x="T88" y="T89"/>
                        </a:cxn>
                        <a:cxn ang="T143">
                          <a:pos x="T90" y="T91"/>
                        </a:cxn>
                        <a:cxn ang="T144">
                          <a:pos x="T92" y="T93"/>
                        </a:cxn>
                        <a:cxn ang="T145">
                          <a:pos x="T94" y="T95"/>
                        </a:cxn>
                        <a:cxn ang="T146">
                          <a:pos x="T96" y="T97"/>
                        </a:cxn>
                      </a:cxnLst>
                      <a:rect l="0" t="0" r="r" b="b"/>
                      <a:pathLst>
                        <a:path w="1274" h="968">
                          <a:moveTo>
                            <a:pt x="0" y="588"/>
                          </a:moveTo>
                          <a:lnTo>
                            <a:pt x="73" y="671"/>
                          </a:lnTo>
                          <a:lnTo>
                            <a:pt x="152" y="744"/>
                          </a:lnTo>
                          <a:lnTo>
                            <a:pt x="225" y="785"/>
                          </a:lnTo>
                          <a:lnTo>
                            <a:pt x="330" y="830"/>
                          </a:lnTo>
                          <a:lnTo>
                            <a:pt x="413" y="854"/>
                          </a:lnTo>
                          <a:lnTo>
                            <a:pt x="489" y="865"/>
                          </a:lnTo>
                          <a:lnTo>
                            <a:pt x="578" y="865"/>
                          </a:lnTo>
                          <a:lnTo>
                            <a:pt x="644" y="858"/>
                          </a:lnTo>
                          <a:lnTo>
                            <a:pt x="724" y="844"/>
                          </a:lnTo>
                          <a:lnTo>
                            <a:pt x="803" y="820"/>
                          </a:lnTo>
                          <a:lnTo>
                            <a:pt x="869" y="785"/>
                          </a:lnTo>
                          <a:lnTo>
                            <a:pt x="931" y="747"/>
                          </a:lnTo>
                          <a:lnTo>
                            <a:pt x="986" y="709"/>
                          </a:lnTo>
                          <a:lnTo>
                            <a:pt x="1041" y="654"/>
                          </a:lnTo>
                          <a:lnTo>
                            <a:pt x="1097" y="592"/>
                          </a:lnTo>
                          <a:lnTo>
                            <a:pt x="1139" y="533"/>
                          </a:lnTo>
                          <a:lnTo>
                            <a:pt x="1164" y="474"/>
                          </a:lnTo>
                          <a:lnTo>
                            <a:pt x="1195" y="381"/>
                          </a:lnTo>
                          <a:lnTo>
                            <a:pt x="1215" y="284"/>
                          </a:lnTo>
                          <a:lnTo>
                            <a:pt x="1219" y="198"/>
                          </a:lnTo>
                          <a:lnTo>
                            <a:pt x="1205" y="104"/>
                          </a:lnTo>
                          <a:lnTo>
                            <a:pt x="1174" y="0"/>
                          </a:lnTo>
                          <a:lnTo>
                            <a:pt x="1205" y="55"/>
                          </a:lnTo>
                          <a:lnTo>
                            <a:pt x="1240" y="135"/>
                          </a:lnTo>
                          <a:lnTo>
                            <a:pt x="1257" y="208"/>
                          </a:lnTo>
                          <a:lnTo>
                            <a:pt x="1274" y="278"/>
                          </a:lnTo>
                          <a:lnTo>
                            <a:pt x="1271" y="336"/>
                          </a:lnTo>
                          <a:lnTo>
                            <a:pt x="1267" y="416"/>
                          </a:lnTo>
                          <a:lnTo>
                            <a:pt x="1226" y="568"/>
                          </a:lnTo>
                          <a:lnTo>
                            <a:pt x="1184" y="651"/>
                          </a:lnTo>
                          <a:lnTo>
                            <a:pt x="1132" y="723"/>
                          </a:lnTo>
                          <a:lnTo>
                            <a:pt x="1076" y="785"/>
                          </a:lnTo>
                          <a:lnTo>
                            <a:pt x="1021" y="830"/>
                          </a:lnTo>
                          <a:lnTo>
                            <a:pt x="945" y="882"/>
                          </a:lnTo>
                          <a:lnTo>
                            <a:pt x="869" y="917"/>
                          </a:lnTo>
                          <a:lnTo>
                            <a:pt x="796" y="941"/>
                          </a:lnTo>
                          <a:lnTo>
                            <a:pt x="703" y="965"/>
                          </a:lnTo>
                          <a:lnTo>
                            <a:pt x="634" y="968"/>
                          </a:lnTo>
                          <a:lnTo>
                            <a:pt x="558" y="968"/>
                          </a:lnTo>
                          <a:lnTo>
                            <a:pt x="482" y="955"/>
                          </a:lnTo>
                          <a:lnTo>
                            <a:pt x="399" y="937"/>
                          </a:lnTo>
                          <a:lnTo>
                            <a:pt x="343" y="917"/>
                          </a:lnTo>
                          <a:lnTo>
                            <a:pt x="270" y="879"/>
                          </a:lnTo>
                          <a:lnTo>
                            <a:pt x="207" y="844"/>
                          </a:lnTo>
                          <a:lnTo>
                            <a:pt x="149" y="796"/>
                          </a:lnTo>
                          <a:lnTo>
                            <a:pt x="87" y="730"/>
                          </a:lnTo>
                          <a:lnTo>
                            <a:pt x="28" y="647"/>
                          </a:lnTo>
                          <a:lnTo>
                            <a:pt x="0" y="58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  <p:grpSp>
                <p:nvGrpSpPr>
                  <p:cNvPr id="7224" name="Group 45">
                    <a:extLst>
                      <a:ext uri="{FF2B5EF4-FFF2-40B4-BE49-F238E27FC236}">
                        <a16:creationId xmlns:a16="http://schemas.microsoft.com/office/drawing/2014/main" id="{A9CE7DA1-C4AA-474E-8D2B-14803ED2122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5" y="3007"/>
                    <a:ext cx="675" cy="641"/>
                    <a:chOff x="465" y="3007"/>
                    <a:chExt cx="675" cy="641"/>
                  </a:xfrm>
                </p:grpSpPr>
                <p:sp>
                  <p:nvSpPr>
                    <p:cNvPr id="7225" name="Freeform 41">
                      <a:extLst>
                        <a:ext uri="{FF2B5EF4-FFF2-40B4-BE49-F238E27FC236}">
                          <a16:creationId xmlns:a16="http://schemas.microsoft.com/office/drawing/2014/main" id="{94105807-CFBB-E641-ACE5-1C9689FD56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03" y="3488"/>
                      <a:ext cx="166" cy="160"/>
                    </a:xfrm>
                    <a:custGeom>
                      <a:avLst/>
                      <a:gdLst>
                        <a:gd name="T0" fmla="*/ 0 w 330"/>
                        <a:gd name="T1" fmla="*/ 0 h 320"/>
                        <a:gd name="T2" fmla="*/ 1 w 330"/>
                        <a:gd name="T3" fmla="*/ 1 h 320"/>
                        <a:gd name="T4" fmla="*/ 1 w 330"/>
                        <a:gd name="T5" fmla="*/ 1 h 320"/>
                        <a:gd name="T6" fmla="*/ 1 w 330"/>
                        <a:gd name="T7" fmla="*/ 1 h 320"/>
                        <a:gd name="T8" fmla="*/ 1 w 330"/>
                        <a:gd name="T9" fmla="*/ 1 h 320"/>
                        <a:gd name="T10" fmla="*/ 1 w 330"/>
                        <a:gd name="T11" fmla="*/ 1 h 320"/>
                        <a:gd name="T12" fmla="*/ 1 w 330"/>
                        <a:gd name="T13" fmla="*/ 1 h 320"/>
                        <a:gd name="T14" fmla="*/ 1 w 330"/>
                        <a:gd name="T15" fmla="*/ 1 h 320"/>
                        <a:gd name="T16" fmla="*/ 1 w 330"/>
                        <a:gd name="T17" fmla="*/ 1 h 320"/>
                        <a:gd name="T18" fmla="*/ 1 w 330"/>
                        <a:gd name="T19" fmla="*/ 1 h 320"/>
                        <a:gd name="T20" fmla="*/ 1 w 330"/>
                        <a:gd name="T21" fmla="*/ 1 h 320"/>
                        <a:gd name="T22" fmla="*/ 1 w 330"/>
                        <a:gd name="T23" fmla="*/ 1 h 320"/>
                        <a:gd name="T24" fmla="*/ 1 w 330"/>
                        <a:gd name="T25" fmla="*/ 1 h 320"/>
                        <a:gd name="T26" fmla="*/ 1 w 330"/>
                        <a:gd name="T27" fmla="*/ 1 h 320"/>
                        <a:gd name="T28" fmla="*/ 0 w 330"/>
                        <a:gd name="T29" fmla="*/ 0 h 320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0" t="0" r="r" b="b"/>
                      <a:pathLst>
                        <a:path w="330" h="320">
                          <a:moveTo>
                            <a:pt x="0" y="0"/>
                          </a:moveTo>
                          <a:lnTo>
                            <a:pt x="34" y="64"/>
                          </a:lnTo>
                          <a:lnTo>
                            <a:pt x="68" y="114"/>
                          </a:lnTo>
                          <a:lnTo>
                            <a:pt x="104" y="159"/>
                          </a:lnTo>
                          <a:lnTo>
                            <a:pt x="159" y="213"/>
                          </a:lnTo>
                          <a:lnTo>
                            <a:pt x="200" y="247"/>
                          </a:lnTo>
                          <a:lnTo>
                            <a:pt x="253" y="281"/>
                          </a:lnTo>
                          <a:lnTo>
                            <a:pt x="330" y="320"/>
                          </a:lnTo>
                          <a:lnTo>
                            <a:pt x="244" y="202"/>
                          </a:lnTo>
                          <a:lnTo>
                            <a:pt x="196" y="175"/>
                          </a:lnTo>
                          <a:lnTo>
                            <a:pt x="161" y="150"/>
                          </a:lnTo>
                          <a:lnTo>
                            <a:pt x="110" y="116"/>
                          </a:lnTo>
                          <a:lnTo>
                            <a:pt x="71" y="79"/>
                          </a:lnTo>
                          <a:lnTo>
                            <a:pt x="40" y="4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26" name="Freeform 42">
                      <a:extLst>
                        <a:ext uri="{FF2B5EF4-FFF2-40B4-BE49-F238E27FC236}">
                          <a16:creationId xmlns:a16="http://schemas.microsoft.com/office/drawing/2014/main" id="{66EA7163-0C94-8D4A-A368-0B44885229F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081" y="3190"/>
                      <a:ext cx="59" cy="314"/>
                    </a:xfrm>
                    <a:custGeom>
                      <a:avLst/>
                      <a:gdLst>
                        <a:gd name="T0" fmla="*/ 0 w 119"/>
                        <a:gd name="T1" fmla="*/ 0 h 629"/>
                        <a:gd name="T2" fmla="*/ 0 w 119"/>
                        <a:gd name="T3" fmla="*/ 0 h 629"/>
                        <a:gd name="T4" fmla="*/ 0 w 119"/>
                        <a:gd name="T5" fmla="*/ 0 h 629"/>
                        <a:gd name="T6" fmla="*/ 0 w 119"/>
                        <a:gd name="T7" fmla="*/ 0 h 629"/>
                        <a:gd name="T8" fmla="*/ 0 w 119"/>
                        <a:gd name="T9" fmla="*/ 0 h 629"/>
                        <a:gd name="T10" fmla="*/ 0 w 119"/>
                        <a:gd name="T11" fmla="*/ 0 h 629"/>
                        <a:gd name="T12" fmla="*/ 0 w 119"/>
                        <a:gd name="T13" fmla="*/ 0 h 629"/>
                        <a:gd name="T14" fmla="*/ 0 w 119"/>
                        <a:gd name="T15" fmla="*/ 0 h 629"/>
                        <a:gd name="T16" fmla="*/ 0 w 119"/>
                        <a:gd name="T17" fmla="*/ 0 h 629"/>
                        <a:gd name="T18" fmla="*/ 0 w 119"/>
                        <a:gd name="T19" fmla="*/ 0 h 629"/>
                        <a:gd name="T20" fmla="*/ 0 w 119"/>
                        <a:gd name="T21" fmla="*/ 0 h 629"/>
                        <a:gd name="T22" fmla="*/ 0 w 119"/>
                        <a:gd name="T23" fmla="*/ 0 h 629"/>
                        <a:gd name="T24" fmla="*/ 0 w 119"/>
                        <a:gd name="T25" fmla="*/ 0 h 629"/>
                        <a:gd name="T26" fmla="*/ 0 w 119"/>
                        <a:gd name="T27" fmla="*/ 0 h 629"/>
                        <a:gd name="T28" fmla="*/ 0 w 119"/>
                        <a:gd name="T29" fmla="*/ 0 h 629"/>
                        <a:gd name="T30" fmla="*/ 0 w 119"/>
                        <a:gd name="T31" fmla="*/ 0 h 629"/>
                        <a:gd name="T32" fmla="*/ 0 w 119"/>
                        <a:gd name="T33" fmla="*/ 0 h 629"/>
                        <a:gd name="T34" fmla="*/ 0 w 119"/>
                        <a:gd name="T35" fmla="*/ 0 h 629"/>
                        <a:gd name="T36" fmla="*/ 0 w 119"/>
                        <a:gd name="T37" fmla="*/ 0 h 629"/>
                        <a:gd name="T38" fmla="*/ 0 w 119"/>
                        <a:gd name="T39" fmla="*/ 0 h 629"/>
                        <a:gd name="T40" fmla="*/ 0 w 119"/>
                        <a:gd name="T41" fmla="*/ 0 h 629"/>
                        <a:gd name="T42" fmla="*/ 0 w 119"/>
                        <a:gd name="T43" fmla="*/ 0 h 629"/>
                        <a:gd name="T44" fmla="*/ 0 w 119"/>
                        <a:gd name="T45" fmla="*/ 0 h 629"/>
                        <a:gd name="T46" fmla="*/ 0 w 119"/>
                        <a:gd name="T47" fmla="*/ 0 h 629"/>
                        <a:gd name="T48" fmla="*/ 0 w 119"/>
                        <a:gd name="T49" fmla="*/ 0 h 629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</a:gdLst>
                      <a:ahLst/>
                      <a:cxnLst>
                        <a:cxn ang="T50">
                          <a:pos x="T0" y="T1"/>
                        </a:cxn>
                        <a:cxn ang="T51">
                          <a:pos x="T2" y="T3"/>
                        </a:cxn>
                        <a:cxn ang="T52">
                          <a:pos x="T4" y="T5"/>
                        </a:cxn>
                        <a:cxn ang="T53">
                          <a:pos x="T6" y="T7"/>
                        </a:cxn>
                        <a:cxn ang="T54">
                          <a:pos x="T8" y="T9"/>
                        </a:cxn>
                        <a:cxn ang="T55">
                          <a:pos x="T10" y="T11"/>
                        </a:cxn>
                        <a:cxn ang="T56">
                          <a:pos x="T12" y="T13"/>
                        </a:cxn>
                        <a:cxn ang="T57">
                          <a:pos x="T14" y="T15"/>
                        </a:cxn>
                        <a:cxn ang="T58">
                          <a:pos x="T16" y="T17"/>
                        </a:cxn>
                        <a:cxn ang="T59">
                          <a:pos x="T18" y="T19"/>
                        </a:cxn>
                        <a:cxn ang="T60">
                          <a:pos x="T20" y="T21"/>
                        </a:cxn>
                        <a:cxn ang="T61">
                          <a:pos x="T22" y="T23"/>
                        </a:cxn>
                        <a:cxn ang="T62">
                          <a:pos x="T24" y="T25"/>
                        </a:cxn>
                        <a:cxn ang="T63">
                          <a:pos x="T26" y="T27"/>
                        </a:cxn>
                        <a:cxn ang="T64">
                          <a:pos x="T28" y="T29"/>
                        </a:cxn>
                        <a:cxn ang="T65">
                          <a:pos x="T30" y="T31"/>
                        </a:cxn>
                        <a:cxn ang="T66">
                          <a:pos x="T32" y="T33"/>
                        </a:cxn>
                        <a:cxn ang="T67">
                          <a:pos x="T34" y="T35"/>
                        </a:cxn>
                        <a:cxn ang="T68">
                          <a:pos x="T36" y="T37"/>
                        </a:cxn>
                        <a:cxn ang="T69">
                          <a:pos x="T38" y="T39"/>
                        </a:cxn>
                        <a:cxn ang="T70">
                          <a:pos x="T40" y="T41"/>
                        </a:cxn>
                        <a:cxn ang="T71">
                          <a:pos x="T42" y="T43"/>
                        </a:cxn>
                        <a:cxn ang="T72">
                          <a:pos x="T44" y="T45"/>
                        </a:cxn>
                        <a:cxn ang="T73">
                          <a:pos x="T46" y="T47"/>
                        </a:cxn>
                        <a:cxn ang="T74">
                          <a:pos x="T48" y="T49"/>
                        </a:cxn>
                      </a:cxnLst>
                      <a:rect l="0" t="0" r="r" b="b"/>
                      <a:pathLst>
                        <a:path w="119" h="629">
                          <a:moveTo>
                            <a:pt x="22" y="0"/>
                          </a:moveTo>
                          <a:lnTo>
                            <a:pt x="45" y="43"/>
                          </a:lnTo>
                          <a:lnTo>
                            <a:pt x="60" y="80"/>
                          </a:lnTo>
                          <a:lnTo>
                            <a:pt x="76" y="118"/>
                          </a:lnTo>
                          <a:lnTo>
                            <a:pt x="88" y="154"/>
                          </a:lnTo>
                          <a:lnTo>
                            <a:pt x="97" y="189"/>
                          </a:lnTo>
                          <a:lnTo>
                            <a:pt x="114" y="250"/>
                          </a:lnTo>
                          <a:lnTo>
                            <a:pt x="119" y="310"/>
                          </a:lnTo>
                          <a:lnTo>
                            <a:pt x="115" y="402"/>
                          </a:lnTo>
                          <a:lnTo>
                            <a:pt x="107" y="464"/>
                          </a:lnTo>
                          <a:lnTo>
                            <a:pt x="95" y="515"/>
                          </a:lnTo>
                          <a:lnTo>
                            <a:pt x="75" y="568"/>
                          </a:lnTo>
                          <a:lnTo>
                            <a:pt x="49" y="629"/>
                          </a:lnTo>
                          <a:lnTo>
                            <a:pt x="0" y="510"/>
                          </a:lnTo>
                          <a:lnTo>
                            <a:pt x="22" y="458"/>
                          </a:lnTo>
                          <a:lnTo>
                            <a:pt x="32" y="431"/>
                          </a:lnTo>
                          <a:lnTo>
                            <a:pt x="45" y="395"/>
                          </a:lnTo>
                          <a:lnTo>
                            <a:pt x="53" y="358"/>
                          </a:lnTo>
                          <a:lnTo>
                            <a:pt x="60" y="302"/>
                          </a:lnTo>
                          <a:lnTo>
                            <a:pt x="64" y="255"/>
                          </a:lnTo>
                          <a:lnTo>
                            <a:pt x="64" y="184"/>
                          </a:lnTo>
                          <a:lnTo>
                            <a:pt x="53" y="121"/>
                          </a:lnTo>
                          <a:lnTo>
                            <a:pt x="42" y="69"/>
                          </a:lnTo>
                          <a:lnTo>
                            <a:pt x="35" y="42"/>
                          </a:lnTo>
                          <a:lnTo>
                            <a:pt x="22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27" name="Freeform 43">
                      <a:extLst>
                        <a:ext uri="{FF2B5EF4-FFF2-40B4-BE49-F238E27FC236}">
                          <a16:creationId xmlns:a16="http://schemas.microsoft.com/office/drawing/2014/main" id="{14FC7A76-3AC1-EA4D-AD6D-767357268CD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71" y="3007"/>
                      <a:ext cx="235" cy="95"/>
                    </a:xfrm>
                    <a:custGeom>
                      <a:avLst/>
                      <a:gdLst>
                        <a:gd name="T0" fmla="*/ 0 w 470"/>
                        <a:gd name="T1" fmla="*/ 0 h 190"/>
                        <a:gd name="T2" fmla="*/ 1 w 470"/>
                        <a:gd name="T3" fmla="*/ 1 h 190"/>
                        <a:gd name="T4" fmla="*/ 1 w 470"/>
                        <a:gd name="T5" fmla="*/ 1 h 190"/>
                        <a:gd name="T6" fmla="*/ 1 w 470"/>
                        <a:gd name="T7" fmla="*/ 1 h 190"/>
                        <a:gd name="T8" fmla="*/ 1 w 470"/>
                        <a:gd name="T9" fmla="*/ 1 h 190"/>
                        <a:gd name="T10" fmla="*/ 1 w 470"/>
                        <a:gd name="T11" fmla="*/ 1 h 190"/>
                        <a:gd name="T12" fmla="*/ 1 w 470"/>
                        <a:gd name="T13" fmla="*/ 1 h 190"/>
                        <a:gd name="T14" fmla="*/ 1 w 470"/>
                        <a:gd name="T15" fmla="*/ 1 h 190"/>
                        <a:gd name="T16" fmla="*/ 1 w 470"/>
                        <a:gd name="T17" fmla="*/ 1 h 190"/>
                        <a:gd name="T18" fmla="*/ 1 w 470"/>
                        <a:gd name="T19" fmla="*/ 1 h 190"/>
                        <a:gd name="T20" fmla="*/ 1 w 470"/>
                        <a:gd name="T21" fmla="*/ 1 h 190"/>
                        <a:gd name="T22" fmla="*/ 1 w 470"/>
                        <a:gd name="T23" fmla="*/ 1 h 190"/>
                        <a:gd name="T24" fmla="*/ 1 w 470"/>
                        <a:gd name="T25" fmla="*/ 1 h 190"/>
                        <a:gd name="T26" fmla="*/ 1 w 470"/>
                        <a:gd name="T27" fmla="*/ 1 h 190"/>
                        <a:gd name="T28" fmla="*/ 1 w 470"/>
                        <a:gd name="T29" fmla="*/ 1 h 190"/>
                        <a:gd name="T30" fmla="*/ 1 w 470"/>
                        <a:gd name="T31" fmla="*/ 1 h 190"/>
                        <a:gd name="T32" fmla="*/ 1 w 470"/>
                        <a:gd name="T33" fmla="*/ 1 h 190"/>
                        <a:gd name="T34" fmla="*/ 1 w 470"/>
                        <a:gd name="T35" fmla="*/ 1 h 190"/>
                        <a:gd name="T36" fmla="*/ 1 w 470"/>
                        <a:gd name="T37" fmla="*/ 1 h 190"/>
                        <a:gd name="T38" fmla="*/ 1 w 470"/>
                        <a:gd name="T39" fmla="*/ 1 h 190"/>
                        <a:gd name="T40" fmla="*/ 1 w 470"/>
                        <a:gd name="T41" fmla="*/ 1 h 190"/>
                        <a:gd name="T42" fmla="*/ 1 w 470"/>
                        <a:gd name="T43" fmla="*/ 0 h 190"/>
                        <a:gd name="T44" fmla="*/ 0 w 470"/>
                        <a:gd name="T45" fmla="*/ 0 h 190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</a:gdLst>
                      <a:ahLst/>
                      <a:cxnLst>
                        <a:cxn ang="T46">
                          <a:pos x="T0" y="T1"/>
                        </a:cxn>
                        <a:cxn ang="T47">
                          <a:pos x="T2" y="T3"/>
                        </a:cxn>
                        <a:cxn ang="T48">
                          <a:pos x="T4" y="T5"/>
                        </a:cxn>
                        <a:cxn ang="T49">
                          <a:pos x="T6" y="T7"/>
                        </a:cxn>
                        <a:cxn ang="T50">
                          <a:pos x="T8" y="T9"/>
                        </a:cxn>
                        <a:cxn ang="T51">
                          <a:pos x="T10" y="T11"/>
                        </a:cxn>
                        <a:cxn ang="T52">
                          <a:pos x="T12" y="T13"/>
                        </a:cxn>
                        <a:cxn ang="T53">
                          <a:pos x="T14" y="T15"/>
                        </a:cxn>
                        <a:cxn ang="T54">
                          <a:pos x="T16" y="T17"/>
                        </a:cxn>
                        <a:cxn ang="T55">
                          <a:pos x="T18" y="T19"/>
                        </a:cxn>
                        <a:cxn ang="T56">
                          <a:pos x="T20" y="T21"/>
                        </a:cxn>
                        <a:cxn ang="T57">
                          <a:pos x="T22" y="T23"/>
                        </a:cxn>
                        <a:cxn ang="T58">
                          <a:pos x="T24" y="T25"/>
                        </a:cxn>
                        <a:cxn ang="T59">
                          <a:pos x="T26" y="T27"/>
                        </a:cxn>
                        <a:cxn ang="T60">
                          <a:pos x="T28" y="T29"/>
                        </a:cxn>
                        <a:cxn ang="T61">
                          <a:pos x="T30" y="T31"/>
                        </a:cxn>
                        <a:cxn ang="T62">
                          <a:pos x="T32" y="T33"/>
                        </a:cxn>
                        <a:cxn ang="T63">
                          <a:pos x="T34" y="T35"/>
                        </a:cxn>
                        <a:cxn ang="T64">
                          <a:pos x="T36" y="T37"/>
                        </a:cxn>
                        <a:cxn ang="T65">
                          <a:pos x="T38" y="T39"/>
                        </a:cxn>
                        <a:cxn ang="T66">
                          <a:pos x="T40" y="T41"/>
                        </a:cxn>
                        <a:cxn ang="T67">
                          <a:pos x="T42" y="T43"/>
                        </a:cxn>
                        <a:cxn ang="T68">
                          <a:pos x="T44" y="T45"/>
                        </a:cxn>
                      </a:cxnLst>
                      <a:rect l="0" t="0" r="r" b="b"/>
                      <a:pathLst>
                        <a:path w="470" h="190">
                          <a:moveTo>
                            <a:pt x="0" y="0"/>
                          </a:moveTo>
                          <a:lnTo>
                            <a:pt x="36" y="69"/>
                          </a:lnTo>
                          <a:lnTo>
                            <a:pt x="91" y="66"/>
                          </a:lnTo>
                          <a:lnTo>
                            <a:pt x="142" y="69"/>
                          </a:lnTo>
                          <a:lnTo>
                            <a:pt x="189" y="76"/>
                          </a:lnTo>
                          <a:lnTo>
                            <a:pt x="233" y="84"/>
                          </a:lnTo>
                          <a:lnTo>
                            <a:pt x="277" y="96"/>
                          </a:lnTo>
                          <a:lnTo>
                            <a:pt x="307" y="105"/>
                          </a:lnTo>
                          <a:lnTo>
                            <a:pt x="346" y="121"/>
                          </a:lnTo>
                          <a:lnTo>
                            <a:pt x="391" y="143"/>
                          </a:lnTo>
                          <a:lnTo>
                            <a:pt x="470" y="190"/>
                          </a:lnTo>
                          <a:lnTo>
                            <a:pt x="424" y="142"/>
                          </a:lnTo>
                          <a:lnTo>
                            <a:pt x="392" y="118"/>
                          </a:lnTo>
                          <a:lnTo>
                            <a:pt x="349" y="90"/>
                          </a:lnTo>
                          <a:lnTo>
                            <a:pt x="323" y="74"/>
                          </a:lnTo>
                          <a:lnTo>
                            <a:pt x="264" y="46"/>
                          </a:lnTo>
                          <a:lnTo>
                            <a:pt x="226" y="32"/>
                          </a:lnTo>
                          <a:lnTo>
                            <a:pt x="195" y="22"/>
                          </a:lnTo>
                          <a:lnTo>
                            <a:pt x="166" y="15"/>
                          </a:lnTo>
                          <a:lnTo>
                            <a:pt x="121" y="7"/>
                          </a:lnTo>
                          <a:lnTo>
                            <a:pt x="74" y="1"/>
                          </a:lnTo>
                          <a:lnTo>
                            <a:pt x="21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28" name="Freeform 44">
                      <a:extLst>
                        <a:ext uri="{FF2B5EF4-FFF2-40B4-BE49-F238E27FC236}">
                          <a16:creationId xmlns:a16="http://schemas.microsoft.com/office/drawing/2014/main" id="{DBC4AC02-4C5C-9F43-AD65-5B052C3712F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65" y="3141"/>
                      <a:ext cx="75" cy="222"/>
                    </a:xfrm>
                    <a:custGeom>
                      <a:avLst/>
                      <a:gdLst>
                        <a:gd name="T0" fmla="*/ 0 w 150"/>
                        <a:gd name="T1" fmla="*/ 0 h 446"/>
                        <a:gd name="T2" fmla="*/ 1 w 150"/>
                        <a:gd name="T3" fmla="*/ 0 h 446"/>
                        <a:gd name="T4" fmla="*/ 1 w 150"/>
                        <a:gd name="T5" fmla="*/ 0 h 446"/>
                        <a:gd name="T6" fmla="*/ 1 w 150"/>
                        <a:gd name="T7" fmla="*/ 0 h 446"/>
                        <a:gd name="T8" fmla="*/ 1 w 150"/>
                        <a:gd name="T9" fmla="*/ 0 h 446"/>
                        <a:gd name="T10" fmla="*/ 1 w 150"/>
                        <a:gd name="T11" fmla="*/ 0 h 446"/>
                        <a:gd name="T12" fmla="*/ 1 w 150"/>
                        <a:gd name="T13" fmla="*/ 0 h 446"/>
                        <a:gd name="T14" fmla="*/ 1 w 150"/>
                        <a:gd name="T15" fmla="*/ 0 h 446"/>
                        <a:gd name="T16" fmla="*/ 1 w 150"/>
                        <a:gd name="T17" fmla="*/ 0 h 446"/>
                        <a:gd name="T18" fmla="*/ 1 w 150"/>
                        <a:gd name="T19" fmla="*/ 0 h 446"/>
                        <a:gd name="T20" fmla="*/ 1 w 150"/>
                        <a:gd name="T21" fmla="*/ 0 h 446"/>
                        <a:gd name="T22" fmla="*/ 1 w 150"/>
                        <a:gd name="T23" fmla="*/ 0 h 446"/>
                        <a:gd name="T24" fmla="*/ 1 w 150"/>
                        <a:gd name="T25" fmla="*/ 0 h 446"/>
                        <a:gd name="T26" fmla="*/ 1 w 150"/>
                        <a:gd name="T27" fmla="*/ 0 h 446"/>
                        <a:gd name="T28" fmla="*/ 1 w 150"/>
                        <a:gd name="T29" fmla="*/ 0 h 446"/>
                        <a:gd name="T30" fmla="*/ 1 w 150"/>
                        <a:gd name="T31" fmla="*/ 0 h 446"/>
                        <a:gd name="T32" fmla="*/ 1 w 150"/>
                        <a:gd name="T33" fmla="*/ 0 h 446"/>
                        <a:gd name="T34" fmla="*/ 1 w 150"/>
                        <a:gd name="T35" fmla="*/ 0 h 446"/>
                        <a:gd name="T36" fmla="*/ 1 w 150"/>
                        <a:gd name="T37" fmla="*/ 0 h 446"/>
                        <a:gd name="T38" fmla="*/ 1 w 150"/>
                        <a:gd name="T39" fmla="*/ 0 h 446"/>
                        <a:gd name="T40" fmla="*/ 1 w 150"/>
                        <a:gd name="T41" fmla="*/ 0 h 446"/>
                        <a:gd name="T42" fmla="*/ 0 w 150"/>
                        <a:gd name="T43" fmla="*/ 0 h 44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</a:gdLst>
                      <a:ahLst/>
                      <a:cxnLst>
                        <a:cxn ang="T44">
                          <a:pos x="T0" y="T1"/>
                        </a:cxn>
                        <a:cxn ang="T45">
                          <a:pos x="T2" y="T3"/>
                        </a:cxn>
                        <a:cxn ang="T46">
                          <a:pos x="T4" y="T5"/>
                        </a:cxn>
                        <a:cxn ang="T47">
                          <a:pos x="T6" y="T7"/>
                        </a:cxn>
                        <a:cxn ang="T48">
                          <a:pos x="T8" y="T9"/>
                        </a:cxn>
                        <a:cxn ang="T49">
                          <a:pos x="T10" y="T11"/>
                        </a:cxn>
                        <a:cxn ang="T50">
                          <a:pos x="T12" y="T13"/>
                        </a:cxn>
                        <a:cxn ang="T51">
                          <a:pos x="T14" y="T15"/>
                        </a:cxn>
                        <a:cxn ang="T52">
                          <a:pos x="T16" y="T17"/>
                        </a:cxn>
                        <a:cxn ang="T53">
                          <a:pos x="T18" y="T19"/>
                        </a:cxn>
                        <a:cxn ang="T54">
                          <a:pos x="T20" y="T21"/>
                        </a:cxn>
                        <a:cxn ang="T55">
                          <a:pos x="T22" y="T23"/>
                        </a:cxn>
                        <a:cxn ang="T56">
                          <a:pos x="T24" y="T25"/>
                        </a:cxn>
                        <a:cxn ang="T57">
                          <a:pos x="T26" y="T27"/>
                        </a:cxn>
                        <a:cxn ang="T58">
                          <a:pos x="T28" y="T29"/>
                        </a:cxn>
                        <a:cxn ang="T59">
                          <a:pos x="T30" y="T31"/>
                        </a:cxn>
                        <a:cxn ang="T60">
                          <a:pos x="T32" y="T33"/>
                        </a:cxn>
                        <a:cxn ang="T61">
                          <a:pos x="T34" y="T35"/>
                        </a:cxn>
                        <a:cxn ang="T62">
                          <a:pos x="T36" y="T37"/>
                        </a:cxn>
                        <a:cxn ang="T63">
                          <a:pos x="T38" y="T39"/>
                        </a:cxn>
                        <a:cxn ang="T64">
                          <a:pos x="T40" y="T41"/>
                        </a:cxn>
                        <a:cxn ang="T65">
                          <a:pos x="T42" y="T43"/>
                        </a:cxn>
                      </a:cxnLst>
                      <a:rect l="0" t="0" r="r" b="b"/>
                      <a:pathLst>
                        <a:path w="150" h="446">
                          <a:moveTo>
                            <a:pt x="0" y="342"/>
                          </a:moveTo>
                          <a:lnTo>
                            <a:pt x="3" y="308"/>
                          </a:lnTo>
                          <a:lnTo>
                            <a:pt x="6" y="270"/>
                          </a:lnTo>
                          <a:lnTo>
                            <a:pt x="16" y="209"/>
                          </a:lnTo>
                          <a:lnTo>
                            <a:pt x="27" y="160"/>
                          </a:lnTo>
                          <a:lnTo>
                            <a:pt x="44" y="117"/>
                          </a:lnTo>
                          <a:lnTo>
                            <a:pt x="64" y="72"/>
                          </a:lnTo>
                          <a:lnTo>
                            <a:pt x="83" y="37"/>
                          </a:lnTo>
                          <a:lnTo>
                            <a:pt x="106" y="0"/>
                          </a:lnTo>
                          <a:lnTo>
                            <a:pt x="150" y="58"/>
                          </a:lnTo>
                          <a:lnTo>
                            <a:pt x="124" y="92"/>
                          </a:lnTo>
                          <a:lnTo>
                            <a:pt x="106" y="124"/>
                          </a:lnTo>
                          <a:lnTo>
                            <a:pt x="91" y="152"/>
                          </a:lnTo>
                          <a:lnTo>
                            <a:pt x="69" y="193"/>
                          </a:lnTo>
                          <a:lnTo>
                            <a:pt x="55" y="228"/>
                          </a:lnTo>
                          <a:lnTo>
                            <a:pt x="47" y="263"/>
                          </a:lnTo>
                          <a:lnTo>
                            <a:pt x="37" y="297"/>
                          </a:lnTo>
                          <a:lnTo>
                            <a:pt x="30" y="335"/>
                          </a:lnTo>
                          <a:lnTo>
                            <a:pt x="24" y="381"/>
                          </a:lnTo>
                          <a:lnTo>
                            <a:pt x="19" y="427"/>
                          </a:lnTo>
                          <a:lnTo>
                            <a:pt x="11" y="446"/>
                          </a:lnTo>
                          <a:lnTo>
                            <a:pt x="0" y="342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</p:grpSp>
            <p:sp>
              <p:nvSpPr>
                <p:cNvPr id="7218" name="Oval 47">
                  <a:extLst>
                    <a:ext uri="{FF2B5EF4-FFF2-40B4-BE49-F238E27FC236}">
                      <a16:creationId xmlns:a16="http://schemas.microsoft.com/office/drawing/2014/main" id="{DFC62A0E-DB26-F94F-854D-088BB829A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" y="3041"/>
                  <a:ext cx="666" cy="637"/>
                </a:xfrm>
                <a:prstGeom prst="ellipse">
                  <a:avLst/>
                </a:prstGeom>
                <a:noFill/>
                <a:ln w="1428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  <p:grpSp>
              <p:nvGrpSpPr>
                <p:cNvPr id="7219" name="Group 51">
                  <a:extLst>
                    <a:ext uri="{FF2B5EF4-FFF2-40B4-BE49-F238E27FC236}">
                      <a16:creationId xmlns:a16="http://schemas.microsoft.com/office/drawing/2014/main" id="{F325B2F7-E577-ED4F-8534-4B56B2D3ED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8" y="2989"/>
                  <a:ext cx="666" cy="638"/>
                  <a:chOff x="448" y="2989"/>
                  <a:chExt cx="666" cy="638"/>
                </a:xfrm>
              </p:grpSpPr>
              <p:sp>
                <p:nvSpPr>
                  <p:cNvPr id="7220" name="Oval 48">
                    <a:extLst>
                      <a:ext uri="{FF2B5EF4-FFF2-40B4-BE49-F238E27FC236}">
                        <a16:creationId xmlns:a16="http://schemas.microsoft.com/office/drawing/2014/main" id="{B4BF3B56-8177-4549-A627-C18E4D08F7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6" y="2998"/>
                    <a:ext cx="650" cy="622"/>
                  </a:xfrm>
                  <a:prstGeom prst="ellipse">
                    <a:avLst/>
                  </a:prstGeom>
                  <a:noFill/>
                  <a:ln w="36513">
                    <a:solidFill>
                      <a:srgbClr val="9F9F9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US" altLang="zh-CN"/>
                  </a:p>
                </p:txBody>
              </p:sp>
              <p:sp>
                <p:nvSpPr>
                  <p:cNvPr id="7221" name="Oval 49">
                    <a:extLst>
                      <a:ext uri="{FF2B5EF4-FFF2-40B4-BE49-F238E27FC236}">
                        <a16:creationId xmlns:a16="http://schemas.microsoft.com/office/drawing/2014/main" id="{C2394868-A2DD-174A-95AC-9CEEC46883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" y="2989"/>
                    <a:ext cx="666" cy="638"/>
                  </a:xfrm>
                  <a:prstGeom prst="ellipse">
                    <a:avLst/>
                  </a:prstGeom>
                  <a:noFill/>
                  <a:ln w="1428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US" altLang="zh-CN"/>
                  </a:p>
                </p:txBody>
              </p:sp>
              <p:sp>
                <p:nvSpPr>
                  <p:cNvPr id="7222" name="Oval 50">
                    <a:extLst>
                      <a:ext uri="{FF2B5EF4-FFF2-40B4-BE49-F238E27FC236}">
                        <a16:creationId xmlns:a16="http://schemas.microsoft.com/office/drawing/2014/main" id="{61A637CD-3873-3447-ADEE-60846CA4DB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7" y="3007"/>
                    <a:ext cx="628" cy="603"/>
                  </a:xfrm>
                  <a:prstGeom prst="ellips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US" altLang="zh-CN"/>
                  </a:p>
                </p:txBody>
              </p:sp>
            </p:grpSp>
          </p:grpSp>
          <p:grpSp>
            <p:nvGrpSpPr>
              <p:cNvPr id="7181" name="Group 88">
                <a:extLst>
                  <a:ext uri="{FF2B5EF4-FFF2-40B4-BE49-F238E27FC236}">
                    <a16:creationId xmlns:a16="http://schemas.microsoft.com/office/drawing/2014/main" id="{84CE6359-94C1-E34C-98E5-C5D6761462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5" y="3589"/>
                <a:ext cx="341" cy="533"/>
                <a:chOff x="925" y="3589"/>
                <a:chExt cx="341" cy="533"/>
              </a:xfrm>
            </p:grpSpPr>
            <p:sp>
              <p:nvSpPr>
                <p:cNvPr id="7182" name="Freeform 53">
                  <a:extLst>
                    <a:ext uri="{FF2B5EF4-FFF2-40B4-BE49-F238E27FC236}">
                      <a16:creationId xmlns:a16="http://schemas.microsoft.com/office/drawing/2014/main" id="{413907BA-FDDA-BD4D-9D25-7A1E375B8C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8" y="3617"/>
                  <a:ext cx="325" cy="465"/>
                </a:xfrm>
                <a:custGeom>
                  <a:avLst/>
                  <a:gdLst>
                    <a:gd name="T0" fmla="*/ 0 w 649"/>
                    <a:gd name="T1" fmla="*/ 1 h 930"/>
                    <a:gd name="T2" fmla="*/ 1 w 649"/>
                    <a:gd name="T3" fmla="*/ 1 h 930"/>
                    <a:gd name="T4" fmla="*/ 1 w 649"/>
                    <a:gd name="T5" fmla="*/ 1 h 930"/>
                    <a:gd name="T6" fmla="*/ 1 w 649"/>
                    <a:gd name="T7" fmla="*/ 0 h 930"/>
                    <a:gd name="T8" fmla="*/ 0 w 649"/>
                    <a:gd name="T9" fmla="*/ 1 h 9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49" h="930">
                      <a:moveTo>
                        <a:pt x="0" y="69"/>
                      </a:moveTo>
                      <a:lnTo>
                        <a:pt x="461" y="930"/>
                      </a:lnTo>
                      <a:lnTo>
                        <a:pt x="649" y="834"/>
                      </a:lnTo>
                      <a:lnTo>
                        <a:pt x="186" y="0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83" name="Arc 54">
                  <a:extLst>
                    <a:ext uri="{FF2B5EF4-FFF2-40B4-BE49-F238E27FC236}">
                      <a16:creationId xmlns:a16="http://schemas.microsoft.com/office/drawing/2014/main" id="{CEC03442-C5F1-BB49-B3C1-CF342EFB8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" y="3589"/>
                  <a:ext cx="99" cy="60"/>
                </a:xfrm>
                <a:custGeom>
                  <a:avLst/>
                  <a:gdLst>
                    <a:gd name="T0" fmla="*/ 0 w 42151"/>
                    <a:gd name="T1" fmla="*/ 0 h 27464"/>
                    <a:gd name="T2" fmla="*/ 0 w 42151"/>
                    <a:gd name="T3" fmla="*/ 0 h 27464"/>
                    <a:gd name="T4" fmla="*/ 0 w 42151"/>
                    <a:gd name="T5" fmla="*/ 0 h 2746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151" h="27464" fill="none" extrusionOk="0">
                      <a:moveTo>
                        <a:pt x="811" y="27463"/>
                      </a:moveTo>
                      <a:cubicBezTo>
                        <a:pt x="272" y="25555"/>
                        <a:pt x="0" y="23582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67" y="0"/>
                        <a:pt x="39266" y="6037"/>
                        <a:pt x="42150" y="14950"/>
                      </a:cubicBezTo>
                    </a:path>
                    <a:path w="42151" h="27464" stroke="0" extrusionOk="0">
                      <a:moveTo>
                        <a:pt x="811" y="27463"/>
                      </a:moveTo>
                      <a:cubicBezTo>
                        <a:pt x="272" y="25555"/>
                        <a:pt x="0" y="23582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67" y="0"/>
                        <a:pt x="39266" y="6037"/>
                        <a:pt x="42150" y="14950"/>
                      </a:cubicBezTo>
                      <a:lnTo>
                        <a:pt x="21600" y="21600"/>
                      </a:lnTo>
                      <a:lnTo>
                        <a:pt x="811" y="2746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84" name="Arc 55">
                  <a:extLst>
                    <a:ext uri="{FF2B5EF4-FFF2-40B4-BE49-F238E27FC236}">
                      <a16:creationId xmlns:a16="http://schemas.microsoft.com/office/drawing/2014/main" id="{B4AD2BA8-0E8E-CD4E-94B4-44A2E0C7B8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8" y="3596"/>
                  <a:ext cx="99" cy="58"/>
                </a:xfrm>
                <a:custGeom>
                  <a:avLst/>
                  <a:gdLst>
                    <a:gd name="T0" fmla="*/ 0 w 42111"/>
                    <a:gd name="T1" fmla="*/ 0 h 24200"/>
                    <a:gd name="T2" fmla="*/ 0 w 42111"/>
                    <a:gd name="T3" fmla="*/ 0 h 24200"/>
                    <a:gd name="T4" fmla="*/ 0 w 42111"/>
                    <a:gd name="T5" fmla="*/ 0 h 24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111" h="24200" fill="none" extrusionOk="0">
                      <a:moveTo>
                        <a:pt x="157" y="24199"/>
                      </a:moveTo>
                      <a:cubicBezTo>
                        <a:pt x="52" y="23337"/>
                        <a:pt x="0" y="2246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20" y="0"/>
                        <a:pt x="39189" y="5978"/>
                        <a:pt x="42111" y="14828"/>
                      </a:cubicBezTo>
                    </a:path>
                    <a:path w="42111" h="24200" stroke="0" extrusionOk="0">
                      <a:moveTo>
                        <a:pt x="157" y="24199"/>
                      </a:moveTo>
                      <a:cubicBezTo>
                        <a:pt x="52" y="23337"/>
                        <a:pt x="0" y="2246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0920" y="0"/>
                        <a:pt x="39189" y="5978"/>
                        <a:pt x="42111" y="14828"/>
                      </a:cubicBezTo>
                      <a:lnTo>
                        <a:pt x="21600" y="21600"/>
                      </a:lnTo>
                      <a:lnTo>
                        <a:pt x="157" y="24199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85" name="Freeform 56">
                  <a:extLst>
                    <a:ext uri="{FF2B5EF4-FFF2-40B4-BE49-F238E27FC236}">
                      <a16:creationId xmlns:a16="http://schemas.microsoft.com/office/drawing/2014/main" id="{C44B51CD-C4C6-C94D-A89E-46D7C68DCF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5" y="3597"/>
                  <a:ext cx="62" cy="119"/>
                </a:xfrm>
                <a:custGeom>
                  <a:avLst/>
                  <a:gdLst>
                    <a:gd name="T0" fmla="*/ 1 w 123"/>
                    <a:gd name="T1" fmla="*/ 0 h 239"/>
                    <a:gd name="T2" fmla="*/ 0 w 123"/>
                    <a:gd name="T3" fmla="*/ 0 h 239"/>
                    <a:gd name="T4" fmla="*/ 0 w 123"/>
                    <a:gd name="T5" fmla="*/ 0 h 239"/>
                    <a:gd name="T6" fmla="*/ 1 w 123"/>
                    <a:gd name="T7" fmla="*/ 0 h 239"/>
                    <a:gd name="T8" fmla="*/ 1 w 123"/>
                    <a:gd name="T9" fmla="*/ 0 h 239"/>
                    <a:gd name="T10" fmla="*/ 1 w 123"/>
                    <a:gd name="T11" fmla="*/ 0 h 239"/>
                    <a:gd name="T12" fmla="*/ 1 w 123"/>
                    <a:gd name="T13" fmla="*/ 0 h 239"/>
                    <a:gd name="T14" fmla="*/ 1 w 123"/>
                    <a:gd name="T15" fmla="*/ 0 h 239"/>
                    <a:gd name="T16" fmla="*/ 1 w 123"/>
                    <a:gd name="T17" fmla="*/ 0 h 239"/>
                    <a:gd name="T18" fmla="*/ 1 w 123"/>
                    <a:gd name="T19" fmla="*/ 0 h 239"/>
                    <a:gd name="T20" fmla="*/ 1 w 123"/>
                    <a:gd name="T21" fmla="*/ 0 h 239"/>
                    <a:gd name="T22" fmla="*/ 1 w 123"/>
                    <a:gd name="T23" fmla="*/ 0 h 239"/>
                    <a:gd name="T24" fmla="*/ 1 w 123"/>
                    <a:gd name="T25" fmla="*/ 0 h 239"/>
                    <a:gd name="T26" fmla="*/ 1 w 123"/>
                    <a:gd name="T27" fmla="*/ 0 h 239"/>
                    <a:gd name="T28" fmla="*/ 1 w 123"/>
                    <a:gd name="T29" fmla="*/ 0 h 239"/>
                    <a:gd name="T30" fmla="*/ 1 w 123"/>
                    <a:gd name="T31" fmla="*/ 0 h 239"/>
                    <a:gd name="T32" fmla="*/ 1 w 123"/>
                    <a:gd name="T33" fmla="*/ 0 h 239"/>
                    <a:gd name="T34" fmla="*/ 1 w 123"/>
                    <a:gd name="T35" fmla="*/ 0 h 239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23" h="239">
                      <a:moveTo>
                        <a:pt x="3" y="111"/>
                      </a:moveTo>
                      <a:lnTo>
                        <a:pt x="0" y="95"/>
                      </a:lnTo>
                      <a:lnTo>
                        <a:pt x="0" y="80"/>
                      </a:lnTo>
                      <a:lnTo>
                        <a:pt x="2" y="67"/>
                      </a:lnTo>
                      <a:lnTo>
                        <a:pt x="7" y="49"/>
                      </a:lnTo>
                      <a:lnTo>
                        <a:pt x="14" y="34"/>
                      </a:lnTo>
                      <a:lnTo>
                        <a:pt x="24" y="20"/>
                      </a:lnTo>
                      <a:lnTo>
                        <a:pt x="36" y="8"/>
                      </a:lnTo>
                      <a:lnTo>
                        <a:pt x="47" y="0"/>
                      </a:lnTo>
                      <a:lnTo>
                        <a:pt x="123" y="129"/>
                      </a:lnTo>
                      <a:lnTo>
                        <a:pt x="109" y="137"/>
                      </a:lnTo>
                      <a:lnTo>
                        <a:pt x="100" y="146"/>
                      </a:lnTo>
                      <a:lnTo>
                        <a:pt x="91" y="156"/>
                      </a:lnTo>
                      <a:lnTo>
                        <a:pt x="84" y="167"/>
                      </a:lnTo>
                      <a:lnTo>
                        <a:pt x="76" y="188"/>
                      </a:lnTo>
                      <a:lnTo>
                        <a:pt x="71" y="216"/>
                      </a:lnTo>
                      <a:lnTo>
                        <a:pt x="71" y="239"/>
                      </a:lnTo>
                      <a:lnTo>
                        <a:pt x="3" y="11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86" name="Arc 57">
                  <a:extLst>
                    <a:ext uri="{FF2B5EF4-FFF2-40B4-BE49-F238E27FC236}">
                      <a16:creationId xmlns:a16="http://schemas.microsoft.com/office/drawing/2014/main" id="{7F8767B7-762E-344A-8BBB-59743C8ACF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5" y="3593"/>
                  <a:ext cx="51" cy="57"/>
                </a:xfrm>
                <a:custGeom>
                  <a:avLst/>
                  <a:gdLst>
                    <a:gd name="T0" fmla="*/ 0 w 21600"/>
                    <a:gd name="T1" fmla="*/ 0 h 25707"/>
                    <a:gd name="T2" fmla="*/ 0 w 21600"/>
                    <a:gd name="T3" fmla="*/ 0 h 25707"/>
                    <a:gd name="T4" fmla="*/ 0 w 21600"/>
                    <a:gd name="T5" fmla="*/ 0 h 2570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5707" fill="none" extrusionOk="0">
                      <a:moveTo>
                        <a:pt x="724" y="25707"/>
                      </a:moveTo>
                      <a:cubicBezTo>
                        <a:pt x="243" y="23896"/>
                        <a:pt x="0" y="22031"/>
                        <a:pt x="0" y="20159"/>
                      </a:cubicBezTo>
                      <a:cubicBezTo>
                        <a:pt x="0" y="11222"/>
                        <a:pt x="5502" y="3209"/>
                        <a:pt x="13842" y="-1"/>
                      </a:cubicBezTo>
                    </a:path>
                    <a:path w="21600" h="25707" stroke="0" extrusionOk="0">
                      <a:moveTo>
                        <a:pt x="724" y="25707"/>
                      </a:moveTo>
                      <a:cubicBezTo>
                        <a:pt x="243" y="23896"/>
                        <a:pt x="0" y="22031"/>
                        <a:pt x="0" y="20159"/>
                      </a:cubicBezTo>
                      <a:cubicBezTo>
                        <a:pt x="0" y="11222"/>
                        <a:pt x="5502" y="3209"/>
                        <a:pt x="13842" y="-1"/>
                      </a:cubicBezTo>
                      <a:lnTo>
                        <a:pt x="21600" y="20159"/>
                      </a:lnTo>
                      <a:lnTo>
                        <a:pt x="724" y="25707"/>
                      </a:lnTo>
                      <a:close/>
                    </a:path>
                  </a:pathLst>
                </a:cu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87" name="Arc 58">
                  <a:extLst>
                    <a:ext uri="{FF2B5EF4-FFF2-40B4-BE49-F238E27FC236}">
                      <a16:creationId xmlns:a16="http://schemas.microsoft.com/office/drawing/2014/main" id="{13DECE79-B685-B64E-BA0E-3F82B89388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62" y="3654"/>
                  <a:ext cx="99" cy="59"/>
                </a:xfrm>
                <a:custGeom>
                  <a:avLst/>
                  <a:gdLst>
                    <a:gd name="T0" fmla="*/ 0 w 42323"/>
                    <a:gd name="T1" fmla="*/ 0 h 27042"/>
                    <a:gd name="T2" fmla="*/ 0 w 42323"/>
                    <a:gd name="T3" fmla="*/ 0 h 27042"/>
                    <a:gd name="T4" fmla="*/ 0 w 42323"/>
                    <a:gd name="T5" fmla="*/ 0 h 270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323" h="27042" fill="none" extrusionOk="0">
                      <a:moveTo>
                        <a:pt x="696" y="27042"/>
                      </a:moveTo>
                      <a:cubicBezTo>
                        <a:pt x="234" y="25265"/>
                        <a:pt x="0" y="234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182" y="0"/>
                        <a:pt x="39619" y="6313"/>
                        <a:pt x="42322" y="15506"/>
                      </a:cubicBezTo>
                    </a:path>
                    <a:path w="42323" h="27042" stroke="0" extrusionOk="0">
                      <a:moveTo>
                        <a:pt x="696" y="27042"/>
                      </a:moveTo>
                      <a:cubicBezTo>
                        <a:pt x="234" y="25265"/>
                        <a:pt x="0" y="2343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182" y="0"/>
                        <a:pt x="39619" y="6313"/>
                        <a:pt x="42322" y="15506"/>
                      </a:cubicBezTo>
                      <a:lnTo>
                        <a:pt x="21600" y="21600"/>
                      </a:lnTo>
                      <a:lnTo>
                        <a:pt x="696" y="27042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grpSp>
              <p:nvGrpSpPr>
                <p:cNvPr id="7188" name="Group 64">
                  <a:extLst>
                    <a:ext uri="{FF2B5EF4-FFF2-40B4-BE49-F238E27FC236}">
                      <a16:creationId xmlns:a16="http://schemas.microsoft.com/office/drawing/2014/main" id="{1A18D97E-0B61-4F48-8BE3-E60D2B7C09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5" y="3664"/>
                  <a:ext cx="105" cy="68"/>
                  <a:chOff x="965" y="3664"/>
                  <a:chExt cx="105" cy="68"/>
                </a:xfrm>
              </p:grpSpPr>
              <p:grpSp>
                <p:nvGrpSpPr>
                  <p:cNvPr id="7212" name="Group 62">
                    <a:extLst>
                      <a:ext uri="{FF2B5EF4-FFF2-40B4-BE49-F238E27FC236}">
                        <a16:creationId xmlns:a16="http://schemas.microsoft.com/office/drawing/2014/main" id="{3267CA57-C615-0B47-9CD5-DEE79E54033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65" y="3664"/>
                    <a:ext cx="100" cy="58"/>
                    <a:chOff x="965" y="3664"/>
                    <a:chExt cx="100" cy="58"/>
                  </a:xfrm>
                </p:grpSpPr>
                <p:sp>
                  <p:nvSpPr>
                    <p:cNvPr id="7214" name="Arc 59">
                      <a:extLst>
                        <a:ext uri="{FF2B5EF4-FFF2-40B4-BE49-F238E27FC236}">
                          <a16:creationId xmlns:a16="http://schemas.microsoft.com/office/drawing/2014/main" id="{8CA77BF7-2CC6-BE45-983F-D097C3EF5D2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65" y="3664"/>
                      <a:ext cx="100" cy="58"/>
                    </a:xfrm>
                    <a:custGeom>
                      <a:avLst/>
                      <a:gdLst>
                        <a:gd name="T0" fmla="*/ 0 w 42574"/>
                        <a:gd name="T1" fmla="*/ 0 h 26665"/>
                        <a:gd name="T2" fmla="*/ 0 w 42574"/>
                        <a:gd name="T3" fmla="*/ 0 h 26665"/>
                        <a:gd name="T4" fmla="*/ 0 w 42574"/>
                        <a:gd name="T5" fmla="*/ 0 h 2666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2574" h="26665" fill="none" extrusionOk="0">
                          <a:moveTo>
                            <a:pt x="602" y="26664"/>
                          </a:moveTo>
                          <a:cubicBezTo>
                            <a:pt x="202" y="25006"/>
                            <a:pt x="0" y="2330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0"/>
                            <a:pt x="40197" y="6784"/>
                            <a:pt x="42573" y="16436"/>
                          </a:cubicBezTo>
                        </a:path>
                        <a:path w="42574" h="26665" stroke="0" extrusionOk="0">
                          <a:moveTo>
                            <a:pt x="602" y="26664"/>
                          </a:moveTo>
                          <a:cubicBezTo>
                            <a:pt x="202" y="25006"/>
                            <a:pt x="0" y="23306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0"/>
                            <a:pt x="40197" y="6784"/>
                            <a:pt x="42573" y="16436"/>
                          </a:cubicBezTo>
                          <a:lnTo>
                            <a:pt x="21600" y="21600"/>
                          </a:lnTo>
                          <a:lnTo>
                            <a:pt x="602" y="26664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15" name="Arc 60">
                      <a:extLst>
                        <a:ext uri="{FF2B5EF4-FFF2-40B4-BE49-F238E27FC236}">
                          <a16:creationId xmlns:a16="http://schemas.microsoft.com/office/drawing/2014/main" id="{57183C9F-C0A3-6342-A0B6-AD105CD0880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65" y="3670"/>
                      <a:ext cx="51" cy="52"/>
                    </a:xfrm>
                    <a:custGeom>
                      <a:avLst/>
                      <a:gdLst>
                        <a:gd name="T0" fmla="*/ 0 w 21600"/>
                        <a:gd name="T1" fmla="*/ 0 h 24033"/>
                        <a:gd name="T2" fmla="*/ 0 w 21600"/>
                        <a:gd name="T3" fmla="*/ 0 h 24033"/>
                        <a:gd name="T4" fmla="*/ 0 w 21600"/>
                        <a:gd name="T5" fmla="*/ 0 h 24033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4033" fill="none" extrusionOk="0">
                          <a:moveTo>
                            <a:pt x="602" y="24032"/>
                          </a:moveTo>
                          <a:cubicBezTo>
                            <a:pt x="202" y="22374"/>
                            <a:pt x="0" y="20674"/>
                            <a:pt x="0" y="18968"/>
                          </a:cubicBezTo>
                          <a:cubicBezTo>
                            <a:pt x="0" y="11059"/>
                            <a:pt x="4321" y="3783"/>
                            <a:pt x="11266" y="0"/>
                          </a:cubicBezTo>
                        </a:path>
                        <a:path w="21600" h="24033" stroke="0" extrusionOk="0">
                          <a:moveTo>
                            <a:pt x="602" y="24032"/>
                          </a:moveTo>
                          <a:cubicBezTo>
                            <a:pt x="202" y="22374"/>
                            <a:pt x="0" y="20674"/>
                            <a:pt x="0" y="18968"/>
                          </a:cubicBezTo>
                          <a:cubicBezTo>
                            <a:pt x="0" y="11059"/>
                            <a:pt x="4321" y="3783"/>
                            <a:pt x="11266" y="0"/>
                          </a:cubicBezTo>
                          <a:lnTo>
                            <a:pt x="21600" y="18968"/>
                          </a:lnTo>
                          <a:lnTo>
                            <a:pt x="602" y="24032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16" name="Arc 61">
                      <a:extLst>
                        <a:ext uri="{FF2B5EF4-FFF2-40B4-BE49-F238E27FC236}">
                          <a16:creationId xmlns:a16="http://schemas.microsoft.com/office/drawing/2014/main" id="{3A4DD3D3-0BF1-B348-B11B-945B9671421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66" y="3664"/>
                      <a:ext cx="99" cy="58"/>
                    </a:xfrm>
                    <a:custGeom>
                      <a:avLst/>
                      <a:gdLst>
                        <a:gd name="T0" fmla="*/ 0 w 42323"/>
                        <a:gd name="T1" fmla="*/ 0 h 26180"/>
                        <a:gd name="T2" fmla="*/ 0 w 42323"/>
                        <a:gd name="T3" fmla="*/ 0 h 26180"/>
                        <a:gd name="T4" fmla="*/ 0 w 42323"/>
                        <a:gd name="T5" fmla="*/ 0 h 2618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2323" h="26180" fill="none" extrusionOk="0">
                          <a:moveTo>
                            <a:pt x="491" y="26179"/>
                          </a:moveTo>
                          <a:cubicBezTo>
                            <a:pt x="164" y="24675"/>
                            <a:pt x="0" y="2313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182" y="0"/>
                            <a:pt x="39619" y="6313"/>
                            <a:pt x="42322" y="15506"/>
                          </a:cubicBezTo>
                        </a:path>
                        <a:path w="42323" h="26180" stroke="0" extrusionOk="0">
                          <a:moveTo>
                            <a:pt x="491" y="26179"/>
                          </a:moveTo>
                          <a:cubicBezTo>
                            <a:pt x="164" y="24675"/>
                            <a:pt x="0" y="2313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182" y="0"/>
                            <a:pt x="39619" y="6313"/>
                            <a:pt x="42322" y="15506"/>
                          </a:cubicBezTo>
                          <a:lnTo>
                            <a:pt x="21600" y="21600"/>
                          </a:lnTo>
                          <a:lnTo>
                            <a:pt x="491" y="26179"/>
                          </a:lnTo>
                          <a:close/>
                        </a:path>
                      </a:pathLst>
                    </a:custGeom>
                    <a:noFill/>
                    <a:ln w="793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  <p:sp>
                <p:nvSpPr>
                  <p:cNvPr id="7213" name="Arc 63">
                    <a:extLst>
                      <a:ext uri="{FF2B5EF4-FFF2-40B4-BE49-F238E27FC236}">
                        <a16:creationId xmlns:a16="http://schemas.microsoft.com/office/drawing/2014/main" id="{6A353FE9-D88A-424D-95A9-8B58C14F33A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71" y="3674"/>
                    <a:ext cx="99" cy="58"/>
                  </a:xfrm>
                  <a:custGeom>
                    <a:avLst/>
                    <a:gdLst>
                      <a:gd name="T0" fmla="*/ 0 w 42357"/>
                      <a:gd name="T1" fmla="*/ 0 h 26180"/>
                      <a:gd name="T2" fmla="*/ 0 w 42357"/>
                      <a:gd name="T3" fmla="*/ 0 h 26180"/>
                      <a:gd name="T4" fmla="*/ 0 w 42357"/>
                      <a:gd name="T5" fmla="*/ 0 h 2618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357" h="26180" fill="none" extrusionOk="0">
                        <a:moveTo>
                          <a:pt x="491" y="26179"/>
                        </a:moveTo>
                        <a:cubicBezTo>
                          <a:pt x="164" y="24675"/>
                          <a:pt x="0" y="2313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227" y="0"/>
                          <a:pt x="39692" y="6371"/>
                          <a:pt x="42356" y="15623"/>
                        </a:cubicBezTo>
                      </a:path>
                      <a:path w="42357" h="26180" stroke="0" extrusionOk="0">
                        <a:moveTo>
                          <a:pt x="491" y="26179"/>
                        </a:moveTo>
                        <a:cubicBezTo>
                          <a:pt x="164" y="24675"/>
                          <a:pt x="0" y="2313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227" y="0"/>
                          <a:pt x="39692" y="6371"/>
                          <a:pt x="42356" y="15623"/>
                        </a:cubicBezTo>
                        <a:lnTo>
                          <a:pt x="21600" y="21600"/>
                        </a:lnTo>
                        <a:lnTo>
                          <a:pt x="491" y="26179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7189" name="Group 70">
                  <a:extLst>
                    <a:ext uri="{FF2B5EF4-FFF2-40B4-BE49-F238E27FC236}">
                      <a16:creationId xmlns:a16="http://schemas.microsoft.com/office/drawing/2014/main" id="{03260B26-D397-C648-8B35-277D4D8709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75" y="3683"/>
                  <a:ext cx="105" cy="68"/>
                  <a:chOff x="975" y="3683"/>
                  <a:chExt cx="105" cy="68"/>
                </a:xfrm>
              </p:grpSpPr>
              <p:grpSp>
                <p:nvGrpSpPr>
                  <p:cNvPr id="7207" name="Group 68">
                    <a:extLst>
                      <a:ext uri="{FF2B5EF4-FFF2-40B4-BE49-F238E27FC236}">
                        <a16:creationId xmlns:a16="http://schemas.microsoft.com/office/drawing/2014/main" id="{A91645CD-D284-5C4F-A723-A20F7309C8D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75" y="3683"/>
                    <a:ext cx="100" cy="58"/>
                    <a:chOff x="975" y="3683"/>
                    <a:chExt cx="100" cy="58"/>
                  </a:xfrm>
                </p:grpSpPr>
                <p:sp>
                  <p:nvSpPr>
                    <p:cNvPr id="7209" name="Arc 65">
                      <a:extLst>
                        <a:ext uri="{FF2B5EF4-FFF2-40B4-BE49-F238E27FC236}">
                          <a16:creationId xmlns:a16="http://schemas.microsoft.com/office/drawing/2014/main" id="{4AF515EA-BB04-504B-B6E7-52F94B00EBF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75" y="3684"/>
                      <a:ext cx="100" cy="57"/>
                    </a:xfrm>
                    <a:custGeom>
                      <a:avLst/>
                      <a:gdLst>
                        <a:gd name="T0" fmla="*/ 0 w 42574"/>
                        <a:gd name="T1" fmla="*/ 0 h 26227"/>
                        <a:gd name="T2" fmla="*/ 0 w 42574"/>
                        <a:gd name="T3" fmla="*/ 0 h 26227"/>
                        <a:gd name="T4" fmla="*/ 0 w 42574"/>
                        <a:gd name="T5" fmla="*/ 0 h 2622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2574" h="26227" fill="none" extrusionOk="0">
                          <a:moveTo>
                            <a:pt x="501" y="26226"/>
                          </a:moveTo>
                          <a:cubicBezTo>
                            <a:pt x="168" y="24707"/>
                            <a:pt x="0" y="23155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0"/>
                            <a:pt x="40197" y="6784"/>
                            <a:pt x="42573" y="16436"/>
                          </a:cubicBezTo>
                        </a:path>
                        <a:path w="42574" h="26227" stroke="0" extrusionOk="0">
                          <a:moveTo>
                            <a:pt x="501" y="26226"/>
                          </a:moveTo>
                          <a:cubicBezTo>
                            <a:pt x="168" y="24707"/>
                            <a:pt x="0" y="23155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540" y="0"/>
                            <a:pt x="40197" y="6784"/>
                            <a:pt x="42573" y="16436"/>
                          </a:cubicBezTo>
                          <a:lnTo>
                            <a:pt x="21600" y="21600"/>
                          </a:lnTo>
                          <a:lnTo>
                            <a:pt x="501" y="26226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10" name="Arc 66">
                      <a:extLst>
                        <a:ext uri="{FF2B5EF4-FFF2-40B4-BE49-F238E27FC236}">
                          <a16:creationId xmlns:a16="http://schemas.microsoft.com/office/drawing/2014/main" id="{1F7981E4-60EB-C14F-95ED-DF61ACE1070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75" y="3690"/>
                      <a:ext cx="51" cy="51"/>
                    </a:xfrm>
                    <a:custGeom>
                      <a:avLst/>
                      <a:gdLst>
                        <a:gd name="T0" fmla="*/ 0 w 21600"/>
                        <a:gd name="T1" fmla="*/ 0 h 23595"/>
                        <a:gd name="T2" fmla="*/ 0 w 21600"/>
                        <a:gd name="T3" fmla="*/ 0 h 23595"/>
                        <a:gd name="T4" fmla="*/ 0 w 21600"/>
                        <a:gd name="T5" fmla="*/ 0 h 2359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3595" fill="none" extrusionOk="0">
                          <a:moveTo>
                            <a:pt x="501" y="23594"/>
                          </a:moveTo>
                          <a:cubicBezTo>
                            <a:pt x="168" y="22075"/>
                            <a:pt x="0" y="20523"/>
                            <a:pt x="0" y="18968"/>
                          </a:cubicBezTo>
                          <a:cubicBezTo>
                            <a:pt x="0" y="11059"/>
                            <a:pt x="4321" y="3783"/>
                            <a:pt x="11266" y="0"/>
                          </a:cubicBezTo>
                        </a:path>
                        <a:path w="21600" h="23595" stroke="0" extrusionOk="0">
                          <a:moveTo>
                            <a:pt x="501" y="23594"/>
                          </a:moveTo>
                          <a:cubicBezTo>
                            <a:pt x="168" y="22075"/>
                            <a:pt x="0" y="20523"/>
                            <a:pt x="0" y="18968"/>
                          </a:cubicBezTo>
                          <a:cubicBezTo>
                            <a:pt x="0" y="11059"/>
                            <a:pt x="4321" y="3783"/>
                            <a:pt x="11266" y="0"/>
                          </a:cubicBezTo>
                          <a:lnTo>
                            <a:pt x="21600" y="18968"/>
                          </a:lnTo>
                          <a:lnTo>
                            <a:pt x="501" y="23594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11" name="Arc 67">
                      <a:extLst>
                        <a:ext uri="{FF2B5EF4-FFF2-40B4-BE49-F238E27FC236}">
                          <a16:creationId xmlns:a16="http://schemas.microsoft.com/office/drawing/2014/main" id="{62DFC79B-F29F-FA48-90D1-BF86C884C0F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75" y="3683"/>
                      <a:ext cx="100" cy="58"/>
                    </a:xfrm>
                    <a:custGeom>
                      <a:avLst/>
                      <a:gdLst>
                        <a:gd name="T0" fmla="*/ 0 w 42462"/>
                        <a:gd name="T1" fmla="*/ 0 h 26223"/>
                        <a:gd name="T2" fmla="*/ 0 w 42462"/>
                        <a:gd name="T3" fmla="*/ 0 h 26223"/>
                        <a:gd name="T4" fmla="*/ 0 w 42462"/>
                        <a:gd name="T5" fmla="*/ 0 h 26223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2462" h="26223" fill="none" extrusionOk="0">
                          <a:moveTo>
                            <a:pt x="500" y="26223"/>
                          </a:moveTo>
                          <a:cubicBezTo>
                            <a:pt x="167" y="24704"/>
                            <a:pt x="0" y="23154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372" y="0"/>
                            <a:pt x="39927" y="6561"/>
                            <a:pt x="42461" y="16000"/>
                          </a:cubicBezTo>
                        </a:path>
                        <a:path w="42462" h="26223" stroke="0" extrusionOk="0">
                          <a:moveTo>
                            <a:pt x="500" y="26223"/>
                          </a:moveTo>
                          <a:cubicBezTo>
                            <a:pt x="167" y="24704"/>
                            <a:pt x="0" y="23154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372" y="0"/>
                            <a:pt x="39927" y="6561"/>
                            <a:pt x="42461" y="16000"/>
                          </a:cubicBezTo>
                          <a:lnTo>
                            <a:pt x="21600" y="21600"/>
                          </a:lnTo>
                          <a:lnTo>
                            <a:pt x="500" y="26223"/>
                          </a:lnTo>
                          <a:close/>
                        </a:path>
                      </a:pathLst>
                    </a:custGeom>
                    <a:noFill/>
                    <a:ln w="793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  <p:sp>
                <p:nvSpPr>
                  <p:cNvPr id="7208" name="Arc 69">
                    <a:extLst>
                      <a:ext uri="{FF2B5EF4-FFF2-40B4-BE49-F238E27FC236}">
                        <a16:creationId xmlns:a16="http://schemas.microsoft.com/office/drawing/2014/main" id="{F6676C60-8796-1149-A20B-B962D32E61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1" y="3694"/>
                    <a:ext cx="99" cy="57"/>
                  </a:xfrm>
                  <a:custGeom>
                    <a:avLst/>
                    <a:gdLst>
                      <a:gd name="T0" fmla="*/ 0 w 42446"/>
                      <a:gd name="T1" fmla="*/ 0 h 25740"/>
                      <a:gd name="T2" fmla="*/ 0 w 42446"/>
                      <a:gd name="T3" fmla="*/ 0 h 25740"/>
                      <a:gd name="T4" fmla="*/ 0 w 42446"/>
                      <a:gd name="T5" fmla="*/ 0 h 25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446" h="25740" fill="none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50" y="0"/>
                          <a:pt x="39891" y="6532"/>
                          <a:pt x="42445" y="15942"/>
                        </a:cubicBezTo>
                      </a:path>
                      <a:path w="42446" h="25740" stroke="0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50" y="0"/>
                          <a:pt x="39891" y="6532"/>
                          <a:pt x="42445" y="15942"/>
                        </a:cubicBezTo>
                        <a:lnTo>
                          <a:pt x="21600" y="21600"/>
                        </a:lnTo>
                        <a:lnTo>
                          <a:pt x="400" y="25739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7190" name="Group 73">
                  <a:extLst>
                    <a:ext uri="{FF2B5EF4-FFF2-40B4-BE49-F238E27FC236}">
                      <a16:creationId xmlns:a16="http://schemas.microsoft.com/office/drawing/2014/main" id="{400076D1-15BC-1D42-932C-41B5E891AA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5" y="3702"/>
                  <a:ext cx="100" cy="56"/>
                  <a:chOff x="985" y="3702"/>
                  <a:chExt cx="100" cy="56"/>
                </a:xfrm>
              </p:grpSpPr>
              <p:sp>
                <p:nvSpPr>
                  <p:cNvPr id="7205" name="Arc 71">
                    <a:extLst>
                      <a:ext uri="{FF2B5EF4-FFF2-40B4-BE49-F238E27FC236}">
                        <a16:creationId xmlns:a16="http://schemas.microsoft.com/office/drawing/2014/main" id="{007E117B-32DE-0044-BF8C-4B1E9DAB70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5" y="3702"/>
                    <a:ext cx="100" cy="56"/>
                  </a:xfrm>
                  <a:custGeom>
                    <a:avLst/>
                    <a:gdLst>
                      <a:gd name="T0" fmla="*/ 0 w 42699"/>
                      <a:gd name="T1" fmla="*/ 0 h 25782"/>
                      <a:gd name="T2" fmla="*/ 0 w 42699"/>
                      <a:gd name="T3" fmla="*/ 0 h 25782"/>
                      <a:gd name="T4" fmla="*/ 0 w 42699"/>
                      <a:gd name="T5" fmla="*/ 0 h 2578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699" h="25782" fill="none" extrusionOk="0">
                        <a:moveTo>
                          <a:pt x="408" y="25782"/>
                        </a:moveTo>
                        <a:cubicBezTo>
                          <a:pt x="136" y="24404"/>
                          <a:pt x="0" y="2300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46" y="0"/>
                          <a:pt x="40525" y="7062"/>
                          <a:pt x="42698" y="16973"/>
                        </a:cubicBezTo>
                      </a:path>
                      <a:path w="42699" h="25782" stroke="0" extrusionOk="0">
                        <a:moveTo>
                          <a:pt x="408" y="25782"/>
                        </a:moveTo>
                        <a:cubicBezTo>
                          <a:pt x="136" y="24404"/>
                          <a:pt x="0" y="2300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46" y="0"/>
                          <a:pt x="40525" y="7062"/>
                          <a:pt x="42698" y="16973"/>
                        </a:cubicBezTo>
                        <a:lnTo>
                          <a:pt x="21600" y="21600"/>
                        </a:lnTo>
                        <a:lnTo>
                          <a:pt x="408" y="25782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7206" name="Arc 72">
                    <a:extLst>
                      <a:ext uri="{FF2B5EF4-FFF2-40B4-BE49-F238E27FC236}">
                        <a16:creationId xmlns:a16="http://schemas.microsoft.com/office/drawing/2014/main" id="{23EAA56D-FFB4-9F44-95E8-3B9F0F69C1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5" y="3708"/>
                    <a:ext cx="51" cy="50"/>
                  </a:xfrm>
                  <a:custGeom>
                    <a:avLst/>
                    <a:gdLst>
                      <a:gd name="T0" fmla="*/ 0 w 21600"/>
                      <a:gd name="T1" fmla="*/ 0 h 23150"/>
                      <a:gd name="T2" fmla="*/ 0 w 21600"/>
                      <a:gd name="T3" fmla="*/ 0 h 23150"/>
                      <a:gd name="T4" fmla="*/ 0 w 21600"/>
                      <a:gd name="T5" fmla="*/ 0 h 2315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3150" fill="none" extrusionOk="0">
                        <a:moveTo>
                          <a:pt x="408" y="23150"/>
                        </a:moveTo>
                        <a:cubicBezTo>
                          <a:pt x="136" y="21772"/>
                          <a:pt x="0" y="20371"/>
                          <a:pt x="0" y="18968"/>
                        </a:cubicBezTo>
                        <a:cubicBezTo>
                          <a:pt x="0" y="11059"/>
                          <a:pt x="4321" y="3783"/>
                          <a:pt x="11266" y="0"/>
                        </a:cubicBezTo>
                      </a:path>
                      <a:path w="21600" h="23150" stroke="0" extrusionOk="0">
                        <a:moveTo>
                          <a:pt x="408" y="23150"/>
                        </a:moveTo>
                        <a:cubicBezTo>
                          <a:pt x="136" y="21772"/>
                          <a:pt x="0" y="20371"/>
                          <a:pt x="0" y="18968"/>
                        </a:cubicBezTo>
                        <a:cubicBezTo>
                          <a:pt x="0" y="11059"/>
                          <a:pt x="4321" y="3783"/>
                          <a:pt x="11266" y="0"/>
                        </a:cubicBezTo>
                        <a:lnTo>
                          <a:pt x="21600" y="18968"/>
                        </a:lnTo>
                        <a:lnTo>
                          <a:pt x="408" y="23150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7191" name="Group 76">
                  <a:extLst>
                    <a:ext uri="{FF2B5EF4-FFF2-40B4-BE49-F238E27FC236}">
                      <a16:creationId xmlns:a16="http://schemas.microsoft.com/office/drawing/2014/main" id="{923D6B5A-FA27-D14F-ACC0-EAA4B06C03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6" y="3702"/>
                  <a:ext cx="105" cy="67"/>
                  <a:chOff x="986" y="3702"/>
                  <a:chExt cx="105" cy="67"/>
                </a:xfrm>
              </p:grpSpPr>
              <p:sp>
                <p:nvSpPr>
                  <p:cNvPr id="7203" name="Arc 74">
                    <a:extLst>
                      <a:ext uri="{FF2B5EF4-FFF2-40B4-BE49-F238E27FC236}">
                        <a16:creationId xmlns:a16="http://schemas.microsoft.com/office/drawing/2014/main" id="{CD42710F-1FA7-9A45-9750-156BEE524E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6" y="3702"/>
                    <a:ext cx="99" cy="57"/>
                  </a:xfrm>
                  <a:custGeom>
                    <a:avLst/>
                    <a:gdLst>
                      <a:gd name="T0" fmla="*/ 0 w 42475"/>
                      <a:gd name="T1" fmla="*/ 0 h 25740"/>
                      <a:gd name="T2" fmla="*/ 0 w 42475"/>
                      <a:gd name="T3" fmla="*/ 0 h 25740"/>
                      <a:gd name="T4" fmla="*/ 0 w 42475"/>
                      <a:gd name="T5" fmla="*/ 0 h 25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475" h="25740" fill="none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92" y="0"/>
                          <a:pt x="39960" y="6587"/>
                          <a:pt x="42475" y="16051"/>
                        </a:cubicBezTo>
                      </a:path>
                      <a:path w="42475" h="25740" stroke="0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92" y="0"/>
                          <a:pt x="39960" y="6587"/>
                          <a:pt x="42475" y="16051"/>
                        </a:cubicBezTo>
                        <a:lnTo>
                          <a:pt x="21600" y="21600"/>
                        </a:lnTo>
                        <a:lnTo>
                          <a:pt x="400" y="25739"/>
                        </a:lnTo>
                        <a:close/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7204" name="Arc 75">
                    <a:extLst>
                      <a:ext uri="{FF2B5EF4-FFF2-40B4-BE49-F238E27FC236}">
                        <a16:creationId xmlns:a16="http://schemas.microsoft.com/office/drawing/2014/main" id="{AAB60873-6F27-B744-817E-38DDE0BAB3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1" y="3712"/>
                    <a:ext cx="100" cy="57"/>
                  </a:xfrm>
                  <a:custGeom>
                    <a:avLst/>
                    <a:gdLst>
                      <a:gd name="T0" fmla="*/ 0 w 42586"/>
                      <a:gd name="T1" fmla="*/ 0 h 25740"/>
                      <a:gd name="T2" fmla="*/ 0 w 42586"/>
                      <a:gd name="T3" fmla="*/ 0 h 25740"/>
                      <a:gd name="T4" fmla="*/ 0 w 42586"/>
                      <a:gd name="T5" fmla="*/ 0 h 2574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586" h="25740" fill="none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9" y="0"/>
                          <a:pt x="40228" y="6810"/>
                          <a:pt x="42586" y="16486"/>
                        </a:cubicBezTo>
                      </a:path>
                      <a:path w="42586" h="25740" stroke="0" extrusionOk="0">
                        <a:moveTo>
                          <a:pt x="400" y="25739"/>
                        </a:moveTo>
                        <a:cubicBezTo>
                          <a:pt x="134" y="24376"/>
                          <a:pt x="0" y="2298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9" y="0"/>
                          <a:pt x="40228" y="6810"/>
                          <a:pt x="42586" y="16486"/>
                        </a:cubicBezTo>
                        <a:lnTo>
                          <a:pt x="21600" y="21600"/>
                        </a:lnTo>
                        <a:lnTo>
                          <a:pt x="400" y="25739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7192" name="Group 79">
                  <a:extLst>
                    <a:ext uri="{FF2B5EF4-FFF2-40B4-BE49-F238E27FC236}">
                      <a16:creationId xmlns:a16="http://schemas.microsoft.com/office/drawing/2014/main" id="{1D914A4E-75E6-3A42-8658-C83D6E7321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28" y="3618"/>
                  <a:ext cx="326" cy="467"/>
                  <a:chOff x="928" y="3618"/>
                  <a:chExt cx="326" cy="467"/>
                </a:xfrm>
              </p:grpSpPr>
              <p:sp>
                <p:nvSpPr>
                  <p:cNvPr id="7201" name="Line 77">
                    <a:extLst>
                      <a:ext uri="{FF2B5EF4-FFF2-40B4-BE49-F238E27FC236}">
                        <a16:creationId xmlns:a16="http://schemas.microsoft.com/office/drawing/2014/main" id="{7FB18463-C1BD-4E4A-8332-1BD8D05C1E1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023" y="3618"/>
                    <a:ext cx="231" cy="416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7202" name="Line 78">
                    <a:extLst>
                      <a:ext uri="{FF2B5EF4-FFF2-40B4-BE49-F238E27FC236}">
                        <a16:creationId xmlns:a16="http://schemas.microsoft.com/office/drawing/2014/main" id="{2B8A20C9-4890-864F-B25E-2C03C9DC66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28" y="3652"/>
                    <a:ext cx="232" cy="433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7193" name="Group 85">
                  <a:extLst>
                    <a:ext uri="{FF2B5EF4-FFF2-40B4-BE49-F238E27FC236}">
                      <a16:creationId xmlns:a16="http://schemas.microsoft.com/office/drawing/2014/main" id="{34902C90-79D8-D248-8EBC-D3202B10BA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6" y="3720"/>
                  <a:ext cx="104" cy="67"/>
                  <a:chOff x="996" y="3720"/>
                  <a:chExt cx="104" cy="67"/>
                </a:xfrm>
              </p:grpSpPr>
              <p:grpSp>
                <p:nvGrpSpPr>
                  <p:cNvPr id="7196" name="Group 82">
                    <a:extLst>
                      <a:ext uri="{FF2B5EF4-FFF2-40B4-BE49-F238E27FC236}">
                        <a16:creationId xmlns:a16="http://schemas.microsoft.com/office/drawing/2014/main" id="{E114ED19-491E-4649-B29B-3DE4C307D31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96" y="3720"/>
                    <a:ext cx="100" cy="56"/>
                    <a:chOff x="996" y="3720"/>
                    <a:chExt cx="100" cy="56"/>
                  </a:xfrm>
                </p:grpSpPr>
                <p:sp>
                  <p:nvSpPr>
                    <p:cNvPr id="7199" name="Arc 80">
                      <a:extLst>
                        <a:ext uri="{FF2B5EF4-FFF2-40B4-BE49-F238E27FC236}">
                          <a16:creationId xmlns:a16="http://schemas.microsoft.com/office/drawing/2014/main" id="{76DE08B0-0FC7-F247-B99C-29B843FE8B5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96" y="3720"/>
                      <a:ext cx="100" cy="56"/>
                    </a:xfrm>
                    <a:custGeom>
                      <a:avLst/>
                      <a:gdLst>
                        <a:gd name="T0" fmla="*/ 0 w 42689"/>
                        <a:gd name="T1" fmla="*/ 0 h 25294"/>
                        <a:gd name="T2" fmla="*/ 0 w 42689"/>
                        <a:gd name="T3" fmla="*/ 0 h 25294"/>
                        <a:gd name="T4" fmla="*/ 0 w 42689"/>
                        <a:gd name="T5" fmla="*/ 0 h 2529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2689" h="25294" fill="none" extrusionOk="0">
                          <a:moveTo>
                            <a:pt x="318" y="25293"/>
                          </a:moveTo>
                          <a:cubicBezTo>
                            <a:pt x="106" y="24074"/>
                            <a:pt x="0" y="2283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729" y="0"/>
                            <a:pt x="40498" y="7039"/>
                            <a:pt x="42688" y="16929"/>
                          </a:cubicBezTo>
                        </a:path>
                        <a:path w="42689" h="25294" stroke="0" extrusionOk="0">
                          <a:moveTo>
                            <a:pt x="318" y="25293"/>
                          </a:moveTo>
                          <a:cubicBezTo>
                            <a:pt x="106" y="24074"/>
                            <a:pt x="0" y="22838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1729" y="0"/>
                            <a:pt x="40498" y="7039"/>
                            <a:pt x="42688" y="16929"/>
                          </a:cubicBezTo>
                          <a:lnTo>
                            <a:pt x="21600" y="21600"/>
                          </a:lnTo>
                          <a:lnTo>
                            <a:pt x="318" y="25293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7200" name="Arc 81">
                      <a:extLst>
                        <a:ext uri="{FF2B5EF4-FFF2-40B4-BE49-F238E27FC236}">
                          <a16:creationId xmlns:a16="http://schemas.microsoft.com/office/drawing/2014/main" id="{EB8FF830-75E7-1D43-A75B-27A7222BD70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96" y="3727"/>
                      <a:ext cx="51" cy="49"/>
                    </a:xfrm>
                    <a:custGeom>
                      <a:avLst/>
                      <a:gdLst>
                        <a:gd name="T0" fmla="*/ 0 w 21600"/>
                        <a:gd name="T1" fmla="*/ 0 h 22431"/>
                        <a:gd name="T2" fmla="*/ 0 w 21600"/>
                        <a:gd name="T3" fmla="*/ 0 h 22431"/>
                        <a:gd name="T4" fmla="*/ 0 w 21600"/>
                        <a:gd name="T5" fmla="*/ 0 h 22431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2431" fill="none" extrusionOk="0">
                          <a:moveTo>
                            <a:pt x="318" y="22430"/>
                          </a:moveTo>
                          <a:cubicBezTo>
                            <a:pt x="106" y="21211"/>
                            <a:pt x="0" y="19975"/>
                            <a:pt x="0" y="18737"/>
                          </a:cubicBezTo>
                          <a:cubicBezTo>
                            <a:pt x="0" y="10997"/>
                            <a:pt x="4140" y="3850"/>
                            <a:pt x="10853" y="-1"/>
                          </a:cubicBezTo>
                        </a:path>
                        <a:path w="21600" h="22431" stroke="0" extrusionOk="0">
                          <a:moveTo>
                            <a:pt x="318" y="22430"/>
                          </a:moveTo>
                          <a:cubicBezTo>
                            <a:pt x="106" y="21211"/>
                            <a:pt x="0" y="19975"/>
                            <a:pt x="0" y="18737"/>
                          </a:cubicBezTo>
                          <a:cubicBezTo>
                            <a:pt x="0" y="10997"/>
                            <a:pt x="4140" y="3850"/>
                            <a:pt x="10853" y="-1"/>
                          </a:cubicBezTo>
                          <a:lnTo>
                            <a:pt x="21600" y="18737"/>
                          </a:lnTo>
                          <a:lnTo>
                            <a:pt x="318" y="22430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  <p:sp>
                <p:nvSpPr>
                  <p:cNvPr id="7197" name="Arc 83">
                    <a:extLst>
                      <a:ext uri="{FF2B5EF4-FFF2-40B4-BE49-F238E27FC236}">
                        <a16:creationId xmlns:a16="http://schemas.microsoft.com/office/drawing/2014/main" id="{11E9CCE7-CCB8-0B4E-B337-D0D5E634E6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96" y="3720"/>
                    <a:ext cx="101" cy="57"/>
                  </a:xfrm>
                  <a:custGeom>
                    <a:avLst/>
                    <a:gdLst>
                      <a:gd name="T0" fmla="*/ 0 w 42574"/>
                      <a:gd name="T1" fmla="*/ 0 h 25779"/>
                      <a:gd name="T2" fmla="*/ 0 w 42574"/>
                      <a:gd name="T3" fmla="*/ 0 h 25779"/>
                      <a:gd name="T4" fmla="*/ 0 w 42574"/>
                      <a:gd name="T5" fmla="*/ 0 h 2577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574" h="25779" fill="none" extrusionOk="0">
                        <a:moveTo>
                          <a:pt x="408" y="25778"/>
                        </a:moveTo>
                        <a:cubicBezTo>
                          <a:pt x="136" y="24402"/>
                          <a:pt x="0" y="230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41" y="0"/>
                          <a:pt x="40198" y="6785"/>
                          <a:pt x="42574" y="16438"/>
                        </a:cubicBezTo>
                      </a:path>
                      <a:path w="42574" h="25779" stroke="0" extrusionOk="0">
                        <a:moveTo>
                          <a:pt x="408" y="25778"/>
                        </a:moveTo>
                        <a:cubicBezTo>
                          <a:pt x="136" y="24402"/>
                          <a:pt x="0" y="230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41" y="0"/>
                          <a:pt x="40198" y="6785"/>
                          <a:pt x="42574" y="16438"/>
                        </a:cubicBezTo>
                        <a:lnTo>
                          <a:pt x="21600" y="21600"/>
                        </a:lnTo>
                        <a:lnTo>
                          <a:pt x="408" y="25778"/>
                        </a:lnTo>
                        <a:close/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7198" name="Arc 84">
                    <a:extLst>
                      <a:ext uri="{FF2B5EF4-FFF2-40B4-BE49-F238E27FC236}">
                        <a16:creationId xmlns:a16="http://schemas.microsoft.com/office/drawing/2014/main" id="{99348485-5974-804E-8C02-3FBFF685A1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01" y="3729"/>
                    <a:ext cx="99" cy="58"/>
                  </a:xfrm>
                  <a:custGeom>
                    <a:avLst/>
                    <a:gdLst>
                      <a:gd name="T0" fmla="*/ 0 w 42461"/>
                      <a:gd name="T1" fmla="*/ 0 h 26665"/>
                      <a:gd name="T2" fmla="*/ 0 w 42461"/>
                      <a:gd name="T3" fmla="*/ 0 h 26665"/>
                      <a:gd name="T4" fmla="*/ 0 w 42461"/>
                      <a:gd name="T5" fmla="*/ 0 h 2666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461" h="26665" fill="none" extrusionOk="0">
                        <a:moveTo>
                          <a:pt x="602" y="26664"/>
                        </a:moveTo>
                        <a:cubicBezTo>
                          <a:pt x="202" y="25006"/>
                          <a:pt x="0" y="2330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71" y="0"/>
                          <a:pt x="39925" y="6560"/>
                          <a:pt x="42460" y="15997"/>
                        </a:cubicBezTo>
                      </a:path>
                      <a:path w="42461" h="26665" stroke="0" extrusionOk="0">
                        <a:moveTo>
                          <a:pt x="602" y="26664"/>
                        </a:moveTo>
                        <a:cubicBezTo>
                          <a:pt x="202" y="25006"/>
                          <a:pt x="0" y="23306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71" y="0"/>
                          <a:pt x="39925" y="6560"/>
                          <a:pt x="42460" y="15997"/>
                        </a:cubicBezTo>
                        <a:lnTo>
                          <a:pt x="21600" y="21600"/>
                        </a:lnTo>
                        <a:lnTo>
                          <a:pt x="602" y="26664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sp>
              <p:nvSpPr>
                <p:cNvPr id="7194" name="Freeform 86">
                  <a:extLst>
                    <a:ext uri="{FF2B5EF4-FFF2-40B4-BE49-F238E27FC236}">
                      <a16:creationId xmlns:a16="http://schemas.microsoft.com/office/drawing/2014/main" id="{261042D4-8354-344C-8F3F-F84CBF2E9A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9" y="3731"/>
                  <a:ext cx="200" cy="344"/>
                </a:xfrm>
                <a:custGeom>
                  <a:avLst/>
                  <a:gdLst>
                    <a:gd name="T0" fmla="*/ 0 w 401"/>
                    <a:gd name="T1" fmla="*/ 0 h 687"/>
                    <a:gd name="T2" fmla="*/ 0 w 401"/>
                    <a:gd name="T3" fmla="*/ 1 h 687"/>
                    <a:gd name="T4" fmla="*/ 0 w 401"/>
                    <a:gd name="T5" fmla="*/ 1 h 687"/>
                    <a:gd name="T6" fmla="*/ 0 w 401"/>
                    <a:gd name="T7" fmla="*/ 1 h 687"/>
                    <a:gd name="T8" fmla="*/ 0 w 401"/>
                    <a:gd name="T9" fmla="*/ 1 h 687"/>
                    <a:gd name="T10" fmla="*/ 0 w 401"/>
                    <a:gd name="T11" fmla="*/ 1 h 687"/>
                    <a:gd name="T12" fmla="*/ 0 w 401"/>
                    <a:gd name="T13" fmla="*/ 1 h 687"/>
                    <a:gd name="T14" fmla="*/ 0 w 401"/>
                    <a:gd name="T15" fmla="*/ 1 h 687"/>
                    <a:gd name="T16" fmla="*/ 0 w 401"/>
                    <a:gd name="T17" fmla="*/ 1 h 687"/>
                    <a:gd name="T18" fmla="*/ 0 w 401"/>
                    <a:gd name="T19" fmla="*/ 1 h 687"/>
                    <a:gd name="T20" fmla="*/ 0 w 401"/>
                    <a:gd name="T21" fmla="*/ 1 h 687"/>
                    <a:gd name="T22" fmla="*/ 0 w 401"/>
                    <a:gd name="T23" fmla="*/ 0 h 68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401" h="687">
                      <a:moveTo>
                        <a:pt x="51" y="0"/>
                      </a:moveTo>
                      <a:lnTo>
                        <a:pt x="36" y="9"/>
                      </a:lnTo>
                      <a:lnTo>
                        <a:pt x="25" y="18"/>
                      </a:lnTo>
                      <a:lnTo>
                        <a:pt x="14" y="30"/>
                      </a:lnTo>
                      <a:lnTo>
                        <a:pt x="10" y="41"/>
                      </a:lnTo>
                      <a:lnTo>
                        <a:pt x="5" y="54"/>
                      </a:lnTo>
                      <a:lnTo>
                        <a:pt x="2" y="66"/>
                      </a:lnTo>
                      <a:lnTo>
                        <a:pt x="0" y="81"/>
                      </a:lnTo>
                      <a:lnTo>
                        <a:pt x="0" y="99"/>
                      </a:lnTo>
                      <a:lnTo>
                        <a:pt x="311" y="687"/>
                      </a:lnTo>
                      <a:lnTo>
                        <a:pt x="401" y="625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7195" name="Oval 87">
                  <a:extLst>
                    <a:ext uri="{FF2B5EF4-FFF2-40B4-BE49-F238E27FC236}">
                      <a16:creationId xmlns:a16="http://schemas.microsoft.com/office/drawing/2014/main" id="{14FE96E0-DDF1-124E-AAF7-72E5E75BB5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6" y="4016"/>
                  <a:ext cx="110" cy="106"/>
                </a:xfrm>
                <a:prstGeom prst="ellipse">
                  <a:avLst/>
                </a:prstGeom>
                <a:solidFill>
                  <a:srgbClr val="7F5F3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</p:grpSp>
        </p:grpSp>
        <p:sp>
          <p:nvSpPr>
            <p:cNvPr id="48218" name="Text Box 90">
              <a:extLst>
                <a:ext uri="{FF2B5EF4-FFF2-40B4-BE49-F238E27FC236}">
                  <a16:creationId xmlns:a16="http://schemas.microsoft.com/office/drawing/2014/main" id="{61A1ECF8-D37C-4444-9ED8-FF6848B82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120"/>
              <a:ext cx="11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研究</a:t>
              </a:r>
              <a:r>
                <a:rPr lang="en-US" altLang="zh-CN" sz="2400">
                  <a:solidFill>
                    <a:schemeClr val="accent2"/>
                  </a:solidFill>
                  <a:ea typeface="宋体" pitchFamily="2" charset="-122"/>
                </a:rPr>
                <a:t>  </a:t>
              </a: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内容：</a:t>
              </a:r>
              <a:endParaRPr lang="en-US" altLang="zh-CN" sz="2400">
                <a:solidFill>
                  <a:schemeClr val="accent2"/>
                </a:solidFill>
                <a:ea typeface="宋体" pitchFamily="2" charset="-122"/>
              </a:endParaRPr>
            </a:p>
          </p:txBody>
        </p:sp>
      </p:grpSp>
      <p:sp>
        <p:nvSpPr>
          <p:cNvPr id="48220" name="Text Box 92">
            <a:extLst>
              <a:ext uri="{FF2B5EF4-FFF2-40B4-BE49-F238E27FC236}">
                <a16:creationId xmlns:a16="http://schemas.microsoft.com/office/drawing/2014/main" id="{B1F8FE67-F093-A948-AB8E-554A2C937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114925"/>
            <a:ext cx="714375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400">
                <a:solidFill>
                  <a:schemeClr val="accent2"/>
                </a:solidFill>
                <a:sym typeface="Wingdings" pitchFamily="2" charset="2"/>
              </a:rPr>
              <a:t></a:t>
            </a:r>
            <a:r>
              <a:rPr lang="en-US" altLang="zh-CN" sz="2400">
                <a:sym typeface="Wingdings" pitchFamily="2" charset="2"/>
              </a:rPr>
              <a:t> </a:t>
            </a:r>
            <a:r>
              <a:rPr lang="zh-CN" altLang="en-US" sz="2400"/>
              <a:t>如何建立迭代格式？　</a:t>
            </a:r>
            <a:r>
              <a:rPr lang="en-US" altLang="zh-CN" sz="2400"/>
              <a:t>          </a:t>
            </a:r>
            <a:r>
              <a:rPr lang="en-US" altLang="zh-CN" sz="2400">
                <a:solidFill>
                  <a:schemeClr val="accent2"/>
                </a:solidFill>
                <a:sym typeface="Wingdings" pitchFamily="2" charset="2"/>
              </a:rPr>
              <a:t></a:t>
            </a:r>
            <a:r>
              <a:rPr lang="en-US" altLang="zh-CN" sz="2400">
                <a:sym typeface="Wingdings" pitchFamily="2" charset="2"/>
              </a:rPr>
              <a:t> </a:t>
            </a:r>
            <a:r>
              <a:rPr lang="zh-CN" altLang="en-US" sz="2400"/>
              <a:t>收敛速度？</a:t>
            </a:r>
            <a:endParaRPr lang="en-US" altLang="zh-CN" sz="2400"/>
          </a:p>
          <a:p>
            <a:pPr eaLnBrk="1" hangingPunct="1">
              <a:spcBef>
                <a:spcPct val="20000"/>
              </a:spcBef>
            </a:pPr>
            <a:r>
              <a:rPr lang="en-US" altLang="zh-CN" sz="2400">
                <a:solidFill>
                  <a:schemeClr val="accent2"/>
                </a:solidFill>
                <a:sym typeface="Wingdings" pitchFamily="2" charset="2"/>
              </a:rPr>
              <a:t></a:t>
            </a:r>
            <a:r>
              <a:rPr lang="en-US" altLang="zh-CN" sz="2400">
                <a:sym typeface="Wingdings" pitchFamily="2" charset="2"/>
              </a:rPr>
              <a:t>  </a:t>
            </a:r>
            <a:r>
              <a:rPr lang="zh-CN" altLang="en-US" sz="2400"/>
              <a:t>向量序列的收敛条件？</a:t>
            </a:r>
            <a:r>
              <a:rPr lang="en-US" altLang="zh-CN" sz="2400"/>
              <a:t>         </a:t>
            </a:r>
            <a:r>
              <a:rPr lang="en-US" altLang="zh-CN" sz="2400">
                <a:solidFill>
                  <a:schemeClr val="accent2"/>
                </a:solidFill>
                <a:sym typeface="Wingdings" pitchFamily="2" charset="2"/>
              </a:rPr>
              <a:t></a:t>
            </a:r>
            <a:r>
              <a:rPr lang="en-US" altLang="zh-CN" sz="2400">
                <a:sym typeface="Wingdings" pitchFamily="2" charset="2"/>
              </a:rPr>
              <a:t>  </a:t>
            </a:r>
            <a:r>
              <a:rPr lang="zh-CN" altLang="en-US" sz="2400"/>
              <a:t>误差估计？</a:t>
            </a:r>
            <a:endParaRPr lang="en-US" altLang="zh-CN" sz="2400"/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102B275E-9BDF-CA4B-9143-C2DD31095011}"/>
              </a:ext>
            </a:extLst>
          </p:cNvPr>
          <p:cNvSpPr txBox="1">
            <a:spLocks/>
          </p:cNvSpPr>
          <p:nvPr/>
        </p:nvSpPr>
        <p:spPr>
          <a:xfrm>
            <a:off x="330743" y="182881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楷体_GB2312" charset="0"/>
              </a:rPr>
              <a:t>解线性方程组的迭代法</a:t>
            </a:r>
            <a:endParaRPr lang="en-CN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1" name="Process 90">
            <a:extLst>
              <a:ext uri="{FF2B5EF4-FFF2-40B4-BE49-F238E27FC236}">
                <a16:creationId xmlns:a16="http://schemas.microsoft.com/office/drawing/2014/main" id="{41E711E9-BB52-DF4B-B4A6-EDE54C46A94A}"/>
              </a:ext>
            </a:extLst>
          </p:cNvPr>
          <p:cNvSpPr/>
          <p:nvPr/>
        </p:nvSpPr>
        <p:spPr>
          <a:xfrm>
            <a:off x="330743" y="9448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53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48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2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64" grpId="0" autoUpdateAnimBg="0"/>
      <p:bldP spid="4822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Text Box 4">
            <a:extLst>
              <a:ext uri="{FF2B5EF4-FFF2-40B4-BE49-F238E27FC236}">
                <a16:creationId xmlns:a16="http://schemas.microsoft.com/office/drawing/2014/main" id="{A2FEB563-127C-5D48-A6EB-F68482467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3375"/>
            <a:ext cx="78486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accent2"/>
                </a:solidFill>
                <a:latin typeface="楷体_GB2312" charset="0"/>
                <a:ea typeface="宋体" pitchFamily="2" charset="-122"/>
                <a:sym typeface="Wingdings" pitchFamily="2" charset="2"/>
              </a:rPr>
              <a:t> </a:t>
            </a:r>
            <a:r>
              <a:rPr lang="en-US" altLang="zh-CN">
                <a:ea typeface="宋体" pitchFamily="2" charset="-122"/>
              </a:rPr>
              <a:t>Jacobi </a:t>
            </a:r>
            <a:r>
              <a:rPr lang="zh-CN" altLang="en-US">
                <a:ea typeface="宋体" pitchFamily="2" charset="-122"/>
              </a:rPr>
              <a:t>迭代法</a:t>
            </a:r>
            <a:r>
              <a:rPr lang="zh-CN" altLang="en-US">
                <a:solidFill>
                  <a:srgbClr val="0000FF"/>
                </a:solidFill>
                <a:ea typeface="宋体" pitchFamily="2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ea typeface="宋体" pitchFamily="2" charset="-122"/>
              </a:rPr>
              <a:t>Jacobi Iterative Method</a:t>
            </a:r>
            <a:r>
              <a:rPr lang="zh-CN" altLang="en-US">
                <a:solidFill>
                  <a:srgbClr val="0000FF"/>
                </a:solidFill>
                <a:ea typeface="宋体" pitchFamily="2" charset="-122"/>
              </a:rPr>
              <a:t>）</a:t>
            </a:r>
            <a:endParaRPr lang="en-US" altLang="zh-CN">
              <a:solidFill>
                <a:srgbClr val="0000FF"/>
              </a:solidFill>
              <a:ea typeface="宋体" pitchFamily="2" charset="-122"/>
            </a:endParaRPr>
          </a:p>
        </p:txBody>
      </p:sp>
      <p:graphicFrame>
        <p:nvGraphicFramePr>
          <p:cNvPr id="54280" name="Object 8">
            <a:extLst>
              <a:ext uri="{FF2B5EF4-FFF2-40B4-BE49-F238E27FC236}">
                <a16:creationId xmlns:a16="http://schemas.microsoft.com/office/drawing/2014/main" id="{0707C877-FB68-ED4A-B8AA-7DC35DCCB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63" y="1563688"/>
          <a:ext cx="2935287" cy="148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800" imgH="927100" progId="Equation.3">
                  <p:embed/>
                </p:oleObj>
              </mc:Choice>
              <mc:Fallback>
                <p:oleObj name="Equation" r:id="rId3" imgW="1828800" imgH="927100" progId="Equation.3">
                  <p:embed/>
                  <p:pic>
                    <p:nvPicPr>
                      <p:cNvPr id="54280" name="Object 8">
                        <a:extLst>
                          <a:ext uri="{FF2B5EF4-FFF2-40B4-BE49-F238E27FC236}">
                            <a16:creationId xmlns:a16="http://schemas.microsoft.com/office/drawing/2014/main" id="{0707C877-FB68-ED4A-B8AA-7DC35DCCBD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1563688"/>
                        <a:ext cx="2935287" cy="148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9" name="Object 10">
            <a:extLst>
              <a:ext uri="{FF2B5EF4-FFF2-40B4-BE49-F238E27FC236}">
                <a16:creationId xmlns:a16="http://schemas.microsoft.com/office/drawing/2014/main" id="{67B34A56-E027-F04B-8E48-9BBC00A445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2963" y="1058863"/>
          <a:ext cx="4078287" cy="250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40000" imgH="1562100" progId="Equation.3">
                  <p:embed/>
                </p:oleObj>
              </mc:Choice>
              <mc:Fallback>
                <p:oleObj name="Equation" r:id="rId5" imgW="2540000" imgH="1562100" progId="Equation.3">
                  <p:embed/>
                  <p:pic>
                    <p:nvPicPr>
                      <p:cNvPr id="18459" name="Object 10">
                        <a:extLst>
                          <a:ext uri="{FF2B5EF4-FFF2-40B4-BE49-F238E27FC236}">
                            <a16:creationId xmlns:a16="http://schemas.microsoft.com/office/drawing/2014/main" id="{67B34A56-E027-F04B-8E48-9BBC00A44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1058863"/>
                        <a:ext cx="4078287" cy="250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284" name="Group 12">
            <a:extLst>
              <a:ext uri="{FF2B5EF4-FFF2-40B4-BE49-F238E27FC236}">
                <a16:creationId xmlns:a16="http://schemas.microsoft.com/office/drawing/2014/main" id="{6C308FB1-5941-274C-A248-F36A444744DE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882775"/>
            <a:ext cx="762000" cy="533400"/>
            <a:chOff x="2496" y="1344"/>
            <a:chExt cx="480" cy="336"/>
          </a:xfrm>
        </p:grpSpPr>
        <p:graphicFrame>
          <p:nvGraphicFramePr>
            <p:cNvPr id="8207" name="Object 9">
              <a:extLst>
                <a:ext uri="{FF2B5EF4-FFF2-40B4-BE49-F238E27FC236}">
                  <a16:creationId xmlns:a16="http://schemas.microsoft.com/office/drawing/2014/main" id="{D5C47C59-D440-8747-A12F-07F0559310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1344"/>
            <a:ext cx="384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9944100" imgH="5270500" progId="Equation.3">
                    <p:embed/>
                  </p:oleObj>
                </mc:Choice>
                <mc:Fallback>
                  <p:oleObj name="Equation" r:id="rId7" imgW="9944100" imgH="5270500" progId="Equation.3">
                    <p:embed/>
                    <p:pic>
                      <p:nvPicPr>
                        <p:cNvPr id="8207" name="Object 9">
                          <a:extLst>
                            <a:ext uri="{FF2B5EF4-FFF2-40B4-BE49-F238E27FC236}">
                              <a16:creationId xmlns:a16="http://schemas.microsoft.com/office/drawing/2014/main" id="{D5C47C59-D440-8747-A12F-07F0559310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344"/>
                          <a:ext cx="38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3" name="AutoShape 11">
              <a:extLst>
                <a:ext uri="{FF2B5EF4-FFF2-40B4-BE49-F238E27FC236}">
                  <a16:creationId xmlns:a16="http://schemas.microsoft.com/office/drawing/2014/main" id="{076044F8-8832-A04A-B172-BF82FB213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536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3FD9BBB-1E94-2B42-A04A-FD1DC7F4C824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4438650"/>
            <a:ext cx="1944688" cy="676275"/>
            <a:chOff x="4534" y="4438273"/>
            <a:chExt cx="2362200" cy="676255"/>
          </a:xfrm>
        </p:grpSpPr>
        <p:sp>
          <p:nvSpPr>
            <p:cNvPr id="31" name="AutoShape 11">
              <a:extLst>
                <a:ext uri="{FF2B5EF4-FFF2-40B4-BE49-F238E27FC236}">
                  <a16:creationId xmlns:a16="http://schemas.microsoft.com/office/drawing/2014/main" id="{6B283AAC-B1D8-4E4B-9A8D-2D62F15E7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12" y="4868473"/>
              <a:ext cx="2159725" cy="246055"/>
            </a:xfrm>
            <a:prstGeom prst="rightArrow">
              <a:avLst>
                <a:gd name="adj1" fmla="val 50000"/>
                <a:gd name="adj2" fmla="val 83345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32" name="Text Box 15">
              <a:extLst>
                <a:ext uri="{FF2B5EF4-FFF2-40B4-BE49-F238E27FC236}">
                  <a16:creationId xmlns:a16="http://schemas.microsoft.com/office/drawing/2014/main" id="{1459652E-38E7-C14A-84EE-8B4AA34F8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4" y="4438273"/>
              <a:ext cx="2362200" cy="430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100">
                  <a:latin typeface="楷体_GB2312" charset="0"/>
                  <a:ea typeface="宋体" pitchFamily="2" charset="-122"/>
                  <a:sym typeface="Symbol" pitchFamily="18" charset="2"/>
                </a:rPr>
                <a:t>写成迭代格式：</a:t>
              </a:r>
              <a:endParaRPr lang="en-US" altLang="zh-CN" sz="2100">
                <a:latin typeface="楷体_GB2312" charset="0"/>
                <a:ea typeface="宋体" pitchFamily="2" charset="-122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1C24286-119A-234F-870E-543EE6D65C4D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3860800"/>
            <a:ext cx="7092950" cy="2881313"/>
            <a:chOff x="2051720" y="3861048"/>
            <a:chExt cx="7092280" cy="2880320"/>
          </a:xfrm>
        </p:grpSpPr>
        <p:sp>
          <p:nvSpPr>
            <p:cNvPr id="54285" name="AutoShape 13" descr="再生纸">
              <a:extLst>
                <a:ext uri="{FF2B5EF4-FFF2-40B4-BE49-F238E27FC236}">
                  <a16:creationId xmlns:a16="http://schemas.microsoft.com/office/drawing/2014/main" id="{B6A2CCA1-4A7E-F748-8522-A9BFDE15C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720" y="3861048"/>
              <a:ext cx="7092280" cy="2880320"/>
            </a:xfrm>
            <a:prstGeom prst="bevel">
              <a:avLst>
                <a:gd name="adj" fmla="val 0"/>
              </a:avLst>
            </a:prstGeom>
            <a:blipFill dpi="0" rotWithShape="0">
              <a:blip r:embed="rId9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aphicFrame>
          <p:nvGraphicFramePr>
            <p:cNvPr id="8204" name="Object 10">
              <a:extLst>
                <a:ext uri="{FF2B5EF4-FFF2-40B4-BE49-F238E27FC236}">
                  <a16:creationId xmlns:a16="http://schemas.microsoft.com/office/drawing/2014/main" id="{A49A9CC4-A580-7D43-BD39-D8214F3A04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3728" y="4002088"/>
            <a:ext cx="4795837" cy="266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806700" imgH="1562100" progId="Equation.3">
                    <p:embed/>
                  </p:oleObj>
                </mc:Choice>
                <mc:Fallback>
                  <p:oleObj name="Equation" r:id="rId10" imgW="2806700" imgH="1562100" progId="Equation.3">
                    <p:embed/>
                    <p:pic>
                      <p:nvPicPr>
                        <p:cNvPr id="8204" name="Object 10">
                          <a:extLst>
                            <a:ext uri="{FF2B5EF4-FFF2-40B4-BE49-F238E27FC236}">
                              <a16:creationId xmlns:a16="http://schemas.microsoft.com/office/drawing/2014/main" id="{A49A9CC4-A580-7D43-BD39-D8214F3A04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4002088"/>
                          <a:ext cx="4795837" cy="266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B6B4328-7735-C54D-AAF3-231B8BC76B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3933825"/>
          <a:ext cx="212566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7000" imgH="520700" progId="Equation.3">
                  <p:embed/>
                </p:oleObj>
              </mc:Choice>
              <mc:Fallback>
                <p:oleObj name="Equation" r:id="rId12" imgW="1397000" imgH="5207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B6B4328-7735-C54D-AAF3-231B8BC76B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3933825"/>
                        <a:ext cx="212566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62E8FAEB-A72B-D540-8E94-246045A5A4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1338" y="4724400"/>
          <a:ext cx="22415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73200" imgH="520700" progId="Equation.3">
                  <p:embed/>
                </p:oleObj>
              </mc:Choice>
              <mc:Fallback>
                <p:oleObj name="Equation" r:id="rId14" imgW="1473200" imgH="520700" progId="Equation.3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62E8FAEB-A72B-D540-8E94-246045A5A4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1338" y="4724400"/>
                        <a:ext cx="22415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322A62CE-A1F8-4D4D-ADD5-9E14A7BEB9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0388" y="5876925"/>
          <a:ext cx="22034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47800" imgH="520700" progId="Equation.3">
                  <p:embed/>
                </p:oleObj>
              </mc:Choice>
              <mc:Fallback>
                <p:oleObj name="Equation" r:id="rId16" imgW="1447800" imgH="520700" progId="Equation.3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322A62CE-A1F8-4D4D-ADD5-9E14A7BEB9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0388" y="5876925"/>
                        <a:ext cx="22034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13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68" name="Object 11">
            <a:extLst>
              <a:ext uri="{FF2B5EF4-FFF2-40B4-BE49-F238E27FC236}">
                <a16:creationId xmlns:a16="http://schemas.microsoft.com/office/drawing/2014/main" id="{8B60ED4F-B8DB-7346-BA1E-C796B809E0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068638"/>
          <a:ext cx="4981575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594100" imgH="1206500" progId="Word.Document.8">
                  <p:embed/>
                </p:oleObj>
              </mc:Choice>
              <mc:Fallback>
                <p:oleObj name="Document" r:id="rId3" imgW="3594100" imgH="1206500" progId="Word.Document.8">
                  <p:embed/>
                  <p:pic>
                    <p:nvPicPr>
                      <p:cNvPr id="19468" name="Object 11">
                        <a:extLst>
                          <a:ext uri="{FF2B5EF4-FFF2-40B4-BE49-F238E27FC236}">
                            <a16:creationId xmlns:a16="http://schemas.microsoft.com/office/drawing/2014/main" id="{8B60ED4F-B8DB-7346-BA1E-C796B809E0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068638"/>
                        <a:ext cx="4981575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2">
            <a:extLst>
              <a:ext uri="{FF2B5EF4-FFF2-40B4-BE49-F238E27FC236}">
                <a16:creationId xmlns:a16="http://schemas.microsoft.com/office/drawing/2014/main" id="{50EB4893-57C4-C645-98DF-170A71F4F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4813"/>
            <a:ext cx="71294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例、用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Jacobi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迭代法求解下列线性方程组</a:t>
            </a:r>
          </a:p>
        </p:txBody>
      </p:sp>
      <p:graphicFrame>
        <p:nvGraphicFramePr>
          <p:cNvPr id="9220" name="Object 3">
            <a:extLst>
              <a:ext uri="{FF2B5EF4-FFF2-40B4-BE49-F238E27FC236}">
                <a16:creationId xmlns:a16="http://schemas.microsoft.com/office/drawing/2014/main" id="{A05A990D-31FE-D64A-8FC1-B880CEFD49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7463" y="981075"/>
          <a:ext cx="4175125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2324100" imgH="889000" progId="Word.Document.8">
                  <p:embed/>
                </p:oleObj>
              </mc:Choice>
              <mc:Fallback>
                <p:oleObj name="Document" r:id="rId5" imgW="2324100" imgH="889000" progId="Word.Document.8">
                  <p:embed/>
                  <p:pic>
                    <p:nvPicPr>
                      <p:cNvPr id="9220" name="Object 3">
                        <a:extLst>
                          <a:ext uri="{FF2B5EF4-FFF2-40B4-BE49-F238E27FC236}">
                            <a16:creationId xmlns:a16="http://schemas.microsoft.com/office/drawing/2014/main" id="{A05A990D-31FE-D64A-8FC1-B880CEFD49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463" y="981075"/>
                        <a:ext cx="4175125" cy="168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6" name="Object 4">
            <a:extLst>
              <a:ext uri="{FF2B5EF4-FFF2-40B4-BE49-F238E27FC236}">
                <a16:creationId xmlns:a16="http://schemas.microsoft.com/office/drawing/2014/main" id="{8F127898-72F5-654F-884C-3A68741B03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300663"/>
          <a:ext cx="4476750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7" imgW="9791700" imgH="3276600" progId="Word.Document.8">
                  <p:embed/>
                </p:oleObj>
              </mc:Choice>
              <mc:Fallback>
                <p:oleObj name="文档" r:id="rId7" imgW="9791700" imgH="3276600" progId="Word.Document.8">
                  <p:embed/>
                  <p:pic>
                    <p:nvPicPr>
                      <p:cNvPr id="146436" name="Object 4">
                        <a:extLst>
                          <a:ext uri="{FF2B5EF4-FFF2-40B4-BE49-F238E27FC236}">
                            <a16:creationId xmlns:a16="http://schemas.microsoft.com/office/drawing/2014/main" id="{8F127898-72F5-654F-884C-3A68741B0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300663"/>
                        <a:ext cx="4476750" cy="15128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38" name="Object 6">
            <a:extLst>
              <a:ext uri="{FF2B5EF4-FFF2-40B4-BE49-F238E27FC236}">
                <a16:creationId xmlns:a16="http://schemas.microsoft.com/office/drawing/2014/main" id="{FCE89FEB-FD4D-1E46-AB41-B2F958CB63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5805488"/>
          <a:ext cx="16938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1696700" imgH="3505200" progId="Equation.3">
                  <p:embed/>
                </p:oleObj>
              </mc:Choice>
              <mc:Fallback>
                <p:oleObj name="公式" r:id="rId9" imgW="11696700" imgH="3505200" progId="Equation.3">
                  <p:embed/>
                  <p:pic>
                    <p:nvPicPr>
                      <p:cNvPr id="146438" name="Object 6">
                        <a:extLst>
                          <a:ext uri="{FF2B5EF4-FFF2-40B4-BE49-F238E27FC236}">
                            <a16:creationId xmlns:a16="http://schemas.microsoft.com/office/drawing/2014/main" id="{FCE89FEB-FD4D-1E46-AB41-B2F958CB63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5805488"/>
                        <a:ext cx="16938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3016471B-51B0-E340-858D-B69E511FCA40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565400"/>
            <a:ext cx="5472113" cy="417513"/>
            <a:chOff x="539552" y="2564904"/>
            <a:chExt cx="5472608" cy="417513"/>
          </a:xfrm>
        </p:grpSpPr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E1C324D0-4753-8542-80EF-D57E1E7EFF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2564904"/>
              <a:ext cx="5472608" cy="415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100">
                  <a:latin typeface="楷体_GB2312" charset="0"/>
                  <a:ea typeface="宋体" pitchFamily="2" charset="-122"/>
                  <a:sym typeface="Symbol" pitchFamily="18" charset="2"/>
                </a:rPr>
                <a:t>解：将         </a:t>
              </a:r>
              <a:r>
                <a:rPr lang="en-US" altLang="zh-CN" sz="2100">
                  <a:latin typeface="楷体_GB2312" charset="0"/>
                  <a:ea typeface="宋体" pitchFamily="2" charset="-122"/>
                  <a:sym typeface="Symbol" pitchFamily="18" charset="2"/>
                </a:rPr>
                <a:t>        </a:t>
              </a:r>
              <a:r>
                <a:rPr lang="zh-CN" altLang="en-US" sz="2100">
                  <a:latin typeface="楷体_GB2312" charset="0"/>
                  <a:ea typeface="宋体" pitchFamily="2" charset="-122"/>
                  <a:sym typeface="Symbol" pitchFamily="18" charset="2"/>
                </a:rPr>
                <a:t>写成等价形式</a:t>
              </a:r>
              <a:endParaRPr lang="en-US" altLang="zh-CN" sz="2100">
                <a:latin typeface="楷体_GB2312" charset="0"/>
                <a:ea typeface="宋体" pitchFamily="2" charset="-122"/>
              </a:endParaRPr>
            </a:p>
          </p:txBody>
        </p:sp>
        <p:graphicFrame>
          <p:nvGraphicFramePr>
            <p:cNvPr id="9229" name="Object 13">
              <a:extLst>
                <a:ext uri="{FF2B5EF4-FFF2-40B4-BE49-F238E27FC236}">
                  <a16:creationId xmlns:a16="http://schemas.microsoft.com/office/drawing/2014/main" id="{289FE844-45CF-FC44-93F9-14067BA96A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7664" y="2564904"/>
            <a:ext cx="954593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1696700" imgH="5270500" progId="Equation.3">
                    <p:embed/>
                  </p:oleObj>
                </mc:Choice>
                <mc:Fallback>
                  <p:oleObj name="Equation" r:id="rId11" imgW="11696700" imgH="5270500" progId="Equation.3">
                    <p:embed/>
                    <p:pic>
                      <p:nvPicPr>
                        <p:cNvPr id="9229" name="Object 13">
                          <a:extLst>
                            <a:ext uri="{FF2B5EF4-FFF2-40B4-BE49-F238E27FC236}">
                              <a16:creationId xmlns:a16="http://schemas.microsoft.com/office/drawing/2014/main" id="{289FE844-45CF-FC44-93F9-14067BA96A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2564904"/>
                          <a:ext cx="954593" cy="407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0" name="Object 15">
              <a:extLst>
                <a:ext uri="{FF2B5EF4-FFF2-40B4-BE49-F238E27FC236}">
                  <a16:creationId xmlns:a16="http://schemas.microsoft.com/office/drawing/2014/main" id="{2B9D362B-99E3-F644-9418-1B08A5A1A0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83968" y="2564904"/>
            <a:ext cx="1526355" cy="417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7843500" imgH="5270500" progId="Equation.3">
                    <p:embed/>
                  </p:oleObj>
                </mc:Choice>
                <mc:Fallback>
                  <p:oleObj name="Equation" r:id="rId13" imgW="17843500" imgH="5270500" progId="Equation.3">
                    <p:embed/>
                    <p:pic>
                      <p:nvPicPr>
                        <p:cNvPr id="9230" name="Object 15">
                          <a:extLst>
                            <a:ext uri="{FF2B5EF4-FFF2-40B4-BE49-F238E27FC236}">
                              <a16:creationId xmlns:a16="http://schemas.microsoft.com/office/drawing/2014/main" id="{2B9D362B-99E3-F644-9418-1B08A5A1A0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68" y="2564904"/>
                          <a:ext cx="1526355" cy="417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10">
            <a:extLst>
              <a:ext uri="{FF2B5EF4-FFF2-40B4-BE49-F238E27FC236}">
                <a16:creationId xmlns:a16="http://schemas.microsoft.com/office/drawing/2014/main" id="{FC877121-FA47-AD49-B944-2577D52E0C3A}"/>
              </a:ext>
            </a:extLst>
          </p:cNvPr>
          <p:cNvGrpSpPr>
            <a:grpSpLocks/>
          </p:cNvGrpSpPr>
          <p:nvPr/>
        </p:nvGrpSpPr>
        <p:grpSpPr bwMode="auto">
          <a:xfrm>
            <a:off x="4494213" y="3213100"/>
            <a:ext cx="4038600" cy="1524000"/>
            <a:chOff x="3216" y="528"/>
            <a:chExt cx="2544" cy="960"/>
          </a:xfrm>
        </p:grpSpPr>
        <p:graphicFrame>
          <p:nvGraphicFramePr>
            <p:cNvPr id="9226" name="Object 11">
              <a:extLst>
                <a:ext uri="{FF2B5EF4-FFF2-40B4-BE49-F238E27FC236}">
                  <a16:creationId xmlns:a16="http://schemas.microsoft.com/office/drawing/2014/main" id="{465D7EB6-0092-2346-8BF9-0FD3452BBE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8" y="528"/>
            <a:ext cx="2452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15" imgW="21551900" imgH="8153400" progId="Word.Document.8">
                    <p:embed/>
                  </p:oleObj>
                </mc:Choice>
                <mc:Fallback>
                  <p:oleObj name="Document" r:id="rId15" imgW="21551900" imgH="8153400" progId="Word.Document.8">
                    <p:embed/>
                    <p:pic>
                      <p:nvPicPr>
                        <p:cNvPr id="9226" name="Object 11">
                          <a:extLst>
                            <a:ext uri="{FF2B5EF4-FFF2-40B4-BE49-F238E27FC236}">
                              <a16:creationId xmlns:a16="http://schemas.microsoft.com/office/drawing/2014/main" id="{465D7EB6-0092-2346-8BF9-0FD3452BBE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8" y="528"/>
                          <a:ext cx="2452" cy="9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7" name="AutoShape 12">
              <a:extLst>
                <a:ext uri="{FF2B5EF4-FFF2-40B4-BE49-F238E27FC236}">
                  <a16:creationId xmlns:a16="http://schemas.microsoft.com/office/drawing/2014/main" id="{A7F230E6-C158-094B-93D0-637654FD7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816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7" name="Text Box 15">
            <a:extLst>
              <a:ext uri="{FF2B5EF4-FFF2-40B4-BE49-F238E27FC236}">
                <a16:creationId xmlns:a16="http://schemas.microsoft.com/office/drawing/2014/main" id="{026EE02A-8DE0-BB4C-B2D5-70DC76960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811713"/>
            <a:ext cx="547211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100">
                <a:latin typeface="楷体_GB2312" charset="0"/>
                <a:ea typeface="宋体" pitchFamily="2" charset="-122"/>
                <a:sym typeface="Symbol" pitchFamily="18" charset="2"/>
              </a:rPr>
              <a:t>写成迭代格式</a:t>
            </a:r>
            <a:endParaRPr lang="en-US" altLang="zh-CN" sz="2100">
              <a:latin typeface="楷体_GB2312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6293488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15">
            <a:extLst>
              <a:ext uri="{FF2B5EF4-FFF2-40B4-BE49-F238E27FC236}">
                <a16:creationId xmlns:a16="http://schemas.microsoft.com/office/drawing/2014/main" id="{902145F3-FAF9-BC46-A1F7-2EFF23BE5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786063"/>
            <a:ext cx="5472113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100">
                <a:latin typeface="楷体_GB2312" charset="0"/>
              </a:rPr>
              <a:t>取初始值为</a:t>
            </a:r>
            <a:endParaRPr lang="en-US" altLang="zh-CN" sz="2100">
              <a:latin typeface="楷体_GB2312" charset="0"/>
            </a:endParaRPr>
          </a:p>
        </p:txBody>
      </p:sp>
      <p:graphicFrame>
        <p:nvGraphicFramePr>
          <p:cNvPr id="146437" name="Object 5">
            <a:extLst>
              <a:ext uri="{FF2B5EF4-FFF2-40B4-BE49-F238E27FC236}">
                <a16:creationId xmlns:a16="http://schemas.microsoft.com/office/drawing/2014/main" id="{4881AE35-C4A5-504E-B5C4-EAD2462B9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2641600"/>
          <a:ext cx="3124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1069300" imgH="5270500" progId="Equation.3">
                  <p:embed/>
                </p:oleObj>
              </mc:Choice>
              <mc:Fallback>
                <p:oleObj name="公式" r:id="rId3" imgW="21069300" imgH="5270500" progId="Equation.3">
                  <p:embed/>
                  <p:pic>
                    <p:nvPicPr>
                      <p:cNvPr id="146437" name="Object 5">
                        <a:extLst>
                          <a:ext uri="{FF2B5EF4-FFF2-40B4-BE49-F238E27FC236}">
                            <a16:creationId xmlns:a16="http://schemas.microsoft.com/office/drawing/2014/main" id="{4881AE35-C4A5-504E-B5C4-EAD2462B9D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641600"/>
                        <a:ext cx="3124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738F208B-E41E-E746-8905-D9BB6BB28FE3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941888"/>
            <a:ext cx="7162800" cy="620712"/>
            <a:chOff x="624" y="3281"/>
            <a:chExt cx="4512" cy="391"/>
          </a:xfrm>
        </p:grpSpPr>
        <p:graphicFrame>
          <p:nvGraphicFramePr>
            <p:cNvPr id="10252" name="Object 8">
              <a:extLst>
                <a:ext uri="{FF2B5EF4-FFF2-40B4-BE49-F238E27FC236}">
                  <a16:creationId xmlns:a16="http://schemas.microsoft.com/office/drawing/2014/main" id="{7BD5D743-604F-D343-B604-59B0A8B3C8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3281"/>
            <a:ext cx="4080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0566300" imgH="5562600" progId="Equation.3">
                    <p:embed/>
                  </p:oleObj>
                </mc:Choice>
                <mc:Fallback>
                  <p:oleObj name="公式" r:id="rId5" imgW="60566300" imgH="5562600" progId="Equation.3">
                    <p:embed/>
                    <p:pic>
                      <p:nvPicPr>
                        <p:cNvPr id="10252" name="Object 8">
                          <a:extLst>
                            <a:ext uri="{FF2B5EF4-FFF2-40B4-BE49-F238E27FC236}">
                              <a16:creationId xmlns:a16="http://schemas.microsoft.com/office/drawing/2014/main" id="{7BD5D743-604F-D343-B604-59B0A8B3C8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281"/>
                          <a:ext cx="4080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3" name="AutoShape 9">
              <a:extLst>
                <a:ext uri="{FF2B5EF4-FFF2-40B4-BE49-F238E27FC236}">
                  <a16:creationId xmlns:a16="http://schemas.microsoft.com/office/drawing/2014/main" id="{94BE0532-90CB-5A4D-B2ED-D0CF16CF4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294"/>
              <a:ext cx="24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510C56D2-D48B-BE4A-97AA-E2BCF25E071C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3500438"/>
            <a:ext cx="4730750" cy="571500"/>
            <a:chOff x="2448" y="2832"/>
            <a:chExt cx="2980" cy="360"/>
          </a:xfrm>
        </p:grpSpPr>
        <p:graphicFrame>
          <p:nvGraphicFramePr>
            <p:cNvPr id="10250" name="Object 14">
              <a:extLst>
                <a:ext uri="{FF2B5EF4-FFF2-40B4-BE49-F238E27FC236}">
                  <a16:creationId xmlns:a16="http://schemas.microsoft.com/office/drawing/2014/main" id="{497F7BDE-B2CE-0347-B124-888EFA7211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2832"/>
            <a:ext cx="2692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40373300" imgH="5562600" progId="Equation.3">
                    <p:embed/>
                  </p:oleObj>
                </mc:Choice>
                <mc:Fallback>
                  <p:oleObj name="公式" r:id="rId7" imgW="40373300" imgH="5562600" progId="Equation.3">
                    <p:embed/>
                    <p:pic>
                      <p:nvPicPr>
                        <p:cNvPr id="10250" name="Object 14">
                          <a:extLst>
                            <a:ext uri="{FF2B5EF4-FFF2-40B4-BE49-F238E27FC236}">
                              <a16:creationId xmlns:a16="http://schemas.microsoft.com/office/drawing/2014/main" id="{497F7BDE-B2CE-0347-B124-888EFA7211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2832"/>
                          <a:ext cx="2692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1" name="AutoShape 15">
              <a:extLst>
                <a:ext uri="{FF2B5EF4-FFF2-40B4-BE49-F238E27FC236}">
                  <a16:creationId xmlns:a16="http://schemas.microsoft.com/office/drawing/2014/main" id="{44E27C1C-1F77-8A40-BD20-4BB197FE8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880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46448" name="Object 16">
            <a:extLst>
              <a:ext uri="{FF2B5EF4-FFF2-40B4-BE49-F238E27FC236}">
                <a16:creationId xmlns:a16="http://schemas.microsoft.com/office/drawing/2014/main" id="{DF583F13-3364-6544-976E-1140A412C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5876925"/>
          <a:ext cx="36576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766000" imgH="5270500" progId="Equation.3">
                  <p:embed/>
                </p:oleObj>
              </mc:Choice>
              <mc:Fallback>
                <p:oleObj name="Equation" r:id="rId9" imgW="32766000" imgH="5270500" progId="Equation.3">
                  <p:embed/>
                  <p:pic>
                    <p:nvPicPr>
                      <p:cNvPr id="146448" name="Object 16">
                        <a:extLst>
                          <a:ext uri="{FF2B5EF4-FFF2-40B4-BE49-F238E27FC236}">
                            <a16:creationId xmlns:a16="http://schemas.microsoft.com/office/drawing/2014/main" id="{DF583F13-3364-6544-976E-1140A412CD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876925"/>
                        <a:ext cx="36576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4">
            <a:extLst>
              <a:ext uri="{FF2B5EF4-FFF2-40B4-BE49-F238E27FC236}">
                <a16:creationId xmlns:a16="http://schemas.microsoft.com/office/drawing/2014/main" id="{D1371281-C172-EB40-947B-FE120FEFA3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49275"/>
          <a:ext cx="44767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1" imgW="9791700" imgH="3276600" progId="Word.Document.8">
                  <p:embed/>
                </p:oleObj>
              </mc:Choice>
              <mc:Fallback>
                <p:oleObj name="文档" r:id="rId11" imgW="9791700" imgH="3276600" progId="Word.Document.8">
                  <p:embed/>
                  <p:pic>
                    <p:nvPicPr>
                      <p:cNvPr id="10247" name="Object 4">
                        <a:extLst>
                          <a:ext uri="{FF2B5EF4-FFF2-40B4-BE49-F238E27FC236}">
                            <a16:creationId xmlns:a16="http://schemas.microsoft.com/office/drawing/2014/main" id="{D1371281-C172-EB40-947B-FE120FEFA3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49275"/>
                        <a:ext cx="4476750" cy="15128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6">
            <a:extLst>
              <a:ext uri="{FF2B5EF4-FFF2-40B4-BE49-F238E27FC236}">
                <a16:creationId xmlns:a16="http://schemas.microsoft.com/office/drawing/2014/main" id="{178ED665-7E6B-FE4B-AB0D-339A15A96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1052513"/>
          <a:ext cx="16938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1696700" imgH="3505200" progId="Equation.3">
                  <p:embed/>
                </p:oleObj>
              </mc:Choice>
              <mc:Fallback>
                <p:oleObj name="公式" r:id="rId13" imgW="11696700" imgH="3505200" progId="Equation.3">
                  <p:embed/>
                  <p:pic>
                    <p:nvPicPr>
                      <p:cNvPr id="10248" name="Object 6">
                        <a:extLst>
                          <a:ext uri="{FF2B5EF4-FFF2-40B4-BE49-F238E27FC236}">
                            <a16:creationId xmlns:a16="http://schemas.microsoft.com/office/drawing/2014/main" id="{178ED665-7E6B-FE4B-AB0D-339A15A962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052513"/>
                        <a:ext cx="16938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5">
            <a:extLst>
              <a:ext uri="{FF2B5EF4-FFF2-40B4-BE49-F238E27FC236}">
                <a16:creationId xmlns:a16="http://schemas.microsoft.com/office/drawing/2014/main" id="{AD66F47D-6105-3942-8963-224164C81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292600"/>
            <a:ext cx="5473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is-IS" altLang="zh-CN">
                <a:latin typeface="楷体_GB2312" charset="0"/>
                <a:ea typeface="宋体" pitchFamily="2" charset="-122"/>
              </a:rPr>
              <a:t>…...</a:t>
            </a:r>
            <a:endParaRPr lang="en-US" altLang="zh-CN">
              <a:latin typeface="楷体_GB2312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9865640"/>
      </p:ext>
    </p:ext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72847C0-04E5-7443-AF9C-6578A643D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0"/>
            <a:ext cx="5105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§3  Jacobi &amp; Gauss-Seidel Iterative Methods</a:t>
            </a:r>
          </a:p>
        </p:txBody>
      </p:sp>
      <p:sp>
        <p:nvSpPr>
          <p:cNvPr id="56394" name="Text Box 74">
            <a:extLst>
              <a:ext uri="{FF2B5EF4-FFF2-40B4-BE49-F238E27FC236}">
                <a16:creationId xmlns:a16="http://schemas.microsoft.com/office/drawing/2014/main" id="{5393D53B-323C-3F4B-9196-18DCB2CDB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04813"/>
            <a:ext cx="909161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accent2"/>
                </a:solidFill>
                <a:latin typeface="楷体_GB2312" charset="0"/>
                <a:ea typeface="宋体" pitchFamily="2" charset="-122"/>
                <a:sym typeface="Wingdings" pitchFamily="2" charset="2"/>
              </a:rPr>
              <a:t> </a:t>
            </a:r>
            <a:r>
              <a:rPr lang="en-US" altLang="zh-CN">
                <a:ea typeface="宋体" pitchFamily="2" charset="-122"/>
              </a:rPr>
              <a:t>Jacobi </a:t>
            </a:r>
            <a:r>
              <a:rPr lang="en-US" altLang="en-US">
                <a:ea typeface="宋体" pitchFamily="2" charset="-122"/>
              </a:rPr>
              <a:t>迭代法</a:t>
            </a:r>
            <a:endParaRPr lang="en-US" altLang="zh-CN">
              <a:solidFill>
                <a:srgbClr val="0000FF"/>
              </a:solidFill>
              <a:ea typeface="宋体" pitchFamily="2" charset="-122"/>
            </a:endParaRPr>
          </a:p>
        </p:txBody>
      </p:sp>
      <p:graphicFrame>
        <p:nvGraphicFramePr>
          <p:cNvPr id="56395" name="Object 75">
            <a:extLst>
              <a:ext uri="{FF2B5EF4-FFF2-40B4-BE49-F238E27FC236}">
                <a16:creationId xmlns:a16="http://schemas.microsoft.com/office/drawing/2014/main" id="{391E7C6E-143F-1941-84C1-30D184EB97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865188"/>
          <a:ext cx="61753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500" imgH="431800" progId="Equation.3">
                  <p:embed/>
                </p:oleObj>
              </mc:Choice>
              <mc:Fallback>
                <p:oleObj name="Equation" r:id="rId4" imgW="3238500" imgH="431800" progId="Equation.3">
                  <p:embed/>
                  <p:pic>
                    <p:nvPicPr>
                      <p:cNvPr id="56395" name="Object 75">
                        <a:extLst>
                          <a:ext uri="{FF2B5EF4-FFF2-40B4-BE49-F238E27FC236}">
                            <a16:creationId xmlns:a16="http://schemas.microsoft.com/office/drawing/2014/main" id="{391E7C6E-143F-1941-84C1-30D184EB9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865188"/>
                        <a:ext cx="6175375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96" name="Object 76">
            <a:extLst>
              <a:ext uri="{FF2B5EF4-FFF2-40B4-BE49-F238E27FC236}">
                <a16:creationId xmlns:a16="http://schemas.microsoft.com/office/drawing/2014/main" id="{C8CC7C7A-DF8F-F04C-A9B2-4A24B893F4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1627188"/>
          <a:ext cx="629920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0" imgH="431800" progId="Equation.3">
                  <p:embed/>
                </p:oleObj>
              </mc:Choice>
              <mc:Fallback>
                <p:oleObj name="Equation" r:id="rId6" imgW="3302000" imgH="431800" progId="Equation.3">
                  <p:embed/>
                  <p:pic>
                    <p:nvPicPr>
                      <p:cNvPr id="56396" name="Object 76">
                        <a:extLst>
                          <a:ext uri="{FF2B5EF4-FFF2-40B4-BE49-F238E27FC236}">
                            <a16:creationId xmlns:a16="http://schemas.microsoft.com/office/drawing/2014/main" id="{C8CC7C7A-DF8F-F04C-A9B2-4A24B893F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1627188"/>
                        <a:ext cx="6299200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97" name="Rectangle 77">
            <a:extLst>
              <a:ext uri="{FF2B5EF4-FFF2-40B4-BE49-F238E27FC236}">
                <a16:creationId xmlns:a16="http://schemas.microsoft.com/office/drawing/2014/main" id="{0D175277-C5BA-2E4E-8549-02FFEEC38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752600"/>
            <a:ext cx="1004887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aphicFrame>
        <p:nvGraphicFramePr>
          <p:cNvPr id="56398" name="Object 78">
            <a:extLst>
              <a:ext uri="{FF2B5EF4-FFF2-40B4-BE49-F238E27FC236}">
                <a16:creationId xmlns:a16="http://schemas.microsoft.com/office/drawing/2014/main" id="{FCF1F8C7-A129-5A4F-892B-273E50EF7A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4550" y="2389188"/>
          <a:ext cx="624840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76600" imgH="431800" progId="Equation.3">
                  <p:embed/>
                </p:oleObj>
              </mc:Choice>
              <mc:Fallback>
                <p:oleObj name="Equation" r:id="rId8" imgW="3276600" imgH="431800" progId="Equation.3">
                  <p:embed/>
                  <p:pic>
                    <p:nvPicPr>
                      <p:cNvPr id="56398" name="Object 78">
                        <a:extLst>
                          <a:ext uri="{FF2B5EF4-FFF2-40B4-BE49-F238E27FC236}">
                            <a16:creationId xmlns:a16="http://schemas.microsoft.com/office/drawing/2014/main" id="{FCF1F8C7-A129-5A4F-892B-273E50EF7A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2389188"/>
                        <a:ext cx="6248400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99" name="Rectangle 79">
            <a:extLst>
              <a:ext uri="{FF2B5EF4-FFF2-40B4-BE49-F238E27FC236}">
                <a16:creationId xmlns:a16="http://schemas.microsoft.com/office/drawing/2014/main" id="{506F8545-E00D-4B44-8D41-3759A3646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050" y="2514600"/>
            <a:ext cx="1873250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aphicFrame>
        <p:nvGraphicFramePr>
          <p:cNvPr id="56400" name="Object 80">
            <a:extLst>
              <a:ext uri="{FF2B5EF4-FFF2-40B4-BE49-F238E27FC236}">
                <a16:creationId xmlns:a16="http://schemas.microsoft.com/office/drawing/2014/main" id="{010CBC68-A16F-0A45-9AED-FE3167803B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532188"/>
          <a:ext cx="646588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90900" imgH="431800" progId="Equation.3">
                  <p:embed/>
                </p:oleObj>
              </mc:Choice>
              <mc:Fallback>
                <p:oleObj name="Equation" r:id="rId10" imgW="3390900" imgH="431800" progId="Equation.3">
                  <p:embed/>
                  <p:pic>
                    <p:nvPicPr>
                      <p:cNvPr id="56400" name="Object 80">
                        <a:extLst>
                          <a:ext uri="{FF2B5EF4-FFF2-40B4-BE49-F238E27FC236}">
                            <a16:creationId xmlns:a16="http://schemas.microsoft.com/office/drawing/2014/main" id="{010CBC68-A16F-0A45-9AED-FE3167803B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32188"/>
                        <a:ext cx="6465887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01" name="Text Box 81">
            <a:extLst>
              <a:ext uri="{FF2B5EF4-FFF2-40B4-BE49-F238E27FC236}">
                <a16:creationId xmlns:a16="http://schemas.microsoft.com/office/drawing/2014/main" id="{C1DD0438-E761-3545-9EA8-1D9C4619A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04800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a typeface="宋体" pitchFamily="2" charset="-122"/>
              </a:rPr>
              <a:t>…    …    …    …</a:t>
            </a:r>
          </a:p>
        </p:txBody>
      </p:sp>
      <p:sp>
        <p:nvSpPr>
          <p:cNvPr id="56402" name="Rectangle 82">
            <a:extLst>
              <a:ext uri="{FF2B5EF4-FFF2-40B4-BE49-F238E27FC236}">
                <a16:creationId xmlns:a16="http://schemas.microsoft.com/office/drawing/2014/main" id="{6F68885E-77E0-8F43-B2A3-08433DA5D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3657600"/>
            <a:ext cx="4465638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897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4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6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94" grpId="0" autoUpdateAnimBg="0"/>
      <p:bldP spid="56397" grpId="0" animBg="1"/>
      <p:bldP spid="56399" grpId="0" animBg="1"/>
      <p:bldP spid="56401" grpId="0" autoUpdateAnimBg="0"/>
      <p:bldP spid="5640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4E7ACE5-6F71-7645-A697-6DF58D78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0"/>
            <a:ext cx="5105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§3  Jacobi &amp; Gauss-Seidel Iterative Methods</a:t>
            </a:r>
          </a:p>
        </p:txBody>
      </p:sp>
      <p:sp>
        <p:nvSpPr>
          <p:cNvPr id="56394" name="Text Box 74">
            <a:extLst>
              <a:ext uri="{FF2B5EF4-FFF2-40B4-BE49-F238E27FC236}">
                <a16:creationId xmlns:a16="http://schemas.microsoft.com/office/drawing/2014/main" id="{7BA9327C-A089-214C-A9A5-F4CC2CA19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04813"/>
            <a:ext cx="909161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accent2"/>
                </a:solidFill>
                <a:latin typeface="楷体_GB2312" charset="0"/>
                <a:ea typeface="宋体" pitchFamily="2" charset="-122"/>
                <a:sym typeface="Wingdings" pitchFamily="2" charset="2"/>
              </a:rPr>
              <a:t> </a:t>
            </a:r>
            <a:r>
              <a:rPr lang="en-US">
                <a:ea typeface="宋体" pitchFamily="2" charset="-122"/>
              </a:rPr>
              <a:t>Gauss-Seidel</a:t>
            </a:r>
            <a:r>
              <a:rPr lang="en-US" altLang="en-US">
                <a:ea typeface="宋体" pitchFamily="2" charset="-122"/>
              </a:rPr>
              <a:t>迭代法</a:t>
            </a:r>
            <a:endParaRPr lang="en-US" altLang="zh-CN">
              <a:solidFill>
                <a:srgbClr val="0000FF"/>
              </a:solidFill>
              <a:ea typeface="宋体" pitchFamily="2" charset="-122"/>
            </a:endParaRPr>
          </a:p>
        </p:txBody>
      </p:sp>
      <p:graphicFrame>
        <p:nvGraphicFramePr>
          <p:cNvPr id="56395" name="Object 75">
            <a:extLst>
              <a:ext uri="{FF2B5EF4-FFF2-40B4-BE49-F238E27FC236}">
                <a16:creationId xmlns:a16="http://schemas.microsoft.com/office/drawing/2014/main" id="{5FB212B3-C4AE-1E42-B9B5-4089D1F248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914400"/>
          <a:ext cx="67564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622900" imgH="8775700" progId="Equation.3">
                  <p:embed/>
                </p:oleObj>
              </mc:Choice>
              <mc:Fallback>
                <p:oleObj name="Equation" r:id="rId5" imgW="81622900" imgH="8775700" progId="Equation.3">
                  <p:embed/>
                  <p:pic>
                    <p:nvPicPr>
                      <p:cNvPr id="56395" name="Object 75">
                        <a:extLst>
                          <a:ext uri="{FF2B5EF4-FFF2-40B4-BE49-F238E27FC236}">
                            <a16:creationId xmlns:a16="http://schemas.microsoft.com/office/drawing/2014/main" id="{5FB212B3-C4AE-1E42-B9B5-4089D1F248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914400"/>
                        <a:ext cx="67564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96" name="Object 76">
            <a:extLst>
              <a:ext uri="{FF2B5EF4-FFF2-40B4-BE49-F238E27FC236}">
                <a16:creationId xmlns:a16="http://schemas.microsoft.com/office/drawing/2014/main" id="{FFBB1072-FD2B-564F-A552-453818C08B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676400"/>
          <a:ext cx="702468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4848700" imgH="8775700" progId="Equation.3">
                  <p:embed/>
                </p:oleObj>
              </mc:Choice>
              <mc:Fallback>
                <p:oleObj name="Equation" r:id="rId7" imgW="84848700" imgH="8775700" progId="Equation.3">
                  <p:embed/>
                  <p:pic>
                    <p:nvPicPr>
                      <p:cNvPr id="56396" name="Object 76">
                        <a:extLst>
                          <a:ext uri="{FF2B5EF4-FFF2-40B4-BE49-F238E27FC236}">
                            <a16:creationId xmlns:a16="http://schemas.microsoft.com/office/drawing/2014/main" id="{FFBB1072-FD2B-564F-A552-453818C08B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76400"/>
                        <a:ext cx="702468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97" name="Rectangle 77">
            <a:extLst>
              <a:ext uri="{FF2B5EF4-FFF2-40B4-BE49-F238E27FC236}">
                <a16:creationId xmlns:a16="http://schemas.microsoft.com/office/drawing/2014/main" id="{FF49922F-2A66-9441-8821-0329AD5CB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52600"/>
            <a:ext cx="1143000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aphicFrame>
        <p:nvGraphicFramePr>
          <p:cNvPr id="56398" name="Object 78">
            <a:extLst>
              <a:ext uri="{FF2B5EF4-FFF2-40B4-BE49-F238E27FC236}">
                <a16:creationId xmlns:a16="http://schemas.microsoft.com/office/drawing/2014/main" id="{11DF105D-C5F9-6C4F-96DB-E4F7847033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438400"/>
          <a:ext cx="719296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6893400" imgH="8775700" progId="Equation.3">
                  <p:embed/>
                </p:oleObj>
              </mc:Choice>
              <mc:Fallback>
                <p:oleObj name="Equation" r:id="rId9" imgW="86893400" imgH="8775700" progId="Equation.3">
                  <p:embed/>
                  <p:pic>
                    <p:nvPicPr>
                      <p:cNvPr id="56398" name="Object 78">
                        <a:extLst>
                          <a:ext uri="{FF2B5EF4-FFF2-40B4-BE49-F238E27FC236}">
                            <a16:creationId xmlns:a16="http://schemas.microsoft.com/office/drawing/2014/main" id="{11DF105D-C5F9-6C4F-96DB-E4F7847033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438400"/>
                        <a:ext cx="719296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99" name="Rectangle 79">
            <a:extLst>
              <a:ext uri="{FF2B5EF4-FFF2-40B4-BE49-F238E27FC236}">
                <a16:creationId xmlns:a16="http://schemas.microsoft.com/office/drawing/2014/main" id="{3996D17A-4BE9-A240-B7D2-ABB1B5F01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514600"/>
            <a:ext cx="2362200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aphicFrame>
        <p:nvGraphicFramePr>
          <p:cNvPr id="56400" name="Object 80">
            <a:extLst>
              <a:ext uri="{FF2B5EF4-FFF2-40B4-BE49-F238E27FC236}">
                <a16:creationId xmlns:a16="http://schemas.microsoft.com/office/drawing/2014/main" id="{3BC2F2B5-43DA-BF49-8B7D-B4B287B5AE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3581400"/>
          <a:ext cx="78470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4792800" imgH="8775700" progId="Equation.3">
                  <p:embed/>
                </p:oleObj>
              </mc:Choice>
              <mc:Fallback>
                <p:oleObj name="Equation" r:id="rId11" imgW="94792800" imgH="8775700" progId="Equation.3">
                  <p:embed/>
                  <p:pic>
                    <p:nvPicPr>
                      <p:cNvPr id="56400" name="Object 80">
                        <a:extLst>
                          <a:ext uri="{FF2B5EF4-FFF2-40B4-BE49-F238E27FC236}">
                            <a16:creationId xmlns:a16="http://schemas.microsoft.com/office/drawing/2014/main" id="{3BC2F2B5-43DA-BF49-8B7D-B4B287B5AE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81400"/>
                        <a:ext cx="78470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401" name="Text Box 81">
            <a:extLst>
              <a:ext uri="{FF2B5EF4-FFF2-40B4-BE49-F238E27FC236}">
                <a16:creationId xmlns:a16="http://schemas.microsoft.com/office/drawing/2014/main" id="{E007BC94-A000-DC40-84B9-85B588170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04800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>
                <a:ea typeface="宋体" pitchFamily="2" charset="-122"/>
              </a:rPr>
              <a:t>…    …    …    …</a:t>
            </a:r>
          </a:p>
        </p:txBody>
      </p:sp>
      <p:sp>
        <p:nvSpPr>
          <p:cNvPr id="56402" name="Rectangle 82">
            <a:extLst>
              <a:ext uri="{FF2B5EF4-FFF2-40B4-BE49-F238E27FC236}">
                <a16:creationId xmlns:a16="http://schemas.microsoft.com/office/drawing/2014/main" id="{FB0423BD-BB27-F441-9012-69718ACE3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657600"/>
            <a:ext cx="5638800" cy="533400"/>
          </a:xfrm>
          <a:prstGeom prst="rect">
            <a:avLst/>
          </a:pr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sp>
        <p:nvSpPr>
          <p:cNvPr id="56403" name="AutoShape 83">
            <a:extLst>
              <a:ext uri="{FF2B5EF4-FFF2-40B4-BE49-F238E27FC236}">
                <a16:creationId xmlns:a16="http://schemas.microsoft.com/office/drawing/2014/main" id="{9C61849A-CA6C-614C-8A20-5E09539C0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600200"/>
            <a:ext cx="3962400" cy="838200"/>
          </a:xfrm>
          <a:prstGeom prst="wedgeEllipseCallout">
            <a:avLst>
              <a:gd name="adj1" fmla="val -61819"/>
              <a:gd name="adj2" fmla="val -139204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2400"/>
              <a:t>只存一组向量即可。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45365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4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6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564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94" grpId="0" autoUpdateAnimBg="0"/>
      <p:bldP spid="56397" grpId="0" animBg="1"/>
      <p:bldP spid="56399" grpId="0" animBg="1"/>
      <p:bldP spid="56401" grpId="0" autoUpdateAnimBg="0"/>
      <p:bldP spid="56402" grpId="0" animBg="1"/>
      <p:bldP spid="56403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7" name="Rectangle 3">
            <a:extLst>
              <a:ext uri="{FF2B5EF4-FFF2-40B4-BE49-F238E27FC236}">
                <a16:creationId xmlns:a16="http://schemas.microsoft.com/office/drawing/2014/main" id="{8FE1533A-2F61-8A43-8020-632A2A83C5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463" y="115888"/>
            <a:ext cx="9144000" cy="649287"/>
          </a:xfrm>
        </p:spPr>
        <p:txBody>
          <a:bodyPr/>
          <a:lstStyle/>
          <a:p>
            <a:pPr marL="457200" lvl="1" indent="0" eaLnBrk="1" hangingPunct="1">
              <a:buFontTx/>
              <a:buNone/>
            </a:pPr>
            <a:r>
              <a:rPr lang="zh-CN" altLang="en-US">
                <a:latin typeface="黑体" panose="02010609060101010101" pitchFamily="49" charset="-122"/>
                <a:ea typeface="MS PGothic" panose="020B0600070205080204" pitchFamily="34" charset="-128"/>
              </a:rPr>
              <a:t>例：求解方程组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/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/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 eaLnBrk="1" hangingPunct="1"/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315" name="Object 4">
            <a:extLst>
              <a:ext uri="{FF2B5EF4-FFF2-40B4-BE49-F238E27FC236}">
                <a16:creationId xmlns:a16="http://schemas.microsoft.com/office/drawing/2014/main" id="{6DE87EA4-DD93-714D-8813-E3E3CCE7B2C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16238" y="549275"/>
          <a:ext cx="2519362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305500" imgH="16383000" progId="">
                  <p:embed/>
                </p:oleObj>
              </mc:Choice>
              <mc:Fallback>
                <p:oleObj r:id="rId2" imgW="31305500" imgH="16383000" progId="">
                  <p:embed/>
                  <p:pic>
                    <p:nvPicPr>
                      <p:cNvPr id="13315" name="Object 4">
                        <a:extLst>
                          <a:ext uri="{FF2B5EF4-FFF2-40B4-BE49-F238E27FC236}">
                            <a16:creationId xmlns:a16="http://schemas.microsoft.com/office/drawing/2014/main" id="{6DE87EA4-DD93-714D-8813-E3E3CCE7B2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49275"/>
                        <a:ext cx="2519362" cy="131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50" name="Object 6">
            <a:extLst>
              <a:ext uri="{FF2B5EF4-FFF2-40B4-BE49-F238E27FC236}">
                <a16:creationId xmlns:a16="http://schemas.microsoft.com/office/drawing/2014/main" id="{99D6A400-D060-3A4D-9B81-DBA8D741934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916238" y="2708275"/>
          <a:ext cx="3384550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418000" imgH="16383000" progId="Equation.3">
                  <p:embed/>
                </p:oleObj>
              </mc:Choice>
              <mc:Fallback>
                <p:oleObj name="Equation" r:id="rId4" imgW="42418000" imgH="16383000" progId="Equation.3">
                  <p:embed/>
                  <p:pic>
                    <p:nvPicPr>
                      <p:cNvPr id="799750" name="Object 6">
                        <a:extLst>
                          <a:ext uri="{FF2B5EF4-FFF2-40B4-BE49-F238E27FC236}">
                            <a16:creationId xmlns:a16="http://schemas.microsoft.com/office/drawing/2014/main" id="{99D6A400-D060-3A4D-9B81-DBA8D74193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708275"/>
                        <a:ext cx="3384550" cy="130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DF28F74A-3952-AB4F-B943-0F1FF828A3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4737100"/>
          <a:ext cx="362426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500" imgH="825500" progId="Equation.3">
                  <p:embed/>
                </p:oleObj>
              </mc:Choice>
              <mc:Fallback>
                <p:oleObj name="Equation" r:id="rId6" imgW="2095500" imgH="825500" progId="Equation.3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DF28F74A-3952-AB4F-B943-0F1FF828A3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737100"/>
                        <a:ext cx="362426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543641A3-2138-814E-8511-BE40DB4073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9800" y="4684713"/>
          <a:ext cx="3854450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46300" imgH="825500" progId="Equation.3">
                  <p:embed/>
                </p:oleObj>
              </mc:Choice>
              <mc:Fallback>
                <p:oleObj name="Equation" r:id="rId8" imgW="2146300" imgH="825500" progId="Equation.3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543641A3-2138-814E-8511-BE40DB4073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4684713"/>
                        <a:ext cx="3854450" cy="148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A297821A-0646-C546-8A49-2DF8319FB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3944938"/>
            <a:ext cx="3192463" cy="852487"/>
          </a:xfrm>
        </p:spPr>
        <p:txBody>
          <a:bodyPr/>
          <a:lstStyle/>
          <a:p>
            <a:pPr marL="457200" indent="-457200" algn="l" eaLnBrk="1" hangingPunct="1">
              <a:buFont typeface="Wingdings" charset="0"/>
              <a:buChar char="Ø"/>
              <a:defRPr/>
            </a:pPr>
            <a:r>
              <a:rPr lang="en-US" altLang="zh-CN" sz="2800">
                <a:latin typeface="黑体" charset="0"/>
                <a:ea typeface="黑体" charset="0"/>
                <a:cs typeface="黑体" charset="0"/>
              </a:rPr>
              <a:t>Jacobi</a:t>
            </a:r>
            <a:r>
              <a:rPr lang="zh-CN" altLang="en-US" sz="2800">
                <a:latin typeface="黑体" charset="0"/>
                <a:ea typeface="黑体" charset="0"/>
                <a:cs typeface="黑体" charset="0"/>
              </a:rPr>
              <a:t>迭代公式</a:t>
            </a:r>
            <a:endParaRPr lang="en-US" altLang="zh-CN" sz="280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7C9A4CE-A530-8046-B273-53B9D1A92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944938"/>
            <a:ext cx="4705350" cy="85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buFont typeface="Wingdings" charset="0"/>
              <a:buChar char="Ø"/>
              <a:defRPr/>
            </a:pPr>
            <a:r>
              <a:rPr lang="en-US" altLang="zh-CN">
                <a:solidFill>
                  <a:schemeClr val="tx2"/>
                </a:solidFill>
                <a:latin typeface="黑体" charset="0"/>
                <a:ea typeface="黑体" charset="0"/>
                <a:cs typeface="黑体" charset="0"/>
              </a:rPr>
              <a:t>Gauss-Seidel</a:t>
            </a:r>
            <a:r>
              <a:rPr lang="zh-CN" altLang="en-US">
                <a:solidFill>
                  <a:schemeClr val="tx2"/>
                </a:solidFill>
                <a:latin typeface="黑体" charset="0"/>
                <a:ea typeface="黑体" charset="0"/>
                <a:cs typeface="黑体" charset="0"/>
              </a:rPr>
              <a:t>迭代公式</a:t>
            </a:r>
            <a:endParaRPr lang="en-US" altLang="zh-CN">
              <a:solidFill>
                <a:schemeClr val="tx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DE5454-2104-C449-9712-FF5C1856F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916113"/>
            <a:ext cx="806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解：分别从上式三个方程中分离出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i="1" baseline="-2500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 x</a:t>
            </a:r>
            <a:r>
              <a:rPr lang="en-US" altLang="zh-CN" i="1" baseline="-2500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i="1" baseline="-2500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903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9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0" name="Rectangle 2">
            <a:extLst>
              <a:ext uri="{FF2B5EF4-FFF2-40B4-BE49-F238E27FC236}">
                <a16:creationId xmlns:a16="http://schemas.microsoft.com/office/drawing/2014/main" id="{5DEF4E90-D39F-CA40-B684-837928F3A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765175"/>
            <a:ext cx="3192463" cy="852488"/>
          </a:xfrm>
        </p:spPr>
        <p:txBody>
          <a:bodyPr/>
          <a:lstStyle/>
          <a:p>
            <a:pPr marL="457200" indent="-457200" algn="l" eaLnBrk="1" hangingPunct="1">
              <a:buFont typeface="Wingdings" pitchFamily="2" charset="2"/>
              <a:buChar char="Ø"/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Jacobi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迭代结果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06179" name="Group 291">
            <a:extLst>
              <a:ext uri="{FF2B5EF4-FFF2-40B4-BE49-F238E27FC236}">
                <a16:creationId xmlns:a16="http://schemas.microsoft.com/office/drawing/2014/main" id="{BB8888B3-2802-FC40-8919-E1A3B2C3F2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1188" y="1568450"/>
          <a:ext cx="3781425" cy="50292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k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0.3000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1.5000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2.0000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0.8000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1.7600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2.6600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0.9180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1.9260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2.8640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0.9716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1.9700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2.9540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0.9894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1.9897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2.9823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0.9963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1.9961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2.9938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2.9977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0.9995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1.9995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2.9992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0.9998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1.9998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2.9998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62" marR="914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Group 209">
            <a:extLst>
              <a:ext uri="{FF2B5EF4-FFF2-40B4-BE49-F238E27FC236}">
                <a16:creationId xmlns:a16="http://schemas.microsoft.com/office/drawing/2014/main" id="{4F346904-D0B8-A841-A955-4483D59B9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637124"/>
              </p:ext>
            </p:extLst>
          </p:nvPr>
        </p:nvGraphicFramePr>
        <p:xfrm>
          <a:off x="4932363" y="1557338"/>
          <a:ext cx="3960812" cy="4778567"/>
        </p:xfrm>
        <a:graphic>
          <a:graphicData uri="http://schemas.openxmlformats.org/drawingml/2006/table">
            <a:tbl>
              <a:tblPr/>
              <a:tblGrid>
                <a:gridCol w="449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9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8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k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n-US" altLang="zh-CN" sz="2400" b="0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(k)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0.30000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1.56000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2.68400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0.88040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1.94448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2.95387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0.98428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1.99224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2.99375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0.99782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1.99894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2.99914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0.99970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1.99985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2.99988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34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0.99996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1.99998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2.99998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71" marR="91471"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78705FAF-6311-CA4D-99D2-EFFE7DF58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765175"/>
            <a:ext cx="4703762" cy="85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Gauss-Seidel</a:t>
            </a:r>
            <a:r>
              <a:rPr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迭代结果</a:t>
            </a:r>
            <a:endParaRPr lang="en-US" altLang="zh-CN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449" name="Rectangle 1">
            <a:extLst>
              <a:ext uri="{FF2B5EF4-FFF2-40B4-BE49-F238E27FC236}">
                <a16:creationId xmlns:a16="http://schemas.microsoft.com/office/drawing/2014/main" id="{93A67E90-49AD-A946-8EE7-947DC23DE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26987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1"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设取迭代初值为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37CDF886-7739-E34F-A89C-4642463EA2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50" y="188913"/>
          <a:ext cx="18669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9000" imgH="241300" progId="Equation.3">
                  <p:embed/>
                </p:oleObj>
              </mc:Choice>
              <mc:Fallback>
                <p:oleObj name="Equation" r:id="rId2" imgW="889000" imgH="241300" progId="Equation.3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37CDF886-7739-E34F-A89C-4642463EA2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188913"/>
                        <a:ext cx="18669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614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0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890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ECAC3B6F-F691-344B-B320-410A42D8F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0"/>
            <a:ext cx="5105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§3  Jacobi &amp; Gauss-Seidel Iterative Methods</a:t>
            </a:r>
          </a:p>
        </p:txBody>
      </p:sp>
      <p:sp>
        <p:nvSpPr>
          <p:cNvPr id="56394" name="Text Box 74">
            <a:extLst>
              <a:ext uri="{FF2B5EF4-FFF2-40B4-BE49-F238E27FC236}">
                <a16:creationId xmlns:a16="http://schemas.microsoft.com/office/drawing/2014/main" id="{B72752ED-8D69-764F-B7A3-1DE373BB9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502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accent2"/>
                </a:solidFill>
                <a:latin typeface="楷体_GB2312" charset="0"/>
                <a:ea typeface="宋体" panose="02010600030101010101" pitchFamily="2" charset="-122"/>
                <a:sym typeface="Wingdings" pitchFamily="2" charset="2"/>
              </a:rPr>
              <a:t> </a:t>
            </a:r>
            <a:r>
              <a:rPr lang="zh-CN" altLang="en-US" sz="2400">
                <a:ea typeface="宋体" panose="02010600030101010101" pitchFamily="2" charset="-122"/>
                <a:sym typeface="Wingdings" pitchFamily="2" charset="2"/>
              </a:rPr>
              <a:t>迭代法的矩阵形式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190126D7-7127-B048-8732-8B8B8C8EF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28700"/>
            <a:ext cx="8610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u"/>
            </a:pPr>
            <a:r>
              <a:rPr lang="zh-CN" altLang="en-US" sz="2400">
                <a:latin typeface="楷体_GB2312" charset="0"/>
              </a:rPr>
              <a:t>将矩阵</a:t>
            </a:r>
            <a:r>
              <a:rPr lang="en-US" altLang="zh-CN" sz="2400">
                <a:latin typeface="楷体_GB2312" charset="0"/>
              </a:rPr>
              <a:t>A</a:t>
            </a:r>
            <a:r>
              <a:rPr lang="zh-CN" altLang="en-US" sz="2400">
                <a:latin typeface="楷体_GB2312" charset="0"/>
              </a:rPr>
              <a:t>分裂为</a:t>
            </a:r>
            <a:r>
              <a:rPr lang="en-US" altLang="zh-CN" sz="2400">
                <a:latin typeface="楷体_GB2312" charset="0"/>
              </a:rPr>
              <a:t>A=L+D+U, Jacobi</a:t>
            </a:r>
            <a:r>
              <a:rPr lang="zh-CN" altLang="en-US" sz="2400">
                <a:latin typeface="楷体_GB2312" charset="0"/>
              </a:rPr>
              <a:t>迭代可以表示为</a:t>
            </a:r>
            <a:endParaRPr lang="en-US" altLang="zh-CN" sz="2400">
              <a:latin typeface="楷体_GB2312" charset="0"/>
            </a:endParaRPr>
          </a:p>
        </p:txBody>
      </p:sp>
      <p:grpSp>
        <p:nvGrpSpPr>
          <p:cNvPr id="24" name="Group 22">
            <a:extLst>
              <a:ext uri="{FF2B5EF4-FFF2-40B4-BE49-F238E27FC236}">
                <a16:creationId xmlns:a16="http://schemas.microsoft.com/office/drawing/2014/main" id="{A45992F9-6F3C-A749-8251-76ECE1302F64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638300"/>
            <a:ext cx="2287588" cy="1600200"/>
            <a:chOff x="432" y="2400"/>
            <a:chExt cx="1441" cy="1008"/>
          </a:xfrm>
        </p:grpSpPr>
        <p:sp>
          <p:nvSpPr>
            <p:cNvPr id="25" name="Text Box 16">
              <a:extLst>
                <a:ext uri="{FF2B5EF4-FFF2-40B4-BE49-F238E27FC236}">
                  <a16:creationId xmlns:a16="http://schemas.microsoft.com/office/drawing/2014/main" id="{715FDFCA-1371-4549-95E1-9070086C0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68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i="1">
                  <a:latin typeface="Times New Roman" charset="0"/>
                  <a:ea typeface="宋体" charset="0"/>
                  <a:cs typeface="楷体_GB2312" charset="0"/>
                </a:rPr>
                <a:t>A</a:t>
              </a:r>
              <a:r>
                <a:rPr lang="en-US" altLang="zh-CN" sz="2400">
                  <a:latin typeface="Times New Roman" charset="0"/>
                  <a:ea typeface="宋体" charset="0"/>
                  <a:cs typeface="楷体_GB2312" charset="0"/>
                </a:rPr>
                <a:t> =</a:t>
              </a:r>
            </a:p>
          </p:txBody>
        </p:sp>
        <p:sp>
          <p:nvSpPr>
            <p:cNvPr id="26" name="Rectangle 17">
              <a:extLst>
                <a:ext uri="{FF2B5EF4-FFF2-40B4-BE49-F238E27FC236}">
                  <a16:creationId xmlns:a16="http://schemas.microsoft.com/office/drawing/2014/main" id="{EC1727C1-85C6-B547-8295-DE7A44BC7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400"/>
              <a:ext cx="1009" cy="10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</p:grpSp>
      <p:sp>
        <p:nvSpPr>
          <p:cNvPr id="27" name="AutoShape 18">
            <a:extLst>
              <a:ext uri="{FF2B5EF4-FFF2-40B4-BE49-F238E27FC236}">
                <a16:creationId xmlns:a16="http://schemas.microsoft.com/office/drawing/2014/main" id="{CC001CD0-5088-DA46-B024-AB366B76F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790700"/>
            <a:ext cx="1447800" cy="1447800"/>
          </a:xfrm>
          <a:prstGeom prst="rtTriangl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i="1">
                <a:solidFill>
                  <a:schemeClr val="bg1"/>
                </a:solidFill>
                <a:latin typeface="Times New Roman" charset="0"/>
                <a:ea typeface="宋体" charset="0"/>
                <a:cs typeface="楷体_GB2312" charset="0"/>
              </a:rPr>
              <a:t>L</a:t>
            </a:r>
          </a:p>
        </p:txBody>
      </p:sp>
      <p:sp>
        <p:nvSpPr>
          <p:cNvPr id="28" name="AutoShape 20">
            <a:extLst>
              <a:ext uri="{FF2B5EF4-FFF2-40B4-BE49-F238E27FC236}">
                <a16:creationId xmlns:a16="http://schemas.microsoft.com/office/drawing/2014/main" id="{93761A64-4D0F-E443-BCBE-1490D80193D6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1546226" y="1643062"/>
            <a:ext cx="1446212" cy="1446213"/>
          </a:xfrm>
          <a:prstGeom prst="rtTriangl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>
              <a:defRPr/>
            </a:pPr>
            <a:r>
              <a:rPr lang="en-US" altLang="zh-CN" i="1">
                <a:solidFill>
                  <a:schemeClr val="bg1"/>
                </a:solidFill>
                <a:latin typeface="Times New Roman" charset="0"/>
                <a:ea typeface="宋体" charset="0"/>
                <a:cs typeface="楷体_GB2312" charset="0"/>
              </a:rPr>
              <a:t>U</a:t>
            </a:r>
          </a:p>
        </p:txBody>
      </p:sp>
      <p:sp>
        <p:nvSpPr>
          <p:cNvPr id="29" name="Text Box 21">
            <a:extLst>
              <a:ext uri="{FF2B5EF4-FFF2-40B4-BE49-F238E27FC236}">
                <a16:creationId xmlns:a16="http://schemas.microsoft.com/office/drawing/2014/main" id="{BA7E8992-1BAF-A443-BD9F-4CABC248C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4050" y="21717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000" i="1">
                <a:latin typeface="Times New Roman" charset="0"/>
                <a:ea typeface="宋体" charset="0"/>
                <a:cs typeface="楷体_GB2312" charset="0"/>
              </a:rPr>
              <a:t>D</a:t>
            </a:r>
          </a:p>
        </p:txBody>
      </p:sp>
      <p:graphicFrame>
        <p:nvGraphicFramePr>
          <p:cNvPr id="30" name="Object 23">
            <a:extLst>
              <a:ext uri="{FF2B5EF4-FFF2-40B4-BE49-F238E27FC236}">
                <a16:creationId xmlns:a16="http://schemas.microsoft.com/office/drawing/2014/main" id="{49CDEF2E-32C4-544E-BFFC-E531ADD010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562100"/>
          <a:ext cx="37782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812200" imgH="9944100" progId="Equation.3">
                  <p:embed/>
                </p:oleObj>
              </mc:Choice>
              <mc:Fallback>
                <p:oleObj name="Equation" r:id="rId8" imgW="46812200" imgH="9944100" progId="Equation.3">
                  <p:embed/>
                  <p:pic>
                    <p:nvPicPr>
                      <p:cNvPr id="30" name="Object 23">
                        <a:extLst>
                          <a:ext uri="{FF2B5EF4-FFF2-40B4-BE49-F238E27FC236}">
                            <a16:creationId xmlns:a16="http://schemas.microsoft.com/office/drawing/2014/main" id="{49CDEF2E-32C4-544E-BFFC-E531ADD010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562100"/>
                        <a:ext cx="37782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4">
            <a:extLst>
              <a:ext uri="{FF2B5EF4-FFF2-40B4-BE49-F238E27FC236}">
                <a16:creationId xmlns:a16="http://schemas.microsoft.com/office/drawing/2014/main" id="{07AB4507-7E01-F148-8431-3EA53A4DC8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2324100"/>
          <a:ext cx="34956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294300" imgH="5270500" progId="Equation.3">
                  <p:embed/>
                </p:oleObj>
              </mc:Choice>
              <mc:Fallback>
                <p:oleObj name="Equation" r:id="rId10" imgW="43294300" imgH="5270500" progId="Equation.3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07AB4507-7E01-F148-8431-3EA53A4DC8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324100"/>
                        <a:ext cx="34956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Group 29">
            <a:extLst>
              <a:ext uri="{FF2B5EF4-FFF2-40B4-BE49-F238E27FC236}">
                <a16:creationId xmlns:a16="http://schemas.microsoft.com/office/drawing/2014/main" id="{38B5F234-2185-B145-8F49-224BDC37D9C2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705100"/>
            <a:ext cx="2438400" cy="533400"/>
            <a:chOff x="3312" y="3168"/>
            <a:chExt cx="1536" cy="336"/>
          </a:xfrm>
        </p:grpSpPr>
        <p:sp>
          <p:nvSpPr>
            <p:cNvPr id="33" name="AutoShape 25">
              <a:extLst>
                <a:ext uri="{FF2B5EF4-FFF2-40B4-BE49-F238E27FC236}">
                  <a16:creationId xmlns:a16="http://schemas.microsoft.com/office/drawing/2014/main" id="{7E6C5C6F-3A8C-B44A-8659-D44959CC633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696" y="2784"/>
              <a:ext cx="96" cy="864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34" name="Text Box 26">
              <a:extLst>
                <a:ext uri="{FF2B5EF4-FFF2-40B4-BE49-F238E27FC236}">
                  <a16:creationId xmlns:a16="http://schemas.microsoft.com/office/drawing/2014/main" id="{FC3BF33D-412E-604F-9124-BE51FD9D5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2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i="1">
                  <a:latin typeface="Times New Roman" charset="0"/>
                  <a:ea typeface="宋体" charset="0"/>
                  <a:cs typeface="楷体_GB2312" charset="0"/>
                </a:rPr>
                <a:t>B</a:t>
              </a:r>
            </a:p>
          </p:txBody>
        </p:sp>
        <p:sp>
          <p:nvSpPr>
            <p:cNvPr id="35" name="AutoShape 27">
              <a:extLst>
                <a:ext uri="{FF2B5EF4-FFF2-40B4-BE49-F238E27FC236}">
                  <a16:creationId xmlns:a16="http://schemas.microsoft.com/office/drawing/2014/main" id="{B16285DB-EB25-B44D-978D-9217EE1DE197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632" y="3048"/>
              <a:ext cx="96" cy="336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aphicFrame>
          <p:nvGraphicFramePr>
            <p:cNvPr id="15389" name="Object 28">
              <a:extLst>
                <a:ext uri="{FF2B5EF4-FFF2-40B4-BE49-F238E27FC236}">
                  <a16:creationId xmlns:a16="http://schemas.microsoft.com/office/drawing/2014/main" id="{918FCDE9-E309-8C4E-BC25-212B569465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3264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797300" imgH="5270500" progId="Equation.3">
                    <p:embed/>
                  </p:oleObj>
                </mc:Choice>
                <mc:Fallback>
                  <p:oleObj name="Equation" r:id="rId12" imgW="3797300" imgH="5270500" progId="Equation.3">
                    <p:embed/>
                    <p:pic>
                      <p:nvPicPr>
                        <p:cNvPr id="15389" name="Object 28">
                          <a:extLst>
                            <a:ext uri="{FF2B5EF4-FFF2-40B4-BE49-F238E27FC236}">
                              <a16:creationId xmlns:a16="http://schemas.microsoft.com/office/drawing/2014/main" id="{918FCDE9-E309-8C4E-BC25-212B569465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264"/>
                          <a:ext cx="17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AutoShape 30">
            <a:extLst>
              <a:ext uri="{FF2B5EF4-FFF2-40B4-BE49-F238E27FC236}">
                <a16:creationId xmlns:a16="http://schemas.microsoft.com/office/drawing/2014/main" id="{C1C88DDE-7C0B-B342-B393-6BE9E403B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90900"/>
            <a:ext cx="3276600" cy="685800"/>
          </a:xfrm>
          <a:prstGeom prst="wedgeEllipseCallout">
            <a:avLst>
              <a:gd name="adj1" fmla="val 113468"/>
              <a:gd name="adj2" fmla="val -100694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/>
              <a:t>Jacobi </a:t>
            </a:r>
            <a:r>
              <a:rPr lang="zh-CN" altLang="en-US" sz="2400"/>
              <a:t>迭代阵</a:t>
            </a:r>
            <a:endParaRPr lang="en-US" altLang="zh-CN" sz="2400"/>
          </a:p>
        </p:txBody>
      </p:sp>
      <p:grpSp>
        <p:nvGrpSpPr>
          <p:cNvPr id="38" name="Group 33">
            <a:extLst>
              <a:ext uri="{FF2B5EF4-FFF2-40B4-BE49-F238E27FC236}">
                <a16:creationId xmlns:a16="http://schemas.microsoft.com/office/drawing/2014/main" id="{95BF42FA-D215-3F45-BBA5-AF970C4FA0D5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390900"/>
            <a:ext cx="4038600" cy="685800"/>
            <a:chOff x="2688" y="3744"/>
            <a:chExt cx="2544" cy="432"/>
          </a:xfrm>
        </p:grpSpPr>
        <p:sp>
          <p:nvSpPr>
            <p:cNvPr id="39" name="AutoShape 32" descr="新闻纸">
              <a:extLst>
                <a:ext uri="{FF2B5EF4-FFF2-40B4-BE49-F238E27FC236}">
                  <a16:creationId xmlns:a16="http://schemas.microsoft.com/office/drawing/2014/main" id="{D1187A0E-E354-0B41-BBF2-BC2E550C8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744"/>
              <a:ext cx="2544" cy="432"/>
            </a:xfrm>
            <a:prstGeom prst="bevel">
              <a:avLst>
                <a:gd name="adj" fmla="val 8333"/>
              </a:avLst>
            </a:prstGeom>
            <a:blipFill dpi="0" rotWithShape="0">
              <a:blip r:embed="rId14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aphicFrame>
          <p:nvGraphicFramePr>
            <p:cNvPr id="15385" name="Object 31">
              <a:extLst>
                <a:ext uri="{FF2B5EF4-FFF2-40B4-BE49-F238E27FC236}">
                  <a16:creationId xmlns:a16="http://schemas.microsoft.com/office/drawing/2014/main" id="{9B6971F3-4AD3-3041-A444-EDC9000756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3840"/>
            <a:ext cx="2366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6520100" imgH="5270500" progId="Equation.3">
                    <p:embed/>
                  </p:oleObj>
                </mc:Choice>
                <mc:Fallback>
                  <p:oleObj name="Equation" r:id="rId15" imgW="46520100" imgH="5270500" progId="Equation.3">
                    <p:embed/>
                    <p:pic>
                      <p:nvPicPr>
                        <p:cNvPr id="15385" name="Object 31">
                          <a:extLst>
                            <a:ext uri="{FF2B5EF4-FFF2-40B4-BE49-F238E27FC236}">
                              <a16:creationId xmlns:a16="http://schemas.microsoft.com/office/drawing/2014/main" id="{9B6971F3-4AD3-3041-A444-EDC9000756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840"/>
                          <a:ext cx="2366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Text Box 84">
            <a:extLst>
              <a:ext uri="{FF2B5EF4-FFF2-40B4-BE49-F238E27FC236}">
                <a16:creationId xmlns:a16="http://schemas.microsoft.com/office/drawing/2014/main" id="{0581D105-EFE5-414B-9A79-778638F06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0975" y="4495800"/>
            <a:ext cx="30003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buFont typeface="Wingdings" pitchFamily="2" charset="2"/>
              <a:buChar char="u"/>
              <a:defRPr/>
            </a:pPr>
            <a:r>
              <a:rPr lang="en-US" altLang="zh-CN" sz="2400">
                <a:ea typeface="宋体" pitchFamily="2" charset="-122"/>
              </a:rPr>
              <a:t>Gauss-Seidel</a:t>
            </a:r>
            <a:r>
              <a:rPr lang="zh-CN" altLang="en-US" sz="2400">
                <a:ea typeface="宋体" pitchFamily="2" charset="-122"/>
              </a:rPr>
              <a:t>迭代</a:t>
            </a:r>
            <a:endParaRPr lang="en-US" altLang="zh-CN" sz="2400">
              <a:ea typeface="宋体" pitchFamily="2" charset="-122"/>
            </a:endParaRPr>
          </a:p>
        </p:txBody>
      </p:sp>
      <p:graphicFrame>
        <p:nvGraphicFramePr>
          <p:cNvPr id="42" name="Object 85">
            <a:extLst>
              <a:ext uri="{FF2B5EF4-FFF2-40B4-BE49-F238E27FC236}">
                <a16:creationId xmlns:a16="http://schemas.microsoft.com/office/drawing/2014/main" id="{7BF79015-8DB8-7D4C-A0BF-1C648E0D81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572000"/>
          <a:ext cx="49530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3543200" imgH="5270500" progId="Equation.3">
                  <p:embed/>
                </p:oleObj>
              </mc:Choice>
              <mc:Fallback>
                <p:oleObj name="Equation" r:id="rId17" imgW="53543200" imgH="5270500" progId="Equation.3">
                  <p:embed/>
                  <p:pic>
                    <p:nvPicPr>
                      <p:cNvPr id="42" name="Object 85">
                        <a:extLst>
                          <a:ext uri="{FF2B5EF4-FFF2-40B4-BE49-F238E27FC236}">
                            <a16:creationId xmlns:a16="http://schemas.microsoft.com/office/drawing/2014/main" id="{7BF79015-8DB8-7D4C-A0BF-1C648E0D81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72000"/>
                        <a:ext cx="49530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86">
            <a:extLst>
              <a:ext uri="{FF2B5EF4-FFF2-40B4-BE49-F238E27FC236}">
                <a16:creationId xmlns:a16="http://schemas.microsoft.com/office/drawing/2014/main" id="{90450CB9-6DD4-1143-8FD0-A58326FC5B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976813"/>
          <a:ext cx="42672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3599100" imgH="5270500" progId="Equation.3">
                  <p:embed/>
                </p:oleObj>
              </mc:Choice>
              <mc:Fallback>
                <p:oleObj name="Equation" r:id="rId19" imgW="43599100" imgH="5270500" progId="Equation.3">
                  <p:embed/>
                  <p:pic>
                    <p:nvPicPr>
                      <p:cNvPr id="43" name="Object 86">
                        <a:extLst>
                          <a:ext uri="{FF2B5EF4-FFF2-40B4-BE49-F238E27FC236}">
                            <a16:creationId xmlns:a16="http://schemas.microsoft.com/office/drawing/2014/main" id="{90450CB9-6DD4-1143-8FD0-A58326FC5B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976813"/>
                        <a:ext cx="42672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87">
            <a:extLst>
              <a:ext uri="{FF2B5EF4-FFF2-40B4-BE49-F238E27FC236}">
                <a16:creationId xmlns:a16="http://schemas.microsoft.com/office/drawing/2014/main" id="{84A9A817-9B67-4B4F-81C0-6943AE1019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5410200"/>
          <a:ext cx="50260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9690000" imgH="5270500" progId="Equation.3">
                  <p:embed/>
                </p:oleObj>
              </mc:Choice>
              <mc:Fallback>
                <p:oleObj name="Equation" r:id="rId21" imgW="59690000" imgH="5270500" progId="Equation.3">
                  <p:embed/>
                  <p:pic>
                    <p:nvPicPr>
                      <p:cNvPr id="44" name="Object 87">
                        <a:extLst>
                          <a:ext uri="{FF2B5EF4-FFF2-40B4-BE49-F238E27FC236}">
                            <a16:creationId xmlns:a16="http://schemas.microsoft.com/office/drawing/2014/main" id="{84A9A817-9B67-4B4F-81C0-6943AE1019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410200"/>
                        <a:ext cx="502602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Group 93">
            <a:extLst>
              <a:ext uri="{FF2B5EF4-FFF2-40B4-BE49-F238E27FC236}">
                <a16:creationId xmlns:a16="http://schemas.microsoft.com/office/drawing/2014/main" id="{AC80EFF5-E151-ED42-BF47-1AD92767DEBC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5791200"/>
            <a:ext cx="3276600" cy="533400"/>
            <a:chOff x="2640" y="3648"/>
            <a:chExt cx="2064" cy="336"/>
          </a:xfrm>
        </p:grpSpPr>
        <p:sp>
          <p:nvSpPr>
            <p:cNvPr id="46" name="AutoShape 89">
              <a:extLst>
                <a:ext uri="{FF2B5EF4-FFF2-40B4-BE49-F238E27FC236}">
                  <a16:creationId xmlns:a16="http://schemas.microsoft.com/office/drawing/2014/main" id="{DFA44781-8F2D-2B4F-B33D-745E231E8446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072" y="3216"/>
              <a:ext cx="96" cy="960"/>
            </a:xfrm>
            <a:prstGeom prst="leftBrace">
              <a:avLst>
                <a:gd name="adj1" fmla="val 833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sp>
          <p:nvSpPr>
            <p:cNvPr id="47" name="Text Box 90">
              <a:extLst>
                <a:ext uri="{FF2B5EF4-FFF2-40B4-BE49-F238E27FC236}">
                  <a16:creationId xmlns:a16="http://schemas.microsoft.com/office/drawing/2014/main" id="{5A7EDE0B-EADC-9447-98E6-10219CCBF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69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400" i="1">
                  <a:latin typeface="Times New Roman" charset="0"/>
                  <a:ea typeface="宋体" charset="0"/>
                </a:rPr>
                <a:t>B</a:t>
              </a:r>
            </a:p>
          </p:txBody>
        </p:sp>
        <p:sp>
          <p:nvSpPr>
            <p:cNvPr id="48" name="AutoShape 91">
              <a:extLst>
                <a:ext uri="{FF2B5EF4-FFF2-40B4-BE49-F238E27FC236}">
                  <a16:creationId xmlns:a16="http://schemas.microsoft.com/office/drawing/2014/main" id="{3A631553-1114-2E4B-A62C-F25F1F48B432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320" y="3360"/>
              <a:ext cx="96" cy="672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aphicFrame>
          <p:nvGraphicFramePr>
            <p:cNvPr id="15383" name="Object 92">
              <a:extLst>
                <a:ext uri="{FF2B5EF4-FFF2-40B4-BE49-F238E27FC236}">
                  <a16:creationId xmlns:a16="http://schemas.microsoft.com/office/drawing/2014/main" id="{9CA9BC1F-A162-8A44-AA6C-6DD31C2ABF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3744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3797300" imgH="5270500" progId="Equation.3">
                    <p:embed/>
                  </p:oleObj>
                </mc:Choice>
                <mc:Fallback>
                  <p:oleObj name="Equation" r:id="rId23" imgW="3797300" imgH="5270500" progId="Equation.3">
                    <p:embed/>
                    <p:pic>
                      <p:nvPicPr>
                        <p:cNvPr id="15383" name="Object 92">
                          <a:extLst>
                            <a:ext uri="{FF2B5EF4-FFF2-40B4-BE49-F238E27FC236}">
                              <a16:creationId xmlns:a16="http://schemas.microsoft.com/office/drawing/2014/main" id="{9CA9BC1F-A162-8A44-AA6C-6DD31C2ABF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3744"/>
                          <a:ext cx="17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AutoShape 94">
            <a:extLst>
              <a:ext uri="{FF2B5EF4-FFF2-40B4-BE49-F238E27FC236}">
                <a16:creationId xmlns:a16="http://schemas.microsoft.com/office/drawing/2014/main" id="{124ACF0B-7C08-4344-BA76-3C184D25F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638800"/>
            <a:ext cx="2667000" cy="990600"/>
          </a:xfrm>
          <a:prstGeom prst="wedgeEllipseCallout">
            <a:avLst>
              <a:gd name="adj1" fmla="val 121014"/>
              <a:gd name="adj2" fmla="val 963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>
                <a:ea typeface="宋体" panose="02010600030101010101" pitchFamily="2" charset="-122"/>
              </a:rPr>
              <a:t>Gauss-Seidel</a:t>
            </a:r>
          </a:p>
          <a:p>
            <a:pPr algn="ctr" eaLnBrk="1" hangingPunct="1"/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zh-CN" altLang="en-US" sz="2400">
                <a:ea typeface="宋体" panose="02010600030101010101" pitchFamily="2" charset="-122"/>
              </a:rPr>
              <a:t>迭代阵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856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94" grpId="0" autoUpdateAnimBg="0"/>
      <p:bldP spid="23" grpId="0" autoUpdateAnimBg="0"/>
      <p:bldP spid="27" grpId="0" animBg="1" autoUpdateAnimBg="0"/>
      <p:bldP spid="28" grpId="0" animBg="1" autoUpdateAnimBg="0"/>
      <p:bldP spid="29" grpId="0" autoUpdateAnimBg="0"/>
      <p:bldP spid="37" grpId="0" animBg="1" autoUpdateAnimBg="0"/>
      <p:bldP spid="41" grpId="0" autoUpdateAnimBg="0"/>
      <p:bldP spid="50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>
            <a:extLst>
              <a:ext uri="{FF2B5EF4-FFF2-40B4-BE49-F238E27FC236}">
                <a16:creationId xmlns:a16="http://schemas.microsoft.com/office/drawing/2014/main" id="{67B5944F-22F0-5443-AEB0-11635700D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04813"/>
            <a:ext cx="84963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sz="2400">
                <a:ea typeface="宋体" panose="02010600030101010101" pitchFamily="2" charset="-122"/>
              </a:rPr>
              <a:t>一般而言，</a:t>
            </a:r>
            <a:r>
              <a:rPr lang="en-US" altLang="zh-CN" sz="2400">
                <a:ea typeface="宋体" panose="02010600030101010101" pitchFamily="2" charset="-122"/>
              </a:rPr>
              <a:t> Gauss-Seidel</a:t>
            </a:r>
            <a:r>
              <a:rPr lang="zh-CN" altLang="en-US" sz="2400">
                <a:ea typeface="宋体" panose="02010600030101010101" pitchFamily="2" charset="-122"/>
              </a:rPr>
              <a:t>迭代法收敛速度比</a:t>
            </a:r>
            <a:r>
              <a:rPr lang="en-US" altLang="zh-CN" sz="2400">
                <a:ea typeface="宋体" panose="02010600030101010101" pitchFamily="2" charset="-122"/>
              </a:rPr>
              <a:t>Jacobi</a:t>
            </a:r>
            <a:r>
              <a:rPr lang="zh-CN" altLang="en-US" sz="2400">
                <a:ea typeface="宋体" panose="02010600030101010101" pitchFamily="2" charset="-122"/>
              </a:rPr>
              <a:t>迭代法快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20BC3D-B74C-E947-9128-83440D7AB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341438"/>
            <a:ext cx="8496300" cy="213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40000"/>
              </a:lnSpc>
              <a:buFont typeface="Wingdings" pitchFamily="2" charset="2"/>
              <a:buChar char="Ø"/>
            </a:pP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Jacobi</a:t>
            </a:r>
            <a:r>
              <a:rPr lang="zh-CN" altLang="en-US" sz="2400">
                <a:solidFill>
                  <a:srgbClr val="0000FF"/>
                </a:solidFill>
                <a:ea typeface="宋体" panose="02010600030101010101" pitchFamily="2" charset="-122"/>
              </a:rPr>
              <a:t>迭代法</a:t>
            </a:r>
            <a:r>
              <a:rPr lang="zh-CN" altLang="en-US" sz="2400">
                <a:ea typeface="宋体" panose="02010600030101010101" pitchFamily="2" charset="-122"/>
              </a:rPr>
              <a:t>：公式简单，特别适合于并行计算。需存放</a:t>
            </a:r>
            <a:r>
              <a:rPr lang="en-US" altLang="zh-CN" sz="2400">
                <a:ea typeface="宋体" panose="02010600030101010101" pitchFamily="2" charset="-122"/>
              </a:rPr>
              <a:t>X</a:t>
            </a:r>
            <a:r>
              <a:rPr lang="en-US" altLang="zh-CN" sz="2400" baseline="30000">
                <a:ea typeface="宋体" panose="02010600030101010101" pitchFamily="2" charset="-122"/>
              </a:rPr>
              <a:t>(</a:t>
            </a:r>
            <a:r>
              <a:rPr lang="en-US" altLang="zh-CN" sz="2400" i="1" baseline="30000">
                <a:ea typeface="宋体" panose="02010600030101010101" pitchFamily="2" charset="-122"/>
              </a:rPr>
              <a:t>k</a:t>
            </a:r>
            <a:r>
              <a:rPr lang="en-US" altLang="zh-CN" sz="2400" baseline="30000">
                <a:ea typeface="宋体" panose="02010600030101010101" pitchFamily="2" charset="-122"/>
              </a:rPr>
              <a:t>)</a:t>
            </a:r>
            <a:r>
              <a:rPr lang="zh-CN" altLang="en-US" sz="2400">
                <a:ea typeface="宋体" panose="02010600030101010101" pitchFamily="2" charset="-122"/>
              </a:rPr>
              <a:t>和</a:t>
            </a:r>
            <a:r>
              <a:rPr lang="en-US" altLang="zh-CN" sz="2400">
                <a:ea typeface="宋体" panose="02010600030101010101" pitchFamily="2" charset="-122"/>
              </a:rPr>
              <a:t>X</a:t>
            </a:r>
            <a:r>
              <a:rPr lang="en-US" altLang="zh-CN" sz="2400" baseline="30000">
                <a:ea typeface="宋体" panose="02010600030101010101" pitchFamily="2" charset="-122"/>
              </a:rPr>
              <a:t>(</a:t>
            </a:r>
            <a:r>
              <a:rPr lang="en-US" altLang="zh-CN" sz="2400" i="1" baseline="30000">
                <a:ea typeface="宋体" panose="02010600030101010101" pitchFamily="2" charset="-122"/>
              </a:rPr>
              <a:t>k</a:t>
            </a:r>
            <a:r>
              <a:rPr lang="en-US" altLang="zh-CN" sz="2400" baseline="30000">
                <a:ea typeface="宋体" panose="02010600030101010101" pitchFamily="2" charset="-122"/>
              </a:rPr>
              <a:t>+1)</a:t>
            </a:r>
            <a:r>
              <a:rPr lang="zh-CN" altLang="en-US" sz="2400">
                <a:ea typeface="宋体" panose="02010600030101010101" pitchFamily="2" charset="-122"/>
              </a:rPr>
              <a:t>两个存储空间</a:t>
            </a: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buFont typeface="Wingdings" pitchFamily="2" charset="2"/>
              <a:buChar char="Ø"/>
            </a:pP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Gauss-Seidel</a:t>
            </a:r>
            <a:r>
              <a:rPr lang="zh-CN" altLang="en-US" sz="2400">
                <a:solidFill>
                  <a:srgbClr val="0000FF"/>
                </a:solidFill>
                <a:ea typeface="宋体" panose="02010600030101010101" pitchFamily="2" charset="-122"/>
              </a:rPr>
              <a:t>迭代法</a:t>
            </a:r>
            <a:r>
              <a:rPr lang="zh-CN" altLang="en-US" sz="2400">
                <a:ea typeface="宋体" panose="02010600030101010101" pitchFamily="2" charset="-122"/>
              </a:rPr>
              <a:t>：只需一个向量存储空间，有时起到加速收敛的作用。是一种典型的串行算法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4" name="AutoShape 53" descr="再生纸">
            <a:extLst>
              <a:ext uri="{FF2B5EF4-FFF2-40B4-BE49-F238E27FC236}">
                <a16:creationId xmlns:a16="http://schemas.microsoft.com/office/drawing/2014/main" id="{0BEEB0EA-4AE0-2B4E-A7D3-3FD9021BC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44900"/>
            <a:ext cx="7947025" cy="2057400"/>
          </a:xfrm>
          <a:prstGeom prst="roundRect">
            <a:avLst>
              <a:gd name="adj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999999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marL="577850" indent="-5778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注：</a:t>
            </a:r>
            <a:r>
              <a:rPr lang="zh-CN" altLang="en-US" sz="2400"/>
              <a:t>二种方法都存在</a:t>
            </a:r>
            <a:r>
              <a:rPr lang="zh-CN" altLang="en-US" sz="2400">
                <a:solidFill>
                  <a:schemeClr val="accent2"/>
                </a:solidFill>
              </a:rPr>
              <a:t>收敛性问题</a:t>
            </a:r>
            <a:r>
              <a:rPr lang="zh-CN" altLang="en-US" sz="2400"/>
              <a:t>。</a:t>
            </a:r>
            <a:endParaRPr lang="en-US" altLang="zh-CN" sz="2400"/>
          </a:p>
          <a:p>
            <a:pPr eaLnBrk="1" hangingPunct="1">
              <a:spcBef>
                <a:spcPct val="50000"/>
              </a:spcBef>
            </a:pPr>
            <a:r>
              <a:rPr lang="en-US" altLang="zh-CN" sz="2400"/>
              <a:t>        </a:t>
            </a:r>
            <a:r>
              <a:rPr lang="zh-CN" altLang="en-US" sz="2400"/>
              <a:t>有例子表明：</a:t>
            </a:r>
            <a:r>
              <a:rPr lang="en-US" altLang="zh-CN" sz="2400"/>
              <a:t>Gauss-Seidel</a:t>
            </a:r>
            <a:r>
              <a:rPr lang="zh-CN" altLang="en-US" sz="2400"/>
              <a:t>法收敛时，</a:t>
            </a:r>
            <a:r>
              <a:rPr lang="en-US" altLang="zh-CN" sz="2400"/>
              <a:t>Jacobi</a:t>
            </a:r>
            <a:r>
              <a:rPr lang="zh-CN" altLang="en-US" sz="2400"/>
              <a:t>法可能不收敛；而</a:t>
            </a:r>
            <a:r>
              <a:rPr lang="en-US" altLang="zh-CN" sz="2400"/>
              <a:t>Jacobi</a:t>
            </a:r>
            <a:r>
              <a:rPr lang="zh-CN" altLang="en-US" sz="2400"/>
              <a:t>法收敛时，</a:t>
            </a:r>
            <a:r>
              <a:rPr lang="en-US" altLang="zh-CN" sz="2400"/>
              <a:t> Gauss-Seidel</a:t>
            </a:r>
            <a:r>
              <a:rPr lang="zh-CN" altLang="en-US" sz="2400"/>
              <a:t>法也可能不收敛。</a:t>
            </a:r>
            <a:endParaRPr lang="en-US" altLang="zh-CN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A33A67-223E-CD4C-AAFB-012A66034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165850"/>
            <a:ext cx="33385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²"/>
            </a:pPr>
            <a:r>
              <a:rPr lang="zh-CN" altLang="en-US">
                <a:solidFill>
                  <a:schemeClr val="accent2"/>
                </a:solidFill>
              </a:rPr>
              <a:t>收敛性</a:t>
            </a:r>
            <a:r>
              <a:rPr lang="zh-CN" altLang="en-US"/>
              <a:t>如何度量？</a:t>
            </a:r>
            <a:endParaRPr lang="en-US" alt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E4827-75BB-1048-8D7D-F710C39FD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6146800"/>
            <a:ext cx="29797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itchFamily="2" charset="2"/>
              <a:buChar char="²"/>
            </a:pPr>
            <a:r>
              <a:rPr lang="zh-CN" altLang="en-US">
                <a:solidFill>
                  <a:schemeClr val="accent2"/>
                </a:solidFill>
              </a:rPr>
              <a:t>误差</a:t>
            </a:r>
            <a:r>
              <a:rPr lang="zh-CN" altLang="en-US"/>
              <a:t>如何度量？</a:t>
            </a:r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89426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2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ext Box 3">
            <a:extLst>
              <a:ext uri="{FF2B5EF4-FFF2-40B4-BE49-F238E27FC236}">
                <a16:creationId xmlns:a16="http://schemas.microsoft.com/office/drawing/2014/main" id="{0F2C1E24-13A9-C245-ACF6-1873CCB4E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4800"/>
            <a:ext cx="8229600" cy="98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/>
              <a:t>向量和矩阵范数</a:t>
            </a:r>
            <a:r>
              <a:rPr lang="en-US" altLang="zh-CN"/>
              <a:t> 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</a:rPr>
              <a:t>/* Norms of Vectors and Matrices */</a:t>
            </a:r>
            <a:endParaRPr lang="en-US" altLang="zh-CN" sz="2000"/>
          </a:p>
          <a:p>
            <a:pPr eaLnBrk="1" hangingPunct="1">
              <a:spcBef>
                <a:spcPct val="10000"/>
              </a:spcBef>
            </a:pPr>
            <a:r>
              <a:rPr lang="en-US" altLang="zh-CN"/>
              <a:t>                 —— </a:t>
            </a:r>
            <a:r>
              <a:rPr lang="zh-CN" altLang="en-US"/>
              <a:t>为了误差的度量</a:t>
            </a:r>
            <a:endParaRPr lang="en-US" altLang="zh-CN"/>
          </a:p>
        </p:txBody>
      </p:sp>
      <p:grpSp>
        <p:nvGrpSpPr>
          <p:cNvPr id="49173" name="Group 21">
            <a:extLst>
              <a:ext uri="{FF2B5EF4-FFF2-40B4-BE49-F238E27FC236}">
                <a16:creationId xmlns:a16="http://schemas.microsoft.com/office/drawing/2014/main" id="{1BC896E7-8314-5A4B-BB48-11FEB5D8175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346200"/>
            <a:ext cx="2819400" cy="457200"/>
            <a:chOff x="384" y="2736"/>
            <a:chExt cx="1776" cy="288"/>
          </a:xfrm>
        </p:grpSpPr>
        <p:pic>
          <p:nvPicPr>
            <p:cNvPr id="17511" name="Picture 19" descr="toolbox">
              <a:extLst>
                <a:ext uri="{FF2B5EF4-FFF2-40B4-BE49-F238E27FC236}">
                  <a16:creationId xmlns:a16="http://schemas.microsoft.com/office/drawing/2014/main" id="{858674E1-02F7-794A-9B98-F6A3973ADB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736"/>
              <a:ext cx="295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72" name="Text Box 20">
              <a:extLst>
                <a:ext uri="{FF2B5EF4-FFF2-40B4-BE49-F238E27FC236}">
                  <a16:creationId xmlns:a16="http://schemas.microsoft.com/office/drawing/2014/main" id="{5166C3C0-C1C7-AD4E-8413-BB948F130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736"/>
              <a:ext cx="14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常用向量范数：</a:t>
              </a:r>
              <a:endParaRPr lang="en-US" altLang="zh-CN" sz="2400">
                <a:ea typeface="宋体" pitchFamily="2" charset="-122"/>
              </a:endParaRPr>
            </a:p>
          </p:txBody>
        </p:sp>
      </p:grpSp>
      <p:grpSp>
        <p:nvGrpSpPr>
          <p:cNvPr id="49303" name="Group 151">
            <a:extLst>
              <a:ext uri="{FF2B5EF4-FFF2-40B4-BE49-F238E27FC236}">
                <a16:creationId xmlns:a16="http://schemas.microsoft.com/office/drawing/2014/main" id="{1623C49F-38E5-D344-8951-DBDD6E2B3FDD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955800"/>
            <a:ext cx="1981200" cy="838200"/>
            <a:chOff x="432" y="3120"/>
            <a:chExt cx="1248" cy="528"/>
          </a:xfrm>
        </p:grpSpPr>
        <p:sp>
          <p:nvSpPr>
            <p:cNvPr id="49175" name="AutoShape 23" descr="深色木质">
              <a:extLst>
                <a:ext uri="{FF2B5EF4-FFF2-40B4-BE49-F238E27FC236}">
                  <a16:creationId xmlns:a16="http://schemas.microsoft.com/office/drawing/2014/main" id="{C5A15EBA-94C0-4049-B4C7-B52AADDF1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120"/>
              <a:ext cx="1248" cy="528"/>
            </a:xfrm>
            <a:prstGeom prst="cube">
              <a:avLst>
                <a:gd name="adj" fmla="val 6019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17495" name="Group 54">
              <a:extLst>
                <a:ext uri="{FF2B5EF4-FFF2-40B4-BE49-F238E27FC236}">
                  <a16:creationId xmlns:a16="http://schemas.microsoft.com/office/drawing/2014/main" id="{96408A1D-1202-F04A-B885-6535EC750A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3168"/>
              <a:ext cx="1108" cy="442"/>
              <a:chOff x="833" y="3333"/>
              <a:chExt cx="1108" cy="442"/>
            </a:xfrm>
          </p:grpSpPr>
          <p:sp>
            <p:nvSpPr>
              <p:cNvPr id="17496" name="Rectangle 39">
                <a:extLst>
                  <a:ext uri="{FF2B5EF4-FFF2-40B4-BE49-F238E27FC236}">
                    <a16:creationId xmlns:a16="http://schemas.microsoft.com/office/drawing/2014/main" id="{3F508D0A-97F6-704D-8F9A-EBF118DD3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" y="3377"/>
                <a:ext cx="147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3100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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7" name="Rectangle 40">
                <a:extLst>
                  <a:ext uri="{FF2B5EF4-FFF2-40B4-BE49-F238E27FC236}">
                    <a16:creationId xmlns:a16="http://schemas.microsoft.com/office/drawing/2014/main" id="{52FC65CA-4376-1B4A-8994-C6D1E5B61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0" y="3650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8" name="Rectangle 41">
                <a:extLst>
                  <a:ext uri="{FF2B5EF4-FFF2-40B4-BE49-F238E27FC236}">
                    <a16:creationId xmlns:a16="http://schemas.microsoft.com/office/drawing/2014/main" id="{C10DD8EC-42D3-3840-BBAE-BD0F33730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3421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9" name="Rectangle 42">
                <a:extLst>
                  <a:ext uri="{FF2B5EF4-FFF2-40B4-BE49-F238E27FC236}">
                    <a16:creationId xmlns:a16="http://schemas.microsoft.com/office/drawing/2014/main" id="{EF629264-D06B-9946-A08D-6043C0131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3333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 i="1">
                    <a:solidFill>
                      <a:srgbClr val="FFFFCC"/>
                    </a:solidFill>
                  </a:rPr>
                  <a:t>n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0" name="Rectangle 43">
                <a:extLst>
                  <a:ext uri="{FF2B5EF4-FFF2-40B4-BE49-F238E27FC236}">
                    <a16:creationId xmlns:a16="http://schemas.microsoft.com/office/drawing/2014/main" id="{5DDFD6C0-4DC5-9B43-ABA7-198CE81AB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8" y="3660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 i="1">
                    <a:solidFill>
                      <a:srgbClr val="FFFFCC"/>
                    </a:solidFill>
                  </a:rPr>
                  <a:t>i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1" name="Rectangle 44">
                <a:extLst>
                  <a:ext uri="{FF2B5EF4-FFF2-40B4-BE49-F238E27FC236}">
                    <a16:creationId xmlns:a16="http://schemas.microsoft.com/office/drawing/2014/main" id="{39A894AB-76AD-044C-ADF8-C66DEB6F6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5" y="3543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 i="1">
                    <a:solidFill>
                      <a:srgbClr val="FFFFCC"/>
                    </a:solidFill>
                  </a:rPr>
                  <a:t>i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2" name="Rectangle 45">
                <a:extLst>
                  <a:ext uri="{FF2B5EF4-FFF2-40B4-BE49-F238E27FC236}">
                    <a16:creationId xmlns:a16="http://schemas.microsoft.com/office/drawing/2014/main" id="{65BFC782-F2CE-B042-AC4C-16F08A6F9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" y="344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 i="1">
                    <a:solidFill>
                      <a:srgbClr val="FFFFCC"/>
                    </a:solidFill>
                  </a:rPr>
                  <a:t>x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3" name="Rectangle 46">
                <a:extLst>
                  <a:ext uri="{FF2B5EF4-FFF2-40B4-BE49-F238E27FC236}">
                    <a16:creationId xmlns:a16="http://schemas.microsoft.com/office/drawing/2014/main" id="{46B6FCFD-BB2F-1144-ADEA-96D9E8C62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6" y="344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 i="1">
                    <a:solidFill>
                      <a:srgbClr val="FFFFCC"/>
                    </a:solidFill>
                  </a:rPr>
                  <a:t>x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4" name="Rectangle 47">
                <a:extLst>
                  <a:ext uri="{FF2B5EF4-FFF2-40B4-BE49-F238E27FC236}">
                    <a16:creationId xmlns:a16="http://schemas.microsoft.com/office/drawing/2014/main" id="{19C2A8F8-8BE1-554C-A6F6-202E560ED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3" y="3659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FFFFCC"/>
                    </a:solidFill>
                  </a:rPr>
                  <a:t>1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5" name="Rectangle 48">
                <a:extLst>
                  <a:ext uri="{FF2B5EF4-FFF2-40B4-BE49-F238E27FC236}">
                    <a16:creationId xmlns:a16="http://schemas.microsoft.com/office/drawing/2014/main" id="{4308575E-BFCC-8648-90BB-67BB659C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6" y="3542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FFFFCC"/>
                    </a:solidFill>
                  </a:rPr>
                  <a:t>1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6" name="Rectangle 49">
                <a:extLst>
                  <a:ext uri="{FF2B5EF4-FFF2-40B4-BE49-F238E27FC236}">
                    <a16:creationId xmlns:a16="http://schemas.microsoft.com/office/drawing/2014/main" id="{BC00B5B7-6B0A-8A46-892D-54EC7D7A3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3440"/>
                <a:ext cx="3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</a:rPr>
                  <a:t>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7" name="Rectangle 50">
                <a:extLst>
                  <a:ext uri="{FF2B5EF4-FFF2-40B4-BE49-F238E27FC236}">
                    <a16:creationId xmlns:a16="http://schemas.microsoft.com/office/drawing/2014/main" id="{07804FDD-73C7-B740-A9A0-A904296BB0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2" y="3440"/>
                <a:ext cx="3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</a:rPr>
                  <a:t>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8" name="Rectangle 51">
                <a:extLst>
                  <a:ext uri="{FF2B5EF4-FFF2-40B4-BE49-F238E27FC236}">
                    <a16:creationId xmlns:a16="http://schemas.microsoft.com/office/drawing/2014/main" id="{53AE9FBC-7097-6F44-A5B8-D121F54BB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" y="3440"/>
                <a:ext cx="7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</a:rPr>
                  <a:t>||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09" name="Rectangle 52">
                <a:extLst>
                  <a:ext uri="{FF2B5EF4-FFF2-40B4-BE49-F238E27FC236}">
                    <a16:creationId xmlns:a16="http://schemas.microsoft.com/office/drawing/2014/main" id="{99B1E29B-EA06-8349-A674-E162BFC0B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3" y="3440"/>
                <a:ext cx="7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</a:rPr>
                  <a:t>||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510" name="Rectangle 53">
                <a:extLst>
                  <a:ext uri="{FF2B5EF4-FFF2-40B4-BE49-F238E27FC236}">
                    <a16:creationId xmlns:a16="http://schemas.microsoft.com/office/drawing/2014/main" id="{7F716D9A-D7A5-9A4A-9FAC-C8509A22E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" y="3355"/>
                <a:ext cx="6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100">
                    <a:solidFill>
                      <a:srgbClr val="FFFFCC"/>
                    </a:solidFill>
                    <a:latin typeface="MT Extra" pitchFamily="2" charset="77"/>
                  </a:rPr>
                  <a:t>v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</p:grpSp>
      </p:grpSp>
      <p:grpSp>
        <p:nvGrpSpPr>
          <p:cNvPr id="49304" name="Group 152">
            <a:extLst>
              <a:ext uri="{FF2B5EF4-FFF2-40B4-BE49-F238E27FC236}">
                <a16:creationId xmlns:a16="http://schemas.microsoft.com/office/drawing/2014/main" id="{CEB63AFB-E777-8A4C-9967-A5E406ED42B9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955800"/>
            <a:ext cx="2438400" cy="838200"/>
            <a:chOff x="1824" y="3120"/>
            <a:chExt cx="1536" cy="528"/>
          </a:xfrm>
        </p:grpSpPr>
        <p:sp>
          <p:nvSpPr>
            <p:cNvPr id="49209" name="AutoShape 57" descr="深色木质">
              <a:extLst>
                <a:ext uri="{FF2B5EF4-FFF2-40B4-BE49-F238E27FC236}">
                  <a16:creationId xmlns:a16="http://schemas.microsoft.com/office/drawing/2014/main" id="{C83B59F5-8CCB-9946-8F85-F21591645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120"/>
              <a:ext cx="1536" cy="528"/>
            </a:xfrm>
            <a:prstGeom prst="cube">
              <a:avLst>
                <a:gd name="adj" fmla="val 6019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17473" name="Group 96">
              <a:extLst>
                <a:ext uri="{FF2B5EF4-FFF2-40B4-BE49-F238E27FC236}">
                  <a16:creationId xmlns:a16="http://schemas.microsoft.com/office/drawing/2014/main" id="{512770E0-B8AA-2242-916D-F8B8DE2AE6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872" y="3194"/>
              <a:ext cx="1399" cy="400"/>
              <a:chOff x="3888" y="3238"/>
              <a:chExt cx="1344" cy="385"/>
            </a:xfrm>
          </p:grpSpPr>
          <p:sp>
            <p:nvSpPr>
              <p:cNvPr id="17474" name="Line 75">
                <a:extLst>
                  <a:ext uri="{FF2B5EF4-FFF2-40B4-BE49-F238E27FC236}">
                    <a16:creationId xmlns:a16="http://schemas.microsoft.com/office/drawing/2014/main" id="{2FCD76CE-57B0-EE42-B0EA-911F35C245C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466" y="3435"/>
                <a:ext cx="25" cy="13"/>
              </a:xfrm>
              <a:prstGeom prst="line">
                <a:avLst/>
              </a:prstGeom>
              <a:noFill/>
              <a:ln w="11176">
                <a:solidFill>
                  <a:srgbClr val="FF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475" name="Line 76">
                <a:extLst>
                  <a:ext uri="{FF2B5EF4-FFF2-40B4-BE49-F238E27FC236}">
                    <a16:creationId xmlns:a16="http://schemas.microsoft.com/office/drawing/2014/main" id="{57A69430-3DAA-E34B-BF75-2EA7A51A24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91" y="3438"/>
                <a:ext cx="36" cy="185"/>
              </a:xfrm>
              <a:prstGeom prst="line">
                <a:avLst/>
              </a:prstGeom>
              <a:noFill/>
              <a:ln w="22225">
                <a:solidFill>
                  <a:srgbClr val="FF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476" name="Line 77">
                <a:extLst>
                  <a:ext uri="{FF2B5EF4-FFF2-40B4-BE49-F238E27FC236}">
                    <a16:creationId xmlns:a16="http://schemas.microsoft.com/office/drawing/2014/main" id="{E6EC5397-D5B1-EA46-AB86-59A94279185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4534" y="3262"/>
                <a:ext cx="54" cy="360"/>
              </a:xfrm>
              <a:prstGeom prst="line">
                <a:avLst/>
              </a:prstGeom>
              <a:noFill/>
              <a:ln w="11176">
                <a:solidFill>
                  <a:srgbClr val="FF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477" name="Line 78">
                <a:extLst>
                  <a:ext uri="{FF2B5EF4-FFF2-40B4-BE49-F238E27FC236}">
                    <a16:creationId xmlns:a16="http://schemas.microsoft.com/office/drawing/2014/main" id="{F1D987C4-642C-6643-9FB5-998D962B1F3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590" y="3262"/>
                <a:ext cx="642" cy="1"/>
              </a:xfrm>
              <a:prstGeom prst="line">
                <a:avLst/>
              </a:prstGeom>
              <a:noFill/>
              <a:ln w="11176">
                <a:solidFill>
                  <a:srgbClr val="FF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7478" name="Rectangle 79">
                <a:extLst>
                  <a:ext uri="{FF2B5EF4-FFF2-40B4-BE49-F238E27FC236}">
                    <a16:creationId xmlns:a16="http://schemas.microsoft.com/office/drawing/2014/main" id="{32460382-3EFA-1149-A2DF-E401C4422D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00" y="3287"/>
                <a:ext cx="128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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79" name="Rectangle 80">
                <a:extLst>
                  <a:ext uri="{FF2B5EF4-FFF2-40B4-BE49-F238E27FC236}">
                    <a16:creationId xmlns:a16="http://schemas.microsoft.com/office/drawing/2014/main" id="{7D7CD184-C647-C846-A749-A8CAA6E119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56" y="3504"/>
                <a:ext cx="46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0" name="Rectangle 81">
                <a:extLst>
                  <a:ext uri="{FF2B5EF4-FFF2-40B4-BE49-F238E27FC236}">
                    <a16:creationId xmlns:a16="http://schemas.microsoft.com/office/drawing/2014/main" id="{DB49B978-3613-6440-8B7D-D6968A700C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21" y="3338"/>
                <a:ext cx="8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1" name="Rectangle 82">
                <a:extLst>
                  <a:ext uri="{FF2B5EF4-FFF2-40B4-BE49-F238E27FC236}">
                    <a16:creationId xmlns:a16="http://schemas.microsoft.com/office/drawing/2014/main" id="{46F5A93E-920A-054D-A93C-DED10909F1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3" y="3238"/>
                <a:ext cx="47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n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2" name="Rectangle 83">
                <a:extLst>
                  <a:ext uri="{FF2B5EF4-FFF2-40B4-BE49-F238E27FC236}">
                    <a16:creationId xmlns:a16="http://schemas.microsoft.com/office/drawing/2014/main" id="{6940AB9A-93A3-024A-8DCE-0D43E43151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13" y="3516"/>
                <a:ext cx="2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i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3" name="Rectangle 84">
                <a:extLst>
                  <a:ext uri="{FF2B5EF4-FFF2-40B4-BE49-F238E27FC236}">
                    <a16:creationId xmlns:a16="http://schemas.microsoft.com/office/drawing/2014/main" id="{CD30B0EF-4019-4A47-980C-0D5A2098DC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016" y="3474"/>
                <a:ext cx="2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i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4" name="Rectangle 85">
                <a:extLst>
                  <a:ext uri="{FF2B5EF4-FFF2-40B4-BE49-F238E27FC236}">
                    <a16:creationId xmlns:a16="http://schemas.microsoft.com/office/drawing/2014/main" id="{EBA89A74-B6C6-894E-A2FB-3DDC78F711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14" y="3359"/>
                <a:ext cx="73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 i="1">
                    <a:solidFill>
                      <a:srgbClr val="FFFFCC"/>
                    </a:solidFill>
                  </a:rPr>
                  <a:t>x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5" name="Rectangle 86">
                <a:extLst>
                  <a:ext uri="{FF2B5EF4-FFF2-40B4-BE49-F238E27FC236}">
                    <a16:creationId xmlns:a16="http://schemas.microsoft.com/office/drawing/2014/main" id="{2252BBAC-80D9-9A4E-A08F-C057931B40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23" y="3359"/>
                <a:ext cx="73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 i="1">
                    <a:solidFill>
                      <a:srgbClr val="FFFFCC"/>
                    </a:solidFill>
                  </a:rPr>
                  <a:t>x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6" name="Rectangle 87">
                <a:extLst>
                  <a:ext uri="{FF2B5EF4-FFF2-40B4-BE49-F238E27FC236}">
                    <a16:creationId xmlns:a16="http://schemas.microsoft.com/office/drawing/2014/main" id="{BA7B6616-6E54-7843-ADF8-4AF44CD2BD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719" y="3515"/>
                <a:ext cx="4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1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7" name="Rectangle 88">
                <a:extLst>
                  <a:ext uri="{FF2B5EF4-FFF2-40B4-BE49-F238E27FC236}">
                    <a16:creationId xmlns:a16="http://schemas.microsoft.com/office/drawing/2014/main" id="{F5EB6F4B-7F7E-0541-8AF4-561CE297F5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48" y="3343"/>
                <a:ext cx="4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2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8" name="Rectangle 89">
                <a:extLst>
                  <a:ext uri="{FF2B5EF4-FFF2-40B4-BE49-F238E27FC236}">
                    <a16:creationId xmlns:a16="http://schemas.microsoft.com/office/drawing/2014/main" id="{AFC8B85C-396D-D64B-B2FE-D0D5CE3385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41" y="3473"/>
                <a:ext cx="4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2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89" name="Rectangle 90">
                <a:extLst>
                  <a:ext uri="{FF2B5EF4-FFF2-40B4-BE49-F238E27FC236}">
                    <a16:creationId xmlns:a16="http://schemas.microsoft.com/office/drawing/2014/main" id="{5E5EE5F1-4812-754D-AACB-89B69AD331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05" y="3359"/>
                <a:ext cx="32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0" name="Rectangle 91">
                <a:extLst>
                  <a:ext uri="{FF2B5EF4-FFF2-40B4-BE49-F238E27FC236}">
                    <a16:creationId xmlns:a16="http://schemas.microsoft.com/office/drawing/2014/main" id="{FD1B41D8-C7FB-754C-8C4B-7CEF7C5567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821" y="3359"/>
                <a:ext cx="32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1" name="Rectangle 92">
                <a:extLst>
                  <a:ext uri="{FF2B5EF4-FFF2-40B4-BE49-F238E27FC236}">
                    <a16:creationId xmlns:a16="http://schemas.microsoft.com/office/drawing/2014/main" id="{7015AD76-EBED-A84C-A2FE-604F8BC860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57" y="3359"/>
                <a:ext cx="63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2" name="Rectangle 93">
                <a:extLst>
                  <a:ext uri="{FF2B5EF4-FFF2-40B4-BE49-F238E27FC236}">
                    <a16:creationId xmlns:a16="http://schemas.microsoft.com/office/drawing/2014/main" id="{7C724FCA-935C-7C49-81D0-2679310C36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88" y="3359"/>
                <a:ext cx="63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||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  <p:sp>
            <p:nvSpPr>
              <p:cNvPr id="17493" name="Rectangle 94">
                <a:extLst>
                  <a:ext uri="{FF2B5EF4-FFF2-40B4-BE49-F238E27FC236}">
                    <a16:creationId xmlns:a16="http://schemas.microsoft.com/office/drawing/2014/main" id="{591B47D2-BC9B-D045-B7D5-1EB550F91B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36" y="3263"/>
                <a:ext cx="6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  <a:latin typeface="MT Extra" pitchFamily="2" charset="77"/>
                  </a:rPr>
                  <a:t>v</a:t>
                </a:r>
                <a:endParaRPr lang="en-US" altLang="zh-CN">
                  <a:solidFill>
                    <a:srgbClr val="FFFFCC"/>
                  </a:solidFill>
                </a:endParaRPr>
              </a:p>
            </p:txBody>
          </p:sp>
        </p:grpSp>
      </p:grpSp>
      <p:grpSp>
        <p:nvGrpSpPr>
          <p:cNvPr id="49327" name="Group 175">
            <a:extLst>
              <a:ext uri="{FF2B5EF4-FFF2-40B4-BE49-F238E27FC236}">
                <a16:creationId xmlns:a16="http://schemas.microsoft.com/office/drawing/2014/main" id="{D2D93558-DDA0-FA48-9F9B-C41CD0474FD3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955800"/>
            <a:ext cx="2743200" cy="838200"/>
            <a:chOff x="3504" y="3120"/>
            <a:chExt cx="1728" cy="528"/>
          </a:xfrm>
        </p:grpSpPr>
        <p:sp>
          <p:nvSpPr>
            <p:cNvPr id="49251" name="AutoShape 99" descr="深色木质">
              <a:extLst>
                <a:ext uri="{FF2B5EF4-FFF2-40B4-BE49-F238E27FC236}">
                  <a16:creationId xmlns:a16="http://schemas.microsoft.com/office/drawing/2014/main" id="{E22D8EFC-FF98-AB45-B535-C3A33BF18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120"/>
              <a:ext cx="1728" cy="528"/>
            </a:xfrm>
            <a:prstGeom prst="cube">
              <a:avLst>
                <a:gd name="adj" fmla="val 6019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17451" name="Group 150">
              <a:extLst>
                <a:ext uri="{FF2B5EF4-FFF2-40B4-BE49-F238E27FC236}">
                  <a16:creationId xmlns:a16="http://schemas.microsoft.com/office/drawing/2014/main" id="{83AD07CB-C538-4741-8891-59A182E10A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3168"/>
              <a:ext cx="1565" cy="457"/>
              <a:chOff x="3569" y="3575"/>
              <a:chExt cx="1565" cy="457"/>
            </a:xfrm>
          </p:grpSpPr>
          <p:sp>
            <p:nvSpPr>
              <p:cNvPr id="17452" name="Rectangle 122">
                <a:extLst>
                  <a:ext uri="{FF2B5EF4-FFF2-40B4-BE49-F238E27FC236}">
                    <a16:creationId xmlns:a16="http://schemas.microsoft.com/office/drawing/2014/main" id="{AF363A9E-25DE-7640-B46F-ABBDB6E2B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0" y="3577"/>
                <a:ext cx="4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p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3" name="Rectangle 123">
                <a:extLst>
                  <a:ext uri="{FF2B5EF4-FFF2-40B4-BE49-F238E27FC236}">
                    <a16:creationId xmlns:a16="http://schemas.microsoft.com/office/drawing/2014/main" id="{2A75AE2A-87BD-C240-8710-0EA68177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8" y="3622"/>
                <a:ext cx="4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n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4" name="Rectangle 124">
                <a:extLst>
                  <a:ext uri="{FF2B5EF4-FFF2-40B4-BE49-F238E27FC236}">
                    <a16:creationId xmlns:a16="http://schemas.microsoft.com/office/drawing/2014/main" id="{D3DCEA81-9B42-6C47-A942-5E5F19648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3917"/>
                <a:ext cx="2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i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5" name="Rectangle 125">
                <a:extLst>
                  <a:ext uri="{FF2B5EF4-FFF2-40B4-BE49-F238E27FC236}">
                    <a16:creationId xmlns:a16="http://schemas.microsoft.com/office/drawing/2014/main" id="{7D8EF5FF-16E7-4F4B-BCD6-678C0288C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8" y="3707"/>
                <a:ext cx="4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p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6" name="Rectangle 126">
                <a:extLst>
                  <a:ext uri="{FF2B5EF4-FFF2-40B4-BE49-F238E27FC236}">
                    <a16:creationId xmlns:a16="http://schemas.microsoft.com/office/drawing/2014/main" id="{772B0E37-CEF2-4B4F-A058-2BD2ACD5A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4" y="3811"/>
                <a:ext cx="2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i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7" name="Rectangle 127">
                <a:extLst>
                  <a:ext uri="{FF2B5EF4-FFF2-40B4-BE49-F238E27FC236}">
                    <a16:creationId xmlns:a16="http://schemas.microsoft.com/office/drawing/2014/main" id="{79A04103-31F2-0947-A915-BD84BB39F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9" y="3811"/>
                <a:ext cx="4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FFFFCC"/>
                    </a:solidFill>
                  </a:rPr>
                  <a:t>p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8" name="Rectangle 128">
                <a:extLst>
                  <a:ext uri="{FF2B5EF4-FFF2-40B4-BE49-F238E27FC236}">
                    <a16:creationId xmlns:a16="http://schemas.microsoft.com/office/drawing/2014/main" id="{19ACAACA-42A1-8347-BDDC-10D534CBE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4" y="3719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 i="1">
                    <a:solidFill>
                      <a:srgbClr val="FFFFCC"/>
                    </a:solidFill>
                  </a:rPr>
                  <a:t>x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59" name="Rectangle 129">
                <a:extLst>
                  <a:ext uri="{FF2B5EF4-FFF2-40B4-BE49-F238E27FC236}">
                    <a16:creationId xmlns:a16="http://schemas.microsoft.com/office/drawing/2014/main" id="{A313CEBF-1722-5F4F-86EA-E184475ED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0" y="3719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 i="1">
                    <a:solidFill>
                      <a:srgbClr val="FFFFCC"/>
                    </a:solidFill>
                  </a:rPr>
                  <a:t>x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0" name="Rectangle 130">
                <a:extLst>
                  <a:ext uri="{FF2B5EF4-FFF2-40B4-BE49-F238E27FC236}">
                    <a16:creationId xmlns:a16="http://schemas.microsoft.com/office/drawing/2014/main" id="{72C0A333-1881-F84E-9BB5-887803DAE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7" y="3575"/>
                <a:ext cx="2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/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1" name="Rectangle 131">
                <a:extLst>
                  <a:ext uri="{FF2B5EF4-FFF2-40B4-BE49-F238E27FC236}">
                    <a16:creationId xmlns:a16="http://schemas.microsoft.com/office/drawing/2014/main" id="{1469695D-08E4-8144-88E3-5D603B6F3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3" y="3575"/>
                <a:ext cx="4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1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2" name="Rectangle 132">
                <a:extLst>
                  <a:ext uri="{FF2B5EF4-FFF2-40B4-BE49-F238E27FC236}">
                    <a16:creationId xmlns:a16="http://schemas.microsoft.com/office/drawing/2014/main" id="{61B342E8-E083-C348-AA6E-5918670C3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5" y="3915"/>
                <a:ext cx="4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</a:rPr>
                  <a:t>1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3" name="Rectangle 133">
                <a:extLst>
                  <a:ext uri="{FF2B5EF4-FFF2-40B4-BE49-F238E27FC236}">
                    <a16:creationId xmlns:a16="http://schemas.microsoft.com/office/drawing/2014/main" id="{57CE71A1-C62D-A34D-836F-09441F784A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1" y="3719"/>
                <a:ext cx="3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4" name="Rectangle 134">
                <a:extLst>
                  <a:ext uri="{FF2B5EF4-FFF2-40B4-BE49-F238E27FC236}">
                    <a16:creationId xmlns:a16="http://schemas.microsoft.com/office/drawing/2014/main" id="{2DE0E817-2EB9-1D4B-AF5B-89F141CBB7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719"/>
                <a:ext cx="3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5" name="Rectangle 135">
                <a:extLst>
                  <a:ext uri="{FF2B5EF4-FFF2-40B4-BE49-F238E27FC236}">
                    <a16:creationId xmlns:a16="http://schemas.microsoft.com/office/drawing/2014/main" id="{03004E74-8759-E945-A138-B636A1040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1" y="3719"/>
                <a:ext cx="6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6" name="Rectangle 136">
                <a:extLst>
                  <a:ext uri="{FF2B5EF4-FFF2-40B4-BE49-F238E27FC236}">
                    <a16:creationId xmlns:a16="http://schemas.microsoft.com/office/drawing/2014/main" id="{93F10CFB-9F73-B241-86C5-6D1DEB0A7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719"/>
                <a:ext cx="6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</a:rPr>
                  <a:t>||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7" name="Rectangle 145">
                <a:extLst>
                  <a:ext uri="{FF2B5EF4-FFF2-40B4-BE49-F238E27FC236}">
                    <a16:creationId xmlns:a16="http://schemas.microsoft.com/office/drawing/2014/main" id="{AA43A31C-3C98-604D-8026-690150DBB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9" y="3701"/>
                <a:ext cx="8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8" name="Rectangle 146">
                <a:extLst>
                  <a:ext uri="{FF2B5EF4-FFF2-40B4-BE49-F238E27FC236}">
                    <a16:creationId xmlns:a16="http://schemas.microsoft.com/office/drawing/2014/main" id="{1472858F-813A-BD45-AF19-6CBE9F941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7" y="3660"/>
                <a:ext cx="133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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69" name="Rectangle 147">
                <a:extLst>
                  <a:ext uri="{FF2B5EF4-FFF2-40B4-BE49-F238E27FC236}">
                    <a16:creationId xmlns:a16="http://schemas.microsoft.com/office/drawing/2014/main" id="{31C1B49F-8E59-4148-ABF3-C8E11842B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907"/>
                <a:ext cx="48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1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70" name="Rectangle 148">
                <a:extLst>
                  <a:ext uri="{FF2B5EF4-FFF2-40B4-BE49-F238E27FC236}">
                    <a16:creationId xmlns:a16="http://schemas.microsoft.com/office/drawing/2014/main" id="{B4AD1664-89AE-6B47-A97B-F4A8FC3166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2" y="3641"/>
                <a:ext cx="6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900" b="0">
                    <a:solidFill>
                      <a:srgbClr val="FFFFCC"/>
                    </a:solidFill>
                    <a:latin typeface="MT Extra" pitchFamily="2" charset="77"/>
                  </a:rPr>
                  <a:t>v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49301" name="AutoShape 149">
                <a:extLst>
                  <a:ext uri="{FF2B5EF4-FFF2-40B4-BE49-F238E27FC236}">
                    <a16:creationId xmlns:a16="http://schemas.microsoft.com/office/drawing/2014/main" id="{D1C28ABA-C0B0-EA45-878B-E6EC3E6883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3600"/>
                <a:ext cx="720" cy="432"/>
              </a:xfrm>
              <a:prstGeom prst="bracketPair">
                <a:avLst>
                  <a:gd name="adj" fmla="val 16667"/>
                </a:avLst>
              </a:prstGeom>
              <a:noFill/>
              <a:ln w="12700">
                <a:solidFill>
                  <a:srgbClr val="FFFF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</p:grpSp>
      </p:grpSp>
      <p:grpSp>
        <p:nvGrpSpPr>
          <p:cNvPr id="49346" name="Group 194">
            <a:extLst>
              <a:ext uri="{FF2B5EF4-FFF2-40B4-BE49-F238E27FC236}">
                <a16:creationId xmlns:a16="http://schemas.microsoft.com/office/drawing/2014/main" id="{6276479C-DFC7-4044-8B1A-3480BD62FF5C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017838"/>
            <a:ext cx="2438400" cy="838200"/>
            <a:chOff x="480" y="3597"/>
            <a:chExt cx="1536" cy="528"/>
          </a:xfrm>
        </p:grpSpPr>
        <p:sp>
          <p:nvSpPr>
            <p:cNvPr id="49305" name="AutoShape 153" descr="深色木质">
              <a:extLst>
                <a:ext uri="{FF2B5EF4-FFF2-40B4-BE49-F238E27FC236}">
                  <a16:creationId xmlns:a16="http://schemas.microsoft.com/office/drawing/2014/main" id="{64F22A32-2438-E543-AA59-C85CCFBE3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597"/>
              <a:ext cx="1536" cy="528"/>
            </a:xfrm>
            <a:prstGeom prst="cube">
              <a:avLst>
                <a:gd name="adj" fmla="val 6019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altLang="zh-CN">
                <a:ea typeface="宋体" pitchFamily="2" charset="-122"/>
              </a:endParaRPr>
            </a:p>
          </p:txBody>
        </p:sp>
        <p:grpSp>
          <p:nvGrpSpPr>
            <p:cNvPr id="17433" name="Group 193">
              <a:extLst>
                <a:ext uri="{FF2B5EF4-FFF2-40B4-BE49-F238E27FC236}">
                  <a16:creationId xmlns:a16="http://schemas.microsoft.com/office/drawing/2014/main" id="{A006320D-D1B2-A94A-ACA3-6506471A42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648"/>
              <a:ext cx="1351" cy="387"/>
              <a:chOff x="2465" y="3624"/>
              <a:chExt cx="1351" cy="387"/>
            </a:xfrm>
          </p:grpSpPr>
          <p:sp>
            <p:nvSpPr>
              <p:cNvPr id="17434" name="Rectangle 177">
                <a:extLst>
                  <a:ext uri="{FF2B5EF4-FFF2-40B4-BE49-F238E27FC236}">
                    <a16:creationId xmlns:a16="http://schemas.microsoft.com/office/drawing/2014/main" id="{8220A3A9-D59F-F140-8A90-C2F2636D1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7" y="3716"/>
                <a:ext cx="39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</a:rPr>
                  <a:t>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35" name="Rectangle 178">
                <a:extLst>
                  <a:ext uri="{FF2B5EF4-FFF2-40B4-BE49-F238E27FC236}">
                    <a16:creationId xmlns:a16="http://schemas.microsoft.com/office/drawing/2014/main" id="{185C6764-33E3-3D40-AC62-5E21DAA18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5" y="3716"/>
                <a:ext cx="39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</a:rPr>
                  <a:t>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36" name="Rectangle 179">
                <a:extLst>
                  <a:ext uri="{FF2B5EF4-FFF2-40B4-BE49-F238E27FC236}">
                    <a16:creationId xmlns:a16="http://schemas.microsoft.com/office/drawing/2014/main" id="{D10A484D-35B8-3E42-BE89-918CC0479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9" y="3716"/>
                <a:ext cx="323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</a:rPr>
                  <a:t>max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37" name="Rectangle 180">
                <a:extLst>
                  <a:ext uri="{FF2B5EF4-FFF2-40B4-BE49-F238E27FC236}">
                    <a16:creationId xmlns:a16="http://schemas.microsoft.com/office/drawing/2014/main" id="{5AE2C959-B783-2444-9731-BF6CA9F3A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2" y="3716"/>
                <a:ext cx="7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</a:rPr>
                  <a:t>||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38" name="Rectangle 181">
                <a:extLst>
                  <a:ext uri="{FF2B5EF4-FFF2-40B4-BE49-F238E27FC236}">
                    <a16:creationId xmlns:a16="http://schemas.microsoft.com/office/drawing/2014/main" id="{14F453A1-6B94-2848-BD1A-4A742EF26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5" y="3716"/>
                <a:ext cx="7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</a:rPr>
                  <a:t>||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39" name="Rectangle 182">
                <a:extLst>
                  <a:ext uri="{FF2B5EF4-FFF2-40B4-BE49-F238E27FC236}">
                    <a16:creationId xmlns:a16="http://schemas.microsoft.com/office/drawing/2014/main" id="{F457160F-45B2-3A4C-B592-58F8FA479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6" y="3885"/>
                <a:ext cx="52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FFFFCC"/>
                    </a:solidFill>
                  </a:rPr>
                  <a:t>1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0" name="Rectangle 183">
                <a:extLst>
                  <a:ext uri="{FF2B5EF4-FFF2-40B4-BE49-F238E27FC236}">
                    <a16:creationId xmlns:a16="http://schemas.microsoft.com/office/drawing/2014/main" id="{B6B1D07A-DB4F-8F43-954B-FB0791106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5" y="3824"/>
                <a:ext cx="29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i="1">
                    <a:solidFill>
                      <a:srgbClr val="FFFFCC"/>
                    </a:solidFill>
                  </a:rPr>
                  <a:t>i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1" name="Rectangle 184">
                <a:extLst>
                  <a:ext uri="{FF2B5EF4-FFF2-40B4-BE49-F238E27FC236}">
                    <a16:creationId xmlns:a16="http://schemas.microsoft.com/office/drawing/2014/main" id="{94540870-23EC-1541-B0D1-EA4E21ADB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9" y="3886"/>
                <a:ext cx="58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i="1">
                    <a:solidFill>
                      <a:srgbClr val="FFFFCC"/>
                    </a:solidFill>
                  </a:rPr>
                  <a:t>n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2" name="Rectangle 185">
                <a:extLst>
                  <a:ext uri="{FF2B5EF4-FFF2-40B4-BE49-F238E27FC236}">
                    <a16:creationId xmlns:a16="http://schemas.microsoft.com/office/drawing/2014/main" id="{2C0F31D1-A2E8-284B-9BA6-0BB312DB6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5" y="3886"/>
                <a:ext cx="29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 i="1">
                    <a:solidFill>
                      <a:srgbClr val="FFFFCC"/>
                    </a:solidFill>
                  </a:rPr>
                  <a:t>i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3" name="Rectangle 186">
                <a:extLst>
                  <a:ext uri="{FF2B5EF4-FFF2-40B4-BE49-F238E27FC236}">
                    <a16:creationId xmlns:a16="http://schemas.microsoft.com/office/drawing/2014/main" id="{30DE1EA9-31AC-C541-B56C-4F4365DC3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0" y="3716"/>
                <a:ext cx="8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rgbClr val="FFFFCC"/>
                    </a:solidFill>
                  </a:rPr>
                  <a:t>x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4" name="Rectangle 187">
                <a:extLst>
                  <a:ext uri="{FF2B5EF4-FFF2-40B4-BE49-F238E27FC236}">
                    <a16:creationId xmlns:a16="http://schemas.microsoft.com/office/drawing/2014/main" id="{70AEE827-B982-544B-825A-CFF447418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4" y="3716"/>
                <a:ext cx="88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i="1">
                    <a:solidFill>
                      <a:srgbClr val="FFFFCC"/>
                    </a:solidFill>
                  </a:rPr>
                  <a:t>x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5" name="Rectangle 188">
                <a:extLst>
                  <a:ext uri="{FF2B5EF4-FFF2-40B4-BE49-F238E27FC236}">
                    <a16:creationId xmlns:a16="http://schemas.microsoft.com/office/drawing/2014/main" id="{9B39A3F1-6F4F-E940-A680-4884F2DEAD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7" y="3875"/>
                <a:ext cx="57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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6" name="Rectangle 189">
                <a:extLst>
                  <a:ext uri="{FF2B5EF4-FFF2-40B4-BE49-F238E27FC236}">
                    <a16:creationId xmlns:a16="http://schemas.microsoft.com/office/drawing/2014/main" id="{AE0A1CF9-051D-0046-AF16-BB951FA81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3" y="3875"/>
                <a:ext cx="57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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7" name="Rectangle 190">
                <a:extLst>
                  <a:ext uri="{FF2B5EF4-FFF2-40B4-BE49-F238E27FC236}">
                    <a16:creationId xmlns:a16="http://schemas.microsoft.com/office/drawing/2014/main" id="{10EFF779-7D14-114D-B9C5-DFD7F45C2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7" y="3813"/>
                <a:ext cx="74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1300">
                    <a:solidFill>
                      <a:srgbClr val="FFFFCC"/>
                    </a:solidFill>
                    <a:latin typeface="Symbol" pitchFamily="2" charset="2"/>
                    <a:sym typeface="Symbol" pitchFamily="2" charset="2"/>
                  </a:rPr>
                  <a:t>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8" name="Rectangle 191">
                <a:extLst>
                  <a:ext uri="{FF2B5EF4-FFF2-40B4-BE49-F238E27FC236}">
                    <a16:creationId xmlns:a16="http://schemas.microsoft.com/office/drawing/2014/main" id="{781F50E1-FB07-5449-9B0A-E565EC43C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8" y="3695"/>
                <a:ext cx="97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>
                    <a:solidFill>
                      <a:srgbClr val="FFFFCC"/>
                    </a:solidFill>
                    <a:latin typeface="Symbol" pitchFamily="2" charset="2"/>
                  </a:rPr>
                  <a:t>=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  <p:sp>
            <p:nvSpPr>
              <p:cNvPr id="17449" name="Rectangle 192">
                <a:extLst>
                  <a:ext uri="{FF2B5EF4-FFF2-40B4-BE49-F238E27FC236}">
                    <a16:creationId xmlns:a16="http://schemas.microsoft.com/office/drawing/2014/main" id="{3752A420-4DFF-6647-BA02-611F2AB8F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7" y="3624"/>
                <a:ext cx="72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2200" b="0">
                    <a:solidFill>
                      <a:srgbClr val="FFFFCC"/>
                    </a:solidFill>
                    <a:latin typeface="MT Extra" pitchFamily="2" charset="77"/>
                  </a:rPr>
                  <a:t>v</a:t>
                </a:r>
                <a:endParaRPr lang="en-US" altLang="zh-CN" b="0">
                  <a:solidFill>
                    <a:srgbClr val="FFFFCC"/>
                  </a:solidFill>
                </a:endParaRPr>
              </a:p>
            </p:txBody>
          </p:sp>
        </p:grpSp>
      </p:grpSp>
      <p:grpSp>
        <p:nvGrpSpPr>
          <p:cNvPr id="49349" name="Group 197">
            <a:extLst>
              <a:ext uri="{FF2B5EF4-FFF2-40B4-BE49-F238E27FC236}">
                <a16:creationId xmlns:a16="http://schemas.microsoft.com/office/drawing/2014/main" id="{4D434D20-7230-3F45-88EB-47994D5A9B73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022600"/>
            <a:ext cx="3886200" cy="838200"/>
            <a:chOff x="2256" y="3600"/>
            <a:chExt cx="2448" cy="528"/>
          </a:xfrm>
        </p:grpSpPr>
        <p:sp>
          <p:nvSpPr>
            <p:cNvPr id="49347" name="AutoShape 195" descr="再生纸">
              <a:extLst>
                <a:ext uri="{FF2B5EF4-FFF2-40B4-BE49-F238E27FC236}">
                  <a16:creationId xmlns:a16="http://schemas.microsoft.com/office/drawing/2014/main" id="{2972BFFB-AA07-6E4F-87E5-C4D608D7D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600"/>
              <a:ext cx="2448" cy="528"/>
            </a:xfrm>
            <a:prstGeom prst="roundRect">
              <a:avLst>
                <a:gd name="adj" fmla="val 16667"/>
              </a:avLst>
            </a:prstGeom>
            <a:blipFill dpi="0" rotWithShape="0">
              <a:blip r:embed="rId8"/>
              <a:srcRect/>
              <a:tile tx="0" ty="0" sx="100000" sy="100000" flip="none" algn="tl"/>
            </a:blipFill>
            <a:ln>
              <a:noFill/>
            </a:ln>
            <a:effectLst>
              <a:prstShdw prst="shdw17" dist="17961" dir="2700000">
                <a:srgbClr val="999999">
                  <a:alpha val="74997"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9933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itchFamily="2" charset="-122"/>
                </a:rPr>
                <a:t>注：</a:t>
              </a:r>
              <a:endParaRPr lang="en-US" altLang="zh-CN" sz="2400">
                <a:ea typeface="宋体" pitchFamily="2" charset="-122"/>
              </a:endParaRPr>
            </a:p>
          </p:txBody>
        </p:sp>
        <p:graphicFrame>
          <p:nvGraphicFramePr>
            <p:cNvPr id="17431" name="Object 196">
              <a:extLst>
                <a:ext uri="{FF2B5EF4-FFF2-40B4-BE49-F238E27FC236}">
                  <a16:creationId xmlns:a16="http://schemas.microsoft.com/office/drawing/2014/main" id="{E7FCFA8F-304C-E54A-AB25-B4EBDCD2AC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3696"/>
            <a:ext cx="1747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5742900" imgH="6731000" progId="Equation.3">
                    <p:embed/>
                  </p:oleObj>
                </mc:Choice>
                <mc:Fallback>
                  <p:oleObj name="Equation" r:id="rId9" imgW="25742900" imgH="6731000" progId="Equation.3">
                    <p:embed/>
                    <p:pic>
                      <p:nvPicPr>
                        <p:cNvPr id="17431" name="Object 196">
                          <a:extLst>
                            <a:ext uri="{FF2B5EF4-FFF2-40B4-BE49-F238E27FC236}">
                              <a16:creationId xmlns:a16="http://schemas.microsoft.com/office/drawing/2014/main" id="{E7FCFA8F-304C-E54A-AB25-B4EBDCD2AC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696"/>
                          <a:ext cx="1747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" name="Text Box 4">
            <a:extLst>
              <a:ext uri="{FF2B5EF4-FFF2-40B4-BE49-F238E27FC236}">
                <a16:creationId xmlns:a16="http://schemas.microsoft.com/office/drawing/2014/main" id="{0EC57A1A-1D4B-2248-9F25-0887649A4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70350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zh-CN" sz="2400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 </a:t>
            </a:r>
            <a:r>
              <a:rPr lang="zh-CN" altLang="en-US" sz="2400">
                <a:latin typeface="楷体_GB2312" charset="0"/>
              </a:rPr>
              <a:t>向量范数</a:t>
            </a:r>
            <a:r>
              <a:rPr lang="en-US" altLang="zh-CN" sz="2400">
                <a:latin typeface="楷体_GB2312" charset="0"/>
              </a:rPr>
              <a:t> </a:t>
            </a:r>
            <a:r>
              <a:rPr lang="en-US" altLang="zh-CN" sz="2000">
                <a:solidFill>
                  <a:srgbClr val="008000"/>
                </a:solidFill>
                <a:latin typeface="Arial" pitchFamily="34" charset="0"/>
              </a:rPr>
              <a:t>/* vector norms */</a:t>
            </a:r>
            <a:endParaRPr lang="en-US" altLang="zh-CN" sz="2400">
              <a:latin typeface="楷体_GB2312" charset="0"/>
            </a:endParaRPr>
          </a:p>
        </p:txBody>
      </p:sp>
      <p:grpSp>
        <p:nvGrpSpPr>
          <p:cNvPr id="106" name="Group 18">
            <a:extLst>
              <a:ext uri="{FF2B5EF4-FFF2-40B4-BE49-F238E27FC236}">
                <a16:creationId xmlns:a16="http://schemas.microsoft.com/office/drawing/2014/main" id="{6522439D-8222-DD46-84A9-750953A6B27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603750"/>
            <a:ext cx="8943975" cy="2138363"/>
            <a:chOff x="240" y="1725"/>
            <a:chExt cx="5328" cy="1347"/>
          </a:xfrm>
        </p:grpSpPr>
        <p:sp>
          <p:nvSpPr>
            <p:cNvPr id="107" name="AutoShape 6" descr="水滴">
              <a:extLst>
                <a:ext uri="{FF2B5EF4-FFF2-40B4-BE49-F238E27FC236}">
                  <a16:creationId xmlns:a16="http://schemas.microsoft.com/office/drawing/2014/main" id="{41F0EF09-F666-BF4E-B32E-DB5516A34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725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11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108" name="Text Box 7">
              <a:extLst>
                <a:ext uri="{FF2B5EF4-FFF2-40B4-BE49-F238E27FC236}">
                  <a16:creationId xmlns:a16="http://schemas.microsoft.com/office/drawing/2014/main" id="{815FB888-F55C-7A44-91B4-AFC1B2A7E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728"/>
              <a:ext cx="518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sz="2400"/>
                <a:t>　　　    </a:t>
              </a:r>
              <a:r>
                <a:rPr lang="en-US" altLang="zh-CN" sz="2400" i="1"/>
                <a:t>R</a:t>
              </a:r>
              <a:r>
                <a:rPr lang="en-US" altLang="zh-CN" sz="2400" i="1" baseline="30000"/>
                <a:t>n</a:t>
              </a:r>
              <a:r>
                <a:rPr lang="zh-CN" altLang="en-US" sz="2400">
                  <a:latin typeface="楷体_GB2312" charset="0"/>
                </a:rPr>
                <a:t>空间的</a:t>
              </a:r>
              <a:r>
                <a:rPr lang="zh-CN" altLang="en-US" sz="2400">
                  <a:solidFill>
                    <a:schemeClr val="accent2"/>
                  </a:solidFill>
                  <a:latin typeface="楷体_GB2312" charset="0"/>
                </a:rPr>
                <a:t>向量范数</a:t>
              </a:r>
              <a:r>
                <a:rPr lang="en-US" altLang="zh-CN" sz="2400"/>
                <a:t> || · || </a:t>
              </a:r>
              <a:r>
                <a:rPr lang="zh-CN" altLang="en-US" sz="2400">
                  <a:latin typeface="楷体_GB2312" charset="0"/>
                </a:rPr>
                <a:t>对任意</a:t>
              </a:r>
              <a:r>
                <a:rPr lang="en-US" altLang="zh-CN" sz="2400">
                  <a:latin typeface="楷体_GB2312" charset="0"/>
                </a:rPr>
                <a:t>               </a:t>
              </a:r>
              <a:r>
                <a:rPr lang="zh-CN" altLang="en-US" sz="2400">
                  <a:latin typeface="楷体_GB2312" charset="0"/>
                </a:rPr>
                <a:t>满足下列条件：</a:t>
              </a:r>
              <a:endParaRPr lang="en-US" altLang="zh-CN" sz="2400">
                <a:solidFill>
                  <a:srgbClr val="008000"/>
                </a:solidFill>
                <a:latin typeface="楷体_GB2312" charset="0"/>
              </a:endParaRPr>
            </a:p>
          </p:txBody>
        </p:sp>
        <p:graphicFrame>
          <p:nvGraphicFramePr>
            <p:cNvPr id="17421" name="Object 9">
              <a:extLst>
                <a:ext uri="{FF2B5EF4-FFF2-40B4-BE49-F238E27FC236}">
                  <a16:creationId xmlns:a16="http://schemas.microsoft.com/office/drawing/2014/main" id="{6C859C39-9AAE-AB4C-8B0F-BB040BAE76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93" y="1824"/>
            <a:ext cx="68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4338300" imgH="5270500" progId="Equation.3">
                    <p:embed/>
                  </p:oleObj>
                </mc:Choice>
                <mc:Fallback>
                  <p:oleObj name="Equation" r:id="rId12" imgW="14338300" imgH="5270500" progId="Equation.3">
                    <p:embed/>
                    <p:pic>
                      <p:nvPicPr>
                        <p:cNvPr id="17421" name="Object 9">
                          <a:extLst>
                            <a:ext uri="{FF2B5EF4-FFF2-40B4-BE49-F238E27FC236}">
                              <a16:creationId xmlns:a16="http://schemas.microsoft.com/office/drawing/2014/main" id="{6C859C39-9AAE-AB4C-8B0F-BB040BAE76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3" y="1824"/>
                          <a:ext cx="68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2" name="Object 10">
              <a:extLst>
                <a:ext uri="{FF2B5EF4-FFF2-40B4-BE49-F238E27FC236}">
                  <a16:creationId xmlns:a16="http://schemas.microsoft.com/office/drawing/2014/main" id="{AF2859CB-FAE7-4242-8D5C-919150A8CD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2112"/>
            <a:ext cx="2635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0025300" imgH="5270500" progId="Equation.3">
                    <p:embed/>
                  </p:oleObj>
                </mc:Choice>
                <mc:Fallback>
                  <p:oleObj name="Equation" r:id="rId14" imgW="50025300" imgH="5270500" progId="Equation.3">
                    <p:embed/>
                    <p:pic>
                      <p:nvPicPr>
                        <p:cNvPr id="17422" name="Object 10">
                          <a:extLst>
                            <a:ext uri="{FF2B5EF4-FFF2-40B4-BE49-F238E27FC236}">
                              <a16:creationId xmlns:a16="http://schemas.microsoft.com/office/drawing/2014/main" id="{AF2859CB-FAE7-4242-8D5C-919150A8CD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112"/>
                          <a:ext cx="2635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" name="Text Box 11">
              <a:extLst>
                <a:ext uri="{FF2B5EF4-FFF2-40B4-BE49-F238E27FC236}">
                  <a16:creationId xmlns:a16="http://schemas.microsoft.com/office/drawing/2014/main" id="{8DDA508B-65AF-2E45-B889-6B2BE268C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112"/>
              <a:ext cx="2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正定性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itchFamily="34" charset="0"/>
                  <a:ea typeface="宋体" pitchFamily="2" charset="-122"/>
                </a:rPr>
                <a:t>/* positive definite */ </a:t>
              </a:r>
              <a:r>
                <a:rPr lang="en-US" altLang="zh-CN" sz="2400">
                  <a:ea typeface="宋体" pitchFamily="2" charset="-122"/>
                </a:rPr>
                <a:t>)</a:t>
              </a:r>
            </a:p>
          </p:txBody>
        </p:sp>
        <p:graphicFrame>
          <p:nvGraphicFramePr>
            <p:cNvPr id="17424" name="Object 12">
              <a:extLst>
                <a:ext uri="{FF2B5EF4-FFF2-40B4-BE49-F238E27FC236}">
                  <a16:creationId xmlns:a16="http://schemas.microsoft.com/office/drawing/2014/main" id="{73D7392E-D839-7A4E-A1D7-32BDB0BDE6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2448"/>
            <a:ext cx="172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4226500" imgH="4686300" progId="Equation.3">
                    <p:embed/>
                  </p:oleObj>
                </mc:Choice>
                <mc:Fallback>
                  <p:oleObj name="Equation" r:id="rId16" imgW="34226500" imgH="4686300" progId="Equation.3">
                    <p:embed/>
                    <p:pic>
                      <p:nvPicPr>
                        <p:cNvPr id="17424" name="Object 12">
                          <a:extLst>
                            <a:ext uri="{FF2B5EF4-FFF2-40B4-BE49-F238E27FC236}">
                              <a16:creationId xmlns:a16="http://schemas.microsoft.com/office/drawing/2014/main" id="{73D7392E-D839-7A4E-A1D7-32BDB0BDE6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448"/>
                          <a:ext cx="172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5" name="Object 13">
              <a:extLst>
                <a:ext uri="{FF2B5EF4-FFF2-40B4-BE49-F238E27FC236}">
                  <a16:creationId xmlns:a16="http://schemas.microsoft.com/office/drawing/2014/main" id="{14406840-C722-F644-8E09-70B7425E2D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2496"/>
            <a:ext cx="38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9359900" imgH="4102100" progId="Equation.3">
                    <p:embed/>
                  </p:oleObj>
                </mc:Choice>
                <mc:Fallback>
                  <p:oleObj name="Equation" r:id="rId18" imgW="9359900" imgH="4102100" progId="Equation.3">
                    <p:embed/>
                    <p:pic>
                      <p:nvPicPr>
                        <p:cNvPr id="17425" name="Object 13">
                          <a:extLst>
                            <a:ext uri="{FF2B5EF4-FFF2-40B4-BE49-F238E27FC236}">
                              <a16:creationId xmlns:a16="http://schemas.microsoft.com/office/drawing/2014/main" id="{14406840-C722-F644-8E09-70B7425E2D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2496"/>
                          <a:ext cx="38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" name="Text Box 14">
              <a:extLst>
                <a:ext uri="{FF2B5EF4-FFF2-40B4-BE49-F238E27FC236}">
                  <a16:creationId xmlns:a16="http://schemas.microsoft.com/office/drawing/2014/main" id="{B1235CF1-75B2-8149-B5C4-E2B92F699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448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/>
                <a:t>对任意</a:t>
              </a:r>
              <a:endParaRPr lang="en-US" altLang="zh-CN" sz="2400"/>
            </a:p>
          </p:txBody>
        </p:sp>
        <p:sp>
          <p:nvSpPr>
            <p:cNvPr id="115" name="Text Box 15">
              <a:extLst>
                <a:ext uri="{FF2B5EF4-FFF2-40B4-BE49-F238E27FC236}">
                  <a16:creationId xmlns:a16="http://schemas.microsoft.com/office/drawing/2014/main" id="{F95F60A1-A1BB-EC40-9238-5F23467C0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448"/>
              <a:ext cx="23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/>
                <a:t>(</a:t>
              </a:r>
              <a:r>
                <a:rPr lang="zh-CN" altLang="en-US" sz="2400">
                  <a:solidFill>
                    <a:schemeClr val="accent2"/>
                  </a:solidFill>
                </a:rPr>
                <a:t>齐次性</a:t>
              </a:r>
              <a:r>
                <a:rPr lang="en-US" altLang="zh-CN" sz="2400"/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anose="020B0604020202020204" pitchFamily="34" charset="0"/>
                </a:rPr>
                <a:t>/* homogeneous */</a:t>
              </a:r>
              <a:r>
                <a:rPr lang="en-US" altLang="zh-CN" sz="2400"/>
                <a:t> ) </a:t>
              </a:r>
            </a:p>
          </p:txBody>
        </p:sp>
        <p:graphicFrame>
          <p:nvGraphicFramePr>
            <p:cNvPr id="17428" name="Object 16">
              <a:extLst>
                <a:ext uri="{FF2B5EF4-FFF2-40B4-BE49-F238E27FC236}">
                  <a16:creationId xmlns:a16="http://schemas.microsoft.com/office/drawing/2014/main" id="{D9BBB336-7782-AB47-873E-F39BED9E83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2784"/>
            <a:ext cx="201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9497000" imgH="4686300" progId="Equation.3">
                    <p:embed/>
                  </p:oleObj>
                </mc:Choice>
                <mc:Fallback>
                  <p:oleObj name="Equation" r:id="rId20" imgW="39497000" imgH="4686300" progId="Equation.3">
                    <p:embed/>
                    <p:pic>
                      <p:nvPicPr>
                        <p:cNvPr id="17428" name="Object 16">
                          <a:extLst>
                            <a:ext uri="{FF2B5EF4-FFF2-40B4-BE49-F238E27FC236}">
                              <a16:creationId xmlns:a16="http://schemas.microsoft.com/office/drawing/2014/main" id="{D9BBB336-7782-AB47-873E-F39BED9E83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784"/>
                          <a:ext cx="201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7" name="Text Box 17">
              <a:extLst>
                <a:ext uri="{FF2B5EF4-FFF2-40B4-BE49-F238E27FC236}">
                  <a16:creationId xmlns:a16="http://schemas.microsoft.com/office/drawing/2014/main" id="{AD733790-2478-4B47-B13B-2714EF7AE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784"/>
              <a:ext cx="3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latin typeface="楷体_GB2312" charset="0"/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latin typeface="楷体_GB2312" charset="0"/>
                  <a:ea typeface="宋体" pitchFamily="2" charset="-122"/>
                </a:rPr>
                <a:t>三角不等式</a:t>
              </a:r>
              <a:r>
                <a:rPr lang="en-US" altLang="zh-CN" sz="2400">
                  <a:latin typeface="楷体_GB2312" charset="0"/>
                  <a:ea typeface="宋体" pitchFamily="2" charset="-122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itchFamily="34" charset="0"/>
                  <a:ea typeface="宋体" pitchFamily="2" charset="-122"/>
                </a:rPr>
                <a:t>/* triangle inequality */</a:t>
              </a:r>
              <a:r>
                <a:rPr lang="en-US" altLang="zh-CN" sz="2400">
                  <a:ea typeface="宋体" pitchFamily="2" charset="-122"/>
                </a:rPr>
                <a:t> 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211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3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3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93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9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93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/>
      <p:bldP spid="10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9346F87-F398-B046-BE9F-42542B22B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0"/>
            <a:ext cx="5486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§1  Norms of Vectors and Matrices – Vector Norms</a:t>
            </a:r>
          </a:p>
        </p:txBody>
      </p:sp>
      <p:grpSp>
        <p:nvGrpSpPr>
          <p:cNvPr id="50194" name="Group 18">
            <a:extLst>
              <a:ext uri="{FF2B5EF4-FFF2-40B4-BE49-F238E27FC236}">
                <a16:creationId xmlns:a16="http://schemas.microsoft.com/office/drawing/2014/main" id="{1149CCAC-D3E8-AD4E-93DF-072C8610A50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03238"/>
            <a:ext cx="8305800" cy="1152525"/>
            <a:chOff x="240" y="317"/>
            <a:chExt cx="5232" cy="726"/>
          </a:xfrm>
        </p:grpSpPr>
        <p:sp>
          <p:nvSpPr>
            <p:cNvPr id="50180" name="AutoShape 4" descr="水滴">
              <a:extLst>
                <a:ext uri="{FF2B5EF4-FFF2-40B4-BE49-F238E27FC236}">
                  <a16:creationId xmlns:a16="http://schemas.microsoft.com/office/drawing/2014/main" id="{8C65E037-BB78-8E45-B6C4-113BDC872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36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0181" name="Text Box 5">
              <a:extLst>
                <a:ext uri="{FF2B5EF4-FFF2-40B4-BE49-F238E27FC236}">
                  <a16:creationId xmlns:a16="http://schemas.microsoft.com/office/drawing/2014/main" id="{FEAE794E-8FFB-404D-866F-CD7E2A184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17"/>
              <a:ext cx="5232" cy="7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sz="2400"/>
                <a:t>　　　    向量序列</a:t>
              </a:r>
              <a:r>
                <a:rPr lang="en-US" altLang="zh-CN" sz="2400"/>
                <a:t>         </a:t>
              </a:r>
              <a:r>
                <a:rPr lang="zh-CN" altLang="en-US" sz="2400">
                  <a:solidFill>
                    <a:schemeClr val="accent2"/>
                  </a:solidFill>
                </a:rPr>
                <a:t>收敛</a:t>
              </a:r>
              <a:r>
                <a:rPr lang="zh-CN" altLang="en-US" sz="2400"/>
                <a:t>于向量</a:t>
              </a:r>
              <a:r>
                <a:rPr lang="en-US" altLang="zh-CN" sz="2400"/>
                <a:t>            </a:t>
              </a:r>
              <a:r>
                <a:rPr lang="zh-CN" altLang="en-US" sz="2400"/>
                <a:t>是指对每一个</a:t>
              </a:r>
              <a:r>
                <a:rPr lang="en-US" altLang="zh-CN" sz="2400"/>
                <a:t> </a:t>
              </a:r>
              <a:r>
                <a:rPr lang="en-US" altLang="zh-CN" sz="2000"/>
                <a:t>1 </a:t>
              </a:r>
              <a:r>
                <a:rPr lang="en-US" altLang="zh-CN" sz="2000">
                  <a:sym typeface="Symbol" pitchFamily="2" charset="2"/>
                </a:rPr>
                <a:t> </a:t>
              </a:r>
              <a:r>
                <a:rPr lang="en-US" altLang="zh-CN" sz="2000" i="1">
                  <a:sym typeface="Symbol" pitchFamily="2" charset="2"/>
                </a:rPr>
                <a:t>i </a:t>
              </a:r>
              <a:r>
                <a:rPr lang="en-US" altLang="zh-CN" sz="2000">
                  <a:sym typeface="Symbol" pitchFamily="2" charset="2"/>
                </a:rPr>
                <a:t> </a:t>
              </a:r>
              <a:r>
                <a:rPr lang="en-US" altLang="zh-CN" sz="2000" i="1">
                  <a:sym typeface="Symbol" pitchFamily="2" charset="2"/>
                </a:rPr>
                <a:t>n  </a:t>
              </a:r>
              <a:r>
                <a:rPr lang="zh-CN" altLang="en-US" sz="2400"/>
                <a:t>都有</a:t>
              </a:r>
              <a:r>
                <a:rPr lang="en-US" altLang="zh-CN" sz="2400"/>
                <a:t>                        </a:t>
              </a:r>
            </a:p>
          </p:txBody>
        </p:sp>
        <p:graphicFrame>
          <p:nvGraphicFramePr>
            <p:cNvPr id="18454" name="Object 15">
              <a:extLst>
                <a:ext uri="{FF2B5EF4-FFF2-40B4-BE49-F238E27FC236}">
                  <a16:creationId xmlns:a16="http://schemas.microsoft.com/office/drawing/2014/main" id="{1BF8B3FD-47B9-464E-9688-9F16B59F6C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384"/>
            <a:ext cx="41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652000" imgH="5270500" progId="Equation.3">
                    <p:embed/>
                  </p:oleObj>
                </mc:Choice>
                <mc:Fallback>
                  <p:oleObj name="Equation" r:id="rId6" imgW="9652000" imgH="5270500" progId="Equation.3">
                    <p:embed/>
                    <p:pic>
                      <p:nvPicPr>
                        <p:cNvPr id="18454" name="Object 15">
                          <a:extLst>
                            <a:ext uri="{FF2B5EF4-FFF2-40B4-BE49-F238E27FC236}">
                              <a16:creationId xmlns:a16="http://schemas.microsoft.com/office/drawing/2014/main" id="{1BF8B3FD-47B9-464E-9688-9F16B59F6C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84"/>
                          <a:ext cx="41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5" name="Object 16">
              <a:extLst>
                <a:ext uri="{FF2B5EF4-FFF2-40B4-BE49-F238E27FC236}">
                  <a16:creationId xmlns:a16="http://schemas.microsoft.com/office/drawing/2014/main" id="{FE696C3A-E1FD-2342-8377-56CF9FDD9C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3" y="413"/>
            <a:ext cx="27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270500" imgH="4102100" progId="Equation.3">
                    <p:embed/>
                  </p:oleObj>
                </mc:Choice>
                <mc:Fallback>
                  <p:oleObj name="Equation" r:id="rId8" imgW="5270500" imgH="4102100" progId="Equation.3">
                    <p:embed/>
                    <p:pic>
                      <p:nvPicPr>
                        <p:cNvPr id="18455" name="Object 16">
                          <a:extLst>
                            <a:ext uri="{FF2B5EF4-FFF2-40B4-BE49-F238E27FC236}">
                              <a16:creationId xmlns:a16="http://schemas.microsoft.com/office/drawing/2014/main" id="{FE696C3A-E1FD-2342-8377-56CF9FDD9C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3" y="413"/>
                          <a:ext cx="27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6" name="Object 17">
              <a:extLst>
                <a:ext uri="{FF2B5EF4-FFF2-40B4-BE49-F238E27FC236}">
                  <a16:creationId xmlns:a16="http://schemas.microsoft.com/office/drawing/2014/main" id="{7A3A0325-5C4B-E843-9651-8321155E0E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84" y="709"/>
            <a:ext cx="1139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011900" imgH="6731000" progId="Equation.3">
                    <p:embed/>
                  </p:oleObj>
                </mc:Choice>
                <mc:Fallback>
                  <p:oleObj name="Equation" r:id="rId10" imgW="19011900" imgH="6731000" progId="Equation.3">
                    <p:embed/>
                    <p:pic>
                      <p:nvPicPr>
                        <p:cNvPr id="18456" name="Object 17">
                          <a:extLst>
                            <a:ext uri="{FF2B5EF4-FFF2-40B4-BE49-F238E27FC236}">
                              <a16:creationId xmlns:a16="http://schemas.microsoft.com/office/drawing/2014/main" id="{7A3A0325-5C4B-E843-9651-8321155E0E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709"/>
                          <a:ext cx="1139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197" name="Group 21">
            <a:extLst>
              <a:ext uri="{FF2B5EF4-FFF2-40B4-BE49-F238E27FC236}">
                <a16:creationId xmlns:a16="http://schemas.microsoft.com/office/drawing/2014/main" id="{A01DC441-7B87-EB4B-B728-898444EEDDD0}"/>
              </a:ext>
            </a:extLst>
          </p:cNvPr>
          <p:cNvGrpSpPr>
            <a:grpSpLocks/>
          </p:cNvGrpSpPr>
          <p:nvPr/>
        </p:nvGrpSpPr>
        <p:grpSpPr bwMode="auto">
          <a:xfrm>
            <a:off x="3683000" y="1143000"/>
            <a:ext cx="3841750" cy="461963"/>
            <a:chOff x="1824" y="720"/>
            <a:chExt cx="2420" cy="291"/>
          </a:xfrm>
        </p:grpSpPr>
        <p:sp>
          <p:nvSpPr>
            <p:cNvPr id="50195" name="Text Box 19">
              <a:extLst>
                <a:ext uri="{FF2B5EF4-FFF2-40B4-BE49-F238E27FC236}">
                  <a16:creationId xmlns:a16="http://schemas.microsoft.com/office/drawing/2014/main" id="{31E53220-DD98-E842-B442-2DA97BB80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720"/>
              <a:ext cx="11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/>
                <a:t>可以理解为</a:t>
              </a:r>
              <a:endParaRPr lang="en-US" altLang="zh-CN" sz="2400"/>
            </a:p>
          </p:txBody>
        </p:sp>
        <p:graphicFrame>
          <p:nvGraphicFramePr>
            <p:cNvPr id="18451" name="Object 20">
              <a:extLst>
                <a:ext uri="{FF2B5EF4-FFF2-40B4-BE49-F238E27FC236}">
                  <a16:creationId xmlns:a16="http://schemas.microsoft.com/office/drawing/2014/main" id="{98A5B55B-89D1-144D-8FE3-0B9E553707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4" y="720"/>
            <a:ext cx="132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028700" imgH="228600" progId="Equation.3">
                    <p:embed/>
                  </p:oleObj>
                </mc:Choice>
                <mc:Fallback>
                  <p:oleObj name="Equation" r:id="rId12" imgW="1028700" imgH="228600" progId="Equation.3">
                    <p:embed/>
                    <p:pic>
                      <p:nvPicPr>
                        <p:cNvPr id="18451" name="Object 20">
                          <a:extLst>
                            <a:ext uri="{FF2B5EF4-FFF2-40B4-BE49-F238E27FC236}">
                              <a16:creationId xmlns:a16="http://schemas.microsoft.com/office/drawing/2014/main" id="{98A5B55B-89D1-144D-8FE3-0B9E553707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4" y="720"/>
                          <a:ext cx="132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206" name="Group 30">
            <a:extLst>
              <a:ext uri="{FF2B5EF4-FFF2-40B4-BE49-F238E27FC236}">
                <a16:creationId xmlns:a16="http://schemas.microsoft.com/office/drawing/2014/main" id="{3BC136AC-0DB1-E945-927A-D7E0E511A1E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8305800" cy="1131888"/>
            <a:chOff x="288" y="1171"/>
            <a:chExt cx="5232" cy="713"/>
          </a:xfrm>
        </p:grpSpPr>
        <p:sp>
          <p:nvSpPr>
            <p:cNvPr id="50199" name="AutoShape 23" descr="水滴">
              <a:extLst>
                <a:ext uri="{FF2B5EF4-FFF2-40B4-BE49-F238E27FC236}">
                  <a16:creationId xmlns:a16="http://schemas.microsoft.com/office/drawing/2014/main" id="{38EB7BE0-1034-AC4A-A70F-8F9E36872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171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0200" name="Text Box 24">
              <a:extLst>
                <a:ext uri="{FF2B5EF4-FFF2-40B4-BE49-F238E27FC236}">
                  <a16:creationId xmlns:a16="http://schemas.microsoft.com/office/drawing/2014/main" id="{37702D96-25BA-A940-8052-BAF55719B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174"/>
              <a:ext cx="5232" cy="7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sz="2400"/>
                <a:t>　　　    若存在常数</a:t>
              </a:r>
              <a:r>
                <a:rPr lang="en-US" altLang="zh-CN" sz="2400" i="1"/>
                <a:t>C </a:t>
              </a:r>
              <a:r>
                <a:rPr lang="en-US" altLang="zh-CN" sz="2400"/>
                <a:t>&gt; 0</a:t>
              </a:r>
              <a:r>
                <a:rPr lang="en-US" altLang="zh-CN" sz="2400" i="1"/>
                <a:t> </a:t>
              </a:r>
              <a:r>
                <a:rPr lang="zh-CN" altLang="en-US" sz="2400"/>
                <a:t>使得对任意</a:t>
              </a:r>
              <a:r>
                <a:rPr lang="en-US" altLang="zh-CN" sz="2400"/>
                <a:t>             </a:t>
              </a:r>
              <a:r>
                <a:rPr lang="zh-CN" altLang="en-US" sz="2400"/>
                <a:t>有</a:t>
              </a:r>
              <a:r>
                <a:rPr lang="en-US" altLang="zh-CN" sz="2400"/>
                <a:t>                       , </a:t>
              </a:r>
              <a:r>
                <a:rPr lang="zh-CN" altLang="en-US" sz="2400"/>
                <a:t>则称</a:t>
              </a:r>
              <a:r>
                <a:rPr lang="zh-CN" altLang="en-US" sz="2400">
                  <a:solidFill>
                    <a:schemeClr val="accent2"/>
                  </a:solidFill>
                </a:rPr>
                <a:t>范数</a:t>
              </a:r>
              <a:r>
                <a:rPr lang="en-US" altLang="zh-CN" sz="2400">
                  <a:solidFill>
                    <a:schemeClr val="accent2"/>
                  </a:solidFill>
                </a:rPr>
                <a:t> || · ||</a:t>
              </a:r>
              <a:r>
                <a:rPr lang="en-US" altLang="zh-CN" sz="2400" i="1" baseline="-25000">
                  <a:solidFill>
                    <a:schemeClr val="accent2"/>
                  </a:solidFill>
                </a:rPr>
                <a:t>A</a:t>
              </a:r>
              <a:r>
                <a:rPr lang="en-US" altLang="zh-CN" sz="2400">
                  <a:solidFill>
                    <a:schemeClr val="accent2"/>
                  </a:solidFill>
                </a:rPr>
                <a:t> </a:t>
              </a:r>
              <a:r>
                <a:rPr lang="zh-CN" altLang="en-US" sz="2400">
                  <a:solidFill>
                    <a:schemeClr val="accent2"/>
                  </a:solidFill>
                </a:rPr>
                <a:t>比范数</a:t>
              </a:r>
              <a:r>
                <a:rPr lang="en-US" altLang="zh-CN" sz="2400">
                  <a:solidFill>
                    <a:schemeClr val="accent2"/>
                  </a:solidFill>
                </a:rPr>
                <a:t> || · ||</a:t>
              </a:r>
              <a:r>
                <a:rPr lang="en-US" altLang="zh-CN" sz="2400" i="1" baseline="-25000">
                  <a:solidFill>
                    <a:schemeClr val="accent2"/>
                  </a:solidFill>
                </a:rPr>
                <a:t>B </a:t>
              </a:r>
              <a:r>
                <a:rPr lang="zh-CN" altLang="en-US" sz="2400">
                  <a:solidFill>
                    <a:schemeClr val="accent2"/>
                  </a:solidFill>
                </a:rPr>
                <a:t>强</a:t>
              </a:r>
              <a:r>
                <a:rPr lang="zh-CN" altLang="en-US" sz="2400"/>
                <a:t>。</a:t>
              </a:r>
              <a:endParaRPr lang="en-US" altLang="zh-CN" sz="2400"/>
            </a:p>
          </p:txBody>
        </p:sp>
        <p:graphicFrame>
          <p:nvGraphicFramePr>
            <p:cNvPr id="18448" name="Object 28">
              <a:extLst>
                <a:ext uri="{FF2B5EF4-FFF2-40B4-BE49-F238E27FC236}">
                  <a16:creationId xmlns:a16="http://schemas.microsoft.com/office/drawing/2014/main" id="{349213DC-EFFE-E544-B87F-951178B965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8" y="1233"/>
            <a:ext cx="520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0528300" imgH="4686300" progId="Equation.3">
                    <p:embed/>
                  </p:oleObj>
                </mc:Choice>
                <mc:Fallback>
                  <p:oleObj name="Equation" r:id="rId14" imgW="10528300" imgH="4686300" progId="Equation.3">
                    <p:embed/>
                    <p:pic>
                      <p:nvPicPr>
                        <p:cNvPr id="18448" name="Object 28">
                          <a:extLst>
                            <a:ext uri="{FF2B5EF4-FFF2-40B4-BE49-F238E27FC236}">
                              <a16:creationId xmlns:a16="http://schemas.microsoft.com/office/drawing/2014/main" id="{349213DC-EFFE-E544-B87F-951178B965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8" y="1233"/>
                          <a:ext cx="520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9" name="Object 29">
              <a:extLst>
                <a:ext uri="{FF2B5EF4-FFF2-40B4-BE49-F238E27FC236}">
                  <a16:creationId xmlns:a16="http://schemas.microsoft.com/office/drawing/2014/main" id="{D7A43CDD-B73E-F546-85FA-1639CBB3B0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0" y="1267"/>
            <a:ext cx="100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3114000" imgH="4978400" progId="Equation.3">
                    <p:embed/>
                  </p:oleObj>
                </mc:Choice>
                <mc:Fallback>
                  <p:oleObj name="Equation" r:id="rId16" imgW="23114000" imgH="4978400" progId="Equation.3">
                    <p:embed/>
                    <p:pic>
                      <p:nvPicPr>
                        <p:cNvPr id="18449" name="Object 29">
                          <a:extLst>
                            <a:ext uri="{FF2B5EF4-FFF2-40B4-BE49-F238E27FC236}">
                              <a16:creationId xmlns:a16="http://schemas.microsoft.com/office/drawing/2014/main" id="{D7A43CDD-B73E-F546-85FA-1639CBB3B0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267"/>
                          <a:ext cx="100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213" name="Group 37">
            <a:extLst>
              <a:ext uri="{FF2B5EF4-FFF2-40B4-BE49-F238E27FC236}">
                <a16:creationId xmlns:a16="http://schemas.microsoft.com/office/drawing/2014/main" id="{2222FE95-A9A0-A941-812D-9DB59D9C052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505200"/>
            <a:ext cx="8305800" cy="1411288"/>
            <a:chOff x="288" y="1968"/>
            <a:chExt cx="5232" cy="889"/>
          </a:xfrm>
        </p:grpSpPr>
        <p:sp>
          <p:nvSpPr>
            <p:cNvPr id="50208" name="AutoShape 32" descr="水滴">
              <a:extLst>
                <a:ext uri="{FF2B5EF4-FFF2-40B4-BE49-F238E27FC236}">
                  <a16:creationId xmlns:a16="http://schemas.microsoft.com/office/drawing/2014/main" id="{46649D68-3496-7E45-B8DD-F2A38EF29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968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0209" name="Text Box 33">
              <a:extLst>
                <a:ext uri="{FF2B5EF4-FFF2-40B4-BE49-F238E27FC236}">
                  <a16:creationId xmlns:a16="http://schemas.microsoft.com/office/drawing/2014/main" id="{6E9C7254-FFBF-944D-BDFB-8E10BD2C04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971"/>
              <a:ext cx="5232" cy="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400"/>
                <a:t>　　　若范数</a:t>
              </a:r>
              <a:r>
                <a:rPr lang="en-US" altLang="zh-CN" sz="2400"/>
                <a:t> || · ||</a:t>
              </a:r>
              <a:r>
                <a:rPr lang="en-US" altLang="zh-CN" sz="2400" i="1" baseline="-25000"/>
                <a:t>A </a:t>
              </a:r>
              <a:r>
                <a:rPr lang="zh-CN" altLang="en-US" sz="2400"/>
                <a:t>比</a:t>
              </a:r>
              <a:r>
                <a:rPr lang="en-US" altLang="zh-CN" sz="2400"/>
                <a:t>|| · ||</a:t>
              </a:r>
              <a:r>
                <a:rPr lang="en-US" altLang="zh-CN" sz="2400" i="1" baseline="-25000"/>
                <a:t>B</a:t>
              </a:r>
              <a:r>
                <a:rPr lang="en-US" altLang="zh-CN" sz="2400"/>
                <a:t> </a:t>
              </a:r>
              <a:r>
                <a:rPr lang="zh-CN" altLang="en-US" sz="2400"/>
                <a:t>强，同时</a:t>
              </a:r>
              <a:r>
                <a:rPr lang="en-US" altLang="zh-CN" sz="2400"/>
                <a:t>|| · ||</a:t>
              </a:r>
              <a:r>
                <a:rPr lang="en-US" altLang="zh-CN" sz="2400" i="1" baseline="-25000"/>
                <a:t>B</a:t>
              </a:r>
              <a:r>
                <a:rPr lang="en-US" altLang="zh-CN" sz="2400"/>
                <a:t> </a:t>
              </a:r>
              <a:r>
                <a:rPr lang="zh-CN" altLang="en-US" sz="2400"/>
                <a:t>也比</a:t>
              </a:r>
              <a:r>
                <a:rPr lang="en-US" altLang="zh-CN" sz="2400"/>
                <a:t>|| · ||</a:t>
              </a:r>
              <a:r>
                <a:rPr lang="en-US" altLang="zh-CN" sz="2400" i="1" baseline="-25000"/>
                <a:t>A</a:t>
              </a:r>
              <a:r>
                <a:rPr lang="en-US" altLang="zh-CN" sz="2400"/>
                <a:t> </a:t>
              </a:r>
              <a:r>
                <a:rPr lang="zh-CN" altLang="en-US" sz="2400"/>
                <a:t>强，即存在常数</a:t>
              </a:r>
              <a:r>
                <a:rPr lang="en-US" altLang="zh-CN" sz="2400"/>
                <a:t> </a:t>
              </a:r>
              <a:r>
                <a:rPr lang="en-US" altLang="zh-CN" sz="2400" i="1"/>
                <a:t>C</a:t>
              </a:r>
              <a:r>
                <a:rPr lang="en-US" altLang="zh-CN" sz="2400" baseline="-25000"/>
                <a:t>1</a:t>
              </a:r>
              <a:r>
                <a:rPr lang="zh-CN" altLang="en-US" sz="2400"/>
                <a:t>、</a:t>
              </a:r>
              <a:r>
                <a:rPr lang="en-US" altLang="zh-CN" sz="2400" i="1"/>
                <a:t>C</a:t>
              </a:r>
              <a:r>
                <a:rPr lang="en-US" altLang="zh-CN" sz="2400" baseline="-25000"/>
                <a:t>2</a:t>
              </a:r>
              <a:r>
                <a:rPr lang="en-US" altLang="zh-CN" sz="2400" i="1"/>
                <a:t> </a:t>
              </a:r>
              <a:r>
                <a:rPr lang="en-US" altLang="zh-CN" sz="2400"/>
                <a:t>&gt; 0 </a:t>
              </a:r>
              <a:r>
                <a:rPr lang="zh-CN" altLang="en-US" sz="2400"/>
                <a:t>使得</a:t>
              </a:r>
              <a:r>
                <a:rPr lang="en-US" altLang="zh-CN" sz="2400"/>
                <a:t>                                          </a:t>
              </a:r>
              <a:r>
                <a:rPr lang="zh-CN" altLang="en-US" sz="2400"/>
                <a:t>，则称</a:t>
              </a:r>
              <a:r>
                <a:rPr lang="en-US" altLang="zh-CN" sz="2400"/>
                <a:t> </a:t>
              </a:r>
              <a:r>
                <a:rPr lang="en-US" altLang="zh-CN" sz="2400">
                  <a:solidFill>
                    <a:schemeClr val="accent2"/>
                  </a:solidFill>
                </a:rPr>
                <a:t>|| · ||</a:t>
              </a:r>
              <a:r>
                <a:rPr lang="en-US" altLang="zh-CN" sz="2400" i="1" baseline="-25000">
                  <a:solidFill>
                    <a:schemeClr val="accent2"/>
                  </a:solidFill>
                </a:rPr>
                <a:t>A </a:t>
              </a:r>
              <a:r>
                <a:rPr lang="zh-CN" altLang="en-US" sz="2400">
                  <a:solidFill>
                    <a:schemeClr val="accent2"/>
                  </a:solidFill>
                </a:rPr>
                <a:t>和</a:t>
              </a:r>
              <a:r>
                <a:rPr lang="en-US" altLang="zh-CN" sz="2400">
                  <a:solidFill>
                    <a:schemeClr val="accent2"/>
                  </a:solidFill>
                </a:rPr>
                <a:t>|| · ||</a:t>
              </a:r>
              <a:r>
                <a:rPr lang="en-US" altLang="zh-CN" sz="2400" i="1" baseline="-25000">
                  <a:solidFill>
                    <a:schemeClr val="accent2"/>
                  </a:solidFill>
                </a:rPr>
                <a:t>B </a:t>
              </a:r>
              <a:r>
                <a:rPr lang="zh-CN" altLang="en-US" sz="2400">
                  <a:solidFill>
                    <a:schemeClr val="accent2"/>
                  </a:solidFill>
                </a:rPr>
                <a:t>等价</a:t>
              </a:r>
              <a:r>
                <a:rPr lang="zh-CN" altLang="en-US" sz="2400"/>
                <a:t>。</a:t>
              </a:r>
              <a:endParaRPr lang="en-US" altLang="zh-CN" sz="2400"/>
            </a:p>
          </p:txBody>
        </p:sp>
        <p:graphicFrame>
          <p:nvGraphicFramePr>
            <p:cNvPr id="18445" name="Object 36">
              <a:extLst>
                <a:ext uri="{FF2B5EF4-FFF2-40B4-BE49-F238E27FC236}">
                  <a16:creationId xmlns:a16="http://schemas.microsoft.com/office/drawing/2014/main" id="{29D13258-029A-C644-87EF-896E896A08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1" y="2304"/>
            <a:ext cx="196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9497000" imgH="4978400" progId="Equation.3">
                    <p:embed/>
                  </p:oleObj>
                </mc:Choice>
                <mc:Fallback>
                  <p:oleObj name="Equation" r:id="rId18" imgW="39497000" imgH="4978400" progId="Equation.3">
                    <p:embed/>
                    <p:pic>
                      <p:nvPicPr>
                        <p:cNvPr id="18445" name="Object 36">
                          <a:extLst>
                            <a:ext uri="{FF2B5EF4-FFF2-40B4-BE49-F238E27FC236}">
                              <a16:creationId xmlns:a16="http://schemas.microsoft.com/office/drawing/2014/main" id="{29D13258-029A-C644-87EF-896E896A08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1" y="2304"/>
                          <a:ext cx="196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216" name="Group 40">
            <a:extLst>
              <a:ext uri="{FF2B5EF4-FFF2-40B4-BE49-F238E27FC236}">
                <a16:creationId xmlns:a16="http://schemas.microsoft.com/office/drawing/2014/main" id="{44981D8A-82E5-CF4F-8E19-0D32212BC8D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5257800"/>
            <a:ext cx="4691063" cy="609600"/>
            <a:chOff x="288" y="2928"/>
            <a:chExt cx="2784" cy="384"/>
          </a:xfrm>
        </p:grpSpPr>
        <p:sp>
          <p:nvSpPr>
            <p:cNvPr id="50214" name="AutoShape 38" descr="白色大理石">
              <a:extLst>
                <a:ext uri="{FF2B5EF4-FFF2-40B4-BE49-F238E27FC236}">
                  <a16:creationId xmlns:a16="http://schemas.microsoft.com/office/drawing/2014/main" id="{A94B2AE3-8143-1B4A-9275-69B3C2799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928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20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>
                  <a:ea typeface="宋体" pitchFamily="2" charset="-122"/>
                </a:rPr>
                <a:t>定理</a:t>
              </a:r>
              <a:endParaRPr kumimoji="0" lang="en-US" altLang="zh-CN">
                <a:ea typeface="宋体" pitchFamily="2" charset="-122"/>
              </a:endParaRPr>
            </a:p>
          </p:txBody>
        </p:sp>
        <p:sp>
          <p:nvSpPr>
            <p:cNvPr id="50215" name="Text Box 39">
              <a:extLst>
                <a:ext uri="{FF2B5EF4-FFF2-40B4-BE49-F238E27FC236}">
                  <a16:creationId xmlns:a16="http://schemas.microsoft.com/office/drawing/2014/main" id="{2C5AFBF4-7F21-D24B-A2D5-69C692D727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024"/>
              <a:ext cx="206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lnSpc>
                  <a:spcPct val="90000"/>
                </a:lnSpc>
                <a:defRPr/>
              </a:pPr>
              <a:r>
                <a:rPr lang="en-US" altLang="zh-CN" sz="2400" i="1">
                  <a:solidFill>
                    <a:srgbClr val="FF0000"/>
                  </a:solidFill>
                  <a:ea typeface="宋体" pitchFamily="2" charset="-122"/>
                </a:rPr>
                <a:t>R</a:t>
              </a:r>
              <a:r>
                <a:rPr lang="en-US" altLang="zh-CN" sz="2400" i="1" baseline="30000">
                  <a:solidFill>
                    <a:srgbClr val="FF0000"/>
                  </a:solidFill>
                  <a:ea typeface="宋体" pitchFamily="2" charset="-122"/>
                </a:rPr>
                <a:t>n</a:t>
              </a:r>
              <a:r>
                <a:rPr lang="en-US" altLang="zh-CN" sz="2400">
                  <a:solidFill>
                    <a:srgbClr val="FF0000"/>
                  </a:solidFill>
                  <a:ea typeface="宋体" pitchFamily="2" charset="-122"/>
                </a:rPr>
                <a:t> </a:t>
              </a:r>
              <a:r>
                <a:rPr lang="zh-CN" altLang="en-US" sz="2400">
                  <a:solidFill>
                    <a:srgbClr val="FF0000"/>
                  </a:solidFill>
                  <a:ea typeface="宋体" pitchFamily="2" charset="-122"/>
                </a:rPr>
                <a:t>上一切范数都等价。</a:t>
              </a:r>
              <a:endParaRPr lang="en-US" altLang="zh-CN" sz="2400">
                <a:solidFill>
                  <a:srgbClr val="FF0000"/>
                </a:solidFill>
                <a:ea typeface="宋体" pitchFamily="2" charset="-122"/>
              </a:endParaRPr>
            </a:p>
          </p:txBody>
        </p:sp>
      </p:grpSp>
      <p:sp>
        <p:nvSpPr>
          <p:cNvPr id="50217" name="AutoShape 41">
            <a:extLst>
              <a:ext uri="{FF2B5EF4-FFF2-40B4-BE49-F238E27FC236}">
                <a16:creationId xmlns:a16="http://schemas.microsoft.com/office/drawing/2014/main" id="{BADBB9D7-C623-9E4D-842F-522D66317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724400"/>
            <a:ext cx="3886200" cy="1219200"/>
          </a:xfrm>
          <a:prstGeom prst="wedgeEllipseCallout">
            <a:avLst>
              <a:gd name="adj1" fmla="val -43708"/>
              <a:gd name="adj2" fmla="val -317056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2400"/>
              <a:t>可以理解为对任何向量范数都成立。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327666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2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2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17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530D0CB-F4AE-B84B-A9D7-51FAF8F94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0"/>
            <a:ext cx="5486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§1  Norms of Vectors and Matrices – Matrix Norms</a:t>
            </a:r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7FA52434-3648-A049-AD03-8BA58DD46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33400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 </a:t>
            </a:r>
            <a:r>
              <a:rPr lang="zh-CN" altLang="en-US" sz="2400">
                <a:latin typeface="楷体_GB2312" charset="0"/>
              </a:rPr>
              <a:t>矩阵范数</a:t>
            </a:r>
            <a:r>
              <a:rPr lang="en-US" altLang="zh-CN" sz="2400">
                <a:latin typeface="楷体_GB2312" charset="0"/>
              </a:rPr>
              <a:t> 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</a:rPr>
              <a:t>/* matrix norms */</a:t>
            </a:r>
            <a:endParaRPr lang="en-US" altLang="zh-CN" sz="2400">
              <a:latin typeface="楷体_GB2312" charset="0"/>
            </a:endParaRPr>
          </a:p>
        </p:txBody>
      </p:sp>
      <p:sp>
        <p:nvSpPr>
          <p:cNvPr id="138" name="AutoShape 210" descr="深色木质">
            <a:extLst>
              <a:ext uri="{FF2B5EF4-FFF2-40B4-BE49-F238E27FC236}">
                <a16:creationId xmlns:a16="http://schemas.microsoft.com/office/drawing/2014/main" id="{2490FBA2-B5A2-BD45-819B-5EBE63AF5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76250"/>
            <a:ext cx="1524000" cy="685800"/>
          </a:xfrm>
          <a:prstGeom prst="cube">
            <a:avLst>
              <a:gd name="adj" fmla="val 9583"/>
            </a:avLst>
          </a:prstGeom>
          <a:blipFill dpi="0" rotWithShape="0">
            <a:blip r:embed="rId6"/>
            <a:srcRect/>
            <a:tile tx="0" ty="0" sx="100000" sy="100000" flip="none" algn="tl"/>
          </a:blipFill>
          <a:ln w="9525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>
                <a:solidFill>
                  <a:srgbClr val="FFFFCC"/>
                </a:solidFill>
                <a:ea typeface="宋体" pitchFamily="2" charset="-122"/>
              </a:rPr>
              <a:t>算子范数</a:t>
            </a:r>
            <a:endParaRPr lang="en-US" altLang="zh-CN" sz="2400">
              <a:solidFill>
                <a:srgbClr val="FFFFCC"/>
              </a:solidFill>
              <a:ea typeface="宋体" pitchFamily="2" charset="-122"/>
            </a:endParaRPr>
          </a:p>
        </p:txBody>
      </p:sp>
      <p:grpSp>
        <p:nvGrpSpPr>
          <p:cNvPr id="139" name="Group 224">
            <a:extLst>
              <a:ext uri="{FF2B5EF4-FFF2-40B4-BE49-F238E27FC236}">
                <a16:creationId xmlns:a16="http://schemas.microsoft.com/office/drawing/2014/main" id="{EDB1D3EB-64E3-AB4B-BF06-DC21BFF27300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412875"/>
            <a:ext cx="7924800" cy="2354263"/>
            <a:chOff x="432" y="2880"/>
            <a:chExt cx="4992" cy="1483"/>
          </a:xfrm>
        </p:grpSpPr>
        <p:sp>
          <p:nvSpPr>
            <p:cNvPr id="140" name="Text Box 217">
              <a:extLst>
                <a:ext uri="{FF2B5EF4-FFF2-40B4-BE49-F238E27FC236}">
                  <a16:creationId xmlns:a16="http://schemas.microsoft.com/office/drawing/2014/main" id="{FE2B77AD-8B3E-B14E-A757-C563055C8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976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chemeClr val="accent2"/>
                  </a:solidFill>
                </a:rPr>
                <a:t>特别有：</a:t>
              </a:r>
              <a:endParaRPr lang="en-US" altLang="zh-CN" sz="24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19477" name="Object 218">
              <a:extLst>
                <a:ext uri="{FF2B5EF4-FFF2-40B4-BE49-F238E27FC236}">
                  <a16:creationId xmlns:a16="http://schemas.microsoft.com/office/drawing/2014/main" id="{C0FFF8F5-667A-5842-BB64-E29401DC2F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2880"/>
            <a:ext cx="1488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9552900" imgH="10236200" progId="Equation.3">
                    <p:embed/>
                  </p:oleObj>
                </mc:Choice>
                <mc:Fallback>
                  <p:oleObj name="Equation" r:id="rId7" imgW="29552900" imgH="10236200" progId="Equation.3">
                    <p:embed/>
                    <p:pic>
                      <p:nvPicPr>
                        <p:cNvPr id="19477" name="Object 218">
                          <a:extLst>
                            <a:ext uri="{FF2B5EF4-FFF2-40B4-BE49-F238E27FC236}">
                              <a16:creationId xmlns:a16="http://schemas.microsoft.com/office/drawing/2014/main" id="{C0FFF8F5-667A-5842-BB64-E29401DC2F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880"/>
                          <a:ext cx="1488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2" name="Text Box 219">
              <a:extLst>
                <a:ext uri="{FF2B5EF4-FFF2-40B4-BE49-F238E27FC236}">
                  <a16:creationId xmlns:a16="http://schemas.microsoft.com/office/drawing/2014/main" id="{A78FE173-D279-6B47-BDE4-A90CC1F6F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976"/>
              <a:ext cx="13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行和范数</a:t>
              </a:r>
              <a:r>
                <a:rPr lang="zh-CN" altLang="en-US" sz="2400">
                  <a:ea typeface="宋体" pitchFamily="2" charset="-122"/>
                </a:rPr>
                <a:t>）</a:t>
              </a:r>
              <a:endParaRPr lang="en-US" altLang="zh-CN" sz="2400">
                <a:ea typeface="宋体" pitchFamily="2" charset="-122"/>
              </a:endParaRPr>
            </a:p>
          </p:txBody>
        </p:sp>
        <p:graphicFrame>
          <p:nvGraphicFramePr>
            <p:cNvPr id="19479" name="Object 220">
              <a:extLst>
                <a:ext uri="{FF2B5EF4-FFF2-40B4-BE49-F238E27FC236}">
                  <a16:creationId xmlns:a16="http://schemas.microsoft.com/office/drawing/2014/main" id="{BF743E0A-C281-7548-B326-24F25C2F10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3312"/>
            <a:ext cx="1459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8968700" imgH="9944100" progId="Equation.3">
                    <p:embed/>
                  </p:oleObj>
                </mc:Choice>
                <mc:Fallback>
                  <p:oleObj name="Equation" r:id="rId9" imgW="28968700" imgH="9944100" progId="Equation.3">
                    <p:embed/>
                    <p:pic>
                      <p:nvPicPr>
                        <p:cNvPr id="19479" name="Object 220">
                          <a:extLst>
                            <a:ext uri="{FF2B5EF4-FFF2-40B4-BE49-F238E27FC236}">
                              <a16:creationId xmlns:a16="http://schemas.microsoft.com/office/drawing/2014/main" id="{BF743E0A-C281-7548-B326-24F25C2F10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312"/>
                          <a:ext cx="1459" cy="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" name="Text Box 221">
              <a:extLst>
                <a:ext uri="{FF2B5EF4-FFF2-40B4-BE49-F238E27FC236}">
                  <a16:creationId xmlns:a16="http://schemas.microsoft.com/office/drawing/2014/main" id="{D41FEB92-FA20-614C-8418-3C882DB95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408"/>
              <a:ext cx="13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列和范数</a:t>
              </a:r>
              <a:r>
                <a:rPr lang="zh-CN" altLang="en-US" sz="2400">
                  <a:ea typeface="宋体" pitchFamily="2" charset="-122"/>
                </a:rPr>
                <a:t>）</a:t>
              </a:r>
              <a:endParaRPr lang="en-US" altLang="zh-CN" sz="2400">
                <a:ea typeface="宋体" pitchFamily="2" charset="-122"/>
              </a:endParaRPr>
            </a:p>
          </p:txBody>
        </p:sp>
        <p:graphicFrame>
          <p:nvGraphicFramePr>
            <p:cNvPr id="19481" name="Object 222">
              <a:extLst>
                <a:ext uri="{FF2B5EF4-FFF2-40B4-BE49-F238E27FC236}">
                  <a16:creationId xmlns:a16="http://schemas.microsoft.com/office/drawing/2014/main" id="{D48C9998-CC9C-4A41-AF77-1BD7882930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3792"/>
            <a:ext cx="156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0137100" imgH="6731000" progId="Equation.3">
                    <p:embed/>
                  </p:oleObj>
                </mc:Choice>
                <mc:Fallback>
                  <p:oleObj name="Equation" r:id="rId11" imgW="30137100" imgH="6731000" progId="Equation.3">
                    <p:embed/>
                    <p:pic>
                      <p:nvPicPr>
                        <p:cNvPr id="19481" name="Object 222">
                          <a:extLst>
                            <a:ext uri="{FF2B5EF4-FFF2-40B4-BE49-F238E27FC236}">
                              <a16:creationId xmlns:a16="http://schemas.microsoft.com/office/drawing/2014/main" id="{D48C9998-CC9C-4A41-AF77-1BD7882930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792"/>
                          <a:ext cx="1560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" name="Text Box 223">
              <a:extLst>
                <a:ext uri="{FF2B5EF4-FFF2-40B4-BE49-F238E27FC236}">
                  <a16:creationId xmlns:a16="http://schemas.microsoft.com/office/drawing/2014/main" id="{57B0B29A-3EAD-1548-8F08-8FAD1AC23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840"/>
              <a:ext cx="254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/>
                <a:t>（</a:t>
              </a:r>
              <a:r>
                <a:rPr lang="en-US" altLang="zh-CN" sz="2400"/>
                <a:t>2-</a:t>
              </a:r>
              <a:r>
                <a:rPr lang="zh-CN" altLang="en-US" sz="2400"/>
                <a:t>范数、</a:t>
              </a:r>
              <a:r>
                <a:rPr lang="zh-CN" altLang="en-US" sz="2400">
                  <a:solidFill>
                    <a:schemeClr val="accent2"/>
                  </a:solidFill>
                </a:rPr>
                <a:t>谱范数</a:t>
              </a:r>
              <a:r>
                <a:rPr lang="en-US" altLang="zh-CN" sz="2400">
                  <a:solidFill>
                    <a:schemeClr val="accent2"/>
                  </a:solidFill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anose="020B0604020202020204" pitchFamily="34" charset="0"/>
                </a:rPr>
                <a:t>/* </a:t>
              </a:r>
              <a:r>
                <a:rPr lang="en-US" altLang="zh-CN" sz="2000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spectral norm </a:t>
              </a:r>
              <a:r>
                <a:rPr lang="en-US" altLang="zh-CN" sz="2000">
                  <a:solidFill>
                    <a:srgbClr val="008000"/>
                  </a:solidFill>
                  <a:latin typeface="Arial" panose="020B0604020202020204" pitchFamily="34" charset="0"/>
                </a:rPr>
                <a:t>*/</a:t>
              </a:r>
              <a:r>
                <a:rPr lang="en-US" altLang="zh-CN" sz="2400">
                  <a:solidFill>
                    <a:schemeClr val="accent2"/>
                  </a:solidFill>
                </a:rPr>
                <a:t> </a:t>
              </a:r>
              <a:r>
                <a:rPr lang="zh-CN" altLang="en-US" sz="2400"/>
                <a:t>）</a:t>
              </a:r>
              <a:endParaRPr lang="en-US" altLang="zh-CN" sz="2400"/>
            </a:p>
          </p:txBody>
        </p:sp>
      </p:grpSp>
      <p:sp>
        <p:nvSpPr>
          <p:cNvPr id="147" name="AutoShape 225">
            <a:extLst>
              <a:ext uri="{FF2B5EF4-FFF2-40B4-BE49-F238E27FC236}">
                <a16:creationId xmlns:a16="http://schemas.microsoft.com/office/drawing/2014/main" id="{549A8197-69F2-5D49-B827-CFAA8F35E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836613"/>
            <a:ext cx="3505200" cy="1219200"/>
          </a:xfrm>
          <a:prstGeom prst="wedgeEllipseCallout">
            <a:avLst>
              <a:gd name="adj1" fmla="val -36097"/>
              <a:gd name="adj2" fmla="val 141148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2400"/>
              <a:t>矩阵</a:t>
            </a:r>
            <a:r>
              <a:rPr lang="en-US" altLang="zh-CN" sz="2400"/>
              <a:t> </a:t>
            </a:r>
            <a:r>
              <a:rPr lang="en-US" altLang="zh-CN" sz="2400" i="1"/>
              <a:t>A</a:t>
            </a:r>
            <a:r>
              <a:rPr lang="en-US" altLang="zh-CN" sz="2400" i="1" baseline="30000"/>
              <a:t>T</a:t>
            </a:r>
            <a:r>
              <a:rPr lang="en-US" altLang="zh-CN" sz="2400" i="1"/>
              <a:t>A </a:t>
            </a:r>
            <a:r>
              <a:rPr lang="zh-CN" altLang="en-US" sz="2400"/>
              <a:t>的最大</a:t>
            </a:r>
            <a:endParaRPr lang="en-US" altLang="zh-CN" sz="2400"/>
          </a:p>
          <a:p>
            <a:pPr algn="ctr" eaLnBrk="1" hangingPunct="1"/>
            <a:r>
              <a:rPr lang="zh-CN" altLang="en-US" sz="2400"/>
              <a:t>特征根</a:t>
            </a:r>
            <a:r>
              <a:rPr lang="en-US" altLang="zh-CN" sz="2400"/>
              <a:t> </a:t>
            </a:r>
            <a:r>
              <a:rPr lang="en-US" altLang="zh-CN" sz="1800">
                <a:solidFill>
                  <a:srgbClr val="008000"/>
                </a:solidFill>
                <a:latin typeface="Arial" panose="020B0604020202020204" pitchFamily="34" charset="0"/>
              </a:rPr>
              <a:t>/* eigenvalue */</a:t>
            </a:r>
          </a:p>
        </p:txBody>
      </p:sp>
      <p:grpSp>
        <p:nvGrpSpPr>
          <p:cNvPr id="148" name="Group 16">
            <a:extLst>
              <a:ext uri="{FF2B5EF4-FFF2-40B4-BE49-F238E27FC236}">
                <a16:creationId xmlns:a16="http://schemas.microsoft.com/office/drawing/2014/main" id="{325BDDFD-9B41-F34F-A3CA-3093C4183AD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789363"/>
            <a:ext cx="8870950" cy="2138362"/>
            <a:chOff x="240" y="720"/>
            <a:chExt cx="5588" cy="1347"/>
          </a:xfrm>
        </p:grpSpPr>
        <p:sp>
          <p:nvSpPr>
            <p:cNvPr id="149" name="AutoShape 5" descr="水滴">
              <a:extLst>
                <a:ext uri="{FF2B5EF4-FFF2-40B4-BE49-F238E27FC236}">
                  <a16:creationId xmlns:a16="http://schemas.microsoft.com/office/drawing/2014/main" id="{3F785DBE-F0F0-7948-81A6-585459169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720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13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150" name="Text Box 6">
              <a:extLst>
                <a:ext uri="{FF2B5EF4-FFF2-40B4-BE49-F238E27FC236}">
                  <a16:creationId xmlns:a16="http://schemas.microsoft.com/office/drawing/2014/main" id="{8A90A48E-7D4C-684A-9EA5-69B6113BB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723"/>
              <a:ext cx="518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sz="2400"/>
                <a:t>　　　    </a:t>
              </a:r>
              <a:r>
                <a:rPr lang="en-US" altLang="zh-CN" sz="2400" i="1"/>
                <a:t>R</a:t>
              </a:r>
              <a:r>
                <a:rPr lang="en-US" altLang="zh-CN" sz="2400" i="1" baseline="30000"/>
                <a:t>m</a:t>
              </a:r>
              <a:r>
                <a:rPr lang="en-US" altLang="zh-CN" sz="2400" baseline="30000">
                  <a:sym typeface="Symbol" pitchFamily="2" charset="2"/>
                </a:rPr>
                <a:t></a:t>
              </a:r>
              <a:r>
                <a:rPr lang="en-US" altLang="zh-CN" sz="2400" i="1" baseline="30000"/>
                <a:t>n</a:t>
              </a:r>
              <a:r>
                <a:rPr lang="zh-CN" altLang="en-US" sz="2400">
                  <a:latin typeface="楷体_GB2312" charset="0"/>
                </a:rPr>
                <a:t>空间的</a:t>
              </a:r>
              <a:r>
                <a:rPr lang="zh-CN" altLang="en-US" sz="2400">
                  <a:solidFill>
                    <a:schemeClr val="accent2"/>
                  </a:solidFill>
                  <a:latin typeface="楷体_GB2312" charset="0"/>
                </a:rPr>
                <a:t>矩阵范数</a:t>
              </a:r>
              <a:r>
                <a:rPr lang="en-US" altLang="zh-CN" sz="2400"/>
                <a:t> || · || </a:t>
              </a:r>
              <a:r>
                <a:rPr lang="zh-CN" altLang="en-US" sz="2400">
                  <a:latin typeface="楷体_GB2312" charset="0"/>
                </a:rPr>
                <a:t>对任意      </a:t>
              </a:r>
              <a:r>
                <a:rPr lang="en-US" altLang="zh-CN" sz="2400">
                  <a:latin typeface="楷体_GB2312" charset="0"/>
                </a:rPr>
                <a:t>          </a:t>
              </a:r>
              <a:r>
                <a:rPr lang="zh-CN" altLang="en-US" sz="2400">
                  <a:latin typeface="楷体_GB2312" charset="0"/>
                </a:rPr>
                <a:t>满足：</a:t>
              </a:r>
              <a:endParaRPr lang="en-US" altLang="zh-CN" sz="2400">
                <a:solidFill>
                  <a:srgbClr val="008000"/>
                </a:solidFill>
                <a:latin typeface="楷体_GB2312" charset="0"/>
              </a:endParaRPr>
            </a:p>
          </p:txBody>
        </p:sp>
        <p:graphicFrame>
          <p:nvGraphicFramePr>
            <p:cNvPr id="19467" name="Object 7">
              <a:extLst>
                <a:ext uri="{FF2B5EF4-FFF2-40B4-BE49-F238E27FC236}">
                  <a16:creationId xmlns:a16="http://schemas.microsoft.com/office/drawing/2014/main" id="{CF82F374-41D8-484F-88FC-CDD806E4C6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97" y="816"/>
            <a:ext cx="871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8135600" imgH="5270500" progId="Equation.3">
                    <p:embed/>
                  </p:oleObj>
                </mc:Choice>
                <mc:Fallback>
                  <p:oleObj name="Equation" r:id="rId14" imgW="18135600" imgH="5270500" progId="Equation.3">
                    <p:embed/>
                    <p:pic>
                      <p:nvPicPr>
                        <p:cNvPr id="19467" name="Object 7">
                          <a:extLst>
                            <a:ext uri="{FF2B5EF4-FFF2-40B4-BE49-F238E27FC236}">
                              <a16:creationId xmlns:a16="http://schemas.microsoft.com/office/drawing/2014/main" id="{CF82F374-41D8-484F-88FC-CDD806E4C6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7" y="816"/>
                          <a:ext cx="871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8">
              <a:extLst>
                <a:ext uri="{FF2B5EF4-FFF2-40B4-BE49-F238E27FC236}">
                  <a16:creationId xmlns:a16="http://schemas.microsoft.com/office/drawing/2014/main" id="{47AA159D-819B-0F41-9B4F-20E5A58C78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3" y="1123"/>
            <a:ext cx="2697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1206400" imgH="4686300" progId="Equation.3">
                    <p:embed/>
                  </p:oleObj>
                </mc:Choice>
                <mc:Fallback>
                  <p:oleObj name="Equation" r:id="rId16" imgW="51206400" imgH="4686300" progId="Equation.3">
                    <p:embed/>
                    <p:pic>
                      <p:nvPicPr>
                        <p:cNvPr id="19468" name="Object 8">
                          <a:extLst>
                            <a:ext uri="{FF2B5EF4-FFF2-40B4-BE49-F238E27FC236}">
                              <a16:creationId xmlns:a16="http://schemas.microsoft.com/office/drawing/2014/main" id="{47AA159D-819B-0F41-9B4F-20E5A58C78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" y="1123"/>
                          <a:ext cx="2697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" name="Text Box 9">
              <a:extLst>
                <a:ext uri="{FF2B5EF4-FFF2-40B4-BE49-F238E27FC236}">
                  <a16:creationId xmlns:a16="http://schemas.microsoft.com/office/drawing/2014/main" id="{00AC37EE-DB19-C94B-AD5C-7B3924BCF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107"/>
              <a:ext cx="27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ea typeface="宋体" pitchFamily="2" charset="-122"/>
                </a:rPr>
                <a:t>正定性</a:t>
              </a:r>
              <a:r>
                <a:rPr lang="en-US" altLang="zh-CN" sz="2400">
                  <a:ea typeface="宋体" pitchFamily="2" charset="-122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itchFamily="34" charset="0"/>
                  <a:ea typeface="宋体" pitchFamily="2" charset="-122"/>
                </a:rPr>
                <a:t>/* positive definite */ </a:t>
              </a:r>
              <a:r>
                <a:rPr lang="en-US" altLang="zh-CN" sz="2400">
                  <a:ea typeface="宋体" pitchFamily="2" charset="-122"/>
                </a:rPr>
                <a:t>)</a:t>
              </a:r>
            </a:p>
          </p:txBody>
        </p:sp>
        <p:graphicFrame>
          <p:nvGraphicFramePr>
            <p:cNvPr id="19470" name="Object 10">
              <a:extLst>
                <a:ext uri="{FF2B5EF4-FFF2-40B4-BE49-F238E27FC236}">
                  <a16:creationId xmlns:a16="http://schemas.microsoft.com/office/drawing/2014/main" id="{AA8F0CE8-9F96-0449-91FC-4512EB58AE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" y="1443"/>
            <a:ext cx="1757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4810700" imgH="4686300" progId="Equation.3">
                    <p:embed/>
                  </p:oleObj>
                </mc:Choice>
                <mc:Fallback>
                  <p:oleObj name="Equation" r:id="rId18" imgW="34810700" imgH="4686300" progId="Equation.3">
                    <p:embed/>
                    <p:pic>
                      <p:nvPicPr>
                        <p:cNvPr id="19470" name="Object 10">
                          <a:extLst>
                            <a:ext uri="{FF2B5EF4-FFF2-40B4-BE49-F238E27FC236}">
                              <a16:creationId xmlns:a16="http://schemas.microsoft.com/office/drawing/2014/main" id="{AA8F0CE8-9F96-0449-91FC-4512EB58AE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" y="1443"/>
                          <a:ext cx="1757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1" name="Object 11">
              <a:extLst>
                <a:ext uri="{FF2B5EF4-FFF2-40B4-BE49-F238E27FC236}">
                  <a16:creationId xmlns:a16="http://schemas.microsoft.com/office/drawing/2014/main" id="{094E800C-FFEC-7F47-B5C3-22C9F32551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1491"/>
            <a:ext cx="38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9359900" imgH="4102100" progId="Equation.3">
                    <p:embed/>
                  </p:oleObj>
                </mc:Choice>
                <mc:Fallback>
                  <p:oleObj name="Equation" r:id="rId20" imgW="9359900" imgH="4102100" progId="Equation.3">
                    <p:embed/>
                    <p:pic>
                      <p:nvPicPr>
                        <p:cNvPr id="19471" name="Object 11">
                          <a:extLst>
                            <a:ext uri="{FF2B5EF4-FFF2-40B4-BE49-F238E27FC236}">
                              <a16:creationId xmlns:a16="http://schemas.microsoft.com/office/drawing/2014/main" id="{094E800C-FFEC-7F47-B5C3-22C9F32551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491"/>
                          <a:ext cx="38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6" name="Text Box 12">
              <a:extLst>
                <a:ext uri="{FF2B5EF4-FFF2-40B4-BE49-F238E27FC236}">
                  <a16:creationId xmlns:a16="http://schemas.microsoft.com/office/drawing/2014/main" id="{9C10924B-65B5-F840-A0D1-8DD803CF49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443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/>
                <a:t>对任意</a:t>
              </a:r>
              <a:endParaRPr lang="en-US" altLang="zh-CN" sz="2400"/>
            </a:p>
          </p:txBody>
        </p:sp>
        <p:sp>
          <p:nvSpPr>
            <p:cNvPr id="157" name="Text Box 13">
              <a:extLst>
                <a:ext uri="{FF2B5EF4-FFF2-40B4-BE49-F238E27FC236}">
                  <a16:creationId xmlns:a16="http://schemas.microsoft.com/office/drawing/2014/main" id="{EBF024D3-BCF2-A843-BC7A-F63E11F97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443"/>
              <a:ext cx="26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/>
                <a:t>(</a:t>
              </a:r>
              <a:r>
                <a:rPr lang="zh-CN" altLang="en-US" sz="2400">
                  <a:solidFill>
                    <a:schemeClr val="accent2"/>
                  </a:solidFill>
                </a:rPr>
                <a:t>齐次性</a:t>
              </a:r>
              <a:r>
                <a:rPr lang="en-US" altLang="zh-CN" sz="2400"/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anose="020B0604020202020204" pitchFamily="34" charset="0"/>
                </a:rPr>
                <a:t>/* homogeneous */</a:t>
              </a:r>
              <a:r>
                <a:rPr lang="en-US" altLang="zh-CN" sz="2400"/>
                <a:t> ) </a:t>
              </a:r>
            </a:p>
          </p:txBody>
        </p:sp>
        <p:graphicFrame>
          <p:nvGraphicFramePr>
            <p:cNvPr id="19474" name="Object 14">
              <a:extLst>
                <a:ext uri="{FF2B5EF4-FFF2-40B4-BE49-F238E27FC236}">
                  <a16:creationId xmlns:a16="http://schemas.microsoft.com/office/drawing/2014/main" id="{425DD2AD-1AD3-6047-ABC1-A61BD0BDA3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1776"/>
            <a:ext cx="201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0957500" imgH="4686300" progId="Equation.3">
                    <p:embed/>
                  </p:oleObj>
                </mc:Choice>
                <mc:Fallback>
                  <p:oleObj name="Equation" r:id="rId22" imgW="40957500" imgH="4686300" progId="Equation.3">
                    <p:embed/>
                    <p:pic>
                      <p:nvPicPr>
                        <p:cNvPr id="19474" name="Object 14">
                          <a:extLst>
                            <a:ext uri="{FF2B5EF4-FFF2-40B4-BE49-F238E27FC236}">
                              <a16:creationId xmlns:a16="http://schemas.microsoft.com/office/drawing/2014/main" id="{425DD2AD-1AD3-6047-ABC1-A61BD0BDA3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776"/>
                          <a:ext cx="201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" name="Text Box 15">
              <a:extLst>
                <a:ext uri="{FF2B5EF4-FFF2-40B4-BE49-F238E27FC236}">
                  <a16:creationId xmlns:a16="http://schemas.microsoft.com/office/drawing/2014/main" id="{A89B370A-29F2-484B-BB96-EA6370D2B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779"/>
              <a:ext cx="32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latin typeface="楷体_GB2312" charset="0"/>
                  <a:ea typeface="宋体" pitchFamily="2" charset="-122"/>
                </a:rPr>
                <a:t>（</a:t>
              </a:r>
              <a:r>
                <a:rPr lang="zh-CN" altLang="en-US" sz="2400">
                  <a:solidFill>
                    <a:schemeClr val="accent2"/>
                  </a:solidFill>
                  <a:latin typeface="楷体_GB2312" charset="0"/>
                  <a:ea typeface="宋体" pitchFamily="2" charset="-122"/>
                </a:rPr>
                <a:t>三角不等式</a:t>
              </a:r>
              <a:r>
                <a:rPr lang="en-US" altLang="zh-CN" sz="2400">
                  <a:latin typeface="楷体_GB2312" charset="0"/>
                  <a:ea typeface="宋体" pitchFamily="2" charset="-122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Arial" pitchFamily="34" charset="0"/>
                  <a:ea typeface="宋体" pitchFamily="2" charset="-122"/>
                </a:rPr>
                <a:t>/* triangle inequality */</a:t>
              </a:r>
              <a:r>
                <a:rPr lang="en-US" altLang="zh-CN" sz="2400">
                  <a:ea typeface="宋体" pitchFamily="2" charset="-122"/>
                </a:rPr>
                <a:t> )</a:t>
              </a:r>
            </a:p>
          </p:txBody>
        </p:sp>
      </p:grpSp>
      <p:sp>
        <p:nvSpPr>
          <p:cNvPr id="160" name="Text Box 17">
            <a:extLst>
              <a:ext uri="{FF2B5EF4-FFF2-40B4-BE49-F238E27FC236}">
                <a16:creationId xmlns:a16="http://schemas.microsoft.com/office/drawing/2014/main" id="{E5E1EFDA-1240-444D-9542-63271F29A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922963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/>
              <a:t>(4)</a:t>
            </a:r>
            <a:r>
              <a:rPr lang="en-US" altLang="zh-CN" sz="2400">
                <a:solidFill>
                  <a:srgbClr val="FF0000"/>
                </a:solidFill>
              </a:rPr>
              <a:t>*</a:t>
            </a:r>
            <a:r>
              <a:rPr lang="en-US" altLang="zh-CN" sz="2400"/>
              <a:t> || </a:t>
            </a:r>
            <a:r>
              <a:rPr lang="en-US" altLang="zh-CN" sz="2400" i="1"/>
              <a:t>AB </a:t>
            </a:r>
            <a:r>
              <a:rPr lang="en-US" altLang="zh-CN" sz="2400"/>
              <a:t>|| </a:t>
            </a:r>
            <a:r>
              <a:rPr lang="en-US" altLang="zh-CN" sz="2400">
                <a:sym typeface="Symbol" pitchFamily="18" charset="2"/>
              </a:rPr>
              <a:t> || </a:t>
            </a:r>
            <a:r>
              <a:rPr lang="en-US" altLang="zh-CN" sz="2400" i="1">
                <a:sym typeface="Symbol" pitchFamily="18" charset="2"/>
              </a:rPr>
              <a:t>A</a:t>
            </a:r>
            <a:r>
              <a:rPr lang="en-US" altLang="zh-CN" sz="2400">
                <a:sym typeface="Symbol" pitchFamily="18" charset="2"/>
              </a:rPr>
              <a:t> || · || </a:t>
            </a:r>
            <a:r>
              <a:rPr lang="en-US" altLang="zh-CN" sz="2400" i="1">
                <a:sym typeface="Symbol" pitchFamily="18" charset="2"/>
              </a:rPr>
              <a:t>B</a:t>
            </a:r>
            <a:r>
              <a:rPr lang="en-US" altLang="zh-CN" sz="2400">
                <a:sym typeface="Symbol" pitchFamily="18" charset="2"/>
              </a:rPr>
              <a:t> ||</a:t>
            </a:r>
            <a:r>
              <a:rPr lang="en-US" altLang="zh-CN" b="0">
                <a:sym typeface="Symbol" pitchFamily="18" charset="2"/>
              </a:rPr>
              <a:t>  </a:t>
            </a:r>
            <a:r>
              <a:rPr lang="zh-CN" altLang="en-US" sz="2400">
                <a:latin typeface="楷体_GB2312" charset="0"/>
              </a:rPr>
              <a:t>（</a:t>
            </a:r>
            <a:r>
              <a:rPr lang="zh-CN" altLang="en-US" sz="2400">
                <a:solidFill>
                  <a:schemeClr val="accent2"/>
                </a:solidFill>
                <a:latin typeface="楷体_GB2312" charset="0"/>
              </a:rPr>
              <a:t>相容</a:t>
            </a:r>
            <a:r>
              <a:rPr lang="en-US" altLang="zh-CN" sz="2400">
                <a:latin typeface="楷体_GB2312" charset="0"/>
              </a:rPr>
              <a:t> </a:t>
            </a:r>
            <a:r>
              <a:rPr lang="en-US" altLang="zh-CN" sz="2000">
                <a:solidFill>
                  <a:srgbClr val="008000"/>
                </a:solidFill>
                <a:latin typeface="Arial" pitchFamily="34" charset="0"/>
                <a:ea typeface="宋体" pitchFamily="2" charset="-122"/>
              </a:rPr>
              <a:t>/* consistent */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zh-CN" altLang="en-US" sz="2400">
                <a:solidFill>
                  <a:schemeClr val="accent2"/>
                </a:solidFill>
                <a:latin typeface="楷体_GB2312" charset="0"/>
              </a:rPr>
              <a:t>当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en-US" altLang="zh-CN" sz="2400" i="1">
                <a:solidFill>
                  <a:schemeClr val="accent2"/>
                </a:solidFill>
                <a:ea typeface="宋体" pitchFamily="2" charset="-122"/>
              </a:rPr>
              <a:t>m</a:t>
            </a:r>
            <a:r>
              <a:rPr lang="en-US" altLang="zh-CN" sz="2400">
                <a:solidFill>
                  <a:schemeClr val="accent2"/>
                </a:solidFill>
                <a:ea typeface="宋体" pitchFamily="2" charset="-122"/>
              </a:rPr>
              <a:t> = </a:t>
            </a:r>
            <a:r>
              <a:rPr lang="en-US" altLang="zh-CN" sz="2400" i="1">
                <a:solidFill>
                  <a:schemeClr val="accent2"/>
                </a:solidFill>
                <a:ea typeface="宋体" pitchFamily="2" charset="-122"/>
              </a:rPr>
              <a:t>n</a:t>
            </a:r>
            <a:r>
              <a:rPr lang="en-US" altLang="zh-CN" sz="2400">
                <a:ea typeface="宋体" pitchFamily="2" charset="-122"/>
              </a:rPr>
              <a:t> </a:t>
            </a:r>
            <a:r>
              <a:rPr lang="zh-CN" altLang="en-US" sz="2400">
                <a:solidFill>
                  <a:schemeClr val="accent2"/>
                </a:solidFill>
                <a:latin typeface="楷体_GB2312" charset="0"/>
              </a:rPr>
              <a:t>时</a:t>
            </a:r>
            <a:r>
              <a:rPr lang="en-US" altLang="zh-CN" sz="2400">
                <a:ea typeface="宋体" pitchFamily="2" charset="-122"/>
              </a:rPr>
              <a:t>)</a:t>
            </a:r>
            <a:endParaRPr lang="en-US" altLang="zh-CN" b="0"/>
          </a:p>
        </p:txBody>
      </p:sp>
    </p:spTree>
    <p:extLst>
      <p:ext uri="{BB962C8B-B14F-4D97-AF65-F5344CB8AC3E}">
        <p14:creationId xmlns:p14="http://schemas.microsoft.com/office/powerpoint/2010/main" val="237338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utoUpdateAnimBg="0"/>
      <p:bldP spid="138" grpId="0" animBg="1" autoUpdateAnimBg="0"/>
      <p:bldP spid="147" grpId="0" animBg="1" autoUpdateAnimBg="0"/>
      <p:bldP spid="16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2269B35-CAC8-634A-B5EE-17B500CE2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0"/>
            <a:ext cx="5486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>
                <a:ea typeface="宋体" pitchFamily="2" charset="-122"/>
              </a:rPr>
              <a:t>§1  Norms of Vectors and Matrices – Matrix Norms</a:t>
            </a:r>
          </a:p>
        </p:txBody>
      </p:sp>
      <p:sp>
        <p:nvSpPr>
          <p:cNvPr id="53272" name="Text Box 24">
            <a:extLst>
              <a:ext uri="{FF2B5EF4-FFF2-40B4-BE49-F238E27FC236}">
                <a16:creationId xmlns:a16="http://schemas.microsoft.com/office/drawing/2014/main" id="{4BC617B8-8ABD-2744-8814-C69096DB7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90725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 </a:t>
            </a:r>
            <a:r>
              <a:rPr lang="zh-CN" altLang="en-US" sz="2400">
                <a:latin typeface="楷体_GB2312" charset="0"/>
              </a:rPr>
              <a:t>谱半径</a:t>
            </a:r>
            <a:r>
              <a:rPr lang="en-US" altLang="zh-CN" sz="2400">
                <a:latin typeface="楷体_GB2312" charset="0"/>
              </a:rPr>
              <a:t> 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</a:rPr>
              <a:t>/* spectral radius */</a:t>
            </a:r>
          </a:p>
        </p:txBody>
      </p:sp>
      <p:grpSp>
        <p:nvGrpSpPr>
          <p:cNvPr id="53277" name="Group 29">
            <a:extLst>
              <a:ext uri="{FF2B5EF4-FFF2-40B4-BE49-F238E27FC236}">
                <a16:creationId xmlns:a16="http://schemas.microsoft.com/office/drawing/2014/main" id="{7DCDB5F1-D8B0-0A41-8EA4-47D52B793E3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676525"/>
            <a:ext cx="4114800" cy="1500188"/>
            <a:chOff x="240" y="3120"/>
            <a:chExt cx="2592" cy="945"/>
          </a:xfrm>
        </p:grpSpPr>
        <p:sp>
          <p:nvSpPr>
            <p:cNvPr id="53274" name="AutoShape 26" descr="水滴">
              <a:extLst>
                <a:ext uri="{FF2B5EF4-FFF2-40B4-BE49-F238E27FC236}">
                  <a16:creationId xmlns:a16="http://schemas.microsoft.com/office/drawing/2014/main" id="{8A8AC713-AD61-264B-8CF1-42D1C8B89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120"/>
              <a:ext cx="528" cy="314"/>
            </a:xfrm>
            <a:prstGeom prst="roundRect">
              <a:avLst>
                <a:gd name="adj" fmla="val 16667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round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accent2"/>
                  </a:solidFill>
                </a:rPr>
                <a:t>定义</a:t>
              </a:r>
              <a:endParaRPr kumimoji="0"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3275" name="Text Box 27">
              <a:extLst>
                <a:ext uri="{FF2B5EF4-FFF2-40B4-BE49-F238E27FC236}">
                  <a16:creationId xmlns:a16="http://schemas.microsoft.com/office/drawing/2014/main" id="{148C61FC-7E42-D647-8AD2-35FDBBAC2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123"/>
              <a:ext cx="2592" cy="9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400"/>
                <a:t>　　　    矩阵</a:t>
              </a:r>
              <a:r>
                <a:rPr lang="en-US" altLang="zh-CN" sz="2400" i="1"/>
                <a:t>A</a:t>
              </a:r>
              <a:r>
                <a:rPr lang="zh-CN" altLang="en-US" sz="2400">
                  <a:latin typeface="楷体_GB2312" charset="0"/>
                </a:rPr>
                <a:t>的</a:t>
              </a:r>
              <a:r>
                <a:rPr lang="zh-CN" altLang="en-US" sz="2400">
                  <a:solidFill>
                    <a:schemeClr val="accent2"/>
                  </a:solidFill>
                  <a:latin typeface="楷体_GB2312" charset="0"/>
                </a:rPr>
                <a:t>谱半径</a:t>
              </a:r>
              <a:r>
                <a:rPr lang="zh-CN" altLang="en-US" sz="2400">
                  <a:latin typeface="楷体_GB2312" charset="0"/>
                </a:rPr>
                <a:t>记为</a:t>
              </a:r>
              <a:endParaRPr lang="en-US" altLang="zh-CN" sz="2400">
                <a:latin typeface="楷体_GB2312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2400" i="1">
                  <a:solidFill>
                    <a:schemeClr val="accent2"/>
                  </a:solidFill>
                  <a:sym typeface="Symbol" pitchFamily="2" charset="2"/>
                </a:rPr>
                <a:t> </a:t>
              </a:r>
              <a:r>
                <a:rPr lang="en-US" altLang="zh-CN" sz="2400">
                  <a:solidFill>
                    <a:schemeClr val="accent2"/>
                  </a:solidFill>
                  <a:sym typeface="Symbol" pitchFamily="2" charset="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sym typeface="Symbol" pitchFamily="2" charset="2"/>
                </a:rPr>
                <a:t>A</a:t>
              </a:r>
              <a:r>
                <a:rPr lang="en-US" altLang="zh-CN" sz="2400">
                  <a:solidFill>
                    <a:schemeClr val="accent2"/>
                  </a:solidFill>
                  <a:sym typeface="Symbol" pitchFamily="2" charset="2"/>
                </a:rPr>
                <a:t>)</a:t>
              </a:r>
              <a:r>
                <a:rPr lang="en-US" altLang="zh-CN" sz="2400">
                  <a:sym typeface="Symbol" pitchFamily="2" charset="2"/>
                </a:rPr>
                <a:t> =                  </a:t>
              </a:r>
              <a:r>
                <a:rPr lang="zh-CN" altLang="en-US" sz="2400">
                  <a:sym typeface="Symbol" pitchFamily="2" charset="2"/>
                </a:rPr>
                <a:t>，其中</a:t>
              </a:r>
              <a:r>
                <a:rPr lang="en-US" altLang="zh-CN" sz="2400" i="1">
                  <a:sym typeface="Symbol" pitchFamily="2" charset="2"/>
                </a:rPr>
                <a:t></a:t>
              </a:r>
              <a:r>
                <a:rPr lang="en-US" altLang="zh-CN" sz="2400" i="1" baseline="-25000">
                  <a:sym typeface="Symbol" pitchFamily="2" charset="2"/>
                </a:rPr>
                <a:t>i</a:t>
              </a:r>
              <a:r>
                <a:rPr lang="en-US" altLang="zh-CN" sz="2400">
                  <a:sym typeface="Symbol" pitchFamily="2" charset="2"/>
                </a:rPr>
                <a:t> </a:t>
              </a:r>
              <a:r>
                <a:rPr lang="zh-CN" altLang="en-US" sz="2400"/>
                <a:t>为</a:t>
              </a:r>
              <a:endParaRPr lang="en-US" altLang="zh-CN" sz="2400"/>
            </a:p>
            <a:p>
              <a:pPr eaLnBrk="1" hangingPunct="1">
                <a:lnSpc>
                  <a:spcPct val="140000"/>
                </a:lnSpc>
              </a:pPr>
              <a:r>
                <a:rPr lang="en-US" altLang="zh-CN" sz="2400"/>
                <a:t> </a:t>
              </a:r>
              <a:r>
                <a:rPr lang="en-US" altLang="zh-CN" sz="2400" i="1"/>
                <a:t>A</a:t>
              </a:r>
              <a:r>
                <a:rPr lang="en-US" altLang="zh-CN" sz="2400"/>
                <a:t> </a:t>
              </a:r>
              <a:r>
                <a:rPr lang="zh-CN" altLang="en-US" sz="2400"/>
                <a:t>的特征根。</a:t>
              </a:r>
              <a:endParaRPr lang="en-US" altLang="zh-CN" sz="2400"/>
            </a:p>
          </p:txBody>
        </p:sp>
        <p:graphicFrame>
          <p:nvGraphicFramePr>
            <p:cNvPr id="20520" name="Object 28">
              <a:extLst>
                <a:ext uri="{FF2B5EF4-FFF2-40B4-BE49-F238E27FC236}">
                  <a16:creationId xmlns:a16="http://schemas.microsoft.com/office/drawing/2014/main" id="{3AB4F8BA-411B-524A-BF9A-01794A4423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3408"/>
            <a:ext cx="864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754100" imgH="6438900" progId="Equation.3">
                    <p:embed/>
                  </p:oleObj>
                </mc:Choice>
                <mc:Fallback>
                  <p:oleObj name="Equation" r:id="rId7" imgW="13754100" imgH="6438900" progId="Equation.3">
                    <p:embed/>
                    <p:pic>
                      <p:nvPicPr>
                        <p:cNvPr id="20520" name="Object 28">
                          <a:extLst>
                            <a:ext uri="{FF2B5EF4-FFF2-40B4-BE49-F238E27FC236}">
                              <a16:creationId xmlns:a16="http://schemas.microsoft.com/office/drawing/2014/main" id="{3AB4F8BA-411B-524A-BF9A-01794A4423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408"/>
                          <a:ext cx="864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279" name="Group 31">
            <a:extLst>
              <a:ext uri="{FF2B5EF4-FFF2-40B4-BE49-F238E27FC236}">
                <a16:creationId xmlns:a16="http://schemas.microsoft.com/office/drawing/2014/main" id="{FE29C79B-7727-AD45-9DA6-B86B8A01B09D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1914525"/>
            <a:ext cx="4114800" cy="2667000"/>
            <a:chOff x="2928" y="2496"/>
            <a:chExt cx="2592" cy="1680"/>
          </a:xfrm>
        </p:grpSpPr>
        <p:sp>
          <p:nvSpPr>
            <p:cNvPr id="53280" name="Line 32">
              <a:extLst>
                <a:ext uri="{FF2B5EF4-FFF2-40B4-BE49-F238E27FC236}">
                  <a16:creationId xmlns:a16="http://schemas.microsoft.com/office/drawing/2014/main" id="{B65E0409-18A0-F94C-9A50-2E49EF962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408"/>
              <a:ext cx="25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53281" name="Line 33">
              <a:extLst>
                <a:ext uri="{FF2B5EF4-FFF2-40B4-BE49-F238E27FC236}">
                  <a16:creationId xmlns:a16="http://schemas.microsoft.com/office/drawing/2014/main" id="{2276070A-E120-A143-AEB1-37EE822E6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544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53282" name="Text Box 34">
              <a:extLst>
                <a:ext uri="{FF2B5EF4-FFF2-40B4-BE49-F238E27FC236}">
                  <a16:creationId xmlns:a16="http://schemas.microsoft.com/office/drawing/2014/main" id="{59979758-8F76-E944-A492-170FFC53D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316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i="1">
                  <a:latin typeface="Times New Roman" charset="0"/>
                  <a:ea typeface="宋体" charset="0"/>
                  <a:cs typeface="楷体_GB2312" charset="0"/>
                </a:rPr>
                <a:t>Re</a:t>
              </a:r>
            </a:p>
          </p:txBody>
        </p:sp>
        <p:sp>
          <p:nvSpPr>
            <p:cNvPr id="53283" name="Text Box 35">
              <a:extLst>
                <a:ext uri="{FF2B5EF4-FFF2-40B4-BE49-F238E27FC236}">
                  <a16:creationId xmlns:a16="http://schemas.microsoft.com/office/drawing/2014/main" id="{1F6C811B-609C-D04C-9B64-490D9D8D5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49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800" i="1">
                  <a:latin typeface="Times New Roman" charset="0"/>
                  <a:ea typeface="宋体" charset="0"/>
                  <a:cs typeface="楷体_GB2312" charset="0"/>
                </a:rPr>
                <a:t>Im</a:t>
              </a:r>
            </a:p>
          </p:txBody>
        </p:sp>
      </p:grpSp>
      <p:grpSp>
        <p:nvGrpSpPr>
          <p:cNvPr id="53284" name="Group 36">
            <a:extLst>
              <a:ext uri="{FF2B5EF4-FFF2-40B4-BE49-F238E27FC236}">
                <a16:creationId xmlns:a16="http://schemas.microsoft.com/office/drawing/2014/main" id="{E075619B-5ECE-C243-A15E-F658A66DD35E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143125"/>
            <a:ext cx="1752600" cy="1752600"/>
            <a:chOff x="3504" y="2688"/>
            <a:chExt cx="1104" cy="1104"/>
          </a:xfrm>
        </p:grpSpPr>
        <p:grpSp>
          <p:nvGrpSpPr>
            <p:cNvPr id="20490" name="Group 37">
              <a:extLst>
                <a:ext uri="{FF2B5EF4-FFF2-40B4-BE49-F238E27FC236}">
                  <a16:creationId xmlns:a16="http://schemas.microsoft.com/office/drawing/2014/main" id="{FDB88AB2-1B47-5C48-82E8-780D2ABC1E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3552"/>
              <a:ext cx="240" cy="240"/>
              <a:chOff x="2640" y="2496"/>
              <a:chExt cx="240" cy="240"/>
            </a:xfrm>
          </p:grpSpPr>
          <p:sp>
            <p:nvSpPr>
              <p:cNvPr id="53286" name="Oval 38">
                <a:extLst>
                  <a:ext uri="{FF2B5EF4-FFF2-40B4-BE49-F238E27FC236}">
                    <a16:creationId xmlns:a16="http://schemas.microsoft.com/office/drawing/2014/main" id="{0460D239-57DF-8A46-ACDD-A91239AF65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287" name="Text Box 39">
                <a:extLst>
                  <a:ext uri="{FF2B5EF4-FFF2-40B4-BE49-F238E27FC236}">
                    <a16:creationId xmlns:a16="http://schemas.microsoft.com/office/drawing/2014/main" id="{5C39D545-7B02-F84A-8FD1-60B0FC93B0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1" name="Group 40">
              <a:extLst>
                <a:ext uri="{FF2B5EF4-FFF2-40B4-BE49-F238E27FC236}">
                  <a16:creationId xmlns:a16="http://schemas.microsoft.com/office/drawing/2014/main" id="{50796E3C-660C-B14F-A72F-192732E728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3120"/>
              <a:ext cx="240" cy="240"/>
              <a:chOff x="2640" y="2496"/>
              <a:chExt cx="240" cy="240"/>
            </a:xfrm>
          </p:grpSpPr>
          <p:sp>
            <p:nvSpPr>
              <p:cNvPr id="53289" name="Oval 41">
                <a:extLst>
                  <a:ext uri="{FF2B5EF4-FFF2-40B4-BE49-F238E27FC236}">
                    <a16:creationId xmlns:a16="http://schemas.microsoft.com/office/drawing/2014/main" id="{9FF94CAD-B6D7-D44D-A202-C30FDD176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290" name="Text Box 42">
                <a:extLst>
                  <a:ext uri="{FF2B5EF4-FFF2-40B4-BE49-F238E27FC236}">
                    <a16:creationId xmlns:a16="http://schemas.microsoft.com/office/drawing/2014/main" id="{F0E9555A-25F4-1248-B35A-264EB85F8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2" name="Group 43">
              <a:extLst>
                <a:ext uri="{FF2B5EF4-FFF2-40B4-BE49-F238E27FC236}">
                  <a16:creationId xmlns:a16="http://schemas.microsoft.com/office/drawing/2014/main" id="{0C260678-ECF9-B946-A2BE-8B54171E16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2976"/>
              <a:ext cx="240" cy="240"/>
              <a:chOff x="2640" y="2496"/>
              <a:chExt cx="240" cy="240"/>
            </a:xfrm>
          </p:grpSpPr>
          <p:sp>
            <p:nvSpPr>
              <p:cNvPr id="53292" name="Oval 44">
                <a:extLst>
                  <a:ext uri="{FF2B5EF4-FFF2-40B4-BE49-F238E27FC236}">
                    <a16:creationId xmlns:a16="http://schemas.microsoft.com/office/drawing/2014/main" id="{B0B48222-DEC6-454B-BD17-CF4C8CB147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293" name="Text Box 45">
                <a:extLst>
                  <a:ext uri="{FF2B5EF4-FFF2-40B4-BE49-F238E27FC236}">
                    <a16:creationId xmlns:a16="http://schemas.microsoft.com/office/drawing/2014/main" id="{6DE97BE3-D804-4740-8BC0-53A37253A1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3" name="Group 46">
              <a:extLst>
                <a:ext uri="{FF2B5EF4-FFF2-40B4-BE49-F238E27FC236}">
                  <a16:creationId xmlns:a16="http://schemas.microsoft.com/office/drawing/2014/main" id="{911CCD71-04E7-D04A-A07D-469B4C80A6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3072"/>
              <a:ext cx="240" cy="240"/>
              <a:chOff x="2640" y="2496"/>
              <a:chExt cx="240" cy="240"/>
            </a:xfrm>
          </p:grpSpPr>
          <p:sp>
            <p:nvSpPr>
              <p:cNvPr id="53295" name="Oval 47">
                <a:extLst>
                  <a:ext uri="{FF2B5EF4-FFF2-40B4-BE49-F238E27FC236}">
                    <a16:creationId xmlns:a16="http://schemas.microsoft.com/office/drawing/2014/main" id="{53A38897-5E48-B64B-A7F9-3954E054B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296" name="Text Box 48">
                <a:extLst>
                  <a:ext uri="{FF2B5EF4-FFF2-40B4-BE49-F238E27FC236}">
                    <a16:creationId xmlns:a16="http://schemas.microsoft.com/office/drawing/2014/main" id="{D8324CD5-C90D-8442-91DB-B6A4520F5A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4" name="Group 49">
              <a:extLst>
                <a:ext uri="{FF2B5EF4-FFF2-40B4-BE49-F238E27FC236}">
                  <a16:creationId xmlns:a16="http://schemas.microsoft.com/office/drawing/2014/main" id="{0756B2A8-E4CE-5446-A6E2-7AA6CA5F92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2688"/>
              <a:ext cx="240" cy="240"/>
              <a:chOff x="2640" y="2496"/>
              <a:chExt cx="240" cy="240"/>
            </a:xfrm>
          </p:grpSpPr>
          <p:sp>
            <p:nvSpPr>
              <p:cNvPr id="53298" name="Oval 50">
                <a:extLst>
                  <a:ext uri="{FF2B5EF4-FFF2-40B4-BE49-F238E27FC236}">
                    <a16:creationId xmlns:a16="http://schemas.microsoft.com/office/drawing/2014/main" id="{26B5E3EA-A8AC-F446-9E28-AB250EF69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299" name="Text Box 51">
                <a:extLst>
                  <a:ext uri="{FF2B5EF4-FFF2-40B4-BE49-F238E27FC236}">
                    <a16:creationId xmlns:a16="http://schemas.microsoft.com/office/drawing/2014/main" id="{05836182-8898-434D-A8F0-87B8492E5A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5" name="Group 52">
              <a:extLst>
                <a:ext uri="{FF2B5EF4-FFF2-40B4-BE49-F238E27FC236}">
                  <a16:creationId xmlns:a16="http://schemas.microsoft.com/office/drawing/2014/main" id="{F55B43A3-49BC-D445-9775-0F079807F2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3408"/>
              <a:ext cx="240" cy="240"/>
              <a:chOff x="2640" y="2496"/>
              <a:chExt cx="240" cy="240"/>
            </a:xfrm>
          </p:grpSpPr>
          <p:sp>
            <p:nvSpPr>
              <p:cNvPr id="53301" name="Oval 53">
                <a:extLst>
                  <a:ext uri="{FF2B5EF4-FFF2-40B4-BE49-F238E27FC236}">
                    <a16:creationId xmlns:a16="http://schemas.microsoft.com/office/drawing/2014/main" id="{9E908DDA-C9A2-4043-8F76-DE67D2B5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302" name="Text Box 54">
                <a:extLst>
                  <a:ext uri="{FF2B5EF4-FFF2-40B4-BE49-F238E27FC236}">
                    <a16:creationId xmlns:a16="http://schemas.microsoft.com/office/drawing/2014/main" id="{548D0409-B713-114E-A825-31C7C41E92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6" name="Group 55">
              <a:extLst>
                <a:ext uri="{FF2B5EF4-FFF2-40B4-BE49-F238E27FC236}">
                  <a16:creationId xmlns:a16="http://schemas.microsoft.com/office/drawing/2014/main" id="{A415C4E8-8485-F94A-A160-2065A6AB2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3552"/>
              <a:ext cx="240" cy="240"/>
              <a:chOff x="2640" y="2496"/>
              <a:chExt cx="240" cy="240"/>
            </a:xfrm>
          </p:grpSpPr>
          <p:sp>
            <p:nvSpPr>
              <p:cNvPr id="53304" name="Oval 56">
                <a:extLst>
                  <a:ext uri="{FF2B5EF4-FFF2-40B4-BE49-F238E27FC236}">
                    <a16:creationId xmlns:a16="http://schemas.microsoft.com/office/drawing/2014/main" id="{14600FBE-904D-FF47-B640-2327E7E95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305" name="Text Box 57">
                <a:extLst>
                  <a:ext uri="{FF2B5EF4-FFF2-40B4-BE49-F238E27FC236}">
                    <a16:creationId xmlns:a16="http://schemas.microsoft.com/office/drawing/2014/main" id="{74DEF22E-CB8A-7647-98E4-E98295BDF1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0497" name="Group 58">
              <a:extLst>
                <a:ext uri="{FF2B5EF4-FFF2-40B4-BE49-F238E27FC236}">
                  <a16:creationId xmlns:a16="http://schemas.microsoft.com/office/drawing/2014/main" id="{03B3F4E8-F56C-AF4A-96DF-0529BE7C11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3408"/>
              <a:ext cx="240" cy="240"/>
              <a:chOff x="2640" y="2496"/>
              <a:chExt cx="240" cy="240"/>
            </a:xfrm>
          </p:grpSpPr>
          <p:sp>
            <p:nvSpPr>
              <p:cNvPr id="53307" name="Oval 59">
                <a:extLst>
                  <a:ext uri="{FF2B5EF4-FFF2-40B4-BE49-F238E27FC236}">
                    <a16:creationId xmlns:a16="http://schemas.microsoft.com/office/drawing/2014/main" id="{7D654173-90B0-FA48-99A6-B58D659E5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altLang="zh-CN">
                  <a:ea typeface="宋体" pitchFamily="2" charset="-122"/>
                </a:endParaRPr>
              </a:p>
            </p:txBody>
          </p:sp>
          <p:sp>
            <p:nvSpPr>
              <p:cNvPr id="53308" name="Text Box 60">
                <a:extLst>
                  <a:ext uri="{FF2B5EF4-FFF2-40B4-BE49-F238E27FC236}">
                    <a16:creationId xmlns:a16="http://schemas.microsoft.com/office/drawing/2014/main" id="{EBD024C3-BDB9-EE42-8F96-C9FBD4431C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2496"/>
                <a:ext cx="2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itchFamily="18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1600" i="1">
                    <a:solidFill>
                      <a:schemeClr val="accent2"/>
                    </a:solidFill>
                    <a:ea typeface="宋体" pitchFamily="2" charset="-122"/>
                    <a:sym typeface="Symbol" pitchFamily="18" charset="2"/>
                  </a:rPr>
                  <a:t></a:t>
                </a:r>
                <a:endParaRPr lang="en-US" altLang="zh-CN" sz="1600" i="1">
                  <a:solidFill>
                    <a:schemeClr val="accent2"/>
                  </a:solidFill>
                  <a:ea typeface="宋体" pitchFamily="2" charset="-122"/>
                </a:endParaRPr>
              </a:p>
            </p:txBody>
          </p:sp>
        </p:grpSp>
      </p:grpSp>
      <p:sp>
        <p:nvSpPr>
          <p:cNvPr id="53309" name="Oval 61">
            <a:extLst>
              <a:ext uri="{FF2B5EF4-FFF2-40B4-BE49-F238E27FC236}">
                <a16:creationId xmlns:a16="http://schemas.microsoft.com/office/drawing/2014/main" id="{937728D4-460B-6443-8249-0260E53C52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6400" y="2371725"/>
            <a:ext cx="1990725" cy="1992313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sp>
        <p:nvSpPr>
          <p:cNvPr id="53310" name="Line 62">
            <a:extLst>
              <a:ext uri="{FF2B5EF4-FFF2-40B4-BE49-F238E27FC236}">
                <a16:creationId xmlns:a16="http://schemas.microsoft.com/office/drawing/2014/main" id="{7616AFEE-8378-9245-8D1E-434CDD51E0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2447925"/>
            <a:ext cx="533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MS PGothic" charset="0"/>
              <a:cs typeface="MS PGothic" charset="0"/>
            </a:endParaRPr>
          </a:p>
        </p:txBody>
      </p:sp>
      <p:sp>
        <p:nvSpPr>
          <p:cNvPr id="53311" name="AutoShape 63">
            <a:extLst>
              <a:ext uri="{FF2B5EF4-FFF2-40B4-BE49-F238E27FC236}">
                <a16:creationId xmlns:a16="http://schemas.microsoft.com/office/drawing/2014/main" id="{B38BB360-1025-DC47-83C2-4A870F8D1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219325"/>
            <a:ext cx="914400" cy="533400"/>
          </a:xfrm>
          <a:prstGeom prst="wedgeRectCallout">
            <a:avLst>
              <a:gd name="adj1" fmla="val 161287"/>
              <a:gd name="adj2" fmla="val 102681"/>
            </a:avLst>
          </a:prstGeom>
          <a:gradFill rotWithShape="0">
            <a:gsLst>
              <a:gs pos="0">
                <a:schemeClr val="bg1"/>
              </a:gs>
              <a:gs pos="100000">
                <a:srgbClr val="CCFFCC"/>
              </a:gs>
            </a:gsLst>
            <a:lin ang="2700000" scaled="1"/>
          </a:gra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400" i="1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 </a:t>
            </a:r>
            <a:r>
              <a:rPr lang="en-US" altLang="zh-CN" sz="240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(</a:t>
            </a:r>
            <a:r>
              <a:rPr lang="en-US" altLang="zh-CN" sz="2400" i="1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A</a:t>
            </a:r>
            <a:r>
              <a:rPr lang="en-US" altLang="zh-CN" sz="240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Symbo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699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3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32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2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3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09" grpId="0" animBg="1"/>
      <p:bldP spid="53311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4">
            <a:extLst>
              <a:ext uri="{FF2B5EF4-FFF2-40B4-BE49-F238E27FC236}">
                <a16:creationId xmlns:a16="http://schemas.microsoft.com/office/drawing/2014/main" id="{461396C7-D252-2D4E-B3E9-9D44C632A74E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57200"/>
            <a:ext cx="5778500" cy="609600"/>
            <a:chOff x="336" y="288"/>
            <a:chExt cx="3640" cy="384"/>
          </a:xfrm>
        </p:grpSpPr>
        <p:sp>
          <p:nvSpPr>
            <p:cNvPr id="3" name="AutoShape 61" descr="白色大理石">
              <a:extLst>
                <a:ext uri="{FF2B5EF4-FFF2-40B4-BE49-F238E27FC236}">
                  <a16:creationId xmlns:a16="http://schemas.microsoft.com/office/drawing/2014/main" id="{12479907-2637-8C4D-8C11-1B649A286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88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dirty="0">
                  <a:ea typeface="宋体" pitchFamily="2" charset="-122"/>
                </a:rPr>
                <a:t>定理</a:t>
              </a:r>
              <a:endParaRPr kumimoji="0" lang="en-US" altLang="zh-CN" dirty="0">
                <a:ea typeface="宋体" pitchFamily="2" charset="-122"/>
              </a:endParaRPr>
            </a:p>
          </p:txBody>
        </p:sp>
        <p:sp>
          <p:nvSpPr>
            <p:cNvPr id="4" name="Text Box 62">
              <a:extLst>
                <a:ext uri="{FF2B5EF4-FFF2-40B4-BE49-F238E27FC236}">
                  <a16:creationId xmlns:a16="http://schemas.microsoft.com/office/drawing/2014/main" id="{7711B8AF-D5D0-9244-9900-89966E4E8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84"/>
              <a:ext cx="22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ea typeface="宋体" panose="02010600030101010101" pitchFamily="2" charset="-122"/>
                </a:rPr>
                <a:t>对任意算子范数</a:t>
              </a:r>
              <a:r>
                <a:rPr lang="en-US" altLang="zh-CN" sz="2400">
                  <a:ea typeface="宋体" panose="02010600030101010101" pitchFamily="2" charset="-122"/>
                </a:rPr>
                <a:t> || · || </a:t>
              </a:r>
              <a:r>
                <a:rPr lang="zh-CN" altLang="en-US" sz="2400">
                  <a:ea typeface="宋体" panose="02010600030101010101" pitchFamily="2" charset="-122"/>
                </a:rPr>
                <a:t>有</a:t>
              </a:r>
              <a:endParaRPr lang="en-US" altLang="zh-CN" sz="2400">
                <a:ea typeface="宋体" panose="02010600030101010101" pitchFamily="2" charset="-122"/>
              </a:endParaRPr>
            </a:p>
          </p:txBody>
        </p:sp>
        <p:graphicFrame>
          <p:nvGraphicFramePr>
            <p:cNvPr id="21536" name="Object 63">
              <a:extLst>
                <a:ext uri="{FF2B5EF4-FFF2-40B4-BE49-F238E27FC236}">
                  <a16:creationId xmlns:a16="http://schemas.microsoft.com/office/drawing/2014/main" id="{BC669369-A4DC-4B45-A7ED-2D7B3776F9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72" y="432"/>
            <a:ext cx="90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8719800" imgH="4686300" progId="Equation.3">
                    <p:embed/>
                  </p:oleObj>
                </mc:Choice>
                <mc:Fallback>
                  <p:oleObj name="Equation" r:id="rId8" imgW="18719800" imgH="4686300" progId="Equation.3">
                    <p:embed/>
                    <p:pic>
                      <p:nvPicPr>
                        <p:cNvPr id="21536" name="Object 63">
                          <a:extLst>
                            <a:ext uri="{FF2B5EF4-FFF2-40B4-BE49-F238E27FC236}">
                              <a16:creationId xmlns:a16="http://schemas.microsoft.com/office/drawing/2014/main" id="{BC669369-A4DC-4B45-A7ED-2D7B3776F9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432"/>
                          <a:ext cx="904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65">
            <a:extLst>
              <a:ext uri="{FF2B5EF4-FFF2-40B4-BE49-F238E27FC236}">
                <a16:creationId xmlns:a16="http://schemas.microsoft.com/office/drawing/2014/main" id="{71386EF7-021E-1043-AFD5-85EEB5CDA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1230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accent2"/>
                </a:solidFill>
                <a:ea typeface="宋体" panose="02010600030101010101" pitchFamily="2" charset="-122"/>
              </a:rPr>
              <a:t>证明：</a:t>
            </a:r>
            <a:endParaRPr lang="en-US" altLang="zh-CN" sz="24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7" name="Group 68">
            <a:extLst>
              <a:ext uri="{FF2B5EF4-FFF2-40B4-BE49-F238E27FC236}">
                <a16:creationId xmlns:a16="http://schemas.microsoft.com/office/drawing/2014/main" id="{7CB3558D-B413-2F47-AA26-943C58B74408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143000"/>
            <a:ext cx="6065838" cy="479425"/>
            <a:chOff x="912" y="720"/>
            <a:chExt cx="3821" cy="302"/>
          </a:xfrm>
        </p:grpSpPr>
        <p:sp>
          <p:nvSpPr>
            <p:cNvPr id="8" name="Text Box 66">
              <a:extLst>
                <a:ext uri="{FF2B5EF4-FFF2-40B4-BE49-F238E27FC236}">
                  <a16:creationId xmlns:a16="http://schemas.microsoft.com/office/drawing/2014/main" id="{36B5E02A-19E0-054B-A998-4B8CC05A0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720"/>
              <a:ext cx="2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itchFamily="18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400">
                  <a:ea typeface="宋体" pitchFamily="2" charset="-122"/>
                </a:rPr>
                <a:t>由算子范数的相容性，得到</a:t>
              </a:r>
              <a:endParaRPr lang="en-US" altLang="zh-CN" sz="2400">
                <a:ea typeface="宋体" pitchFamily="2" charset="-122"/>
              </a:endParaRPr>
            </a:p>
          </p:txBody>
        </p:sp>
        <p:graphicFrame>
          <p:nvGraphicFramePr>
            <p:cNvPr id="21533" name="Object 67">
              <a:extLst>
                <a:ext uri="{FF2B5EF4-FFF2-40B4-BE49-F238E27FC236}">
                  <a16:creationId xmlns:a16="http://schemas.microsoft.com/office/drawing/2014/main" id="{0C45FC00-FF97-7746-8394-0D69242BEE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768"/>
            <a:ext cx="142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8092400" imgH="4686300" progId="Equation.3">
                    <p:embed/>
                  </p:oleObj>
                </mc:Choice>
                <mc:Fallback>
                  <p:oleObj name="Equation" r:id="rId10" imgW="28092400" imgH="4686300" progId="Equation.3">
                    <p:embed/>
                    <p:pic>
                      <p:nvPicPr>
                        <p:cNvPr id="21533" name="Object 67">
                          <a:extLst>
                            <a:ext uri="{FF2B5EF4-FFF2-40B4-BE49-F238E27FC236}">
                              <a16:creationId xmlns:a16="http://schemas.microsoft.com/office/drawing/2014/main" id="{0C45FC00-FF97-7746-8394-0D69242BEE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768"/>
                          <a:ext cx="1421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71">
            <a:extLst>
              <a:ext uri="{FF2B5EF4-FFF2-40B4-BE49-F238E27FC236}">
                <a16:creationId xmlns:a16="http://schemas.microsoft.com/office/drawing/2014/main" id="{664D8012-B47F-6546-A923-9BB735A8981D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676400"/>
            <a:ext cx="6400800" cy="457200"/>
            <a:chOff x="960" y="1056"/>
            <a:chExt cx="4032" cy="288"/>
          </a:xfrm>
        </p:grpSpPr>
        <p:sp>
          <p:nvSpPr>
            <p:cNvPr id="11" name="Text Box 69">
              <a:extLst>
                <a:ext uri="{FF2B5EF4-FFF2-40B4-BE49-F238E27FC236}">
                  <a16:creationId xmlns:a16="http://schemas.microsoft.com/office/drawing/2014/main" id="{8C5E9B79-F8AA-4242-8D08-2455A8A0C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056"/>
              <a:ext cx="40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ea typeface="宋体" panose="02010600030101010101" pitchFamily="2" charset="-122"/>
                </a:rPr>
                <a:t>将任意一个特征根</a:t>
              </a:r>
              <a:r>
                <a:rPr lang="en-US" altLang="zh-CN" sz="2400" dirty="0">
                  <a:ea typeface="宋体" panose="02010600030101010101" pitchFamily="2" charset="-122"/>
                </a:rPr>
                <a:t> </a:t>
              </a:r>
              <a:r>
                <a:rPr lang="en-US" altLang="zh-CN" sz="2400" i="1" dirty="0">
                  <a:ea typeface="宋体" panose="02010600030101010101" pitchFamily="2" charset="-122"/>
                  <a:sym typeface="Symbol" pitchFamily="2" charset="2"/>
                </a:rPr>
                <a:t> </a:t>
              </a:r>
              <a:r>
                <a:rPr lang="zh-CN" altLang="en-US" sz="2400" dirty="0">
                  <a:ea typeface="宋体" panose="02010600030101010101" pitchFamily="2" charset="-122"/>
                  <a:sym typeface="Symbol" pitchFamily="2" charset="2"/>
                </a:rPr>
                <a:t>所对应的特征向量</a:t>
              </a:r>
              <a:r>
                <a:rPr lang="en-US" altLang="zh-CN" sz="2400" dirty="0">
                  <a:ea typeface="宋体" panose="02010600030101010101" pitchFamily="2" charset="-122"/>
                  <a:sym typeface="Symbol" pitchFamily="2" charset="2"/>
                </a:rPr>
                <a:t>    </a:t>
              </a:r>
              <a:r>
                <a:rPr lang="zh-CN" altLang="en-US" sz="2400" dirty="0">
                  <a:ea typeface="宋体" panose="02010600030101010101" pitchFamily="2" charset="-122"/>
                  <a:sym typeface="Symbol" pitchFamily="2" charset="2"/>
                </a:rPr>
                <a:t>代入</a:t>
              </a:r>
              <a:endParaRPr lang="en-US" altLang="zh-CN" sz="2400" dirty="0">
                <a:ea typeface="宋体" panose="02010600030101010101" pitchFamily="2" charset="-122"/>
              </a:endParaRPr>
            </a:p>
          </p:txBody>
        </p:sp>
        <p:graphicFrame>
          <p:nvGraphicFramePr>
            <p:cNvPr id="21531" name="Object 70">
              <a:extLst>
                <a:ext uri="{FF2B5EF4-FFF2-40B4-BE49-F238E27FC236}">
                  <a16:creationId xmlns:a16="http://schemas.microsoft.com/office/drawing/2014/main" id="{9FD95F6F-EE34-434D-909A-D23818DC61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1104"/>
            <a:ext cx="157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213100" imgH="4102100" progId="Equation.3">
                    <p:embed/>
                  </p:oleObj>
                </mc:Choice>
                <mc:Fallback>
                  <p:oleObj name="Equation" r:id="rId12" imgW="3213100" imgH="4102100" progId="Equation.3">
                    <p:embed/>
                    <p:pic>
                      <p:nvPicPr>
                        <p:cNvPr id="21531" name="Object 70">
                          <a:extLst>
                            <a:ext uri="{FF2B5EF4-FFF2-40B4-BE49-F238E27FC236}">
                              <a16:creationId xmlns:a16="http://schemas.microsoft.com/office/drawing/2014/main" id="{9FD95F6F-EE34-434D-909A-D23818DC61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104"/>
                          <a:ext cx="157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74">
            <a:extLst>
              <a:ext uri="{FF2B5EF4-FFF2-40B4-BE49-F238E27FC236}">
                <a16:creationId xmlns:a16="http://schemas.microsoft.com/office/drawing/2014/main" id="{13285C69-981B-4442-A449-4D584685B4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9713" y="2209800"/>
          <a:ext cx="22320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800300" imgH="4686300" progId="Equation.3">
                  <p:embed/>
                </p:oleObj>
              </mc:Choice>
              <mc:Fallback>
                <p:oleObj name="Equation" r:id="rId14" imgW="27800300" imgH="4686300" progId="Equation.3">
                  <p:embed/>
                  <p:pic>
                    <p:nvPicPr>
                      <p:cNvPr id="13" name="Object 74">
                        <a:extLst>
                          <a:ext uri="{FF2B5EF4-FFF2-40B4-BE49-F238E27FC236}">
                            <a16:creationId xmlns:a16="http://schemas.microsoft.com/office/drawing/2014/main" id="{13285C69-981B-4442-A449-4D584685B4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9713" y="2209800"/>
                        <a:ext cx="22320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5">
            <a:extLst>
              <a:ext uri="{FF2B5EF4-FFF2-40B4-BE49-F238E27FC236}">
                <a16:creationId xmlns:a16="http://schemas.microsoft.com/office/drawing/2014/main" id="{D8DC8E07-C040-E145-A84C-1F37B4DB65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209800"/>
          <a:ext cx="216693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092400" imgH="4686300" progId="Equation.3">
                  <p:embed/>
                </p:oleObj>
              </mc:Choice>
              <mc:Fallback>
                <p:oleObj name="Equation" r:id="rId16" imgW="28092400" imgH="4686300" progId="Equation.3">
                  <p:embed/>
                  <p:pic>
                    <p:nvPicPr>
                      <p:cNvPr id="14" name="Object 75">
                        <a:extLst>
                          <a:ext uri="{FF2B5EF4-FFF2-40B4-BE49-F238E27FC236}">
                            <a16:creationId xmlns:a16="http://schemas.microsoft.com/office/drawing/2014/main" id="{D8DC8E07-C040-E145-A84C-1F37B4DB65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209800"/>
                        <a:ext cx="216693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78">
            <a:extLst>
              <a:ext uri="{FF2B5EF4-FFF2-40B4-BE49-F238E27FC236}">
                <a16:creationId xmlns:a16="http://schemas.microsoft.com/office/drawing/2014/main" id="{D43E1B94-CD7C-4C4D-AC57-EED8C5718D96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590800"/>
            <a:ext cx="3733800" cy="0"/>
            <a:chOff x="1200" y="1632"/>
            <a:chExt cx="2352" cy="0"/>
          </a:xfrm>
        </p:grpSpPr>
        <p:sp>
          <p:nvSpPr>
            <p:cNvPr id="16" name="Line 76">
              <a:extLst>
                <a:ext uri="{FF2B5EF4-FFF2-40B4-BE49-F238E27FC236}">
                  <a16:creationId xmlns:a16="http://schemas.microsoft.com/office/drawing/2014/main" id="{F3A423E4-E39F-8B4D-A7C3-AC16DF241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632"/>
              <a:ext cx="28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  <p:sp>
          <p:nvSpPr>
            <p:cNvPr id="17" name="Line 77">
              <a:extLst>
                <a:ext uri="{FF2B5EF4-FFF2-40B4-BE49-F238E27FC236}">
                  <a16:creationId xmlns:a16="http://schemas.microsoft.com/office/drawing/2014/main" id="{C2409406-7197-6949-B34B-E9AEFAA8B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632"/>
              <a:ext cx="3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MS PGothic" charset="0"/>
                <a:cs typeface="MS PGothic" charset="0"/>
              </a:endParaRPr>
            </a:p>
          </p:txBody>
        </p:sp>
      </p:grpSp>
      <p:sp>
        <p:nvSpPr>
          <p:cNvPr id="18" name="Rectangle 79">
            <a:extLst>
              <a:ext uri="{FF2B5EF4-FFF2-40B4-BE49-F238E27FC236}">
                <a16:creationId xmlns:a16="http://schemas.microsoft.com/office/drawing/2014/main" id="{B5B6DA08-F41A-E54D-9095-43F0FFF19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438400"/>
            <a:ext cx="1524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pSp>
        <p:nvGrpSpPr>
          <p:cNvPr id="19" name="Group 84">
            <a:extLst>
              <a:ext uri="{FF2B5EF4-FFF2-40B4-BE49-F238E27FC236}">
                <a16:creationId xmlns:a16="http://schemas.microsoft.com/office/drawing/2014/main" id="{D1AB4E14-A261-E243-9885-8CF260F55594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895600"/>
            <a:ext cx="4856163" cy="644525"/>
            <a:chOff x="384" y="1824"/>
            <a:chExt cx="3059" cy="406"/>
          </a:xfrm>
        </p:grpSpPr>
        <p:sp>
          <p:nvSpPr>
            <p:cNvPr id="20" name="AutoShape 81" descr="白色大理石">
              <a:extLst>
                <a:ext uri="{FF2B5EF4-FFF2-40B4-BE49-F238E27FC236}">
                  <a16:creationId xmlns:a16="http://schemas.microsoft.com/office/drawing/2014/main" id="{4D9ACF0B-61B6-914C-8F80-35CB38DD7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824"/>
              <a:ext cx="672" cy="384"/>
            </a:xfrm>
            <a:prstGeom prst="bevel">
              <a:avLst>
                <a:gd name="adj" fmla="val 12500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0" lang="zh-CN" altLang="en-US" dirty="0">
                  <a:ea typeface="宋体" pitchFamily="2" charset="-122"/>
                </a:rPr>
                <a:t>定理</a:t>
              </a:r>
              <a:endParaRPr kumimoji="0" lang="en-US" altLang="zh-CN" dirty="0">
                <a:ea typeface="宋体" pitchFamily="2" charset="-122"/>
              </a:endParaRPr>
            </a:p>
          </p:txBody>
        </p:sp>
        <p:sp>
          <p:nvSpPr>
            <p:cNvPr id="21" name="Text Box 82">
              <a:extLst>
                <a:ext uri="{FF2B5EF4-FFF2-40B4-BE49-F238E27FC236}">
                  <a16:creationId xmlns:a16="http://schemas.microsoft.com/office/drawing/2014/main" id="{9BD849DC-B194-564E-AD94-1924C7EC1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942"/>
              <a:ext cx="14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ea typeface="宋体" panose="02010600030101010101" pitchFamily="2" charset="-122"/>
                </a:rPr>
                <a:t>若</a:t>
              </a:r>
              <a:r>
                <a:rPr lang="en-US" altLang="zh-CN" sz="2400" i="1" dirty="0">
                  <a:ea typeface="宋体" panose="02010600030101010101" pitchFamily="2" charset="-122"/>
                </a:rPr>
                <a:t>A</a:t>
              </a:r>
              <a:r>
                <a:rPr lang="zh-CN" altLang="en-US" sz="2400" dirty="0">
                  <a:ea typeface="宋体" panose="02010600030101010101" pitchFamily="2" charset="-122"/>
                </a:rPr>
                <a:t>对称，则有</a:t>
              </a:r>
              <a:endParaRPr lang="en-US" altLang="zh-CN" sz="2400" dirty="0">
                <a:ea typeface="宋体" panose="02010600030101010101" pitchFamily="2" charset="-122"/>
              </a:endParaRPr>
            </a:p>
          </p:txBody>
        </p:sp>
        <p:graphicFrame>
          <p:nvGraphicFramePr>
            <p:cNvPr id="21527" name="Object 83">
              <a:extLst>
                <a:ext uri="{FF2B5EF4-FFF2-40B4-BE49-F238E27FC236}">
                  <a16:creationId xmlns:a16="http://schemas.microsoft.com/office/drawing/2014/main" id="{73D761FE-52F5-2D42-97C4-8CB7F3FBEF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1968"/>
            <a:ext cx="947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9596100" imgH="4978400" progId="Equation.3">
                    <p:embed/>
                  </p:oleObj>
                </mc:Choice>
                <mc:Fallback>
                  <p:oleObj name="Equation" r:id="rId18" imgW="19596100" imgH="4978400" progId="Equation.3">
                    <p:embed/>
                    <p:pic>
                      <p:nvPicPr>
                        <p:cNvPr id="21527" name="Object 83">
                          <a:extLst>
                            <a:ext uri="{FF2B5EF4-FFF2-40B4-BE49-F238E27FC236}">
                              <a16:creationId xmlns:a16="http://schemas.microsoft.com/office/drawing/2014/main" id="{73D761FE-52F5-2D42-97C4-8CB7F3FBEF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968"/>
                          <a:ext cx="947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 Box 85">
            <a:extLst>
              <a:ext uri="{FF2B5EF4-FFF2-40B4-BE49-F238E27FC236}">
                <a16:creationId xmlns:a16="http://schemas.microsoft.com/office/drawing/2014/main" id="{B4186C30-FCFC-B946-857D-7B62E3259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581400"/>
            <a:ext cx="1154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accent2"/>
                </a:solidFill>
                <a:ea typeface="宋体" panose="02010600030101010101" pitchFamily="2" charset="-122"/>
              </a:rPr>
              <a:t>证明：</a:t>
            </a:r>
            <a:endParaRPr lang="en-US" altLang="zh-CN" sz="24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4" name="Object 92">
            <a:extLst>
              <a:ext uri="{FF2B5EF4-FFF2-40B4-BE49-F238E27FC236}">
                <a16:creationId xmlns:a16="http://schemas.microsoft.com/office/drawing/2014/main" id="{224579BD-94D0-D04E-B212-4DDECC5E33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505200"/>
          <a:ext cx="40163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8856900" imgH="6731000" progId="Equation.3">
                  <p:embed/>
                </p:oleObj>
              </mc:Choice>
              <mc:Fallback>
                <p:oleObj name="Equation" r:id="rId20" imgW="48856900" imgH="6731000" progId="Equation.3">
                  <p:embed/>
                  <p:pic>
                    <p:nvPicPr>
                      <p:cNvPr id="24" name="Object 92">
                        <a:extLst>
                          <a:ext uri="{FF2B5EF4-FFF2-40B4-BE49-F238E27FC236}">
                            <a16:creationId xmlns:a16="http://schemas.microsoft.com/office/drawing/2014/main" id="{224579BD-94D0-D04E-B212-4DDECC5E33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505200"/>
                        <a:ext cx="401637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94">
            <a:extLst>
              <a:ext uri="{FF2B5EF4-FFF2-40B4-BE49-F238E27FC236}">
                <a16:creationId xmlns:a16="http://schemas.microsoft.com/office/drawing/2014/main" id="{B0A14C7E-8075-0C48-BB9F-1A5B7929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200400"/>
            <a:ext cx="1676400" cy="609600"/>
          </a:xfrm>
          <a:prstGeom prst="wedgeEllipseCallout">
            <a:avLst>
              <a:gd name="adj1" fmla="val -81250"/>
              <a:gd name="adj2" fmla="val 52606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 i="1">
                <a:ea typeface="宋体" panose="02010600030101010101" pitchFamily="2" charset="-122"/>
              </a:rPr>
              <a:t>A</a:t>
            </a:r>
            <a:r>
              <a:rPr lang="zh-CN" altLang="en-US" sz="2400">
                <a:ea typeface="宋体" panose="02010600030101010101" pitchFamily="2" charset="-122"/>
              </a:rPr>
              <a:t>对称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26" name="Text Box 95">
            <a:extLst>
              <a:ext uri="{FF2B5EF4-FFF2-40B4-BE49-F238E27FC236}">
                <a16:creationId xmlns:a16="http://schemas.microsoft.com/office/drawing/2014/main" id="{4A8627AC-2DAF-0347-8786-6D842F0DF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1148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宋体" panose="02010600030101010101" pitchFamily="2" charset="-122"/>
              </a:rPr>
              <a:t>若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 </a:t>
            </a: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是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的一个特征根，则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</a:t>
            </a:r>
            <a:r>
              <a:rPr lang="en-US" altLang="zh-CN" sz="2400" baseline="30000">
                <a:ea typeface="宋体" panose="02010600030101010101" pitchFamily="2" charset="-122"/>
                <a:sym typeface="Symbol" pitchFamily="2" charset="2"/>
              </a:rPr>
              <a:t>2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必是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A</a:t>
            </a:r>
            <a:r>
              <a:rPr lang="en-US" altLang="zh-CN" sz="2400" baseline="30000">
                <a:ea typeface="宋体" panose="02010600030101010101" pitchFamily="2" charset="-122"/>
                <a:sym typeface="Symbol" pitchFamily="2" charset="2"/>
              </a:rPr>
              <a:t>2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的特征根。</a:t>
            </a:r>
            <a:endParaRPr lang="en-US" altLang="zh-CN" sz="2400" i="1">
              <a:ea typeface="宋体" panose="02010600030101010101" pitchFamily="2" charset="-122"/>
              <a:sym typeface="Symbol" pitchFamily="2" charset="2"/>
            </a:endParaRPr>
          </a:p>
        </p:txBody>
      </p:sp>
      <p:sp>
        <p:nvSpPr>
          <p:cNvPr id="27" name="Text Box 97">
            <a:extLst>
              <a:ext uri="{FF2B5EF4-FFF2-40B4-BE49-F238E27FC236}">
                <a16:creationId xmlns:a16="http://schemas.microsoft.com/office/drawing/2014/main" id="{893EFD59-B9EA-8741-8F3B-49BDD7D86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105400"/>
            <a:ext cx="7239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宋体" panose="02010600030101010101" pitchFamily="2" charset="-122"/>
              </a:rPr>
              <a:t>又：对称矩阵的特征根为实数，即</a:t>
            </a: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</a:t>
            </a:r>
            <a:r>
              <a:rPr lang="en-US" altLang="zh-CN" sz="2400" baseline="30000">
                <a:ea typeface="宋体" panose="02010600030101010101" pitchFamily="2" charset="-122"/>
                <a:sym typeface="Symbol" pitchFamily="2" charset="2"/>
              </a:rPr>
              <a:t>2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(</a:t>
            </a:r>
            <a:r>
              <a:rPr lang="en-US" altLang="zh-CN" sz="2400" i="1">
                <a:ea typeface="宋体" panose="02010600030101010101" pitchFamily="2" charset="-122"/>
                <a:sym typeface="Symbol" pitchFamily="2" charset="2"/>
              </a:rPr>
              <a:t>A</a:t>
            </a:r>
            <a:r>
              <a:rPr lang="en-US" altLang="zh-CN" sz="2400">
                <a:ea typeface="宋体" panose="02010600030101010101" pitchFamily="2" charset="-122"/>
                <a:sym typeface="Symbol" pitchFamily="2" charset="2"/>
              </a:rPr>
              <a:t>) </a:t>
            </a: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为非负实数，</a:t>
            </a:r>
            <a:endParaRPr lang="en-US" altLang="zh-CN" sz="2400">
              <a:ea typeface="宋体" panose="02010600030101010101" pitchFamily="2" charset="-122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宋体" panose="02010600030101010101" pitchFamily="2" charset="-122"/>
                <a:sym typeface="Symbol" pitchFamily="2" charset="2"/>
              </a:rPr>
              <a:t>故得证。</a:t>
            </a:r>
            <a:endParaRPr lang="en-US" altLang="zh-CN" sz="2400">
              <a:ea typeface="宋体" panose="02010600030101010101" pitchFamily="2" charset="-122"/>
              <a:sym typeface="Symbol" pitchFamily="2" charset="2"/>
            </a:endParaRPr>
          </a:p>
        </p:txBody>
      </p:sp>
      <p:sp>
        <p:nvSpPr>
          <p:cNvPr id="28" name="Rectangle 98">
            <a:extLst>
              <a:ext uri="{FF2B5EF4-FFF2-40B4-BE49-F238E27FC236}">
                <a16:creationId xmlns:a16="http://schemas.microsoft.com/office/drawing/2014/main" id="{9DCDA047-36B1-7745-8C3D-9383E3AF0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943600"/>
            <a:ext cx="152400" cy="228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altLang="zh-CN">
              <a:ea typeface="宋体" pitchFamily="2" charset="-122"/>
            </a:endParaRPr>
          </a:p>
        </p:txBody>
      </p:sp>
      <p:grpSp>
        <p:nvGrpSpPr>
          <p:cNvPr id="29" name="Group 100">
            <a:extLst>
              <a:ext uri="{FF2B5EF4-FFF2-40B4-BE49-F238E27FC236}">
                <a16:creationId xmlns:a16="http://schemas.microsoft.com/office/drawing/2014/main" id="{66812E8B-73C5-9243-B255-B371E844269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4605338"/>
            <a:ext cx="6172200" cy="463550"/>
            <a:chOff x="1200" y="2901"/>
            <a:chExt cx="3888" cy="292"/>
          </a:xfrm>
        </p:grpSpPr>
        <p:graphicFrame>
          <p:nvGraphicFramePr>
            <p:cNvPr id="21523" name="Object 96">
              <a:extLst>
                <a:ext uri="{FF2B5EF4-FFF2-40B4-BE49-F238E27FC236}">
                  <a16:creationId xmlns:a16="http://schemas.microsoft.com/office/drawing/2014/main" id="{39B6515C-01E2-174A-9836-39F9E82A8E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0" y="2928"/>
            <a:ext cx="1552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2473900" imgH="5562600" progId="Equation.3">
                    <p:embed/>
                  </p:oleObj>
                </mc:Choice>
                <mc:Fallback>
                  <p:oleObj name="Equation" r:id="rId22" imgW="32473900" imgH="5562600" progId="Equation.3">
                    <p:embed/>
                    <p:pic>
                      <p:nvPicPr>
                        <p:cNvPr id="21523" name="Object 96">
                          <a:extLst>
                            <a:ext uri="{FF2B5EF4-FFF2-40B4-BE49-F238E27FC236}">
                              <a16:creationId xmlns:a16="http://schemas.microsoft.com/office/drawing/2014/main" id="{39B6515C-01E2-174A-9836-39F9E82A8E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928"/>
                          <a:ext cx="1552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Text Box 99">
              <a:extLst>
                <a:ext uri="{FF2B5EF4-FFF2-40B4-BE49-F238E27FC236}">
                  <a16:creationId xmlns:a16="http://schemas.microsoft.com/office/drawing/2014/main" id="{60ED2F50-9454-6440-A224-26AEBBDCF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901"/>
              <a:ext cx="2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ea typeface="宋体" panose="02010600030101010101" pitchFamily="2" charset="-122"/>
                </a:rPr>
                <a:t>对某个</a:t>
              </a:r>
              <a:r>
                <a:rPr lang="en-US" altLang="zh-CN" sz="2400">
                  <a:ea typeface="宋体" panose="02010600030101010101" pitchFamily="2" charset="-122"/>
                  <a:sym typeface="Symbol" pitchFamily="2" charset="2"/>
                </a:rPr>
                <a:t> </a:t>
              </a:r>
              <a:r>
                <a:rPr lang="en-US" altLang="zh-CN" sz="2400" i="1">
                  <a:ea typeface="宋体" panose="02010600030101010101" pitchFamily="2" charset="-122"/>
                  <a:sym typeface="Symbol" pitchFamily="2" charset="2"/>
                </a:rPr>
                <a:t>A</a:t>
              </a:r>
              <a:r>
                <a:rPr lang="en-US" altLang="zh-CN" sz="2400">
                  <a:ea typeface="宋体" panose="02010600030101010101" pitchFamily="2" charset="-122"/>
                  <a:sym typeface="Symbol" pitchFamily="2" charset="2"/>
                </a:rPr>
                <a:t> </a:t>
              </a:r>
              <a:r>
                <a:rPr lang="zh-CN" altLang="en-US" sz="2400">
                  <a:ea typeface="宋体" panose="02010600030101010101" pitchFamily="2" charset="-122"/>
                  <a:sym typeface="Symbol" pitchFamily="2" charset="2"/>
                </a:rPr>
                <a:t>的特征根</a:t>
              </a:r>
              <a:r>
                <a:rPr lang="en-US" altLang="zh-CN" sz="2400" i="1">
                  <a:ea typeface="宋体" panose="02010600030101010101" pitchFamily="2" charset="-122"/>
                  <a:sym typeface="Symbol" pitchFamily="2" charset="2"/>
                </a:rPr>
                <a:t></a:t>
              </a:r>
              <a:r>
                <a:rPr lang="en-US" altLang="zh-CN" sz="2400">
                  <a:ea typeface="宋体" panose="02010600030101010101" pitchFamily="2" charset="-122"/>
                  <a:sym typeface="Symbol" pitchFamily="2" charset="2"/>
                </a:rPr>
                <a:t> </a:t>
              </a:r>
              <a:r>
                <a:rPr lang="zh-CN" altLang="en-US" sz="2400">
                  <a:ea typeface="宋体" panose="02010600030101010101" pitchFamily="2" charset="-122"/>
                  <a:sym typeface="Symbol" pitchFamily="2" charset="2"/>
                </a:rPr>
                <a:t>成立</a:t>
              </a:r>
              <a:endParaRPr lang="en-US" altLang="zh-CN" sz="2400">
                <a:ea typeface="宋体" panose="02010600030101010101" pitchFamily="2" charset="-122"/>
                <a:sym typeface="Symbol" pitchFamily="2" charset="2"/>
              </a:endParaRPr>
            </a:p>
          </p:txBody>
        </p:sp>
      </p:grpSp>
      <p:sp>
        <p:nvSpPr>
          <p:cNvPr id="32" name="AutoShape 101">
            <a:extLst>
              <a:ext uri="{FF2B5EF4-FFF2-40B4-BE49-F238E27FC236}">
                <a16:creationId xmlns:a16="http://schemas.microsoft.com/office/drawing/2014/main" id="{B589FAB9-6629-4444-8141-38AE78491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257800"/>
            <a:ext cx="3657600" cy="1066800"/>
          </a:xfrm>
          <a:prstGeom prst="wedgeEllipseCallout">
            <a:avLst>
              <a:gd name="adj1" fmla="val 2083"/>
              <a:gd name="adj2" fmla="val -225597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2400">
                <a:ea typeface="宋体" panose="02010600030101010101" pitchFamily="2" charset="-122"/>
              </a:rPr>
              <a:t>所以</a:t>
            </a:r>
            <a:r>
              <a:rPr lang="en-US" altLang="zh-CN" sz="2400">
                <a:ea typeface="宋体" panose="02010600030101010101" pitchFamily="2" charset="-122"/>
              </a:rPr>
              <a:t>2-</a:t>
            </a:r>
            <a:r>
              <a:rPr lang="zh-CN" altLang="en-US" sz="2400">
                <a:ea typeface="宋体" panose="02010600030101010101" pitchFamily="2" charset="-122"/>
              </a:rPr>
              <a:t>范数亦称为</a:t>
            </a:r>
            <a:r>
              <a:rPr lang="zh-CN" altLang="en-US" sz="2400">
                <a:solidFill>
                  <a:schemeClr val="accent2"/>
                </a:solidFill>
                <a:ea typeface="宋体" panose="02010600030101010101" pitchFamily="2" charset="-122"/>
              </a:rPr>
              <a:t>谱范数</a:t>
            </a:r>
            <a:r>
              <a:rPr lang="zh-CN" altLang="en-US" sz="2400">
                <a:ea typeface="宋体" panose="02010600030101010101" pitchFamily="2" charset="-122"/>
              </a:rPr>
              <a:t>。</a:t>
            </a:r>
            <a:endParaRPr lang="en-US" altLang="zh-CN" sz="240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078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8" grpId="0" animBg="1"/>
      <p:bldP spid="23" grpId="0" autoUpdateAnimBg="0"/>
      <p:bldP spid="25" grpId="0" animBg="1" autoUpdateAnimBg="0"/>
      <p:bldP spid="26" grpId="0" autoUpdateAnimBg="0"/>
      <p:bldP spid="27" grpId="0" autoUpdateAnimBg="0"/>
      <p:bldP spid="28" grpId="0" animBg="1"/>
      <p:bldP spid="32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705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159DA6-7B7A-EE4B-8A32-43051F118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" y="1938337"/>
            <a:ext cx="902017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158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15333</TotalTime>
  <Words>1183</Words>
  <Application>Microsoft Office PowerPoint</Application>
  <PresentationFormat>全屏显示(4:3)</PresentationFormat>
  <Paragraphs>296</Paragraphs>
  <Slides>21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黑体</vt:lpstr>
      <vt:lpstr>楷体_GB2312</vt:lpstr>
      <vt:lpstr>SimSun</vt:lpstr>
      <vt:lpstr>SimSun</vt:lpstr>
      <vt:lpstr>Arial</vt:lpstr>
      <vt:lpstr>Calibri</vt:lpstr>
      <vt:lpstr>MT Extra</vt:lpstr>
      <vt:lpstr>Symbol</vt:lpstr>
      <vt:lpstr>Times New Roman</vt:lpstr>
      <vt:lpstr>Wingdings</vt:lpstr>
      <vt:lpstr>Office Theme</vt:lpstr>
      <vt:lpstr>Equation</vt:lpstr>
      <vt:lpstr>Document</vt:lpstr>
      <vt:lpstr>文档</vt:lpstr>
      <vt:lpstr>公式</vt:lpstr>
      <vt:lpstr>解线性方程组的迭代法</vt:lpstr>
      <vt:lpstr>PowerPoint 演示文稿</vt:lpstr>
      <vt:lpstr>PowerPoint 演示文稿</vt:lpstr>
      <vt:lpstr>线性方程组的解法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Jacobi迭代公式</vt:lpstr>
      <vt:lpstr>Jacobi迭代结果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飞 徐</cp:lastModifiedBy>
  <cp:revision>2123</cp:revision>
  <dcterms:created xsi:type="dcterms:W3CDTF">2006-08-16T00:00:00Z</dcterms:created>
  <dcterms:modified xsi:type="dcterms:W3CDTF">2025-05-27T12:51:30Z</dcterms:modified>
</cp:coreProperties>
</file>
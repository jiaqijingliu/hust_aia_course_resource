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2"/>
  </p:notesMasterIdLst>
  <p:handoutMasterIdLst>
    <p:handoutMasterId r:id="rId143"/>
  </p:handoutMasterIdLst>
  <p:sldIdLst>
    <p:sldId id="574" r:id="rId2"/>
    <p:sldId id="729" r:id="rId3"/>
    <p:sldId id="680" r:id="rId4"/>
    <p:sldId id="681" r:id="rId5"/>
    <p:sldId id="686" r:id="rId6"/>
    <p:sldId id="664" r:id="rId7"/>
    <p:sldId id="663" r:id="rId8"/>
    <p:sldId id="785" r:id="rId9"/>
    <p:sldId id="787" r:id="rId10"/>
    <p:sldId id="838" r:id="rId11"/>
    <p:sldId id="666" r:id="rId12"/>
    <p:sldId id="839" r:id="rId13"/>
    <p:sldId id="668" r:id="rId14"/>
    <p:sldId id="840" r:id="rId15"/>
    <p:sldId id="843" r:id="rId16"/>
    <p:sldId id="670" r:id="rId17"/>
    <p:sldId id="721" r:id="rId18"/>
    <p:sldId id="1053" r:id="rId19"/>
    <p:sldId id="1054" r:id="rId20"/>
    <p:sldId id="722" r:id="rId21"/>
    <p:sldId id="723" r:id="rId22"/>
    <p:sldId id="724" r:id="rId23"/>
    <p:sldId id="671" r:id="rId24"/>
    <p:sldId id="672" r:id="rId25"/>
    <p:sldId id="673" r:id="rId26"/>
    <p:sldId id="677" r:id="rId27"/>
    <p:sldId id="727" r:id="rId28"/>
    <p:sldId id="678" r:id="rId29"/>
    <p:sldId id="690" r:id="rId30"/>
    <p:sldId id="925" r:id="rId31"/>
    <p:sldId id="687" r:id="rId32"/>
    <p:sldId id="694" r:id="rId33"/>
    <p:sldId id="679" r:id="rId34"/>
    <p:sldId id="695" r:id="rId35"/>
    <p:sldId id="696" r:id="rId36"/>
    <p:sldId id="697" r:id="rId37"/>
    <p:sldId id="698" r:id="rId38"/>
    <p:sldId id="699" r:id="rId39"/>
    <p:sldId id="700" r:id="rId40"/>
    <p:sldId id="701" r:id="rId41"/>
    <p:sldId id="702" r:id="rId42"/>
    <p:sldId id="728" r:id="rId43"/>
    <p:sldId id="707" r:id="rId44"/>
    <p:sldId id="708" r:id="rId45"/>
    <p:sldId id="709" r:id="rId46"/>
    <p:sldId id="710" r:id="rId47"/>
    <p:sldId id="713" r:id="rId48"/>
    <p:sldId id="716" r:id="rId49"/>
    <p:sldId id="717" r:id="rId50"/>
    <p:sldId id="926" r:id="rId51"/>
    <p:sldId id="927" r:id="rId52"/>
    <p:sldId id="718" r:id="rId53"/>
    <p:sldId id="928" r:id="rId54"/>
    <p:sldId id="720" r:id="rId55"/>
    <p:sldId id="956" r:id="rId56"/>
    <p:sldId id="957" r:id="rId57"/>
    <p:sldId id="958" r:id="rId58"/>
    <p:sldId id="959" r:id="rId59"/>
    <p:sldId id="960" r:id="rId60"/>
    <p:sldId id="961" r:id="rId61"/>
    <p:sldId id="962" r:id="rId62"/>
    <p:sldId id="963" r:id="rId63"/>
    <p:sldId id="964" r:id="rId64"/>
    <p:sldId id="965" r:id="rId65"/>
    <p:sldId id="966" r:id="rId66"/>
    <p:sldId id="967" r:id="rId67"/>
    <p:sldId id="968" r:id="rId68"/>
    <p:sldId id="969" r:id="rId69"/>
    <p:sldId id="970" r:id="rId70"/>
    <p:sldId id="971" r:id="rId71"/>
    <p:sldId id="972" r:id="rId72"/>
    <p:sldId id="973" r:id="rId73"/>
    <p:sldId id="974" r:id="rId74"/>
    <p:sldId id="975" r:id="rId75"/>
    <p:sldId id="976" r:id="rId76"/>
    <p:sldId id="977" r:id="rId77"/>
    <p:sldId id="978" r:id="rId78"/>
    <p:sldId id="979" r:id="rId79"/>
    <p:sldId id="980" r:id="rId80"/>
    <p:sldId id="981" r:id="rId81"/>
    <p:sldId id="982" r:id="rId82"/>
    <p:sldId id="983" r:id="rId83"/>
    <p:sldId id="984" r:id="rId84"/>
    <p:sldId id="985" r:id="rId85"/>
    <p:sldId id="986" r:id="rId86"/>
    <p:sldId id="987" r:id="rId87"/>
    <p:sldId id="990" r:id="rId88"/>
    <p:sldId id="991" r:id="rId89"/>
    <p:sldId id="992" r:id="rId90"/>
    <p:sldId id="993" r:id="rId91"/>
    <p:sldId id="994" r:id="rId92"/>
    <p:sldId id="995" r:id="rId93"/>
    <p:sldId id="996" r:id="rId94"/>
    <p:sldId id="997" r:id="rId95"/>
    <p:sldId id="998" r:id="rId96"/>
    <p:sldId id="999" r:id="rId97"/>
    <p:sldId id="1000" r:id="rId98"/>
    <p:sldId id="1001" r:id="rId99"/>
    <p:sldId id="1002" r:id="rId100"/>
    <p:sldId id="1003" r:id="rId101"/>
    <p:sldId id="1004" r:id="rId102"/>
    <p:sldId id="1005" r:id="rId103"/>
    <p:sldId id="1006" r:id="rId104"/>
    <p:sldId id="1007" r:id="rId105"/>
    <p:sldId id="1008" r:id="rId106"/>
    <p:sldId id="1009" r:id="rId107"/>
    <p:sldId id="1010" r:id="rId108"/>
    <p:sldId id="1011" r:id="rId109"/>
    <p:sldId id="1012" r:id="rId110"/>
    <p:sldId id="1013" r:id="rId111"/>
    <p:sldId id="1018" r:id="rId112"/>
    <p:sldId id="1019" r:id="rId113"/>
    <p:sldId id="1020" r:id="rId114"/>
    <p:sldId id="1021" r:id="rId115"/>
    <p:sldId id="1022" r:id="rId116"/>
    <p:sldId id="1023" r:id="rId117"/>
    <p:sldId id="1024" r:id="rId118"/>
    <p:sldId id="1025" r:id="rId119"/>
    <p:sldId id="1026" r:id="rId120"/>
    <p:sldId id="1027" r:id="rId121"/>
    <p:sldId id="1028" r:id="rId122"/>
    <p:sldId id="1029" r:id="rId123"/>
    <p:sldId id="1030" r:id="rId124"/>
    <p:sldId id="1031" r:id="rId125"/>
    <p:sldId id="1032" r:id="rId126"/>
    <p:sldId id="1033" r:id="rId127"/>
    <p:sldId id="1034" r:id="rId128"/>
    <p:sldId id="1035" r:id="rId129"/>
    <p:sldId id="1036" r:id="rId130"/>
    <p:sldId id="1037" r:id="rId131"/>
    <p:sldId id="1038" r:id="rId132"/>
    <p:sldId id="1039" r:id="rId133"/>
    <p:sldId id="1045" r:id="rId134"/>
    <p:sldId id="1046" r:id="rId135"/>
    <p:sldId id="1047" r:id="rId136"/>
    <p:sldId id="1048" r:id="rId137"/>
    <p:sldId id="1049" r:id="rId138"/>
    <p:sldId id="1050" r:id="rId139"/>
    <p:sldId id="1051" r:id="rId140"/>
    <p:sldId id="1052" r:id="rId141"/>
  </p:sldIdLst>
  <p:sldSz cx="9144000" cy="6858000" type="screen4x3"/>
  <p:notesSz cx="6858000" cy="9144000"/>
  <p:defaultTextStyle>
    <a:defPPr>
      <a:defRPr lang="zh-CN"/>
    </a:defPPr>
    <a:lvl1pPr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00"/>
    <a:srgbClr val="00FF00"/>
    <a:srgbClr val="66FF66"/>
    <a:srgbClr val="CCFF99"/>
    <a:srgbClr val="FF66FF"/>
    <a:srgbClr val="FF9933"/>
    <a:srgbClr val="FF0066"/>
    <a:srgbClr val="B4B9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49" autoAdjust="0"/>
    <p:restoredTop sz="94687" autoAdjust="0"/>
  </p:normalViewPr>
  <p:slideViewPr>
    <p:cSldViewPr>
      <p:cViewPr varScale="1">
        <p:scale>
          <a:sx n="93" d="100"/>
          <a:sy n="93" d="100"/>
        </p:scale>
        <p:origin x="360" y="72"/>
      </p:cViewPr>
      <p:guideLst>
        <p:guide orient="horz" pos="2160"/>
        <p:guide pos="28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1734" y="-90"/>
      </p:cViewPr>
      <p:guideLst>
        <p:guide orient="horz" pos="2880"/>
        <p:guide pos="21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5566480-087B-4B20-8CCE-C8E40CACD8B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BBD8278-9B0A-47F7-8E21-A5234346997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D8278-9B0A-47F7-8E21-A52343469978}" type="slidenum">
              <a:rPr lang="en-US" altLang="zh-CN" smtClean="0"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10:12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455766" y="155478"/>
            <a:ext cx="3441280" cy="695422"/>
            <a:chOff x="5707269" y="0"/>
            <a:chExt cx="3441280" cy="69542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544" y="0"/>
              <a:ext cx="3439005" cy="69542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269" y="56229"/>
              <a:ext cx="839807" cy="63919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ircle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circle/>
  </p:transition>
  <p:hf sldNum="0" hdr="0" ftr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878205" y="916940"/>
            <a:ext cx="8017510" cy="4756785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en-US" altLang="zh-CN" sz="5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3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楷体" panose="02010600040101010101" charset="-122"/>
                <a:ea typeface="华文楷体" panose="02010600040101010101" charset="-122"/>
                <a:sym typeface="+mn-ea"/>
              </a:rPr>
              <a:t>第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楷体" panose="02010600040101010101" charset="-122"/>
                <a:ea typeface="华文楷体" panose="02010600040101010101" charset="-122"/>
                <a:sym typeface="+mn-ea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楷体" panose="02010600040101010101" charset="-122"/>
                <a:ea typeface="华文楷体" panose="02010600040101010101" charset="-122"/>
                <a:sym typeface="+mn-ea"/>
              </a:rPr>
              <a:t>章</a:t>
            </a:r>
            <a:b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</a:br>
            <a:b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sym typeface="+mn-ea"/>
              </a:rPr>
              <a:t>汇编语言程序设计</a:t>
            </a:r>
          </a:p>
        </p:txBody>
      </p:sp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  <a:sym typeface="+mn-ea"/>
              </a:rPr>
              <a:t>本章主要内容</a:t>
            </a:r>
            <a:endParaRPr lang="zh-CN" altLang="en-US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§4.1 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汇编语言程序格式和伪指令</a:t>
            </a:r>
            <a:b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§4.2  </a:t>
            </a:r>
            <a:r>
              <a:rPr lang="en-US" altLang="zh-CN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DOS</a:t>
            </a:r>
            <a:r>
              <a:rPr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系统功能调用和</a:t>
            </a:r>
            <a:r>
              <a:rPr 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</a:t>
            </a:r>
            <a:r>
              <a:rPr lang="en-US" altLang="zh-CN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BIOS</a:t>
            </a:r>
            <a:r>
              <a:rPr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中断调用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（不考，实验会用）</a:t>
            </a:r>
            <a:b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§4.3 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汇编语言程序设计方法与实例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关于汇编语言：引子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5240"/>
            <a:ext cx="8405495" cy="4526280"/>
          </a:xfrm>
        </p:spPr>
        <p:txBody>
          <a:bodyPr/>
          <a:lstStyle/>
          <a:p>
            <a:pPr marL="363855" indent="-363855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+mn-lt"/>
              </a:rPr>
              <a:t>什么是汇编语言（</a:t>
            </a:r>
            <a:r>
              <a:rPr lang="en-US" sz="2400" b="1" dirty="0">
                <a:latin typeface="+mn-lt"/>
              </a:rPr>
              <a:t>Assembly Language</a:t>
            </a:r>
            <a:r>
              <a:rPr lang="zh-CN" altLang="en-US" sz="2400" b="1" dirty="0">
                <a:latin typeface="+mn-lt"/>
              </a:rPr>
              <a:t>）？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定义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：使用指令的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助记符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符号地址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标号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等编写的程序设计语言。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特点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：汇编指令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与机器码一一对应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；特定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汇编语言只针对特定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CPU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marL="363855" indent="-363855">
              <a:buFont typeface="Wingdings" panose="05000000000000000000" pitchFamily="2" charset="2"/>
              <a:buChar char="l"/>
            </a:pPr>
            <a:r>
              <a:rPr lang="zh-CN" altLang="en-US" sz="2400" b="1" dirty="0"/>
              <a:t>用汇编语言编程的优缺点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优点：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运行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速度快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实时性好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，占用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内存空间小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，能最大限度地发挥硬件的作用。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缺点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：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可读性差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移植性差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，对程序员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要求高</a:t>
            </a:r>
          </a:p>
          <a:p>
            <a:pPr marL="363855" indent="-363855" algn="l">
              <a:buFont typeface="Wingdings" panose="05000000000000000000" pitchFamily="2" charset="2"/>
              <a:buChar char="l"/>
            </a:pPr>
            <a:r>
              <a:rPr lang="zh-CN" altLang="en-US" sz="2400" b="1" dirty="0"/>
              <a:t>汇编语言的适用场合</a:t>
            </a:r>
            <a:endParaRPr lang="zh-CN" altLang="en-US" sz="2400" b="1" dirty="0">
              <a:latin typeface="+mn-lt"/>
              <a:ea typeface="+mn-ea"/>
            </a:endParaRP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绝大部分系统软件；涉及快速处理、位处理和访问硬件设备的高效程序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——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实时数据处理程序、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实时控制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程序、高级绘图程序、游戏程序等。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 algn="l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</a:rPr>
              <a:t>学习汇编语言的目的</a:t>
            </a:r>
            <a:r>
              <a:rPr lang="zh-CN" altLang="en-US" b="1" dirty="0"/>
              <a:t>：</a:t>
            </a:r>
            <a:endParaRPr lang="zh-CN" alt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华文新魏" panose="02010800040101010101" pitchFamily="2" charset="-122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新魏" panose="02010800040101010101" pitchFamily="2" charset="-122"/>
              </a:rPr>
              <a:t>      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新魏" panose="02010800040101010101" pitchFamily="2" charset="-122"/>
              </a:rPr>
              <a:t>理解微型计算机及接口原理；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新魏" panose="02010800040101010101" pitchFamily="2" charset="-122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      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学会一种汇编语言，就能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举一反三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触类旁通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。也就打好了学习</a:t>
            </a:r>
            <a:r>
              <a:rPr 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32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位、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64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位高档机程序设计的基础。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华文新魏" panose="02010800040101010101" pitchFamily="2" charset="-122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新魏" panose="02010800040101010101" pitchFamily="2" charset="-122"/>
              </a:rPr>
              <a:t>      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新魏" panose="02010800040101010101" pitchFamily="2" charset="-122"/>
              </a:rPr>
              <a:t>学习汇编语言同样可以加深对高级语言设计的理解，有益于提高高级语言编程能力。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华文新魏" panose="0201080004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7" name="标题 3">
            <a:extLst>
              <a:ext uri="{FF2B5EF4-FFF2-40B4-BE49-F238E27FC236}">
                <a16:creationId xmlns:a16="http://schemas.microsoft.com/office/drawing/2014/main" id="{B85CDA1A-65CA-4273-8C51-8B6B186417E6}"/>
              </a:ext>
            </a:extLst>
          </p:cNvPr>
          <p:cNvSpPr txBox="1">
            <a:spLocks/>
          </p:cNvSpPr>
          <p:nvPr/>
        </p:nvSpPr>
        <p:spPr>
          <a:xfrm>
            <a:off x="465030" y="45720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FontTx/>
            </a:pPr>
            <a:r>
              <a:rPr lang="zh-CN" altLang="en-US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关于汇编语言：</a:t>
            </a:r>
            <a:r>
              <a:rPr kumimoji="0" lang="zh-CN" altLang="en-US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引子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70940"/>
            <a:ext cx="8229600" cy="4955540"/>
          </a:xfrm>
        </p:spPr>
        <p:txBody>
          <a:bodyPr/>
          <a:lstStyle/>
          <a:p>
            <a:r>
              <a:rPr lang="zh-CN" altLang="en-US" sz="2800" b="1" dirty="0"/>
              <a:t>汇编语言的汇编处理过程</a:t>
            </a:r>
          </a:p>
          <a:p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385445" y="3331210"/>
            <a:ext cx="8372475" cy="24085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ts val="600"/>
              </a:spcBef>
            </a:pP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1)编辑</a:t>
            </a:r>
            <a:r>
              <a:rPr lang="en-US" altLang="zh-CN" sz="2600" b="1" dirty="0">
                <a:latin typeface="+mn-lt"/>
                <a:ea typeface="黑体" panose="02010609060101010101" pitchFamily="2" charset="-122"/>
              </a:rPr>
              <a:t>(EDIT.EXE)</a:t>
            </a: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：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按语法规则编写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源程序 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PROG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.ASM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；</a:t>
            </a:r>
          </a:p>
          <a:p>
            <a:pPr>
              <a:spcBef>
                <a:spcPts val="600"/>
              </a:spcBef>
            </a:pP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2</a:t>
            </a:r>
            <a:r>
              <a:rPr lang="en-US" altLang="zh-CN" sz="2600" b="1" dirty="0">
                <a:latin typeface="+mn-lt"/>
                <a:ea typeface="黑体" panose="02010609060101010101" pitchFamily="2" charset="-122"/>
              </a:rPr>
              <a:t>)</a:t>
            </a: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汇编</a:t>
            </a:r>
            <a:r>
              <a:rPr lang="en-US" altLang="zh-CN" sz="2600" b="1" dirty="0">
                <a:latin typeface="+mn-lt"/>
                <a:ea typeface="黑体" panose="02010609060101010101" pitchFamily="2" charset="-122"/>
              </a:rPr>
              <a:t>(MASM.EXE)</a:t>
            </a: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：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用汇编程序将源程序翻译成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目标文件</a:t>
            </a:r>
            <a:r>
              <a:rPr lang="zh-CN" altLang="en-US" sz="26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 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PROG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.OBJ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；</a:t>
            </a:r>
          </a:p>
          <a:p>
            <a:pPr>
              <a:spcBef>
                <a:spcPts val="600"/>
              </a:spcBef>
            </a:pP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3）链接</a:t>
            </a:r>
            <a:r>
              <a:rPr lang="en-US" altLang="zh-CN" sz="2600" b="1" dirty="0">
                <a:latin typeface="+mn-lt"/>
                <a:ea typeface="黑体" panose="02010609060101010101" pitchFamily="2" charset="-122"/>
              </a:rPr>
              <a:t>(LINK.EXE)</a:t>
            </a: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：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用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链接程序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对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1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个或几个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.OBJ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模块连接后，生成能在机器上执行的程序 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PROG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.EXE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。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28800"/>
            <a:ext cx="86963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FDA0FAD5-AE2D-470C-94B7-0EF921137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5" y="136525"/>
            <a:ext cx="8229600" cy="1143000"/>
          </a:xfrm>
        </p:spPr>
        <p:txBody>
          <a:bodyPr/>
          <a:lstStyle/>
          <a:p>
            <a:pPr algn="l"/>
            <a:r>
              <a:rPr lang="zh-CN" altLang="en-US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关于汇编语言：引子</a:t>
            </a:r>
            <a:endParaRPr lang="zh-CN" altLang="en-US" sz="40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ransition spd="slow">
    <p:cover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521550" y="0"/>
            <a:ext cx="7772400" cy="2898775"/>
          </a:xfrm>
        </p:spPr>
        <p:txBody>
          <a:bodyPr/>
          <a:lstStyle/>
          <a:p>
            <a:r>
              <a:rPr lang="en-US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§</a:t>
            </a:r>
            <a:r>
              <a:rPr lang="en-US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4.</a:t>
            </a: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1</a:t>
            </a:r>
            <a:r>
              <a:rPr lang="en-US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汇编语言程序格式和伪指令</a:t>
            </a:r>
          </a:p>
        </p:txBody>
      </p:sp>
      <p:sp>
        <p:nvSpPr>
          <p:cNvPr id="5" name="矩形 4"/>
          <p:cNvSpPr/>
          <p:nvPr/>
        </p:nvSpPr>
        <p:spPr>
          <a:xfrm>
            <a:off x="1559910" y="2168860"/>
            <a:ext cx="760095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.1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汇编语言程序格式</a:t>
            </a:r>
          </a:p>
          <a:p>
            <a:pPr>
              <a:spcBef>
                <a:spcPts val="12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.2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伪指令语句</a:t>
            </a:r>
          </a:p>
          <a:p>
            <a:pPr>
              <a:spcBef>
                <a:spcPts val="12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.3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完整的汇编语言程序框架</a:t>
            </a:r>
          </a:p>
        </p:txBody>
      </p:sp>
    </p:spTree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汇编语言程序有两类指令语句：</a:t>
            </a:r>
            <a:r>
              <a:rPr lang="en-US" altLang="zh-CN" dirty="0">
                <a:solidFill>
                  <a:srgbClr val="FFC000"/>
                </a:solidFill>
                <a:latin typeface="+mn-ea"/>
                <a:ea typeface="+mn-ea"/>
              </a:rPr>
              <a:t>	</a:t>
            </a:r>
          </a:p>
          <a:p>
            <a:pPr>
              <a:buNone/>
            </a:pPr>
            <a:r>
              <a:rPr lang="en-US" altLang="zh-CN" dirty="0">
                <a:solidFill>
                  <a:srgbClr val="FFC000"/>
                </a:solidFill>
                <a:latin typeface="+mn-ea"/>
                <a:ea typeface="+mn-ea"/>
              </a:rPr>
              <a:t>		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指令（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instruction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）</a:t>
            </a:r>
          </a:p>
          <a:p>
            <a:pPr>
              <a:buNone/>
            </a:pP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			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与机器码一一对应（第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章内容）</a:t>
            </a:r>
            <a:endParaRPr lang="zh-CN" altLang="en-US" dirty="0">
              <a:solidFill>
                <a:srgbClr val="FFC000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rgbClr val="FFC000"/>
                </a:solidFill>
                <a:latin typeface="+mn-ea"/>
                <a:ea typeface="+mn-ea"/>
              </a:rPr>
              <a:t>		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伪指令（</a:t>
            </a:r>
            <a:r>
              <a:rPr lang="en-US" altLang="zh-CN" sz="2800" dirty="0">
                <a:solidFill>
                  <a:srgbClr val="C00000"/>
                </a:solidFill>
                <a:latin typeface="+mn-ea"/>
                <a:ea typeface="+mn-ea"/>
              </a:rPr>
              <a:t>Pseudo</a:t>
            </a: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[</a:t>
            </a:r>
            <a:r>
              <a:rPr lang="en-US" altLang="zh-CN" sz="20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sju:dəʊ]</a:t>
            </a:r>
            <a:r>
              <a:rPr lang="en-US" altLang="zh-CN" sz="2800" dirty="0">
                <a:solidFill>
                  <a:srgbClr val="C00000"/>
                </a:solidFill>
                <a:latin typeface="+mn-ea"/>
                <a:ea typeface="+mn-ea"/>
              </a:rPr>
              <a:t> Instruction)</a:t>
            </a:r>
          </a:p>
          <a:p>
            <a:pPr>
              <a:buNone/>
            </a:pP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			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指示性语句，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不产生机器码，在汇编过程中完成特定功能。</a:t>
            </a:r>
          </a:p>
          <a:p>
            <a:pPr algn="just">
              <a:buNone/>
            </a:pPr>
            <a:endParaRPr lang="en-US" altLang="zh-CN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+mn-lt"/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</a:rPr>
              <a:t>指令语句</a:t>
            </a:r>
          </a:p>
          <a:p>
            <a:pPr marL="0" indent="0"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指令语句格式</a:t>
            </a:r>
          </a:p>
          <a:p>
            <a:pPr marL="363855" indent="-363855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zh-CN" altLang="en-US" sz="2800" dirty="0"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b="0" dirty="0">
                <a:solidFill>
                  <a:srgbClr val="66FF66"/>
                </a:solidFill>
              </a:rPr>
              <a:t>     </a:t>
            </a:r>
            <a:r>
              <a:rPr 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标号：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指令助记符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</a:p>
          <a:p>
            <a:pPr>
              <a:spcBef>
                <a:spcPts val="0"/>
              </a:spcBef>
              <a:buNone/>
            </a:pPr>
            <a:endParaRPr lang="zh-CN" altLang="en-US" sz="2800" b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C00000"/>
                </a:solidFill>
                <a:latin typeface="+mn-lt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）标号</a:t>
            </a:r>
          </a:p>
          <a:p>
            <a:pPr marL="363855" indent="-363855">
              <a:spcBef>
                <a:spcPts val="0"/>
              </a:spcBef>
              <a:buClr>
                <a:srgbClr val="00B0F0"/>
              </a:buClr>
              <a:buSzPct val="85000"/>
            </a:pPr>
            <a:r>
              <a:rPr lang="zh-CN" altLang="en-US" sz="2800" dirty="0">
                <a:latin typeface="+mn-lt"/>
                <a:ea typeface="+mn-ea"/>
              </a:rPr>
              <a:t>标号是指令的符号地址，后面须加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</a:rPr>
              <a:t>冒号</a:t>
            </a:r>
            <a:r>
              <a:rPr lang="zh-CN" altLang="en-US" sz="2800" dirty="0">
                <a:latin typeface="+mn-lt"/>
                <a:ea typeface="+mn-ea"/>
              </a:rPr>
              <a:t>“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</a:rPr>
              <a:t>：</a:t>
            </a:r>
            <a:r>
              <a:rPr lang="zh-CN" altLang="en-US" sz="2800" dirty="0">
                <a:latin typeface="+mn-lt"/>
                <a:ea typeface="+mn-ea"/>
              </a:rPr>
              <a:t>”。</a:t>
            </a:r>
          </a:p>
          <a:p>
            <a:pPr marL="363855" indent="-363855">
              <a:spcBef>
                <a:spcPts val="0"/>
              </a:spcBef>
              <a:buClr>
                <a:srgbClr val="00B0F0"/>
              </a:buClr>
              <a:buSzPct val="85000"/>
            </a:pPr>
            <a:r>
              <a:rPr lang="zh-CN" altLang="en-US" sz="2800" dirty="0">
                <a:latin typeface="+mn-lt"/>
                <a:ea typeface="+mn-ea"/>
              </a:rPr>
              <a:t>标号以英文字母或特殊字符打头</a:t>
            </a:r>
          </a:p>
          <a:p>
            <a:pPr marL="363855" indent="-363855">
              <a:spcBef>
                <a:spcPts val="0"/>
              </a:spcBef>
              <a:buClr>
                <a:srgbClr val="00B0F0"/>
              </a:buClr>
              <a:buSzPct val="85000"/>
            </a:pPr>
            <a:r>
              <a:rPr lang="zh-CN" altLang="en-US" sz="2800" dirty="0">
                <a:latin typeface="+mn-lt"/>
                <a:ea typeface="+mn-ea"/>
              </a:rPr>
              <a:t>标号具有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段基址</a:t>
            </a:r>
            <a:r>
              <a:rPr lang="zh-CN" altLang="en-US" sz="2800" dirty="0">
                <a:latin typeface="+mn-lt"/>
                <a:ea typeface="+mn-ea"/>
              </a:rPr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偏移量</a:t>
            </a:r>
            <a:r>
              <a:rPr lang="zh-CN" altLang="en-US" sz="2800" dirty="0">
                <a:latin typeface="+mn-lt"/>
                <a:ea typeface="+mn-ea"/>
              </a:rPr>
              <a:t>及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</a:rPr>
              <a:t>类型</a:t>
            </a:r>
            <a:r>
              <a:rPr lang="zh-CN" altLang="en-US" sz="2800" dirty="0">
                <a:latin typeface="+mn-lt"/>
                <a:ea typeface="+mn-ea"/>
              </a:rPr>
              <a:t>三种属性。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b="1" dirty="0">
                <a:sym typeface="+mn-ea"/>
              </a:rPr>
              <a:t>1. </a:t>
            </a:r>
            <a:r>
              <a:rPr lang="zh-CN" altLang="en-US" b="1" dirty="0">
                <a:sym typeface="+mn-ea"/>
              </a:rPr>
              <a:t>指令语句</a:t>
            </a:r>
            <a:endParaRPr lang="zh-CN" altLang="en-US" sz="3200" dirty="0">
              <a:solidFill>
                <a:schemeClr val="tx1"/>
              </a:solidFill>
              <a:latin typeface="+mn-lt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指令语句格式</a:t>
            </a:r>
          </a:p>
          <a:p>
            <a:pPr marL="363855" indent="-363855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zh-CN" altLang="en-US" sz="2800" dirty="0"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b="0" dirty="0">
                <a:solidFill>
                  <a:srgbClr val="66FF66"/>
                </a:solidFill>
              </a:rPr>
              <a:t>     </a:t>
            </a:r>
            <a:r>
              <a:rPr 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标号：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指令助记符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</a:p>
          <a:p>
            <a:pPr>
              <a:spcBef>
                <a:spcPts val="0"/>
              </a:spcBef>
              <a:buNone/>
            </a:pPr>
            <a:endParaRPr lang="zh-CN" altLang="en-US" sz="2800" b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1）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标号：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指令的符号地址；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2）指令助记符：</a:t>
            </a:r>
            <a:endParaRPr lang="zh-CN" altLang="en-US" sz="2800" dirty="0">
              <a:solidFill>
                <a:srgbClr val="FF9933"/>
              </a:solidFill>
            </a:endParaRPr>
          </a:p>
          <a:p>
            <a:pPr marL="0" indent="0" algn="just">
              <a:spcBef>
                <a:spcPts val="0"/>
              </a:spcBef>
              <a:buClr>
                <a:srgbClr val="00B0F0"/>
              </a:buClr>
              <a:buSzPct val="85000"/>
              <a:buNone/>
            </a:pP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表示指令的操作码，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不可缺少。</a:t>
            </a:r>
          </a:p>
          <a:p>
            <a:pPr marL="0" indent="0" algn="just">
              <a:spcBef>
                <a:spcPts val="0"/>
              </a:spcBef>
              <a:buClr>
                <a:srgbClr val="00B0F0"/>
              </a:buClr>
              <a:buSzPct val="85000"/>
              <a:buNone/>
            </a:pP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b="1" dirty="0">
                <a:sym typeface="+mn-ea"/>
              </a:rPr>
              <a:t>1. </a:t>
            </a:r>
            <a:r>
              <a:rPr lang="zh-CN" altLang="en-US" b="1" dirty="0">
                <a:sym typeface="+mn-ea"/>
              </a:rPr>
              <a:t>指令语句</a:t>
            </a:r>
            <a:endParaRPr lang="zh-CN" altLang="en-US" sz="3200" dirty="0">
              <a:solidFill>
                <a:schemeClr val="tx1"/>
              </a:solidFill>
              <a:latin typeface="+mn-lt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指令语句格式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dirty="0">
                <a:solidFill>
                  <a:srgbClr val="66FF66"/>
                </a:solidFill>
              </a:rPr>
              <a:t>     </a:t>
            </a:r>
            <a:r>
              <a:rPr 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标号：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指令助记符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sz="2800" b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1）</a:t>
            </a:r>
            <a:r>
              <a:rPr lang="zh-CN" altLang="en-US" sz="2800" b="1" dirty="0">
                <a:solidFill>
                  <a:srgbClr val="FFC000"/>
                </a:solidFill>
                <a:latin typeface="+mn-lt"/>
              </a:rPr>
              <a:t>标号：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指令的符号地址；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2）</a:t>
            </a:r>
            <a:r>
              <a:rPr lang="zh-CN" altLang="en-US" sz="2800" b="1" dirty="0">
                <a:solidFill>
                  <a:srgbClr val="FFC000"/>
                </a:solidFill>
                <a:sym typeface="+mn-ea"/>
              </a:rPr>
              <a:t>指令助记符：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表示指令的操作码；</a:t>
            </a: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3）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操作数：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条指令可包含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个或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个操作数，也可没有操作数。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可以是：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常量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字符和字符串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(ASCII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码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变量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标号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存储器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表达式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</a:p>
          <a:p>
            <a:pPr algn="l">
              <a:spcBef>
                <a:spcPts val="0"/>
              </a:spcBef>
              <a:buNone/>
            </a:pP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ct val="20000"/>
              </a:spcBef>
              <a:buFont typeface="Wingdings" panose="05000000000000000000" charset="0"/>
            </a:pPr>
            <a:r>
              <a:rPr lang="en-US" altLang="zh-CN" sz="3200" b="1" dirty="0">
                <a:sym typeface="+mn-ea"/>
              </a:rPr>
              <a:t>1. </a:t>
            </a:r>
            <a:r>
              <a:rPr lang="zh-CN" altLang="en-US" sz="3200" b="1" dirty="0">
                <a:sym typeface="+mn-ea"/>
              </a:rPr>
              <a:t>指令语句</a:t>
            </a:r>
            <a:endParaRPr lang="zh-CN" altLang="en-US" sz="3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dirty="0">
                <a:solidFill>
                  <a:srgbClr val="FF9933"/>
                </a:solidFill>
                <a:latin typeface="+mn-lt"/>
              </a:rPr>
              <a:t>操作数</a:t>
            </a:r>
            <a:r>
              <a:rPr lang="en-US" altLang="zh-CN" dirty="0">
                <a:solidFill>
                  <a:srgbClr val="FF9933"/>
                </a:solidFill>
                <a:latin typeface="+mn-lt"/>
              </a:rPr>
              <a:t>——</a:t>
            </a:r>
            <a:r>
              <a:rPr lang="zh-CN" altLang="en-US" dirty="0">
                <a:solidFill>
                  <a:srgbClr val="FF9933"/>
                </a:solidFill>
                <a:latin typeface="+mn-lt"/>
              </a:rPr>
              <a:t>具体内容</a:t>
            </a:r>
          </a:p>
          <a:p>
            <a:pPr marL="363855" indent="-363855">
              <a:spcBef>
                <a:spcPts val="0"/>
              </a:spcBef>
              <a:buClr>
                <a:schemeClr val="accent1"/>
              </a:buClr>
              <a:buSzPct val="85000"/>
            </a:pPr>
            <a:r>
              <a:rPr lang="en-US" altLang="zh-CN" sz="24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条指令可包含</a:t>
            </a:r>
            <a:r>
              <a:rPr lang="en-US" altLang="zh-CN" sz="24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个或</a:t>
            </a:r>
            <a:r>
              <a:rPr lang="en-US" altLang="zh-CN" sz="2400" dirty="0">
                <a:latin typeface="+mn-lt"/>
              </a:rPr>
              <a:t>2</a:t>
            </a:r>
            <a:r>
              <a:rPr lang="zh-CN" altLang="en-US" sz="2400" dirty="0">
                <a:latin typeface="+mn-lt"/>
              </a:rPr>
              <a:t>个操作数，也可没有操作数。</a:t>
            </a:r>
            <a:endParaRPr lang="en-US" altLang="zh-CN" sz="2400" dirty="0">
              <a:latin typeface="+mn-lt"/>
            </a:endParaRPr>
          </a:p>
          <a:p>
            <a:pPr marL="363855" indent="-363855">
              <a:spcBef>
                <a:spcPts val="0"/>
              </a:spcBef>
              <a:buClr>
                <a:schemeClr val="accent1"/>
              </a:buClr>
              <a:buSzPct val="85000"/>
            </a:pPr>
            <a:r>
              <a:rPr lang="zh-CN" altLang="en-US" sz="2400" dirty="0">
                <a:latin typeface="+mn-lt"/>
              </a:rPr>
              <a:t>操作数的组成：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常数</a:t>
            </a: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二进制数，加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；</a:t>
            </a:r>
            <a:endParaRPr lang="en-US" altLang="zh-CN" sz="2400" dirty="0">
              <a:solidFill>
                <a:schemeClr val="tx1"/>
              </a:solidFill>
              <a:latin typeface="+mn-lt"/>
              <a:ea typeface="仿宋_GB2312" panose="02010609030101010101" pitchFamily="49" charset="-122"/>
            </a:endParaRP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          	     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进制数，可加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或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省略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；</a:t>
            </a:r>
            <a:endParaRPr lang="zh-CN" altLang="en-US" sz="2400" b="0" dirty="0">
              <a:solidFill>
                <a:schemeClr val="tx1"/>
              </a:solidFill>
              <a:latin typeface="+mn-lt"/>
              <a:ea typeface="仿宋_GB2312" panose="02010609030101010101" pitchFamily="49" charset="-122"/>
            </a:endParaRP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                 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进制数，加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  <a:sym typeface="Symbol" panose="05050102010706020507"/>
              </a:rPr>
              <a:t>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F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前要加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；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                 2-10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进制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数，加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，要用调整指令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字符或字符串</a:t>
            </a:r>
            <a:r>
              <a:rPr lang="zh-CN" altLang="en-US" sz="2400" dirty="0"/>
              <a:t>  </a:t>
            </a:r>
            <a:r>
              <a:rPr lang="zh-CN" altLang="en-US" sz="2400" dirty="0">
                <a:solidFill>
                  <a:schemeClr val="tx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用</a:t>
            </a:r>
            <a:r>
              <a:rPr lang="zh-CN" altLang="en-US" sz="24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单引号</a:t>
            </a:r>
            <a:r>
              <a:rPr lang="en-US" altLang="zh-CN" sz="24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' '</a:t>
            </a:r>
            <a:r>
              <a:rPr lang="zh-CN" altLang="en-US" sz="2400" dirty="0">
                <a:solidFill>
                  <a:schemeClr val="tx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括起来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变量</a:t>
            </a:r>
            <a:r>
              <a:rPr lang="en-US" sz="2400" dirty="0"/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程序运行期间可修改，数值可由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DB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、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DW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、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DD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等来定义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标号</a:t>
            </a:r>
            <a:r>
              <a:rPr lang="en-US" sz="2400" dirty="0"/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如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JMP  NEXT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中的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NEXT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存储器</a:t>
            </a:r>
            <a:r>
              <a:rPr lang="en-US" sz="2400" dirty="0"/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指令系统中已介绍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表达式</a:t>
            </a:r>
            <a:r>
              <a:rPr lang="en-US" sz="2400" dirty="0">
                <a:solidFill>
                  <a:srgbClr val="FF0000"/>
                </a:solidFill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新内容，</a:t>
            </a:r>
            <a:r>
              <a:rPr lang="zh-CN" sz="2400" dirty="0">
                <a:solidFill>
                  <a:srgbClr val="0000FF"/>
                </a:solidFill>
                <a:hlinkClick r:id="rId2" action="ppaction://hlinksldjump"/>
              </a:rPr>
              <a:t>下面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  <a:hlinkClick r:id="rId2" action="ppaction://hlinksldjump"/>
              </a:rPr>
              <a:t>将专门介绍</a:t>
            </a:r>
            <a:endParaRPr lang="zh-CN" altLang="en-US" sz="2400" dirty="0">
              <a:solidFill>
                <a:srgbClr val="0000FF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</a:pP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b="1" dirty="0">
                <a:sym typeface="+mn-ea"/>
              </a:rPr>
              <a:t>1. </a:t>
            </a:r>
            <a:r>
              <a:rPr lang="zh-CN" altLang="en-US" b="1" dirty="0">
                <a:sym typeface="+mn-ea"/>
              </a:rPr>
              <a:t>指令语句</a:t>
            </a:r>
            <a:endParaRPr lang="zh-CN" altLang="en-US" sz="3200" dirty="0">
              <a:solidFill>
                <a:schemeClr val="tx1"/>
              </a:solidFill>
              <a:latin typeface="+mn-lt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指令语句格式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dirty="0">
                <a:solidFill>
                  <a:srgbClr val="66FF66"/>
                </a:solidFill>
              </a:rPr>
              <a:t>     </a:t>
            </a:r>
            <a:r>
              <a:rPr 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标号：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指令助记符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sz="2800" b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1）</a:t>
            </a:r>
            <a:r>
              <a:rPr lang="zh-CN" altLang="en-US" sz="2800" b="1" dirty="0">
                <a:solidFill>
                  <a:srgbClr val="FFC000"/>
                </a:solidFill>
                <a:latin typeface="+mn-lt"/>
              </a:rPr>
              <a:t>标号：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指令的符号地址；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2）</a:t>
            </a:r>
            <a:r>
              <a:rPr lang="zh-CN" altLang="en-US" sz="2800" b="1" dirty="0">
                <a:solidFill>
                  <a:srgbClr val="FFC000"/>
                </a:solidFill>
                <a:sym typeface="+mn-ea"/>
              </a:rPr>
              <a:t>指令助记符：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表示指令的操作码；</a:t>
            </a: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3）</a:t>
            </a:r>
            <a:r>
              <a:rPr lang="zh-CN" altLang="en-US" sz="2800" b="1" dirty="0">
                <a:solidFill>
                  <a:srgbClr val="FFC000"/>
                </a:solidFill>
                <a:sym typeface="+mn-ea"/>
              </a:rPr>
              <a:t>操作数：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常量，字符和字符串(ASCII码)，变量，标号，存储器，表达式。</a:t>
            </a: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4）注释：</a:t>
            </a:r>
            <a:r>
              <a:rPr lang="zh-CN" altLang="en-US" sz="2800" dirty="0">
                <a:sym typeface="+mn-ea"/>
              </a:rPr>
              <a:t>说明指令或程序的功能，增强程序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可读性</a:t>
            </a:r>
            <a:r>
              <a:rPr lang="zh-CN" altLang="en-US" sz="2800" dirty="0">
                <a:sym typeface="+mn-ea"/>
              </a:rPr>
              <a:t>，可省略。注释前必须加分号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“；”</a:t>
            </a:r>
            <a:endParaRPr lang="zh-CN" altLang="en-US" sz="2800" dirty="0">
              <a:solidFill>
                <a:srgbClr val="C00000"/>
              </a:solidFill>
              <a:latin typeface="+mn-lt"/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1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.1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汇编语言程序格式</a:t>
            </a:r>
            <a:br>
              <a:rPr lang="en-US" dirty="0">
                <a:solidFill>
                  <a:schemeClr val="tx1"/>
                </a:solidFill>
              </a:rPr>
            </a:b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Font typeface="Wingdings" panose="05000000000000000000" charset="0"/>
              <a:buNone/>
            </a:pPr>
            <a:r>
              <a:rPr lang="en-US" altLang="zh-CN" sz="3200" b="1" dirty="0">
                <a:sym typeface="+mn-ea"/>
              </a:rPr>
              <a:t>2. </a:t>
            </a:r>
            <a:r>
              <a:rPr lang="zh-CN" altLang="en-US" sz="3200" b="1" dirty="0">
                <a:sym typeface="+mn-ea"/>
              </a:rPr>
              <a:t>伪指令语句</a:t>
            </a: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伪指令语句的格式如下：</a:t>
            </a: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dirty="0"/>
              <a:t>   	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名字</a:t>
            </a:r>
            <a:r>
              <a:rPr lang="en-US" dirty="0">
                <a:solidFill>
                  <a:srgbClr val="00FF00"/>
                </a:solidFill>
              </a:rPr>
              <a:t>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伪指令指示符 </a:t>
            </a:r>
            <a:r>
              <a:rPr lang="en-US" dirty="0">
                <a:solidFill>
                  <a:srgbClr val="00FF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 </a:t>
            </a:r>
            <a:r>
              <a:rPr lang="en-US" dirty="0">
                <a:solidFill>
                  <a:srgbClr val="00FF00"/>
                </a:solidFill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dirty="0">
              <a:solidFill>
                <a:srgbClr val="00FF00"/>
              </a:solidFill>
            </a:endParaRPr>
          </a:p>
          <a:p>
            <a:pPr lvl="0">
              <a:spcBef>
                <a:spcPts val="1200"/>
              </a:spcBef>
              <a:buNone/>
            </a:pPr>
            <a:endParaRPr lang="en-US" altLang="zh-CN" sz="2800" dirty="0"/>
          </a:p>
          <a:p>
            <a:pPr lvl="0">
              <a:spcBef>
                <a:spcPts val="1200"/>
              </a:spcBef>
              <a:buNone/>
            </a:pPr>
            <a:endParaRPr lang="en-US" altLang="zh-CN" sz="2800" dirty="0"/>
          </a:p>
          <a:p>
            <a:pPr lvl="0">
              <a:spcBef>
                <a:spcPts val="1200"/>
              </a:spcBef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名字</a:t>
            </a:r>
            <a:endParaRPr lang="zh-CN" altLang="en-US" sz="2800" dirty="0">
              <a:solidFill>
                <a:srgbClr val="FF9933"/>
              </a:solidFill>
            </a:endParaRPr>
          </a:p>
          <a:p>
            <a:pPr>
              <a:spcBef>
                <a:spcPts val="0"/>
              </a:spcBef>
              <a:buClr>
                <a:srgbClr val="00B0F0"/>
              </a:buClr>
              <a:buSzPct val="85000"/>
            </a:pPr>
            <a:r>
              <a:rPr lang="zh-CN" altLang="en-US" dirty="0">
                <a:latin typeface="+mn-lt"/>
              </a:rPr>
              <a:t>是给伪指令语句起的名称</a:t>
            </a:r>
            <a:r>
              <a:rPr lang="en-US" altLang="zh-CN" b="1" dirty="0">
                <a:solidFill>
                  <a:srgbClr val="0000FF"/>
                </a:solidFill>
                <a:latin typeface="+mn-lt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+mn-lt"/>
              </a:rPr>
              <a:t>由程序员决定</a:t>
            </a:r>
            <a:r>
              <a:rPr lang="en-US" altLang="zh-CN" b="1" dirty="0">
                <a:solidFill>
                  <a:srgbClr val="0000FF"/>
                </a:solidFill>
                <a:latin typeface="+mn-lt"/>
              </a:rPr>
              <a:t>)</a:t>
            </a:r>
            <a:r>
              <a:rPr lang="zh-CN" altLang="en-US" dirty="0">
                <a:latin typeface="+mn-lt"/>
              </a:rPr>
              <a:t>，格式要求与标号类似</a:t>
            </a:r>
          </a:p>
          <a:p>
            <a:pPr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72085" y="3451860"/>
            <a:ext cx="8799195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C00000"/>
                </a:solidFill>
                <a:latin typeface="+mn-lt"/>
                <a:sym typeface="+mn-ea"/>
              </a:rPr>
              <a:t>【例】</a:t>
            </a:r>
            <a:r>
              <a:rPr lang="en-US" altLang="zh-CN" b="1" dirty="0">
                <a:solidFill>
                  <a:schemeClr val="tx1"/>
                </a:solidFill>
                <a:latin typeface="+mn-lt"/>
                <a:sym typeface="+mn-ea"/>
              </a:rPr>
              <a:t>VAR</a:t>
            </a:r>
            <a:r>
              <a:rPr lang="en-US" altLang="zh-CN" dirty="0">
                <a:solidFill>
                  <a:srgbClr val="C00000"/>
                </a:solidFill>
                <a:latin typeface="+mn-lt"/>
                <a:sym typeface="+mn-ea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DB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05H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06H,07H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;定义字节型（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D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ata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B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yte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）变量</a:t>
            </a:r>
          </a:p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				;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sym typeface="+mn-ea"/>
              </a:rPr>
              <a:t>VAR,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并将其初始化为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05H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06H,07H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1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.1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汇编语言程序格式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Font typeface="Wingdings" panose="05000000000000000000" charset="0"/>
              <a:buNone/>
            </a:pPr>
            <a:r>
              <a:rPr lang="en-US" altLang="zh-CN" b="1" dirty="0">
                <a:sym typeface="+mn-ea"/>
              </a:rPr>
              <a:t>2. </a:t>
            </a:r>
            <a:r>
              <a:rPr lang="zh-CN" altLang="en-US" b="1" dirty="0">
                <a:sym typeface="+mn-ea"/>
              </a:rPr>
              <a:t>伪指令语句</a:t>
            </a:r>
            <a:endParaRPr lang="zh-CN" altLang="en-US" sz="3200" b="1" dirty="0">
              <a:sym typeface="+mn-ea"/>
            </a:endParaRP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名字</a:t>
            </a:r>
            <a:r>
              <a:rPr lang="en-US" dirty="0">
                <a:solidFill>
                  <a:srgbClr val="00FF00"/>
                </a:solidFill>
              </a:rPr>
              <a:t>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伪指令指示符 </a:t>
            </a:r>
            <a:r>
              <a:rPr lang="en-US" dirty="0">
                <a:solidFill>
                  <a:srgbClr val="00FF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 </a:t>
            </a:r>
            <a:r>
              <a:rPr lang="en-US" dirty="0">
                <a:solidFill>
                  <a:srgbClr val="00FF00"/>
                </a:solidFill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dirty="0">
              <a:solidFill>
                <a:srgbClr val="00FF00"/>
              </a:solidFill>
            </a:endParaRPr>
          </a:p>
          <a:p>
            <a:pPr lvl="0">
              <a:spcBef>
                <a:spcPts val="1200"/>
              </a:spcBef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FF9933"/>
                </a:solidFill>
              </a:rPr>
              <a:t>名字：</a:t>
            </a:r>
            <a:r>
              <a:rPr lang="zh-CN" altLang="en-US" dirty="0">
                <a:latin typeface="+mn-lt"/>
              </a:rPr>
              <a:t>是给伪指令语句起的名称。</a:t>
            </a:r>
          </a:p>
          <a:p>
            <a:pPr>
              <a:spcBef>
                <a:spcPts val="1200"/>
              </a:spcBef>
              <a:buNone/>
            </a:pPr>
            <a:r>
              <a:rPr lang="en-US" sz="2800" dirty="0"/>
              <a:t>2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伪指令指示符：</a:t>
            </a:r>
            <a:r>
              <a:rPr lang="zh-CN" altLang="en-US" sz="3200" dirty="0"/>
              <a:t>代表</a:t>
            </a:r>
            <a:r>
              <a:rPr lang="zh-CN" altLang="en-US" sz="3200" b="1" dirty="0">
                <a:solidFill>
                  <a:srgbClr val="0000FF"/>
                </a:solidFill>
              </a:rPr>
              <a:t>伪指令功能</a:t>
            </a:r>
            <a:r>
              <a:rPr lang="zh-CN" altLang="en-US" sz="3200" dirty="0"/>
              <a:t>，</a:t>
            </a:r>
            <a:r>
              <a:rPr lang="zh-CN" altLang="en-US" dirty="0">
                <a:latin typeface="+mn-lt"/>
              </a:rPr>
              <a:t>是伪指令语句中不可缺少部分，如：</a:t>
            </a:r>
          </a:p>
          <a:p>
            <a:pPr>
              <a:spcBef>
                <a:spcPts val="0"/>
              </a:spcBef>
              <a:buClr>
                <a:srgbClr val="00FF00"/>
              </a:buClr>
              <a:buNone/>
            </a:pPr>
            <a:r>
              <a:rPr lang="en-US" altLang="zh-CN" dirty="0">
                <a:latin typeface="+mn-lt"/>
                <a:ea typeface="+mn-ea"/>
              </a:rPr>
              <a:t>         </a:t>
            </a:r>
            <a:r>
              <a:rPr lang="zh-CN" altLang="en-US" dirty="0">
                <a:latin typeface="+mn-lt"/>
                <a:ea typeface="+mn-ea"/>
              </a:rPr>
              <a:t>段定义语句</a:t>
            </a:r>
            <a:r>
              <a:rPr lang="en-US" dirty="0">
                <a:latin typeface="+mn-lt"/>
                <a:ea typeface="+mn-ea"/>
              </a:rPr>
              <a:t>    	  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</a:rPr>
              <a:t>SEGMENT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</a:rPr>
              <a:t>ENDS</a:t>
            </a:r>
            <a:endParaRPr lang="en-US" altLang="en-US" dirty="0">
              <a:solidFill>
                <a:srgbClr val="FF00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Clr>
                <a:srgbClr val="00FF00"/>
              </a:buClr>
              <a:buNone/>
            </a:pPr>
            <a:r>
              <a:rPr lang="zh-CN" altLang="en-US" dirty="0">
                <a:latin typeface="+mn-lt"/>
                <a:ea typeface="+mn-ea"/>
              </a:rPr>
              <a:t>         过程定义语句</a:t>
            </a:r>
            <a:r>
              <a:rPr lang="en-US" dirty="0">
                <a:latin typeface="+mn-lt"/>
                <a:ea typeface="+mn-ea"/>
              </a:rPr>
              <a:t>  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</a:rPr>
              <a:t>PROC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</a:rPr>
              <a:t>ENDP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 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890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1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.1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汇编语言程序格式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lstStyle/>
          <a:p>
            <a:pPr marL="0" indent="0" algn="l">
              <a:buFont typeface="Wingdings" panose="05000000000000000000" charset="0"/>
              <a:buNone/>
            </a:pPr>
            <a:r>
              <a:rPr lang="en-US" altLang="zh-CN" sz="3200" b="1" dirty="0">
                <a:sym typeface="+mn-ea"/>
              </a:rPr>
              <a:t>2. </a:t>
            </a:r>
            <a:r>
              <a:rPr lang="zh-CN" altLang="en-US" sz="3200" b="1" dirty="0">
                <a:sym typeface="+mn-ea"/>
              </a:rPr>
              <a:t>伪指令语句</a:t>
            </a: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名字</a:t>
            </a:r>
            <a:r>
              <a:rPr lang="en-US" dirty="0">
                <a:solidFill>
                  <a:srgbClr val="00FF00"/>
                </a:solidFill>
              </a:rPr>
              <a:t>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伪指令指示符 </a:t>
            </a:r>
            <a:r>
              <a:rPr lang="en-US" dirty="0">
                <a:solidFill>
                  <a:srgbClr val="00FF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 </a:t>
            </a:r>
            <a:r>
              <a:rPr lang="en-US" dirty="0">
                <a:solidFill>
                  <a:srgbClr val="00FF00"/>
                </a:solidFill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dirty="0">
              <a:solidFill>
                <a:srgbClr val="00FF00"/>
              </a:solidFill>
            </a:endParaRPr>
          </a:p>
          <a:p>
            <a:pPr lvl="0">
              <a:spcBef>
                <a:spcPts val="1200"/>
              </a:spcBef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FF9933"/>
                </a:solidFill>
              </a:rPr>
              <a:t>名字：</a:t>
            </a:r>
            <a:r>
              <a:rPr lang="zh-CN" altLang="en-US" dirty="0">
                <a:latin typeface="+mn-lt"/>
              </a:rPr>
              <a:t>是给伪指令语句起的名称；</a:t>
            </a:r>
          </a:p>
          <a:p>
            <a:pPr>
              <a:spcBef>
                <a:spcPts val="1200"/>
              </a:spcBef>
              <a:buNone/>
            </a:pPr>
            <a:r>
              <a:rPr lang="en-US" sz="2800" dirty="0"/>
              <a:t>2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FF9933"/>
                </a:solidFill>
              </a:rPr>
              <a:t>伪指令指示符：</a:t>
            </a:r>
            <a:r>
              <a:rPr lang="zh-CN" altLang="en-US" sz="3200" dirty="0"/>
              <a:t>代表伪指令功能；</a:t>
            </a:r>
          </a:p>
          <a:p>
            <a:pPr>
              <a:spcBef>
                <a:spcPts val="1200"/>
              </a:spcBef>
              <a:buNone/>
            </a:pPr>
            <a:r>
              <a:rPr lang="en-US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操作数</a:t>
            </a:r>
            <a:r>
              <a:rPr lang="zh-CN" altLang="en-US" sz="3200" b="1" dirty="0">
                <a:solidFill>
                  <a:srgbClr val="C00000"/>
                </a:solidFill>
              </a:rPr>
              <a:t>：</a:t>
            </a:r>
            <a:r>
              <a:rPr lang="zh-CN" altLang="en-US" sz="3200" dirty="0"/>
              <a:t>无操作数，或带</a:t>
            </a:r>
            <a:r>
              <a:rPr lang="en-US" altLang="zh-CN" sz="3200" dirty="0"/>
              <a:t>1</a:t>
            </a:r>
            <a:r>
              <a:rPr lang="zh-CN" altLang="en-US" sz="3200" dirty="0"/>
              <a:t>到多个操作数；</a:t>
            </a:r>
            <a:r>
              <a:rPr lang="zh-CN" altLang="en-US" dirty="0">
                <a:latin typeface="+mn-lt"/>
                <a:ea typeface="+mn-ea"/>
              </a:rPr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en-US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）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注释：</a:t>
            </a:r>
            <a:r>
              <a:rPr lang="zh-CN" altLang="en-US" dirty="0">
                <a:sym typeface="+mn-ea"/>
              </a:rPr>
              <a:t>说明功能，和指令注释相同。</a:t>
            </a:r>
            <a:r>
              <a:rPr lang="zh-CN" altLang="en-US" dirty="0">
                <a:latin typeface="+mn-lt"/>
                <a:ea typeface="+mn-ea"/>
              </a:rPr>
              <a:t>      </a:t>
            </a:r>
            <a:r>
              <a:rPr lang="en-US" altLang="zh-CN" dirty="0">
                <a:latin typeface="+mn-lt"/>
                <a:ea typeface="+mn-ea"/>
              </a:rPr>
              <a:t> 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9565" y="5484495"/>
            <a:ext cx="8799195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C00000"/>
                </a:solidFill>
                <a:latin typeface="+mn-lt"/>
                <a:sym typeface="+mn-ea"/>
              </a:rPr>
              <a:t>【例】</a:t>
            </a:r>
            <a:r>
              <a:rPr lang="en-US" altLang="zh-CN" b="1" dirty="0">
                <a:solidFill>
                  <a:schemeClr val="tx1"/>
                </a:solidFill>
                <a:latin typeface="+mn-lt"/>
                <a:sym typeface="+mn-ea"/>
              </a:rPr>
              <a:t>VAR</a:t>
            </a:r>
            <a:r>
              <a:rPr lang="en-US" altLang="zh-CN" dirty="0">
                <a:solidFill>
                  <a:srgbClr val="C00000"/>
                </a:solidFill>
                <a:latin typeface="+mn-lt"/>
                <a:sym typeface="+mn-ea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DB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05H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06H,07H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;定义字节型（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D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ata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B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yte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）变量</a:t>
            </a:r>
          </a:p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				;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sym typeface="+mn-ea"/>
              </a:rPr>
              <a:t>VAR,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并将其初始化为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05H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06H,07H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22973"/>
            <a:ext cx="8229600" cy="1143000"/>
          </a:xfrm>
        </p:spPr>
        <p:txBody>
          <a:bodyPr/>
          <a:lstStyle/>
          <a:p>
            <a:pPr algn="l">
              <a:buFont typeface="Wingdings" panose="05000000000000000000" charset="0"/>
            </a:pPr>
            <a:r>
              <a:rPr lang="en-US" sz="3200" b="1" dirty="0">
                <a:solidFill>
                  <a:schemeClr val="tx1"/>
                </a:solidFill>
              </a:rPr>
              <a:t>3. </a:t>
            </a:r>
            <a:r>
              <a:rPr lang="zh-CN" altLang="en-US" sz="3200" b="1" dirty="0">
                <a:solidFill>
                  <a:schemeClr val="tx1"/>
                </a:solidFill>
              </a:rPr>
              <a:t>表达式和运算符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292985"/>
            <a:ext cx="8229600" cy="4525963"/>
          </a:xfrm>
        </p:spPr>
        <p:txBody>
          <a:bodyPr/>
          <a:lstStyle/>
          <a:p>
            <a:pPr marL="457200" indent="-457200" algn="just"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表达式的定义：</a:t>
            </a:r>
            <a:r>
              <a:rPr lang="zh-CN" altLang="en-US" sz="2800" dirty="0"/>
              <a:t>将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常数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符号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寄存器</a:t>
            </a:r>
            <a:r>
              <a:rPr lang="zh-CN" altLang="en-US" sz="2800" dirty="0"/>
              <a:t>等通过</a:t>
            </a:r>
            <a:r>
              <a:rPr lang="zh-CN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运算符</a:t>
            </a:r>
            <a:r>
              <a:rPr lang="zh-CN" altLang="en-US" sz="2800" dirty="0"/>
              <a:t>连接起来的式子叫做表达式。</a:t>
            </a:r>
            <a:endParaRPr lang="en-US" altLang="zh-CN" sz="2800" dirty="0"/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C00000"/>
                </a:solidFill>
              </a:rPr>
              <a:t>特点：</a:t>
            </a:r>
            <a:r>
              <a:rPr lang="zh-CN" altLang="en-US" sz="2800" dirty="0"/>
              <a:t>不论是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常数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变量</a:t>
            </a:r>
            <a:r>
              <a:rPr lang="zh-CN" altLang="en-US" sz="2800" dirty="0"/>
              <a:t>还是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标号</a:t>
            </a:r>
            <a:r>
              <a:rPr lang="zh-CN" altLang="en-US" sz="2800" dirty="0"/>
              <a:t>，都可用表达式的形式给出。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zh-CN" altLang="en-US" sz="2800" dirty="0">
              <a:latin typeface="+mn-lt"/>
            </a:endParaRP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zh-CN" sz="2800" dirty="0">
                <a:latin typeface="+mn-lt"/>
              </a:rPr>
              <a:t>下面浏览一下常用表达式的</a:t>
            </a:r>
            <a:r>
              <a:rPr lang="zh-CN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运算符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57200" y="14890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1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.1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汇编语言程序格式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表达式的运算符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1485" y="1250315"/>
            <a:ext cx="8418022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451485" y="5573395"/>
            <a:ext cx="8412480" cy="8229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zh-CN" dirty="0">
                <a:solidFill>
                  <a:srgbClr val="C00000"/>
                </a:solidFill>
                <a:latin typeface="+mn-lt"/>
                <a:sym typeface="+mn-ea"/>
              </a:rPr>
              <a:t>大家是不是有一种疑惑：算术逻辑运算在第三章不是讲过吗，</a:t>
            </a: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zh-CN" dirty="0">
                <a:solidFill>
                  <a:srgbClr val="C00000"/>
                </a:solidFill>
                <a:latin typeface="+mn-lt"/>
                <a:sym typeface="+mn-ea"/>
              </a:rPr>
              <a:t>伪指令里面的加减乘除又是神马？  </a:t>
            </a:r>
            <a:r>
              <a:rPr lang="zh-CN" altLang="zh-CN" dirty="0">
                <a:solidFill>
                  <a:srgbClr val="0000FF"/>
                </a:solidFill>
                <a:latin typeface="+mn-lt"/>
                <a:sym typeface="+mn-ea"/>
                <a:hlinkClick r:id="rId3" action="ppaction://hlinksldjump"/>
              </a:rPr>
              <a:t>让我们看看表达式代表啥</a:t>
            </a:r>
            <a:endParaRPr lang="zh-CN" altLang="zh-CN" dirty="0">
              <a:solidFill>
                <a:srgbClr val="0000FF"/>
              </a:solidFill>
              <a:latin typeface="+mn-lt"/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表达式的运算符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所以，结论出来了：</a:t>
            </a: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/>
              <a:t>       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算术逻辑运算指令</a:t>
            </a:r>
            <a:r>
              <a:rPr lang="zh-CN" altLang="zh-CN" dirty="0">
                <a:solidFill>
                  <a:srgbClr val="C00000"/>
                </a:solidFill>
                <a:sym typeface="+mn-ea"/>
              </a:rPr>
              <a:t>，是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程序运行期</a:t>
            </a:r>
            <a:r>
              <a:rPr lang="zh-CN" altLang="zh-CN" dirty="0">
                <a:solidFill>
                  <a:srgbClr val="C00000"/>
                </a:solidFill>
                <a:sym typeface="+mn-ea"/>
              </a:rPr>
              <a:t>间进行的计算；</a:t>
            </a: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	2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伪指令里的算术逻辑运算</a:t>
            </a:r>
            <a:r>
              <a:rPr lang="zh-CN" altLang="zh-CN" dirty="0">
                <a:solidFill>
                  <a:srgbClr val="C00000"/>
                </a:solidFill>
                <a:sym typeface="+mn-ea"/>
              </a:rPr>
              <a:t>，是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汇编程序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MASM.EXE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做的运算，并且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它一定可以在程序运行前可以做的运算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。</a:t>
            </a: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         举个例子看看：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02785" y="5573395"/>
            <a:ext cx="309880" cy="4572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endParaRPr lang="zh-CN" altLang="zh-CN" dirty="0">
              <a:solidFill>
                <a:srgbClr val="0000FF"/>
              </a:solidFill>
              <a:latin typeface="+mn-lt"/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矩形 28675"/>
          <p:cNvSpPr/>
          <p:nvPr/>
        </p:nvSpPr>
        <p:spPr>
          <a:xfrm>
            <a:off x="1102043" y="832485"/>
            <a:ext cx="7272337" cy="248158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800" b="1" dirty="0">
                <a:ea typeface="宋体" panose="02010600030101010101" pitchFamily="2" charset="-122"/>
              </a:rPr>
              <a:t>DATA_1	</a:t>
            </a:r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EQU</a:t>
            </a:r>
            <a:r>
              <a:rPr lang="en-US" altLang="zh-CN" sz="2800" b="1" dirty="0">
                <a:ea typeface="宋体" panose="02010600030101010101" pitchFamily="2" charset="-122"/>
              </a:rPr>
              <a:t>	34H	  </a:t>
            </a:r>
            <a:r>
              <a:rPr lang="zh-CN" altLang="en-US" sz="2800" b="1" dirty="0">
                <a:ea typeface="宋体" panose="02010600030101010101" pitchFamily="2" charset="-122"/>
              </a:rPr>
              <a:t>；</a:t>
            </a:r>
            <a:r>
              <a:rPr lang="zh-CN" altLang="en-US" sz="2800" b="1" dirty="0">
                <a:latin typeface="Garamond" panose="02020404030301010803" pitchFamily="2" charset="0"/>
                <a:ea typeface="宋体" panose="02010600030101010101" pitchFamily="2" charset="-122"/>
              </a:rPr>
              <a:t>符号表示常数</a:t>
            </a:r>
          </a:p>
          <a:p>
            <a:pPr lvl="0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DATA_2	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56H   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zh-CN" altLang="en-US" sz="2800" b="1" dirty="0">
                <a:latin typeface="Garamond" panose="02020404030301010803" pitchFamily="2" charset="0"/>
                <a:ea typeface="宋体" panose="02010600030101010101" pitchFamily="2" charset="-122"/>
              </a:rPr>
              <a:t>变量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  <a:p>
            <a:pPr lvl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MOV BX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DATA_1 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0FH</a:t>
            </a:r>
          </a:p>
          <a:p>
            <a:pPr lvl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MOV	CX,   DATA_2 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0FH</a:t>
            </a:r>
          </a:p>
        </p:txBody>
      </p:sp>
      <p:sp>
        <p:nvSpPr>
          <p:cNvPr id="28677" name="矩形 28676"/>
          <p:cNvSpPr/>
          <p:nvPr/>
        </p:nvSpPr>
        <p:spPr>
          <a:xfrm>
            <a:off x="98425" y="3835400"/>
            <a:ext cx="8946515" cy="51943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>
            <a:spAutoFit/>
          </a:bodyPr>
          <a:lstStyle/>
          <a:p>
            <a:pPr lvl="0"/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对</a:t>
            </a: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常数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DATA_1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按位进行与运算，结果存到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BX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寄存器。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√</a:t>
            </a:r>
          </a:p>
        </p:txBody>
      </p:sp>
      <p:sp>
        <p:nvSpPr>
          <p:cNvPr id="28678" name="矩形 28677"/>
          <p:cNvSpPr/>
          <p:nvPr/>
        </p:nvSpPr>
        <p:spPr>
          <a:xfrm>
            <a:off x="278607" y="4354830"/>
            <a:ext cx="8766810" cy="51943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>
            <a:spAutoFit/>
          </a:bodyPr>
          <a:lstStyle/>
          <a:p>
            <a:pPr lvl="0"/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对</a:t>
            </a: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变量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DATA_2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按位进行或运算，结果存到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CX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寄存器。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×</a:t>
            </a:r>
          </a:p>
        </p:txBody>
      </p:sp>
      <p:sp>
        <p:nvSpPr>
          <p:cNvPr id="28679" name="矩形 28678"/>
          <p:cNvSpPr/>
          <p:nvPr/>
        </p:nvSpPr>
        <p:spPr>
          <a:xfrm>
            <a:off x="6163945" y="2392363"/>
            <a:ext cx="719138" cy="37623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 lvl="0">
              <a:buClr>
                <a:srgbClr val="000000"/>
              </a:buClr>
            </a:pPr>
            <a:r>
              <a:rPr lang="zh-CN" altLang="en-US" sz="1800" b="1">
                <a:solidFill>
                  <a:schemeClr val="bg2"/>
                </a:solidFill>
                <a:latin typeface="Garamond" panose="02020404030301010803" pitchFamily="2" charset="0"/>
                <a:ea typeface="宋体" panose="02010600030101010101" pitchFamily="2" charset="-122"/>
              </a:rPr>
              <a:t>正确</a:t>
            </a:r>
          </a:p>
        </p:txBody>
      </p:sp>
      <p:sp>
        <p:nvSpPr>
          <p:cNvPr id="28680" name="矩形 28679"/>
          <p:cNvSpPr/>
          <p:nvPr/>
        </p:nvSpPr>
        <p:spPr>
          <a:xfrm>
            <a:off x="6163945" y="2947035"/>
            <a:ext cx="719455" cy="36703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ctr">
            <a:spAutoFit/>
          </a:bodyPr>
          <a:lstStyle/>
          <a:p>
            <a:pPr lvl="0">
              <a:buClr>
                <a:srgbClr val="000000"/>
              </a:buClr>
            </a:pPr>
            <a:r>
              <a:rPr lang="zh-CN" altLang="en-US" sz="1800" b="1">
                <a:solidFill>
                  <a:schemeClr val="bg2"/>
                </a:solidFill>
                <a:latin typeface="Garamond" panose="02020404030301010803" pitchFamily="2" charset="0"/>
                <a:ea typeface="宋体" panose="02010600030101010101" pitchFamily="2" charset="-122"/>
              </a:rPr>
              <a:t>错误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52500" y="5208905"/>
            <a:ext cx="7238365" cy="8229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just"/>
            <a:r>
              <a:rPr lang="en-US" altLang="zh-CN" b="1">
                <a:sym typeface="+mn-ea"/>
              </a:rPr>
              <a:t>MOV BX</a:t>
            </a:r>
            <a:r>
              <a:rPr lang="zh-CN" altLang="en-US" b="1">
                <a:sym typeface="+mn-ea"/>
              </a:rPr>
              <a:t>，</a:t>
            </a:r>
            <a:r>
              <a:rPr lang="en-US" altLang="zh-CN" b="1">
                <a:sym typeface="+mn-ea"/>
              </a:rPr>
              <a:t>DATA_1 </a:t>
            </a:r>
            <a:r>
              <a:rPr lang="en-US" altLang="zh-CN" b="1">
                <a:solidFill>
                  <a:srgbClr val="FF6600"/>
                </a:solidFill>
                <a:sym typeface="+mn-ea"/>
              </a:rPr>
              <a:t>AND</a:t>
            </a:r>
            <a:r>
              <a:rPr lang="en-US" altLang="zh-CN" b="1">
                <a:sym typeface="+mn-ea"/>
              </a:rPr>
              <a:t> 0FH 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实际上等效于</a:t>
            </a:r>
          </a:p>
          <a:p>
            <a:pPr lvl="0" algn="just"/>
            <a:r>
              <a:rPr lang="en-US" altLang="zh-CN" b="1">
                <a:solidFill>
                  <a:schemeClr val="tx1"/>
                </a:solidFill>
                <a:sym typeface="+mn-ea"/>
              </a:rPr>
              <a:t>MOV BX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04H		;04H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是</a:t>
            </a:r>
            <a:r>
              <a:rPr lang="zh-CN" altLang="zh-CN" b="1">
                <a:solidFill>
                  <a:srgbClr val="0000FF"/>
                </a:solidFill>
                <a:sym typeface="+mn-ea"/>
              </a:rPr>
              <a:t>汇编程序算出来的</a:t>
            </a:r>
            <a:endParaRPr lang="en-US" altLang="zh-CN" b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677" grpId="0"/>
      <p:bldP spid="28678" grpId="0"/>
      <p:bldP spid="28679" grpId="0" animBg="1"/>
      <p:bldP spid="28680" grpId="0" bldLvl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表达式的运算符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825" y="2189480"/>
            <a:ext cx="8383524" cy="368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2905" y="1600200"/>
            <a:ext cx="83788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表达式的运算符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95450"/>
            <a:ext cx="8523151" cy="368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3560" y="1600200"/>
            <a:ext cx="8057044" cy="391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42613" y="663575"/>
            <a:ext cx="722249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运算符的优先级：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表达式运算符也有优先级</a:t>
            </a:r>
            <a:endParaRPr lang="en-US" altLang="zh-CN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Wingdings" panose="05000000000000000000" charset="0"/>
              <a:buChar char="u"/>
            </a:pPr>
            <a:r>
              <a:rPr lang="zh-CN" altLang="en-US" sz="3600" b="1" dirty="0"/>
              <a:t>常用运算符举例</a:t>
            </a:r>
            <a:endParaRPr lang="en-US" altLang="zh-CN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682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）算术运算符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4.1</a:t>
            </a: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dirty="0">
                <a:latin typeface="+mn-ea"/>
                <a:ea typeface="+mn-ea"/>
              </a:rPr>
              <a:t>利用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ea"/>
                <a:ea typeface="+mn-ea"/>
              </a:rPr>
              <a:t>现行地址符“</a:t>
            </a:r>
            <a:r>
              <a:rPr 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ea"/>
                <a:ea typeface="+mn-ea"/>
              </a:rPr>
              <a:t>$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ea"/>
                <a:ea typeface="+mn-ea"/>
              </a:rPr>
              <a:t>”</a:t>
            </a:r>
            <a:r>
              <a:rPr lang="zh-CN" altLang="en-US" dirty="0">
                <a:latin typeface="+mn-ea"/>
                <a:ea typeface="+mn-ea"/>
              </a:rPr>
              <a:t>和减法运算符“</a:t>
            </a:r>
            <a:r>
              <a:rPr lang="en-US" dirty="0">
                <a:latin typeface="+mn-ea"/>
                <a:ea typeface="+mn-ea"/>
              </a:rPr>
              <a:t>-</a:t>
            </a:r>
            <a:r>
              <a:rPr lang="zh-CN" altLang="en-US" dirty="0">
                <a:latin typeface="+mn-ea"/>
                <a:ea typeface="+mn-ea"/>
              </a:rPr>
              <a:t>”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求数组的长度</a:t>
            </a:r>
            <a:r>
              <a:rPr lang="zh-CN" altLang="en-US" dirty="0">
                <a:latin typeface="+mn-ea"/>
                <a:ea typeface="+mn-ea"/>
              </a:rPr>
              <a:t>。程序段：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仿宋_GB2312" panose="02010609030101010101" pitchFamily="49" charset="-122"/>
              </a:rPr>
              <a:t>     SEGMENT</a:t>
            </a:r>
            <a:r>
              <a:rPr lang="en-US" sz="24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     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；数据段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LIST	     DB	 12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38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5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29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74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LIST数组（变量）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COUNT   EQU  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$ - LIST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	           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COUNT=现行地址-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				</a:t>
            </a:r>
            <a:r>
              <a:rPr lang="en-US" sz="2400" dirty="0">
                <a:solidFill>
                  <a:srgbClr val="CCFF99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LIST的偏移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地址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DATA	 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仿宋_GB2312" panose="02010609030101010101" pitchFamily="49" charset="-122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 				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   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MOV  CX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COUNT	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仿宋_GB2312" panose="02010609030101010101" pitchFamily="49" charset="-122"/>
              </a:rPr>
              <a:t>  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CX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LIST数组长度</a:t>
            </a:r>
            <a:r>
              <a:rPr lang="zh-CN" altLang="en-US" sz="2400" dirty="0">
                <a:solidFill>
                  <a:srgbClr val="CCFF99"/>
                </a:solidFill>
                <a:latin typeface="+mn-lt"/>
                <a:ea typeface="仿宋_GB2312" panose="02010609030101010101" pitchFamily="49" charset="-122"/>
              </a:rPr>
              <a:t> </a:t>
            </a:r>
          </a:p>
          <a:p>
            <a:pPr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sz="2400" b="1" dirty="0">
                <a:solidFill>
                  <a:srgbClr val="C00000"/>
                </a:solidFill>
                <a:latin typeface="+mn-lt"/>
                <a:ea typeface="+mn-ea"/>
              </a:rPr>
              <a:t>解：</a:t>
            </a:r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LIST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变量的起始地址偏移量为</a:t>
            </a:r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“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$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”符表示本指令的现行地址偏移量</a:t>
            </a:r>
            <a:r>
              <a:rPr lang="zh-CN" altLang="en-US" sz="2400" dirty="0">
                <a:latin typeface="+mn-lt"/>
                <a:ea typeface="+mn-ea"/>
              </a:rPr>
              <a:t>，它等于</a:t>
            </a:r>
            <a:r>
              <a:rPr lang="en-US" sz="2400" dirty="0">
                <a:latin typeface="+mn-lt"/>
                <a:ea typeface="+mn-ea"/>
              </a:rPr>
              <a:t>5</a:t>
            </a:r>
            <a:r>
              <a:rPr lang="zh-CN" altLang="en-US" sz="2400" dirty="0">
                <a:latin typeface="+mn-lt"/>
                <a:ea typeface="+mn-ea"/>
              </a:rPr>
              <a:t>，所以</a:t>
            </a:r>
            <a:r>
              <a:rPr lang="en-US" sz="2400" dirty="0">
                <a:latin typeface="+mn-lt"/>
                <a:ea typeface="+mn-ea"/>
              </a:rPr>
              <a:t>$-LIST=5-0=5</a:t>
            </a:r>
            <a:r>
              <a:rPr lang="zh-CN" altLang="en-US" sz="2400" dirty="0">
                <a:latin typeface="+mn-lt"/>
                <a:ea typeface="+mn-ea"/>
              </a:rPr>
              <a:t>，并赋予常量</a:t>
            </a:r>
            <a:r>
              <a:rPr lang="en-US" sz="2400" dirty="0">
                <a:latin typeface="+mn-lt"/>
                <a:ea typeface="+mn-ea"/>
              </a:rPr>
              <a:t>COUNT</a:t>
            </a:r>
            <a:r>
              <a:rPr lang="zh-CN" altLang="en-US" sz="2400" dirty="0">
                <a:latin typeface="+mn-lt"/>
                <a:ea typeface="+mn-ea"/>
              </a:rPr>
              <a:t>，这样可很方便地求得变量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字节长度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0"/>
              </a:spcBef>
            </a:pPr>
            <a:endParaRPr lang="zh-CN" altLang="en-US" sz="24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16830" y="960755"/>
            <a:ext cx="3230880" cy="460375"/>
          </a:xfrm>
          <a:prstGeom prst="rect">
            <a:avLst/>
          </a:prstGeom>
          <a:solidFill>
            <a:schemeClr val="bg2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just"/>
            <a:r>
              <a:rPr lang="zh-CN" altLang="en-US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想想：</a:t>
            </a:r>
            <a:r>
              <a:rPr lang="en-US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$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en-US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$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zh-CN" altLang="zh-CN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有啥区别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Wingdings" panose="05000000000000000000" charset="0"/>
              <a:buChar char="u"/>
            </a:pPr>
            <a:r>
              <a:rPr lang="zh-CN" altLang="en-US" sz="3600" b="1" dirty="0">
                <a:sym typeface="+mn-ea"/>
              </a:rPr>
              <a:t>常用运算符举例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）逻辑运算符和关系运算符</a:t>
            </a:r>
            <a:r>
              <a:rPr lang="en-US" sz="2800" dirty="0">
                <a:solidFill>
                  <a:srgbClr val="FFC000"/>
                </a:solidFill>
                <a:latin typeface="+mn-lt"/>
              </a:rPr>
              <a:t> </a:t>
            </a:r>
            <a:endParaRPr lang="zh-CN" altLang="en-US" sz="2800" dirty="0">
              <a:solidFill>
                <a:srgbClr val="FFC000"/>
              </a:solidFill>
              <a:latin typeface="+mn-lt"/>
            </a:endParaRPr>
          </a:p>
          <a:p>
            <a:pPr>
              <a:spcBef>
                <a:spcPts val="1800"/>
              </a:spcBef>
              <a:spcAft>
                <a:spcPts val="1800"/>
              </a:spcAft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例4.2</a:t>
            </a: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dirty="0">
                <a:latin typeface="+mn-lt"/>
                <a:ea typeface="+mn-ea"/>
              </a:rPr>
              <a:t>将表达式的运算结果送到寄存器中。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MOV  AL</a:t>
            </a:r>
            <a:r>
              <a:rPr lang="zh-CN" altLang="en-US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NOT  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10110101B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AL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01001010B </a:t>
            </a:r>
            <a:endParaRPr lang="en-US" altLang="en-US" sz="2800" b="1" dirty="0">
              <a:solidFill>
                <a:schemeClr val="accent6">
                  <a:lumMod val="50000"/>
                </a:schemeClr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MOV  BL</a:t>
            </a:r>
            <a:r>
              <a:rPr lang="zh-CN" altLang="en-US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10H  </a:t>
            </a:r>
            <a:r>
              <a:rPr lang="en-US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GT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  20H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BL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00H，因10H&gt;20H为假，输出全0</a:t>
            </a:r>
            <a:endParaRPr lang="en-US" altLang="en-US" sz="2800" b="1" dirty="0">
              <a:solidFill>
                <a:schemeClr val="accent6">
                  <a:lumMod val="75000"/>
                </a:schemeClr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MOV  BX</a:t>
            </a:r>
            <a:r>
              <a:rPr lang="zh-CN" altLang="en-US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6  </a:t>
            </a:r>
            <a:r>
              <a:rPr lang="en-US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EQ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  0110B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；BX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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FFFFH，因6=6为真，输出全1</a:t>
            </a:r>
            <a:endParaRPr lang="zh-CN" altLang="en-US" sz="2800" dirty="0">
              <a:solidFill>
                <a:srgbClr val="CCFF99"/>
              </a:solidFill>
              <a:latin typeface="Times New Roman" panose="02020603050405020304" pitchFamily="18" charset="0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dirty="0">
                <a:solidFill>
                  <a:srgbClr val="CCFF99"/>
                </a:solidFill>
                <a:latin typeface="+mn-lt"/>
                <a:ea typeface="仿宋_GB2312" panose="02010609030101010101" pitchFamily="49" charset="-122"/>
              </a:rPr>
              <a:t> </a:t>
            </a:r>
            <a:endParaRPr lang="zh-CN" altLang="en-US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3）数值返回运算符</a:t>
            </a:r>
            <a:endParaRPr lang="zh-CN" altLang="en-US" sz="2800" dirty="0">
              <a:solidFill>
                <a:srgbClr val="FFC000"/>
              </a:solidFill>
              <a:latin typeface="+mn-lt"/>
            </a:endParaRPr>
          </a:p>
          <a:p>
            <a:pPr marL="363855" indent="-363855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lt"/>
              </a:rPr>
              <a:t>数值返回运算符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OFFSET</a:t>
            </a:r>
            <a:r>
              <a:rPr lang="zh-CN" altLang="en-US" dirty="0">
                <a:latin typeface="+mn-lt"/>
              </a:rPr>
              <a:t>和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SEG</a:t>
            </a:r>
            <a:endParaRPr lang="en-US" altLang="en-US" dirty="0">
              <a:solidFill>
                <a:srgbClr val="C00000"/>
              </a:solidFill>
              <a:latin typeface="+mn-lt"/>
            </a:endParaRPr>
          </a:p>
          <a:p>
            <a:pPr>
              <a:buNone/>
            </a:pPr>
            <a:r>
              <a:rPr lang="zh-CN" altLang="en-US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【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sym typeface="+mn-ea"/>
              </a:rPr>
              <a:t>例4.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sym typeface="+mn-ea"/>
              </a:rPr>
              <a:t>3</a:t>
            </a:r>
            <a:r>
              <a:rPr lang="zh-CN" altLang="en-US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】</a:t>
            </a:r>
            <a:r>
              <a:rPr lang="en-US" sz="3200" dirty="0">
                <a:solidFill>
                  <a:srgbClr val="00FF00"/>
                </a:solidFill>
                <a:latin typeface="+mn-lt"/>
                <a:ea typeface="+mj-ea"/>
              </a:rPr>
              <a:t> </a:t>
            </a:r>
            <a:r>
              <a:rPr lang="zh-CN" altLang="en-US" dirty="0">
                <a:latin typeface="+mn-lt"/>
                <a:ea typeface="+mn-ea"/>
              </a:rPr>
              <a:t>将</a:t>
            </a:r>
            <a:r>
              <a:rPr lang="en-US" dirty="0">
                <a:latin typeface="+mn-lt"/>
                <a:ea typeface="+mn-ea"/>
              </a:rPr>
              <a:t>TABLE</a:t>
            </a:r>
            <a:r>
              <a:rPr lang="zh-CN" altLang="en-US" dirty="0">
                <a:latin typeface="+mn-lt"/>
                <a:ea typeface="+mn-ea"/>
              </a:rPr>
              <a:t>变量的段基址：偏移量送入</a:t>
            </a:r>
            <a:r>
              <a:rPr lang="en-US" dirty="0">
                <a:latin typeface="+mn-lt"/>
                <a:ea typeface="+mn-ea"/>
              </a:rPr>
              <a:t> DS</a:t>
            </a:r>
            <a:r>
              <a:rPr lang="zh-CN" altLang="en-US" dirty="0">
                <a:latin typeface="+mn-lt"/>
                <a:ea typeface="+mn-ea"/>
              </a:rPr>
              <a:t>：</a:t>
            </a:r>
            <a:r>
              <a:rPr lang="en-US" dirty="0">
                <a:latin typeface="+mn-lt"/>
                <a:ea typeface="+mn-ea"/>
              </a:rPr>
              <a:t>BX</a:t>
            </a:r>
            <a:r>
              <a:rPr lang="zh-CN" altLang="en-US" dirty="0">
                <a:latin typeface="+mn-lt"/>
                <a:ea typeface="+mn-ea"/>
              </a:rPr>
              <a:t>。</a:t>
            </a: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TABLE  DB  40H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79H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24H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30H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19H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;数字0~9的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           12H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02H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78H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00H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18H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;七段代码表</a:t>
            </a:r>
            <a:endParaRPr 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+mn-lt"/>
                <a:ea typeface="仿宋_GB2312" panose="02010609030101010101" pitchFamily="49" charset="-122"/>
              </a:rPr>
              <a:t>			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┇</a:t>
            </a: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  MOV  BX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OFFSET 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TABLE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 ;BX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TABLE的偏址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  MOV  AX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SEG 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TABLE	  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;AX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TABLE的段址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  MOV  DS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AX	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     ;DS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TABLE的段址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Wingdings" panose="05000000000000000000" charset="0"/>
              <a:buChar char="u"/>
            </a:pPr>
            <a:r>
              <a:rPr lang="zh-CN" altLang="en-US" sz="3600" b="1" dirty="0">
                <a:sym typeface="+mn-ea"/>
              </a:rPr>
              <a:t>常用运算符举例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2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4）修改属性运算符</a:t>
            </a:r>
            <a:endParaRPr lang="zh-CN" altLang="en-US" sz="2800" dirty="0">
              <a:solidFill>
                <a:srgbClr val="FFC000"/>
              </a:solidFill>
              <a:latin typeface="+mn-lt"/>
            </a:endParaRP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例4.6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ea"/>
                <a:ea typeface="+mn-ea"/>
              </a:rPr>
              <a:t>对存储单元的属性进行修改。</a:t>
            </a:r>
          </a:p>
          <a:p>
            <a:pPr>
              <a:buNone/>
            </a:pPr>
            <a:r>
              <a:rPr lang="en-US" sz="2800" dirty="0"/>
              <a:t>    </a:t>
            </a:r>
            <a:r>
              <a:rPr lang="en-US" sz="2800" dirty="0">
                <a:latin typeface="+mn-lt"/>
                <a:ea typeface="仿宋_GB2312" panose="02010609030101010101" pitchFamily="49" charset="-122"/>
              </a:rPr>
              <a:t>INC 	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仿宋_GB2312" panose="02010609030101010101" pitchFamily="49" charset="-122"/>
              </a:rPr>
              <a:t>BYTE  PTR</a:t>
            </a:r>
            <a:r>
              <a:rPr lang="en-US" sz="2800" dirty="0">
                <a:latin typeface="+mn-lt"/>
                <a:ea typeface="仿宋_GB2312" panose="02010609030101010101" pitchFamily="49" charset="-122"/>
              </a:rPr>
              <a:t> [BX]	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仿宋_GB2312" panose="02010609030101010101" pitchFamily="49" charset="-122"/>
              </a:rPr>
              <a:t>	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；将字节存储单元的内容增1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</a:t>
            </a:r>
            <a:r>
              <a:rPr lang="en-US" altLang="zh-CN" sz="2800" dirty="0">
                <a:ea typeface="仿宋_GB2312" panose="02010609030101010101" pitchFamily="49" charset="-122"/>
              </a:rPr>
              <a:t>INC        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仿宋_GB2312" panose="02010609030101010101" pitchFamily="49" charset="-122"/>
              </a:rPr>
              <a:t>WORD PTR</a:t>
            </a:r>
            <a:r>
              <a:rPr lang="en-US" altLang="zh-CN" sz="2800" dirty="0">
                <a:ea typeface="仿宋_GB2312" panose="02010609030101010101" pitchFamily="49" charset="-122"/>
              </a:rPr>
              <a:t>[BX]; 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ea typeface="仿宋_GB2312" panose="02010609030101010101" pitchFamily="49" charset="-122"/>
              </a:rPr>
              <a:t>和上一句有何区别？</a:t>
            </a:r>
          </a:p>
          <a:p>
            <a:pPr>
              <a:buClr>
                <a:srgbClr val="00FF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用“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BYTE  PTR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”指明存储单元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[BX]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为字节单元。</a:t>
            </a:r>
          </a:p>
          <a:p>
            <a:pPr>
              <a:buClr>
                <a:srgbClr val="00FF00"/>
              </a:buClr>
              <a:buNone/>
            </a:pPr>
            <a:r>
              <a:rPr lang="en-US" sz="2800" dirty="0">
                <a:latin typeface="+mn-lt"/>
                <a:ea typeface="仿宋_GB2312" panose="02010609030101010101" pitchFamily="49" charset="-122"/>
              </a:rPr>
              <a:t>	 MOV	BX</a:t>
            </a:r>
            <a:r>
              <a:rPr lang="zh-CN" altLang="en-US" sz="28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仿宋_GB2312" panose="02010609030101010101" pitchFamily="49" charset="-122"/>
              </a:rPr>
              <a:t>ES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仿宋_GB2312" panose="02010609030101010101" pitchFamily="49" charset="-122"/>
              </a:rPr>
              <a:t>：</a:t>
            </a:r>
            <a:r>
              <a:rPr lang="en-US" sz="2800" dirty="0">
                <a:latin typeface="+mn-lt"/>
                <a:ea typeface="仿宋_GB2312" panose="02010609030101010101" pitchFamily="49" charset="-122"/>
              </a:rPr>
              <a:t>[DI]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仿宋_GB2312" panose="02010609030101010101" pitchFamily="49" charset="-122"/>
              </a:rPr>
              <a:t>	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；BX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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（16×ES+DI）的内容</a:t>
            </a:r>
          </a:p>
          <a:p>
            <a:pPr algn="just">
              <a:buClr>
                <a:srgbClr val="00FF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未加段超越前缀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ES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时，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存储单元</a:t>
            </a:r>
            <a:r>
              <a:rPr lang="en-US" sz="2800" dirty="0">
                <a:ea typeface="宋体" panose="02010600030101010101" pitchFamily="2" charset="-122"/>
                <a:sym typeface="+mn-ea"/>
              </a:rPr>
              <a:t>[DI]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默认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DS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为段基地址，加了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ES: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操作符后，段</a:t>
            </a:r>
            <a:r>
              <a:rPr lang="zh-CN" altLang="en-US" sz="2800" dirty="0">
                <a:solidFill>
                  <a:schemeClr val="tx1"/>
                </a:solidFill>
                <a:ea typeface="宋体" panose="02010600030101010101" pitchFamily="2" charset="-122"/>
              </a:rPr>
              <a:t>基地址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修改成了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ES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。</a:t>
            </a:r>
          </a:p>
          <a:p>
            <a:endParaRPr lang="zh-CN" altLang="en-US" sz="2800" dirty="0">
              <a:latin typeface="+mn-lt"/>
              <a:ea typeface="仿宋_GB2312" panose="02010609030101010101" pitchFamily="49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Wingdings" panose="05000000000000000000" charset="0"/>
              <a:buChar char="u"/>
            </a:pPr>
            <a:r>
              <a:rPr lang="zh-CN" altLang="en-US" sz="3600" b="1" dirty="0">
                <a:sym typeface="+mn-ea"/>
              </a:rPr>
              <a:t>常用运算符举例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843915" y="2589530"/>
            <a:ext cx="7772400" cy="2898775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  <a:sym typeface="+mn-ea"/>
              </a:rPr>
              <a:t>4.</a:t>
            </a:r>
            <a:r>
              <a:rPr lang="en-US" altLang="zh-CN" sz="4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  <a:sym typeface="+mn-ea"/>
              </a:rPr>
              <a:t>1</a:t>
            </a:r>
            <a:r>
              <a:rPr lang="en-US" sz="4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  <a:sym typeface="+mn-ea"/>
              </a:rPr>
              <a:t>.1 </a:t>
            </a:r>
            <a:r>
              <a:rPr lang="zh-CN" altLang="en-US" sz="4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  <a:sym typeface="+mn-ea"/>
              </a:rPr>
              <a:t>汇编语言程序格式</a:t>
            </a:r>
            <a:b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</a:br>
            <a:r>
              <a:rPr lang="en-US" sz="40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4.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1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.2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伪指令语句</a:t>
            </a:r>
            <a:br>
              <a:rPr lang="en-US" altLang="zh-CN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</a:br>
            <a:r>
              <a:rPr 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4.</a:t>
            </a:r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1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.3 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完整的汇编语言程</a:t>
            </a:r>
            <a:b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</a:br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	    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序框架</a:t>
            </a:r>
            <a:br>
              <a:rPr lang="en-US" altLang="zh-CN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</a:br>
            <a:endParaRPr lang="en-US" altLang="zh-CN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4.1.2  </a:t>
            </a:r>
            <a:r>
              <a:rPr lang="zh-CN" altLang="en-US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伪指令语句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段定义语句</a:t>
            </a:r>
          </a:p>
          <a:p>
            <a:pPr marL="363855" indent="-363855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+mn-lt"/>
              </a:rPr>
              <a:t>段定义语句：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SEGMENT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ENDS</a:t>
            </a: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【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sym typeface="+mn-ea"/>
              </a:rPr>
              <a:t>例4.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sym typeface="+mn-ea"/>
              </a:rPr>
              <a:t>7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用段定义语句定义一个数据段</a:t>
            </a:r>
            <a:r>
              <a:rPr lang="en-US" altLang="zh-CN" sz="2400" dirty="0">
                <a:latin typeface="+mn-lt"/>
                <a:ea typeface="+mn-ea"/>
              </a:rPr>
              <a:t>,  </a:t>
            </a:r>
            <a:r>
              <a:rPr lang="zh-CN" altLang="en-US" sz="2400" dirty="0">
                <a:latin typeface="+mn-lt"/>
                <a:ea typeface="+mn-ea"/>
              </a:rPr>
              <a:t>段名为</a:t>
            </a:r>
            <a:r>
              <a:rPr lang="en-US" sz="2400" dirty="0">
                <a:latin typeface="+mn-lt"/>
                <a:ea typeface="+mn-ea"/>
              </a:rPr>
              <a:t>DATA, </a:t>
            </a:r>
            <a:r>
              <a:rPr lang="zh-CN" altLang="en-US" sz="2400" dirty="0">
                <a:latin typeface="+mn-lt"/>
                <a:ea typeface="+mn-ea"/>
              </a:rPr>
              <a:t>段中包含</a:t>
            </a:r>
            <a:r>
              <a:rPr lang="en-US" sz="2400" dirty="0">
                <a:latin typeface="+mn-lt"/>
                <a:ea typeface="+mn-ea"/>
              </a:rPr>
              <a:t>X</a:t>
            </a:r>
            <a:r>
              <a:rPr lang="zh-CN" altLang="en-US" sz="2400" dirty="0">
                <a:latin typeface="+mn-lt"/>
                <a:ea typeface="+mn-ea"/>
              </a:rPr>
              <a:t>、</a:t>
            </a:r>
            <a:r>
              <a:rPr lang="en-US" sz="2400" dirty="0">
                <a:latin typeface="+mn-lt"/>
                <a:ea typeface="+mn-ea"/>
              </a:rPr>
              <a:t>Y</a:t>
            </a:r>
            <a:r>
              <a:rPr lang="zh-CN" altLang="en-US" sz="2400" dirty="0">
                <a:latin typeface="+mn-lt"/>
                <a:ea typeface="+mn-ea"/>
              </a:rPr>
              <a:t>两个变量。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DATA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仿宋_GB2312" panose="02010609030101010101" pitchFamily="49" charset="-122"/>
              </a:rPr>
              <a:t>SEGMENT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；数据段开始，DATA为段名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仿宋_GB2312" panose="02010609030101010101" pitchFamily="49" charset="-122"/>
              </a:rPr>
              <a:t>			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DATA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表示该段的基址</a:t>
            </a:r>
            <a:endParaRPr lang="zh-CN" altLang="en-US" sz="2400" dirty="0">
              <a:solidFill>
                <a:srgbClr val="CCFF99"/>
              </a:solidFill>
              <a:highlight>
                <a:srgbClr val="FFFF00"/>
              </a:highlight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X   DW  1234H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；变量X的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段基址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: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偏移量=DATA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: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0000</a:t>
            </a:r>
            <a:endParaRPr lang="en-US" altLang="zh-CN" sz="2400" dirty="0">
              <a:solidFill>
                <a:srgbClr val="CCFF99"/>
              </a:solidFill>
              <a:highlight>
                <a:srgbClr val="FFFF00"/>
              </a:highlight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		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;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内容初始化为：1234H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Y   DB  </a:t>
            </a:r>
            <a:r>
              <a:rPr lang="en-US" sz="2400" baseline="-25000" dirty="0">
                <a:latin typeface="+mn-lt"/>
                <a:ea typeface="仿宋_GB2312" panose="02010609030101010101" pitchFamily="49" charset="-122"/>
              </a:rPr>
              <a:t> 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56H	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；变量Y的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段基址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: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偏移量=DATA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: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0002</a:t>
            </a:r>
            <a:endParaRPr lang="en-US" altLang="zh-CN" sz="2400" dirty="0">
              <a:solidFill>
                <a:srgbClr val="CCFF99"/>
              </a:solidFill>
              <a:highlight>
                <a:srgbClr val="FFFF00"/>
              </a:highlight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	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；内容初始化为56H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DATA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仿宋_GB2312" panose="02010609030101010101" pitchFamily="49" charset="-122"/>
              </a:rPr>
              <a:t>ENDS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；数据段结束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仿宋_GB2312" panose="0201060903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2.段分配语句 </a:t>
            </a:r>
            <a:r>
              <a:rPr lang="en-US" sz="3200" b="1" dirty="0">
                <a:solidFill>
                  <a:srgbClr val="C00000"/>
                </a:solidFill>
                <a:latin typeface="+mn-lt"/>
                <a:sym typeface="+mn-ea"/>
              </a:rPr>
              <a:t>ASSUME </a:t>
            </a:r>
            <a:r>
              <a:rPr lang="zh-CN" altLang="en-US" sz="3200" b="1" dirty="0">
                <a:solidFill>
                  <a:srgbClr val="C00000"/>
                </a:solidFill>
                <a:latin typeface="+mn-lt"/>
                <a:sym typeface="+mn-ea"/>
              </a:rPr>
              <a:t>（了解）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用处：</a:t>
            </a:r>
            <a:r>
              <a:rPr lang="zh-CN" altLang="en-US" sz="2800" dirty="0">
                <a:latin typeface="+mn-lt"/>
              </a:rPr>
              <a:t>告诉汇编程序</a:t>
            </a:r>
            <a:r>
              <a:rPr lang="en-US" altLang="zh-CN" sz="2800" dirty="0">
                <a:latin typeface="+mn-lt"/>
              </a:rPr>
              <a:t>MASM.EXE</a:t>
            </a:r>
            <a:r>
              <a:rPr lang="zh-CN" altLang="en-US" sz="2800" dirty="0">
                <a:latin typeface="+mn-lt"/>
              </a:rPr>
              <a:t>：</a:t>
            </a:r>
            <a:r>
              <a:rPr lang="en-US" sz="2800" dirty="0">
                <a:latin typeface="+mn-lt"/>
              </a:rPr>
              <a:t>4</a:t>
            </a:r>
            <a:r>
              <a:rPr lang="zh-CN" altLang="en-US" sz="2800" dirty="0">
                <a:latin typeface="+mn-lt"/>
              </a:rPr>
              <a:t>个段寄存器</a:t>
            </a:r>
            <a:r>
              <a:rPr lang="en-US" sz="2800" dirty="0">
                <a:latin typeface="+mn-lt"/>
              </a:rPr>
              <a:t>CS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DS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SS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ES</a:t>
            </a:r>
            <a:r>
              <a:rPr lang="zh-CN" altLang="en-US" sz="2800" dirty="0">
                <a:latin typeface="+mn-lt"/>
              </a:rPr>
              <a:t>分别与哪些段有关。</a:t>
            </a: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格式：</a:t>
            </a:r>
          </a:p>
          <a:p>
            <a:pPr marL="0" indent="0">
              <a:buNone/>
            </a:pPr>
            <a:r>
              <a:rPr lang="en-US" sz="2800" dirty="0">
                <a:latin typeface="+mn-lt"/>
                <a:ea typeface="+mn-ea"/>
              </a:rPr>
              <a:t>  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ASSUME </a:t>
            </a:r>
            <a:r>
              <a:rPr lang="en-US" sz="2800" dirty="0">
                <a:latin typeface="+mn-lt"/>
                <a:ea typeface="+mn-ea"/>
              </a:rPr>
              <a:t>   CS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代码段名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DS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数据段名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                       SS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堆栈段名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ES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附加段名</a:t>
            </a:r>
          </a:p>
          <a:p>
            <a:pPr>
              <a:buFont typeface="Wingdings" panose="05000000000000000000" charset="0"/>
              <a:buChar char="u"/>
            </a:pPr>
            <a:endParaRPr lang="zh-CN" altLang="en-US" sz="280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注意：</a:t>
            </a:r>
            <a:r>
              <a:rPr lang="zh-CN" altLang="en-US" sz="2800" dirty="0">
                <a:sym typeface="+mn-ea"/>
              </a:rPr>
              <a:t>只是描述相关性，并没有给段寄存器具体赋值，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程序中还需要段寄存器赋值语句</a:t>
            </a:r>
            <a:r>
              <a:rPr lang="zh-CN" altLang="en-US" sz="2800" dirty="0">
                <a:sym typeface="+mn-ea"/>
              </a:rPr>
              <a:t>。</a:t>
            </a:r>
            <a:endParaRPr lang="zh-CN" altLang="en-US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dirty="0">
                <a:latin typeface="+mn-lt"/>
                <a:ea typeface="+mn-ea"/>
              </a:rPr>
              <a:t> </a:t>
            </a:r>
            <a:endParaRPr lang="zh-CN" altLang="en-US" dirty="0"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ircl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3.过程定义语句</a:t>
            </a:r>
            <a:r>
              <a:rPr lang="en-US" sz="3200" b="1" dirty="0">
                <a:solidFill>
                  <a:srgbClr val="C00000"/>
                </a:solidFill>
                <a:latin typeface="+mn-lt"/>
                <a:sym typeface="+mn-ea"/>
              </a:rPr>
              <a:t>PROC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和</a:t>
            </a:r>
            <a:r>
              <a:rPr lang="en-US" sz="3200" b="1" dirty="0">
                <a:solidFill>
                  <a:srgbClr val="C00000"/>
                </a:solidFill>
                <a:latin typeface="+mn-lt"/>
                <a:sym typeface="+mn-ea"/>
              </a:rPr>
              <a:t>ENDP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25549"/>
            <a:ext cx="8229600" cy="4525963"/>
          </a:xfrm>
        </p:spPr>
        <p:txBody>
          <a:bodyPr/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功能：</a:t>
            </a:r>
            <a:r>
              <a:rPr lang="zh-CN" altLang="en-US" dirty="0"/>
              <a:t>定义过程（</a:t>
            </a:r>
            <a:r>
              <a:rPr lang="en-US" dirty="0"/>
              <a:t>Procedure</a:t>
            </a:r>
            <a:r>
              <a:rPr lang="zh-CN" altLang="en-US" dirty="0"/>
              <a:t>），或称子程序（</a:t>
            </a:r>
            <a:r>
              <a:rPr lang="en-US" altLang="zh-CN" dirty="0"/>
              <a:t>Sub Function</a:t>
            </a:r>
            <a:r>
              <a:rPr lang="zh-CN" altLang="en-US" dirty="0"/>
              <a:t>），用</a:t>
            </a:r>
            <a:r>
              <a:rPr lang="en-US" dirty="0"/>
              <a:t>CALL</a:t>
            </a:r>
            <a:r>
              <a:rPr lang="zh-CN" altLang="en-US" dirty="0"/>
              <a:t>语句来调用。</a:t>
            </a:r>
          </a:p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格式：</a:t>
            </a:r>
          </a:p>
          <a:p>
            <a:pPr>
              <a:buNone/>
            </a:pPr>
            <a:r>
              <a:rPr lang="en-US" dirty="0">
                <a:latin typeface="+mn-lt"/>
                <a:ea typeface="+mn-ea"/>
              </a:rPr>
              <a:t> </a:t>
            </a:r>
            <a:r>
              <a:rPr lang="en-US" sz="2800" dirty="0">
                <a:latin typeface="+mn-lt"/>
                <a:ea typeface="+mn-ea"/>
              </a:rPr>
              <a:t> 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过程名</a:t>
            </a:r>
            <a:r>
              <a:rPr lang="en-US" sz="2800" dirty="0">
                <a:latin typeface="+mn-lt"/>
                <a:ea typeface="+mn-ea"/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j-ea"/>
                <a:cs typeface="+mj-cs"/>
              </a:rPr>
              <a:t>PROC</a:t>
            </a:r>
            <a:r>
              <a:rPr lang="en-US" sz="2800" dirty="0">
                <a:latin typeface="+mn-lt"/>
                <a:ea typeface="+mn-ea"/>
              </a:rPr>
              <a:t>	[NEAR]/FAR</a:t>
            </a:r>
            <a:endParaRPr lang="zh-CN" altLang="en-US" sz="2800" dirty="0">
              <a:latin typeface="+mn-lt"/>
              <a:ea typeface="+mn-ea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  	</a:t>
            </a:r>
            <a:r>
              <a:rPr lang="zh-CN" altLang="en-US" sz="2800" dirty="0">
                <a:latin typeface="+mn-lt"/>
                <a:ea typeface="+mn-ea"/>
              </a:rPr>
              <a:t>┇</a:t>
            </a:r>
            <a:r>
              <a:rPr lang="en-US" sz="2800" dirty="0">
                <a:latin typeface="+mn-lt"/>
                <a:ea typeface="+mn-ea"/>
              </a:rPr>
              <a:t>		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；过程内容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		</a:t>
            </a:r>
            <a:r>
              <a:rPr lang="en-US" sz="2800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RET</a:t>
            </a:r>
            <a:endParaRPr lang="en-US" altLang="en-US" sz="2800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  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过程名</a:t>
            </a:r>
            <a:r>
              <a:rPr lang="en-US" sz="2800" dirty="0">
                <a:latin typeface="+mn-lt"/>
                <a:ea typeface="+mn-ea"/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j-ea"/>
                <a:cs typeface="+mj-cs"/>
              </a:rPr>
              <a:t>ENDP</a:t>
            </a:r>
            <a:endParaRPr lang="en-US" altLang="en-US" sz="2800" b="1" dirty="0">
              <a:solidFill>
                <a:srgbClr val="C00000"/>
              </a:solidFill>
              <a:latin typeface="+mn-lt"/>
              <a:ea typeface="+mj-ea"/>
              <a:cs typeface="+mj-cs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C89F70E-ABA6-4058-82B8-2118CE76C3C0}"/>
              </a:ext>
            </a:extLst>
          </p:cNvPr>
          <p:cNvSpPr>
            <a:spLocks noGrp="1"/>
          </p:cNvSpPr>
          <p:nvPr/>
        </p:nvSpPr>
        <p:spPr>
          <a:xfrm>
            <a:off x="521550" y="5151254"/>
            <a:ext cx="8229600" cy="166751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过程属性：</a:t>
            </a:r>
            <a:r>
              <a:rPr lang="zh-CN" altLang="en-US" sz="2800" dirty="0">
                <a:latin typeface="+mn-lt"/>
              </a:rPr>
              <a:t>过程名像标号一样，有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3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种属性</a:t>
            </a:r>
            <a:r>
              <a:rPr lang="zh-CN" altLang="en-US" sz="2800" dirty="0">
                <a:latin typeface="+mn-lt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段基址</a:t>
            </a:r>
            <a:r>
              <a:rPr lang="zh-CN" altLang="en-US" sz="2800" dirty="0">
                <a:latin typeface="+mn-lt"/>
              </a:rPr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偏移地址</a:t>
            </a:r>
            <a:r>
              <a:rPr lang="zh-CN" altLang="en-US" sz="2800" dirty="0">
                <a:latin typeface="+mn-lt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距离属性（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NEAR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或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FAR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），</a:t>
            </a:r>
            <a:r>
              <a:rPr lang="zh-CN" altLang="en-US" sz="2800" dirty="0">
                <a:latin typeface="+mn-lt"/>
              </a:rPr>
              <a:t>距离属性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默认值为NEAR</a:t>
            </a:r>
          </a:p>
        </p:txBody>
      </p:sp>
    </p:spTree>
  </p:cSld>
  <p:clrMapOvr>
    <a:masterClrMapping/>
  </p:clrMapOvr>
  <p:transition spd="slow">
    <p:zoom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4.变量定义语句(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DB</a:t>
            </a:r>
            <a:r>
              <a:rPr lang="zh-CN" altLang="en-US" sz="3200" dirty="0">
                <a:latin typeface="+mn-lt"/>
                <a:ea typeface="+mn-ea"/>
                <a:sym typeface="+mn-ea"/>
              </a:rPr>
              <a:t>、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DW</a:t>
            </a:r>
            <a:r>
              <a:rPr lang="zh-CN" altLang="en-US" sz="3200" dirty="0">
                <a:latin typeface="+mn-lt"/>
                <a:ea typeface="+mn-ea"/>
                <a:sym typeface="+mn-ea"/>
              </a:rPr>
              <a:t>、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DD</a:t>
            </a:r>
            <a:r>
              <a:rPr lang="zh-CN" altLang="en-US" sz="3200" dirty="0">
                <a:latin typeface="+mn-lt"/>
                <a:ea typeface="+mn-ea"/>
                <a:sym typeface="+mn-ea"/>
              </a:rPr>
              <a:t>、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DQ</a:t>
            </a:r>
            <a:r>
              <a:rPr lang="zh-CN" altLang="en-US" sz="3200" dirty="0">
                <a:latin typeface="+mn-lt"/>
                <a:ea typeface="+mn-ea"/>
                <a:sym typeface="+mn-ea"/>
              </a:rPr>
              <a:t>和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DT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6040"/>
            <a:ext cx="8229600" cy="4525963"/>
          </a:xfrm>
        </p:spPr>
        <p:txBody>
          <a:bodyPr/>
          <a:lstStyle/>
          <a:p>
            <a:pPr marL="363855" indent="-363855"/>
            <a:r>
              <a:rPr lang="zh-CN" altLang="en-US" sz="2600" dirty="0">
                <a:latin typeface="+mn-lt"/>
              </a:rPr>
              <a:t>变量定义语句的一般形式为：</a:t>
            </a:r>
            <a:endParaRPr lang="en-US" altLang="zh-CN" sz="2600" dirty="0">
              <a:latin typeface="+mn-lt"/>
            </a:endParaRPr>
          </a:p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sz="2600" dirty="0">
                <a:solidFill>
                  <a:srgbClr val="00FF00"/>
                </a:solidFill>
                <a:latin typeface="+mn-lt"/>
              </a:rPr>
              <a:t>     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变量名</a:t>
            </a:r>
            <a:r>
              <a:rPr lang="en-US" altLang="zh-CN" sz="2600" dirty="0">
                <a:solidFill>
                  <a:srgbClr val="00FF00"/>
                </a:solidFill>
              </a:rPr>
              <a:t>  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伪指令指示符</a:t>
            </a:r>
            <a:r>
              <a:rPr lang="en-US" altLang="zh-CN" sz="2600" dirty="0">
                <a:solidFill>
                  <a:srgbClr val="00FF00"/>
                </a:solidFill>
              </a:rPr>
              <a:t>   </a:t>
            </a:r>
            <a:r>
              <a:rPr lang="zh-CN" altLang="en-US" sz="2600" b="1" dirty="0">
                <a:solidFill>
                  <a:srgbClr val="7030A0"/>
                </a:solidFill>
              </a:rPr>
              <a:t>操作数</a:t>
            </a:r>
            <a:r>
              <a:rPr lang="en-US" sz="2600" dirty="0">
                <a:solidFill>
                  <a:srgbClr val="00FF00"/>
                </a:solidFill>
              </a:rPr>
              <a:t>	</a:t>
            </a:r>
            <a:r>
              <a:rPr lang="zh-CN" altLang="en-US" sz="26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变量名：</a:t>
            </a:r>
            <a:r>
              <a:rPr lang="zh-CN" altLang="en-US" sz="2600" dirty="0">
                <a:latin typeface="+mn-lt"/>
                <a:ea typeface="+mn-ea"/>
              </a:rPr>
              <a:t>用符号表示，也可以省略。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伪指令：</a:t>
            </a:r>
            <a:r>
              <a:rPr lang="zh-CN" altLang="en-US" sz="2600" dirty="0">
                <a:latin typeface="+mn-lt"/>
                <a:ea typeface="+mn-ea"/>
              </a:rPr>
              <a:t>包括</a:t>
            </a:r>
            <a:r>
              <a:rPr lang="en-US" sz="2600" dirty="0">
                <a:latin typeface="+mn-lt"/>
                <a:ea typeface="+mn-ea"/>
              </a:rPr>
              <a:t>DB</a:t>
            </a:r>
            <a:r>
              <a:rPr lang="zh-CN" altLang="en-US" sz="2600" dirty="0">
                <a:latin typeface="+mn-lt"/>
                <a:ea typeface="+mn-ea"/>
              </a:rPr>
              <a:t>、</a:t>
            </a:r>
            <a:r>
              <a:rPr lang="en-US" sz="2600" dirty="0">
                <a:latin typeface="+mn-lt"/>
                <a:ea typeface="+mn-ea"/>
              </a:rPr>
              <a:t>DW</a:t>
            </a:r>
            <a:r>
              <a:rPr lang="zh-CN" altLang="en-US" sz="2600" dirty="0">
                <a:latin typeface="+mn-lt"/>
                <a:ea typeface="+mn-ea"/>
              </a:rPr>
              <a:t>、</a:t>
            </a:r>
            <a:r>
              <a:rPr lang="en-US" sz="2600" dirty="0">
                <a:latin typeface="+mn-lt"/>
                <a:ea typeface="+mn-ea"/>
              </a:rPr>
              <a:t>DD</a:t>
            </a:r>
            <a:r>
              <a:rPr lang="zh-CN" altLang="en-US" sz="2600" dirty="0">
                <a:latin typeface="+mn-lt"/>
                <a:ea typeface="+mn-ea"/>
              </a:rPr>
              <a:t>、</a:t>
            </a:r>
            <a:r>
              <a:rPr lang="en-US" sz="2600" dirty="0">
                <a:latin typeface="+mn-lt"/>
                <a:ea typeface="+mn-ea"/>
              </a:rPr>
              <a:t>DQ</a:t>
            </a:r>
            <a:r>
              <a:rPr lang="zh-CN" altLang="en-US" sz="2600" dirty="0">
                <a:latin typeface="+mn-lt"/>
                <a:ea typeface="+mn-ea"/>
              </a:rPr>
              <a:t>和</a:t>
            </a:r>
            <a:r>
              <a:rPr lang="en-US" sz="2600" dirty="0">
                <a:latin typeface="+mn-lt"/>
                <a:ea typeface="+mn-ea"/>
              </a:rPr>
              <a:t>DT</a:t>
            </a:r>
            <a:r>
              <a:rPr lang="zh-CN" altLang="en-US" sz="2600" dirty="0">
                <a:latin typeface="+mn-lt"/>
                <a:ea typeface="+mn-ea"/>
              </a:rPr>
              <a:t>，分别定义字节（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B</a:t>
            </a:r>
            <a:r>
              <a:rPr lang="en-US" altLang="zh-CN" sz="2600" dirty="0">
                <a:latin typeface="+mn-lt"/>
                <a:ea typeface="+mn-ea"/>
              </a:rPr>
              <a:t>yte</a:t>
            </a:r>
            <a:r>
              <a:rPr lang="zh-CN" altLang="en-US" sz="2600" dirty="0">
                <a:latin typeface="+mn-lt"/>
                <a:ea typeface="+mn-ea"/>
              </a:rPr>
              <a:t>）、字（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W</a:t>
            </a:r>
            <a:r>
              <a:rPr lang="en-US" altLang="zh-CN" sz="2600" dirty="0">
                <a:latin typeface="+mn-lt"/>
                <a:ea typeface="+mn-ea"/>
              </a:rPr>
              <a:t>ord</a:t>
            </a:r>
            <a:r>
              <a:rPr lang="zh-CN" altLang="en-US" sz="2600" dirty="0">
                <a:latin typeface="+mn-lt"/>
                <a:ea typeface="+mn-ea"/>
              </a:rPr>
              <a:t>）、双字（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D</a:t>
            </a:r>
            <a:r>
              <a:rPr lang="en-US" altLang="zh-CN" sz="2600" dirty="0">
                <a:latin typeface="+mn-lt"/>
                <a:ea typeface="+mn-ea"/>
              </a:rPr>
              <a:t>ouble Word</a:t>
            </a:r>
            <a:r>
              <a:rPr lang="zh-CN" altLang="en-US" sz="2600" dirty="0">
                <a:latin typeface="+mn-lt"/>
                <a:ea typeface="+mn-ea"/>
              </a:rPr>
              <a:t>）、</a:t>
            </a:r>
            <a:r>
              <a:rPr lang="en-US" sz="2600" dirty="0">
                <a:latin typeface="+mn-lt"/>
                <a:ea typeface="+mn-ea"/>
              </a:rPr>
              <a:t>4</a:t>
            </a:r>
            <a:r>
              <a:rPr lang="zh-CN" altLang="en-US" sz="2600" dirty="0">
                <a:latin typeface="+mn-lt"/>
                <a:ea typeface="+mn-ea"/>
              </a:rPr>
              <a:t>字（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Q</a:t>
            </a:r>
            <a:r>
              <a:rPr lang="en-US" altLang="zh-CN" sz="2600" dirty="0">
                <a:latin typeface="+mn-lt"/>
                <a:ea typeface="+mn-ea"/>
              </a:rPr>
              <a:t>uater Word</a:t>
            </a:r>
            <a:r>
              <a:rPr lang="zh-CN" altLang="en-US" sz="2600" dirty="0">
                <a:latin typeface="+mn-lt"/>
                <a:ea typeface="+mn-ea"/>
              </a:rPr>
              <a:t>）和</a:t>
            </a:r>
            <a:r>
              <a:rPr lang="en-US" sz="2600" dirty="0">
                <a:latin typeface="+mn-lt"/>
                <a:ea typeface="+mn-ea"/>
              </a:rPr>
              <a:t>10</a:t>
            </a:r>
            <a:r>
              <a:rPr lang="zh-CN" altLang="en-US" sz="2600" dirty="0">
                <a:latin typeface="+mn-lt"/>
                <a:ea typeface="+mn-ea"/>
              </a:rPr>
              <a:t>字节（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T</a:t>
            </a:r>
            <a:r>
              <a:rPr lang="en-US" altLang="zh-CN" sz="2600" dirty="0">
                <a:latin typeface="+mn-lt"/>
                <a:ea typeface="+mn-ea"/>
              </a:rPr>
              <a:t>en Byte</a:t>
            </a:r>
            <a:r>
              <a:rPr lang="zh-CN" altLang="en-US" sz="2600" dirty="0">
                <a:latin typeface="+mn-lt"/>
                <a:ea typeface="+mn-ea"/>
              </a:rPr>
              <a:t>）变量。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7030A0"/>
                </a:solidFill>
                <a:latin typeface="+mn-lt"/>
                <a:ea typeface="+mn-ea"/>
              </a:rPr>
              <a:t>操作数：用于</a:t>
            </a:r>
            <a:r>
              <a:rPr lang="zh-CN" altLang="en-US" sz="2600" dirty="0">
                <a:latin typeface="+mn-lt"/>
                <a:ea typeface="+mn-ea"/>
              </a:rPr>
              <a:t>设置</a:t>
            </a:r>
            <a:r>
              <a:rPr lang="zh-CN" altLang="en-US" sz="2600" b="1" dirty="0">
                <a:solidFill>
                  <a:srgbClr val="C00000"/>
                </a:solidFill>
                <a:latin typeface="+mn-lt"/>
                <a:ea typeface="+mn-ea"/>
              </a:rPr>
              <a:t>初值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	—</a:t>
            </a:r>
            <a:r>
              <a:rPr lang="zh-CN" altLang="en-US" sz="2600" dirty="0">
                <a:latin typeface="+mn-lt"/>
                <a:ea typeface="+mn-ea"/>
              </a:rPr>
              <a:t>可用</a:t>
            </a:r>
            <a:r>
              <a:rPr lang="zh-CN" altLang="en-US" sz="2600" b="1" dirty="0">
                <a:solidFill>
                  <a:srgbClr val="FF0000"/>
                </a:solidFill>
                <a:latin typeface="+mn-lt"/>
                <a:ea typeface="+mn-ea"/>
              </a:rPr>
              <a:t>？</a:t>
            </a:r>
            <a:r>
              <a:rPr lang="zh-CN" altLang="en-US" sz="2600" dirty="0">
                <a:latin typeface="+mn-lt"/>
                <a:ea typeface="+mn-ea"/>
              </a:rPr>
              <a:t>来表示</a:t>
            </a:r>
            <a:r>
              <a:rPr lang="zh-CN" altLang="en-US" sz="2600" b="1" dirty="0">
                <a:solidFill>
                  <a:srgbClr val="C00000"/>
                </a:solidFill>
                <a:latin typeface="+mn-lt"/>
                <a:ea typeface="+mn-ea"/>
              </a:rPr>
              <a:t>随机值；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	—</a:t>
            </a:r>
            <a:r>
              <a:rPr lang="zh-CN" altLang="en-US" sz="2600" dirty="0">
                <a:latin typeface="+mn-lt"/>
                <a:ea typeface="+mn-ea"/>
              </a:rPr>
              <a:t>可用</a:t>
            </a:r>
            <a:r>
              <a:rPr lang="en-US" altLang="zh-CN" sz="2600" b="1" dirty="0">
                <a:solidFill>
                  <a:srgbClr val="FF0000"/>
                </a:solidFill>
                <a:latin typeface="+mn-lt"/>
                <a:ea typeface="+mn-ea"/>
              </a:rPr>
              <a:t>DUP</a:t>
            </a:r>
            <a:r>
              <a:rPr lang="zh-CN" altLang="en-US" sz="2600" dirty="0">
                <a:latin typeface="+mn-lt"/>
                <a:ea typeface="+mn-ea"/>
              </a:rPr>
              <a:t>来定义</a:t>
            </a:r>
            <a:r>
              <a:rPr lang="zh-CN" altLang="en-US" sz="2600" b="1" dirty="0">
                <a:solidFill>
                  <a:srgbClr val="C00000"/>
                </a:solidFill>
                <a:latin typeface="+mn-lt"/>
                <a:ea typeface="+mn-ea"/>
              </a:rPr>
              <a:t>重复值</a:t>
            </a:r>
            <a:r>
              <a:rPr lang="zh-CN" altLang="en-US" sz="2600" dirty="0">
                <a:latin typeface="+mn-lt"/>
                <a:ea typeface="+mn-ea"/>
              </a:rPr>
              <a:t>；</a:t>
            </a:r>
          </a:p>
          <a:p>
            <a:pPr marL="0" indent="0" algn="just">
              <a:buNone/>
            </a:pPr>
            <a:r>
              <a:rPr lang="zh-CN" altLang="en-US" sz="2600" dirty="0">
                <a:latin typeface="+mn-lt"/>
                <a:ea typeface="+mn-ea"/>
              </a:rPr>
              <a:t>          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—</a:t>
            </a:r>
            <a:r>
              <a:rPr lang="zh-CN" altLang="en-US" sz="2600" dirty="0">
                <a:solidFill>
                  <a:schemeClr val="tx1"/>
                </a:solidFill>
                <a:latin typeface="+mn-lt"/>
                <a:ea typeface="+mn-ea"/>
              </a:rPr>
              <a:t>可</a:t>
            </a:r>
            <a:r>
              <a:rPr lang="zh-CN" altLang="en-US" sz="2600" dirty="0">
                <a:latin typeface="+mn-lt"/>
                <a:ea typeface="+mn-ea"/>
              </a:rPr>
              <a:t>用</a:t>
            </a:r>
            <a:r>
              <a:rPr lang="en-US" altLang="zh-CN" sz="2600" b="1" dirty="0">
                <a:solidFill>
                  <a:srgbClr val="FF0000"/>
                </a:solidFill>
                <a:latin typeface="+mn-lt"/>
                <a:ea typeface="+mn-ea"/>
              </a:rPr>
              <a:t>$</a:t>
            </a:r>
            <a:r>
              <a:rPr lang="zh-CN" altLang="en-US" sz="2600" dirty="0">
                <a:latin typeface="+mn-lt"/>
                <a:ea typeface="+mn-ea"/>
              </a:rPr>
              <a:t>来表示当前有效地址（</a:t>
            </a:r>
            <a:r>
              <a:rPr lang="en-US" altLang="zh-CN" sz="2600" dirty="0">
                <a:latin typeface="+mn-lt"/>
                <a:ea typeface="+mn-ea"/>
              </a:rPr>
              <a:t>EA</a:t>
            </a:r>
            <a:r>
              <a:rPr lang="zh-CN" altLang="en-US" sz="2600" dirty="0">
                <a:latin typeface="+mn-lt"/>
                <a:ea typeface="+mn-ea"/>
              </a:rPr>
              <a:t>）</a:t>
            </a:r>
          </a:p>
        </p:txBody>
      </p:sp>
      <p:sp>
        <p:nvSpPr>
          <p:cNvPr id="4" name="矩形 3"/>
          <p:cNvSpPr/>
          <p:nvPr/>
        </p:nvSpPr>
        <p:spPr>
          <a:xfrm>
            <a:off x="1106615" y="5184194"/>
            <a:ext cx="5850890" cy="152527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4.变量定义语句--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52529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4.8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800" dirty="0">
                <a:latin typeface="+mn-ea"/>
                <a:ea typeface="+mn-ea"/>
              </a:rPr>
              <a:t>变量定义语句举例。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FIRST 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DB    </a:t>
            </a:r>
            <a:r>
              <a:rPr lang="zh-CN" altLang="en-US" sz="2800" dirty="0">
                <a:latin typeface="+mn-lt"/>
                <a:ea typeface="+mn-ea"/>
              </a:rPr>
              <a:t>？</a:t>
            </a:r>
            <a:r>
              <a:rPr lang="en-US" sz="2800" dirty="0">
                <a:latin typeface="+mn-lt"/>
                <a:ea typeface="+mn-ea"/>
              </a:rPr>
              <a:t>      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；定义一个字节变量</a:t>
            </a:r>
          </a:p>
          <a:p>
            <a:pPr>
              <a:buNone/>
            </a:pPr>
            <a:r>
              <a:rPr lang="en-US" altLang="zh-CN" sz="2800" dirty="0">
                <a:latin typeface="+mn-lt"/>
                <a:ea typeface="+mn-ea"/>
              </a:rPr>
              <a:t>					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；初始值不确定</a:t>
            </a:r>
            <a:endParaRPr lang="zh-CN" altLang="en-US" sz="28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SECOND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DB </a:t>
            </a:r>
            <a:r>
              <a:rPr lang="en-US" sz="2800" dirty="0">
                <a:latin typeface="+mn-lt"/>
                <a:ea typeface="+mn-ea"/>
              </a:rPr>
              <a:t>    20H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33H	</a:t>
            </a:r>
            <a:r>
              <a:rPr lang="en-US" sz="2800" dirty="0">
                <a:solidFill>
                  <a:srgbClr val="CCFF99"/>
                </a:solidFill>
                <a:latin typeface="+mn-lt"/>
                <a:ea typeface="+mn-ea"/>
              </a:rPr>
              <a:t> 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；定义两个字节变量</a:t>
            </a:r>
          </a:p>
          <a:p>
            <a:pPr algn="l">
              <a:buNone/>
            </a:pPr>
            <a:r>
              <a:rPr lang="en-US" sz="2800" dirty="0">
                <a:latin typeface="+mn-lt"/>
                <a:ea typeface="+mn-ea"/>
              </a:rPr>
              <a:t>THIRD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 DW  </a:t>
            </a:r>
            <a:r>
              <a:rPr lang="en-US" sz="2800" dirty="0">
                <a:latin typeface="+mn-lt"/>
                <a:ea typeface="+mn-ea"/>
              </a:rPr>
              <a:t>   22H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0F44H 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；定义两个字变量</a:t>
            </a:r>
          </a:p>
          <a:p>
            <a:pPr algn="l">
              <a:buNone/>
            </a:pPr>
            <a:r>
              <a:rPr lang="en-US" sz="2800" dirty="0">
                <a:latin typeface="+mn-lt"/>
                <a:ea typeface="+mn-ea"/>
              </a:rPr>
              <a:t>FOUR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  DQ </a:t>
            </a:r>
            <a:r>
              <a:rPr lang="en-US" sz="2800" dirty="0">
                <a:latin typeface="+mn-lt"/>
                <a:ea typeface="+mn-ea"/>
              </a:rPr>
              <a:t>   12345678H	 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；定义一个双字变量</a:t>
            </a:r>
          </a:p>
          <a:p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4.变量定义语句--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重复值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DUP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举例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pPr>
              <a:spcBef>
                <a:spcPts val="3600"/>
              </a:spcBef>
            </a:pPr>
            <a:r>
              <a:rPr lang="zh-CN" altLang="en-US" sz="2800" dirty="0">
                <a:latin typeface="+mn-lt"/>
              </a:rPr>
              <a:t>用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DUP</a:t>
            </a:r>
            <a:r>
              <a:rPr lang="zh-CN" altLang="en-US" sz="2800" dirty="0">
                <a:latin typeface="+mn-lt"/>
              </a:rPr>
              <a:t>来定义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重复变量</a:t>
            </a:r>
            <a:r>
              <a:rPr lang="zh-CN" altLang="en-US" sz="2800" dirty="0">
                <a:latin typeface="+mn-lt"/>
              </a:rPr>
              <a:t>，其格式为：</a:t>
            </a:r>
          </a:p>
          <a:p>
            <a:pPr>
              <a:buNone/>
            </a:pPr>
            <a:r>
              <a:rPr lang="zh-CN" altLang="en-US" sz="2800" dirty="0">
                <a:solidFill>
                  <a:srgbClr val="00FF00"/>
                </a:solidFill>
                <a:latin typeface="+mn-lt"/>
              </a:rPr>
              <a:t>        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变量名</a:t>
            </a:r>
            <a:r>
              <a:rPr lang="en-US" altLang="zh-CN" sz="2800" dirty="0">
                <a:solidFill>
                  <a:srgbClr val="00FF00"/>
                </a:solidFill>
                <a:latin typeface="+mn-lt"/>
              </a:rPr>
              <a:t>    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伪指令指示符</a:t>
            </a:r>
            <a:r>
              <a:rPr lang="zh-CN" altLang="en-US" sz="2800" dirty="0">
                <a:solidFill>
                  <a:srgbClr val="00FF00"/>
                </a:solidFill>
                <a:latin typeface="+mn-lt"/>
              </a:rPr>
              <a:t>    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i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</a:t>
            </a:r>
            <a:r>
              <a:rPr lang="en-US" sz="2800" dirty="0">
                <a:solidFill>
                  <a:srgbClr val="7030A0"/>
                </a:solidFill>
                <a:latin typeface="+mn-lt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DUP </a:t>
            </a:r>
            <a:r>
              <a:rPr lang="en-US" sz="2800" dirty="0">
                <a:solidFill>
                  <a:srgbClr val="7030A0"/>
                </a:solidFill>
                <a:latin typeface="+mn-lt"/>
              </a:rPr>
              <a:t>(</a:t>
            </a:r>
            <a:r>
              <a:rPr lang="zh-CN" altLang="en-US" sz="2800" dirty="0">
                <a:solidFill>
                  <a:srgbClr val="7030A0"/>
                </a:solidFill>
                <a:latin typeface="+mn-lt"/>
              </a:rPr>
              <a:t>操作数</a:t>
            </a:r>
            <a:r>
              <a:rPr lang="en-US" sz="2800" dirty="0">
                <a:solidFill>
                  <a:srgbClr val="7030A0"/>
                </a:solidFill>
                <a:latin typeface="+mn-lt"/>
              </a:rPr>
              <a:t>)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olidFill>
                  <a:srgbClr val="00FF00"/>
                </a:solidFill>
                <a:latin typeface="+mn-lt"/>
              </a:rPr>
              <a:t>   </a:t>
            </a:r>
            <a:r>
              <a:rPr lang="zh-CN" altLang="en-US" sz="2800" dirty="0">
                <a:latin typeface="+mn-lt"/>
              </a:rPr>
              <a:t>其中</a:t>
            </a:r>
            <a:r>
              <a:rPr lang="en-US" sz="2800" i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为重复变量的个数</a:t>
            </a:r>
            <a:r>
              <a:rPr lang="zh-CN" altLang="en-US" sz="2800" dirty="0">
                <a:latin typeface="+mn-lt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DUP</a:t>
            </a:r>
            <a:r>
              <a:rPr lang="zh-CN" altLang="en-US" sz="2800" b="1" dirty="0">
                <a:solidFill>
                  <a:srgbClr val="0000FF"/>
                </a:solidFill>
                <a:latin typeface="+mn-lt"/>
              </a:rPr>
              <a:t>还可以嵌套</a:t>
            </a:r>
            <a:r>
              <a:rPr lang="zh-CN" altLang="en-US" sz="2800" dirty="0">
                <a:latin typeface="+mn-lt"/>
              </a:rPr>
              <a:t>。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4.9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  N1	 DB   100	 DUP (?)		    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；分配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100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个字节单元，初值不确定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    N2	 DW   10	DUP (0)		    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；定义10个字单元，初值均为0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    N3	 DB   100 DUP (3 DUP(8), 6)	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；定义100个“8，8，8，6”的数据项</a:t>
            </a:r>
          </a:p>
          <a:p>
            <a:pPr>
              <a:spcBef>
                <a:spcPts val="0"/>
              </a:spcBef>
              <a:buNone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4.变量定义语句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（可能考试</a:t>
            </a:r>
            <a:br>
              <a:rPr lang="en-US" altLang="zh-CN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</a:b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）</a:t>
            </a:r>
            <a:endParaRPr 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96665"/>
          </a:xfrm>
        </p:spPr>
        <p:txBody>
          <a:bodyPr/>
          <a:lstStyle/>
          <a:p>
            <a:r>
              <a:rPr lang="zh-CN" altLang="en-US" sz="2800" dirty="0"/>
              <a:t>操作数项（初始化数据项）也可写成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单个字符或字符串</a:t>
            </a:r>
            <a:r>
              <a:rPr lang="zh-CN" altLang="en-US" sz="2800" dirty="0"/>
              <a:t>的形式，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通常</a:t>
            </a:r>
            <a:r>
              <a:rPr lang="zh-CN" altLang="en-US" sz="2800" dirty="0"/>
              <a:t>用</a:t>
            </a:r>
            <a:r>
              <a:rPr lang="zh-CN" altLang="en-US" sz="2800" b="1" dirty="0">
                <a:solidFill>
                  <a:srgbClr val="C00000"/>
                </a:solidFill>
              </a:rPr>
              <a:t>字节</a:t>
            </a:r>
            <a:r>
              <a:rPr lang="zh-CN" altLang="en-US" sz="2800" dirty="0"/>
              <a:t>来表示。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4.10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ea"/>
                <a:ea typeface="+mn-ea"/>
              </a:rPr>
              <a:t>字符串变量举例。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	DB	</a:t>
            </a:r>
            <a:r>
              <a:rPr lang="zh-CN" altLang="en-US" sz="2800" dirty="0">
                <a:latin typeface="+mn-lt"/>
                <a:ea typeface="+mn-ea"/>
              </a:rPr>
              <a:t>‘</a:t>
            </a:r>
            <a:r>
              <a:rPr lang="en-US" sz="2800" dirty="0">
                <a:latin typeface="+mn-lt"/>
                <a:ea typeface="+mn-ea"/>
              </a:rPr>
              <a:t>Welcome</a:t>
            </a:r>
            <a:r>
              <a:rPr lang="zh-CN" altLang="en-US" sz="2800" dirty="0">
                <a:latin typeface="+mn-lt"/>
                <a:ea typeface="+mn-ea"/>
              </a:rPr>
              <a:t>’ </a:t>
            </a:r>
            <a:r>
              <a:rPr lang="en-US" sz="2800" dirty="0">
                <a:latin typeface="+mn-lt"/>
                <a:ea typeface="+mn-ea"/>
              </a:rPr>
              <a:t>				</a:t>
            </a:r>
          </a:p>
          <a:p>
            <a:pPr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；在内存中顺序存放各字符的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ACSII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码</a:t>
            </a:r>
          </a:p>
          <a:p>
            <a:pPr>
              <a:buNone/>
            </a:pPr>
            <a:endParaRPr lang="zh-CN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endParaRPr lang="zh-CN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        </a:t>
            </a:r>
            <a:r>
              <a:rPr lang="en-US" sz="2800" dirty="0">
                <a:latin typeface="+mn-lt"/>
                <a:ea typeface="+mn-ea"/>
              </a:rPr>
              <a:t>DW   'AB';  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存放顺序是：</a:t>
            </a:r>
            <a:r>
              <a:rPr lang="en-US" altLang="zh-CN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4241H</a:t>
            </a:r>
            <a:endParaRPr lang="zh-CN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dirty="0">
                <a:latin typeface="+mn-lt"/>
                <a:ea typeface="+mn-ea"/>
              </a:rPr>
              <a:t> </a:t>
            </a:r>
            <a:endParaRPr lang="zh-CN" altLang="en-US" dirty="0"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8228" y="4197985"/>
            <a:ext cx="7027545" cy="8299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注意存放的顺序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是：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'W','e','l','c'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,'o','m','e'</a:t>
            </a:r>
            <a:endParaRPr lang="en-US" altLang="zh-CN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algn="just">
              <a:buNone/>
            </a:pP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				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也就是说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'W'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在低地址！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58228" y="5557520"/>
            <a:ext cx="7027545" cy="460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注意：定义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WORD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类型时顺序和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BYTE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类型不一样</a:t>
            </a:r>
          </a:p>
        </p:txBody>
      </p:sp>
    </p:spTree>
  </p:cSld>
  <p:clrMapOvr>
    <a:masterClrMapping/>
  </p:clrMapOvr>
  <p:transition spd="slow">
    <p:push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4.变量定义语句---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变量存放情况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5572760" cy="452628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4.11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en-US" sz="2800" dirty="0">
                <a:solidFill>
                  <a:srgbClr val="00FF00"/>
                </a:solidFill>
                <a:latin typeface="+mn-lt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如数据在存储单元中的存放形式如图</a:t>
            </a:r>
            <a:r>
              <a:rPr lang="en-US" sz="2800" dirty="0">
                <a:latin typeface="+mn-lt"/>
                <a:ea typeface="+mn-ea"/>
              </a:rPr>
              <a:t>4.</a:t>
            </a:r>
            <a:r>
              <a:rPr lang="en-US" altLang="zh-CN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，试给出相应的变量定义语句。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DATA1	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DB</a:t>
            </a:r>
            <a:r>
              <a:rPr lang="en-US" sz="2800" dirty="0">
                <a:latin typeface="+mn-lt"/>
                <a:ea typeface="+mn-ea"/>
              </a:rPr>
              <a:t>	</a:t>
            </a:r>
            <a:r>
              <a:rPr lang="zh-CN" altLang="en-US" sz="2800" dirty="0">
                <a:latin typeface="+mn-lt"/>
                <a:ea typeface="+mn-ea"/>
              </a:rPr>
              <a:t>‘</a:t>
            </a:r>
            <a:r>
              <a:rPr lang="en-US" sz="2800" dirty="0">
                <a:latin typeface="+mn-lt"/>
                <a:ea typeface="+mn-ea"/>
              </a:rPr>
              <a:t>3</a:t>
            </a:r>
            <a:r>
              <a:rPr lang="zh-CN" altLang="en-US" sz="2800" dirty="0">
                <a:latin typeface="+mn-lt"/>
                <a:ea typeface="+mn-ea"/>
              </a:rPr>
              <a:t>’，‘</a:t>
            </a:r>
            <a:r>
              <a:rPr lang="en-US" sz="2800" dirty="0">
                <a:latin typeface="+mn-lt"/>
                <a:ea typeface="+mn-ea"/>
              </a:rPr>
              <a:t>A</a:t>
            </a:r>
            <a:r>
              <a:rPr lang="zh-CN" altLang="en-US" sz="2800" dirty="0">
                <a:latin typeface="+mn-lt"/>
                <a:ea typeface="+mn-ea"/>
              </a:rPr>
              <a:t>’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DATA2	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DW</a:t>
            </a:r>
            <a:r>
              <a:rPr lang="en-US" sz="2800" dirty="0">
                <a:latin typeface="+mn-lt"/>
                <a:ea typeface="+mn-ea"/>
              </a:rPr>
              <a:t>	  98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100H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-2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DATA3	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DD	</a:t>
            </a:r>
            <a:r>
              <a:rPr lang="en-US" sz="2800" dirty="0">
                <a:latin typeface="+mn-lt"/>
                <a:ea typeface="+mn-ea"/>
              </a:rPr>
              <a:t>  12345678H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DATA4	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DB</a:t>
            </a:r>
            <a:r>
              <a:rPr lang="en-US" sz="2800" dirty="0">
                <a:latin typeface="+mn-lt"/>
                <a:ea typeface="+mn-ea"/>
              </a:rPr>
              <a:t>	  100 DUP (0)</a:t>
            </a:r>
            <a:endParaRPr lang="zh-CN" altLang="en-US" sz="2800" dirty="0"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graphicFrame>
        <p:nvGraphicFramePr>
          <p:cNvPr id="4" name="对象 3"/>
          <p:cNvGraphicFramePr/>
          <p:nvPr/>
        </p:nvGraphicFramePr>
        <p:xfrm>
          <a:off x="5916930" y="1141095"/>
          <a:ext cx="3155315" cy="457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r:id="rId3" imgW="3152775" imgH="4572000" progId="Paint.Picture">
                  <p:embed/>
                </p:oleObj>
              </mc:Choice>
              <mc:Fallback>
                <p:oleObj r:id="rId3" imgW="3152775" imgH="45720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</p:blipFill>
                    <p:spPr>
                      <a:xfrm>
                        <a:off x="5916930" y="1141095"/>
                        <a:ext cx="3155315" cy="4575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5.程序结束语句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功能：</a:t>
            </a:r>
            <a:r>
              <a:rPr lang="zh-CN" altLang="en-US" sz="2800" dirty="0">
                <a:sym typeface="+mn-ea"/>
              </a:rPr>
              <a:t>指示源程序结束。一般位于程序的最后一行，汇编程序遇到</a:t>
            </a:r>
            <a:r>
              <a:rPr lang="en-US" altLang="zh-CN" sz="2800" dirty="0">
                <a:sym typeface="+mn-ea"/>
              </a:rPr>
              <a:t>END</a:t>
            </a:r>
            <a:r>
              <a:rPr lang="zh-CN" altLang="en-US" sz="2800" dirty="0">
                <a:sym typeface="+mn-ea"/>
              </a:rPr>
              <a:t>则停止汇编。</a:t>
            </a: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格式：</a:t>
            </a:r>
            <a:endParaRPr lang="zh-CN" altLang="en-US" sz="2800" dirty="0"/>
          </a:p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rgbClr val="00FF00"/>
                </a:solidFill>
                <a:latin typeface="+mn-lt"/>
              </a:rPr>
              <a:t>	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END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	  [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标号名或名字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]</a:t>
            </a:r>
            <a:endParaRPr lang="zh-CN" altLang="en-US" sz="2800" dirty="0">
              <a:solidFill>
                <a:srgbClr val="00FF00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说明：</a:t>
            </a:r>
            <a:r>
              <a:rPr lang="zh-CN" altLang="en-US" sz="2800" dirty="0">
                <a:latin typeface="+mn-lt"/>
              </a:rPr>
              <a:t>标号名或名字可省略。</a:t>
            </a:r>
          </a:p>
          <a:p>
            <a:pPr>
              <a:buNone/>
            </a:pPr>
            <a:endParaRPr lang="zh-CN" altLang="en-US" sz="2800" dirty="0">
              <a:latin typeface="+mn-lt"/>
            </a:endParaRP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06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）等值伪指令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EQU</a:t>
            </a:r>
            <a:endParaRPr lang="en-US" altLang="en-US" sz="2800" b="1" dirty="0">
              <a:solidFill>
                <a:srgbClr val="C00000"/>
              </a:solidFill>
              <a:latin typeface="+mn-lt"/>
            </a:endParaRPr>
          </a:p>
          <a:p>
            <a:r>
              <a:rPr lang="zh-CN" altLang="en-US" sz="2800" dirty="0">
                <a:latin typeface="+mn-lt"/>
              </a:rPr>
              <a:t>使用</a:t>
            </a:r>
            <a:r>
              <a:rPr lang="en-US" altLang="zh-CN" sz="2800" dirty="0">
                <a:latin typeface="+mn-lt"/>
              </a:rPr>
              <a:t>EQU</a:t>
            </a:r>
            <a:r>
              <a:rPr lang="zh-CN" altLang="en-US" sz="2800" dirty="0">
                <a:latin typeface="+mn-lt"/>
              </a:rPr>
              <a:t>语句可使程序更清晰、易读，其格式为：</a:t>
            </a:r>
          </a:p>
          <a:p>
            <a:pPr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rgbClr val="00FF00"/>
                </a:solidFill>
                <a:latin typeface="+mn-lt"/>
              </a:rPr>
              <a:t>        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符号名</a:t>
            </a:r>
            <a:r>
              <a:rPr lang="zh-CN" altLang="en-US" sz="2800" dirty="0">
                <a:solidFill>
                  <a:srgbClr val="00FF00"/>
                </a:solidFill>
                <a:latin typeface="+mn-lt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EQU  </a:t>
            </a:r>
            <a:r>
              <a:rPr lang="zh-CN" altLang="en-US" sz="2800" b="1" dirty="0">
                <a:solidFill>
                  <a:srgbClr val="00CC00"/>
                </a:solidFill>
                <a:latin typeface="+mn-lt"/>
              </a:rPr>
              <a:t>变量、标号、常数等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4.12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 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Profit	</a:t>
            </a:r>
            <a:r>
              <a:rPr lang="en-US" sz="2800" dirty="0">
                <a:solidFill>
                  <a:srgbClr val="00FF00"/>
                </a:solidFill>
                <a:latin typeface="+mn-lt"/>
                <a:ea typeface="+mn-ea"/>
              </a:rPr>
              <a:t> 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EQU   </a:t>
            </a:r>
            <a:r>
              <a:rPr lang="en-US" sz="2800" dirty="0">
                <a:latin typeface="+mn-lt"/>
                <a:ea typeface="+mn-ea"/>
              </a:rPr>
              <a:t>10	    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;常数值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10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赋给符号名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Profit</a:t>
            </a:r>
            <a:endParaRPr lang="en-US" altLang="en-US" sz="28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CNT1 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EQU   </a:t>
            </a:r>
            <a:r>
              <a:rPr lang="en-US" sz="2800" dirty="0">
                <a:latin typeface="+mn-lt"/>
                <a:ea typeface="+mn-ea"/>
              </a:rPr>
              <a:t>41H   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;常数值41H赋给符号名CNT1</a:t>
            </a:r>
            <a:endParaRPr lang="zh-CN" altLang="en-US" sz="28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COUNT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EQU    </a:t>
            </a:r>
            <a:r>
              <a:rPr lang="en-US" sz="2800" dirty="0">
                <a:latin typeface="+mn-lt"/>
                <a:ea typeface="+mn-ea"/>
              </a:rPr>
              <a:t>8   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;常数值8赋给COUNT</a:t>
            </a:r>
          </a:p>
          <a:p>
            <a:pPr>
              <a:buNone/>
            </a:pPr>
            <a:endParaRPr lang="en-US" sz="28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zh-CN" alt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说明：</a:t>
            </a:r>
            <a:r>
              <a:rPr lang="zh-CN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汇编程序遇到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EQU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执行直接替代的操作。</a:t>
            </a:r>
            <a:endParaRPr lang="en-US" altLang="zh-CN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7030A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          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*类似</a:t>
            </a: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语言的</a:t>
            </a: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define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语句</a:t>
            </a:r>
            <a:endParaRPr lang="zh-CN" alt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7030A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25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）定义类型伪指令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LABEL</a:t>
            </a:r>
            <a:endParaRPr lang="en-US" altLang="en-US" sz="2800" b="1" dirty="0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</a:endParaRP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功能：</a:t>
            </a:r>
            <a:r>
              <a:rPr lang="zh-CN" altLang="en-US" sz="2800" dirty="0">
                <a:sym typeface="+mn-ea"/>
              </a:rPr>
              <a:t>将</a:t>
            </a:r>
            <a:r>
              <a:rPr lang="en-US" sz="2800" dirty="0">
                <a:sym typeface="+mn-ea"/>
              </a:rPr>
              <a:t>LABEL</a:t>
            </a:r>
            <a:r>
              <a:rPr lang="zh-CN" altLang="en-US" sz="2800" dirty="0">
                <a:sym typeface="+mn-ea"/>
              </a:rPr>
              <a:t>左边的名字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定义为右边的类型</a:t>
            </a:r>
            <a:r>
              <a:rPr lang="zh-CN" altLang="en-US" sz="2800" dirty="0">
                <a:sym typeface="+mn-ea"/>
              </a:rPr>
              <a:t>，其作用与</a:t>
            </a:r>
            <a:r>
              <a:rPr lang="en-US" sz="2800" dirty="0">
                <a:sym typeface="+mn-ea"/>
              </a:rPr>
              <a:t>PTR</a:t>
            </a:r>
            <a:r>
              <a:rPr lang="zh-CN" altLang="en-US" sz="2800" dirty="0">
                <a:sym typeface="+mn-ea"/>
              </a:rPr>
              <a:t>类似。</a:t>
            </a:r>
            <a:endParaRPr lang="zh-CN" altLang="en-US" sz="2800" dirty="0">
              <a:latin typeface="+mn-lt"/>
            </a:endParaRP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格式：</a:t>
            </a:r>
            <a:r>
              <a:rPr lang="en-US" altLang="zh-CN" sz="2800" dirty="0"/>
              <a:t>	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名字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	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LABEL   </a:t>
            </a:r>
            <a:r>
              <a:rPr lang="zh-CN" altLang="en-US" sz="2800" b="1" dirty="0">
                <a:solidFill>
                  <a:srgbClr val="00FF00"/>
                </a:solidFill>
                <a:latin typeface="+mn-lt"/>
              </a:rPr>
              <a:t>类型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	</a:t>
            </a:r>
            <a:endParaRPr lang="zh-CN" altLang="en-US" sz="2800" dirty="0">
              <a:latin typeface="+mn-lt"/>
            </a:endParaRP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ea"/>
                <a:ea typeface="+mj-ea"/>
              </a:rPr>
              <a:t>举例： 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4.13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BARRY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LABEL</a:t>
            </a:r>
            <a:r>
              <a:rPr lang="en-US" sz="2800" dirty="0">
                <a:latin typeface="+mn-lt"/>
                <a:ea typeface="+mn-ea"/>
              </a:rPr>
              <a:t>	  </a:t>
            </a:r>
            <a:r>
              <a:rPr lang="zh-CN" altLang="en-US" sz="2800" b="1" dirty="0">
                <a:solidFill>
                  <a:srgbClr val="00FF00"/>
                </a:solidFill>
                <a:latin typeface="+mn-lt"/>
                <a:ea typeface="+mn-ea"/>
              </a:rPr>
              <a:t>BYTE</a:t>
            </a:r>
            <a:r>
              <a:rPr lang="en-US" sz="2800" dirty="0">
                <a:latin typeface="+mn-lt"/>
                <a:ea typeface="+mn-ea"/>
              </a:rPr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；将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BARRY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定义为字节变量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TOP	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LABEL</a:t>
            </a:r>
            <a:r>
              <a:rPr lang="en-US" sz="2800" dirty="0">
                <a:latin typeface="+mn-lt"/>
                <a:ea typeface="+mn-ea"/>
              </a:rPr>
              <a:t>	  </a:t>
            </a:r>
            <a:r>
              <a:rPr lang="zh-CN" altLang="en-US" sz="2800" b="1" dirty="0">
                <a:solidFill>
                  <a:srgbClr val="00FF00"/>
                </a:solidFill>
                <a:latin typeface="+mn-lt"/>
                <a:ea typeface="+mn-ea"/>
              </a:rPr>
              <a:t>WORD</a:t>
            </a:r>
            <a:r>
              <a:rPr lang="en-US" sz="2800" dirty="0">
                <a:latin typeface="+mn-lt"/>
                <a:ea typeface="+mn-ea"/>
              </a:rPr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；将TOP定义为字变量</a:t>
            </a:r>
            <a:endParaRPr lang="zh-CN" altLang="en-US" sz="28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SUBRT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LABEL  </a:t>
            </a:r>
            <a:r>
              <a:rPr lang="zh-CN" altLang="en-US" sz="2800" b="1" dirty="0">
                <a:solidFill>
                  <a:srgbClr val="00FF00"/>
                </a:solidFill>
                <a:latin typeface="+mn-lt"/>
                <a:ea typeface="+mn-ea"/>
              </a:rPr>
              <a:t>FAR</a:t>
            </a:r>
            <a:r>
              <a:rPr lang="en-US" sz="2800" dirty="0">
                <a:latin typeface="+mn-lt"/>
                <a:ea typeface="+mn-ea"/>
              </a:rPr>
              <a:t>	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；将SUBRT定义为FAR标号</a:t>
            </a:r>
            <a:endParaRPr lang="zh-CN" altLang="en-US" sz="2800" dirty="0">
              <a:solidFill>
                <a:srgbClr val="CCFF99"/>
              </a:solidFill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3）对准伪指令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EVEN</a:t>
            </a: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功能：</a:t>
            </a:r>
            <a:r>
              <a:rPr lang="zh-CN" altLang="en-US" sz="2800" dirty="0"/>
              <a:t>将下一语句指向的地址调整为偶地址，</a:t>
            </a:r>
            <a:r>
              <a:rPr lang="zh-CN" altLang="en-US" sz="2800" dirty="0">
                <a:highlight>
                  <a:srgbClr val="FFFF00"/>
                </a:highlight>
              </a:rPr>
              <a:t>确保存取一个字数据只要进行一次操作</a:t>
            </a:r>
            <a:r>
              <a:rPr lang="zh-CN" altLang="en-US" sz="2800" dirty="0"/>
              <a:t>。</a:t>
            </a: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ea"/>
                <a:ea typeface="+mj-ea"/>
              </a:rPr>
              <a:t>举例：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4.14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lt"/>
                <a:ea typeface="+mn-ea"/>
              </a:rPr>
              <a:t>对准伪指令举例。</a:t>
            </a:r>
          </a:p>
          <a:p>
            <a:pPr>
              <a:spcBef>
                <a:spcPts val="120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DATA    SEGMENT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X		    DB  </a:t>
            </a:r>
            <a:r>
              <a:rPr lang="en-US" altLang="zh-CN" sz="28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en-US" sz="2800" dirty="0">
                <a:latin typeface="+mn-lt"/>
                <a:ea typeface="+mn-ea"/>
              </a:rPr>
              <a:t>M</a:t>
            </a:r>
            <a:r>
              <a:rPr lang="en-US" altLang="zh-CN" sz="28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X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变量的偏移地址为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0</a:t>
            </a:r>
            <a:endParaRPr lang="en-US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EVEN</a:t>
            </a:r>
            <a:r>
              <a:rPr lang="zh-CN" altLang="en-US" sz="2800" b="1" dirty="0">
                <a:solidFill>
                  <a:schemeClr val="accent6"/>
                </a:solidFill>
                <a:latin typeface="+mn-lt"/>
                <a:ea typeface="+mn-ea"/>
              </a:rPr>
              <a:t>；将下一语句指向地址调整为偶数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Y		    DW  100  DUP</a:t>
            </a:r>
            <a:r>
              <a:rPr lang="zh-CN" altLang="en-US" sz="2800" dirty="0">
                <a:latin typeface="+mn-lt"/>
                <a:ea typeface="+mn-ea"/>
              </a:rPr>
              <a:t>（？）</a:t>
            </a:r>
            <a:r>
              <a:rPr lang="en-US" sz="2800" dirty="0"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latin typeface="+mn-lt"/>
                <a:ea typeface="+mn-ea"/>
              </a:rPr>
              <a:t>；</a:t>
            </a:r>
            <a:r>
              <a:rPr lang="en-US" sz="2800" b="1" dirty="0">
                <a:solidFill>
                  <a:schemeClr val="accent6"/>
                </a:solidFill>
                <a:latin typeface="+mn-lt"/>
                <a:ea typeface="+mn-ea"/>
              </a:rPr>
              <a:t>Y</a:t>
            </a:r>
            <a:r>
              <a:rPr lang="zh-CN" altLang="en-US" sz="2800" b="1" dirty="0">
                <a:solidFill>
                  <a:schemeClr val="accent6"/>
                </a:solidFill>
                <a:latin typeface="+mn-lt"/>
                <a:ea typeface="+mn-ea"/>
              </a:rPr>
              <a:t>变量从地址为</a:t>
            </a:r>
            <a:r>
              <a:rPr lang="en-US" sz="2800" b="1" dirty="0">
                <a:solidFill>
                  <a:schemeClr val="accent6"/>
                </a:solidFill>
                <a:latin typeface="+mn-lt"/>
                <a:ea typeface="+mn-ea"/>
              </a:rPr>
              <a:t>02H</a:t>
            </a:r>
            <a:r>
              <a:rPr lang="zh-CN" altLang="en-US" sz="2800" b="1" dirty="0">
                <a:solidFill>
                  <a:schemeClr val="accent6"/>
                </a:solidFill>
                <a:latin typeface="+mn-lt"/>
                <a:ea typeface="+mn-ea"/>
              </a:rPr>
              <a:t>处开始存放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DATA    ENDS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buNone/>
            </a:pPr>
            <a:endParaRPr lang="zh-CN" altLang="en-US" sz="28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5412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4）</a:t>
            </a:r>
            <a:r>
              <a:rPr lang="zh-CN" altLang="en-US" sz="2800" b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ORG</a:t>
            </a:r>
            <a:r>
              <a:rPr lang="zh-CN" altLang="en-US" sz="28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伪指令（要记住）</a:t>
            </a:r>
            <a:endParaRPr lang="zh-CN" altLang="en-US" dirty="0">
              <a:latin typeface="+mn-lt"/>
            </a:endParaRPr>
          </a:p>
          <a:p>
            <a:r>
              <a:rPr lang="zh-CN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功能：</a:t>
            </a:r>
            <a:r>
              <a:rPr lang="zh-CN" altLang="en-US" sz="2800" dirty="0">
                <a:latin typeface="+mn-lt"/>
              </a:rPr>
              <a:t>为</a:t>
            </a:r>
            <a:r>
              <a:rPr lang="en-US" altLang="zh-CN" sz="2800" dirty="0">
                <a:latin typeface="+mn-lt"/>
              </a:rPr>
              <a:t>ORG</a:t>
            </a:r>
            <a:r>
              <a:rPr lang="zh-CN" altLang="en-US" sz="2800" dirty="0">
                <a:latin typeface="+mn-lt"/>
              </a:rPr>
              <a:t>下面一条语句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指定起始偏移地址</a:t>
            </a:r>
            <a:r>
              <a:rPr lang="zh-CN" altLang="en-US" sz="2800" dirty="0">
                <a:latin typeface="+mn-lt"/>
              </a:rPr>
              <a:t>，可放在程序的任何位置上。</a:t>
            </a:r>
          </a:p>
          <a:p>
            <a:pPr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4.15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en-US" sz="2400" dirty="0">
                <a:latin typeface="+mn-lt"/>
                <a:ea typeface="+mn-ea"/>
              </a:rPr>
              <a:t>ORG</a:t>
            </a:r>
            <a:r>
              <a:rPr lang="zh-CN" altLang="en-US" sz="2400" dirty="0">
                <a:latin typeface="+mn-lt"/>
                <a:ea typeface="+mn-ea"/>
              </a:rPr>
              <a:t>伪指令举例。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     </a:t>
            </a:r>
            <a:r>
              <a:rPr lang="en-US" sz="2400" b="1" dirty="0">
                <a:solidFill>
                  <a:schemeClr val="tx1"/>
                </a:solidFill>
                <a:latin typeface="+mn-lt"/>
                <a:ea typeface="+mn-ea"/>
              </a:rPr>
              <a:t>SEGMENT</a:t>
            </a:r>
            <a:endParaRPr lang="en-US" altLang="en-US" sz="24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ORG  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1200H</a:t>
            </a:r>
            <a:r>
              <a:rPr lang="en-US" sz="2400" dirty="0">
                <a:latin typeface="+mn-lt"/>
                <a:ea typeface="+mn-ea"/>
              </a:rPr>
              <a:t>		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A1  DB  12H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34H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A1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变量偏移地址为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1200H</a:t>
            </a:r>
            <a:endParaRPr lang="en-US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  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ORG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</a:t>
            </a:r>
            <a:r>
              <a:rPr lang="en-US" sz="2400" dirty="0"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2000H</a:t>
            </a:r>
            <a:endParaRPr lang="en-US" altLang="en-US" sz="2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A2  DW  3040H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2830H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；A2变量偏移地址为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2000H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     </a:t>
            </a:r>
            <a:r>
              <a:rPr lang="en-US" sz="2400" b="1" dirty="0">
                <a:solidFill>
                  <a:schemeClr val="tx1"/>
                </a:solidFill>
                <a:latin typeface="+mn-lt"/>
                <a:ea typeface="+mn-ea"/>
              </a:rPr>
              <a:t>ENDS</a:t>
            </a:r>
            <a:endParaRPr lang="en-US" altLang="en-US" sz="2400" b="1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4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l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ORG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伪指令</a:t>
            </a:r>
          </a:p>
          <a:p>
            <a:pPr>
              <a:spcBef>
                <a:spcPts val="0"/>
              </a:spcBef>
              <a:buNone/>
            </a:pPr>
            <a:endParaRPr 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CODE     SEGMENT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</a:t>
            </a:r>
            <a:r>
              <a:rPr lang="en-US" sz="2800" dirty="0">
                <a:solidFill>
                  <a:srgbClr val="00FF00"/>
                </a:solidFill>
                <a:latin typeface="+mn-lt"/>
                <a:ea typeface="+mn-ea"/>
              </a:rPr>
              <a:t>   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ORG   </a:t>
            </a:r>
            <a:r>
              <a:rPr lang="en-US" sz="2800" dirty="0">
                <a:latin typeface="+mn-lt"/>
                <a:ea typeface="+mn-ea"/>
              </a:rPr>
              <a:t>400H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；此段代码段起始地址偏移量为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400H</a:t>
            </a:r>
            <a:endParaRPr lang="en-US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     ASSUME   CS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en-US" sz="2800" dirty="0">
                <a:latin typeface="+mn-lt"/>
                <a:ea typeface="+mn-ea"/>
              </a:rPr>
              <a:t>CODE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DS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en-US" sz="2800" dirty="0">
                <a:latin typeface="+mn-lt"/>
                <a:ea typeface="+mn-ea"/>
              </a:rPr>
              <a:t>DATA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     </a:t>
            </a:r>
            <a:r>
              <a:rPr lang="zh-CN" altLang="en-US" sz="2800" dirty="0">
                <a:latin typeface="+mn-lt"/>
                <a:ea typeface="+mn-ea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CODE    ENDS</a:t>
            </a:r>
            <a:endParaRPr lang="zh-CN" altLang="en-US" sz="2800" dirty="0"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85190" y="2019935"/>
            <a:ext cx="760095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1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汇编语言程序格式</a:t>
            </a:r>
          </a:p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1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.2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伪指令语句</a:t>
            </a:r>
          </a:p>
          <a:p>
            <a:pPr>
              <a:spcBef>
                <a:spcPts val="24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.3 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完整的汇编语言程序框架</a:t>
            </a:r>
          </a:p>
        </p:txBody>
      </p:sp>
    </p:spTree>
  </p:cSld>
  <p:clrMapOvr>
    <a:masterClrMapping/>
  </p:clrMapOvr>
  <p:transition spd="slow">
    <p:wedg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4.1.3 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描述：</a:t>
            </a:r>
            <a:r>
              <a:rPr lang="zh-CN" altLang="en-US" sz="2400" dirty="0">
                <a:latin typeface="+mn-lt"/>
              </a:rPr>
              <a:t>完整的汇编语言程序包含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</a:rPr>
              <a:t>数据段</a:t>
            </a:r>
            <a:r>
              <a:rPr lang="zh-CN" altLang="en-US" sz="2400" dirty="0">
                <a:latin typeface="+mn-lt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</a:rPr>
              <a:t>代码段</a:t>
            </a:r>
            <a:r>
              <a:rPr lang="zh-CN" altLang="en-US" sz="2400" dirty="0">
                <a:latin typeface="+mn-lt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</a:rPr>
              <a:t>堆栈段</a:t>
            </a:r>
            <a:r>
              <a:rPr lang="zh-CN" altLang="en-US" sz="2400" dirty="0">
                <a:latin typeface="+mn-lt"/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</a:rPr>
              <a:t>附加数据段</a:t>
            </a:r>
            <a:r>
              <a:rPr lang="zh-CN" altLang="en-US" sz="2400" dirty="0">
                <a:latin typeface="+mn-lt"/>
              </a:rPr>
              <a:t>。</a:t>
            </a:r>
            <a:endParaRPr lang="en-US" altLang="zh-CN" sz="2400" dirty="0">
              <a:latin typeface="+mn-lt"/>
            </a:endParaRPr>
          </a:p>
          <a:p>
            <a:pPr marL="363855" indent="-363855">
              <a:buFont typeface="Wingdings" panose="05000000000000000000" pitchFamily="2" charset="2"/>
              <a:buChar char="Ø"/>
            </a:pP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说明：</a:t>
            </a:r>
          </a:p>
          <a:p>
            <a:pPr marL="0" indent="0">
              <a:buNone/>
            </a:pP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代码段：</a:t>
            </a:r>
            <a:r>
              <a:rPr lang="zh-CN" altLang="en-US" sz="2400" dirty="0">
                <a:latin typeface="+mn-lt"/>
                <a:ea typeface="+mn-ea"/>
              </a:rPr>
              <a:t>是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</a:rPr>
              <a:t>必须要有</a:t>
            </a:r>
            <a:r>
              <a:rPr lang="zh-CN" altLang="en-US" sz="2400" dirty="0">
                <a:latin typeface="+mn-lt"/>
                <a:ea typeface="+mn-ea"/>
              </a:rPr>
              <a:t>的；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堆栈段：</a:t>
            </a:r>
            <a:r>
              <a:rPr lang="zh-CN" altLang="en-US" sz="2400" dirty="0">
                <a:latin typeface="+mn-lt"/>
                <a:ea typeface="+mn-ea"/>
              </a:rPr>
              <a:t>根据情况设置；</a:t>
            </a:r>
            <a:endParaRPr lang="en-US" altLang="zh-CN" sz="2400" dirty="0">
              <a:latin typeface="+mn-lt"/>
              <a:ea typeface="+mn-ea"/>
            </a:endParaRPr>
          </a:p>
          <a:p>
            <a:pPr marL="0" algn="l">
              <a:spcBef>
                <a:spcPct val="2000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数据段：</a:t>
            </a:r>
            <a:r>
              <a:rPr lang="zh-CN" altLang="en-US" sz="2400" dirty="0">
                <a:latin typeface="+mn-lt"/>
                <a:ea typeface="+mn-ea"/>
              </a:rPr>
              <a:t>代码段中要用到变量或数据时，</a:t>
            </a:r>
          </a:p>
          <a:p>
            <a:pPr marL="0" algn="l">
              <a:spcBef>
                <a:spcPct val="2000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    </a:t>
            </a:r>
            <a:r>
              <a:rPr lang="zh-CN" altLang="en-US" sz="2400" dirty="0">
                <a:latin typeface="+mn-lt"/>
                <a:ea typeface="+mn-ea"/>
              </a:rPr>
              <a:t>应该设置数据段。</a:t>
            </a:r>
          </a:p>
          <a:p>
            <a:pPr marL="0" indent="0" algn="just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附加段：</a:t>
            </a:r>
            <a:r>
              <a:rPr lang="zh-CN" altLang="en-US" sz="2400" dirty="0">
                <a:latin typeface="+mn-lt"/>
                <a:ea typeface="+mn-ea"/>
              </a:rPr>
              <a:t>用到字符串时需要设置。</a:t>
            </a:r>
            <a:endParaRPr lang="zh-CN" altLang="en-US" sz="2400" dirty="0">
              <a:latin typeface="+mn-lt"/>
            </a:endParaRP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4.17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汇编语言程序框架。</a:t>
            </a:r>
          </a:p>
          <a:p>
            <a:pPr defTabSz="899795"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；数据段</a:t>
            </a:r>
            <a:r>
              <a:rPr lang="en-US" sz="2400" dirty="0">
                <a:latin typeface="+mn-lt"/>
                <a:ea typeface="+mn-ea"/>
              </a:rPr>
              <a:t>		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 X		DB	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 Y		DW 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zh-CN" altLang="en-US" sz="2400" dirty="0">
                <a:solidFill>
                  <a:srgbClr val="FF66FF"/>
                </a:solidFill>
                <a:latin typeface="+mn-lt"/>
                <a:ea typeface="+mn-ea"/>
              </a:rPr>
              <a:t>；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EXTRA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；附加段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ALPHA	DB   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BETA	DW 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EXTRA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zh-CN" altLang="en-US" sz="2400" dirty="0">
                <a:solidFill>
                  <a:srgbClr val="FF66FF"/>
                </a:solidFill>
                <a:latin typeface="+mn-lt"/>
                <a:ea typeface="+mn-ea"/>
              </a:rPr>
              <a:t>；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 </a:t>
            </a:r>
            <a:r>
              <a:rPr lang="en-US" sz="2400" dirty="0">
                <a:latin typeface="+mn-lt"/>
                <a:ea typeface="+mn-ea"/>
              </a:rPr>
              <a:t> PART  STACK  ‘STACK’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  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;堆栈段</a:t>
            </a: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STAPN	DB     100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;定义100字节空间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TOP	EQU  LENGTH  STAPN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65860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;代码段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b="1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r>
              <a:rPr lang="en-US" sz="2400" dirty="0">
                <a:latin typeface="+mn-lt"/>
                <a:ea typeface="+mn-ea"/>
              </a:rPr>
              <a:t>			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MAIN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b="1" dirty="0">
                <a:latin typeface="+mn-lt"/>
                <a:ea typeface="+mn-ea"/>
              </a:rPr>
              <a:t>   </a:t>
            </a:r>
            <a:r>
              <a:rPr lang="en-US" sz="2400" dirty="0">
                <a:latin typeface="+mn-lt"/>
                <a:ea typeface="+mn-ea"/>
              </a:rPr>
              <a:t>FAR	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;过程定义语句</a:t>
            </a:r>
            <a:endParaRPr lang="en-US" altLang="zh-CN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		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;说明4个段寄存器分别与哪些段有关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ASSUME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  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				      ES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EXTRA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STACK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START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：</a:t>
            </a:r>
          </a:p>
          <a:p>
            <a:pPr>
              <a:spcBef>
                <a:spcPts val="0"/>
              </a:spcBef>
              <a:buNone/>
              <a:tabLst>
                <a:tab pos="899795" algn="l"/>
                <a:tab pos="1972945" algn="l"/>
                <a:tab pos="2060575" algn="l"/>
              </a:tabLst>
            </a:pPr>
            <a:r>
              <a:rPr lang="en-US" sz="2400" dirty="0">
                <a:latin typeface="+mn-lt"/>
                <a:ea typeface="+mn-ea"/>
              </a:rPr>
              <a:t>		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;设堆栈段寄存器SS: SP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 SS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 SP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TOP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   DS	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;DS入栈保护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SUB  	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;AX=0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	  AX	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;段内偏移量“0”入栈</a:t>
            </a:r>
            <a:endParaRPr lang="en-US" altLang="zh-CN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;AX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 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数据段基址DATA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;DS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 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数据段基址DATA</a:t>
            </a:r>
            <a:endParaRPr 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	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EXTRA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	MOV    ES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;ES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仿宋_GB2312" panose="02010609030101010101" pitchFamily="49" charset="-122"/>
                <a:sym typeface="Symbol" panose="05050102010706020507"/>
              </a:rPr>
              <a:t>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</a:t>
            </a:r>
            <a:r>
              <a:rPr lang="zh-CN" alt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附加段基址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EXTRA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    	  ┇		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;用户要编写的程序内容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    	  ┇	</a:t>
            </a:r>
            <a:endParaRPr lang="zh-CN" altLang="en-US" sz="2400" dirty="0">
              <a:latin typeface="+mn-lt"/>
              <a:ea typeface="+mn-ea"/>
            </a:endParaRPr>
          </a:p>
          <a:p>
            <a:pPr defTabSz="1007745"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	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RET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    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;返回DOS</a:t>
            </a: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MAIN</a:t>
            </a:r>
            <a:r>
              <a:rPr lang="en-US" sz="2400" dirty="0">
                <a:latin typeface="+mn-lt"/>
                <a:ea typeface="+mn-ea"/>
              </a:rPr>
              <a:t>	ENDP	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;MAIN过程结束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CODE 	ENDS	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         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	;代码段结束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 	END   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MAIN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;整个源代码结束</a:t>
            </a:r>
            <a:endParaRPr lang="en-US" altLang="zh-CN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endParaRPr lang="en-US" altLang="zh-CN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说明1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段定义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：</a:t>
            </a:r>
            <a:r>
              <a:rPr lang="zh-CN" altLang="en-US" sz="2400" dirty="0">
                <a:latin typeface="+mn-lt"/>
              </a:rPr>
              <a:t>代码段、数据段、附加段和堆栈段，用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SEGMENT</a:t>
            </a:r>
            <a:r>
              <a:rPr lang="zh-CN" altLang="en-US" sz="2400" dirty="0">
                <a:latin typeface="+mn-lt"/>
              </a:rPr>
              <a:t>和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ENDS</a:t>
            </a:r>
            <a:r>
              <a:rPr lang="zh-CN" altLang="en-US" sz="2400" dirty="0">
                <a:latin typeface="+mn-lt"/>
              </a:rPr>
              <a:t>定义。</a:t>
            </a:r>
            <a:endParaRPr lang="en-US" altLang="zh-CN" sz="2400" dirty="0">
              <a:latin typeface="+mn-lt"/>
            </a:endParaRP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2—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变量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latin typeface="+mn-lt"/>
              </a:rPr>
              <a:t>数据段或附加段，用</a:t>
            </a:r>
            <a:r>
              <a:rPr lang="en-US" sz="2400" dirty="0">
                <a:latin typeface="+mn-lt"/>
              </a:rPr>
              <a:t>DB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sz="2400" dirty="0">
                <a:latin typeface="+mn-lt"/>
              </a:rPr>
              <a:t>DW</a:t>
            </a:r>
            <a:r>
              <a:rPr lang="zh-CN" altLang="en-US" sz="2400" dirty="0">
                <a:latin typeface="+mn-lt"/>
              </a:rPr>
              <a:t>等设置实际数值。</a:t>
            </a:r>
            <a:endParaRPr lang="zh-CN" altLang="en-US" sz="2400" dirty="0"/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</a:tabLst>
            </a:pPr>
            <a:r>
              <a:rPr lang="en-US" sz="2400" dirty="0"/>
              <a:t> </a:t>
            </a:r>
            <a:endParaRPr lang="zh-CN" altLang="en-US" sz="2400" dirty="0"/>
          </a:p>
          <a:p>
            <a:pPr>
              <a:spcBef>
                <a:spcPts val="0"/>
              </a:spcBef>
              <a:buNone/>
            </a:pP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3—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代码段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latin typeface="+mn-lt"/>
              </a:rPr>
              <a:t>代码段用来存放可执行的指令序列。本例</a:t>
            </a:r>
            <a:r>
              <a:rPr lang="zh-CN" altLang="en-US" sz="2400" dirty="0">
                <a:sym typeface="+mn-ea"/>
              </a:rPr>
              <a:t>整个代码段定义为远过程的形式，</a:t>
            </a:r>
            <a:r>
              <a:rPr lang="zh-CN" altLang="en-US" sz="2400" dirty="0">
                <a:latin typeface="+mn-lt"/>
              </a:rPr>
              <a:t>过程名为 </a:t>
            </a:r>
            <a:r>
              <a:rPr lang="en-US" sz="2400" dirty="0">
                <a:latin typeface="+mn-lt"/>
              </a:rPr>
              <a:t>MAIN</a:t>
            </a:r>
            <a:r>
              <a:rPr lang="zh-CN" altLang="en-US" sz="2400" dirty="0">
                <a:latin typeface="+mn-lt"/>
              </a:rPr>
              <a:t>。</a:t>
            </a: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4—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返回指令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latin typeface="+mn-lt"/>
              </a:rPr>
              <a:t>最后一条指令语句为过程返回指令</a:t>
            </a:r>
            <a:r>
              <a:rPr lang="en-US" sz="2400" dirty="0">
                <a:latin typeface="+mn-lt"/>
              </a:rPr>
              <a:t>RET</a:t>
            </a:r>
            <a:r>
              <a:rPr lang="zh-CN" altLang="en-US" sz="2400" dirty="0">
                <a:latin typeface="+mn-lt"/>
              </a:rPr>
              <a:t>，使程序执行完后返回到调用它的地方。</a:t>
            </a: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5—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段关联和段寄存器赋值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en-US" sz="2400" dirty="0">
                <a:latin typeface="+mn-lt"/>
              </a:rPr>
              <a:t>MAIN</a:t>
            </a:r>
            <a:r>
              <a:rPr lang="zh-CN" altLang="en-US" sz="2400" dirty="0">
                <a:latin typeface="+mn-lt"/>
              </a:rPr>
              <a:t>过程中，首先用段分配伪指令</a:t>
            </a:r>
            <a:r>
              <a:rPr lang="en-US" sz="2400" dirty="0">
                <a:latin typeface="+mn-lt"/>
              </a:rPr>
              <a:t>ASSUME</a:t>
            </a:r>
            <a:r>
              <a:rPr lang="zh-CN" altLang="en-US" sz="2400" dirty="0">
                <a:latin typeface="+mn-lt"/>
              </a:rPr>
              <a:t>告诉汇编程序，</a:t>
            </a:r>
            <a:r>
              <a:rPr lang="en-US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个段寄存器分别与哪些段相对应，但不能将段基地址装入相应的段寄存器中，还要给</a:t>
            </a:r>
            <a:r>
              <a:rPr lang="en-US" sz="2400" dirty="0">
                <a:latin typeface="+mn-lt"/>
              </a:rPr>
              <a:t>DS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sz="2400" dirty="0">
                <a:latin typeface="+mn-lt"/>
              </a:rPr>
              <a:t>ES</a:t>
            </a:r>
            <a:r>
              <a:rPr lang="zh-CN" altLang="en-US" sz="2400" dirty="0">
                <a:latin typeface="+mn-lt"/>
              </a:rPr>
              <a:t>和</a:t>
            </a:r>
            <a:r>
              <a:rPr lang="en-US" sz="2400" dirty="0">
                <a:latin typeface="+mn-lt"/>
              </a:rPr>
              <a:t>SS</a:t>
            </a:r>
            <a:r>
              <a:rPr lang="zh-CN" altLang="en-US" sz="2400" dirty="0">
                <a:latin typeface="+mn-lt"/>
              </a:rPr>
              <a:t>寄存器赋初值，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CS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则由操作系统赋初值</a:t>
            </a:r>
            <a:r>
              <a:rPr lang="zh-CN" altLang="en-US" sz="2400" dirty="0">
                <a:latin typeface="+mn-lt"/>
              </a:rPr>
              <a:t>。</a:t>
            </a:r>
            <a:endParaRPr lang="en-US" altLang="zh-CN" sz="2400" dirty="0">
              <a:latin typeface="+mn-lt"/>
            </a:endParaRP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6—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堆栈初始化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latin typeface="+mn-lt"/>
              </a:rPr>
              <a:t>对于堆栈段，要给</a:t>
            </a:r>
            <a:r>
              <a:rPr lang="en-US" sz="2400" dirty="0">
                <a:latin typeface="+mn-lt"/>
              </a:rPr>
              <a:t>SS</a:t>
            </a:r>
            <a:r>
              <a:rPr lang="zh-CN" altLang="en-US" sz="2400" dirty="0">
                <a:latin typeface="+mn-lt"/>
              </a:rPr>
              <a:t>和</a:t>
            </a:r>
            <a:r>
              <a:rPr lang="en-US" sz="2400" dirty="0">
                <a:latin typeface="+mn-lt"/>
              </a:rPr>
              <a:t>SP</a:t>
            </a:r>
            <a:r>
              <a:rPr lang="zh-CN" altLang="en-US" sz="2400" dirty="0">
                <a:latin typeface="+mn-lt"/>
              </a:rPr>
              <a:t>赋初值，以设定堆栈。</a:t>
            </a: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4830" y="1310005"/>
            <a:ext cx="8229600" cy="4525963"/>
          </a:xfrm>
        </p:spPr>
        <p:txBody>
          <a:bodyPr/>
          <a:lstStyle/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8—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返回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：</a:t>
            </a:r>
            <a:r>
              <a:rPr lang="zh-CN" altLang="en-US" sz="2400" dirty="0">
                <a:latin typeface="+mn-lt"/>
              </a:rPr>
              <a:t>设置堆栈后，紧接着用下面</a:t>
            </a:r>
            <a:r>
              <a:rPr lang="en-US" sz="2400" dirty="0">
                <a:latin typeface="+mn-lt"/>
              </a:rPr>
              <a:t>3</a:t>
            </a:r>
            <a:r>
              <a:rPr lang="zh-CN" altLang="en-US" sz="2400" dirty="0">
                <a:latin typeface="+mn-lt"/>
              </a:rPr>
              <a:t>条指令，将</a:t>
            </a:r>
            <a:r>
              <a:rPr lang="en-US" sz="2400" dirty="0">
                <a:latin typeface="+mn-lt"/>
              </a:rPr>
              <a:t>DS</a:t>
            </a:r>
            <a:r>
              <a:rPr lang="zh-CN" altLang="en-US" sz="2400" dirty="0">
                <a:latin typeface="+mn-lt"/>
              </a:rPr>
              <a:t>推入堆栈保护起来，再使</a:t>
            </a:r>
            <a:r>
              <a:rPr lang="en-US" sz="2400" dirty="0">
                <a:latin typeface="+mn-lt"/>
              </a:rPr>
              <a:t>00H</a:t>
            </a:r>
            <a:r>
              <a:rPr lang="zh-CN" altLang="en-US" sz="2400" dirty="0">
                <a:latin typeface="+mn-lt"/>
              </a:rPr>
              <a:t>入栈，以便在程序结束时，能执行</a:t>
            </a:r>
            <a:r>
              <a:rPr lang="en-US" sz="2400" dirty="0">
                <a:latin typeface="+mn-lt"/>
              </a:rPr>
              <a:t>RET</a:t>
            </a:r>
            <a:r>
              <a:rPr lang="zh-CN" altLang="en-US" sz="2400" dirty="0">
                <a:latin typeface="+mn-lt"/>
              </a:rPr>
              <a:t>指令来返回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，即：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</a:rPr>
              <a:t>	</a:t>
            </a:r>
            <a:r>
              <a:rPr lang="en-US" sz="2400" dirty="0">
                <a:latin typeface="+mn-lt"/>
                <a:ea typeface="+mn-ea"/>
              </a:rPr>
              <a:t>	PUSH	 DS		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；DS入栈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SUB	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	 AX			</a:t>
            </a:r>
            <a:r>
              <a:rPr lang="zh-CN" alt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00H</a:t>
            </a:r>
            <a:r>
              <a:rPr lang="zh-CN" alt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入栈</a:t>
            </a: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完整的汇编语言程序框架</a:t>
            </a:r>
            <a:endParaRPr lang="zh-CN" altLang="en-US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9—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用户代码位置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用户编写的程序的具体内容，放在初始化程序之后，</a:t>
            </a:r>
            <a:r>
              <a:rPr lang="en-US" sz="2400" dirty="0">
                <a:sym typeface="+mn-ea"/>
              </a:rPr>
              <a:t>RET</a:t>
            </a:r>
            <a:r>
              <a:rPr lang="zh-CN" altLang="en-US" sz="2400" dirty="0">
                <a:sym typeface="+mn-ea"/>
              </a:rPr>
              <a:t>指令之前。</a:t>
            </a:r>
            <a:endParaRPr lang="en-US" altLang="zh-CN" sz="2400" dirty="0">
              <a:latin typeface="+mn-lt"/>
            </a:endParaRP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10—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结束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代码段之后，再安排一条</a:t>
            </a:r>
            <a:r>
              <a:rPr lang="en-US" sz="2400" dirty="0">
                <a:sym typeface="+mn-ea"/>
              </a:rPr>
              <a:t>END MAIN</a:t>
            </a:r>
            <a:r>
              <a:rPr lang="zh-CN" altLang="en-US" sz="2400" dirty="0">
                <a:sym typeface="+mn-ea"/>
              </a:rPr>
              <a:t>指令，汇编程序遇到这条指令后就结束汇编，并自动从</a:t>
            </a:r>
            <a:r>
              <a:rPr lang="en-US" sz="2400" dirty="0">
                <a:sym typeface="+mn-ea"/>
              </a:rPr>
              <a:t>MAIN</a:t>
            </a:r>
            <a:r>
              <a:rPr lang="zh-CN" altLang="en-US" sz="2400" dirty="0">
                <a:sym typeface="+mn-ea"/>
              </a:rPr>
              <a:t>过程开始往下执行程序。</a:t>
            </a:r>
            <a:r>
              <a:rPr lang="en-US" sz="2400" dirty="0">
                <a:sym typeface="+mn-ea"/>
              </a:rPr>
              <a:t>          </a:t>
            </a:r>
            <a:endParaRPr lang="zh-CN" altLang="en-US" sz="2400" dirty="0">
              <a:latin typeface="+mn-lt"/>
            </a:endParaRPr>
          </a:p>
          <a:p>
            <a:pPr marL="363855" indent="-363855" algn="just"/>
            <a:endParaRPr lang="zh-CN" altLang="en-US" sz="24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关于堆栈的进一步说明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58165" y="13049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1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）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堆栈设置的另一种方法</a:t>
            </a:r>
            <a:r>
              <a:rPr lang="zh-CN" altLang="en-US" sz="2400" dirty="0"/>
              <a:t>：</a:t>
            </a:r>
          </a:p>
          <a:p>
            <a:pPr>
              <a:spcBef>
                <a:spcPts val="120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STACK     SEGMENT  STACK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；设置堆栈段</a:t>
            </a:r>
            <a:endParaRPr lang="zh-CN" altLang="en-US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       DW    50 DUP</a:t>
            </a:r>
            <a:r>
              <a:rPr lang="zh-CN" altLang="en-US" sz="2200" dirty="0">
                <a:latin typeface="+mn-lt"/>
                <a:ea typeface="+mn-ea"/>
              </a:rPr>
              <a:t>（？）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；定义50个字空间，</a:t>
            </a:r>
            <a:endParaRPr lang="en-US" altLang="zh-CN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		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；偏移地址为00~99</a:t>
            </a:r>
            <a:endParaRPr lang="zh-CN" altLang="en-US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TOP	       LABEL WORD	        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	；将TOP定义为字类型</a:t>
            </a:r>
            <a:endParaRPr lang="en-US" altLang="zh-CN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		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；其偏址为100</a:t>
            </a:r>
            <a:endParaRPr lang="zh-CN" altLang="en-US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STACK     ENDS</a:t>
            </a:r>
          </a:p>
          <a:p>
            <a:pPr>
              <a:spcBef>
                <a:spcPts val="0"/>
              </a:spcBef>
              <a:buNone/>
            </a:pP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CODE	       SEGMENT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</a:t>
            </a:r>
            <a:r>
              <a:rPr lang="zh-CN" altLang="en-US" sz="2200" dirty="0">
                <a:latin typeface="+mn-lt"/>
                <a:ea typeface="+mn-ea"/>
              </a:rPr>
              <a:t>┆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START</a:t>
            </a:r>
            <a:r>
              <a:rPr lang="zh-CN" altLang="en-US" sz="2200" dirty="0">
                <a:latin typeface="+mn-lt"/>
                <a:ea typeface="+mn-ea"/>
              </a:rPr>
              <a:t>： </a:t>
            </a:r>
            <a:r>
              <a:rPr lang="en-US" sz="2200" dirty="0">
                <a:latin typeface="+mn-lt"/>
                <a:ea typeface="+mn-ea"/>
              </a:rPr>
              <a:t>MOV  AX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STACK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       MOV  SS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AX	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；设置SS</a:t>
            </a:r>
            <a:endParaRPr lang="zh-CN" altLang="en-US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       MOV  SP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OFFSET  TOP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</a:t>
            </a:r>
            <a:r>
              <a:rPr lang="en-US" sz="2200" dirty="0">
                <a:latin typeface="+mn-lt"/>
                <a:ea typeface="+mn-ea"/>
              </a:rPr>
              <a:t>┆</a:t>
            </a:r>
            <a:r>
              <a:rPr lang="en-US" altLang="zh-CN" sz="2200" dirty="0">
                <a:latin typeface="+mn-lt"/>
                <a:ea typeface="+mn-ea"/>
              </a:rPr>
              <a:t>	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；SP 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 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TOP的偏移地址100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CODE	      ENDS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buNone/>
            </a:pPr>
            <a:endParaRPr lang="zh-CN" altLang="en-US" sz="22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关于堆栈的进一步说明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58165" y="13049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2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）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如果没有设置堆栈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连接时会给出一个警告信息：</a:t>
            </a:r>
            <a:r>
              <a:rPr lang="en-US" sz="2400" dirty="0">
                <a:sym typeface="+mn-ea"/>
              </a:rPr>
              <a:t> </a:t>
            </a:r>
            <a:endParaRPr lang="zh-CN" altLang="en-US" sz="2400" dirty="0">
              <a:latin typeface="+mn-lt"/>
            </a:endParaRPr>
          </a:p>
          <a:p>
            <a:pPr marL="363855" indent="-363855">
              <a:buNone/>
            </a:pPr>
            <a:r>
              <a:rPr lang="en-US" sz="2400" dirty="0">
                <a:sym typeface="+mn-ea"/>
              </a:rPr>
              <a:t>           </a:t>
            </a:r>
            <a:r>
              <a:rPr lang="en-US" sz="2400" b="1" dirty="0">
                <a:solidFill>
                  <a:srgbClr val="7030A0"/>
                </a:solidFill>
                <a:sym typeface="+mn-ea"/>
              </a:rPr>
              <a:t>Warning: no stack segment</a:t>
            </a:r>
            <a:endParaRPr lang="en-US" altLang="en-US" sz="2400" b="1" dirty="0">
              <a:solidFill>
                <a:srgbClr val="7030A0"/>
              </a:solidFill>
              <a:latin typeface="+mn-lt"/>
              <a:sym typeface="+mn-ea"/>
            </a:endParaRPr>
          </a:p>
          <a:p>
            <a:pPr marL="363855" indent="-363855" algn="just">
              <a:buNone/>
            </a:pPr>
            <a:r>
              <a:rPr lang="zh-CN" altLang="en-US" sz="2400" dirty="0"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此错误不影响连接过程的完成，这时，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DOS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会自动定义一个堆栈段，使程序仍可正常运行。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关于返回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DOS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系统的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进一步说明</a:t>
            </a:r>
            <a:endParaRPr lang="zh-CN" altLang="en-US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1）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程序应该能正确返回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：</a:t>
            </a:r>
            <a:r>
              <a:rPr lang="zh-CN" altLang="en-US" sz="2400" dirty="0">
                <a:latin typeface="+mn-lt"/>
              </a:rPr>
              <a:t>程序在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下运行结束后，如不能正确返回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，则其它程序将无法运行，还会导致死机。因为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DOS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是单任务操作系统</a:t>
            </a:r>
            <a:r>
              <a:rPr lang="zh-CN" altLang="en-US" sz="2400" dirty="0">
                <a:latin typeface="+mn-lt"/>
              </a:rPr>
              <a:t>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2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）</a:t>
            </a:r>
            <a:r>
              <a:rPr lang="zh-CN" altLang="en-US" sz="2400" dirty="0">
                <a:latin typeface="+mn-lt"/>
              </a:rPr>
              <a:t>返回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3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种方法</a:t>
            </a:r>
            <a:r>
              <a:rPr lang="zh-CN" altLang="en-US" sz="2400" dirty="0">
                <a:latin typeface="+mn-lt"/>
              </a:rPr>
              <a:t>：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【</a:t>
            </a: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】按程序框架设定的方法返回；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【</a:t>
            </a: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】执行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4CH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号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DOS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功能调用返回；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【</a:t>
            </a: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】用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  20H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指令直接返回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DOS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。</a:t>
            </a:r>
            <a:endParaRPr lang="zh-CN" altLang="en-US" sz="2400" b="1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关于返回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DOS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系统的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进一步说明</a:t>
            </a:r>
            <a:endParaRPr lang="zh-CN" altLang="en-US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2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）</a:t>
            </a:r>
            <a:r>
              <a:rPr lang="zh-CN" altLang="en-US" sz="2400" dirty="0">
                <a:latin typeface="+mn-lt"/>
              </a:rPr>
              <a:t>返回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3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种方法</a:t>
            </a:r>
            <a:r>
              <a:rPr lang="zh-CN" altLang="en-US" sz="2400" dirty="0">
                <a:latin typeface="+mn-lt"/>
              </a:rPr>
              <a:t>：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【</a:t>
            </a:r>
            <a:r>
              <a:rPr lang="en-US" altLang="zh-CN" sz="2400" b="1" dirty="0">
                <a:solidFill>
                  <a:srgbClr val="7030A0"/>
                </a:solidFill>
                <a:sym typeface="+mn-ea"/>
              </a:rPr>
              <a:t>1</a:t>
            </a: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】按程序框架设定的方法返回；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dirty="0">
                <a:latin typeface="+mn-lt"/>
                <a:ea typeface="+mn-ea"/>
              </a:rPr>
              <a:t>先将主程序定义为一个远过程，再执行</a:t>
            </a:r>
            <a:r>
              <a:rPr lang="en-US" sz="2400" dirty="0">
                <a:latin typeface="+mn-lt"/>
                <a:ea typeface="+mn-ea"/>
              </a:rPr>
              <a:t>3</a:t>
            </a:r>
            <a:r>
              <a:rPr lang="zh-CN" altLang="en-US" sz="2400" dirty="0">
                <a:latin typeface="+mn-lt"/>
                <a:ea typeface="+mn-ea"/>
              </a:rPr>
              <a:t>条指令：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PUSH	    DS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		SUB	    AX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，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AX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		PUSH	    AX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   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RET</a:t>
            </a:r>
          </a:p>
          <a:p>
            <a:pPr algn="just">
              <a:spcBef>
                <a:spcPts val="600"/>
              </a:spcBef>
              <a:buFont typeface="Wingdings 3" panose="05040102010807070707" pitchFamily="18" charset="2"/>
              <a:buChar char="u"/>
            </a:pPr>
            <a:r>
              <a:rPr lang="zh-CN" altLang="en-US" sz="2400" dirty="0">
                <a:latin typeface="+mn-lt"/>
                <a:ea typeface="+mn-ea"/>
              </a:rPr>
              <a:t>将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和</a:t>
            </a:r>
            <a:r>
              <a:rPr lang="en-US" sz="2400" dirty="0">
                <a:latin typeface="+mn-lt"/>
                <a:ea typeface="+mn-ea"/>
              </a:rPr>
              <a:t>00H</a:t>
            </a:r>
            <a:r>
              <a:rPr lang="zh-CN" altLang="en-US" sz="2400" dirty="0">
                <a:latin typeface="+mn-lt"/>
                <a:ea typeface="+mn-ea"/>
              </a:rPr>
              <a:t>推入栈，再执行</a:t>
            </a:r>
            <a:r>
              <a:rPr lang="en-US" sz="2400" dirty="0">
                <a:latin typeface="+mn-lt"/>
                <a:ea typeface="+mn-ea"/>
              </a:rPr>
              <a:t>RET</a:t>
            </a:r>
            <a:r>
              <a:rPr lang="zh-CN" altLang="en-US" sz="2400" dirty="0">
                <a:latin typeface="+mn-lt"/>
                <a:ea typeface="+mn-ea"/>
              </a:rPr>
              <a:t>指令，转去执行</a:t>
            </a:r>
            <a:r>
              <a:rPr lang="en-US" sz="2400" dirty="0">
                <a:latin typeface="+mn-lt"/>
                <a:ea typeface="+mn-ea"/>
              </a:rPr>
              <a:t>INT 20H</a:t>
            </a:r>
            <a:r>
              <a:rPr lang="zh-CN" altLang="en-US" sz="2400" dirty="0">
                <a:latin typeface="+mn-lt"/>
                <a:ea typeface="+mn-ea"/>
              </a:rPr>
              <a:t>指令，返回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。这是返回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的常规方法。</a:t>
            </a:r>
          </a:p>
          <a:p>
            <a:pPr algn="just">
              <a:spcBef>
                <a:spcPts val="0"/>
              </a:spcBef>
              <a:buFont typeface="Wingdings 3" panose="05040102010807070707" pitchFamily="18" charset="2"/>
              <a:buChar char="u"/>
            </a:pPr>
            <a:r>
              <a:rPr lang="zh-CN" altLang="en-US" sz="2400" dirty="0">
                <a:latin typeface="+mn-lt"/>
                <a:ea typeface="+mn-ea"/>
              </a:rPr>
              <a:t>执行这几条指令后，为什么能正确返回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？具体过程请参看本教材</a:t>
            </a:r>
            <a:r>
              <a:rPr lang="en-US" altLang="zh-CN" sz="2400" dirty="0">
                <a:latin typeface="+mn-lt"/>
                <a:ea typeface="+mn-ea"/>
              </a:rPr>
              <a:t>P127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返回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DOS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06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+mn-lt"/>
                <a:ea typeface="+mn-ea"/>
              </a:rPr>
              <a:t>【</a:t>
            </a:r>
            <a:r>
              <a:rPr lang="en-US" sz="2400" b="1" dirty="0">
                <a:solidFill>
                  <a:srgbClr val="7030A0"/>
                </a:solidFill>
                <a:latin typeface="+mn-lt"/>
                <a:ea typeface="+mn-ea"/>
              </a:rPr>
              <a:t>2</a:t>
            </a:r>
            <a:r>
              <a:rPr lang="zh-CN" altLang="en-US" sz="2400" b="1" dirty="0">
                <a:solidFill>
                  <a:srgbClr val="7030A0"/>
                </a:solidFill>
                <a:latin typeface="+mn-lt"/>
                <a:ea typeface="+mn-ea"/>
              </a:rPr>
              <a:t>】执行</a:t>
            </a:r>
            <a:r>
              <a:rPr lang="en-US" sz="2400" b="1" dirty="0">
                <a:solidFill>
                  <a:srgbClr val="7030A0"/>
                </a:solidFill>
                <a:latin typeface="+mn-lt"/>
                <a:ea typeface="+mn-ea"/>
              </a:rPr>
              <a:t>4CH</a:t>
            </a:r>
            <a:r>
              <a:rPr lang="zh-CN" altLang="en-US" sz="2400" b="1" dirty="0">
                <a:solidFill>
                  <a:srgbClr val="7030A0"/>
                </a:solidFill>
                <a:latin typeface="+mn-lt"/>
                <a:ea typeface="+mn-ea"/>
              </a:rPr>
              <a:t>号</a:t>
            </a:r>
            <a:r>
              <a:rPr lang="en-US" sz="2400" b="1" dirty="0">
                <a:solidFill>
                  <a:srgbClr val="7030A0"/>
                </a:solidFill>
                <a:latin typeface="+mn-lt"/>
                <a:ea typeface="+mn-ea"/>
              </a:rPr>
              <a:t>DOS</a:t>
            </a:r>
            <a:r>
              <a:rPr lang="zh-CN" altLang="en-US" sz="2400" b="1" dirty="0">
                <a:solidFill>
                  <a:srgbClr val="7030A0"/>
                </a:solidFill>
                <a:latin typeface="+mn-lt"/>
                <a:ea typeface="+mn-ea"/>
              </a:rPr>
              <a:t>功能调用。</a:t>
            </a:r>
          </a:p>
          <a:p>
            <a:pPr>
              <a:buNone/>
            </a:pPr>
            <a:r>
              <a:rPr lang="zh-CN" altLang="en-US" sz="2400" dirty="0">
                <a:latin typeface="+mn-lt"/>
                <a:ea typeface="+mn-ea"/>
              </a:rPr>
              <a:t>程序结束前按如下方法使用</a:t>
            </a:r>
            <a:r>
              <a:rPr lang="en-US" sz="2400" dirty="0">
                <a:latin typeface="+mn-lt"/>
                <a:ea typeface="+mn-ea"/>
              </a:rPr>
              <a:t>4CH</a:t>
            </a:r>
            <a:r>
              <a:rPr lang="zh-CN" altLang="en-US" sz="2400" dirty="0">
                <a:latin typeface="+mn-lt"/>
                <a:ea typeface="+mn-ea"/>
              </a:rPr>
              <a:t>号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功能调用指令，返回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	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      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；</a:t>
            </a:r>
            <a:r>
              <a:rPr lang="en-US" altLang="zh-CN" sz="2400" b="1" dirty="0">
                <a:solidFill>
                  <a:schemeClr val="accent6"/>
                </a:solidFill>
                <a:latin typeface="+mn-lt"/>
                <a:ea typeface="+mn-ea"/>
              </a:rPr>
              <a:t>A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H=4CH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，是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DOS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功能号</a:t>
            </a:r>
          </a:p>
          <a:p>
            <a:pPr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en-US" altLang="zh-CN" sz="2400" dirty="0">
                <a:solidFill>
                  <a:srgbClr val="CCFF99"/>
                </a:solidFill>
                <a:latin typeface="+mn-lt"/>
                <a:ea typeface="+mn-ea"/>
              </a:rPr>
              <a:t>      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AL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通常置为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0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	INT	21H</a:t>
            </a:r>
            <a:endParaRPr lang="zh-CN" altLang="en-US" sz="2400" dirty="0">
              <a:latin typeface="+mn-lt"/>
              <a:ea typeface="+mn-ea"/>
            </a:endParaRPr>
          </a:p>
          <a:p>
            <a:pPr marL="363855" indent="-363855">
              <a:buClr>
                <a:srgbClr val="FF66FF"/>
              </a:buClr>
              <a:buFont typeface="Wingdings 3" panose="05040102010807070707" pitchFamily="18" charset="2"/>
              <a:buChar char="u"/>
              <a:tabLst>
                <a:tab pos="363220" algn="l"/>
              </a:tabLst>
            </a:pPr>
            <a:r>
              <a:rPr lang="zh-CN" altLang="en-US" sz="2400" dirty="0">
                <a:latin typeface="+mn-lt"/>
                <a:ea typeface="+mn-ea"/>
              </a:rPr>
              <a:t>这种方法功能更强，更安全，使用也比较方便，建议使用这种方法返回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  <a:r>
              <a:rPr lang="en-US" sz="2400" dirty="0">
                <a:latin typeface="+mn-lt"/>
                <a:ea typeface="+mn-ea"/>
              </a:rPr>
              <a:t> 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None/>
            </a:pPr>
            <a:r>
              <a:rPr lang="en-US" sz="2400" b="1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【3】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用INT  20H指令。</a:t>
            </a:r>
            <a:endParaRPr lang="zh-CN" altLang="en-US" sz="2400" dirty="0">
              <a:sym typeface="+mn-ea"/>
            </a:endParaRPr>
          </a:p>
          <a:p>
            <a:pPr>
              <a:buNone/>
            </a:pPr>
            <a:r>
              <a:rPr lang="en-US" altLang="zh-CN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若编写的程序要以.COM文件的形式执行</a:t>
            </a:r>
            <a:endParaRPr lang="zh-CN" altLang="en-US" sz="2400" b="1" dirty="0"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altLang="zh-CN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可用</a:t>
            </a:r>
            <a:r>
              <a:rPr lang="en-US" sz="2400" dirty="0">
                <a:latin typeface="+mn-lt"/>
                <a:ea typeface="+mn-ea"/>
              </a:rPr>
              <a:t>INT  20H</a:t>
            </a:r>
            <a:r>
              <a:rPr lang="zh-CN" altLang="en-US" sz="2400" dirty="0">
                <a:latin typeface="+mn-lt"/>
                <a:ea typeface="+mn-ea"/>
              </a:rPr>
              <a:t>指令直接返回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95300" y="515620"/>
            <a:ext cx="7772400" cy="2359025"/>
          </a:xfrm>
        </p:spPr>
        <p:txBody>
          <a:bodyPr/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§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4.</a:t>
            </a:r>
            <a:r>
              <a:rPr lang="en-US" altLang="zh-CN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2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 DOS</a:t>
            </a:r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系统功能调用和 </a:t>
            </a:r>
            <a:b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</a:br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BIOS</a:t>
            </a:r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中断调用</a:t>
            </a:r>
          </a:p>
        </p:txBody>
      </p:sp>
      <p:sp>
        <p:nvSpPr>
          <p:cNvPr id="5" name="矩形 4"/>
          <p:cNvSpPr/>
          <p:nvPr/>
        </p:nvSpPr>
        <p:spPr>
          <a:xfrm>
            <a:off x="1882775" y="3294380"/>
            <a:ext cx="5378450" cy="2346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4.2.1  概述</a:t>
            </a:r>
            <a:endParaRPr lang="en-US" alt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4.2.2  DOS系统功能调用</a:t>
            </a:r>
            <a:endParaRPr lang="en-US" altLang="en-US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4.2.3  BIOS中断调用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10:12</a:t>
            </a:fld>
            <a:endParaRPr lang="zh-CN" altLang="en-US" dirty="0"/>
          </a:p>
        </p:txBody>
      </p:sp>
    </p:spTree>
  </p:cSld>
  <p:clrMapOvr>
    <a:masterClrMapping/>
  </p:clrMapOvr>
  <p:transition spd="slow">
    <p:wedg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4.2.1  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81735"/>
            <a:ext cx="8372475" cy="958850"/>
          </a:xfrm>
        </p:spPr>
        <p:txBody>
          <a:bodyPr/>
          <a:lstStyle/>
          <a:p>
            <a:pPr marL="449580" indent="-449580"/>
            <a:r>
              <a:rPr lang="zh-CN" altLang="en-US" sz="3000" dirty="0">
                <a:latin typeface="+mn-lt"/>
              </a:rPr>
              <a:t>磁盘操作系统</a:t>
            </a:r>
            <a:r>
              <a:rPr lang="en-US" sz="3000" dirty="0">
                <a:latin typeface="+mn-lt"/>
              </a:rPr>
              <a:t>DOS</a:t>
            </a:r>
            <a:r>
              <a:rPr lang="zh-CN" altLang="en-US" sz="3000" dirty="0">
                <a:latin typeface="+mn-lt"/>
              </a:rPr>
              <a:t>采用模块化、层次化结构，其层次结构如图</a:t>
            </a:r>
            <a:r>
              <a:rPr lang="en-US" sz="3000" dirty="0">
                <a:latin typeface="+mn-lt"/>
              </a:rPr>
              <a:t>4.4</a:t>
            </a:r>
            <a:r>
              <a:rPr lang="zh-CN" altLang="en-US" sz="3000" dirty="0">
                <a:latin typeface="+mn-lt"/>
              </a:rPr>
              <a:t>所示。</a:t>
            </a:r>
          </a:p>
          <a:p>
            <a:endParaRPr lang="zh-CN" altLang="en-US" sz="3000" dirty="0"/>
          </a:p>
        </p:txBody>
      </p:sp>
      <p:pic>
        <p:nvPicPr>
          <p:cNvPr id="4" name="图片 3" descr="t-4.4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455545"/>
            <a:ext cx="3620578" cy="3916136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4.2.1  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339850"/>
            <a:ext cx="8372475" cy="5353050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latin typeface="+mn-lt"/>
              </a:rPr>
              <a:t>组成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的各主要模块的功能：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lt"/>
              </a:rPr>
              <a:t>系统硬件</a:t>
            </a:r>
            <a:r>
              <a:rPr lang="en-US" sz="2400" dirty="0">
                <a:latin typeface="+mn-lt"/>
              </a:rPr>
              <a:t>  </a:t>
            </a:r>
          </a:p>
          <a:p>
            <a:pPr algn="just">
              <a:buNone/>
            </a:pPr>
            <a:r>
              <a:rPr lang="zh-CN" altLang="en-US" sz="2400" dirty="0">
                <a:latin typeface="+mn-lt"/>
              </a:rPr>
              <a:t>       </a:t>
            </a:r>
            <a:r>
              <a:rPr lang="zh-CN" altLang="en-US" sz="2400" dirty="0">
                <a:latin typeface="+mn-lt"/>
                <a:ea typeface="+mn-ea"/>
              </a:rPr>
              <a:t>主要指</a:t>
            </a:r>
            <a:r>
              <a:rPr lang="en-US" sz="2400" dirty="0">
                <a:latin typeface="+mn-lt"/>
                <a:ea typeface="+mn-ea"/>
              </a:rPr>
              <a:t>I/O</a:t>
            </a:r>
            <a:r>
              <a:rPr lang="zh-CN" altLang="en-US" sz="2400" dirty="0">
                <a:latin typeface="+mn-lt"/>
                <a:ea typeface="+mn-ea"/>
              </a:rPr>
              <a:t>设备，如</a:t>
            </a:r>
            <a:r>
              <a:rPr lang="en-US" sz="2400" dirty="0">
                <a:latin typeface="+mn-lt"/>
                <a:ea typeface="+mn-ea"/>
              </a:rPr>
              <a:t>CRT</a:t>
            </a:r>
            <a:r>
              <a:rPr lang="zh-CN" altLang="en-US" sz="2400" dirty="0">
                <a:latin typeface="+mn-lt"/>
                <a:ea typeface="+mn-ea"/>
              </a:rPr>
              <a:t>显示器、打印机、键盘、硬盘和鼠标等。</a:t>
            </a:r>
            <a:endParaRPr lang="zh-CN" altLang="en-US" sz="2400" dirty="0"/>
          </a:p>
          <a:p>
            <a:pPr algn="just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lt"/>
              </a:rPr>
              <a:t>基本输入输出系统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BIOS(B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asic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I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nput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O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utput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S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ystem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)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</a:endParaRPr>
          </a:p>
          <a:p>
            <a:pPr algn="just">
              <a:buNone/>
            </a:pPr>
            <a:r>
              <a:rPr lang="zh-CN" altLang="en-US" sz="2400" dirty="0">
                <a:latin typeface="+mn-lt"/>
              </a:rPr>
              <a:t>       </a:t>
            </a:r>
            <a:r>
              <a:rPr lang="zh-CN" altLang="en-US" sz="2400" dirty="0">
                <a:latin typeface="+mn-lt"/>
                <a:ea typeface="+mn-ea"/>
              </a:rPr>
              <a:t>包含了能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直接与底层硬件</a:t>
            </a:r>
            <a:r>
              <a:rPr lang="zh-CN" altLang="en-US" sz="2400" dirty="0">
                <a:latin typeface="+mn-lt"/>
                <a:ea typeface="+mn-ea"/>
              </a:rPr>
              <a:t>打交道的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设备驱动程序</a:t>
            </a:r>
            <a:r>
              <a:rPr lang="zh-CN" altLang="en-US" sz="2400" dirty="0">
                <a:latin typeface="+mn-lt"/>
                <a:ea typeface="+mn-ea"/>
              </a:rPr>
              <a:t>。此外还包含系统设置信息、开机后自检程序和系统自启动程序。利用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中断调用指令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INT </a:t>
            </a:r>
            <a:r>
              <a:rPr lang="en-US" sz="2400" b="1" i="1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latin typeface="+mn-lt"/>
                <a:ea typeface="+mn-ea"/>
              </a:rPr>
              <a:t>，可以直接调用</a:t>
            </a:r>
            <a:r>
              <a:rPr lang="en-US" sz="2400" dirty="0">
                <a:latin typeface="+mn-lt"/>
                <a:ea typeface="+mn-ea"/>
              </a:rPr>
              <a:t>BIOS</a:t>
            </a:r>
            <a:r>
              <a:rPr lang="zh-CN" altLang="en-US" sz="2400" dirty="0">
                <a:latin typeface="+mn-lt"/>
                <a:ea typeface="+mn-ea"/>
              </a:rPr>
              <a:t>中的外设驱动程序，实现对主要</a:t>
            </a:r>
            <a:r>
              <a:rPr lang="en-US" sz="2400" dirty="0">
                <a:latin typeface="+mn-lt"/>
                <a:ea typeface="+mn-ea"/>
              </a:rPr>
              <a:t>I/O</a:t>
            </a:r>
            <a:r>
              <a:rPr lang="zh-CN" altLang="en-US" sz="2400" dirty="0">
                <a:latin typeface="+mn-lt"/>
                <a:ea typeface="+mn-ea"/>
              </a:rPr>
              <a:t>设备的控制管理。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806450"/>
            <a:ext cx="8372475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+mn-lt"/>
              </a:rPr>
              <a:t>DOS</a:t>
            </a:r>
            <a:r>
              <a:rPr lang="zh-CN" altLang="en-US" dirty="0">
                <a:latin typeface="+mn-lt"/>
              </a:rPr>
              <a:t>核心 </a:t>
            </a:r>
            <a:r>
              <a:rPr lang="en-US" b="1" dirty="0">
                <a:solidFill>
                  <a:srgbClr val="00CC00"/>
                </a:solidFill>
                <a:latin typeface="+mn-lt"/>
              </a:rPr>
              <a:t>MSDOS.SYS</a:t>
            </a:r>
            <a:r>
              <a:rPr lang="en-US" dirty="0">
                <a:latin typeface="+mn-lt"/>
              </a:rPr>
              <a:t>    </a:t>
            </a:r>
          </a:p>
          <a:p>
            <a:pPr lvl="1"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lt"/>
                <a:ea typeface="+mn-ea"/>
              </a:rPr>
              <a:t>该模块是以</a:t>
            </a:r>
            <a:r>
              <a:rPr lang="en-US" dirty="0">
                <a:latin typeface="+mn-lt"/>
                <a:ea typeface="+mn-ea"/>
              </a:rPr>
              <a:t>BIOS</a:t>
            </a:r>
            <a:r>
              <a:rPr lang="zh-CN" altLang="en-US" dirty="0">
                <a:latin typeface="+mn-lt"/>
                <a:ea typeface="+mn-ea"/>
              </a:rPr>
              <a:t>为基础的一组的服务程序；</a:t>
            </a:r>
          </a:p>
          <a:p>
            <a:pPr lvl="1"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lt"/>
                <a:ea typeface="+mn-ea"/>
              </a:rPr>
              <a:t>称为</a:t>
            </a:r>
            <a:r>
              <a:rPr lang="en-US" b="1" dirty="0">
                <a:solidFill>
                  <a:srgbClr val="FF0000"/>
                </a:solidFill>
                <a:latin typeface="+mn-lt"/>
                <a:ea typeface="+mn-ea"/>
              </a:rPr>
              <a:t>DOS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系统功能调用</a:t>
            </a:r>
            <a:r>
              <a:rPr lang="zh-CN" altLang="en-US" dirty="0">
                <a:latin typeface="+mn-lt"/>
                <a:ea typeface="+mn-ea"/>
              </a:rPr>
              <a:t>；</a:t>
            </a:r>
          </a:p>
          <a:p>
            <a:pPr lvl="1"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lt"/>
                <a:ea typeface="+mn-ea"/>
              </a:rPr>
              <a:t>用</a:t>
            </a:r>
            <a:r>
              <a:rPr lang="en-US" b="1" dirty="0">
                <a:solidFill>
                  <a:srgbClr val="00CC00"/>
                </a:solidFill>
                <a:latin typeface="+mn-lt"/>
                <a:ea typeface="+mn-ea"/>
              </a:rPr>
              <a:t>INT 21H</a:t>
            </a:r>
            <a:r>
              <a:rPr lang="zh-CN" altLang="en-US" dirty="0">
                <a:latin typeface="+mn-lt"/>
                <a:ea typeface="+mn-ea"/>
              </a:rPr>
              <a:t>指令来调用，以</a:t>
            </a:r>
            <a:r>
              <a:rPr lang="zh-CN" altLang="en-US" b="1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zh-CN" altLang="en-US" dirty="0">
                <a:latin typeface="+mn-lt"/>
                <a:ea typeface="+mn-ea"/>
              </a:rPr>
              <a:t>来区分不同的服务程序；</a:t>
            </a:r>
          </a:p>
          <a:p>
            <a:pPr lvl="1"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功能比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BIOS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更齐全、更完整</a:t>
            </a:r>
            <a:r>
              <a:rPr lang="zh-CN" altLang="en-US" dirty="0">
                <a:latin typeface="+mn-lt"/>
                <a:ea typeface="+mn-ea"/>
              </a:rPr>
              <a:t>。</a:t>
            </a:r>
            <a:endParaRPr lang="en-US" altLang="zh-CN" dirty="0">
              <a:latin typeface="+mn-lt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lt"/>
              </a:rPr>
              <a:t>命令处理程序 </a:t>
            </a:r>
            <a:r>
              <a:rPr lang="en-US" b="1" dirty="0">
                <a:solidFill>
                  <a:srgbClr val="00CC00"/>
                </a:solidFill>
                <a:latin typeface="+mn-lt"/>
              </a:rPr>
              <a:t>COMMAND.COM</a:t>
            </a:r>
            <a:r>
              <a:rPr lang="en-US" dirty="0">
                <a:latin typeface="+mn-lt"/>
              </a:rPr>
              <a:t>    </a:t>
            </a:r>
          </a:p>
          <a:p>
            <a:pPr algn="just">
              <a:spcBef>
                <a:spcPts val="600"/>
              </a:spcBef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sz="2800" dirty="0">
                <a:latin typeface="+mn-lt"/>
                <a:ea typeface="+mn-ea"/>
              </a:rPr>
              <a:t>它执行后，出现</a:t>
            </a:r>
            <a:r>
              <a:rPr lang="en-US" sz="2800" b="1" dirty="0">
                <a:solidFill>
                  <a:srgbClr val="FF0000"/>
                </a:solidFill>
                <a:latin typeface="+mn-lt"/>
                <a:ea typeface="+mn-ea"/>
              </a:rPr>
              <a:t>DOS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命令提示符“</a:t>
            </a:r>
            <a:r>
              <a:rPr lang="en-US" sz="2800" b="1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”</a:t>
            </a:r>
            <a:r>
              <a:rPr lang="zh-CN" altLang="en-US" sz="2800" dirty="0">
                <a:latin typeface="+mn-lt"/>
                <a:ea typeface="+mn-ea"/>
              </a:rPr>
              <a:t>；</a:t>
            </a:r>
          </a:p>
          <a:p>
            <a:pPr algn="just">
              <a:spcBef>
                <a:spcPts val="60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</a:t>
            </a:r>
            <a:r>
              <a:rPr lang="zh-CN" altLang="en-US" sz="2800" dirty="0">
                <a:latin typeface="+mn-lt"/>
                <a:ea typeface="+mn-ea"/>
              </a:rPr>
              <a:t>它接收用户命令，进行分析处理后，让机器执行各种应用程序，并在</a:t>
            </a:r>
            <a:r>
              <a:rPr lang="en-US" sz="2800" dirty="0">
                <a:latin typeface="+mn-lt"/>
                <a:ea typeface="+mn-ea"/>
              </a:rPr>
              <a:t>CRT</a:t>
            </a:r>
            <a:r>
              <a:rPr lang="zh-CN" altLang="en-US" sz="2800" dirty="0">
                <a:latin typeface="+mn-lt"/>
                <a:ea typeface="+mn-ea"/>
              </a:rPr>
              <a:t>上显示执行结果。</a:t>
            </a:r>
          </a:p>
          <a:p>
            <a:endParaRPr lang="zh-CN" altLang="en-US" dirty="0">
              <a:latin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67180" y="2186305"/>
            <a:ext cx="5378450" cy="2346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4.2.1  概述</a:t>
            </a:r>
            <a:endParaRPr lang="en-US" altLang="en-US" sz="3600" b="1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4.2.2  DOS系统功能调用</a:t>
            </a:r>
            <a:endParaRPr lang="en-US" alt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4.2.3  BIOS中断调用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10:12</a:t>
            </a:fld>
            <a:endParaRPr lang="zh-CN" altLang="en-US" dirty="0"/>
          </a:p>
        </p:txBody>
      </p:sp>
    </p:spTree>
  </p:cSld>
  <p:clrMapOvr>
    <a:masterClrMapping/>
  </p:clrMapOvr>
  <p:transition spd="slow">
    <p:wedg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4.2.2   DOS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系统功能调用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682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tx1"/>
                </a:solidFill>
                <a:latin typeface="+mn-lt"/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</a:rPr>
              <a:t>中断处理程序分类</a:t>
            </a:r>
            <a:endParaRPr lang="en-US" altLang="zh-CN" sz="3200" b="1" dirty="0">
              <a:solidFill>
                <a:schemeClr val="tx1"/>
              </a:solidFill>
              <a:latin typeface="+mn-lt"/>
            </a:endParaRPr>
          </a:p>
          <a:p>
            <a:pPr algn="just">
              <a:spcBef>
                <a:spcPts val="2400"/>
              </a:spcBef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</a:rPr>
              <a:t>软件中断：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INT </a:t>
            </a:r>
            <a:r>
              <a:rPr lang="en-US" sz="2800" b="1" i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</a:t>
            </a:r>
            <a:r>
              <a:rPr lang="zh-CN" altLang="en-US" sz="2800" dirty="0">
                <a:latin typeface="+mn-lt"/>
              </a:rPr>
              <a:t>指令 ，</a:t>
            </a:r>
            <a:r>
              <a:rPr lang="en-US" sz="2800" b="1" i="1" dirty="0">
                <a:solidFill>
                  <a:srgbClr val="00CC00"/>
                </a:solidFill>
                <a:latin typeface="+mn-lt"/>
              </a:rPr>
              <a:t>n </a:t>
            </a:r>
            <a:r>
              <a:rPr lang="en-US" sz="2800" b="1" dirty="0">
                <a:solidFill>
                  <a:srgbClr val="00CC00"/>
                </a:solidFill>
                <a:latin typeface="+mn-lt"/>
              </a:rPr>
              <a:t>=00~FFH</a:t>
            </a:r>
            <a:r>
              <a:rPr lang="zh-CN" altLang="en-US" sz="2800" dirty="0">
                <a:latin typeface="+mn-lt"/>
              </a:rPr>
              <a:t>，</a:t>
            </a:r>
            <a:r>
              <a:rPr lang="en-US" altLang="zh-CN" sz="2800" dirty="0">
                <a:latin typeface="+mn-lt"/>
              </a:rPr>
              <a:t>256</a:t>
            </a:r>
            <a:r>
              <a:rPr lang="zh-CN" altLang="en-US" sz="2800" dirty="0">
                <a:latin typeface="+mn-lt"/>
              </a:rPr>
              <a:t>个中断；</a:t>
            </a:r>
          </a:p>
          <a:p>
            <a:pPr marL="800100" lvl="1" indent="-342900" algn="just">
              <a:spcBef>
                <a:spcPts val="1800"/>
              </a:spcBef>
              <a:buFont typeface="Wingdings" panose="05000000000000000000" charset="0"/>
              <a:buChar char="Ø"/>
            </a:pPr>
            <a:r>
              <a:rPr lang="en-US" sz="2450" i="1" dirty="0">
                <a:latin typeface="+mn-lt"/>
              </a:rPr>
              <a:t>n</a:t>
            </a:r>
            <a:r>
              <a:rPr lang="en-US" sz="2450" dirty="0">
                <a:latin typeface="+mn-lt"/>
              </a:rPr>
              <a:t>=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00~04H</a:t>
            </a:r>
            <a:r>
              <a:rPr lang="en-US" sz="2450" dirty="0">
                <a:latin typeface="+mn-lt"/>
              </a:rPr>
              <a:t>——</a:t>
            </a:r>
            <a:r>
              <a:rPr lang="zh-CN" altLang="en-US" sz="2450" dirty="0">
                <a:latin typeface="+mn-lt"/>
              </a:rPr>
              <a:t>为专用中断，处理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除法错</a:t>
            </a:r>
            <a:r>
              <a:rPr lang="zh-CN" altLang="en-US" sz="2450" dirty="0">
                <a:latin typeface="+mn-lt"/>
              </a:rPr>
              <a:t>、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单步</a:t>
            </a:r>
            <a:r>
              <a:rPr lang="zh-CN" altLang="en-US" sz="2450" dirty="0">
                <a:latin typeface="+mn-lt"/>
              </a:rPr>
              <a:t>、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不可屏蔽中断</a:t>
            </a: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NMI</a:t>
            </a:r>
            <a:r>
              <a:rPr lang="zh-CN" altLang="en-US" sz="2450" dirty="0">
                <a:latin typeface="+mn-lt"/>
              </a:rPr>
              <a:t>、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断点</a:t>
            </a:r>
            <a:r>
              <a:rPr lang="zh-CN" altLang="en-US" sz="2450" dirty="0">
                <a:latin typeface="+mn-lt"/>
              </a:rPr>
              <a:t>、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溢出中断</a:t>
            </a:r>
            <a:r>
              <a:rPr lang="zh-CN" altLang="en-US" sz="2450" dirty="0">
                <a:latin typeface="+mn-lt"/>
              </a:rPr>
              <a:t>；</a:t>
            </a:r>
          </a:p>
          <a:p>
            <a:pPr marL="800100" lvl="1" indent="-342900" algn="just">
              <a:buFont typeface="Wingdings" panose="05000000000000000000" charset="0"/>
              <a:buChar char="Ø"/>
            </a:pPr>
            <a:r>
              <a:rPr lang="en-US" sz="2450" i="1" dirty="0">
                <a:latin typeface="+mn-lt"/>
              </a:rPr>
              <a:t>n</a:t>
            </a:r>
            <a:r>
              <a:rPr lang="en-US" sz="2450" dirty="0">
                <a:latin typeface="+mn-lt"/>
              </a:rPr>
              <a:t>=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10H~1AH</a:t>
            </a:r>
            <a:r>
              <a:rPr lang="zh-CN" altLang="en-US" sz="2450" b="1" dirty="0">
                <a:solidFill>
                  <a:srgbClr val="00CC00"/>
                </a:solidFill>
                <a:latin typeface="+mn-lt"/>
              </a:rPr>
              <a:t>、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2FH</a:t>
            </a:r>
            <a:r>
              <a:rPr lang="zh-CN" altLang="en-US" sz="2450" b="1" dirty="0">
                <a:solidFill>
                  <a:srgbClr val="00CC00"/>
                </a:solidFill>
                <a:latin typeface="+mn-lt"/>
              </a:rPr>
              <a:t>、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31H</a:t>
            </a:r>
            <a:r>
              <a:rPr lang="zh-CN" altLang="en-US" sz="2450" b="1" dirty="0">
                <a:solidFill>
                  <a:srgbClr val="00CC00"/>
                </a:solidFill>
                <a:latin typeface="+mn-lt"/>
              </a:rPr>
              <a:t>、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33H</a:t>
            </a:r>
            <a:r>
              <a:rPr lang="en-US" sz="2450" dirty="0">
                <a:latin typeface="+mn-lt"/>
              </a:rPr>
              <a:t>——</a:t>
            </a:r>
            <a:r>
              <a:rPr lang="zh-CN" altLang="en-US" sz="2450" dirty="0">
                <a:latin typeface="+mn-lt"/>
              </a:rPr>
              <a:t>为</a:t>
            </a:r>
            <a:r>
              <a:rPr lang="en-US" sz="245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</a:t>
            </a:r>
            <a:r>
              <a:rPr lang="zh-CN" altLang="en-US" sz="245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中断</a:t>
            </a:r>
            <a:r>
              <a:rPr lang="zh-CN" altLang="en-US" sz="2450" dirty="0">
                <a:latin typeface="+mn-lt"/>
              </a:rPr>
              <a:t>，即保存在系统</a:t>
            </a:r>
            <a:r>
              <a:rPr lang="en-US" sz="245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ROM 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BIOS</a:t>
            </a:r>
            <a:r>
              <a:rPr lang="zh-CN" altLang="en-US" sz="2450" dirty="0">
                <a:latin typeface="+mn-lt"/>
              </a:rPr>
              <a:t>中的</a:t>
            </a:r>
            <a:r>
              <a:rPr lang="en-US" sz="2450" b="1" dirty="0">
                <a:solidFill>
                  <a:srgbClr val="C00000"/>
                </a:solidFill>
                <a:latin typeface="+mn-lt"/>
              </a:rPr>
              <a:t>BIOS</a:t>
            </a:r>
            <a:r>
              <a:rPr lang="zh-CN" altLang="en-US" sz="2450" b="1" dirty="0">
                <a:solidFill>
                  <a:srgbClr val="C00000"/>
                </a:solidFill>
                <a:latin typeface="+mn-lt"/>
              </a:rPr>
              <a:t>功能调用</a:t>
            </a:r>
            <a:r>
              <a:rPr lang="zh-CN" altLang="en-US" sz="2450" dirty="0">
                <a:latin typeface="+mn-lt"/>
              </a:rPr>
              <a:t>。</a:t>
            </a:r>
          </a:p>
          <a:p>
            <a:pPr marL="800100" lvl="1" indent="-342900" algn="just">
              <a:buFont typeface="Wingdings" panose="05000000000000000000" charset="0"/>
              <a:buChar char="Ø"/>
            </a:pPr>
            <a:r>
              <a:rPr lang="en-US" sz="2450" i="1" dirty="0">
                <a:sym typeface="+mn-ea"/>
              </a:rPr>
              <a:t>n</a:t>
            </a:r>
            <a:r>
              <a:rPr lang="en-US" sz="2450" dirty="0">
                <a:sym typeface="+mn-ea"/>
              </a:rPr>
              <a:t>=</a:t>
            </a:r>
            <a:r>
              <a:rPr lang="en-US" sz="2450" b="1" dirty="0">
                <a:solidFill>
                  <a:srgbClr val="00CC00"/>
                </a:solidFill>
                <a:sym typeface="+mn-ea"/>
              </a:rPr>
              <a:t>20H~2EH</a:t>
            </a:r>
            <a:r>
              <a:rPr lang="en-US" sz="2450" dirty="0">
                <a:sym typeface="+mn-ea"/>
              </a:rPr>
              <a:t>——</a:t>
            </a:r>
            <a:r>
              <a:rPr lang="zh-CN" altLang="en-US" sz="2450" dirty="0">
                <a:sym typeface="+mn-ea"/>
              </a:rPr>
              <a:t>为</a:t>
            </a:r>
            <a:r>
              <a:rPr lang="en-US" sz="245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DOS</a:t>
            </a:r>
            <a:r>
              <a:rPr lang="zh-CN" altLang="en-US" sz="245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中断</a:t>
            </a:r>
            <a:r>
              <a:rPr lang="zh-CN" altLang="en-US" sz="2450" dirty="0">
                <a:sym typeface="+mn-ea"/>
              </a:rPr>
              <a:t>，即</a:t>
            </a:r>
            <a:r>
              <a:rPr lang="en-US" altLang="zh-CN" sz="2450" b="1" dirty="0">
                <a:solidFill>
                  <a:srgbClr val="C00000"/>
                </a:solidFill>
                <a:sym typeface="+mn-ea"/>
              </a:rPr>
              <a:t>DOS</a:t>
            </a:r>
            <a:r>
              <a:rPr lang="zh-CN" altLang="en-US" sz="2450" b="1" dirty="0">
                <a:solidFill>
                  <a:srgbClr val="C00000"/>
                </a:solidFill>
                <a:sym typeface="+mn-ea"/>
              </a:rPr>
              <a:t>系统功能调用</a:t>
            </a:r>
            <a:r>
              <a:rPr lang="zh-CN" altLang="en-US" sz="2450" dirty="0">
                <a:sym typeface="+mn-ea"/>
              </a:rPr>
              <a:t>，可对显示器、键盘、打印机、串行通信等字符设备提供输入输出服务。</a:t>
            </a:r>
            <a:endParaRPr lang="zh-CN" altLang="en-US" sz="2450" dirty="0">
              <a:latin typeface="+mn-lt"/>
            </a:endParaRP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0" y="539750"/>
            <a:ext cx="8229600" cy="674688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</a:rPr>
              <a:t>中断处理程序分类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1348740"/>
            <a:ext cx="8229600" cy="4525963"/>
          </a:xfrm>
        </p:spPr>
        <p:txBody>
          <a:bodyPr/>
          <a:lstStyle/>
          <a:p>
            <a:pPr algn="just">
              <a:spcBef>
                <a:spcPts val="1800"/>
              </a:spcBef>
              <a:buFont typeface="Wingdings" panose="05000000000000000000" charset="0"/>
              <a:buChar char="u"/>
            </a:pPr>
            <a:r>
              <a:rPr lang="en-US" altLang="zh-CN" dirty="0">
                <a:latin typeface="+mn-lt"/>
              </a:rPr>
              <a:t>DOS</a:t>
            </a:r>
            <a:r>
              <a:rPr lang="zh-CN" altLang="en-US" dirty="0">
                <a:latin typeface="+mn-lt"/>
              </a:rPr>
              <a:t>系统功能调用（</a:t>
            </a:r>
            <a:r>
              <a:rPr lang="en-US" i="1" dirty="0">
                <a:sym typeface="+mn-ea"/>
              </a:rPr>
              <a:t>n</a:t>
            </a:r>
            <a:r>
              <a:rPr lang="en-US" dirty="0">
                <a:sym typeface="+mn-ea"/>
              </a:rPr>
              <a:t>=</a:t>
            </a:r>
            <a:r>
              <a:rPr lang="en-US" b="1" dirty="0">
                <a:solidFill>
                  <a:srgbClr val="00CC00"/>
                </a:solidFill>
                <a:sym typeface="+mn-ea"/>
              </a:rPr>
              <a:t>20H~2EH</a:t>
            </a:r>
            <a:r>
              <a:rPr lang="zh-CN" altLang="en-US" dirty="0">
                <a:latin typeface="+mn-lt"/>
              </a:rPr>
              <a:t>）</a:t>
            </a:r>
            <a:r>
              <a:rPr lang="en-US" altLang="zh-CN" dirty="0">
                <a:latin typeface="+mn-lt"/>
              </a:rPr>
              <a:t>    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i="1" dirty="0">
                <a:latin typeface="+mn-lt"/>
              </a:rPr>
              <a:t>n</a:t>
            </a:r>
            <a:r>
              <a:rPr lang="en-US" dirty="0">
                <a:latin typeface="+mn-lt"/>
              </a:rPr>
              <a:t>=</a:t>
            </a:r>
            <a:r>
              <a:rPr lang="en-US" b="1" dirty="0">
                <a:solidFill>
                  <a:srgbClr val="00CC00"/>
                </a:solidFill>
                <a:latin typeface="+mn-lt"/>
              </a:rPr>
              <a:t>20H</a:t>
            </a:r>
            <a:r>
              <a:rPr lang="zh-CN" altLang="en-US" dirty="0">
                <a:latin typeface="+mn-lt"/>
              </a:rPr>
              <a:t>为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程序结束中断</a:t>
            </a:r>
            <a:r>
              <a:rPr lang="zh-CN" altLang="en-US" dirty="0">
                <a:latin typeface="+mn-lt"/>
              </a:rPr>
              <a:t>，利用</a:t>
            </a:r>
            <a:r>
              <a:rPr lang="en-US" dirty="0">
                <a:latin typeface="+mn-lt"/>
              </a:rPr>
              <a:t>INT 20H</a:t>
            </a:r>
            <a:r>
              <a:rPr lang="zh-CN" altLang="en-US" dirty="0">
                <a:latin typeface="+mn-lt"/>
              </a:rPr>
              <a:t>中断可返回</a:t>
            </a:r>
            <a:r>
              <a:rPr lang="en-US" dirty="0">
                <a:latin typeface="+mn-lt"/>
              </a:rPr>
              <a:t>DOS</a:t>
            </a:r>
            <a:r>
              <a:rPr lang="zh-CN" altLang="en-US" dirty="0">
                <a:latin typeface="+mn-lt"/>
              </a:rPr>
              <a:t>操作系统。</a:t>
            </a:r>
            <a:endParaRPr lang="en-US" altLang="zh-CN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i="1" dirty="0">
                <a:latin typeface="+mn-lt"/>
              </a:rPr>
              <a:t>n</a:t>
            </a:r>
            <a:r>
              <a:rPr lang="en-US" dirty="0">
                <a:latin typeface="+mn-lt"/>
              </a:rPr>
              <a:t>=</a:t>
            </a:r>
            <a:r>
              <a:rPr lang="en-US" b="1" dirty="0">
                <a:solidFill>
                  <a:srgbClr val="00CC00"/>
                </a:solidFill>
                <a:latin typeface="+mn-lt"/>
              </a:rPr>
              <a:t>21H</a:t>
            </a:r>
            <a:r>
              <a:rPr lang="zh-CN" altLang="en-US" dirty="0">
                <a:latin typeface="+mn-lt"/>
              </a:rPr>
              <a:t>则为功能最强大的</a:t>
            </a:r>
            <a:r>
              <a:rPr lang="en-US" dirty="0">
                <a:latin typeface="+mn-lt"/>
              </a:rPr>
              <a:t>DOS</a:t>
            </a:r>
            <a:r>
              <a:rPr lang="zh-CN" altLang="en-US" dirty="0">
                <a:latin typeface="+mn-lt"/>
              </a:rPr>
              <a:t>中断，它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包含了很多子功能</a:t>
            </a:r>
            <a:r>
              <a:rPr lang="zh-CN" altLang="en-US" dirty="0">
                <a:latin typeface="+mn-lt"/>
              </a:rPr>
              <a:t>，给每个子功能程序赋一个编号，称为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功能号</a:t>
            </a:r>
            <a:r>
              <a:rPr lang="zh-CN" altLang="en-US" dirty="0">
                <a:latin typeface="+mn-lt"/>
              </a:rPr>
              <a:t>，调用前要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送到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AH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寄存器</a:t>
            </a:r>
            <a:r>
              <a:rPr lang="zh-CN" altLang="en-US" dirty="0">
                <a:latin typeface="+mn-lt"/>
              </a:rPr>
              <a:t>中。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 DOS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系统功能调用方法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0765" y="1231900"/>
            <a:ext cx="7881620" cy="51752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n-lt"/>
                <a:ea typeface="+mn-ea"/>
              </a:rPr>
              <a:t>1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功能号</a:t>
            </a:r>
            <a:r>
              <a:rPr lang="zh-CN" altLang="en-US" sz="2800" dirty="0">
                <a:latin typeface="+mn-lt"/>
                <a:ea typeface="+mn-ea"/>
              </a:rPr>
              <a:t>送到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AH</a:t>
            </a:r>
            <a:r>
              <a:rPr lang="zh-CN" altLang="en-US" sz="2800" dirty="0">
                <a:latin typeface="+mn-lt"/>
                <a:ea typeface="+mn-ea"/>
              </a:rPr>
              <a:t>寄存器中，</a:t>
            </a:r>
            <a:r>
              <a:rPr lang="en-US" sz="2800" dirty="0">
                <a:latin typeface="+mn-lt"/>
                <a:ea typeface="+mn-ea"/>
              </a:rPr>
              <a:t>AH=</a:t>
            </a:r>
            <a:r>
              <a:rPr lang="en-US" sz="2800" b="1" dirty="0">
                <a:solidFill>
                  <a:srgbClr val="00CC00"/>
                </a:solidFill>
                <a:latin typeface="+mn-lt"/>
                <a:ea typeface="+mn-ea"/>
              </a:rPr>
              <a:t>00~6CH</a:t>
            </a:r>
            <a:r>
              <a:rPr lang="zh-CN" altLang="en-US" sz="2800" dirty="0">
                <a:latin typeface="+mn-lt"/>
                <a:ea typeface="+mn-ea"/>
              </a:rPr>
              <a:t>。</a:t>
            </a:r>
          </a:p>
          <a:p>
            <a:pPr algn="just">
              <a:buNone/>
            </a:pPr>
            <a:r>
              <a:rPr lang="en-US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入口参数</a:t>
            </a:r>
            <a:r>
              <a:rPr lang="zh-CN" altLang="en-US" sz="2800" dirty="0">
                <a:latin typeface="+mn-lt"/>
                <a:ea typeface="+mn-ea"/>
              </a:rPr>
              <a:t>送到指定的寄存器中（不带参数则不用设置）。</a:t>
            </a:r>
          </a:p>
          <a:p>
            <a:pPr algn="just">
              <a:buNone/>
            </a:pPr>
            <a:r>
              <a:rPr lang="en-US" sz="2800" dirty="0">
                <a:latin typeface="+mn-lt"/>
                <a:ea typeface="+mn-ea"/>
              </a:rPr>
              <a:t>3</a:t>
            </a:r>
            <a:r>
              <a:rPr lang="zh-CN" altLang="en-US" sz="2800" dirty="0">
                <a:latin typeface="+mn-lt"/>
                <a:ea typeface="+mn-ea"/>
              </a:rPr>
              <a:t>）执行</a:t>
            </a:r>
            <a:r>
              <a:rPr lang="en-US" sz="2800" b="1" dirty="0">
                <a:solidFill>
                  <a:srgbClr val="FF0000"/>
                </a:solidFill>
                <a:latin typeface="+mn-lt"/>
                <a:ea typeface="+mn-ea"/>
              </a:rPr>
              <a:t>INT 21H</a:t>
            </a:r>
            <a:r>
              <a:rPr lang="zh-CN" altLang="en-US" sz="2800" dirty="0">
                <a:latin typeface="+mn-lt"/>
                <a:ea typeface="+mn-ea"/>
              </a:rPr>
              <a:t>指令。</a:t>
            </a:r>
          </a:p>
          <a:p>
            <a:pPr algn="just">
              <a:buNone/>
            </a:pPr>
            <a:r>
              <a:rPr lang="en-US" sz="2800" dirty="0">
                <a:latin typeface="+mn-lt"/>
                <a:ea typeface="+mn-ea"/>
              </a:rPr>
              <a:t>4</a:t>
            </a:r>
            <a:r>
              <a:rPr lang="zh-CN" altLang="en-US" sz="2800" dirty="0">
                <a:latin typeface="+mn-lt"/>
                <a:ea typeface="+mn-ea"/>
              </a:rPr>
              <a:t>）得到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出口参数</a:t>
            </a:r>
            <a:r>
              <a:rPr lang="zh-CN" altLang="en-US" sz="2800" dirty="0">
                <a:latin typeface="+mn-lt"/>
                <a:ea typeface="+mn-ea"/>
              </a:rPr>
              <a:t>，或将结果显示在</a:t>
            </a:r>
            <a:r>
              <a:rPr lang="en-US" sz="2800" dirty="0">
                <a:latin typeface="+mn-lt"/>
                <a:ea typeface="+mn-ea"/>
              </a:rPr>
              <a:t>CRT</a:t>
            </a:r>
            <a:r>
              <a:rPr lang="zh-CN" altLang="en-US" sz="2800" dirty="0">
                <a:latin typeface="+mn-lt"/>
                <a:ea typeface="+mn-ea"/>
              </a:rPr>
              <a:t>上。</a:t>
            </a:r>
            <a:endParaRPr lang="en-US" altLang="zh-CN" sz="2800" dirty="0">
              <a:latin typeface="+mn-lt"/>
            </a:endParaRPr>
          </a:p>
          <a:p>
            <a:pPr algn="just">
              <a:spcBef>
                <a:spcPts val="2400"/>
              </a:spcBef>
            </a:pPr>
            <a:r>
              <a:rPr lang="zh-CN" altLang="en-US" sz="2800" dirty="0">
                <a:latin typeface="+mn-lt"/>
              </a:rPr>
              <a:t>部分</a:t>
            </a:r>
            <a:r>
              <a:rPr lang="en-US" sz="2800" dirty="0">
                <a:latin typeface="+mn-lt"/>
              </a:rPr>
              <a:t>DOS</a:t>
            </a:r>
            <a:r>
              <a:rPr lang="zh-CN" altLang="en-US" sz="2800" dirty="0">
                <a:latin typeface="+mn-lt"/>
              </a:rPr>
              <a:t>功能调用见表</a:t>
            </a:r>
            <a:r>
              <a:rPr lang="en-US" sz="2800" dirty="0">
                <a:latin typeface="+mn-lt"/>
              </a:rPr>
              <a:t>4.4  (</a:t>
            </a:r>
            <a:r>
              <a:rPr lang="zh-CN" altLang="en-US" sz="2800" dirty="0">
                <a:latin typeface="+mn-lt"/>
              </a:rPr>
              <a:t>教材</a:t>
            </a:r>
            <a:r>
              <a:rPr lang="en-US" altLang="zh-CN" sz="2800" dirty="0">
                <a:latin typeface="+mn-lt"/>
              </a:rPr>
              <a:t>Page130)</a:t>
            </a:r>
            <a:r>
              <a:rPr lang="zh-CN" altLang="en-US" sz="2800" dirty="0">
                <a:latin typeface="+mn-lt"/>
              </a:rPr>
              <a:t>。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450850"/>
            <a:ext cx="8229600" cy="67468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080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）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键盘功能调用</a:t>
            </a:r>
          </a:p>
          <a:p>
            <a:pPr algn="just">
              <a:buFont typeface="Wingdings" panose="05000000000000000000" pitchFamily="2" charset="2"/>
              <a:buChar char="l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利用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功能调用，可将读入的键值送进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AL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，并显示在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CRT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上，或检查是否有键压下等，还可将从键盘输入的一串字符输入到内存缓冲区中。</a:t>
            </a: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4.18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DOS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功能调用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，等待从键盘输入一个字符。</a:t>
            </a:r>
          </a:p>
          <a:p>
            <a:pPr algn="just">
              <a:buNone/>
            </a:pP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		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MOV	AH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，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01 H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AH 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功能调用号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01H</a:t>
            </a:r>
            <a:endParaRPr lang="en-US" altLang="en-US" sz="2400" dirty="0">
              <a:solidFill>
                <a:srgbClr val="00CC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 algn="just">
              <a:buNone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		INT	21H		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AL 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读入键值，并显示该字符</a:t>
            </a: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若有键压下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读入键值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并检查是否为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Ctrl-Break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键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?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若是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自动调用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INT 23H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中断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执行退出命令；否则将键值送入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AL,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并显示该字符。</a:t>
            </a:r>
          </a:p>
          <a:p>
            <a:endParaRPr lang="zh-CN" altLang="en-US" sz="24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61950"/>
            <a:ext cx="8229600" cy="674688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162050"/>
            <a:ext cx="8372475" cy="530860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4.19 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交互式程序中，用户键入字母键</a:t>
            </a:r>
            <a:r>
              <a:rPr lang="en-US" sz="2800" dirty="0">
                <a:latin typeface="+mn-lt"/>
                <a:ea typeface="+mn-ea"/>
              </a:rPr>
              <a:t>Y</a:t>
            </a:r>
            <a:r>
              <a:rPr lang="zh-CN" altLang="en-US" sz="2800" dirty="0">
                <a:latin typeface="+mn-lt"/>
                <a:ea typeface="+mn-ea"/>
              </a:rPr>
              <a:t>或</a:t>
            </a:r>
            <a:r>
              <a:rPr lang="en-US" sz="2800" dirty="0">
                <a:latin typeface="+mn-lt"/>
                <a:ea typeface="+mn-ea"/>
              </a:rPr>
              <a:t>N</a:t>
            </a:r>
            <a:r>
              <a:rPr lang="zh-CN" altLang="en-US" sz="2800" dirty="0">
                <a:latin typeface="+mn-lt"/>
                <a:ea typeface="+mn-ea"/>
              </a:rPr>
              <a:t>，分别转入不同的程序去处理，并在</a:t>
            </a:r>
            <a:r>
              <a:rPr lang="en-US" sz="2800" dirty="0">
                <a:latin typeface="+mn-lt"/>
                <a:ea typeface="+mn-ea"/>
              </a:rPr>
              <a:t>CRT</a:t>
            </a:r>
            <a:r>
              <a:rPr lang="zh-CN" altLang="en-US" sz="2800" dirty="0">
                <a:latin typeface="+mn-lt"/>
                <a:ea typeface="+mn-ea"/>
              </a:rPr>
              <a:t>上显示键入字符</a:t>
            </a:r>
            <a:r>
              <a:rPr lang="en-US" altLang="zh-CN" sz="2800" dirty="0">
                <a:latin typeface="+mn-lt"/>
                <a:ea typeface="+mn-ea"/>
              </a:rPr>
              <a:t>; </a:t>
            </a:r>
            <a:r>
              <a:rPr lang="zh-CN" altLang="en-US" sz="2800" dirty="0">
                <a:latin typeface="+mn-lt"/>
                <a:ea typeface="+mn-ea"/>
              </a:rPr>
              <a:t>若按了</a:t>
            </a:r>
            <a:r>
              <a:rPr lang="en-US" sz="2800" dirty="0">
                <a:latin typeface="+mn-lt"/>
                <a:ea typeface="+mn-ea"/>
              </a:rPr>
              <a:t>Ctrl-Break</a:t>
            </a:r>
            <a:r>
              <a:rPr lang="zh-CN" altLang="en-US" sz="2800" dirty="0">
                <a:latin typeface="+mn-lt"/>
                <a:ea typeface="+mn-ea"/>
              </a:rPr>
              <a:t>，则结束程序，否则继续等待。</a:t>
            </a:r>
          </a:p>
          <a:p>
            <a:pPr>
              <a:spcBef>
                <a:spcPts val="18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GET_KEY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01H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功能调用号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01H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</a:t>
            </a:r>
            <a:r>
              <a:rPr lang="en-US" sz="2400" dirty="0">
                <a:solidFill>
                  <a:srgbClr val="00CC00"/>
                </a:solidFill>
                <a:ea typeface="仿宋_GB2312" panose="02010609030101010101" pitchFamily="49" charset="-122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读入键值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CMP	AL</a:t>
            </a:r>
            <a:r>
              <a:rPr lang="zh-CN" altLang="en-US" sz="2400" dirty="0">
                <a:latin typeface="+mn-lt"/>
                <a:ea typeface="+mn-ea"/>
              </a:rPr>
              <a:t>，‘</a:t>
            </a:r>
            <a:r>
              <a:rPr lang="en-US" sz="2400" dirty="0">
                <a:latin typeface="+mn-lt"/>
                <a:ea typeface="+mn-ea"/>
              </a:rPr>
              <a:t>Y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solidFill>
                  <a:srgbClr val="B4B9BE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；键值是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Y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吗？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JE		YES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YES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CMP  	AL</a:t>
            </a:r>
            <a:r>
              <a:rPr lang="zh-CN" altLang="en-US" sz="2400" dirty="0">
                <a:latin typeface="+mn-lt"/>
                <a:ea typeface="+mn-ea"/>
              </a:rPr>
              <a:t>，‘</a:t>
            </a:r>
            <a:r>
              <a:rPr lang="en-US" sz="2400" dirty="0">
                <a:latin typeface="+mn-lt"/>
                <a:ea typeface="+mn-ea"/>
              </a:rPr>
              <a:t>N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；不是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Y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吗？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JE	  	NO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NO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JNE	 GET_KEY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；不是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，返回继续等待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YES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；按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Y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键的处理程序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NO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；按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键的处理程序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 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231187" cy="5175250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4.20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功能调用</a:t>
            </a:r>
            <a:r>
              <a:rPr lang="en-US" sz="2400" dirty="0">
                <a:latin typeface="+mn-lt"/>
                <a:ea typeface="+mn-ea"/>
              </a:rPr>
              <a:t>6</a:t>
            </a:r>
            <a:r>
              <a:rPr lang="zh-CN" altLang="en-US" sz="2400" dirty="0">
                <a:latin typeface="+mn-lt"/>
                <a:ea typeface="+mn-ea"/>
              </a:rPr>
              <a:t>，控制台</a:t>
            </a:r>
            <a:r>
              <a:rPr lang="en-US" sz="2400" dirty="0">
                <a:latin typeface="+mn-lt"/>
                <a:ea typeface="+mn-ea"/>
              </a:rPr>
              <a:t>I/O</a:t>
            </a:r>
            <a:r>
              <a:rPr lang="zh-CN" altLang="en-US" sz="2400" dirty="0">
                <a:latin typeface="+mn-lt"/>
                <a:ea typeface="+mn-ea"/>
              </a:rPr>
              <a:t>（控制台指键盘和</a:t>
            </a:r>
            <a:r>
              <a:rPr lang="en-US" altLang="zh-CN" sz="2400" dirty="0">
                <a:latin typeface="+mn-lt"/>
                <a:ea typeface="+mn-ea"/>
              </a:rPr>
              <a:t>CRT</a:t>
            </a:r>
            <a:r>
              <a:rPr lang="zh-CN" altLang="en-US" sz="2400" dirty="0">
                <a:latin typeface="+mn-lt"/>
                <a:ea typeface="+mn-ea"/>
              </a:rPr>
              <a:t>），不检查是否按了</a:t>
            </a:r>
            <a:r>
              <a:rPr lang="en-US" sz="2400" dirty="0">
                <a:latin typeface="+mn-lt"/>
                <a:ea typeface="+mn-ea"/>
              </a:rPr>
              <a:t>Ctrl-Break</a:t>
            </a:r>
            <a:r>
              <a:rPr lang="zh-CN" altLang="en-US" sz="2400" dirty="0">
                <a:latin typeface="+mn-lt"/>
                <a:ea typeface="+mn-ea"/>
              </a:rPr>
              <a:t>键。</a:t>
            </a:r>
          </a:p>
          <a:p>
            <a:pPr>
              <a:spcBef>
                <a:spcPts val="1800"/>
              </a:spcBef>
              <a:buNone/>
            </a:pPr>
            <a:r>
              <a:rPr lang="en-US" sz="2400" b="0" dirty="0">
                <a:latin typeface="+mn-lt"/>
              </a:rPr>
              <a:t>		</a:t>
            </a:r>
            <a:r>
              <a:rPr lang="en-US" sz="2400" dirty="0">
                <a:latin typeface="+mn-lt"/>
                <a:ea typeface="+mn-ea"/>
              </a:rPr>
              <a:t>   MOV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6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6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号功能调用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	   MOV    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 FFH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DL=FFH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，键盘输入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	   INT	      21H</a:t>
            </a:r>
            <a:endParaRPr lang="zh-CN" altLang="en-US" sz="2400" dirty="0">
              <a:latin typeface="+mn-lt"/>
              <a:ea typeface="+mn-ea"/>
            </a:endParaRPr>
          </a:p>
          <a:p>
            <a:pPr marL="363855" indent="-363855" algn="just">
              <a:spcBef>
                <a:spcPts val="1200"/>
              </a:spcBef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当调用时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DL=FFH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，表示从键盘输入字符。执行后，若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ZF=0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，则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中为输入字符的键值；若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ZF=1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，表示无键压下，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中不是键值。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marL="363855" indent="-363855" algn="just">
              <a:spcBef>
                <a:spcPts val="1200"/>
              </a:spcBef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如果调用时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≠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FFH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，表示从屏幕输出字符。</a:t>
            </a: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4.21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利用</a:t>
            </a:r>
            <a:r>
              <a:rPr lang="en-US" sz="2400" dirty="0">
                <a:latin typeface="+mn-lt"/>
                <a:ea typeface="+mn-ea"/>
              </a:rPr>
              <a:t>0AH</a:t>
            </a:r>
            <a:r>
              <a:rPr lang="zh-CN" altLang="en-US" sz="2400" dirty="0">
                <a:latin typeface="+mn-lt"/>
                <a:ea typeface="+mn-ea"/>
              </a:rPr>
              <a:t>号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功能调用，将键入字符送输入缓冲区。</a:t>
            </a:r>
          </a:p>
          <a:p>
            <a:pPr marL="363855" indent="-363855"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调用前预先定义一个缓冲区，首地址为：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DS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：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marL="363855" indent="-363855"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缓冲区的第一个字节由用户指定，存放缓冲区最大容量（字节数）；第二个字节保留，功能调用后存放实际键入的字符个数；从第三个字节开始存入键盘输入的实际字符的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码，直到击了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ENTER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键为止。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marL="363855" indent="-363855"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若键入的字符数小于最大字节数，缓冲区其余部分都填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；若大于最大字节数，则后键入的字符丢失，并发出嘟嘟声。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317500"/>
            <a:ext cx="8372475" cy="6172200"/>
          </a:xfrm>
        </p:spPr>
        <p:txBody>
          <a:bodyPr/>
          <a:lstStyle/>
          <a:p>
            <a:r>
              <a:rPr lang="zh-CN" altLang="en-US" dirty="0"/>
              <a:t>程序如下：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BUFF	  DB	50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；定义缓冲区最大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50(32H)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字节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DB	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；存实际键入字节数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DB	50 DUP(?)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；定义50个字节空间</a:t>
            </a:r>
            <a:endParaRPr lang="en-US" altLang="zh-CN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；存放键入字符的ASCII码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MOV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 ；定义DS：DX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MOV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en-US" sz="2400" dirty="0">
                <a:solidFill>
                  <a:srgbClr val="FFCC99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；DS=缓冲区首址基地址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MOV  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BUFF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 ；DX=缓冲区首址偏址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MOV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0AH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 ；AH=功能号10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INT     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	┇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372475" cy="1758950"/>
          </a:xfrm>
        </p:spPr>
        <p:txBody>
          <a:bodyPr/>
          <a:lstStyle/>
          <a:p>
            <a:pPr marL="363855" indent="-363855"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若键入的字符串为“</a:t>
            </a:r>
            <a:r>
              <a:rPr lang="en-US" sz="2800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good morning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.”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，包括空格共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（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0DH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）个字符，则缓冲区各单元存储的信息如图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4.5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所示。要检查是否已在缓冲器中存入字符串，可用显示字符的功能调用，将字符串显示在屏幕上。</a:t>
            </a:r>
          </a:p>
        </p:txBody>
      </p:sp>
      <p:pic>
        <p:nvPicPr>
          <p:cNvPr id="4" name="图片 3" descr="t-4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20" y="3831590"/>
            <a:ext cx="6182211" cy="20447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显示功能调用</a:t>
            </a:r>
          </a:p>
          <a:p>
            <a:pPr marL="363855" indent="-363855" algn="just">
              <a:buFont typeface="Wingdings" panose="05000000000000000000" pitchFamily="2" charset="2"/>
              <a:buChar char="l"/>
            </a:pP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号功能调用用来显示单个字符，</a:t>
            </a:r>
            <a:r>
              <a:rPr lang="en-US" sz="2800" dirty="0">
                <a:latin typeface="+mn-lt"/>
              </a:rPr>
              <a:t>9</a:t>
            </a:r>
            <a:r>
              <a:rPr lang="zh-CN" altLang="en-US" sz="2800" dirty="0">
                <a:latin typeface="+mn-lt"/>
              </a:rPr>
              <a:t>号功能调用则显示以</a:t>
            </a:r>
            <a:r>
              <a:rPr lang="en-US" sz="2800" dirty="0">
                <a:latin typeface="+mn-lt"/>
              </a:rPr>
              <a:t>$</a:t>
            </a:r>
            <a:r>
              <a:rPr lang="zh-CN" altLang="en-US" sz="2800" dirty="0">
                <a:latin typeface="+mn-lt"/>
              </a:rPr>
              <a:t>结尾的字符串。</a:t>
            </a:r>
          </a:p>
          <a:p>
            <a:pPr>
              <a:spcBef>
                <a:spcPts val="1800"/>
              </a:spcBef>
              <a:buNone/>
            </a:pPr>
            <a:r>
              <a:rPr lang="en-US" dirty="0">
                <a:latin typeface="+mn-lt"/>
              </a:rPr>
              <a:t> 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4.22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编写显示星号“</a:t>
            </a:r>
            <a:r>
              <a:rPr lang="en-US" sz="2400" dirty="0">
                <a:latin typeface="+mn-lt"/>
                <a:ea typeface="+mn-ea"/>
              </a:rPr>
              <a:t>*</a:t>
            </a:r>
            <a:r>
              <a:rPr lang="zh-CN" altLang="en-US" sz="2400" dirty="0">
                <a:latin typeface="+mn-lt"/>
                <a:ea typeface="+mn-ea"/>
              </a:rPr>
              <a:t>”的程序。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MOV	DL</a:t>
            </a:r>
            <a:r>
              <a:rPr lang="zh-CN" altLang="en-US" sz="2400" dirty="0">
                <a:latin typeface="+mn-lt"/>
                <a:ea typeface="+mn-ea"/>
              </a:rPr>
              <a:t>，‘</a:t>
            </a:r>
            <a:r>
              <a:rPr lang="en-US" sz="2400" dirty="0">
                <a:latin typeface="+mn-lt"/>
                <a:ea typeface="+mn-ea"/>
              </a:rPr>
              <a:t>*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solidFill>
                  <a:srgbClr val="FFCC99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DL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要显示字符的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02H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02H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；显示星号“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*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”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 </a:t>
            </a:r>
            <a:endParaRPr lang="zh-CN" altLang="en-US" sz="2400" dirty="0">
              <a:latin typeface="+mn-lt"/>
              <a:ea typeface="+mn-ea"/>
            </a:endParaRP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/>
          <a:lstStyle/>
          <a:p>
            <a:pPr marL="363855" indent="-363855" algn="just">
              <a:buFont typeface="Wingdings" panose="05000000000000000000" pitchFamily="2" charset="2"/>
              <a:buChar char="l"/>
            </a:pPr>
            <a:r>
              <a:rPr lang="en-US" sz="2800" dirty="0">
                <a:latin typeface="+mn-lt"/>
              </a:rPr>
              <a:t>9</a:t>
            </a:r>
            <a:r>
              <a:rPr lang="zh-CN" altLang="en-US" sz="2800" dirty="0">
                <a:latin typeface="+mn-lt"/>
              </a:rPr>
              <a:t>号功能调用前</a:t>
            </a:r>
            <a:r>
              <a:rPr lang="en-US" altLang="zh-CN" sz="2800" dirty="0">
                <a:latin typeface="+mn-lt"/>
              </a:rPr>
              <a:t>, </a:t>
            </a:r>
            <a:r>
              <a:rPr lang="zh-CN" altLang="en-US" sz="2800" dirty="0">
                <a:latin typeface="+mn-lt"/>
              </a:rPr>
              <a:t>要将字符串的首地址送到</a:t>
            </a:r>
            <a:r>
              <a:rPr lang="en-US" sz="2800" dirty="0">
                <a:latin typeface="+mn-lt"/>
              </a:rPr>
              <a:t>DS</a:t>
            </a:r>
            <a:r>
              <a:rPr lang="zh-CN" altLang="en-US" sz="2800" dirty="0">
                <a:latin typeface="+mn-lt"/>
              </a:rPr>
              <a:t>：</a:t>
            </a:r>
            <a:r>
              <a:rPr lang="en-US" sz="2800" dirty="0">
                <a:latin typeface="+mn-lt"/>
              </a:rPr>
              <a:t>DX</a:t>
            </a:r>
            <a:r>
              <a:rPr lang="zh-CN" altLang="en-US" sz="2800" dirty="0">
                <a:latin typeface="+mn-lt"/>
              </a:rPr>
              <a:t>中</a:t>
            </a:r>
            <a:r>
              <a:rPr lang="en-US" altLang="zh-CN" sz="2800" dirty="0">
                <a:latin typeface="+mn-lt"/>
              </a:rPr>
              <a:t>,</a:t>
            </a:r>
            <a:r>
              <a:rPr lang="zh-CN" altLang="en-US" sz="2800" dirty="0">
                <a:latin typeface="+mn-lt"/>
              </a:rPr>
              <a:t>调用后显示以</a:t>
            </a:r>
            <a:r>
              <a:rPr lang="en-US" sz="2800" dirty="0">
                <a:latin typeface="+mn-lt"/>
              </a:rPr>
              <a:t>DS</a:t>
            </a:r>
            <a:r>
              <a:rPr lang="zh-CN" altLang="en-US" sz="2800" dirty="0">
                <a:latin typeface="+mn-lt"/>
              </a:rPr>
              <a:t>：</a:t>
            </a:r>
            <a:r>
              <a:rPr lang="en-US" sz="2800" dirty="0">
                <a:latin typeface="+mn-lt"/>
              </a:rPr>
              <a:t>DX</a:t>
            </a:r>
            <a:r>
              <a:rPr lang="zh-CN" altLang="en-US" sz="2800" dirty="0">
                <a:latin typeface="+mn-lt"/>
              </a:rPr>
              <a:t>为首地址的字符串，直到遇到</a:t>
            </a:r>
            <a:r>
              <a:rPr lang="en-US" sz="2800" dirty="0">
                <a:latin typeface="+mn-lt"/>
              </a:rPr>
              <a:t>$</a:t>
            </a:r>
            <a:r>
              <a:rPr lang="zh-CN" altLang="en-US" sz="2800" dirty="0">
                <a:latin typeface="+mn-lt"/>
              </a:rPr>
              <a:t>符为止，</a:t>
            </a:r>
            <a:r>
              <a:rPr lang="en-US" sz="2800" dirty="0">
                <a:latin typeface="+mn-lt"/>
              </a:rPr>
              <a:t>$</a:t>
            </a:r>
            <a:r>
              <a:rPr lang="zh-CN" altLang="en-US" sz="2800" dirty="0">
                <a:latin typeface="+mn-lt"/>
              </a:rPr>
              <a:t>符不显示出来。</a:t>
            </a:r>
          </a:p>
          <a:p>
            <a:pPr>
              <a:buNone/>
            </a:pPr>
            <a:r>
              <a:rPr lang="zh-CN" altLang="en-US" sz="3200" b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3200" b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4.23</a:t>
            </a:r>
            <a:r>
              <a:rPr lang="zh-CN" altLang="en-US" sz="3200" b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lt"/>
                <a:ea typeface="+mn-ea"/>
              </a:rPr>
              <a:t>显示信息“</a:t>
            </a:r>
            <a:r>
              <a:rPr lang="en-US" sz="2800" dirty="0">
                <a:latin typeface="+mn-lt"/>
                <a:ea typeface="+mn-ea"/>
              </a:rPr>
              <a:t>Try again.</a:t>
            </a:r>
            <a:r>
              <a:rPr lang="zh-CN" altLang="en-US" sz="2800" dirty="0">
                <a:latin typeface="+mn-lt"/>
                <a:ea typeface="+mn-ea"/>
              </a:rPr>
              <a:t>”</a:t>
            </a:r>
            <a:r>
              <a:rPr lang="en-US" altLang="zh-CN" sz="2800" dirty="0">
                <a:latin typeface="+mn-lt"/>
                <a:ea typeface="+mn-ea"/>
              </a:rPr>
              <a:t>, </a:t>
            </a:r>
            <a:r>
              <a:rPr lang="zh-CN" altLang="en-US" sz="2800" dirty="0">
                <a:latin typeface="+mn-lt"/>
                <a:ea typeface="+mn-ea"/>
              </a:rPr>
              <a:t>并回车、换行。</a:t>
            </a:r>
          </a:p>
          <a:p>
            <a:pPr>
              <a:spcBef>
                <a:spcPts val="6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</a:t>
            </a:r>
            <a:r>
              <a:rPr lang="zh-CN" altLang="en-US" sz="2400" dirty="0">
                <a:latin typeface="+mn-lt"/>
                <a:ea typeface="+mn-ea"/>
              </a:rPr>
              <a:t>  </a:t>
            </a:r>
            <a:r>
              <a:rPr lang="en-US" sz="2400" dirty="0">
                <a:latin typeface="+mn-lt"/>
                <a:ea typeface="+mn-ea"/>
              </a:rPr>
              <a:t>SEGMENT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MESS	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en-US" sz="2400" dirty="0">
                <a:latin typeface="+mn-lt"/>
                <a:ea typeface="+mn-ea"/>
              </a:rPr>
              <a:t>DB   ‘Try again.’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0DH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0AH,</a:t>
            </a:r>
            <a:r>
              <a:rPr lang="zh-CN" altLang="en-US" sz="2400" dirty="0">
                <a:latin typeface="+mn-lt"/>
                <a:ea typeface="+mn-ea"/>
              </a:rPr>
              <a:t>‘</a:t>
            </a:r>
            <a:r>
              <a:rPr lang="en-US" sz="2400" dirty="0">
                <a:latin typeface="+mn-lt"/>
                <a:ea typeface="+mn-ea"/>
              </a:rPr>
              <a:t>$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待显示字符串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en-US" sz="2400" dirty="0">
                <a:latin typeface="+mn-lt"/>
                <a:ea typeface="+mn-ea"/>
              </a:rPr>
              <a:t>ENDS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			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SEG  MESS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	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zh-CN" altLang="en-US" sz="2400" dirty="0">
                <a:latin typeface="+mn-lt"/>
                <a:ea typeface="+mn-ea"/>
              </a:rPr>
              <a:t>      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DS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字符串起始段地址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 MESS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偏移地址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INT  	21H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；显示该字符串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程序中，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0DH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、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0AH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是回车、换行键的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ASCII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码。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）打印功能调用</a:t>
            </a:r>
          </a:p>
          <a:p>
            <a:pPr marL="363855" indent="-363855" algn="just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lt"/>
              </a:rPr>
              <a:t>将要在打印机上打印的字符的</a:t>
            </a:r>
            <a:r>
              <a:rPr lang="en-US" sz="2400" dirty="0">
                <a:latin typeface="+mn-lt"/>
              </a:rPr>
              <a:t>ASCII</a:t>
            </a:r>
            <a:r>
              <a:rPr lang="zh-CN" altLang="en-US" sz="2400" dirty="0">
                <a:latin typeface="+mn-lt"/>
              </a:rPr>
              <a:t>码送到</a:t>
            </a:r>
            <a:r>
              <a:rPr lang="en-US" sz="2400" dirty="0">
                <a:latin typeface="+mn-lt"/>
              </a:rPr>
              <a:t>DL</a:t>
            </a:r>
            <a:r>
              <a:rPr lang="zh-CN" altLang="en-US" sz="2400" dirty="0">
                <a:latin typeface="+mn-lt"/>
              </a:rPr>
              <a:t>中，作为入口参数，然后执行</a:t>
            </a:r>
            <a:r>
              <a:rPr lang="en-US" sz="2400" dirty="0">
                <a:latin typeface="+mn-lt"/>
              </a:rPr>
              <a:t>5</a:t>
            </a:r>
            <a:r>
              <a:rPr lang="zh-CN" altLang="en-US" sz="2400" dirty="0">
                <a:latin typeface="+mn-lt"/>
              </a:rPr>
              <a:t>号功能调用，</a:t>
            </a:r>
            <a:r>
              <a:rPr lang="en-US" sz="2400" dirty="0">
                <a:latin typeface="+mn-lt"/>
              </a:rPr>
              <a:t>DL</a:t>
            </a:r>
            <a:r>
              <a:rPr lang="zh-CN" altLang="en-US" sz="2400" dirty="0">
                <a:latin typeface="+mn-lt"/>
              </a:rPr>
              <a:t>中的字符便会送到打印机去打印。</a:t>
            </a: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4.24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在打印机上打印一串字符“</a:t>
            </a:r>
            <a:r>
              <a:rPr lang="en-US" sz="2400" dirty="0">
                <a:latin typeface="+mn-lt"/>
                <a:ea typeface="+mn-ea"/>
              </a:rPr>
              <a:t>Right.</a:t>
            </a:r>
            <a:r>
              <a:rPr lang="zh-CN" altLang="en-US" sz="2400" dirty="0">
                <a:latin typeface="+mn-lt"/>
                <a:ea typeface="+mn-ea"/>
              </a:rPr>
              <a:t>”，打印前换页，打印完后回车、换行。</a:t>
            </a: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2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774700"/>
            <a:ext cx="8372475" cy="5727700"/>
          </a:xfrm>
        </p:spPr>
        <p:txBody>
          <a:bodyPr/>
          <a:lstStyle/>
          <a:p>
            <a:r>
              <a:rPr lang="zh-CN" altLang="en-US" dirty="0"/>
              <a:t>程序如下：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CHAR	  DB	0CH,  ‘Right.’, 0DH, 0AH, ‘$’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；待打印字符串，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0CH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为换行码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  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指向字符串开头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5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AH=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5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NEXT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CHAR [BX]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；取一个字符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CMP	 DL</a:t>
            </a:r>
            <a:r>
              <a:rPr lang="zh-CN" altLang="en-US" sz="2400" dirty="0">
                <a:latin typeface="+mn-lt"/>
                <a:ea typeface="+mn-ea"/>
              </a:rPr>
              <a:t>，‘</a:t>
            </a:r>
            <a:r>
              <a:rPr lang="en-US" sz="2400" dirty="0">
                <a:latin typeface="+mn-lt"/>
                <a:ea typeface="+mn-ea"/>
              </a:rPr>
              <a:t>$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$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符吗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JE	 TO_STOP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；是，转停止打印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INT	 21H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；否，打印该字符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INC	 BX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；指向下一个字符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JMP 	 NEXT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；继续打印下一个字符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TO_STOP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    ┇					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；停止打印处理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67180" y="2186305"/>
            <a:ext cx="5378450" cy="2346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4.2.1  概述</a:t>
            </a:r>
            <a:endParaRPr lang="en-US" altLang="en-US" sz="3600" b="1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4.2.2  DOS系统功能调用</a:t>
            </a:r>
            <a:endParaRPr lang="en-US" alt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4.2.3  BIOS中断调用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10:12</a:t>
            </a:fld>
            <a:endParaRPr lang="zh-CN" altLang="en-US" dirty="0"/>
          </a:p>
        </p:txBody>
      </p:sp>
    </p:spTree>
  </p:cSld>
  <p:clrMapOvr>
    <a:masterClrMapping/>
  </p:clrMapOvr>
  <p:transition spd="slow">
    <p:wedg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4.2.3  BIOS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中断调用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 algn="just"/>
            <a:r>
              <a:rPr lang="zh-CN" altLang="en-US" sz="2800" dirty="0">
                <a:latin typeface="+mn-lt"/>
              </a:rPr>
              <a:t>在</a:t>
            </a:r>
            <a:r>
              <a:rPr lang="en-US" sz="2800" dirty="0">
                <a:latin typeface="+mn-lt"/>
              </a:rPr>
              <a:t>80X86</a:t>
            </a:r>
            <a:r>
              <a:rPr lang="zh-CN" altLang="en-US" sz="2800" dirty="0">
                <a:latin typeface="+mn-lt"/>
              </a:rPr>
              <a:t>微型计算机中，从内存地址</a:t>
            </a:r>
            <a:r>
              <a:rPr lang="en-US" sz="2800" b="1" dirty="0">
                <a:solidFill>
                  <a:srgbClr val="00CC00"/>
                </a:solidFill>
                <a:latin typeface="+mn-lt"/>
              </a:rPr>
              <a:t>0FE000H</a:t>
            </a:r>
            <a:r>
              <a:rPr lang="zh-CN" altLang="en-US" sz="2800" b="1" dirty="0">
                <a:solidFill>
                  <a:srgbClr val="00CC00"/>
                </a:solidFill>
                <a:latin typeface="+mn-lt"/>
              </a:rPr>
              <a:t>    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开始的</a:t>
            </a:r>
            <a:r>
              <a:rPr lang="en-US" sz="2800" b="1" dirty="0">
                <a:solidFill>
                  <a:srgbClr val="00CC00"/>
                </a:solidFill>
                <a:latin typeface="+mn-lt"/>
              </a:rPr>
              <a:t>8KB</a:t>
            </a:r>
            <a:r>
              <a:rPr lang="zh-CN" altLang="en-US" sz="2800" dirty="0">
                <a:latin typeface="+mn-lt"/>
              </a:rPr>
              <a:t>存储空间中，用</a:t>
            </a: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EPROM</a:t>
            </a:r>
            <a:r>
              <a:rPr lang="zh-CN" altLang="en-US" sz="2800" dirty="0">
                <a:latin typeface="+mn-lt"/>
              </a:rPr>
              <a:t>固化了</a:t>
            </a:r>
            <a:r>
              <a:rPr lang="en-US" sz="28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ROM  BIOS</a:t>
            </a:r>
            <a:r>
              <a:rPr lang="zh-CN" altLang="en-US" sz="2800" dirty="0">
                <a:latin typeface="+mn-lt"/>
              </a:rPr>
              <a:t>程序。（现代的</a:t>
            </a:r>
            <a:r>
              <a:rPr lang="en-US" altLang="zh-CN" sz="2800" dirty="0">
                <a:latin typeface="+mn-lt"/>
              </a:rPr>
              <a:t>PC</a:t>
            </a:r>
            <a:r>
              <a:rPr lang="zh-CN" altLang="en-US" sz="2800" dirty="0">
                <a:latin typeface="+mn-lt"/>
              </a:rPr>
              <a:t>机用的是</a:t>
            </a: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EEPROM</a:t>
            </a:r>
            <a:r>
              <a:rPr lang="zh-CN" altLang="en-US" sz="2800" dirty="0">
                <a:latin typeface="+mn-lt"/>
              </a:rPr>
              <a:t>）</a:t>
            </a:r>
            <a:endParaRPr lang="en-US" altLang="zh-CN" sz="2800" dirty="0">
              <a:latin typeface="+mn-lt"/>
            </a:endParaRPr>
          </a:p>
          <a:p>
            <a:pPr marL="363855" indent="-363855" algn="just">
              <a:buNone/>
            </a:pPr>
            <a:endParaRPr lang="en-US" altLang="zh-CN" sz="2800" dirty="0">
              <a:latin typeface="+mn-lt"/>
            </a:endParaRPr>
          </a:p>
          <a:p>
            <a:pPr marL="363855" indent="-363855" algn="just"/>
            <a:r>
              <a:rPr lang="en-US" altLang="zh-CN" sz="2800" dirty="0">
                <a:latin typeface="+mn-lt"/>
              </a:rPr>
              <a:t>ROM BIOS</a:t>
            </a:r>
            <a:r>
              <a:rPr lang="zh-CN" altLang="en-US" sz="2800" dirty="0">
                <a:latin typeface="+mn-lt"/>
              </a:rPr>
              <a:t>模块包含了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系统加电自检程序</a:t>
            </a:r>
            <a:r>
              <a:rPr lang="zh-CN" altLang="en-US" sz="2800" dirty="0">
                <a:latin typeface="+mn-lt"/>
              </a:rPr>
              <a:t>、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引导装入程序</a:t>
            </a:r>
            <a:r>
              <a:rPr lang="zh-CN" altLang="en-US" sz="2800" dirty="0">
                <a:latin typeface="+mn-lt"/>
              </a:rPr>
              <a:t>、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基本I/O设备驱动程序</a:t>
            </a:r>
            <a:r>
              <a:rPr lang="zh-CN" altLang="en-US" sz="2800" dirty="0">
                <a:latin typeface="+mn-lt"/>
              </a:rPr>
              <a:t>以及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接口控制</a:t>
            </a:r>
            <a:r>
              <a:rPr lang="zh-CN" altLang="en-US" sz="2800" dirty="0">
                <a:latin typeface="+mn-lt"/>
              </a:rPr>
              <a:t>等功能模块，它们以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中断服务程序</a:t>
            </a:r>
            <a:r>
              <a:rPr lang="zh-CN" altLang="en-US" sz="2800" dirty="0">
                <a:latin typeface="+mn-lt"/>
              </a:rPr>
              <a:t>的形式向程序员开放。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8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0" y="984250"/>
            <a:ext cx="8372475" cy="4845050"/>
          </a:xfrm>
        </p:spPr>
        <p:txBody>
          <a:bodyPr/>
          <a:lstStyle/>
          <a:p>
            <a:pPr algn="just"/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关于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BIOS 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和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DOS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调用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的几点说明：</a:t>
            </a:r>
          </a:p>
          <a:p>
            <a:pPr marL="800100" lvl="1" indent="-342900" algn="just">
              <a:buFont typeface="Wingdings" panose="05000000000000000000" charset="0"/>
              <a:buChar char="Ø"/>
            </a:pP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有些</a:t>
            </a: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系统功能调用和</a:t>
            </a: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中断调用能完成同样的功能</a:t>
            </a:r>
            <a:r>
              <a:rPr lang="zh-CN" altLang="en-US" sz="2450" dirty="0">
                <a:latin typeface="+mn-lt"/>
              </a:rPr>
              <a:t>。例如，要打印一个字符，可以用</a:t>
            </a:r>
            <a:r>
              <a:rPr lang="en-US" sz="2450" dirty="0">
                <a:latin typeface="+mn-lt"/>
              </a:rPr>
              <a:t>INT 21H</a:t>
            </a:r>
            <a:r>
              <a:rPr lang="zh-CN" altLang="en-US" sz="2450" dirty="0">
                <a:latin typeface="+mn-lt"/>
              </a:rPr>
              <a:t>的</a:t>
            </a:r>
            <a:r>
              <a:rPr lang="en-US" sz="2450" dirty="0">
                <a:latin typeface="+mn-lt"/>
              </a:rPr>
              <a:t>5</a:t>
            </a:r>
            <a:r>
              <a:rPr lang="zh-CN" altLang="en-US" sz="2450" dirty="0">
                <a:latin typeface="+mn-lt"/>
              </a:rPr>
              <a:t>号</a:t>
            </a:r>
            <a:r>
              <a:rPr lang="en-US" altLang="zh-CN" sz="2450" dirty="0">
                <a:latin typeface="+mn-lt"/>
              </a:rPr>
              <a:t>DOS</a:t>
            </a:r>
            <a:r>
              <a:rPr lang="zh-CN" altLang="en-US" sz="2450" dirty="0">
                <a:latin typeface="+mn-lt"/>
              </a:rPr>
              <a:t>功能调用，也可用</a:t>
            </a:r>
            <a:r>
              <a:rPr lang="en-US" sz="2450" dirty="0">
                <a:latin typeface="+mn-lt"/>
              </a:rPr>
              <a:t>BIOS</a:t>
            </a:r>
            <a:r>
              <a:rPr lang="zh-CN" altLang="en-US" sz="2450" dirty="0">
                <a:latin typeface="+mn-lt"/>
              </a:rPr>
              <a:t>的</a:t>
            </a:r>
            <a:r>
              <a:rPr lang="en-US" sz="2450" dirty="0">
                <a:latin typeface="+mn-lt"/>
              </a:rPr>
              <a:t>INT 17H</a:t>
            </a:r>
            <a:r>
              <a:rPr lang="zh-CN" altLang="en-US" sz="2450" dirty="0">
                <a:latin typeface="+mn-lt"/>
              </a:rPr>
              <a:t>的</a:t>
            </a:r>
            <a:r>
              <a:rPr lang="en-US" sz="2450" dirty="0">
                <a:latin typeface="+mn-lt"/>
              </a:rPr>
              <a:t>0</a:t>
            </a:r>
            <a:r>
              <a:rPr lang="zh-CN" altLang="en-US" sz="2450" dirty="0">
                <a:latin typeface="+mn-lt"/>
              </a:rPr>
              <a:t>号中断调用。</a:t>
            </a:r>
            <a:endParaRPr lang="en-US" altLang="zh-CN" sz="2450" dirty="0">
              <a:latin typeface="+mn-lt"/>
            </a:endParaRPr>
          </a:p>
          <a:p>
            <a:pPr marL="800100" lvl="1" indent="-342900" algn="just">
              <a:spcBef>
                <a:spcPts val="18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更接近硬件，使用起来要复杂一些</a:t>
            </a:r>
            <a:r>
              <a:rPr lang="zh-CN" altLang="en-US" sz="2450" dirty="0">
                <a:latin typeface="+mn-lt"/>
              </a:rPr>
              <a:t>，应尽量使用</a:t>
            </a:r>
            <a:r>
              <a:rPr lang="en-US" sz="2450" dirty="0">
                <a:latin typeface="+mn-lt"/>
              </a:rPr>
              <a:t>DOS</a:t>
            </a:r>
            <a:r>
              <a:rPr lang="zh-CN" altLang="en-US" sz="2450" dirty="0">
                <a:latin typeface="+mn-lt"/>
              </a:rPr>
              <a:t>系统功能调用。</a:t>
            </a:r>
            <a:endParaRPr lang="en-US" altLang="zh-CN" sz="2450" dirty="0">
              <a:latin typeface="+mn-lt"/>
            </a:endParaRPr>
          </a:p>
          <a:p>
            <a:pPr marL="800100" lvl="1" indent="-342900" algn="just">
              <a:buFont typeface="Wingdings" panose="05000000000000000000" charset="0"/>
              <a:buChar char="Ø"/>
            </a:pP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有些情况下，必须使用</a:t>
            </a: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中断调用</a:t>
            </a:r>
            <a:r>
              <a:rPr lang="zh-CN" altLang="en-US" sz="2450" dirty="0">
                <a:latin typeface="+mn-lt"/>
              </a:rPr>
              <a:t>。例如，</a:t>
            </a:r>
            <a:r>
              <a:rPr lang="en-US" sz="2450" dirty="0">
                <a:latin typeface="+mn-lt"/>
              </a:rPr>
              <a:t>INT 17</a:t>
            </a:r>
            <a:r>
              <a:rPr lang="zh-CN" altLang="en-US" sz="2450" dirty="0">
                <a:latin typeface="+mn-lt"/>
              </a:rPr>
              <a:t>中断的</a:t>
            </a:r>
            <a:r>
              <a:rPr lang="en-US" sz="2450" dirty="0">
                <a:latin typeface="+mn-lt"/>
              </a:rPr>
              <a:t>2</a:t>
            </a:r>
            <a:r>
              <a:rPr lang="zh-CN" altLang="en-US" sz="2450" dirty="0">
                <a:latin typeface="+mn-lt"/>
              </a:rPr>
              <a:t>号调用为读打印机状态，</a:t>
            </a:r>
            <a:r>
              <a:rPr lang="en-US" sz="2450" dirty="0">
                <a:latin typeface="+mn-lt"/>
              </a:rPr>
              <a:t>DOS</a:t>
            </a:r>
            <a:r>
              <a:rPr lang="zh-CN" altLang="en-US" sz="2450" dirty="0">
                <a:latin typeface="+mn-lt"/>
              </a:rPr>
              <a:t>功能调用无这种功能，只能使用</a:t>
            </a:r>
            <a:r>
              <a:rPr lang="en-US" sz="2450" dirty="0">
                <a:latin typeface="+mn-lt"/>
              </a:rPr>
              <a:t>BIOS</a:t>
            </a:r>
            <a:r>
              <a:rPr lang="zh-CN" altLang="en-US" sz="2450" dirty="0">
                <a:latin typeface="+mn-lt"/>
              </a:rPr>
              <a:t>中断调用。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plit dir="in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600" y="1339850"/>
            <a:ext cx="8097837" cy="5175250"/>
          </a:xfrm>
        </p:spPr>
        <p:txBody>
          <a:bodyPr/>
          <a:lstStyle/>
          <a:p>
            <a:pPr algn="just">
              <a:buFont typeface="Wingdings" panose="05000000000000000000" charset="0"/>
              <a:buChar char="u"/>
            </a:pPr>
            <a:r>
              <a:rPr lang="en-US" sz="2800" dirty="0">
                <a:latin typeface="+mn-lt"/>
              </a:rPr>
              <a:t> ROM BIOS</a:t>
            </a:r>
            <a:r>
              <a:rPr lang="zh-CN" altLang="en-US" sz="2800" dirty="0">
                <a:latin typeface="+mn-lt"/>
              </a:rPr>
              <a:t>中断调用的方法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1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  <a:r>
              <a:rPr lang="zh-CN" altLang="en-US" sz="2800" b="1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zh-CN" altLang="en-US" sz="2800" dirty="0">
                <a:latin typeface="+mn-lt"/>
                <a:ea typeface="+mn-ea"/>
              </a:rPr>
              <a:t>送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AH</a:t>
            </a:r>
            <a:endParaRPr lang="en-US" altLang="en-US" sz="2800" b="1" dirty="0">
              <a:solidFill>
                <a:srgbClr val="C00000"/>
              </a:solidFill>
              <a:latin typeface="+mn-lt"/>
              <a:ea typeface="+mn-ea"/>
            </a:endParaRPr>
          </a:p>
          <a:p>
            <a:pPr marL="914400" lvl="2" indent="0"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）设置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</a:rPr>
              <a:t>入口参数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3</a:t>
            </a:r>
            <a:r>
              <a:rPr lang="zh-CN" altLang="en-US" sz="2800" dirty="0">
                <a:latin typeface="+mn-lt"/>
                <a:ea typeface="+mn-ea"/>
              </a:rPr>
              <a:t>）执行</a:t>
            </a:r>
            <a:r>
              <a:rPr lang="en-US" sz="2800" b="1" dirty="0">
                <a:solidFill>
                  <a:srgbClr val="00CC00"/>
                </a:solidFill>
                <a:latin typeface="+mn-lt"/>
                <a:ea typeface="+mn-ea"/>
              </a:rPr>
              <a:t>INT </a:t>
            </a:r>
            <a:r>
              <a:rPr lang="en-US" sz="2800" b="1" i="1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800" dirty="0">
                <a:latin typeface="+mn-lt"/>
                <a:ea typeface="+mn-ea"/>
              </a:rPr>
              <a:t>指令（</a:t>
            </a:r>
            <a:r>
              <a:rPr lang="en-US" altLang="zh-CN" sz="2800" i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n</a:t>
            </a:r>
            <a:r>
              <a:rPr lang="en-US" altLang="zh-CN" sz="2800" dirty="0">
                <a:latin typeface="+mn-lt"/>
                <a:ea typeface="+mn-ea"/>
              </a:rPr>
              <a:t>=</a:t>
            </a:r>
            <a:r>
              <a:rPr lang="en-US" sz="2800" b="1" dirty="0">
                <a:solidFill>
                  <a:srgbClr val="00CC00"/>
                </a:solidFill>
                <a:sym typeface="+mn-ea"/>
              </a:rPr>
              <a:t>10H~1AH</a:t>
            </a:r>
            <a:r>
              <a:rPr lang="zh-CN" altLang="en-US" sz="2800" b="1" dirty="0">
                <a:solidFill>
                  <a:srgbClr val="00CC00"/>
                </a:solidFill>
                <a:sym typeface="+mn-ea"/>
              </a:rPr>
              <a:t>、</a:t>
            </a:r>
            <a:r>
              <a:rPr lang="en-US" sz="2800" b="1" dirty="0">
                <a:solidFill>
                  <a:srgbClr val="00CC00"/>
                </a:solidFill>
                <a:sym typeface="+mn-ea"/>
              </a:rPr>
              <a:t>2FH</a:t>
            </a:r>
            <a:r>
              <a:rPr lang="zh-CN" altLang="en-US" sz="2800" b="1" dirty="0">
                <a:solidFill>
                  <a:srgbClr val="00CC00"/>
                </a:solidFill>
                <a:sym typeface="+mn-ea"/>
              </a:rPr>
              <a:t>、</a:t>
            </a:r>
            <a:r>
              <a:rPr lang="en-US" sz="2800" b="1" dirty="0">
                <a:solidFill>
                  <a:srgbClr val="00CC00"/>
                </a:solidFill>
                <a:sym typeface="+mn-ea"/>
              </a:rPr>
              <a:t>31H</a:t>
            </a:r>
            <a:r>
              <a:rPr lang="zh-CN" altLang="en-US" sz="2800" b="1" dirty="0">
                <a:solidFill>
                  <a:srgbClr val="00CC00"/>
                </a:solidFill>
                <a:sym typeface="+mn-ea"/>
              </a:rPr>
              <a:t>、</a:t>
            </a:r>
            <a:r>
              <a:rPr lang="en-US" sz="2800" b="1" dirty="0">
                <a:solidFill>
                  <a:srgbClr val="00CC00"/>
                </a:solidFill>
                <a:sym typeface="+mn-ea"/>
              </a:rPr>
              <a:t>33H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4</a:t>
            </a:r>
            <a:r>
              <a:rPr lang="zh-CN" altLang="en-US" sz="2800" dirty="0">
                <a:latin typeface="+mn-lt"/>
                <a:ea typeface="+mn-ea"/>
              </a:rPr>
              <a:t>）分析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</a:rPr>
              <a:t>出口参数</a:t>
            </a:r>
            <a:r>
              <a:rPr lang="zh-CN" altLang="en-US" sz="2800" dirty="0">
                <a:latin typeface="+mn-lt"/>
                <a:ea typeface="+mn-ea"/>
              </a:rPr>
              <a:t>及状态</a:t>
            </a:r>
          </a:p>
          <a:p>
            <a:pPr marL="914400" lvl="2" indent="0">
              <a:spcBef>
                <a:spcPts val="0"/>
              </a:spcBef>
              <a:buNone/>
            </a:pPr>
            <a:endParaRPr lang="zh-CN" altLang="en-US" sz="2800" dirty="0"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	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*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与</a:t>
            </a:r>
            <a:r>
              <a:rPr 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DOS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系统功能调用法类似</a:t>
            </a:r>
            <a:endParaRPr lang="zh-CN" altLang="en-US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sym typeface="+mn-ea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pli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键盘中断调用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16H</a:t>
            </a:r>
            <a:endParaRPr lang="en-US" altLang="en-US" sz="3600" b="1" dirty="0">
              <a:solidFill>
                <a:srgbClr val="00CC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 algn="just"/>
            <a:r>
              <a:rPr lang="zh-CN" altLang="en-US" sz="2800" dirty="0">
                <a:latin typeface="+mn-lt"/>
              </a:rPr>
              <a:t>这种类型的中断调用有</a:t>
            </a:r>
            <a:r>
              <a:rPr lang="en-US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种功能，功能号为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，</a:t>
            </a: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，</a:t>
            </a: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，调用前，需将功能号送到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中。</a:t>
            </a:r>
            <a:endParaRPr lang="en-US" altLang="zh-CN" sz="2800" dirty="0">
              <a:latin typeface="+mn-lt"/>
            </a:endParaRPr>
          </a:p>
          <a:p>
            <a:pPr marL="0" indent="0" algn="just">
              <a:buNone/>
            </a:pPr>
            <a:r>
              <a:rPr lang="en-US" sz="2800" dirty="0">
                <a:latin typeface="+mn-lt"/>
              </a:rPr>
              <a:t>	1</a:t>
            </a:r>
            <a:r>
              <a:rPr lang="zh-CN" altLang="en-US" sz="2800" dirty="0">
                <a:latin typeface="+mn-lt"/>
              </a:rPr>
              <a:t>）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号功能调用</a:t>
            </a:r>
          </a:p>
          <a:p>
            <a:pPr>
              <a:buNone/>
            </a:pPr>
            <a:r>
              <a:rPr lang="zh-CN" altLang="en-US" sz="2800" dirty="0">
                <a:latin typeface="+mn-ea"/>
                <a:ea typeface="+mn-ea"/>
              </a:rPr>
              <a:t>   </a:t>
            </a:r>
            <a:r>
              <a:rPr lang="en-US" altLang="zh-CN" sz="2800" dirty="0">
                <a:latin typeface="+mn-ea"/>
                <a:ea typeface="+mn-ea"/>
              </a:rPr>
              <a:t>	</a:t>
            </a:r>
            <a:r>
              <a:rPr lang="zh-CN" altLang="en-US" sz="2800" dirty="0">
                <a:latin typeface="+mn-lt"/>
              </a:rPr>
              <a:t>功能：从键盘读入一个字符。</a:t>
            </a:r>
          </a:p>
          <a:p>
            <a:pPr>
              <a:buNone/>
            </a:pPr>
            <a:r>
              <a:rPr lang="en-US" altLang="zh-CN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		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4.27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lt"/>
                <a:ea typeface="+mn-ea"/>
              </a:rPr>
              <a:t>编写从键盘读入一个字符的程序段。</a:t>
            </a:r>
          </a:p>
          <a:p>
            <a:pPr>
              <a:buNone/>
            </a:pPr>
            <a:r>
              <a:rPr lang="en-US" sz="2800" dirty="0"/>
              <a:t> 		</a:t>
            </a:r>
            <a:r>
              <a:rPr lang="en-US" sz="2800" dirty="0">
                <a:latin typeface="+mn-lt"/>
                <a:ea typeface="+mn-ea"/>
              </a:rPr>
              <a:t>MOV	 </a:t>
            </a:r>
            <a:r>
              <a:rPr lang="zh-CN" altLang="en-US" sz="2800" dirty="0">
                <a:latin typeface="+mn-lt"/>
                <a:ea typeface="+mn-ea"/>
              </a:rPr>
              <a:t> </a:t>
            </a:r>
            <a:r>
              <a:rPr lang="en-US" sz="2800" dirty="0">
                <a:latin typeface="+mn-lt"/>
                <a:ea typeface="+mn-ea"/>
              </a:rPr>
              <a:t>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	</a:t>
            </a:r>
            <a:r>
              <a:rPr lang="zh-CN" altLang="en-US" sz="2800" dirty="0">
                <a:latin typeface="+mn-lt"/>
                <a:ea typeface="+mn-ea"/>
              </a:rPr>
              <a:t> 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；功能号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8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	INT	 </a:t>
            </a:r>
            <a:r>
              <a:rPr lang="zh-CN" altLang="en-US" sz="2800" dirty="0">
                <a:latin typeface="+mn-lt"/>
                <a:ea typeface="+mn-ea"/>
              </a:rPr>
              <a:t> </a:t>
            </a:r>
            <a:r>
              <a:rPr lang="en-US" sz="2800" dirty="0">
                <a:latin typeface="+mn-lt"/>
                <a:ea typeface="+mn-ea"/>
              </a:rPr>
              <a:t>16H	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  ；等待键盘输入</a:t>
            </a: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键盘中断调用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16H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6883" y="1417955"/>
            <a:ext cx="8097837" cy="5327650"/>
          </a:xfrm>
        </p:spPr>
        <p:txBody>
          <a:bodyPr/>
          <a:lstStyle/>
          <a:p>
            <a:pPr algn="just"/>
            <a:r>
              <a:rPr lang="zh-CN" altLang="en-US" sz="2800" dirty="0">
                <a:latin typeface="+mn-lt"/>
              </a:rPr>
              <a:t>键盘上的键用</a:t>
            </a:r>
            <a:r>
              <a:rPr lang="en-US" altLang="zh-CN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个</a:t>
            </a:r>
            <a:r>
              <a:rPr lang="en-US" sz="2800" dirty="0">
                <a:latin typeface="+mn-lt"/>
              </a:rPr>
              <a:t>8</a:t>
            </a:r>
            <a:r>
              <a:rPr lang="zh-CN" altLang="en-US" sz="2800" dirty="0">
                <a:latin typeface="+mn-lt"/>
              </a:rPr>
              <a:t>位数值进行标记</a:t>
            </a:r>
            <a:r>
              <a:rPr lang="en-US" altLang="zh-CN" sz="2800" dirty="0">
                <a:latin typeface="+mn-lt"/>
              </a:rPr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  <a:ea typeface="+mn-ea"/>
              </a:rPr>
              <a:t>最高位</a:t>
            </a:r>
            <a:r>
              <a:rPr lang="en-US" sz="2800" dirty="0">
                <a:latin typeface="+mn-lt"/>
                <a:ea typeface="+mn-ea"/>
              </a:rPr>
              <a:t>b7</a:t>
            </a:r>
            <a:r>
              <a:rPr lang="zh-CN" altLang="en-US" sz="2800" dirty="0">
                <a:latin typeface="+mn-lt"/>
                <a:ea typeface="+mn-ea"/>
              </a:rPr>
              <a:t>决定该键是压下还是松开，</a:t>
            </a:r>
            <a:r>
              <a:rPr lang="en-US" sz="2800" dirty="0">
                <a:latin typeface="+mn-lt"/>
                <a:ea typeface="+mn-ea"/>
              </a:rPr>
              <a:t>b7=0</a:t>
            </a:r>
            <a:r>
              <a:rPr lang="zh-CN" altLang="en-US" sz="2800" dirty="0">
                <a:latin typeface="+mn-lt"/>
                <a:ea typeface="+mn-ea"/>
              </a:rPr>
              <a:t>，表示该键压下，</a:t>
            </a:r>
            <a:r>
              <a:rPr lang="en-US" sz="2800" dirty="0">
                <a:latin typeface="+mn-lt"/>
                <a:ea typeface="+mn-ea"/>
              </a:rPr>
              <a:t>b7=1</a:t>
            </a:r>
            <a:r>
              <a:rPr lang="zh-CN" altLang="en-US" sz="2800" dirty="0">
                <a:latin typeface="+mn-lt"/>
                <a:ea typeface="+mn-ea"/>
              </a:rPr>
              <a:t>，表示键已松开。</a:t>
            </a:r>
            <a:endParaRPr lang="en-US" altLang="zh-CN" sz="2800" dirty="0">
              <a:latin typeface="+mn-lt"/>
              <a:ea typeface="+mn-ea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  <a:ea typeface="+mn-ea"/>
              </a:rPr>
              <a:t>后</a:t>
            </a:r>
            <a:r>
              <a:rPr lang="en-US" sz="2800" dirty="0">
                <a:latin typeface="+mn-lt"/>
                <a:ea typeface="+mn-ea"/>
              </a:rPr>
              <a:t>7</a:t>
            </a:r>
            <a:r>
              <a:rPr lang="zh-CN" altLang="en-US" sz="2800" dirty="0">
                <a:latin typeface="+mn-lt"/>
                <a:ea typeface="+mn-ea"/>
              </a:rPr>
              <a:t>位是这样定义的：对于有</a:t>
            </a:r>
            <a:r>
              <a:rPr lang="en-US" sz="2800" dirty="0">
                <a:latin typeface="+mn-lt"/>
                <a:ea typeface="+mn-ea"/>
              </a:rPr>
              <a:t>ASCII</a:t>
            </a:r>
            <a:r>
              <a:rPr lang="zh-CN" altLang="en-US" sz="2800" dirty="0">
                <a:latin typeface="+mn-lt"/>
                <a:ea typeface="+mn-ea"/>
              </a:rPr>
              <a:t>码的键来说，第一字节为</a:t>
            </a:r>
            <a:r>
              <a:rPr lang="en-US" sz="2800" dirty="0">
                <a:latin typeface="+mn-lt"/>
                <a:ea typeface="+mn-ea"/>
              </a:rPr>
              <a:t>ASCII</a:t>
            </a:r>
            <a:r>
              <a:rPr lang="zh-CN" altLang="en-US" sz="2800" dirty="0">
                <a:latin typeface="+mn-lt"/>
                <a:ea typeface="+mn-ea"/>
              </a:rPr>
              <a:t>码，第二字节为键盘扫描码，后者由系统根据键的位置确定；</a:t>
            </a:r>
            <a:endParaRPr lang="en-US" altLang="zh-CN" sz="2800" dirty="0">
              <a:latin typeface="+mn-lt"/>
              <a:ea typeface="+mn-ea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  <a:ea typeface="+mn-ea"/>
              </a:rPr>
              <a:t>对于无</a:t>
            </a:r>
            <a:r>
              <a:rPr lang="en-US" sz="2800" dirty="0">
                <a:latin typeface="+mn-lt"/>
                <a:ea typeface="+mn-ea"/>
              </a:rPr>
              <a:t>ASCII</a:t>
            </a:r>
            <a:r>
              <a:rPr lang="zh-CN" altLang="en-US" sz="2800" dirty="0">
                <a:latin typeface="+mn-lt"/>
                <a:ea typeface="+mn-ea"/>
              </a:rPr>
              <a:t>码的键来说，第一字节为</a:t>
            </a:r>
            <a:r>
              <a:rPr lang="en-US" sz="2800" dirty="0">
                <a:latin typeface="+mn-lt"/>
                <a:ea typeface="+mn-ea"/>
              </a:rPr>
              <a:t>0</a:t>
            </a:r>
            <a:r>
              <a:rPr lang="zh-CN" altLang="en-US" sz="2800" dirty="0">
                <a:latin typeface="+mn-lt"/>
                <a:ea typeface="+mn-ea"/>
              </a:rPr>
              <a:t>，第二字节为扩展码。</a:t>
            </a:r>
            <a:endParaRPr lang="en-US" altLang="zh-CN" sz="2800" dirty="0">
              <a:latin typeface="+mn-lt"/>
              <a:ea typeface="+mn-ea"/>
            </a:endParaRPr>
          </a:p>
          <a:p>
            <a:pPr algn="just"/>
            <a:r>
              <a:rPr lang="zh-CN" altLang="en-US" sz="2800" dirty="0">
                <a:latin typeface="+mn-lt"/>
              </a:rPr>
              <a:t>这样，利用</a:t>
            </a:r>
            <a:r>
              <a:rPr lang="en-US" sz="2800" dirty="0">
                <a:latin typeface="+mn-lt"/>
              </a:rPr>
              <a:t>INT 16H</a:t>
            </a:r>
            <a:r>
              <a:rPr lang="zh-CN" altLang="en-US" sz="2800" dirty="0">
                <a:latin typeface="+mn-lt"/>
              </a:rPr>
              <a:t>的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号功能调用，就可知道是哪个键压下了或松开了。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plit orient="vert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295400"/>
            <a:ext cx="8372475" cy="5175250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+mn-lt"/>
              </a:rPr>
              <a:t>2</a:t>
            </a:r>
            <a:r>
              <a:rPr lang="zh-CN" altLang="en-US" dirty="0">
                <a:latin typeface="+mn-lt"/>
              </a:rPr>
              <a:t>）</a:t>
            </a:r>
            <a:r>
              <a:rPr lang="en-US" dirty="0">
                <a:latin typeface="+mn-lt"/>
              </a:rPr>
              <a:t>1</a:t>
            </a:r>
            <a:r>
              <a:rPr lang="zh-CN" altLang="en-US" dirty="0">
                <a:latin typeface="+mn-lt"/>
              </a:rPr>
              <a:t>号功能调用</a:t>
            </a:r>
          </a:p>
          <a:p>
            <a:pPr>
              <a:buNone/>
            </a:pPr>
            <a:r>
              <a:rPr lang="zh-CN" altLang="en-US" dirty="0"/>
              <a:t>   查询键盘缓冲区，对键盘扫描，但不等待。</a:t>
            </a:r>
          </a:p>
          <a:p>
            <a:pPr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4.28 </a:t>
            </a:r>
            <a:r>
              <a:rPr lang="en-US" sz="32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dirty="0">
                <a:latin typeface="+mn-lt"/>
                <a:ea typeface="+mn-ea"/>
              </a:rPr>
              <a:t>编程查看键盘缓冲区。</a:t>
            </a:r>
          </a:p>
          <a:p>
            <a:pPr>
              <a:buNone/>
            </a:pPr>
            <a:r>
              <a:rPr lang="en-US" dirty="0">
                <a:latin typeface="+mn-lt"/>
              </a:rPr>
              <a:t>  		</a:t>
            </a:r>
            <a:r>
              <a:rPr lang="en-US" dirty="0">
                <a:latin typeface="+mn-lt"/>
                <a:ea typeface="+mn-ea"/>
              </a:rPr>
              <a:t>MOV	  </a:t>
            </a:r>
            <a:r>
              <a:rPr lang="zh-CN" altLang="en-US" dirty="0">
                <a:latin typeface="+mn-lt"/>
                <a:ea typeface="+mn-ea"/>
              </a:rPr>
              <a:t>  </a:t>
            </a:r>
            <a:r>
              <a:rPr lang="en-US" dirty="0">
                <a:latin typeface="+mn-lt"/>
                <a:ea typeface="+mn-ea"/>
              </a:rPr>
              <a:t>AH</a:t>
            </a:r>
            <a:r>
              <a:rPr lang="zh-CN" altLang="en-US" dirty="0">
                <a:latin typeface="+mn-lt"/>
                <a:ea typeface="+mn-ea"/>
              </a:rPr>
              <a:t>，</a:t>
            </a:r>
            <a:r>
              <a:rPr lang="en-US" dirty="0">
                <a:latin typeface="+mn-lt"/>
                <a:ea typeface="+mn-ea"/>
              </a:rPr>
              <a:t>1	</a:t>
            </a:r>
            <a:r>
              <a:rPr lang="zh-CN" altLang="en-US" dirty="0">
                <a:latin typeface="+mn-lt"/>
                <a:ea typeface="+mn-ea"/>
              </a:rPr>
              <a:t> </a:t>
            </a:r>
            <a:r>
              <a:rPr lang="zh-CN" altLang="en-US" dirty="0">
                <a:solidFill>
                  <a:srgbClr val="00CC00"/>
                </a:solidFill>
                <a:latin typeface="+mn-lt"/>
                <a:ea typeface="+mn-ea"/>
              </a:rPr>
              <a:t>   ；功能号</a:t>
            </a:r>
            <a:r>
              <a:rPr lang="en-US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dirty="0">
                <a:latin typeface="+mn-lt"/>
                <a:ea typeface="+mn-ea"/>
              </a:rPr>
              <a:t>		INT	  </a:t>
            </a:r>
            <a:r>
              <a:rPr lang="zh-CN" altLang="en-US" dirty="0">
                <a:latin typeface="+mn-lt"/>
                <a:ea typeface="+mn-ea"/>
              </a:rPr>
              <a:t>  </a:t>
            </a:r>
            <a:r>
              <a:rPr lang="en-US" dirty="0">
                <a:latin typeface="+mn-lt"/>
                <a:ea typeface="+mn-ea"/>
              </a:rPr>
              <a:t>16H	</a:t>
            </a:r>
            <a:endParaRPr lang="zh-CN" altLang="en-US" dirty="0">
              <a:latin typeface="+mn-lt"/>
              <a:ea typeface="+mn-ea"/>
            </a:endParaRPr>
          </a:p>
          <a:p>
            <a:pPr>
              <a:buNone/>
            </a:pPr>
            <a:r>
              <a:rPr lang="zh-CN" altLang="en-US" dirty="0">
                <a:latin typeface="+mn-lt"/>
              </a:rPr>
              <a:t>   调用结果：</a:t>
            </a:r>
            <a:endParaRPr lang="en-US" altLang="zh-CN" dirty="0">
              <a:latin typeface="+mn-lt"/>
            </a:endParaRPr>
          </a:p>
          <a:p>
            <a:pPr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	</a:t>
            </a:r>
            <a:r>
              <a:rPr lang="en-US" dirty="0">
                <a:latin typeface="+mn-lt"/>
                <a:ea typeface="+mn-ea"/>
              </a:rPr>
              <a:t>ZF=0</a:t>
            </a:r>
            <a:r>
              <a:rPr lang="zh-CN" altLang="en-US" dirty="0">
                <a:latin typeface="+mn-lt"/>
                <a:ea typeface="+mn-ea"/>
              </a:rPr>
              <a:t>，键盘缓冲区不空，有键按了，</a:t>
            </a:r>
            <a:r>
              <a:rPr lang="en-US" dirty="0">
                <a:latin typeface="+mn-lt"/>
                <a:ea typeface="+mn-ea"/>
              </a:rPr>
              <a:t>AL=</a:t>
            </a:r>
            <a:r>
              <a:rPr lang="zh-CN" altLang="en-US" dirty="0">
                <a:latin typeface="+mn-lt"/>
                <a:ea typeface="+mn-ea"/>
              </a:rPr>
              <a:t>键入字符</a:t>
            </a:r>
            <a:r>
              <a:rPr lang="en-US" dirty="0">
                <a:latin typeface="+mn-lt"/>
                <a:ea typeface="+mn-ea"/>
              </a:rPr>
              <a:t>ASCII</a:t>
            </a:r>
            <a:r>
              <a:rPr lang="zh-CN" altLang="en-US" dirty="0">
                <a:latin typeface="+mn-lt"/>
                <a:ea typeface="+mn-ea"/>
              </a:rPr>
              <a:t>码，</a:t>
            </a:r>
            <a:r>
              <a:rPr lang="en-US" dirty="0">
                <a:latin typeface="+mn-lt"/>
                <a:ea typeface="+mn-ea"/>
              </a:rPr>
              <a:t>AH=</a:t>
            </a:r>
            <a:r>
              <a:rPr lang="zh-CN" altLang="en-US" dirty="0">
                <a:latin typeface="+mn-lt"/>
                <a:ea typeface="+mn-ea"/>
              </a:rPr>
              <a:t>扫描码；</a:t>
            </a:r>
            <a:endParaRPr lang="en-US" altLang="zh-CN" dirty="0">
              <a:latin typeface="+mn-lt"/>
              <a:ea typeface="+mn-ea"/>
            </a:endParaRPr>
          </a:p>
          <a:p>
            <a:pPr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+mn-lt"/>
                <a:ea typeface="+mn-ea"/>
              </a:rPr>
              <a:t>	</a:t>
            </a:r>
            <a:r>
              <a:rPr lang="en-US" dirty="0">
                <a:latin typeface="+mn-lt"/>
                <a:ea typeface="+mn-ea"/>
              </a:rPr>
              <a:t>ZF=1</a:t>
            </a:r>
            <a:r>
              <a:rPr lang="zh-CN" altLang="en-US" dirty="0">
                <a:latin typeface="+mn-lt"/>
                <a:ea typeface="+mn-ea"/>
              </a:rPr>
              <a:t>，缓冲区空。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键盘中断调用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16H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495"/>
            <a:ext cx="8372475" cy="346710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3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  <a:r>
              <a:rPr lang="en-US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号功能调用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800" dirty="0"/>
              <a:t>   检查键盘上各特殊功能键的状态。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4.29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800" dirty="0">
                <a:latin typeface="+mn-lt"/>
                <a:ea typeface="+mn-ea"/>
              </a:rPr>
              <a:t>检查特殊功能键的状态。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 MOV	</a:t>
            </a:r>
            <a:r>
              <a:rPr lang="zh-CN" altLang="en-US" sz="2800" dirty="0">
                <a:latin typeface="+mn-lt"/>
                <a:ea typeface="+mn-ea"/>
              </a:rPr>
              <a:t>  </a:t>
            </a:r>
            <a:r>
              <a:rPr lang="en-US" sz="2800" dirty="0">
                <a:latin typeface="+mn-lt"/>
                <a:ea typeface="+mn-ea"/>
              </a:rPr>
              <a:t>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2	</a:t>
            </a:r>
            <a:r>
              <a:rPr lang="zh-CN" altLang="en-US" sz="2800" dirty="0">
                <a:latin typeface="+mn-lt"/>
                <a:ea typeface="+mn-ea"/>
              </a:rPr>
              <a:t>     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 ；功能号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endParaRPr lang="en-US" altLang="en-US" sz="28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INT	</a:t>
            </a:r>
            <a:r>
              <a:rPr lang="zh-CN" altLang="en-US" sz="2800" dirty="0">
                <a:latin typeface="+mn-lt"/>
                <a:ea typeface="+mn-ea"/>
              </a:rPr>
              <a:t>  </a:t>
            </a:r>
            <a:r>
              <a:rPr lang="en-US" sz="2800" dirty="0">
                <a:latin typeface="+mn-lt"/>
                <a:ea typeface="+mn-ea"/>
              </a:rPr>
              <a:t>16H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800" dirty="0"/>
              <a:t>   调用结果</a:t>
            </a:r>
            <a:r>
              <a:rPr lang="en-US" altLang="zh-CN" sz="2800" dirty="0"/>
              <a:t>: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+mn-lt"/>
                <a:ea typeface="+mn-ea"/>
              </a:rPr>
              <a:t>AL=</a:t>
            </a:r>
            <a:r>
              <a:rPr lang="zh-CN" altLang="en-US" sz="2800" dirty="0">
                <a:latin typeface="+mn-lt"/>
                <a:ea typeface="+mn-ea"/>
              </a:rPr>
              <a:t>键盘状态字节</a:t>
            </a:r>
            <a:r>
              <a:rPr lang="en-US" altLang="zh-CN" sz="2800" dirty="0">
                <a:latin typeface="+mn-lt"/>
                <a:ea typeface="+mn-ea"/>
              </a:rPr>
              <a:t>KB_Flag</a:t>
            </a:r>
            <a:r>
              <a:rPr lang="zh-CN" altLang="en-US" sz="2800" dirty="0">
                <a:latin typeface="+mn-lt"/>
                <a:ea typeface="+mn-ea"/>
              </a:rPr>
              <a:t>，每</a:t>
            </a:r>
            <a:r>
              <a:rPr lang="en-US" altLang="zh-CN" sz="2800" dirty="0">
                <a:latin typeface="+mn-lt"/>
                <a:ea typeface="+mn-ea"/>
              </a:rPr>
              <a:t>1</a:t>
            </a:r>
            <a:r>
              <a:rPr lang="zh-CN" altLang="en-US" sz="2800" dirty="0">
                <a:latin typeface="+mn-lt"/>
                <a:ea typeface="+mn-ea"/>
              </a:rPr>
              <a:t>位对应一个特殊功能键，如图：</a:t>
            </a:r>
          </a:p>
        </p:txBody>
      </p:sp>
      <p:pic>
        <p:nvPicPr>
          <p:cNvPr id="4" name="图片 3" descr="t-4.6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" y="4633595"/>
            <a:ext cx="6906028" cy="223384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224473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键盘中断调用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16H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打印机中断调用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17H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080" y="1313180"/>
            <a:ext cx="8372475" cy="5175250"/>
          </a:xfrm>
        </p:spPr>
        <p:txBody>
          <a:bodyPr/>
          <a:lstStyle/>
          <a:p>
            <a:pPr marL="363855" indent="-363855"/>
            <a:r>
              <a:rPr lang="zh-CN" altLang="en-US" sz="2800" dirty="0">
                <a:latin typeface="+mn-lt"/>
              </a:rPr>
              <a:t>这类中断调用也有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等</a:t>
            </a:r>
            <a:r>
              <a:rPr lang="en-US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种。调用前，</a:t>
            </a:r>
            <a:r>
              <a:rPr lang="en-US" sz="2800" dirty="0">
                <a:latin typeface="+mn-lt"/>
              </a:rPr>
              <a:t>AH</a:t>
            </a:r>
            <a:r>
              <a:rPr lang="en-US" sz="2800" dirty="0">
                <a:latin typeface="+mn-lt"/>
                <a:sym typeface="Symbol" panose="05050102010706020507"/>
              </a:rPr>
              <a:t></a:t>
            </a:r>
            <a:r>
              <a:rPr lang="zh-CN" altLang="en-US" sz="2800" dirty="0">
                <a:latin typeface="+mn-lt"/>
              </a:rPr>
              <a:t>功能号，</a:t>
            </a:r>
            <a:r>
              <a:rPr lang="en-US" sz="2800" dirty="0">
                <a:latin typeface="+mn-lt"/>
              </a:rPr>
              <a:t>DX</a:t>
            </a:r>
            <a:r>
              <a:rPr lang="en-US" sz="2800" dirty="0">
                <a:latin typeface="+mn-lt"/>
                <a:sym typeface="Symbol" panose="05050102010706020507"/>
              </a:rPr>
              <a:t></a:t>
            </a:r>
            <a:r>
              <a:rPr lang="zh-CN" altLang="en-US" sz="2800" dirty="0">
                <a:latin typeface="+mn-lt"/>
              </a:rPr>
              <a:t>打印机号（</a:t>
            </a:r>
            <a:r>
              <a:rPr lang="en-US" sz="2800" dirty="0">
                <a:latin typeface="+mn-lt"/>
              </a:rPr>
              <a:t>0~2</a:t>
            </a:r>
            <a:r>
              <a:rPr lang="zh-CN" altLang="en-US" sz="2800" dirty="0">
                <a:latin typeface="+mn-lt"/>
              </a:rPr>
              <a:t>）。</a:t>
            </a:r>
          </a:p>
          <a:p>
            <a:pPr>
              <a:buNone/>
            </a:pP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）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号功能</a:t>
            </a:r>
          </a:p>
          <a:p>
            <a:pPr marL="363855" indent="-363855">
              <a:buNone/>
            </a:pPr>
            <a:r>
              <a:rPr lang="zh-CN" altLang="en-US" sz="2800" dirty="0">
                <a:latin typeface="+mn-lt"/>
              </a:rPr>
              <a:t>    在打印机上打印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个字符，</a:t>
            </a:r>
            <a:r>
              <a:rPr lang="en-US" altLang="zh-CN" sz="2800" dirty="0">
                <a:latin typeface="+mn-lt"/>
              </a:rPr>
              <a:t>AH</a:t>
            </a:r>
            <a:r>
              <a:rPr lang="en-US" altLang="zh-CN" sz="2800" dirty="0">
                <a:latin typeface="+mn-lt"/>
                <a:sym typeface="Symbol" panose="05050102010706020507"/>
              </a:rPr>
              <a:t></a:t>
            </a:r>
            <a:r>
              <a:rPr lang="zh-CN" altLang="en-US" sz="2800" dirty="0">
                <a:latin typeface="+mn-lt"/>
              </a:rPr>
              <a:t>打印机状态。调用前</a:t>
            </a:r>
            <a:r>
              <a:rPr lang="en-US" sz="2800" dirty="0">
                <a:latin typeface="+mn-lt"/>
              </a:rPr>
              <a:t>AL=</a:t>
            </a:r>
            <a:r>
              <a:rPr lang="zh-CN" altLang="en-US" sz="2800" dirty="0">
                <a:latin typeface="+mn-lt"/>
              </a:rPr>
              <a:t>待打印字符的</a:t>
            </a:r>
            <a:r>
              <a:rPr lang="en-US" sz="2800" dirty="0">
                <a:latin typeface="+mn-lt"/>
              </a:rPr>
              <a:t>ASCII</a:t>
            </a:r>
            <a:r>
              <a:rPr lang="zh-CN" altLang="en-US" sz="2800" dirty="0">
                <a:latin typeface="+mn-lt"/>
              </a:rPr>
              <a:t>码。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4.30 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在打印机上打印一个字符“</a:t>
            </a:r>
            <a:r>
              <a:rPr lang="en-US" sz="2800" dirty="0">
                <a:latin typeface="+mn-lt"/>
                <a:ea typeface="+mn-ea"/>
              </a:rPr>
              <a:t>$</a:t>
            </a:r>
            <a:r>
              <a:rPr lang="zh-CN" altLang="en-US" sz="2800" dirty="0">
                <a:latin typeface="+mn-lt"/>
                <a:ea typeface="+mn-ea"/>
              </a:rPr>
              <a:t>”。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MOV	AL</a:t>
            </a:r>
            <a:r>
              <a:rPr lang="zh-CN" altLang="en-US" sz="2800" dirty="0">
                <a:latin typeface="+mn-lt"/>
                <a:ea typeface="+mn-ea"/>
              </a:rPr>
              <a:t>，‘</a:t>
            </a:r>
            <a:r>
              <a:rPr lang="en-US" sz="2800" dirty="0">
                <a:latin typeface="+mn-lt"/>
                <a:ea typeface="+mn-ea"/>
              </a:rPr>
              <a:t>$</a:t>
            </a:r>
            <a:r>
              <a:rPr lang="zh-CN" altLang="en-US" sz="2800" dirty="0">
                <a:latin typeface="+mn-lt"/>
                <a:ea typeface="+mn-ea"/>
              </a:rPr>
              <a:t>’</a:t>
            </a:r>
            <a:r>
              <a:rPr lang="en-US" sz="2800" dirty="0">
                <a:latin typeface="+mn-lt"/>
                <a:ea typeface="+mn-ea"/>
              </a:rPr>
              <a:t>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待打印字符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$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的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MOV	DX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02H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；打印机号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MOV	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；功能号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INT	17H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；打印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$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符，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AH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打印机状态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trips dir="rd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318895"/>
            <a:ext cx="8194675" cy="517525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）</a:t>
            </a: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号功能</a:t>
            </a:r>
          </a:p>
          <a:p>
            <a:pPr>
              <a:buNone/>
            </a:pPr>
            <a:r>
              <a:rPr lang="zh-CN" altLang="en-US" sz="2800" dirty="0">
                <a:latin typeface="+mn-lt"/>
              </a:rPr>
              <a:t>   初始化打印机，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中返回打印机状态。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4.31  </a:t>
            </a:r>
            <a:r>
              <a:rPr lang="zh-CN" altLang="en-US" sz="2800" dirty="0">
                <a:latin typeface="+mn-ea"/>
                <a:ea typeface="+mn-ea"/>
              </a:rPr>
              <a:t>初始化指定的打印机。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MOV	DX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00H	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打印机号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MOV	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01H</a:t>
            </a:r>
            <a:r>
              <a:rPr lang="en-US" sz="2800" dirty="0">
                <a:solidFill>
                  <a:srgbClr val="FFCC99"/>
                </a:solidFill>
                <a:latin typeface="+mn-lt"/>
                <a:ea typeface="+mn-ea"/>
              </a:rPr>
              <a:t>	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INT	17H		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结果：初始化打印机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				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; AH 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打印机状态</a:t>
            </a:r>
          </a:p>
          <a:p>
            <a:endParaRPr lang="zh-CN" altLang="en-US" sz="2800" dirty="0">
              <a:solidFill>
                <a:srgbClr val="00CC00"/>
              </a:solidFill>
              <a:latin typeface="+mn-lt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打印机中断调用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17H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trips dir="ru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417955"/>
            <a:ext cx="8194675" cy="480060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）</a:t>
            </a: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号功能</a:t>
            </a:r>
          </a:p>
          <a:p>
            <a:pPr>
              <a:buNone/>
            </a:pPr>
            <a:r>
              <a:rPr lang="zh-CN" altLang="en-US" sz="2800" dirty="0">
                <a:latin typeface="+mn-lt"/>
              </a:rPr>
              <a:t>      返回打印机状态到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中。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4.32  </a:t>
            </a:r>
            <a:r>
              <a:rPr lang="zh-CN" altLang="en-US" sz="2800" dirty="0">
                <a:latin typeface="+mn-ea"/>
                <a:ea typeface="+mn-ea"/>
              </a:rPr>
              <a:t>返回指定打印机的状态字。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MOV	DX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01H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；打印机号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MOV	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02H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；功能号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INT	17H	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；结果： 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打印机状态</a:t>
            </a:r>
          </a:p>
          <a:p>
            <a:pPr>
              <a:buNone/>
            </a:pPr>
            <a:endParaRPr lang="zh-CN" altLang="en-US" sz="28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0~2</a:t>
            </a:r>
            <a:r>
              <a:rPr lang="zh-CN" altLang="en-US" sz="2800" dirty="0">
                <a:latin typeface="+mn-lt"/>
              </a:rPr>
              <a:t>号调用返回的打印机状态字见下页。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打印机中断调用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17H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ircl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339850"/>
            <a:ext cx="8372475" cy="514350"/>
          </a:xfrm>
        </p:spPr>
        <p:txBody>
          <a:bodyPr/>
          <a:lstStyle/>
          <a:p>
            <a:pPr algn="ctr">
              <a:buNone/>
            </a:pPr>
            <a:r>
              <a:rPr lang="zh-CN" altLang="en-US" dirty="0">
                <a:latin typeface="+mn-lt"/>
              </a:rPr>
              <a:t>图</a:t>
            </a:r>
            <a:r>
              <a:rPr lang="en-US" dirty="0">
                <a:latin typeface="+mn-lt"/>
              </a:rPr>
              <a:t>4.7  </a:t>
            </a:r>
            <a:r>
              <a:rPr lang="zh-CN" altLang="en-US" dirty="0">
                <a:latin typeface="+mn-lt"/>
              </a:rPr>
              <a:t>打印机状态字各位意义</a:t>
            </a:r>
          </a:p>
          <a:p>
            <a:endParaRPr lang="zh-CN" altLang="en-US" dirty="0"/>
          </a:p>
        </p:txBody>
      </p:sp>
      <p:pic>
        <p:nvPicPr>
          <p:cNvPr id="4" name="图片 3" descr="t-4.7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50" y="1962150"/>
            <a:ext cx="7371788" cy="3876675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196533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打印机中断调用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17H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7920037" cy="5175250"/>
          </a:xfrm>
        </p:spPr>
        <p:txBody>
          <a:bodyPr/>
          <a:lstStyle/>
          <a:p>
            <a:pPr algn="just"/>
            <a:r>
              <a:rPr lang="zh-CN" altLang="en-US" sz="2800" dirty="0">
                <a:latin typeface="+mn-lt"/>
              </a:rPr>
              <a:t>控制系统中的视频显示，也称视频服务中断。</a:t>
            </a:r>
            <a:endParaRPr lang="en-US" altLang="zh-CN" sz="2800" dirty="0">
              <a:latin typeface="+mn-lt"/>
            </a:endParaRPr>
          </a:p>
          <a:p>
            <a:pPr algn="just"/>
            <a:r>
              <a:rPr lang="zh-CN" altLang="en-US" sz="2800" dirty="0">
                <a:latin typeface="+mn-lt"/>
              </a:rPr>
              <a:t>视频</a:t>
            </a:r>
            <a:r>
              <a:rPr lang="en-US" sz="2800" dirty="0">
                <a:latin typeface="+mn-lt"/>
              </a:rPr>
              <a:t>ROM BIOS</a:t>
            </a:r>
            <a:r>
              <a:rPr lang="zh-CN" altLang="en-US" sz="2800" dirty="0">
                <a:latin typeface="+mn-lt"/>
              </a:rPr>
              <a:t>位于显卡上，不同显卡能提供的视频服务功能也不一样，</a:t>
            </a:r>
            <a:r>
              <a:rPr lang="en-US" sz="2800" dirty="0">
                <a:latin typeface="+mn-lt"/>
              </a:rPr>
              <a:t>INT 10H</a:t>
            </a:r>
            <a:r>
              <a:rPr lang="zh-CN" altLang="en-US" sz="2800" dirty="0">
                <a:latin typeface="+mn-lt"/>
              </a:rPr>
              <a:t>能支持多种服务功能，由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指定，</a:t>
            </a:r>
            <a:r>
              <a:rPr lang="en-US" sz="2800" dirty="0">
                <a:latin typeface="+mn-lt"/>
              </a:rPr>
              <a:t>AH=00H~1CH</a:t>
            </a:r>
            <a:r>
              <a:rPr lang="zh-CN" altLang="en-US" sz="2800" dirty="0">
                <a:latin typeface="+mn-lt"/>
              </a:rPr>
              <a:t>。</a:t>
            </a:r>
          </a:p>
          <a:p>
            <a:pPr algn="just"/>
            <a:r>
              <a:rPr lang="en-US" sz="2800" dirty="0">
                <a:latin typeface="+mn-lt"/>
              </a:rPr>
              <a:t>INT 10H</a:t>
            </a:r>
            <a:r>
              <a:rPr lang="zh-CN" altLang="en-US" sz="2800" dirty="0">
                <a:latin typeface="+mn-lt"/>
              </a:rPr>
              <a:t>中断控制显示器的功能十分强大，还在不断发展。</a:t>
            </a:r>
            <a:endParaRPr lang="en-US" altLang="zh-CN" sz="2800" dirty="0">
              <a:latin typeface="+mn-lt"/>
            </a:endParaRPr>
          </a:p>
          <a:p>
            <a:pPr algn="just"/>
            <a:r>
              <a:rPr lang="zh-CN" altLang="en-US" sz="2800" dirty="0">
                <a:latin typeface="+mn-lt"/>
              </a:rPr>
              <a:t>采用汇编语言控制很复杂，程序也较长，一般采用高级语言编程。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59435" y="26257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显示中断调用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10H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417955"/>
            <a:ext cx="8372475" cy="3892550"/>
          </a:xfrm>
        </p:spPr>
        <p:txBody>
          <a:bodyPr/>
          <a:lstStyle/>
          <a:p>
            <a:pPr algn="just"/>
            <a:r>
              <a:rPr lang="zh-CN" altLang="en-US" sz="2800" dirty="0">
                <a:latin typeface="+mn-lt"/>
              </a:rPr>
              <a:t>提供对鼠标（</a:t>
            </a:r>
            <a:r>
              <a:rPr lang="en-US" sz="2800" dirty="0">
                <a:latin typeface="+mn-lt"/>
              </a:rPr>
              <a:t>mouse</a:t>
            </a:r>
            <a:r>
              <a:rPr lang="zh-CN" altLang="en-US" sz="2800" dirty="0">
                <a:latin typeface="+mn-lt"/>
              </a:rPr>
              <a:t>）的控制和调整，处理鼠标驱动程序提供的信息。</a:t>
            </a:r>
            <a:endParaRPr lang="en-US" altLang="zh-CN" sz="2800" dirty="0">
              <a:latin typeface="+mn-lt"/>
            </a:endParaRPr>
          </a:p>
          <a:p>
            <a:pPr algn="just"/>
            <a:r>
              <a:rPr lang="zh-CN" altLang="en-US" sz="2800" dirty="0">
                <a:latin typeface="+mn-lt"/>
              </a:rPr>
              <a:t>功能号为</a:t>
            </a:r>
            <a:r>
              <a:rPr lang="en-US" sz="2800" dirty="0">
                <a:latin typeface="+mn-lt"/>
              </a:rPr>
              <a:t>00H~34H</a:t>
            </a:r>
            <a:r>
              <a:rPr lang="zh-CN" altLang="en-US" sz="2800" dirty="0">
                <a:latin typeface="+mn-lt"/>
              </a:rPr>
              <a:t>。与</a:t>
            </a:r>
            <a:r>
              <a:rPr lang="en-US" sz="2800" dirty="0">
                <a:latin typeface="+mn-lt"/>
              </a:rPr>
              <a:t>DOS</a:t>
            </a:r>
            <a:r>
              <a:rPr lang="zh-CN" altLang="en-US" sz="2800" dirty="0">
                <a:latin typeface="+mn-lt"/>
              </a:rPr>
              <a:t>系统功能调和大部分</a:t>
            </a:r>
            <a:r>
              <a:rPr lang="en-US" sz="2800" dirty="0">
                <a:latin typeface="+mn-lt"/>
              </a:rPr>
              <a:t>BIOS</a:t>
            </a:r>
            <a:r>
              <a:rPr lang="zh-CN" altLang="en-US" sz="2800" dirty="0">
                <a:latin typeface="+mn-lt"/>
              </a:rPr>
              <a:t>功能调用不同，功能号不放入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，而放在</a:t>
            </a:r>
            <a:r>
              <a:rPr lang="en-US" sz="2800" dirty="0">
                <a:latin typeface="+mn-lt"/>
              </a:rPr>
              <a:t>AL</a:t>
            </a:r>
            <a:r>
              <a:rPr lang="zh-CN" altLang="en-US" sz="2800" dirty="0">
                <a:latin typeface="+mn-lt"/>
              </a:rPr>
              <a:t>中，事先令</a:t>
            </a:r>
            <a:r>
              <a:rPr lang="en-US" sz="2800" dirty="0">
                <a:latin typeface="+mn-lt"/>
              </a:rPr>
              <a:t>AH=0</a:t>
            </a:r>
            <a:r>
              <a:rPr lang="zh-CN" altLang="en-US" sz="2800" dirty="0">
                <a:latin typeface="+mn-lt"/>
              </a:rPr>
              <a:t>。</a:t>
            </a:r>
          </a:p>
          <a:p>
            <a:pPr algn="just"/>
            <a:r>
              <a:rPr lang="zh-CN" altLang="en-US" sz="2800" dirty="0">
                <a:latin typeface="+mn-lt"/>
              </a:rPr>
              <a:t>目前可用的鼠标功能调用有</a:t>
            </a:r>
            <a:r>
              <a:rPr lang="en-US" sz="2800" dirty="0">
                <a:latin typeface="+mn-lt"/>
              </a:rPr>
              <a:t>50</a:t>
            </a:r>
            <a:r>
              <a:rPr lang="zh-CN" altLang="en-US" sz="2800" dirty="0">
                <a:latin typeface="+mn-lt"/>
              </a:rPr>
              <a:t>余个。如：鼠标复位，显示或隐藏鼠标光标，设置鼠标光标位置，设置图形或文本光标，设置或获取加速曲线等等。</a:t>
            </a:r>
          </a:p>
          <a:p>
            <a:endParaRPr lang="zh-CN" altLang="en-US" sz="2800" dirty="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鼠标中断功能调用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33H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704850" y="1873250"/>
            <a:ext cx="7772400" cy="19558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§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4.</a:t>
            </a:r>
            <a:r>
              <a:rPr lang="en-US" altLang="zh-CN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3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 </a:t>
            </a:r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汇编语言程序设计方法与实例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10:12</a:t>
            </a:fld>
            <a:endParaRPr lang="zh-CN" altLang="en-US" dirty="0"/>
          </a:p>
        </p:txBody>
      </p:sp>
    </p:spTree>
  </p:cSld>
  <p:clrMapOvr>
    <a:masterClrMapping/>
  </p:clrMapOvr>
  <p:transition spd="slow">
    <p:cover dir="u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引子</a:t>
            </a:r>
            <a:r>
              <a:rPr lang="en-US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—</a:t>
            </a:r>
            <a:r>
              <a:rPr lang="zh-CN" altLang="en-US" sz="3200" b="1" dirty="0">
                <a:latin typeface="+mn-lt"/>
                <a:sym typeface="+mn-ea"/>
              </a:rPr>
              <a:t>结构化程序设计方法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1295400"/>
            <a:ext cx="8097837" cy="5194300"/>
          </a:xfrm>
        </p:spPr>
        <p:txBody>
          <a:bodyPr/>
          <a:lstStyle/>
          <a:p>
            <a:pPr marL="363855" indent="-363855" algn="just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汇编语言程序设计采用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结构化程序设计方法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。</a:t>
            </a:r>
          </a:p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每个程序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只有一个入口</a:t>
            </a:r>
            <a:r>
              <a:rPr lang="zh-CN" altLang="en-US" sz="2800" dirty="0">
                <a:latin typeface="+mn-lt"/>
                <a:ea typeface="+mn-ea"/>
              </a:rPr>
              <a:t>，必须要有出口，中间内容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不能含有死循环</a:t>
            </a:r>
            <a:r>
              <a:rPr lang="zh-CN" altLang="en-US" sz="2800" dirty="0">
                <a:latin typeface="+mn-lt"/>
                <a:ea typeface="+mn-ea"/>
              </a:rPr>
              <a:t>语句。</a:t>
            </a:r>
          </a:p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程序都按照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顺序结构</a:t>
            </a:r>
            <a:r>
              <a:rPr lang="zh-CN" altLang="en-US" sz="2800" dirty="0">
                <a:latin typeface="+mn-lt"/>
                <a:ea typeface="+mn-ea"/>
              </a:rPr>
              <a:t>、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条件分支结构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循环结构</a:t>
            </a:r>
            <a:r>
              <a:rPr lang="zh-CN" altLang="en-US" sz="2800" dirty="0">
                <a:latin typeface="+mn-lt"/>
                <a:ea typeface="+mn-ea"/>
              </a:rPr>
              <a:t>等3种基本结构进行构建。</a:t>
            </a:r>
          </a:p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设计时先考虑总体、全局目标，再考虑细节、局部问题，把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复杂问题分解</a:t>
            </a:r>
            <a:r>
              <a:rPr lang="zh-CN" altLang="en-US" sz="2800" dirty="0">
                <a:latin typeface="+mn-lt"/>
                <a:ea typeface="+mn-ea"/>
              </a:rPr>
              <a:t>为一个个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模块</a:t>
            </a:r>
            <a:r>
              <a:rPr lang="zh-CN" altLang="en-US" sz="2800" dirty="0">
                <a:latin typeface="+mn-lt"/>
                <a:ea typeface="+mn-ea"/>
              </a:rPr>
              <a:t>或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子目标</a:t>
            </a:r>
            <a:r>
              <a:rPr lang="zh-CN" altLang="en-US" sz="2800" dirty="0">
                <a:latin typeface="+mn-lt"/>
                <a:ea typeface="+mn-ea"/>
              </a:rPr>
              <a:t>，一步步进行设计。</a:t>
            </a:r>
          </a:p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将这些基本结构、子模块合理组合起来，就可构成一个大的程序。</a:t>
            </a:r>
            <a:endParaRPr lang="zh-CN" altLang="en-US" sz="28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  <a:sym typeface="+mn-ea"/>
              </a:rPr>
              <a:t>引子</a:t>
            </a:r>
            <a:r>
              <a:rPr lang="en-US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  <a:sym typeface="+mn-ea"/>
              </a:rPr>
              <a:t>—</a:t>
            </a:r>
            <a:r>
              <a:rPr lang="zh-CN" altLang="en-US" sz="3200" b="1" dirty="0">
                <a:latin typeface="+mn-lt"/>
                <a:sym typeface="+mn-ea"/>
              </a:rPr>
              <a:t>结构化程序设计方法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384300"/>
            <a:ext cx="8142287" cy="4889500"/>
          </a:xfrm>
        </p:spPr>
        <p:txBody>
          <a:bodyPr/>
          <a:lstStyle/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编程时要在程序行上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适当加注释</a:t>
            </a:r>
            <a:r>
              <a:rPr lang="zh-CN" altLang="en-US" sz="2800" dirty="0">
                <a:latin typeface="+mn-lt"/>
                <a:ea typeface="+mn-ea"/>
              </a:rPr>
              <a:t>。这样设计出来的程序层次分明，结构清楚，可读性强，便于调试。</a:t>
            </a:r>
          </a:p>
          <a:p>
            <a:pPr algn="just">
              <a:spcBef>
                <a:spcPct val="20000"/>
              </a:spcBef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编写较复杂的程序时，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一般应先画出程序流程图</a:t>
            </a:r>
            <a:r>
              <a:rPr lang="zh-CN" altLang="en-US" sz="2800" dirty="0">
                <a:latin typeface="+mn-lt"/>
                <a:ea typeface="+mn-ea"/>
              </a:rPr>
              <a:t>，将设计步骤细化，再按流程图设计编写程序。</a:t>
            </a:r>
            <a:endParaRPr lang="zh-CN" altLang="en-US" sz="2800" dirty="0"/>
          </a:p>
          <a:p>
            <a:pPr algn="just">
              <a:buClr>
                <a:srgbClr val="FF0000"/>
              </a:buClr>
              <a:buFont typeface="Wingdings" panose="05000000000000000000" charset="0"/>
              <a:buChar char="u"/>
            </a:pPr>
            <a:endParaRPr lang="zh-CN" altLang="en-US" sz="28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69770" y="1901190"/>
            <a:ext cx="6453188" cy="3505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3</a:t>
            </a: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.2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分支程序设计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3</a:t>
            </a: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.3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循环结构程序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代码转换程序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过程调用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3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.1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顺序结构程序设计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467350"/>
          </a:xfrm>
        </p:spPr>
        <p:txBody>
          <a:bodyPr/>
          <a:lstStyle/>
          <a:p>
            <a:pPr marL="363855" indent="-363855" algn="just">
              <a:spcBef>
                <a:spcPts val="600"/>
              </a:spcBef>
            </a:pPr>
            <a:r>
              <a:rPr lang="zh-CN" altLang="en-US" sz="2400" dirty="0"/>
              <a:t>顺序结构程序也称为简单程序，这种程序按指令排列的先后顺序逐条执行。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4.33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编写显示一个笑脸字符在显示器上的程序，程序命名为</a:t>
            </a:r>
            <a:r>
              <a:rPr lang="en-US" sz="2400" dirty="0">
                <a:latin typeface="+mn-lt"/>
                <a:ea typeface="+mn-ea"/>
              </a:rPr>
              <a:t>HAPPY.ASM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PROG1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ASSUME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  CS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：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PROG1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；只有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个代码段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START:	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MOV	  DL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1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DL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要显示字符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	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   的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MOV	  AH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2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INT	  21H	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；显示笑脸符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MOV	  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4C00H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INT	  21H	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；返回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PROG1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END	 START</a:t>
            </a:r>
            <a:endParaRPr lang="zh-CN" altLang="en-US" sz="2400" dirty="0">
              <a:solidFill>
                <a:srgbClr val="00FF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55255" y="4650105"/>
            <a:ext cx="294774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9035" y="3935730"/>
            <a:ext cx="294774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4.3.1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顺序结构程序设计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 marL="363855" indent="-363855" algn="just"/>
            <a:r>
              <a:rPr lang="zh-CN" altLang="en-US" sz="2400" dirty="0">
                <a:latin typeface="+mn-lt"/>
              </a:rPr>
              <a:t>如果用循环程序将</a:t>
            </a:r>
            <a:r>
              <a:rPr lang="en-US" sz="2400" dirty="0">
                <a:latin typeface="+mn-lt"/>
              </a:rPr>
              <a:t>00</a:t>
            </a:r>
            <a:r>
              <a:rPr lang="en-US" sz="2400" dirty="0">
                <a:latin typeface="+mn-lt"/>
                <a:sym typeface="Symbol" panose="05050102010706020507"/>
              </a:rPr>
              <a:t></a:t>
            </a:r>
            <a:r>
              <a:rPr lang="en-US" sz="2400" dirty="0">
                <a:latin typeface="+mn-lt"/>
              </a:rPr>
              <a:t>FFH</a:t>
            </a:r>
            <a:r>
              <a:rPr lang="zh-CN" altLang="en-US" sz="2400" dirty="0">
                <a:latin typeface="+mn-lt"/>
              </a:rPr>
              <a:t>先后送入</a:t>
            </a:r>
            <a:r>
              <a:rPr lang="en-US" sz="2400" dirty="0">
                <a:latin typeface="+mn-lt"/>
              </a:rPr>
              <a:t>DL</a:t>
            </a:r>
            <a:r>
              <a:rPr lang="zh-CN" altLang="en-US" sz="2400" dirty="0">
                <a:latin typeface="+mn-lt"/>
              </a:rPr>
              <a:t>，再利用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sz="2400" dirty="0">
                <a:latin typeface="+mn-lt"/>
              </a:rPr>
              <a:t>2</a:t>
            </a:r>
            <a:r>
              <a:rPr lang="zh-CN" altLang="en-US" sz="2400" dirty="0">
                <a:latin typeface="+mn-lt"/>
              </a:rPr>
              <a:t>号功能调用，则可显示全部的标准和扩展</a:t>
            </a:r>
            <a:r>
              <a:rPr lang="en-US" sz="2400" dirty="0">
                <a:latin typeface="+mn-lt"/>
              </a:rPr>
              <a:t>ASCII</a:t>
            </a:r>
            <a:r>
              <a:rPr lang="zh-CN" altLang="en-US" sz="2400" dirty="0">
                <a:latin typeface="+mn-lt"/>
              </a:rPr>
              <a:t>码，包括全部控制符以及积分符、希腊字母等。</a:t>
            </a: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【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4.34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由人机对话从键盘输入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个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10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进制数（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0~9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），查表求键入数字的平方值</a:t>
            </a:r>
            <a:r>
              <a:rPr lang="zh-CN" altLang="en-US" sz="2400" dirty="0">
                <a:latin typeface="+mn-lt"/>
                <a:ea typeface="+mn-ea"/>
              </a:rPr>
              <a:t>，存入</a:t>
            </a:r>
            <a:r>
              <a:rPr lang="en-US" sz="2400" dirty="0">
                <a:latin typeface="+mn-lt"/>
                <a:ea typeface="+mn-ea"/>
              </a:rPr>
              <a:t>AL</a:t>
            </a:r>
            <a:r>
              <a:rPr lang="zh-CN" altLang="en-US" sz="2400" dirty="0">
                <a:latin typeface="+mn-lt"/>
                <a:ea typeface="+mn-ea"/>
              </a:rPr>
              <a:t>寄存器中，并显示有关的提示信息。试编写汇编语言程序。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dirty="0"/>
              <a:t>解：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数据段中，先给出数字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0~9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的平方值，逐个存入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TABLE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开始的内存中，形成表格，以便查找，再给出等待显示的提示信息。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代码段由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个部分组成：显示提示信息；等待键入数字；查表求键入数字的平方值，并将结果存入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AL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中。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/>
          <a:lstStyle/>
          <a:p>
            <a:pPr>
              <a:buNone/>
            </a:pPr>
            <a:r>
              <a:rPr lang="zh-CN" altLang="en-US" dirty="0">
                <a:latin typeface="+mn-ea"/>
                <a:ea typeface="+mn-ea"/>
              </a:rPr>
              <a:t>程序如下：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TABLE  DB  0, 1, 4, 9, 16, 25, 36, 49, 64, 81	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0~9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的平方值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BUF   DB ‘Please input a number(0~9):’,0DH,0AH,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en-US" altLang="zh-CN" sz="2400" dirty="0">
                <a:latin typeface="+mn-lt"/>
                <a:ea typeface="+mn-ea"/>
              </a:rPr>
              <a:t>‘</a:t>
            </a:r>
            <a:r>
              <a:rPr lang="en-US" sz="2400" dirty="0">
                <a:latin typeface="+mn-lt"/>
                <a:ea typeface="+mn-ea"/>
              </a:rPr>
              <a:t>$’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           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DDDDDD"/>
                </a:solidFill>
                <a:latin typeface="+mn-lt"/>
                <a:ea typeface="+mn-ea"/>
              </a:rPr>
              <a:t> </a:t>
            </a: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；提示信息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	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	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ASSUME</a:t>
            </a:r>
            <a:r>
              <a:rPr lang="en-US" sz="2400" dirty="0">
                <a:latin typeface="+mn-lt"/>
                <a:ea typeface="+mn-ea"/>
              </a:rPr>
              <a:t> 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START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；设置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OFFSET</a:t>
            </a:r>
            <a:r>
              <a:rPr lang="en-US" sz="2400" dirty="0">
                <a:latin typeface="+mn-lt"/>
                <a:ea typeface="+mn-ea"/>
              </a:rPr>
              <a:t>  BUF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；设置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，使字符串首地址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=DS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：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9H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号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功能调用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		INT	21H	</a:t>
            </a:r>
            <a:r>
              <a:rPr lang="en-US" sz="2400" dirty="0">
                <a:latin typeface="+mn-lt"/>
                <a:ea typeface="+mn-ea"/>
              </a:rPr>
              <a:t>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；显示提示信息</a:t>
            </a:r>
          </a:p>
        </p:txBody>
      </p:sp>
      <p:sp>
        <p:nvSpPr>
          <p:cNvPr id="4" name="矩形 3"/>
          <p:cNvSpPr/>
          <p:nvPr/>
        </p:nvSpPr>
        <p:spPr>
          <a:xfrm>
            <a:off x="3638550" y="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4.34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806450"/>
            <a:ext cx="8372475" cy="56832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01 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号功能调用，等待键入字符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INT	21H	     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键入数字的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AND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0FH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截下数字值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（由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</a:rPr>
              <a:t>ASCII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码值得到二进制数）</a:t>
            </a:r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  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OFFSET  </a:t>
            </a:r>
            <a:r>
              <a:rPr lang="en-US" sz="2400" dirty="0">
                <a:latin typeface="+mn-lt"/>
                <a:ea typeface="+mn-ea"/>
              </a:rPr>
              <a:t>TABLE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指向表头地址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TABLE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寄存器高字节清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ADD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;ADD BX, AL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不可以吗？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；表头地址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+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键入数字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(AL)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，结果存入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[BX]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；查表求得平方值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DDDDDD"/>
                </a:solidFill>
                <a:latin typeface="+mn-lt"/>
                <a:ea typeface="+mn-ea"/>
              </a:rPr>
              <a:t>；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	INT	21H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	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返回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END	START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94100" y="0"/>
            <a:ext cx="13324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4.34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4.3.1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顺序结构程序设计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√</a:t>
            </a:r>
            <a:endParaRPr lang="zh-CN" altLang="en-US" sz="3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62050"/>
            <a:ext cx="8372475" cy="5327650"/>
          </a:xfrm>
        </p:spPr>
        <p:txBody>
          <a:bodyPr/>
          <a:lstStyle/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4.35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在存储单元</a:t>
            </a:r>
            <a:r>
              <a:rPr lang="en-US" sz="2400" dirty="0">
                <a:latin typeface="+mn-lt"/>
                <a:ea typeface="+mn-ea"/>
              </a:rPr>
              <a:t>A1</a:t>
            </a:r>
            <a:r>
              <a:rPr lang="zh-CN" altLang="en-US" sz="2400" dirty="0">
                <a:latin typeface="+mn-lt"/>
                <a:ea typeface="+mn-ea"/>
              </a:rPr>
              <a:t>和</a:t>
            </a:r>
            <a:r>
              <a:rPr lang="en-US" sz="2400" dirty="0">
                <a:latin typeface="+mn-lt"/>
                <a:ea typeface="+mn-ea"/>
              </a:rPr>
              <a:t>A2</a:t>
            </a:r>
            <a:r>
              <a:rPr lang="zh-CN" altLang="en-US" sz="2400" dirty="0">
                <a:latin typeface="+mn-lt"/>
                <a:ea typeface="+mn-ea"/>
              </a:rPr>
              <a:t>中，各存有一个</a:t>
            </a:r>
            <a:r>
              <a:rPr lang="en-US" sz="2400" dirty="0">
                <a:solidFill>
                  <a:srgbClr val="C00000"/>
                </a:solidFill>
                <a:latin typeface="+mn-lt"/>
                <a:ea typeface="+mn-ea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+mn-lt"/>
                <a:ea typeface="+mn-ea"/>
              </a:rPr>
              <a:t>字节的无符号数</a:t>
            </a:r>
            <a:r>
              <a:rPr lang="zh-CN" altLang="en-US" sz="2400" dirty="0">
                <a:latin typeface="+mn-lt"/>
                <a:ea typeface="+mn-ea"/>
              </a:rPr>
              <a:t>，低字节在前，高字节在后。编程将</a:t>
            </a:r>
            <a:r>
              <a:rPr lang="zh-CN" altLang="en-US" sz="2400" dirty="0">
                <a:solidFill>
                  <a:srgbClr val="C00000"/>
                </a:solidFill>
                <a:latin typeface="+mn-lt"/>
                <a:ea typeface="+mn-ea"/>
              </a:rPr>
              <a:t>两数相加</a:t>
            </a:r>
            <a:r>
              <a:rPr lang="zh-CN" altLang="en-US" sz="2400" dirty="0">
                <a:latin typeface="+mn-lt"/>
                <a:ea typeface="+mn-ea"/>
              </a:rPr>
              <a:t>，结果存入</a:t>
            </a:r>
            <a:r>
              <a:rPr lang="en-US" sz="2400" dirty="0">
                <a:latin typeface="+mn-lt"/>
                <a:ea typeface="+mn-ea"/>
              </a:rPr>
              <a:t>SUM</a:t>
            </a:r>
            <a:r>
              <a:rPr lang="zh-CN" altLang="en-US" sz="2400" dirty="0">
                <a:latin typeface="+mn-lt"/>
                <a:ea typeface="+mn-ea"/>
              </a:rPr>
              <a:t>单元，也要求低字节在前，高字节在后，进位存入最后一个字节单元。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A1	DB	56H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78H	     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A2	DB	4FH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9AH	    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A2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SUM	DB	3 DUP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r>
              <a:rPr lang="en-US" sz="2400" dirty="0">
                <a:latin typeface="+mn-lt"/>
                <a:ea typeface="+mn-ea"/>
              </a:rPr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；存两数相加之和，考虑进位位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;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ASSUME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</a:t>
            </a:r>
            <a:r>
              <a:rPr lang="en-US" sz="2400" dirty="0">
                <a:latin typeface="+mn-lt"/>
                <a:ea typeface="+mn-ea"/>
              </a:rPr>
              <a:t>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895350"/>
            <a:ext cx="8372475" cy="5467350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BEGIN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：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；设置数据段基址</a:t>
            </a:r>
            <a:endParaRPr lang="zh-CN" altLang="en-US" sz="2400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为地址指针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CLC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；进位位清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A1 [BX]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；取低字节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ADC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A2 [BX]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；与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A2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低字节相加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SUM 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 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；存入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SUM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单元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低字节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)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INC	BX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；调整指针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A1 [BX]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；取高字节相加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ADC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A2 [BX]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SUM 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；存高字节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JNC	STOP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；无进位，转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STOP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16300" y="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4.35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INC	   BX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；有进位</a:t>
            </a: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MOV  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INC	   AL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MOV  SUM 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；进位存入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SUM+2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单元</a:t>
            </a: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STOP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MOV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  INT	   21H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END	  BEGIN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416300" y="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4.35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trips dir="ru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460500" y="1962150"/>
            <a:ext cx="6942138" cy="3541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.2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分支程序设计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3</a:t>
            </a: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.3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循环结构程序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代码转换程序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过程调用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4.3.2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分支程序设计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87600"/>
            <a:ext cx="7499985" cy="1358900"/>
          </a:xfrm>
        </p:spPr>
        <p:txBody>
          <a:bodyPr/>
          <a:lstStyle/>
          <a:p>
            <a:pPr algn="just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要求程序根据不同条件选择不同的处理方法</a:t>
            </a:r>
          </a:p>
          <a:p>
            <a:pPr algn="just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比较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-&gt;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选择跳转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strips dir="rd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4.3.2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分支程序设计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603" y="1517015"/>
            <a:ext cx="8372475" cy="4445000"/>
          </a:xfrm>
        </p:spPr>
        <p:txBody>
          <a:bodyPr/>
          <a:lstStyle/>
          <a:p>
            <a:pPr algn="just"/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在存储器中以首地址</a:t>
            </a:r>
            <a:r>
              <a:rPr lang="en-US" sz="2400" dirty="0">
                <a:latin typeface="+mn-lt"/>
                <a:ea typeface="+mn-ea"/>
              </a:rPr>
              <a:t>BUF</a:t>
            </a:r>
            <a:r>
              <a:rPr lang="zh-CN" altLang="en-US" sz="2400" dirty="0">
                <a:latin typeface="+mn-lt"/>
                <a:ea typeface="+mn-ea"/>
              </a:rPr>
              <a:t>开始存有一串字符，字符串个数用</a:t>
            </a:r>
            <a:r>
              <a:rPr lang="en-US" sz="2400" dirty="0">
                <a:latin typeface="+mn-lt"/>
                <a:ea typeface="+mn-ea"/>
              </a:rPr>
              <a:t>COUNT</a:t>
            </a:r>
            <a:r>
              <a:rPr lang="zh-CN" altLang="en-US" sz="2400" dirty="0">
                <a:latin typeface="+mn-lt"/>
                <a:ea typeface="+mn-ea"/>
              </a:rPr>
              <a:t>表示。要求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统计数字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0~9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、字母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A~Z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和其它字符的个数</a:t>
            </a:r>
            <a:r>
              <a:rPr lang="zh-CN" altLang="en-US" sz="2400" dirty="0">
                <a:latin typeface="+mn-lt"/>
                <a:ea typeface="+mn-ea"/>
              </a:rPr>
              <a:t>，并分别将它们的个数存储到</a:t>
            </a:r>
            <a:r>
              <a:rPr lang="en-US" sz="2400" dirty="0">
                <a:latin typeface="+mn-lt"/>
                <a:ea typeface="+mn-ea"/>
              </a:rPr>
              <a:t>NUM</a:t>
            </a:r>
            <a:r>
              <a:rPr lang="zh-CN" altLang="en-US" sz="2400" dirty="0">
                <a:latin typeface="+mn-lt"/>
                <a:ea typeface="+mn-ea"/>
              </a:rPr>
              <a:t>开始的</a:t>
            </a:r>
            <a:r>
              <a:rPr lang="en-US" sz="2400" dirty="0">
                <a:latin typeface="+mn-lt"/>
                <a:ea typeface="+mn-ea"/>
              </a:rPr>
              <a:t>3</a:t>
            </a:r>
            <a:r>
              <a:rPr lang="zh-CN" altLang="en-US" sz="2400" dirty="0">
                <a:latin typeface="+mn-lt"/>
                <a:ea typeface="+mn-ea"/>
              </a:rPr>
              <a:t>个内存单元中去。</a:t>
            </a:r>
            <a:endParaRPr lang="en-US" altLang="zh-CN" sz="2400" dirty="0">
              <a:latin typeface="+mn-lt"/>
              <a:ea typeface="+mn-ea"/>
            </a:endParaRP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在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码表中，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数字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0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sym typeface="Symbol" panose="05050102010706020507"/>
              </a:rPr>
              <a:t>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码为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30H~39H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，大写字母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A~Z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码为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41H~5AH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，其余值为其它字符或控制符的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码值。可以将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码分成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个部分或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个分支来处理，其示意图如下</a:t>
            </a:r>
          </a:p>
          <a:p>
            <a:pPr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pic>
        <p:nvPicPr>
          <p:cNvPr id="4" name="图片 3" descr="t-4.9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15" y="5071745"/>
            <a:ext cx="5734050" cy="760829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125" y="110808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4.3.2 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分支程序设计</a:t>
            </a:r>
          </a:p>
        </p:txBody>
      </p:sp>
      <p:pic>
        <p:nvPicPr>
          <p:cNvPr id="4" name="内容占位符 3" descr="t-4.10.T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160204"/>
            <a:ext cx="3600450" cy="5697796"/>
          </a:xfrm>
        </p:spPr>
      </p:pic>
      <p:sp>
        <p:nvSpPr>
          <p:cNvPr id="5" name="矩形 4"/>
          <p:cNvSpPr/>
          <p:nvPr/>
        </p:nvSpPr>
        <p:spPr>
          <a:xfrm>
            <a:off x="4224020" y="5041265"/>
            <a:ext cx="2116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  <a:sym typeface="Wingdings 3" panose="05040102010807070707"/>
              </a:rPr>
              <a:t> </a:t>
            </a:r>
            <a:r>
              <a:rPr lang="zh-CN" altLang="en-US" sz="2800" b="1" dirty="0">
                <a:ea typeface="宋体" panose="02010600030101010101" pitchFamily="2" charset="-122"/>
              </a:rPr>
              <a:t>程序框图</a:t>
            </a:r>
            <a:endParaRPr lang="zh-CN" altLang="en-US" sz="2800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438650" y="1117600"/>
            <a:ext cx="4283075" cy="4622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先从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BUF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单元取出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个字符的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ASCII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码，经分支程序判断它属于数字、字母还是其它字符，然后使相应计数器的值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+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。</a:t>
            </a:r>
          </a:p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数字个数存放在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DL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中，字母个数存放在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DH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中。</a:t>
            </a:r>
          </a:p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接下来分析第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个数，直至所有字符处理完后，将统计出的个数送入相应存储单元。</a:t>
            </a:r>
            <a:endParaRPr kumimoji="0" lang="zh-CN" altLang="en-US" b="1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5900" y="49530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495165" y="5876290"/>
            <a:ext cx="42265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注：要会画规范的程序框图</a:t>
            </a:r>
          </a:p>
        </p:txBody>
      </p:sp>
    </p:spTree>
  </p:cSld>
  <p:clrMapOvr>
    <a:masterClrMapping/>
  </p:clrMapOvr>
  <p:transition spd="slow">
    <p:zo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450850"/>
            <a:ext cx="8372475" cy="617855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257300" algn="l"/>
              </a:tabLst>
            </a:pPr>
            <a:r>
              <a:rPr lang="en-US" sz="2400" dirty="0">
                <a:latin typeface="+mn-lt"/>
                <a:ea typeface="+mn-ea"/>
              </a:rPr>
              <a:t>DATA	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BUF	      DB  ‘+36’, ‘PRINT’</a:t>
            </a:r>
            <a:r>
              <a:rPr lang="en-US" altLang="zh-CN" sz="2400" dirty="0">
                <a:latin typeface="+mn-lt"/>
                <a:ea typeface="+mn-ea"/>
              </a:rPr>
              <a:t>,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en-US" altLang="zh-CN" sz="2400" dirty="0">
                <a:latin typeface="+mn-lt"/>
                <a:ea typeface="+mn-ea"/>
              </a:rPr>
              <a:t>‘</a:t>
            </a:r>
            <a:r>
              <a:rPr lang="en-US" sz="2400" dirty="0">
                <a:latin typeface="+mn-lt"/>
                <a:ea typeface="+mn-ea"/>
              </a:rPr>
              <a:t>abc’</a:t>
            </a:r>
            <a:r>
              <a:rPr lang="en-US" altLang="zh-CN" sz="2400" dirty="0">
                <a:latin typeface="+mn-lt"/>
                <a:ea typeface="+mn-ea"/>
              </a:rPr>
              <a:t>,  ‘</a:t>
            </a:r>
            <a:r>
              <a:rPr lang="en-US" sz="2400" dirty="0">
                <a:latin typeface="+mn-lt"/>
                <a:ea typeface="+mn-ea"/>
              </a:rPr>
              <a:t>2A0CH’</a:t>
            </a:r>
            <a:r>
              <a:rPr lang="en-US" altLang="zh-CN" sz="2400" dirty="0">
                <a:latin typeface="+mn-lt"/>
                <a:ea typeface="+mn-ea"/>
              </a:rPr>
              <a:t>, ‘</a:t>
            </a:r>
            <a:r>
              <a:rPr lang="en-US" sz="2400" dirty="0">
                <a:latin typeface="+mn-lt"/>
                <a:ea typeface="+mn-ea"/>
              </a:rPr>
              <a:t>#’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；一串字符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COUNT   EQU  $-BUF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COUNT=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字符总个数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NUM	      DB	    3 DUP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sz="2400" dirty="0">
                <a:latin typeface="+mn-lt"/>
                <a:ea typeface="+mn-ea"/>
              </a:rPr>
              <a:t>?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；先后存放存数字、字母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；和其它字符个数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  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;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  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    ASSUME</a:t>
            </a:r>
            <a:r>
              <a:rPr lang="en-US" sz="2400" dirty="0">
                <a:latin typeface="+mn-lt"/>
                <a:ea typeface="+mn-ea"/>
              </a:rPr>
              <a:t>	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START</a:t>
            </a:r>
            <a:r>
              <a:rPr lang="zh-CN" altLang="en-US" sz="2400" dirty="0">
                <a:solidFill>
                  <a:srgbClr val="00FF00"/>
                </a:solidFill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MOV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；设置数据段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CH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COUNT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CH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数组长度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   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为基址指针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DH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数字个数，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DL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字母个数，初值清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94300" y="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450850"/>
            <a:ext cx="8372475" cy="6178550"/>
          </a:xfrm>
        </p:spPr>
        <p:txBody>
          <a:bodyPr/>
          <a:lstStyle/>
          <a:p>
            <a:pPr>
              <a:spcBef>
                <a:spcPts val="300"/>
              </a:spcBef>
              <a:buNone/>
              <a:tabLst>
                <a:tab pos="1331595" algn="l"/>
                <a:tab pos="2416175" algn="ctr"/>
              </a:tabLst>
            </a:pPr>
            <a:r>
              <a:rPr lang="en-US" sz="2400" dirty="0">
                <a:latin typeface="+mn-lt"/>
                <a:ea typeface="+mn-ea"/>
              </a:rPr>
              <a:t>LOOP1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MOV   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BUF [BX]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取一个数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  <a:tab pos="2334895" algn="ctr"/>
              </a:tabLst>
            </a:pPr>
            <a:r>
              <a:rPr lang="en-US" sz="2400" dirty="0">
                <a:latin typeface="+mn-lt"/>
                <a:ea typeface="+mn-ea"/>
              </a:rPr>
              <a:t>		CMP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30H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&lt;30H?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  <a:tab pos="2236470" algn="ctr"/>
              </a:tabLst>
            </a:pPr>
            <a:r>
              <a:rPr lang="en-US" sz="2400" dirty="0">
                <a:latin typeface="+mn-lt"/>
                <a:ea typeface="+mn-ea"/>
              </a:rPr>
              <a:t>		JL	        NEXT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①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是，转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CMP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39H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&gt;39H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JG	       ABC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INC      DH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②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否，数字个数增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JMP     NEXT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ABC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CMP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&lt;41H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JL	       NEXT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③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是，非字母，转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CMP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5AH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&gt;5AH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JG	       NEXT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⑤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是，非字母，转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INC      DL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④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否，字母个数增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NEXT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INC      BX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；基地址指针加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DEC     CH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；字符串长度减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JNZ      LOOP1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；未完，取下一个数</a:t>
            </a:r>
          </a:p>
        </p:txBody>
      </p:sp>
      <p:sp>
        <p:nvSpPr>
          <p:cNvPr id="4" name="矩形 3"/>
          <p:cNvSpPr/>
          <p:nvPr/>
        </p:nvSpPr>
        <p:spPr>
          <a:xfrm>
            <a:off x="4827499" y="0"/>
            <a:ext cx="1616710" cy="5791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mb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073150"/>
            <a:ext cx="8372475" cy="4445000"/>
          </a:xfrm>
        </p:spPr>
        <p:txBody>
          <a:bodyPr/>
          <a:lstStyle/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dirty="0"/>
              <a:t>		</a:t>
            </a:r>
            <a:r>
              <a:rPr lang="en-US" sz="2400" dirty="0">
                <a:latin typeface="+mn-lt"/>
                <a:ea typeface="+mn-ea"/>
              </a:rPr>
              <a:t>MOV     NUM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；已完，存数字个数</a:t>
            </a: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MOV     NUM+1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；存字母个数</a:t>
            </a: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MOV 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COUNT 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SUB   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SUB   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DL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；计算出其它字符个数</a:t>
            </a: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MOV     NUM+2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；存其它字符个数</a:t>
            </a: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MOV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INT        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END	START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endParaRPr lang="zh-CN" altLang="en-US" sz="2400" b="1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0350" y="58420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549400" y="2051050"/>
            <a:ext cx="600075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.2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分支程序设计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.3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循环结构程序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代码转换程序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过程调用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339850"/>
            <a:ext cx="7964487" cy="5175250"/>
          </a:xfrm>
        </p:spPr>
        <p:txBody>
          <a:bodyPr/>
          <a:lstStyle/>
          <a:p>
            <a:pPr algn="just"/>
            <a:endParaRPr lang="en-US" altLang="zh-CN" sz="2800" dirty="0">
              <a:latin typeface="+mn-lt"/>
            </a:endParaRPr>
          </a:p>
          <a:p>
            <a:pPr algn="just"/>
            <a:endParaRPr lang="en-US" altLang="zh-CN" sz="2800" dirty="0">
              <a:latin typeface="+mn-lt"/>
            </a:endParaRPr>
          </a:p>
          <a:p>
            <a:pPr algn="just"/>
            <a:r>
              <a:rPr lang="zh-CN" altLang="en-US" sz="2800" dirty="0">
                <a:latin typeface="+mn-lt"/>
              </a:rPr>
              <a:t>在循环程序中，常用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计数器</a:t>
            </a:r>
            <a:r>
              <a:rPr lang="zh-CN" altLang="en-US" sz="2800" dirty="0">
                <a:latin typeface="+mn-lt"/>
              </a:rPr>
              <a:t>（</a:t>
            </a:r>
            <a:r>
              <a:rPr lang="zh-CN" altLang="en-US" sz="2800" dirty="0">
                <a:solidFill>
                  <a:srgbClr val="0000FF"/>
                </a:solidFill>
                <a:latin typeface="+mn-lt"/>
              </a:rPr>
              <a:t>通常是</a:t>
            </a:r>
            <a:r>
              <a:rPr lang="en-US" sz="2800" dirty="0">
                <a:solidFill>
                  <a:srgbClr val="0000FF"/>
                </a:solidFill>
                <a:latin typeface="+mn-lt"/>
              </a:rPr>
              <a:t>CX</a:t>
            </a:r>
            <a:r>
              <a:rPr lang="zh-CN" altLang="en-US" sz="2800" dirty="0">
                <a:solidFill>
                  <a:srgbClr val="0000FF"/>
                </a:solidFill>
                <a:latin typeface="+mn-lt"/>
              </a:rPr>
              <a:t>寄存器</a:t>
            </a:r>
            <a:r>
              <a:rPr lang="zh-CN" altLang="en-US" sz="2800" dirty="0">
                <a:latin typeface="+mn-lt"/>
              </a:rPr>
              <a:t>）</a:t>
            </a:r>
            <a:r>
              <a:rPr lang="zh-CN" altLang="en-US" sz="2800" dirty="0">
                <a:solidFill>
                  <a:srgbClr val="C00000"/>
                </a:solidFill>
                <a:latin typeface="+mn-lt"/>
              </a:rPr>
              <a:t>来控制循环次数</a:t>
            </a:r>
            <a:r>
              <a:rPr lang="zh-CN" altLang="en-US" sz="2800" dirty="0">
                <a:latin typeface="+mn-lt"/>
              </a:rPr>
              <a:t>。先将计数器置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个初值，用来表示循环操作的次数，每执行一次循环操作后，计数器</a:t>
            </a:r>
            <a:r>
              <a:rPr lang="zh-CN" altLang="en-US" sz="2800" dirty="0">
                <a:latin typeface="+mn-lt"/>
                <a:sym typeface="Symbol" panose="05050102010706020507"/>
              </a:rPr>
              <a:t></a:t>
            </a: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，减到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时，表示循环结束。</a:t>
            </a:r>
          </a:p>
          <a:p>
            <a:pPr algn="just"/>
            <a:r>
              <a:rPr lang="zh-CN" altLang="en-US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（注：当然也可以每次</a:t>
            </a:r>
            <a:r>
              <a:rPr lang="en-US" altLang="zh-CN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+1</a:t>
            </a:r>
            <a:r>
              <a:rPr lang="zh-CN" altLang="en-US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，只是用减的方法很方便用</a:t>
            </a:r>
            <a:r>
              <a:rPr lang="en-US" altLang="zh-CN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ZF</a:t>
            </a:r>
            <a:r>
              <a:rPr lang="zh-CN" altLang="en-US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标志判断并跳转，程序简单些）</a:t>
            </a:r>
            <a:endParaRPr lang="zh-CN" altLang="en-US" sz="2800" dirty="0">
              <a:latin typeface="+mn-lt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1162050"/>
            <a:ext cx="7831137" cy="5327650"/>
          </a:xfrm>
        </p:spPr>
        <p:txBody>
          <a:bodyPr/>
          <a:lstStyle/>
          <a:p>
            <a:pPr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4.38</a:t>
            </a:r>
            <a:r>
              <a:rPr lang="en-US" sz="3200" dirty="0">
                <a:solidFill>
                  <a:srgbClr val="00FF00"/>
                </a:solidFill>
                <a:latin typeface="+mj-ea"/>
                <a:ea typeface="+mj-ea"/>
              </a:rPr>
              <a:t>   </a:t>
            </a:r>
            <a:r>
              <a:rPr lang="zh-CN" altLang="en-US" dirty="0">
                <a:latin typeface="+mn-lt"/>
                <a:ea typeface="+mn-ea"/>
              </a:rPr>
              <a:t>在一串给定个数的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有符号</a:t>
            </a:r>
            <a:r>
              <a:rPr lang="zh-CN" altLang="en-US" dirty="0">
                <a:latin typeface="+mn-lt"/>
                <a:ea typeface="+mn-ea"/>
              </a:rPr>
              <a:t>数据中寻找最大值，存放到</a:t>
            </a:r>
            <a:r>
              <a:rPr lang="en-US" dirty="0">
                <a:latin typeface="+mn-lt"/>
                <a:ea typeface="+mn-ea"/>
              </a:rPr>
              <a:t>MAX</a:t>
            </a:r>
            <a:r>
              <a:rPr lang="zh-CN" altLang="en-US" dirty="0">
                <a:latin typeface="+mn-lt"/>
                <a:ea typeface="+mn-ea"/>
              </a:rPr>
              <a:t>存储单元中。</a:t>
            </a:r>
          </a:p>
          <a:p>
            <a:pPr>
              <a:spcBef>
                <a:spcPts val="12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BUF	DW    1234H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3200H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4832H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5600H			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　；一串字数据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u="sng" dirty="0">
                <a:latin typeface="+mn-lt"/>
                <a:ea typeface="+mn-ea"/>
              </a:rPr>
              <a:t>COUNT	EQU </a:t>
            </a:r>
            <a:r>
              <a:rPr lang="zh-CN" altLang="en-US" sz="2400" u="sng" dirty="0">
                <a:latin typeface="+mn-lt"/>
                <a:ea typeface="+mn-ea"/>
              </a:rPr>
              <a:t>（</a:t>
            </a:r>
            <a:r>
              <a:rPr lang="en-US" sz="2400" u="sng" dirty="0">
                <a:latin typeface="+mn-lt"/>
                <a:ea typeface="+mn-ea"/>
              </a:rPr>
              <a:t>$-BUF</a:t>
            </a:r>
            <a:r>
              <a:rPr lang="zh-CN" altLang="en-US" sz="2400" u="sng" dirty="0">
                <a:latin typeface="+mn-lt"/>
                <a:ea typeface="+mn-ea"/>
              </a:rPr>
              <a:t>）</a:t>
            </a:r>
            <a:r>
              <a:rPr lang="en-US" sz="2400" u="sng" dirty="0">
                <a:latin typeface="+mn-lt"/>
                <a:ea typeface="+mn-ea"/>
              </a:rPr>
              <a:t>/2</a:t>
            </a:r>
            <a:r>
              <a:rPr lang="zh-CN" altLang="en-US" sz="2400" u="sng" dirty="0">
                <a:latin typeface="+mn-lt"/>
                <a:ea typeface="+mn-ea"/>
              </a:rPr>
              <a:t>　</a:t>
            </a:r>
            <a:r>
              <a:rPr lang="zh-CN" altLang="en-US" sz="2400" u="sng" dirty="0">
                <a:solidFill>
                  <a:srgbClr val="00CC00"/>
                </a:solidFill>
                <a:latin typeface="+mn-lt"/>
                <a:ea typeface="+mn-ea"/>
              </a:rPr>
              <a:t>；数据个数（循环次数）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MAX	DW  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　；存最大值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zh-CN" altLang="en-US" sz="2400" dirty="0">
                <a:latin typeface="+mn-lt"/>
                <a:ea typeface="+mn-ea"/>
              </a:rPr>
              <a:t>；</a:t>
            </a: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 </a:t>
            </a:r>
            <a:r>
              <a:rPr lang="zh-CN" altLang="en-US" sz="2400" dirty="0">
                <a:latin typeface="+mn-lt"/>
                <a:ea typeface="+mn-ea"/>
              </a:rPr>
              <a:t>‘</a:t>
            </a:r>
            <a:r>
              <a:rPr lang="en-US" sz="2400" dirty="0">
                <a:latin typeface="+mn-lt"/>
                <a:ea typeface="+mn-ea"/>
              </a:rPr>
              <a:t>STACK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STAPN	DB	      100 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TOP	EQU    LENGTH   STAPN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流程图: 资料带 4"/>
          <p:cNvSpPr/>
          <p:nvPr/>
        </p:nvSpPr>
        <p:spPr>
          <a:xfrm>
            <a:off x="6911975" y="4464050"/>
            <a:ext cx="1665605" cy="944880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记住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7182485" y="3879215"/>
            <a:ext cx="381635" cy="603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1117600"/>
            <a:ext cx="8372475" cy="533400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  <a:tab pos="2423795" algn="l"/>
                <a:tab pos="2511425" algn="l"/>
              </a:tabLst>
            </a:pPr>
            <a:r>
              <a:rPr lang="en-US" sz="2400" dirty="0">
                <a:latin typeface="+mn-lt"/>
                <a:ea typeface="+mn-ea"/>
              </a:rPr>
              <a:t>MAIN	PROC    FAR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ASSUME</a:t>
            </a:r>
            <a:r>
              <a:rPr lang="en-US" sz="2400" dirty="0">
                <a:latin typeface="+mn-lt"/>
                <a:ea typeface="+mn-ea"/>
              </a:rPr>
              <a:t>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START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MOV 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MOV      SS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MOV      SP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TOP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PUSH     DS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SUB   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PUSH     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MOV 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MOV    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</a:p>
          <a:p>
            <a:pPr>
              <a:spcBef>
                <a:spcPts val="0"/>
              </a:spcBef>
              <a:buNone/>
              <a:tabLst>
                <a:tab pos="899795" algn="l"/>
              </a:tabLst>
            </a:pPr>
            <a:r>
              <a:rPr lang="en-US" sz="2400" dirty="0">
                <a:latin typeface="+mn-lt"/>
                <a:ea typeface="+mn-ea"/>
              </a:rPr>
              <a:t>			      MOV      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COUNT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CX</a:t>
            </a:r>
            <a:r>
              <a:rPr lang="en-US" sz="2400" dirty="0">
                <a:solidFill>
                  <a:srgbClr val="00CC00"/>
                </a:solidFill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字符个数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</a:t>
            </a:r>
            <a:r>
              <a:rPr lang="en-US" sz="2400" dirty="0">
                <a:solidFill>
                  <a:srgbClr val="C00000"/>
                </a:solidFill>
                <a:latin typeface="+mn-lt"/>
                <a:ea typeface="+mn-ea"/>
              </a:rPr>
              <a:t>LEA</a:t>
            </a:r>
            <a:r>
              <a:rPr lang="en-US" sz="2400" dirty="0">
                <a:latin typeface="+mn-lt"/>
                <a:ea typeface="+mn-ea"/>
              </a:rPr>
              <a:t>        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BUF     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 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BUF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的偏移地址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[BX]      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缓冲器中取一个数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9530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4.38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939800"/>
            <a:ext cx="8372475" cy="517525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sym typeface="+mn-ea"/>
              </a:rPr>
              <a:t>AGAIN</a:t>
            </a:r>
            <a:r>
              <a:rPr lang="zh-CN" altLang="en-US" sz="2400" dirty="0">
                <a:sym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INC	     BX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；修改地址指针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INC	     BX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CMP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[BX]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与后取的数比较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</a:rPr>
              <a:t>JGE</a:t>
            </a:r>
            <a:r>
              <a:rPr lang="en-US" sz="2400" dirty="0">
                <a:latin typeface="+mn-lt"/>
                <a:ea typeface="+mn-ea"/>
              </a:rPr>
              <a:t>     NEXT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；如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中数大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则跳转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MOV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[BX]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；如后取的数大，则将其送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NEXT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altLang="zh-CN" sz="2400" dirty="0">
                <a:latin typeface="+mn-lt"/>
                <a:ea typeface="+mn-ea"/>
              </a:rPr>
              <a:t>	DEC CX		</a:t>
            </a:r>
            <a:r>
              <a:rPr lang="zh-CN" altLang="en-US" sz="2400" dirty="0">
                <a:solidFill>
                  <a:srgbClr val="00CC00"/>
                </a:solidFill>
                <a:sym typeface="+mn-ea"/>
              </a:rPr>
              <a:t>；循环次数</a:t>
            </a:r>
            <a:r>
              <a:rPr lang="en-US" altLang="zh-CN" sz="2400" dirty="0">
                <a:solidFill>
                  <a:srgbClr val="00CC00"/>
                </a:solidFill>
                <a:sym typeface="+mn-ea"/>
              </a:rPr>
              <a:t>-1</a:t>
            </a:r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altLang="zh-CN" sz="2400" dirty="0">
                <a:latin typeface="+mn-lt"/>
                <a:ea typeface="+mn-ea"/>
              </a:rPr>
              <a:t>		JNZ AGAIN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;   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也可以用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+mn-ea"/>
              </a:rPr>
              <a:t>LOOP  AGAIN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替换这两句</a:t>
            </a: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/>
              <a:t> 	  	</a:t>
            </a:r>
            <a:r>
              <a:rPr lang="en-US" sz="2400" dirty="0">
                <a:latin typeface="+mn-lt"/>
                <a:ea typeface="+mn-ea"/>
              </a:rPr>
              <a:t>RET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；返回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MAIN	ENDP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；处理完，结束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CODE	ENDS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END     MAIN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endParaRPr lang="en-US" altLang="zh-CN" sz="2400" dirty="0">
              <a:latin typeface="+mn-lt"/>
              <a:ea typeface="+mn-ea"/>
            </a:endParaRPr>
          </a:p>
          <a:p>
            <a:pPr algn="just">
              <a:spcBef>
                <a:spcPts val="0"/>
              </a:spcBef>
              <a:tabLst>
                <a:tab pos="1259840" algn="l"/>
              </a:tabLst>
            </a:pPr>
            <a:r>
              <a:rPr lang="zh-CN" altLang="en-US" sz="2400" dirty="0">
                <a:latin typeface="+mn-lt"/>
              </a:rPr>
              <a:t>本例通过</a:t>
            </a:r>
            <a:r>
              <a:rPr lang="en-US" sz="2400" dirty="0">
                <a:latin typeface="+mn-lt"/>
              </a:rPr>
              <a:t>LOOP</a:t>
            </a:r>
            <a:r>
              <a:rPr lang="zh-CN" altLang="en-US" sz="2400" dirty="0">
                <a:latin typeface="+mn-lt"/>
              </a:rPr>
              <a:t>指令执行循环操作，取字符串的地址指针</a:t>
            </a:r>
            <a:r>
              <a:rPr lang="en-US" sz="2400" dirty="0">
                <a:latin typeface="+mn-lt"/>
              </a:rPr>
              <a:t>BX</a:t>
            </a:r>
            <a:r>
              <a:rPr lang="zh-CN" altLang="en-US" sz="2400" dirty="0">
                <a:latin typeface="+mn-lt"/>
              </a:rPr>
              <a:t>要用指令修正，以指向下个字单元取数进行比较。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9530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4.38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4.39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800" dirty="0">
                <a:latin typeface="+mn-lt"/>
                <a:ea typeface="+mn-ea"/>
              </a:rPr>
              <a:t>用循环程序设计方法，求</a:t>
            </a:r>
            <a:r>
              <a:rPr lang="en-US" sz="2800" dirty="0">
                <a:latin typeface="+mn-lt"/>
                <a:ea typeface="+mn-ea"/>
              </a:rPr>
              <a:t>A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sz="2800" dirty="0">
                <a:latin typeface="+mn-lt"/>
                <a:ea typeface="+mn-ea"/>
              </a:rPr>
              <a:t>B</a:t>
            </a:r>
            <a:r>
              <a:rPr lang="zh-CN" altLang="en-US" sz="2800" dirty="0">
                <a:latin typeface="+mn-lt"/>
                <a:ea typeface="+mn-ea"/>
              </a:rPr>
              <a:t>两个</a:t>
            </a:r>
            <a:r>
              <a:rPr lang="en-US" sz="2800" dirty="0">
                <a:latin typeface="+mn-lt"/>
                <a:ea typeface="+mn-ea"/>
              </a:rPr>
              <a:t>4</a:t>
            </a:r>
            <a:r>
              <a:rPr lang="zh-CN" altLang="en-US" sz="2800" dirty="0">
                <a:latin typeface="+mn-lt"/>
                <a:ea typeface="+mn-ea"/>
              </a:rPr>
              <a:t>字节</a:t>
            </a:r>
            <a:r>
              <a:rPr lang="en-US" sz="2800" dirty="0">
                <a:latin typeface="+mn-lt"/>
                <a:ea typeface="+mn-ea"/>
              </a:rPr>
              <a:t>BCD</a:t>
            </a:r>
            <a:r>
              <a:rPr lang="zh-CN" altLang="en-US" sz="2800" dirty="0">
                <a:latin typeface="+mn-lt"/>
                <a:ea typeface="+mn-ea"/>
              </a:rPr>
              <a:t>数之和，它们在内存中以压缩</a:t>
            </a:r>
            <a:r>
              <a:rPr lang="en-US" sz="2800" dirty="0">
                <a:latin typeface="+mn-lt"/>
                <a:ea typeface="+mn-ea"/>
              </a:rPr>
              <a:t>BCD</a:t>
            </a:r>
            <a:r>
              <a:rPr lang="zh-CN" altLang="en-US" sz="2800" dirty="0">
                <a:latin typeface="+mn-lt"/>
                <a:ea typeface="+mn-ea"/>
              </a:rPr>
              <a:t>码的形式存放，低字节在前，高字节在后。要求结果以同样形式存放在以</a:t>
            </a:r>
            <a:r>
              <a:rPr lang="en-US" sz="2800" dirty="0">
                <a:latin typeface="+mn-lt"/>
                <a:ea typeface="+mn-ea"/>
              </a:rPr>
              <a:t>SUM</a:t>
            </a:r>
            <a:r>
              <a:rPr lang="zh-CN" altLang="en-US" sz="2800" dirty="0">
                <a:latin typeface="+mn-lt"/>
                <a:ea typeface="+mn-ea"/>
              </a:rPr>
              <a:t>开始的单元中。</a:t>
            </a:r>
            <a:endParaRPr lang="en-US" altLang="zh-CN" sz="2800" dirty="0">
              <a:latin typeface="+mn-lt"/>
              <a:ea typeface="+mn-ea"/>
            </a:endParaRPr>
          </a:p>
          <a:p>
            <a:pPr algn="just">
              <a:buNone/>
            </a:pPr>
            <a:endParaRPr lang="zh-CN" altLang="en-US" sz="2800" dirty="0">
              <a:latin typeface="+mn-lt"/>
              <a:ea typeface="+mn-ea"/>
            </a:endParaRP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在例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4.35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中，进行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字节无符号运算时，采用顺序结构程序，用了两段加法程序。本例做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字节的加法运算，用循环结构编程，只要写一段加法程序，反复执行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次即可。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163513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r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984250"/>
            <a:ext cx="8372475" cy="555625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4.40 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有一个无符号数组共含</a:t>
            </a:r>
            <a:r>
              <a:rPr lang="en-US" sz="2800" dirty="0">
                <a:latin typeface="+mn-lt"/>
                <a:ea typeface="+mn-ea"/>
              </a:rPr>
              <a:t>5</a:t>
            </a:r>
            <a:r>
              <a:rPr lang="zh-CN" altLang="en-US" sz="2800" dirty="0">
                <a:latin typeface="+mn-lt"/>
                <a:ea typeface="+mn-ea"/>
              </a:rPr>
              <a:t>个元素</a:t>
            </a:r>
            <a:r>
              <a:rPr lang="en-US" altLang="zh-CN" sz="2800" dirty="0">
                <a:latin typeface="+mn-lt"/>
                <a:ea typeface="+mn-ea"/>
              </a:rPr>
              <a:t>: </a:t>
            </a:r>
            <a:r>
              <a:rPr lang="en-US" sz="2800" dirty="0">
                <a:latin typeface="+mn-lt"/>
                <a:ea typeface="+mn-ea"/>
              </a:rPr>
              <a:t>12, 7, 19, 8, 24, </a:t>
            </a:r>
            <a:r>
              <a:rPr lang="zh-CN" altLang="en-US" sz="2800" dirty="0">
                <a:latin typeface="+mn-lt"/>
                <a:ea typeface="+mn-ea"/>
              </a:rPr>
              <a:t>它们存放在</a:t>
            </a:r>
            <a:r>
              <a:rPr lang="en-US" sz="2800" dirty="0">
                <a:latin typeface="+mn-lt"/>
                <a:ea typeface="+mn-ea"/>
              </a:rPr>
              <a:t>LIST</a:t>
            </a:r>
            <a:r>
              <a:rPr lang="zh-CN" altLang="en-US" sz="2800" dirty="0">
                <a:latin typeface="+mn-lt"/>
                <a:ea typeface="+mn-ea"/>
              </a:rPr>
              <a:t>开始的字单元中，编程将数组中的数按从大到小的次序排列（元素个数</a:t>
            </a:r>
            <a:r>
              <a:rPr lang="en-US" sz="2800" i="1" dirty="0">
                <a:latin typeface="+mn-lt"/>
                <a:ea typeface="+mn-ea"/>
              </a:rPr>
              <a:t>n</a:t>
            </a:r>
            <a:r>
              <a:rPr lang="en-US" sz="2800" dirty="0">
                <a:latin typeface="+mn-lt"/>
                <a:ea typeface="+mn-ea"/>
              </a:rPr>
              <a:t>=5</a:t>
            </a:r>
            <a:r>
              <a:rPr lang="zh-CN" altLang="en-US" sz="2800" dirty="0">
                <a:latin typeface="+mn-lt"/>
                <a:ea typeface="+mn-ea"/>
              </a:rPr>
              <a:t>）。</a:t>
            </a:r>
            <a:endParaRPr lang="en-US" altLang="zh-CN" sz="2800" dirty="0">
              <a:latin typeface="+mn-lt"/>
              <a:ea typeface="+mn-ea"/>
            </a:endParaRPr>
          </a:p>
          <a:p>
            <a:pPr algn="just">
              <a:buNone/>
            </a:pPr>
            <a:r>
              <a:rPr lang="zh-CN" altLang="en-US" dirty="0">
                <a:latin typeface="+mn-ea"/>
                <a:ea typeface="+mn-ea"/>
              </a:rPr>
              <a:t>编程思路：</a:t>
            </a:r>
            <a:endParaRPr lang="en-US" altLang="zh-CN" dirty="0">
              <a:latin typeface="+mn-ea"/>
              <a:ea typeface="+mn-ea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编程时采用冒泡法排序。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比较从第</a:t>
            </a:r>
            <a:r>
              <a: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个元素开始，与相邻数比较，若大的在前小的在后，次序就排好了，不要交换，否则交换。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然后将小的数与第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个元素比较，经</a:t>
            </a:r>
            <a:r>
              <a:rPr lang="en-US" sz="2400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-1(=4)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次比较后，一行中最小的元素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排到了最后面。共循环比较了</a:t>
            </a:r>
            <a:r>
              <a:rPr lang="en-US" sz="2400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-1(=4) 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再作第二轮比较，这轮只要比较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n-2(=3)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次，即可将数组中的数按从大到小的次序排列好。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这是一个多重循环程序。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程序稍加修改后，即可实现从小到大的排序。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-25400"/>
            <a:ext cx="8739505" cy="1143000"/>
          </a:xfrm>
        </p:spPr>
        <p:txBody>
          <a:bodyPr/>
          <a:lstStyle/>
          <a:p>
            <a:r>
              <a:rPr lang="en-US" sz="3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循环结构程序（讲）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372475" cy="3625850"/>
          </a:xfrm>
        </p:spPr>
        <p:txBody>
          <a:bodyPr/>
          <a:lstStyle/>
          <a:p>
            <a:r>
              <a:rPr lang="zh-CN" altLang="en-US" dirty="0"/>
              <a:t>比较过程中数组中数的排列</a:t>
            </a:r>
            <a:r>
              <a:rPr lang="en-US" altLang="zh-CN" dirty="0"/>
              <a:t>:</a:t>
            </a:r>
            <a:endParaRPr lang="zh-CN" altLang="en-US" dirty="0"/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原始数据 </a:t>
            </a:r>
            <a:r>
              <a:rPr lang="en-US" sz="2400" dirty="0">
                <a:latin typeface="+mn-lt"/>
                <a:ea typeface="+mn-ea"/>
              </a:rPr>
              <a:t>     	12   7  19   8  24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第一轮比较后</a:t>
            </a:r>
            <a:r>
              <a:rPr lang="en-US" sz="2400" dirty="0">
                <a:latin typeface="+mn-lt"/>
                <a:ea typeface="+mn-ea"/>
              </a:rPr>
              <a:t>  	12  19   8  24   7	</a:t>
            </a:r>
            <a:r>
              <a:rPr lang="zh-CN" altLang="en-US" sz="2400" dirty="0">
                <a:latin typeface="+mn-lt"/>
                <a:ea typeface="+mn-ea"/>
              </a:rPr>
              <a:t>找出最小值</a:t>
            </a:r>
            <a:r>
              <a:rPr lang="en-US" sz="2400" dirty="0">
                <a:latin typeface="+mn-lt"/>
                <a:ea typeface="+mn-ea"/>
              </a:rPr>
              <a:t>7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第二轮比较后</a:t>
            </a:r>
            <a:r>
              <a:rPr lang="en-US" sz="2400" dirty="0">
                <a:latin typeface="+mn-lt"/>
                <a:ea typeface="+mn-ea"/>
              </a:rPr>
              <a:t>  	19  12  24   8   7	</a:t>
            </a:r>
            <a:r>
              <a:rPr lang="zh-CN" altLang="en-US" sz="2400" dirty="0">
                <a:latin typeface="+mn-lt"/>
                <a:ea typeface="+mn-ea"/>
              </a:rPr>
              <a:t>找出第二小的值</a:t>
            </a:r>
            <a:r>
              <a:rPr lang="en-US" sz="2400" dirty="0">
                <a:latin typeface="+mn-lt"/>
                <a:ea typeface="+mn-ea"/>
              </a:rPr>
              <a:t>8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第三轮比较后</a:t>
            </a:r>
            <a:r>
              <a:rPr lang="en-US" sz="2400" dirty="0">
                <a:latin typeface="+mn-lt"/>
                <a:ea typeface="+mn-ea"/>
              </a:rPr>
              <a:t>  	19  24  12   8   7	</a:t>
            </a:r>
            <a:r>
              <a:rPr lang="zh-CN" altLang="en-US" sz="2400" dirty="0">
                <a:latin typeface="+mn-lt"/>
                <a:ea typeface="+mn-ea"/>
              </a:rPr>
              <a:t>找出第三小的值</a:t>
            </a:r>
            <a:r>
              <a:rPr lang="en-US" sz="2400" dirty="0">
                <a:latin typeface="+mn-lt"/>
                <a:ea typeface="+mn-ea"/>
              </a:rPr>
              <a:t>12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第四轮比较后</a:t>
            </a:r>
            <a:r>
              <a:rPr lang="en-US" sz="2400" dirty="0">
                <a:latin typeface="+mn-lt"/>
                <a:ea typeface="+mn-ea"/>
              </a:rPr>
              <a:t>  	24  19  12   8   7	</a:t>
            </a:r>
            <a:r>
              <a:rPr lang="zh-CN" altLang="en-US" sz="2400" dirty="0">
                <a:latin typeface="+mn-lt"/>
                <a:ea typeface="+mn-ea"/>
              </a:rPr>
              <a:t>已排好次序，大循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buNone/>
            </a:pPr>
            <a:r>
              <a:rPr lang="en-US" altLang="zh-CN" sz="2400" dirty="0">
                <a:latin typeface="+mn-lt"/>
                <a:ea typeface="+mn-ea"/>
              </a:rPr>
              <a:t>							</a:t>
            </a:r>
            <a:r>
              <a:rPr lang="zh-CN" altLang="en-US" sz="2400" dirty="0">
                <a:latin typeface="+mn-lt"/>
                <a:ea typeface="+mn-ea"/>
              </a:rPr>
              <a:t>环次数为</a:t>
            </a:r>
            <a:r>
              <a:rPr lang="en-US" sz="2400" i="1" dirty="0">
                <a:latin typeface="+mn-lt"/>
                <a:ea typeface="+mn-ea"/>
              </a:rPr>
              <a:t>n</a:t>
            </a:r>
            <a:r>
              <a:rPr lang="en-US" sz="2400" dirty="0">
                <a:latin typeface="+mn-lt"/>
                <a:ea typeface="+mn-ea"/>
              </a:rPr>
              <a:t>-1(=4)</a:t>
            </a:r>
            <a:endParaRPr lang="zh-CN" altLang="en-US" sz="2400" dirty="0"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53975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4.40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30960" y="5062855"/>
            <a:ext cx="59905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olidFill>
                  <a:schemeClr val="accent4"/>
                </a:solidFill>
                <a:effectLst/>
                <a:ea typeface="+mn-ea"/>
                <a:sym typeface="+mn-ea"/>
              </a:rPr>
              <a:t>（改为有符号数：</a:t>
            </a:r>
            <a:r>
              <a:rPr lang="en-US" altLang="zh-CN" b="1" dirty="0">
                <a:solidFill>
                  <a:schemeClr val="accent4"/>
                </a:solidFill>
                <a:effectLst/>
                <a:ea typeface="+mn-ea"/>
                <a:sym typeface="+mn-ea"/>
              </a:rPr>
              <a:t>-12,7,-19,8,-24</a:t>
            </a:r>
            <a:r>
              <a:rPr lang="zh-CN" altLang="en-US" b="1" dirty="0">
                <a:solidFill>
                  <a:schemeClr val="accent4"/>
                </a:solidFill>
                <a:effectLst/>
                <a:ea typeface="+mn-ea"/>
                <a:sym typeface="+mn-ea"/>
              </a:rPr>
              <a:t>并调试！）</a:t>
            </a:r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162050"/>
            <a:ext cx="8372475" cy="569595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LIST	DW      12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7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19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8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24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；数组字单元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COUNT	EQU  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sz="2400" dirty="0">
                <a:latin typeface="+mn-lt"/>
                <a:ea typeface="+mn-ea"/>
              </a:rPr>
              <a:t>$-LIST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r>
              <a:rPr lang="en-US" sz="2400" dirty="0">
                <a:latin typeface="+mn-lt"/>
                <a:ea typeface="+mn-ea"/>
              </a:rPr>
              <a:t>/2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；数组长度</a:t>
            </a:r>
            <a:r>
              <a:rPr lang="en-US" sz="2400" i="1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=10/2=5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;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SORT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ASSUME 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SORT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BEGIN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en-US" sz="2400" dirty="0">
                <a:latin typeface="+mn-lt"/>
                <a:ea typeface="+mn-ea"/>
              </a:rPr>
              <a:t>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MOV  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MOV    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COUNT-1 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CX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比较轮数（大循环次数）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LOOP1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MOV    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CX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大循环次数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MOV    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；地址指针</a:t>
            </a:r>
          </a:p>
          <a:p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53975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4.40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2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984250"/>
            <a:ext cx="8372475" cy="56007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LOOP2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 		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LIST [BX]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AX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LIST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（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）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CMP	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LIST [BX+2]	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LIST(i)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≥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LIST(i+2)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JAE	  NO_CHANGE 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是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转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XCHG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LIST [BX+2]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否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交换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使大数在前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  LIST 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NO_CHANGE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ADD	  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	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，取下个数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LOOP   LOOP2	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一轮没比完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转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继续比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  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DX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一轮比完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CX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比较轮数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LOOP   LOOP1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CX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CX-1,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则转下轮比较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	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	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比完，返回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INT	  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/>
                </a:solidFill>
                <a:latin typeface="+mn-lt"/>
                <a:ea typeface="+mn-ea"/>
              </a:rPr>
              <a:t>SORT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chemeClr val="accent6"/>
                </a:solidFill>
                <a:latin typeface="+mn-lt"/>
                <a:ea typeface="+mn-ea"/>
              </a:rPr>
              <a:t>END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chemeClr val="accent6"/>
                </a:solidFill>
                <a:latin typeface="+mn-lt"/>
                <a:ea typeface="+mn-ea"/>
              </a:rPr>
              <a:t>BEGIN</a:t>
            </a:r>
            <a:endParaRPr lang="en-US" altLang="en-US" sz="2400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53975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4.40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860550" y="1828800"/>
            <a:ext cx="5556250" cy="353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.2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分支程序设计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.3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循环结构程序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4.3.4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代码转换程序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过程调用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142287" cy="5175250"/>
          </a:xfrm>
        </p:spPr>
        <p:txBody>
          <a:bodyPr/>
          <a:lstStyle/>
          <a:p>
            <a:pPr algn="just">
              <a:spcBef>
                <a:spcPts val="2400"/>
              </a:spcBef>
            </a:pPr>
            <a:r>
              <a:rPr lang="zh-CN" altLang="en-US" dirty="0">
                <a:latin typeface="+mn-lt"/>
              </a:rPr>
              <a:t>在计算机中，经常需要将数据从一种形式转换成另一种形式。例如，把</a:t>
            </a:r>
            <a:r>
              <a:rPr lang="en-US" dirty="0">
                <a:latin typeface="+mn-lt"/>
              </a:rPr>
              <a:t>2</a:t>
            </a:r>
            <a:r>
              <a:rPr lang="zh-CN" altLang="en-US" dirty="0">
                <a:latin typeface="+mn-lt"/>
              </a:rPr>
              <a:t>进制数转换成</a:t>
            </a:r>
            <a:r>
              <a:rPr lang="en-US" dirty="0">
                <a:latin typeface="+mn-lt"/>
              </a:rPr>
              <a:t>10</a:t>
            </a:r>
            <a:r>
              <a:rPr lang="zh-CN" altLang="en-US" dirty="0">
                <a:latin typeface="+mn-lt"/>
              </a:rPr>
              <a:t>进制数，再转换成</a:t>
            </a:r>
            <a:r>
              <a:rPr lang="en-US" dirty="0">
                <a:latin typeface="+mn-lt"/>
              </a:rPr>
              <a:t>ASCII</a:t>
            </a:r>
            <a:r>
              <a:rPr lang="zh-CN" altLang="en-US" dirty="0">
                <a:latin typeface="+mn-lt"/>
              </a:rPr>
              <a:t>码显示出来；把键盘输入的</a:t>
            </a:r>
            <a:r>
              <a:rPr lang="en-US" dirty="0">
                <a:latin typeface="+mn-lt"/>
              </a:rPr>
              <a:t>10</a:t>
            </a:r>
            <a:r>
              <a:rPr lang="zh-CN" altLang="en-US" dirty="0">
                <a:latin typeface="+mn-lt"/>
              </a:rPr>
              <a:t>进制数转换成</a:t>
            </a:r>
            <a:r>
              <a:rPr lang="en-US" dirty="0">
                <a:latin typeface="+mn-lt"/>
              </a:rPr>
              <a:t>2</a:t>
            </a:r>
            <a:r>
              <a:rPr lang="zh-CN" altLang="en-US" dirty="0">
                <a:latin typeface="+mn-lt"/>
              </a:rPr>
              <a:t>进制数，再转换成</a:t>
            </a:r>
            <a:r>
              <a:rPr lang="en-US" dirty="0">
                <a:latin typeface="+mn-lt"/>
              </a:rPr>
              <a:t>16</a:t>
            </a:r>
            <a:r>
              <a:rPr lang="zh-CN" altLang="en-US" dirty="0">
                <a:latin typeface="+mn-lt"/>
              </a:rPr>
              <a:t>进制数等。这就要编写各种代码转换程序。</a:t>
            </a:r>
            <a:endParaRPr lang="en-US" altLang="zh-CN" dirty="0">
              <a:latin typeface="+mn-lt"/>
            </a:endParaRPr>
          </a:p>
          <a:p>
            <a:pPr algn="just"/>
            <a:r>
              <a:rPr lang="zh-CN" altLang="en-US" dirty="0">
                <a:latin typeface="+mn-lt"/>
              </a:rPr>
              <a:t>下面介绍几个代码转换程序，为方便起见，程序都以子程序的形式给出。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1295400"/>
            <a:ext cx="7875587" cy="5175250"/>
          </a:xfrm>
        </p:spPr>
        <p:txBody>
          <a:bodyPr/>
          <a:lstStyle/>
          <a:p>
            <a:pPr algn="just">
              <a:buNone/>
            </a:pPr>
            <a:r>
              <a:rPr lang="zh-CN" altLang="en-US" sz="3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3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4.41</a:t>
            </a:r>
            <a:r>
              <a:rPr lang="zh-CN" altLang="en-US" sz="3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dirty="0">
                <a:latin typeface="+mn-lt"/>
                <a:ea typeface="+mn-ea"/>
              </a:rPr>
              <a:t>将</a:t>
            </a:r>
            <a:r>
              <a:rPr lang="en-US" dirty="0">
                <a:latin typeface="+mn-lt"/>
                <a:ea typeface="+mn-ea"/>
              </a:rPr>
              <a:t>AL</a:t>
            </a:r>
            <a:r>
              <a:rPr lang="zh-CN" altLang="en-US" dirty="0">
                <a:latin typeface="+mn-lt"/>
                <a:ea typeface="+mn-ea"/>
              </a:rPr>
              <a:t>寄存器中的二进制数转换成非压缩</a:t>
            </a:r>
            <a:r>
              <a:rPr lang="en-US" dirty="0">
                <a:latin typeface="+mn-lt"/>
                <a:ea typeface="+mn-ea"/>
              </a:rPr>
              <a:t>BCD</a:t>
            </a:r>
            <a:r>
              <a:rPr lang="zh-CN" altLang="en-US" dirty="0">
                <a:latin typeface="+mn-lt"/>
                <a:ea typeface="+mn-ea"/>
              </a:rPr>
              <a:t>数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存入</a:t>
            </a:r>
            <a:r>
              <a:rPr lang="en-US" dirty="0">
                <a:latin typeface="+mn-lt"/>
                <a:ea typeface="+mn-ea"/>
              </a:rPr>
              <a:t>AX</a:t>
            </a:r>
            <a:r>
              <a:rPr lang="zh-CN" altLang="en-US" dirty="0">
                <a:latin typeface="+mn-lt"/>
                <a:ea typeface="+mn-ea"/>
              </a:rPr>
              <a:t>中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再转换成</a:t>
            </a:r>
            <a:r>
              <a:rPr lang="en-US" dirty="0">
                <a:latin typeface="+mn-lt"/>
                <a:ea typeface="+mn-ea"/>
              </a:rPr>
              <a:t>ASCII</a:t>
            </a:r>
            <a:r>
              <a:rPr lang="zh-CN" altLang="en-US" dirty="0">
                <a:latin typeface="+mn-lt"/>
                <a:ea typeface="+mn-ea"/>
              </a:rPr>
              <a:t>码后在</a:t>
            </a:r>
            <a:r>
              <a:rPr lang="en-US" dirty="0">
                <a:latin typeface="+mn-lt"/>
                <a:ea typeface="+mn-ea"/>
              </a:rPr>
              <a:t>CRT</a:t>
            </a:r>
            <a:r>
              <a:rPr lang="zh-CN" altLang="en-US" dirty="0">
                <a:latin typeface="+mn-lt"/>
                <a:ea typeface="+mn-ea"/>
              </a:rPr>
              <a:t>上显示。</a:t>
            </a:r>
            <a:endParaRPr lang="en-US" altLang="zh-CN" dirty="0">
              <a:latin typeface="+mn-lt"/>
              <a:ea typeface="+mn-ea"/>
            </a:endParaRPr>
          </a:p>
          <a:p>
            <a:pPr algn="just">
              <a:buNone/>
            </a:pPr>
            <a:r>
              <a:rPr lang="zh-CN" altLang="en-US" dirty="0">
                <a:latin typeface="+mn-lt"/>
                <a:ea typeface="+mn-ea"/>
              </a:rPr>
              <a:t>　  设</a:t>
            </a:r>
            <a:r>
              <a:rPr lang="en-US" dirty="0">
                <a:latin typeface="+mn-lt"/>
                <a:ea typeface="+mn-ea"/>
              </a:rPr>
              <a:t>AL</a:t>
            </a:r>
            <a:r>
              <a:rPr lang="zh-CN" altLang="en-US" dirty="0">
                <a:latin typeface="+mn-lt"/>
                <a:ea typeface="+mn-ea"/>
              </a:rPr>
              <a:t>中的初值为</a:t>
            </a:r>
            <a:r>
              <a:rPr lang="en-US" dirty="0">
                <a:latin typeface="+mn-lt"/>
                <a:ea typeface="+mn-ea"/>
              </a:rPr>
              <a:t>01100010B=62H, </a:t>
            </a:r>
            <a:r>
              <a:rPr lang="zh-CN" altLang="en-US" dirty="0">
                <a:latin typeface="+mn-lt"/>
                <a:ea typeface="+mn-ea"/>
              </a:rPr>
              <a:t>它等于</a:t>
            </a:r>
            <a:r>
              <a:rPr lang="en-US" dirty="0">
                <a:latin typeface="+mn-lt"/>
                <a:ea typeface="+mn-ea"/>
              </a:rPr>
              <a:t>10</a:t>
            </a:r>
            <a:r>
              <a:rPr lang="zh-CN" altLang="en-US" dirty="0">
                <a:latin typeface="+mn-lt"/>
                <a:ea typeface="+mn-ea"/>
              </a:rPr>
              <a:t>进制数的</a:t>
            </a:r>
            <a:r>
              <a:rPr lang="en-US">
                <a:latin typeface="+mn-lt"/>
                <a:ea typeface="+mn-ea"/>
              </a:rPr>
              <a:t>98</a:t>
            </a:r>
            <a:r>
              <a:rPr lang="zh-CN" altLang="en-US">
                <a:latin typeface="+mn-lt"/>
                <a:ea typeface="+mn-ea"/>
              </a:rPr>
              <a:t>。</a:t>
            </a:r>
            <a:endParaRPr lang="en-US" altLang="zh-CN" dirty="0">
              <a:latin typeface="+mn-lt"/>
              <a:ea typeface="+mn-ea"/>
            </a:endParaRPr>
          </a:p>
          <a:p>
            <a:pPr algn="just">
              <a:buNone/>
            </a:pPr>
            <a:r>
              <a:rPr lang="zh-CN" altLang="en-US" dirty="0">
                <a:latin typeface="+mn-lt"/>
                <a:ea typeface="+mn-ea"/>
              </a:rPr>
              <a:t>       将它除以</a:t>
            </a:r>
            <a:r>
              <a:rPr lang="en-US" dirty="0">
                <a:latin typeface="+mn-lt"/>
                <a:ea typeface="+mn-ea"/>
              </a:rPr>
              <a:t>10</a:t>
            </a:r>
            <a:r>
              <a:rPr lang="zh-CN" altLang="en-US" dirty="0">
                <a:latin typeface="+mn-lt"/>
                <a:ea typeface="+mn-ea"/>
              </a:rPr>
              <a:t>后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可得商为</a:t>
            </a:r>
            <a:r>
              <a:rPr lang="en-US" dirty="0">
                <a:latin typeface="+mn-lt"/>
                <a:ea typeface="+mn-ea"/>
              </a:rPr>
              <a:t>9, </a:t>
            </a:r>
            <a:r>
              <a:rPr lang="zh-CN" altLang="en-US" dirty="0">
                <a:latin typeface="+mn-lt"/>
                <a:ea typeface="+mn-ea"/>
              </a:rPr>
              <a:t>余数为</a:t>
            </a:r>
            <a:r>
              <a:rPr lang="en-US" dirty="0">
                <a:latin typeface="+mn-lt"/>
                <a:ea typeface="+mn-ea"/>
              </a:rPr>
              <a:t>8, </a:t>
            </a:r>
            <a:r>
              <a:rPr lang="zh-CN" altLang="en-US" dirty="0">
                <a:latin typeface="+mn-lt"/>
                <a:ea typeface="+mn-ea"/>
              </a:rPr>
              <a:t>将其存放入</a:t>
            </a:r>
            <a:r>
              <a:rPr lang="en-US" dirty="0">
                <a:latin typeface="+mn-lt"/>
                <a:ea typeface="+mn-ea"/>
              </a:rPr>
              <a:t>AX</a:t>
            </a:r>
            <a:r>
              <a:rPr lang="zh-CN" altLang="en-US" dirty="0">
                <a:latin typeface="+mn-lt"/>
                <a:ea typeface="+mn-ea"/>
              </a:rPr>
              <a:t>中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使</a:t>
            </a:r>
            <a:r>
              <a:rPr lang="en-US" dirty="0">
                <a:latin typeface="+mn-lt"/>
                <a:ea typeface="+mn-ea"/>
              </a:rPr>
              <a:t>AX=0908H, </a:t>
            </a:r>
            <a:r>
              <a:rPr lang="zh-CN" altLang="en-US" dirty="0">
                <a:latin typeface="+mn-lt"/>
                <a:ea typeface="+mn-ea"/>
              </a:rPr>
              <a:t>与</a:t>
            </a:r>
            <a:r>
              <a:rPr lang="en-US" dirty="0">
                <a:latin typeface="+mn-lt"/>
                <a:ea typeface="+mn-ea"/>
              </a:rPr>
              <a:t>3030H</a:t>
            </a:r>
            <a:r>
              <a:rPr lang="zh-CN" altLang="en-US" dirty="0">
                <a:latin typeface="+mn-lt"/>
                <a:ea typeface="+mn-ea"/>
              </a:rPr>
              <a:t>相加（也可相或）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即转换成</a:t>
            </a:r>
            <a:r>
              <a:rPr lang="en-US" dirty="0">
                <a:latin typeface="+mn-lt"/>
                <a:ea typeface="+mn-ea"/>
              </a:rPr>
              <a:t>ASCII</a:t>
            </a:r>
            <a:r>
              <a:rPr lang="zh-CN" altLang="en-US" dirty="0">
                <a:latin typeface="+mn-lt"/>
                <a:ea typeface="+mn-ea"/>
              </a:rPr>
              <a:t>码</a:t>
            </a:r>
            <a:r>
              <a:rPr lang="en-US" dirty="0">
                <a:latin typeface="+mn-lt"/>
                <a:ea typeface="+mn-ea"/>
              </a:rPr>
              <a:t>3938H, </a:t>
            </a:r>
            <a:r>
              <a:rPr lang="zh-CN" altLang="en-US" dirty="0">
                <a:latin typeface="+mn-lt"/>
                <a:ea typeface="+mn-ea"/>
              </a:rPr>
              <a:t>用</a:t>
            </a:r>
            <a:r>
              <a:rPr lang="en-US" dirty="0">
                <a:latin typeface="+mn-lt"/>
                <a:ea typeface="+mn-ea"/>
              </a:rPr>
              <a:t>2</a:t>
            </a:r>
            <a:r>
              <a:rPr lang="zh-CN" altLang="en-US" dirty="0">
                <a:latin typeface="+mn-lt"/>
                <a:ea typeface="+mn-ea"/>
              </a:rPr>
              <a:t>号</a:t>
            </a:r>
            <a:r>
              <a:rPr lang="en-US" dirty="0">
                <a:latin typeface="+mn-lt"/>
                <a:ea typeface="+mn-ea"/>
              </a:rPr>
              <a:t>DOS</a:t>
            </a:r>
            <a:r>
              <a:rPr lang="zh-CN" altLang="en-US" dirty="0">
                <a:latin typeface="+mn-lt"/>
                <a:ea typeface="+mn-ea"/>
              </a:rPr>
              <a:t>功能调用即可显示出来。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895350"/>
            <a:ext cx="8372475" cy="559435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BIN_ASC</a:t>
            </a:r>
            <a:r>
              <a:rPr lang="en-US" sz="2400" dirty="0">
                <a:latin typeface="+mn-lt"/>
                <a:ea typeface="+mn-ea"/>
              </a:rPr>
              <a:t>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dirty="0">
                <a:latin typeface="+mn-lt"/>
                <a:ea typeface="+mn-ea"/>
              </a:rPr>
              <a:t>	NEAR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BL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；除数</a:t>
            </a: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DIV	BL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　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商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9)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 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余数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8)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XCHG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  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AX=0908H(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非压缩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BCD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数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)</a:t>
            </a: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ADD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3030H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AX=3938H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（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码）</a:t>
            </a: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CX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3938H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8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r>
              <a:rPr lang="en-US" sz="2400" dirty="0">
                <a:latin typeface="+mn-lt"/>
                <a:ea typeface="+mn-ea"/>
              </a:rPr>
              <a:t>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BIN_ASC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24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4.41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044065" y="12700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2270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4.42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lt"/>
                <a:ea typeface="+mn-ea"/>
              </a:rPr>
              <a:t>将键盘输入的一个以回车符为结尾的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进制数（</a:t>
            </a:r>
            <a:r>
              <a:rPr lang="en-US" sz="2800" dirty="0">
                <a:latin typeface="+mn-lt"/>
                <a:ea typeface="+mn-ea"/>
              </a:rPr>
              <a:t>0~65535</a:t>
            </a:r>
            <a:r>
              <a:rPr lang="zh-CN" altLang="en-US" sz="2800" dirty="0">
                <a:latin typeface="+mn-lt"/>
                <a:ea typeface="+mn-ea"/>
              </a:rPr>
              <a:t>）转换成</a:t>
            </a:r>
            <a:r>
              <a:rPr lang="en-US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进制数，并存入</a:t>
            </a:r>
            <a:r>
              <a:rPr lang="en-US" sz="2800" dirty="0">
                <a:latin typeface="+mn-lt"/>
                <a:ea typeface="+mn-ea"/>
              </a:rPr>
              <a:t>BX</a:t>
            </a:r>
            <a:r>
              <a:rPr lang="zh-CN" altLang="en-US" sz="2800" dirty="0">
                <a:latin typeface="+mn-lt"/>
                <a:ea typeface="+mn-ea"/>
              </a:rPr>
              <a:t>中，如输入一个非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进制数或回车符，则退出程序。</a:t>
            </a:r>
          </a:p>
          <a:p>
            <a:pPr>
              <a:buNone/>
            </a:pPr>
            <a:r>
              <a:rPr lang="zh-CN" altLang="en-US" sz="2800" dirty="0"/>
              <a:t>编程思想：</a:t>
            </a:r>
          </a:p>
          <a:p>
            <a:pPr algn="just"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）利用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DOS 1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号功能调用，等待从键盘输入一个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进制数字，比如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，则在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中得到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的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33H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。</a:t>
            </a:r>
          </a:p>
          <a:p>
            <a:pPr algn="just"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码转换成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码。截下低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位，判断其是否为数字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0~9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，若是，则将该数存入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中，若不是则退出程序。</a:t>
            </a:r>
          </a:p>
          <a:p>
            <a:pPr algn="just"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）再键入下一个数字，如数字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，也要判断其是否为数字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0~9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。</a:t>
            </a:r>
          </a:p>
          <a:p>
            <a:endParaRPr lang="zh-CN" altLang="en-US" sz="240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54229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mb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）将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进制数转换成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进制数。将先键入的数字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乘以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后，与后键入的数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相加（累加），得（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sym typeface="Symbol" panose="05050102010706020507"/>
              </a:rPr>
              <a:t>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+5= 35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。</a:t>
            </a:r>
          </a:p>
          <a:p>
            <a:pPr algn="just"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）再键入第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个数字，如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8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，将前面累加的数乘以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后与后键入的数累加，可得到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[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（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sym typeface="Symbol" panose="05050102010706020507"/>
              </a:rPr>
              <a:t>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10+5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sym typeface="Symbol" panose="05050102010706020507"/>
              </a:rPr>
              <a:t>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10]+8=358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，还可继续进行下去，直至键入一个非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进制数或回车符为止。遇回车符表示键入的一个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进制数结束。</a:t>
            </a:r>
          </a:p>
          <a:p>
            <a:pPr>
              <a:buNone/>
            </a:pP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163830" y="1015365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2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522220" y="40640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mb dir="vert"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dirty="0">
                <a:latin typeface="+mn-lt"/>
                <a:ea typeface="+mn-ea"/>
              </a:rPr>
              <a:t>程序（子程序形式）如下：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DEC_BIN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	</a:t>
            </a:r>
            <a:r>
              <a:rPr lang="en-US" sz="2400" dirty="0">
                <a:latin typeface="+mn-lt"/>
                <a:ea typeface="+mn-ea"/>
              </a:rPr>
              <a:t> NEAR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存结果或中间结果，初值清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GET_CHAR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 1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号功能调用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键入数字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CMP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0DH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；是回车符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JE	EXIT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SUB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30H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码转换成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10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进制数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JL	EXIT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&lt;0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（非数字），则退出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CMP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&gt;0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，则与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比较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JG	EXIT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，退出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2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698750" y="17780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hecker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117600"/>
            <a:ext cx="8372475" cy="51752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sz="2400" dirty="0">
                <a:latin typeface="+mn-lt"/>
                <a:ea typeface="+mn-ea"/>
              </a:rPr>
              <a:t>	CBW		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0~9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，将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中的字节转换成字，送到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XCHG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BX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；将先键入的数（在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中）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MUL	CX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；先键入数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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10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 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XCHG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BX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；交换后，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，新键入数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ADD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；累加，结果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JMP	GET_CHAR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；循环，键入新数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EXIT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DEC_BIN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1800"/>
              </a:spcBef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程序中也用到了分支结构和循环程序的设计方法</a:t>
            </a:r>
            <a:r>
              <a:rPr lang="zh-CN" altLang="en-US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2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346960" y="31432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hecker dir="vert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0970"/>
            <a:ext cx="8229600" cy="4525963"/>
          </a:xfrm>
        </p:spPr>
        <p:txBody>
          <a:bodyPr/>
          <a:lstStyle/>
          <a:p>
            <a:pPr>
              <a:spcBef>
                <a:spcPts val="1800"/>
              </a:spcBef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4.43 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编写将</a:t>
            </a:r>
            <a:r>
              <a:rPr lang="en-US" sz="2800" dirty="0">
                <a:latin typeface="+mn-lt"/>
                <a:ea typeface="+mn-ea"/>
              </a:rPr>
              <a:t>BX</a:t>
            </a:r>
            <a:r>
              <a:rPr lang="zh-CN" altLang="en-US" sz="2800" dirty="0">
                <a:latin typeface="+mn-lt"/>
                <a:ea typeface="+mn-ea"/>
              </a:rPr>
              <a:t>中的二进制数转换成</a:t>
            </a:r>
            <a:r>
              <a:rPr lang="en-US" sz="2800" dirty="0">
                <a:latin typeface="+mn-lt"/>
                <a:ea typeface="+mn-ea"/>
              </a:rPr>
              <a:t>16</a:t>
            </a:r>
            <a:r>
              <a:rPr lang="zh-CN" altLang="en-US" sz="2800" dirty="0">
                <a:latin typeface="+mn-lt"/>
                <a:ea typeface="+mn-ea"/>
              </a:rPr>
              <a:t>进制数，并在显示器上显示的子程序。</a:t>
            </a: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由于每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位二进制数可用一个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进制数表示，所以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BX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中的二进制数可以转换成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进制数字。</a:t>
            </a:r>
            <a:endParaRPr lang="en-US" altLang="zh-CN" sz="28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每次将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BX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中的数左移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次，可得到一个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进制数，将其转换成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ASCII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码后，即可在显示器上显示出一个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进制数。</a:t>
            </a:r>
            <a:endParaRPr lang="en-US" altLang="zh-CN" sz="28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重复执行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次，就可将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BX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进制数在显示器上显示出来上。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32330" y="59309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206500"/>
            <a:ext cx="8372475" cy="558800"/>
          </a:xfrm>
        </p:spPr>
        <p:txBody>
          <a:bodyPr/>
          <a:lstStyle/>
          <a:p>
            <a:r>
              <a:rPr lang="zh-CN" altLang="en-US" sz="2800" dirty="0">
                <a:latin typeface="+mn-lt"/>
              </a:rPr>
              <a:t>操作过程如图</a:t>
            </a:r>
            <a:r>
              <a:rPr lang="en-US" sz="2800" dirty="0">
                <a:latin typeface="+mn-lt"/>
              </a:rPr>
              <a:t>4.11</a:t>
            </a:r>
            <a:r>
              <a:rPr lang="zh-CN" altLang="en-US" sz="2800" dirty="0">
                <a:latin typeface="+mn-lt"/>
              </a:rPr>
              <a:t>所示</a:t>
            </a:r>
            <a:endParaRPr lang="en-US" altLang="zh-CN" sz="2800" dirty="0">
              <a:latin typeface="+mn-lt"/>
            </a:endParaRPr>
          </a:p>
          <a:p>
            <a:pPr algn="ctr">
              <a:buNone/>
            </a:pPr>
            <a:r>
              <a:rPr lang="zh-CN" altLang="en-US" sz="2800" dirty="0">
                <a:latin typeface="+mn-lt"/>
              </a:rPr>
              <a:t>图</a:t>
            </a:r>
            <a:r>
              <a:rPr lang="en-US" sz="2800" dirty="0">
                <a:latin typeface="+mn-lt"/>
              </a:rPr>
              <a:t>4.11  2</a:t>
            </a:r>
            <a:r>
              <a:rPr lang="zh-CN" altLang="en-US" sz="2800" dirty="0">
                <a:latin typeface="+mn-lt"/>
              </a:rPr>
              <a:t>进制数转换成</a:t>
            </a:r>
            <a:r>
              <a:rPr lang="en-US" sz="2800" dirty="0">
                <a:latin typeface="+mn-lt"/>
              </a:rPr>
              <a:t>16</a:t>
            </a:r>
            <a:r>
              <a:rPr lang="zh-CN" altLang="en-US" sz="2800" dirty="0">
                <a:latin typeface="+mn-lt"/>
              </a:rPr>
              <a:t>进制数的</a:t>
            </a:r>
            <a:r>
              <a:rPr lang="en-US" sz="2800" dirty="0">
                <a:latin typeface="+mn-lt"/>
              </a:rPr>
              <a:t>ASCII</a:t>
            </a:r>
            <a:r>
              <a:rPr lang="zh-CN" altLang="en-US" sz="2800" dirty="0">
                <a:latin typeface="+mn-lt"/>
              </a:rPr>
              <a:t>码</a:t>
            </a:r>
          </a:p>
          <a:p>
            <a:endParaRPr lang="zh-CN" altLang="en-US" sz="2800" dirty="0">
              <a:latin typeface="+mn-lt"/>
            </a:endParaRPr>
          </a:p>
        </p:txBody>
      </p:sp>
      <p:pic>
        <p:nvPicPr>
          <p:cNvPr id="4" name="图片 3" descr="t-4.11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5" y="2298700"/>
            <a:ext cx="8307191" cy="40449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406400"/>
            <a:ext cx="12298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3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333625" y="31432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rd"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372475" cy="49593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程序入口已为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存入了一个二进制数。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BIN_HEX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	 </a:t>
            </a:r>
            <a:r>
              <a:rPr lang="en-US" sz="2400" dirty="0">
                <a:latin typeface="+mn-lt"/>
                <a:ea typeface="+mn-ea"/>
              </a:rPr>
              <a:t>NEAR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CH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转换后产生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个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16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进制数字（大循环次数）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ROTATE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；小循环次数（左移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次）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ROL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；对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左移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BL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AND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0FH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；截得一个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16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进制数字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ADD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30H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；加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30H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，转换成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CMP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3AH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；与‘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9+1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’比，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JL	DISPLAY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；≤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，转显示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ADD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7H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，将数字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0AH~0FH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	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转换成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9560" y="729615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3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82495" y="31432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  <a:ea typeface="+mn-ea"/>
              </a:rPr>
              <a:t>DISPLAY</a:t>
            </a:r>
            <a:r>
              <a:rPr lang="zh-CN" altLang="en-US" sz="2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; </a:t>
            </a:r>
            <a:r>
              <a:rPr lang="en-US" altLang="zh-CN" sz="2400" dirty="0">
                <a:latin typeface="+mn-lt"/>
                <a:ea typeface="+mn-ea"/>
              </a:rPr>
              <a:t>DL</a:t>
            </a:r>
            <a:r>
              <a:rPr lang="en-US" altLang="zh-CN" sz="2400" dirty="0"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latin typeface="+mn-lt"/>
                <a:ea typeface="+mn-ea"/>
                <a:sym typeface="Symbol" panose="05050102010706020507"/>
              </a:rPr>
              <a:t>待显数字</a:t>
            </a:r>
            <a:r>
              <a:rPr lang="en-US" altLang="zh-CN" sz="2400" dirty="0">
                <a:latin typeface="+mn-lt"/>
                <a:ea typeface="+mn-ea"/>
                <a:sym typeface="Symbol" panose="05050102010706020507"/>
              </a:rPr>
              <a:t>ASCII</a:t>
            </a:r>
            <a:r>
              <a:rPr lang="zh-CN" altLang="en-US" sz="2400" dirty="0">
                <a:latin typeface="+mn-lt"/>
                <a:ea typeface="+mn-ea"/>
                <a:sym typeface="Symbol" panose="05050102010706020507"/>
              </a:rPr>
              <a:t>码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INT	21H		</a:t>
            </a:r>
            <a:r>
              <a:rPr lang="zh-CN" altLang="en-US" sz="2400" dirty="0">
                <a:latin typeface="+mn-lt"/>
                <a:ea typeface="+mn-ea"/>
              </a:rPr>
              <a:t>；显示</a:t>
            </a:r>
            <a:r>
              <a:rPr lang="en-US" sz="2400" dirty="0">
                <a:latin typeface="+mn-lt"/>
                <a:ea typeface="+mn-ea"/>
              </a:rPr>
              <a:t>DL</a:t>
            </a:r>
            <a:r>
              <a:rPr lang="zh-CN" altLang="en-US" sz="2400" dirty="0">
                <a:latin typeface="+mn-lt"/>
                <a:ea typeface="+mn-ea"/>
              </a:rPr>
              <a:t>中数字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DEC	CH		</a:t>
            </a:r>
            <a:r>
              <a:rPr lang="zh-CN" altLang="en-US" sz="2400" dirty="0">
                <a:latin typeface="+mn-lt"/>
                <a:ea typeface="+mn-ea"/>
              </a:rPr>
              <a:t>；</a:t>
            </a:r>
            <a:r>
              <a:rPr lang="en-US" sz="2400" dirty="0">
                <a:latin typeface="+mn-lt"/>
                <a:ea typeface="+mn-ea"/>
              </a:rPr>
              <a:t>4</a:t>
            </a:r>
            <a:r>
              <a:rPr lang="zh-CN" altLang="en-US" sz="2400" dirty="0">
                <a:latin typeface="+mn-lt"/>
                <a:ea typeface="+mn-ea"/>
              </a:rPr>
              <a:t>个数字都显示完？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JNZ	ROTATE	</a:t>
            </a:r>
            <a:r>
              <a:rPr lang="zh-CN" altLang="en-US" sz="2400" dirty="0">
                <a:latin typeface="+mn-lt"/>
                <a:ea typeface="+mn-ea"/>
              </a:rPr>
              <a:t>；没有，转大循环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	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；显示完，退出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BIN_HEX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	</a:t>
            </a:r>
            <a:r>
              <a:rPr lang="en-US" sz="2400" dirty="0">
                <a:latin typeface="+mn-lt"/>
                <a:ea typeface="+mn-ea"/>
              </a:rPr>
              <a:t>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4252" y="1232535"/>
            <a:ext cx="1616710" cy="5791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4.43 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623820" y="55562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ld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206500"/>
            <a:ext cx="8142287" cy="4933950"/>
          </a:xfrm>
        </p:spPr>
        <p:txBody>
          <a:bodyPr/>
          <a:lstStyle/>
          <a:p>
            <a:pPr>
              <a:spcBef>
                <a:spcPts val="1800"/>
              </a:spcBef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4.44</a:t>
            </a:r>
            <a:r>
              <a:rPr lang="en-US" sz="32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dirty="0">
                <a:latin typeface="+mn-lt"/>
                <a:ea typeface="+mn-ea"/>
              </a:rPr>
              <a:t>将</a:t>
            </a:r>
            <a:r>
              <a:rPr lang="en-US" dirty="0">
                <a:latin typeface="+mn-lt"/>
                <a:ea typeface="+mn-ea"/>
              </a:rPr>
              <a:t>AX</a:t>
            </a:r>
            <a:r>
              <a:rPr lang="zh-CN" altLang="en-US" dirty="0">
                <a:latin typeface="+mn-lt"/>
                <a:ea typeface="+mn-ea"/>
              </a:rPr>
              <a:t>中的</a:t>
            </a:r>
            <a:r>
              <a:rPr lang="en-US" dirty="0">
                <a:latin typeface="+mn-lt"/>
                <a:ea typeface="+mn-ea"/>
              </a:rPr>
              <a:t>16</a:t>
            </a:r>
            <a:r>
              <a:rPr lang="zh-CN" altLang="en-US" dirty="0">
                <a:latin typeface="+mn-lt"/>
                <a:ea typeface="+mn-ea"/>
              </a:rPr>
              <a:t>位二进数转换成</a:t>
            </a:r>
            <a:r>
              <a:rPr lang="en-US" dirty="0">
                <a:latin typeface="+mn-lt"/>
                <a:ea typeface="+mn-ea"/>
              </a:rPr>
              <a:t>4</a:t>
            </a:r>
            <a:r>
              <a:rPr lang="zh-CN" altLang="en-US" dirty="0">
                <a:latin typeface="+mn-lt"/>
                <a:ea typeface="+mn-ea"/>
              </a:rPr>
              <a:t>位压缩</a:t>
            </a:r>
            <a:r>
              <a:rPr lang="en-US" dirty="0">
                <a:latin typeface="+mn-lt"/>
                <a:ea typeface="+mn-ea"/>
              </a:rPr>
              <a:t>BCD</a:t>
            </a:r>
            <a:r>
              <a:rPr lang="zh-CN" altLang="en-US" dirty="0">
                <a:latin typeface="+mn-lt"/>
                <a:ea typeface="+mn-ea"/>
              </a:rPr>
              <a:t>数</a:t>
            </a:r>
          </a:p>
          <a:p>
            <a:pPr algn="just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方法很简单，只要将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中的内容先后除以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1000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、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，每次得到的商即为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数的千位、百位和十位数，余数为个位数。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algn="just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麻烦的是除法运算既要分字除和字节除，又要搞清楚每次运算时被除数、除数、商和余数分别放在什么寄存器中。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algn="just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除法指令要求：</a:t>
            </a:r>
          </a:p>
          <a:p>
            <a:pPr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lt"/>
                <a:ea typeface="+mn-ea"/>
              </a:rPr>
              <a:t>源操作数为字时</a:t>
            </a:r>
            <a:r>
              <a:rPr lang="en-US" altLang="zh-CN" sz="2400" dirty="0">
                <a:latin typeface="+mn-lt"/>
                <a:ea typeface="+mn-ea"/>
              </a:rPr>
              <a:t>,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sz="2400" dirty="0">
                <a:latin typeface="+mn-lt"/>
                <a:ea typeface="+mn-ea"/>
              </a:rPr>
              <a:t>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r>
              <a:rPr lang="en-US" sz="2400" dirty="0">
                <a:latin typeface="+mn-lt"/>
                <a:ea typeface="+mn-ea"/>
              </a:rPr>
              <a:t>/</a:t>
            </a:r>
            <a:r>
              <a:rPr lang="zh-CN" altLang="en-US" sz="2400" dirty="0">
                <a:latin typeface="+mn-lt"/>
                <a:ea typeface="+mn-ea"/>
              </a:rPr>
              <a:t>源字</a:t>
            </a:r>
            <a:r>
              <a:rPr lang="en-US" altLang="zh-CN" sz="2400" dirty="0">
                <a:latin typeface="+mn-lt"/>
                <a:ea typeface="+mn-ea"/>
              </a:rPr>
              <a:t>,</a:t>
            </a:r>
            <a:r>
              <a:rPr lang="zh-CN" altLang="en-US" sz="2400" dirty="0">
                <a:latin typeface="+mn-lt"/>
                <a:ea typeface="+mn-ea"/>
              </a:rPr>
              <a:t>结果：</a:t>
            </a:r>
            <a:r>
              <a:rPr lang="en-US" sz="2400" dirty="0">
                <a:latin typeface="+mn-lt"/>
                <a:ea typeface="+mn-ea"/>
              </a:rPr>
              <a:t>AX</a:t>
            </a:r>
            <a:r>
              <a:rPr lang="en-US" altLang="zh-CN" sz="2400" dirty="0">
                <a:sym typeface="Symbol" panose="05050102010706020507"/>
              </a:rPr>
              <a:t> </a:t>
            </a:r>
            <a:r>
              <a:rPr lang="en-US" sz="2400" dirty="0">
                <a:latin typeface="+mn-lt"/>
                <a:ea typeface="+mn-ea"/>
              </a:rPr>
              <a:t> </a:t>
            </a:r>
            <a:r>
              <a:rPr lang="zh-CN" altLang="en-US" sz="2400" dirty="0">
                <a:latin typeface="+mn-lt"/>
                <a:ea typeface="+mn-ea"/>
              </a:rPr>
              <a:t>商，</a:t>
            </a:r>
            <a:r>
              <a:rPr lang="en-US" sz="2400" dirty="0">
                <a:latin typeface="+mn-lt"/>
                <a:ea typeface="+mn-ea"/>
              </a:rPr>
              <a:t>DX </a:t>
            </a:r>
            <a:r>
              <a:rPr lang="en-US" altLang="zh-CN" sz="2400" dirty="0">
                <a:sym typeface="Symbol" panose="05050102010706020507"/>
              </a:rPr>
              <a:t></a:t>
            </a:r>
            <a:r>
              <a:rPr lang="zh-CN" altLang="en-US" sz="2400" dirty="0">
                <a:latin typeface="+mn-lt"/>
                <a:ea typeface="+mn-ea"/>
              </a:rPr>
              <a:t>余数</a:t>
            </a:r>
          </a:p>
          <a:p>
            <a:pPr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lt"/>
                <a:ea typeface="+mn-ea"/>
              </a:rPr>
              <a:t>字节除时</a:t>
            </a:r>
            <a:r>
              <a:rPr lang="en-US" altLang="zh-CN" sz="2400" dirty="0">
                <a:latin typeface="+mn-lt"/>
                <a:ea typeface="+mn-ea"/>
              </a:rPr>
              <a:t>,  </a:t>
            </a:r>
            <a:r>
              <a:rPr lang="en-US" sz="2400" dirty="0">
                <a:latin typeface="+mn-lt"/>
                <a:ea typeface="+mn-ea"/>
              </a:rPr>
              <a:t>AX/</a:t>
            </a:r>
            <a:r>
              <a:rPr lang="zh-CN" altLang="en-US" sz="2400" dirty="0">
                <a:latin typeface="+mn-lt"/>
                <a:ea typeface="+mn-ea"/>
              </a:rPr>
              <a:t>源字节</a:t>
            </a:r>
            <a:r>
              <a:rPr lang="en-US" altLang="zh-CN" sz="2400" dirty="0">
                <a:latin typeface="+mn-lt"/>
                <a:ea typeface="+mn-ea"/>
              </a:rPr>
              <a:t>,  </a:t>
            </a:r>
            <a:r>
              <a:rPr lang="zh-CN" altLang="en-US" sz="2400" dirty="0">
                <a:latin typeface="+mn-lt"/>
                <a:ea typeface="+mn-ea"/>
              </a:rPr>
              <a:t>结果</a:t>
            </a:r>
            <a:r>
              <a:rPr lang="en-US" altLang="zh-CN" sz="2400" dirty="0">
                <a:latin typeface="+mn-lt"/>
                <a:ea typeface="+mn-ea"/>
              </a:rPr>
              <a:t>: </a:t>
            </a:r>
            <a:r>
              <a:rPr lang="en-US" sz="2400" dirty="0">
                <a:latin typeface="+mn-lt"/>
                <a:ea typeface="+mn-ea"/>
              </a:rPr>
              <a:t>AL </a:t>
            </a:r>
            <a:r>
              <a:rPr lang="en-US" altLang="zh-CN" sz="2400" dirty="0">
                <a:sym typeface="Symbol" panose="05050102010706020507"/>
              </a:rPr>
              <a:t></a:t>
            </a:r>
            <a:r>
              <a:rPr lang="zh-CN" altLang="en-US" sz="2400" dirty="0">
                <a:latin typeface="+mn-lt"/>
                <a:ea typeface="+mn-ea"/>
              </a:rPr>
              <a:t>商</a:t>
            </a:r>
            <a:r>
              <a:rPr lang="en-US" altLang="zh-CN" sz="2400" dirty="0">
                <a:latin typeface="+mn-lt"/>
                <a:ea typeface="+mn-ea"/>
              </a:rPr>
              <a:t>, 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en-US" altLang="zh-CN" sz="2400" dirty="0">
                <a:sym typeface="Symbol" panose="05050102010706020507"/>
              </a:rPr>
              <a:t> </a:t>
            </a:r>
            <a:r>
              <a:rPr lang="en-US" sz="2400" dirty="0">
                <a:latin typeface="+mn-lt"/>
                <a:ea typeface="+mn-ea"/>
              </a:rPr>
              <a:t> </a:t>
            </a:r>
            <a:r>
              <a:rPr lang="zh-CN" altLang="en-US" sz="2400" dirty="0">
                <a:latin typeface="+mn-lt"/>
                <a:ea typeface="+mn-ea"/>
              </a:rPr>
              <a:t>余数</a:t>
            </a:r>
          </a:p>
          <a:p>
            <a:pPr algn="just"/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31695" y="29083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 marL="363855" indent="-363855" algn="just"/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下面给出转换程序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为便于理解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假设存放在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位二进制数的实际值为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9346,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转换后应使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AX=9346H (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压缩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数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),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注释中给出具体的转换步骤。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BIN_BCD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 NEAR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CMP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9999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AX&gt;9999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JBE	TRAN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；小于，转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JMP	EXIT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；大于，转退出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TRAN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SUB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DX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1000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  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CX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1000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</a:t>
            </a:r>
            <a:r>
              <a:rPr lang="en-US" sz="2400" dirty="0">
                <a:latin typeface="+mn-lt"/>
                <a:ea typeface="+mn-ea"/>
              </a:rPr>
              <a:t>DIV	CX</a:t>
            </a:r>
            <a:r>
              <a:rPr lang="en-US" altLang="zh-CN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DX,AX)/1000=9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…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346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AX=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9,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DX=346)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XCHG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DX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交换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使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DX=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9,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AX=346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	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  (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下次除法被除数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00" y="45085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346325" y="35877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r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117600"/>
            <a:ext cx="8372475" cy="51752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		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；第一个商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9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左移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SHL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DX=0090H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100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CL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100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DIV	CL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346/100=3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…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46, AL=3,  AH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=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46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ADD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  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；将第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次的商加到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DL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中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,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;   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使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DX=0093H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左移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SHL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；左移后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DX=0930H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XCHG   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；交换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AX=0346H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SUB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   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AX=0046H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，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;   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第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次余数做被除数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CL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10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DIV	CL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AX/10=4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…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6,  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结果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AL=4,AH=6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334260" y="21526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ADD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加到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DL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上，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；使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DX=0934H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SHL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  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左移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次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						;   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DX=9340H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ADD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；最后一次余数加到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	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上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DX=9346H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DX     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；最后结果：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AX=9346H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EXIT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altLang="zh-CN" sz="2400" dirty="0">
                <a:latin typeface="+mn-lt"/>
                <a:ea typeface="+mn-ea"/>
              </a:rPr>
              <a:t>   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BIN_BCD </a:t>
            </a:r>
            <a:r>
              <a:rPr lang="en-US" sz="2400" dirty="0">
                <a:latin typeface="+mn-lt"/>
                <a:ea typeface="+mn-ea"/>
              </a:rPr>
              <a:t>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77825" y="117475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409825" y="40640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816100" y="2095500"/>
            <a:ext cx="569753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.2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分支程序设计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.3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循环结构程序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4.3.4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代码转换程序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4.3.5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过程调用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2573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过程调用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053387" cy="4025900"/>
          </a:xfrm>
        </p:spPr>
        <p:txBody>
          <a:bodyPr/>
          <a:lstStyle/>
          <a:p>
            <a:r>
              <a:rPr lang="zh-CN" altLang="en-US" sz="2800" dirty="0"/>
              <a:t>汇编语言程序中把某些能完成特定功能而又经常要用到的程序段，编写成独立的模块，将它称为</a:t>
            </a:r>
            <a:r>
              <a:rPr lang="zh-CN" altLang="en-US" sz="2800" dirty="0">
                <a:solidFill>
                  <a:srgbClr val="00FF00"/>
                </a:solidFill>
              </a:rPr>
              <a:t>过程</a:t>
            </a:r>
            <a:r>
              <a:rPr lang="zh-CN" altLang="en-US" sz="2800" dirty="0"/>
              <a:t>或</a:t>
            </a:r>
            <a:r>
              <a:rPr lang="zh-CN" altLang="en-US" sz="2800" dirty="0">
                <a:solidFill>
                  <a:srgbClr val="00FF00"/>
                </a:solidFill>
              </a:rPr>
              <a:t>子程序。</a:t>
            </a:r>
            <a:endParaRPr lang="en-US" altLang="zh-CN" sz="2800" dirty="0">
              <a:solidFill>
                <a:srgbClr val="00FF00"/>
              </a:solidFill>
            </a:endParaRPr>
          </a:p>
          <a:p>
            <a:r>
              <a:rPr lang="zh-CN" altLang="en-US" sz="2800" dirty="0"/>
              <a:t>需要执行这段程序时就进行</a:t>
            </a:r>
            <a:r>
              <a:rPr lang="zh-CN" altLang="en-US" sz="2800" dirty="0">
                <a:solidFill>
                  <a:srgbClr val="00FF00"/>
                </a:solidFill>
              </a:rPr>
              <a:t>过程调用</a:t>
            </a:r>
            <a:r>
              <a:rPr lang="zh-CN" altLang="en-US" sz="2800" dirty="0"/>
              <a:t>，执行完毕，再返回到原来调用它的主程序去。</a:t>
            </a:r>
          </a:p>
          <a:p>
            <a:r>
              <a:rPr lang="zh-CN" altLang="en-US" sz="2800" dirty="0"/>
              <a:t>采用过程调用结构编程，使程序结构清晰，语句简练不用重复编写某个程序段，也便于修改。子程序本身又可调用其它子程序，称为</a:t>
            </a:r>
            <a:r>
              <a:rPr lang="zh-CN" altLang="en-US" sz="2800" dirty="0">
                <a:solidFill>
                  <a:srgbClr val="00FF00"/>
                </a:solidFill>
              </a:rPr>
              <a:t>子程序嵌套</a:t>
            </a:r>
            <a:r>
              <a:rPr lang="zh-CN" altLang="en-US" sz="2800" dirty="0"/>
              <a:t>。</a:t>
            </a:r>
          </a:p>
          <a:p>
            <a:pPr>
              <a:buNone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450850"/>
            <a:ext cx="7920037" cy="603885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4.46 </a:t>
            </a:r>
            <a:r>
              <a:rPr lang="zh-CN" altLang="en-US" sz="2800" dirty="0">
                <a:solidFill>
                  <a:srgbClr val="C00000"/>
                </a:solidFill>
              </a:rPr>
              <a:t>√  </a:t>
            </a:r>
            <a:r>
              <a:rPr lang="zh-CN" altLang="en-US" sz="2800" dirty="0">
                <a:latin typeface="+mn-lt"/>
                <a:ea typeface="+mn-ea"/>
              </a:rPr>
              <a:t>内存中有两个数组</a:t>
            </a:r>
            <a:r>
              <a:rPr lang="en-US" sz="2800" dirty="0">
                <a:latin typeface="+mn-lt"/>
                <a:ea typeface="+mn-ea"/>
              </a:rPr>
              <a:t>ARY1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sz="2800" dirty="0">
                <a:latin typeface="+mn-lt"/>
                <a:ea typeface="+mn-ea"/>
              </a:rPr>
              <a:t>ARY2</a:t>
            </a:r>
            <a:r>
              <a:rPr lang="zh-CN" altLang="en-US" sz="2800" dirty="0">
                <a:latin typeface="+mn-lt"/>
                <a:ea typeface="+mn-ea"/>
              </a:rPr>
              <a:t>，数组长度为</a:t>
            </a:r>
            <a:r>
              <a:rPr lang="en-US" sz="2800" dirty="0">
                <a:latin typeface="+mn-lt"/>
                <a:ea typeface="+mn-ea"/>
              </a:rPr>
              <a:t>20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，要求编写一个程序，分别累加两个数组的值，存入</a:t>
            </a:r>
            <a:r>
              <a:rPr lang="en-US" sz="2800" dirty="0">
                <a:latin typeface="+mn-lt"/>
                <a:ea typeface="+mn-ea"/>
              </a:rPr>
              <a:t>SUM1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sz="2800" dirty="0">
                <a:latin typeface="+mn-lt"/>
                <a:ea typeface="+mn-ea"/>
              </a:rPr>
              <a:t>SUM2</a:t>
            </a:r>
            <a:r>
              <a:rPr lang="zh-CN" altLang="en-US" sz="2800" dirty="0">
                <a:latin typeface="+mn-lt"/>
                <a:ea typeface="+mn-ea"/>
              </a:rPr>
              <a:t>开始的单元中，低字节在前，高字节在后。</a:t>
            </a: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累加第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个数组值时，要做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20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次加法，加法可用子过程实现；累加第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个数组时，要做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次加法，加法也可调相同的子过程来完成，但两次调用前的入口参数和存放结果的单元不同。</a:t>
            </a:r>
            <a:endParaRPr lang="en-US" altLang="zh-CN" sz="28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</a:t>
            </a:r>
            <a:r>
              <a:rPr lang="zh-CN" altLang="en-US" sz="2800" dirty="0">
                <a:latin typeface="+mn-lt"/>
                <a:ea typeface="+mn-ea"/>
              </a:rPr>
              <a:t>；数据段</a:t>
            </a:r>
            <a:endParaRPr 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；数据段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ARY1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DB  20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；数组1，20个随机数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SUM1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DB  2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　；存数组1各数相加之和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ARY2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DB  10 DUP</a:t>
            </a:r>
            <a:r>
              <a:rPr lang="zh-CN" altLang="en-US" sz="2400" dirty="0">
                <a:latin typeface="+mn-lt"/>
                <a:ea typeface="+mn-ea"/>
              </a:rPr>
              <a:t>（？）　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；数组2，10个随机数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SUM2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DB  2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；存数组2相加之和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endParaRPr lang="zh-CN" altLang="en-US" sz="2400" b="0" dirty="0">
              <a:latin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450850"/>
            <a:ext cx="8372475" cy="60388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；堆栈段</a:t>
            </a:r>
            <a:endParaRPr 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STACK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   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DW	   50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TOP  LABEL WORD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STACK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	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；代码段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MAIN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	</a:t>
            </a:r>
            <a:r>
              <a:rPr lang="en-US" sz="2400" dirty="0">
                <a:latin typeface="+mn-lt"/>
                <a:ea typeface="+mn-ea"/>
              </a:rPr>
              <a:t> FAR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	；主程序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ASSUME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BEGIN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SS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SP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 TOP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	DS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SUB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	AX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7010" y="5080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6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cover dir="ld"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495300"/>
            <a:ext cx="8372475" cy="59944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LEA	SI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ARY1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；转子前入口参数，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; SI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ARY1首地址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LENGTH ARY1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；CX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 ARY1长度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SUM1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；BX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和单元首址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CALL	SUM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；转子过程，求数组1之和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LEA	SI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ARY2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；转子前设ARY2之入口参数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LENGTH ARY2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SUM2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CALL	SUM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；转子过程，求数组2之和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	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；返回DOS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MAIN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	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；主程序结束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；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;  子程序SUM  (见下页)</a:t>
            </a:r>
            <a:endParaRPr 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;</a:t>
            </a: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7010" y="5080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6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0450" y="584200"/>
            <a:ext cx="7297737" cy="60452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SUM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NEAR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；求和子过程SUM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XOR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；AX清0，CF标志清0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；AH存进位，初值清0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LOOP1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ADC 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[SI]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；数组中取一元素，</a:t>
            </a:r>
            <a:endParaRPr lang="en-US" altLang="zh-CN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;  带进位累加到AL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ADC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；进位累加到AH中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INC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SI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；修改地址指针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LOOP	  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LOOP1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；未完，继续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；已处理完，存和数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[BX+1]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；存进位累加值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SUM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	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；SUM子过程结束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；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MAIN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	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；整个程序结束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0450" y="88265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6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 dir="r"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9350" y="1314450"/>
            <a:ext cx="7608888" cy="5175250"/>
          </a:xfrm>
        </p:spPr>
        <p:txBody>
          <a:bodyPr/>
          <a:lstStyle/>
          <a:p>
            <a:pPr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4.47</a:t>
            </a:r>
            <a:r>
              <a:rPr lang="en-US" sz="32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dirty="0">
                <a:latin typeface="+mn-lt"/>
                <a:ea typeface="+mn-ea"/>
              </a:rPr>
              <a:t>编写显示回车换行子程序。</a:t>
            </a:r>
            <a:endParaRPr lang="en-US" altLang="zh-CN" dirty="0">
              <a:latin typeface="+mn-lt"/>
              <a:ea typeface="+mn-ea"/>
            </a:endParaRPr>
          </a:p>
          <a:p>
            <a:pPr>
              <a:buNone/>
            </a:pPr>
            <a:endParaRPr lang="zh-CN" altLang="en-US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CRLF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dirty="0">
                <a:latin typeface="+mn-lt"/>
                <a:ea typeface="+mn-ea"/>
              </a:rPr>
              <a:t>	NEAR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0DH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；回车符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INT	</a:t>
            </a:r>
            <a:r>
              <a:rPr lang="zh-CN" altLang="en-US" sz="2400" dirty="0">
                <a:latin typeface="+mn-lt"/>
                <a:ea typeface="+mn-ea"/>
              </a:rPr>
              <a:t>　　　</a:t>
            </a:r>
            <a:r>
              <a:rPr lang="en-US" sz="2400" dirty="0">
                <a:latin typeface="+mn-lt"/>
                <a:ea typeface="+mn-ea"/>
              </a:rPr>
              <a:t>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0AH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；换行符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INT	</a:t>
            </a:r>
            <a:r>
              <a:rPr lang="zh-CN" altLang="en-US" sz="2400" dirty="0">
                <a:latin typeface="+mn-lt"/>
                <a:ea typeface="+mn-ea"/>
              </a:rPr>
              <a:t>　　　</a:t>
            </a:r>
            <a:r>
              <a:rPr lang="en-US" sz="2400" dirty="0">
                <a:latin typeface="+mn-lt"/>
                <a:ea typeface="+mn-ea"/>
              </a:rPr>
              <a:t>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CRLF	</a:t>
            </a:r>
            <a:r>
              <a:rPr lang="zh-CN" alt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12731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4.3.5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过程调用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4.48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en-US" sz="2800" dirty="0">
                <a:solidFill>
                  <a:srgbClr val="00FF00"/>
                </a:solidFill>
                <a:latin typeface="Arial" panose="020B0604020202020204" pitchFamily="34" charset="0"/>
                <a:ea typeface="+mj-ea"/>
              </a:rPr>
              <a:t>×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编写从键盘输入</a:t>
            </a:r>
            <a:r>
              <a:rPr lang="en-US" sz="2800" dirty="0">
                <a:latin typeface="+mn-lt"/>
                <a:ea typeface="+mn-ea"/>
              </a:rPr>
              <a:t>8</a:t>
            </a:r>
            <a:r>
              <a:rPr lang="zh-CN" altLang="en-US" sz="2800" dirty="0">
                <a:latin typeface="+mn-lt"/>
                <a:ea typeface="+mn-ea"/>
              </a:rPr>
              <a:t>个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进制数，将它转换成</a:t>
            </a:r>
            <a:r>
              <a:rPr lang="en-US" sz="2800" dirty="0">
                <a:latin typeface="+mn-lt"/>
                <a:ea typeface="+mn-ea"/>
              </a:rPr>
              <a:t>16</a:t>
            </a:r>
            <a:r>
              <a:rPr lang="zh-CN" altLang="en-US" sz="2800" dirty="0">
                <a:latin typeface="+mn-lt"/>
                <a:ea typeface="+mn-ea"/>
              </a:rPr>
              <a:t>进制数后在屏幕上显示的程序。首先从键盘输入一个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进制数（</a:t>
            </a:r>
            <a:r>
              <a:rPr lang="en-US" sz="2800" dirty="0">
                <a:latin typeface="+mn-lt"/>
                <a:ea typeface="+mn-ea"/>
              </a:rPr>
              <a:t>0~65536</a:t>
            </a:r>
            <a:r>
              <a:rPr lang="zh-CN" altLang="en-US" sz="2800" dirty="0">
                <a:latin typeface="+mn-lt"/>
                <a:ea typeface="+mn-ea"/>
              </a:rPr>
              <a:t>），该数以回车符结束，然后将它转换成</a:t>
            </a:r>
            <a:r>
              <a:rPr lang="en-US" sz="2800" dirty="0">
                <a:latin typeface="+mn-lt"/>
                <a:ea typeface="+mn-ea"/>
              </a:rPr>
              <a:t>16</a:t>
            </a:r>
            <a:r>
              <a:rPr lang="zh-CN" altLang="en-US" sz="2800" dirty="0">
                <a:latin typeface="+mn-lt"/>
                <a:ea typeface="+mn-ea"/>
              </a:rPr>
              <a:t>进制数的</a:t>
            </a:r>
            <a:r>
              <a:rPr lang="en-US" sz="2800" dirty="0">
                <a:latin typeface="+mn-lt"/>
                <a:ea typeface="+mn-ea"/>
              </a:rPr>
              <a:t>ASCII</a:t>
            </a:r>
            <a:r>
              <a:rPr lang="zh-CN" altLang="en-US" sz="2800" dirty="0">
                <a:latin typeface="+mn-lt"/>
                <a:ea typeface="+mn-ea"/>
              </a:rPr>
              <a:t>码，在显示器上显示出来。重复</a:t>
            </a:r>
            <a:r>
              <a:rPr lang="en-US" sz="2800" dirty="0">
                <a:latin typeface="+mn-lt"/>
                <a:ea typeface="+mn-ea"/>
              </a:rPr>
              <a:t>8</a:t>
            </a:r>
            <a:r>
              <a:rPr lang="zh-CN" altLang="en-US" sz="2800" dirty="0">
                <a:latin typeface="+mn-lt"/>
                <a:ea typeface="+mn-ea"/>
              </a:rPr>
              <a:t>次，即可在屏幕上显示</a:t>
            </a:r>
            <a:r>
              <a:rPr lang="en-US" sz="2800" dirty="0">
                <a:latin typeface="+mn-lt"/>
                <a:ea typeface="+mn-ea"/>
              </a:rPr>
              <a:t>8</a:t>
            </a:r>
            <a:r>
              <a:rPr lang="zh-CN" altLang="en-US" sz="2800" dirty="0">
                <a:latin typeface="+mn-lt"/>
                <a:ea typeface="+mn-ea"/>
              </a:rPr>
              <a:t>个</a:t>
            </a:r>
            <a:r>
              <a:rPr lang="en-US" sz="2800" dirty="0">
                <a:latin typeface="+mn-lt"/>
                <a:ea typeface="+mn-ea"/>
              </a:rPr>
              <a:t>16</a:t>
            </a:r>
            <a:r>
              <a:rPr lang="zh-CN" altLang="en-US" sz="2800" dirty="0">
                <a:latin typeface="+mn-lt"/>
                <a:ea typeface="+mn-ea"/>
              </a:rPr>
              <a:t>进制数。</a:t>
            </a: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编程时，只要编写一个主程序，再调前面介绍的相关程序，包括</a:t>
            </a:r>
            <a:r>
              <a:rPr lang="en-US" altLang="zh-CN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sz="2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4.42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</a:t>
            </a: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DEC_BIN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程序：将键入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进制数转换成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码，再转换成二进制数，结果存入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中。</a:t>
            </a: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4.43 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BIN_HEX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程序：将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中的二进制数转换成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进制数，再转换成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码，显示出来。</a:t>
            </a:r>
          </a:p>
          <a:p>
            <a:pPr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4.47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 </a:t>
            </a:r>
            <a:r>
              <a:rPr lang="en-US" altLang="zh-CN" sz="2400" dirty="0">
                <a:solidFill>
                  <a:srgbClr val="00B0F0"/>
                </a:solidFill>
                <a:latin typeface="+mn-lt"/>
                <a:ea typeface="+mn-ea"/>
              </a:rPr>
              <a:t>CRLF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显示回车换行子程序。</a:t>
            </a:r>
          </a:p>
          <a:p>
            <a:endParaRPr lang="zh-CN" altLang="en-US" sz="24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12731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4.3.5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过程调用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200" dirty="0">
                <a:solidFill>
                  <a:schemeClr val="accent6"/>
                </a:solidFill>
                <a:latin typeface="+mn-lt"/>
                <a:ea typeface="+mn-ea"/>
              </a:rPr>
              <a:t>DEC_HEX</a:t>
            </a:r>
            <a:r>
              <a:rPr lang="en-US" sz="2200" dirty="0">
                <a:solidFill>
                  <a:srgbClr val="00FF00"/>
                </a:solidFill>
                <a:latin typeface="+mn-lt"/>
                <a:ea typeface="+mn-ea"/>
              </a:rPr>
              <a:t>  </a:t>
            </a:r>
            <a:r>
              <a:rPr lang="en-US" sz="2200" dirty="0">
                <a:latin typeface="+mn-lt"/>
                <a:ea typeface="+mn-ea"/>
              </a:rPr>
              <a:t>SEGMENT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200" b="1" dirty="0">
                <a:solidFill>
                  <a:srgbClr val="00CC00"/>
                </a:solidFill>
                <a:latin typeface="+mn-lt"/>
                <a:ea typeface="+mn-ea"/>
              </a:rPr>
              <a:t>10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进制转换成</a:t>
            </a:r>
            <a:r>
              <a:rPr lang="en-US" sz="2200" b="1" dirty="0">
                <a:solidFill>
                  <a:srgbClr val="00CC00"/>
                </a:solidFill>
                <a:latin typeface="+mn-lt"/>
                <a:ea typeface="+mn-ea"/>
              </a:rPr>
              <a:t>16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进制数程序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ASSUME  CS</a:t>
            </a:r>
            <a:r>
              <a:rPr lang="zh-CN" altLang="en-US" sz="2200" dirty="0">
                <a:latin typeface="+mn-lt"/>
                <a:ea typeface="+mn-ea"/>
              </a:rPr>
              <a:t>：</a:t>
            </a:r>
            <a:r>
              <a:rPr lang="en-US" sz="2200" dirty="0">
                <a:latin typeface="+mn-lt"/>
                <a:ea typeface="+mn-ea"/>
              </a:rPr>
              <a:t>DEC_HEX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MAIN	</a:t>
            </a:r>
            <a:r>
              <a:rPr lang="en-US" sz="2200" b="1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200" dirty="0">
                <a:latin typeface="+mn-lt"/>
                <a:ea typeface="+mn-ea"/>
              </a:rPr>
              <a:t>	FAR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；主程序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</a:t>
            </a:r>
            <a:r>
              <a:rPr lang="zh-CN" altLang="en-US" sz="2200" dirty="0">
                <a:latin typeface="+mn-lt"/>
                <a:ea typeface="+mn-ea"/>
              </a:rPr>
              <a:t>┆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latin typeface="+mn-lt"/>
                <a:ea typeface="+mn-ea"/>
              </a:rPr>
              <a:t>　　　</a:t>
            </a:r>
            <a:r>
              <a:rPr lang="en-US" sz="2200" dirty="0">
                <a:latin typeface="+mn-lt"/>
                <a:ea typeface="+mn-ea"/>
              </a:rPr>
              <a:t>MOV	CX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8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；调用8次子程序</a:t>
            </a:r>
            <a:endParaRPr lang="zh-CN" altLang="en-US" sz="22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latin typeface="+mn-lt"/>
                <a:ea typeface="+mn-ea"/>
              </a:rPr>
              <a:t>　　　</a:t>
            </a:r>
            <a:r>
              <a:rPr lang="en-US" sz="2200" dirty="0">
                <a:latin typeface="+mn-lt"/>
                <a:ea typeface="+mn-ea"/>
              </a:rPr>
              <a:t>PUSH	CX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；CX入栈保护</a:t>
            </a:r>
            <a:endParaRPr lang="zh-CN" altLang="en-US" sz="22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REPT: 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CALL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DEC_BIN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；10进制 二进制，结果在BX中</a:t>
            </a:r>
            <a:endParaRPr lang="zh-CN" altLang="en-US" sz="22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CALL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BIN_HEX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；二进制 16进制及其ASCII码并显示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</a:t>
            </a:r>
            <a:r>
              <a:rPr lang="en-US" altLang="zh-CN" sz="2200" dirty="0">
                <a:solidFill>
                  <a:srgbClr val="00B0F0"/>
                </a:solidFill>
                <a:latin typeface="+mn-lt"/>
                <a:ea typeface="+mn-ea"/>
              </a:rPr>
              <a:t>CALL  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CRLF	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；显示16进制数后回车、换行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POP	CX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；堆栈中弹出CX，初值为，逐次减1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DEC	CX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；CX CX-1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PUSH	CX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；减1后的CX入栈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CMP	CX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0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；CX=0？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JNE	REPT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；非0则转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</a:t>
            </a:r>
            <a:r>
              <a:rPr lang="en-US" sz="2200" b="1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	</a:t>
            </a:r>
            <a:r>
              <a:rPr lang="en-US" sz="2200" dirty="0">
                <a:latin typeface="+mn-lt"/>
                <a:ea typeface="+mn-ea"/>
              </a:rPr>
              <a:t>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；是0则退出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MAIN	</a:t>
            </a:r>
            <a:r>
              <a:rPr lang="en-US" sz="2200" b="1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	</a:t>
            </a:r>
            <a:r>
              <a:rPr lang="en-US" sz="2200" dirty="0">
                <a:latin typeface="+mn-lt"/>
                <a:ea typeface="+mn-ea"/>
              </a:rPr>
              <a:t>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；主程序结束</a:t>
            </a:r>
          </a:p>
          <a:p>
            <a:pPr algn="l">
              <a:spcBef>
                <a:spcPts val="0"/>
              </a:spcBef>
              <a:buNone/>
            </a:pPr>
            <a:endParaRPr lang="zh-CN" altLang="en-US" sz="2200" b="1" dirty="0">
              <a:solidFill>
                <a:srgbClr val="00CC00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8</a:t>
            </a:r>
            <a:r>
              <a:rPr lang="en-US" sz="3200" b="1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12731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4.3.5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过程调用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27150" y="495300"/>
            <a:ext cx="6319837" cy="60388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200" dirty="0">
                <a:solidFill>
                  <a:srgbClr val="00CC00"/>
                </a:solidFill>
                <a:latin typeface="+mn-lt"/>
                <a:ea typeface="+mn-ea"/>
              </a:rPr>
              <a:t>; 10</a:t>
            </a: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进制数转换成二进制数，结果存</a:t>
            </a:r>
            <a:r>
              <a:rPr lang="en-US" sz="22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endParaRPr lang="en-US" altLang="en-US" sz="22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DEC_BIN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200" dirty="0">
                <a:latin typeface="+mn-lt"/>
                <a:ea typeface="+mn-ea"/>
              </a:rPr>
              <a:t>	NEAR	</a:t>
            </a:r>
            <a:r>
              <a:rPr lang="zh-CN" altLang="en-US" sz="2200" dirty="0">
                <a:latin typeface="+mn-lt"/>
                <a:ea typeface="+mn-ea"/>
              </a:rPr>
              <a:t>；</a:t>
            </a:r>
            <a:r>
              <a:rPr lang="en-US" sz="2200" dirty="0">
                <a:latin typeface="+mn-lt"/>
                <a:ea typeface="+mn-ea"/>
              </a:rPr>
              <a:t>	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</a:t>
            </a:r>
            <a:r>
              <a:rPr lang="zh-CN" altLang="en-US" sz="2200" dirty="0">
                <a:latin typeface="+mn-lt"/>
                <a:ea typeface="+mn-ea"/>
              </a:rPr>
              <a:t>┆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DEC_BIN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；将</a:t>
            </a:r>
            <a:r>
              <a:rPr lang="en-US" sz="22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中的二进制数转换成</a:t>
            </a:r>
            <a:r>
              <a:rPr lang="en-US" sz="2200" dirty="0">
                <a:solidFill>
                  <a:srgbClr val="00CC00"/>
                </a:solidFill>
                <a:latin typeface="+mn-lt"/>
                <a:ea typeface="+mn-ea"/>
              </a:rPr>
              <a:t>16</a:t>
            </a: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进制数并显示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BIN_HEX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200" dirty="0">
                <a:latin typeface="+mn-lt"/>
                <a:ea typeface="+mn-ea"/>
              </a:rPr>
              <a:t>	NEAR</a:t>
            </a:r>
            <a:endParaRPr lang="en-US" altLang="zh-CN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</a:t>
            </a:r>
            <a:r>
              <a:rPr lang="zh-CN" altLang="en-US" sz="2200" dirty="0">
                <a:latin typeface="+mn-lt"/>
                <a:ea typeface="+mn-ea"/>
              </a:rPr>
              <a:t>┆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BIN_HEX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；回车换行子程序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CRLF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200" dirty="0">
                <a:latin typeface="+mn-lt"/>
                <a:ea typeface="+mn-ea"/>
              </a:rPr>
              <a:t>	NEAR	 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┆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CRLF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；代码段结束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solidFill>
                  <a:srgbClr val="00FF00"/>
                </a:solidFill>
                <a:latin typeface="+mn-lt"/>
                <a:ea typeface="+mn-ea"/>
              </a:rPr>
              <a:t>DEC_HEX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ENDP	</a:t>
            </a:r>
            <a:r>
              <a:rPr lang="en-US" sz="2200" dirty="0">
                <a:latin typeface="+mn-lt"/>
                <a:ea typeface="+mn-ea"/>
              </a:rPr>
              <a:t>	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	</a:t>
            </a:r>
            <a:r>
              <a:rPr lang="en-US" sz="2200" dirty="0">
                <a:solidFill>
                  <a:srgbClr val="00FF00"/>
                </a:solidFill>
                <a:latin typeface="+mn-lt"/>
                <a:ea typeface="+mn-ea"/>
              </a:rPr>
              <a:t>MAIN</a:t>
            </a:r>
            <a:endParaRPr lang="zh-CN" altLang="en-US" sz="2200" dirty="0">
              <a:solidFill>
                <a:srgbClr val="00FF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 </a:t>
            </a:r>
            <a:endParaRPr lang="zh-CN" altLang="en-US" sz="22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3810" y="36195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8</a:t>
            </a:r>
            <a:r>
              <a:rPr lang="en-US" sz="3200" b="1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10:12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I:\微机原理\微机模板.pot</Template>
  <TotalTime>108</TotalTime>
  <Words>13960</Words>
  <Application>Microsoft Office PowerPoint</Application>
  <PresentationFormat>全屏显示(4:3)</PresentationFormat>
  <Paragraphs>1323</Paragraphs>
  <Slides>140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140</vt:i4>
      </vt:variant>
    </vt:vector>
  </HeadingPairs>
  <TitlesOfParts>
    <vt:vector size="156" baseType="lpstr">
      <vt:lpstr>方正姚体</vt:lpstr>
      <vt:lpstr>仿宋_GB2312</vt:lpstr>
      <vt:lpstr>黑体</vt:lpstr>
      <vt:lpstr>华文琥珀</vt:lpstr>
      <vt:lpstr>华文楷体</vt:lpstr>
      <vt:lpstr>华文新魏</vt:lpstr>
      <vt:lpstr>华文中宋</vt:lpstr>
      <vt:lpstr>楷体_GB2312</vt:lpstr>
      <vt:lpstr>宋体</vt:lpstr>
      <vt:lpstr>Arial</vt:lpstr>
      <vt:lpstr>Garamond</vt:lpstr>
      <vt:lpstr>Times New Roman</vt:lpstr>
      <vt:lpstr>Wingdings</vt:lpstr>
      <vt:lpstr>Wingdings 3</vt:lpstr>
      <vt:lpstr>默认设计模板</vt:lpstr>
      <vt:lpstr>Paintbrush Picture</vt:lpstr>
      <vt:lpstr>第4章  汇编语言程序设计</vt:lpstr>
      <vt:lpstr>本章主要内容</vt:lpstr>
      <vt:lpstr>关于汇编语言：引子</vt:lpstr>
      <vt:lpstr>PowerPoint 演示文稿</vt:lpstr>
      <vt:lpstr>关于汇编语言：引子</vt:lpstr>
      <vt:lpstr>§4.1 汇编语言程序格式和伪指令</vt:lpstr>
      <vt:lpstr>4.1.1 汇编语言程序格式</vt:lpstr>
      <vt:lpstr>4.1.1 汇编语言程序格式</vt:lpstr>
      <vt:lpstr>4.1.1 汇编语言程序格式</vt:lpstr>
      <vt:lpstr>4.1.1 汇编语言程序格式</vt:lpstr>
      <vt:lpstr>1. 指令语句</vt:lpstr>
      <vt:lpstr>4.1.1 汇编语言程序格式</vt:lpstr>
      <vt:lpstr>4.1.1 汇编语言程序格式 </vt:lpstr>
      <vt:lpstr>4.1.1 汇编语言程序格式</vt:lpstr>
      <vt:lpstr>4.1.1 汇编语言程序格式</vt:lpstr>
      <vt:lpstr>3. 表达式和运算符</vt:lpstr>
      <vt:lpstr>表达式的运算符</vt:lpstr>
      <vt:lpstr>表达式的运算符</vt:lpstr>
      <vt:lpstr>PowerPoint 演示文稿</vt:lpstr>
      <vt:lpstr>表达式的运算符(续)</vt:lpstr>
      <vt:lpstr>表达式的运算符(续)</vt:lpstr>
      <vt:lpstr>PowerPoint 演示文稿</vt:lpstr>
      <vt:lpstr>常用运算符举例</vt:lpstr>
      <vt:lpstr>常用运算符举例</vt:lpstr>
      <vt:lpstr>常用运算符举例</vt:lpstr>
      <vt:lpstr>常用运算符举例</vt:lpstr>
      <vt:lpstr>4.1.1 汇编语言程序格式 4.1.2 伪指令语句 4.1.3 完整的汇编语言程      序框架 </vt:lpstr>
      <vt:lpstr>4.1.2  伪指令语句</vt:lpstr>
      <vt:lpstr>2.段分配语句 ASSUME （了解）</vt:lpstr>
      <vt:lpstr>3.过程定义语句PROC和ENDP</vt:lpstr>
      <vt:lpstr>4.变量定义语句(DB、DW、DD、DQ和DT)</vt:lpstr>
      <vt:lpstr>4.变量定义语句--举例</vt:lpstr>
      <vt:lpstr>4.变量定义语句--重复值DUP举例</vt:lpstr>
      <vt:lpstr>4.变量定义语句（可能考试 ）</vt:lpstr>
      <vt:lpstr>4.变量定义语句---变量存放情况</vt:lpstr>
      <vt:lpstr>5.程序结束语句</vt:lpstr>
      <vt:lpstr>6.其它伪指令</vt:lpstr>
      <vt:lpstr>6.其它伪指令</vt:lpstr>
      <vt:lpstr>6.其它伪指令</vt:lpstr>
      <vt:lpstr>6.其它伪指令</vt:lpstr>
      <vt:lpstr>6.其它伪指令</vt:lpstr>
      <vt:lpstr>PowerPoint 演示文稿</vt:lpstr>
      <vt:lpstr>4.1.3  完整的汇编语言程序框架</vt:lpstr>
      <vt:lpstr>1.完整的汇编语言程序框架</vt:lpstr>
      <vt:lpstr>1.完整的汇编语言程序框架</vt:lpstr>
      <vt:lpstr>1.完整的汇编语言程序框架</vt:lpstr>
      <vt:lpstr>1.完整的汇编语言程序框架</vt:lpstr>
      <vt:lpstr>1.完整的汇编语言程序框架</vt:lpstr>
      <vt:lpstr>1.完整的汇编语言程序框架</vt:lpstr>
      <vt:lpstr>2. 关于堆栈的进一步说明</vt:lpstr>
      <vt:lpstr>2. 关于堆栈的进一步说明</vt:lpstr>
      <vt:lpstr>3.关于返回DOS系统的进一步说明</vt:lpstr>
      <vt:lpstr>3.关于返回DOS系统的进一步说明</vt:lpstr>
      <vt:lpstr>3.返回DOS操作系统</vt:lpstr>
      <vt:lpstr>§4.2  DOS系统功能调用和   BIOS中断调用</vt:lpstr>
      <vt:lpstr>4.2.1  概述</vt:lpstr>
      <vt:lpstr>4.2.1  概述</vt:lpstr>
      <vt:lpstr>PowerPoint 演示文稿</vt:lpstr>
      <vt:lpstr>PowerPoint 演示文稿</vt:lpstr>
      <vt:lpstr>4.2.2   DOS系统功能调用</vt:lpstr>
      <vt:lpstr>1. 中断处理程序分类</vt:lpstr>
      <vt:lpstr>2. DOS系统功能调用方法</vt:lpstr>
      <vt:lpstr>3. DOS系统功能调用举例</vt:lpstr>
      <vt:lpstr>3. DOS系统功能调用举例</vt:lpstr>
      <vt:lpstr>3. DOS系统功能调用举例</vt:lpstr>
      <vt:lpstr>3. DOS系统功能调用举例</vt:lpstr>
      <vt:lpstr>PowerPoint 演示文稿</vt:lpstr>
      <vt:lpstr>3. DOS系统功能调用举例</vt:lpstr>
      <vt:lpstr>3. DOS系统功能调用举例</vt:lpstr>
      <vt:lpstr>PowerPoint 演示文稿</vt:lpstr>
      <vt:lpstr>3. DOS系统功能调用举例</vt:lpstr>
      <vt:lpstr>PowerPoint 演示文稿</vt:lpstr>
      <vt:lpstr>PowerPoint 演示文稿</vt:lpstr>
      <vt:lpstr>4.2.3  BIOS中断调用</vt:lpstr>
      <vt:lpstr>PowerPoint 演示文稿</vt:lpstr>
      <vt:lpstr>PowerPoint 演示文稿</vt:lpstr>
      <vt:lpstr>1.键盘中断调用INT  16H</vt:lpstr>
      <vt:lpstr>1.键盘中断调用INT  16H</vt:lpstr>
      <vt:lpstr>1.键盘中断调用INT  16H</vt:lpstr>
      <vt:lpstr>1.键盘中断调用INT  16H</vt:lpstr>
      <vt:lpstr>2.打印机中断调用INT  17H</vt:lpstr>
      <vt:lpstr>2.打印机中断调用INT  17H</vt:lpstr>
      <vt:lpstr>2.打印机中断调用INT  17H</vt:lpstr>
      <vt:lpstr>2.打印机中断调用INT  17H</vt:lpstr>
      <vt:lpstr>PowerPoint 演示文稿</vt:lpstr>
      <vt:lpstr>PowerPoint 演示文稿</vt:lpstr>
      <vt:lpstr>§4.3  汇编语言程序设计方法与实例</vt:lpstr>
      <vt:lpstr>引子—结构化程序设计方法</vt:lpstr>
      <vt:lpstr>引子—结构化程序设计方法</vt:lpstr>
      <vt:lpstr>PowerPoint 演示文稿</vt:lpstr>
      <vt:lpstr>4.3.1  顺序结构程序设计</vt:lpstr>
      <vt:lpstr>4.3.1 顺序结构程序设计√</vt:lpstr>
      <vt:lpstr>PowerPoint 演示文稿</vt:lpstr>
      <vt:lpstr>PowerPoint 演示文稿</vt:lpstr>
      <vt:lpstr>4.3.1 顺序结构程序设计√</vt:lpstr>
      <vt:lpstr>PowerPoint 演示文稿</vt:lpstr>
      <vt:lpstr>PowerPoint 演示文稿</vt:lpstr>
      <vt:lpstr>PowerPoint 演示文稿</vt:lpstr>
      <vt:lpstr>4.3.2  分支程序设计</vt:lpstr>
      <vt:lpstr>4.3.2  分支程序设计√</vt:lpstr>
      <vt:lpstr>4.3.2  分支程序设计</vt:lpstr>
      <vt:lpstr>PowerPoint 演示文稿</vt:lpstr>
      <vt:lpstr>PowerPoint 演示文稿</vt:lpstr>
      <vt:lpstr>PowerPoint 演示文稿</vt:lpstr>
      <vt:lpstr>PowerPoint 演示文稿</vt:lpstr>
      <vt:lpstr>4.3.3  循环结构程序</vt:lpstr>
      <vt:lpstr>4.3.3  循环结构程序√</vt:lpstr>
      <vt:lpstr>4.3.3  循环结构程序</vt:lpstr>
      <vt:lpstr>4.3.3  循环结构程序</vt:lpstr>
      <vt:lpstr>4.3.3  循环结构程序</vt:lpstr>
      <vt:lpstr>4.3.3  循环结构程序（讲）</vt:lpstr>
      <vt:lpstr>4.3.3  循环结构程序</vt:lpstr>
      <vt:lpstr>4.3.3  循环结构程序</vt:lpstr>
      <vt:lpstr>4.3.3  循环结构程序</vt:lpstr>
      <vt:lpstr>PowerPoint 演示文稿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PowerPoint 演示文稿</vt:lpstr>
      <vt:lpstr>4.3.5  过程调用</vt:lpstr>
      <vt:lpstr>PowerPoint 演示文稿</vt:lpstr>
      <vt:lpstr>PowerPoint 演示文稿</vt:lpstr>
      <vt:lpstr>PowerPoint 演示文稿</vt:lpstr>
      <vt:lpstr>PowerPoint 演示文稿</vt:lpstr>
      <vt:lpstr>4.3.5  过程调用</vt:lpstr>
      <vt:lpstr>4.3.5  过程调用</vt:lpstr>
      <vt:lpstr>4.3.5  过程调用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7.2 8253的应用</dc:title>
  <dc:creator>冯周</dc:creator>
  <cp:lastModifiedBy>liu qing</cp:lastModifiedBy>
  <cp:revision>611</cp:revision>
  <dcterms:created xsi:type="dcterms:W3CDTF">2003-06-02T09:23:00Z</dcterms:created>
  <dcterms:modified xsi:type="dcterms:W3CDTF">2025-10-11T02:39:03Z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
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8" r:id="rId6"/>
  </p:sldMasterIdLst>
  <p:notesMasterIdLst>
    <p:notesMasterId r:id="rId47"/>
  </p:notesMasterIdLst>
  <p:sldIdLst>
    <p:sldId id="574" r:id="rId7"/>
    <p:sldId id="700" r:id="rId8"/>
    <p:sldId id="667" r:id="rId9"/>
    <p:sldId id="668" r:id="rId10"/>
    <p:sldId id="598" r:id="rId11"/>
    <p:sldId id="703" r:id="rId12"/>
    <p:sldId id="661" r:id="rId13"/>
    <p:sldId id="663" r:id="rId14"/>
    <p:sldId id="670" r:id="rId15"/>
    <p:sldId id="665" r:id="rId16"/>
    <p:sldId id="666" r:id="rId17"/>
    <p:sldId id="680" r:id="rId18"/>
    <p:sldId id="664" r:id="rId19"/>
    <p:sldId id="679" r:id="rId20"/>
    <p:sldId id="678" r:id="rId21"/>
    <p:sldId id="676" r:id="rId22"/>
    <p:sldId id="675" r:id="rId23"/>
    <p:sldId id="701" r:id="rId24"/>
    <p:sldId id="691" r:id="rId25"/>
    <p:sldId id="673" r:id="rId26"/>
    <p:sldId id="690" r:id="rId27"/>
    <p:sldId id="689" r:id="rId28"/>
    <p:sldId id="692" r:id="rId29"/>
    <p:sldId id="688" r:id="rId30"/>
    <p:sldId id="687" r:id="rId31"/>
    <p:sldId id="693" r:id="rId32"/>
    <p:sldId id="686" r:id="rId33"/>
    <p:sldId id="685" r:id="rId34"/>
    <p:sldId id="694" r:id="rId35"/>
    <p:sldId id="684" r:id="rId36"/>
    <p:sldId id="683" r:id="rId37"/>
    <p:sldId id="682" r:id="rId38"/>
    <p:sldId id="672" r:id="rId39"/>
    <p:sldId id="697" r:id="rId40"/>
    <p:sldId id="695" r:id="rId41"/>
    <p:sldId id="696" r:id="rId42"/>
    <p:sldId id="699" r:id="rId43"/>
    <p:sldId id="702" r:id="rId44"/>
    <p:sldId id="437" r:id="rId45"/>
    <p:sldId id="439" r:id="rId4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6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0033CC"/>
    <a:srgbClr val="CC0000"/>
    <a:srgbClr val="FF00FF"/>
    <a:srgbClr val="008000"/>
    <a:srgbClr val="FF0066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>
      <p:cViewPr varScale="1">
        <p:scale>
          <a:sx n="63" d="100"/>
          <a:sy n="63" d="100"/>
        </p:scale>
        <p:origin x="1380" y="88"/>
      </p:cViewPr>
      <p:guideLst>
        <p:guide orient="horz" pos="216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21" cy="45021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presProps" Target="presProps.xml"/><Relationship Id="rId8" Type="http://schemas.openxmlformats.org/officeDocument/2006/relationships/slide" Target="slides/slide2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0E4988D-2AE9-4CDF-B57A-F6839C6E1C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/>
          <a:lstStyle>
            <a:lvl1pPr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8E867D30-55AC-43DB-9383-7FA36A6C051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/>
          <a:lstStyle>
            <a:lvl1pPr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2228" name="Rectangle 4">
            <a:extLst>
              <a:ext uri="{FF2B5EF4-FFF2-40B4-BE49-F238E27FC236}">
                <a16:creationId xmlns:a16="http://schemas.microsoft.com/office/drawing/2014/main" id="{38295FA0-4D0D-4BEE-97D4-C69F91E3B4C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292F6311-117A-4E31-94E1-F239152DA004}"/>
              </a:ext>
            </a:extLst>
          </p:cNvPr>
          <p:cNvSpPr>
            <a:spLocks noGrp="1" noRot="1" noChangeAspect="1" noChangeArrowheads="1" noTextEdit="1"/>
          </p:cNvSpPr>
          <p:nvPr/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just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just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just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just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pPr>
            <a:r>
              <a:rPr lang="zh-CN" altLang="en-US"/>
              <a:t>            </a:t>
            </a:r>
          </a:p>
          <a:p>
            <a:pPr lvl="1" algn="l"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pPr>
            <a:r>
              <a:rPr lang="zh-CN" altLang="en-US"/>
              <a:t>   </a:t>
            </a:r>
          </a:p>
          <a:p>
            <a:pPr lvl="2" algn="l"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pPr>
            <a:r>
              <a:rPr lang="zh-CN" altLang="en-US"/>
              <a:t>   </a:t>
            </a:r>
          </a:p>
          <a:p>
            <a:pPr lvl="3" algn="l"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pPr>
            <a:r>
              <a:rPr lang="zh-CN" altLang="en-US"/>
              <a:t>   </a:t>
            </a:r>
          </a:p>
          <a:p>
            <a:pPr lvl="4" algn="l"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pPr>
            <a:r>
              <a:rPr lang="zh-CN" altLang="en-US"/>
              <a:t>   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71C3806B-17E7-466A-A47C-900518405E0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b"/>
          <a:lstStyle>
            <a:lvl1pPr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9A5A9B09-61BD-448D-A313-515EF02EC3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b"/>
          <a:lstStyle>
            <a:lvl1pPr eaLnBrk="1" hangingPunct="1">
              <a:buClr>
                <a:srgbClr val="B4B9BE"/>
              </a:buClr>
              <a:buFont typeface="Arial" panose="020B0604020202020204" pitchFamily="34" charset="0"/>
              <a:buNone/>
              <a:defRPr noProof="1">
                <a:latin typeface="Times New Roman" panose="02020603050405020304" pitchFamily="18" charset="0"/>
                <a:cs typeface="+mn-ea"/>
              </a:defRPr>
            </a:lvl1pPr>
          </a:lstStyle>
          <a:p>
            <a:pPr>
              <a:defRPr/>
            </a:pPr>
            <a:fld id="{4773DA3C-E255-4F0F-8FCF-A1482C7762D2}" type="slidenum">
              <a:rPr lang="en-US" altLang="x-none"/>
              <a:pPr>
                <a:defRPr/>
              </a:pPr>
              <a:t>‹#›</a:t>
            </a:fld>
            <a:endParaRPr lang="en-US" altLang="x-none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0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</a:defRPr>
    </a:lvl1pPr>
    <a:lvl2pPr lvl="1" algn="l" defTabSz="0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</a:defRPr>
    </a:lvl2pPr>
    <a:lvl3pPr lvl="2" algn="l" defTabSz="0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</a:defRPr>
    </a:lvl3pPr>
    <a:lvl4pPr lvl="3" algn="l" defTabSz="0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</a:defRPr>
    </a:lvl4pPr>
    <a:lvl5pPr lvl="4" algn="l" defTabSz="0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</a:defRPr>
    </a:lvl5pPr>
    <a:lvl6pPr marL="2286000" lvl="5" indent="0" defTabSz="0" fontAlgn="base">
      <a:defRPr sz="1200" kern="1200"/>
    </a:lvl6pPr>
    <a:lvl7pPr marL="2743200" lvl="6" indent="0" defTabSz="0" fontAlgn="base">
      <a:defRPr sz="1200" kern="1200"/>
    </a:lvl7pPr>
    <a:lvl8pPr marL="3200400" lvl="7" indent="0" defTabSz="0" fontAlgn="base">
      <a:defRPr sz="1200" kern="1200"/>
    </a:lvl8pPr>
    <a:lvl9pPr marL="3657600" lvl="8" indent="0" defTabSz="0" fontAlgn="base">
      <a:defRPr sz="1200" kern="1200"/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913564876"/>
      </p:ext>
    </p:extLst>
  </p:cSld>
  <p:clrMapOvr>
    <a:masterClrMapping/>
  </p:clrMapOvr>
  <p:transition spd="slow">
    <p:plus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10066192"/>
      </p:ext>
    </p:extLst>
  </p:cSld>
  <p:clrMapOvr>
    <a:masterClrMapping/>
  </p:clrMapOvr>
  <p:transition spd="slow">
    <p:plus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28442116"/>
      </p:ext>
    </p:extLst>
  </p:cSld>
  <p:clrMapOvr>
    <a:masterClrMapping/>
  </p:clrMapOvr>
  <p:transition spd="slow">
    <p:plus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5763" y="1314450"/>
            <a:ext cx="4102513" cy="51752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725" y="1314450"/>
            <a:ext cx="4102513" cy="51752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36051683"/>
      </p:ext>
    </p:extLst>
  </p:cSld>
  <p:clrMapOvr>
    <a:masterClrMapping/>
  </p:clrMapOvr>
  <p:transition spd="slow">
    <p:plus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71502165"/>
      </p:ext>
    </p:extLst>
  </p:cSld>
  <p:clrMapOvr>
    <a:masterClrMapping/>
  </p:clrMapOvr>
  <p:transition spd="slow">
    <p:plus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44069834"/>
      </p:ext>
    </p:extLst>
  </p:cSld>
  <p:clrMapOvr>
    <a:masterClrMapping/>
  </p:clrMapOvr>
  <p:transition spd="slow">
    <p:plus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1606565"/>
      </p:ext>
    </p:extLst>
  </p:cSld>
  <p:clrMapOvr>
    <a:masterClrMapping/>
  </p:clrMapOvr>
  <p:transition spd="slow">
    <p:plus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3144281"/>
      </p:ext>
    </p:extLst>
  </p:cSld>
  <p:clrMapOvr>
    <a:masterClrMapping/>
  </p:clrMapOvr>
  <p:transition spd="slow">
    <p:plus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>
              <a:sym typeface="Times New Roman" panose="02020603050405020304" pitchFamily="18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86252750"/>
      </p:ext>
    </p:extLst>
  </p:cSld>
  <p:clrMapOvr>
    <a:masterClrMapping/>
  </p:clrMapOvr>
  <p:transition spd="slow">
    <p:plus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414737193"/>
      </p:ext>
    </p:extLst>
  </p:cSld>
  <p:clrMapOvr>
    <a:masterClrMapping/>
  </p:clrMapOvr>
  <p:transition spd="slow">
    <p:plus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5119" y="368300"/>
            <a:ext cx="2093119" cy="61214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5763" y="368300"/>
            <a:ext cx="6158016" cy="61214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79980754"/>
      </p:ext>
    </p:extLst>
  </p:cSld>
  <p:clrMapOvr>
    <a:masterClrMapping/>
  </p:clrMapOvr>
  <p:transition spd="slow">
    <p:plus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917166064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696555752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13032274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6367866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248175769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25955999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6136926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09112435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>
              <a:sym typeface="Times New Roman" panose="02020603050405020304" pitchFamily="18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961989817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78029841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500063"/>
            <a:ext cx="2057400" cy="5626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00063"/>
            <a:ext cx="6052930" cy="5626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88856405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94D3AE-9769-4E4B-8CD0-E1DB75E18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2BE74A-24BC-473B-954F-844615B2D182}" type="datetime1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804AC7-D2AF-4D0C-8264-A7ED1871C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8E4FD0-CBBE-4B67-9989-AECBFF980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0EDDF9-FC2F-4599-89C0-4D5E0A9ED1D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02743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B3E9A8-22DC-4AE0-90EE-8F5A37BE2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05286-B6B1-47A9-B9A5-22A909C5CC94}" type="datetime1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B59D94-E78B-4356-8635-9D4DF71B0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8869EA-EB66-495E-B42E-35B1A7BFF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B0798B-D0B2-4425-94A0-B13EC443A5B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4155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C02C26-A96D-4D57-9E9C-71A598748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B42A87-7890-4682-9DAC-654D81EC982A}" type="datetime1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277650-0516-42BD-9DD9-D9D1E5431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A804D8-856D-4E31-BE8E-184C91381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9381E7-90DE-46FF-B2A9-B211B3D66BD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27909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63B18042-E8C8-4B1F-B67C-5720A0B9D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79854-7A44-4824-BD40-795198B35206}" type="datetime1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AEA13F5-7E65-4DF4-817D-918D7F2F1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1A0C8E69-0A97-43AB-A567-C3DC95BC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677B58-6013-4082-8560-A9FD432035D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3020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486F79B9-44FF-4104-8EC8-7187FF07E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B18D01-FFFE-4893-93CB-0508FA2C90BA}" type="datetime1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B1886461-0B69-4C2D-8624-CF21CE01D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E5D934C7-6AA1-468A-9ACD-4CE1AE667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1C81EF-B671-472E-95CD-F035433474D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6683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786B6BA-9B12-4940-8966-76C4F6EBF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6F1C5F-B51C-42DE-8DFD-A22D48B3C2E3}" type="datetime1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D387F8A8-A204-473E-A3A1-A48409844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C1FB6FFD-0C68-4739-A120-C4F5E18C4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B82FFC-765E-4CC3-A41B-03CD24C0E76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11561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E404E4CB-D4E9-437F-83D4-2B6D46C4A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1A0C0D-D26E-453E-9E98-EC2A4602C9C5}" type="datetime1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ACDB3EDE-B539-428C-8A1F-D7CC5F769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77D12254-666F-4100-8C35-069A6361D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119786-59D9-41FD-8DFF-B0603C2FCD5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5903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6F828025-46C5-4A5B-A262-3384778DA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8B456E-2219-4859-BF4E-180E950F9F4B}" type="datetime1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458B6C9C-3B5C-4132-885B-2C70B9650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14B91565-936E-40B6-A3A5-4ABC053F0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5F48AC-FE97-48E9-B010-E7894B912C9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06198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0D0FC869-ED8B-467A-B5F8-83DB0570F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8800EB-FCD3-45CE-B2A6-1ED6A384A0F6}" type="datetime1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F6118897-20D5-4DC2-A8A3-EBA290987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098B304-6DD3-4446-90DD-3B00E8BC3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B73FC0-C177-46F6-B392-0F45F45CA19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7139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4193BC-28D9-4541-9F7F-D957CCFD2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E45520-4FF3-413C-B063-2F1E74415EA8}" type="datetime1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F606A3-A7B9-489F-B635-F7DC44E3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9EED18-0A8F-48B1-898A-5AA32AAB7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DFECEE-AC15-4557-9C92-08967C41ECB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9478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C377E4-2623-4F11-9DC6-E14717AE8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3AD45-BBDE-40B1-8E0F-060380325184}" type="datetime1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6C57FF-D60A-4812-9D2F-8F0ACBD36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96E6F7-1A22-4BCF-A9C3-5600F865C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1E94A6-313E-4761-8B17-61780F6F379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50653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C0D9A9-973E-430E-BAA5-EF86252D5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992F1C-15F8-41A5-B036-F4B3AA164496}" type="datetime1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6FEAB6-96E3-4FBA-A989-6BC44C2EA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9E6FFC-179D-4AD3-9062-ADBDCED42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2FAEA3-D56D-4D7E-9D15-87E11BE987C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16016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D4121E-F150-4022-85D4-8E88B7FEA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3940D5-8436-4D2B-B685-F52247498FAD}" type="datetime1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D59FE9-D82D-459B-9C2B-1DB61D347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1E1F9B-E941-4B7A-B40C-28FF039F1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FA11B9-3665-4059-ABB0-40B416E666F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71274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96786F-497D-4AF4-814E-99B6275B3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F5FC97-A496-4CD9-A219-7C07622E798C}" type="datetime1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647F13-CA04-4D76-B799-3341C6B88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998C77-6DC2-4746-906A-70243E278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74EA63-ACCE-46D3-9197-8DC32948962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9218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D2971C79-69C0-4C35-84E9-91934CCFB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6194D0-4C0A-4D20-885D-7CD47EAEAFC8}" type="datetime1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CCDEE3C8-F961-4F22-862F-0F29DBFA0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C5F10933-7632-41D9-ADC0-D56E71CB8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3BA854-2B5F-4C48-9CBE-C7774BCC4FB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801872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4D9850DB-25B4-4D5D-B7B3-7BBD83D81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0DE7C5-0361-4BF7-BD61-3B2208DF5AFE}" type="datetime1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4D967053-DAA1-4877-8412-6BACDB233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3DF075BB-613A-46BA-BC10-C154DFDEC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7073FE-857F-4FC8-A12F-FD5CFE4A599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17076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13B88DD2-C7DF-4764-B4CC-7D99EC5B1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47BA02-2AF1-42CC-A94A-446778E05E35}" type="datetime1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F6A6AD23-C8C2-4B45-B1A4-FA10B97FF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BEB37374-4E0B-4E9F-B85D-C6C1FAD30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5F2C6B-9658-4187-8A3E-5342A4F4894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1207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C58AAF76-CAB2-41E5-B4FB-A0B301DA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352A23-F3CA-4224-81D6-69A8EF299855}" type="datetime1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D56240F1-AC93-4F67-A0AB-0E6DB049F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1EF15D37-DF60-48FC-B5D0-C367E71D2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F397D3-7102-4D20-A223-B10D4E2375A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909530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944C9689-F3C5-414C-AF1A-E53A7E6F2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92D767-5563-43A0-97D6-BFF25536D3CE}" type="datetime1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3A3A85F-62CD-4F67-9A22-13DCB3587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DACB2AB-A800-40A1-A700-39ED23140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57EE5F-2503-441F-8481-EF91988DB0F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853700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F4C749D-E056-487D-AF12-2CA9E5387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A11B28-2ACD-4645-B1E5-BCACE77736D5}" type="datetime1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0340268-7D3C-4EAC-AA5F-3BC59CC85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863C79E5-C3E6-461D-BCB7-4D2A53E36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971026-DA95-4224-BD51-7CF8587FACA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78150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ED86C7-70D2-42BA-A808-7CAC36560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0EE6A2-F3F4-4340-AAB1-BE0CA8EED111}" type="datetime1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4D2409-98A5-4785-A38A-0F6D6399B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63242D-23F5-41E0-B855-759533C60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DFCD85-1A10-48BA-A094-51B1980C039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3069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A3168B-14BA-4173-B84E-A5C655E5F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C78799-0675-4F2A-9F27-2C507C560E6D}" type="datetime1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6A6ECD-7841-4C10-BB35-03AF4A921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66FDED-C732-4C01-9127-FB4C1E9AF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F6B383-80AA-451A-BB65-5B5F201839B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294903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6145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lvl="0">
              <a:defRPr kern="1200"/>
            </a:lvl1pPr>
          </a:lstStyle>
          <a:p>
            <a:pPr lvl="0"/>
            <a:r>
              <a:rPr lang="zh-CN" altLang="en-US" noProof="1"/>
              <a:t>单击此处编辑母版标题样式</a:t>
            </a:r>
          </a:p>
        </p:txBody>
      </p:sp>
      <p:sp>
        <p:nvSpPr>
          <p:cNvPr id="6147" name="副标题 6146"/>
          <p:cNvSpPr>
            <a:spLocks noGrp="1"/>
          </p:cNvSpPr>
          <p:nvPr>
            <p:ph type="subTitle" idx="1"/>
          </p:nvPr>
        </p:nvSpPr>
        <p:spPr>
          <a:xfrm>
            <a:off x="1403350" y="3717925"/>
            <a:ext cx="6400800" cy="6953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ctr">
              <a:buNone/>
              <a:defRPr kern="1200"/>
            </a:lvl1pPr>
            <a:lvl2pPr marL="457200" lvl="1" indent="-457200" algn="ctr">
              <a:buNone/>
              <a:defRPr kern="1200"/>
            </a:lvl2pPr>
            <a:lvl3pPr marL="914400" lvl="2" indent="-914400" algn="ctr">
              <a:buNone/>
              <a:defRPr kern="1200"/>
            </a:lvl3pPr>
            <a:lvl4pPr marL="1371600" lvl="3" indent="-1371600" algn="ctr">
              <a:buNone/>
              <a:defRPr kern="1200"/>
            </a:lvl4pPr>
            <a:lvl5pPr marL="1828800" lvl="4" indent="-1828800" algn="ctr">
              <a:buNone/>
              <a:defRPr kern="1200"/>
            </a:lvl5pPr>
          </a:lstStyle>
          <a:p>
            <a:pPr lvl="0"/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6147">
            <a:extLst>
              <a:ext uri="{FF2B5EF4-FFF2-40B4-BE49-F238E27FC236}">
                <a16:creationId xmlns:a16="http://schemas.microsoft.com/office/drawing/2014/main" id="{2D262220-7494-402F-95FE-916112BC7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t"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6148">
            <a:extLst>
              <a:ext uri="{FF2B5EF4-FFF2-40B4-BE49-F238E27FC236}">
                <a16:creationId xmlns:a16="http://schemas.microsoft.com/office/drawing/2014/main" id="{2C5F22A0-7D4B-43C0-B7C8-DBDDC6DB3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t"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149">
            <a:extLst>
              <a:ext uri="{FF2B5EF4-FFF2-40B4-BE49-F238E27FC236}">
                <a16:creationId xmlns:a16="http://schemas.microsoft.com/office/drawing/2014/main" id="{0D17D749-FE99-416A-BB89-6C689D06A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pPr>
              <a:defRPr/>
            </a:pPr>
            <a:fld id="{79C117FB-A4E2-442F-9D09-24DF5C910AD3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599710114"/>
      </p:ext>
    </p:extLst>
  </p:cSld>
  <p:clrMapOvr>
    <a:masterClrMapping/>
  </p:clrMapOvr>
  <p:transition>
    <p:fade/>
  </p:transition>
  <p:hf sldNum="0"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FB12F23-161F-42AF-ACA4-D8BB9C86C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D4A2230-2A1C-4D40-9E93-4D5025770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E389291-44BA-489C-8282-76CDA7235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pPr>
              <a:defRPr/>
            </a:pPr>
            <a:fld id="{ECEB8144-D506-4D2C-BC03-C34AFEE4AAAC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2470852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9609725-C761-4069-93BB-B39D82567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9A4146C-6D0F-4FFC-9342-296AE284E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38C7388-AAC9-438F-AFC8-5AAAEC0EE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pPr>
              <a:defRPr/>
            </a:pPr>
            <a:fld id="{ED78C686-39FB-4C12-B313-218EA7FB0431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2928973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6725" y="1773238"/>
            <a:ext cx="4032504" cy="4319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3821" y="1773238"/>
            <a:ext cx="4032504" cy="4319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CBB25B-9518-4623-9E0E-F21B1C734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04F443-F374-46A5-BCE6-1419C5219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A04470-A4C5-4D6D-BC5A-B2F1F11E0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pPr>
              <a:defRPr/>
            </a:pPr>
            <a:fld id="{52825288-5693-401B-A131-9C3E8D249558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170836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7FF5E72-CCD2-49FB-8073-151656519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0683883-FC39-4276-AD1D-093467ED8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69E532E-1ACC-4C12-A649-EC67A587D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pPr>
              <a:defRPr/>
            </a:pPr>
            <a:fld id="{3B7D703C-18E9-4E64-A22B-7E2D16C9E5D8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911982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CA385E0-558F-4685-8606-2283DF11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DF3E6AB-554D-4E77-B219-F6C2FD91E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7DD8FF8-9AF3-4BC5-8C6F-E270540CE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pPr>
              <a:defRPr/>
            </a:pPr>
            <a:fld id="{A71280FB-22C7-47C3-9C1B-339A29ABB51F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8162745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C0DFB29-9C77-480A-9490-7AF1F7F43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B8532AF-1DA8-4A7B-B152-8C0305A7E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CE8C5D6-EB50-408C-ABBB-708D7903D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pPr>
              <a:defRPr/>
            </a:pPr>
            <a:fld id="{F2104F21-1F3A-44C5-9C1C-AAA6DBD24B8E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164823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B60D05-4878-4806-B157-63A3ABE53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F9ADF0-A72A-4784-8690-D06544675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7CE937-A98E-4D44-B1B8-9530C23CF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pPr>
              <a:defRPr/>
            </a:pPr>
            <a:fld id="{0812B135-9074-4891-9540-22601B9774CD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6453053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97FF7D-86CA-44CE-B848-ADDED8EDF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7CF06F-22CF-485E-A4A2-AFD66C215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1C00EF-102D-44B0-AE61-D92E15159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pPr>
              <a:defRPr/>
            </a:pPr>
            <a:fld id="{795D0865-F515-4286-A7C7-D3421586EF42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0916696"/>
      </p:ext>
    </p:extLst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A51ED39-4F29-4D72-9214-11F297DDB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41B635C-DD1C-4D52-A8CA-29F03880D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28482BB-6D41-48AD-9A4B-D5F8AA1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pPr>
              <a:defRPr/>
            </a:pPr>
            <a:fld id="{EC6AED5A-4B30-4F4C-9BA0-056CC83AF7F8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9542914"/>
      </p:ext>
    </p:extLst>
  </p:cSld>
  <p:clrMapOvr>
    <a:masterClrMapping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0116" y="765175"/>
            <a:ext cx="2057797" cy="53276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6725" y="765175"/>
            <a:ext cx="6054098" cy="53276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DBA0B7C-EF64-457E-ADA5-E657DBCD2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8161839-B4C7-41D9-BD56-940D59186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3318833-E6C9-4BDC-8CB0-7A2778E47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pPr>
              <a:defRPr/>
            </a:pPr>
            <a:fld id="{E6B868FE-4EF1-4D20-A3DB-E059433C0C03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2353690"/>
      </p:ext>
    </p:extLst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D6868BD-62CC-4A5D-92C5-79F05CC2C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B851180-FAF4-406B-96BD-312343377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DFFFA40-9E08-4E6B-89C5-0627998B2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ECD411-1DAA-4377-8995-BA1EA62DEA9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88258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67DF246-7E9C-4799-B676-3910FBEB5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F9865E9-0B8C-496C-BBAF-DC0FBC55E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AF0F55-93FC-4D4F-9C91-89B2513E0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9CF0FA-FF6F-4BA6-96B2-22669565664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4489957"/>
      </p:ext>
    </p:extLst>
  </p:cSld>
  <p:clrMapOvr>
    <a:masterClrMapping/>
  </p:clrMapOvr>
  <p:transition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0F6893E-3C1E-4A54-9465-DF98F659E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1F043C3-0D37-47E0-8A37-41C68D605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629F0E2-34DD-421D-8BD4-4580BACC4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8C6EE0-8591-4296-8748-05093547065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7065886"/>
      </p:ext>
    </p:extLst>
  </p:cSld>
  <p:clrMapOvr>
    <a:masterClrMapping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2CA03E-5725-452B-BA35-0C09BED0A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CF61B9-E561-4D0E-9FF6-90EE47400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8560F6-563C-424C-8310-A36B64D04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364BAB-D8E2-42B8-8405-1AC8B1D66B9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808257"/>
      </p:ext>
    </p:extLst>
  </p:cSld>
  <p:clrMapOvr>
    <a:masterClrMapping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F0807B9-0684-44D7-B226-C5ED95AF9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81F8B46-10BE-4E22-A620-E08061CEE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4BFECD0-84C3-4C09-BA93-5D726EDCD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8B95DC-5270-4E8C-AD0E-95C626C642B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8952841"/>
      </p:ext>
    </p:extLst>
  </p:cSld>
  <p:clrMapOvr>
    <a:masterClrMapping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96486F9-082E-4991-8D52-5A8DFC8A0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133508A-F208-4C87-8C6E-1ACE8688A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E876A0A-25E0-4549-9348-E0047B550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B23181-D4BF-4C62-AEBC-659EFF04BFA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636857"/>
      </p:ext>
    </p:extLst>
  </p:cSld>
  <p:clrMapOvr>
    <a:masterClrMapping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EB8C1A6-0172-4C77-874D-41D466171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F369028-428F-4C54-B7C0-34CC44648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30DF4B6-22CA-448E-BE6A-51DFE40F3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8D2959-04B9-4CA7-8E78-4C17A0220A4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8544996"/>
      </p:ext>
    </p:extLst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CF8660-EE98-4880-B20A-0A5900544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7F81D1-B148-4DF3-9AF1-D36EB4523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8D8218-DADA-42D9-B992-C15CFF655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347EE-B4E6-401B-8995-85D9CDA6581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491540"/>
      </p:ext>
    </p:extLst>
  </p:cSld>
  <p:clrMapOvr>
    <a:masterClrMapping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2DED96-476B-4A3F-92A1-0A3E7FEB8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57EF6E-B2EF-415E-861F-5F1EC0F6D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A90166-EA6D-47E7-BD15-48B3751EB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314768-5CFB-455D-A7FF-34F0732E6E8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3826935"/>
      </p:ext>
    </p:extLst>
  </p:cSld>
  <p:clrMapOvr>
    <a:masterClrMapping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F124613-2088-4A20-800B-526E1B937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613532-7FB4-4210-92F0-111A7DB1F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275C721-BB57-4DD7-B6F8-5EAFD2FE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6F436A-BF51-4F86-94FB-9C5363CA1C7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307490"/>
      </p:ext>
    </p:extLst>
  </p:cSld>
  <p:clrMapOvr>
    <a:masterClrMapping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2AE64E3-CAF1-4DD5-AC9D-68126A8EA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A22C2D-DEE9-449D-B1EE-12CDF043C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2488B41-E2D8-4E08-9812-BAFCB7654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271F31-0EC7-40A5-8D4A-5E647AB50F4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364443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组合 1025">
            <a:extLst>
              <a:ext uri="{FF2B5EF4-FFF2-40B4-BE49-F238E27FC236}">
                <a16:creationId xmlns:a16="http://schemas.microsoft.com/office/drawing/2014/main" id="{07BEB7BA-7160-4A95-85A6-B3F0D5BA5B3D}"/>
              </a:ext>
            </a:extLst>
          </p:cNvPr>
          <p:cNvGrpSpPr>
            <a:grpSpLocks/>
          </p:cNvGrpSpPr>
          <p:nvPr/>
        </p:nvGrpSpPr>
        <p:grpSpPr bwMode="auto">
          <a:xfrm>
            <a:off x="0" y="7938"/>
            <a:ext cx="9140825" cy="6850062"/>
            <a:chOff x="0" y="0"/>
            <a:chExt cx="5758" cy="4315"/>
          </a:xfrm>
        </p:grpSpPr>
        <p:grpSp>
          <p:nvGrpSpPr>
            <p:cNvPr id="1031" name="组合 1026">
              <a:extLst>
                <a:ext uri="{FF2B5EF4-FFF2-40B4-BE49-F238E27FC236}">
                  <a16:creationId xmlns:a16="http://schemas.microsoft.com/office/drawing/2014/main" id="{7653A37E-CA2E-4297-A05B-E99E8FEF8D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2230"/>
              <a:ext cx="4027" cy="2085"/>
              <a:chOff x="0" y="0"/>
              <a:chExt cx="4027" cy="2085"/>
            </a:xfrm>
          </p:grpSpPr>
          <p:sp>
            <p:nvSpPr>
              <p:cNvPr id="1034" name="Freeform 4">
                <a:extLst>
                  <a:ext uri="{FF2B5EF4-FFF2-40B4-BE49-F238E27FC236}">
                    <a16:creationId xmlns:a16="http://schemas.microsoft.com/office/drawing/2014/main" id="{414A71E6-7B76-430B-82F5-681CAFD28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41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4646"/>
                  </a:gs>
                  <a:gs pos="100000">
                    <a:srgbClr val="003F3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" name="Freeform 5">
                <a:extLst>
                  <a:ext uri="{FF2B5EF4-FFF2-40B4-BE49-F238E27FC236}">
                    <a16:creationId xmlns:a16="http://schemas.microsoft.com/office/drawing/2014/main" id="{1B300EC8-9EA4-492A-BADB-BDC701B6AD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2" y="44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4646"/>
                  </a:gs>
                  <a:gs pos="100000">
                    <a:srgbClr val="003F3F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6" name="Freeform 6">
                <a:extLst>
                  <a:ext uri="{FF2B5EF4-FFF2-40B4-BE49-F238E27FC236}">
                    <a16:creationId xmlns:a16="http://schemas.microsoft.com/office/drawing/2014/main" id="{A62E989A-FA66-49B8-8449-1BDB52F3A2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" y="111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3939"/>
                  </a:gs>
                  <a:gs pos="100000">
                    <a:srgbClr val="004646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7" name="Freeform 7">
                <a:extLst>
                  <a:ext uri="{FF2B5EF4-FFF2-40B4-BE49-F238E27FC236}">
                    <a16:creationId xmlns:a16="http://schemas.microsoft.com/office/drawing/2014/main" id="{605506DA-1DEB-42FA-96CD-119B99D432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0" y="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8" name="Freeform 8">
                <a:extLst>
                  <a:ext uri="{FF2B5EF4-FFF2-40B4-BE49-F238E27FC236}">
                    <a16:creationId xmlns:a16="http://schemas.microsoft.com/office/drawing/2014/main" id="{3F0B84BB-FDB3-49C1-BFDE-6EB4D7EE1A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3" y="8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3D3D"/>
                  </a:gs>
                  <a:gs pos="100000">
                    <a:srgbClr val="004646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32" name="Freeform 9">
              <a:extLst>
                <a:ext uri="{FF2B5EF4-FFF2-40B4-BE49-F238E27FC236}">
                  <a16:creationId xmlns:a16="http://schemas.microsoft.com/office/drawing/2014/main" id="{DCA1BEF5-F6F7-4D05-A82D-8F44AF8B2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2" y="1341"/>
              <a:ext cx="1825" cy="1537"/>
            </a:xfrm>
            <a:custGeom>
              <a:avLst/>
              <a:gdLst>
                <a:gd name="T0" fmla="*/ 393 w 2296"/>
                <a:gd name="T1" fmla="*/ 1271 h 1469"/>
                <a:gd name="T2" fmla="*/ 542 w 2296"/>
                <a:gd name="T3" fmla="*/ 1213 h 1469"/>
                <a:gd name="T4" fmla="*/ 665 w 2296"/>
                <a:gd name="T5" fmla="*/ 1146 h 1469"/>
                <a:gd name="T6" fmla="*/ 765 w 2296"/>
                <a:gd name="T7" fmla="*/ 1075 h 1469"/>
                <a:gd name="T8" fmla="*/ 839 w 2296"/>
                <a:gd name="T9" fmla="*/ 997 h 1469"/>
                <a:gd name="T10" fmla="*/ 886 w 2296"/>
                <a:gd name="T11" fmla="*/ 906 h 1469"/>
                <a:gd name="T12" fmla="*/ 912 w 2296"/>
                <a:gd name="T13" fmla="*/ 801 h 1469"/>
                <a:gd name="T14" fmla="*/ 914 w 2296"/>
                <a:gd name="T15" fmla="*/ 671 h 1469"/>
                <a:gd name="T16" fmla="*/ 895 w 2296"/>
                <a:gd name="T17" fmla="*/ 547 h 1469"/>
                <a:gd name="T18" fmla="*/ 855 w 2296"/>
                <a:gd name="T19" fmla="*/ 436 h 1469"/>
                <a:gd name="T20" fmla="*/ 802 w 2296"/>
                <a:gd name="T21" fmla="*/ 332 h 1469"/>
                <a:gd name="T22" fmla="*/ 707 w 2296"/>
                <a:gd name="T23" fmla="*/ 188 h 1469"/>
                <a:gd name="T24" fmla="*/ 643 w 2296"/>
                <a:gd name="T25" fmla="*/ 110 h 1469"/>
                <a:gd name="T26" fmla="*/ 589 w 2296"/>
                <a:gd name="T27" fmla="*/ 51 h 1469"/>
                <a:gd name="T28" fmla="*/ 552 w 2296"/>
                <a:gd name="T29" fmla="*/ 10 h 1469"/>
                <a:gd name="T30" fmla="*/ 537 w 2296"/>
                <a:gd name="T31" fmla="*/ 0 h 1469"/>
                <a:gd name="T32" fmla="*/ 661 w 2296"/>
                <a:gd name="T33" fmla="*/ 143 h 1469"/>
                <a:gd name="T34" fmla="*/ 777 w 2296"/>
                <a:gd name="T35" fmla="*/ 306 h 1469"/>
                <a:gd name="T36" fmla="*/ 826 w 2296"/>
                <a:gd name="T37" fmla="*/ 391 h 1469"/>
                <a:gd name="T38" fmla="*/ 867 w 2296"/>
                <a:gd name="T39" fmla="*/ 481 h 1469"/>
                <a:gd name="T40" fmla="*/ 892 w 2296"/>
                <a:gd name="T41" fmla="*/ 572 h 1469"/>
                <a:gd name="T42" fmla="*/ 904 w 2296"/>
                <a:gd name="T43" fmla="*/ 671 h 1469"/>
                <a:gd name="T44" fmla="*/ 895 w 2296"/>
                <a:gd name="T45" fmla="*/ 762 h 1469"/>
                <a:gd name="T46" fmla="*/ 867 w 2296"/>
                <a:gd name="T47" fmla="*/ 841 h 1469"/>
                <a:gd name="T48" fmla="*/ 823 w 2296"/>
                <a:gd name="T49" fmla="*/ 906 h 1469"/>
                <a:gd name="T50" fmla="*/ 767 w 2296"/>
                <a:gd name="T51" fmla="*/ 959 h 1469"/>
                <a:gd name="T52" fmla="*/ 698 w 2296"/>
                <a:gd name="T53" fmla="*/ 1011 h 1469"/>
                <a:gd name="T54" fmla="*/ 540 w 2296"/>
                <a:gd name="T55" fmla="*/ 1088 h 1469"/>
                <a:gd name="T56" fmla="*/ 368 w 2296"/>
                <a:gd name="T57" fmla="*/ 1160 h 1469"/>
                <a:gd name="T58" fmla="*/ 208 w 2296"/>
                <a:gd name="T59" fmla="*/ 1233 h 1469"/>
                <a:gd name="T60" fmla="*/ 141 w 2296"/>
                <a:gd name="T61" fmla="*/ 1278 h 1469"/>
                <a:gd name="T62" fmla="*/ 82 w 2296"/>
                <a:gd name="T63" fmla="*/ 1323 h 1469"/>
                <a:gd name="T64" fmla="*/ 37 w 2296"/>
                <a:gd name="T65" fmla="*/ 1376 h 1469"/>
                <a:gd name="T66" fmla="*/ 9 w 2296"/>
                <a:gd name="T67" fmla="*/ 1441 h 1469"/>
                <a:gd name="T68" fmla="*/ 0 w 2296"/>
                <a:gd name="T69" fmla="*/ 1512 h 1469"/>
                <a:gd name="T70" fmla="*/ 11 w 2296"/>
                <a:gd name="T71" fmla="*/ 1589 h 1469"/>
                <a:gd name="T72" fmla="*/ 39 w 2296"/>
                <a:gd name="T73" fmla="*/ 1656 h 1469"/>
                <a:gd name="T74" fmla="*/ 79 w 2296"/>
                <a:gd name="T75" fmla="*/ 1708 h 1469"/>
                <a:gd name="T76" fmla="*/ 130 w 2296"/>
                <a:gd name="T77" fmla="*/ 1760 h 1469"/>
                <a:gd name="T78" fmla="*/ 87 w 2296"/>
                <a:gd name="T79" fmla="*/ 1694 h 1469"/>
                <a:gd name="T80" fmla="*/ 59 w 2296"/>
                <a:gd name="T81" fmla="*/ 1630 h 1469"/>
                <a:gd name="T82" fmla="*/ 48 w 2296"/>
                <a:gd name="T83" fmla="*/ 1564 h 1469"/>
                <a:gd name="T84" fmla="*/ 56 w 2296"/>
                <a:gd name="T85" fmla="*/ 1507 h 1469"/>
                <a:gd name="T86" fmla="*/ 85 w 2296"/>
                <a:gd name="T87" fmla="*/ 1448 h 1469"/>
                <a:gd name="T88" fmla="*/ 137 w 2296"/>
                <a:gd name="T89" fmla="*/ 1395 h 1469"/>
                <a:gd name="T90" fmla="*/ 211 w 2296"/>
                <a:gd name="T91" fmla="*/ 1343 h 1469"/>
                <a:gd name="T92" fmla="*/ 308 w 2296"/>
                <a:gd name="T93" fmla="*/ 1304 h 1469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rgbClr val="003B3B"/>
                </a:gs>
                <a:gs pos="100000">
                  <a:srgbClr val="004646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" name="Freeform 10">
              <a:extLst>
                <a:ext uri="{FF2B5EF4-FFF2-40B4-BE49-F238E27FC236}">
                  <a16:creationId xmlns:a16="http://schemas.microsoft.com/office/drawing/2014/main" id="{31F4FBC7-BFEE-4C6E-BB08-871358A5F3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437 h 1906"/>
                <a:gd name="T4" fmla="*/ 5812 w 5740"/>
                <a:gd name="T5" fmla="*/ 1437 h 1906"/>
                <a:gd name="T6" fmla="*/ 5812 w 5740"/>
                <a:gd name="T7" fmla="*/ 0 h 1906"/>
                <a:gd name="T8" fmla="*/ 0 w 5740"/>
                <a:gd name="T9" fmla="*/ 0 h 19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00464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7" name="Rectangle 11">
            <a:extLst>
              <a:ext uri="{FF2B5EF4-FFF2-40B4-BE49-F238E27FC236}">
                <a16:creationId xmlns:a16="http://schemas.microsoft.com/office/drawing/2014/main" id="{B666616F-BFCB-4672-AE84-FCE613191AB9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 bwMode="auto">
          <a:xfrm>
            <a:off x="482600" y="368300"/>
            <a:ext cx="8229600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>
                <a:sym typeface="Times New Roman" panose="02020603050405020304" pitchFamily="18" charset="0"/>
              </a:rPr>
              <a:t>单击此处编辑母版标题样式</a:t>
            </a:r>
          </a:p>
        </p:txBody>
      </p:sp>
      <p:sp>
        <p:nvSpPr>
          <p:cNvPr id="1028" name="Rectangle 12">
            <a:extLst>
              <a:ext uri="{FF2B5EF4-FFF2-40B4-BE49-F238E27FC236}">
                <a16:creationId xmlns:a16="http://schemas.microsoft.com/office/drawing/2014/main" id="{C7E11EEF-181F-4229-A214-EAAC65D7C3A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385763" y="1314450"/>
            <a:ext cx="8372475" cy="517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>
                <a:sym typeface="Times New Roman" panose="02020603050405020304" pitchFamily="18" charset="0"/>
              </a:rPr>
              <a:t>单击此处编辑母版文本样式</a:t>
            </a:r>
          </a:p>
          <a:p>
            <a:pPr lvl="1"/>
            <a:r>
              <a:rPr lang="zh-CN" altLang="en-US">
                <a:sym typeface="Times New Roman" panose="02020603050405020304" pitchFamily="18" charset="0"/>
              </a:rPr>
              <a:t> 第二级</a:t>
            </a:r>
          </a:p>
          <a:p>
            <a:pPr lvl="2"/>
            <a:r>
              <a:rPr lang="zh-CN" altLang="en-US">
                <a:sym typeface="Times New Roman" panose="02020603050405020304" pitchFamily="18" charset="0"/>
              </a:rPr>
              <a:t> 第三级</a:t>
            </a:r>
          </a:p>
        </p:txBody>
      </p:sp>
      <p:sp>
        <p:nvSpPr>
          <p:cNvPr id="1029" name="Text Box 13">
            <a:extLst>
              <a:ext uri="{FF2B5EF4-FFF2-40B4-BE49-F238E27FC236}">
                <a16:creationId xmlns:a16="http://schemas.microsoft.com/office/drawing/2014/main" id="{C1A008AA-085D-4875-B1F9-70FF6D662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0"/>
            <a:ext cx="25558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b="1">
                <a:solidFill>
                  <a:srgbClr val="FFFFFF"/>
                </a:solidFill>
                <a:sym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FFFF"/>
                </a:solidFill>
                <a:sym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FFFF"/>
                </a:solidFill>
                <a:sym typeface="Times New Roman" panose="02020603050405020304" pitchFamily="18" charset="0"/>
              </a:rPr>
              <a:t>章 </a:t>
            </a:r>
            <a:r>
              <a:rPr lang="en-US" altLang="zh-CN" b="1">
                <a:solidFill>
                  <a:srgbClr val="FFFFFF"/>
                </a:solidFill>
                <a:sym typeface="Times New Roman" panose="02020603050405020304" pitchFamily="18" charset="0"/>
              </a:rPr>
              <a:t>8086 </a:t>
            </a:r>
            <a:r>
              <a:rPr lang="zh-CN" altLang="en-US" b="1">
                <a:solidFill>
                  <a:srgbClr val="FFFFFF"/>
                </a:solidFill>
                <a:sym typeface="Times New Roman" panose="02020603050405020304" pitchFamily="18" charset="0"/>
              </a:rPr>
              <a:t>指令系统</a:t>
            </a:r>
            <a:endParaRPr lang="zh-CN" altLang="en-US" sz="2400"/>
          </a:p>
        </p:txBody>
      </p:sp>
      <p:sp>
        <p:nvSpPr>
          <p:cNvPr id="1030" name="TextBox 14">
            <a:extLst>
              <a:ext uri="{FF2B5EF4-FFF2-40B4-BE49-F238E27FC236}">
                <a16:creationId xmlns:a16="http://schemas.microsoft.com/office/drawing/2014/main" id="{481219BF-8853-4C6D-BC66-AD405476B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161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defRPr/>
            </a:pPr>
            <a:r>
              <a:rPr lang="en-US" altLang="zh-CN" b="1">
                <a:solidFill>
                  <a:srgbClr val="FFC000"/>
                </a:solidFill>
                <a:ea typeface="黑体" panose="02010609060101010101" pitchFamily="49" charset="-122"/>
                <a:sym typeface="Times New Roman" panose="02020603050405020304" pitchFamily="18" charset="0"/>
              </a:rPr>
              <a:t>3.1  8086</a:t>
            </a:r>
            <a:r>
              <a:rPr lang="zh-CN" altLang="en-US" b="1">
                <a:solidFill>
                  <a:srgbClr val="FFC000"/>
                </a:solidFill>
                <a:ea typeface="黑体" panose="02010609060101010101" pitchFamily="49" charset="-122"/>
                <a:sym typeface="Times New Roman" panose="02020603050405020304" pitchFamily="18" charset="0"/>
              </a:rPr>
              <a:t>寻址方式</a:t>
            </a:r>
            <a:endParaRPr lang="zh-CN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15" r:id="rId1"/>
    <p:sldLayoutId id="2147484216" r:id="rId2"/>
    <p:sldLayoutId id="2147484217" r:id="rId3"/>
    <p:sldLayoutId id="2147484218" r:id="rId4"/>
    <p:sldLayoutId id="2147484219" r:id="rId5"/>
    <p:sldLayoutId id="2147484220" r:id="rId6"/>
    <p:sldLayoutId id="2147484221" r:id="rId7"/>
    <p:sldLayoutId id="2147484222" r:id="rId8"/>
    <p:sldLayoutId id="2147484223" r:id="rId9"/>
    <p:sldLayoutId id="2147484224" r:id="rId10"/>
    <p:sldLayoutId id="2147484225" r:id="rId11"/>
  </p:sldLayoutIdLst>
  <p:transition spd="slow">
    <p:plus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rgbClr val="FFFF99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99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99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99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99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99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99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99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99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533400" indent="-533400" algn="l" defTabSz="0" rtl="0" eaLnBrk="0" fontAlgn="base" hangingPunct="0">
        <a:spcBef>
          <a:spcPct val="3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u"/>
        <a:defRPr sz="2600" b="1" kern="120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18" charset="0"/>
        </a:defRPr>
      </a:lvl1pPr>
      <a:lvl2pPr marL="914400" lvl="1" indent="-457200" algn="l" defTabSz="0" rtl="0" eaLnBrk="0" fontAlgn="base" hangingPunct="0">
        <a:spcBef>
          <a:spcPct val="3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Ø"/>
        <a:defRPr sz="2400" b="1" kern="120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18" charset="0"/>
        </a:defRPr>
      </a:lvl2pPr>
      <a:lvl3pPr marL="1371600" lvl="2" indent="-457200" algn="l" defTabSz="0" rtl="0" eaLnBrk="0" fontAlgn="base" hangingPunct="0">
        <a:spcBef>
          <a:spcPct val="3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ü"/>
        <a:defRPr sz="2400" b="1" kern="120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18" charset="0"/>
        </a:defRPr>
      </a:lvl3pPr>
      <a:lvl4pPr marL="1752600" lvl="3" indent="-381000" algn="l" defTabSz="0" rtl="0" eaLnBrk="0" fontAlgn="base" hangingPunct="0">
        <a:spcBef>
          <a:spcPct val="3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defRPr sz="2400" b="1" kern="120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18" charset="0"/>
        </a:defRPr>
      </a:lvl4pPr>
      <a:lvl5pPr marL="2209800" lvl="4" indent="-381000" algn="l" defTabSz="0" rtl="0" eaLnBrk="0" fontAlgn="base" hangingPunct="0">
        <a:spcBef>
          <a:spcPct val="30000"/>
        </a:spcBef>
        <a:spcAft>
          <a:spcPct val="0"/>
        </a:spcAft>
        <a:buClr>
          <a:srgbClr val="B4B9BE"/>
        </a:buClr>
        <a:buFont typeface="Wingdings" panose="05000000000000000000" pitchFamily="2" charset="2"/>
        <a:buChar char="l"/>
        <a:defRPr sz="2400" b="1" kern="120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18" charset="0"/>
        </a:defRPr>
      </a:lvl5pPr>
      <a:lvl6pPr marL="2514600" lvl="5" indent="-228600" algn="l" defTabSz="0" eaLnBrk="0" fontAlgn="base" latinLnBrk="0" hangingPunct="0">
        <a:lnSpc>
          <a:spcPct val="100000"/>
        </a:lnSpc>
        <a:spcBef>
          <a:spcPct val="30000"/>
        </a:spcBef>
        <a:spcAft>
          <a:spcPct val="0"/>
        </a:spcAft>
        <a:buClr>
          <a:srgbClr val="B4B9BE"/>
        </a:buClr>
        <a:buFont typeface="Wingdings" panose="05000000000000000000" pitchFamily="2" charset="2"/>
        <a:buChar char="l"/>
        <a:defRPr sz="2400" b="1" kern="120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18" charset="0"/>
        </a:defRPr>
      </a:lvl6pPr>
      <a:lvl7pPr marL="2971800" lvl="6" indent="-228600" algn="l" defTabSz="0" eaLnBrk="0" fontAlgn="base" latinLnBrk="0" hangingPunct="0">
        <a:lnSpc>
          <a:spcPct val="100000"/>
        </a:lnSpc>
        <a:spcBef>
          <a:spcPct val="30000"/>
        </a:spcBef>
        <a:spcAft>
          <a:spcPct val="0"/>
        </a:spcAft>
        <a:buClr>
          <a:srgbClr val="B4B9BE"/>
        </a:buClr>
        <a:buFont typeface="Wingdings" panose="05000000000000000000" pitchFamily="2" charset="2"/>
        <a:buChar char="l"/>
        <a:defRPr sz="2400" b="1" kern="120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18" charset="0"/>
        </a:defRPr>
      </a:lvl7pPr>
      <a:lvl8pPr marL="3429000" lvl="7" indent="-228600" algn="l" defTabSz="0" eaLnBrk="0" fontAlgn="base" latinLnBrk="0" hangingPunct="0">
        <a:lnSpc>
          <a:spcPct val="100000"/>
        </a:lnSpc>
        <a:spcBef>
          <a:spcPct val="30000"/>
        </a:spcBef>
        <a:spcAft>
          <a:spcPct val="0"/>
        </a:spcAft>
        <a:buClr>
          <a:srgbClr val="B4B9BE"/>
        </a:buClr>
        <a:buFont typeface="Wingdings" panose="05000000000000000000" pitchFamily="2" charset="2"/>
        <a:buChar char="l"/>
        <a:defRPr sz="2400" b="1" kern="120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18" charset="0"/>
        </a:defRPr>
      </a:lvl8pPr>
      <a:lvl9pPr marL="3886200" lvl="8" indent="-228600" algn="l" defTabSz="0" eaLnBrk="0" fontAlgn="base" latinLnBrk="0" hangingPunct="0">
        <a:lnSpc>
          <a:spcPct val="100000"/>
        </a:lnSpc>
        <a:spcBef>
          <a:spcPct val="30000"/>
        </a:spcBef>
        <a:spcAft>
          <a:spcPct val="0"/>
        </a:spcAft>
        <a:buClr>
          <a:srgbClr val="B4B9BE"/>
        </a:buClr>
        <a:buFont typeface="Wingdings" panose="05000000000000000000" pitchFamily="2" charset="2"/>
        <a:buChar char="l"/>
        <a:defRPr sz="2400" b="1" kern="120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18" charset="0"/>
        </a:defRPr>
      </a:lvl9pPr>
    </p:bodyStyle>
    <p:otherStyle>
      <a:lvl1pPr marL="0" lvl="0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>
            <a:extLst>
              <a:ext uri="{FF2B5EF4-FFF2-40B4-BE49-F238E27FC236}">
                <a16:creationId xmlns:a16="http://schemas.microsoft.com/office/drawing/2014/main" id="{1E73446B-EC20-4DF6-8CEA-17648829496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42938" y="500063"/>
            <a:ext cx="7775575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>
                <a:sym typeface="Footlight MT Light" panose="0204060206030A020304" pitchFamily="18" charset="0"/>
              </a:rPr>
              <a:t>单击此处编辑母版标题样式</a:t>
            </a:r>
          </a:p>
        </p:txBody>
      </p:sp>
      <p:sp>
        <p:nvSpPr>
          <p:cNvPr id="2051" name="文本占位符 2">
            <a:extLst>
              <a:ext uri="{FF2B5EF4-FFF2-40B4-BE49-F238E27FC236}">
                <a16:creationId xmlns:a16="http://schemas.microsoft.com/office/drawing/2014/main" id="{9B18ADD2-5FF9-4BE1-A8B4-6FE153ABDA8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>
                <a:sym typeface="Times New Roman" panose="02020603050405020304" pitchFamily="18" charset="0"/>
              </a:rPr>
              <a:t>单击此处编辑母版文本样式</a:t>
            </a:r>
          </a:p>
          <a:p>
            <a:pPr lvl="1"/>
            <a:r>
              <a:rPr lang="zh-CN" altLang="en-US">
                <a:sym typeface="Times New Roman" panose="02020603050405020304" pitchFamily="18" charset="0"/>
              </a:rPr>
              <a:t>第二级</a:t>
            </a:r>
          </a:p>
          <a:p>
            <a:pPr lvl="2"/>
            <a:r>
              <a:rPr lang="zh-CN" altLang="en-US">
                <a:sym typeface="Times New Roman" panose="02020603050405020304" pitchFamily="18" charset="0"/>
              </a:rPr>
              <a:t>第三级</a:t>
            </a:r>
          </a:p>
        </p:txBody>
      </p:sp>
      <p:pic>
        <p:nvPicPr>
          <p:cNvPr id="2052" name="图片 8">
            <a:extLst>
              <a:ext uri="{FF2B5EF4-FFF2-40B4-BE49-F238E27FC236}">
                <a16:creationId xmlns:a16="http://schemas.microsoft.com/office/drawing/2014/main" id="{F70BEBDD-F5CE-499A-848D-9B3A0F004E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5938" y="428625"/>
            <a:ext cx="1008062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图片 10">
            <a:extLst>
              <a:ext uri="{FF2B5EF4-FFF2-40B4-BE49-F238E27FC236}">
                <a16:creationId xmlns:a16="http://schemas.microsoft.com/office/drawing/2014/main" id="{79F5597C-829C-49D9-BC7E-1598EF98E5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lum bright="-10000" contrast="-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214938"/>
            <a:ext cx="1471613" cy="164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26" r:id="rId1"/>
    <p:sldLayoutId id="2147484227" r:id="rId2"/>
    <p:sldLayoutId id="2147484228" r:id="rId3"/>
    <p:sldLayoutId id="2147484229" r:id="rId4"/>
    <p:sldLayoutId id="2147484230" r:id="rId5"/>
    <p:sldLayoutId id="2147484231" r:id="rId6"/>
    <p:sldLayoutId id="2147484232" r:id="rId7"/>
    <p:sldLayoutId id="2147484233" r:id="rId8"/>
    <p:sldLayoutId id="2147484234" r:id="rId9"/>
    <p:sldLayoutId id="2147484235" r:id="rId10"/>
    <p:sldLayoutId id="2147484236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chemeClr val="tx1"/>
          </a:solidFill>
          <a:latin typeface="+mj-lt"/>
          <a:ea typeface="+mj-ea"/>
          <a:cs typeface="+mj-cs"/>
          <a:sym typeface="Footlight MT Light" panose="0204060206030A020304" pitchFamily="18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楷体_GB2312" pitchFamily="1" charset="-122"/>
          <a:ea typeface="楷体_GB2312" pitchFamily="1" charset="-122"/>
          <a:sym typeface="Footlight MT Light" panose="0204060206030A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楷体_GB2312" pitchFamily="1" charset="-122"/>
          <a:ea typeface="楷体_GB2312" pitchFamily="1" charset="-122"/>
          <a:sym typeface="Footlight MT Light" panose="0204060206030A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楷体_GB2312" pitchFamily="1" charset="-122"/>
          <a:ea typeface="楷体_GB2312" pitchFamily="1" charset="-122"/>
          <a:sym typeface="Footlight MT Light" panose="0204060206030A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楷体_GB2312" pitchFamily="1" charset="-122"/>
          <a:ea typeface="楷体_GB2312" pitchFamily="1" charset="-122"/>
          <a:sym typeface="Footlight MT Light" panose="0204060206030A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楷体_GB2312" pitchFamily="1" charset="-122"/>
          <a:ea typeface="楷体_GB2312" pitchFamily="1" charset="-122"/>
          <a:sym typeface="Footlight MT Light" panose="0204060206030A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楷体_GB2312" pitchFamily="1" charset="-122"/>
          <a:ea typeface="楷体_GB2312" pitchFamily="1" charset="-122"/>
          <a:sym typeface="Footlight MT Light" panose="0204060206030A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楷体_GB2312" pitchFamily="1" charset="-122"/>
          <a:ea typeface="楷体_GB2312" pitchFamily="1" charset="-122"/>
          <a:sym typeface="Footlight MT Light" panose="0204060206030A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楷体_GB2312" pitchFamily="1" charset="-122"/>
          <a:ea typeface="楷体_GB2312" pitchFamily="1" charset="-122"/>
          <a:sym typeface="Footlight MT Light" panose="0204060206030A020304" pitchFamily="18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 2" panose="05020102010507070707" pitchFamily="18" charset="2"/>
        <a:buChar char=""/>
        <a:defRPr sz="2800" b="1" kern="120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18" charset="0"/>
        </a:defRPr>
      </a:lvl1pPr>
      <a:lvl2pPr marL="742950" lvl="1" indent="-285750" algn="l" defTabSz="0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 2" panose="05020102010507070707" pitchFamily="18" charset="2"/>
        <a:buChar char=""/>
        <a:defRPr sz="2600" b="1" kern="120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18" charset="0"/>
        </a:defRPr>
      </a:lvl2pPr>
      <a:lvl3pPr marL="1143000" lvl="2" indent="-228600" algn="l" defTabSz="0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 2" panose="05020102010507070707" pitchFamily="18" charset="2"/>
        <a:buChar char=""/>
        <a:defRPr sz="2400" b="1" kern="1200">
          <a:solidFill>
            <a:schemeClr val="tx1"/>
          </a:solidFill>
          <a:latin typeface="+mn-lt"/>
          <a:ea typeface="+mn-ea"/>
          <a:cs typeface="+mn-cs"/>
          <a:sym typeface="Times New Roman" panose="02020603050405020304" pitchFamily="18" charset="0"/>
        </a:defRPr>
      </a:lvl3pPr>
      <a:lvl4pPr marL="1600200" lvl="3" indent="-228600" algn="l" defTabSz="0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 2" panose="05020102010507070707" pitchFamily="18" charset="2"/>
        <a:buChar char=""/>
        <a:defRPr sz="2000" b="1" kern="1200">
          <a:solidFill>
            <a:schemeClr val="tx1"/>
          </a:solidFill>
          <a:latin typeface="+mn-lt"/>
          <a:ea typeface="+mn-ea"/>
          <a:cs typeface="+mn-cs"/>
          <a:sym typeface="Goudy Old Style" panose="02020502050305020303" pitchFamily="18" charset="0"/>
        </a:defRPr>
      </a:lvl4pPr>
      <a:lvl5pPr marL="2057400" lvl="4" indent="-228600" algn="l" defTabSz="0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 2" panose="05020102010507070707" pitchFamily="18" charset="2"/>
        <a:buChar char=""/>
        <a:defRPr sz="2000" b="1" kern="1200">
          <a:solidFill>
            <a:schemeClr val="tx1"/>
          </a:solidFill>
          <a:latin typeface="+mn-lt"/>
          <a:ea typeface="+mn-ea"/>
          <a:cs typeface="+mn-cs"/>
          <a:sym typeface="Goudy Old Style" panose="02020502050305020303" pitchFamily="18" charset="0"/>
        </a:defRPr>
      </a:lvl5pPr>
      <a:lvl6pPr marL="2514600" lvl="5" indent="-228600" algn="l" defTabSz="0" eaLnBrk="1" fontAlgn="base" latinLnBrk="0" hangingPunct="1">
        <a:lnSpc>
          <a:spcPct val="100000"/>
        </a:lnSpc>
        <a:spcBef>
          <a:spcPct val="20000"/>
        </a:spcBef>
        <a:buClr>
          <a:schemeClr val="tx2"/>
        </a:buClr>
        <a:buSzPct val="60000"/>
        <a:buFont typeface="Wingdings 2" panose="05020102010507070707" pitchFamily="18" charset="2"/>
        <a:buChar char=""/>
        <a:defRPr sz="2000" b="1" kern="1200">
          <a:solidFill>
            <a:schemeClr val="tx1"/>
          </a:solidFill>
          <a:latin typeface="+mn-lt"/>
          <a:ea typeface="+mn-ea"/>
          <a:cs typeface="+mn-cs"/>
          <a:sym typeface="Goudy Old Style" panose="02020502050305020303" pitchFamily="18" charset="0"/>
        </a:defRPr>
      </a:lvl6pPr>
      <a:lvl7pPr marL="2971800" lvl="6" indent="-228600" algn="l" defTabSz="0" eaLnBrk="1" fontAlgn="base" latinLnBrk="0" hangingPunct="1">
        <a:lnSpc>
          <a:spcPct val="100000"/>
        </a:lnSpc>
        <a:spcBef>
          <a:spcPct val="20000"/>
        </a:spcBef>
        <a:buClr>
          <a:schemeClr val="tx2"/>
        </a:buClr>
        <a:buSzPct val="60000"/>
        <a:buFont typeface="Wingdings 2" panose="05020102010507070707" pitchFamily="18" charset="2"/>
        <a:buChar char=""/>
        <a:defRPr sz="2000" b="1" kern="1200">
          <a:solidFill>
            <a:schemeClr val="tx1"/>
          </a:solidFill>
          <a:latin typeface="+mn-lt"/>
          <a:ea typeface="+mn-ea"/>
          <a:cs typeface="+mn-cs"/>
          <a:sym typeface="Goudy Old Style" panose="02020502050305020303" pitchFamily="18" charset="0"/>
        </a:defRPr>
      </a:lvl7pPr>
      <a:lvl8pPr marL="3429000" lvl="7" indent="-228600" algn="l" defTabSz="0" eaLnBrk="1" fontAlgn="base" latinLnBrk="0" hangingPunct="1">
        <a:lnSpc>
          <a:spcPct val="100000"/>
        </a:lnSpc>
        <a:spcBef>
          <a:spcPct val="20000"/>
        </a:spcBef>
        <a:buClr>
          <a:schemeClr val="tx2"/>
        </a:buClr>
        <a:buSzPct val="60000"/>
        <a:buFont typeface="Wingdings 2" panose="05020102010507070707" pitchFamily="18" charset="2"/>
        <a:buChar char=""/>
        <a:defRPr sz="2000" b="1" kern="1200">
          <a:solidFill>
            <a:schemeClr val="tx1"/>
          </a:solidFill>
          <a:latin typeface="+mn-lt"/>
          <a:ea typeface="+mn-ea"/>
          <a:cs typeface="+mn-cs"/>
          <a:sym typeface="Goudy Old Style" panose="02020502050305020303" pitchFamily="18" charset="0"/>
        </a:defRPr>
      </a:lvl8pPr>
      <a:lvl9pPr marL="3886200" lvl="8" indent="-228600" algn="l" defTabSz="0" eaLnBrk="1" fontAlgn="base" latinLnBrk="0" hangingPunct="1">
        <a:lnSpc>
          <a:spcPct val="100000"/>
        </a:lnSpc>
        <a:spcBef>
          <a:spcPct val="20000"/>
        </a:spcBef>
        <a:buClr>
          <a:schemeClr val="tx2"/>
        </a:buClr>
        <a:buSzPct val="60000"/>
        <a:buFont typeface="Wingdings 2" panose="05020102010507070707" pitchFamily="18" charset="2"/>
        <a:buChar char=""/>
        <a:defRPr sz="2000" b="1" kern="1200">
          <a:solidFill>
            <a:schemeClr val="tx1"/>
          </a:solidFill>
          <a:latin typeface="+mn-lt"/>
          <a:ea typeface="+mn-ea"/>
          <a:cs typeface="+mn-cs"/>
          <a:sym typeface="Goudy Old Style" panose="02020502050305020303" pitchFamily="18" charset="0"/>
        </a:defRPr>
      </a:lvl9pPr>
    </p:bodyStyle>
    <p:otherStyle>
      <a:lvl1pPr marL="0" lvl="0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占位符 1">
            <a:extLst>
              <a:ext uri="{FF2B5EF4-FFF2-40B4-BE49-F238E27FC236}">
                <a16:creationId xmlns:a16="http://schemas.microsoft.com/office/drawing/2014/main" id="{632931F1-C97F-4D9C-8278-37BD318D287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>
                <a:sym typeface="Calibri" panose="020F0502020204030204" pitchFamily="34" charset="0"/>
              </a:rPr>
              <a:t>单击此处编辑母版标题样式</a:t>
            </a:r>
          </a:p>
        </p:txBody>
      </p:sp>
      <p:sp>
        <p:nvSpPr>
          <p:cNvPr id="3075" name="文本占位符 2">
            <a:extLst>
              <a:ext uri="{FF2B5EF4-FFF2-40B4-BE49-F238E27FC236}">
                <a16:creationId xmlns:a16="http://schemas.microsoft.com/office/drawing/2014/main" id="{23B2B57C-EB72-4CC3-BBD5-90CFC5C6519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>
                <a:sym typeface="Calibri" panose="020F0502020204030204" pitchFamily="34" charset="0"/>
              </a:rPr>
              <a:t>单击此处编辑母版文本样式</a:t>
            </a:r>
          </a:p>
          <a:p>
            <a:pPr lvl="1"/>
            <a:r>
              <a:rPr lang="zh-CN" altLang="en-US">
                <a:sym typeface="Calibri" panose="020F0502020204030204" pitchFamily="34" charset="0"/>
              </a:rPr>
              <a:t>第二级</a:t>
            </a:r>
          </a:p>
          <a:p>
            <a:pPr lvl="2"/>
            <a:r>
              <a:rPr lang="zh-CN" altLang="en-US">
                <a:sym typeface="Calibri" panose="020F0502020204030204" pitchFamily="34" charset="0"/>
              </a:rPr>
              <a:t>第三级</a:t>
            </a:r>
          </a:p>
          <a:p>
            <a:pPr lvl="3"/>
            <a:r>
              <a:rPr lang="zh-CN" altLang="en-US">
                <a:sym typeface="Calibri" panose="020F0502020204030204" pitchFamily="34" charset="0"/>
              </a:rPr>
              <a:t>第四级</a:t>
            </a:r>
          </a:p>
          <a:p>
            <a:pPr lvl="4"/>
            <a:r>
              <a:rPr lang="zh-CN" altLang="en-US">
                <a:sym typeface="Calibri" panose="020F0502020204030204" pitchFamily="34" charset="0"/>
              </a:rPr>
              <a:t>第五级</a:t>
            </a:r>
          </a:p>
        </p:txBody>
      </p:sp>
      <p:sp>
        <p:nvSpPr>
          <p:cNvPr id="3076" name="日期占位符 3">
            <a:extLst>
              <a:ext uri="{FF2B5EF4-FFF2-40B4-BE49-F238E27FC236}">
                <a16:creationId xmlns:a16="http://schemas.microsoft.com/office/drawing/2014/main" id="{414F1581-3D28-4AAF-B6A8-74D6A3146F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9525">
            <a:noFill/>
          </a:ln>
        </p:spPr>
        <p:txBody>
          <a:bodyPr vert="horz" anchor="ctr"/>
          <a:lstStyle>
            <a:lvl1pPr algn="l" eaLnBrk="1" hangingPunct="1">
              <a:buClr>
                <a:srgbClr val="B4B9BE"/>
              </a:buClr>
              <a:buFont typeface="Arial" panose="020B0604020202020204" pitchFamily="34" charset="0"/>
              <a:buNone/>
              <a:defRPr sz="1200" noProof="1">
                <a:solidFill>
                  <a:srgbClr val="898989"/>
                </a:solidFill>
                <a:latin typeface="Times New Roman" panose="02020603050405020304" pitchFamily="18" charset="0"/>
                <a:cs typeface="+mn-ea"/>
              </a:defRPr>
            </a:lvl1pPr>
          </a:lstStyle>
          <a:p>
            <a:pPr>
              <a:defRPr/>
            </a:pPr>
            <a:fld id="{B4623FD9-C1FF-4E68-935F-F24CCD5426E7}" type="datetime1">
              <a:rPr lang="zh-CN" altLang="en-US"/>
              <a:pPr>
                <a:defRPr/>
              </a:pPr>
              <a:t>2024/3/5</a:t>
            </a:fld>
            <a:endParaRPr lang="zh-CN" altLang="en-US">
              <a:cs typeface="+mn-cs"/>
            </a:endParaRPr>
          </a:p>
        </p:txBody>
      </p:sp>
      <p:sp>
        <p:nvSpPr>
          <p:cNvPr id="3077" name="页脚占位符 4">
            <a:extLst>
              <a:ext uri="{FF2B5EF4-FFF2-40B4-BE49-F238E27FC236}">
                <a16:creationId xmlns:a16="http://schemas.microsoft.com/office/drawing/2014/main" id="{D9D0EB11-B4A5-4EAB-9A40-3EBFC6BDC9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9525">
            <a:noFill/>
          </a:ln>
        </p:spPr>
        <p:txBody>
          <a:bodyPr vert="horz" anchor="ctr"/>
          <a:lstStyle>
            <a:lvl1pPr algn="ctr" eaLnBrk="1" hangingPunct="1">
              <a:buClr>
                <a:srgbClr val="B4B9BE"/>
              </a:buClr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078" name="灯片编号占位符 5">
            <a:extLst>
              <a:ext uri="{FF2B5EF4-FFF2-40B4-BE49-F238E27FC236}">
                <a16:creationId xmlns:a16="http://schemas.microsoft.com/office/drawing/2014/main" id="{CEE20C7F-3A39-4934-B2B4-DF6238467C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9525">
            <a:noFill/>
          </a:ln>
        </p:spPr>
        <p:txBody>
          <a:bodyPr vert="horz" anchor="ctr"/>
          <a:lstStyle>
            <a:lvl1pPr algn="r" eaLnBrk="1" hangingPunct="1">
              <a:buClr>
                <a:srgbClr val="B4B9BE"/>
              </a:buClr>
              <a:buFont typeface="Arial" panose="020B0604020202020204" pitchFamily="34" charset="0"/>
              <a:buNone/>
              <a:defRPr sz="1200" noProof="1">
                <a:solidFill>
                  <a:srgbClr val="898989"/>
                </a:solidFill>
                <a:latin typeface="Times New Roman" panose="02020603050405020304" pitchFamily="18" charset="0"/>
                <a:cs typeface="+mn-ea"/>
              </a:defRPr>
            </a:lvl1pPr>
          </a:lstStyle>
          <a:p>
            <a:pPr>
              <a:defRPr/>
            </a:pPr>
            <a:fld id="{CF952820-66E6-41A7-9CCE-89729686CC1F}" type="slidenum">
              <a:rPr lang="zh-CN" altLang="en-US"/>
              <a:pPr>
                <a:defRPr/>
              </a:pPr>
              <a:t>‹#›</a:t>
            </a:fld>
            <a:endParaRPr lang="zh-CN" altLang="en-US">
              <a:cs typeface="+mn-cs"/>
            </a:endParaRPr>
          </a:p>
        </p:txBody>
      </p:sp>
      <p:pic>
        <p:nvPicPr>
          <p:cNvPr id="3079" name="图片 6">
            <a:extLst>
              <a:ext uri="{FF2B5EF4-FFF2-40B4-BE49-F238E27FC236}">
                <a16:creationId xmlns:a16="http://schemas.microsoft.com/office/drawing/2014/main" id="{70B6BCBE-2E50-407D-BE3A-5A937C6D8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5938" y="428625"/>
            <a:ext cx="1008062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图片 7">
            <a:extLst>
              <a:ext uri="{FF2B5EF4-FFF2-40B4-BE49-F238E27FC236}">
                <a16:creationId xmlns:a16="http://schemas.microsoft.com/office/drawing/2014/main" id="{9969E621-44E1-4FB7-BFB6-6553BB652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lum bright="-10000" contrast="-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214938"/>
            <a:ext cx="1471613" cy="164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37" r:id="rId1"/>
    <p:sldLayoutId id="2147484238" r:id="rId2"/>
    <p:sldLayoutId id="2147484239" r:id="rId3"/>
    <p:sldLayoutId id="2147484240" r:id="rId4"/>
    <p:sldLayoutId id="2147484241" r:id="rId5"/>
    <p:sldLayoutId id="2147484242" r:id="rId6"/>
    <p:sldLayoutId id="2147484243" r:id="rId7"/>
    <p:sldLayoutId id="2147484244" r:id="rId8"/>
    <p:sldLayoutId id="2147484245" r:id="rId9"/>
    <p:sldLayoutId id="2147484246" r:id="rId10"/>
    <p:sldLayoutId id="2147484247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0070C0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70C0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70C0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70C0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70C0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rgbClr val="0070C0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rgbClr val="0070C0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rgbClr val="0070C0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rgbClr val="0070C0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9pPr>
    </p:bodyStyle>
    <p:otherStyle>
      <a:lvl1pPr marL="0" lvl="0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占位符 1">
            <a:extLst>
              <a:ext uri="{FF2B5EF4-FFF2-40B4-BE49-F238E27FC236}">
                <a16:creationId xmlns:a16="http://schemas.microsoft.com/office/drawing/2014/main" id="{63C60541-BE3D-4A6A-8A65-11979648F16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>
                <a:sym typeface="Calibri" panose="020F0502020204030204" pitchFamily="34" charset="0"/>
              </a:rPr>
              <a:t>单击此处编辑母版标题样式</a:t>
            </a:r>
          </a:p>
        </p:txBody>
      </p:sp>
      <p:sp>
        <p:nvSpPr>
          <p:cNvPr id="4099" name="文本占位符 2">
            <a:extLst>
              <a:ext uri="{FF2B5EF4-FFF2-40B4-BE49-F238E27FC236}">
                <a16:creationId xmlns:a16="http://schemas.microsoft.com/office/drawing/2014/main" id="{CF36D090-C66D-432B-A4EE-BAF42304601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>
                <a:sym typeface="Calibri" panose="020F0502020204030204" pitchFamily="34" charset="0"/>
              </a:rPr>
              <a:t>单击此处编辑母版文本样式</a:t>
            </a:r>
          </a:p>
          <a:p>
            <a:pPr lvl="1"/>
            <a:r>
              <a:rPr lang="zh-CN" altLang="en-US">
                <a:sym typeface="Calibri" panose="020F0502020204030204" pitchFamily="34" charset="0"/>
              </a:rPr>
              <a:t>第二级</a:t>
            </a:r>
          </a:p>
          <a:p>
            <a:pPr lvl="2"/>
            <a:r>
              <a:rPr lang="zh-CN" altLang="en-US">
                <a:sym typeface="Calibri" panose="020F0502020204030204" pitchFamily="34" charset="0"/>
              </a:rPr>
              <a:t>第三级</a:t>
            </a:r>
          </a:p>
          <a:p>
            <a:pPr lvl="3"/>
            <a:r>
              <a:rPr lang="zh-CN" altLang="en-US">
                <a:sym typeface="Calibri" panose="020F0502020204030204" pitchFamily="34" charset="0"/>
              </a:rPr>
              <a:t>第四级</a:t>
            </a:r>
          </a:p>
          <a:p>
            <a:pPr lvl="4"/>
            <a:r>
              <a:rPr lang="zh-CN" altLang="en-US">
                <a:sym typeface="Calibri" panose="020F0502020204030204" pitchFamily="34" charset="0"/>
              </a:rPr>
              <a:t>第五级</a:t>
            </a:r>
          </a:p>
        </p:txBody>
      </p:sp>
      <p:sp>
        <p:nvSpPr>
          <p:cNvPr id="4100" name="日期占位符 3">
            <a:extLst>
              <a:ext uri="{FF2B5EF4-FFF2-40B4-BE49-F238E27FC236}">
                <a16:creationId xmlns:a16="http://schemas.microsoft.com/office/drawing/2014/main" id="{87FC33CF-811C-4D0A-A9BB-185B0B19B2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9525">
            <a:noFill/>
          </a:ln>
        </p:spPr>
        <p:txBody>
          <a:bodyPr vert="horz" anchor="ctr"/>
          <a:lstStyle>
            <a:lvl1pPr algn="l" eaLnBrk="1" hangingPunct="1">
              <a:buClr>
                <a:srgbClr val="B4B9BE"/>
              </a:buClr>
              <a:buFont typeface="Arial" panose="020B0604020202020204" pitchFamily="34" charset="0"/>
              <a:buNone/>
              <a:defRPr sz="1200" noProof="1">
                <a:solidFill>
                  <a:srgbClr val="898989"/>
                </a:solidFill>
                <a:latin typeface="Times New Roman" panose="02020603050405020304" pitchFamily="18" charset="0"/>
                <a:cs typeface="+mn-ea"/>
              </a:defRPr>
            </a:lvl1pPr>
          </a:lstStyle>
          <a:p>
            <a:pPr>
              <a:defRPr/>
            </a:pPr>
            <a:fld id="{64B006A1-CA9A-4232-82F8-70019F04FE18}" type="datetime1">
              <a:rPr lang="zh-CN" altLang="en-US"/>
              <a:pPr>
                <a:defRPr/>
              </a:pPr>
              <a:t>2024/3/5</a:t>
            </a:fld>
            <a:endParaRPr lang="zh-CN" altLang="en-US">
              <a:cs typeface="+mn-cs"/>
            </a:endParaRPr>
          </a:p>
        </p:txBody>
      </p:sp>
      <p:sp>
        <p:nvSpPr>
          <p:cNvPr id="4101" name="页脚占位符 4">
            <a:extLst>
              <a:ext uri="{FF2B5EF4-FFF2-40B4-BE49-F238E27FC236}">
                <a16:creationId xmlns:a16="http://schemas.microsoft.com/office/drawing/2014/main" id="{070880A7-2F28-435B-9500-2E2B4183CE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9525">
            <a:noFill/>
          </a:ln>
        </p:spPr>
        <p:txBody>
          <a:bodyPr vert="horz" anchor="ctr"/>
          <a:lstStyle>
            <a:lvl1pPr algn="ctr" eaLnBrk="1" hangingPunct="1">
              <a:buClr>
                <a:srgbClr val="B4B9BE"/>
              </a:buClr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02" name="灯片编号占位符 5">
            <a:extLst>
              <a:ext uri="{FF2B5EF4-FFF2-40B4-BE49-F238E27FC236}">
                <a16:creationId xmlns:a16="http://schemas.microsoft.com/office/drawing/2014/main" id="{45088C2E-249B-443E-9C68-6795FE7FBB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9525">
            <a:noFill/>
          </a:ln>
        </p:spPr>
        <p:txBody>
          <a:bodyPr vert="horz" anchor="ctr"/>
          <a:lstStyle>
            <a:lvl1pPr algn="r" eaLnBrk="1" hangingPunct="1">
              <a:buClr>
                <a:srgbClr val="B4B9BE"/>
              </a:buClr>
              <a:buFont typeface="Arial" panose="020B0604020202020204" pitchFamily="34" charset="0"/>
              <a:buNone/>
              <a:defRPr sz="1200" noProof="1">
                <a:solidFill>
                  <a:srgbClr val="898989"/>
                </a:solidFill>
                <a:latin typeface="Times New Roman" panose="02020603050405020304" pitchFamily="18" charset="0"/>
                <a:cs typeface="+mn-ea"/>
              </a:defRPr>
            </a:lvl1pPr>
          </a:lstStyle>
          <a:p>
            <a:pPr>
              <a:defRPr/>
            </a:pPr>
            <a:fld id="{B08F4A30-3B82-46ED-89C7-DD7099EF59EC}" type="slidenum">
              <a:rPr lang="zh-CN" altLang="en-US"/>
              <a:pPr>
                <a:defRPr/>
              </a:pPr>
              <a:t>‹#›</a:t>
            </a:fld>
            <a:endParaRPr lang="zh-CN" altLang="en-US">
              <a:cs typeface="+mn-cs"/>
            </a:endParaRPr>
          </a:p>
        </p:txBody>
      </p:sp>
      <p:pic>
        <p:nvPicPr>
          <p:cNvPr id="4103" name="图片 6">
            <a:extLst>
              <a:ext uri="{FF2B5EF4-FFF2-40B4-BE49-F238E27FC236}">
                <a16:creationId xmlns:a16="http://schemas.microsoft.com/office/drawing/2014/main" id="{FD977C2D-AD26-4812-B01A-D9256F3C4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5938" y="428625"/>
            <a:ext cx="1008062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4" name="图片 7">
            <a:extLst>
              <a:ext uri="{FF2B5EF4-FFF2-40B4-BE49-F238E27FC236}">
                <a16:creationId xmlns:a16="http://schemas.microsoft.com/office/drawing/2014/main" id="{BE03BB6D-00EF-41ED-9D6C-684B985D4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lum bright="-10000" contrast="-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214938"/>
            <a:ext cx="1471613" cy="164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48" r:id="rId1"/>
    <p:sldLayoutId id="2147484249" r:id="rId2"/>
    <p:sldLayoutId id="2147484250" r:id="rId3"/>
    <p:sldLayoutId id="2147484251" r:id="rId4"/>
    <p:sldLayoutId id="2147484252" r:id="rId5"/>
    <p:sldLayoutId id="2147484253" r:id="rId6"/>
    <p:sldLayoutId id="2147484254" r:id="rId7"/>
    <p:sldLayoutId id="2147484255" r:id="rId8"/>
    <p:sldLayoutId id="2147484256" r:id="rId9"/>
    <p:sldLayoutId id="2147484257" r:id="rId10"/>
    <p:sldLayoutId id="2147484258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9pPr>
    </p:bodyStyle>
    <p:otherStyle>
      <a:lvl1pPr marL="0" lvl="0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C1A994A-F932-46F8-B4EE-C16A318351E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68313" y="765175"/>
            <a:ext cx="82296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9D84B382-09B3-46E6-882C-42FE62902EF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66725" y="1773238"/>
            <a:ext cx="8229600" cy="431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411B4E28-FA40-43E6-9100-1BA001DACD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buClr>
                <a:srgbClr val="B4B9BE"/>
              </a:buClr>
              <a:buFont typeface="Arial" panose="020B0604020202020204" pitchFamily="34" charset="0"/>
              <a:buNone/>
              <a:defRPr sz="14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3218F1CC-DBA4-49FD-9254-9B12BA9C4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 eaLnBrk="1" hangingPunct="1">
              <a:buClr>
                <a:srgbClr val="B4B9BE"/>
              </a:buClr>
              <a:buFont typeface="Arial" panose="020B0604020202020204" pitchFamily="34" charset="0"/>
              <a:buNone/>
              <a:defRPr sz="14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9FBCAA1D-536D-4730-8CDC-4A7268F561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 eaLnBrk="1" hangingPunct="1">
              <a:buClr>
                <a:srgbClr val="B4B9BE"/>
              </a:buClr>
              <a:buFont typeface="Arial" panose="020B0604020202020204" pitchFamily="34" charset="0"/>
              <a:buNone/>
              <a:defRPr sz="1400" noProof="1">
                <a:latin typeface="Times New Roman" panose="02020603050405020304" pitchFamily="18" charset="0"/>
                <a:cs typeface="+mn-ea"/>
              </a:defRPr>
            </a:lvl1pPr>
          </a:lstStyle>
          <a:p>
            <a:pPr>
              <a:defRPr/>
            </a:pPr>
            <a:fld id="{630BFC06-FA0E-48E5-BB28-5512837D7687}" type="slidenum">
              <a:rPr lang="zh-CN" altLang="en-US"/>
              <a:pPr>
                <a:defRPr/>
              </a:pPr>
              <a:t>‹#›</a:t>
            </a:fld>
            <a:endParaRPr lang="zh-CN" altLang="en-US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59" r:id="rId1"/>
    <p:sldLayoutId id="2147484260" r:id="rId2"/>
    <p:sldLayoutId id="2147484261" r:id="rId3"/>
    <p:sldLayoutId id="2147484262" r:id="rId4"/>
    <p:sldLayoutId id="2147484263" r:id="rId5"/>
    <p:sldLayoutId id="2147484264" r:id="rId6"/>
    <p:sldLayoutId id="2147484265" r:id="rId7"/>
    <p:sldLayoutId id="2147484266" r:id="rId8"/>
    <p:sldLayoutId id="2147484267" r:id="rId9"/>
    <p:sldLayoutId id="2147484268" r:id="rId10"/>
    <p:sldLayoutId id="2147484269" r:id="rId11"/>
  </p:sldLayoutIdLst>
  <p:transition>
    <p:fad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C6C3C5-F440-4E88-B6A0-4CC577C89FA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AF87671-3EE6-44BD-B313-8D3B3F4F32E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9B0AFCA1-A8F6-4F9D-94C9-714551C4FC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buClr>
                <a:srgbClr val="B4B9BE"/>
              </a:buClr>
              <a:buFont typeface="Arial" panose="020B0604020202020204" pitchFamily="34" charset="0"/>
              <a:buNone/>
              <a:defRPr sz="14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EBA1283C-CFDA-47F4-9CDB-57E2EC721E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 eaLnBrk="1" hangingPunct="1">
              <a:buClr>
                <a:srgbClr val="B4B9BE"/>
              </a:buClr>
              <a:buFont typeface="Arial" panose="020B0604020202020204" pitchFamily="34" charset="0"/>
              <a:buNone/>
              <a:defRPr sz="14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C5A10622-8400-407D-A3A4-8A42941AB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 eaLnBrk="1" hangingPunct="1">
              <a:buClr>
                <a:srgbClr val="B4B9BE"/>
              </a:buClr>
              <a:buFont typeface="Arial" panose="020B0604020202020204" pitchFamily="34" charset="0"/>
              <a:buNone/>
              <a:defRPr sz="1400" noProof="1">
                <a:latin typeface="Times New Roman" panose="02020603050405020304" pitchFamily="18" charset="0"/>
                <a:cs typeface="+mn-ea"/>
              </a:defRPr>
            </a:lvl1pPr>
          </a:lstStyle>
          <a:p>
            <a:pPr>
              <a:defRPr/>
            </a:pPr>
            <a:fld id="{93853D9F-66FC-4583-AB52-BA85E173823F}" type="slidenum">
              <a:rPr lang="zh-CN" altLang="en-US"/>
              <a:pPr>
                <a:defRPr/>
              </a:pPr>
              <a:t>‹#›</a:t>
            </a:fld>
            <a:endParaRPr lang="zh-CN" altLang="en-US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70" r:id="rId1"/>
    <p:sldLayoutId id="2147484271" r:id="rId2"/>
    <p:sldLayoutId id="2147484272" r:id="rId3"/>
    <p:sldLayoutId id="2147484273" r:id="rId4"/>
    <p:sldLayoutId id="2147484274" r:id="rId5"/>
    <p:sldLayoutId id="2147484275" r:id="rId6"/>
    <p:sldLayoutId id="2147484276" r:id="rId7"/>
    <p:sldLayoutId id="2147484277" r:id="rId8"/>
    <p:sldLayoutId id="2147484278" r:id="rId9"/>
    <p:sldLayoutId id="2147484279" r:id="rId10"/>
    <p:sldLayoutId id="2147484280" r:id="rId11"/>
  </p:sldLayoutIdLst>
  <p:transition>
    <p:fad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5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8">
            <a:extLst>
              <a:ext uri="{FF2B5EF4-FFF2-40B4-BE49-F238E27FC236}">
                <a16:creationId xmlns:a16="http://schemas.microsoft.com/office/drawing/2014/main" id="{00CE1323-5A51-46FA-9766-DDC9AFBC8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309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>
                <a:srgbClr val="B4B9BE"/>
              </a:buClr>
              <a:buFontTx/>
              <a:buNone/>
            </a:pPr>
            <a:endParaRPr lang="zh-CN" altLang="en-US" sz="2400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53251" name="Rectangle 9">
            <a:extLst>
              <a:ext uri="{FF2B5EF4-FFF2-40B4-BE49-F238E27FC236}">
                <a16:creationId xmlns:a16="http://schemas.microsoft.com/office/drawing/2014/main" id="{68E39D81-A227-4010-B1EB-FF5018DE9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20650"/>
            <a:ext cx="3302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B4B9BE"/>
              </a:buClr>
              <a:buFontTx/>
              <a:buNone/>
            </a:pPr>
            <a:r>
              <a:rPr lang="en-US" altLang="zh-CN" sz="10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M/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53252" name="Rectangle 10">
            <a:extLst>
              <a:ext uri="{FF2B5EF4-FFF2-40B4-BE49-F238E27FC236}">
                <a16:creationId xmlns:a16="http://schemas.microsoft.com/office/drawing/2014/main" id="{96E0DFED-3FBC-4125-808C-E1C8A07FF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325"/>
            <a:ext cx="220663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B4B9BE"/>
              </a:buClr>
              <a:buFontTx/>
              <a:buNone/>
            </a:pPr>
            <a:r>
              <a:rPr lang="zh-CN" altLang="en-US" sz="1100">
                <a:sym typeface="Arial" panose="020B0604020202020204" pitchFamily="34" charset="0"/>
              </a:rPr>
              <a:t> 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9221" name="标题 1">
            <a:extLst>
              <a:ext uri="{FF2B5EF4-FFF2-40B4-BE49-F238E27FC236}">
                <a16:creationId xmlns:a16="http://schemas.microsoft.com/office/drawing/2014/main" id="{D08DEEC5-710C-44CE-824A-3E09DB96698E}"/>
              </a:ext>
            </a:extLst>
          </p:cNvPr>
          <p:cNvSpPr>
            <a:spLocks noGrp="1"/>
          </p:cNvSpPr>
          <p:nvPr/>
        </p:nvSpPr>
        <p:spPr>
          <a:xfrm>
            <a:off x="393700" y="806450"/>
            <a:ext cx="8534400" cy="48895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pPr>
            <a:r>
              <a:rPr lang="zh-CN" altLang="en-US" sz="4800" b="1" noProof="1">
                <a:solidFill>
                  <a:schemeClr val="accent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姚体" panose="02010601030101010101" pitchFamily="2" charset="-122"/>
                <a:ea typeface="方正姚体" panose="02010601030101010101" pitchFamily="2" charset="-122"/>
                <a:cs typeface="+mn-ea"/>
                <a:sym typeface="方正姚体" panose="02010601030101010101" pitchFamily="2" charset="-122"/>
              </a:rPr>
              <a:t>第  </a:t>
            </a:r>
            <a:r>
              <a:rPr lang="en-US" altLang="x-none" sz="4800" b="1" noProof="1">
                <a:solidFill>
                  <a:schemeClr val="accent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姚体" panose="02010601030101010101" pitchFamily="2" charset="-122"/>
                <a:ea typeface="方正姚体" panose="02010601030101010101" pitchFamily="2" charset="-122"/>
                <a:cs typeface="+mn-ea"/>
                <a:sym typeface="方正姚体" panose="02010601030101010101" pitchFamily="2" charset="-122"/>
              </a:rPr>
              <a:t>3 </a:t>
            </a:r>
            <a:r>
              <a:rPr lang="zh-CN" altLang="en-US" sz="4800" b="1" noProof="1">
                <a:solidFill>
                  <a:schemeClr val="accent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姚体" panose="02010601030101010101" pitchFamily="2" charset="-122"/>
                <a:ea typeface="方正姚体" panose="02010601030101010101" pitchFamily="2" charset="-122"/>
                <a:cs typeface="+mn-ea"/>
                <a:sym typeface="方正姚体" panose="02010601030101010101" pitchFamily="2" charset="-122"/>
              </a:rPr>
              <a:t>章</a:t>
            </a:r>
            <a:endParaRPr lang="zh-CN" altLang="en-US" sz="4800" b="1" noProof="1">
              <a:solidFill>
                <a:schemeClr val="accent1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方正姚体" panose="02010601030101010101" pitchFamily="2" charset="-122"/>
              <a:ea typeface="方正姚体" panose="02010601030101010101" pitchFamily="2" charset="-122"/>
              <a:sym typeface="方正姚体" panose="02010601030101010101" pitchFamily="2" charset="-122"/>
            </a:endParaRPr>
          </a:p>
          <a:p>
            <a:pPr algn="ctr"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pPr>
            <a:endParaRPr lang="zh-CN" altLang="en-US" sz="4800" b="1" noProof="1">
              <a:solidFill>
                <a:schemeClr val="accent1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方正姚体" panose="02010601030101010101" pitchFamily="2" charset="-122"/>
              <a:ea typeface="方正姚体" panose="02010601030101010101" pitchFamily="2" charset="-122"/>
              <a:sym typeface="方正姚体" panose="02010601030101010101" pitchFamily="2" charset="-122"/>
            </a:endParaRPr>
          </a:p>
          <a:p>
            <a:pPr algn="ctr"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pPr>
            <a:r>
              <a:rPr lang="en-US" altLang="x-none" sz="4800" b="1" noProof="1">
                <a:solidFill>
                  <a:srgbClr val="0033CC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华文中宋" panose="02010600040101010101" pitchFamily="2" charset="-122"/>
                <a:cs typeface="+mn-ea"/>
                <a:sym typeface="Times New Roman" panose="02020603050405020304" pitchFamily="18" charset="0"/>
              </a:rPr>
              <a:t>8086</a:t>
            </a:r>
            <a:r>
              <a:rPr lang="zh-CN" altLang="en-US" sz="4800" b="1" noProof="1">
                <a:solidFill>
                  <a:srgbClr val="0033CC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华文中宋" panose="02010600040101010101" pitchFamily="2" charset="-122"/>
                <a:cs typeface="+mn-ea"/>
                <a:sym typeface="Times New Roman" panose="02020603050405020304" pitchFamily="18" charset="0"/>
              </a:rPr>
              <a:t>的寻址方式和指令系统</a:t>
            </a:r>
          </a:p>
          <a:p>
            <a:pPr algn="ctr" eaLnBrk="1" hangingPunct="1">
              <a:spcBef>
                <a:spcPts val="3000"/>
              </a:spcBef>
              <a:buClr>
                <a:srgbClr val="B4B9BE"/>
              </a:buClr>
              <a:buFont typeface="Arial" panose="020B0604020202020204" pitchFamily="34" charset="0"/>
              <a:buNone/>
              <a:defRPr/>
            </a:pPr>
            <a:r>
              <a:rPr lang="en-US" altLang="zh-CN" sz="3600" b="1" noProof="1">
                <a:solidFill>
                  <a:srgbClr val="0033CC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华文中宋" panose="02010600040101010101" pitchFamily="2" charset="-122"/>
                <a:cs typeface="+mn-ea"/>
                <a:sym typeface="Times New Roman" panose="02020603050405020304" pitchFamily="18" charset="0"/>
              </a:rPr>
              <a:t>PART1</a:t>
            </a:r>
            <a:r>
              <a:rPr lang="en-US" altLang="zh-CN" sz="3600" b="1" noProof="1">
                <a:solidFill>
                  <a:srgbClr val="CC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华文中宋" panose="02010600040101010101" pitchFamily="2" charset="-122"/>
                <a:cs typeface="+mn-ea"/>
                <a:sym typeface="Times New Roman" panose="02020603050405020304" pitchFamily="18" charset="0"/>
              </a:rPr>
              <a:t> </a:t>
            </a:r>
            <a:r>
              <a:rPr lang="zh-CN" altLang="en-US" sz="3600" b="1" noProof="1">
                <a:solidFill>
                  <a:srgbClr val="CC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华文中宋" panose="02010600040101010101" pitchFamily="2" charset="-122"/>
                <a:cs typeface="+mn-ea"/>
                <a:sym typeface="Times New Roman" panose="02020603050405020304" pitchFamily="18" charset="0"/>
              </a:rPr>
              <a:t>寻址方式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>
            <a:extLst>
              <a:ext uri="{FF2B5EF4-FFF2-40B4-BE49-F238E27FC236}">
                <a16:creationId xmlns:a16="http://schemas.microsoft.com/office/drawing/2014/main" id="{FBAE8F5B-7A26-48DE-A42F-E4D197077915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016000" y="1295400"/>
            <a:ext cx="7489825" cy="428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Clr>
                <a:srgbClr val="B4B9BE"/>
              </a:buClr>
              <a:buFontTx/>
              <a:buNone/>
            </a:pPr>
            <a:r>
              <a:rPr lang="zh-CN" altLang="en-US" sz="40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Times New Roman" panose="02020603050405020304" pitchFamily="18" charset="0"/>
              </a:rPr>
              <a:t>本章主要内容：</a:t>
            </a:r>
            <a:br>
              <a:rPr lang="zh-CN" altLang="en-US" sz="4000">
                <a:solidFill>
                  <a:srgbClr val="FFC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</a:br>
            <a:r>
              <a:rPr lang="en-US" altLang="zh-CN" sz="4000">
                <a:solidFill>
                  <a:srgbClr val="008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§3.1 8086</a:t>
            </a:r>
            <a:r>
              <a:rPr lang="zh-CN" altLang="en-US" sz="4000">
                <a:solidFill>
                  <a:srgbClr val="008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的寻址方式</a:t>
            </a:r>
            <a:br>
              <a:rPr lang="zh-CN" altLang="en-US" sz="4000">
                <a:solidFill>
                  <a:srgbClr val="008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</a:br>
            <a:r>
              <a:rPr lang="en-US" altLang="zh-CN" sz="4000">
                <a:solidFill>
                  <a:srgbClr val="008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§3.2  </a:t>
            </a:r>
            <a:r>
              <a:rPr lang="zh-CN" altLang="en-US" sz="4000">
                <a:solidFill>
                  <a:srgbClr val="008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指令的机器码表示方法 </a:t>
            </a:r>
            <a:r>
              <a:rPr lang="en-US" altLang="zh-CN" sz="4000">
                <a:solidFill>
                  <a:srgbClr val="008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*</a:t>
            </a:r>
            <a:br>
              <a:rPr lang="zh-CN" altLang="en-US" sz="4000">
                <a:solidFill>
                  <a:srgbClr val="008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</a:br>
            <a:r>
              <a:rPr lang="en-US" altLang="zh-CN" sz="4000">
                <a:solidFill>
                  <a:srgbClr val="008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§3.3</a:t>
            </a:r>
            <a:r>
              <a:rPr lang="zh-CN" altLang="en-US" sz="4000">
                <a:solidFill>
                  <a:srgbClr val="008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4000">
                <a:solidFill>
                  <a:srgbClr val="008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8086</a:t>
            </a:r>
            <a:r>
              <a:rPr lang="zh-CN" altLang="en-US" sz="4000">
                <a:solidFill>
                  <a:srgbClr val="008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的指令系统</a:t>
            </a:r>
            <a:br>
              <a:rPr lang="zh-CN" altLang="en-US" sz="4000">
                <a:solidFill>
                  <a:srgbClr val="FFC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</a:br>
            <a:r>
              <a:rPr lang="en-US" altLang="zh-CN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	*</a:t>
            </a:r>
            <a:r>
              <a:rPr lang="zh-CN" altLang="en-US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注：</a:t>
            </a:r>
            <a:r>
              <a:rPr lang="en-US" altLang="zh-CN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3.2</a:t>
            </a:r>
            <a:r>
              <a:rPr lang="zh-CN" altLang="en-US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节不做考核要求</a:t>
            </a:r>
            <a:endParaRPr lang="en-US" altLang="zh-CN">
              <a:solidFill>
                <a:srgbClr val="FFC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  <a:buClr>
                <a:srgbClr val="B4B9BE"/>
              </a:buClr>
              <a:buFontTx/>
              <a:buNone/>
            </a:pPr>
            <a:r>
              <a:rPr lang="en-US" altLang="zh-CN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          </a:t>
            </a:r>
            <a:r>
              <a:rPr lang="zh-CN" altLang="en-US" sz="240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参见教材</a:t>
            </a:r>
            <a:r>
              <a:rPr lang="en-US" altLang="zh-CN" sz="240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page 62~66</a:t>
            </a:r>
            <a:r>
              <a:rPr lang="zh-CN" altLang="en-US" sz="240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，学完寻址方式后可以看懂</a:t>
            </a:r>
          </a:p>
        </p:txBody>
      </p:sp>
    </p:spTree>
  </p:cSld>
  <p:clrMapOvr>
    <a:masterClrMapping/>
  </p:clrMapOvr>
  <p:transition spd="slow">
    <p:pull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>
            <a:extLst>
              <a:ext uri="{FF2B5EF4-FFF2-40B4-BE49-F238E27FC236}">
                <a16:creationId xmlns:a16="http://schemas.microsoft.com/office/drawing/2014/main" id="{70A089D6-2FD8-44DE-9A7F-E5DF69211E49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38150" y="495300"/>
            <a:ext cx="8229600" cy="1149350"/>
          </a:xfrm>
        </p:spPr>
        <p:txBody>
          <a:bodyPr anchor="ctr"/>
          <a:lstStyle/>
          <a:p>
            <a:pPr marL="457200" indent="-457200" algn="l" eaLnBrk="1" hangingPunct="1">
              <a:buFont typeface="Wingdings" panose="05000000000000000000" pitchFamily="2" charset="2"/>
              <a:buChar char="l"/>
            </a:pPr>
            <a:r>
              <a:rPr lang="zh-CN" altLang="en-US" sz="2800" b="1">
                <a:solidFill>
                  <a:schemeClr val="accent2"/>
                </a:solidFill>
              </a:rPr>
              <a:t>指令</a:t>
            </a:r>
            <a:r>
              <a:rPr lang="zh-CN" altLang="en-US" sz="2800" b="1">
                <a:solidFill>
                  <a:srgbClr val="00B050"/>
                </a:solidFill>
              </a:rPr>
              <a:t> Instruction </a:t>
            </a:r>
            <a:r>
              <a:rPr lang="zh-CN" altLang="en-US" sz="2800"/>
              <a:t>和</a:t>
            </a:r>
            <a:r>
              <a:rPr lang="zh-CN" altLang="en-US" sz="2800" b="1">
                <a:solidFill>
                  <a:schemeClr val="accent2"/>
                </a:solidFill>
              </a:rPr>
              <a:t>寻址</a:t>
            </a:r>
            <a:r>
              <a:rPr lang="zh-CN" altLang="en-US" sz="2800" b="1">
                <a:solidFill>
                  <a:srgbClr val="00B050"/>
                </a:solidFill>
              </a:rPr>
              <a:t> addressing modes</a:t>
            </a:r>
          </a:p>
        </p:txBody>
      </p:sp>
      <p:sp>
        <p:nvSpPr>
          <p:cNvPr id="11267" name="内容占位符 2">
            <a:extLst>
              <a:ext uri="{FF2B5EF4-FFF2-40B4-BE49-F238E27FC236}">
                <a16:creationId xmlns:a16="http://schemas.microsoft.com/office/drawing/2014/main" id="{E1FD8CCC-0838-4EF8-93B4-F6AA30749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5963" y="1731963"/>
            <a:ext cx="8302625" cy="4235450"/>
          </a:xfrm>
        </p:spPr>
        <p:txBody>
          <a:bodyPr/>
          <a:lstStyle/>
          <a:p>
            <a:pPr marL="457200" indent="-457200" algn="l" eaLnBrk="1" hangingPunct="1">
              <a:lnSpc>
                <a:spcPct val="80000"/>
              </a:lnSpc>
              <a:spcBef>
                <a:spcPts val="1800"/>
              </a:spcBef>
              <a:buFont typeface="Wingdings" panose="05000000000000000000" charset="0"/>
              <a:buChar char="u"/>
              <a:defRPr/>
            </a:pPr>
            <a:r>
              <a:rPr lang="zh-CN" altLang="en-US" sz="2800" b="1" noProof="1">
                <a:solidFill>
                  <a:srgbClr val="C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指令</a:t>
            </a:r>
            <a:endParaRPr lang="zh-CN" altLang="en-US" sz="2800" noProof="1">
              <a:solidFill>
                <a:schemeClr val="accent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sym typeface="Times New Roman" panose="02020603050405020304" pitchFamily="18" charset="0"/>
            </a:endParaRPr>
          </a:p>
          <a:p>
            <a:pPr algn="l" eaLnBrk="1" hangingPunct="1">
              <a:lnSpc>
                <a:spcPct val="80000"/>
              </a:lnSpc>
              <a:spcBef>
                <a:spcPts val="1800"/>
              </a:spcBef>
              <a:defRPr/>
            </a:pPr>
            <a:r>
              <a:rPr lang="en-US" altLang="zh-CN" sz="2800" noProof="1">
                <a:solidFill>
                  <a:schemeClr val="accent4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	</a:t>
            </a:r>
            <a:r>
              <a:rPr lang="zh-CN" altLang="en-US" sz="2800" noProof="1">
                <a:solidFill>
                  <a:schemeClr val="accent4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包含</a:t>
            </a:r>
            <a:r>
              <a:rPr lang="zh-CN" altLang="en-US" sz="2800" b="1" noProof="1">
                <a:solidFill>
                  <a:srgbClr val="0033CC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操作码</a:t>
            </a:r>
            <a:r>
              <a:rPr lang="zh-CN" altLang="en-US" sz="2800" noProof="1">
                <a:solidFill>
                  <a:schemeClr val="accent4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（</a:t>
            </a:r>
            <a:r>
              <a:rPr lang="en-US" altLang="zh-CN" sz="2800" noProof="1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Opcode</a:t>
            </a:r>
            <a:r>
              <a:rPr lang="zh-CN" altLang="en-US" sz="2800" noProof="1">
                <a:solidFill>
                  <a:schemeClr val="accent4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）和</a:t>
            </a:r>
            <a:r>
              <a:rPr lang="zh-CN" altLang="en-US" sz="2800" b="1" noProof="1">
                <a:solidFill>
                  <a:srgbClr val="0033CC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操作数</a:t>
            </a:r>
            <a:r>
              <a:rPr lang="zh-CN" altLang="en-US" sz="2800" noProof="1">
                <a:solidFill>
                  <a:schemeClr val="accent4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（</a:t>
            </a:r>
            <a:r>
              <a:rPr lang="en-US" altLang="zh-CN" sz="2800" noProof="1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Operand</a:t>
            </a:r>
            <a:r>
              <a:rPr lang="zh-CN" altLang="en-US" sz="2800" noProof="1">
                <a:solidFill>
                  <a:schemeClr val="accent4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）</a:t>
            </a:r>
          </a:p>
          <a:p>
            <a:pPr marL="1828800" lvl="3" indent="-457200" algn="l">
              <a:lnSpc>
                <a:spcPct val="80000"/>
              </a:lnSpc>
              <a:spcBef>
                <a:spcPts val="1800"/>
              </a:spcBef>
              <a:buFont typeface="Wingdings" panose="05000000000000000000" charset="0"/>
              <a:buChar char="Ø"/>
              <a:defRPr/>
            </a:pPr>
            <a:r>
              <a:rPr lang="zh-CN" altLang="en-US" sz="2400" noProof="1">
                <a:solidFill>
                  <a:schemeClr val="accent4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操作码</a:t>
            </a:r>
            <a:r>
              <a:rPr lang="en-US" altLang="zh-CN" sz="2400" noProof="1">
                <a:solidFill>
                  <a:schemeClr val="accent4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—</a:t>
            </a:r>
            <a:r>
              <a:rPr lang="zh-CN" altLang="en-US" sz="2400" noProof="1">
                <a:solidFill>
                  <a:schemeClr val="accent4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做什么操作（</a:t>
            </a:r>
            <a:r>
              <a:rPr lang="zh-CN" altLang="en-US" sz="2400" b="1" noProof="1">
                <a:solidFill>
                  <a:srgbClr val="00B05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功能</a:t>
            </a:r>
            <a:r>
              <a:rPr lang="zh-CN" altLang="en-US" sz="2400" noProof="1">
                <a:solidFill>
                  <a:schemeClr val="accent4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）</a:t>
            </a:r>
          </a:p>
          <a:p>
            <a:pPr marL="1828800" lvl="3" indent="-457200" algn="l">
              <a:lnSpc>
                <a:spcPct val="80000"/>
              </a:lnSpc>
              <a:spcBef>
                <a:spcPts val="1800"/>
              </a:spcBef>
              <a:buFont typeface="Wingdings" panose="05000000000000000000" charset="0"/>
              <a:buChar char="Ø"/>
              <a:defRPr/>
            </a:pPr>
            <a:r>
              <a:rPr lang="zh-CN" altLang="en-US" sz="2400" noProof="1">
                <a:solidFill>
                  <a:schemeClr val="accent4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操作数</a:t>
            </a:r>
            <a:r>
              <a:rPr lang="en-US" altLang="zh-CN" sz="2400" noProof="1">
                <a:solidFill>
                  <a:schemeClr val="accent4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—</a:t>
            </a:r>
            <a:r>
              <a:rPr lang="zh-CN" altLang="en-US" sz="2400" noProof="1">
                <a:solidFill>
                  <a:schemeClr val="accent4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操作什么（</a:t>
            </a:r>
            <a:r>
              <a:rPr lang="zh-CN" altLang="en-US" sz="2400" b="1" noProof="1">
                <a:solidFill>
                  <a:srgbClr val="00B05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对象</a:t>
            </a:r>
            <a:r>
              <a:rPr lang="zh-CN" altLang="en-US" sz="2400" noProof="1">
                <a:solidFill>
                  <a:schemeClr val="accent4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）</a:t>
            </a:r>
          </a:p>
          <a:p>
            <a:pPr marL="457200" indent="-457200" algn="l" eaLnBrk="1" hangingPunct="1">
              <a:lnSpc>
                <a:spcPct val="80000"/>
              </a:lnSpc>
              <a:spcBef>
                <a:spcPts val="1800"/>
              </a:spcBef>
              <a:buFont typeface="Wingdings" panose="05000000000000000000" charset="0"/>
              <a:buChar char="u"/>
              <a:defRPr/>
            </a:pPr>
            <a:r>
              <a:rPr lang="zh-CN" altLang="en-US" sz="2800" b="1" noProof="1">
                <a:solidFill>
                  <a:srgbClr val="C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寻址方式</a:t>
            </a:r>
            <a:r>
              <a:rPr lang="zh-CN" altLang="en-US" sz="2800" noProof="1">
                <a:solidFill>
                  <a:schemeClr val="accent4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（</a:t>
            </a:r>
            <a:r>
              <a:rPr lang="zh-CN" altLang="en-US" sz="2800" b="1" noProof="1">
                <a:solidFill>
                  <a:srgbClr val="0033CC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寻找地址的方法</a:t>
            </a:r>
            <a:r>
              <a:rPr lang="zh-CN" altLang="en-US" sz="2800" noProof="1">
                <a:solidFill>
                  <a:schemeClr val="accent4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）</a:t>
            </a:r>
          </a:p>
          <a:p>
            <a:pPr algn="l" eaLnBrk="1" hangingPunct="1">
              <a:lnSpc>
                <a:spcPct val="80000"/>
              </a:lnSpc>
              <a:spcBef>
                <a:spcPts val="1800"/>
              </a:spcBef>
              <a:defRPr/>
            </a:pPr>
            <a:r>
              <a:rPr lang="en-US" altLang="zh-CN" sz="2800" noProof="1">
                <a:solidFill>
                  <a:schemeClr val="accent4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	</a:t>
            </a:r>
            <a:r>
              <a:rPr lang="zh-CN" altLang="en-US" sz="2800" noProof="1">
                <a:solidFill>
                  <a:schemeClr val="accent4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说明操作数所在地址的方法：哪里来，到哪去</a:t>
            </a:r>
          </a:p>
          <a:p>
            <a:pPr marL="457200" indent="-457200" algn="l" eaLnBrk="1" hangingPunct="1">
              <a:lnSpc>
                <a:spcPct val="80000"/>
              </a:lnSpc>
              <a:spcBef>
                <a:spcPts val="1800"/>
              </a:spcBef>
              <a:buFont typeface="Wingdings" panose="05000000000000000000" charset="0"/>
              <a:buChar char="u"/>
              <a:defRPr/>
            </a:pPr>
            <a:r>
              <a:rPr lang="zh-CN" altLang="en-US" sz="2800" noProof="1">
                <a:solidFill>
                  <a:schemeClr val="accent4"/>
                </a:solidFill>
              </a:rPr>
              <a:t>操作数可能在那些地方呢？</a:t>
            </a:r>
          </a:p>
          <a:p>
            <a:pPr algn="l" eaLnBrk="1" hangingPunct="1">
              <a:lnSpc>
                <a:spcPct val="80000"/>
              </a:lnSpc>
              <a:spcBef>
                <a:spcPts val="1800"/>
              </a:spcBef>
              <a:defRPr/>
            </a:pPr>
            <a:r>
              <a:rPr lang="en-US" altLang="zh-CN" sz="2800" noProof="1">
                <a:solidFill>
                  <a:schemeClr val="accent4"/>
                </a:solidFill>
              </a:rPr>
              <a:t>	</a:t>
            </a:r>
            <a:r>
              <a:rPr lang="zh-CN" altLang="en-US" sz="2800" noProof="1">
                <a:solidFill>
                  <a:srgbClr val="0033CC"/>
                </a:solidFill>
              </a:rPr>
              <a:t>寄存器</a:t>
            </a:r>
            <a:r>
              <a:rPr lang="zh-CN" altLang="en-US" sz="2800" noProof="1">
                <a:solidFill>
                  <a:schemeClr val="accent4"/>
                </a:solidFill>
              </a:rPr>
              <a:t>；</a:t>
            </a:r>
            <a:r>
              <a:rPr lang="zh-CN" altLang="en-US" sz="2800" noProof="1">
                <a:solidFill>
                  <a:srgbClr val="0033CC"/>
                </a:solidFill>
              </a:rPr>
              <a:t>存储器</a:t>
            </a:r>
            <a:r>
              <a:rPr lang="zh-CN" altLang="en-US" sz="2800" noProof="1">
                <a:solidFill>
                  <a:schemeClr val="accent4"/>
                </a:solidFill>
              </a:rPr>
              <a:t>（数据区</a:t>
            </a:r>
            <a:r>
              <a:rPr lang="en-US" altLang="zh-CN" sz="2800" noProof="1">
                <a:solidFill>
                  <a:schemeClr val="accent4"/>
                </a:solidFill>
              </a:rPr>
              <a:t>or</a:t>
            </a:r>
            <a:r>
              <a:rPr lang="zh-CN" altLang="en-US" sz="2800" noProof="1">
                <a:solidFill>
                  <a:schemeClr val="accent4"/>
                </a:solidFill>
              </a:rPr>
              <a:t>代码区）；</a:t>
            </a:r>
            <a:r>
              <a:rPr lang="en-US" altLang="zh-CN" sz="2800" noProof="1">
                <a:solidFill>
                  <a:srgbClr val="0033CC"/>
                </a:solidFill>
              </a:rPr>
              <a:t>I/O</a:t>
            </a:r>
            <a:r>
              <a:rPr lang="zh-CN" altLang="en-US" sz="2800" noProof="1">
                <a:solidFill>
                  <a:srgbClr val="0033CC"/>
                </a:solidFill>
              </a:rPr>
              <a:t>设备</a:t>
            </a:r>
            <a:r>
              <a:rPr lang="en-US" altLang="zh-CN" sz="3200" noProof="1">
                <a:solidFill>
                  <a:schemeClr val="accent4"/>
                </a:solidFill>
              </a:rPr>
              <a:t>	</a:t>
            </a:r>
            <a:r>
              <a:rPr lang="zh-CN" altLang="en-US" sz="2800" noProof="1">
                <a:solidFill>
                  <a:schemeClr val="accent4"/>
                </a:solidFill>
                <a:latin typeface="Times New Roman" panose="02020603050405020304" pitchFamily="18" charset="0"/>
              </a:rPr>
              <a:t>	</a:t>
            </a:r>
          </a:p>
        </p:txBody>
      </p:sp>
    </p:spTree>
  </p:cSld>
  <p:clrMapOvr>
    <a:masterClrMapping/>
  </p:clrMapOvr>
  <p:transition spd="slow"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1">
            <a:extLst>
              <a:ext uri="{FF2B5EF4-FFF2-40B4-BE49-F238E27FC236}">
                <a16:creationId xmlns:a16="http://schemas.microsoft.com/office/drawing/2014/main" id="{64B393BB-CBC9-4545-8DF3-005993ACB478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zh-CN" altLang="en-US" sz="2800" b="1">
                <a:solidFill>
                  <a:schemeClr val="accent2"/>
                </a:solidFill>
              </a:rPr>
              <a:t>寻址方式</a:t>
            </a:r>
          </a:p>
        </p:txBody>
      </p:sp>
      <p:sp>
        <p:nvSpPr>
          <p:cNvPr id="12291" name="内容占位符 2">
            <a:extLst>
              <a:ext uri="{FF2B5EF4-FFF2-40B4-BE49-F238E27FC236}">
                <a16:creationId xmlns:a16="http://schemas.microsoft.com/office/drawing/2014/main" id="{DA558D2A-8228-46E0-9E4C-2E43EE9A1C0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71500" y="1073150"/>
            <a:ext cx="7964488" cy="5467350"/>
          </a:xfrm>
        </p:spPr>
        <p:txBody>
          <a:bodyPr/>
          <a:lstStyle/>
          <a:p>
            <a:pPr marL="342900" indent="-342900" algn="l" eaLnBrk="1" hangingPunct="1">
              <a:spcBef>
                <a:spcPts val="1800"/>
              </a:spcBef>
            </a:pPr>
            <a:r>
              <a:rPr lang="en-US" altLang="zh-CN" sz="2400" b="1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8086</a:t>
            </a: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的寻</a:t>
            </a:r>
            <a:r>
              <a:rPr lang="zh-CN" altLang="en-US" sz="2400" b="1" dirty="0">
                <a:solidFill>
                  <a:srgbClr val="0033CC"/>
                </a:solidFill>
              </a:rPr>
              <a:t>址方式有以下几种：</a:t>
            </a:r>
          </a:p>
          <a:p>
            <a:pPr marL="342900" indent="-342900" algn="l" eaLnBrk="1" hangingPunct="1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33CC"/>
                </a:solidFill>
              </a:rPr>
              <a:t>立即数寻址</a:t>
            </a:r>
            <a:r>
              <a:rPr lang="zh-CN" altLang="en-US" sz="2400" dirty="0"/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可直接从</a:t>
            </a:r>
            <a:r>
              <a:rPr lang="zh-CN" altLang="en-US" sz="2400" dirty="0">
                <a:solidFill>
                  <a:srgbClr val="C00000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指令队列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中取数，指令执行速度快；（本来保存在</a:t>
            </a:r>
            <a:r>
              <a:rPr lang="zh-CN" altLang="en-US" sz="2400" b="1" dirty="0">
                <a:solidFill>
                  <a:srgbClr val="C00000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代码区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）</a:t>
            </a:r>
          </a:p>
          <a:p>
            <a:pPr marL="342900" indent="-342900" algn="l" eaLnBrk="1" hangingPunct="1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33CC"/>
                </a:solidFill>
              </a:rPr>
              <a:t>寄存器寻址</a:t>
            </a:r>
            <a:r>
              <a:rPr lang="zh-CN" altLang="en-US" sz="2400" dirty="0"/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操作数在寄存器中，执行速度最快（</a:t>
            </a:r>
            <a:r>
              <a:rPr lang="zh-CN" altLang="en-US" sz="2400" b="1" dirty="0">
                <a:solidFill>
                  <a:srgbClr val="C00000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内总线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） </a:t>
            </a:r>
          </a:p>
          <a:p>
            <a:pPr marL="342900" indent="-342900" algn="l" eaLnBrk="1" hangingPunct="1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33CC"/>
                </a:solidFill>
              </a:rPr>
              <a:t>存储器寻址</a:t>
            </a:r>
            <a:r>
              <a:rPr lang="zh-CN" altLang="en-US" sz="2400" dirty="0"/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操作数在存储器中，执行速度较慢（</a:t>
            </a:r>
            <a:r>
              <a:rPr lang="zh-CN" altLang="en-US" sz="2400" b="1" dirty="0">
                <a:solidFill>
                  <a:srgbClr val="C00000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外总线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）</a:t>
            </a:r>
          </a:p>
          <a:p>
            <a:pPr marL="342900" indent="-342900" algn="l" eaLnBrk="1" hangingPunct="1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33CC"/>
                </a:solidFill>
              </a:rPr>
              <a:t>其它寻址</a:t>
            </a:r>
            <a:r>
              <a:rPr lang="zh-CN" altLang="en-US" sz="2400" dirty="0">
                <a:solidFill>
                  <a:srgbClr val="00B0F0"/>
                </a:solidFill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如隐含寻址、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I/O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端口寻址（速度与存储器相似）、转移类指令寻址</a:t>
            </a:r>
          </a:p>
          <a:p>
            <a:pPr marL="342900" indent="-342900" algn="l" eaLnBrk="1" hangingPunct="1">
              <a:spcBef>
                <a:spcPts val="1800"/>
              </a:spcBef>
              <a:buFont typeface="Wingdings 3" panose="05040102010807070707" pitchFamily="18" charset="2"/>
              <a:buChar char="ä"/>
            </a:pPr>
            <a:r>
              <a:rPr lang="zh-CN" altLang="en-US" sz="2400" dirty="0">
                <a:solidFill>
                  <a:srgbClr val="FF66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Times New Roman" panose="02020603050405020304" pitchFamily="18" charset="0"/>
              </a:rPr>
              <a:t>下面主要以</a:t>
            </a:r>
            <a:r>
              <a:rPr lang="en-US" altLang="zh-CN" sz="2400" b="1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Times New Roman" panose="02020603050405020304" pitchFamily="18" charset="0"/>
              </a:rPr>
              <a:t>MOV</a:t>
            </a:r>
            <a:r>
              <a:rPr lang="zh-CN" altLang="en-US" sz="2400" dirty="0">
                <a:solidFill>
                  <a:srgbClr val="FF66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Times New Roman" panose="02020603050405020304" pitchFamily="18" charset="0"/>
              </a:rPr>
              <a:t>指令（源操作数）为例来说明</a:t>
            </a:r>
            <a:r>
              <a:rPr lang="en-US" altLang="zh-CN" sz="2400" dirty="0">
                <a:solidFill>
                  <a:srgbClr val="FF66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Times New Roman" panose="02020603050405020304" pitchFamily="18" charset="0"/>
              </a:rPr>
              <a:t>8086</a:t>
            </a:r>
            <a:r>
              <a:rPr lang="zh-CN" altLang="en-US" sz="2400" dirty="0">
                <a:solidFill>
                  <a:srgbClr val="FF66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Times New Roman" panose="02020603050405020304" pitchFamily="18" charset="0"/>
              </a:rPr>
              <a:t>的寻址方式。 </a:t>
            </a:r>
            <a:endParaRPr lang="zh-CN" altLang="en-US" sz="24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charRg st="16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charRg st="16" end="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charRg st="44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charRg st="44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charRg st="68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charRg st="68" end="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charRg st="98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291">
                                            <p:txEl>
                                              <p:charRg st="98" end="1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charRg st="125" end="1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291">
                                            <p:txEl>
                                              <p:charRg st="125" end="1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>
            <a:extLst>
              <a:ext uri="{FF2B5EF4-FFF2-40B4-BE49-F238E27FC236}">
                <a16:creationId xmlns:a16="http://schemas.microsoft.com/office/drawing/2014/main" id="{6F348CDF-1E85-4485-8443-6B6FD0250199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0" y="495300"/>
            <a:ext cx="8534400" cy="1466850"/>
          </a:xfrm>
        </p:spPr>
        <p:txBody>
          <a:bodyPr anchor="ctr"/>
          <a:lstStyle/>
          <a:p>
            <a:pPr eaLnBrk="1" hangingPunct="1"/>
            <a:r>
              <a:rPr lang="en-US" altLang="zh-CN" sz="5400">
                <a:solidFill>
                  <a:schemeClr val="accent2"/>
                </a:solidFill>
                <a:sym typeface="Times New Roman" panose="02020603050405020304" pitchFamily="18" charset="0"/>
              </a:rPr>
              <a:t>§3</a:t>
            </a:r>
            <a:r>
              <a:rPr lang="en-US" altLang="zh-CN" sz="5400">
                <a:solidFill>
                  <a:schemeClr val="accent2"/>
                </a:solidFill>
              </a:rPr>
              <a:t>.1 8086</a:t>
            </a:r>
            <a:r>
              <a:rPr lang="zh-CN" altLang="en-US" sz="5400">
                <a:solidFill>
                  <a:schemeClr val="accent2"/>
                </a:solidFill>
              </a:rPr>
              <a:t>的寻址方式</a:t>
            </a:r>
            <a:endParaRPr lang="zh-CN" altLang="en-US" sz="4400">
              <a:solidFill>
                <a:schemeClr val="accent2"/>
              </a:solidFill>
            </a:endParaRPr>
          </a:p>
        </p:txBody>
      </p:sp>
      <p:sp>
        <p:nvSpPr>
          <p:cNvPr id="57347" name="矩形 4">
            <a:extLst>
              <a:ext uri="{FF2B5EF4-FFF2-40B4-BE49-F238E27FC236}">
                <a16:creationId xmlns:a16="http://schemas.microsoft.com/office/drawing/2014/main" id="{5EAA56AA-D0F5-48F0-B661-2AA35FA5E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3850" y="1919288"/>
            <a:ext cx="591185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3.1.1 </a:t>
            </a:r>
            <a:r>
              <a:rPr lang="zh-CN" altLang="en-US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立即寻址方式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3.1.2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3.1.3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直接寻址方式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3.1.4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寄存器间接寻址方式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3.1.5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寄存器相对寻址方式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3.1.6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基址变址寻址方式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3.1.7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相对基址变址寻址方式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3.1.8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其它寻址方式</a:t>
            </a:r>
            <a:endParaRPr lang="en-US" altLang="zh-CN" sz="240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edg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>
            <a:extLst>
              <a:ext uri="{FF2B5EF4-FFF2-40B4-BE49-F238E27FC236}">
                <a16:creationId xmlns:a16="http://schemas.microsoft.com/office/drawing/2014/main" id="{0216D64B-3150-4EC1-A1BD-0627471D6822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304800" y="142875"/>
            <a:ext cx="8534400" cy="925513"/>
          </a:xfrm>
        </p:spPr>
        <p:txBody>
          <a:bodyPr anchor="ctr"/>
          <a:lstStyle/>
          <a:p>
            <a:pPr algn="l" eaLnBrk="1" hangingPunct="1"/>
            <a:r>
              <a:rPr lang="en-US" altLang="zh-CN" sz="4000">
                <a:solidFill>
                  <a:schemeClr val="accent2"/>
                </a:solidFill>
                <a:sym typeface="Times New Roman" panose="02020603050405020304" pitchFamily="18" charset="0"/>
              </a:rPr>
              <a:t>§3</a:t>
            </a:r>
            <a:r>
              <a:rPr lang="en-US" altLang="zh-CN" sz="4000">
                <a:solidFill>
                  <a:schemeClr val="accent2"/>
                </a:solidFill>
              </a:rPr>
              <a:t>.1 8086</a:t>
            </a:r>
            <a:r>
              <a:rPr lang="zh-CN" altLang="en-US" sz="4000">
                <a:solidFill>
                  <a:schemeClr val="accent2"/>
                </a:solidFill>
              </a:rPr>
              <a:t>的寻址方式</a:t>
            </a:r>
          </a:p>
        </p:txBody>
      </p:sp>
      <p:sp>
        <p:nvSpPr>
          <p:cNvPr id="4" name="Text Box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782908E7-975D-46D4-885F-78EF11B668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063" y="2303463"/>
            <a:ext cx="7931150" cy="426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E9E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dist">
              <a:buFontTx/>
              <a:buNone/>
            </a:pPr>
            <a:r>
              <a:rPr lang="en-US" altLang="zh-CN" sz="2800" b="1"/>
              <a:t>MOV    AL,</a:t>
            </a:r>
            <a:r>
              <a:rPr lang="en-US" altLang="zh-CN" sz="2800" b="1">
                <a:solidFill>
                  <a:srgbClr val="0000FF"/>
                </a:solidFill>
              </a:rPr>
              <a:t>80H</a:t>
            </a:r>
            <a:r>
              <a:rPr lang="en-US" altLang="zh-CN" sz="2800" b="1"/>
              <a:t>  		;</a:t>
            </a:r>
            <a:r>
              <a:rPr lang="zh-CN" altLang="en-US" sz="2800" b="1"/>
              <a:t>立即寻址	 	</a:t>
            </a:r>
          </a:p>
          <a:p>
            <a:pPr algn="dist">
              <a:buFontTx/>
              <a:buNone/>
            </a:pPr>
            <a:r>
              <a:rPr lang="en-US" altLang="zh-CN" sz="2800" b="1"/>
              <a:t>MOV    AX,</a:t>
            </a:r>
            <a:r>
              <a:rPr lang="en-US" altLang="zh-CN" sz="2800" b="1">
                <a:solidFill>
                  <a:srgbClr val="0000FF"/>
                </a:solidFill>
              </a:rPr>
              <a:t>BX</a:t>
            </a:r>
            <a:r>
              <a:rPr lang="en-US" altLang="zh-CN" sz="2800" b="1"/>
              <a:t>  		;</a:t>
            </a:r>
            <a:r>
              <a:rPr lang="zh-CN" altLang="en-US" sz="2800" b="1"/>
              <a:t>寄存器寻址	 	</a:t>
            </a:r>
          </a:p>
          <a:p>
            <a:pPr algn="dist">
              <a:buFontTx/>
              <a:buNone/>
            </a:pPr>
            <a:r>
              <a:rPr lang="en-US" altLang="zh-CN" sz="2800" b="1"/>
              <a:t>MOV    AX，</a:t>
            </a:r>
            <a:r>
              <a:rPr lang="en-US" altLang="zh-CN" sz="2800" b="1">
                <a:solidFill>
                  <a:srgbClr val="0000FF"/>
                </a:solidFill>
              </a:rPr>
              <a:t>[2000H]</a:t>
            </a:r>
            <a:r>
              <a:rPr lang="en-US" altLang="zh-CN" sz="2800" b="1"/>
              <a:t>	;</a:t>
            </a:r>
            <a:r>
              <a:rPr lang="zh-CN" altLang="en-US" sz="2800" b="1"/>
              <a:t>直接寻址	 	</a:t>
            </a:r>
          </a:p>
          <a:p>
            <a:pPr algn="dist">
              <a:buFontTx/>
              <a:buNone/>
            </a:pPr>
            <a:r>
              <a:rPr lang="en-US" altLang="zh-CN" sz="2800" b="1"/>
              <a:t>MOV    AX，</a:t>
            </a:r>
            <a:r>
              <a:rPr lang="en-US" altLang="zh-CN" sz="2800" b="1">
                <a:solidFill>
                  <a:srgbClr val="0000FF"/>
                </a:solidFill>
              </a:rPr>
              <a:t>[BX]</a:t>
            </a:r>
            <a:r>
              <a:rPr lang="en-US" altLang="zh-CN" sz="2800" b="1"/>
              <a:t>	;</a:t>
            </a:r>
            <a:r>
              <a:rPr lang="zh-CN" altLang="en-US" sz="2800" b="1"/>
              <a:t>寄存器间接寻址 	</a:t>
            </a:r>
          </a:p>
          <a:p>
            <a:pPr algn="dist">
              <a:buFontTx/>
              <a:buNone/>
            </a:pPr>
            <a:r>
              <a:rPr lang="en-US" altLang="zh-CN" sz="2800" b="1"/>
              <a:t>MOV    AX，</a:t>
            </a:r>
            <a:r>
              <a:rPr lang="en-US" altLang="zh-CN" sz="2800" b="1">
                <a:solidFill>
                  <a:srgbClr val="0000FF"/>
                </a:solidFill>
              </a:rPr>
              <a:t>20H [BX]</a:t>
            </a:r>
            <a:r>
              <a:rPr lang="en-US" altLang="zh-CN" sz="2800" b="1"/>
              <a:t> </a:t>
            </a:r>
            <a:r>
              <a:rPr lang="zh-CN" altLang="en-US" sz="2800" b="1"/>
              <a:t>	</a:t>
            </a:r>
            <a:r>
              <a:rPr lang="en-US" altLang="zh-CN" sz="2800" b="1"/>
              <a:t>;</a:t>
            </a:r>
            <a:r>
              <a:rPr lang="zh-CN" altLang="en-US" sz="2800" b="1"/>
              <a:t>寄存器相对寻址 	</a:t>
            </a:r>
          </a:p>
          <a:p>
            <a:pPr algn="dist">
              <a:buFontTx/>
              <a:buNone/>
            </a:pPr>
            <a:r>
              <a:rPr lang="en-US" altLang="zh-CN" sz="2800" b="1"/>
              <a:t>MOV    AX，</a:t>
            </a:r>
            <a:r>
              <a:rPr lang="en-US" altLang="zh-CN" sz="2800" b="1">
                <a:solidFill>
                  <a:srgbClr val="0000FF"/>
                </a:solidFill>
              </a:rPr>
              <a:t> [BX] [SI]</a:t>
            </a:r>
            <a:r>
              <a:rPr lang="en-US" altLang="zh-CN" sz="2800" b="1"/>
              <a:t> ;</a:t>
            </a:r>
            <a:r>
              <a:rPr lang="zh-CN" altLang="en-US" sz="2800" b="1"/>
              <a:t>基址变址寻址	</a:t>
            </a:r>
          </a:p>
          <a:p>
            <a:pPr algn="dist">
              <a:buFontTx/>
              <a:buNone/>
            </a:pPr>
            <a:r>
              <a:rPr lang="en-US" altLang="zh-CN" sz="2800" b="1"/>
              <a:t>MOV    AX，</a:t>
            </a:r>
            <a:r>
              <a:rPr lang="en-US" altLang="zh-CN" sz="2800" b="1">
                <a:solidFill>
                  <a:srgbClr val="0000FF"/>
                </a:solidFill>
              </a:rPr>
              <a:t>20H [BX] [DI]</a:t>
            </a:r>
            <a:r>
              <a:rPr lang="en-US" altLang="zh-CN" sz="2800" b="1"/>
              <a:t> ;</a:t>
            </a:r>
            <a:r>
              <a:rPr lang="zh-CN" altLang="en-US" sz="2800" b="1"/>
              <a:t>相对基址变址寻址 </a:t>
            </a:r>
          </a:p>
          <a:p>
            <a:pPr algn="dist">
              <a:buFontTx/>
              <a:buNone/>
            </a:pPr>
            <a:r>
              <a:rPr lang="en-US" altLang="zh-CN" sz="2800" b="1"/>
              <a:t>IN    AL，</a:t>
            </a:r>
            <a:r>
              <a:rPr lang="en-US" altLang="zh-CN" sz="2800" b="1">
                <a:solidFill>
                  <a:srgbClr val="0000FF"/>
                </a:solidFill>
              </a:rPr>
              <a:t>80H</a:t>
            </a:r>
            <a:r>
              <a:rPr lang="en-US" altLang="zh-CN" sz="2800" b="1"/>
              <a:t>		;</a:t>
            </a:r>
            <a:r>
              <a:rPr lang="zh-CN" altLang="en-US" sz="2800" b="1"/>
              <a:t>输入输出端口寻址	</a:t>
            </a:r>
          </a:p>
        </p:txBody>
      </p:sp>
      <p:sp>
        <p:nvSpPr>
          <p:cNvPr id="58372" name="矩形 1">
            <a:extLst>
              <a:ext uri="{FF2B5EF4-FFF2-40B4-BE49-F238E27FC236}">
                <a16:creationId xmlns:a16="http://schemas.microsoft.com/office/drawing/2014/main" id="{DD56A1B9-BE0F-4BF2-8651-317BCD030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3" y="1312863"/>
            <a:ext cx="59547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总览：</a:t>
            </a:r>
            <a:r>
              <a:rPr lang="zh-CN" altLang="en-US" sz="2800" b="1">
                <a:solidFill>
                  <a:srgbClr val="0033CC"/>
                </a:solidFill>
                <a:latin typeface="Times New Roman" panose="02020603050405020304" pitchFamily="18" charset="0"/>
              </a:rPr>
              <a:t>分析以下指令</a:t>
            </a: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</a:rPr>
              <a:t>源操作数</a:t>
            </a:r>
            <a:r>
              <a:rPr lang="zh-CN" altLang="en-US" sz="2800" b="1">
                <a:solidFill>
                  <a:srgbClr val="0033CC"/>
                </a:solidFill>
                <a:latin typeface="Times New Roman" panose="02020603050405020304" pitchFamily="18" charset="0"/>
              </a:rPr>
              <a:t>的寻址</a:t>
            </a:r>
            <a:endParaRPr lang="zh-CN" altLang="en-US" sz="2800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>
            <a:extLst>
              <a:ext uri="{FF2B5EF4-FFF2-40B4-BE49-F238E27FC236}">
                <a16:creationId xmlns:a16="http://schemas.microsoft.com/office/drawing/2014/main" id="{949B45E3-5D6C-49D3-BEF0-536282653D7D}"/>
              </a:ext>
            </a:extLst>
          </p:cNvPr>
          <p:cNvSpPr>
            <a:spLocks noGrp="1" noRot="1"/>
          </p:cNvSpPr>
          <p:nvPr>
            <p:ph type="ctrTitle"/>
          </p:nvPr>
        </p:nvSpPr>
        <p:spPr>
          <a:xfrm>
            <a:off x="457200" y="569913"/>
            <a:ext cx="8229600" cy="1149350"/>
          </a:xfrm>
        </p:spPr>
        <p:txBody>
          <a:bodyPr anchor="ctr"/>
          <a:lstStyle/>
          <a:p>
            <a:pPr algn="l" eaLnBrk="1" hangingPunct="1">
              <a:defRPr/>
            </a:pPr>
            <a:r>
              <a:rPr lang="en-US" altLang="x-none" sz="3200" b="1" noProof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3.1.1 </a:t>
            </a:r>
            <a:r>
              <a:rPr lang="zh-CN" altLang="en-US" sz="3200" b="1" noProof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立即寻址方式</a:t>
            </a:r>
            <a:r>
              <a:rPr lang="en-US" altLang="x-none" sz="2400" noProof="1">
                <a:sym typeface="+mn-ea"/>
              </a:rPr>
              <a:t>(</a:t>
            </a:r>
            <a:r>
              <a:rPr lang="en-US" altLang="x-none" sz="2400" noProof="1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Immediate Addressing</a:t>
            </a:r>
            <a:r>
              <a:rPr lang="en-US" altLang="x-none" sz="2400" noProof="1">
                <a:sym typeface="+mn-ea"/>
              </a:rPr>
              <a:t>)</a:t>
            </a:r>
            <a:br>
              <a:rPr lang="zh-CN" altLang="en-US" sz="3200" dirty="0">
                <a:solidFill>
                  <a:srgbClr val="00FF00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</a:br>
            <a:endParaRPr lang="zh-CN" altLang="en-US" sz="3200" noProof="1">
              <a:solidFill>
                <a:srgbClr val="00FF00"/>
              </a:solidFill>
              <a:latin typeface="楷体_GB2312" pitchFamily="1" charset="-122"/>
              <a:ea typeface="楷体_GB2312" pitchFamily="1" charset="-122"/>
              <a:sym typeface="楷体_GB2312" pitchFamily="1" charset="-122"/>
            </a:endParaRPr>
          </a:p>
        </p:txBody>
      </p:sp>
      <p:sp>
        <p:nvSpPr>
          <p:cNvPr id="14339" name="内容占位符 2">
            <a:extLst>
              <a:ext uri="{FF2B5EF4-FFF2-40B4-BE49-F238E27FC236}">
                <a16:creationId xmlns:a16="http://schemas.microsoft.com/office/drawing/2014/main" id="{BB4791EC-48D4-4A7F-9300-5FD2297B6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63" y="1416050"/>
            <a:ext cx="8372475" cy="4445000"/>
          </a:xfrm>
        </p:spPr>
        <p:txBody>
          <a:bodyPr/>
          <a:lstStyle/>
          <a:p>
            <a:pPr marL="358775" indent="-358775" algn="l" eaLnBrk="1" hangingPunct="1">
              <a:lnSpc>
                <a:spcPct val="80000"/>
              </a:lnSpc>
              <a:defRPr/>
            </a:pPr>
            <a:r>
              <a:rPr lang="en-US" altLang="zh-CN" sz="32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         </a:t>
            </a:r>
            <a:r>
              <a:rPr lang="zh-CN" altLang="en-US" sz="32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操作数直接包含在指令中，它是一个</a:t>
            </a:r>
            <a:r>
              <a:rPr lang="en-US" altLang="x-none" sz="32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8</a:t>
            </a:r>
            <a:r>
              <a:rPr lang="zh-CN" altLang="en-US" sz="32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位或</a:t>
            </a:r>
            <a:r>
              <a:rPr lang="en-US" altLang="x-none" sz="32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16</a:t>
            </a:r>
            <a:r>
              <a:rPr lang="zh-CN" altLang="en-US" sz="32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位的</a:t>
            </a:r>
            <a:r>
              <a:rPr lang="zh-CN" altLang="en-US" sz="3200" noProof="1">
                <a:solidFill>
                  <a:srgbClr val="0033CC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常数</a:t>
            </a:r>
            <a:r>
              <a:rPr lang="zh-CN" altLang="en-US" sz="32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，也叫</a:t>
            </a:r>
            <a:r>
              <a:rPr lang="zh-CN" altLang="en-US" sz="32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立即数</a:t>
            </a:r>
            <a:r>
              <a:rPr lang="zh-CN" altLang="en-US" sz="32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。</a:t>
            </a:r>
          </a:p>
          <a:p>
            <a:pPr marL="358775" indent="-358775" algn="l" eaLnBrk="1" hangingPunct="1">
              <a:lnSpc>
                <a:spcPct val="80000"/>
              </a:lnSpc>
              <a:spcBef>
                <a:spcPts val="1800"/>
              </a:spcBef>
              <a:defRPr/>
            </a:pPr>
            <a:r>
              <a:rPr lang="zh-CN" altLang="en-US" sz="2800" b="1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例</a:t>
            </a:r>
            <a:r>
              <a:rPr lang="en-US" altLang="x-none" sz="2800" b="1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</a:t>
            </a:r>
            <a:r>
              <a:rPr lang="en-US" altLang="x-none" sz="2800" b="1" noProof="1">
                <a:solidFill>
                  <a:srgbClr val="23FFF8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</a:t>
            </a:r>
            <a:r>
              <a:rPr lang="en-US" altLang="x-none" sz="2800" noProof="1">
                <a:solidFill>
                  <a:srgbClr val="23FFF8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</a:t>
            </a:r>
            <a:r>
              <a:rPr lang="en-US" altLang="x-none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MOV   AL</a:t>
            </a: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x-none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26H</a:t>
            </a:r>
            <a:endParaRPr lang="zh-CN" altLang="en-US" sz="2800" noProof="1"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marL="358775" indent="-358775" algn="l" eaLnBrk="1" hangingPunct="1">
              <a:lnSpc>
                <a:spcPct val="8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将</a:t>
            </a:r>
            <a:r>
              <a:rPr lang="en-US" altLang="x-none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8</a:t>
            </a: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位立即数</a:t>
            </a:r>
            <a:r>
              <a:rPr lang="en-US" altLang="x-none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26H</a:t>
            </a: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送到</a:t>
            </a:r>
            <a:r>
              <a:rPr lang="en-US" altLang="x-none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AL</a:t>
            </a: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寄存器中。</a:t>
            </a:r>
          </a:p>
          <a:p>
            <a:pPr marL="358775" indent="-358775" algn="l" eaLnBrk="1" hangingPunct="1">
              <a:lnSpc>
                <a:spcPct val="80000"/>
              </a:lnSpc>
              <a:spcBef>
                <a:spcPts val="2400"/>
              </a:spcBef>
              <a:defRPr/>
            </a:pPr>
            <a:r>
              <a:rPr lang="zh-CN" altLang="en-US" sz="2800" b="1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例</a:t>
            </a:r>
            <a:r>
              <a:rPr lang="en-US" altLang="x-none" sz="2800" b="1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3.2</a:t>
            </a:r>
            <a:r>
              <a:rPr lang="en-US" altLang="x-none" sz="2800" noProof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</a:t>
            </a:r>
            <a:r>
              <a:rPr lang="en-US" altLang="x-none" sz="2800" noProof="1">
                <a:solidFill>
                  <a:srgbClr val="23FFF8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</a:t>
            </a:r>
            <a:r>
              <a:rPr lang="en-US" altLang="x-none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MOV	 CX</a:t>
            </a: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x-none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2A50H</a:t>
            </a:r>
            <a:endParaRPr lang="zh-CN" altLang="en-US" sz="2800" noProof="1"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marL="358775" indent="-358775" algn="l" eaLnBrk="1" hangingPunct="1">
              <a:lnSpc>
                <a:spcPct val="8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将立即数</a:t>
            </a:r>
            <a:r>
              <a:rPr lang="en-US" altLang="x-none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2A50H</a:t>
            </a: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送到</a:t>
            </a:r>
          </a:p>
          <a:p>
            <a:pPr marL="358775" indent="-358775" algn="l" eaLnBrk="1" hangingPunct="1">
              <a:lnSpc>
                <a:spcPct val="80000"/>
              </a:lnSpc>
              <a:defRPr/>
            </a:pPr>
            <a:r>
              <a:rPr lang="en-US" altLang="x-none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CX</a:t>
            </a: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中</a:t>
            </a:r>
          </a:p>
          <a:p>
            <a:pPr marL="358775" indent="-358775" algn="l" eaLnBrk="1" hangingPunct="1">
              <a:lnSpc>
                <a:spcPct val="80000"/>
              </a:lnSpc>
              <a:defRPr/>
            </a:pPr>
            <a:endParaRPr lang="zh-CN" altLang="en-US" sz="2800" noProof="1"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marL="358775" indent="-358775" algn="l" eaLnBrk="1" hangingPunct="1">
              <a:lnSpc>
                <a:spcPct val="80000"/>
              </a:lnSpc>
              <a:defRPr/>
            </a:pP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指令的机器码存放</a:t>
            </a:r>
          </a:p>
          <a:p>
            <a:pPr marL="358775" indent="-358775" algn="l" eaLnBrk="1" hangingPunct="1">
              <a:lnSpc>
                <a:spcPct val="80000"/>
              </a:lnSpc>
              <a:defRPr/>
            </a:pP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及执行过程如图</a:t>
            </a:r>
            <a:r>
              <a:rPr lang="en-US" altLang="zh-CN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:</a:t>
            </a:r>
          </a:p>
          <a:p>
            <a:pPr marL="358775" indent="-358775" algn="l" eaLnBrk="1" hangingPunct="1">
              <a:lnSpc>
                <a:spcPct val="80000"/>
              </a:lnSpc>
              <a:defRPr/>
            </a:pPr>
            <a:endParaRPr lang="zh-CN" altLang="en-US" sz="2400" noProof="1">
              <a:latin typeface="楷体_GB2312" pitchFamily="1" charset="-122"/>
              <a:ea typeface="楷体_GB2312" pitchFamily="1" charset="-122"/>
              <a:sym typeface="楷体_GB2312" pitchFamily="1" charset="-122"/>
            </a:endParaRPr>
          </a:p>
        </p:txBody>
      </p:sp>
      <p:pic>
        <p:nvPicPr>
          <p:cNvPr id="14340" name="图片 4" descr="LF3-1.png">
            <a:extLst>
              <a:ext uri="{FF2B5EF4-FFF2-40B4-BE49-F238E27FC236}">
                <a16:creationId xmlns:a16="http://schemas.microsoft.com/office/drawing/2014/main" id="{C139C8BC-AF70-4F6F-AC95-E1E992FD83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450" y="3984625"/>
            <a:ext cx="4902200" cy="27940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>
            <a:extLst>
              <a:ext uri="{FF2B5EF4-FFF2-40B4-BE49-F238E27FC236}">
                <a16:creationId xmlns:a16="http://schemas.microsoft.com/office/drawing/2014/main" id="{02BB7E0F-7B05-44ED-B8E0-E0AEA8306AF0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zh-CN" altLang="en-US" sz="3200" b="1">
                <a:solidFill>
                  <a:srgbClr val="0033CC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立即寻址规则</a:t>
            </a:r>
          </a:p>
        </p:txBody>
      </p:sp>
      <p:sp>
        <p:nvSpPr>
          <p:cNvPr id="15363" name="内容占位符 2">
            <a:extLst>
              <a:ext uri="{FF2B5EF4-FFF2-40B4-BE49-F238E27FC236}">
                <a16:creationId xmlns:a16="http://schemas.microsoft.com/office/drawing/2014/main" id="{26ADDE15-2C00-4D9C-9899-D12D651485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1339849"/>
            <a:ext cx="8186737" cy="5175250"/>
          </a:xfrm>
          <a:extLst/>
        </p:spPr>
        <p:txBody>
          <a:bodyPr/>
          <a:lstStyle/>
          <a:p>
            <a:pPr marL="342900" indent="-342900" algn="l" eaLnBrk="1" hangingPunct="1">
              <a:spcBef>
                <a:spcPts val="1800"/>
              </a:spcBef>
              <a:defRPr/>
            </a:pP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立即数可以送到</a:t>
            </a:r>
            <a:r>
              <a:rPr lang="zh-CN" altLang="en-US" sz="28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寄存器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中，还可送到一个</a:t>
            </a:r>
            <a:r>
              <a:rPr lang="zh-CN" altLang="en-US" sz="28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存储单元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(</a:t>
            </a:r>
            <a:r>
              <a:rPr lang="en-US" altLang="x-none" sz="2800" noProof="1">
                <a:solidFill>
                  <a:srgbClr val="FF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8</a:t>
            </a:r>
            <a:r>
              <a:rPr lang="zh-CN" altLang="en-US" sz="2800" noProof="1">
                <a:solidFill>
                  <a:srgbClr val="FF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位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)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中或两个连续的存储单元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(</a:t>
            </a:r>
            <a:r>
              <a:rPr lang="en-US" altLang="x-none" sz="2800" noProof="1">
                <a:solidFill>
                  <a:srgbClr val="FF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16</a:t>
            </a:r>
            <a:r>
              <a:rPr lang="zh-CN" altLang="en-US" sz="2800" noProof="1">
                <a:solidFill>
                  <a:srgbClr val="FF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位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)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中去。</a:t>
            </a:r>
          </a:p>
          <a:p>
            <a:pPr marL="342900" indent="-342900" algn="l" eaLnBrk="1" hangingPunct="1">
              <a:spcBef>
                <a:spcPts val="1800"/>
              </a:spcBef>
              <a:defRPr/>
            </a:pP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立即数只能作源操作数，</a:t>
            </a:r>
            <a:r>
              <a:rPr lang="zh-CN" altLang="en-US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不能作目的操作数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。</a:t>
            </a:r>
          </a:p>
          <a:p>
            <a:pPr marL="342900" indent="-342900" algn="l" eaLnBrk="1" hangingPunct="1">
              <a:spcBef>
                <a:spcPts val="0"/>
              </a:spcBef>
              <a:spcAft>
                <a:spcPts val="1800"/>
              </a:spcAft>
              <a:defRPr/>
            </a:pPr>
            <a:r>
              <a:rPr lang="en-US" altLang="zh-CN" sz="2800" noProof="1">
                <a:ln>
                  <a:solidFill>
                    <a:srgbClr val="FFC000"/>
                  </a:solidFill>
                </a:ln>
                <a:solidFill>
                  <a:srgbClr val="FFC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			</a:t>
            </a:r>
            <a:r>
              <a:rPr lang="zh-CN" altLang="en-US" sz="2800" noProof="1">
                <a:ln>
                  <a:solidFill>
                    <a:srgbClr val="FFC000"/>
                  </a:solidFill>
                </a:ln>
                <a:solidFill>
                  <a:srgbClr val="FFC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（想一想：为啥不能？）</a:t>
            </a:r>
          </a:p>
          <a:p>
            <a:pPr marL="342900" indent="-342900" algn="l" eaLnBrk="1" hangingPunct="1">
              <a:spcBef>
                <a:spcPts val="1800"/>
              </a:spcBef>
              <a:defRPr/>
            </a:pPr>
            <a:r>
              <a:rPr lang="zh-CN" altLang="en-US" sz="2800" noProof="1">
                <a:solidFill>
                  <a:srgbClr val="FF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☼记住！！！：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以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A~F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打头的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16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进制数字出现在指令中时，前面一定要加</a:t>
            </a:r>
            <a:r>
              <a:rPr lang="zh-CN" altLang="en-US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一个数字</a:t>
            </a:r>
            <a:r>
              <a:rPr lang="en-US" altLang="x-none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0</a:t>
            </a:r>
            <a:r>
              <a:rPr lang="zh-CN" altLang="en-US" sz="2800" noProof="1">
                <a:solidFill>
                  <a:srgbClr val="00B0F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。</a:t>
            </a:r>
          </a:p>
          <a:p>
            <a:pPr marL="342900" indent="-342900" algn="l" eaLnBrk="1" hangingPunct="1">
              <a:spcBef>
                <a:spcPts val="1800"/>
              </a:spcBef>
              <a:defRPr/>
            </a:pPr>
            <a:r>
              <a:rPr lang="zh-CN" altLang="en-US" sz="2800" b="1" noProof="1">
                <a:solidFill>
                  <a:srgbClr val="0033CC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例如</a:t>
            </a:r>
            <a:r>
              <a:rPr lang="zh-CN" altLang="en-US" sz="2800" noProof="1">
                <a:solidFill>
                  <a:srgbClr val="0033CC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，</a:t>
            </a: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将</a:t>
            </a:r>
            <a:r>
              <a:rPr lang="en-US" altLang="x-none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FF00H</a:t>
            </a: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送到</a:t>
            </a:r>
            <a:r>
              <a:rPr lang="en-US" altLang="x-none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AX</a:t>
            </a: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的指令必须写成：</a:t>
            </a:r>
          </a:p>
          <a:p>
            <a:pPr marL="342900" indent="-342900" algn="l" eaLnBrk="1" hangingPunct="1">
              <a:defRPr/>
            </a:pPr>
            <a:r>
              <a:rPr lang="en-US" altLang="x-none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  MOV  AX</a:t>
            </a: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x-none" sz="2800" b="1" noProof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0FF00H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>
            <a:extLst>
              <a:ext uri="{FF2B5EF4-FFF2-40B4-BE49-F238E27FC236}">
                <a16:creationId xmlns:a16="http://schemas.microsoft.com/office/drawing/2014/main" id="{28A068B2-CACB-47C7-9C05-75B1E7189F0B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0" y="495300"/>
            <a:ext cx="8534400" cy="1466850"/>
          </a:xfrm>
        </p:spPr>
        <p:txBody>
          <a:bodyPr anchor="ctr"/>
          <a:lstStyle/>
          <a:p>
            <a:pPr eaLnBrk="1" hangingPunct="1"/>
            <a:r>
              <a:rPr lang="en-US" altLang="zh-CN" sz="5400">
                <a:solidFill>
                  <a:schemeClr val="accent2"/>
                </a:solidFill>
                <a:sym typeface="Times New Roman" panose="02020603050405020304" pitchFamily="18" charset="0"/>
              </a:rPr>
              <a:t>§3</a:t>
            </a:r>
            <a:r>
              <a:rPr lang="en-US" altLang="zh-CN" sz="5400">
                <a:solidFill>
                  <a:schemeClr val="accent2"/>
                </a:solidFill>
              </a:rPr>
              <a:t>.1 8086</a:t>
            </a:r>
            <a:r>
              <a:rPr lang="zh-CN" altLang="en-US" sz="5400">
                <a:solidFill>
                  <a:schemeClr val="accent2"/>
                </a:solidFill>
              </a:rPr>
              <a:t>的寻址方式</a:t>
            </a:r>
            <a:endParaRPr lang="zh-CN" altLang="en-US" sz="4400">
              <a:solidFill>
                <a:schemeClr val="accent2"/>
              </a:solidFill>
            </a:endParaRPr>
          </a:p>
        </p:txBody>
      </p:sp>
      <p:sp>
        <p:nvSpPr>
          <p:cNvPr id="61443" name="矩形 4">
            <a:extLst>
              <a:ext uri="{FF2B5EF4-FFF2-40B4-BE49-F238E27FC236}">
                <a16:creationId xmlns:a16="http://schemas.microsoft.com/office/drawing/2014/main" id="{97A1C31E-7D73-43A9-86EA-1C4249AF2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3850" y="1919288"/>
            <a:ext cx="591185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3.1.1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立即寻址方式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3.1.2  </a:t>
            </a:r>
            <a:r>
              <a:rPr lang="zh-CN" altLang="en-US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3.1.3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直接寻址方式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3.1.4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寄存器间接寻址方式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3.1.5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寄存器相对寻址方式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3.1.6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基址变址寻址方式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3.1.7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相对基址变址寻址方式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3.1.8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其它寻址方式</a:t>
            </a:r>
            <a:endParaRPr lang="en-US" altLang="zh-CN" sz="240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edg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>
            <a:extLst>
              <a:ext uri="{FF2B5EF4-FFF2-40B4-BE49-F238E27FC236}">
                <a16:creationId xmlns:a16="http://schemas.microsoft.com/office/drawing/2014/main" id="{794B5294-C86C-45CA-91E0-C15F72534CC5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527050" y="361950"/>
            <a:ext cx="8229600" cy="1074738"/>
          </a:xfrm>
        </p:spPr>
        <p:txBody>
          <a:bodyPr anchor="ctr"/>
          <a:lstStyle/>
          <a:p>
            <a:pPr algn="l" eaLnBrk="1" hangingPunct="1"/>
            <a:r>
              <a:rPr lang="en-US" altLang="zh-CN" sz="32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3.1.2 </a:t>
            </a:r>
            <a:r>
              <a:rPr lang="zh-CN" altLang="en-US" sz="32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寄存器寻址方式</a:t>
            </a:r>
            <a:br>
              <a:rPr lang="zh-CN" altLang="en-US" sz="3200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</a:br>
            <a:r>
              <a:rPr lang="en-US" altLang="zh-CN" sz="2400"/>
              <a:t>(Register Addressing)</a:t>
            </a:r>
            <a:endParaRPr lang="zh-CN" altLang="en-US" sz="3200">
              <a:solidFill>
                <a:srgbClr val="23FFF8"/>
              </a:solidFill>
              <a:latin typeface="楷体_GB2312" pitchFamily="1" charset="-122"/>
              <a:ea typeface="楷体_GB2312" pitchFamily="1" charset="-122"/>
              <a:sym typeface="楷体_GB2312" pitchFamily="1" charset="-122"/>
            </a:endParaRPr>
          </a:p>
        </p:txBody>
      </p:sp>
      <p:sp>
        <p:nvSpPr>
          <p:cNvPr id="17411" name="内容占位符 2">
            <a:extLst>
              <a:ext uri="{FF2B5EF4-FFF2-40B4-BE49-F238E27FC236}">
                <a16:creationId xmlns:a16="http://schemas.microsoft.com/office/drawing/2014/main" id="{C9AF3173-47C1-4C9D-B51F-B3AE3A026E5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606550"/>
            <a:ext cx="8372475" cy="4978400"/>
          </a:xfrm>
        </p:spPr>
        <p:txBody>
          <a:bodyPr/>
          <a:lstStyle/>
          <a:p>
            <a:pPr marL="342900" indent="-342900" algn="l" eaLnBrk="1" hangingPunct="1">
              <a:lnSpc>
                <a:spcPct val="80000"/>
              </a:lnSpc>
              <a:buFont typeface="Wingdings" panose="05000000000000000000" pitchFamily="2" charset="2"/>
              <a:buChar char="l"/>
            </a:pP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操作数包含在寄存器中，由指令指定寄存器的名称。</a:t>
            </a:r>
          </a:p>
          <a:p>
            <a:pPr marL="342900" indent="-342900" algn="l" eaLnBrk="1" hangingPunct="1">
              <a:lnSpc>
                <a:spcPct val="80000"/>
              </a:lnSpc>
              <a:buFont typeface="Wingdings" panose="05000000000000000000" pitchFamily="2" charset="2"/>
              <a:buChar char="l"/>
            </a:pP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16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位寄存器可以是 ：</a:t>
            </a:r>
          </a:p>
          <a:p>
            <a:pPr marL="342900" indent="-342900" algn="l" eaLnBrk="1" hangingPunct="1">
              <a:lnSpc>
                <a:spcPct val="80000"/>
              </a:lnSpc>
            </a:pP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        </a:t>
            </a:r>
            <a:r>
              <a:rPr lang="en-US" altLang="zh-CN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 AX</a:t>
            </a:r>
            <a:r>
              <a:rPr lang="zh-CN" altLang="en-US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BX</a:t>
            </a:r>
            <a:r>
              <a:rPr lang="zh-CN" altLang="en-US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CX</a:t>
            </a:r>
            <a:r>
              <a:rPr lang="zh-CN" altLang="en-US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DX</a:t>
            </a:r>
            <a:r>
              <a:rPr lang="zh-CN" altLang="en-US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SI</a:t>
            </a:r>
            <a:r>
              <a:rPr lang="zh-CN" altLang="en-US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DI</a:t>
            </a:r>
            <a:r>
              <a:rPr lang="zh-CN" altLang="en-US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SP</a:t>
            </a:r>
            <a:r>
              <a:rPr lang="zh-CN" altLang="en-US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BP</a:t>
            </a:r>
            <a:endParaRPr lang="zh-CN" altLang="en-US" sz="2800">
              <a:solidFill>
                <a:srgbClr val="CC0000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lnSpc>
                <a:spcPct val="80000"/>
              </a:lnSpc>
              <a:buFont typeface="Wingdings" panose="05000000000000000000" pitchFamily="2" charset="2"/>
              <a:buChar char="l"/>
            </a:pP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8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位寄存器为：</a:t>
            </a:r>
          </a:p>
          <a:p>
            <a:pPr marL="342900" indent="-342900" algn="l" eaLnBrk="1" hangingPunct="1">
              <a:lnSpc>
                <a:spcPct val="80000"/>
              </a:lnSpc>
            </a:pP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         </a:t>
            </a:r>
            <a:r>
              <a:rPr lang="en-US" altLang="zh-CN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AH</a:t>
            </a:r>
            <a:r>
              <a:rPr lang="zh-CN" altLang="en-US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AL</a:t>
            </a:r>
            <a:r>
              <a:rPr lang="zh-CN" altLang="en-US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BH</a:t>
            </a:r>
            <a:r>
              <a:rPr lang="zh-CN" altLang="en-US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BL</a:t>
            </a:r>
            <a:r>
              <a:rPr lang="zh-CN" altLang="en-US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CH</a:t>
            </a:r>
            <a:r>
              <a:rPr lang="zh-CN" altLang="en-US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CL</a:t>
            </a:r>
            <a:r>
              <a:rPr lang="zh-CN" altLang="en-US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DH</a:t>
            </a:r>
            <a:r>
              <a:rPr lang="zh-CN" altLang="en-US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DL</a:t>
            </a:r>
            <a:endParaRPr lang="zh-CN" altLang="en-US" sz="2800">
              <a:solidFill>
                <a:srgbClr val="CC0000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lnSpc>
                <a:spcPct val="80000"/>
              </a:lnSpc>
              <a:spcBef>
                <a:spcPts val="1800"/>
              </a:spcBef>
            </a:pPr>
            <a:r>
              <a:rPr lang="zh-CN" altLang="en-US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例</a:t>
            </a:r>
            <a:r>
              <a:rPr lang="en-US" altLang="zh-CN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3.3</a:t>
            </a:r>
            <a:r>
              <a:rPr lang="en-US" altLang="zh-CN" sz="2800">
                <a:solidFill>
                  <a:srgbClr val="23FFF8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MOV  DX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AX</a:t>
            </a:r>
            <a:endParaRPr lang="zh-CN" altLang="en-US" sz="2800"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lnSpc>
                <a:spcPct val="80000"/>
              </a:lnSpc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设指令执行前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AX=3A68H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DX=18C7H</a:t>
            </a:r>
            <a:endParaRPr lang="zh-CN" altLang="en-US" sz="2800"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lnSpc>
                <a:spcPct val="80000"/>
              </a:lnSpc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则指令执行后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DX=3A68H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AX=3A68H (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保持不变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)</a:t>
            </a:r>
            <a:endParaRPr lang="zh-CN" altLang="en-US" sz="2800"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lnSpc>
                <a:spcPct val="80000"/>
              </a:lnSpc>
            </a:pPr>
            <a:endParaRPr lang="zh-CN" altLang="en-US" sz="2800"/>
          </a:p>
        </p:txBody>
      </p:sp>
    </p:spTree>
  </p:cSld>
  <p:clrMapOvr>
    <a:masterClrMapping/>
  </p:clrMapOvr>
  <p:transition spd="slow">
    <p:strips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charRg st="110" end="1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7411">
                                            <p:txEl>
                                              <p:charRg st="110" end="1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charRg st="130" end="1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7411">
                                            <p:txEl>
                                              <p:charRg st="130" end="1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charRg st="160" end="1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7411">
                                            <p:txEl>
                                              <p:charRg st="160" end="19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>
            <a:extLst>
              <a:ext uri="{FF2B5EF4-FFF2-40B4-BE49-F238E27FC236}">
                <a16:creationId xmlns:a16="http://schemas.microsoft.com/office/drawing/2014/main" id="{0D165220-388D-4EA9-BDC9-84214D38C32A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zh-CN" altLang="en-US" sz="28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寄存器寻址规则</a:t>
            </a:r>
          </a:p>
        </p:txBody>
      </p:sp>
      <p:sp>
        <p:nvSpPr>
          <p:cNvPr id="18435" name="内容占位符 2">
            <a:extLst>
              <a:ext uri="{FF2B5EF4-FFF2-40B4-BE49-F238E27FC236}">
                <a16:creationId xmlns:a16="http://schemas.microsoft.com/office/drawing/2014/main" id="{BC2B55CB-D500-421F-ABD0-40FE8D9E85C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314450"/>
            <a:ext cx="8372475" cy="5175250"/>
          </a:xfrm>
        </p:spPr>
        <p:txBody>
          <a:bodyPr/>
          <a:lstStyle/>
          <a:p>
            <a:pPr marL="342900" indent="-342900" algn="l" eaLnBrk="1" hangingPunct="1">
              <a:lnSpc>
                <a:spcPct val="90000"/>
              </a:lnSpc>
            </a:pPr>
            <a:r>
              <a:rPr lang="zh-CN" altLang="en-US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例</a:t>
            </a:r>
            <a:r>
              <a:rPr lang="en-US" altLang="zh-CN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3.4</a:t>
            </a:r>
            <a:r>
              <a:rPr lang="en-US" altLang="zh-CN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23FFF8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MOV   CL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AH </a:t>
            </a:r>
            <a:endParaRPr lang="en-US" altLang="zh-CN" sz="2400"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lnSpc>
                <a:spcPct val="90000"/>
              </a:lnSpc>
            </a:pP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将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AH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中的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8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位数据传送到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CL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寄存器。</a:t>
            </a:r>
          </a:p>
          <a:p>
            <a:pPr marL="342900" indent="-342900" algn="l" eaLnBrk="1" hangingPunct="1">
              <a:lnSpc>
                <a:spcPct val="90000"/>
              </a:lnSpc>
            </a:pP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 </a:t>
            </a:r>
            <a:endParaRPr lang="en-US" altLang="zh-CN" sz="2400"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lnSpc>
                <a:spcPct val="90000"/>
              </a:lnSpc>
            </a:pPr>
            <a:r>
              <a:rPr lang="zh-CN" altLang="en-US" sz="2800" b="1">
                <a:solidFill>
                  <a:srgbClr val="FF0000"/>
                </a:solidFill>
              </a:rPr>
              <a:t>注意</a:t>
            </a:r>
            <a:r>
              <a:rPr lang="zh-CN" altLang="en-US" sz="2800">
                <a:solidFill>
                  <a:srgbClr val="FF0000"/>
                </a:solidFill>
              </a:rPr>
              <a:t>：</a:t>
            </a:r>
            <a:r>
              <a:rPr lang="zh-CN" altLang="en-US" sz="2800"/>
              <a:t>源操作数的</a:t>
            </a:r>
            <a:r>
              <a:rPr lang="zh-CN" altLang="en-US" sz="2800">
                <a:solidFill>
                  <a:srgbClr val="FF0000"/>
                </a:solidFill>
              </a:rPr>
              <a:t>长度</a:t>
            </a:r>
            <a:r>
              <a:rPr lang="zh-CN" altLang="en-US" sz="2800"/>
              <a:t>必须与目的操作数</a:t>
            </a:r>
            <a:r>
              <a:rPr lang="zh-CN" altLang="en-US" sz="2800">
                <a:solidFill>
                  <a:srgbClr val="FF0000"/>
                </a:solidFill>
              </a:rPr>
              <a:t>一致</a:t>
            </a:r>
            <a:r>
              <a:rPr lang="zh-CN" altLang="en-US" sz="2800"/>
              <a:t>，否则会出错。</a:t>
            </a:r>
          </a:p>
          <a:p>
            <a:pPr marL="342900" indent="-342900" algn="l" eaLnBrk="1" hangingPunct="1">
              <a:lnSpc>
                <a:spcPct val="90000"/>
              </a:lnSpc>
            </a:pPr>
            <a:r>
              <a:rPr lang="zh-CN" altLang="en-US" sz="2800" b="1">
                <a:solidFill>
                  <a:srgbClr val="0033CC"/>
                </a:solidFill>
              </a:rPr>
              <a:t>例如</a:t>
            </a:r>
            <a:r>
              <a:rPr lang="zh-CN" altLang="en-US" sz="2800">
                <a:solidFill>
                  <a:srgbClr val="0033CC"/>
                </a:solidFill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MOV  CX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AH  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是错误的。</a:t>
            </a:r>
          </a:p>
          <a:p>
            <a:pPr marL="342900" indent="-342900" algn="l" eaLnBrk="1" hangingPunct="1">
              <a:lnSpc>
                <a:spcPct val="90000"/>
              </a:lnSpc>
            </a:pP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       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虽然</a:t>
            </a: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CX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放得下</a:t>
            </a: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AH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中的</a:t>
            </a: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8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位数据，但汇编程序不知道应该将它放入</a:t>
            </a: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CH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还是</a:t>
            </a: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CL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。</a:t>
            </a:r>
          </a:p>
          <a:p>
            <a:pPr marL="342900" indent="-342900" algn="l" eaLnBrk="1" hangingPunct="1">
              <a:lnSpc>
                <a:spcPct val="90000"/>
              </a:lnSpc>
            </a:pPr>
            <a:r>
              <a:rPr lang="en-US" altLang="zh-CN" sz="2800"/>
              <a:t> </a:t>
            </a:r>
            <a:endParaRPr lang="en-US" altLang="zh-CN" sz="2400"/>
          </a:p>
          <a:p>
            <a:pPr marL="342900" indent="-342900" algn="just" eaLnBrk="1" hangingPunct="1">
              <a:lnSpc>
                <a:spcPct val="90000"/>
              </a:lnSpc>
              <a:spcBef>
                <a:spcPct val="0"/>
              </a:spcBef>
              <a:buClr>
                <a:srgbClr val="23FFF8"/>
              </a:buClr>
              <a:buFont typeface="Wingdings 3" panose="05040102010807070707" pitchFamily="18" charset="2"/>
              <a:buChar char="ä"/>
            </a:pPr>
            <a:r>
              <a:rPr lang="zh-CN" altLang="en-US" sz="2800">
                <a:solidFill>
                  <a:srgbClr val="FF66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华文中宋" panose="02010600040101010101" pitchFamily="2" charset="-122"/>
              </a:rPr>
              <a:t>以下几种寻址方式，操作数都放在</a:t>
            </a:r>
            <a:r>
              <a:rPr lang="zh-CN" altLang="en-US" sz="2800" b="1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华文中宋" panose="02010600040101010101" pitchFamily="2" charset="-122"/>
              </a:rPr>
              <a:t>存储器</a:t>
            </a:r>
            <a:r>
              <a:rPr lang="zh-CN" altLang="en-US" sz="2800">
                <a:solidFill>
                  <a:srgbClr val="FF66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华文中宋" panose="02010600040101010101" pitchFamily="2" charset="-122"/>
              </a:rPr>
              <a:t>中，需用不同的方法求出操作数的物理地址，来获得操作数</a:t>
            </a:r>
          </a:p>
        </p:txBody>
      </p:sp>
    </p:spTree>
  </p:cSld>
  <p:clrMapOvr>
    <a:masterClrMapping/>
  </p:clrMapOvr>
  <p:transition spd="slow"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>
            <a:extLst>
              <a:ext uri="{FF2B5EF4-FFF2-40B4-BE49-F238E27FC236}">
                <a16:creationId xmlns:a16="http://schemas.microsoft.com/office/drawing/2014/main" id="{16F44C39-54FE-4DA5-885E-4825B9F91EB3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0" y="495300"/>
            <a:ext cx="8534400" cy="1466850"/>
          </a:xfrm>
        </p:spPr>
        <p:txBody>
          <a:bodyPr anchor="ctr"/>
          <a:lstStyle/>
          <a:p>
            <a:pPr eaLnBrk="1" hangingPunct="1"/>
            <a:r>
              <a:rPr lang="en-US" altLang="zh-CN" sz="5400">
                <a:solidFill>
                  <a:schemeClr val="accent2"/>
                </a:solidFill>
                <a:sym typeface="Times New Roman" panose="02020603050405020304" pitchFamily="18" charset="0"/>
              </a:rPr>
              <a:t>§3</a:t>
            </a:r>
            <a:r>
              <a:rPr lang="en-US" altLang="zh-CN" sz="5400">
                <a:solidFill>
                  <a:schemeClr val="accent2"/>
                </a:solidFill>
              </a:rPr>
              <a:t>.1 8086</a:t>
            </a:r>
            <a:r>
              <a:rPr lang="zh-CN" altLang="en-US" sz="5400">
                <a:solidFill>
                  <a:schemeClr val="accent2"/>
                </a:solidFill>
              </a:rPr>
              <a:t>的寻址方式</a:t>
            </a:r>
            <a:endParaRPr lang="zh-CN" altLang="en-US" sz="4400">
              <a:solidFill>
                <a:schemeClr val="accent2"/>
              </a:solidFill>
            </a:endParaRPr>
          </a:p>
        </p:txBody>
      </p:sp>
      <p:sp>
        <p:nvSpPr>
          <p:cNvPr id="64515" name="矩形 4">
            <a:extLst>
              <a:ext uri="{FF2B5EF4-FFF2-40B4-BE49-F238E27FC236}">
                <a16:creationId xmlns:a16="http://schemas.microsoft.com/office/drawing/2014/main" id="{EEC417F8-9FC9-43D0-9092-97D10A904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3850" y="1919288"/>
            <a:ext cx="591185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3.1.1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立即寻址方式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3.1.2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3.1.3  </a:t>
            </a:r>
            <a:r>
              <a:rPr lang="zh-CN" altLang="en-US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直接寻址方式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3.1.4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寄存器间接寻址方式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3.1.5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寄存器相对寻址方式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3.1.6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基址变址寻址方式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3.1.7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相对基址变址寻址方式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3.1.8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其它寻址方式</a:t>
            </a:r>
            <a:endParaRPr lang="en-US" altLang="zh-CN" sz="240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edg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>
            <a:extLst>
              <a:ext uri="{FF2B5EF4-FFF2-40B4-BE49-F238E27FC236}">
                <a16:creationId xmlns:a16="http://schemas.microsoft.com/office/drawing/2014/main" id="{9681B5DE-4A87-4FC1-941A-6DAF9BCA4E0A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1149350"/>
          </a:xfrm>
        </p:spPr>
        <p:txBody>
          <a:bodyPr anchor="ctr"/>
          <a:lstStyle/>
          <a:p>
            <a:pPr algn="l" eaLnBrk="1" hangingPunct="1"/>
            <a:r>
              <a:rPr lang="en-US" altLang="zh-CN" sz="32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3.1.3 </a:t>
            </a:r>
            <a:r>
              <a:rPr lang="zh-CN" altLang="en-US" sz="32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直接寻址方式</a:t>
            </a:r>
            <a:br>
              <a:rPr lang="zh-CN" altLang="en-US" sz="3200">
                <a:solidFill>
                  <a:srgbClr val="23FFF8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</a:br>
            <a:r>
              <a:rPr lang="en-US" altLang="zh-CN" sz="3200"/>
              <a:t>Direct Addressing</a:t>
            </a:r>
            <a:endParaRPr lang="zh-CN" altLang="en-US" sz="3200">
              <a:solidFill>
                <a:srgbClr val="23FFF8"/>
              </a:solidFill>
              <a:latin typeface="楷体_GB2312" pitchFamily="1" charset="-122"/>
              <a:ea typeface="楷体_GB2312" pitchFamily="1" charset="-122"/>
              <a:sym typeface="楷体_GB2312" pitchFamily="1" charset="-122"/>
            </a:endParaRPr>
          </a:p>
        </p:txBody>
      </p:sp>
      <p:sp>
        <p:nvSpPr>
          <p:cNvPr id="20483" name="内容占位符 2">
            <a:extLst>
              <a:ext uri="{FF2B5EF4-FFF2-40B4-BE49-F238E27FC236}">
                <a16:creationId xmlns:a16="http://schemas.microsoft.com/office/drawing/2014/main" id="{9A655F3D-64A1-4ED6-B308-13559850B5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59" y="1784350"/>
            <a:ext cx="8320091" cy="4705350"/>
          </a:xfrm>
          <a:extLst/>
        </p:spPr>
        <p:txBody>
          <a:bodyPr/>
          <a:lstStyle/>
          <a:p>
            <a:pPr marL="342900" indent="-342900" algn="l" eaLnBrk="1" hangingPunct="1">
              <a:defRPr/>
            </a:pPr>
            <a:r>
              <a:rPr lang="en-US" altLang="x-none" sz="3200" b="1" noProof="1">
                <a:solidFill>
                  <a:srgbClr val="CC0000"/>
                </a:solidFill>
              </a:rPr>
              <a:t>1. </a:t>
            </a:r>
            <a:r>
              <a:rPr lang="zh-CN" altLang="en-US" sz="3200" b="1" noProof="1">
                <a:solidFill>
                  <a:srgbClr val="CC0000"/>
                </a:solidFill>
              </a:rPr>
              <a:t>直接寻址方式</a:t>
            </a:r>
          </a:p>
          <a:p>
            <a:pPr marL="342900" indent="-342900" algn="l" eaLnBrk="1" hangingPunct="1">
              <a:spcBef>
                <a:spcPts val="2400"/>
              </a:spcBef>
              <a:defRPr/>
            </a:pP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操作数的</a:t>
            </a:r>
            <a:r>
              <a:rPr lang="zh-CN" altLang="en-US" sz="28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偏移地址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也称为</a:t>
            </a:r>
            <a:r>
              <a:rPr lang="zh-CN" altLang="en-US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有效地址</a:t>
            </a:r>
            <a:r>
              <a:rPr lang="en-US" altLang="x-none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EA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（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Effective Address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）。</a:t>
            </a:r>
          </a:p>
          <a:p>
            <a:pPr marL="342900" indent="-342900" algn="l" eaLnBrk="1" hangingPunct="1">
              <a:spcBef>
                <a:spcPts val="2400"/>
              </a:spcBef>
              <a:defRPr/>
            </a:pP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在直接寻址方式下，存储单元的有效地址</a:t>
            </a:r>
            <a:r>
              <a:rPr lang="zh-CN" altLang="en-US" sz="28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直接由指令给出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，</a:t>
            </a:r>
            <a:r>
              <a:rPr lang="zh-CN" altLang="en-US" sz="2800" b="1" noProof="1">
                <a:solidFill>
                  <a:srgbClr val="00B0F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默认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使用的段寄存器为</a:t>
            </a:r>
            <a:r>
              <a:rPr lang="zh-CN" altLang="en-US" sz="2800" b="1" noProof="1">
                <a:solidFill>
                  <a:srgbClr val="00B0F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数据段寄存器</a:t>
            </a:r>
            <a:r>
              <a:rPr lang="en-US" altLang="x-none" sz="2800" b="1" noProof="1">
                <a:solidFill>
                  <a:srgbClr val="00B0F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DS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。</a:t>
            </a:r>
          </a:p>
          <a:p>
            <a:pPr marL="342900" indent="-342900" algn="l" eaLnBrk="1" hangingPunct="1">
              <a:spcBef>
                <a:spcPts val="2400"/>
              </a:spcBef>
              <a:defRPr/>
            </a:pP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操作数的物理地址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 = 16×DS+EA</a:t>
            </a:r>
            <a:endParaRPr lang="zh-CN" altLang="en-US" sz="2800" noProof="1">
              <a:latin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defRPr/>
            </a:pPr>
            <a:endParaRPr lang="zh-CN" altLang="en-US" sz="3200" noProof="1"/>
          </a:p>
        </p:txBody>
      </p:sp>
    </p:spTree>
  </p:cSld>
  <p:clrMapOvr>
    <a:masterClrMapping/>
  </p:clrMapOvr>
  <p:transition spd="slow"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内容占位符 2">
            <a:extLst>
              <a:ext uri="{FF2B5EF4-FFF2-40B4-BE49-F238E27FC236}">
                <a16:creationId xmlns:a16="http://schemas.microsoft.com/office/drawing/2014/main" id="{CD93F32E-75F5-44EF-B710-AC7FA96CBCC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7350" y="1673225"/>
            <a:ext cx="8372475" cy="4816475"/>
          </a:xfrm>
        </p:spPr>
        <p:txBody>
          <a:bodyPr/>
          <a:lstStyle/>
          <a:p>
            <a:pPr algn="l" eaLnBrk="1" hangingPunct="1"/>
            <a:r>
              <a:rPr lang="zh-CN" altLang="en-US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例</a:t>
            </a:r>
            <a:r>
              <a:rPr lang="en-US" altLang="zh-CN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3.5</a:t>
            </a:r>
            <a:r>
              <a:rPr lang="en-US" altLang="zh-CN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23FFF8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MOV	   AX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，［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2000H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］</a:t>
            </a:r>
          </a:p>
          <a:p>
            <a:pPr algn="l" eaLnBrk="1" hangingPunct="1">
              <a:buFont typeface="Wingdings" panose="05000000000000000000" pitchFamily="2" charset="2"/>
              <a:buChar char="l"/>
            </a:pP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指令中直接给出有效地址</a:t>
            </a: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EA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，这里</a:t>
            </a: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EA=2000H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，</a:t>
            </a:r>
            <a:r>
              <a:rPr lang="zh-CN" altLang="en-US" sz="2800" b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必须加</a:t>
            </a:r>
            <a:r>
              <a:rPr lang="en-US" altLang="zh-CN" sz="2800" b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[  ]</a:t>
            </a:r>
            <a:r>
              <a:rPr lang="zh-CN" altLang="en-US" sz="2800" b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，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表示不是立即数。</a:t>
            </a:r>
          </a:p>
          <a:p>
            <a:pPr algn="l" eaLnBrk="1" hangingPunct="1">
              <a:buFont typeface="Wingdings" panose="05000000000000000000" pitchFamily="2" charset="2"/>
              <a:buChar char="l"/>
            </a:pP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设</a:t>
            </a: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DS=3000H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，则源操作数的物理地址</a:t>
            </a:r>
          </a:p>
          <a:p>
            <a:pPr algn="l" eaLnBrk="1" hangingPunct="1"/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               =16×3000H+2000H=32000H</a:t>
            </a:r>
            <a:endParaRPr lang="en-US" altLang="zh-CN" sz="2400">
              <a:latin typeface="Times New Roman" panose="02020603050405020304" pitchFamily="18" charset="0"/>
              <a:sym typeface="Times New Roman" panose="02020603050405020304" pitchFamily="18" charset="0"/>
            </a:endParaRPr>
          </a:p>
          <a:p>
            <a:pPr algn="l" eaLnBrk="1" hangingPunct="1">
              <a:buFont typeface="Wingdings" panose="05000000000000000000" pitchFamily="2" charset="2"/>
              <a:buChar char="l"/>
            </a:pP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因目的操作数是</a:t>
            </a: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16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位寄存器</a:t>
            </a: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AX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，所以将存储单元中的</a:t>
            </a:r>
            <a:r>
              <a:rPr lang="zh-CN" altLang="en-US" sz="2800" b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一个字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送进</a:t>
            </a: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AX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。</a:t>
            </a:r>
          </a:p>
          <a:p>
            <a:pPr algn="l" eaLnBrk="1" hangingPunct="1">
              <a:buFont typeface="Wingdings" panose="05000000000000000000" pitchFamily="2" charset="2"/>
              <a:buChar char="l"/>
            </a:pP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若（</a:t>
            </a: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32000H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）＝</a:t>
            </a: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34H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，（</a:t>
            </a: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32001H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）＝</a:t>
            </a: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12H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，则执行指令后，</a:t>
            </a: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AX=1234H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。指令执行过程如图</a:t>
            </a: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3.2 </a:t>
            </a:r>
          </a:p>
        </p:txBody>
      </p:sp>
      <p:sp>
        <p:nvSpPr>
          <p:cNvPr id="66563" name="标题 1">
            <a:extLst>
              <a:ext uri="{FF2B5EF4-FFF2-40B4-BE49-F238E27FC236}">
                <a16:creationId xmlns:a16="http://schemas.microsoft.com/office/drawing/2014/main" id="{90511FAE-0E53-4A6C-976A-A30546FFDB12}"/>
              </a:ext>
            </a:extLst>
          </p:cNvPr>
          <p:cNvSpPr>
            <a:spLocks noGrp="1" noRot="1" noChangeArrowheads="1"/>
          </p:cNvSpPr>
          <p:nvPr/>
        </p:nvSpPr>
        <p:spPr bwMode="auto">
          <a:xfrm>
            <a:off x="482600" y="368300"/>
            <a:ext cx="8229600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B4B9BE"/>
              </a:buClr>
              <a:buFontTx/>
              <a:buNone/>
            </a:pPr>
            <a:r>
              <a:rPr lang="zh-CN" altLang="en-US" sz="44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直接寻址举例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1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内容占位符 2">
            <a:extLst>
              <a:ext uri="{FF2B5EF4-FFF2-40B4-BE49-F238E27FC236}">
                <a16:creationId xmlns:a16="http://schemas.microsoft.com/office/drawing/2014/main" id="{E4330B62-D7BB-4300-BE25-C7E2FFDBC7C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76250" y="457200"/>
            <a:ext cx="8372475" cy="647700"/>
          </a:xfrm>
        </p:spPr>
        <p:txBody>
          <a:bodyPr/>
          <a:lstStyle/>
          <a:p>
            <a:pPr marL="342900" indent="-342900" algn="l" eaLnBrk="1" hangingPunct="1"/>
            <a:r>
              <a:rPr lang="zh-CN" altLang="en-US" sz="2400">
                <a:latin typeface="Times New Roman" panose="02020603050405020304" pitchFamily="18" charset="0"/>
                <a:sym typeface="Times New Roman" panose="02020603050405020304" pitchFamily="18" charset="0"/>
              </a:rPr>
              <a:t>图</a:t>
            </a:r>
            <a:r>
              <a:rPr lang="en-US" altLang="zh-CN" sz="2400">
                <a:latin typeface="Times New Roman" panose="02020603050405020304" pitchFamily="18" charset="0"/>
                <a:sym typeface="Times New Roman" panose="02020603050405020304" pitchFamily="18" charset="0"/>
              </a:rPr>
              <a:t>3.2   </a:t>
            </a:r>
            <a:r>
              <a:rPr lang="zh-CN" altLang="en-US" sz="2400">
                <a:latin typeface="Times New Roman" panose="02020603050405020304" pitchFamily="18" charset="0"/>
                <a:sym typeface="Times New Roman" panose="02020603050405020304" pitchFamily="18" charset="0"/>
              </a:rPr>
              <a:t>指令</a:t>
            </a:r>
            <a:r>
              <a:rPr lang="en-US" altLang="zh-CN" sz="2400">
                <a:latin typeface="Times New Roman" panose="02020603050405020304" pitchFamily="18" charset="0"/>
                <a:sym typeface="Times New Roman" panose="02020603050405020304" pitchFamily="18" charset="0"/>
              </a:rPr>
              <a:t>MOV  AX</a:t>
            </a:r>
            <a:r>
              <a:rPr lang="zh-CN" altLang="en-US" sz="2400">
                <a:latin typeface="Times New Roman" panose="02020603050405020304" pitchFamily="18" charset="0"/>
                <a:sym typeface="Times New Roman" panose="02020603050405020304" pitchFamily="18" charset="0"/>
              </a:rPr>
              <a:t>，［</a:t>
            </a:r>
            <a:r>
              <a:rPr lang="en-US" altLang="zh-CN" sz="2400">
                <a:latin typeface="Times New Roman" panose="02020603050405020304" pitchFamily="18" charset="0"/>
                <a:sym typeface="Times New Roman" panose="02020603050405020304" pitchFamily="18" charset="0"/>
              </a:rPr>
              <a:t>2000H</a:t>
            </a:r>
            <a:r>
              <a:rPr lang="zh-CN" altLang="en-US" sz="2400">
                <a:latin typeface="Times New Roman" panose="02020603050405020304" pitchFamily="18" charset="0"/>
                <a:sym typeface="Times New Roman" panose="02020603050405020304" pitchFamily="18" charset="0"/>
              </a:rPr>
              <a:t>］的执行过程示意图</a:t>
            </a:r>
            <a:endParaRPr lang="zh-CN" altLang="en-US" sz="2400"/>
          </a:p>
        </p:txBody>
      </p:sp>
      <p:pic>
        <p:nvPicPr>
          <p:cNvPr id="67587" name="图片 4" descr="LF3-2.png">
            <a:extLst>
              <a:ext uri="{FF2B5EF4-FFF2-40B4-BE49-F238E27FC236}">
                <a16:creationId xmlns:a16="http://schemas.microsoft.com/office/drawing/2014/main" id="{4394ADAD-054C-4B05-87B1-58FCE60D69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1089025"/>
            <a:ext cx="8229600" cy="46228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>
            <a:extLst>
              <a:ext uri="{FF2B5EF4-FFF2-40B4-BE49-F238E27FC236}">
                <a16:creationId xmlns:a16="http://schemas.microsoft.com/office/drawing/2014/main" id="{8779BEF8-0E37-4777-ADBF-DA811F171F4A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zh-CN" altLang="en-US" sz="44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直接寻址中的段选择</a:t>
            </a:r>
          </a:p>
        </p:txBody>
      </p:sp>
      <p:sp>
        <p:nvSpPr>
          <p:cNvPr id="23555" name="内容占位符 2">
            <a:extLst>
              <a:ext uri="{FF2B5EF4-FFF2-40B4-BE49-F238E27FC236}">
                <a16:creationId xmlns:a16="http://schemas.microsoft.com/office/drawing/2014/main" id="{DBA7786A-D316-42F0-95B5-8BAEF4E98B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59" y="1314450"/>
            <a:ext cx="8372475" cy="5175250"/>
          </a:xfrm>
          <a:extLst/>
        </p:spPr>
        <p:txBody>
          <a:bodyPr/>
          <a:lstStyle/>
          <a:p>
            <a:pPr marL="342900" indent="-342900" algn="l" eaLnBrk="1" hangingPunct="1">
              <a:defRPr/>
            </a:pPr>
            <a:r>
              <a:rPr lang="en-US" altLang="x-none" sz="2800" b="1" noProof="1">
                <a:solidFill>
                  <a:srgbClr val="CC0000"/>
                </a:solidFill>
              </a:rPr>
              <a:t>2. </a:t>
            </a:r>
            <a:r>
              <a:rPr lang="zh-CN" altLang="en-US" sz="2800" b="1" noProof="1">
                <a:solidFill>
                  <a:srgbClr val="CC0000"/>
                </a:solidFill>
              </a:rPr>
              <a:t>段超越前缀</a:t>
            </a:r>
          </a:p>
          <a:p>
            <a:pPr marL="342900" indent="-342900" algn="l" eaLnBrk="1" hangingPunct="1">
              <a:defRPr/>
            </a:pPr>
            <a:endParaRPr lang="zh-CN" altLang="en-US" sz="2800" noProof="1">
              <a:solidFill>
                <a:schemeClr val="accent2"/>
              </a:solidFill>
            </a:endParaRPr>
          </a:p>
          <a:p>
            <a:pPr marL="342900" indent="-342900" algn="l" eaLnBrk="1" hangingPunct="1">
              <a:defRPr/>
            </a:pP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直接寻址的缺省段为</a:t>
            </a:r>
            <a:r>
              <a:rPr lang="zh-CN" altLang="en-US" sz="28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数据段</a:t>
            </a:r>
            <a:r>
              <a:rPr lang="en-US" altLang="zh-CN" sz="28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(</a:t>
            </a:r>
            <a:r>
              <a:rPr lang="en-US" altLang="zh-CN" sz="2800" noProof="1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DS</a:t>
            </a:r>
            <a:r>
              <a:rPr lang="en-US" altLang="zh-CN" sz="28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)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，如果要对代码段、堆栈段或附加段寄存器所指出的存储区进行直接寻址，应在指令中指定</a:t>
            </a:r>
            <a:r>
              <a:rPr lang="zh-CN" altLang="en-US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段超越前缀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。</a:t>
            </a:r>
          </a:p>
          <a:p>
            <a:pPr marL="342900" indent="-342900" algn="l" eaLnBrk="1" hangingPunct="1">
              <a:defRPr/>
            </a:pPr>
            <a:r>
              <a:rPr lang="zh-CN" altLang="en-US" sz="2800" b="1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例如</a:t>
            </a: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，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数据若放在附加段中，则应在有效地址前加说明符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“</a:t>
            </a:r>
            <a:r>
              <a:rPr lang="en-US" altLang="x-none" sz="2800" noProof="1">
                <a:solidFill>
                  <a:srgbClr val="0033CC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ES</a:t>
            </a:r>
            <a:r>
              <a:rPr lang="zh-CN" altLang="en-US" sz="2800" noProof="1">
                <a:solidFill>
                  <a:srgbClr val="0033CC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：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”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，计算物理地址时要用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ES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作基地址，而不是默认值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DS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。</a:t>
            </a:r>
          </a:p>
          <a:p>
            <a:pPr marL="342900" indent="-342900" algn="l" eaLnBrk="1" hangingPunct="1">
              <a:defRPr/>
            </a:pPr>
            <a:r>
              <a:rPr lang="zh-CN" altLang="en-US" sz="2800" b="1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例</a:t>
            </a:r>
            <a:r>
              <a:rPr lang="en-US" altLang="x-none" sz="2800" b="1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3.7 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</a:t>
            </a:r>
            <a:r>
              <a:rPr lang="en-US" altLang="x-none" sz="2800" noProof="1">
                <a:solidFill>
                  <a:srgbClr val="00B0F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</a:t>
            </a:r>
            <a:r>
              <a:rPr lang="en-US" altLang="x-none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MOV    AX</a:t>
            </a: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x-none" sz="2800" noProof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ES</a:t>
            </a:r>
            <a:r>
              <a:rPr lang="zh-CN" altLang="en-US" sz="2800" noProof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：［</a:t>
            </a:r>
            <a:r>
              <a:rPr lang="en-US" altLang="x-none" sz="2800" noProof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500H</a:t>
            </a:r>
            <a:r>
              <a:rPr lang="zh-CN" altLang="en-US" sz="2800" noProof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］</a:t>
            </a:r>
          </a:p>
          <a:p>
            <a:pPr marL="342900" indent="-342900" algn="l" eaLnBrk="1" hangingPunct="1">
              <a:defRPr/>
            </a:pP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   该指令的源操作数的物理地址</a:t>
            </a:r>
            <a:r>
              <a:rPr lang="en-US" altLang="x-none" sz="2800" noProof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=16×ES+500H</a:t>
            </a: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。</a:t>
            </a:r>
          </a:p>
          <a:p>
            <a:pPr marL="342900" indent="-342900" algn="l" eaLnBrk="1" hangingPunct="1">
              <a:defRPr/>
            </a:pPr>
            <a:endParaRPr lang="zh-CN" altLang="en-US" sz="2800" noProof="1"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>
            <a:extLst>
              <a:ext uri="{FF2B5EF4-FFF2-40B4-BE49-F238E27FC236}">
                <a16:creationId xmlns:a16="http://schemas.microsoft.com/office/drawing/2014/main" id="{D8528A83-C67B-4391-8C3A-270B958FE556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zh-CN" altLang="en-US" sz="44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直接寻址</a:t>
            </a:r>
          </a:p>
        </p:txBody>
      </p:sp>
      <p:sp>
        <p:nvSpPr>
          <p:cNvPr id="69635" name="内容占位符 2">
            <a:extLst>
              <a:ext uri="{FF2B5EF4-FFF2-40B4-BE49-F238E27FC236}">
                <a16:creationId xmlns:a16="http://schemas.microsoft.com/office/drawing/2014/main" id="{329265A7-3E79-4DF0-B339-589A6809C32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312863"/>
            <a:ext cx="8372475" cy="4187825"/>
          </a:xfrm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3. 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符号地址</a:t>
            </a: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（特别注意这种情况）</a:t>
            </a:r>
            <a:endParaRPr lang="zh-CN" altLang="en-US" sz="2800" b="1" dirty="0">
              <a:solidFill>
                <a:srgbClr val="CC0000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</a:pPr>
            <a:endParaRPr lang="en-US" altLang="zh-CN" sz="2400" dirty="0">
              <a:latin typeface="Times New Roman" panose="02020603050405020304" pitchFamily="18" charset="0"/>
              <a:sym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</a:pPr>
            <a:r>
              <a:rPr lang="zh-CN" altLang="en-US" sz="2400" dirty="0">
                <a:latin typeface="Times New Roman" panose="02020603050405020304" pitchFamily="18" charset="0"/>
                <a:sym typeface="Times New Roman" panose="02020603050405020304" pitchFamily="18" charset="0"/>
              </a:rPr>
              <a:t>允许用</a:t>
            </a: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符号地址</a:t>
            </a:r>
            <a:r>
              <a:rPr lang="zh-CN" altLang="en-US" sz="2400" dirty="0">
                <a:latin typeface="Times New Roman" panose="02020603050405020304" pitchFamily="18" charset="0"/>
                <a:sym typeface="Times New Roman" panose="02020603050405020304" pitchFamily="18" charset="0"/>
              </a:rPr>
              <a:t>代替</a:t>
            </a: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数值地址</a:t>
            </a:r>
            <a:r>
              <a:rPr lang="zh-CN" altLang="en-US" sz="2400" dirty="0">
                <a:latin typeface="Times New Roman" panose="02020603050405020304" pitchFamily="18" charset="0"/>
                <a:sym typeface="Times New Roman" panose="02020603050405020304" pitchFamily="18" charset="0"/>
              </a:rPr>
              <a:t>，也就是给存储单元起一个名字，如</a:t>
            </a:r>
            <a:r>
              <a:rPr lang="en-US" altLang="zh-CN" sz="2400" dirty="0">
                <a:latin typeface="Times New Roman" panose="02020603050405020304" pitchFamily="18" charset="0"/>
                <a:sym typeface="Times New Roman" panose="02020603050405020304" pitchFamily="18" charset="0"/>
              </a:rPr>
              <a:t>AREA1</a:t>
            </a:r>
            <a:r>
              <a:rPr lang="zh-CN" altLang="en-US" sz="2400" dirty="0">
                <a:latin typeface="Times New Roman" panose="02020603050405020304" pitchFamily="18" charset="0"/>
                <a:sym typeface="Times New Roman" panose="02020603050405020304" pitchFamily="18" charset="0"/>
              </a:rPr>
              <a:t>，寻址时只要使用其名字，不必记住具体数值。</a:t>
            </a:r>
          </a:p>
          <a:p>
            <a:pPr algn="l" eaLnBrk="1" hangingPunct="1">
              <a:spcBef>
                <a:spcPct val="0"/>
              </a:spcBef>
            </a:pPr>
            <a:endParaRPr lang="zh-CN" altLang="en-US" sz="2400" b="1" dirty="0">
              <a:solidFill>
                <a:srgbClr val="0033CC"/>
              </a:solidFill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3.10 </a:t>
            </a:r>
            <a:r>
              <a:rPr lang="en-US" altLang="zh-CN" sz="2400" dirty="0">
                <a:solidFill>
                  <a:srgbClr val="00B0F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AREA1	DW	   0867H</a:t>
            </a:r>
          </a:p>
          <a:p>
            <a:pPr algn="l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			              …</a:t>
            </a:r>
          </a:p>
          <a:p>
            <a:pPr algn="l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                           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	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MOV	   AX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 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AREA1</a:t>
            </a:r>
          </a:p>
          <a:p>
            <a:pPr algn="l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        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（或者写为）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MOV      AX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 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[AREA1]</a:t>
            </a:r>
          </a:p>
          <a:p>
            <a:pPr algn="l" eaLnBrk="1" hangingPunct="1">
              <a:spcBef>
                <a:spcPct val="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这里的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DW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伪指令语句用来定义变量。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MOV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指令执行后将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AREA1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单元中内容送到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AX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，结果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AX=0867H   </a:t>
            </a:r>
          </a:p>
          <a:p>
            <a:pPr algn="l" eaLnBrk="1" hangingPunct="1">
              <a:spcBef>
                <a:spcPct val="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          </a:t>
            </a:r>
          </a:p>
          <a:p>
            <a:pPr algn="l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                 </a:t>
            </a: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*</a:t>
            </a:r>
            <a:r>
              <a:rPr lang="zh-CN" altLang="en-US" sz="2400" dirty="0">
                <a:solidFill>
                  <a:srgbClr val="00B0F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变量定义伪指令</a:t>
            </a:r>
            <a:r>
              <a:rPr lang="en-US" altLang="zh-CN" sz="2400" dirty="0">
                <a:solidFill>
                  <a:srgbClr val="00B0F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DW</a:t>
            </a:r>
            <a:r>
              <a:rPr lang="zh-CN" altLang="en-US" sz="2400" dirty="0">
                <a:solidFill>
                  <a:srgbClr val="00B0F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定义字型变量</a:t>
            </a:r>
            <a:endParaRPr lang="en-US" altLang="zh-CN" sz="2400" dirty="0"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                                                      </a:t>
            </a:r>
          </a:p>
        </p:txBody>
      </p:sp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>
            <a:extLst>
              <a:ext uri="{FF2B5EF4-FFF2-40B4-BE49-F238E27FC236}">
                <a16:creationId xmlns:a16="http://schemas.microsoft.com/office/drawing/2014/main" id="{C1F6BE32-F881-41BE-A8FB-C24606BA007D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zh-CN" altLang="en-US" sz="44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直接寻址</a:t>
            </a:r>
          </a:p>
        </p:txBody>
      </p:sp>
      <p:sp>
        <p:nvSpPr>
          <p:cNvPr id="24579" name="内容占位符 2">
            <a:extLst>
              <a:ext uri="{FF2B5EF4-FFF2-40B4-BE49-F238E27FC236}">
                <a16:creationId xmlns:a16="http://schemas.microsoft.com/office/drawing/2014/main" id="{E6DB7CD2-A9A5-4DD9-B89A-B106EA03427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028700"/>
            <a:ext cx="8372475" cy="5461000"/>
          </a:xfrm>
          <a:extLst/>
        </p:spPr>
        <p:txBody>
          <a:bodyPr/>
          <a:lstStyle/>
          <a:p>
            <a:pPr algn="l" eaLnBrk="1" hangingPunct="1">
              <a:defRPr/>
            </a:pP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3. 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符号地址</a:t>
            </a: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（续）</a:t>
            </a:r>
            <a:endParaRPr lang="zh-CN" altLang="en-US" sz="2800" b="1" dirty="0">
              <a:solidFill>
                <a:srgbClr val="CC0000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  <a:p>
            <a:pPr algn="l" eaLnBrk="1" hangingPunct="1">
              <a:defRPr/>
            </a:pPr>
            <a:endParaRPr lang="zh-CN" altLang="en-US" sz="2400" b="1" dirty="0">
              <a:solidFill>
                <a:srgbClr val="CC0000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3.9</a:t>
            </a:r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AREA1	</a:t>
            </a:r>
            <a:r>
              <a:rPr lang="en-US" altLang="zh-CN" sz="2400" dirty="0">
                <a:solidFill>
                  <a:srgbClr val="008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EQU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	   0867H</a:t>
            </a: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			              …</a:t>
            </a: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                           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	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MOV	   AX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 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AREA1</a:t>
            </a: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zh-CN" sz="2400" dirty="0">
                <a:solidFill>
                  <a:srgbClr val="00B0F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          </a:t>
            </a:r>
            <a:r>
              <a:rPr lang="zh-CN" altLang="en-US" sz="2400" dirty="0">
                <a:solidFill>
                  <a:srgbClr val="00B0F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*等值伪指令</a:t>
            </a:r>
            <a:r>
              <a:rPr lang="en-US" altLang="zh-CN" sz="2400" dirty="0">
                <a:solidFill>
                  <a:srgbClr val="00B0F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EQU</a:t>
            </a:r>
            <a:r>
              <a:rPr lang="zh-CN" altLang="en-US" sz="2400" dirty="0">
                <a:solidFill>
                  <a:srgbClr val="00B0F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定义“常量”</a:t>
            </a:r>
            <a:endParaRPr lang="en-US" altLang="zh-CN" sz="2400" dirty="0">
              <a:solidFill>
                <a:srgbClr val="00B0F0"/>
              </a:solidFill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与例</a:t>
            </a:r>
            <a:r>
              <a:rPr lang="en-US" altLang="zh-CN" sz="24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3.10</a:t>
            </a:r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做个比较：</a:t>
            </a:r>
            <a:endParaRPr lang="en-US" altLang="zh-CN" sz="2400" dirty="0">
              <a:solidFill>
                <a:srgbClr val="0033CC"/>
              </a:solidFill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       AREA1	           </a:t>
            </a:r>
            <a:r>
              <a:rPr lang="en-US" altLang="zh-CN" sz="2400" dirty="0">
                <a:solidFill>
                  <a:srgbClr val="008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DW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	   0867H</a:t>
            </a: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			              …</a:t>
            </a: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                           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	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MOV	   AX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 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AREA1</a:t>
            </a: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        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（或者写为）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MOV      AX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 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[AREA1]</a:t>
            </a:r>
          </a:p>
          <a:p>
            <a:pPr algn="l" eaLnBrk="1" hangingPunct="1">
              <a:spcBef>
                <a:spcPct val="0"/>
              </a:spcBef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          *</a:t>
            </a:r>
            <a:r>
              <a:rPr lang="zh-CN" altLang="en-US" sz="2400" dirty="0">
                <a:solidFill>
                  <a:srgbClr val="00B0F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变量定义伪指令</a:t>
            </a:r>
            <a:r>
              <a:rPr lang="en-US" altLang="zh-CN" sz="2400" dirty="0">
                <a:solidFill>
                  <a:srgbClr val="00B0F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DW</a:t>
            </a:r>
            <a:r>
              <a:rPr lang="zh-CN" altLang="en-US" sz="2400" dirty="0">
                <a:solidFill>
                  <a:srgbClr val="00B0F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定义字型变量</a:t>
            </a:r>
            <a:endParaRPr lang="en-US" altLang="zh-CN" sz="2400" dirty="0">
              <a:solidFill>
                <a:srgbClr val="00B0F0"/>
              </a:solidFill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endParaRPr lang="en-US" altLang="zh-CN" sz="2400" dirty="0">
              <a:solidFill>
                <a:srgbClr val="008000"/>
              </a:solidFill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zh-CN" sz="2400" dirty="0">
                <a:solidFill>
                  <a:srgbClr val="00B0F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           </a:t>
            </a:r>
            <a:r>
              <a:rPr lang="zh-CN" altLang="en-US" sz="2400" dirty="0">
                <a:solidFill>
                  <a:srgbClr val="00B0F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*注：这在考试的时候最具有迷惑性</a:t>
            </a:r>
            <a:endParaRPr lang="en-US" altLang="zh-CN" sz="2400" dirty="0">
              <a:solidFill>
                <a:srgbClr val="00B0F0"/>
              </a:solidFill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5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5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457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457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标题 1">
            <a:extLst>
              <a:ext uri="{FF2B5EF4-FFF2-40B4-BE49-F238E27FC236}">
                <a16:creationId xmlns:a16="http://schemas.microsoft.com/office/drawing/2014/main" id="{88796094-E43F-4228-992B-9835B551F477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0" y="495300"/>
            <a:ext cx="8534400" cy="1466850"/>
          </a:xfrm>
        </p:spPr>
        <p:txBody>
          <a:bodyPr anchor="ctr"/>
          <a:lstStyle/>
          <a:p>
            <a:pPr eaLnBrk="1" hangingPunct="1"/>
            <a:r>
              <a:rPr lang="en-US" altLang="zh-CN" sz="5400">
                <a:solidFill>
                  <a:schemeClr val="accent2"/>
                </a:solidFill>
                <a:sym typeface="Times New Roman" panose="02020603050405020304" pitchFamily="18" charset="0"/>
              </a:rPr>
              <a:t>§3</a:t>
            </a:r>
            <a:r>
              <a:rPr lang="en-US" altLang="zh-CN" sz="5400">
                <a:solidFill>
                  <a:schemeClr val="accent2"/>
                </a:solidFill>
              </a:rPr>
              <a:t>.1 8086</a:t>
            </a:r>
            <a:r>
              <a:rPr lang="zh-CN" altLang="en-US" sz="5400">
                <a:solidFill>
                  <a:schemeClr val="accent2"/>
                </a:solidFill>
              </a:rPr>
              <a:t>的寻址方式</a:t>
            </a:r>
            <a:endParaRPr lang="zh-CN" altLang="en-US" sz="4400">
              <a:solidFill>
                <a:schemeClr val="accent2"/>
              </a:solidFill>
            </a:endParaRPr>
          </a:p>
        </p:txBody>
      </p:sp>
      <p:sp>
        <p:nvSpPr>
          <p:cNvPr id="71683" name="矩形 4">
            <a:extLst>
              <a:ext uri="{FF2B5EF4-FFF2-40B4-BE49-F238E27FC236}">
                <a16:creationId xmlns:a16="http://schemas.microsoft.com/office/drawing/2014/main" id="{288E08F6-7885-4915-AE4B-7746A6AFE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400" y="1919288"/>
            <a:ext cx="591185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3.1.1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立即寻址方式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3.1.2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3.1.3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直接寻址方式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3.1.4  </a:t>
            </a:r>
            <a:r>
              <a:rPr lang="zh-CN" altLang="en-US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寄存器间接寻址方式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3.1.5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寄存器相对寻址方式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3.1.6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基址变址寻址方式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3.1.7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相对基址变址寻址方式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3.1.8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其它寻址方式</a:t>
            </a:r>
            <a:endParaRPr lang="en-US" altLang="zh-CN" sz="240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edg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标题 1">
            <a:extLst>
              <a:ext uri="{FF2B5EF4-FFF2-40B4-BE49-F238E27FC236}">
                <a16:creationId xmlns:a16="http://schemas.microsoft.com/office/drawing/2014/main" id="{E810CDF5-F221-4E75-8217-A6BA4F93EB07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1460500"/>
          </a:xfrm>
        </p:spPr>
        <p:txBody>
          <a:bodyPr anchor="ctr"/>
          <a:lstStyle/>
          <a:p>
            <a:pPr algn="l" eaLnBrk="1" hangingPunct="1"/>
            <a:r>
              <a:rPr lang="en-US" altLang="zh-CN" sz="36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3.1.4 </a:t>
            </a:r>
            <a:r>
              <a:rPr lang="zh-CN" altLang="en-US" sz="36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寄存器间接寻址方式</a:t>
            </a:r>
            <a:br>
              <a:rPr lang="zh-CN" altLang="en-US" sz="36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</a:br>
            <a:r>
              <a:rPr lang="en-US" altLang="zh-CN" sz="3600" b="1">
                <a:solidFill>
                  <a:schemeClr val="accent2"/>
                </a:solidFill>
              </a:rPr>
              <a:t>Register Indirect Addressing</a:t>
            </a:r>
            <a:endParaRPr lang="en-US" altLang="zh-CN" sz="3600" b="1">
              <a:solidFill>
                <a:schemeClr val="accent2"/>
              </a:solidFill>
              <a:latin typeface="楷体_GB2312" pitchFamily="1" charset="-122"/>
              <a:ea typeface="楷体_GB2312" pitchFamily="1" charset="-122"/>
              <a:sym typeface="楷体_GB2312" pitchFamily="1" charset="-122"/>
            </a:endParaRPr>
          </a:p>
        </p:txBody>
      </p:sp>
      <p:sp>
        <p:nvSpPr>
          <p:cNvPr id="26627" name="内容占位符 2">
            <a:extLst>
              <a:ext uri="{FF2B5EF4-FFF2-40B4-BE49-F238E27FC236}">
                <a16:creationId xmlns:a16="http://schemas.microsoft.com/office/drawing/2014/main" id="{81AB2CEF-E90C-42E1-A93F-9A41002F37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00" y="1695450"/>
            <a:ext cx="8008938" cy="4889500"/>
          </a:xfrm>
        </p:spPr>
        <p:txBody>
          <a:bodyPr/>
          <a:lstStyle/>
          <a:p>
            <a:pPr marL="342900" indent="-342900" algn="l" eaLnBrk="1" hangingPunct="1">
              <a:buFont typeface="Wingdings" panose="05000000000000000000" pitchFamily="2" charset="2"/>
              <a:buChar char="l"/>
              <a:defRPr/>
            </a:pPr>
            <a:r>
              <a:rPr lang="zh-CN" altLang="en-US" sz="2800" dirty="0">
                <a:latin typeface="Times New Roman" panose="02020603050405020304" pitchFamily="18" charset="0"/>
                <a:sym typeface="Times New Roman" panose="02020603050405020304" pitchFamily="18" charset="0"/>
              </a:rPr>
              <a:t>指令中给出的寄存器中的值不是操作数本身，而是操作数的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有效地址</a:t>
            </a:r>
            <a:r>
              <a:rPr lang="en-US" altLang="zh-CN" sz="2800" dirty="0">
                <a:latin typeface="Times New Roman" panose="02020603050405020304" pitchFamily="18" charset="0"/>
                <a:sym typeface="Times New Roman" panose="02020603050405020304" pitchFamily="18" charset="0"/>
              </a:rPr>
              <a:t>EA</a:t>
            </a:r>
            <a:r>
              <a:rPr lang="zh-CN" altLang="en-US" sz="2800" dirty="0">
                <a:latin typeface="Times New Roman" panose="02020603050405020304" pitchFamily="18" charset="0"/>
                <a:sym typeface="Times New Roman" panose="02020603050405020304" pitchFamily="18" charset="0"/>
              </a:rPr>
              <a:t>。</a:t>
            </a:r>
          </a:p>
          <a:p>
            <a:pPr marL="342900" indent="-342900" algn="l" eaLnBrk="1" hangingPunct="1">
              <a:buFont typeface="Wingdings" panose="05000000000000000000" pitchFamily="2" charset="2"/>
              <a:buChar char="l"/>
              <a:defRPr/>
            </a:pPr>
            <a:r>
              <a:rPr lang="zh-CN" altLang="en-US" sz="2800" dirty="0">
                <a:latin typeface="Times New Roman" panose="02020603050405020304" pitchFamily="18" charset="0"/>
                <a:sym typeface="Times New Roman" panose="02020603050405020304" pitchFamily="18" charset="0"/>
              </a:rPr>
              <a:t>寄存器名称外必须加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方括号</a:t>
            </a:r>
            <a:r>
              <a:rPr lang="zh-CN" altLang="en-US" sz="2800" dirty="0">
                <a:latin typeface="Times New Roman" panose="02020603050405020304" pitchFamily="18" charset="0"/>
                <a:sym typeface="Times New Roman" panose="02020603050405020304" pitchFamily="18" charset="0"/>
              </a:rPr>
              <a:t>，可用的寄存器有：</a:t>
            </a:r>
            <a:r>
              <a:rPr lang="en-US" altLang="zh-CN" sz="2800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BX</a:t>
            </a:r>
            <a:r>
              <a:rPr lang="zh-CN" altLang="en-US" sz="2800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sz="2800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BP</a:t>
            </a:r>
            <a:r>
              <a:rPr lang="zh-CN" altLang="en-US" sz="2800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sz="2800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SI</a:t>
            </a:r>
            <a:r>
              <a:rPr lang="zh-CN" altLang="en-US" sz="2800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sz="2800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DI</a:t>
            </a:r>
            <a:r>
              <a:rPr lang="zh-CN" altLang="en-US" sz="2800" dirty="0">
                <a:latin typeface="Times New Roman" panose="02020603050405020304" pitchFamily="18" charset="0"/>
                <a:sym typeface="Times New Roman" panose="02020603050405020304" pitchFamily="18" charset="0"/>
              </a:rPr>
              <a:t>。</a:t>
            </a:r>
          </a:p>
          <a:p>
            <a:pPr marL="342900" indent="-342900" algn="l" eaLnBrk="1" hangingPunct="1">
              <a:buFont typeface="Wingdings" panose="05000000000000000000" pitchFamily="2" charset="2"/>
              <a:buChar char="l"/>
              <a:defRPr/>
            </a:pPr>
            <a:r>
              <a:rPr lang="zh-CN" altLang="en-US" sz="2800" dirty="0">
                <a:latin typeface="Times New Roman" panose="02020603050405020304" pitchFamily="18" charset="0"/>
                <a:sym typeface="Times New Roman" panose="02020603050405020304" pitchFamily="18" charset="0"/>
              </a:rPr>
              <a:t>应遵守以下约定：</a:t>
            </a:r>
          </a:p>
          <a:p>
            <a:pPr marL="342900" indent="-342900" algn="l" eaLnBrk="1" hangingPunct="1">
              <a:defRPr/>
            </a:pPr>
            <a:r>
              <a:rPr lang="zh-CN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约定</a:t>
            </a:r>
            <a:r>
              <a:rPr lang="en-US" altLang="zh-CN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：</a:t>
            </a:r>
            <a:r>
              <a:rPr lang="zh-CN" altLang="en-US" sz="2800" dirty="0">
                <a:latin typeface="Times New Roman" panose="02020603050405020304" pitchFamily="18" charset="0"/>
                <a:sym typeface="Times New Roman" panose="02020603050405020304" pitchFamily="18" charset="0"/>
              </a:rPr>
              <a:t>如果指令中指定的寄存器是</a:t>
            </a:r>
            <a:r>
              <a:rPr lang="en-US" altLang="zh-CN" sz="2800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BX</a:t>
            </a:r>
            <a:r>
              <a:rPr lang="zh-CN" altLang="en-US" sz="2800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sz="2800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SI</a:t>
            </a:r>
            <a:r>
              <a:rPr lang="zh-CN" altLang="en-US" sz="2800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或</a:t>
            </a:r>
            <a:r>
              <a:rPr lang="en-US" altLang="zh-CN" sz="2800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DI</a:t>
            </a:r>
            <a:r>
              <a:rPr lang="zh-CN" altLang="en-US" sz="2800" dirty="0">
                <a:latin typeface="Times New Roman" panose="02020603050405020304" pitchFamily="18" charset="0"/>
                <a:sym typeface="Times New Roman" panose="02020603050405020304" pitchFamily="18" charset="0"/>
              </a:rPr>
              <a:t>，则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默认操作数</a:t>
            </a:r>
            <a:r>
              <a:rPr lang="zh-CN" altLang="en-US" sz="2800" dirty="0">
                <a:latin typeface="Times New Roman" panose="02020603050405020304" pitchFamily="18" charset="0"/>
                <a:sym typeface="Times New Roman" panose="02020603050405020304" pitchFamily="18" charset="0"/>
              </a:rPr>
              <a:t>存放在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数据段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(</a:t>
            </a:r>
            <a:r>
              <a:rPr lang="en-US" altLang="zh-CN" sz="2800" b="1" dirty="0">
                <a:solidFill>
                  <a:srgbClr val="00B05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DS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sym typeface="Times New Roman" panose="02020603050405020304" pitchFamily="18" charset="0"/>
              </a:rPr>
              <a:t>中：</a:t>
            </a:r>
          </a:p>
          <a:p>
            <a:pPr marL="342900" indent="-342900" algn="l" eaLnBrk="1" hangingPunct="1">
              <a:defRPr/>
            </a:pPr>
            <a:r>
              <a:rPr lang="en-US" altLang="zh-CN" sz="2800" dirty="0">
                <a:latin typeface="Times New Roman" panose="02020603050405020304" pitchFamily="18" charset="0"/>
                <a:sym typeface="Times New Roman" panose="02020603050405020304" pitchFamily="18" charset="0"/>
              </a:rPr>
              <a:t>	</a:t>
            </a: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物理地址</a:t>
            </a: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=16×DS+BX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defRPr/>
            </a:pP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  		        </a:t>
            </a: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或</a:t>
            </a: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=16×DS+SI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defRPr/>
            </a:pP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                   </a:t>
            </a: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或</a:t>
            </a: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=16×DS+DI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4C4C4F3-C562-4A7F-A215-40C9EC81617A}"/>
              </a:ext>
            </a:extLst>
          </p:cNvPr>
          <p:cNvSpPr/>
          <p:nvPr/>
        </p:nvSpPr>
        <p:spPr>
          <a:xfrm>
            <a:off x="5376544" y="5364480"/>
            <a:ext cx="2999741" cy="9531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pPr>
            <a:r>
              <a:rPr lang="zh-CN" altLang="en-US" sz="2800" b="1" noProof="1">
                <a:gradFill>
                  <a:gsLst>
                    <a:gs pos="0">
                      <a:srgbClr val="FECF40"/>
                    </a:gs>
                    <a:gs pos="100000">
                      <a:srgbClr val="846C21"/>
                    </a:gs>
                  </a:gsLst>
                  <a:lin scaled="0"/>
                </a:gradFill>
              </a:rPr>
              <a:t>一定记住这两个约定！</a:t>
            </a:r>
          </a:p>
        </p:txBody>
      </p:sp>
    </p:spTree>
  </p:cSld>
  <p:clrMapOvr>
    <a:masterClrMapping/>
  </p:clrMapOvr>
  <p:transition spd="slow">
    <p:strips dir="l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内容占位符 2">
            <a:extLst>
              <a:ext uri="{FF2B5EF4-FFF2-40B4-BE49-F238E27FC236}">
                <a16:creationId xmlns:a16="http://schemas.microsoft.com/office/drawing/2014/main" id="{C30D811E-F755-455A-8AF9-8F739BB3C8A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361950"/>
            <a:ext cx="8372475" cy="2089150"/>
          </a:xfrm>
        </p:spPr>
        <p:txBody>
          <a:bodyPr/>
          <a:lstStyle/>
          <a:p>
            <a:pPr marL="342900" indent="-342900" algn="l" eaLnBrk="1" hangingPunct="1"/>
            <a:r>
              <a:rPr lang="zh-CN" altLang="en-US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例</a:t>
            </a:r>
            <a:r>
              <a:rPr lang="en-US" altLang="zh-CN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3.11 </a:t>
            </a:r>
            <a:r>
              <a:rPr lang="en-US" altLang="zh-CN" sz="2800">
                <a:solidFill>
                  <a:srgbClr val="23FFF8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MOV   BX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，［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SI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］</a:t>
            </a:r>
          </a:p>
          <a:p>
            <a:pPr marL="342900" indent="-342900" algn="l" eaLnBrk="1" hangingPunct="1"/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设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DS=1000H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SI=2000H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(12000H)=318BH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，则：</a:t>
            </a:r>
          </a:p>
          <a:p>
            <a:pPr marL="342900" indent="-342900" algn="l" eaLnBrk="1" hangingPunct="1"/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物理地址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= 16×DS+SI = 10000H+2000H = 12000H</a:t>
            </a:r>
            <a:endParaRPr lang="en-US" altLang="zh-CN" sz="2400"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marL="342900" indent="-342900" algn="l" eaLnBrk="1" hangingPunct="1"/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指令执行后，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BX = 318BH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，指令执行过程如图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3.3 </a:t>
            </a:r>
          </a:p>
        </p:txBody>
      </p:sp>
      <p:pic>
        <p:nvPicPr>
          <p:cNvPr id="27651" name="图片 3" descr="LF3-3.png">
            <a:extLst>
              <a:ext uri="{FF2B5EF4-FFF2-40B4-BE49-F238E27FC236}">
                <a16:creationId xmlns:a16="http://schemas.microsoft.com/office/drawing/2014/main" id="{9B5A7422-C04C-4CC1-B05B-2B113DE0F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50" y="2540000"/>
            <a:ext cx="7245350" cy="40703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97B46443-346D-43AB-8A96-CC39F322EE96}"/>
              </a:ext>
            </a:extLst>
          </p:cNvPr>
          <p:cNvCxnSpPr/>
          <p:nvPr/>
        </p:nvCxnSpPr>
        <p:spPr>
          <a:xfrm flipV="1">
            <a:off x="6564313" y="3487738"/>
            <a:ext cx="693737" cy="347662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9FAE177-0D99-4CC2-9A0E-6D3E204E0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5688" y="3286125"/>
            <a:ext cx="13541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B4B9BE"/>
              </a:buClr>
              <a:buFontTx/>
              <a:buNone/>
            </a:pPr>
            <a:r>
              <a:rPr lang="zh-CN" altLang="en-US" sz="1800">
                <a:latin typeface="Times New Roman" panose="02020603050405020304" pitchFamily="18" charset="0"/>
              </a:rPr>
              <a:t>教材小</a:t>
            </a:r>
            <a:r>
              <a:rPr lang="en-US" altLang="zh-CN" sz="1800">
                <a:latin typeface="Times New Roman" panose="02020603050405020304" pitchFamily="18" charset="0"/>
              </a:rPr>
              <a:t>bug</a:t>
            </a:r>
          </a:p>
        </p:txBody>
      </p:sp>
    </p:spTree>
  </p:cSld>
  <p:clrMapOvr>
    <a:masterClrMapping/>
  </p:clrMapOvr>
  <p:transition spd="slow"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7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标题 1">
            <a:extLst>
              <a:ext uri="{FF2B5EF4-FFF2-40B4-BE49-F238E27FC236}">
                <a16:creationId xmlns:a16="http://schemas.microsoft.com/office/drawing/2014/main" id="{89DD3986-A2F4-4F27-B574-37EC8512135C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527050" y="4064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zh-CN" altLang="en-US" sz="44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寄存器间接寻址</a:t>
            </a:r>
          </a:p>
        </p:txBody>
      </p:sp>
      <p:sp>
        <p:nvSpPr>
          <p:cNvPr id="28675" name="内容占位符 2">
            <a:extLst>
              <a:ext uri="{FF2B5EF4-FFF2-40B4-BE49-F238E27FC236}">
                <a16:creationId xmlns:a16="http://schemas.microsoft.com/office/drawing/2014/main" id="{5D6906AB-E524-4529-9456-88F9B5A5E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0700" y="1196975"/>
            <a:ext cx="8186737" cy="5429250"/>
          </a:xfrm>
          <a:extLst/>
        </p:spPr>
        <p:txBody>
          <a:bodyPr/>
          <a:lstStyle/>
          <a:p>
            <a:pPr marL="342900" indent="-342900" algn="l" eaLnBrk="1" hangingPunct="1">
              <a:defRPr/>
            </a:pPr>
            <a:r>
              <a:rPr lang="zh-CN" altLang="en-US" sz="2800" b="1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约定</a:t>
            </a:r>
            <a:r>
              <a:rPr lang="en-US" altLang="x-none" sz="2800" b="1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2</a:t>
            </a:r>
            <a:r>
              <a:rPr lang="zh-CN" altLang="en-US" sz="2800" b="1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：</a:t>
            </a:r>
            <a:r>
              <a:rPr lang="zh-CN" altLang="en-US" sz="24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如果指令中用</a:t>
            </a:r>
            <a:r>
              <a:rPr lang="en-US" altLang="zh-CN" sz="2400" b="1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BP</a:t>
            </a:r>
            <a:r>
              <a:rPr lang="zh-CN" altLang="en-US" sz="24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进行间接寻址，则默认操作数在</a:t>
            </a:r>
            <a:r>
              <a:rPr lang="zh-CN" alt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堆栈段</a:t>
            </a:r>
            <a:r>
              <a:rPr lang="en-US" altLang="zh-CN" sz="2400" b="1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(SS)</a:t>
            </a:r>
            <a:r>
              <a:rPr lang="zh-CN" altLang="en-US" sz="24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中</a:t>
            </a:r>
          </a:p>
          <a:p>
            <a:pPr marL="342900" indent="-342900" algn="l" eaLnBrk="1" hangingPunct="1">
              <a:defRPr/>
            </a:pPr>
            <a:r>
              <a:rPr lang="zh-CN" altLang="en-US" sz="2400" b="1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例如：</a:t>
            </a:r>
          </a:p>
          <a:p>
            <a:pPr marL="342900" indent="-342900" algn="l" eaLnBrk="1" hangingPunct="1">
              <a:defRPr/>
            </a:pPr>
            <a:r>
              <a:rPr lang="en-US" altLang="x-none" sz="2400" noProof="1">
                <a:solidFill>
                  <a:srgbClr val="23FFF8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</a:t>
            </a:r>
            <a:r>
              <a:rPr lang="en-US" altLang="x-none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MOV  AX</a:t>
            </a:r>
            <a:r>
              <a:rPr lang="zh-CN" altLang="en-US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，［</a:t>
            </a:r>
            <a:r>
              <a:rPr lang="en-US" altLang="x-none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BP</a:t>
            </a:r>
            <a:r>
              <a:rPr lang="zh-CN" altLang="en-US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］</a:t>
            </a:r>
            <a:r>
              <a:rPr lang="en-US" altLang="x-none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		</a:t>
            </a:r>
            <a:r>
              <a:rPr lang="zh-CN" altLang="en-US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；操作数的物理地址</a:t>
            </a:r>
          </a:p>
          <a:p>
            <a:pPr marL="342900" indent="-342900" algn="l" eaLnBrk="1" hangingPunct="1">
              <a:defRPr/>
            </a:pPr>
            <a:r>
              <a:rPr lang="en-US" altLang="x-none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						</a:t>
            </a:r>
            <a:r>
              <a:rPr lang="zh-CN" altLang="en-US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；</a:t>
            </a:r>
            <a:r>
              <a:rPr lang="en-US" altLang="x-none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=16×SS+BP</a:t>
            </a:r>
            <a:endParaRPr lang="zh-CN" altLang="en-US" sz="2400" noProof="1"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spcBef>
                <a:spcPts val="2400"/>
              </a:spcBef>
              <a:defRPr/>
            </a:pPr>
            <a:r>
              <a:rPr lang="zh-CN" altLang="en-US" sz="2400" noProof="1"/>
              <a:t> </a:t>
            </a:r>
            <a:r>
              <a:rPr lang="zh-CN" altLang="en-US" sz="2400" b="1" noProof="1">
                <a:solidFill>
                  <a:srgbClr val="CC0000"/>
                </a:solidFill>
              </a:rPr>
              <a:t>指令中也可以指定段超越前缀</a:t>
            </a:r>
          </a:p>
          <a:p>
            <a:pPr marL="342900" indent="-342900" algn="l" eaLnBrk="1" hangingPunct="1">
              <a:spcBef>
                <a:spcPts val="2400"/>
              </a:spcBef>
              <a:defRPr/>
            </a:pPr>
            <a:r>
              <a:rPr lang="zh-CN" altLang="en-US" sz="2400" b="1" noProof="1">
                <a:solidFill>
                  <a:srgbClr val="0033CC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例如：</a:t>
            </a:r>
          </a:p>
          <a:p>
            <a:pPr marL="342900" indent="-342900" algn="l" eaLnBrk="1" hangingPunct="1">
              <a:defRPr/>
            </a:pPr>
            <a:r>
              <a:rPr lang="en-US" altLang="x-none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MOV   BX</a:t>
            </a:r>
            <a:r>
              <a:rPr lang="zh-CN" altLang="en-US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x-none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DS</a:t>
            </a:r>
            <a:r>
              <a:rPr lang="zh-CN" altLang="en-US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：［</a:t>
            </a:r>
            <a:r>
              <a:rPr lang="en-US" altLang="x-none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BP</a:t>
            </a:r>
            <a:r>
              <a:rPr lang="zh-CN" altLang="en-US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］ </a:t>
            </a:r>
            <a:r>
              <a:rPr lang="en-US" altLang="x-none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	</a:t>
            </a:r>
            <a:r>
              <a:rPr lang="zh-CN" altLang="en-US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；源操作数物理地址</a:t>
            </a:r>
          </a:p>
          <a:p>
            <a:pPr marL="342900" indent="-342900" algn="l" eaLnBrk="1" hangingPunct="1">
              <a:defRPr/>
            </a:pPr>
            <a:r>
              <a:rPr lang="en-US" altLang="x-none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						</a:t>
            </a:r>
            <a:r>
              <a:rPr lang="zh-CN" altLang="en-US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；</a:t>
            </a:r>
            <a:r>
              <a:rPr lang="en-US" altLang="x-none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=16×DS+BP</a:t>
            </a:r>
            <a:endParaRPr lang="zh-CN" altLang="en-US" sz="2400" noProof="1"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defRPr/>
            </a:pPr>
            <a:r>
              <a:rPr lang="en-US" altLang="x-none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MOV   AX</a:t>
            </a:r>
            <a:r>
              <a:rPr lang="zh-CN" altLang="en-US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x-none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ES</a:t>
            </a:r>
            <a:r>
              <a:rPr lang="zh-CN" altLang="en-US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：［</a:t>
            </a:r>
            <a:r>
              <a:rPr lang="en-US" altLang="x-none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SI</a:t>
            </a:r>
            <a:r>
              <a:rPr lang="zh-CN" altLang="en-US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］</a:t>
            </a:r>
            <a:r>
              <a:rPr lang="en-US" altLang="x-none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	</a:t>
            </a:r>
            <a:r>
              <a:rPr lang="zh-CN" altLang="en-US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；源操作数物理地址</a:t>
            </a:r>
          </a:p>
          <a:p>
            <a:pPr marL="342900" indent="-342900" algn="l" eaLnBrk="1" hangingPunct="1">
              <a:defRPr/>
            </a:pPr>
            <a:r>
              <a:rPr lang="en-US" altLang="x-none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						</a:t>
            </a:r>
            <a:r>
              <a:rPr lang="zh-CN" altLang="en-US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；</a:t>
            </a:r>
            <a:r>
              <a:rPr lang="en-US" altLang="x-none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=16×ES+SI</a:t>
            </a:r>
            <a:endParaRPr lang="zh-CN" altLang="en-US" sz="2400" noProof="1"/>
          </a:p>
        </p:txBody>
      </p:sp>
    </p:spTree>
  </p:cSld>
  <p:clrMapOvr>
    <a:masterClrMapping/>
  </p:clrMapOvr>
  <p:transition spd="slow">
    <p:split orient="vert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标题 1">
            <a:extLst>
              <a:ext uri="{FF2B5EF4-FFF2-40B4-BE49-F238E27FC236}">
                <a16:creationId xmlns:a16="http://schemas.microsoft.com/office/drawing/2014/main" id="{92D3A5F3-4753-4811-8BB2-06F0EF55A9BA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0" y="495300"/>
            <a:ext cx="8534400" cy="1466850"/>
          </a:xfrm>
        </p:spPr>
        <p:txBody>
          <a:bodyPr anchor="ctr"/>
          <a:lstStyle/>
          <a:p>
            <a:pPr eaLnBrk="1" hangingPunct="1"/>
            <a:r>
              <a:rPr lang="en-US" altLang="zh-CN" sz="5400">
                <a:solidFill>
                  <a:schemeClr val="accent2"/>
                </a:solidFill>
                <a:sym typeface="Times New Roman" panose="02020603050405020304" pitchFamily="18" charset="0"/>
              </a:rPr>
              <a:t>§3</a:t>
            </a:r>
            <a:r>
              <a:rPr lang="en-US" altLang="zh-CN" sz="5400">
                <a:solidFill>
                  <a:schemeClr val="accent2"/>
                </a:solidFill>
              </a:rPr>
              <a:t>.1 8086</a:t>
            </a:r>
            <a:r>
              <a:rPr lang="zh-CN" altLang="en-US" sz="5400">
                <a:solidFill>
                  <a:schemeClr val="accent2"/>
                </a:solidFill>
              </a:rPr>
              <a:t>的寻址方式</a:t>
            </a:r>
            <a:endParaRPr lang="zh-CN" altLang="en-US" sz="4400">
              <a:solidFill>
                <a:schemeClr val="accent2"/>
              </a:solidFill>
            </a:endParaRPr>
          </a:p>
        </p:txBody>
      </p:sp>
      <p:sp>
        <p:nvSpPr>
          <p:cNvPr id="75779" name="矩形 4">
            <a:extLst>
              <a:ext uri="{FF2B5EF4-FFF2-40B4-BE49-F238E27FC236}">
                <a16:creationId xmlns:a16="http://schemas.microsoft.com/office/drawing/2014/main" id="{1446898F-DB26-4170-9F8D-4CD173848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400" y="1919288"/>
            <a:ext cx="591185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3.1.1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立即寻址方式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3.1.2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3.1.3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直接寻址方式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3.1.4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寄存器间接寻址方式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3.1.5  </a:t>
            </a:r>
            <a:r>
              <a:rPr lang="zh-CN" altLang="en-US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寄存器相对寻址方式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3.1.6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基址变址寻址方式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3.1.7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相对基址变址寻址方式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3.1.8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其它寻址方式</a:t>
            </a:r>
            <a:endParaRPr lang="en-US" altLang="zh-CN" sz="240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edg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标题 1">
            <a:extLst>
              <a:ext uri="{FF2B5EF4-FFF2-40B4-BE49-F238E27FC236}">
                <a16:creationId xmlns:a16="http://schemas.microsoft.com/office/drawing/2014/main" id="{D456E04D-2393-4F37-B8D4-0F3FA4773AA8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495300"/>
            <a:ext cx="8229600" cy="1111250"/>
          </a:xfrm>
        </p:spPr>
        <p:txBody>
          <a:bodyPr anchor="ctr"/>
          <a:lstStyle/>
          <a:p>
            <a:pPr algn="l" eaLnBrk="1" hangingPunct="1"/>
            <a:r>
              <a:rPr lang="en-US" altLang="zh-CN" sz="32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3.1.5 </a:t>
            </a:r>
            <a:r>
              <a:rPr lang="zh-CN" altLang="en-US" sz="32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寄存器相对寻址方式</a:t>
            </a:r>
            <a:br>
              <a:rPr lang="zh-CN" altLang="en-US" sz="32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</a:br>
            <a:r>
              <a:rPr lang="en-US" altLang="zh-CN" sz="3200" b="1">
                <a:solidFill>
                  <a:schemeClr val="accent2"/>
                </a:solidFill>
              </a:rPr>
              <a:t>Register Relative Addressing</a:t>
            </a:r>
            <a:endParaRPr lang="zh-CN" altLang="en-US" sz="3200" b="1">
              <a:solidFill>
                <a:schemeClr val="accent2"/>
              </a:solidFill>
              <a:latin typeface="楷体_GB2312" pitchFamily="1" charset="-122"/>
              <a:ea typeface="楷体_GB2312" pitchFamily="1" charset="-122"/>
              <a:sym typeface="楷体_GB2312" pitchFamily="1" charset="-122"/>
            </a:endParaRPr>
          </a:p>
        </p:txBody>
      </p:sp>
      <p:sp>
        <p:nvSpPr>
          <p:cNvPr id="30723" name="内容占位符 2">
            <a:extLst>
              <a:ext uri="{FF2B5EF4-FFF2-40B4-BE49-F238E27FC236}">
                <a16:creationId xmlns:a16="http://schemas.microsoft.com/office/drawing/2014/main" id="{D27048AA-AA87-4CC3-8595-B879517EBC6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784350"/>
            <a:ext cx="8372475" cy="4705350"/>
          </a:xfrm>
        </p:spPr>
        <p:txBody>
          <a:bodyPr/>
          <a:lstStyle/>
          <a:p>
            <a:pPr marL="1588" indent="-1588" algn="l" eaLnBrk="1" hangingPunct="1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en-US" sz="2400">
                <a:latin typeface="Times New Roman" panose="02020603050405020304" pitchFamily="18" charset="0"/>
                <a:sym typeface="Times New Roman" panose="02020603050405020304" pitchFamily="18" charset="0"/>
              </a:rPr>
              <a:t>它与寄存器间接寻址十分相似，但在有效地址上还要加一个</a:t>
            </a:r>
            <a:r>
              <a:rPr lang="en-US" altLang="zh-CN" sz="2400">
                <a:latin typeface="Times New Roman" panose="02020603050405020304" pitchFamily="18" charset="0"/>
                <a:sym typeface="Times New Roman" panose="02020603050405020304" pitchFamily="18" charset="0"/>
              </a:rPr>
              <a:t>8/16</a:t>
            </a:r>
            <a:r>
              <a:rPr lang="zh-CN" altLang="en-US" sz="2400">
                <a:latin typeface="Times New Roman" panose="02020603050405020304" pitchFamily="18" charset="0"/>
                <a:sym typeface="Times New Roman" panose="02020603050405020304" pitchFamily="18" charset="0"/>
              </a:rPr>
              <a:t>位的</a:t>
            </a:r>
            <a:r>
              <a:rPr lang="zh-CN" altLang="en-US" sz="2400" b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位移量</a:t>
            </a:r>
          </a:p>
          <a:p>
            <a:pPr marL="1588" indent="-1588" algn="l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400">
              <a:latin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1588" indent="-1588" algn="l" eaLnBrk="1" hangingPunct="1">
              <a:lnSpc>
                <a:spcPct val="90000"/>
              </a:lnSpc>
            </a:pPr>
            <a:r>
              <a:rPr lang="zh-CN" altLang="en-US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例</a:t>
            </a:r>
            <a:r>
              <a:rPr lang="en-US" altLang="zh-CN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3.12 </a:t>
            </a:r>
            <a:r>
              <a:rPr lang="en-US" altLang="zh-CN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23FFF8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MOV    BX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COUNT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［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SI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］</a:t>
            </a:r>
          </a:p>
          <a:p>
            <a:pPr marL="1588" indent="-1588" algn="l" eaLnBrk="1" hangingPunct="1">
              <a:lnSpc>
                <a:spcPct val="90000"/>
              </a:lnSpc>
            </a:pP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设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DS=3000H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SI=2000H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，位移量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COUNT=4000H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(36000H)=5678H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，则：</a:t>
            </a:r>
          </a:p>
          <a:p>
            <a:pPr marL="1588" indent="-1588" algn="l" eaLnBrk="1" hangingPunct="1">
              <a:lnSpc>
                <a:spcPct val="90000"/>
              </a:lnSpc>
            </a:pP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	</a:t>
            </a:r>
            <a:r>
              <a:rPr lang="zh-CN" altLang="en-US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物理地址</a:t>
            </a: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=16×DS+SI+COUNT</a:t>
            </a:r>
            <a:endParaRPr lang="en-US" altLang="zh-CN" sz="2400">
              <a:solidFill>
                <a:srgbClr val="008000"/>
              </a:solidFill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marL="1588" indent="-1588" algn="l" eaLnBrk="1" hangingPunct="1">
              <a:lnSpc>
                <a:spcPct val="90000"/>
              </a:lnSpc>
            </a:pP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			=30000H+2000H+4000H</a:t>
            </a:r>
            <a:endParaRPr lang="en-US" altLang="zh-CN" sz="2400">
              <a:solidFill>
                <a:srgbClr val="008000"/>
              </a:solidFill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marL="1588" indent="-1588" algn="l" eaLnBrk="1" hangingPunct="1">
              <a:lnSpc>
                <a:spcPct val="90000"/>
              </a:lnSpc>
            </a:pP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			=36000H</a:t>
            </a:r>
            <a:endParaRPr lang="en-US" altLang="zh-CN" sz="2400">
              <a:solidFill>
                <a:srgbClr val="008000"/>
              </a:solidFill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marL="1588" indent="-1588" algn="l" eaLnBrk="1" hangingPunct="1">
              <a:lnSpc>
                <a:spcPct val="90000"/>
              </a:lnSpc>
            </a:pP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执行结果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BX=5678H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，执行过程如图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3.4</a:t>
            </a:r>
          </a:p>
        </p:txBody>
      </p:sp>
    </p:spTree>
  </p:cSld>
  <p:clrMapOvr>
    <a:masterClrMapping/>
  </p:clrMapOvr>
  <p:transition spd="slow">
    <p:cover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标题 1">
            <a:extLst>
              <a:ext uri="{FF2B5EF4-FFF2-40B4-BE49-F238E27FC236}">
                <a16:creationId xmlns:a16="http://schemas.microsoft.com/office/drawing/2014/main" id="{4FA04C57-C895-42C1-91CB-C12D522F1429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615950" y="2286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zh-CN" altLang="en-US" sz="44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寄存器相对寻址</a:t>
            </a:r>
          </a:p>
        </p:txBody>
      </p:sp>
      <p:sp>
        <p:nvSpPr>
          <p:cNvPr id="31747" name="内容占位符 2">
            <a:extLst>
              <a:ext uri="{FF2B5EF4-FFF2-40B4-BE49-F238E27FC236}">
                <a16:creationId xmlns:a16="http://schemas.microsoft.com/office/drawing/2014/main" id="{EE59DA86-81CD-44B4-BAD2-92FF4B357DB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5635625"/>
            <a:ext cx="8372475" cy="1016000"/>
          </a:xfrm>
        </p:spPr>
        <p:txBody>
          <a:bodyPr/>
          <a:lstStyle/>
          <a:p>
            <a:pPr marL="342900" indent="-342900" algn="just" eaLnBrk="1" hangingPunct="1"/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上述指令也可用</a:t>
            </a:r>
            <a:r>
              <a:rPr lang="en-US" altLang="zh-CN" sz="2800" b="1">
                <a:solidFill>
                  <a:srgbClr val="008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MOV    BX</a:t>
            </a:r>
            <a:r>
              <a:rPr lang="zh-CN" altLang="en-US" sz="2800" b="1">
                <a:solidFill>
                  <a:srgbClr val="008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，［</a:t>
            </a:r>
            <a:r>
              <a:rPr lang="en-US" altLang="zh-CN" sz="2800" b="1">
                <a:solidFill>
                  <a:srgbClr val="008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COUNT+SI</a:t>
            </a:r>
            <a:r>
              <a:rPr lang="zh-CN" altLang="en-US" sz="2800" b="1">
                <a:solidFill>
                  <a:srgbClr val="008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］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这种形式来表示。</a:t>
            </a:r>
          </a:p>
        </p:txBody>
      </p:sp>
      <p:pic>
        <p:nvPicPr>
          <p:cNvPr id="77828" name="图片 4" descr="LF3-4.png">
            <a:extLst>
              <a:ext uri="{FF2B5EF4-FFF2-40B4-BE49-F238E27FC236}">
                <a16:creationId xmlns:a16="http://schemas.microsoft.com/office/drawing/2014/main" id="{A4A729FA-7DD7-492E-876F-BB5BA0598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1254125"/>
            <a:ext cx="7851775" cy="42465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ldLvl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标题 1">
            <a:extLst>
              <a:ext uri="{FF2B5EF4-FFF2-40B4-BE49-F238E27FC236}">
                <a16:creationId xmlns:a16="http://schemas.microsoft.com/office/drawing/2014/main" id="{B8554F6A-93A9-4AB9-B40D-A1E02DCAEB07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0" y="495300"/>
            <a:ext cx="8534400" cy="1466850"/>
          </a:xfrm>
        </p:spPr>
        <p:txBody>
          <a:bodyPr anchor="ctr"/>
          <a:lstStyle/>
          <a:p>
            <a:pPr eaLnBrk="1" hangingPunct="1"/>
            <a:r>
              <a:rPr lang="en-US" altLang="zh-CN" sz="5400">
                <a:solidFill>
                  <a:schemeClr val="accent2"/>
                </a:solidFill>
                <a:sym typeface="Times New Roman" panose="02020603050405020304" pitchFamily="18" charset="0"/>
              </a:rPr>
              <a:t>§3</a:t>
            </a:r>
            <a:r>
              <a:rPr lang="en-US" altLang="zh-CN" sz="5400">
                <a:solidFill>
                  <a:schemeClr val="accent2"/>
                </a:solidFill>
              </a:rPr>
              <a:t>.1 8086</a:t>
            </a:r>
            <a:r>
              <a:rPr lang="zh-CN" altLang="en-US" sz="5400">
                <a:solidFill>
                  <a:schemeClr val="accent2"/>
                </a:solidFill>
              </a:rPr>
              <a:t>的寻址方式</a:t>
            </a:r>
            <a:endParaRPr lang="zh-CN" altLang="en-US" sz="4400">
              <a:solidFill>
                <a:schemeClr val="accent2"/>
              </a:solidFill>
            </a:endParaRPr>
          </a:p>
        </p:txBody>
      </p:sp>
      <p:sp>
        <p:nvSpPr>
          <p:cNvPr id="78851" name="矩形 4">
            <a:extLst>
              <a:ext uri="{FF2B5EF4-FFF2-40B4-BE49-F238E27FC236}">
                <a16:creationId xmlns:a16="http://schemas.microsoft.com/office/drawing/2014/main" id="{D50F918A-99C7-436F-AC51-0C2155E3E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750" y="1898650"/>
            <a:ext cx="591185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3.1.1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立即寻址方式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3.1.2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3.1.3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直接寻址方式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3.1.4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寄存器间接寻址方式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3.1.5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寄存器相对寻址方式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3.1.6  </a:t>
            </a:r>
            <a:r>
              <a:rPr lang="zh-CN" altLang="en-US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基址变址寻址方式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3.1.7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相对基址变址寻址方式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3.1.8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其它寻址方式</a:t>
            </a:r>
            <a:endParaRPr lang="en-US" altLang="zh-CN" sz="240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edg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>
            <a:extLst>
              <a:ext uri="{FF2B5EF4-FFF2-40B4-BE49-F238E27FC236}">
                <a16:creationId xmlns:a16="http://schemas.microsoft.com/office/drawing/2014/main" id="{8FBBFD22-AA27-4F69-832B-D39681C005FA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74663" y="368300"/>
            <a:ext cx="8229600" cy="1193800"/>
          </a:xfrm>
        </p:spPr>
        <p:txBody>
          <a:bodyPr anchor="ctr"/>
          <a:lstStyle/>
          <a:p>
            <a:pPr algn="l" eaLnBrk="1" hangingPunct="1"/>
            <a:r>
              <a:rPr lang="en-US" altLang="zh-CN" sz="36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3.1.6 </a:t>
            </a:r>
            <a:r>
              <a:rPr lang="zh-CN" altLang="en-US" sz="36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基址变址寻址方式</a:t>
            </a:r>
            <a:br>
              <a:rPr lang="zh-CN" altLang="en-US" sz="4400" b="1">
                <a:solidFill>
                  <a:schemeClr val="accent2"/>
                </a:solidFill>
              </a:rPr>
            </a:br>
            <a:r>
              <a:rPr lang="en-US" altLang="zh-CN" sz="3600" b="1">
                <a:solidFill>
                  <a:schemeClr val="accent2"/>
                </a:solidFill>
              </a:rPr>
              <a:t>Based Indexed Addressing</a:t>
            </a:r>
          </a:p>
        </p:txBody>
      </p:sp>
      <p:sp>
        <p:nvSpPr>
          <p:cNvPr id="33795" name="内容占位符 2">
            <a:extLst>
              <a:ext uri="{FF2B5EF4-FFF2-40B4-BE49-F238E27FC236}">
                <a16:creationId xmlns:a16="http://schemas.microsoft.com/office/drawing/2014/main" id="{E91B143D-22B8-490A-AE69-CFECB58D9F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1739900"/>
            <a:ext cx="8231188" cy="4705350"/>
          </a:xfrm>
          <a:extLst/>
        </p:spPr>
        <p:txBody>
          <a:bodyPr/>
          <a:lstStyle/>
          <a:p>
            <a:pPr marL="342900" indent="-342900" algn="just" eaLnBrk="1" hangingPunct="1">
              <a:lnSpc>
                <a:spcPct val="90000"/>
              </a:lnSpc>
              <a:defRPr/>
            </a:pPr>
            <a:r>
              <a:rPr lang="zh-CN" altLang="en-US" sz="24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有效地址是一个</a:t>
            </a:r>
            <a:r>
              <a:rPr lang="zh-CN" altLang="en-US" sz="2400" b="1" noProof="1">
                <a:solidFill>
                  <a:srgbClr val="CC0000"/>
                </a:solidFill>
                <a:highlight>
                  <a:srgbClr val="FFFF00"/>
                </a:highlight>
                <a:latin typeface="Times New Roman" panose="02020603050405020304" pitchFamily="18" charset="0"/>
                <a:sym typeface="Times New Roman" panose="02020603050405020304" pitchFamily="18" charset="0"/>
              </a:rPr>
              <a:t>基址寄存器</a:t>
            </a:r>
            <a:r>
              <a:rPr lang="en-US" altLang="x-none" sz="2400" b="1" noProof="1">
                <a:solidFill>
                  <a:srgbClr val="CC0000"/>
                </a:solidFill>
                <a:highlight>
                  <a:srgbClr val="FFFF00"/>
                </a:highlight>
                <a:latin typeface="Times New Roman" panose="02020603050405020304" pitchFamily="18" charset="0"/>
                <a:sym typeface="Times New Roman" panose="02020603050405020304" pitchFamily="18" charset="0"/>
              </a:rPr>
              <a:t>(BX</a:t>
            </a:r>
            <a:r>
              <a:rPr lang="zh-CN" altLang="en-US" sz="2400" b="1" noProof="1">
                <a:solidFill>
                  <a:srgbClr val="CC0000"/>
                </a:solidFill>
                <a:highlight>
                  <a:srgbClr val="FFFF00"/>
                </a:highlight>
                <a:latin typeface="Times New Roman" panose="02020603050405020304" pitchFamily="18" charset="0"/>
                <a:sym typeface="Times New Roman" panose="02020603050405020304" pitchFamily="18" charset="0"/>
              </a:rPr>
              <a:t>或</a:t>
            </a:r>
            <a:r>
              <a:rPr lang="en-US" altLang="x-none" sz="2400" b="1" noProof="1">
                <a:solidFill>
                  <a:srgbClr val="CC0000"/>
                </a:solidFill>
                <a:highlight>
                  <a:srgbClr val="FFFF00"/>
                </a:highlight>
                <a:latin typeface="Times New Roman" panose="02020603050405020304" pitchFamily="18" charset="0"/>
                <a:sym typeface="Times New Roman" panose="02020603050405020304" pitchFamily="18" charset="0"/>
              </a:rPr>
              <a:t>BP)</a:t>
            </a:r>
            <a:r>
              <a:rPr lang="zh-CN" altLang="en-US" sz="24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和一个</a:t>
            </a:r>
            <a:r>
              <a:rPr lang="zh-CN" altLang="en-US" sz="2400" b="1" noProof="1">
                <a:solidFill>
                  <a:srgbClr val="CC0000"/>
                </a:solidFill>
                <a:highlight>
                  <a:srgbClr val="FFFF00"/>
                </a:highlight>
                <a:latin typeface="Times New Roman" panose="02020603050405020304" pitchFamily="18" charset="0"/>
                <a:sym typeface="Times New Roman" panose="02020603050405020304" pitchFamily="18" charset="0"/>
              </a:rPr>
              <a:t>变址寄存器</a:t>
            </a:r>
            <a:r>
              <a:rPr lang="en-US" altLang="x-none" sz="2400" b="1" noProof="1">
                <a:solidFill>
                  <a:srgbClr val="CC0000"/>
                </a:solidFill>
                <a:highlight>
                  <a:srgbClr val="FFFF00"/>
                </a:highlight>
                <a:latin typeface="Times New Roman" panose="02020603050405020304" pitchFamily="18" charset="0"/>
                <a:sym typeface="Times New Roman" panose="02020603050405020304" pitchFamily="18" charset="0"/>
              </a:rPr>
              <a:t>(SI</a:t>
            </a:r>
            <a:r>
              <a:rPr lang="zh-CN" altLang="en-US" sz="2400" b="1" noProof="1">
                <a:solidFill>
                  <a:srgbClr val="CC0000"/>
                </a:solidFill>
                <a:highlight>
                  <a:srgbClr val="FFFF00"/>
                </a:highlight>
                <a:latin typeface="Times New Roman" panose="02020603050405020304" pitchFamily="18" charset="0"/>
                <a:sym typeface="Times New Roman" panose="02020603050405020304" pitchFamily="18" charset="0"/>
              </a:rPr>
              <a:t>或</a:t>
            </a:r>
            <a:r>
              <a:rPr lang="en-US" altLang="x-none" sz="2400" b="1" noProof="1">
                <a:solidFill>
                  <a:srgbClr val="CC0000"/>
                </a:solidFill>
                <a:highlight>
                  <a:srgbClr val="FFFF00"/>
                </a:highlight>
                <a:latin typeface="Times New Roman" panose="02020603050405020304" pitchFamily="18" charset="0"/>
                <a:sym typeface="Times New Roman" panose="02020603050405020304" pitchFamily="18" charset="0"/>
              </a:rPr>
              <a:t>DI)</a:t>
            </a:r>
            <a:r>
              <a:rPr lang="zh-CN" altLang="en-US" sz="24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的内容之和，两个寄存器均由指令指定。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ts val="1800"/>
              </a:spcBef>
              <a:defRPr/>
            </a:pP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若基址寄存器为</a:t>
            </a:r>
            <a:r>
              <a:rPr lang="en-US" altLang="x-none" sz="2800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BX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时，段址</a:t>
            </a:r>
            <a:r>
              <a:rPr lang="zh-CN" altLang="en-US" sz="2800" noProof="1">
                <a:solidFill>
                  <a:srgbClr val="FF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寄存器用</a:t>
            </a:r>
            <a:r>
              <a:rPr lang="en-US" altLang="x-none" sz="2800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DS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，则：</a:t>
            </a:r>
          </a:p>
          <a:p>
            <a:pPr marL="342900" indent="-342900" algn="l" eaLnBrk="1" hangingPunct="1">
              <a:lnSpc>
                <a:spcPct val="90000"/>
              </a:lnSpc>
              <a:defRPr/>
            </a:pP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	</a:t>
            </a: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物理地址 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= 16×DS+BX+SI</a:t>
            </a:r>
            <a:endParaRPr lang="en-US" altLang="x-none" sz="2400" noProof="1">
              <a:solidFill>
                <a:srgbClr val="0033CC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lnSpc>
                <a:spcPct val="90000"/>
              </a:lnSpc>
              <a:defRPr/>
            </a:pP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		        </a:t>
            </a: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或 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= 16×DS+BX+DI</a:t>
            </a:r>
            <a:endParaRPr lang="en-US" altLang="x-none" sz="2400" noProof="1">
              <a:solidFill>
                <a:srgbClr val="0033CC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lnSpc>
                <a:spcPct val="90000"/>
              </a:lnSpc>
              <a:spcBef>
                <a:spcPts val="1800"/>
              </a:spcBef>
              <a:defRPr/>
            </a:pP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 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若基址寄存器为</a:t>
            </a:r>
            <a:r>
              <a:rPr lang="en-US" altLang="x-none" sz="2800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BP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时，段址</a:t>
            </a:r>
            <a:r>
              <a:rPr lang="zh-CN" altLang="en-US" sz="2800" noProof="1">
                <a:solidFill>
                  <a:srgbClr val="FF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寄存器应使用</a:t>
            </a:r>
            <a:r>
              <a:rPr lang="en-US" altLang="x-none" sz="2800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SS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，则：</a:t>
            </a:r>
          </a:p>
          <a:p>
            <a:pPr marL="342900" indent="-342900" algn="l" eaLnBrk="1" hangingPunct="1">
              <a:lnSpc>
                <a:spcPct val="90000"/>
              </a:lnSpc>
              <a:defRPr/>
            </a:pP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	 </a:t>
            </a: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物理地址 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= 16×SS+BP+SI</a:t>
            </a:r>
            <a:endParaRPr lang="en-US" altLang="x-none" sz="2400" noProof="1">
              <a:solidFill>
                <a:srgbClr val="0033CC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lnSpc>
                <a:spcPct val="90000"/>
              </a:lnSpc>
              <a:defRPr/>
            </a:pP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		         </a:t>
            </a: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或 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= 16×SS+BP+DI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6849DCE-12E6-4E40-B29C-77A926864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194" y="5815113"/>
            <a:ext cx="703750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buClr>
                <a:srgbClr val="B4B9BE"/>
              </a:buClr>
              <a:defRPr/>
            </a:pPr>
            <a:r>
              <a:rPr lang="zh-CN" altLang="en-US" sz="2800" b="1" dirty="0">
                <a:solidFill>
                  <a:srgbClr val="CC0000"/>
                </a:solidFill>
                <a:highlight>
                  <a:srgbClr val="FFFF00"/>
                </a:highlight>
                <a:sym typeface="Times New Roman" panose="02020603050405020304" pitchFamily="18" charset="0"/>
              </a:rPr>
              <a:t>特别注意：只能是基址之一匹配变址之一，</a:t>
            </a:r>
            <a:endParaRPr lang="en-US" altLang="zh-CN" sz="2800" b="1" dirty="0">
              <a:solidFill>
                <a:srgbClr val="CC0000"/>
              </a:solidFill>
              <a:highlight>
                <a:srgbClr val="FFFF00"/>
              </a:highlight>
              <a:sym typeface="Times New Roman" panose="02020603050405020304" pitchFamily="18" charset="0"/>
            </a:endParaRPr>
          </a:p>
          <a:p>
            <a:pPr eaLnBrk="1" hangingPunct="1">
              <a:buClr>
                <a:srgbClr val="B4B9BE"/>
              </a:buClr>
              <a:defRPr/>
            </a:pPr>
            <a:r>
              <a:rPr lang="en-US" altLang="zh-CN" sz="2800" b="1" dirty="0">
                <a:solidFill>
                  <a:srgbClr val="CC0000"/>
                </a:solidFill>
                <a:highlight>
                  <a:srgbClr val="FFFF00"/>
                </a:highlight>
                <a:sym typeface="Times New Roman" panose="02020603050405020304" pitchFamily="18" charset="0"/>
              </a:rPr>
              <a:t>                    </a:t>
            </a:r>
            <a:r>
              <a:rPr lang="zh-CN" altLang="en-US" sz="2800" b="1" dirty="0">
                <a:solidFill>
                  <a:srgbClr val="CC0000"/>
                </a:solidFill>
                <a:highlight>
                  <a:srgbClr val="FFFF00"/>
                </a:highlight>
                <a:sym typeface="Times New Roman" panose="02020603050405020304" pitchFamily="18" charset="0"/>
              </a:rPr>
              <a:t>绝不是</a:t>
            </a:r>
            <a:r>
              <a:rPr lang="en-US" altLang="zh-CN" sz="2800" b="1" dirty="0">
                <a:solidFill>
                  <a:srgbClr val="CC0000"/>
                </a:solidFill>
                <a:highlight>
                  <a:srgbClr val="FFFF00"/>
                </a:highlight>
                <a:sym typeface="Times New Roman" panose="02020603050405020304" pitchFamily="18" charset="0"/>
              </a:rPr>
              <a:t>4</a:t>
            </a:r>
            <a:r>
              <a:rPr lang="zh-CN" altLang="en-US" sz="2800" b="1" dirty="0">
                <a:solidFill>
                  <a:srgbClr val="CC0000"/>
                </a:solidFill>
                <a:highlight>
                  <a:srgbClr val="FFFF00"/>
                </a:highlight>
                <a:sym typeface="Times New Roman" panose="02020603050405020304" pitchFamily="18" charset="0"/>
              </a:rPr>
              <a:t>个寄存器随便搭配！</a:t>
            </a:r>
          </a:p>
        </p:txBody>
      </p:sp>
    </p:spTree>
  </p:cSld>
  <p:clrMapOvr>
    <a:masterClrMapping/>
  </p:clrMapOvr>
  <p:transition spd="slow">
    <p:cover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内容占位符 2">
            <a:extLst>
              <a:ext uri="{FF2B5EF4-FFF2-40B4-BE49-F238E27FC236}">
                <a16:creationId xmlns:a16="http://schemas.microsoft.com/office/drawing/2014/main" id="{EEA612BD-07C5-43EF-B7A6-413B73DBEF7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406400"/>
            <a:ext cx="8372475" cy="2489200"/>
          </a:xfrm>
          <a:extLst/>
        </p:spPr>
        <p:txBody>
          <a:bodyPr/>
          <a:lstStyle/>
          <a:p>
            <a:pPr marL="342900" indent="-342900" algn="l" eaLnBrk="1" hangingPunct="1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3.13 </a:t>
            </a:r>
            <a:r>
              <a:rPr lang="en-US" altLang="zh-CN" sz="2800" dirty="0">
                <a:solidFill>
                  <a:srgbClr val="23FFF8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</a:t>
            </a:r>
            <a:r>
              <a:rPr lang="en-US" altLang="zh-CN" sz="2800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MOV    AX</a:t>
            </a:r>
            <a:r>
              <a:rPr lang="zh-CN" altLang="en-US" sz="2800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，［</a:t>
            </a:r>
            <a:r>
              <a:rPr lang="en-US" altLang="zh-CN" sz="2800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BX</a:t>
            </a:r>
            <a:r>
              <a:rPr lang="zh-CN" altLang="en-US" sz="2800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］［</a:t>
            </a:r>
            <a:r>
              <a:rPr lang="en-US" altLang="zh-CN" sz="2800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SI</a:t>
            </a:r>
            <a:r>
              <a:rPr lang="zh-CN" altLang="en-US" sz="2800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］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设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DS=3000H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BX=1200H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SI=0500H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 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	   (31700H)=ABCDH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，则：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</a:t>
            </a:r>
            <a:r>
              <a: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物理地址 </a:t>
            </a: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= 16×DS+BX+SI</a:t>
            </a:r>
            <a:endParaRPr lang="en-US" altLang="zh-CN" sz="2400" dirty="0">
              <a:solidFill>
                <a:srgbClr val="CC0000"/>
              </a:solidFill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		          = 30000H+1200H+0500H = 31700H</a:t>
            </a:r>
            <a:endParaRPr lang="en-US" altLang="zh-CN" sz="2400" dirty="0"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执行结果：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AX=ABCDH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，指令执行过程如图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3.5</a:t>
            </a:r>
          </a:p>
        </p:txBody>
      </p:sp>
      <p:pic>
        <p:nvPicPr>
          <p:cNvPr id="34819" name="图片 3" descr="LF3-5.png">
            <a:extLst>
              <a:ext uri="{FF2B5EF4-FFF2-40B4-BE49-F238E27FC236}">
                <a16:creationId xmlns:a16="http://schemas.microsoft.com/office/drawing/2014/main" id="{E7D23249-9E59-444F-AD7D-A4642F404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50" y="2895600"/>
            <a:ext cx="6645275" cy="37338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标题 1">
            <a:extLst>
              <a:ext uri="{FF2B5EF4-FFF2-40B4-BE49-F238E27FC236}">
                <a16:creationId xmlns:a16="http://schemas.microsoft.com/office/drawing/2014/main" id="{370B5F4C-BB84-4E52-B6C5-D7471DDD7A3C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0" y="495300"/>
            <a:ext cx="8534400" cy="1466850"/>
          </a:xfrm>
        </p:spPr>
        <p:txBody>
          <a:bodyPr anchor="ctr"/>
          <a:lstStyle/>
          <a:p>
            <a:pPr eaLnBrk="1" hangingPunct="1"/>
            <a:r>
              <a:rPr lang="en-US" altLang="zh-CN" sz="5400">
                <a:solidFill>
                  <a:schemeClr val="accent2"/>
                </a:solidFill>
                <a:sym typeface="Times New Roman" panose="02020603050405020304" pitchFamily="18" charset="0"/>
              </a:rPr>
              <a:t>§3</a:t>
            </a:r>
            <a:r>
              <a:rPr lang="en-US" altLang="zh-CN" sz="5400">
                <a:solidFill>
                  <a:schemeClr val="accent2"/>
                </a:solidFill>
              </a:rPr>
              <a:t>.1 8086</a:t>
            </a:r>
            <a:r>
              <a:rPr lang="zh-CN" altLang="en-US" sz="5400">
                <a:solidFill>
                  <a:schemeClr val="accent2"/>
                </a:solidFill>
              </a:rPr>
              <a:t>的寻址方式</a:t>
            </a:r>
            <a:endParaRPr lang="zh-CN" altLang="en-US" sz="4400">
              <a:solidFill>
                <a:schemeClr val="accent2"/>
              </a:solidFill>
            </a:endParaRPr>
          </a:p>
        </p:txBody>
      </p:sp>
      <p:sp>
        <p:nvSpPr>
          <p:cNvPr id="81923" name="矩形 4">
            <a:extLst>
              <a:ext uri="{FF2B5EF4-FFF2-40B4-BE49-F238E27FC236}">
                <a16:creationId xmlns:a16="http://schemas.microsoft.com/office/drawing/2014/main" id="{4A40E081-0563-4F5D-989D-EA8DD4B01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400" y="1919288"/>
            <a:ext cx="591185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3.1.1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立即寻址方式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3.1.2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3.1.3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直接寻址方式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3.1.4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寄存器间接寻址方式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3.1.5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寄存器相对寻址方式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3.1.6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基址变址寻址方式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3.1.7  </a:t>
            </a:r>
            <a:r>
              <a:rPr lang="zh-CN" altLang="en-US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相对基址变址寻址方式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3.1.8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其它寻址方式</a:t>
            </a:r>
            <a:endParaRPr lang="en-US" altLang="zh-CN" sz="240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edg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标题 1">
            <a:extLst>
              <a:ext uri="{FF2B5EF4-FFF2-40B4-BE49-F238E27FC236}">
                <a16:creationId xmlns:a16="http://schemas.microsoft.com/office/drawing/2014/main" id="{19EB341D-8BB9-4EC5-AD03-3E76999C188A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1149350"/>
          </a:xfrm>
        </p:spPr>
        <p:txBody>
          <a:bodyPr anchor="ctr"/>
          <a:lstStyle/>
          <a:p>
            <a:pPr algn="l" eaLnBrk="1" hangingPunct="1"/>
            <a:r>
              <a:rPr lang="en-US" altLang="zh-CN" sz="36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3.1.7 </a:t>
            </a:r>
            <a:r>
              <a:rPr lang="zh-CN" altLang="en-US" sz="36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相对基址变址寻址方式</a:t>
            </a:r>
            <a:br>
              <a:rPr lang="zh-CN" altLang="en-US" sz="4400" b="1">
                <a:solidFill>
                  <a:schemeClr val="accent2"/>
                </a:solidFill>
              </a:rPr>
            </a:br>
            <a:r>
              <a:rPr lang="en-US" altLang="zh-CN" sz="2800" b="1">
                <a:solidFill>
                  <a:schemeClr val="accent2"/>
                </a:solidFill>
              </a:rPr>
              <a:t>Relative Based Indexed Addressing</a:t>
            </a:r>
            <a:endParaRPr lang="zh-CN" altLang="en-US" sz="4400" b="1">
              <a:solidFill>
                <a:schemeClr val="accent2"/>
              </a:solidFill>
            </a:endParaRPr>
          </a:p>
        </p:txBody>
      </p:sp>
      <p:sp>
        <p:nvSpPr>
          <p:cNvPr id="36867" name="内容占位符 2">
            <a:extLst>
              <a:ext uri="{FF2B5EF4-FFF2-40B4-BE49-F238E27FC236}">
                <a16:creationId xmlns:a16="http://schemas.microsoft.com/office/drawing/2014/main" id="{5E90BC04-EFB4-46E1-996B-241D8089931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27050" y="1739900"/>
            <a:ext cx="8186738" cy="4445000"/>
          </a:xfrm>
        </p:spPr>
        <p:txBody>
          <a:bodyPr/>
          <a:lstStyle/>
          <a:p>
            <a:pPr marL="342900" indent="-342900" algn="l" eaLnBrk="1" hangingPunct="1"/>
            <a:r>
              <a:rPr lang="zh-CN" altLang="en-US" sz="2400">
                <a:latin typeface="Times New Roman" panose="02020603050405020304" pitchFamily="18" charset="0"/>
                <a:sym typeface="Times New Roman" panose="02020603050405020304" pitchFamily="18" charset="0"/>
              </a:rPr>
              <a:t>有效地址是基址和变址寄存器的内容，再加上</a:t>
            </a:r>
            <a:r>
              <a:rPr lang="en-US" altLang="zh-CN" sz="2400">
                <a:latin typeface="Times New Roman" panose="02020603050405020304" pitchFamily="18" charset="0"/>
                <a:sym typeface="Times New Roman" panose="02020603050405020304" pitchFamily="18" charset="0"/>
              </a:rPr>
              <a:t>8/16</a:t>
            </a:r>
            <a:r>
              <a:rPr lang="zh-CN" altLang="en-US" sz="2400">
                <a:latin typeface="Times New Roman" panose="02020603050405020304" pitchFamily="18" charset="0"/>
                <a:sym typeface="Times New Roman" panose="02020603050405020304" pitchFamily="18" charset="0"/>
              </a:rPr>
              <a:t>位位移量之和。</a:t>
            </a:r>
          </a:p>
          <a:p>
            <a:pPr marL="342900" indent="-342900" algn="l" eaLnBrk="1" hangingPunct="1">
              <a:spcBef>
                <a:spcPts val="1800"/>
              </a:spcBef>
              <a:buFont typeface="Wingdings" panose="05000000000000000000" pitchFamily="2" charset="2"/>
              <a:buChar char="l"/>
            </a:pP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当基址寄存器为</a:t>
            </a:r>
            <a:r>
              <a:rPr lang="en-US" altLang="zh-CN" sz="2800" b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BX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时，用</a:t>
            </a:r>
            <a:r>
              <a:rPr lang="en-US" altLang="zh-CN" sz="2800" b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DS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作段寄存器，则：</a:t>
            </a:r>
          </a:p>
          <a:p>
            <a:pPr marL="342900" indent="-342900" algn="l" eaLnBrk="1" hangingPunct="1"/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	</a:t>
            </a:r>
            <a:r>
              <a:rPr lang="zh-CN" altLang="en-US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物理地址 </a:t>
            </a:r>
            <a:r>
              <a:rPr lang="en-US" altLang="zh-CN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= 16×DS+BX+SI+8</a:t>
            </a:r>
            <a:r>
              <a:rPr lang="zh-CN" altLang="en-US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位或</a:t>
            </a:r>
            <a:r>
              <a:rPr lang="en-US" altLang="zh-CN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16</a:t>
            </a:r>
            <a:r>
              <a:rPr lang="zh-CN" altLang="en-US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位位移量</a:t>
            </a:r>
          </a:p>
          <a:p>
            <a:pPr marL="342900" indent="-342900" algn="l" eaLnBrk="1" hangingPunct="1"/>
            <a:r>
              <a:rPr lang="en-US" altLang="zh-CN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               </a:t>
            </a:r>
            <a:r>
              <a:rPr lang="zh-CN" altLang="en-US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或 </a:t>
            </a:r>
            <a:r>
              <a:rPr lang="en-US" altLang="zh-CN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= 16×DS+BX+DI+8</a:t>
            </a:r>
            <a:r>
              <a:rPr lang="zh-CN" altLang="en-US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位或</a:t>
            </a:r>
            <a:r>
              <a:rPr lang="en-US" altLang="zh-CN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16</a:t>
            </a:r>
            <a:r>
              <a:rPr lang="zh-CN" altLang="en-US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位位移量</a:t>
            </a:r>
          </a:p>
          <a:p>
            <a:pPr marL="342900" indent="-342900" algn="l" eaLnBrk="1" hangingPunct="1">
              <a:buFont typeface="Wingdings" panose="05000000000000000000" pitchFamily="2" charset="2"/>
              <a:buChar char="l"/>
            </a:pP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当基址寄存器为</a:t>
            </a:r>
            <a:r>
              <a:rPr lang="en-US" altLang="zh-CN" sz="2800" b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BP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时，应使用</a:t>
            </a:r>
            <a:r>
              <a:rPr lang="en-US" altLang="zh-CN" sz="2800" b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SS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作段寄存器，则：</a:t>
            </a:r>
          </a:p>
          <a:p>
            <a:pPr marL="342900" indent="-342900" algn="l" eaLnBrk="1" hangingPunct="1"/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	</a:t>
            </a:r>
            <a:r>
              <a:rPr lang="zh-CN" altLang="en-US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物理地址 </a:t>
            </a:r>
            <a:r>
              <a:rPr lang="en-US" altLang="zh-CN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= 16×SS+BP+SI+8</a:t>
            </a:r>
            <a:r>
              <a:rPr lang="zh-CN" altLang="en-US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位或</a:t>
            </a:r>
            <a:r>
              <a:rPr lang="en-US" altLang="zh-CN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16</a:t>
            </a:r>
            <a:r>
              <a:rPr lang="zh-CN" altLang="en-US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位位移量</a:t>
            </a:r>
          </a:p>
          <a:p>
            <a:pPr marL="342900" indent="-342900" algn="l" eaLnBrk="1" hangingPunct="1"/>
            <a:r>
              <a:rPr lang="en-US" altLang="zh-CN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               </a:t>
            </a:r>
            <a:r>
              <a:rPr lang="zh-CN" altLang="en-US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或 </a:t>
            </a:r>
            <a:r>
              <a:rPr lang="en-US" altLang="zh-CN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= 16×SS+BP+DI+8</a:t>
            </a:r>
            <a:r>
              <a:rPr lang="zh-CN" altLang="en-US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位或</a:t>
            </a:r>
            <a:r>
              <a:rPr lang="en-US" altLang="zh-CN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16</a:t>
            </a:r>
            <a:r>
              <a:rPr lang="zh-CN" altLang="en-US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位位移量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内容占位符 2">
            <a:extLst>
              <a:ext uri="{FF2B5EF4-FFF2-40B4-BE49-F238E27FC236}">
                <a16:creationId xmlns:a16="http://schemas.microsoft.com/office/drawing/2014/main" id="{AE6B729F-62F9-4C76-9BE4-336C02A75EC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60350" y="361950"/>
            <a:ext cx="8372475" cy="2489200"/>
          </a:xfrm>
        </p:spPr>
        <p:txBody>
          <a:bodyPr/>
          <a:lstStyle/>
          <a:p>
            <a:pPr marL="342900" indent="-342900" algn="l"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例</a:t>
            </a:r>
            <a:r>
              <a:rPr lang="en-US" altLang="zh-CN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3.14 </a:t>
            </a:r>
            <a:r>
              <a:rPr lang="en-US" altLang="zh-CN" sz="2800">
                <a:solidFill>
                  <a:srgbClr val="23FFF8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MOV  AX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MASK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［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BX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］［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SI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］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设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DS=2000H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BX=1500H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SI=0300H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MASK=0200H,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(21A00H)=26BFH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，则：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</a:t>
            </a:r>
            <a:r>
              <a:rPr lang="zh-CN" altLang="en-US" sz="280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物理地址</a:t>
            </a:r>
            <a:r>
              <a:rPr lang="en-US" altLang="zh-CN" sz="280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=16×DS+BX+SI+MASK</a:t>
            </a:r>
            <a:endParaRPr lang="en-US" altLang="zh-CN" sz="2400">
              <a:solidFill>
                <a:srgbClr val="CC0000"/>
              </a:solidFill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80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      =20000H+1500H+0300H+0200H=21A00H</a:t>
            </a:r>
            <a:endParaRPr lang="en-US" altLang="zh-CN" sz="2400">
              <a:solidFill>
                <a:srgbClr val="CC0000"/>
              </a:solidFill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执行结果：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AX=26BFH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，指令执行过程如图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3.6 </a:t>
            </a:r>
          </a:p>
          <a:p>
            <a:pPr marL="342900" indent="-342900" algn="l" eaLnBrk="1" hangingPunct="1">
              <a:lnSpc>
                <a:spcPct val="90000"/>
              </a:lnSpc>
            </a:pPr>
            <a:endParaRPr lang="zh-CN" altLang="en-US" sz="3200"/>
          </a:p>
        </p:txBody>
      </p:sp>
      <p:pic>
        <p:nvPicPr>
          <p:cNvPr id="37891" name="图片 3" descr="LF3-6.png">
            <a:extLst>
              <a:ext uri="{FF2B5EF4-FFF2-40B4-BE49-F238E27FC236}">
                <a16:creationId xmlns:a16="http://schemas.microsoft.com/office/drawing/2014/main" id="{D2622D82-D3CF-4EBC-BFC6-88E6AB56D3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50" y="2938463"/>
            <a:ext cx="6723063" cy="38227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7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标题 1">
            <a:extLst>
              <a:ext uri="{FF2B5EF4-FFF2-40B4-BE49-F238E27FC236}">
                <a16:creationId xmlns:a16="http://schemas.microsoft.com/office/drawing/2014/main" id="{0255E7E7-B2F7-4C32-9D99-5301E7FDD538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273050"/>
            <a:ext cx="8229600" cy="674688"/>
          </a:xfrm>
        </p:spPr>
        <p:txBody>
          <a:bodyPr anchor="ctr"/>
          <a:lstStyle/>
          <a:p>
            <a:pPr marL="571500" indent="-571500" algn="l" eaLnBrk="1" hangingPunct="1">
              <a:buFont typeface="Wingdings" panose="05000000000000000000" pitchFamily="2" charset="2"/>
              <a:buChar char="u"/>
            </a:pPr>
            <a:r>
              <a:rPr lang="zh-CN" altLang="zh-CN" sz="44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关于</a:t>
            </a:r>
            <a:r>
              <a:rPr lang="en-US" altLang="zh-CN" sz="44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[]</a:t>
            </a:r>
            <a:r>
              <a:rPr lang="zh-CN" altLang="en-US" sz="44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号的小结</a:t>
            </a:r>
          </a:p>
        </p:txBody>
      </p:sp>
      <p:sp>
        <p:nvSpPr>
          <p:cNvPr id="38915" name="内容占位符 2">
            <a:extLst>
              <a:ext uri="{FF2B5EF4-FFF2-40B4-BE49-F238E27FC236}">
                <a16:creationId xmlns:a16="http://schemas.microsoft.com/office/drawing/2014/main" id="{C77EF4E2-F499-4A44-8632-C6F132604A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58" y="1042984"/>
            <a:ext cx="8372479" cy="5600700"/>
          </a:xfrm>
          <a:extLst/>
        </p:spPr>
        <p:txBody>
          <a:bodyPr/>
          <a:lstStyle/>
          <a:p>
            <a:pPr marL="342900" indent="-342900" algn="l" eaLnBrk="1" hangingPunct="1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涉及操作数的地址时，常使用方括号，</a:t>
            </a:r>
            <a:r>
              <a:rPr lang="zh-CN" altLang="en-US" sz="2800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带[</a:t>
            </a:r>
            <a:r>
              <a:rPr lang="en-US" altLang="x-none" sz="2800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 ]</a:t>
            </a:r>
            <a:r>
              <a:rPr lang="zh-CN" altLang="en-US" sz="2800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的地址必须遵循下列规则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：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ts val="600"/>
              </a:spcBef>
              <a:defRPr/>
            </a:pP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(1) </a:t>
            </a: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立即数和符号地址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可以出现在方括号内，表示直接地址，例如［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2000H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］，</a:t>
            </a:r>
            <a:r>
              <a:rPr lang="en-US" altLang="zh-CN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[AREA1]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。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ts val="600"/>
              </a:spcBef>
              <a:defRPr/>
            </a:pP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(2) 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寄存器中，只有</a:t>
            </a:r>
            <a:r>
              <a:rPr lang="en-US" altLang="x-none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BX</a:t>
            </a:r>
            <a:r>
              <a:rPr lang="zh-CN" altLang="en-US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x-none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BP</a:t>
            </a:r>
            <a:r>
              <a:rPr lang="zh-CN" altLang="en-US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x-none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SI</a:t>
            </a:r>
            <a:r>
              <a:rPr lang="zh-CN" altLang="en-US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x-none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DI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可以出现在［］内，既可单独出现，也可几个寄存器组合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(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只能相加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)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，或寄存器与常数相加，但</a:t>
            </a:r>
            <a:r>
              <a:rPr lang="en-US" altLang="x-none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BX</a:t>
            </a:r>
            <a:r>
              <a:rPr lang="zh-CN" altLang="en-US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和</a:t>
            </a:r>
            <a:r>
              <a:rPr lang="en-US" altLang="x-none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BP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不允许出现在同个［］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内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，</a:t>
            </a:r>
            <a:r>
              <a:rPr lang="en-US" altLang="x-none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SI</a:t>
            </a:r>
            <a:r>
              <a:rPr lang="zh-CN" altLang="en-US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和</a:t>
            </a:r>
            <a:r>
              <a:rPr lang="en-US" altLang="x-none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DI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也不能同时出现。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ts val="600"/>
              </a:spcBef>
              <a:defRPr/>
            </a:pP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(3) </a:t>
            </a:r>
            <a:r>
              <a:rPr lang="zh-CN" altLang="en-US" sz="28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方括号有相加的含义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，故下面几种写法是等价的：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ts val="600"/>
              </a:spcBef>
              <a:defRPr/>
            </a:pP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      </a:t>
            </a:r>
            <a:r>
              <a:rPr lang="en-US" altLang="x-none" sz="2800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6</a:t>
            </a: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［B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X］</a:t>
            </a: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［S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I］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=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［</a:t>
            </a: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B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X+6］</a:t>
            </a: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［S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I］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=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［</a:t>
            </a: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B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X+SI+6］</a:t>
            </a:r>
            <a:endParaRPr lang="zh-CN" altLang="en-US" sz="2800" noProof="1">
              <a:solidFill>
                <a:srgbClr val="0033CC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lnSpc>
                <a:spcPct val="90000"/>
              </a:lnSpc>
              <a:spcBef>
                <a:spcPts val="600"/>
              </a:spcBef>
              <a:defRPr/>
            </a:pP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(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4) 若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[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 ]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内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包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含</a:t>
            </a:r>
            <a:r>
              <a:rPr lang="zh-CN" altLang="en-US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B</a:t>
            </a:r>
            <a:r>
              <a:rPr lang="en-US" altLang="x-none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P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，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则隐含使用</a:t>
            </a:r>
            <a:r>
              <a:rPr lang="zh-CN" altLang="en-US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S</a:t>
            </a:r>
            <a:r>
              <a:rPr lang="en-US" altLang="x-none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S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提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供基地址，它们的</a:t>
            </a:r>
            <a:r>
              <a:rPr lang="zh-CN" altLang="en-US" sz="2800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物理地址=</a:t>
            </a:r>
            <a:r>
              <a:rPr lang="en-US" altLang="x-none" sz="2800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16×SS+EA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ts val="600"/>
              </a:spcBef>
              <a:defRPr/>
            </a:pPr>
            <a:r>
              <a:rPr lang="zh-CN" altLang="en-US" sz="2800" noProof="1">
                <a:solidFill>
                  <a:srgbClr val="CC0000"/>
                </a:solidFill>
              </a:rPr>
              <a:t>    </a:t>
            </a:r>
            <a:r>
              <a:rPr lang="zh-CN" altLang="en-US" sz="2800" noProof="1">
                <a:solidFill>
                  <a:srgbClr val="0033CC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其他情况下，默认段都是</a:t>
            </a:r>
            <a:r>
              <a:rPr lang="en-US" altLang="zh-CN" sz="2800" noProof="1">
                <a:solidFill>
                  <a:srgbClr val="0033CC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DS</a:t>
            </a:r>
          </a:p>
        </p:txBody>
      </p:sp>
    </p:spTree>
  </p:cSld>
  <p:clrMapOvr>
    <a:masterClrMapping/>
  </p:clrMapOvr>
  <p:transition spd="slow">
    <p:cover dir="l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标题 1">
            <a:extLst>
              <a:ext uri="{FF2B5EF4-FFF2-40B4-BE49-F238E27FC236}">
                <a16:creationId xmlns:a16="http://schemas.microsoft.com/office/drawing/2014/main" id="{A7F3AEF0-408F-4AFC-959F-11ADF5DF0F3A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marL="571500" indent="-571500" algn="l" eaLnBrk="1" hangingPunct="1">
              <a:buFont typeface="Wingdings" panose="05000000000000000000" pitchFamily="2" charset="2"/>
              <a:buChar char="u"/>
            </a:pPr>
            <a:r>
              <a:rPr lang="zh-CN" altLang="zh-CN" sz="44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关于</a:t>
            </a:r>
            <a:r>
              <a:rPr lang="en-US" altLang="zh-CN" sz="44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[]</a:t>
            </a:r>
            <a:r>
              <a:rPr lang="zh-CN" altLang="en-US" sz="44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号的小结</a:t>
            </a:r>
          </a:p>
        </p:txBody>
      </p:sp>
      <p:sp>
        <p:nvSpPr>
          <p:cNvPr id="39939" name="内容占位符 2">
            <a:extLst>
              <a:ext uri="{FF2B5EF4-FFF2-40B4-BE49-F238E27FC236}">
                <a16:creationId xmlns:a16="http://schemas.microsoft.com/office/drawing/2014/main" id="{B5469E09-CC9C-4236-AF57-46F34A0C3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950" y="1117600"/>
            <a:ext cx="8223250" cy="5553074"/>
          </a:xfrm>
          <a:extLst/>
        </p:spPr>
        <p:txBody>
          <a:bodyPr/>
          <a:lstStyle/>
          <a:p>
            <a:pPr algn="l" eaLnBrk="1" hangingPunct="1">
              <a:lnSpc>
                <a:spcPct val="90000"/>
              </a:lnSpc>
              <a:defRPr/>
            </a:pPr>
            <a:r>
              <a:rPr lang="zh-CN" altLang="en-US" sz="2800" noProof="1">
                <a:latin typeface="Times New Roman" panose="02020603050405020304" pitchFamily="18" charset="0"/>
              </a:rPr>
              <a:t>包含</a:t>
            </a:r>
            <a:r>
              <a:rPr lang="en-US" altLang="x-none" sz="2800" noProof="1">
                <a:latin typeface="Times New Roman" panose="02020603050405020304" pitchFamily="18" charset="0"/>
              </a:rPr>
              <a:t>BP</a:t>
            </a:r>
            <a:r>
              <a:rPr lang="zh-CN" altLang="en-US" sz="2800" noProof="1">
                <a:latin typeface="Times New Roman" panose="02020603050405020304" pitchFamily="18" charset="0"/>
              </a:rPr>
              <a:t>的操作数有</a:t>
            </a:r>
            <a:r>
              <a:rPr lang="en-US" altLang="x-none" sz="2800" noProof="1">
                <a:latin typeface="Times New Roman" panose="02020603050405020304" pitchFamily="18" charset="0"/>
              </a:rPr>
              <a:t>3</a:t>
            </a:r>
            <a:r>
              <a:rPr lang="zh-CN" altLang="en-US" sz="2800" noProof="1">
                <a:latin typeface="Times New Roman" panose="02020603050405020304" pitchFamily="18" charset="0"/>
              </a:rPr>
              <a:t>种形式：</a:t>
            </a:r>
          </a:p>
          <a:p>
            <a:pPr algn="l" eaLnBrk="1" hangingPunct="1">
              <a:lnSpc>
                <a:spcPct val="90000"/>
              </a:lnSpc>
              <a:buFont typeface="Times New Roman" panose="02020603050405020304" pitchFamily="18" charset="0"/>
              <a:buNone/>
              <a:defRPr/>
            </a:pPr>
            <a:r>
              <a:rPr lang="en-US" altLang="x-none" sz="2800" noProof="1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DISP</a:t>
            </a: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［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BP+SI</a:t>
            </a: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］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	 </a:t>
            </a: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EA=BP+SI+DISP</a:t>
            </a:r>
          </a:p>
          <a:p>
            <a:pPr algn="l" eaLnBrk="1" hangingPunct="1">
              <a:lnSpc>
                <a:spcPct val="90000"/>
              </a:lnSpc>
              <a:buFont typeface="Times New Roman" panose="02020603050405020304" pitchFamily="18" charset="0"/>
              <a:buNone/>
              <a:defRPr/>
            </a:pP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	DISP</a:t>
            </a: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［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BP+DI</a:t>
            </a: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］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	 </a:t>
            </a: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EA=BP+DI+DISP</a:t>
            </a:r>
          </a:p>
          <a:p>
            <a:pPr algn="l" eaLnBrk="1" hangingPunct="1">
              <a:lnSpc>
                <a:spcPct val="90000"/>
              </a:lnSpc>
              <a:buFont typeface="Times New Roman" panose="02020603050405020304" pitchFamily="18" charset="0"/>
              <a:buNone/>
              <a:defRPr/>
            </a:pP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  	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DISP</a:t>
            </a: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［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BP</a:t>
            </a: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］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	 </a:t>
            </a: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EA=BP+DISP</a:t>
            </a:r>
          </a:p>
          <a:p>
            <a:pPr algn="l" eaLnBrk="1" hangingPunct="1">
              <a:lnSpc>
                <a:spcPct val="90000"/>
              </a:lnSpc>
              <a:defRPr/>
            </a:pP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</a:rPr>
              <a:t>其中，</a:t>
            </a:r>
            <a:r>
              <a:rPr lang="en-US" altLang="x-none" sz="2800" noProof="1">
                <a:latin typeface="Times New Roman" panose="02020603050405020304" pitchFamily="18" charset="0"/>
                <a:ea typeface="楷体_GB2312" pitchFamily="1" charset="-122"/>
              </a:rPr>
              <a:t>DISP</a:t>
            </a: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</a:rPr>
              <a:t>表示</a:t>
            </a:r>
            <a:r>
              <a:rPr lang="en-US" altLang="x-none" sz="2800" noProof="1">
                <a:latin typeface="Times New Roman" panose="02020603050405020304" pitchFamily="18" charset="0"/>
                <a:ea typeface="楷体_GB2312" pitchFamily="1" charset="-122"/>
              </a:rPr>
              <a:t>8</a:t>
            </a: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</a:rPr>
              <a:t>位或</a:t>
            </a:r>
            <a:r>
              <a:rPr lang="en-US" altLang="x-none" sz="2800" noProof="1">
                <a:latin typeface="Times New Roman" panose="02020603050405020304" pitchFamily="18" charset="0"/>
                <a:ea typeface="楷体_GB2312" pitchFamily="1" charset="-122"/>
              </a:rPr>
              <a:t>16</a:t>
            </a: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</a:rPr>
              <a:t>位位移量，也可以为</a:t>
            </a:r>
            <a:r>
              <a:rPr lang="en-US" altLang="x-none" sz="2800" noProof="1">
                <a:latin typeface="Times New Roman" panose="02020603050405020304" pitchFamily="18" charset="0"/>
                <a:ea typeface="楷体_GB2312" pitchFamily="1" charset="-122"/>
              </a:rPr>
              <a:t>0</a:t>
            </a: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</a:rPr>
              <a:t>。</a:t>
            </a:r>
          </a:p>
          <a:p>
            <a:pPr algn="l" eaLnBrk="1" hangingPunct="1">
              <a:lnSpc>
                <a:spcPct val="90000"/>
              </a:lnSpc>
              <a:spcBef>
                <a:spcPts val="2400"/>
              </a:spcBef>
              <a:defRPr/>
            </a:pPr>
            <a:r>
              <a:rPr lang="zh-CN" altLang="en-US" sz="2800" noProof="1">
                <a:latin typeface="Times New Roman" panose="02020603050405020304" pitchFamily="18" charset="0"/>
              </a:rPr>
              <a:t>这种情况下，也允许用</a:t>
            </a:r>
            <a:r>
              <a:rPr lang="zh-CN" altLang="en-US" sz="28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</a:rPr>
              <a:t>段超越前缀</a:t>
            </a:r>
            <a:r>
              <a:rPr lang="zh-CN" altLang="en-US" sz="2800" noProof="1">
                <a:latin typeface="Times New Roman" panose="02020603050405020304" pitchFamily="18" charset="0"/>
              </a:rPr>
              <a:t>将</a:t>
            </a:r>
            <a:r>
              <a:rPr lang="en-US" altLang="x-none" sz="2800" noProof="1">
                <a:latin typeface="Times New Roman" panose="02020603050405020304" pitchFamily="18" charset="0"/>
              </a:rPr>
              <a:t>SS</a:t>
            </a:r>
            <a:r>
              <a:rPr lang="zh-CN" altLang="en-US" sz="2800" noProof="1">
                <a:latin typeface="Times New Roman" panose="02020603050405020304" pitchFamily="18" charset="0"/>
              </a:rPr>
              <a:t>修改为</a:t>
            </a:r>
            <a:r>
              <a:rPr lang="en-US" altLang="x-none" sz="2800" noProof="1">
                <a:latin typeface="Times New Roman" panose="02020603050405020304" pitchFamily="18" charset="0"/>
              </a:rPr>
              <a:t>CS</a:t>
            </a:r>
            <a:r>
              <a:rPr lang="zh-CN" altLang="en-US" sz="2800" noProof="1">
                <a:latin typeface="Times New Roman" panose="02020603050405020304" pitchFamily="18" charset="0"/>
              </a:rPr>
              <a:t>、</a:t>
            </a:r>
            <a:r>
              <a:rPr lang="en-US" altLang="x-none" sz="2800" noProof="1">
                <a:latin typeface="Times New Roman" panose="02020603050405020304" pitchFamily="18" charset="0"/>
              </a:rPr>
              <a:t>DS</a:t>
            </a:r>
            <a:r>
              <a:rPr lang="zh-CN" altLang="en-US" sz="2800" noProof="1">
                <a:latin typeface="Times New Roman" panose="02020603050405020304" pitchFamily="18" charset="0"/>
              </a:rPr>
              <a:t>或</a:t>
            </a:r>
            <a:r>
              <a:rPr lang="en-US" altLang="x-none" sz="2800" noProof="1">
                <a:latin typeface="Times New Roman" panose="02020603050405020304" pitchFamily="18" charset="0"/>
              </a:rPr>
              <a:t>ES</a:t>
            </a:r>
            <a:r>
              <a:rPr lang="zh-CN" altLang="en-US" sz="2800" noProof="1">
                <a:latin typeface="Times New Roman" panose="02020603050405020304" pitchFamily="18" charset="0"/>
              </a:rPr>
              <a:t>中的一个。</a:t>
            </a:r>
          </a:p>
          <a:p>
            <a:pPr algn="l" eaLnBrk="1" hangingPunct="1">
              <a:lnSpc>
                <a:spcPct val="90000"/>
              </a:lnSpc>
              <a:defRPr/>
            </a:pPr>
            <a:endParaRPr lang="en-US" altLang="x-none" sz="2800" noProof="1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 dir="r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标题 1">
            <a:extLst>
              <a:ext uri="{FF2B5EF4-FFF2-40B4-BE49-F238E27FC236}">
                <a16:creationId xmlns:a16="http://schemas.microsoft.com/office/drawing/2014/main" id="{FA8BB562-CBCA-4FF4-8BF5-47DA32C6BAFA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0" y="495300"/>
            <a:ext cx="8534400" cy="1466850"/>
          </a:xfrm>
        </p:spPr>
        <p:txBody>
          <a:bodyPr anchor="ctr"/>
          <a:lstStyle/>
          <a:p>
            <a:pPr eaLnBrk="1" hangingPunct="1"/>
            <a:r>
              <a:rPr lang="en-US" altLang="zh-CN" sz="5400">
                <a:solidFill>
                  <a:schemeClr val="accent2"/>
                </a:solidFill>
                <a:sym typeface="Times New Roman" panose="02020603050405020304" pitchFamily="18" charset="0"/>
              </a:rPr>
              <a:t>§3</a:t>
            </a:r>
            <a:r>
              <a:rPr lang="en-US" altLang="zh-CN" sz="5400">
                <a:solidFill>
                  <a:schemeClr val="accent2"/>
                </a:solidFill>
              </a:rPr>
              <a:t>.1 8086</a:t>
            </a:r>
            <a:r>
              <a:rPr lang="zh-CN" altLang="en-US" sz="5400">
                <a:solidFill>
                  <a:schemeClr val="accent2"/>
                </a:solidFill>
              </a:rPr>
              <a:t>的寻址方式</a:t>
            </a:r>
            <a:endParaRPr lang="zh-CN" altLang="en-US" sz="4400">
              <a:solidFill>
                <a:schemeClr val="accent2"/>
              </a:solidFill>
            </a:endParaRPr>
          </a:p>
        </p:txBody>
      </p:sp>
      <p:sp>
        <p:nvSpPr>
          <p:cNvPr id="87043" name="矩形 4">
            <a:extLst>
              <a:ext uri="{FF2B5EF4-FFF2-40B4-BE49-F238E27FC236}">
                <a16:creationId xmlns:a16="http://schemas.microsoft.com/office/drawing/2014/main" id="{264F20E3-8D4E-4393-A353-A32069360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400" y="1919288"/>
            <a:ext cx="591185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3.1.1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立即寻址方式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3.1.2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3.1.3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直接寻址方式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3.1.4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寄存器间接寻址方式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3.1.5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寄存器相对寻址方式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3.1.6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基址变址寻址方式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3.1.7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相对基址变址寻址方式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3.1.8  </a:t>
            </a:r>
            <a:r>
              <a:rPr lang="zh-CN" altLang="en-US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其它寻址方式</a:t>
            </a:r>
            <a:endParaRPr lang="en-US" altLang="zh-CN" sz="240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edg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标题 1">
            <a:extLst>
              <a:ext uri="{FF2B5EF4-FFF2-40B4-BE49-F238E27FC236}">
                <a16:creationId xmlns:a16="http://schemas.microsoft.com/office/drawing/2014/main" id="{B4C2DEC2-7BB5-47A6-9142-5DFC349DEFB6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en-US" altLang="zh-CN" sz="36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3.1.8 </a:t>
            </a:r>
            <a:r>
              <a:rPr lang="zh-CN" altLang="en-US" sz="36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其它寻址方式</a:t>
            </a:r>
            <a:endParaRPr lang="zh-CN" altLang="en-US" sz="4400" b="1">
              <a:solidFill>
                <a:schemeClr val="accent2"/>
              </a:solidFill>
            </a:endParaRPr>
          </a:p>
        </p:txBody>
      </p:sp>
      <p:sp>
        <p:nvSpPr>
          <p:cNvPr id="88067" name="内容占位符 2">
            <a:extLst>
              <a:ext uri="{FF2B5EF4-FFF2-40B4-BE49-F238E27FC236}">
                <a16:creationId xmlns:a16="http://schemas.microsoft.com/office/drawing/2014/main" id="{1E5077BA-4F1A-46B4-981F-8E250431DC5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314450"/>
            <a:ext cx="8372475" cy="5175250"/>
          </a:xfrm>
        </p:spPr>
        <p:txBody>
          <a:bodyPr/>
          <a:lstStyle/>
          <a:p>
            <a:pPr algn="l" eaLnBrk="1" hangingPunct="1"/>
            <a:r>
              <a:rPr lang="en-US" altLang="zh-CN" sz="3200" b="1">
                <a:solidFill>
                  <a:srgbClr val="CC0000"/>
                </a:solidFill>
              </a:rPr>
              <a:t>1</a:t>
            </a:r>
            <a:r>
              <a:rPr lang="zh-CN" altLang="en-US" sz="3200" b="1">
                <a:solidFill>
                  <a:srgbClr val="CC0000"/>
                </a:solidFill>
              </a:rPr>
              <a:t>．隐含寻址</a:t>
            </a:r>
          </a:p>
          <a:p>
            <a:pPr algn="l" eaLnBrk="1" hangingPunct="1"/>
            <a:r>
              <a:rPr lang="zh-CN" altLang="en-US" sz="2800"/>
              <a:t>指令中不指明操作数，但具有隐含规定的寻址方式。</a:t>
            </a:r>
          </a:p>
          <a:p>
            <a:pPr algn="l" eaLnBrk="1" hangingPunct="1"/>
            <a:r>
              <a:rPr lang="zh-CN" altLang="en-US" sz="32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例如，</a:t>
            </a:r>
            <a:r>
              <a:rPr lang="zh-CN" altLang="en-US" sz="3200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en-US" altLang="zh-CN" sz="3200">
                <a:latin typeface="Times New Roman" panose="02020603050405020304" pitchFamily="18" charset="0"/>
                <a:ea typeface="楷体_GB2312" pitchFamily="1" charset="-122"/>
              </a:rPr>
              <a:t>MUL  DL  	</a:t>
            </a:r>
            <a:r>
              <a:rPr lang="zh-CN" altLang="en-US" sz="32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3200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zh-CN" altLang="en-US" sz="3200">
                <a:latin typeface="Times New Roman" panose="02020603050405020304" pitchFamily="18" charset="0"/>
                <a:ea typeface="楷体_GB2312" pitchFamily="1" charset="-122"/>
              </a:rPr>
              <a:t>表示 </a:t>
            </a:r>
            <a:r>
              <a:rPr lang="en-US" altLang="zh-CN" sz="3200"/>
              <a:t>AX ← AL * DL</a:t>
            </a:r>
            <a:endParaRPr lang="zh-CN" altLang="en-US" sz="32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/>
            <a:endParaRPr lang="zh-CN" altLang="en-US" sz="3200"/>
          </a:p>
          <a:p>
            <a:pPr algn="l" eaLnBrk="1" hangingPunct="1"/>
            <a:r>
              <a:rPr lang="zh-CN" altLang="en-US" sz="3200"/>
              <a:t>这样的指令还有很多，需要大家记住这些隐含关系。</a:t>
            </a:r>
          </a:p>
        </p:txBody>
      </p:sp>
    </p:spTree>
  </p:cSld>
  <p:clrMapOvr>
    <a:masterClrMapping/>
  </p:clrMapOvr>
  <p:transition spd="slow">
    <p:pull dir="ld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标题 1">
            <a:extLst>
              <a:ext uri="{FF2B5EF4-FFF2-40B4-BE49-F238E27FC236}">
                <a16:creationId xmlns:a16="http://schemas.microsoft.com/office/drawing/2014/main" id="{7828F124-CFDE-410B-AFA1-5C7C01C89507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zh-CN" altLang="en-US" sz="44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其它寻址</a:t>
            </a:r>
          </a:p>
        </p:txBody>
      </p:sp>
      <p:sp>
        <p:nvSpPr>
          <p:cNvPr id="44035" name="内容占位符 2">
            <a:extLst>
              <a:ext uri="{FF2B5EF4-FFF2-40B4-BE49-F238E27FC236}">
                <a16:creationId xmlns:a16="http://schemas.microsoft.com/office/drawing/2014/main" id="{CAEB05FF-370E-452A-83B6-FF5E9B5346A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7350" y="1206500"/>
            <a:ext cx="8597900" cy="5103813"/>
          </a:xfrm>
          <a:extLst/>
        </p:spPr>
        <p:txBody>
          <a:bodyPr/>
          <a:lstStyle/>
          <a:p>
            <a:pPr algn="l" eaLnBrk="1" hangingPunct="1">
              <a:spcBef>
                <a:spcPct val="0"/>
              </a:spcBef>
              <a:defRPr/>
            </a:pP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．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I/O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端口寻址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【</a:t>
            </a:r>
            <a:r>
              <a:rPr lang="zh-CN" altLang="en-US" sz="2800" b="1" dirty="0">
                <a:solidFill>
                  <a:srgbClr val="CC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很简单，但重要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】</a:t>
            </a:r>
            <a:endParaRPr lang="zh-CN" altLang="en-US" sz="2800" b="1" dirty="0">
              <a:solidFill>
                <a:srgbClr val="CC0000"/>
              </a:solidFill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endParaRPr lang="en-US" altLang="zh-CN" sz="2600" dirty="0"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zh-CN" sz="2600" dirty="0">
                <a:latin typeface="Times New Roman" panose="02020603050405020304" pitchFamily="18" charset="0"/>
              </a:rPr>
              <a:t>8086</a:t>
            </a:r>
            <a:r>
              <a:rPr lang="zh-CN" altLang="en-US" sz="2600" dirty="0">
                <a:latin typeface="Times New Roman" panose="02020603050405020304" pitchFamily="18" charset="0"/>
              </a:rPr>
              <a:t>有直接端口和间接端口两种寻址方式：</a:t>
            </a:r>
            <a:endParaRPr lang="en-US" altLang="zh-CN" sz="2600" dirty="0"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endParaRPr lang="zh-CN" altLang="en-US" sz="2600" dirty="0"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6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）直接端口寻址方式</a:t>
            </a:r>
          </a:p>
          <a:p>
            <a:pPr algn="l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端口地址由指令直接提供，它是一个</a:t>
            </a:r>
            <a:r>
              <a:rPr lang="en-US" altLang="zh-CN" sz="26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</a:rPr>
              <a:t>8</a:t>
            </a:r>
            <a:r>
              <a:rPr lang="zh-CN" altLang="en-US" sz="26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</a:rPr>
              <a:t>位立即数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n= 00 ~ FFH</a:t>
            </a:r>
          </a:p>
          <a:p>
            <a:pPr algn="l" eaLnBrk="1" hangingPunct="1">
              <a:spcBef>
                <a:spcPct val="0"/>
              </a:spcBef>
              <a:defRPr/>
            </a:pPr>
            <a:r>
              <a:rPr lang="zh-CN" altLang="en-US" sz="26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6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3.15 </a:t>
            </a:r>
            <a:r>
              <a:rPr lang="en-US" altLang="zh-CN" sz="2600" dirty="0">
                <a:solidFill>
                  <a:srgbClr val="23FFF8"/>
                </a:solidFill>
                <a:latin typeface="Times New Roman" panose="02020603050405020304" pitchFamily="18" charset="0"/>
                <a:ea typeface="楷体_GB2312" pitchFamily="1" charset="-122"/>
              </a:rPr>
              <a:t>  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IN     AL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63H	; AL←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端口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63H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中的内容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	</a:t>
            </a:r>
          </a:p>
          <a:p>
            <a:pPr algn="l" eaLnBrk="1" hangingPunct="1">
              <a:spcBef>
                <a:spcPct val="0"/>
              </a:spcBef>
              <a:defRPr/>
            </a:pPr>
            <a:endParaRPr lang="en-US" altLang="zh-CN" sz="2600" b="1" dirty="0">
              <a:solidFill>
                <a:srgbClr val="008000"/>
              </a:solidFill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6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）间接端口寻址方式</a:t>
            </a:r>
          </a:p>
          <a:p>
            <a:pPr algn="l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被寻址的端口号由</a:t>
            </a:r>
            <a:r>
              <a:rPr lang="zh-CN" altLang="en-US" sz="2600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</a:rPr>
              <a:t>寄存器</a:t>
            </a:r>
            <a:r>
              <a:rPr lang="en-US" altLang="zh-CN" sz="2600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</a:rPr>
              <a:t>DX</a:t>
            </a:r>
            <a:r>
              <a:rPr lang="zh-CN" altLang="en-US" sz="2600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</a:rPr>
              <a:t>提供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，端口号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=</a:t>
            </a:r>
            <a:r>
              <a:rPr lang="en-US" altLang="zh-CN" sz="2600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</a:rPr>
              <a:t>0000~ FFFFH</a:t>
            </a:r>
            <a:endParaRPr lang="zh-CN" altLang="en-US" sz="26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>
              <a:spcBef>
                <a:spcPct val="0"/>
              </a:spcBef>
              <a:defRPr/>
            </a:pPr>
            <a:r>
              <a:rPr lang="zh-CN" altLang="en-US" sz="26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6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3.16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　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MOV  DX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213H	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DX=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口地址号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213H</a:t>
            </a:r>
          </a:p>
          <a:p>
            <a:pPr algn="l" eaLnBrk="1" hangingPunct="1">
              <a:spcBef>
                <a:spcPct val="0"/>
              </a:spcBef>
              <a:defRPr/>
            </a:pP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	     I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N	      AL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DX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		；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AL←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端口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213H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中的内容</a:t>
            </a:r>
          </a:p>
        </p:txBody>
      </p:sp>
    </p:spTree>
  </p:cSld>
  <p:clrMapOvr>
    <a:masterClrMapping/>
  </p:clrMapOvr>
  <p:transition spd="slow"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4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40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标题 1">
            <a:extLst>
              <a:ext uri="{FF2B5EF4-FFF2-40B4-BE49-F238E27FC236}">
                <a16:creationId xmlns:a16="http://schemas.microsoft.com/office/drawing/2014/main" id="{9C965CAF-458E-4264-A666-9D3A03180934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zh-CN" altLang="en-US" sz="44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其它寻址</a:t>
            </a:r>
          </a:p>
        </p:txBody>
      </p:sp>
      <p:sp>
        <p:nvSpPr>
          <p:cNvPr id="45059" name="内容占位符 2">
            <a:extLst>
              <a:ext uri="{FF2B5EF4-FFF2-40B4-BE49-F238E27FC236}">
                <a16:creationId xmlns:a16="http://schemas.microsoft.com/office/drawing/2014/main" id="{7D837FF2-844D-4DC6-A01D-DE23CB14AD0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162050"/>
            <a:ext cx="8372475" cy="5327650"/>
          </a:xfrm>
        </p:spPr>
        <p:txBody>
          <a:bodyPr/>
          <a:lstStyle/>
          <a:p>
            <a:pPr algn="l" eaLnBrk="1" hangingPunct="1">
              <a:lnSpc>
                <a:spcPct val="90000"/>
              </a:lnSpc>
            </a:pPr>
            <a:r>
              <a:rPr lang="en-US" altLang="zh-CN" sz="2800" b="1">
                <a:solidFill>
                  <a:srgbClr val="CC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800" b="1">
                <a:solidFill>
                  <a:srgbClr val="CC0000"/>
                </a:solidFill>
                <a:latin typeface="Times New Roman" panose="02020603050405020304" pitchFamily="18" charset="0"/>
              </a:rPr>
              <a:t>．</a:t>
            </a:r>
            <a:r>
              <a:rPr lang="zh-CN" altLang="en-US" sz="2800" b="1">
                <a:solidFill>
                  <a:srgbClr val="CC0000"/>
                </a:solidFill>
              </a:rPr>
              <a:t>一条指令有几种寻址方式</a:t>
            </a:r>
          </a:p>
          <a:p>
            <a:pPr algn="l" eaLnBrk="1" hangingPunct="1">
              <a:lnSpc>
                <a:spcPct val="90000"/>
              </a:lnSpc>
            </a:pPr>
            <a:r>
              <a:rPr lang="zh-CN" altLang="en-US" sz="2800"/>
              <a:t>上述寻址方式都针对源操作数</a:t>
            </a:r>
          </a:p>
          <a:p>
            <a:pPr algn="l" eaLnBrk="1" hangingPunct="1">
              <a:lnSpc>
                <a:spcPct val="90000"/>
              </a:lnSpc>
            </a:pPr>
            <a:r>
              <a:rPr lang="zh-CN" altLang="en-US" sz="2800"/>
              <a:t>目的操作数也可用除了</a:t>
            </a:r>
            <a:r>
              <a:rPr lang="zh-CN" altLang="en-US" sz="2800" b="1">
                <a:solidFill>
                  <a:srgbClr val="0033CC"/>
                </a:solidFill>
              </a:rPr>
              <a:t>立即寻址</a:t>
            </a:r>
            <a:r>
              <a:rPr lang="zh-CN" altLang="en-US" sz="2800"/>
              <a:t>方式之外的所有寻址方式指定，所以一条指令可以有几种寻址方式</a:t>
            </a:r>
          </a:p>
          <a:p>
            <a:pPr algn="l" eaLnBrk="1" hangingPunct="1">
              <a:lnSpc>
                <a:spcPct val="90000"/>
              </a:lnSpc>
            </a:pPr>
            <a:endParaRPr lang="zh-CN" altLang="en-US" sz="2800"/>
          </a:p>
          <a:p>
            <a:pPr algn="l" eaLnBrk="1" hangingPunct="1">
              <a:lnSpc>
                <a:spcPct val="90000"/>
              </a:lnSpc>
            </a:pPr>
            <a:r>
              <a:rPr lang="zh-CN" altLang="en-US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3.17  </a:t>
            </a:r>
            <a:r>
              <a:rPr lang="en-US" altLang="zh-CN" sz="2800">
                <a:solidFill>
                  <a:srgbClr val="23FFF8"/>
                </a:solidFill>
                <a:latin typeface="Times New Roman" panose="02020603050405020304" pitchFamily="18" charset="0"/>
                <a:ea typeface="楷体_GB2312" pitchFamily="1" charset="-122"/>
              </a:rPr>
              <a:t> 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MOV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［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BX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］，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AL</a:t>
            </a:r>
          </a:p>
          <a:p>
            <a:pPr algn="l" eaLnBrk="1" hangingPunct="1">
              <a:lnSpc>
                <a:spcPct val="90000"/>
              </a:lnSpc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这里，源操作数为寄存器，目的操作数为寄存器相对寻址方式</a:t>
            </a:r>
          </a:p>
          <a:p>
            <a:pPr algn="l" eaLnBrk="1" hangingPunct="1">
              <a:lnSpc>
                <a:spcPct val="90000"/>
              </a:lnSpc>
            </a:pPr>
            <a:endParaRPr lang="zh-CN" altLang="en-US" sz="28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>
              <a:lnSpc>
                <a:spcPct val="90000"/>
              </a:lnSpc>
            </a:pPr>
            <a:r>
              <a:rPr lang="en-US" altLang="zh-CN" sz="2800" b="1">
                <a:solidFill>
                  <a:srgbClr val="CC0000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2800" b="1">
                <a:solidFill>
                  <a:srgbClr val="CC0000"/>
                </a:solidFill>
                <a:latin typeface="Times New Roman" panose="02020603050405020304" pitchFamily="18" charset="0"/>
              </a:rPr>
              <a:t>．转移类指令寻址</a:t>
            </a:r>
          </a:p>
          <a:p>
            <a:pPr algn="l" eaLnBrk="1" hangingPunct="1">
              <a:lnSpc>
                <a:spcPct val="90000"/>
              </a:lnSpc>
            </a:pPr>
            <a:r>
              <a:rPr lang="zh-CN" altLang="en-US" sz="2800"/>
              <a:t>将在本章后面讨论控制转移指令时介绍</a:t>
            </a:r>
          </a:p>
        </p:txBody>
      </p:sp>
    </p:spTree>
  </p:cSld>
  <p:clrMapOvr>
    <a:masterClrMapping/>
  </p:clrMapOvr>
  <p:transition spd="slow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50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标题 1">
            <a:extLst>
              <a:ext uri="{FF2B5EF4-FFF2-40B4-BE49-F238E27FC236}">
                <a16:creationId xmlns:a16="http://schemas.microsoft.com/office/drawing/2014/main" id="{3316F720-5C3D-4C48-8A7A-E051F344A5F3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zh-CN" altLang="en-US" sz="36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*</a:t>
            </a:r>
            <a:r>
              <a:rPr lang="en-US" altLang="zh-CN" sz="36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3.2 </a:t>
            </a:r>
            <a:r>
              <a:rPr lang="zh-CN" altLang="en-US" sz="36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指令的机器码表示方法（不考）</a:t>
            </a:r>
          </a:p>
        </p:txBody>
      </p:sp>
      <p:sp>
        <p:nvSpPr>
          <p:cNvPr id="91139" name="内容占位符 2">
            <a:extLst>
              <a:ext uri="{FF2B5EF4-FFF2-40B4-BE49-F238E27FC236}">
                <a16:creationId xmlns:a16="http://schemas.microsoft.com/office/drawing/2014/main" id="{D3B5CC11-E778-4F83-B5C8-936AE94A462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162050"/>
            <a:ext cx="8372475" cy="5327650"/>
          </a:xfrm>
        </p:spPr>
        <p:txBody>
          <a:bodyPr/>
          <a:lstStyle/>
          <a:p>
            <a:pPr algn="l" eaLnBrk="1" hangingPunct="1">
              <a:lnSpc>
                <a:spcPct val="90000"/>
              </a:lnSpc>
            </a:pPr>
            <a:r>
              <a:rPr lang="zh-CN" altLang="en-US" sz="2800"/>
              <a:t>              </a:t>
            </a:r>
            <a:r>
              <a:rPr lang="en-US" altLang="zh-CN" sz="2800"/>
              <a:t>    </a:t>
            </a:r>
            <a:r>
              <a:rPr lang="zh-CN" altLang="en-US" sz="2800"/>
              <a:t>教材 </a:t>
            </a:r>
            <a:r>
              <a:rPr lang="en-US" altLang="zh-CN" sz="2800"/>
              <a:t>page 62-64</a:t>
            </a:r>
          </a:p>
          <a:p>
            <a:pPr algn="l" eaLnBrk="1" hangingPunct="1">
              <a:lnSpc>
                <a:spcPct val="90000"/>
              </a:lnSpc>
            </a:pPr>
            <a:endParaRPr lang="en-US" altLang="zh-CN" sz="2800"/>
          </a:p>
          <a:p>
            <a:pPr algn="l" eaLnBrk="1" hangingPunct="1">
              <a:lnSpc>
                <a:spcPct val="90000"/>
              </a:lnSpc>
            </a:pPr>
            <a:endParaRPr lang="en-US" altLang="zh-CN" sz="2800"/>
          </a:p>
          <a:p>
            <a:pPr algn="l" eaLnBrk="1" hangingPunct="1">
              <a:lnSpc>
                <a:spcPct val="90000"/>
              </a:lnSpc>
            </a:pPr>
            <a:endParaRPr lang="en-US" altLang="zh-CN" sz="2800"/>
          </a:p>
          <a:p>
            <a:pPr algn="l" eaLnBrk="1" hangingPunct="1">
              <a:lnSpc>
                <a:spcPct val="90000"/>
              </a:lnSpc>
            </a:pPr>
            <a:endParaRPr lang="en-US" altLang="zh-CN" sz="2800"/>
          </a:p>
          <a:p>
            <a:pPr algn="l" eaLnBrk="1" hangingPunct="1">
              <a:lnSpc>
                <a:spcPct val="90000"/>
              </a:lnSpc>
            </a:pPr>
            <a:endParaRPr lang="en-US" altLang="zh-CN" sz="2800"/>
          </a:p>
          <a:p>
            <a:pPr algn="l" eaLnBrk="1" hangingPunct="1">
              <a:lnSpc>
                <a:spcPct val="90000"/>
              </a:lnSpc>
            </a:pPr>
            <a:r>
              <a:rPr lang="en-US" altLang="zh-CN" sz="2800"/>
              <a:t>                 </a:t>
            </a:r>
            <a:r>
              <a:rPr lang="zh-CN" altLang="en-US" sz="2800"/>
              <a:t>典型的</a:t>
            </a:r>
            <a:r>
              <a:rPr lang="en-US" altLang="zh-CN" sz="2800"/>
              <a:t>MOV</a:t>
            </a:r>
            <a:r>
              <a:rPr lang="zh-CN" altLang="en-US" sz="2800"/>
              <a:t>指令的编码格式</a:t>
            </a:r>
            <a:endParaRPr lang="en-US" altLang="zh-CN" sz="2800"/>
          </a:p>
          <a:p>
            <a:pPr algn="l" eaLnBrk="1" hangingPunct="1">
              <a:lnSpc>
                <a:spcPct val="90000"/>
              </a:lnSpc>
            </a:pPr>
            <a:r>
              <a:rPr lang="en-US" altLang="zh-CN" sz="2800"/>
              <a:t>       D</a:t>
            </a:r>
            <a:r>
              <a:rPr lang="zh-CN" altLang="en-US" sz="2800"/>
              <a:t>：数据传输方向</a:t>
            </a:r>
            <a:endParaRPr lang="en-US" altLang="zh-CN" sz="2800"/>
          </a:p>
          <a:p>
            <a:pPr algn="l" eaLnBrk="1" hangingPunct="1">
              <a:lnSpc>
                <a:spcPct val="90000"/>
              </a:lnSpc>
            </a:pPr>
            <a:r>
              <a:rPr lang="en-US" altLang="zh-CN" sz="2800"/>
              <a:t>       W</a:t>
            </a:r>
            <a:r>
              <a:rPr lang="zh-CN" altLang="en-US" sz="2800"/>
              <a:t>：</a:t>
            </a:r>
            <a:r>
              <a:rPr lang="en-US" altLang="zh-CN" sz="2800"/>
              <a:t>WORD OR BYTE</a:t>
            </a:r>
            <a:r>
              <a:rPr lang="zh-CN" altLang="en-US" sz="2800"/>
              <a:t>传输</a:t>
            </a:r>
            <a:endParaRPr lang="en-US" altLang="zh-CN" sz="2800"/>
          </a:p>
          <a:p>
            <a:pPr algn="l" eaLnBrk="1" hangingPunct="1">
              <a:lnSpc>
                <a:spcPct val="90000"/>
              </a:lnSpc>
            </a:pPr>
            <a:r>
              <a:rPr lang="en-US" altLang="zh-CN" sz="2800"/>
              <a:t>       REG</a:t>
            </a:r>
            <a:r>
              <a:rPr lang="zh-CN" altLang="en-US" sz="2800"/>
              <a:t>：操作的寄存器编号</a:t>
            </a:r>
            <a:endParaRPr lang="en-US" altLang="zh-CN" sz="2800"/>
          </a:p>
          <a:p>
            <a:pPr algn="l" eaLnBrk="1" hangingPunct="1">
              <a:lnSpc>
                <a:spcPct val="90000"/>
              </a:lnSpc>
            </a:pPr>
            <a:r>
              <a:rPr lang="en-US" altLang="zh-CN" sz="2800"/>
              <a:t>       MOD &amp; R/M</a:t>
            </a:r>
            <a:r>
              <a:rPr lang="zh-CN" altLang="en-US" sz="2800"/>
              <a:t>：指定另一个操作数</a:t>
            </a:r>
          </a:p>
        </p:txBody>
      </p:sp>
      <p:pic>
        <p:nvPicPr>
          <p:cNvPr id="91140" name="图片 1">
            <a:extLst>
              <a:ext uri="{FF2B5EF4-FFF2-40B4-BE49-F238E27FC236}">
                <a16:creationId xmlns:a16="http://schemas.microsoft.com/office/drawing/2014/main" id="{9C9503E9-AA0E-4D80-99B2-A14874BFD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200" y="1943100"/>
            <a:ext cx="6959600" cy="167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newsflash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Line 2">
            <a:extLst>
              <a:ext uri="{FF2B5EF4-FFF2-40B4-BE49-F238E27FC236}">
                <a16:creationId xmlns:a16="http://schemas.microsoft.com/office/drawing/2014/main" id="{2510AD88-A7D2-472B-A485-643E492D96F2}"/>
              </a:ext>
            </a:extLst>
          </p:cNvPr>
          <p:cNvSpPr>
            <a:spLocks noChangeShapeType="1"/>
          </p:cNvSpPr>
          <p:nvPr/>
        </p:nvSpPr>
        <p:spPr bwMode="auto">
          <a:xfrm>
            <a:off x="9036050" y="984250"/>
            <a:ext cx="0" cy="5757863"/>
          </a:xfrm>
          <a:prstGeom prst="line">
            <a:avLst/>
          </a:prstGeom>
          <a:noFill/>
          <a:ln w="38100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11" name="Text Box 3">
            <a:extLst>
              <a:ext uri="{FF2B5EF4-FFF2-40B4-BE49-F238E27FC236}">
                <a16:creationId xmlns:a16="http://schemas.microsoft.com/office/drawing/2014/main" id="{E0D54AD3-7C18-4898-BC77-91D4B7DBB4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6" y="256282"/>
            <a:ext cx="3813173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solidFill>
                  <a:srgbClr val="C00000"/>
                </a:solidFill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回顾：取指过程</a:t>
            </a:r>
            <a:endParaRPr lang="en-US" altLang="zh-CN" sz="3200" dirty="0">
              <a:solidFill>
                <a:srgbClr val="C00000"/>
              </a:solidFill>
              <a:highlight>
                <a:srgbClr val="FFFF00"/>
              </a:highligh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  <a:defRPr/>
            </a:pPr>
            <a:r>
              <a:rPr lang="zh-CN" altLang="en-US" sz="320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的操作</a:t>
            </a:r>
            <a:r>
              <a:rPr lang="en-US" altLang="zh-CN" sz="320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--</a:t>
            </a:r>
            <a:r>
              <a:rPr lang="zh-CN" altLang="en-US" sz="320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读指令 </a:t>
            </a:r>
          </a:p>
        </p:txBody>
      </p:sp>
      <p:sp>
        <p:nvSpPr>
          <p:cNvPr id="92164" name="AutoShape 4">
            <a:extLst>
              <a:ext uri="{FF2B5EF4-FFF2-40B4-BE49-F238E27FC236}">
                <a16:creationId xmlns:a16="http://schemas.microsoft.com/office/drawing/2014/main" id="{EE88AE37-6E67-4ABC-B777-5257990EA8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83125" y="4667250"/>
            <a:ext cx="95250" cy="1084263"/>
          </a:xfrm>
          <a:prstGeom prst="upArrow">
            <a:avLst>
              <a:gd name="adj1" fmla="val 50000"/>
              <a:gd name="adj2" fmla="val 283635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latin typeface="Garamond" panose="02020404030301010803" pitchFamily="18" charset="0"/>
            </a:endParaRPr>
          </a:p>
        </p:txBody>
      </p:sp>
      <p:sp>
        <p:nvSpPr>
          <p:cNvPr id="92165" name="Text Box 5">
            <a:extLst>
              <a:ext uri="{FF2B5EF4-FFF2-40B4-BE49-F238E27FC236}">
                <a16:creationId xmlns:a16="http://schemas.microsoft.com/office/drawing/2014/main" id="{689F9D1A-1235-4369-9C5D-4326A420830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991475" y="1327150"/>
            <a:ext cx="388938" cy="5081588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9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总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线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控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制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逻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辑</a:t>
            </a:r>
          </a:p>
        </p:txBody>
      </p:sp>
      <p:grpSp>
        <p:nvGrpSpPr>
          <p:cNvPr id="92166" name="组合 20485">
            <a:extLst>
              <a:ext uri="{FF2B5EF4-FFF2-40B4-BE49-F238E27FC236}">
                <a16:creationId xmlns:a16="http://schemas.microsoft.com/office/drawing/2014/main" id="{8BA24843-0CE6-4B65-95DC-7C8391D51FB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56225" y="1898650"/>
            <a:ext cx="1336675" cy="441325"/>
            <a:chOff x="0" y="0"/>
            <a:chExt cx="842" cy="278"/>
          </a:xfrm>
        </p:grpSpPr>
        <p:sp>
          <p:nvSpPr>
            <p:cNvPr id="92269" name="Line 7">
              <a:extLst>
                <a:ext uri="{FF2B5EF4-FFF2-40B4-BE49-F238E27FC236}">
                  <a16:creationId xmlns:a16="http://schemas.microsoft.com/office/drawing/2014/main" id="{CD273443-94C2-4291-A18A-E2013F1F78F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253" y="0"/>
              <a:ext cx="418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70" name="Line 8">
              <a:extLst>
                <a:ext uri="{FF2B5EF4-FFF2-40B4-BE49-F238E27FC236}">
                  <a16:creationId xmlns:a16="http://schemas.microsoft.com/office/drawing/2014/main" id="{646B3F5B-0464-47B2-BEE1-6BAFEC33F06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0" y="5"/>
              <a:ext cx="247" cy="263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71" name="Line 9">
              <a:extLst>
                <a:ext uri="{FF2B5EF4-FFF2-40B4-BE49-F238E27FC236}">
                  <a16:creationId xmlns:a16="http://schemas.microsoft.com/office/drawing/2014/main" id="{575AD198-A28B-49AF-BAD1-931818376EE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" y="278"/>
              <a:ext cx="212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72" name="Line 10">
              <a:extLst>
                <a:ext uri="{FF2B5EF4-FFF2-40B4-BE49-F238E27FC236}">
                  <a16:creationId xmlns:a16="http://schemas.microsoft.com/office/drawing/2014/main" id="{F77DD4BA-C14C-4017-8539-03A96E52356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28" y="174"/>
              <a:ext cx="115" cy="102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73" name="Line 11">
              <a:extLst>
                <a:ext uri="{FF2B5EF4-FFF2-40B4-BE49-F238E27FC236}">
                  <a16:creationId xmlns:a16="http://schemas.microsoft.com/office/drawing/2014/main" id="{24AF247D-178E-40DE-ABC3-DD198C32F5C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46" y="164"/>
              <a:ext cx="174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74" name="Line 12">
              <a:extLst>
                <a:ext uri="{FF2B5EF4-FFF2-40B4-BE49-F238E27FC236}">
                  <a16:creationId xmlns:a16="http://schemas.microsoft.com/office/drawing/2014/main" id="{1E145478-D6E8-4856-8A61-AB9F083F4CC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16" y="166"/>
              <a:ext cx="133" cy="10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75" name="Line 13">
              <a:extLst>
                <a:ext uri="{FF2B5EF4-FFF2-40B4-BE49-F238E27FC236}">
                  <a16:creationId xmlns:a16="http://schemas.microsoft.com/office/drawing/2014/main" id="{821DE6FE-A32F-4991-8449-4B8785E71BC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40" y="262"/>
              <a:ext cx="193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76" name="Line 14">
              <a:extLst>
                <a:ext uri="{FF2B5EF4-FFF2-40B4-BE49-F238E27FC236}">
                  <a16:creationId xmlns:a16="http://schemas.microsoft.com/office/drawing/2014/main" id="{13612181-B4A5-420E-8412-4D3A1A3FEFB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663" y="15"/>
              <a:ext cx="179" cy="25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77" name="Text Box 15">
              <a:extLst>
                <a:ext uri="{FF2B5EF4-FFF2-40B4-BE49-F238E27FC236}">
                  <a16:creationId xmlns:a16="http://schemas.microsoft.com/office/drawing/2014/main" id="{B4F45ACD-E5FB-4DAC-B898-52112C4CD01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6" y="38"/>
              <a:ext cx="589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latin typeface="Times New Roman" panose="02020603050405020304" pitchFamily="18" charset="0"/>
                </a:rPr>
                <a:t>地址加法器</a:t>
              </a:r>
            </a:p>
          </p:txBody>
        </p:sp>
      </p:grpSp>
      <p:sp>
        <p:nvSpPr>
          <p:cNvPr id="92167" name="Text Box 16">
            <a:extLst>
              <a:ext uri="{FF2B5EF4-FFF2-40B4-BE49-F238E27FC236}">
                <a16:creationId xmlns:a16="http://schemas.microsoft.com/office/drawing/2014/main" id="{97038D0A-A726-4050-A643-E97EC1A62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3450" y="838200"/>
            <a:ext cx="1584325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FF6600"/>
                </a:solidFill>
                <a:latin typeface="Times New Roman" panose="02020603050405020304" pitchFamily="18" charset="0"/>
              </a:rPr>
              <a:t>20</a:t>
            </a:r>
            <a:r>
              <a:rPr lang="zh-CN" altLang="en-US" sz="2000" b="1">
                <a:solidFill>
                  <a:srgbClr val="FF6600"/>
                </a:solidFill>
                <a:latin typeface="Times New Roman" panose="02020603050405020304" pitchFamily="18" charset="0"/>
              </a:rPr>
              <a:t>位地址总线</a:t>
            </a:r>
            <a:r>
              <a:rPr lang="en-US" altLang="zh-CN" sz="2000" b="1">
                <a:solidFill>
                  <a:srgbClr val="FF66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000" b="1">
                <a:solidFill>
                  <a:srgbClr val="FF6600"/>
                </a:solidFill>
                <a:latin typeface="Times New Roman" panose="02020603050405020304" pitchFamily="18" charset="0"/>
              </a:rPr>
              <a:t>物理地址</a:t>
            </a:r>
            <a:r>
              <a:rPr lang="en-US" altLang="zh-CN" sz="2000" b="1">
                <a:solidFill>
                  <a:srgbClr val="FF6600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92168" name="AutoShape 17">
            <a:extLst>
              <a:ext uri="{FF2B5EF4-FFF2-40B4-BE49-F238E27FC236}">
                <a16:creationId xmlns:a16="http://schemas.microsoft.com/office/drawing/2014/main" id="{1F1D27D8-E5C7-473C-B05D-689BDDBDC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7800" y="2292350"/>
            <a:ext cx="1474788" cy="234950"/>
          </a:xfrm>
          <a:prstGeom prst="leftRightArrow">
            <a:avLst>
              <a:gd name="adj1" fmla="val 50000"/>
              <a:gd name="adj2" fmla="val 125017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latin typeface="Garamond" panose="02020404030301010803" pitchFamily="18" charset="0"/>
            </a:endParaRPr>
          </a:p>
        </p:txBody>
      </p:sp>
      <p:sp>
        <p:nvSpPr>
          <p:cNvPr id="92169" name="Text Box 18">
            <a:extLst>
              <a:ext uri="{FF2B5EF4-FFF2-40B4-BE49-F238E27FC236}">
                <a16:creationId xmlns:a16="http://schemas.microsoft.com/office/drawing/2014/main" id="{3AAF5ECB-178B-45AF-9016-FDB52AC7D45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292975" y="2474913"/>
            <a:ext cx="469900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</a:rPr>
              <a:t>16</a:t>
            </a:r>
            <a:r>
              <a:rPr lang="zh-CN" altLang="en-US" sz="2000" b="1">
                <a:latin typeface="Times New Roman" panose="02020603050405020304" pitchFamily="18" charset="0"/>
              </a:rPr>
              <a:t>位数据总线</a:t>
            </a:r>
          </a:p>
        </p:txBody>
      </p:sp>
      <p:sp>
        <p:nvSpPr>
          <p:cNvPr id="92170" name="AutoShape 19">
            <a:extLst>
              <a:ext uri="{FF2B5EF4-FFF2-40B4-BE49-F238E27FC236}">
                <a16:creationId xmlns:a16="http://schemas.microsoft.com/office/drawing/2014/main" id="{2BFC36A6-13EC-469E-B875-60ADEC59E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9725" y="5672138"/>
            <a:ext cx="1270000" cy="198437"/>
          </a:xfrm>
          <a:prstGeom prst="leftArrow">
            <a:avLst>
              <a:gd name="adj1" fmla="val 50000"/>
              <a:gd name="adj2" fmla="val 159467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latin typeface="Garamond" panose="02020404030301010803" pitchFamily="18" charset="0"/>
            </a:endParaRPr>
          </a:p>
        </p:txBody>
      </p:sp>
      <p:grpSp>
        <p:nvGrpSpPr>
          <p:cNvPr id="92171" name="组合 20499">
            <a:extLst>
              <a:ext uri="{FF2B5EF4-FFF2-40B4-BE49-F238E27FC236}">
                <a16:creationId xmlns:a16="http://schemas.microsoft.com/office/drawing/2014/main" id="{99267D68-7CCA-46D7-8DEB-DB12D1B201B5}"/>
              </a:ext>
            </a:extLst>
          </p:cNvPr>
          <p:cNvGrpSpPr>
            <a:grpSpLocks/>
          </p:cNvGrpSpPr>
          <p:nvPr/>
        </p:nvGrpSpPr>
        <p:grpSpPr bwMode="auto">
          <a:xfrm>
            <a:off x="5480050" y="2295525"/>
            <a:ext cx="1111250" cy="230188"/>
            <a:chOff x="0" y="0"/>
            <a:chExt cx="700" cy="145"/>
          </a:xfrm>
        </p:grpSpPr>
        <p:sp>
          <p:nvSpPr>
            <p:cNvPr id="92267" name="AutoShape 21">
              <a:extLst>
                <a:ext uri="{FF2B5EF4-FFF2-40B4-BE49-F238E27FC236}">
                  <a16:creationId xmlns:a16="http://schemas.microsoft.com/office/drawing/2014/main" id="{94264A5D-48B1-4C50-83EE-70C074F97BC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0" y="25"/>
              <a:ext cx="143" cy="1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  <p:sp>
          <p:nvSpPr>
            <p:cNvPr id="92268" name="AutoShape 22">
              <a:extLst>
                <a:ext uri="{FF2B5EF4-FFF2-40B4-BE49-F238E27FC236}">
                  <a16:creationId xmlns:a16="http://schemas.microsoft.com/office/drawing/2014/main" id="{BE43F3C6-28F0-41EC-B683-724D8A6AE0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" y="0"/>
              <a:ext cx="142" cy="141"/>
            </a:xfrm>
            <a:prstGeom prst="upDownArrow">
              <a:avLst>
                <a:gd name="adj1" fmla="val 50000"/>
                <a:gd name="adj2" fmla="val 20000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</p:grpSp>
      <p:sp>
        <p:nvSpPr>
          <p:cNvPr id="92172" name="Text Box 23">
            <a:extLst>
              <a:ext uri="{FF2B5EF4-FFF2-40B4-BE49-F238E27FC236}">
                <a16:creationId xmlns:a16="http://schemas.microsoft.com/office/drawing/2014/main" id="{E35DAB2D-E8AD-4007-A033-B89EBEC1372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622800" y="1604963"/>
            <a:ext cx="471488" cy="199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rgbClr val="FF6600"/>
                </a:solidFill>
                <a:latin typeface="Times New Roman" panose="02020603050405020304" pitchFamily="18" charset="0"/>
              </a:rPr>
              <a:t>总线接口部件</a:t>
            </a:r>
            <a:r>
              <a:rPr lang="en-US" altLang="zh-CN" sz="2000" b="1">
                <a:solidFill>
                  <a:srgbClr val="FF6600"/>
                </a:solidFill>
                <a:latin typeface="Times New Roman" panose="02020603050405020304" pitchFamily="18" charset="0"/>
              </a:rPr>
              <a:t>BIU</a:t>
            </a:r>
          </a:p>
        </p:txBody>
      </p:sp>
      <p:grpSp>
        <p:nvGrpSpPr>
          <p:cNvPr id="92173" name="组合 20503">
            <a:extLst>
              <a:ext uri="{FF2B5EF4-FFF2-40B4-BE49-F238E27FC236}">
                <a16:creationId xmlns:a16="http://schemas.microsoft.com/office/drawing/2014/main" id="{6E864F2B-6C53-492E-8841-8E2E5FB208DB}"/>
              </a:ext>
            </a:extLst>
          </p:cNvPr>
          <p:cNvGrpSpPr>
            <a:grpSpLocks/>
          </p:cNvGrpSpPr>
          <p:nvPr/>
        </p:nvGrpSpPr>
        <p:grpSpPr bwMode="auto">
          <a:xfrm>
            <a:off x="5145088" y="5229225"/>
            <a:ext cx="1554162" cy="733425"/>
            <a:chOff x="0" y="0"/>
            <a:chExt cx="979" cy="462"/>
          </a:xfrm>
        </p:grpSpPr>
        <p:sp>
          <p:nvSpPr>
            <p:cNvPr id="92260" name="Text Box 25">
              <a:extLst>
                <a:ext uri="{FF2B5EF4-FFF2-40B4-BE49-F238E27FC236}">
                  <a16:creationId xmlns:a16="http://schemas.microsoft.com/office/drawing/2014/main" id="{CA894811-E753-49C1-9056-202AA1F1111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237"/>
              <a:ext cx="979" cy="225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1 2 3 4 5 6</a:t>
              </a:r>
            </a:p>
          </p:txBody>
        </p:sp>
        <p:sp>
          <p:nvSpPr>
            <p:cNvPr id="92261" name="Text Box 26">
              <a:extLst>
                <a:ext uri="{FF2B5EF4-FFF2-40B4-BE49-F238E27FC236}">
                  <a16:creationId xmlns:a16="http://schemas.microsoft.com/office/drawing/2014/main" id="{ED4CC9D4-2DB6-4DBC-87AB-6B7237DD7D1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0" y="0"/>
              <a:ext cx="889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</a:rPr>
                <a:t>指令队列</a:t>
              </a:r>
            </a:p>
          </p:txBody>
        </p:sp>
        <p:sp>
          <p:nvSpPr>
            <p:cNvPr id="92262" name="Line 27">
              <a:extLst>
                <a:ext uri="{FF2B5EF4-FFF2-40B4-BE49-F238E27FC236}">
                  <a16:creationId xmlns:a16="http://schemas.microsoft.com/office/drawing/2014/main" id="{3BB9A18E-D08F-45B2-8EC0-533BA2C268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63" name="Line 28">
              <a:extLst>
                <a:ext uri="{FF2B5EF4-FFF2-40B4-BE49-F238E27FC236}">
                  <a16:creationId xmlns:a16="http://schemas.microsoft.com/office/drawing/2014/main" id="{6B474C29-34A0-44E3-91AB-8A2E016E81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64" name="Line 29">
              <a:extLst>
                <a:ext uri="{FF2B5EF4-FFF2-40B4-BE49-F238E27FC236}">
                  <a16:creationId xmlns:a16="http://schemas.microsoft.com/office/drawing/2014/main" id="{D4FC5959-05C5-40BB-8BC1-F9D073838C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65" name="Line 30">
              <a:extLst>
                <a:ext uri="{FF2B5EF4-FFF2-40B4-BE49-F238E27FC236}">
                  <a16:creationId xmlns:a16="http://schemas.microsoft.com/office/drawing/2014/main" id="{ADCE1873-B643-444C-B8FB-ADA5722D4E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66" name="Line 31">
              <a:extLst>
                <a:ext uri="{FF2B5EF4-FFF2-40B4-BE49-F238E27FC236}">
                  <a16:creationId xmlns:a16="http://schemas.microsoft.com/office/drawing/2014/main" id="{66B206B0-43AB-45FD-94C7-98173A6DD4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5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174" name="组合 20511">
            <a:extLst>
              <a:ext uri="{FF2B5EF4-FFF2-40B4-BE49-F238E27FC236}">
                <a16:creationId xmlns:a16="http://schemas.microsoft.com/office/drawing/2014/main" id="{E443CBC1-3AD4-4297-83C2-209A2BC750C3}"/>
              </a:ext>
            </a:extLst>
          </p:cNvPr>
          <p:cNvGrpSpPr>
            <a:grpSpLocks/>
          </p:cNvGrpSpPr>
          <p:nvPr/>
        </p:nvGrpSpPr>
        <p:grpSpPr bwMode="auto">
          <a:xfrm>
            <a:off x="5159375" y="2543175"/>
            <a:ext cx="895350" cy="1074738"/>
            <a:chOff x="0" y="0"/>
            <a:chExt cx="564" cy="677"/>
          </a:xfrm>
        </p:grpSpPr>
        <p:sp>
          <p:nvSpPr>
            <p:cNvPr id="92256" name="Text Box 33">
              <a:extLst>
                <a:ext uri="{FF2B5EF4-FFF2-40B4-BE49-F238E27FC236}">
                  <a16:creationId xmlns:a16="http://schemas.microsoft.com/office/drawing/2014/main" id="{D26BA551-18C7-4A9C-ABA8-1FDD525F7D3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0"/>
              <a:ext cx="563" cy="677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Times New Roman" panose="02020603050405020304" pitchFamily="18" charset="0"/>
                </a:rPr>
                <a:t>CS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Times New Roman" panose="02020603050405020304" pitchFamily="18" charset="0"/>
                </a:rPr>
                <a:t>DS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Times New Roman" panose="02020603050405020304" pitchFamily="18" charset="0"/>
                </a:rPr>
                <a:t>SS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Times New Roman" panose="02020603050405020304" pitchFamily="18" charset="0"/>
                </a:rPr>
                <a:t>ES</a:t>
              </a:r>
            </a:p>
          </p:txBody>
        </p:sp>
        <p:sp>
          <p:nvSpPr>
            <p:cNvPr id="92257" name="Line 34">
              <a:extLst>
                <a:ext uri="{FF2B5EF4-FFF2-40B4-BE49-F238E27FC236}">
                  <a16:creationId xmlns:a16="http://schemas.microsoft.com/office/drawing/2014/main" id="{D6591D2D-11CB-4856-B3BE-FC1F554CB2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172"/>
              <a:ext cx="55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58" name="Line 35">
              <a:extLst>
                <a:ext uri="{FF2B5EF4-FFF2-40B4-BE49-F238E27FC236}">
                  <a16:creationId xmlns:a16="http://schemas.microsoft.com/office/drawing/2014/main" id="{EA0B3DDD-E924-45E7-846F-27DABEED67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355"/>
              <a:ext cx="55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59" name="Line 36">
              <a:extLst>
                <a:ext uri="{FF2B5EF4-FFF2-40B4-BE49-F238E27FC236}">
                  <a16:creationId xmlns:a16="http://schemas.microsoft.com/office/drawing/2014/main" id="{8AD4113E-72BD-478C-B48B-362276FD9F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511"/>
              <a:ext cx="55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175" name="组合 20516">
            <a:extLst>
              <a:ext uri="{FF2B5EF4-FFF2-40B4-BE49-F238E27FC236}">
                <a16:creationId xmlns:a16="http://schemas.microsoft.com/office/drawing/2014/main" id="{EB6527B7-93A0-4CAD-8F07-CE4622BF6A97}"/>
              </a:ext>
            </a:extLst>
          </p:cNvPr>
          <p:cNvGrpSpPr>
            <a:grpSpLocks/>
          </p:cNvGrpSpPr>
          <p:nvPr/>
        </p:nvGrpSpPr>
        <p:grpSpPr bwMode="auto">
          <a:xfrm>
            <a:off x="6002338" y="1293813"/>
            <a:ext cx="2009775" cy="579437"/>
            <a:chOff x="0" y="0"/>
            <a:chExt cx="1266" cy="365"/>
          </a:xfrm>
        </p:grpSpPr>
        <p:sp>
          <p:nvSpPr>
            <p:cNvPr id="92254" name="AutoShape 38">
              <a:extLst>
                <a:ext uri="{FF2B5EF4-FFF2-40B4-BE49-F238E27FC236}">
                  <a16:creationId xmlns:a16="http://schemas.microsoft.com/office/drawing/2014/main" id="{AE48D4D7-8A04-420A-B6E4-2D886FAAA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" y="0"/>
              <a:ext cx="1146" cy="249"/>
            </a:xfrm>
            <a:prstGeom prst="rightArrow">
              <a:avLst>
                <a:gd name="adj1" fmla="val 50000"/>
                <a:gd name="adj2" fmla="val 114677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  <p:sp>
          <p:nvSpPr>
            <p:cNvPr id="92255" name="Rectangle 39">
              <a:extLst>
                <a:ext uri="{FF2B5EF4-FFF2-40B4-BE49-F238E27FC236}">
                  <a16:creationId xmlns:a16="http://schemas.microsoft.com/office/drawing/2014/main" id="{4120B747-7D5F-460A-A911-8D720654B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3"/>
              <a:ext cx="128" cy="30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</p:grpSp>
      <p:grpSp>
        <p:nvGrpSpPr>
          <p:cNvPr id="92176" name="组合 20519">
            <a:extLst>
              <a:ext uri="{FF2B5EF4-FFF2-40B4-BE49-F238E27FC236}">
                <a16:creationId xmlns:a16="http://schemas.microsoft.com/office/drawing/2014/main" id="{9FA83F8C-6D37-4603-938A-90434238D3B4}"/>
              </a:ext>
            </a:extLst>
          </p:cNvPr>
          <p:cNvGrpSpPr>
            <a:grpSpLocks/>
          </p:cNvGrpSpPr>
          <p:nvPr/>
        </p:nvGrpSpPr>
        <p:grpSpPr bwMode="auto">
          <a:xfrm>
            <a:off x="5159375" y="5980113"/>
            <a:ext cx="990600" cy="685800"/>
            <a:chOff x="0" y="0"/>
            <a:chExt cx="624" cy="432"/>
          </a:xfrm>
        </p:grpSpPr>
        <p:sp>
          <p:nvSpPr>
            <p:cNvPr id="20521" name="Text Box 41">
              <a:extLst>
                <a:ext uri="{FF2B5EF4-FFF2-40B4-BE49-F238E27FC236}">
                  <a16:creationId xmlns:a16="http://schemas.microsoft.com/office/drawing/2014/main" id="{5F3368D3-71E3-4271-92B9-99F29553E87E}"/>
                </a:ext>
              </a:extLst>
            </p:cNvPr>
            <p:cNvSpPr txBox="1"/>
            <p:nvPr/>
          </p:nvSpPr>
          <p:spPr>
            <a:xfrm>
              <a:off x="144" y="96"/>
              <a:ext cx="336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zh-CN" altLang="zh-CN" sz="2000" noProof="1">
                  <a:effectLst>
                    <a:outerShdw blurRad="38100" dist="38100" dir="2700000" algn="tl">
                      <a:srgbClr val="C0C0C0"/>
                    </a:outerShdw>
                  </a:effectLst>
                  <a:ea typeface="楷体_GB2312" pitchFamily="1" charset="-122"/>
                  <a:cs typeface="宋体" panose="02010600030101010101" pitchFamily="2" charset="-122"/>
                </a:rPr>
                <a:t>8088</a:t>
              </a:r>
            </a:p>
          </p:txBody>
        </p:sp>
        <p:sp>
          <p:nvSpPr>
            <p:cNvPr id="92252" name="Line 42">
              <a:extLst>
                <a:ext uri="{FF2B5EF4-FFF2-40B4-BE49-F238E27FC236}">
                  <a16:creationId xmlns:a16="http://schemas.microsoft.com/office/drawing/2014/main" id="{84EE962C-27E2-4F1E-8858-2B4E333A6A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53" name="Line 43">
              <a:extLst>
                <a:ext uri="{FF2B5EF4-FFF2-40B4-BE49-F238E27FC236}">
                  <a16:creationId xmlns:a16="http://schemas.microsoft.com/office/drawing/2014/main" id="{CB562F07-5FCE-4307-895C-E0FE25FFA4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177" name="组合 20523">
            <a:extLst>
              <a:ext uri="{FF2B5EF4-FFF2-40B4-BE49-F238E27FC236}">
                <a16:creationId xmlns:a16="http://schemas.microsoft.com/office/drawing/2014/main" id="{CEF10F7B-B267-4144-B031-F8A9567DCA94}"/>
              </a:ext>
            </a:extLst>
          </p:cNvPr>
          <p:cNvGrpSpPr>
            <a:grpSpLocks/>
          </p:cNvGrpSpPr>
          <p:nvPr/>
        </p:nvGrpSpPr>
        <p:grpSpPr bwMode="auto">
          <a:xfrm>
            <a:off x="5768975" y="5980113"/>
            <a:ext cx="914400" cy="731837"/>
            <a:chOff x="0" y="0"/>
            <a:chExt cx="576" cy="461"/>
          </a:xfrm>
        </p:grpSpPr>
        <p:sp>
          <p:nvSpPr>
            <p:cNvPr id="20525" name="Text Box 45">
              <a:extLst>
                <a:ext uri="{FF2B5EF4-FFF2-40B4-BE49-F238E27FC236}">
                  <a16:creationId xmlns:a16="http://schemas.microsoft.com/office/drawing/2014/main" id="{BA1C8711-16D8-4918-B84F-DD5FA9723A2D}"/>
                </a:ext>
              </a:extLst>
            </p:cNvPr>
            <p:cNvSpPr txBox="1"/>
            <p:nvPr/>
          </p:nvSpPr>
          <p:spPr>
            <a:xfrm>
              <a:off x="0" y="288"/>
              <a:ext cx="336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zh-CN" altLang="zh-CN" sz="2000" noProof="1">
                  <a:effectLst>
                    <a:outerShdw blurRad="38100" dist="38100" dir="2700000" algn="tl">
                      <a:srgbClr val="C0C0C0"/>
                    </a:outerShdw>
                  </a:effectLst>
                  <a:ea typeface="楷体_GB2312" pitchFamily="1" charset="-122"/>
                  <a:cs typeface="宋体" panose="02010600030101010101" pitchFamily="2" charset="-122"/>
                </a:rPr>
                <a:t>8086</a:t>
              </a:r>
            </a:p>
          </p:txBody>
        </p:sp>
        <p:sp>
          <p:nvSpPr>
            <p:cNvPr id="92250" name="Line 46">
              <a:extLst>
                <a:ext uri="{FF2B5EF4-FFF2-40B4-BE49-F238E27FC236}">
                  <a16:creationId xmlns:a16="http://schemas.microsoft.com/office/drawing/2014/main" id="{7A3FD070-FADC-4C1A-A48B-E07C00734A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178" name="组合 20526">
            <a:extLst>
              <a:ext uri="{FF2B5EF4-FFF2-40B4-BE49-F238E27FC236}">
                <a16:creationId xmlns:a16="http://schemas.microsoft.com/office/drawing/2014/main" id="{BD04E237-BE81-458E-A841-E1EBD7AD410D}"/>
              </a:ext>
            </a:extLst>
          </p:cNvPr>
          <p:cNvGrpSpPr>
            <a:grpSpLocks/>
          </p:cNvGrpSpPr>
          <p:nvPr/>
        </p:nvGrpSpPr>
        <p:grpSpPr bwMode="auto">
          <a:xfrm>
            <a:off x="6226175" y="2551113"/>
            <a:ext cx="895350" cy="609600"/>
            <a:chOff x="0" y="0"/>
            <a:chExt cx="564" cy="384"/>
          </a:xfrm>
        </p:grpSpPr>
        <p:sp>
          <p:nvSpPr>
            <p:cNvPr id="92247" name="Text Box 48">
              <a:extLst>
                <a:ext uri="{FF2B5EF4-FFF2-40B4-BE49-F238E27FC236}">
                  <a16:creationId xmlns:a16="http://schemas.microsoft.com/office/drawing/2014/main" id="{D82FA0D0-D46C-4770-9686-845DC5912CB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0"/>
              <a:ext cx="563" cy="38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Times New Roman" panose="02020603050405020304" pitchFamily="18" charset="0"/>
                </a:rPr>
                <a:t>IP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 b="1">
                  <a:latin typeface="Times New Roman" panose="02020603050405020304" pitchFamily="18" charset="0"/>
                </a:rPr>
                <a:t>暂存器</a:t>
              </a:r>
            </a:p>
          </p:txBody>
        </p:sp>
        <p:sp>
          <p:nvSpPr>
            <p:cNvPr id="92248" name="Line 49">
              <a:extLst>
                <a:ext uri="{FF2B5EF4-FFF2-40B4-BE49-F238E27FC236}">
                  <a16:creationId xmlns:a16="http://schemas.microsoft.com/office/drawing/2014/main" id="{6792B2FD-07B4-405A-8352-0A1CEF4DD5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171"/>
              <a:ext cx="55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179" name="组合 20529">
            <a:extLst>
              <a:ext uri="{FF2B5EF4-FFF2-40B4-BE49-F238E27FC236}">
                <a16:creationId xmlns:a16="http://schemas.microsoft.com/office/drawing/2014/main" id="{2242EF16-2147-486F-9379-BE8AC7CF143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692775" y="3160713"/>
            <a:ext cx="1066800" cy="1395412"/>
            <a:chOff x="0" y="0"/>
            <a:chExt cx="672" cy="879"/>
          </a:xfrm>
        </p:grpSpPr>
        <p:sp>
          <p:nvSpPr>
            <p:cNvPr id="92245" name="AutoShape 51">
              <a:extLst>
                <a:ext uri="{FF2B5EF4-FFF2-40B4-BE49-F238E27FC236}">
                  <a16:creationId xmlns:a16="http://schemas.microsoft.com/office/drawing/2014/main" id="{B91EDD48-ACA1-4AC9-ACB9-E88CB056282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0" y="336"/>
              <a:ext cx="144" cy="543"/>
            </a:xfrm>
            <a:prstGeom prst="upDownArrow">
              <a:avLst>
                <a:gd name="adj1" fmla="val 50000"/>
                <a:gd name="adj2" fmla="val 75102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  <p:sp>
          <p:nvSpPr>
            <p:cNvPr id="92246" name="AutoShape 52">
              <a:extLst>
                <a:ext uri="{FF2B5EF4-FFF2-40B4-BE49-F238E27FC236}">
                  <a16:creationId xmlns:a16="http://schemas.microsoft.com/office/drawing/2014/main" id="{65D32143-DA71-4711-ADD0-B24483B0766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8" y="0"/>
              <a:ext cx="144" cy="879"/>
            </a:xfrm>
            <a:prstGeom prst="upDownArrow">
              <a:avLst>
                <a:gd name="adj1" fmla="val 50000"/>
                <a:gd name="adj2" fmla="val 121575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</p:grpSp>
      <p:grpSp>
        <p:nvGrpSpPr>
          <p:cNvPr id="92180" name="组合 20532">
            <a:extLst>
              <a:ext uri="{FF2B5EF4-FFF2-40B4-BE49-F238E27FC236}">
                <a16:creationId xmlns:a16="http://schemas.microsoft.com/office/drawing/2014/main" id="{6595ED9E-45D4-43FA-BDD7-1ADC432526D8}"/>
              </a:ext>
            </a:extLst>
          </p:cNvPr>
          <p:cNvGrpSpPr>
            <a:grpSpLocks/>
          </p:cNvGrpSpPr>
          <p:nvPr/>
        </p:nvGrpSpPr>
        <p:grpSpPr bwMode="auto">
          <a:xfrm>
            <a:off x="8382000" y="2159000"/>
            <a:ext cx="609600" cy="1992313"/>
            <a:chOff x="0" y="0"/>
            <a:chExt cx="384" cy="1008"/>
          </a:xfrm>
        </p:grpSpPr>
        <p:sp>
          <p:nvSpPr>
            <p:cNvPr id="92243" name="AutoShape 54">
              <a:extLst>
                <a:ext uri="{FF2B5EF4-FFF2-40B4-BE49-F238E27FC236}">
                  <a16:creationId xmlns:a16="http://schemas.microsoft.com/office/drawing/2014/main" id="{35180CE6-5055-47A8-88E3-CB6E168A69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768"/>
              <a:ext cx="384" cy="240"/>
            </a:xfrm>
            <a:prstGeom prst="leftRightArrow">
              <a:avLst>
                <a:gd name="adj1" fmla="val 50000"/>
                <a:gd name="adj2" fmla="val 32000"/>
              </a:avLst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  <p:sp>
          <p:nvSpPr>
            <p:cNvPr id="20535" name="Text Box 55">
              <a:extLst>
                <a:ext uri="{FF2B5EF4-FFF2-40B4-BE49-F238E27FC236}">
                  <a16:creationId xmlns:a16="http://schemas.microsoft.com/office/drawing/2014/main" id="{589F90F5-47F0-415F-BDA6-034FA64CC758}"/>
                </a:ext>
              </a:extLst>
            </p:cNvPr>
            <p:cNvSpPr txBox="1"/>
            <p:nvPr/>
          </p:nvSpPr>
          <p:spPr>
            <a:xfrm>
              <a:off x="96" y="0"/>
              <a:ext cx="207" cy="76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lIns="0" tIns="0" rIns="0" bIns="0">
              <a:spAutoFit/>
            </a:bodyPr>
            <a:lstStyle/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8086</a:t>
              </a:r>
              <a:r>
                <a:rPr lang="zh-CN" altLang="en-US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总线</a:t>
              </a:r>
              <a:endPara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sp>
        <p:nvSpPr>
          <p:cNvPr id="92181" name="AutoShape 56">
            <a:extLst>
              <a:ext uri="{FF2B5EF4-FFF2-40B4-BE49-F238E27FC236}">
                <a16:creationId xmlns:a16="http://schemas.microsoft.com/office/drawing/2014/main" id="{26AA8A13-F521-4065-9D9E-F1900E9C7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4508500"/>
            <a:ext cx="3670300" cy="215900"/>
          </a:xfrm>
          <a:prstGeom prst="leftRightArrow">
            <a:avLst>
              <a:gd name="adj1" fmla="val 57435"/>
              <a:gd name="adj2" fmla="val 116481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latin typeface="Garamond" panose="02020404030301010803" pitchFamily="18" charset="0"/>
            </a:endParaRPr>
          </a:p>
        </p:txBody>
      </p:sp>
      <p:sp>
        <p:nvSpPr>
          <p:cNvPr id="92182" name="AutoShape 57">
            <a:extLst>
              <a:ext uri="{FF2B5EF4-FFF2-40B4-BE49-F238E27FC236}">
                <a16:creationId xmlns:a16="http://schemas.microsoft.com/office/drawing/2014/main" id="{76CCCF65-455B-4531-A36D-FD2212CB5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9238" y="5734050"/>
            <a:ext cx="1079500" cy="90488"/>
          </a:xfrm>
          <a:prstGeom prst="leftArrow">
            <a:avLst>
              <a:gd name="adj1" fmla="val 50000"/>
              <a:gd name="adj2" fmla="val 297250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latin typeface="Garamond" panose="02020404030301010803" pitchFamily="18" charset="0"/>
            </a:endParaRPr>
          </a:p>
        </p:txBody>
      </p:sp>
      <p:sp>
        <p:nvSpPr>
          <p:cNvPr id="92183" name="Line 58">
            <a:extLst>
              <a:ext uri="{FF2B5EF4-FFF2-40B4-BE49-F238E27FC236}">
                <a16:creationId xmlns:a16="http://schemas.microsoft.com/office/drawing/2014/main" id="{501008AA-D437-49EB-A32D-DC36FC74F1A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84638" y="1851025"/>
            <a:ext cx="0" cy="43180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84" name="Rectangle 60">
            <a:extLst>
              <a:ext uri="{FF2B5EF4-FFF2-40B4-BE49-F238E27FC236}">
                <a16:creationId xmlns:a16="http://schemas.microsoft.com/office/drawing/2014/main" id="{B220D048-AEB0-4617-B25B-86C08A99B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4294188"/>
            <a:ext cx="2952750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0100</a:t>
            </a:r>
            <a:r>
              <a:rPr lang="en-US" altLang="zh-CN" sz="2000" b="1">
                <a:latin typeface="Times New Roman" panose="02020603050405020304" pitchFamily="18" charset="0"/>
              </a:rPr>
              <a:t>0</a:t>
            </a: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H(20</a:t>
            </a:r>
            <a:r>
              <a:rPr lang="zh-CN" altLang="en-US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位</a:t>
            </a: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)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+    0000H(16</a:t>
            </a:r>
            <a:r>
              <a:rPr lang="zh-CN" altLang="en-US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位</a:t>
            </a: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)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         ----------------------          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</a:rPr>
              <a:t>01000H (20</a:t>
            </a:r>
            <a:r>
              <a:rPr lang="zh-CN" altLang="en-US" sz="2000" b="1">
                <a:latin typeface="Times New Roman" panose="02020603050405020304" pitchFamily="18" charset="0"/>
              </a:rPr>
              <a:t>位</a:t>
            </a:r>
            <a:r>
              <a:rPr lang="en-US" altLang="zh-CN" sz="2000" b="1">
                <a:latin typeface="Times New Roman" panose="02020603050405020304" pitchFamily="18" charset="0"/>
              </a:rPr>
              <a:t>)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物理地址</a:t>
            </a: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(20</a:t>
            </a:r>
            <a:r>
              <a:rPr lang="zh-CN" altLang="en-US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位</a:t>
            </a: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92185" name="Text Box 75">
            <a:extLst>
              <a:ext uri="{FF2B5EF4-FFF2-40B4-BE49-F238E27FC236}">
                <a16:creationId xmlns:a16="http://schemas.microsoft.com/office/drawing/2014/main" id="{F869263B-6CF1-483B-AD24-08C979D3D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908050"/>
            <a:ext cx="2447925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CPU</a:t>
            </a:r>
            <a:r>
              <a:rPr lang="zh-CN" altLang="en-US" sz="2400" b="1">
                <a:latin typeface="Times New Roman" panose="02020603050405020304" pitchFamily="18" charset="0"/>
              </a:rPr>
              <a:t>的取指</a:t>
            </a:r>
            <a:r>
              <a:rPr lang="en-US" altLang="zh-CN" sz="2400" b="1">
                <a:latin typeface="Times New Roman" panose="02020603050405020304" pitchFamily="18" charset="0"/>
              </a:rPr>
              <a:t>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当指令队列有</a:t>
            </a: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个或</a:t>
            </a: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个以上的字节空余时</a:t>
            </a: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,BIU</a:t>
            </a:r>
            <a:r>
              <a:rPr lang="zh-CN" altLang="en-US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自动读指令</a:t>
            </a: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存入指令队列。</a:t>
            </a:r>
          </a:p>
          <a:p>
            <a:pPr>
              <a:spcBef>
                <a:spcPct val="0"/>
              </a:spcBef>
              <a:buFontTx/>
              <a:buNone/>
            </a:pPr>
            <a:endParaRPr lang="zh-CN" altLang="en-US" sz="2000" b="1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Garamond" panose="02020404030301010803" pitchFamily="18" charset="0"/>
              </a:rPr>
              <a:t>指令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Garamond" panose="02020404030301010803" pitchFamily="18" charset="0"/>
              </a:rPr>
              <a:t>MOV  AL , 5CH</a:t>
            </a:r>
            <a:endParaRPr lang="zh-CN" altLang="en-US" sz="1800" b="1">
              <a:latin typeface="Garamond" panose="02020404030301010803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Garamond" panose="02020404030301010803" pitchFamily="18" charset="0"/>
              </a:rPr>
              <a:t>ADD AL , [100H]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/>
              <a:t>…</a:t>
            </a:r>
            <a:endParaRPr lang="en-US" altLang="zh-CN" sz="2000" b="1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zh-CN" altLang="en-US" sz="2000" b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186" name="Rectangle 89">
            <a:extLst>
              <a:ext uri="{FF2B5EF4-FFF2-40B4-BE49-F238E27FC236}">
                <a16:creationId xmlns:a16="http://schemas.microsoft.com/office/drawing/2014/main" id="{533ABF60-3DD2-43FB-A6EA-B15528B7F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149725"/>
            <a:ext cx="13684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hlink"/>
                </a:solidFill>
                <a:latin typeface="Garamond" panose="02020404030301010803" pitchFamily="18" charset="0"/>
              </a:rPr>
              <a:t>CS=0100H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hlink"/>
                </a:solidFill>
                <a:latin typeface="Garamond" panose="02020404030301010803" pitchFamily="18" charset="0"/>
              </a:rPr>
              <a:t>IP=0000H </a:t>
            </a:r>
          </a:p>
        </p:txBody>
      </p:sp>
      <p:sp>
        <p:nvSpPr>
          <p:cNvPr id="20542" name="Text Box 91">
            <a:extLst>
              <a:ext uri="{FF2B5EF4-FFF2-40B4-BE49-F238E27FC236}">
                <a16:creationId xmlns:a16="http://schemas.microsoft.com/office/drawing/2014/main" id="{D1AC6C2D-67C9-4FD2-8D2A-D41CDBB4C9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2530475"/>
            <a:ext cx="895350" cy="301625"/>
          </a:xfrm>
          <a:prstGeom prst="rect">
            <a:avLst/>
          </a:prstGeom>
          <a:solidFill>
            <a:srgbClr val="FF0000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Times New Roman" panose="02020603050405020304" pitchFamily="18" charset="0"/>
              </a:rPr>
              <a:t>CS</a:t>
            </a:r>
            <a:endParaRPr lang="zh-CN" altLang="en-US" sz="1800" b="1">
              <a:latin typeface="Times New Roman" panose="02020603050405020304" pitchFamily="18" charset="0"/>
            </a:endParaRPr>
          </a:p>
        </p:txBody>
      </p:sp>
      <p:sp>
        <p:nvSpPr>
          <p:cNvPr id="20543" name="Text Box 93">
            <a:extLst>
              <a:ext uri="{FF2B5EF4-FFF2-40B4-BE49-F238E27FC236}">
                <a16:creationId xmlns:a16="http://schemas.microsoft.com/office/drawing/2014/main" id="{FE753D09-C18C-4997-9B6D-0391DFB8F8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2546350"/>
            <a:ext cx="895350" cy="301625"/>
          </a:xfrm>
          <a:prstGeom prst="rect">
            <a:avLst/>
          </a:prstGeom>
          <a:solidFill>
            <a:srgbClr val="FF0000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Times New Roman" panose="02020603050405020304" pitchFamily="18" charset="0"/>
              </a:rPr>
              <a:t>IP</a:t>
            </a:r>
            <a:endParaRPr lang="zh-CN" altLang="en-US" sz="1800" b="1">
              <a:latin typeface="Times New Roman" panose="02020603050405020304" pitchFamily="18" charset="0"/>
            </a:endParaRPr>
          </a:p>
        </p:txBody>
      </p:sp>
      <p:grpSp>
        <p:nvGrpSpPr>
          <p:cNvPr id="20544" name="组合 20543">
            <a:extLst>
              <a:ext uri="{FF2B5EF4-FFF2-40B4-BE49-F238E27FC236}">
                <a16:creationId xmlns:a16="http://schemas.microsoft.com/office/drawing/2014/main" id="{1E61231D-63DF-4439-B552-9A792CD41DBF}"/>
              </a:ext>
            </a:extLst>
          </p:cNvPr>
          <p:cNvGrpSpPr>
            <a:grpSpLocks/>
          </p:cNvGrpSpPr>
          <p:nvPr/>
        </p:nvGrpSpPr>
        <p:grpSpPr bwMode="auto">
          <a:xfrm>
            <a:off x="5473700" y="2295525"/>
            <a:ext cx="1111250" cy="230188"/>
            <a:chOff x="0" y="0"/>
            <a:chExt cx="700" cy="145"/>
          </a:xfrm>
        </p:grpSpPr>
        <p:sp>
          <p:nvSpPr>
            <p:cNvPr id="92241" name="AutoShape 95">
              <a:extLst>
                <a:ext uri="{FF2B5EF4-FFF2-40B4-BE49-F238E27FC236}">
                  <a16:creationId xmlns:a16="http://schemas.microsoft.com/office/drawing/2014/main" id="{1FF60329-BA26-4C8F-9F46-F109980158D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0" y="25"/>
              <a:ext cx="143" cy="1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  <p:sp>
          <p:nvSpPr>
            <p:cNvPr id="92242" name="AutoShape 96">
              <a:extLst>
                <a:ext uri="{FF2B5EF4-FFF2-40B4-BE49-F238E27FC236}">
                  <a16:creationId xmlns:a16="http://schemas.microsoft.com/office/drawing/2014/main" id="{33011FF6-98FC-4DB8-9414-6F2099BE38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" y="0"/>
              <a:ext cx="142" cy="141"/>
            </a:xfrm>
            <a:prstGeom prst="upDownArrow">
              <a:avLst>
                <a:gd name="adj1" fmla="val 50000"/>
                <a:gd name="adj2" fmla="val 20000"/>
              </a:avLst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</p:grpSp>
      <p:grpSp>
        <p:nvGrpSpPr>
          <p:cNvPr id="20547" name="组合 20546">
            <a:extLst>
              <a:ext uri="{FF2B5EF4-FFF2-40B4-BE49-F238E27FC236}">
                <a16:creationId xmlns:a16="http://schemas.microsoft.com/office/drawing/2014/main" id="{A33C0DE4-9A81-4331-A50D-2AEB9F16085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54638" y="1892300"/>
            <a:ext cx="1336675" cy="441325"/>
            <a:chOff x="0" y="0"/>
            <a:chExt cx="842" cy="278"/>
          </a:xfrm>
        </p:grpSpPr>
        <p:sp>
          <p:nvSpPr>
            <p:cNvPr id="92232" name="Line 98">
              <a:extLst>
                <a:ext uri="{FF2B5EF4-FFF2-40B4-BE49-F238E27FC236}">
                  <a16:creationId xmlns:a16="http://schemas.microsoft.com/office/drawing/2014/main" id="{B32FEE32-44B1-4E6B-85B5-96706BEB9A6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253" y="0"/>
              <a:ext cx="41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33" name="Line 99">
              <a:extLst>
                <a:ext uri="{FF2B5EF4-FFF2-40B4-BE49-F238E27FC236}">
                  <a16:creationId xmlns:a16="http://schemas.microsoft.com/office/drawing/2014/main" id="{504B8693-D07F-4F40-81F5-0B9BD95AFA8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0" y="5"/>
              <a:ext cx="247" cy="26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34" name="Line 100">
              <a:extLst>
                <a:ext uri="{FF2B5EF4-FFF2-40B4-BE49-F238E27FC236}">
                  <a16:creationId xmlns:a16="http://schemas.microsoft.com/office/drawing/2014/main" id="{034F19CB-029B-473A-A973-F6676FE4FE7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" y="278"/>
              <a:ext cx="21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35" name="Line 101">
              <a:extLst>
                <a:ext uri="{FF2B5EF4-FFF2-40B4-BE49-F238E27FC236}">
                  <a16:creationId xmlns:a16="http://schemas.microsoft.com/office/drawing/2014/main" id="{3A8BF0FE-D216-445E-BACD-443FBB72028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28" y="174"/>
              <a:ext cx="115" cy="10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36" name="Line 102">
              <a:extLst>
                <a:ext uri="{FF2B5EF4-FFF2-40B4-BE49-F238E27FC236}">
                  <a16:creationId xmlns:a16="http://schemas.microsoft.com/office/drawing/2014/main" id="{35EF0CAF-3C8C-4373-9E46-81AC8990605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46" y="164"/>
              <a:ext cx="17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37" name="Line 103">
              <a:extLst>
                <a:ext uri="{FF2B5EF4-FFF2-40B4-BE49-F238E27FC236}">
                  <a16:creationId xmlns:a16="http://schemas.microsoft.com/office/drawing/2014/main" id="{0091B9B2-9316-48ED-96A0-5140E1C2F5D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16" y="166"/>
              <a:ext cx="133" cy="1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38" name="Line 104">
              <a:extLst>
                <a:ext uri="{FF2B5EF4-FFF2-40B4-BE49-F238E27FC236}">
                  <a16:creationId xmlns:a16="http://schemas.microsoft.com/office/drawing/2014/main" id="{3C81DD7B-8FCF-4E5B-9502-3F45476B105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40" y="262"/>
              <a:ext cx="19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39" name="Line 105">
              <a:extLst>
                <a:ext uri="{FF2B5EF4-FFF2-40B4-BE49-F238E27FC236}">
                  <a16:creationId xmlns:a16="http://schemas.microsoft.com/office/drawing/2014/main" id="{5A6CFA4A-C385-4CF7-830B-87E842711FC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663" y="15"/>
              <a:ext cx="179" cy="25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40" name="Text Box 106">
              <a:extLst>
                <a:ext uri="{FF2B5EF4-FFF2-40B4-BE49-F238E27FC236}">
                  <a16:creationId xmlns:a16="http://schemas.microsoft.com/office/drawing/2014/main" id="{9CF144C8-811D-49B5-8B5F-F317F064B08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6" y="38"/>
              <a:ext cx="589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地址加法器</a:t>
              </a:r>
            </a:p>
          </p:txBody>
        </p:sp>
      </p:grpSp>
      <p:grpSp>
        <p:nvGrpSpPr>
          <p:cNvPr id="20557" name="组合 20556">
            <a:extLst>
              <a:ext uri="{FF2B5EF4-FFF2-40B4-BE49-F238E27FC236}">
                <a16:creationId xmlns:a16="http://schemas.microsoft.com/office/drawing/2014/main" id="{26F841EA-1A56-4C15-AA08-6C759E4DF235}"/>
              </a:ext>
            </a:extLst>
          </p:cNvPr>
          <p:cNvGrpSpPr>
            <a:grpSpLocks/>
          </p:cNvGrpSpPr>
          <p:nvPr/>
        </p:nvGrpSpPr>
        <p:grpSpPr bwMode="auto">
          <a:xfrm>
            <a:off x="6002338" y="1287463"/>
            <a:ext cx="2009775" cy="579437"/>
            <a:chOff x="0" y="0"/>
            <a:chExt cx="1266" cy="365"/>
          </a:xfrm>
        </p:grpSpPr>
        <p:sp>
          <p:nvSpPr>
            <p:cNvPr id="92230" name="AutoShape 109">
              <a:extLst>
                <a:ext uri="{FF2B5EF4-FFF2-40B4-BE49-F238E27FC236}">
                  <a16:creationId xmlns:a16="http://schemas.microsoft.com/office/drawing/2014/main" id="{9A969D2D-CB8A-47AA-BFB2-8D501EB3A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" y="0"/>
              <a:ext cx="1146" cy="249"/>
            </a:xfrm>
            <a:prstGeom prst="rightArrow">
              <a:avLst>
                <a:gd name="adj1" fmla="val 50000"/>
                <a:gd name="adj2" fmla="val 114677"/>
              </a:avLst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  <p:sp>
          <p:nvSpPr>
            <p:cNvPr id="92231" name="Rectangle 110">
              <a:extLst>
                <a:ext uri="{FF2B5EF4-FFF2-40B4-BE49-F238E27FC236}">
                  <a16:creationId xmlns:a16="http://schemas.microsoft.com/office/drawing/2014/main" id="{775A692C-BA0F-4ABA-BA50-046B1BF265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3"/>
              <a:ext cx="128" cy="302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</p:grpSp>
      <p:sp>
        <p:nvSpPr>
          <p:cNvPr id="20560" name="Text Box 111">
            <a:extLst>
              <a:ext uri="{FF2B5EF4-FFF2-40B4-BE49-F238E27FC236}">
                <a16:creationId xmlns:a16="http://schemas.microsoft.com/office/drawing/2014/main" id="{CAEA1FA8-383A-4FAE-AB55-CE8F76FAEF5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980363" y="1333500"/>
            <a:ext cx="388937" cy="5081588"/>
          </a:xfrm>
          <a:prstGeom prst="rect">
            <a:avLst/>
          </a:prstGeom>
          <a:solidFill>
            <a:srgbClr val="FF0000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9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总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线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控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制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逻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辑</a:t>
            </a:r>
          </a:p>
        </p:txBody>
      </p:sp>
      <p:grpSp>
        <p:nvGrpSpPr>
          <p:cNvPr id="20561" name="组合 20560">
            <a:extLst>
              <a:ext uri="{FF2B5EF4-FFF2-40B4-BE49-F238E27FC236}">
                <a16:creationId xmlns:a16="http://schemas.microsoft.com/office/drawing/2014/main" id="{EED1ABA9-A9A1-422D-BBD9-D27F9B680574}"/>
              </a:ext>
            </a:extLst>
          </p:cNvPr>
          <p:cNvGrpSpPr>
            <a:grpSpLocks/>
          </p:cNvGrpSpPr>
          <p:nvPr/>
        </p:nvGrpSpPr>
        <p:grpSpPr bwMode="auto">
          <a:xfrm>
            <a:off x="8388350" y="3644900"/>
            <a:ext cx="609600" cy="2143125"/>
            <a:chOff x="0" y="0"/>
            <a:chExt cx="384" cy="1104"/>
          </a:xfrm>
        </p:grpSpPr>
        <p:sp>
          <p:nvSpPr>
            <p:cNvPr id="92228" name="AutoShape 113">
              <a:extLst>
                <a:ext uri="{FF2B5EF4-FFF2-40B4-BE49-F238E27FC236}">
                  <a16:creationId xmlns:a16="http://schemas.microsoft.com/office/drawing/2014/main" id="{FEA0CEAE-3663-4614-8EA6-2FEDBF8604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84" cy="299"/>
            </a:xfrm>
            <a:prstGeom prst="leftRightArrow">
              <a:avLst>
                <a:gd name="adj1" fmla="val 50000"/>
                <a:gd name="adj2" fmla="val 25579"/>
              </a:avLst>
            </a:prstGeom>
            <a:solidFill>
              <a:srgbClr val="FF0000"/>
            </a:soli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  <p:sp>
          <p:nvSpPr>
            <p:cNvPr id="20563" name="Text Box 114">
              <a:extLst>
                <a:ext uri="{FF2B5EF4-FFF2-40B4-BE49-F238E27FC236}">
                  <a16:creationId xmlns:a16="http://schemas.microsoft.com/office/drawing/2014/main" id="{BE9BB631-28CB-4721-B428-A4E3E78C0D2A}"/>
                </a:ext>
              </a:extLst>
            </p:cNvPr>
            <p:cNvSpPr txBox="1"/>
            <p:nvPr/>
          </p:nvSpPr>
          <p:spPr>
            <a:xfrm>
              <a:off x="91" y="148"/>
              <a:ext cx="207" cy="956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lIns="0" tIns="0" rIns="0" bIns="0">
              <a:spAutoFit/>
            </a:bodyPr>
            <a:lstStyle/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zh-CN" altLang="en-US" sz="2400" noProof="1">
                  <a:solidFill>
                    <a:srgbClr val="FF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地址总线</a:t>
              </a:r>
              <a:endParaRPr lang="zh-CN" altLang="en-US" sz="240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grpSp>
        <p:nvGrpSpPr>
          <p:cNvPr id="20564" name="组合 20563">
            <a:extLst>
              <a:ext uri="{FF2B5EF4-FFF2-40B4-BE49-F238E27FC236}">
                <a16:creationId xmlns:a16="http://schemas.microsoft.com/office/drawing/2014/main" id="{558F607D-B6BF-414A-98D2-214619AADDF3}"/>
              </a:ext>
            </a:extLst>
          </p:cNvPr>
          <p:cNvGrpSpPr>
            <a:grpSpLocks/>
          </p:cNvGrpSpPr>
          <p:nvPr/>
        </p:nvGrpSpPr>
        <p:grpSpPr bwMode="auto">
          <a:xfrm>
            <a:off x="8388350" y="3644900"/>
            <a:ext cx="609600" cy="2160588"/>
            <a:chOff x="0" y="0"/>
            <a:chExt cx="384" cy="1104"/>
          </a:xfrm>
        </p:grpSpPr>
        <p:sp>
          <p:nvSpPr>
            <p:cNvPr id="92226" name="AutoShape 117">
              <a:extLst>
                <a:ext uri="{FF2B5EF4-FFF2-40B4-BE49-F238E27FC236}">
                  <a16:creationId xmlns:a16="http://schemas.microsoft.com/office/drawing/2014/main" id="{96C1140E-BCB3-4310-AC42-0FFBEF0F5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84" cy="299"/>
            </a:xfrm>
            <a:prstGeom prst="leftRightArrow">
              <a:avLst>
                <a:gd name="adj1" fmla="val 50000"/>
                <a:gd name="adj2" fmla="val 25579"/>
              </a:avLst>
            </a:prstGeom>
            <a:solidFill>
              <a:srgbClr val="FF9900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  <p:sp>
          <p:nvSpPr>
            <p:cNvPr id="20566" name="Text Box 118">
              <a:extLst>
                <a:ext uri="{FF2B5EF4-FFF2-40B4-BE49-F238E27FC236}">
                  <a16:creationId xmlns:a16="http://schemas.microsoft.com/office/drawing/2014/main" id="{7F8DDDC8-6D3F-49D9-B021-E5D1A7192D5D}"/>
                </a:ext>
              </a:extLst>
            </p:cNvPr>
            <p:cNvSpPr txBox="1"/>
            <p:nvPr/>
          </p:nvSpPr>
          <p:spPr>
            <a:xfrm>
              <a:off x="91" y="148"/>
              <a:ext cx="207" cy="956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lIns="0" tIns="0" rIns="0" bIns="0">
              <a:spAutoFit/>
            </a:bodyPr>
            <a:lstStyle/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zh-CN" altLang="en-US" sz="2400" noProof="1"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数据总线</a:t>
              </a:r>
              <a:endParaRPr lang="zh-CN" altLang="en-US" sz="24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sp>
        <p:nvSpPr>
          <p:cNvPr id="20567" name="AutoShape 120">
            <a:extLst>
              <a:ext uri="{FF2B5EF4-FFF2-40B4-BE49-F238E27FC236}">
                <a16:creationId xmlns:a16="http://schemas.microsoft.com/office/drawing/2014/main" id="{DF32B2A2-F986-41DE-B3C8-7309A1AA0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8138" y="5670550"/>
            <a:ext cx="1270000" cy="198438"/>
          </a:xfrm>
          <a:prstGeom prst="leftArrow">
            <a:avLst>
              <a:gd name="adj1" fmla="val 50000"/>
              <a:gd name="adj2" fmla="val 159466"/>
            </a:avLst>
          </a:prstGeom>
          <a:solidFill>
            <a:schemeClr val="hlink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latin typeface="Garamond" panose="02020404030301010803" pitchFamily="18" charset="0"/>
            </a:endParaRPr>
          </a:p>
        </p:txBody>
      </p:sp>
      <p:sp>
        <p:nvSpPr>
          <p:cNvPr id="20568" name="Text Box 121">
            <a:extLst>
              <a:ext uri="{FF2B5EF4-FFF2-40B4-BE49-F238E27FC236}">
                <a16:creationId xmlns:a16="http://schemas.microsoft.com/office/drawing/2014/main" id="{A94DE9CE-4AAD-4828-BF7F-2D867035258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985125" y="1331913"/>
            <a:ext cx="388938" cy="5081587"/>
          </a:xfrm>
          <a:prstGeom prst="rect">
            <a:avLst/>
          </a:prstGeom>
          <a:solidFill>
            <a:schemeClr val="hlink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9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总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线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控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制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逻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辑</a:t>
            </a:r>
          </a:p>
        </p:txBody>
      </p:sp>
      <p:sp>
        <p:nvSpPr>
          <p:cNvPr id="92197" name="Text Box 130">
            <a:extLst>
              <a:ext uri="{FF2B5EF4-FFF2-40B4-BE49-F238E27FC236}">
                <a16:creationId xmlns:a16="http://schemas.microsoft.com/office/drawing/2014/main" id="{3DF789DB-3C64-4D16-B716-F882A5179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589588"/>
            <a:ext cx="2873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>
                <a:latin typeface="Garamond" panose="02020404030301010803" pitchFamily="18" charset="0"/>
              </a:rPr>
              <a:t>1</a:t>
            </a:r>
          </a:p>
        </p:txBody>
      </p:sp>
      <p:sp>
        <p:nvSpPr>
          <p:cNvPr id="20570" name="Text Box 132">
            <a:extLst>
              <a:ext uri="{FF2B5EF4-FFF2-40B4-BE49-F238E27FC236}">
                <a16:creationId xmlns:a16="http://schemas.microsoft.com/office/drawing/2014/main" id="{541D85B4-5021-4F77-9E64-A5CF0F26D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5589588"/>
            <a:ext cx="233362" cy="357187"/>
          </a:xfrm>
          <a:prstGeom prst="rect">
            <a:avLst/>
          </a:prstGeom>
          <a:solidFill>
            <a:schemeClr val="hlink"/>
          </a:solidFill>
          <a:ln w="28575">
            <a:solidFill>
              <a:srgbClr val="33CCCC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0571" name="Text Box 139">
            <a:extLst>
              <a:ext uri="{FF2B5EF4-FFF2-40B4-BE49-F238E27FC236}">
                <a16:creationId xmlns:a16="http://schemas.microsoft.com/office/drawing/2014/main" id="{76BF51FB-C278-4D9B-B9FF-604E5498D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4963" y="5589588"/>
            <a:ext cx="233362" cy="357187"/>
          </a:xfrm>
          <a:prstGeom prst="rect">
            <a:avLst/>
          </a:prstGeom>
          <a:solidFill>
            <a:schemeClr val="hlink"/>
          </a:solidFill>
          <a:ln w="28575">
            <a:solidFill>
              <a:srgbClr val="33CCCC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0572" name="Text Box 140">
            <a:extLst>
              <a:ext uri="{FF2B5EF4-FFF2-40B4-BE49-F238E27FC236}">
                <a16:creationId xmlns:a16="http://schemas.microsoft.com/office/drawing/2014/main" id="{1419C6D7-2117-4C49-865F-0385FC58B0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8963" y="5589588"/>
            <a:ext cx="233362" cy="357187"/>
          </a:xfrm>
          <a:prstGeom prst="rect">
            <a:avLst/>
          </a:prstGeom>
          <a:solidFill>
            <a:schemeClr val="hlink"/>
          </a:solidFill>
          <a:ln w="28575">
            <a:solidFill>
              <a:srgbClr val="33CCCC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0573" name="Text Box 141">
            <a:extLst>
              <a:ext uri="{FF2B5EF4-FFF2-40B4-BE49-F238E27FC236}">
                <a16:creationId xmlns:a16="http://schemas.microsoft.com/office/drawing/2014/main" id="{6C129FBD-3D4B-4EB5-944D-062933AC00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0" y="5589588"/>
            <a:ext cx="233363" cy="357187"/>
          </a:xfrm>
          <a:prstGeom prst="rect">
            <a:avLst/>
          </a:prstGeom>
          <a:solidFill>
            <a:schemeClr val="hlink"/>
          </a:solidFill>
          <a:ln w="28575">
            <a:solidFill>
              <a:srgbClr val="33CCCC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0574" name="Text Box 142">
            <a:extLst>
              <a:ext uri="{FF2B5EF4-FFF2-40B4-BE49-F238E27FC236}">
                <a16:creationId xmlns:a16="http://schemas.microsoft.com/office/drawing/2014/main" id="{74DF5D11-96B8-4135-93A2-A0BC5D92B8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6013" y="5589588"/>
            <a:ext cx="233362" cy="357187"/>
          </a:xfrm>
          <a:prstGeom prst="rect">
            <a:avLst/>
          </a:prstGeom>
          <a:solidFill>
            <a:schemeClr val="hlink"/>
          </a:solidFill>
          <a:ln w="28575">
            <a:solidFill>
              <a:srgbClr val="33CCCC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0575" name="Text Box 143">
            <a:extLst>
              <a:ext uri="{FF2B5EF4-FFF2-40B4-BE49-F238E27FC236}">
                <a16:creationId xmlns:a16="http://schemas.microsoft.com/office/drawing/2014/main" id="{FF96F2F4-EA6C-4053-9AFC-9BCBC99D71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9063" y="5589588"/>
            <a:ext cx="233362" cy="357187"/>
          </a:xfrm>
          <a:prstGeom prst="rect">
            <a:avLst/>
          </a:prstGeom>
          <a:solidFill>
            <a:schemeClr val="hlink"/>
          </a:solidFill>
          <a:ln w="28575">
            <a:solidFill>
              <a:srgbClr val="33CCCC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20576" name="Text Box 144">
            <a:extLst>
              <a:ext uri="{FF2B5EF4-FFF2-40B4-BE49-F238E27FC236}">
                <a16:creationId xmlns:a16="http://schemas.microsoft.com/office/drawing/2014/main" id="{992E9F98-C64E-43AC-820E-477ACB5550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025" y="5949950"/>
            <a:ext cx="1439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Times New Roman" panose="02020603050405020304" pitchFamily="18" charset="0"/>
              </a:rPr>
              <a:t>指令代码</a:t>
            </a:r>
          </a:p>
        </p:txBody>
      </p:sp>
      <p:sp>
        <p:nvSpPr>
          <p:cNvPr id="20577" name="AutoShape 145">
            <a:extLst>
              <a:ext uri="{FF2B5EF4-FFF2-40B4-BE49-F238E27FC236}">
                <a16:creationId xmlns:a16="http://schemas.microsoft.com/office/drawing/2014/main" id="{383859A0-2C3A-4330-B8DA-109F1B4DB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5734050"/>
            <a:ext cx="1079500" cy="90488"/>
          </a:xfrm>
          <a:prstGeom prst="leftArrow">
            <a:avLst>
              <a:gd name="adj1" fmla="val 50000"/>
              <a:gd name="adj2" fmla="val 297250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latin typeface="Garamond" panose="02020404030301010803" pitchFamily="18" charset="0"/>
            </a:endParaRPr>
          </a:p>
        </p:txBody>
      </p:sp>
      <p:sp>
        <p:nvSpPr>
          <p:cNvPr id="20578" name="AutoShape 146">
            <a:extLst>
              <a:ext uri="{FF2B5EF4-FFF2-40B4-BE49-F238E27FC236}">
                <a16:creationId xmlns:a16="http://schemas.microsoft.com/office/drawing/2014/main" id="{2269E15D-3947-4995-AAAF-73A5425460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92650" y="4652963"/>
            <a:ext cx="95250" cy="1084262"/>
          </a:xfrm>
          <a:prstGeom prst="upArrow">
            <a:avLst>
              <a:gd name="adj1" fmla="val 50000"/>
              <a:gd name="adj2" fmla="val 283635"/>
            </a:avLst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latin typeface="Garamond" panose="02020404030301010803" pitchFamily="18" charset="0"/>
            </a:endParaRPr>
          </a:p>
        </p:txBody>
      </p:sp>
      <p:grpSp>
        <p:nvGrpSpPr>
          <p:cNvPr id="92207" name="组合 20578">
            <a:extLst>
              <a:ext uri="{FF2B5EF4-FFF2-40B4-BE49-F238E27FC236}">
                <a16:creationId xmlns:a16="http://schemas.microsoft.com/office/drawing/2014/main" id="{5E280409-779E-4D83-B2C1-E2AB9B0A6186}"/>
              </a:ext>
            </a:extLst>
          </p:cNvPr>
          <p:cNvGrpSpPr>
            <a:grpSpLocks/>
          </p:cNvGrpSpPr>
          <p:nvPr/>
        </p:nvGrpSpPr>
        <p:grpSpPr bwMode="auto">
          <a:xfrm>
            <a:off x="2089150" y="2492375"/>
            <a:ext cx="1438275" cy="2736850"/>
            <a:chOff x="0" y="0"/>
            <a:chExt cx="906" cy="1724"/>
          </a:xfrm>
        </p:grpSpPr>
        <p:sp>
          <p:nvSpPr>
            <p:cNvPr id="92210" name="Text Box 148">
              <a:extLst>
                <a:ext uri="{FF2B5EF4-FFF2-40B4-BE49-F238E27FC236}">
                  <a16:creationId xmlns:a16="http://schemas.microsoft.com/office/drawing/2014/main" id="{78CD3223-A5D4-473B-983A-41DFFE6338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" y="0"/>
              <a:ext cx="839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latin typeface="Times New Roman" panose="02020603050405020304" pitchFamily="18" charset="0"/>
                </a:rPr>
                <a:t>内存储器</a:t>
              </a:r>
            </a:p>
            <a:p>
              <a:pPr algn="r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latin typeface="Times New Roman" panose="02020603050405020304" pitchFamily="18" charset="0"/>
                </a:rPr>
                <a:t>（程序段）</a:t>
              </a:r>
            </a:p>
          </p:txBody>
        </p:sp>
        <p:sp>
          <p:nvSpPr>
            <p:cNvPr id="92211" name="AutoShape 149">
              <a:extLst>
                <a:ext uri="{FF2B5EF4-FFF2-40B4-BE49-F238E27FC236}">
                  <a16:creationId xmlns:a16="http://schemas.microsoft.com/office/drawing/2014/main" id="{1A9B2675-C2AA-4EFC-AE64-2CF11D4CF1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" y="474"/>
              <a:ext cx="399" cy="1250"/>
            </a:xfrm>
            <a:prstGeom prst="flowChartDocumen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  <p:sp>
          <p:nvSpPr>
            <p:cNvPr id="92212" name="Text Box 150">
              <a:extLst>
                <a:ext uri="{FF2B5EF4-FFF2-40B4-BE49-F238E27FC236}">
                  <a16:creationId xmlns:a16="http://schemas.microsoft.com/office/drawing/2014/main" id="{D82D5557-4C38-4425-B103-B696C19AA9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" y="473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B0H</a:t>
              </a:r>
            </a:p>
          </p:txBody>
        </p:sp>
        <p:sp>
          <p:nvSpPr>
            <p:cNvPr id="92213" name="Text Box 151">
              <a:extLst>
                <a:ext uri="{FF2B5EF4-FFF2-40B4-BE49-F238E27FC236}">
                  <a16:creationId xmlns:a16="http://schemas.microsoft.com/office/drawing/2014/main" id="{6A76911C-9FCB-48C7-9BB9-6F88651EC0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" y="637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rgbClr val="FF66CC"/>
                  </a:solidFill>
                  <a:latin typeface="Times New Roman" panose="02020603050405020304" pitchFamily="18" charset="0"/>
                </a:rPr>
                <a:t>5CH</a:t>
              </a:r>
            </a:p>
          </p:txBody>
        </p:sp>
        <p:sp>
          <p:nvSpPr>
            <p:cNvPr id="92214" name="Text Box 152">
              <a:extLst>
                <a:ext uri="{FF2B5EF4-FFF2-40B4-BE49-F238E27FC236}">
                  <a16:creationId xmlns:a16="http://schemas.microsoft.com/office/drawing/2014/main" id="{BAD97126-09F2-4104-A7BB-037FEEA158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" y="309"/>
              <a:ext cx="357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latin typeface="Times New Roman" panose="02020603050405020304" pitchFamily="18" charset="0"/>
                </a:rPr>
                <a:t>地址</a:t>
              </a:r>
            </a:p>
          </p:txBody>
        </p:sp>
        <p:sp>
          <p:nvSpPr>
            <p:cNvPr id="92215" name="Text Box 153">
              <a:extLst>
                <a:ext uri="{FF2B5EF4-FFF2-40B4-BE49-F238E27FC236}">
                  <a16:creationId xmlns:a16="http://schemas.microsoft.com/office/drawing/2014/main" id="{D3AC85CF-7617-4CBF-A4F8-E27DA03D3C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" y="642"/>
              <a:ext cx="444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01001H</a:t>
              </a:r>
            </a:p>
          </p:txBody>
        </p:sp>
        <p:sp>
          <p:nvSpPr>
            <p:cNvPr id="92216" name="Text Box 154">
              <a:extLst>
                <a:ext uri="{FF2B5EF4-FFF2-40B4-BE49-F238E27FC236}">
                  <a16:creationId xmlns:a16="http://schemas.microsoft.com/office/drawing/2014/main" id="{F1A52D2F-EB2F-4FE8-9B90-0D4CA7D1F2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" y="780"/>
              <a:ext cx="444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01002H</a:t>
              </a:r>
            </a:p>
          </p:txBody>
        </p:sp>
        <p:sp>
          <p:nvSpPr>
            <p:cNvPr id="92217" name="Text Box 155">
              <a:extLst>
                <a:ext uri="{FF2B5EF4-FFF2-40B4-BE49-F238E27FC236}">
                  <a16:creationId xmlns:a16="http://schemas.microsoft.com/office/drawing/2014/main" id="{33EA9E2A-CA21-43E5-8034-73BAEF56A8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004"/>
              <a:ext cx="490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01003H</a:t>
              </a:r>
            </a:p>
          </p:txBody>
        </p:sp>
        <p:sp>
          <p:nvSpPr>
            <p:cNvPr id="92218" name="Text Box 156">
              <a:extLst>
                <a:ext uri="{FF2B5EF4-FFF2-40B4-BE49-F238E27FC236}">
                  <a16:creationId xmlns:a16="http://schemas.microsoft.com/office/drawing/2014/main" id="{95DD6335-4D06-40DA-8C96-B50443CA75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" y="298"/>
              <a:ext cx="35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latin typeface="Times New Roman" panose="02020603050405020304" pitchFamily="18" charset="0"/>
                </a:rPr>
                <a:t>内容</a:t>
              </a:r>
            </a:p>
          </p:txBody>
        </p:sp>
        <p:sp>
          <p:nvSpPr>
            <p:cNvPr id="92219" name="Text Box 157">
              <a:extLst>
                <a:ext uri="{FF2B5EF4-FFF2-40B4-BE49-F238E27FC236}">
                  <a16:creationId xmlns:a16="http://schemas.microsoft.com/office/drawing/2014/main" id="{3D0213DA-0813-4A18-BAFC-7E4FE7845B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" y="473"/>
              <a:ext cx="444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01000H</a:t>
              </a:r>
            </a:p>
          </p:txBody>
        </p:sp>
        <p:sp>
          <p:nvSpPr>
            <p:cNvPr id="92220" name="Text Box 158">
              <a:extLst>
                <a:ext uri="{FF2B5EF4-FFF2-40B4-BE49-F238E27FC236}">
                  <a16:creationId xmlns:a16="http://schemas.microsoft.com/office/drawing/2014/main" id="{650F9ADE-5553-433B-B625-053EE78790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" y="799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02H</a:t>
              </a:r>
            </a:p>
          </p:txBody>
        </p:sp>
        <p:sp>
          <p:nvSpPr>
            <p:cNvPr id="92221" name="Text Box 159">
              <a:extLst>
                <a:ext uri="{FF2B5EF4-FFF2-40B4-BE49-F238E27FC236}">
                  <a16:creationId xmlns:a16="http://schemas.microsoft.com/office/drawing/2014/main" id="{A92D7CA4-7E36-4280-A0DE-482B38B348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" y="967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06H</a:t>
              </a:r>
            </a:p>
          </p:txBody>
        </p:sp>
        <p:sp>
          <p:nvSpPr>
            <p:cNvPr id="92222" name="Text Box 160">
              <a:extLst>
                <a:ext uri="{FF2B5EF4-FFF2-40B4-BE49-F238E27FC236}">
                  <a16:creationId xmlns:a16="http://schemas.microsoft.com/office/drawing/2014/main" id="{C5CCCFE3-8C6F-4F01-8893-D40CD814A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" y="1132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00H</a:t>
              </a:r>
            </a:p>
          </p:txBody>
        </p:sp>
        <p:sp>
          <p:nvSpPr>
            <p:cNvPr id="92223" name="Text Box 161">
              <a:extLst>
                <a:ext uri="{FF2B5EF4-FFF2-40B4-BE49-F238E27FC236}">
                  <a16:creationId xmlns:a16="http://schemas.microsoft.com/office/drawing/2014/main" id="{5D9956C6-C047-494C-8656-507D1B7BE2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" y="1295"/>
              <a:ext cx="399" cy="165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01H</a:t>
              </a:r>
            </a:p>
          </p:txBody>
        </p:sp>
        <p:sp>
          <p:nvSpPr>
            <p:cNvPr id="92224" name="Text Box 162">
              <a:extLst>
                <a:ext uri="{FF2B5EF4-FFF2-40B4-BE49-F238E27FC236}">
                  <a16:creationId xmlns:a16="http://schemas.microsoft.com/office/drawing/2014/main" id="{E4830895-F519-4A42-9942-95FE4E28A2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" y="1165"/>
              <a:ext cx="442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01004H</a:t>
              </a:r>
            </a:p>
          </p:txBody>
        </p:sp>
        <p:sp>
          <p:nvSpPr>
            <p:cNvPr id="92225" name="Text Box 163">
              <a:extLst>
                <a:ext uri="{FF2B5EF4-FFF2-40B4-BE49-F238E27FC236}">
                  <a16:creationId xmlns:a16="http://schemas.microsoft.com/office/drawing/2014/main" id="{05C8F24F-A867-4F76-83C4-C619105261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" y="1298"/>
              <a:ext cx="44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01005H</a:t>
              </a:r>
            </a:p>
          </p:txBody>
        </p:sp>
      </p:grpSp>
      <p:sp>
        <p:nvSpPr>
          <p:cNvPr id="92208" name="未知">
            <a:extLst>
              <a:ext uri="{FF2B5EF4-FFF2-40B4-BE49-F238E27FC236}">
                <a16:creationId xmlns:a16="http://schemas.microsoft.com/office/drawing/2014/main" id="{5C5861DE-2958-4D18-A67F-CA16B10E4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3154363"/>
            <a:ext cx="1571625" cy="3167062"/>
          </a:xfrm>
          <a:custGeom>
            <a:avLst/>
            <a:gdLst>
              <a:gd name="T0" fmla="*/ 0 w 1081"/>
              <a:gd name="T1" fmla="*/ 2147483646 h 1995"/>
              <a:gd name="T2" fmla="*/ 2147483646 w 1081"/>
              <a:gd name="T3" fmla="*/ 2147483646 h 1995"/>
              <a:gd name="T4" fmla="*/ 2147483646 w 1081"/>
              <a:gd name="T5" fmla="*/ 2147483646 h 1995"/>
              <a:gd name="T6" fmla="*/ 2147483646 w 1081"/>
              <a:gd name="T7" fmla="*/ 2147483646 h 1995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81" h="1995">
                <a:moveTo>
                  <a:pt x="0" y="1942"/>
                </a:moveTo>
                <a:cubicBezTo>
                  <a:pt x="366" y="1968"/>
                  <a:pt x="733" y="1995"/>
                  <a:pt x="907" y="1715"/>
                </a:cubicBezTo>
                <a:cubicBezTo>
                  <a:pt x="1081" y="1435"/>
                  <a:pt x="1073" y="528"/>
                  <a:pt x="1043" y="264"/>
                </a:cubicBezTo>
                <a:cubicBezTo>
                  <a:pt x="1013" y="0"/>
                  <a:pt x="779" y="151"/>
                  <a:pt x="726" y="128"/>
                </a:cubicBezTo>
              </a:path>
            </a:pathLst>
          </a:custGeom>
          <a:noFill/>
          <a:ln w="222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185" name="灯片编号占位符 1">
            <a:extLst>
              <a:ext uri="{FF2B5EF4-FFF2-40B4-BE49-F238E27FC236}">
                <a16:creationId xmlns:a16="http://schemas.microsoft.com/office/drawing/2014/main" id="{8C4C00E5-F3FF-498D-A0F0-03652605F7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457200" y="6245225"/>
            <a:ext cx="2133600" cy="4762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FontTx/>
              <a:buNone/>
              <a:defRPr/>
            </a:pPr>
            <a:fld id="{D4FF6E69-1287-40A3-BEDD-6CE40B3763EF}" type="slidenum">
              <a:rPr altLang="en-US" sz="1400" smtClean="0">
                <a:latin typeface="Garamond" panose="02020404030301010803" pitchFamily="18" charset="0"/>
              </a:rPr>
              <a:pPr algn="l">
                <a:spcBef>
                  <a:spcPct val="0"/>
                </a:spcBef>
                <a:buFontTx/>
                <a:buNone/>
                <a:defRPr/>
              </a:pPr>
              <a:t>39</a:t>
            </a:fld>
            <a:endParaRPr lang="zh-CN" altLang="en-US" sz="140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5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5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5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05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05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05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05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0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0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0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0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0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20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0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7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20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20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20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42" grpId="0" animBg="1"/>
      <p:bldP spid="20543" grpId="0" animBg="1"/>
      <p:bldP spid="20560" grpId="0" animBg="1"/>
      <p:bldP spid="20567" grpId="0" animBg="1"/>
      <p:bldP spid="20568" grpId="0" animBg="1"/>
      <p:bldP spid="20570" grpId="0" animBg="1"/>
      <p:bldP spid="20571" grpId="0" animBg="1"/>
      <p:bldP spid="20572" grpId="0" animBg="1"/>
      <p:bldP spid="20573" grpId="0" animBg="1"/>
      <p:bldP spid="20574" grpId="0" animBg="1"/>
      <p:bldP spid="20575" grpId="0" animBg="1"/>
      <p:bldP spid="20576" grpId="0"/>
      <p:bldP spid="20577" grpId="0" animBg="1"/>
      <p:bldP spid="2057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86" name="组合 21505">
            <a:extLst>
              <a:ext uri="{FF2B5EF4-FFF2-40B4-BE49-F238E27FC236}">
                <a16:creationId xmlns:a16="http://schemas.microsoft.com/office/drawing/2014/main" id="{AC3FD86A-223F-4EC4-95FB-FFBBB50BA22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692775" y="3160713"/>
            <a:ext cx="1066800" cy="1395412"/>
            <a:chOff x="0" y="0"/>
            <a:chExt cx="672" cy="879"/>
          </a:xfrm>
        </p:grpSpPr>
        <p:sp>
          <p:nvSpPr>
            <p:cNvPr id="93297" name="AutoShape 51">
              <a:extLst>
                <a:ext uri="{FF2B5EF4-FFF2-40B4-BE49-F238E27FC236}">
                  <a16:creationId xmlns:a16="http://schemas.microsoft.com/office/drawing/2014/main" id="{978A79E9-83EB-48DB-8490-928920E5C74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0" y="336"/>
              <a:ext cx="144" cy="543"/>
            </a:xfrm>
            <a:prstGeom prst="upDownArrow">
              <a:avLst>
                <a:gd name="adj1" fmla="val 50000"/>
                <a:gd name="adj2" fmla="val 75102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  <p:sp>
          <p:nvSpPr>
            <p:cNvPr id="93298" name="AutoShape 52">
              <a:extLst>
                <a:ext uri="{FF2B5EF4-FFF2-40B4-BE49-F238E27FC236}">
                  <a16:creationId xmlns:a16="http://schemas.microsoft.com/office/drawing/2014/main" id="{4F036B0A-95E4-4A10-B928-31E919B6112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8" y="0"/>
              <a:ext cx="144" cy="879"/>
            </a:xfrm>
            <a:prstGeom prst="upDownArrow">
              <a:avLst>
                <a:gd name="adj1" fmla="val 50000"/>
                <a:gd name="adj2" fmla="val 121575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</p:grpSp>
      <p:grpSp>
        <p:nvGrpSpPr>
          <p:cNvPr id="21509" name="组合 21508">
            <a:extLst>
              <a:ext uri="{FF2B5EF4-FFF2-40B4-BE49-F238E27FC236}">
                <a16:creationId xmlns:a16="http://schemas.microsoft.com/office/drawing/2014/main" id="{6C5BECC1-A325-4089-961D-23C42DAC071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699125" y="3160713"/>
            <a:ext cx="1066800" cy="1395412"/>
            <a:chOff x="0" y="0"/>
            <a:chExt cx="672" cy="879"/>
          </a:xfrm>
        </p:grpSpPr>
        <p:sp>
          <p:nvSpPr>
            <p:cNvPr id="93295" name="AutoShape 136">
              <a:extLst>
                <a:ext uri="{FF2B5EF4-FFF2-40B4-BE49-F238E27FC236}">
                  <a16:creationId xmlns:a16="http://schemas.microsoft.com/office/drawing/2014/main" id="{8E215DB9-817F-43EB-B308-46A7D92B03F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0" y="336"/>
              <a:ext cx="144" cy="543"/>
            </a:xfrm>
            <a:prstGeom prst="upDownArrow">
              <a:avLst>
                <a:gd name="adj1" fmla="val 50000"/>
                <a:gd name="adj2" fmla="val 75102"/>
              </a:avLst>
            </a:pr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  <p:sp>
          <p:nvSpPr>
            <p:cNvPr id="93296" name="AutoShape 137">
              <a:extLst>
                <a:ext uri="{FF2B5EF4-FFF2-40B4-BE49-F238E27FC236}">
                  <a16:creationId xmlns:a16="http://schemas.microsoft.com/office/drawing/2014/main" id="{F5A78103-6A88-4FE0-A14A-4BC01CCB65F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8" y="0"/>
              <a:ext cx="144" cy="879"/>
            </a:xfrm>
            <a:prstGeom prst="upDownArrow">
              <a:avLst>
                <a:gd name="adj1" fmla="val 50000"/>
                <a:gd name="adj2" fmla="val 121575"/>
              </a:avLst>
            </a:pr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</p:grpSp>
      <p:sp>
        <p:nvSpPr>
          <p:cNvPr id="93188" name="AutoShape 130">
            <a:extLst>
              <a:ext uri="{FF2B5EF4-FFF2-40B4-BE49-F238E27FC236}">
                <a16:creationId xmlns:a16="http://schemas.microsoft.com/office/drawing/2014/main" id="{EC66B2D1-3D31-41D0-B08E-915DE5E08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2276475"/>
            <a:ext cx="1474787" cy="234950"/>
          </a:xfrm>
          <a:prstGeom prst="leftRightArrow">
            <a:avLst>
              <a:gd name="adj1" fmla="val 50000"/>
              <a:gd name="adj2" fmla="val 125017"/>
            </a:avLst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solidFill>
                <a:srgbClr val="FF3300"/>
              </a:solidFill>
              <a:latin typeface="Garamond" panose="02020404030301010803" pitchFamily="18" charset="0"/>
            </a:endParaRPr>
          </a:p>
        </p:txBody>
      </p:sp>
      <p:sp>
        <p:nvSpPr>
          <p:cNvPr id="21513" name="AutoShape 111">
            <a:extLst>
              <a:ext uri="{FF2B5EF4-FFF2-40B4-BE49-F238E27FC236}">
                <a16:creationId xmlns:a16="http://schemas.microsoft.com/office/drawing/2014/main" id="{FE6D3A45-8698-435E-86BD-C5C3B9C5F2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81538" y="4662488"/>
            <a:ext cx="95250" cy="1084262"/>
          </a:xfrm>
          <a:prstGeom prst="upArrow">
            <a:avLst>
              <a:gd name="adj1" fmla="val 50000"/>
              <a:gd name="adj2" fmla="val 283635"/>
            </a:avLst>
          </a:prstGeom>
          <a:solidFill>
            <a:srgbClr val="66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latin typeface="Garamond" panose="02020404030301010803" pitchFamily="18" charset="0"/>
            </a:endParaRPr>
          </a:p>
        </p:txBody>
      </p:sp>
      <p:sp>
        <p:nvSpPr>
          <p:cNvPr id="93190" name="Line 2">
            <a:extLst>
              <a:ext uri="{FF2B5EF4-FFF2-40B4-BE49-F238E27FC236}">
                <a16:creationId xmlns:a16="http://schemas.microsoft.com/office/drawing/2014/main" id="{88BD89AD-46AD-4682-B592-6A0019CC7D4B}"/>
              </a:ext>
            </a:extLst>
          </p:cNvPr>
          <p:cNvSpPr>
            <a:spLocks noChangeShapeType="1"/>
          </p:cNvSpPr>
          <p:nvPr/>
        </p:nvSpPr>
        <p:spPr bwMode="auto">
          <a:xfrm>
            <a:off x="9036050" y="984250"/>
            <a:ext cx="0" cy="5757863"/>
          </a:xfrm>
          <a:prstGeom prst="line">
            <a:avLst/>
          </a:prstGeom>
          <a:noFill/>
          <a:ln w="38100">
            <a:solidFill>
              <a:srgbClr val="FF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191" name="Text Box 3">
            <a:extLst>
              <a:ext uri="{FF2B5EF4-FFF2-40B4-BE49-F238E27FC236}">
                <a16:creationId xmlns:a16="http://schemas.microsoft.com/office/drawing/2014/main" id="{B34F8224-4672-4C7C-ADA0-8E0399378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260350"/>
            <a:ext cx="62785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(2)</a:t>
            </a:r>
            <a:r>
              <a:rPr lang="zh-CN" altLang="en-US" b="1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总线接口部件的操作</a:t>
            </a:r>
            <a:r>
              <a:rPr lang="en-US" altLang="zh-CN" b="1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--</a:t>
            </a:r>
            <a:r>
              <a:rPr lang="zh-CN" altLang="en-US" b="1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读数据 </a:t>
            </a:r>
          </a:p>
        </p:txBody>
      </p:sp>
      <p:sp>
        <p:nvSpPr>
          <p:cNvPr id="93192" name="AutoShape 4">
            <a:extLst>
              <a:ext uri="{FF2B5EF4-FFF2-40B4-BE49-F238E27FC236}">
                <a16:creationId xmlns:a16="http://schemas.microsoft.com/office/drawing/2014/main" id="{04358B9B-A977-422A-91E6-E06DE9569F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83125" y="4667250"/>
            <a:ext cx="95250" cy="1084263"/>
          </a:xfrm>
          <a:prstGeom prst="upArrow">
            <a:avLst>
              <a:gd name="adj1" fmla="val 50000"/>
              <a:gd name="adj2" fmla="val 283635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latin typeface="Garamond" panose="02020404030301010803" pitchFamily="18" charset="0"/>
            </a:endParaRPr>
          </a:p>
        </p:txBody>
      </p:sp>
      <p:sp>
        <p:nvSpPr>
          <p:cNvPr id="93193" name="Text Box 5">
            <a:extLst>
              <a:ext uri="{FF2B5EF4-FFF2-40B4-BE49-F238E27FC236}">
                <a16:creationId xmlns:a16="http://schemas.microsoft.com/office/drawing/2014/main" id="{520B527E-0B5A-4ABF-A58F-87B7DDE5954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991475" y="1327150"/>
            <a:ext cx="388938" cy="5081588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9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总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线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控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制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逻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辑</a:t>
            </a:r>
          </a:p>
        </p:txBody>
      </p:sp>
      <p:grpSp>
        <p:nvGrpSpPr>
          <p:cNvPr id="93194" name="组合 21517">
            <a:extLst>
              <a:ext uri="{FF2B5EF4-FFF2-40B4-BE49-F238E27FC236}">
                <a16:creationId xmlns:a16="http://schemas.microsoft.com/office/drawing/2014/main" id="{1BEDE80D-AEBE-4017-B9A1-39911A39539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56225" y="1898650"/>
            <a:ext cx="1336675" cy="441325"/>
            <a:chOff x="0" y="0"/>
            <a:chExt cx="842" cy="278"/>
          </a:xfrm>
        </p:grpSpPr>
        <p:sp>
          <p:nvSpPr>
            <p:cNvPr id="93286" name="Line 7">
              <a:extLst>
                <a:ext uri="{FF2B5EF4-FFF2-40B4-BE49-F238E27FC236}">
                  <a16:creationId xmlns:a16="http://schemas.microsoft.com/office/drawing/2014/main" id="{72EA424C-F4CE-44C3-80DF-77E61FE22A2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253" y="0"/>
              <a:ext cx="418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87" name="Line 8">
              <a:extLst>
                <a:ext uri="{FF2B5EF4-FFF2-40B4-BE49-F238E27FC236}">
                  <a16:creationId xmlns:a16="http://schemas.microsoft.com/office/drawing/2014/main" id="{4B721123-48EF-45EA-8FF4-A884F337C39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0" y="5"/>
              <a:ext cx="247" cy="263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88" name="Line 9">
              <a:extLst>
                <a:ext uri="{FF2B5EF4-FFF2-40B4-BE49-F238E27FC236}">
                  <a16:creationId xmlns:a16="http://schemas.microsoft.com/office/drawing/2014/main" id="{61A2301D-63B3-4A1B-9B74-BA5B28A8655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" y="278"/>
              <a:ext cx="212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89" name="Line 10">
              <a:extLst>
                <a:ext uri="{FF2B5EF4-FFF2-40B4-BE49-F238E27FC236}">
                  <a16:creationId xmlns:a16="http://schemas.microsoft.com/office/drawing/2014/main" id="{B7436E1A-8DAF-482E-A229-EFD379A733A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28" y="174"/>
              <a:ext cx="115" cy="102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90" name="Line 11">
              <a:extLst>
                <a:ext uri="{FF2B5EF4-FFF2-40B4-BE49-F238E27FC236}">
                  <a16:creationId xmlns:a16="http://schemas.microsoft.com/office/drawing/2014/main" id="{4FA3C54E-4C4A-4F29-B3AD-45CA0508480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46" y="164"/>
              <a:ext cx="174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91" name="Line 12">
              <a:extLst>
                <a:ext uri="{FF2B5EF4-FFF2-40B4-BE49-F238E27FC236}">
                  <a16:creationId xmlns:a16="http://schemas.microsoft.com/office/drawing/2014/main" id="{0B688EA6-88C4-438F-A5B8-527DFE0BFA2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16" y="166"/>
              <a:ext cx="133" cy="10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92" name="Line 13">
              <a:extLst>
                <a:ext uri="{FF2B5EF4-FFF2-40B4-BE49-F238E27FC236}">
                  <a16:creationId xmlns:a16="http://schemas.microsoft.com/office/drawing/2014/main" id="{C1661FDD-3017-4864-849C-5B940F271F9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40" y="262"/>
              <a:ext cx="193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93" name="Line 14">
              <a:extLst>
                <a:ext uri="{FF2B5EF4-FFF2-40B4-BE49-F238E27FC236}">
                  <a16:creationId xmlns:a16="http://schemas.microsoft.com/office/drawing/2014/main" id="{B6E309AA-B552-4FBF-8FAF-150B43F3270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663" y="15"/>
              <a:ext cx="179" cy="25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94" name="Text Box 15">
              <a:extLst>
                <a:ext uri="{FF2B5EF4-FFF2-40B4-BE49-F238E27FC236}">
                  <a16:creationId xmlns:a16="http://schemas.microsoft.com/office/drawing/2014/main" id="{6DB38C58-F977-4C51-B3CA-E23A4943BBC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6" y="38"/>
              <a:ext cx="589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latin typeface="Times New Roman" panose="02020603050405020304" pitchFamily="18" charset="0"/>
                </a:rPr>
                <a:t>地址加法器</a:t>
              </a:r>
            </a:p>
          </p:txBody>
        </p:sp>
      </p:grpSp>
      <p:sp>
        <p:nvSpPr>
          <p:cNvPr id="93195" name="Text Box 16">
            <a:extLst>
              <a:ext uri="{FF2B5EF4-FFF2-40B4-BE49-F238E27FC236}">
                <a16:creationId xmlns:a16="http://schemas.microsoft.com/office/drawing/2014/main" id="{DE096D81-C5AF-41D8-BDAE-6FF7ADA18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838200"/>
            <a:ext cx="1584325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FF3300"/>
                </a:solidFill>
                <a:latin typeface="Times New Roman" panose="02020603050405020304" pitchFamily="18" charset="0"/>
              </a:rPr>
              <a:t>20</a:t>
            </a:r>
            <a:r>
              <a:rPr lang="zh-CN" altLang="en-US" sz="2000" b="1">
                <a:solidFill>
                  <a:srgbClr val="FF3300"/>
                </a:solidFill>
                <a:latin typeface="Times New Roman" panose="02020603050405020304" pitchFamily="18" charset="0"/>
              </a:rPr>
              <a:t>位地址总线</a:t>
            </a:r>
            <a:r>
              <a:rPr lang="en-US" altLang="zh-CN" sz="2000" b="1">
                <a:solidFill>
                  <a:srgbClr val="FF33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000" b="1">
                <a:solidFill>
                  <a:srgbClr val="FF3300"/>
                </a:solidFill>
                <a:latin typeface="Times New Roman" panose="02020603050405020304" pitchFamily="18" charset="0"/>
              </a:rPr>
              <a:t>物理地址</a:t>
            </a:r>
            <a:r>
              <a:rPr lang="en-US" altLang="zh-CN" sz="2000" b="1">
                <a:solidFill>
                  <a:srgbClr val="FF3300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1529" name="AutoShape 17">
            <a:extLst>
              <a:ext uri="{FF2B5EF4-FFF2-40B4-BE49-F238E27FC236}">
                <a16:creationId xmlns:a16="http://schemas.microsoft.com/office/drawing/2014/main" id="{D3A164B3-1329-4D33-A387-CFA89BADA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2276475"/>
            <a:ext cx="1474787" cy="234950"/>
          </a:xfrm>
          <a:prstGeom prst="leftRightArrow">
            <a:avLst>
              <a:gd name="adj1" fmla="val 50000"/>
              <a:gd name="adj2" fmla="val 125017"/>
            </a:avLst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latin typeface="Garamond" panose="02020404030301010803" pitchFamily="18" charset="0"/>
            </a:endParaRPr>
          </a:p>
        </p:txBody>
      </p:sp>
      <p:sp>
        <p:nvSpPr>
          <p:cNvPr id="93197" name="Text Box 18">
            <a:extLst>
              <a:ext uri="{FF2B5EF4-FFF2-40B4-BE49-F238E27FC236}">
                <a16:creationId xmlns:a16="http://schemas.microsoft.com/office/drawing/2014/main" id="{97273D95-ABF3-4489-B50B-8FB2B8EBBFA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164388" y="2636838"/>
            <a:ext cx="469900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</a:rPr>
              <a:t>16</a:t>
            </a:r>
            <a:r>
              <a:rPr lang="zh-CN" altLang="en-US" sz="2000" b="1">
                <a:latin typeface="Times New Roman" panose="02020603050405020304" pitchFamily="18" charset="0"/>
              </a:rPr>
              <a:t>位数据总线</a:t>
            </a:r>
          </a:p>
        </p:txBody>
      </p:sp>
      <p:sp>
        <p:nvSpPr>
          <p:cNvPr id="93198" name="AutoShape 19">
            <a:extLst>
              <a:ext uri="{FF2B5EF4-FFF2-40B4-BE49-F238E27FC236}">
                <a16:creationId xmlns:a16="http://schemas.microsoft.com/office/drawing/2014/main" id="{EC88F6BD-FBEF-43E2-87AF-D34A37332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9725" y="5672138"/>
            <a:ext cx="1270000" cy="198437"/>
          </a:xfrm>
          <a:prstGeom prst="leftArrow">
            <a:avLst>
              <a:gd name="adj1" fmla="val 50000"/>
              <a:gd name="adj2" fmla="val 159467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latin typeface="Garamond" panose="02020404030301010803" pitchFamily="18" charset="0"/>
            </a:endParaRPr>
          </a:p>
        </p:txBody>
      </p:sp>
      <p:grpSp>
        <p:nvGrpSpPr>
          <p:cNvPr id="93199" name="组合 21531">
            <a:extLst>
              <a:ext uri="{FF2B5EF4-FFF2-40B4-BE49-F238E27FC236}">
                <a16:creationId xmlns:a16="http://schemas.microsoft.com/office/drawing/2014/main" id="{56FEB1D6-6E65-4E25-B515-F38E2861E399}"/>
              </a:ext>
            </a:extLst>
          </p:cNvPr>
          <p:cNvGrpSpPr>
            <a:grpSpLocks/>
          </p:cNvGrpSpPr>
          <p:nvPr/>
        </p:nvGrpSpPr>
        <p:grpSpPr bwMode="auto">
          <a:xfrm>
            <a:off x="5480050" y="2295525"/>
            <a:ext cx="1111250" cy="230188"/>
            <a:chOff x="0" y="0"/>
            <a:chExt cx="700" cy="145"/>
          </a:xfrm>
        </p:grpSpPr>
        <p:sp>
          <p:nvSpPr>
            <p:cNvPr id="93284" name="AutoShape 21">
              <a:extLst>
                <a:ext uri="{FF2B5EF4-FFF2-40B4-BE49-F238E27FC236}">
                  <a16:creationId xmlns:a16="http://schemas.microsoft.com/office/drawing/2014/main" id="{9DB78780-AD44-48A0-93F4-B9653489FCD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0" y="25"/>
              <a:ext cx="143" cy="1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  <p:sp>
          <p:nvSpPr>
            <p:cNvPr id="93285" name="AutoShape 22">
              <a:extLst>
                <a:ext uri="{FF2B5EF4-FFF2-40B4-BE49-F238E27FC236}">
                  <a16:creationId xmlns:a16="http://schemas.microsoft.com/office/drawing/2014/main" id="{C7450E25-9D34-4F7D-91E1-7251E0E06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" y="0"/>
              <a:ext cx="142" cy="141"/>
            </a:xfrm>
            <a:prstGeom prst="upDownArrow">
              <a:avLst>
                <a:gd name="adj1" fmla="val 50000"/>
                <a:gd name="adj2" fmla="val 2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</p:grpSp>
      <p:sp>
        <p:nvSpPr>
          <p:cNvPr id="93200" name="Text Box 23">
            <a:extLst>
              <a:ext uri="{FF2B5EF4-FFF2-40B4-BE49-F238E27FC236}">
                <a16:creationId xmlns:a16="http://schemas.microsoft.com/office/drawing/2014/main" id="{FEAEA028-F5F5-497B-B413-2D2B1F11F93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622800" y="1604963"/>
            <a:ext cx="471488" cy="199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chemeClr val="tx2"/>
                </a:solidFill>
                <a:latin typeface="Times New Roman" panose="02020603050405020304" pitchFamily="18" charset="0"/>
              </a:rPr>
              <a:t>总线接口部件</a:t>
            </a:r>
            <a:r>
              <a:rPr lang="en-US" altLang="zh-CN" sz="2000" b="1">
                <a:solidFill>
                  <a:schemeClr val="tx2"/>
                </a:solidFill>
                <a:latin typeface="Times New Roman" panose="02020603050405020304" pitchFamily="18" charset="0"/>
              </a:rPr>
              <a:t>BIU</a:t>
            </a:r>
          </a:p>
        </p:txBody>
      </p:sp>
      <p:grpSp>
        <p:nvGrpSpPr>
          <p:cNvPr id="93201" name="组合 21535">
            <a:extLst>
              <a:ext uri="{FF2B5EF4-FFF2-40B4-BE49-F238E27FC236}">
                <a16:creationId xmlns:a16="http://schemas.microsoft.com/office/drawing/2014/main" id="{D2EB252C-0D83-44F6-9863-8396D8DC50E9}"/>
              </a:ext>
            </a:extLst>
          </p:cNvPr>
          <p:cNvGrpSpPr>
            <a:grpSpLocks/>
          </p:cNvGrpSpPr>
          <p:nvPr/>
        </p:nvGrpSpPr>
        <p:grpSpPr bwMode="auto">
          <a:xfrm>
            <a:off x="5145088" y="5229225"/>
            <a:ext cx="1554162" cy="733425"/>
            <a:chOff x="0" y="0"/>
            <a:chExt cx="979" cy="462"/>
          </a:xfrm>
        </p:grpSpPr>
        <p:sp>
          <p:nvSpPr>
            <p:cNvPr id="93277" name="Text Box 25">
              <a:extLst>
                <a:ext uri="{FF2B5EF4-FFF2-40B4-BE49-F238E27FC236}">
                  <a16:creationId xmlns:a16="http://schemas.microsoft.com/office/drawing/2014/main" id="{E21ADBE7-C620-4D9D-923C-8A969C9C8E6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237"/>
              <a:ext cx="979" cy="225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1 2 3 4 5 6</a:t>
              </a:r>
            </a:p>
          </p:txBody>
        </p:sp>
        <p:sp>
          <p:nvSpPr>
            <p:cNvPr id="93278" name="Text Box 26">
              <a:extLst>
                <a:ext uri="{FF2B5EF4-FFF2-40B4-BE49-F238E27FC236}">
                  <a16:creationId xmlns:a16="http://schemas.microsoft.com/office/drawing/2014/main" id="{F50866DE-65D1-4BC8-AC47-1FD020005FD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0" y="0"/>
              <a:ext cx="889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</a:rPr>
                <a:t>指令队列</a:t>
              </a:r>
            </a:p>
          </p:txBody>
        </p:sp>
        <p:sp>
          <p:nvSpPr>
            <p:cNvPr id="93279" name="Line 27">
              <a:extLst>
                <a:ext uri="{FF2B5EF4-FFF2-40B4-BE49-F238E27FC236}">
                  <a16:creationId xmlns:a16="http://schemas.microsoft.com/office/drawing/2014/main" id="{F5D7F5F9-B949-4DEB-9E17-86C83CCE56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80" name="Line 28">
              <a:extLst>
                <a:ext uri="{FF2B5EF4-FFF2-40B4-BE49-F238E27FC236}">
                  <a16:creationId xmlns:a16="http://schemas.microsoft.com/office/drawing/2014/main" id="{62A95E05-45E2-46E5-9FE5-82EAD2A99B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81" name="Line 29">
              <a:extLst>
                <a:ext uri="{FF2B5EF4-FFF2-40B4-BE49-F238E27FC236}">
                  <a16:creationId xmlns:a16="http://schemas.microsoft.com/office/drawing/2014/main" id="{DC2EE573-B809-410A-AF70-E610DE5DE0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82" name="Line 30">
              <a:extLst>
                <a:ext uri="{FF2B5EF4-FFF2-40B4-BE49-F238E27FC236}">
                  <a16:creationId xmlns:a16="http://schemas.microsoft.com/office/drawing/2014/main" id="{0B999DC9-2FFC-47E5-85B2-20CC4F2732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83" name="Line 31">
              <a:extLst>
                <a:ext uri="{FF2B5EF4-FFF2-40B4-BE49-F238E27FC236}">
                  <a16:creationId xmlns:a16="http://schemas.microsoft.com/office/drawing/2014/main" id="{5EDA69AF-A4E4-4222-8293-100C94C512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5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3202" name="组合 21543">
            <a:extLst>
              <a:ext uri="{FF2B5EF4-FFF2-40B4-BE49-F238E27FC236}">
                <a16:creationId xmlns:a16="http://schemas.microsoft.com/office/drawing/2014/main" id="{97BEF33A-5B44-4CDA-BEF4-390C004137AF}"/>
              </a:ext>
            </a:extLst>
          </p:cNvPr>
          <p:cNvGrpSpPr>
            <a:grpSpLocks/>
          </p:cNvGrpSpPr>
          <p:nvPr/>
        </p:nvGrpSpPr>
        <p:grpSpPr bwMode="auto">
          <a:xfrm>
            <a:off x="5159375" y="2543175"/>
            <a:ext cx="895350" cy="1074738"/>
            <a:chOff x="0" y="0"/>
            <a:chExt cx="564" cy="677"/>
          </a:xfrm>
        </p:grpSpPr>
        <p:sp>
          <p:nvSpPr>
            <p:cNvPr id="93273" name="Text Box 33">
              <a:extLst>
                <a:ext uri="{FF2B5EF4-FFF2-40B4-BE49-F238E27FC236}">
                  <a16:creationId xmlns:a16="http://schemas.microsoft.com/office/drawing/2014/main" id="{BBD75530-B9EE-42BA-A57F-FEED0E15999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0"/>
              <a:ext cx="563" cy="677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Times New Roman" panose="02020603050405020304" pitchFamily="18" charset="0"/>
                </a:rPr>
                <a:t>CS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Times New Roman" panose="02020603050405020304" pitchFamily="18" charset="0"/>
                </a:rPr>
                <a:t>DS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Times New Roman" panose="02020603050405020304" pitchFamily="18" charset="0"/>
                </a:rPr>
                <a:t>SS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Times New Roman" panose="02020603050405020304" pitchFamily="18" charset="0"/>
                </a:rPr>
                <a:t>ES</a:t>
              </a:r>
            </a:p>
          </p:txBody>
        </p:sp>
        <p:sp>
          <p:nvSpPr>
            <p:cNvPr id="93274" name="Line 34">
              <a:extLst>
                <a:ext uri="{FF2B5EF4-FFF2-40B4-BE49-F238E27FC236}">
                  <a16:creationId xmlns:a16="http://schemas.microsoft.com/office/drawing/2014/main" id="{92EF2FAE-7326-499C-B083-FCED32529F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172"/>
              <a:ext cx="55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75" name="Line 35">
              <a:extLst>
                <a:ext uri="{FF2B5EF4-FFF2-40B4-BE49-F238E27FC236}">
                  <a16:creationId xmlns:a16="http://schemas.microsoft.com/office/drawing/2014/main" id="{2A325F6E-FB6B-424B-BC12-FE2E4EBFA7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355"/>
              <a:ext cx="55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76" name="Line 36">
              <a:extLst>
                <a:ext uri="{FF2B5EF4-FFF2-40B4-BE49-F238E27FC236}">
                  <a16:creationId xmlns:a16="http://schemas.microsoft.com/office/drawing/2014/main" id="{08B95369-5E1B-4CA1-B15E-EFE9F7C768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511"/>
              <a:ext cx="55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3203" name="组合 21548">
            <a:extLst>
              <a:ext uri="{FF2B5EF4-FFF2-40B4-BE49-F238E27FC236}">
                <a16:creationId xmlns:a16="http://schemas.microsoft.com/office/drawing/2014/main" id="{FBF8A350-18EB-46A5-8F86-666DF4036858}"/>
              </a:ext>
            </a:extLst>
          </p:cNvPr>
          <p:cNvGrpSpPr>
            <a:grpSpLocks/>
          </p:cNvGrpSpPr>
          <p:nvPr/>
        </p:nvGrpSpPr>
        <p:grpSpPr bwMode="auto">
          <a:xfrm>
            <a:off x="6002338" y="1293813"/>
            <a:ext cx="2009775" cy="579437"/>
            <a:chOff x="0" y="0"/>
            <a:chExt cx="1266" cy="365"/>
          </a:xfrm>
        </p:grpSpPr>
        <p:sp>
          <p:nvSpPr>
            <p:cNvPr id="93271" name="AutoShape 38">
              <a:extLst>
                <a:ext uri="{FF2B5EF4-FFF2-40B4-BE49-F238E27FC236}">
                  <a16:creationId xmlns:a16="http://schemas.microsoft.com/office/drawing/2014/main" id="{D09CFE41-874A-4737-85DA-0FC2A3CAF7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" y="0"/>
              <a:ext cx="1146" cy="249"/>
            </a:xfrm>
            <a:prstGeom prst="rightArrow">
              <a:avLst>
                <a:gd name="adj1" fmla="val 50000"/>
                <a:gd name="adj2" fmla="val 114677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  <p:sp>
          <p:nvSpPr>
            <p:cNvPr id="93272" name="Rectangle 39">
              <a:extLst>
                <a:ext uri="{FF2B5EF4-FFF2-40B4-BE49-F238E27FC236}">
                  <a16:creationId xmlns:a16="http://schemas.microsoft.com/office/drawing/2014/main" id="{258A6BDE-8C13-43D8-87EC-53E396597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3"/>
              <a:ext cx="128" cy="30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</p:grpSp>
      <p:grpSp>
        <p:nvGrpSpPr>
          <p:cNvPr id="93204" name="组合 21551">
            <a:extLst>
              <a:ext uri="{FF2B5EF4-FFF2-40B4-BE49-F238E27FC236}">
                <a16:creationId xmlns:a16="http://schemas.microsoft.com/office/drawing/2014/main" id="{1B30838B-B939-46B1-B4E5-8A415D3F8BCE}"/>
              </a:ext>
            </a:extLst>
          </p:cNvPr>
          <p:cNvGrpSpPr>
            <a:grpSpLocks/>
          </p:cNvGrpSpPr>
          <p:nvPr/>
        </p:nvGrpSpPr>
        <p:grpSpPr bwMode="auto">
          <a:xfrm>
            <a:off x="5159375" y="5980113"/>
            <a:ext cx="990600" cy="685800"/>
            <a:chOff x="0" y="0"/>
            <a:chExt cx="624" cy="432"/>
          </a:xfrm>
        </p:grpSpPr>
        <p:sp>
          <p:nvSpPr>
            <p:cNvPr id="21553" name="Text Box 41">
              <a:extLst>
                <a:ext uri="{FF2B5EF4-FFF2-40B4-BE49-F238E27FC236}">
                  <a16:creationId xmlns:a16="http://schemas.microsoft.com/office/drawing/2014/main" id="{07ACEA48-50CF-487D-B16B-E1892006829D}"/>
                </a:ext>
              </a:extLst>
            </p:cNvPr>
            <p:cNvSpPr txBox="1"/>
            <p:nvPr/>
          </p:nvSpPr>
          <p:spPr>
            <a:xfrm>
              <a:off x="144" y="96"/>
              <a:ext cx="336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zh-CN" altLang="zh-CN" sz="2000" noProof="1">
                  <a:effectLst>
                    <a:outerShdw blurRad="38100" dist="38100" dir="2700000" algn="tl">
                      <a:srgbClr val="C0C0C0"/>
                    </a:outerShdw>
                  </a:effectLst>
                  <a:ea typeface="楷体_GB2312" pitchFamily="1" charset="-122"/>
                  <a:cs typeface="宋体" panose="02010600030101010101" pitchFamily="2" charset="-122"/>
                </a:rPr>
                <a:t>8088</a:t>
              </a:r>
            </a:p>
          </p:txBody>
        </p:sp>
        <p:sp>
          <p:nvSpPr>
            <p:cNvPr id="93269" name="Line 42">
              <a:extLst>
                <a:ext uri="{FF2B5EF4-FFF2-40B4-BE49-F238E27FC236}">
                  <a16:creationId xmlns:a16="http://schemas.microsoft.com/office/drawing/2014/main" id="{1CE53DDF-1545-4412-BA92-74BEDD1656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70" name="Line 43">
              <a:extLst>
                <a:ext uri="{FF2B5EF4-FFF2-40B4-BE49-F238E27FC236}">
                  <a16:creationId xmlns:a16="http://schemas.microsoft.com/office/drawing/2014/main" id="{ADF56C2F-71D3-4371-9907-037A044B70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3205" name="组合 21555">
            <a:extLst>
              <a:ext uri="{FF2B5EF4-FFF2-40B4-BE49-F238E27FC236}">
                <a16:creationId xmlns:a16="http://schemas.microsoft.com/office/drawing/2014/main" id="{14C1E0AC-ED5F-44A2-AC3B-5D0BAAE7EA3F}"/>
              </a:ext>
            </a:extLst>
          </p:cNvPr>
          <p:cNvGrpSpPr>
            <a:grpSpLocks/>
          </p:cNvGrpSpPr>
          <p:nvPr/>
        </p:nvGrpSpPr>
        <p:grpSpPr bwMode="auto">
          <a:xfrm>
            <a:off x="5768975" y="5980113"/>
            <a:ext cx="914400" cy="731837"/>
            <a:chOff x="0" y="0"/>
            <a:chExt cx="576" cy="461"/>
          </a:xfrm>
        </p:grpSpPr>
        <p:sp>
          <p:nvSpPr>
            <p:cNvPr id="21557" name="Text Box 45">
              <a:extLst>
                <a:ext uri="{FF2B5EF4-FFF2-40B4-BE49-F238E27FC236}">
                  <a16:creationId xmlns:a16="http://schemas.microsoft.com/office/drawing/2014/main" id="{EDE4C07D-F3E5-4F6D-ACEF-16E40C83E3BF}"/>
                </a:ext>
              </a:extLst>
            </p:cNvPr>
            <p:cNvSpPr txBox="1"/>
            <p:nvPr/>
          </p:nvSpPr>
          <p:spPr>
            <a:xfrm>
              <a:off x="0" y="288"/>
              <a:ext cx="336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zh-CN" altLang="zh-CN" sz="2000" noProof="1">
                  <a:effectLst>
                    <a:outerShdw blurRad="38100" dist="38100" dir="2700000" algn="tl">
                      <a:srgbClr val="C0C0C0"/>
                    </a:outerShdw>
                  </a:effectLst>
                  <a:ea typeface="楷体_GB2312" pitchFamily="1" charset="-122"/>
                  <a:cs typeface="宋体" panose="02010600030101010101" pitchFamily="2" charset="-122"/>
                </a:rPr>
                <a:t>8086</a:t>
              </a:r>
            </a:p>
          </p:txBody>
        </p:sp>
        <p:sp>
          <p:nvSpPr>
            <p:cNvPr id="93267" name="Line 46">
              <a:extLst>
                <a:ext uri="{FF2B5EF4-FFF2-40B4-BE49-F238E27FC236}">
                  <a16:creationId xmlns:a16="http://schemas.microsoft.com/office/drawing/2014/main" id="{10AA617E-1EF3-4AAD-8FBD-741F324F66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3206" name="组合 21558">
            <a:extLst>
              <a:ext uri="{FF2B5EF4-FFF2-40B4-BE49-F238E27FC236}">
                <a16:creationId xmlns:a16="http://schemas.microsoft.com/office/drawing/2014/main" id="{30A7EDC1-AEC7-42A3-B50D-F25067C287BC}"/>
              </a:ext>
            </a:extLst>
          </p:cNvPr>
          <p:cNvGrpSpPr>
            <a:grpSpLocks/>
          </p:cNvGrpSpPr>
          <p:nvPr/>
        </p:nvGrpSpPr>
        <p:grpSpPr bwMode="auto">
          <a:xfrm>
            <a:off x="6226175" y="2551113"/>
            <a:ext cx="895350" cy="609600"/>
            <a:chOff x="0" y="0"/>
            <a:chExt cx="564" cy="384"/>
          </a:xfrm>
        </p:grpSpPr>
        <p:sp>
          <p:nvSpPr>
            <p:cNvPr id="93264" name="Text Box 48">
              <a:extLst>
                <a:ext uri="{FF2B5EF4-FFF2-40B4-BE49-F238E27FC236}">
                  <a16:creationId xmlns:a16="http://schemas.microsoft.com/office/drawing/2014/main" id="{40C5D465-CEB9-4915-8981-93A5218003D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0"/>
              <a:ext cx="563" cy="38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Times New Roman" panose="02020603050405020304" pitchFamily="18" charset="0"/>
                </a:rPr>
                <a:t>IP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 b="1">
                  <a:latin typeface="Times New Roman" panose="02020603050405020304" pitchFamily="18" charset="0"/>
                </a:rPr>
                <a:t>暂存器</a:t>
              </a:r>
            </a:p>
          </p:txBody>
        </p:sp>
        <p:sp>
          <p:nvSpPr>
            <p:cNvPr id="93265" name="Line 49">
              <a:extLst>
                <a:ext uri="{FF2B5EF4-FFF2-40B4-BE49-F238E27FC236}">
                  <a16:creationId xmlns:a16="http://schemas.microsoft.com/office/drawing/2014/main" id="{F0A80EEF-5355-4EEE-9C8F-93C34C6D75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171"/>
              <a:ext cx="55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3207" name="组合 21561">
            <a:extLst>
              <a:ext uri="{FF2B5EF4-FFF2-40B4-BE49-F238E27FC236}">
                <a16:creationId xmlns:a16="http://schemas.microsoft.com/office/drawing/2014/main" id="{B73470F1-B808-4216-9B9F-4492089358C7}"/>
              </a:ext>
            </a:extLst>
          </p:cNvPr>
          <p:cNvGrpSpPr>
            <a:grpSpLocks/>
          </p:cNvGrpSpPr>
          <p:nvPr/>
        </p:nvGrpSpPr>
        <p:grpSpPr bwMode="auto">
          <a:xfrm>
            <a:off x="8382000" y="2159000"/>
            <a:ext cx="609600" cy="1992313"/>
            <a:chOff x="0" y="0"/>
            <a:chExt cx="384" cy="1008"/>
          </a:xfrm>
        </p:grpSpPr>
        <p:sp>
          <p:nvSpPr>
            <p:cNvPr id="93262" name="AutoShape 54">
              <a:extLst>
                <a:ext uri="{FF2B5EF4-FFF2-40B4-BE49-F238E27FC236}">
                  <a16:creationId xmlns:a16="http://schemas.microsoft.com/office/drawing/2014/main" id="{1C8ACCB1-59EB-4BB3-B0F1-7276DE2694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768"/>
              <a:ext cx="384" cy="240"/>
            </a:xfrm>
            <a:prstGeom prst="leftRightArrow">
              <a:avLst>
                <a:gd name="adj1" fmla="val 50000"/>
                <a:gd name="adj2" fmla="val 32000"/>
              </a:avLst>
            </a:prstGeom>
            <a:noFill/>
            <a:ln w="25400">
              <a:solidFill>
                <a:srgbClr val="FF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  <p:sp>
          <p:nvSpPr>
            <p:cNvPr id="21564" name="Text Box 55">
              <a:extLst>
                <a:ext uri="{FF2B5EF4-FFF2-40B4-BE49-F238E27FC236}">
                  <a16:creationId xmlns:a16="http://schemas.microsoft.com/office/drawing/2014/main" id="{EB839791-1EF2-4424-A73F-183C8810860B}"/>
                </a:ext>
              </a:extLst>
            </p:cNvPr>
            <p:cNvSpPr txBox="1"/>
            <p:nvPr/>
          </p:nvSpPr>
          <p:spPr>
            <a:xfrm>
              <a:off x="96" y="0"/>
              <a:ext cx="207" cy="76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lIns="0" tIns="0" rIns="0" bIns="0">
              <a:spAutoFit/>
            </a:bodyPr>
            <a:lstStyle/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8086</a:t>
              </a:r>
              <a:r>
                <a:rPr lang="zh-CN" altLang="en-US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总线</a:t>
              </a:r>
              <a:endPara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sp>
        <p:nvSpPr>
          <p:cNvPr id="93208" name="AutoShape 56">
            <a:extLst>
              <a:ext uri="{FF2B5EF4-FFF2-40B4-BE49-F238E27FC236}">
                <a16:creationId xmlns:a16="http://schemas.microsoft.com/office/drawing/2014/main" id="{5C716215-736D-4F52-B1BB-28B705665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4508500"/>
            <a:ext cx="3816350" cy="177800"/>
          </a:xfrm>
          <a:prstGeom prst="leftRightArrow">
            <a:avLst>
              <a:gd name="adj1" fmla="val 57435"/>
              <a:gd name="adj2" fmla="val 147070"/>
            </a:avLst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latin typeface="Garamond" panose="02020404030301010803" pitchFamily="18" charset="0"/>
            </a:endParaRPr>
          </a:p>
        </p:txBody>
      </p:sp>
      <p:sp>
        <p:nvSpPr>
          <p:cNvPr id="93209" name="AutoShape 57">
            <a:extLst>
              <a:ext uri="{FF2B5EF4-FFF2-40B4-BE49-F238E27FC236}">
                <a16:creationId xmlns:a16="http://schemas.microsoft.com/office/drawing/2014/main" id="{059617E9-6514-4037-9EC7-66B8526A1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9238" y="5734050"/>
            <a:ext cx="1079500" cy="90488"/>
          </a:xfrm>
          <a:prstGeom prst="leftArrow">
            <a:avLst>
              <a:gd name="adj1" fmla="val 50000"/>
              <a:gd name="adj2" fmla="val 297250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latin typeface="Garamond" panose="02020404030301010803" pitchFamily="18" charset="0"/>
            </a:endParaRPr>
          </a:p>
        </p:txBody>
      </p:sp>
      <p:sp>
        <p:nvSpPr>
          <p:cNvPr id="93210" name="Line 58">
            <a:extLst>
              <a:ext uri="{FF2B5EF4-FFF2-40B4-BE49-F238E27FC236}">
                <a16:creationId xmlns:a16="http://schemas.microsoft.com/office/drawing/2014/main" id="{914C9049-B5CD-4BB4-BEC6-4CC96033556C}"/>
              </a:ext>
            </a:extLst>
          </p:cNvPr>
          <p:cNvSpPr>
            <a:spLocks noChangeShapeType="1"/>
          </p:cNvSpPr>
          <p:nvPr/>
        </p:nvSpPr>
        <p:spPr bwMode="auto">
          <a:xfrm>
            <a:off x="4084638" y="1851025"/>
            <a:ext cx="0" cy="43180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211" name="Rectangle 59">
            <a:extLst>
              <a:ext uri="{FF2B5EF4-FFF2-40B4-BE49-F238E27FC236}">
                <a16:creationId xmlns:a16="http://schemas.microsoft.com/office/drawing/2014/main" id="{7A71B0D1-AFF5-4562-A1C8-A178C5E33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363" y="4510088"/>
            <a:ext cx="2952750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chemeClr val="hlink"/>
                </a:solidFill>
                <a:latin typeface="Garamond" panose="02020404030301010803" pitchFamily="18" charset="0"/>
              </a:rPr>
              <a:t>     </a:t>
            </a:r>
            <a:r>
              <a:rPr lang="en-US" altLang="zh-CN" sz="2000" b="1">
                <a:solidFill>
                  <a:schemeClr val="hlink"/>
                </a:solidFill>
                <a:latin typeface="Garamond" panose="02020404030301010803" pitchFamily="18" charset="0"/>
              </a:rPr>
              <a:t>0200</a:t>
            </a:r>
            <a:r>
              <a:rPr lang="en-US" altLang="zh-CN" sz="2000" b="1">
                <a:latin typeface="Garamond" panose="02020404030301010803" pitchFamily="18" charset="0"/>
              </a:rPr>
              <a:t>0</a:t>
            </a:r>
            <a:r>
              <a:rPr lang="en-US" altLang="zh-CN" sz="2000" b="1">
                <a:solidFill>
                  <a:schemeClr val="hlink"/>
                </a:solidFill>
                <a:latin typeface="Garamond" panose="02020404030301010803" pitchFamily="18" charset="0"/>
              </a:rPr>
              <a:t>H(20</a:t>
            </a:r>
            <a:r>
              <a:rPr lang="zh-CN" altLang="en-US" sz="2000" b="1">
                <a:solidFill>
                  <a:schemeClr val="hlink"/>
                </a:solidFill>
                <a:latin typeface="Garamond" panose="02020404030301010803" pitchFamily="18" charset="0"/>
              </a:rPr>
              <a:t>位</a:t>
            </a:r>
            <a:r>
              <a:rPr lang="en-US" altLang="zh-CN" sz="2000" b="1">
                <a:solidFill>
                  <a:schemeClr val="hlink"/>
                </a:solidFill>
                <a:latin typeface="Garamond" panose="02020404030301010803" pitchFamily="18" charset="0"/>
              </a:rPr>
              <a:t>)  DS      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hlink"/>
                </a:solidFill>
                <a:latin typeface="Garamond" panose="02020404030301010803" pitchFamily="18" charset="0"/>
              </a:rPr>
              <a:t>+ 0100H(16</a:t>
            </a:r>
            <a:r>
              <a:rPr lang="zh-CN" altLang="en-US" sz="2000" b="1">
                <a:solidFill>
                  <a:schemeClr val="hlink"/>
                </a:solidFill>
                <a:latin typeface="Garamond" panose="02020404030301010803" pitchFamily="18" charset="0"/>
              </a:rPr>
              <a:t>位</a:t>
            </a:r>
            <a:r>
              <a:rPr lang="en-US" altLang="zh-CN" sz="2000" b="1">
                <a:solidFill>
                  <a:schemeClr val="hlink"/>
                </a:solidFill>
                <a:latin typeface="Garamond" panose="02020404030301010803" pitchFamily="18" charset="0"/>
              </a:rPr>
              <a:t>)   </a:t>
            </a:r>
            <a:r>
              <a:rPr lang="zh-CN" altLang="en-US" sz="2000" b="1">
                <a:solidFill>
                  <a:schemeClr val="hlink"/>
                </a:solidFill>
                <a:latin typeface="Garamond" panose="02020404030301010803" pitchFamily="18" charset="0"/>
              </a:rPr>
              <a:t>偏移量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chemeClr val="hlink"/>
                </a:solidFill>
                <a:latin typeface="Garamond" panose="02020404030301010803" pitchFamily="18" charset="0"/>
              </a:rPr>
              <a:t>                    </a:t>
            </a:r>
            <a:r>
              <a:rPr lang="en-US" altLang="zh-CN" sz="2000" b="1">
                <a:solidFill>
                  <a:schemeClr val="hlink"/>
                </a:solidFill>
                <a:latin typeface="Garamond" panose="02020404030301010803" pitchFamily="18" charset="0"/>
              </a:rPr>
              <a:t>--------------             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Garamond" panose="02020404030301010803" pitchFamily="18" charset="0"/>
              </a:rPr>
              <a:t>02100H(20</a:t>
            </a:r>
            <a:r>
              <a:rPr lang="zh-CN" altLang="en-US" sz="2000" b="1">
                <a:latin typeface="Garamond" panose="02020404030301010803" pitchFamily="18" charset="0"/>
              </a:rPr>
              <a:t>位</a:t>
            </a:r>
            <a:r>
              <a:rPr lang="en-US" altLang="zh-CN" sz="2000" b="1">
                <a:latin typeface="Garamond" panose="02020404030301010803" pitchFamily="18" charset="0"/>
              </a:rPr>
              <a:t>)</a:t>
            </a:r>
            <a:r>
              <a:rPr lang="en-US" altLang="zh-CN" sz="2000" b="1">
                <a:solidFill>
                  <a:schemeClr val="hlink"/>
                </a:solidFill>
                <a:latin typeface="Garamond" panose="02020404030301010803" pitchFamily="18" charset="0"/>
              </a:rPr>
              <a:t>          </a:t>
            </a:r>
            <a:endParaRPr lang="zh-CN" altLang="en-US" sz="2000" b="1">
              <a:solidFill>
                <a:schemeClr val="hlink"/>
              </a:solidFill>
              <a:latin typeface="Garamond" panose="02020404030301010803" pitchFamily="18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chemeClr val="hlink"/>
                </a:solidFill>
                <a:latin typeface="Garamond" panose="02020404030301010803" pitchFamily="18" charset="0"/>
              </a:rPr>
              <a:t>物理地址</a:t>
            </a:r>
            <a:r>
              <a:rPr lang="en-US" altLang="zh-CN" sz="2000" b="1">
                <a:solidFill>
                  <a:schemeClr val="hlink"/>
                </a:solidFill>
                <a:latin typeface="Garamond" panose="02020404030301010803" pitchFamily="18" charset="0"/>
              </a:rPr>
              <a:t>(20</a:t>
            </a:r>
            <a:r>
              <a:rPr lang="zh-CN" altLang="en-US" sz="2000" b="1">
                <a:solidFill>
                  <a:schemeClr val="hlink"/>
                </a:solidFill>
                <a:latin typeface="Garamond" panose="02020404030301010803" pitchFamily="18" charset="0"/>
              </a:rPr>
              <a:t>位</a:t>
            </a:r>
            <a:r>
              <a:rPr lang="en-US" altLang="zh-CN" sz="2000" b="1">
                <a:solidFill>
                  <a:schemeClr val="hlink"/>
                </a:solidFill>
                <a:latin typeface="Garamond" panose="02020404030301010803" pitchFamily="18" charset="0"/>
              </a:rPr>
              <a:t>)       </a:t>
            </a:r>
          </a:p>
        </p:txBody>
      </p:sp>
      <p:sp>
        <p:nvSpPr>
          <p:cNvPr id="93212" name="Text Box 60">
            <a:extLst>
              <a:ext uri="{FF2B5EF4-FFF2-40B4-BE49-F238E27FC236}">
                <a16:creationId xmlns:a16="http://schemas.microsoft.com/office/drawing/2014/main" id="{ABBE1436-895F-44F5-A74A-00EA2B8B54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050" y="857250"/>
            <a:ext cx="3311525" cy="304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</a:rPr>
              <a:t>CPU</a:t>
            </a:r>
            <a:r>
              <a:rPr lang="zh-CN" altLang="en-US" sz="2000" b="1">
                <a:latin typeface="Times New Roman" panose="02020603050405020304" pitchFamily="18" charset="0"/>
              </a:rPr>
              <a:t>读取数据过程</a:t>
            </a:r>
            <a:r>
              <a:rPr lang="en-US" altLang="zh-CN" sz="2000" b="1">
                <a:latin typeface="Times New Roman" panose="02020603050405020304" pitchFamily="18" charset="0"/>
              </a:rPr>
              <a:t>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偏移地址与</a:t>
            </a: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DS</a:t>
            </a:r>
            <a:r>
              <a:rPr lang="zh-CN" altLang="en-US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寄存器中的段基值形成</a:t>
            </a: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20</a:t>
            </a:r>
            <a:r>
              <a:rPr lang="zh-CN" altLang="en-US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位物理地址，由总线控制逻辑产生总线时序，从存储器中读入数据。</a:t>
            </a:r>
          </a:p>
          <a:p>
            <a:pPr>
              <a:spcBef>
                <a:spcPct val="0"/>
              </a:spcBef>
              <a:buFontTx/>
              <a:buNone/>
            </a:pPr>
            <a:endParaRPr lang="zh-CN" altLang="en-US" sz="2000" b="1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Garamond" panose="02020404030301010803" pitchFamily="18" charset="0"/>
              </a:rPr>
              <a:t>指令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Garamond" panose="02020404030301010803" pitchFamily="18" charset="0"/>
              </a:rPr>
              <a:t>ADD AL,[100H]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/>
              <a:t>…</a:t>
            </a:r>
            <a:endParaRPr lang="en-US" altLang="zh-CN" sz="2000" b="1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zh-CN" altLang="en-US" sz="2000" b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93213" name="Rectangle 74">
            <a:extLst>
              <a:ext uri="{FF2B5EF4-FFF2-40B4-BE49-F238E27FC236}">
                <a16:creationId xmlns:a16="http://schemas.microsoft.com/office/drawing/2014/main" id="{5F30477D-1BDB-4C76-9B27-981EE89B0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437063"/>
            <a:ext cx="20129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chemeClr val="hlink"/>
                </a:solidFill>
                <a:latin typeface="Garamond" panose="02020404030301010803" pitchFamily="18" charset="0"/>
              </a:rPr>
              <a:t>         </a:t>
            </a:r>
            <a:r>
              <a:rPr lang="en-US" altLang="zh-CN" sz="2000" b="1">
                <a:solidFill>
                  <a:schemeClr val="hlink"/>
                </a:solidFill>
                <a:latin typeface="Garamond" panose="02020404030301010803" pitchFamily="18" charset="0"/>
              </a:rPr>
              <a:t>DS=0200H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chemeClr val="hlink"/>
                </a:solidFill>
                <a:latin typeface="Garamond" panose="02020404030301010803" pitchFamily="18" charset="0"/>
              </a:rPr>
              <a:t>偏移地址</a:t>
            </a:r>
            <a:r>
              <a:rPr lang="en-US" altLang="zh-CN" sz="2000" b="1">
                <a:solidFill>
                  <a:schemeClr val="hlink"/>
                </a:solidFill>
                <a:latin typeface="Garamond" panose="02020404030301010803" pitchFamily="18" charset="0"/>
              </a:rPr>
              <a:t>=100H </a:t>
            </a:r>
          </a:p>
        </p:txBody>
      </p:sp>
      <p:sp>
        <p:nvSpPr>
          <p:cNvPr id="21571" name="Text Box 75">
            <a:extLst>
              <a:ext uri="{FF2B5EF4-FFF2-40B4-BE49-F238E27FC236}">
                <a16:creationId xmlns:a16="http://schemas.microsoft.com/office/drawing/2014/main" id="{0D788B25-8D72-40EE-9032-074BEDCD7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7788" y="2781300"/>
            <a:ext cx="895350" cy="301625"/>
          </a:xfrm>
          <a:prstGeom prst="rect">
            <a:avLst/>
          </a:prstGeom>
          <a:solidFill>
            <a:srgbClr val="00FF00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Times New Roman" panose="02020603050405020304" pitchFamily="18" charset="0"/>
              </a:rPr>
              <a:t>DS</a:t>
            </a:r>
            <a:endParaRPr lang="zh-CN" altLang="en-US" sz="1800" b="1">
              <a:latin typeface="Times New Roman" panose="02020603050405020304" pitchFamily="18" charset="0"/>
            </a:endParaRPr>
          </a:p>
        </p:txBody>
      </p:sp>
      <p:sp>
        <p:nvSpPr>
          <p:cNvPr id="21572" name="Text Box 76">
            <a:extLst>
              <a:ext uri="{FF2B5EF4-FFF2-40B4-BE49-F238E27FC236}">
                <a16:creationId xmlns:a16="http://schemas.microsoft.com/office/drawing/2014/main" id="{6E9D5C62-CE4B-4041-8306-67980351D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2838450"/>
            <a:ext cx="895350" cy="301625"/>
          </a:xfrm>
          <a:prstGeom prst="rect">
            <a:avLst/>
          </a:prstGeom>
          <a:solidFill>
            <a:srgbClr val="00FF00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Times New Roman" panose="02020603050405020304" pitchFamily="18" charset="0"/>
              </a:rPr>
              <a:t>暂存器</a:t>
            </a:r>
          </a:p>
        </p:txBody>
      </p:sp>
      <p:grpSp>
        <p:nvGrpSpPr>
          <p:cNvPr id="21573" name="组合 21572">
            <a:extLst>
              <a:ext uri="{FF2B5EF4-FFF2-40B4-BE49-F238E27FC236}">
                <a16:creationId xmlns:a16="http://schemas.microsoft.com/office/drawing/2014/main" id="{8AD64F53-3750-43D7-9AE3-7B1240F26111}"/>
              </a:ext>
            </a:extLst>
          </p:cNvPr>
          <p:cNvGrpSpPr>
            <a:grpSpLocks/>
          </p:cNvGrpSpPr>
          <p:nvPr/>
        </p:nvGrpSpPr>
        <p:grpSpPr bwMode="auto">
          <a:xfrm>
            <a:off x="5476875" y="2289175"/>
            <a:ext cx="1111250" cy="230188"/>
            <a:chOff x="0" y="0"/>
            <a:chExt cx="700" cy="145"/>
          </a:xfrm>
        </p:grpSpPr>
        <p:sp>
          <p:nvSpPr>
            <p:cNvPr id="93260" name="AutoShape 78">
              <a:extLst>
                <a:ext uri="{FF2B5EF4-FFF2-40B4-BE49-F238E27FC236}">
                  <a16:creationId xmlns:a16="http://schemas.microsoft.com/office/drawing/2014/main" id="{D764D4FC-95D6-436C-A9FB-AD41671C085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0" y="25"/>
              <a:ext cx="143" cy="1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  <p:sp>
          <p:nvSpPr>
            <p:cNvPr id="93261" name="AutoShape 79">
              <a:extLst>
                <a:ext uri="{FF2B5EF4-FFF2-40B4-BE49-F238E27FC236}">
                  <a16:creationId xmlns:a16="http://schemas.microsoft.com/office/drawing/2014/main" id="{8A018413-50BB-4024-9174-5E95BF5395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" y="0"/>
              <a:ext cx="142" cy="141"/>
            </a:xfrm>
            <a:prstGeom prst="upDownArrow">
              <a:avLst>
                <a:gd name="adj1" fmla="val 50000"/>
                <a:gd name="adj2" fmla="val 20000"/>
              </a:avLst>
            </a:pr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</p:grpSp>
      <p:grpSp>
        <p:nvGrpSpPr>
          <p:cNvPr id="21576" name="组合 21575">
            <a:extLst>
              <a:ext uri="{FF2B5EF4-FFF2-40B4-BE49-F238E27FC236}">
                <a16:creationId xmlns:a16="http://schemas.microsoft.com/office/drawing/2014/main" id="{A80C313E-D614-43DD-A28F-7889461077E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59400" y="1887538"/>
            <a:ext cx="1336675" cy="441325"/>
            <a:chOff x="0" y="0"/>
            <a:chExt cx="842" cy="278"/>
          </a:xfrm>
        </p:grpSpPr>
        <p:sp>
          <p:nvSpPr>
            <p:cNvPr id="93251" name="Line 81">
              <a:extLst>
                <a:ext uri="{FF2B5EF4-FFF2-40B4-BE49-F238E27FC236}">
                  <a16:creationId xmlns:a16="http://schemas.microsoft.com/office/drawing/2014/main" id="{F82AC1E8-E6A7-4596-8A24-DB54E1EC930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253" y="0"/>
              <a:ext cx="418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52" name="Line 82">
              <a:extLst>
                <a:ext uri="{FF2B5EF4-FFF2-40B4-BE49-F238E27FC236}">
                  <a16:creationId xmlns:a16="http://schemas.microsoft.com/office/drawing/2014/main" id="{AD9C153F-36AA-4EFF-8F88-F3814342C27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0" y="5"/>
              <a:ext cx="247" cy="263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53" name="Line 83">
              <a:extLst>
                <a:ext uri="{FF2B5EF4-FFF2-40B4-BE49-F238E27FC236}">
                  <a16:creationId xmlns:a16="http://schemas.microsoft.com/office/drawing/2014/main" id="{47118DB2-B9EB-4056-B8BB-F2B34743FC4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" y="278"/>
              <a:ext cx="212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54" name="Line 84">
              <a:extLst>
                <a:ext uri="{FF2B5EF4-FFF2-40B4-BE49-F238E27FC236}">
                  <a16:creationId xmlns:a16="http://schemas.microsoft.com/office/drawing/2014/main" id="{6E0E6177-F3F7-49C9-A400-A81F469396A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28" y="174"/>
              <a:ext cx="115" cy="102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55" name="Line 85">
              <a:extLst>
                <a:ext uri="{FF2B5EF4-FFF2-40B4-BE49-F238E27FC236}">
                  <a16:creationId xmlns:a16="http://schemas.microsoft.com/office/drawing/2014/main" id="{886E380F-5CDC-413A-B8A1-A39D87B80D1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46" y="164"/>
              <a:ext cx="174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56" name="Line 86">
              <a:extLst>
                <a:ext uri="{FF2B5EF4-FFF2-40B4-BE49-F238E27FC236}">
                  <a16:creationId xmlns:a16="http://schemas.microsoft.com/office/drawing/2014/main" id="{0D53FB0E-C431-4DAE-86D2-62FD539CC5A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16" y="166"/>
              <a:ext cx="133" cy="10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57" name="Line 87">
              <a:extLst>
                <a:ext uri="{FF2B5EF4-FFF2-40B4-BE49-F238E27FC236}">
                  <a16:creationId xmlns:a16="http://schemas.microsoft.com/office/drawing/2014/main" id="{6B7A7350-B9D9-4D38-A3B4-4E37F32C13E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40" y="262"/>
              <a:ext cx="193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58" name="Line 88">
              <a:extLst>
                <a:ext uri="{FF2B5EF4-FFF2-40B4-BE49-F238E27FC236}">
                  <a16:creationId xmlns:a16="http://schemas.microsoft.com/office/drawing/2014/main" id="{C7B18C21-02A9-4458-8700-24AB81DD6CB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663" y="15"/>
              <a:ext cx="179" cy="251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59" name="Text Box 89">
              <a:extLst>
                <a:ext uri="{FF2B5EF4-FFF2-40B4-BE49-F238E27FC236}">
                  <a16:creationId xmlns:a16="http://schemas.microsoft.com/office/drawing/2014/main" id="{A5C7250F-7E01-4066-A59B-259ED1DF3CD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6" y="38"/>
              <a:ext cx="589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zh-CN" altLang="en-US" sz="1400">
                  <a:latin typeface="Times New Roman" panose="02020603050405020304" pitchFamily="18" charset="0"/>
                </a:rPr>
                <a:t>地址加法器</a:t>
              </a:r>
            </a:p>
          </p:txBody>
        </p:sp>
      </p:grpSp>
      <p:grpSp>
        <p:nvGrpSpPr>
          <p:cNvPr id="21586" name="组合 21585">
            <a:extLst>
              <a:ext uri="{FF2B5EF4-FFF2-40B4-BE49-F238E27FC236}">
                <a16:creationId xmlns:a16="http://schemas.microsoft.com/office/drawing/2014/main" id="{60F69C4E-0E7A-4E69-9199-BBAA8CF2936A}"/>
              </a:ext>
            </a:extLst>
          </p:cNvPr>
          <p:cNvGrpSpPr>
            <a:grpSpLocks/>
          </p:cNvGrpSpPr>
          <p:nvPr/>
        </p:nvGrpSpPr>
        <p:grpSpPr bwMode="auto">
          <a:xfrm>
            <a:off x="6005513" y="1290638"/>
            <a:ext cx="2009775" cy="579437"/>
            <a:chOff x="0" y="0"/>
            <a:chExt cx="1266" cy="365"/>
          </a:xfrm>
        </p:grpSpPr>
        <p:sp>
          <p:nvSpPr>
            <p:cNvPr id="93249" name="AutoShape 91">
              <a:extLst>
                <a:ext uri="{FF2B5EF4-FFF2-40B4-BE49-F238E27FC236}">
                  <a16:creationId xmlns:a16="http://schemas.microsoft.com/office/drawing/2014/main" id="{6674D1F8-4220-4D13-A3D3-72BCD8E221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" y="0"/>
              <a:ext cx="1146" cy="249"/>
            </a:xfrm>
            <a:prstGeom prst="rightArrow">
              <a:avLst>
                <a:gd name="adj1" fmla="val 50000"/>
                <a:gd name="adj2" fmla="val 114677"/>
              </a:avLst>
            </a:pr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  <p:sp>
          <p:nvSpPr>
            <p:cNvPr id="93250" name="Rectangle 92">
              <a:extLst>
                <a:ext uri="{FF2B5EF4-FFF2-40B4-BE49-F238E27FC236}">
                  <a16:creationId xmlns:a16="http://schemas.microsoft.com/office/drawing/2014/main" id="{2E810251-E0A8-4342-BE52-AFC5CE1BD1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3"/>
              <a:ext cx="128" cy="302"/>
            </a:xfrm>
            <a:prstGeom prst="rect">
              <a:avLst/>
            </a:prstGeom>
            <a:solidFill>
              <a:srgbClr val="66FF33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</p:grpSp>
      <p:sp>
        <p:nvSpPr>
          <p:cNvPr id="21589" name="Text Box 93">
            <a:extLst>
              <a:ext uri="{FF2B5EF4-FFF2-40B4-BE49-F238E27FC236}">
                <a16:creationId xmlns:a16="http://schemas.microsoft.com/office/drawing/2014/main" id="{243FCAE1-3054-461C-85D9-1F34EA9ABA3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980363" y="1333500"/>
            <a:ext cx="388937" cy="5081588"/>
          </a:xfrm>
          <a:prstGeom prst="rect">
            <a:avLst/>
          </a:prstGeom>
          <a:solidFill>
            <a:srgbClr val="66FF33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9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总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线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控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制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逻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辑</a:t>
            </a:r>
          </a:p>
        </p:txBody>
      </p:sp>
      <p:grpSp>
        <p:nvGrpSpPr>
          <p:cNvPr id="21590" name="组合 21589">
            <a:extLst>
              <a:ext uri="{FF2B5EF4-FFF2-40B4-BE49-F238E27FC236}">
                <a16:creationId xmlns:a16="http://schemas.microsoft.com/office/drawing/2014/main" id="{F686F293-1ADB-42AD-B320-DBFC134E6364}"/>
              </a:ext>
            </a:extLst>
          </p:cNvPr>
          <p:cNvGrpSpPr>
            <a:grpSpLocks/>
          </p:cNvGrpSpPr>
          <p:nvPr/>
        </p:nvGrpSpPr>
        <p:grpSpPr bwMode="auto">
          <a:xfrm>
            <a:off x="8388350" y="3659188"/>
            <a:ext cx="609600" cy="1752600"/>
            <a:chOff x="0" y="0"/>
            <a:chExt cx="384" cy="1104"/>
          </a:xfrm>
        </p:grpSpPr>
        <p:sp>
          <p:nvSpPr>
            <p:cNvPr id="93247" name="AutoShape 95">
              <a:extLst>
                <a:ext uri="{FF2B5EF4-FFF2-40B4-BE49-F238E27FC236}">
                  <a16:creationId xmlns:a16="http://schemas.microsoft.com/office/drawing/2014/main" id="{76FD5210-BC57-47FB-83BF-9980420406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84" cy="299"/>
            </a:xfrm>
            <a:prstGeom prst="leftRightArrow">
              <a:avLst>
                <a:gd name="adj1" fmla="val 50000"/>
                <a:gd name="adj2" fmla="val 25579"/>
              </a:avLst>
            </a:prstGeom>
            <a:solidFill>
              <a:srgbClr val="66FF33"/>
            </a:solidFill>
            <a:ln w="254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  <p:sp>
          <p:nvSpPr>
            <p:cNvPr id="21592" name="Text Box 96">
              <a:extLst>
                <a:ext uri="{FF2B5EF4-FFF2-40B4-BE49-F238E27FC236}">
                  <a16:creationId xmlns:a16="http://schemas.microsoft.com/office/drawing/2014/main" id="{AE0A5261-E7C1-4BD2-B382-115F2000CF39}"/>
                </a:ext>
              </a:extLst>
            </p:cNvPr>
            <p:cNvSpPr txBox="1"/>
            <p:nvPr/>
          </p:nvSpPr>
          <p:spPr>
            <a:xfrm>
              <a:off x="91" y="148"/>
              <a:ext cx="207" cy="956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lIns="0" tIns="0" rIns="0" bIns="0">
              <a:spAutoFit/>
            </a:bodyPr>
            <a:lstStyle/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zh-CN" altLang="en-US" sz="2400" noProof="1">
                  <a:solidFill>
                    <a:srgbClr val="66FF33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地址总线</a:t>
              </a:r>
              <a:endParaRPr lang="zh-CN" altLang="en-US" sz="2400" noProof="1">
                <a:solidFill>
                  <a:srgbClr val="66FF33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grpSp>
        <p:nvGrpSpPr>
          <p:cNvPr id="21593" name="组合 21592">
            <a:extLst>
              <a:ext uri="{FF2B5EF4-FFF2-40B4-BE49-F238E27FC236}">
                <a16:creationId xmlns:a16="http://schemas.microsoft.com/office/drawing/2014/main" id="{17424B83-5146-4B54-9BB5-02BB9CC82F05}"/>
              </a:ext>
            </a:extLst>
          </p:cNvPr>
          <p:cNvGrpSpPr>
            <a:grpSpLocks/>
          </p:cNvGrpSpPr>
          <p:nvPr/>
        </p:nvGrpSpPr>
        <p:grpSpPr bwMode="auto">
          <a:xfrm>
            <a:off x="8388350" y="3668713"/>
            <a:ext cx="609600" cy="1752600"/>
            <a:chOff x="0" y="0"/>
            <a:chExt cx="384" cy="1104"/>
          </a:xfrm>
        </p:grpSpPr>
        <p:sp>
          <p:nvSpPr>
            <p:cNvPr id="93245" name="AutoShape 98">
              <a:extLst>
                <a:ext uri="{FF2B5EF4-FFF2-40B4-BE49-F238E27FC236}">
                  <a16:creationId xmlns:a16="http://schemas.microsoft.com/office/drawing/2014/main" id="{AB250E8B-D331-46DF-84E9-68945FFA7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84" cy="299"/>
            </a:xfrm>
            <a:prstGeom prst="leftRightArrow">
              <a:avLst>
                <a:gd name="adj1" fmla="val 50000"/>
                <a:gd name="adj2" fmla="val 25579"/>
              </a:avLst>
            </a:prstGeom>
            <a:solidFill>
              <a:srgbClr val="FF9900"/>
            </a:solidFill>
            <a:ln w="254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  <p:sp>
          <p:nvSpPr>
            <p:cNvPr id="21595" name="Text Box 99">
              <a:extLst>
                <a:ext uri="{FF2B5EF4-FFF2-40B4-BE49-F238E27FC236}">
                  <a16:creationId xmlns:a16="http://schemas.microsoft.com/office/drawing/2014/main" id="{4E99CB13-D7CD-4B67-8FC6-0AC975F934D9}"/>
                </a:ext>
              </a:extLst>
            </p:cNvPr>
            <p:cNvSpPr txBox="1"/>
            <p:nvPr/>
          </p:nvSpPr>
          <p:spPr>
            <a:xfrm>
              <a:off x="91" y="148"/>
              <a:ext cx="207" cy="956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lIns="0" tIns="0" rIns="0" bIns="0">
              <a:spAutoFit/>
            </a:bodyPr>
            <a:lstStyle/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zh-CN" altLang="en-US" sz="2400" noProof="1">
                  <a:solidFill>
                    <a:srgbClr val="FF99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数据总线</a:t>
              </a:r>
              <a:endParaRPr lang="zh-CN" altLang="en-US" sz="2400" noProof="1">
                <a:solidFill>
                  <a:srgbClr val="FF99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sp>
        <p:nvSpPr>
          <p:cNvPr id="21596" name="Text Box 101">
            <a:extLst>
              <a:ext uri="{FF2B5EF4-FFF2-40B4-BE49-F238E27FC236}">
                <a16:creationId xmlns:a16="http://schemas.microsoft.com/office/drawing/2014/main" id="{182F2E5D-859F-4364-A058-5AA896E6D77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985125" y="1331913"/>
            <a:ext cx="388938" cy="5081587"/>
          </a:xfrm>
          <a:prstGeom prst="rect">
            <a:avLst/>
          </a:prstGeom>
          <a:solidFill>
            <a:schemeClr val="hlink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9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FFFF"/>
                </a:solidFill>
                <a:latin typeface="Times New Roman" panose="02020603050405020304" pitchFamily="18" charset="0"/>
              </a:rPr>
              <a:t>总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solidFill>
                <a:srgbClr val="00FFFF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FFFF"/>
                </a:solidFill>
                <a:latin typeface="Times New Roman" panose="02020603050405020304" pitchFamily="18" charset="0"/>
              </a:rPr>
              <a:t>线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solidFill>
                <a:srgbClr val="00FFFF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FFFF"/>
                </a:solidFill>
                <a:latin typeface="Times New Roman" panose="02020603050405020304" pitchFamily="18" charset="0"/>
              </a:rPr>
              <a:t>控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solidFill>
                <a:srgbClr val="00FFFF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FFFF"/>
                </a:solidFill>
                <a:latin typeface="Times New Roman" panose="02020603050405020304" pitchFamily="18" charset="0"/>
              </a:rPr>
              <a:t>制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solidFill>
                <a:srgbClr val="00FFFF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FFFF"/>
                </a:solidFill>
                <a:latin typeface="Times New Roman" panose="02020603050405020304" pitchFamily="18" charset="0"/>
              </a:rPr>
              <a:t>逻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solidFill>
                <a:srgbClr val="00FFFF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FFFF"/>
                </a:solidFill>
                <a:latin typeface="Times New Roman" panose="02020603050405020304" pitchFamily="18" charset="0"/>
              </a:rPr>
              <a:t>辑</a:t>
            </a:r>
          </a:p>
        </p:txBody>
      </p:sp>
      <p:sp>
        <p:nvSpPr>
          <p:cNvPr id="93223" name="Text Box 109">
            <a:extLst>
              <a:ext uri="{FF2B5EF4-FFF2-40B4-BE49-F238E27FC236}">
                <a16:creationId xmlns:a16="http://schemas.microsoft.com/office/drawing/2014/main" id="{7345D32B-105A-49D2-BDDE-9A48CC6D5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025" y="5949950"/>
            <a:ext cx="1206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Times New Roman" panose="02020603050405020304" pitchFamily="18" charset="0"/>
              </a:rPr>
              <a:t>指令代码</a:t>
            </a:r>
          </a:p>
        </p:txBody>
      </p:sp>
      <p:grpSp>
        <p:nvGrpSpPr>
          <p:cNvPr id="93224" name="组合 21597">
            <a:extLst>
              <a:ext uri="{FF2B5EF4-FFF2-40B4-BE49-F238E27FC236}">
                <a16:creationId xmlns:a16="http://schemas.microsoft.com/office/drawing/2014/main" id="{886D1543-C641-4AD2-98DD-86F7E764387A}"/>
              </a:ext>
            </a:extLst>
          </p:cNvPr>
          <p:cNvGrpSpPr>
            <a:grpSpLocks/>
          </p:cNvGrpSpPr>
          <p:nvPr/>
        </p:nvGrpSpPr>
        <p:grpSpPr bwMode="auto">
          <a:xfrm>
            <a:off x="2268538" y="2636838"/>
            <a:ext cx="1331912" cy="2519362"/>
            <a:chOff x="0" y="0"/>
            <a:chExt cx="839" cy="1587"/>
          </a:xfrm>
        </p:grpSpPr>
        <p:sp>
          <p:nvSpPr>
            <p:cNvPr id="93231" name="Text Box 113">
              <a:extLst>
                <a:ext uri="{FF2B5EF4-FFF2-40B4-BE49-F238E27FC236}">
                  <a16:creationId xmlns:a16="http://schemas.microsoft.com/office/drawing/2014/main" id="{134E8766-FD87-41BF-9E6E-A34569F158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839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latin typeface="Times New Roman" panose="02020603050405020304" pitchFamily="18" charset="0"/>
                </a:rPr>
                <a:t>内存储器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latin typeface="Times New Roman" panose="02020603050405020304" pitchFamily="18" charset="0"/>
                </a:rPr>
                <a:t>（数据段）</a:t>
              </a:r>
            </a:p>
          </p:txBody>
        </p:sp>
        <p:sp>
          <p:nvSpPr>
            <p:cNvPr id="93232" name="AutoShape 114">
              <a:extLst>
                <a:ext uri="{FF2B5EF4-FFF2-40B4-BE49-F238E27FC236}">
                  <a16:creationId xmlns:a16="http://schemas.microsoft.com/office/drawing/2014/main" id="{821EC371-2A04-40FF-8438-7277EAF76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" y="491"/>
              <a:ext cx="399" cy="1096"/>
            </a:xfrm>
            <a:prstGeom prst="flowChartDocumen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  <p:sp>
          <p:nvSpPr>
            <p:cNvPr id="93233" name="Text Box 115">
              <a:extLst>
                <a:ext uri="{FF2B5EF4-FFF2-40B4-BE49-F238E27FC236}">
                  <a16:creationId xmlns:a16="http://schemas.microsoft.com/office/drawing/2014/main" id="{089F609D-C9AD-456F-9F5C-062ED462D0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490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B0H</a:t>
              </a:r>
            </a:p>
          </p:txBody>
        </p:sp>
        <p:sp>
          <p:nvSpPr>
            <p:cNvPr id="93234" name="Text Box 116">
              <a:extLst>
                <a:ext uri="{FF2B5EF4-FFF2-40B4-BE49-F238E27FC236}">
                  <a16:creationId xmlns:a16="http://schemas.microsoft.com/office/drawing/2014/main" id="{8F7B89A6-3660-44DE-A162-FA7EEA2601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654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93235" name="Text Box 117">
              <a:extLst>
                <a:ext uri="{FF2B5EF4-FFF2-40B4-BE49-F238E27FC236}">
                  <a16:creationId xmlns:a16="http://schemas.microsoft.com/office/drawing/2014/main" id="{8B08110C-BDC0-4F13-BF8C-243973E535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26"/>
              <a:ext cx="454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latin typeface="Times New Roman" panose="02020603050405020304" pitchFamily="18" charset="0"/>
                </a:rPr>
                <a:t>地址</a:t>
              </a:r>
            </a:p>
          </p:txBody>
        </p:sp>
        <p:sp>
          <p:nvSpPr>
            <p:cNvPr id="93236" name="Text Box 118">
              <a:extLst>
                <a:ext uri="{FF2B5EF4-FFF2-40B4-BE49-F238E27FC236}">
                  <a16:creationId xmlns:a16="http://schemas.microsoft.com/office/drawing/2014/main" id="{A1D68B55-A5AF-4857-885C-38671071A1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643"/>
              <a:ext cx="35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93237" name="Text Box 119">
              <a:extLst>
                <a:ext uri="{FF2B5EF4-FFF2-40B4-BE49-F238E27FC236}">
                  <a16:creationId xmlns:a16="http://schemas.microsoft.com/office/drawing/2014/main" id="{233599C8-4426-4325-91C4-48D64864BE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818"/>
              <a:ext cx="357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2100H</a:t>
              </a:r>
            </a:p>
          </p:txBody>
        </p:sp>
        <p:sp>
          <p:nvSpPr>
            <p:cNvPr id="93238" name="Text Box 120">
              <a:extLst>
                <a:ext uri="{FF2B5EF4-FFF2-40B4-BE49-F238E27FC236}">
                  <a16:creationId xmlns:a16="http://schemas.microsoft.com/office/drawing/2014/main" id="{005E1D86-03FC-482B-9CB2-31C616F98D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992"/>
              <a:ext cx="357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2101H</a:t>
              </a:r>
            </a:p>
          </p:txBody>
        </p:sp>
        <p:sp>
          <p:nvSpPr>
            <p:cNvPr id="93239" name="Text Box 121">
              <a:extLst>
                <a:ext uri="{FF2B5EF4-FFF2-40B4-BE49-F238E27FC236}">
                  <a16:creationId xmlns:a16="http://schemas.microsoft.com/office/drawing/2014/main" id="{DFF33F17-D604-4D5D-B1BC-D89C7FDBF3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15"/>
              <a:ext cx="35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latin typeface="Times New Roman" panose="02020603050405020304" pitchFamily="18" charset="0"/>
                </a:rPr>
                <a:t>内容</a:t>
              </a:r>
            </a:p>
          </p:txBody>
        </p:sp>
        <p:sp>
          <p:nvSpPr>
            <p:cNvPr id="93240" name="Text Box 122">
              <a:extLst>
                <a:ext uri="{FF2B5EF4-FFF2-40B4-BE49-F238E27FC236}">
                  <a16:creationId xmlns:a16="http://schemas.microsoft.com/office/drawing/2014/main" id="{1C86DD93-91A2-4450-97C5-DF1D1B4EC8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490"/>
              <a:ext cx="357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2000H</a:t>
              </a:r>
            </a:p>
          </p:txBody>
        </p:sp>
        <p:sp>
          <p:nvSpPr>
            <p:cNvPr id="93241" name="Text Box 123">
              <a:extLst>
                <a:ext uri="{FF2B5EF4-FFF2-40B4-BE49-F238E27FC236}">
                  <a16:creationId xmlns:a16="http://schemas.microsoft.com/office/drawing/2014/main" id="{DC7B0826-059D-4211-8345-0B82F47405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816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10H</a:t>
              </a:r>
            </a:p>
          </p:txBody>
        </p:sp>
        <p:sp>
          <p:nvSpPr>
            <p:cNvPr id="93242" name="Text Box 124">
              <a:extLst>
                <a:ext uri="{FF2B5EF4-FFF2-40B4-BE49-F238E27FC236}">
                  <a16:creationId xmlns:a16="http://schemas.microsoft.com/office/drawing/2014/main" id="{C17A2BAA-68AD-49A5-AFCD-37517B926E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984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11H</a:t>
              </a:r>
            </a:p>
          </p:txBody>
        </p:sp>
        <p:sp>
          <p:nvSpPr>
            <p:cNvPr id="93243" name="Text Box 125">
              <a:extLst>
                <a:ext uri="{FF2B5EF4-FFF2-40B4-BE49-F238E27FC236}">
                  <a16:creationId xmlns:a16="http://schemas.microsoft.com/office/drawing/2014/main" id="{017AFAD6-86F6-400C-AAF4-06BDCD8054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1149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93244" name="Text Box 126">
              <a:extLst>
                <a:ext uri="{FF2B5EF4-FFF2-40B4-BE49-F238E27FC236}">
                  <a16:creationId xmlns:a16="http://schemas.microsoft.com/office/drawing/2014/main" id="{A13B0F67-EA11-4BDE-95A9-7A3ADA7E0D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" y="1152"/>
              <a:ext cx="357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…</a:t>
              </a:r>
            </a:p>
          </p:txBody>
        </p:sp>
      </p:grpSp>
      <p:sp>
        <p:nvSpPr>
          <p:cNvPr id="21613" name="AutoShape 129">
            <a:extLst>
              <a:ext uri="{FF2B5EF4-FFF2-40B4-BE49-F238E27FC236}">
                <a16:creationId xmlns:a16="http://schemas.microsoft.com/office/drawing/2014/main" id="{6D17A404-4E91-4F49-B14D-1104BFE2E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4508500"/>
            <a:ext cx="3816350" cy="179388"/>
          </a:xfrm>
          <a:prstGeom prst="leftRightArrow">
            <a:avLst>
              <a:gd name="adj1" fmla="val 57435"/>
              <a:gd name="adj2" fmla="val 145768"/>
            </a:avLst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latin typeface="Garamond" panose="02020404030301010803" pitchFamily="18" charset="0"/>
            </a:endParaRPr>
          </a:p>
        </p:txBody>
      </p:sp>
      <p:sp>
        <p:nvSpPr>
          <p:cNvPr id="21614" name="AutoShape 133">
            <a:extLst>
              <a:ext uri="{FF2B5EF4-FFF2-40B4-BE49-F238E27FC236}">
                <a16:creationId xmlns:a16="http://schemas.microsoft.com/office/drawing/2014/main" id="{509F26A1-4767-4703-A919-F5D1A7F5F1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29388" y="3154363"/>
            <a:ext cx="228600" cy="1395412"/>
          </a:xfrm>
          <a:prstGeom prst="upDownArrow">
            <a:avLst>
              <a:gd name="adj1" fmla="val 50000"/>
              <a:gd name="adj2" fmla="val 121575"/>
            </a:avLst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latin typeface="Garamond" panose="02020404030301010803" pitchFamily="18" charset="0"/>
            </a:endParaRPr>
          </a:p>
        </p:txBody>
      </p:sp>
      <p:sp>
        <p:nvSpPr>
          <p:cNvPr id="21615" name="AutoShape 134">
            <a:extLst>
              <a:ext uri="{FF2B5EF4-FFF2-40B4-BE49-F238E27FC236}">
                <a16:creationId xmlns:a16="http://schemas.microsoft.com/office/drawing/2014/main" id="{53269CB7-AD67-43A9-BF11-6F2A37604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4508500"/>
            <a:ext cx="3816350" cy="179388"/>
          </a:xfrm>
          <a:prstGeom prst="leftRightArrow">
            <a:avLst>
              <a:gd name="adj1" fmla="val 57435"/>
              <a:gd name="adj2" fmla="val 145768"/>
            </a:avLst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latin typeface="Garamond" panose="02020404030301010803" pitchFamily="18" charset="0"/>
            </a:endParaRPr>
          </a:p>
        </p:txBody>
      </p:sp>
      <p:sp>
        <p:nvSpPr>
          <p:cNvPr id="93228" name="未知">
            <a:extLst>
              <a:ext uri="{FF2B5EF4-FFF2-40B4-BE49-F238E27FC236}">
                <a16:creationId xmlns:a16="http://schemas.microsoft.com/office/drawing/2014/main" id="{482808A2-A2E9-4DA1-AE6D-6FDE5EBDD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4076700"/>
            <a:ext cx="1944688" cy="2089150"/>
          </a:xfrm>
          <a:custGeom>
            <a:avLst/>
            <a:gdLst>
              <a:gd name="T0" fmla="*/ 0 w 1225"/>
              <a:gd name="T1" fmla="*/ 2147483646 h 1316"/>
              <a:gd name="T2" fmla="*/ 2147483646 w 1225"/>
              <a:gd name="T3" fmla="*/ 2147483646 h 1316"/>
              <a:gd name="T4" fmla="*/ 2147483646 w 1225"/>
              <a:gd name="T5" fmla="*/ 2147483646 h 1316"/>
              <a:gd name="T6" fmla="*/ 2147483646 w 1225"/>
              <a:gd name="T7" fmla="*/ 0 h 131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225" h="1316">
                <a:moveTo>
                  <a:pt x="0" y="1316"/>
                </a:moveTo>
                <a:cubicBezTo>
                  <a:pt x="397" y="1308"/>
                  <a:pt x="794" y="1300"/>
                  <a:pt x="998" y="1134"/>
                </a:cubicBezTo>
                <a:cubicBezTo>
                  <a:pt x="1202" y="968"/>
                  <a:pt x="1225" y="507"/>
                  <a:pt x="1225" y="318"/>
                </a:cubicBezTo>
                <a:cubicBezTo>
                  <a:pt x="1225" y="129"/>
                  <a:pt x="1111" y="64"/>
                  <a:pt x="998" y="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05" name="灯片编号占位符 1">
            <a:extLst>
              <a:ext uri="{FF2B5EF4-FFF2-40B4-BE49-F238E27FC236}">
                <a16:creationId xmlns:a16="http://schemas.microsoft.com/office/drawing/2014/main" id="{8797B34C-D1DB-45EF-A47A-6ED00005AF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457200" y="6245225"/>
            <a:ext cx="2133600" cy="4762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FontTx/>
              <a:buNone/>
              <a:defRPr/>
            </a:pPr>
            <a:fld id="{0568F551-7FF1-457C-9E99-931162885364}" type="slidenum">
              <a:rPr altLang="en-US" sz="1400" smtClean="0">
                <a:latin typeface="Garamond" panose="02020404030301010803" pitchFamily="18" charset="0"/>
              </a:rPr>
              <a:pPr algn="l">
                <a:spcBef>
                  <a:spcPct val="0"/>
                </a:spcBef>
                <a:buFontTx/>
                <a:buNone/>
                <a:defRPr/>
              </a:pPr>
              <a:t>40</a:t>
            </a:fld>
            <a:endParaRPr lang="zh-CN" altLang="en-US" sz="1400">
              <a:latin typeface="Garamond" panose="02020404030301010803" pitchFamily="18" charset="0"/>
            </a:endParaRPr>
          </a:p>
        </p:txBody>
      </p:sp>
      <p:sp>
        <p:nvSpPr>
          <p:cNvPr id="114" name="Text Box 3">
            <a:extLst>
              <a:ext uri="{FF2B5EF4-FFF2-40B4-BE49-F238E27FC236}">
                <a16:creationId xmlns:a16="http://schemas.microsoft.com/office/drawing/2014/main" id="{11B3DC74-2B03-453F-BCA9-F86560026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6" y="165101"/>
            <a:ext cx="495934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solidFill>
                  <a:srgbClr val="C00000"/>
                </a:solidFill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回顾：读数据过程</a:t>
            </a:r>
            <a:endParaRPr lang="en-US" altLang="zh-CN" sz="3200" dirty="0">
              <a:solidFill>
                <a:srgbClr val="C00000"/>
              </a:solidFill>
              <a:highlight>
                <a:srgbClr val="FFFF00"/>
              </a:highligh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5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15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15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15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15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15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15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15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1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1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3" grpId="0" animBg="1"/>
      <p:bldP spid="21529" grpId="0" animBg="1"/>
      <p:bldP spid="21571" grpId="0" animBg="1"/>
      <p:bldP spid="21572" grpId="0" animBg="1"/>
      <p:bldP spid="21589" grpId="0" animBg="1"/>
      <p:bldP spid="21596" grpId="0" animBg="1"/>
      <p:bldP spid="21613" grpId="0" animBg="1"/>
      <p:bldP spid="21614" grpId="0" animBg="1"/>
      <p:bldP spid="21615" grpId="0" animBg="1"/>
    </p:bldLst>
  </p:timing>
</p:sld>
</file>

<file path=ppt/theme/theme1.xml><?xml version="1.0" encoding="utf-8"?>
<a:theme xmlns:a="http://schemas.openxmlformats.org/drawingml/2006/main" name="微机模板">
  <a:themeElements>
    <a:clrScheme name="">
      <a:dk1>
        <a:srgbClr val="FFFFFF"/>
      </a:dk1>
      <a:lt1>
        <a:srgbClr val="004646"/>
      </a:lt1>
      <a:dk2>
        <a:srgbClr val="E1F0FF"/>
      </a:dk2>
      <a:lt2>
        <a:srgbClr val="000000"/>
      </a:lt2>
      <a:accent1>
        <a:srgbClr val="50742F"/>
      </a:accent1>
      <a:accent2>
        <a:srgbClr val="268868"/>
      </a:accent2>
      <a:accent3>
        <a:srgbClr val="AAB1B1"/>
      </a:accent3>
      <a:accent4>
        <a:srgbClr val="DCDCDC"/>
      </a:accent4>
      <a:accent5>
        <a:srgbClr val="B3BDAD"/>
      </a:accent5>
      <a:accent6>
        <a:srgbClr val="21795D"/>
      </a:accent6>
      <a:hlink>
        <a:srgbClr val="D9BE02"/>
      </a:hlink>
      <a:folHlink>
        <a:srgbClr val="F900F9"/>
      </a:folHlink>
    </a:clrScheme>
    <a:fontScheme name="">
      <a:majorFont>
        <a:latin typeface="Times New Roman"/>
        <a:ea typeface="黑体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我的PPT-1.1">
  <a:themeElements>
    <a:clrScheme name="">
      <a:dk1>
        <a:srgbClr val="FFFFFF"/>
      </a:dk1>
      <a:lt1>
        <a:srgbClr val="000000"/>
      </a:lt1>
      <a:dk2>
        <a:srgbClr val="FBEEC9"/>
      </a:dk2>
      <a:lt2>
        <a:srgbClr val="4E3B30"/>
      </a:lt2>
      <a:accent1>
        <a:srgbClr val="F0A22E"/>
      </a:accent1>
      <a:accent2>
        <a:srgbClr val="A5644E"/>
      </a:accent2>
      <a:accent3>
        <a:srgbClr val="AAAAAA"/>
      </a:accent3>
      <a:accent4>
        <a:srgbClr val="DCDCDC"/>
      </a:accent4>
      <a:accent5>
        <a:srgbClr val="F6CEAC"/>
      </a:accent5>
      <a:accent6>
        <a:srgbClr val="945945"/>
      </a:accent6>
      <a:hlink>
        <a:srgbClr val="AD1F1F"/>
      </a:hlink>
      <a:folHlink>
        <a:srgbClr val="FFC42F"/>
      </a:folHlink>
    </a:clrScheme>
    <a:fontScheme name="">
      <a:majorFont>
        <a:latin typeface="楷体_GB2312"/>
        <a:ea typeface="楷体_GB2312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3C1DA"/>
      </a:accent5>
      <a:accent6>
        <a:srgbClr val="AC4744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3C1DA"/>
      </a:accent5>
      <a:accent6>
        <a:srgbClr val="AC4744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simple gree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simple gree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mple gree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mple gree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mple gree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mple gree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mple gree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mple gree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mple gree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mple gree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mple gree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mple gree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mple gree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fault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EF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C6E5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0DFF0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">
  <a:themeElements>
    <a:clrScheme name="">
      <a:dk1>
        <a:srgbClr val="FFFFFF"/>
      </a:dk1>
      <a:lt1>
        <a:srgbClr val="004646"/>
      </a:lt1>
      <a:dk2>
        <a:srgbClr val="E1F0FF"/>
      </a:dk2>
      <a:lt2>
        <a:srgbClr val="000000"/>
      </a:lt2>
      <a:accent1>
        <a:srgbClr val="50742F"/>
      </a:accent1>
      <a:accent2>
        <a:srgbClr val="268868"/>
      </a:accent2>
      <a:accent3>
        <a:srgbClr val="AAB1B1"/>
      </a:accent3>
      <a:accent4>
        <a:srgbClr val="DCDCDC"/>
      </a:accent4>
      <a:accent5>
        <a:srgbClr val="B3BDAD"/>
      </a:accent5>
      <a:accent6>
        <a:srgbClr val="21795D"/>
      </a:accent6>
      <a:hlink>
        <a:srgbClr val="D9BE02"/>
      </a:hlink>
      <a:folHlink>
        <a:srgbClr val="F900F9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</TotalTime>
  <Pages>0</Pages>
  <Words>2060</Words>
  <Characters>0</Characters>
  <Application>Microsoft Office PowerPoint</Application>
  <DocSecurity>0</DocSecurity>
  <PresentationFormat>全屏显示(4:3)</PresentationFormat>
  <Lines>0</Lines>
  <Paragraphs>495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40</vt:i4>
      </vt:variant>
    </vt:vector>
  </HeadingPairs>
  <TitlesOfParts>
    <vt:vector size="62" baseType="lpstr">
      <vt:lpstr>方正姚体</vt:lpstr>
      <vt:lpstr>仿宋</vt:lpstr>
      <vt:lpstr>黑体</vt:lpstr>
      <vt:lpstr>华文楷体</vt:lpstr>
      <vt:lpstr>华文中宋</vt:lpstr>
      <vt:lpstr>楷体_GB2312</vt:lpstr>
      <vt:lpstr>宋体</vt:lpstr>
      <vt:lpstr>Arial</vt:lpstr>
      <vt:lpstr>Calibri</vt:lpstr>
      <vt:lpstr>Footlight MT Light</vt:lpstr>
      <vt:lpstr>Garamond</vt:lpstr>
      <vt:lpstr>Goudy Old Style</vt:lpstr>
      <vt:lpstr>Times New Roman</vt:lpstr>
      <vt:lpstr>Wingdings</vt:lpstr>
      <vt:lpstr>Wingdings 2</vt:lpstr>
      <vt:lpstr>Wingdings 3</vt:lpstr>
      <vt:lpstr>微机模板</vt:lpstr>
      <vt:lpstr>我的PPT-1.1</vt:lpstr>
      <vt:lpstr>Office 主题</vt:lpstr>
      <vt:lpstr>1_Office 主题</vt:lpstr>
      <vt:lpstr>simple green</vt:lpstr>
      <vt:lpstr>default</vt:lpstr>
      <vt:lpstr>PowerPoint 演示文稿</vt:lpstr>
      <vt:lpstr>PowerPoint 演示文稿</vt:lpstr>
      <vt:lpstr>指令 Instruction 和寻址 addressing modes</vt:lpstr>
      <vt:lpstr>寻址方式</vt:lpstr>
      <vt:lpstr>§3.1 8086的寻址方式</vt:lpstr>
      <vt:lpstr>§3.1 8086的寻址方式</vt:lpstr>
      <vt:lpstr>3.1.1 立即寻址方式(Immediate Addressing) </vt:lpstr>
      <vt:lpstr>立即寻址规则</vt:lpstr>
      <vt:lpstr>§3.1 8086的寻址方式</vt:lpstr>
      <vt:lpstr>3.1.2 寄存器寻址方式 (Register Addressing)</vt:lpstr>
      <vt:lpstr>寄存器寻址规则</vt:lpstr>
      <vt:lpstr>§3.1 8086的寻址方式</vt:lpstr>
      <vt:lpstr>3.1.3 直接寻址方式 Direct Addressing</vt:lpstr>
      <vt:lpstr>PowerPoint 演示文稿</vt:lpstr>
      <vt:lpstr>PowerPoint 演示文稿</vt:lpstr>
      <vt:lpstr>直接寻址中的段选择</vt:lpstr>
      <vt:lpstr>直接寻址</vt:lpstr>
      <vt:lpstr>直接寻址</vt:lpstr>
      <vt:lpstr>§3.1 8086的寻址方式</vt:lpstr>
      <vt:lpstr>3.1.4 寄存器间接寻址方式 Register Indirect Addressing</vt:lpstr>
      <vt:lpstr>PowerPoint 演示文稿</vt:lpstr>
      <vt:lpstr>寄存器间接寻址</vt:lpstr>
      <vt:lpstr>§3.1 8086的寻址方式</vt:lpstr>
      <vt:lpstr>3.1.5 寄存器相对寻址方式 Register Relative Addressing</vt:lpstr>
      <vt:lpstr>寄存器相对寻址</vt:lpstr>
      <vt:lpstr>§3.1 8086的寻址方式</vt:lpstr>
      <vt:lpstr>3.1.6 基址变址寻址方式 Based Indexed Addressing</vt:lpstr>
      <vt:lpstr>PowerPoint 演示文稿</vt:lpstr>
      <vt:lpstr>§3.1 8086的寻址方式</vt:lpstr>
      <vt:lpstr>3.1.7 相对基址变址寻址方式 Relative Based Indexed Addressing</vt:lpstr>
      <vt:lpstr>PowerPoint 演示文稿</vt:lpstr>
      <vt:lpstr>关于[]号的小结</vt:lpstr>
      <vt:lpstr>关于[]号的小结</vt:lpstr>
      <vt:lpstr>§3.1 8086的寻址方式</vt:lpstr>
      <vt:lpstr>3.1.8 其它寻址方式</vt:lpstr>
      <vt:lpstr>其它寻址</vt:lpstr>
      <vt:lpstr>其它寻址</vt:lpstr>
      <vt:lpstr>*3.2 指令的机器码表示方法（不考）</vt:lpstr>
      <vt:lpstr>PowerPoint 演示文稿</vt:lpstr>
      <vt:lpstr>PowerPoint 演示文稿</vt:lpstr>
    </vt:vector>
  </TitlesOfParts>
  <Manager/>
  <Company>UESTC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7.2 8253的应用</dc:title>
  <dc:subject/>
  <dc:creator>冯周</dc:creator>
  <cp:keywords/>
  <dc:description/>
  <cp:lastModifiedBy>Hong Zhang</cp:lastModifiedBy>
  <cp:revision>431</cp:revision>
  <dcterms:created xsi:type="dcterms:W3CDTF">2003-06-02T01:23:00Z</dcterms:created>
  <dcterms:modified xsi:type="dcterms:W3CDTF">2024-03-05T11:44:45Z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2052-11.1.0.9662</vt:lpwstr>
  </property>
</Properties>
</file>
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687" r:id="rId2"/>
    <p:sldId id="599" r:id="rId3"/>
    <p:sldId id="1150" r:id="rId4"/>
    <p:sldId id="745" r:id="rId5"/>
    <p:sldId id="691" r:id="rId6"/>
    <p:sldId id="690" r:id="rId7"/>
    <p:sldId id="692" r:id="rId8"/>
    <p:sldId id="694" r:id="rId9"/>
    <p:sldId id="753" r:id="rId10"/>
    <p:sldId id="700" r:id="rId11"/>
    <p:sldId id="701" r:id="rId12"/>
    <p:sldId id="708" r:id="rId13"/>
    <p:sldId id="707" r:id="rId14"/>
    <p:sldId id="706" r:id="rId15"/>
    <p:sldId id="705" r:id="rId16"/>
    <p:sldId id="704" r:id="rId17"/>
    <p:sldId id="751" r:id="rId18"/>
    <p:sldId id="714" r:id="rId19"/>
    <p:sldId id="712" r:id="rId20"/>
    <p:sldId id="718" r:id="rId21"/>
    <p:sldId id="717" r:id="rId22"/>
    <p:sldId id="716" r:id="rId23"/>
    <p:sldId id="715" r:id="rId24"/>
    <p:sldId id="711" r:id="rId25"/>
    <p:sldId id="744" r:id="rId26"/>
    <p:sldId id="719" r:id="rId27"/>
    <p:sldId id="720" r:id="rId28"/>
    <p:sldId id="721" r:id="rId29"/>
    <p:sldId id="724" r:id="rId30"/>
    <p:sldId id="723" r:id="rId31"/>
    <p:sldId id="732" r:id="rId32"/>
    <p:sldId id="752" r:id="rId33"/>
    <p:sldId id="728" r:id="rId34"/>
    <p:sldId id="741" r:id="rId35"/>
    <p:sldId id="755" r:id="rId36"/>
    <p:sldId id="756" r:id="rId37"/>
    <p:sldId id="838" r:id="rId38"/>
    <p:sldId id="757" r:id="rId39"/>
    <p:sldId id="758" r:id="rId40"/>
    <p:sldId id="759" r:id="rId41"/>
    <p:sldId id="760" r:id="rId42"/>
    <p:sldId id="761" r:id="rId43"/>
    <p:sldId id="762" r:id="rId44"/>
    <p:sldId id="763" r:id="rId45"/>
    <p:sldId id="1152" r:id="rId46"/>
    <p:sldId id="1151" r:id="rId47"/>
    <p:sldId id="764" r:id="rId48"/>
    <p:sldId id="765" r:id="rId49"/>
    <p:sldId id="766" r:id="rId50"/>
    <p:sldId id="767" r:id="rId51"/>
    <p:sldId id="768" r:id="rId52"/>
    <p:sldId id="769" r:id="rId53"/>
    <p:sldId id="771" r:id="rId54"/>
    <p:sldId id="772" r:id="rId55"/>
    <p:sldId id="773" r:id="rId56"/>
    <p:sldId id="774" r:id="rId57"/>
    <p:sldId id="775" r:id="rId58"/>
    <p:sldId id="776" r:id="rId59"/>
    <p:sldId id="777" r:id="rId60"/>
    <p:sldId id="778" r:id="rId61"/>
    <p:sldId id="779" r:id="rId62"/>
    <p:sldId id="780" r:id="rId63"/>
    <p:sldId id="781" r:id="rId64"/>
    <p:sldId id="782" r:id="rId65"/>
    <p:sldId id="783" r:id="rId66"/>
    <p:sldId id="818" r:id="rId67"/>
    <p:sldId id="784" r:id="rId68"/>
    <p:sldId id="785" r:id="rId69"/>
    <p:sldId id="786" r:id="rId70"/>
    <p:sldId id="787" r:id="rId71"/>
    <p:sldId id="788" r:id="rId72"/>
    <p:sldId id="789" r:id="rId73"/>
    <p:sldId id="825" r:id="rId74"/>
    <p:sldId id="826" r:id="rId75"/>
    <p:sldId id="827" r:id="rId76"/>
    <p:sldId id="828" r:id="rId77"/>
    <p:sldId id="829" r:id="rId78"/>
    <p:sldId id="830" r:id="rId79"/>
    <p:sldId id="831" r:id="rId80"/>
    <p:sldId id="832" r:id="rId81"/>
    <p:sldId id="833" r:id="rId82"/>
    <p:sldId id="834" r:id="rId83"/>
    <p:sldId id="835" r:id="rId84"/>
    <p:sldId id="836" r:id="rId85"/>
    <p:sldId id="837" r:id="rId86"/>
    <p:sldId id="1153" r:id="rId8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194DF3"/>
    <a:srgbClr val="FF0000"/>
    <a:srgbClr val="008080"/>
    <a:srgbClr val="00FF00"/>
    <a:srgbClr val="66CCFF"/>
    <a:srgbClr val="CCECFF"/>
    <a:srgbClr val="FF33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581" autoAdjust="0"/>
  </p:normalViewPr>
  <p:slideViewPr>
    <p:cSldViewPr>
      <p:cViewPr varScale="1">
        <p:scale>
          <a:sx n="63" d="100"/>
          <a:sy n="63" d="100"/>
        </p:scale>
        <p:origin x="120" y="52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2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7.wmf"/><Relationship Id="rId1" Type="http://schemas.openxmlformats.org/officeDocument/2006/relationships/image" Target="../media/image30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48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48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CCD7E2E-8DD8-4896-AB59-2B1B650F40A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933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algn="l">
              <a:defRPr/>
            </a:pPr>
            <a:fld id="{886718F5-597B-4A85-A4A9-93B25D1E91CE}" type="slidenum">
              <a:rPr lang="en-US" altLang="zh-CN" sz="1800" b="1" smtClean="0">
                <a:latin typeface="Garamond" panose="02020404030301010803" pitchFamily="18" charset="0"/>
              </a:rPr>
              <a:t>3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7E2E-8DD8-4896-AB59-2B1B650F40A7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A14151E-7815-42AF-B434-4AE4C6E7DB3C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99534E7-8133-4C2B-AA2E-D64346CF4CF1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08D50D-A56D-4E09-AAD7-44BE85976E3B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E16309-FAA9-45B8-AFF1-AAACD1F249F0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AF8F308-FB7E-4FC8-9A1F-85938137918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A469B9-5BD1-4ED7-B760-0743767190E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0E2B063-255E-4960-A560-8333EB68040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D3973B-B155-44FE-AB97-9F2A6F426A43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02329A3-0F47-455E-B531-5F2CC3449B5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62AAA-D9D6-446A-83CD-6014F9C71C37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9E0A9AC-2CC0-4564-8B5C-CC685C10299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FBD52F-7A05-45A4-BDD7-7F5A7E3CB22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C78CBDD-616A-4779-8304-716EA601FA0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9FC570-F112-42C0-AAB4-8AA9E74BF228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F27BBD2-F27B-4A0B-A1E8-2DC572C36AD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9F8BF3-BB7E-46D2-A25A-A18645D75ACD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716E529-1EB3-4FF1-9C93-4C3CA36D941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951F3C-5A43-4208-A378-90966FB7FB9B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325B597-4521-4736-9DAF-7E1CF25F05B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76250"/>
          </a:xfrm>
        </p:spPr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742C412-64F2-45DA-B67D-B485CDFA7D5D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TextBox 7"/>
          <p:cNvSpPr txBox="1"/>
          <p:nvPr userDrawn="1"/>
        </p:nvSpPr>
        <p:spPr>
          <a:xfrm>
            <a:off x="7162800" y="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章 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8255</a:t>
            </a:r>
            <a:endParaRPr lang="en-US" b="0" baseline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3.jpe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0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3.jpeg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1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8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7.png"/><Relationship Id="rId4" Type="http://schemas.openxmlformats.org/officeDocument/2006/relationships/image" Target="../media/image46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6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6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6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6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304800" y="990600"/>
            <a:ext cx="8534400" cy="51816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微型计算机原理与接口技术</a:t>
            </a:r>
            <a:r>
              <a:rPr lang="en-US" altLang="zh-CN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</a:p>
          <a:p>
            <a:pPr algn="ctr"/>
            <a:endParaRPr lang="en-US" altLang="zh-CN" sz="3600" b="1" dirty="0">
              <a:solidFill>
                <a:schemeClr val="accent5">
                  <a:lumMod val="7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lvl="0" algn="ctr"/>
            <a:endParaRPr kumimoji="0" lang="en-US" altLang="zh-CN" sz="3200" dirty="0">
              <a:solidFill>
                <a:srgbClr val="66CCFF"/>
              </a:solidFill>
              <a:cs typeface="Times New Roman" panose="02020603050405020304" pitchFamily="18" charset="0"/>
            </a:endParaRPr>
          </a:p>
          <a:p>
            <a:pPr lvl="0" algn="ctr"/>
            <a:endParaRPr kumimoji="0" lang="en-US" altLang="zh-CN" sz="3600" dirty="0">
              <a:solidFill>
                <a:srgbClr val="66CCFF"/>
              </a:solidFill>
              <a:cs typeface="Times New Roman" panose="02020603050405020304" pitchFamily="18" charset="0"/>
            </a:endParaRPr>
          </a:p>
          <a:p>
            <a:pPr lvl="0" algn="ctr"/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章 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接口和并行接口芯片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8255A</a:t>
            </a:r>
            <a:endParaRPr kumimoji="0" lang="zh-CN" altLang="en-US" sz="4000" b="1" dirty="0">
              <a:solidFill>
                <a:schemeClr val="accent5">
                  <a:lumMod val="75000"/>
                </a:schemeClr>
              </a:solidFill>
              <a:effectLst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07269" y="0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hee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143000" y="1371600"/>
            <a:ext cx="7010400" cy="4038600"/>
          </a:xfrm>
        </p:spPr>
        <p:txBody>
          <a:bodyPr>
            <a:normAutofit fontScale="90000"/>
          </a:bodyPr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b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本章主要内容：</a:t>
            </a:r>
            <a:br>
              <a:rPr lang="en-US" altLang="zh-CN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§6.1  I/O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</a:t>
            </a:r>
            <a:b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§6.2  8255A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的工作原理</a:t>
            </a:r>
            <a:b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§6.3  8255A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的应用举例</a:t>
            </a:r>
            <a:br>
              <a:rPr kumimoji="1" lang="en-US" altLang="zh-CN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4615" y="688340"/>
            <a:ext cx="3911648" cy="58477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的最小模式</a:t>
            </a:r>
          </a:p>
        </p:txBody>
      </p:sp>
      <p:pic>
        <p:nvPicPr>
          <p:cNvPr id="9830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7988666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>
          <a:xfrm>
            <a:off x="6355509" y="3756606"/>
            <a:ext cx="2788491" cy="109942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7401767" y="4555913"/>
            <a:ext cx="8931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194DF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I/O</a:t>
            </a:r>
            <a:r>
              <a:rPr lang="zh-CN" altLang="en-US" sz="1600" dirty="0">
                <a:solidFill>
                  <a:srgbClr val="194DF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总线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074282" y="4018286"/>
            <a:ext cx="856713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I/O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设备</a:t>
            </a:r>
          </a:p>
        </p:txBody>
      </p:sp>
      <p:sp>
        <p:nvSpPr>
          <p:cNvPr id="10" name="AutoShape 17"/>
          <p:cNvSpPr>
            <a:spLocks noChangeArrowheads="1"/>
          </p:cNvSpPr>
          <p:nvPr/>
        </p:nvSpPr>
        <p:spPr bwMode="auto">
          <a:xfrm>
            <a:off x="7668344" y="4221088"/>
            <a:ext cx="360040" cy="144016"/>
          </a:xfrm>
          <a:prstGeom prst="leftRightArrow">
            <a:avLst>
              <a:gd name="adj1" fmla="val 57287"/>
              <a:gd name="adj2" fmla="val 790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2" name="矩形 1"/>
          <p:cNvSpPr/>
          <p:nvPr/>
        </p:nvSpPr>
        <p:spPr>
          <a:xfrm>
            <a:off x="610123" y="503674"/>
            <a:ext cx="1415772" cy="58477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回顾：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形 11" descr="线箭头轻微弯曲">
            <a:extLst>
              <a:ext uri="{FF2B5EF4-FFF2-40B4-BE49-F238E27FC236}">
                <a16:creationId xmlns:a16="http://schemas.microsoft.com/office/drawing/2014/main" id="{EA2B41D1-60BA-48CD-B498-A8A7CD9B7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8512" y="2910289"/>
            <a:ext cx="1031381" cy="67738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5E8E323-0C44-4302-820A-B29BB76F0B30}"/>
              </a:ext>
            </a:extLst>
          </p:cNvPr>
          <p:cNvSpPr/>
          <p:nvPr/>
        </p:nvSpPr>
        <p:spPr>
          <a:xfrm>
            <a:off x="4057484" y="2564906"/>
            <a:ext cx="946564" cy="1440160"/>
          </a:xfrm>
          <a:prstGeom prst="rect">
            <a:avLst/>
          </a:prstGeom>
          <a:solidFill>
            <a:srgbClr val="194D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D9CF648-F7C1-48E4-8AFA-768F0360DA2F}"/>
              </a:ext>
            </a:extLst>
          </p:cNvPr>
          <p:cNvSpPr/>
          <p:nvPr/>
        </p:nvSpPr>
        <p:spPr>
          <a:xfrm>
            <a:off x="5004048" y="3212978"/>
            <a:ext cx="2808312" cy="72008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0873FD3E-0EBA-4751-91D8-D8438C9C9B50}"/>
              </a:ext>
            </a:extLst>
          </p:cNvPr>
          <p:cNvSpPr/>
          <p:nvPr/>
        </p:nvSpPr>
        <p:spPr>
          <a:xfrm rot="5400000">
            <a:off x="6419850" y="3550212"/>
            <a:ext cx="624129" cy="93676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1E831C4-D570-484C-9716-CA8B15A88A2C}"/>
              </a:ext>
            </a:extLst>
          </p:cNvPr>
          <p:cNvSpPr/>
          <p:nvPr/>
        </p:nvSpPr>
        <p:spPr>
          <a:xfrm rot="5400000">
            <a:off x="5438821" y="3550214"/>
            <a:ext cx="624129" cy="93676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 descr="线箭头轻微弯曲">
            <a:extLst>
              <a:ext uri="{FF2B5EF4-FFF2-40B4-BE49-F238E27FC236}">
                <a16:creationId xmlns:a16="http://schemas.microsoft.com/office/drawing/2014/main" id="{3BBD1568-ED57-413E-9AE8-2E7C99767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7170" y="3501300"/>
            <a:ext cx="1031381" cy="677385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C51FFC30-A2F5-4AE8-B882-6FE8E3E00A59}"/>
              </a:ext>
            </a:extLst>
          </p:cNvPr>
          <p:cNvSpPr/>
          <p:nvPr/>
        </p:nvSpPr>
        <p:spPr>
          <a:xfrm rot="5400000">
            <a:off x="5542574" y="4830037"/>
            <a:ext cx="432049" cy="7825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F52A7C79-3635-4355-A6D4-A21B42C67618}"/>
              </a:ext>
            </a:extLst>
          </p:cNvPr>
          <p:cNvSpPr/>
          <p:nvPr/>
        </p:nvSpPr>
        <p:spPr>
          <a:xfrm rot="5400000">
            <a:off x="6940113" y="4822326"/>
            <a:ext cx="432051" cy="93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3D2D9FDB-6001-40A2-8FC5-4878F6F3A137}"/>
              </a:ext>
            </a:extLst>
          </p:cNvPr>
          <p:cNvSpPr/>
          <p:nvPr/>
        </p:nvSpPr>
        <p:spPr>
          <a:xfrm flipH="1" flipV="1">
            <a:off x="4929060" y="5013180"/>
            <a:ext cx="2883299" cy="1336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F019B584-BB46-4391-923A-8D25253A647A}"/>
              </a:ext>
            </a:extLst>
          </p:cNvPr>
          <p:cNvSpPr/>
          <p:nvPr/>
        </p:nvSpPr>
        <p:spPr>
          <a:xfrm flipH="1" flipV="1">
            <a:off x="3502320" y="4858551"/>
            <a:ext cx="555164" cy="669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圆角右 14">
            <a:extLst>
              <a:ext uri="{FF2B5EF4-FFF2-40B4-BE49-F238E27FC236}">
                <a16:creationId xmlns:a16="http://schemas.microsoft.com/office/drawing/2014/main" id="{089275CD-3620-499C-B749-9AD123DE3264}"/>
              </a:ext>
            </a:extLst>
          </p:cNvPr>
          <p:cNvSpPr/>
          <p:nvPr/>
        </p:nvSpPr>
        <p:spPr>
          <a:xfrm flipH="1">
            <a:off x="3089158" y="3704823"/>
            <a:ext cx="413162" cy="1189643"/>
          </a:xfrm>
          <a:prstGeom prst="bentArrow">
            <a:avLst>
              <a:gd name="adj1" fmla="val 11168"/>
              <a:gd name="adj2" fmla="val 25000"/>
              <a:gd name="adj3" fmla="val 25000"/>
              <a:gd name="adj4" fmla="val 4375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箭头: 圆角右 24">
            <a:extLst>
              <a:ext uri="{FF2B5EF4-FFF2-40B4-BE49-F238E27FC236}">
                <a16:creationId xmlns:a16="http://schemas.microsoft.com/office/drawing/2014/main" id="{7C500421-A634-42EA-81B3-242AE3B2E010}"/>
              </a:ext>
            </a:extLst>
          </p:cNvPr>
          <p:cNvSpPr/>
          <p:nvPr/>
        </p:nvSpPr>
        <p:spPr>
          <a:xfrm>
            <a:off x="3446364" y="3711496"/>
            <a:ext cx="549572" cy="1189643"/>
          </a:xfrm>
          <a:prstGeom prst="bentArrow">
            <a:avLst>
              <a:gd name="adj1" fmla="val 11168"/>
              <a:gd name="adj2" fmla="val 25000"/>
              <a:gd name="adj3" fmla="val 25000"/>
              <a:gd name="adj4" fmla="val 4375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2" presetClass="entr" presetSubtype="8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15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u="sng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接口的功能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接口的必要性</a:t>
            </a: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计算机与外设间交换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数据、状态和控制命令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的的过程统称为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通信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(Communication)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与外设交换信息的过程，和它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与存储器交换数据一样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，也是在控制信号的作用下通过数据总线来完成的。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存储器芯片的存取速度与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的时钟频率在同一数量级，存储器本身又具有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能力，所以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与存储器可以很方便地交换数据，但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与外设交换数据的过程要复杂得多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</a:rPr>
              <a:t>计算机与外设间的信息交换存在的问题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486400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2400"/>
              </a:spcBef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速度不匹配</a:t>
            </a:r>
          </a:p>
          <a:p>
            <a:pPr indent="158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速度比外设的速度高很多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，且不同外设速度差异甚大。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信号电平不匹配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9600" b="1" dirty="0">
                <a:solidFill>
                  <a:srgbClr val="CCE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都用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TTL/CMOS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电平，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而外设大多是复杂的机电设备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往往不能为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/CMOS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电平所驱动，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自己的电源系统和信号电平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信号格式不匹配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9600" b="1" dirty="0">
                <a:solidFill>
                  <a:srgbClr val="CCE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传送的通常是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8位、16位、32位或</a:t>
            </a:r>
            <a:r>
              <a:rPr lang="en-US" altLang="zh-CN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位并行数据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，而外设使用的信息格式各不相同，有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模拟量、数字量或开关量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；有电流量、电压量；有些采用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串行方式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，有些用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并行方式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时序不匹配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外设都有各自的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定时和控制逻辑，可能与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时序不一致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因此，输入输出设备不能直接与</a:t>
            </a:r>
            <a:r>
              <a:rPr 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的系统总线相连，必须在</a:t>
            </a:r>
            <a:r>
              <a:rPr 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与外设之间设置专门的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6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电路来解决这些问题。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I/O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562600"/>
          </a:xfrm>
        </p:spPr>
        <p:txBody>
          <a:bodyPr>
            <a:noAutofit/>
          </a:bodyPr>
          <a:lstStyle/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解决速度不匹配问题：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重难点！</a:t>
            </a: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事先把要传送的数据准备好，在需要的时刻完成传送。经常使用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，并配以适当的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联络信号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来实现功能。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如同快递点的功能</a:t>
            </a:r>
            <a:endParaRPr lang="en-US" altLang="zh-CN" sz="28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电平转换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电路解决电平不一致问题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如计算机和外设间进行串行通信时，可采用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MAX232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MAX233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等芯片来实现电平转换。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信息转换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逻辑满足各自格式要求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将外设传送的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模拟量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转换成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数字量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，送到计算机去处理。计算机送出的数字信号经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转换成模拟信号，驱动某些外设工作。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830763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800"/>
              </a:spcBef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时序控制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电路同步</a:t>
            </a: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和外设的工作：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重点</a:t>
            </a:r>
          </a:p>
          <a:p>
            <a:pPr marL="262255" indent="-262255" algn="just">
              <a:buNone/>
            </a:pP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接口电路接收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送来的命令或控制信号、定时信号，实施对外设的控制与管理，外设的工作状态和应答信号也通过接口及时返回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</a:t>
            </a:r>
            <a:r>
              <a:rPr lang="zh-CN" alt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握手联络</a:t>
            </a:r>
            <a:r>
              <a:rPr 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(handshaking)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信号来</a:t>
            </a:r>
            <a:r>
              <a:rPr lang="zh-CN" alt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保证主机和外部</a:t>
            </a:r>
            <a:r>
              <a:rPr 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操作实现同步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zh-CN" alt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地址译码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电路：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延续第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章知识</a:t>
            </a:r>
          </a:p>
          <a:p>
            <a:pPr marL="262255" indent="0" algn="just">
              <a:buNone/>
            </a:pP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计算机中存在多个外设，每个外设需要与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交换几种信息，因此接口电路中常含若干</a:t>
            </a:r>
            <a:r>
              <a:rPr lang="zh-CN" alt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</a:t>
            </a:r>
            <a:r>
              <a:rPr lang="en-US" altLang="zh-C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地址由接口电路中的地址译码电路提供。</a:t>
            </a:r>
          </a:p>
          <a:p>
            <a:pPr>
              <a:buNone/>
            </a:pP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控制、读</a:t>
            </a: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写控制及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中断控制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等逻辑。</a:t>
            </a: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端口及其寻址方式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与外设通信时，主要传送</a:t>
            </a:r>
            <a:r>
              <a:rPr lang="zh-CN" alt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数据信息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状态信息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在接口电路中，这些信息分别进入不同的寄存器，通常将这些寄存器和它们的控制逻辑统称为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(Port)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可对端口中的信息直接读写。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在一般接口电路中都要设置以下几种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buClr>
                <a:srgbClr val="FFFF00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99592" y="5110500"/>
            <a:ext cx="7526655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TIP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：</a:t>
            </a:r>
          </a:p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）端口地址是什么东西？</a:t>
            </a: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本质上和存储器的地址一样</a:t>
            </a:r>
          </a:p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）一个外设可能有多个端口</a:t>
            </a: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分别处理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控制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信息</a:t>
            </a:r>
          </a:p>
        </p:txBody>
      </p:sp>
    </p:spTree>
  </p:cSld>
  <p:clrMapOvr>
    <a:masterClrMapping/>
  </p:clrMapOvr>
  <p:transition spd="slow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 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数据端口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数据端口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数据口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，用来存放外设送往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的数据，或者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要输出到外设去的数据，长度一般为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字节。数据口主要起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状态端口</a:t>
            </a: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Status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指示外设的当前状态。每个外设具有几个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，它们可由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读取，以测试或检查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外设的状态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(Ready,Busy,Error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，用以决定程序的流程。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211763"/>
          </a:xfrm>
        </p:spPr>
        <p:txBody>
          <a:bodyPr>
            <a:normAutofit fontScale="90000" lnSpcReduction="20000"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状态口中常用的状态位：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重要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准备就绪位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(Ready)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输入设备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端口的数据寄存器已准备好数据，等待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来读取；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当数据被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取走后，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表示没有数据可取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输出设备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端口中的输出数据寄存器已空，可以接收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的下个数据了；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当新数据送到输出寄存器后，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0——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表示现在正忙着把数据送出去，数据送完后会使得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239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忙碌位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(Busy)  </a:t>
            </a:r>
            <a:r>
              <a:rPr lang="en-US" altLang="zh-CN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NOT READY</a:t>
            </a:r>
            <a:endParaRPr lang="en-US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表明输出设备是否能接收数据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若该位为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，表示外设正在进行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传送操作，暂时不允许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送新的数据过来。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本次数据传送完毕，该位清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，表示外设已处于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空闲状态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，又允许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将下一个数据送到输出口。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错误位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(Error) </a:t>
            </a:r>
            <a:endParaRPr lang="en-US" altLang="zh-C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如果在数据传送过程中产生了某种错误，可将错误状态位置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，以便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进行相应的处理。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系统中可以设置若干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错误状态位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，表明不同性质的错误，如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奇偶校验错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溢出错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855335" y="723900"/>
            <a:ext cx="963295" cy="3987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00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重要！</a:t>
            </a:r>
            <a:endParaRPr lang="zh-CN" altLang="en-US" sz="2000"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685800"/>
            <a:ext cx="8229600" cy="54864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命令端口</a:t>
            </a:r>
            <a:endParaRPr lang="en-US" altLang="zh-CN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en-US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Command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Control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，用来存放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向接口发出的各种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控制接口或设备的动作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常见的命令信息位有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启动位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停止位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允许中断位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与外设交换的数据以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字节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为单位，因此一个外设的数据端口含有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可以只包含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位或几位信息，所以不同外设的状态口允许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共用一个端口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，命令口也可共用。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触发器（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三态缓冲器（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输入缓冲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常用来构成这两种端口。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I/O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端口的寻址方法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lnSpc>
                <a:spcPct val="110000"/>
              </a:lnSpc>
              <a:spcBef>
                <a:spcPts val="600"/>
              </a:spcBef>
              <a:buAutoNum type="arabicParenR"/>
            </a:pP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存储器映象寻址方式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(Memory Mapped I/O)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把系统中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端口都看作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个存储单元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，并与存储单元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统一编址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，所有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访存指令均可用来访问</a:t>
            </a:r>
            <a:r>
              <a:rPr 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，不用设置专门的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指令。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指令集中不必包含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操作指令，简化了指令系统的设计；能用类型多、功能强的访存指令，对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设备进行方便、灵活的操作。缺点是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端口占用了大量存储单元的地址空间。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公司的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MC6800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MC68000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6805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，采用这种寻址方式。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059363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buNone/>
                </a:pPr>
                <a:r>
                  <a:rPr 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I/O</a:t>
                </a:r>
                <a:r>
                  <a:rPr lang="zh-CN" alt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单独编址方式</a:t>
                </a:r>
                <a:r>
                  <a:rPr lang="en-US" altLang="zh-CN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——x86</a:t>
                </a:r>
                <a:r>
                  <a:rPr lang="zh-CN" alt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采用的方式</a:t>
                </a:r>
                <a:endParaRPr lang="en-US" altLang="zh-CN" b="1" dirty="0">
                  <a:solidFill>
                    <a:srgbClr val="194D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zh-CN" altLang="en-US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对系统中的输入输出端口地址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单独编址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不占用存储空间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，而用专门的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指令来访问。</a:t>
                </a: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优点：将输入输出指令和访问存储器的指令明显区分开，使程序清晰，可读性好；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指令长度短，执行速度快；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端口不占用内存空间，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地址译码电路较简单。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缺点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指令系统中应有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专门的</a:t>
                </a:r>
                <a:r>
                  <a:rPr lang="en-US" sz="3000" dirty="0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sz="3000" dirty="0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，其功能没有访存指令强；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需提供能够区分访问内存和访问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的硬件引脚信号（如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3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信号）。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8086/8088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系统中都采用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寻址方式。</a:t>
                </a:r>
              </a:p>
              <a:p>
                <a:pPr algn="just"/>
                <a:endPara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059363"/>
              </a:xfrm>
              <a:blipFill>
                <a:blip r:embed="rId2"/>
                <a:stretch>
                  <a:fillRect l="-1407" t="-2289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kumimoji="1"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与外设间的数据传送方式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396367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程序控制方式（软件）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（低级技能，简单设备）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数据传送在程序控制下完成，又可分为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条件传送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（查询式）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两种方式。软硬件都很简单，无条件方式只适用于简单设备；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查询方式</a:t>
            </a:r>
            <a:r>
              <a:rPr lang="en-US" altLang="zh-CN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效率很低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中断方式（软件）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（中级技能，非频繁访问设备，较常用）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外设发中断请求，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响应后完成数据传送。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实时性好，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效率较高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频繁访问时</a:t>
            </a:r>
            <a:r>
              <a:rPr lang="en-US" altLang="zh-CN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DMA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方式（硬件）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（高级技能，需要</a:t>
            </a:r>
            <a:r>
              <a:rPr lang="en-US" altLang="zh-CN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控制器支持，高速大量数据传输设备）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DMA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控制器临时接管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的地址、数据和控制总线，实现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高效的批量数据的传送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硬件上比较复杂。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14120" y="5574347"/>
            <a:ext cx="6715760" cy="107632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非常重要</a:t>
            </a:r>
            <a:r>
              <a:rPr lang="zh-CN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：每种方式都需要结合硬件</a:t>
            </a:r>
          </a:p>
          <a:p>
            <a:r>
              <a:rPr lang="zh-CN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                   和软件深入理解！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0148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arenR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无条件传送方式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同步传送方式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，主要用于对简单外设进行操作，所需的硬件和软件都较少。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这类外设的特点：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任何时刻，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在输入时外设数据都已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输出时外设都处于可接收数据状态（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 BUSY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程序可不必检查外设的状态直接输入输出数据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。比如按键、开关、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无条件传送方式的</a:t>
            </a:r>
            <a:r>
              <a:rPr lang="zh-CN" altLang="en-US" dirty="0">
                <a:solidFill>
                  <a:srgbClr val="194DF3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是软硬件都很简单，容易实现，但是只适用于简单外设。</a:t>
            </a:r>
            <a:endParaRPr lang="zh-CN" altLang="en-US" dirty="0">
              <a:solidFill>
                <a:srgbClr val="194DF3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spli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329055"/>
            <a:ext cx="3867785" cy="4159250"/>
          </a:xfrm>
        </p:spPr>
        <p:txBody>
          <a:bodyPr>
            <a:normAutofit fontScale="90000" lnSpcReduction="2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最简单的输入端口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：按键开关的状态输入口。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可随时读取开关状态（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重要条件！</a:t>
            </a:r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开关经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三态缓冲器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接到数据总线，用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将开关状态读入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断开，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闭合。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55" y="1205865"/>
            <a:ext cx="4349115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28055" y="5092065"/>
            <a:ext cx="86106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 </a:t>
            </a:r>
            <a:r>
              <a:rPr lang="en-US" altLang="zh-CN" sz="2000" b="1" dirty="0"/>
              <a:t>6.1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172585" y="5775325"/>
            <a:ext cx="4177747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要采用三态缓冲器</a:t>
            </a:r>
            <a:endParaRPr lang="en-US" altLang="zh-CN" sz="2400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要用锁存器（D触发器）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47370" y="384175"/>
            <a:ext cx="58934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无条件传送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894388-6EB1-4C18-85DD-60CDF20A66D8}"/>
              </a:ext>
            </a:extLst>
          </p:cNvPr>
          <p:cNvSpPr/>
          <p:nvPr/>
        </p:nvSpPr>
        <p:spPr>
          <a:xfrm>
            <a:off x="4932040" y="146633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单向数据缓冲器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0" y="1089025"/>
            <a:ext cx="3657600" cy="4678363"/>
          </a:xfrm>
        </p:spPr>
        <p:txBody>
          <a:bodyPr>
            <a:norm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最简单的输出口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的点亮和熄灭控制。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可随时改变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</a:t>
            </a:r>
            <a:r>
              <a:rPr lang="zh-CN" altLang="en-US" sz="28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条件！</a:t>
            </a:r>
            <a:r>
              <a:rPr lang="zh-CN" altLang="en-US" sz="28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28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显示器，用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将命令字送到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点亮，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熄灭。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025"/>
            <a:ext cx="480060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5600" y="49530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6.2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48615" y="313055"/>
            <a:ext cx="58934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无条件传送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19225" y="5632450"/>
            <a:ext cx="5024132" cy="120032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通常：输入要采用三态缓冲器</a:t>
            </a: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输出要用锁存器（D触发器）</a:t>
            </a: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为什么呢？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418C3D-A7DE-4D63-987C-477AF18722CC}"/>
              </a:ext>
            </a:extLst>
          </p:cNvPr>
          <p:cNvSpPr/>
          <p:nvPr/>
        </p:nvSpPr>
        <p:spPr>
          <a:xfrm>
            <a:off x="1419225" y="108628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锁存器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条件传送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查询式传送方式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。传送前</a:t>
            </a: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外设已处于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准备好传送数据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的状态，才能进行传送。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0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条件：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这类外设不是随时处于准备状态；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                     它们有相应的状态标志</a:t>
            </a: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信号供查询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                      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怎么查询？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不断读</a:t>
            </a:r>
            <a:r>
              <a:rPr lang="en-US" altLang="zh-CN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Busy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先读取</a:t>
            </a:r>
            <a:r>
              <a:rPr lang="zh-CN" altLang="en-US" sz="3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，检查外设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是否准备好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忙碌状态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，不断检测外设状态，直至外设准备好了或不忙时为止。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47370" y="384175"/>
            <a:ext cx="548513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条件传送</a:t>
            </a:r>
          </a:p>
        </p:txBody>
      </p:sp>
    </p:spTree>
  </p:cSld>
  <p:clrMapOvr>
    <a:masterClrMapping/>
  </p:clrMapOvr>
  <p:transition spd="slow">
    <p:pull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2819400"/>
          </a:xfrm>
        </p:spPr>
        <p:txBody>
          <a:bodyPr>
            <a:normAutofit/>
          </a:bodyPr>
          <a:lstStyle/>
          <a:p>
            <a:pPr lvl="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查询式输入接口电路（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重难点！要吃透！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输入数据口和状态口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有效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个三态门构成，输入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数据口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有效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位锁存器和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位缓冲器构成。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选中状态口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时，读取状态信息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；执行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选中数据口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时，从缓冲器读取数据信息。</a:t>
            </a:r>
          </a:p>
        </p:txBody>
      </p:sp>
      <p:pic>
        <p:nvPicPr>
          <p:cNvPr id="7" name="图片 6" descr="图6.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3465195"/>
            <a:ext cx="7394575" cy="2891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33528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6.3</a:t>
            </a:r>
            <a:endParaRPr lang="zh-CN" altLang="en-US" sz="2000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929322" y="990599"/>
          <a:ext cx="533400" cy="484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Equation" r:id="rId4" imgW="6705600" imgH="6096000" progId="Equation.DSMT4">
                  <p:embed/>
                </p:oleObj>
              </mc:Choice>
              <mc:Fallback>
                <p:oleObj name="Equation" r:id="rId4" imgW="6705600" imgH="6096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9322" y="990599"/>
                        <a:ext cx="533400" cy="4849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15074" y="1382713"/>
          <a:ext cx="5572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Equation" r:id="rId6" imgW="7010400" imgH="6096000" progId="Equation.DSMT4">
                  <p:embed/>
                </p:oleObj>
              </mc:Choice>
              <mc:Fallback>
                <p:oleObj name="Equation" r:id="rId6" imgW="7010400" imgH="60960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5074" y="1382713"/>
                        <a:ext cx="557213" cy="484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3276600"/>
            <a:ext cx="8382000" cy="3581400"/>
          </a:xfrm>
        </p:spPr>
        <p:txBody>
          <a:bodyPr>
            <a:normAutofit fontScale="55000" lnSpcReduction="20000"/>
          </a:bodyPr>
          <a:lstStyle/>
          <a:p>
            <a:pPr marL="358775" indent="-358775">
              <a:buNone/>
            </a:pPr>
            <a:r>
              <a:rPr lang="zh-CN" alt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工作过程：</a:t>
            </a:r>
            <a:endParaRPr lang="en-US" altLang="zh-CN" sz="4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输入设备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准备好数据后，向接口电路发</a:t>
            </a: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低电平选通信号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，将数据打入锁存器，并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端置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读状态口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有效。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端高电平经缓冲器送到数据线，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信号读入累加器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执行IN指令读数据口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有效使数据缓冲器开启，锁存数据经缓冲器送上数据总线并进入累加器，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同时将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触发器清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，一次数据传送完毕。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接着开始下个数据的传送，直至全部数据传送完毕。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 descr="图6.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1000"/>
            <a:ext cx="7620000" cy="28698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810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6.3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29735" y="4343400"/>
          <a:ext cx="533400" cy="484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" name="Equation" r:id="rId4" imgW="6705600" imgH="6096000" progId="Equation.DSMT4">
                  <p:embed/>
                </p:oleObj>
              </mc:Choice>
              <mc:Fallback>
                <p:oleObj name="Equation" r:id="rId4" imgW="6705600" imgH="6096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9735" y="4343400"/>
                        <a:ext cx="533400" cy="4849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009833" y="4343089"/>
          <a:ext cx="5095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" name="Equation" r:id="rId6" imgW="6400800" imgH="4876800" progId="Equation.DSMT4">
                  <p:embed/>
                </p:oleObj>
              </mc:Choice>
              <mc:Fallback>
                <p:oleObj name="Equation" r:id="rId6" imgW="6400800" imgH="4876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09833" y="4343089"/>
                        <a:ext cx="50958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55619" y="5072074"/>
          <a:ext cx="5095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" name="Equation" r:id="rId8" imgW="6400800" imgH="4876800" progId="Equation.DSMT4">
                  <p:embed/>
                </p:oleObj>
              </mc:Choice>
              <mc:Fallback>
                <p:oleObj name="Equation" r:id="rId8" imgW="6400800" imgH="48768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5619" y="5072074"/>
                        <a:ext cx="50958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051879" y="5072063"/>
          <a:ext cx="5572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" name="Equation" r:id="rId9" imgW="7010400" imgH="6096000" progId="Equation.DSMT4">
                  <p:embed/>
                </p:oleObj>
              </mc:Choice>
              <mc:Fallback>
                <p:oleObj name="Equation" r:id="rId9" imgW="7010400" imgH="60960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51879" y="5072063"/>
                        <a:ext cx="557213" cy="484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457200"/>
            <a:ext cx="6324600" cy="6019800"/>
          </a:xfrm>
        </p:spPr>
        <p:txBody>
          <a:bodyPr>
            <a:no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查询式输入数据的程序段：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BX,  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初始化地址指针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CX,  COUNT_1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传送字节数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READ_S1:	</a:t>
            </a: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PORT_S1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读入状态位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01H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数据准备好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JZ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否，循环检测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PORT_IN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准备好，读数据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BX]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存入内存缓冲区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	  BX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修改地址指针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READ_S1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未完，继续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已传送完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图片 4" descr="图6.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2735966" cy="46482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2736215" y="2550160"/>
            <a:ext cx="5483860" cy="1247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505200"/>
            <a:ext cx="8534400" cy="3352800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查询式输出电路和工作过程</a:t>
            </a:r>
            <a:endParaRPr lang="en-US" altLang="zh-CN" sz="3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+mj-ea"/>
              <a:buAutoNum type="circleNumDbPlain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准备输出数据时先执行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指令，它使状态口</a:t>
            </a:r>
            <a:r>
              <a:rPr lang="zh-CN" altLang="en-US" sz="3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三态门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开启，从数据总线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位读入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状态。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BUSY=1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，外设忙；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BUSY=0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可向外设输出数据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58775" indent="-358775" algn="just">
              <a:buFont typeface="+mj-ea"/>
              <a:buAutoNum type="circleNumDbPlain"/>
            </a:pP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外设不忙时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指令选中数据口。     和      有效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门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低电平脉冲选通信号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，锁存器选通，将数据送向外设。同时，其后沿还使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触发器翻转，置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为高电平，即把状态口的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位置成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，表示忙碌。</a:t>
            </a:r>
          </a:p>
          <a:p>
            <a:pPr marL="358775" indent="-358775" algn="just">
              <a:buFont typeface="+mj-ea"/>
              <a:buAutoNum type="circleNumDbPlain"/>
            </a:pP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输出设备取走数据后，送回一个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应答信号</a:t>
            </a:r>
            <a:r>
              <a:rPr lang="en-US" altLang="zh-CN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触发器清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，即置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BUSY=0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，允许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送出下个数据。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6" name="图片 5" descr="图6.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1000"/>
            <a:ext cx="8153400" cy="3031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457200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6.5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72200" y="4697412"/>
          <a:ext cx="558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Equation" r:id="rId4" imgW="7010400" imgH="6096000" progId="Equation.DSMT4">
                  <p:embed/>
                </p:oleObj>
              </mc:Choice>
              <mc:Fallback>
                <p:oleObj name="Equation" r:id="rId4" imgW="7010400" imgH="60960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72200" y="4697412"/>
                        <a:ext cx="558800" cy="484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997700" y="4686300"/>
          <a:ext cx="5826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Equation" r:id="rId6" imgW="7315200" imgH="5181600" progId="Equation.DSMT4">
                  <p:embed/>
                </p:oleObj>
              </mc:Choice>
              <mc:Fallback>
                <p:oleObj name="Equation" r:id="rId6" imgW="7315200" imgH="51816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97700" y="4686300"/>
                        <a:ext cx="582613" cy="411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6397625" y="6093460"/>
            <a:ext cx="550545" cy="127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条件式输出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查询式输出数据的程序段：</a:t>
            </a:r>
          </a:p>
          <a:p>
            <a:pPr>
              <a:spcBef>
                <a:spcPts val="180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	</a:t>
            </a:r>
            <a:r>
              <a:rPr lang="zh-CN" altLang="en-US" sz="2800" dirty="0">
                <a:solidFill>
                  <a:schemeClr val="bg1"/>
                </a:solidFill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	CX,  COUNT_2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传送的字节数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           AL,  PORT_S2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读入状态位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	AL,  02H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忙否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JNZ	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忙，循环检测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	AL, 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待输出数据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不忙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	PORT_OUT,  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未传送完，循环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…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           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已传送完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查询式数据传送，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会花许多时间去等待数据或外设准备就绪，效率很低，这个效率低到什么程度？举例说明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rgbClr val="FFFF00"/>
              </a:buClr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例如：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若一个操作员每秒可从键盘输入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个字符，平均每个字符占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200000μs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200ms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），而计算机只要用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就能从键盘读入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个字符，这样就有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999950μs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花在检测键盘状态和等待上，即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99.99%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的时间因等待而浪费了。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28" y="536839"/>
            <a:ext cx="8229600" cy="4754563"/>
          </a:xfrm>
        </p:spPr>
        <p:txBody>
          <a:bodyPr>
            <a:normAutofit fontScale="90000" lnSpcReduction="2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采用中断方式后，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平时可以执行主程序，只有当输入设备将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数据准备好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了，或者输出端口的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数据缓冲器已空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时，才向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响应中断后，暂停执行当前的程序，转去执行管理外设的中断服务程序。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中，用输入或输出指令在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和外设之间进行一次数据交换。等输入或输出操作完成之后，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又回去执行原来的程序。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还有：当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有多个外设需要处理的时候，能够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及时处理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各种外设任务。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中断方式操作的模式：。。。</a:t>
            </a:r>
            <a:r>
              <a:rPr lang="zh-CN" altLang="en-US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不好意思，需要在第八章专门给大家细讲。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78C65F-A980-4F56-8A0C-C0F3C3E1499C}"/>
              </a:ext>
            </a:extLst>
          </p:cNvPr>
          <p:cNvSpPr/>
          <p:nvPr/>
        </p:nvSpPr>
        <p:spPr>
          <a:xfrm>
            <a:off x="1403648" y="5285267"/>
            <a:ext cx="6336704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特点：实时性好；</a:t>
            </a:r>
            <a:r>
              <a:rPr lang="en-US" altLang="zh-CN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效率较高；</a:t>
            </a:r>
            <a:endParaRPr lang="en-US" altLang="zh-CN" sz="3200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频繁访问时</a:t>
            </a:r>
            <a:r>
              <a:rPr lang="en-US" altLang="zh-CN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dirty="0">
              <a:solidFill>
                <a:srgbClr val="194DF3"/>
              </a:solidFill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DMA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pPr>
              <a:spcBef>
                <a:spcPts val="2400"/>
              </a:spcBef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方式的提出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高速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设备交换数据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，或者与外设进行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成组数据交换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时，中断方式仍显得太慢。</a:t>
            </a: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DMA(Direct Memory Access)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传送方式，也就是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直接存储器存取方式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，可以在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不受</a:t>
            </a:r>
            <a:r>
              <a:rPr lang="en-US" altLang="zh-C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干预的情况下，实现存储器与外设间的高速交换数据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方式下，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需要出让总线控制权给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控制器，由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控制器完成数据在存储器和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设备间的直接数据传送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cover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213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DMA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控制器的连线和操作（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仅需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了解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6.7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，设外设为磁盘驱动器，在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控制下，可实现它与内存间的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数据传输。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分时使用地址、数据和控制总线。图中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个开关打在上方表示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控制总线，下方为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控制系统总线。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438400"/>
            <a:ext cx="6400800" cy="4053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5000" y="60198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6.7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sh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+mj-ea"/>
                <a:cs typeface="Times New Roman" panose="02020603050405020304" pitchFamily="18" charset="0"/>
              </a:rPr>
              <a:t>6.1.4  PC</a:t>
            </a:r>
            <a:r>
              <a:rPr lang="zh-CN" altLang="en-US" sz="3200" b="1" dirty="0">
                <a:latin typeface="+mj-ea"/>
                <a:cs typeface="Times New Roman" panose="02020603050405020304" pitchFamily="18" charset="0"/>
              </a:rPr>
              <a:t>机的</a:t>
            </a:r>
            <a:r>
              <a:rPr lang="en-US" sz="3200" b="1" dirty="0">
                <a:latin typeface="+mj-ea"/>
                <a:cs typeface="Times New Roman" panose="02020603050405020304" pitchFamily="18" charset="0"/>
              </a:rPr>
              <a:t>I/O</a:t>
            </a:r>
            <a:r>
              <a:rPr lang="zh-CN" altLang="en-US" sz="3200" b="1" dirty="0">
                <a:latin typeface="+mj-ea"/>
                <a:cs typeface="Times New Roman" panose="02020603050405020304" pitchFamily="18" charset="0"/>
              </a:rPr>
              <a:t>地址分配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3424"/>
            <a:ext cx="3686172" cy="5181600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1.PC/XT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机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752" y="1254451"/>
            <a:ext cx="5400600" cy="5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cover dir="l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785794"/>
            <a:ext cx="3714776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PC/AT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机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9792" y="517649"/>
            <a:ext cx="4714908" cy="620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newsfla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563880"/>
            <a:ext cx="7620000" cy="1143000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§6.2  8255A</a:t>
            </a:r>
            <a:r>
              <a:rPr kumimoji="1" lang="zh-CN" altLang="en-US" sz="3600" b="1" dirty="0">
                <a:solidFill>
                  <a:schemeClr val="tx1"/>
                </a:solidFill>
                <a:effectLst/>
                <a:latin typeface="+mj-ea"/>
                <a:cs typeface="Times New Roman" panose="02020603050405020304" pitchFamily="18" charset="0"/>
              </a:rPr>
              <a:t>的工作原理</a:t>
            </a:r>
            <a:endParaRPr lang="zh-CN" altLang="en-US" sz="3600" dirty="0">
              <a:solidFill>
                <a:schemeClr val="tx1"/>
              </a:solidFill>
              <a:effectLst/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6332" y="1713632"/>
            <a:ext cx="7696200" cy="3542665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我们当然可以用小规模逻辑电路，如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74LS244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74LS245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74LS373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触发器、三态门、与门、或门、反相器等实现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接口电路，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但是有没有比较通用的一种电路，能够灵活实现</a:t>
            </a:r>
            <a:r>
              <a:rPr lang="en-US" altLang="zh-CN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接口呢？</a:t>
            </a:r>
            <a:endParaRPr lang="zh-CN" altLang="en-US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可编程（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Programmable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）器件，比如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并行接口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比如</a:t>
            </a:r>
            <a:r>
              <a:rPr lang="en-US" altLang="zh-C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8251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串行接口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8253/8254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zh-CN" alt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计数器接口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8259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中断接口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59523" y="5229225"/>
            <a:ext cx="7012305" cy="11068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8255A</a:t>
            </a:r>
            <a:r>
              <a:rPr lang="zh-CN" alt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是一种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</a:t>
            </a:r>
            <a:r>
              <a:rPr lang="zh-CN" altLang="en-US" sz="28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可编程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接口芯片</a:t>
            </a:r>
          </a:p>
          <a:p>
            <a:pPr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(Programmable Peripheral  Interface</a:t>
            </a:r>
            <a:r>
              <a:rPr lang="zh-CN" alt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PPI)</a:t>
            </a:r>
            <a:r>
              <a:rPr lang="zh-CN" altLang="en-US" sz="2800" dirty="0">
                <a:effectLst/>
                <a:ea typeface="+mn-ea"/>
                <a:sym typeface="+mn-ea"/>
              </a:rPr>
              <a:t>。</a:t>
            </a:r>
            <a:endParaRPr lang="zh-CN" altLang="en-US" sz="2800" dirty="0"/>
          </a:p>
        </p:txBody>
      </p:sp>
      <p:sp>
        <p:nvSpPr>
          <p:cNvPr id="7" name="圆角矩形标注 6"/>
          <p:cNvSpPr/>
          <p:nvPr/>
        </p:nvSpPr>
        <p:spPr>
          <a:xfrm>
            <a:off x="4284345" y="4725035"/>
            <a:ext cx="2242185" cy="360045"/>
          </a:xfrm>
          <a:prstGeom prst="wedgeRoundRectCallout">
            <a:avLst>
              <a:gd name="adj1" fmla="val -30834"/>
              <a:gd name="adj2" fmla="val 11507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如何理解</a:t>
            </a:r>
            <a:r>
              <a:rPr lang="en-US" altLang="zh-CN" b="1"/>
              <a:t>“</a:t>
            </a:r>
            <a:r>
              <a:rPr lang="zh-CN" altLang="en-US" b="1"/>
              <a:t>可编程</a:t>
            </a:r>
            <a:r>
              <a:rPr lang="en-US" altLang="zh-CN" b="1"/>
              <a:t>”</a:t>
            </a:r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ea typeface="+mn-ea"/>
              </a:rPr>
              <a:t>的结构和功能</a:t>
            </a:r>
            <a:endParaRPr lang="en-US" altLang="zh-CN" sz="3600" b="0" u="sng" dirty="0">
              <a:solidFill>
                <a:srgbClr val="FF0000"/>
              </a:solidFill>
              <a:effectLst/>
              <a:ea typeface="+mn-ea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的控制字</a:t>
            </a:r>
            <a:endParaRPr lang="en-US" altLang="zh-CN" sz="36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的工作方式和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8255</a:t>
            </a:r>
            <a:r>
              <a:rPr lang="zh-CN" altLang="en-US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和外部设备的典型连接：</a:t>
            </a:r>
          </a:p>
          <a:p>
            <a:pPr marL="0" indent="0"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                         </a:t>
            </a:r>
            <a:r>
              <a:rPr lang="zh-CN" altLang="en-US" sz="2800" b="0" dirty="0">
                <a:solidFill>
                  <a:srgbClr val="FF0000"/>
                </a:solidFill>
                <a:effectLst/>
                <a:ea typeface="+mn-ea"/>
              </a:rPr>
              <a:t>并行接口的外设</a:t>
            </a:r>
            <a:endParaRPr lang="en-US" altLang="zh-CN" sz="3300" b="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rgbClr val="00FF00"/>
              </a:buClr>
              <a:buNone/>
            </a:pPr>
            <a:r>
              <a:rPr lang="zh-CN" altLang="en-US" sz="3300" b="0" dirty="0">
                <a:solidFill>
                  <a:schemeClr val="tx1"/>
                </a:solidFill>
                <a:effectLst/>
                <a:ea typeface="+mn-ea"/>
              </a:rPr>
              <a:t>    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10243" name="内容占位符 1024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6028467"/>
              </p:ext>
            </p:extLst>
          </p:nvPr>
        </p:nvGraphicFramePr>
        <p:xfrm>
          <a:off x="617538" y="2425700"/>
          <a:ext cx="8050212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Visio" r:id="rId3" imgW="6267635" imgH="2267081" progId="Visio.Drawing.11">
                  <p:embed/>
                </p:oleObj>
              </mc:Choice>
              <mc:Fallback>
                <p:oleObj name="Visio" r:id="rId3" imgW="6267635" imgH="2267081" progId="Visio.Drawing.11">
                  <p:embed/>
                  <p:pic>
                    <p:nvPicPr>
                      <p:cNvPr id="10243" name="内容占位符 10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538" y="2425700"/>
                        <a:ext cx="8050212" cy="2911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417DF82-A2FB-487C-973E-3CF13947A1ED}"/>
              </a:ext>
            </a:extLst>
          </p:cNvPr>
          <p:cNvSpPr txBox="1"/>
          <p:nvPr/>
        </p:nvSpPr>
        <p:spPr>
          <a:xfrm>
            <a:off x="2843808" y="5547003"/>
            <a:ext cx="424667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接口电路就是</a:t>
            </a:r>
            <a:r>
              <a:rPr 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和外设间的翻译官</a:t>
            </a:r>
          </a:p>
        </p:txBody>
      </p:sp>
    </p:spTree>
    <p:extLst>
      <p:ext uri="{BB962C8B-B14F-4D97-AF65-F5344CB8AC3E}">
        <p14:creationId xmlns:p14="http://schemas.microsoft.com/office/powerpoint/2010/main" val="49831807"/>
      </p:ext>
    </p:extLst>
  </p:cSld>
  <p:clrMapOvr>
    <a:masterClrMapping/>
  </p:clrMapOvr>
  <p:transition spd="slow">
    <p:cover dir="l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6.2.1  8255A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的结构和功能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5400" y="1676400"/>
            <a:ext cx="3733800" cy="5029200"/>
          </a:xfrm>
        </p:spPr>
        <p:txBody>
          <a:bodyPr>
            <a:norm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外部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个引脚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内部包含：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数据端口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。其中，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口分成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口上半部（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高）和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口下半部分（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低）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组和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组控制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逻辑</a:t>
            </a:r>
            <a:endParaRPr lang="en-US" altLang="zh-CN" sz="28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数据总线缓冲器</a:t>
            </a:r>
            <a:endParaRPr lang="en-US" altLang="zh-CN" sz="28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读</a:t>
            </a:r>
            <a:r>
              <a:rPr lang="en-US" sz="2800" b="0" dirty="0">
                <a:solidFill>
                  <a:schemeClr val="tx1"/>
                </a:solidFill>
                <a:effectLst/>
                <a:ea typeface="+mn-ea"/>
              </a:rPr>
              <a:t>/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写控制逻辑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。</a:t>
            </a:r>
          </a:p>
        </p:txBody>
      </p:sp>
      <p:pic>
        <p:nvPicPr>
          <p:cNvPr id="6" name="图片 5" descr="图6.10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5048543" cy="37719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47345" y="5906770"/>
            <a:ext cx="1802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的总线语言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54680" y="5906770"/>
            <a:ext cx="17919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外部设备的语言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20E10-62A3-492B-B812-B806471CF38E}"/>
              </a:ext>
            </a:extLst>
          </p:cNvPr>
          <p:cNvSpPr txBox="1"/>
          <p:nvPr/>
        </p:nvSpPr>
        <p:spPr>
          <a:xfrm>
            <a:off x="1536618" y="6275070"/>
            <a:ext cx="2518638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和外设间的翻译官</a:t>
            </a:r>
          </a:p>
        </p:txBody>
      </p:sp>
    </p:spTree>
  </p:cSld>
  <p:clrMapOvr>
    <a:masterClrMapping/>
  </p:clrMapOvr>
  <p:transition spd="slow">
    <p:push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数据端口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6775" y="1295400"/>
            <a:ext cx="6550025" cy="5181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数据输入锁存器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0" u="heavy" dirty="0">
                <a:solidFill>
                  <a:schemeClr val="tx1"/>
                </a:solidFill>
                <a:effectLst/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u="heavy" dirty="0">
                <a:solidFill>
                  <a:schemeClr val="tx1"/>
                </a:solidFill>
                <a:effectLst/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口作输入或输出时数据均能锁存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端口B：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输入缓冲器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端口C：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数据输入缓冲器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无输入锁存功能</a:t>
            </a:r>
            <a:r>
              <a:rPr lang="zh-CN" altLang="en-US" sz="2600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600" u="heavy" dirty="0"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分成两个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位端口时，每个端口有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位的输出锁存器。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口还可配合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口工作，用来产生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口的输出控制信号、输入到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口的端口状态信号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。</a:t>
            </a:r>
          </a:p>
          <a:p>
            <a:pPr algn="just"/>
            <a:endParaRPr lang="zh-CN" altLang="en-US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5" name="对象 4"/>
          <p:cNvGraphicFramePr/>
          <p:nvPr>
            <p:custDataLst>
              <p:tags r:id="rId2"/>
            </p:custDataLst>
          </p:nvPr>
        </p:nvGraphicFramePr>
        <p:xfrm>
          <a:off x="179705" y="1772920"/>
          <a:ext cx="1925955" cy="386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r:id="rId4" imgW="1924050" imgH="3860800" progId="Paint.Picture">
                  <p:embed/>
                </p:oleObj>
              </mc:Choice>
              <mc:Fallback>
                <p:oleObj r:id="rId4" imgW="1924050" imgH="38608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705" y="1772920"/>
                        <a:ext cx="1925955" cy="386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A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组和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组控制逻辑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785" y="1600200"/>
            <a:ext cx="4819015" cy="4526280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组：管理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口高，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~PA</a:t>
            </a:r>
            <a:r>
              <a:rPr lang="en-US" altLang="zh-CN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引脚与外部联络。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组：管理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口低，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altLang="zh-CN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引脚与外部联络。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内部有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控制寄存器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，能接收</a:t>
            </a:r>
            <a: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送来的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命令字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，决定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组和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组的工作方式，或对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口的每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位执行置位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复位操作。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A1891C-3333-496D-9842-CC24C3D6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72816"/>
            <a:ext cx="2190750" cy="3933825"/>
          </a:xfrm>
          <a:prstGeom prst="rect">
            <a:avLst/>
          </a:prstGeom>
        </p:spPr>
      </p:pic>
    </p:spTree>
  </p:cSld>
  <p:clrMapOvr>
    <a:masterClrMapping/>
  </p:clrMapOvr>
  <p:transition spd="slow">
    <p:cover dir="l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数据总线缓冲器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4110" y="1600200"/>
            <a:ext cx="5012690" cy="4526280"/>
          </a:xfrm>
        </p:spPr>
        <p:txBody>
          <a:bodyPr>
            <a:normAutofit fontScale="92500"/>
          </a:bodyPr>
          <a:lstStyle/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双向</a:t>
            </a:r>
            <a:r>
              <a:rPr lang="zh-CN" alt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三态的</a:t>
            </a:r>
            <a:r>
              <a:rPr 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位缓冲器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，用作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和系统数据总线间的接口。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通过这个缓冲器和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位数据总线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，接收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送来的</a:t>
            </a:r>
            <a:r>
              <a:rPr lang="zh-CN" altLang="en-US" b="0" dirty="0">
                <a:solidFill>
                  <a:srgbClr val="194DF3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数据信息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，外设传送给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的数据或</a:t>
            </a:r>
            <a:r>
              <a:rPr lang="zh-CN" altLang="en-US" b="0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状态信息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，也要通过数据总线缓冲器和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送给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。 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10:30</a:t>
            </a:fld>
            <a:endParaRPr lang="en-US" altLang="zh-CN"/>
          </a:p>
        </p:txBody>
      </p:sp>
      <p:graphicFrame>
        <p:nvGraphicFramePr>
          <p:cNvPr id="5" name="对象 4"/>
          <p:cNvGraphicFramePr/>
          <p:nvPr/>
        </p:nvGraphicFramePr>
        <p:xfrm>
          <a:off x="971550" y="2060575"/>
          <a:ext cx="2245995" cy="346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r:id="rId3" imgW="1803400" imgH="2686050" progId="Paint.Picture">
                  <p:embed/>
                </p:oleObj>
              </mc:Choice>
              <mc:Fallback>
                <p:oleObj r:id="rId3" imgW="1803400" imgH="2686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2060575"/>
                        <a:ext cx="2245995" cy="346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1C5CCCD-065D-43AE-BB9B-9B52864B628B}"/>
              </a:ext>
            </a:extLst>
          </p:cNvPr>
          <p:cNvSpPr txBox="1"/>
          <p:nvPr/>
        </p:nvSpPr>
        <p:spPr>
          <a:xfrm>
            <a:off x="251520" y="2085871"/>
            <a:ext cx="146226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位数据总线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DDCDA7-F7CA-4D47-8699-572872570575}"/>
              </a:ext>
            </a:extLst>
          </p:cNvPr>
          <p:cNvSpPr txBox="1"/>
          <p:nvPr/>
        </p:nvSpPr>
        <p:spPr>
          <a:xfrm>
            <a:off x="323528" y="4293096"/>
            <a:ext cx="99738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位地址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B7F9FF7-4817-4827-943F-98747199E406}"/>
              </a:ext>
            </a:extLst>
          </p:cNvPr>
          <p:cNvSpPr/>
          <p:nvPr/>
        </p:nvSpPr>
        <p:spPr>
          <a:xfrm>
            <a:off x="2267584" y="3716338"/>
            <a:ext cx="6847205" cy="3005137"/>
          </a:xfrm>
          <a:prstGeom prst="rect">
            <a:avLst/>
          </a:prstGeom>
          <a:solidFill>
            <a:srgbClr val="CCFFFF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读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写控制逻辑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7585" y="1124585"/>
            <a:ext cx="6715760" cy="5257800"/>
          </a:xfrm>
        </p:spPr>
        <p:txBody>
          <a:bodyPr>
            <a:no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有关信号：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，系统复位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高电平时使控制字寄存器清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，各 端口工作于输 入方式。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片选。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译码电路产生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低电平选中。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读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写。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端口选择。</a:t>
            </a:r>
          </a:p>
          <a:p>
            <a:pPr algn="just">
              <a:buClr>
                <a:srgbClr val="00FF00"/>
              </a:buClr>
              <a:buNone/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 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FF00"/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 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，控制口。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位系统中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，常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与地址总线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相连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。若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端口基地址为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口和控制口分别为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62H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63H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位系统呢？先考虑一下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699385" y="2276475"/>
          <a:ext cx="503555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" name="Equation" r:id="rId3" imgW="5486400" imgH="5181600" progId="Equation.DSMT4">
                  <p:embed/>
                </p:oleObj>
              </mc:Choice>
              <mc:Fallback>
                <p:oleObj name="Equation" r:id="rId3" imgW="5486400" imgH="5181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385" y="2276475"/>
                        <a:ext cx="503555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99385" y="2780877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" name="Equation" r:id="rId5" imgW="6400800" imgH="4876800" progId="Equation.DSMT4">
                  <p:embed/>
                </p:oleObj>
              </mc:Choice>
              <mc:Fallback>
                <p:oleObj name="Equation" r:id="rId5" imgW="6400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9385" y="2780877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9385" y="3284538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" name="Equation" r:id="rId7" imgW="7315200" imgH="5181600" progId="Equation.DSMT4">
                  <p:embed/>
                </p:oleObj>
              </mc:Choice>
              <mc:Fallback>
                <p:oleObj name="Equation" r:id="rId7" imgW="7315200" imgH="5181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9385" y="3284538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8" name="对象 7"/>
          <p:cNvGraphicFramePr/>
          <p:nvPr>
            <p:extLst>
              <p:ext uri="{D42A27DB-BD31-4B8C-83A1-F6EECF244321}">
                <p14:modId xmlns:p14="http://schemas.microsoft.com/office/powerpoint/2010/main" val="3924735353"/>
              </p:ext>
            </p:extLst>
          </p:nvPr>
        </p:nvGraphicFramePr>
        <p:xfrm>
          <a:off x="29210" y="2514282"/>
          <a:ext cx="2185035" cy="218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" r:id="rId9" imgW="1543050" imgH="1581150" progId="Paint.Picture">
                  <p:embed/>
                </p:oleObj>
              </mc:Choice>
              <mc:Fallback>
                <p:oleObj r:id="rId9" imgW="1543050" imgH="1581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10" y="2514282"/>
                        <a:ext cx="2185035" cy="2181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43400"/>
            <a:ext cx="8229600" cy="2286000"/>
          </a:xfrm>
        </p:spPr>
        <p:txBody>
          <a:bodyPr>
            <a:norm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可进行读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写操作。      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，可从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口读出数据。        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，可向这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个端口写入数据。口地址由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但当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时，只能向控制口写入控制字，读控制端口为非法操作。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和       不能同时为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 descr="表6.3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1000"/>
            <a:ext cx="6629400" cy="3965801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90600" y="4330700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0" name="Equation" r:id="rId4" imgW="5486400" imgH="5181600" progId="Equation.DSMT4">
                  <p:embed/>
                </p:oleObj>
              </mc:Choice>
              <mc:Fallback>
                <p:oleObj name="Equation" r:id="rId4" imgW="5486400" imgH="5181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4330700"/>
                        <a:ext cx="457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38800" y="4359501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" name="Equation" r:id="rId6" imgW="6400800" imgH="4876800" progId="Equation.DSMT4">
                  <p:embed/>
                </p:oleObj>
              </mc:Choice>
              <mc:Fallback>
                <p:oleObj name="Equation" r:id="rId6" imgW="6400800" imgH="487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4359501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10000" y="4724400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2" name="Equation" r:id="rId8" imgW="7315200" imgH="5181600" progId="Equation.DSMT4">
                  <p:embed/>
                </p:oleObj>
              </mc:Choice>
              <mc:Fallback>
                <p:oleObj name="Equation" r:id="rId8" imgW="7315200" imgH="51816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10000" y="4724400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14400" y="601980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3" name="Equation" r:id="rId10" imgW="6400800" imgH="4876800" progId="Equation.DSMT4">
                  <p:embed/>
                </p:oleObj>
              </mc:Choice>
              <mc:Fallback>
                <p:oleObj name="Equation" r:id="rId10" imgW="6400800" imgH="48768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6019800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14500" y="6024563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4" name="Equation" r:id="rId11" imgW="7315200" imgH="5181600" progId="Equation.DSMT4">
                  <p:embed/>
                </p:oleObj>
              </mc:Choice>
              <mc:Fallback>
                <p:oleObj name="Equation" r:id="rId11" imgW="7315200" imgH="5181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4500" y="6024563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cxnSp>
        <p:nvCxnSpPr>
          <p:cNvPr id="10" name="直接连接符 9"/>
          <p:cNvCxnSpPr/>
          <p:nvPr/>
        </p:nvCxnSpPr>
        <p:spPr>
          <a:xfrm>
            <a:off x="1525905" y="3851910"/>
            <a:ext cx="4342130" cy="8890"/>
          </a:xfrm>
          <a:prstGeom prst="line">
            <a:avLst/>
          </a:prstGeom>
          <a:ln w="28575" cmpd="dbl">
            <a:solidFill>
              <a:srgbClr val="FF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00245" y="5589270"/>
            <a:ext cx="38157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cxnSpLocks/>
          </p:cNvCxnSpPr>
          <p:nvPr/>
        </p:nvCxnSpPr>
        <p:spPr>
          <a:xfrm flipV="1">
            <a:off x="899795" y="5940651"/>
            <a:ext cx="5904453" cy="27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设计电路时要注意：</a:t>
            </a:r>
            <a:endParaRPr lang="en-US" altLang="zh-CN" sz="3300" b="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rgbClr val="00FF00"/>
              </a:buClr>
              <a:buNone/>
            </a:pPr>
            <a:r>
              <a:rPr lang="zh-CN" altLang="en-US" sz="3300" b="0" dirty="0">
                <a:solidFill>
                  <a:schemeClr val="tx1"/>
                </a:solidFill>
                <a:effectLst/>
                <a:ea typeface="+mn-ea"/>
              </a:rPr>
              <a:t>    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位数据总线的</a:t>
            </a:r>
            <a:r>
              <a:rPr lang="en-US" altLang="zh-CN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系统中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，可将地址总线的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连到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端。若它的数据线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接在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数据总线的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r>
              <a:rPr 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位上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，则要用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偶端口地址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来寻址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；而当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接在数据总线的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</a:t>
            </a:r>
            <a:r>
              <a:rPr 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上时，要用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奇地址口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3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rgbClr val="00FF00"/>
              </a:buClr>
              <a:buNone/>
            </a:pPr>
            <a:r>
              <a:rPr lang="zh-CN" altLang="en-US" sz="3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：若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的基地址为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口，即口地址</a:t>
            </a:r>
            <a:r>
              <a:rPr lang="en-US" altLang="zh-CN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=01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，选控制字寄存器，口地址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10:50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311015" y="601345"/>
            <a:ext cx="4257040" cy="7067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非常重要！必考点</a:t>
            </a:r>
          </a:p>
          <a:p>
            <a:r>
              <a:rPr 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结合奇偶存储体来理解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105560-5A42-4594-B0F7-84927288E148}"/>
              </a:ext>
            </a:extLst>
          </p:cNvPr>
          <p:cNvSpPr/>
          <p:nvPr/>
        </p:nvSpPr>
        <p:spPr>
          <a:xfrm>
            <a:off x="2483768" y="6169580"/>
            <a:ext cx="5096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问：基地址为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F1H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，应该如何连接？</a:t>
            </a:r>
            <a:endParaRPr lang="zh-CN" altLang="en-US" sz="2400" b="1" dirty="0">
              <a:solidFill>
                <a:srgbClr val="194DF3"/>
              </a:solidFill>
            </a:endParaRP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10:50</a:t>
            </a:fld>
            <a:endParaRPr lang="en-US" altLang="zh-CN"/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AD423614-3818-4EDE-928A-176B209A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6313545" cy="3831476"/>
          </a:xfrm>
          <a:prstGeom prst="rect">
            <a:avLst/>
          </a:prstGeom>
        </p:spPr>
      </p:pic>
      <p:pic>
        <p:nvPicPr>
          <p:cNvPr id="133" name="图片 132" descr="图6.21.jpg">
            <a:extLst>
              <a:ext uri="{FF2B5EF4-FFF2-40B4-BE49-F238E27FC236}">
                <a16:creationId xmlns:a16="http://schemas.microsoft.com/office/drawing/2014/main" id="{200BA5F8-9690-424E-985B-FF4FD47AA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580" y="3026524"/>
            <a:ext cx="7186420" cy="383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24066"/>
      </p:ext>
    </p:extLst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8255</a:t>
            </a:r>
            <a:r>
              <a:rPr lang="zh-CN" altLang="en-US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和外部设备的典型连接：</a:t>
            </a:r>
          </a:p>
          <a:p>
            <a:pPr marL="0" indent="0"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                         </a:t>
            </a:r>
            <a:r>
              <a:rPr lang="zh-CN" altLang="en-US" sz="2800" b="0" dirty="0">
                <a:solidFill>
                  <a:srgbClr val="FF0000"/>
                </a:solidFill>
                <a:effectLst/>
                <a:ea typeface="+mn-ea"/>
              </a:rPr>
              <a:t>并行接口的外设</a:t>
            </a:r>
            <a:endParaRPr lang="en-US" altLang="zh-CN" sz="3300" b="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rgbClr val="00FF00"/>
              </a:buClr>
              <a:buNone/>
            </a:pPr>
            <a:r>
              <a:rPr lang="zh-CN" altLang="en-US" sz="3300" b="0" dirty="0">
                <a:solidFill>
                  <a:schemeClr val="tx1"/>
                </a:solidFill>
                <a:effectLst/>
                <a:ea typeface="+mn-ea"/>
              </a:rPr>
              <a:t>    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10243" name="内容占位符 10242"/>
          <p:cNvGraphicFramePr>
            <a:graphicFrameLocks noGrp="1" noChangeAspect="1"/>
          </p:cNvGraphicFramePr>
          <p:nvPr>
            <p:ph sz="half" idx="2"/>
          </p:nvPr>
        </p:nvGraphicFramePr>
        <p:xfrm>
          <a:off x="617538" y="2425700"/>
          <a:ext cx="8050212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Visio" r:id="rId3" imgW="6267635" imgH="2267081" progId="Visio.Drawing.11">
                  <p:embed/>
                </p:oleObj>
              </mc:Choice>
              <mc:Fallback>
                <p:oleObj name="Visio" r:id="rId3" imgW="6267635" imgH="2267081" progId="Visio.Drawing.11">
                  <p:embed/>
                  <p:pic>
                    <p:nvPicPr>
                      <p:cNvPr id="10243" name="内容占位符 10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538" y="2425700"/>
                        <a:ext cx="8050212" cy="2911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8552648"/>
      </p:ext>
    </p:extLst>
  </p:cSld>
  <p:clrMapOvr>
    <a:masterClrMapping/>
  </p:clrMapOvr>
  <p:transition spd="slow">
    <p:cover dir="l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的结构和功能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的工作方式和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381000"/>
            <a:ext cx="800100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方式选择控制字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写入控制口以定义各端口工作模式，且要求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工作方式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工作方式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高、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低的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输出方式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1-In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（输入），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0-Out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（输出），可有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种组态。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 descr="图6.1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2910805"/>
            <a:ext cx="5758645" cy="3661467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500245" y="332740"/>
            <a:ext cx="32797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=11</a:t>
            </a:r>
            <a:r>
              <a:rPr lang="zh-CN" alt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，控制口</a:t>
            </a:r>
          </a:p>
        </p:txBody>
      </p:sp>
    </p:spTree>
  </p:cSld>
  <p:clrMapOvr>
    <a:masterClrMapping/>
  </p:clrMapOvr>
  <p:transition spd="slow">
    <p:cover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457200"/>
            <a:ext cx="8229600" cy="6400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sz="38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C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口按位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置位</a:t>
            </a:r>
            <a:r>
              <a:rPr 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/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复位控制字</a:t>
            </a:r>
            <a:endParaRPr lang="en-US" altLang="zh-CN" sz="3800" b="1" dirty="0">
              <a:solidFill>
                <a:schemeClr val="accent5">
                  <a:lumMod val="75000"/>
                </a:schemeClr>
              </a:solidFill>
              <a:effectLst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可使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口任一引脚的输出单独置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，格式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: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  </a:t>
            </a:r>
            <a:endParaRPr lang="en-US" altLang="zh-CN" sz="30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3000" b="0" dirty="0">
                <a:solidFill>
                  <a:srgbClr val="FF0000"/>
                </a:solidFill>
                <a:effectLst/>
                <a:ea typeface="+mn-ea"/>
              </a:rPr>
              <a:t>例如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：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口地址为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60H~63H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平时为低电平，要求从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输出一个正脉冲，程序段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: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 AL, 00001011B           </a:t>
            </a:r>
            <a:r>
              <a:rPr lang="en-US" altLang="zh-CN" sz="3000" b="0" dirty="0">
                <a:solidFill>
                  <a:srgbClr val="194DF3"/>
                </a:solidFill>
                <a:effectLst/>
                <a:ea typeface="+mn-ea"/>
              </a:rPr>
              <a:t>; 0BH</a:t>
            </a:r>
            <a:endParaRPr lang="zh-CN" altLang="en-US" sz="3000" b="0" dirty="0">
              <a:solidFill>
                <a:srgbClr val="194DF3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		OUT	   63H, AL		    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;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置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ea typeface="+mn-ea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为高电平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 AL, 00001010B           </a:t>
            </a:r>
            <a:r>
              <a:rPr lang="en-US" sz="3000" b="0" dirty="0">
                <a:solidFill>
                  <a:srgbClr val="194DF3"/>
                </a:solidFill>
                <a:effectLst/>
                <a:ea typeface="+mn-ea"/>
              </a:rPr>
              <a:t>; 0AH</a:t>
            </a:r>
            <a:endParaRPr lang="zh-CN" altLang="en-US" sz="3000" b="0" dirty="0">
              <a:solidFill>
                <a:srgbClr val="194DF3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		OUT	   63H, AL	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 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   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;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置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ea typeface="+mn-ea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为低电平</a:t>
            </a:r>
          </a:p>
        </p:txBody>
      </p:sp>
      <p:pic>
        <p:nvPicPr>
          <p:cNvPr id="4" name="图片 3" descr="图6.1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71600"/>
            <a:ext cx="6400800" cy="2864022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796280" y="332740"/>
            <a:ext cx="32797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=11</a:t>
            </a:r>
            <a:r>
              <a:rPr lang="zh-CN" alt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，控制口</a:t>
            </a:r>
          </a:p>
        </p:txBody>
      </p:sp>
    </p:spTree>
  </p:cSld>
  <p:clrMapOvr>
    <a:masterClrMapping/>
  </p:clrMapOvr>
  <p:transition spd="slow">
    <p:cover dir="r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的结构和功能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的工作方式和</a:t>
            </a: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zh-CN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可工作于</a:t>
            </a:r>
            <a:r>
              <a:rPr lang="en-US" altLang="zh-CN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种方式：</a:t>
            </a:r>
            <a:endParaRPr lang="en-US" altLang="zh-CN" sz="3000" b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30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基本输入输出方式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无条件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</a:p>
          <a:p>
            <a:pPr algn="just">
              <a:buNone/>
            </a:pP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选通输入输出方式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有条件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4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4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查询</a:t>
            </a:r>
            <a:r>
              <a:rPr lang="en-US" altLang="zh-CN" sz="24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4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中断）</a:t>
            </a:r>
            <a:endParaRPr lang="en-US" altLang="zh-CN" sz="2400" b="0" dirty="0">
              <a:solidFill>
                <a:srgbClr val="194DF3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双向总线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双向</a:t>
            </a:r>
            <a:endParaRPr lang="en-US" sz="2800" b="0" dirty="0">
              <a:solidFill>
                <a:srgbClr val="194DF3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None/>
            </a:pPr>
            <a:r>
              <a:rPr 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algn="just">
              <a:buClr>
                <a:srgbClr val="FFFF00"/>
              </a:buClr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(Basic Input/Output)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方式，适用于不要用应答信号的简单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I/O——</a:t>
            </a:r>
            <a:r>
              <a:rPr lang="zh-CN" alt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</a:t>
            </a:r>
            <a:r>
              <a:rPr lang="en-US" altLang="zh-CN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I/O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口用作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位端口；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高和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低各用作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位端口，或合在一起构成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输出信号可被锁存，输入不能锁存。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cover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304800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endParaRPr lang="en-US" altLang="zh-CN" sz="2800" dirty="0">
              <a:solidFill>
                <a:srgbClr val="CCFFFF"/>
              </a:solidFill>
              <a:ea typeface="楷体_GB2312" panose="02010609030101010101" pitchFamily="49" charset="-122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高、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低可构成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16 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种不同组态。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0" dirty="0">
                <a:solidFill>
                  <a:srgbClr val="C00000"/>
                </a:solidFill>
                <a:effectLst/>
                <a:ea typeface="+mn-ea"/>
              </a:rPr>
              <a:t>例如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，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的控制字寄存器的端口地址为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63H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，若要求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口工作于方式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口高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位作输入，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口低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位为输出，可用下列指令来设置：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        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AL,  10011010B</a:t>
            </a:r>
            <a:endParaRPr lang="zh-CN" altLang="en-US" sz="3000" b="0" dirty="0">
              <a:solidFill>
                <a:srgbClr val="C00000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        OUT	  63H,AL</a:t>
            </a:r>
            <a:endParaRPr lang="zh-CN" altLang="en-US" sz="30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pic>
        <p:nvPicPr>
          <p:cNvPr id="7" name="图片 6" descr="图6.1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4" y="116805"/>
            <a:ext cx="5758645" cy="3661467"/>
          </a:xfrm>
          <a:prstGeom prst="rect">
            <a:avLst/>
          </a:prstGeom>
        </p:spPr>
      </p:pic>
    </p:spTree>
  </p:cSld>
  <p:clrMapOvr>
    <a:masterClrMapping/>
  </p:clrMapOvr>
  <p:transition spd="slow">
    <p:strips dir="r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举例说明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在开关电路、键盘及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PC/XT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机中的应用。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此外，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还可用于扬声器和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CRT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控制接口电路、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A/D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D/A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接口电路等许多场合。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由于选通方式比较复杂，这里仅介绍方式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的几个应用实例。</a:t>
            </a:r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cover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43000" y="2514600"/>
            <a:ext cx="7620000" cy="2128846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.1  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基本输入输出应用举例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6.3.2  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键盘接口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600" dirty="0">
                <a:ea typeface="楷体_GB2312" panose="02010609030101010101" pitchFamily="49" charset="-122"/>
              </a:rPr>
              <a:t>          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835785" y="5373370"/>
            <a:ext cx="49936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注：</a:t>
            </a:r>
            <a:r>
              <a:rPr lang="en-US" altLang="zh-CN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8255A</a:t>
            </a:r>
            <a:r>
              <a:rPr lang="zh-CN" altLang="en-US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的考试会在这两个内容的基础上扩展</a:t>
            </a:r>
          </a:p>
        </p:txBody>
      </p:sp>
    </p:spTree>
  </p:cSld>
  <p:clrMapOvr>
    <a:masterClrMapping/>
  </p:clrMapOvr>
  <p:transition spd="slow">
    <p:wedg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.1  </a:t>
            </a: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基本输入输出应用举例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5029200"/>
          </a:xfrm>
        </p:spPr>
        <p:txBody>
          <a:bodyPr>
            <a:norm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在工业控制等实际应用场合，经常需要检测开关状态，并用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等显示出来。在交通灯控制方面，也有类似的应用。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None/>
            </a:pPr>
            <a:r>
              <a:rPr lang="zh-CN" altLang="en-US" sz="28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某检测系统中有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，要求不断检测它们的通断状态，并显示在发光二极管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上。开关断开，相应的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点亮；开关合上，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熄灭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。试设计硬件电路，并编写有关的控制程序。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1371600"/>
          </a:xfrm>
        </p:spPr>
        <p:txBody>
          <a:bodyPr>
            <a:normAutofit fontScale="75000" lnSpcReduction="20000"/>
          </a:bodyPr>
          <a:lstStyle/>
          <a:p>
            <a:pPr>
              <a:buNone/>
            </a:pPr>
            <a:r>
              <a:rPr lang="en-US" altLang="zh-CN" sz="4150" b="1" dirty="0">
                <a:solidFill>
                  <a:srgbClr val="C00000"/>
                </a:solidFill>
                <a:effectLst/>
                <a:ea typeface="+mn-ea"/>
              </a:rPr>
              <a:t>1</a:t>
            </a:r>
            <a:r>
              <a:rPr lang="zh-CN" altLang="en-US" sz="4150" b="1" dirty="0">
                <a:solidFill>
                  <a:srgbClr val="C00000"/>
                </a:solidFill>
                <a:effectLst/>
                <a:ea typeface="+mn-ea"/>
              </a:rPr>
              <a:t>）硬件电路设计</a:t>
            </a:r>
            <a:endParaRPr lang="en-US" altLang="zh-CN" sz="4150" b="1" dirty="0">
              <a:solidFill>
                <a:srgbClr val="C00000"/>
              </a:solidFill>
              <a:effectLst/>
              <a:ea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400" b="0" dirty="0">
                <a:solidFill>
                  <a:schemeClr val="tx1"/>
                </a:solidFill>
                <a:effectLst/>
                <a:ea typeface="+mn-ea"/>
              </a:rPr>
              <a:t>用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74LS138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译码器</a:t>
            </a:r>
            <a:r>
              <a:rPr lang="zh-CN" altLang="en-US" sz="3400" b="0" dirty="0">
                <a:solidFill>
                  <a:schemeClr val="tx1"/>
                </a:solidFill>
                <a:effectLst/>
                <a:ea typeface="+mn-ea"/>
              </a:rPr>
              <a:t>等芯片及开关、显示器等构成如下硬件电路，来实现上述功能。</a:t>
            </a:r>
          </a:p>
        </p:txBody>
      </p:sp>
      <p:pic>
        <p:nvPicPr>
          <p:cNvPr id="4" name="图片 3" descr="图6.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65" y="1953895"/>
            <a:ext cx="6885305" cy="3670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8245" y="562483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6.21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327015" y="5821680"/>
            <a:ext cx="3560445" cy="518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zh-CN" sz="2800" b="1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无条件输入输出方式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口输入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~K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口输出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接显示器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~LED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     、    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脚接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相应输出，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位数据线</a:t>
            </a:r>
            <a:r>
              <a:rPr 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baseline="-25000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1" baseline="-25000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相连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个口地址都应为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偶地址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总为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来选择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=111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时，译码器输出    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选中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个端口地址为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，对应于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口、控制口。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28851" y="2571744"/>
          <a:ext cx="600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Equation" r:id="rId3" imgW="6400800" imgH="4876800" progId="Equation.DSMT4">
                  <p:embed/>
                </p:oleObj>
              </mc:Choice>
              <mc:Fallback>
                <p:oleObj name="Equation" r:id="rId3" imgW="6400800" imgH="4876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851" y="2571744"/>
                        <a:ext cx="600075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67994" y="2571744"/>
          <a:ext cx="685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Equation" r:id="rId5" imgW="7315200" imgH="5181600" progId="Equation.DSMT4">
                  <p:embed/>
                </p:oleObj>
              </mc:Choice>
              <mc:Fallback>
                <p:oleObj name="Equation" r:id="rId5" imgW="7315200" imgH="5181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994" y="2571744"/>
                        <a:ext cx="68580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656220" y="4000504"/>
          <a:ext cx="48768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9" name="Equation" r:id="rId7" imgW="4876800" imgH="6096000" progId="Equation.DSMT4">
                  <p:embed/>
                </p:oleObj>
              </mc:Choice>
              <mc:Fallback>
                <p:oleObj name="Equation" r:id="rId7" imgW="4876800" imgH="60960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6220" y="4000504"/>
                        <a:ext cx="48768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ipe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2500" lnSpcReduction="20000"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altLang="zh-CN" sz="3600" b="1" dirty="0">
                <a:solidFill>
                  <a:srgbClr val="C00000"/>
                </a:solidFill>
                <a:effectLst/>
                <a:ea typeface="+mn-ea"/>
              </a:rPr>
              <a:t>2)</a:t>
            </a:r>
            <a:r>
              <a:rPr lang="zh-CN" altLang="en-US" sz="3600" b="1" dirty="0">
                <a:solidFill>
                  <a:srgbClr val="C00000"/>
                </a:solidFill>
                <a:effectLst/>
                <a:ea typeface="+mn-ea"/>
              </a:rPr>
              <a:t>控制程序段设计</a:t>
            </a:r>
            <a:endParaRPr lang="en-US" altLang="zh-CN" sz="3600" b="1" dirty="0">
              <a:solidFill>
                <a:srgbClr val="C00000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确定方式选择控制字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marL="538480" indent="0" algn="just">
              <a:lnSpc>
                <a:spcPct val="120000"/>
              </a:lnSpc>
              <a:buClr>
                <a:srgbClr val="FF0000"/>
              </a:buClr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输入，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口未用，相应位清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，控制字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10010000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控字写入控制口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将开关状态从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引脚读入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。若开关合上，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中的相应位为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，断开则为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中的内容从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引脚输出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indent="0" algn="just">
              <a:buClr>
                <a:srgbClr val="FF0000"/>
              </a:buClr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熄灭，表示相应的开关合上；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indent="0" algn="just">
              <a:buClr>
                <a:srgbClr val="FF0000"/>
              </a:buClr>
              <a:buNone/>
            </a:pP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1-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点亮，表示相应的开关断开。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不断循环，反复检测开关状态并显示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indent="278130" algn="just">
              <a:buNone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计算机速度很快，每次操作后要延迟一定时间。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5821363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程序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：</a:t>
            </a:r>
            <a:endParaRPr 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DX,  0F6H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控制字寄存器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AL,  10010000B </a:t>
            </a:r>
            <a:r>
              <a:rPr lang="en-US" dirty="0"/>
              <a:t>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控制字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OUT     DX,  AL	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写入控制字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TEST_IT: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DX,  0F0H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指向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 </a:t>
            </a: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IN	   AL,  DX	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读入开关状态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	   DX,  0F2H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指向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</a:t>
            </a:r>
            <a:endParaRPr 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OUT	   DX,  AL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口控制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LED</a:t>
            </a: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CALL  DELAY_20S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调延时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子程序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JMP	  TEST_IT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再检测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DELAY_20S: …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子程序</a:t>
            </a: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1752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zh-CN" altLang="en-US" sz="3000" b="0" dirty="0">
                <a:solidFill>
                  <a:srgbClr val="FF0000"/>
                </a:solidFill>
                <a:effectLst/>
                <a:ea typeface="+mn-ea"/>
              </a:rPr>
              <a:t>例</a:t>
            </a:r>
            <a:r>
              <a:rPr lang="en-US" altLang="zh-CN" sz="3000" b="0" dirty="0">
                <a:solidFill>
                  <a:srgbClr val="FF0000"/>
                </a:solidFill>
                <a:effectLst/>
                <a:ea typeface="+mn-ea"/>
              </a:rPr>
              <a:t>2  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读开关并用七段</a:t>
            </a:r>
            <a:r>
              <a:rPr lang="en-US" altLang="zh-CN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显示器显示开关状态</a:t>
            </a:r>
            <a:endParaRPr lang="en-US" altLang="zh-CN" sz="3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口接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~K</a:t>
            </a:r>
            <a:r>
              <a:rPr lang="en-US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位输出经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74LS04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反相驱动后，接到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个七段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显示器上。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个开关，共有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种状态，对应于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进制数字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0~F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 descr="图6.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7315200" cy="4279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6.22</a:t>
            </a:r>
            <a:endParaRPr lang="zh-CN" altLang="en-US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sh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6.22.jpg">
            <a:extLst>
              <a:ext uri="{FF2B5EF4-FFF2-40B4-BE49-F238E27FC236}">
                <a16:creationId xmlns:a16="http://schemas.microsoft.com/office/drawing/2014/main" id="{75832BE7-52BC-4C05-916D-C87E3FC7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6896"/>
            <a:ext cx="7315200" cy="4279989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15240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口工作于方式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，输入；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，输出。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七段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共阴极接法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a~g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段，当</a:t>
            </a:r>
            <a:r>
              <a:rPr lang="en-US" sz="2400" b="1" dirty="0" err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 err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时，经反相后使显示器</a:t>
            </a:r>
            <a:r>
              <a:rPr lang="zh-CN" alt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正极为高电平，相应段点亮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0" baseline="-25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时，相应段熄灭。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6.22</a:t>
            </a:r>
            <a:endParaRPr lang="zh-CN" altLang="en-US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cover dir="l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七段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显示原理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7400" y="1371600"/>
            <a:ext cx="6858000" cy="4953000"/>
          </a:xfrm>
        </p:spPr>
        <p:txBody>
          <a:bodyPr>
            <a:no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如要显示数字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段应熄灭，其余段点亮，即向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口输出代码 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0100 0000B=40H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，最高位不用，清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（也可用作小数点）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如要显示数字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，则点亮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段，其余段熄灭，代码为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0111 1001B=79H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由此可求得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0~F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七段显示码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79H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24H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19H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78H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43H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21H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0EH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，其中字母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只能用小写字母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来表示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。</a:t>
            </a:r>
            <a:endParaRPr lang="en-US" altLang="zh-CN" sz="26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程序如下页。</a:t>
            </a:r>
            <a:endParaRPr lang="en-US" altLang="zh-CN" sz="2600" b="0" dirty="0">
              <a:solidFill>
                <a:schemeClr val="tx1"/>
              </a:solidFill>
              <a:effectLst/>
              <a:ea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52400" y="2056574"/>
            <a:ext cx="1752600" cy="2563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sh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DATA	  SEGMENT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TABLE	  DB    40H, 79H, 24H, 30H, 19H, 12H, 02H, 78H	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		  DB    00H, 18H, 80H, 03H, 43H, 21H, 06H, 0EH</a:t>
            </a:r>
          </a:p>
          <a:p>
            <a:pPr>
              <a:buNone/>
            </a:pP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						;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0~F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的七段代码编码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DATA	  ENDS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CODE	  SEGMENT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		  ASSUME    CS: CODE, DS: DATA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AL,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90H</a:t>
            </a:r>
            <a:r>
              <a:rPr lang="en-US" sz="3600" b="0" dirty="0">
                <a:solidFill>
                  <a:srgbClr val="00B0F0"/>
                </a:solidFill>
                <a:effectLst/>
                <a:ea typeface="+mn-ea"/>
              </a:rPr>
              <a:t>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;   </a:t>
            </a:r>
            <a:r>
              <a:rPr lang="en-US" altLang="zh-CN" sz="3600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口方式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输入</a:t>
            </a:r>
            <a:r>
              <a:rPr lang="en-US" altLang="zh-CN" sz="3600" b="0" dirty="0">
                <a:solidFill>
                  <a:schemeClr val="tx1"/>
                </a:solidFill>
                <a:effectLst/>
                <a:ea typeface="+mn-ea"/>
              </a:rPr>
              <a:t>, 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口方式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OUT	 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63H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, AL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输出控制字</a:t>
            </a: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IN_PA:  </a:t>
            </a:r>
            <a:r>
              <a:rPr lang="zh-CN" altLang="en-US" sz="3600" b="0" dirty="0">
                <a:solidFill>
                  <a:srgbClr val="C00000"/>
                </a:solidFill>
                <a:effectLst/>
                <a:ea typeface="+mn-ea"/>
              </a:rPr>
              <a:t> 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	  AL,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60H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读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AND	  AL, 0FH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取低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4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位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BX, OFFSET TABLE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;    BX←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七段代码表首地址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</a:t>
            </a:r>
            <a:r>
              <a:rPr lang="en-US" sz="3600" b="1" dirty="0">
                <a:solidFill>
                  <a:srgbClr val="00B050"/>
                </a:solidFill>
                <a:effectLst/>
                <a:ea typeface="+mn-ea"/>
              </a:rPr>
              <a:t> XLAT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	; 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查表，</a:t>
            </a:r>
            <a:r>
              <a:rPr lang="en-US" sz="3600" b="1" dirty="0">
                <a:solidFill>
                  <a:srgbClr val="00B050"/>
                </a:solidFill>
                <a:effectLst/>
                <a:ea typeface="+mn-ea"/>
              </a:rPr>
              <a:t>AL←(BX+AL)</a:t>
            </a:r>
            <a:endParaRPr lang="en-US" altLang="en-US" sz="3600" b="1" dirty="0">
              <a:solidFill>
                <a:srgbClr val="00B05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OUT	  61H, AL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输出到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CALL   DELAY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</a:t>
            </a:r>
            <a:r>
              <a:rPr lang="en-US" sz="3600" dirty="0"/>
              <a:t>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调用延时程序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JMP	  IN_PA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继续读开关，显示</a:t>
            </a: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DELAY:    </a:t>
            </a:r>
            <a:r>
              <a:rPr lang="zh-CN" altLang="en-US" sz="3600" b="0" dirty="0">
                <a:solidFill>
                  <a:srgbClr val="C00000"/>
                </a:solidFill>
                <a:effectLst/>
                <a:ea typeface="+mn-ea"/>
              </a:rPr>
              <a:t>  </a:t>
            </a:r>
            <a:r>
              <a:rPr lang="en-US" altLang="zh-CN" sz="3600" b="0" dirty="0">
                <a:solidFill>
                  <a:srgbClr val="C00000"/>
                </a:solidFill>
                <a:effectLst/>
                <a:ea typeface="+mn-ea"/>
              </a:rPr>
              <a:t>…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AH, 4CH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INT   	  21H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返回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DOS</a:t>
            </a:r>
            <a:endParaRPr lang="zh-CN" altLang="en-US" sz="36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CODE	  ENDS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43000" y="2514600"/>
            <a:ext cx="7620000" cy="3505200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.1  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基本输入输出应用举例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6.3.2  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键盘接口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600" dirty="0">
                <a:ea typeface="楷体_GB2312" panose="02010609030101010101" pitchFamily="49" charset="-122"/>
              </a:rPr>
              <a:t>          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  <a:endParaRPr lang="zh-CN" alt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6.3.2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键盘接口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5250"/>
            <a:ext cx="8229600" cy="4525963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构成键盘的开关有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机械式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、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薄膜式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、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电容式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和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霍尔效应式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等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为减少输入线，开关被排列成</a:t>
            </a:r>
            <a:r>
              <a:rPr lang="zh-CN" altLang="en-US" sz="28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行、列矩阵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检测到有压键后，应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消抖动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(Debance)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194DF3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组合按键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问题的处理。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pic>
        <p:nvPicPr>
          <p:cNvPr id="16386" name="Picture 2" descr="按键示意图 的图像结果">
            <a:extLst>
              <a:ext uri="{FF2B5EF4-FFF2-40B4-BE49-F238E27FC236}">
                <a16:creationId xmlns:a16="http://schemas.microsoft.com/office/drawing/2014/main" id="{7EC0C93D-CCFC-4D2D-BFA3-8DDF03AC4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170188"/>
            <a:ext cx="2651457" cy="231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79D431-8708-4BBA-89C4-4E6226AF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603" y="4862982"/>
            <a:ext cx="1628775" cy="1123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1C2882-F34E-4032-895F-B3AB65D74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48" y="4362920"/>
            <a:ext cx="2419350" cy="2124075"/>
          </a:xfrm>
          <a:prstGeom prst="rect">
            <a:avLst/>
          </a:prstGeom>
        </p:spPr>
      </p:pic>
    </p:spTree>
  </p:cSld>
  <p:clrMapOvr>
    <a:masterClrMapping/>
  </p:clrMapOvr>
  <p:transition spd="slow">
    <p:pull dir="r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框 69633"/>
          <p:cNvSpPr txBox="1"/>
          <p:nvPr/>
        </p:nvSpPr>
        <p:spPr>
          <a:xfrm>
            <a:off x="228600" y="399733"/>
            <a:ext cx="8087816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just"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*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抖动消除</a:t>
            </a:r>
            <a:endParaRPr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0" algn="just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 在按键闭合、断开过程中，由于机械触点的弹性作用，在闭合及断开瞬间均有抖动过程，其电压信号波形如图所示。整个按键周期在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100ms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sym typeface="+mn-ea"/>
              </a:rPr>
              <a:t>~200ms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sym typeface="+mn-ea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抖动时间的长短与开关的机械特性有关，一般为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rPr>
              <a:t>5~10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ms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69639" name="文本框 69638"/>
          <p:cNvSpPr txBox="1"/>
          <p:nvPr/>
        </p:nvSpPr>
        <p:spPr>
          <a:xfrm>
            <a:off x="228600" y="4602024"/>
            <a:ext cx="8231832" cy="17543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硬件方法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用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硬件电路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来实现，如用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RC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滤波电路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去抖动。</a:t>
            </a:r>
          </a:p>
          <a:p>
            <a:pPr marL="342900" lvl="0" indent="-342900"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软件方法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通常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用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延时去抖动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方法，即检测到有键按下时，执行一个延时程序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一般为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20ms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，确认该键电平是否仍保持闭合状态电平，从而消除了抖动影响。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339935"/>
              </p:ext>
            </p:extLst>
          </p:nvPr>
        </p:nvGraphicFramePr>
        <p:xfrm>
          <a:off x="1691680" y="2694940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94940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2D0307-E0F2-46D7-9594-30B75D558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60" y="2420888"/>
            <a:ext cx="2592288" cy="2176061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5106987"/>
            <a:ext cx="8763000" cy="216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键盘扫描消抖动方法：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        有键压下时（读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7~4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时有为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），延时</a:t>
            </a:r>
            <a:r>
              <a:rPr lang="en-US" altLang="zh-CN" sz="2600" b="0" dirty="0">
                <a:solidFill>
                  <a:schemeClr val="tx1"/>
                </a:solidFill>
                <a:effectLst/>
                <a:ea typeface="+mn-ea"/>
              </a:rPr>
              <a:t>20ms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，延时后再进行扫描（</a:t>
            </a:r>
            <a:r>
              <a:rPr lang="en-US" altLang="zh-CN" sz="2600" b="0" dirty="0">
                <a:solidFill>
                  <a:schemeClr val="tx1"/>
                </a:solidFill>
                <a:effectLst/>
                <a:ea typeface="+mn-ea"/>
              </a:rPr>
              <a:t>PA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）；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622290" y="1054735"/>
            <a:ext cx="3429000" cy="34620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列键盘矩阵</a:t>
            </a: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</a:t>
            </a:r>
            <a:r>
              <a:rPr kumimoji="0" lang="en-US" altLang="zh-CN" sz="26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'0'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kumimoji="0" lang="en-US" altLang="zh-C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行线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行线输入到</a:t>
            </a:r>
            <a:r>
              <a:rPr 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7~4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对应输出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'0'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的行线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对应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PB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高位读出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'0'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     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列线输入到</a:t>
            </a: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en-US" altLang="zh-CN" sz="260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按下键的列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其他为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kumimoji="0" lang="zh-CN" altLang="en-US" sz="2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EAD4E1C-6078-46CD-B3A2-5228FD1BA938}"/>
              </a:ext>
            </a:extLst>
          </p:cNvPr>
          <p:cNvGrpSpPr/>
          <p:nvPr/>
        </p:nvGrpSpPr>
        <p:grpSpPr>
          <a:xfrm>
            <a:off x="582214" y="1019175"/>
            <a:ext cx="4946441" cy="3852261"/>
            <a:chOff x="582214" y="1019175"/>
            <a:chExt cx="4946441" cy="3852261"/>
          </a:xfrm>
        </p:grpSpPr>
        <p:pic>
          <p:nvPicPr>
            <p:cNvPr id="6" name="图片 5" descr="图6.23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214" y="1019175"/>
              <a:ext cx="4946441" cy="38522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4" name="文本框 3"/>
            <p:cNvSpPr txBox="1"/>
            <p:nvPr/>
          </p:nvSpPr>
          <p:spPr>
            <a:xfrm>
              <a:off x="631447" y="1971874"/>
              <a:ext cx="772201" cy="369332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输出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31446" y="3592594"/>
              <a:ext cx="631141" cy="36830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输入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05777" y="456883"/>
            <a:ext cx="7309485" cy="3987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TIP:CPU</a:t>
            </a:r>
            <a:r>
              <a:rPr lang="zh-CN" altLang="en-US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速度快，在按键按下的时间内，</a:t>
            </a:r>
            <a:r>
              <a:rPr lang="en-US" altLang="zh-CN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CPU</a:t>
            </a:r>
            <a:r>
              <a:rPr lang="zh-CN" altLang="en-US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可以执行多次扫描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55976" y="4918134"/>
            <a:ext cx="4983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为了防止有多键按下的情况，通常做逐行扫描：</a:t>
            </a: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也就是先置一行为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，读列。参见后面的程序。</a:t>
            </a:r>
            <a:endParaRPr lang="zh-CN" altLang="en-US" dirty="0"/>
          </a:p>
        </p:txBody>
      </p:sp>
    </p:spTree>
  </p:cSld>
  <p:clrMapOvr>
    <a:masterClrMapping/>
  </p:clrMapOvr>
  <p:transition spd="slow">
    <p:pull dir="r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1505"/>
            <a:ext cx="8229600" cy="5287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键的代码形成：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，压下后从</a:t>
            </a:r>
            <a:r>
              <a:rPr lang="en-US" sz="24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可读得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D7=0和D3=0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，其余位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，故其编码为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01110111B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77H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2行1列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，压下时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，其余位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，故其编码为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10111101B=BDH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然后查表确定压下</a:t>
            </a:r>
          </a:p>
          <a:p>
            <a:pPr marL="0"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的键</a:t>
            </a:r>
            <a:r>
              <a:rPr lang="zh-CN" altLang="en-US" sz="2400" b="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（和七段显示码</a:t>
            </a:r>
          </a:p>
          <a:p>
            <a:pPr marL="0"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400" b="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的查表做比较）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+mn-ea"/>
              </a:rPr>
              <a:t>。</a:t>
            </a:r>
            <a:endParaRPr lang="en-US" altLang="zh-CN" sz="2400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0CEDB83-4F95-47F4-ABF3-C6553D64AC17}"/>
              </a:ext>
            </a:extLst>
          </p:cNvPr>
          <p:cNvGrpSpPr/>
          <p:nvPr/>
        </p:nvGrpSpPr>
        <p:grpSpPr>
          <a:xfrm>
            <a:off x="3995936" y="2869214"/>
            <a:ext cx="4946441" cy="3852261"/>
            <a:chOff x="582214" y="1019175"/>
            <a:chExt cx="4946441" cy="3852261"/>
          </a:xfrm>
        </p:grpSpPr>
        <p:pic>
          <p:nvPicPr>
            <p:cNvPr id="7" name="图片 6" descr="图6.23.jpg">
              <a:extLst>
                <a:ext uri="{FF2B5EF4-FFF2-40B4-BE49-F238E27FC236}">
                  <a16:creationId xmlns:a16="http://schemas.microsoft.com/office/drawing/2014/main" id="{657EC826-841B-4563-8A55-6642E874F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214" y="1019175"/>
              <a:ext cx="4946441" cy="38522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7A7619B-721F-4E51-92FD-6F5B8F7E798F}"/>
                </a:ext>
              </a:extLst>
            </p:cNvPr>
            <p:cNvSpPr txBox="1"/>
            <p:nvPr/>
          </p:nvSpPr>
          <p:spPr>
            <a:xfrm>
              <a:off x="631447" y="1971874"/>
              <a:ext cx="772201" cy="369332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输出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F5D2FC0-9FA0-4144-9606-11DBF0BD1E08}"/>
                </a:ext>
              </a:extLst>
            </p:cNvPr>
            <p:cNvSpPr txBox="1"/>
            <p:nvPr/>
          </p:nvSpPr>
          <p:spPr>
            <a:xfrm>
              <a:off x="631446" y="3592594"/>
              <a:ext cx="631141" cy="36830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输入</a:t>
              </a:r>
            </a:p>
          </p:txBody>
        </p:sp>
      </p:grpSp>
    </p:spTree>
  </p:cSld>
  <p:clrMapOvr>
    <a:masterClrMapping/>
  </p:clrMapOvr>
  <p:transition spd="slow">
    <p:zoom dir="in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sz="1600" b="1" dirty="0">
                <a:solidFill>
                  <a:srgbClr val="00B0F0"/>
                </a:solidFill>
                <a:effectLst/>
                <a:ea typeface="+mn-ea"/>
              </a:rPr>
              <a:t>PORT_A	EQU	0FF9H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		PORT_B	EQU	0FFBH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  <a:effectLst/>
                <a:ea typeface="+mn-ea"/>
              </a:rPr>
              <a:t>		PORT_CTL	EQU	0FFFH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DATA	SEGMENT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b="0" dirty="0">
                <a:effectLst/>
                <a:ea typeface="+mn-ea"/>
              </a:rPr>
              <a:t>;                        0        1          2          3          4          5          6           7</a:t>
            </a:r>
            <a:endParaRPr lang="zh-CN" altLang="en-US" sz="1600" b="0" dirty="0"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TABLE	DB	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77H</a:t>
            </a:r>
            <a:r>
              <a:rPr lang="en-US" sz="160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  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7BH,    7DH,    7EH,    0B7H, 0BBH,  0BDH,  0BEH</a:t>
            </a: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                       8         9          A          B          C         D          E           F</a:t>
            </a:r>
            <a:endParaRPr lang="zh-CN" altLang="en-US" sz="1600" dirty="0"/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DB	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0D7H, 0DBH, 0DDH, 0DEH, 0E7H, 0EBH,  0EDH,  0EEH</a:t>
            </a:r>
            <a:endParaRPr 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DATA	 ENDS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STACK	SEGMENT	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DW	50 DUP(0)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TOP_STAC	LABEL	WORD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STACK	ENDS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CODE	SEGMENT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ASSUME    CS:CODE, DS:DATA, SS:STACK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START:	MOV	AX,STACK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SS,AX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LEA	SP,TOP_STACK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AX,DATA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DS,AX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49203" y="415512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9203" y="415512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sz="1600" b="0" dirty="0">
                <a:effectLst/>
                <a:ea typeface="+mn-ea"/>
              </a:rPr>
              <a:t>;</a:t>
            </a:r>
            <a:r>
              <a:rPr lang="zh-CN" altLang="en-US" sz="1600" b="0" dirty="0">
                <a:effectLst/>
                <a:ea typeface="+mn-ea"/>
              </a:rPr>
              <a:t>初始化</a:t>
            </a:r>
            <a:r>
              <a:rPr lang="en-US" altLang="zh-CN" sz="1600" b="0" dirty="0">
                <a:effectLst/>
                <a:ea typeface="+mn-ea"/>
              </a:rPr>
              <a:t>8255A-A</a:t>
            </a:r>
            <a:r>
              <a:rPr lang="zh-CN" altLang="en-US" sz="1600" b="0" dirty="0">
                <a:effectLst/>
                <a:ea typeface="+mn-ea"/>
              </a:rPr>
              <a:t>口作输出，</a:t>
            </a:r>
            <a:r>
              <a:rPr lang="en-US" altLang="zh-CN" sz="1600" b="0" dirty="0">
                <a:effectLst/>
                <a:ea typeface="+mn-ea"/>
              </a:rPr>
              <a:t>B</a:t>
            </a:r>
            <a:r>
              <a:rPr lang="zh-CN" altLang="en-US" sz="1600" dirty="0"/>
              <a:t>口作输入</a:t>
            </a:r>
            <a:endParaRPr lang="en-US" sz="1600" b="0" dirty="0"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PORT_CTL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MOV	AL,	</a:t>
            </a:r>
            <a:r>
              <a:rPr lang="en-US" sz="16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10000010B</a:t>
            </a:r>
          </a:p>
          <a:p>
            <a:pPr>
              <a:buNone/>
            </a:pPr>
            <a:r>
              <a:rPr lang="en-US" sz="1600" dirty="0">
                <a:solidFill>
                  <a:srgbClr val="C00000"/>
                </a:solidFill>
              </a:rPr>
              <a:t>		OUT	DX,	AL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en-US" sz="1600" dirty="0"/>
              <a:t>;</a:t>
            </a:r>
            <a:r>
              <a:rPr lang="zh-CN" altLang="en-US" sz="1600" dirty="0"/>
              <a:t>通过</a:t>
            </a:r>
            <a:r>
              <a:rPr lang="en-US" altLang="en-US" sz="1600" dirty="0"/>
              <a:t>PA</a:t>
            </a:r>
            <a:r>
              <a:rPr lang="zh-CN" altLang="en-US" sz="1600" dirty="0"/>
              <a:t>向所有行送</a:t>
            </a:r>
            <a:r>
              <a:rPr lang="en-US" altLang="zh-CN" sz="1600" dirty="0"/>
              <a:t>0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PORT_A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	</a:t>
            </a:r>
            <a:r>
              <a:rPr lang="en-US" sz="16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0H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OUT	DX,	AL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读列，查看是否所有列均松开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PORT_B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WAIT_OPEN: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JNE	WAIT_OPEN          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;</a:t>
            </a:r>
            <a:r>
              <a:rPr lang="zh-CN" sz="16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PB</a:t>
            </a:r>
            <a:r>
              <a:rPr lang="zh-CN" sz="1600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中有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0，</a:t>
            </a:r>
            <a:r>
              <a:rPr lang="zh-CN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表示还有键被按着，等所有键都松开</a:t>
            </a:r>
            <a:endParaRPr lang="en-US" altLang="zh-CN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各键均已松开，再检查是否有键按下</a:t>
            </a:r>
            <a:endParaRPr lang="zh-CN" altLang="en-US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WAIT_PRES: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>
                <a:solidFill>
                  <a:srgbClr val="C00000"/>
                </a:solidFill>
              </a:rPr>
              <a:t> 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WAIT_PRES            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;</a:t>
            </a:r>
            <a:r>
              <a:rPr lang="zh-CN" sz="16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PB</a:t>
            </a:r>
            <a:r>
              <a:rPr lang="zh-CN" sz="1600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都为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1，</a:t>
            </a:r>
            <a:r>
              <a:rPr lang="zh-CN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表示没有键按下，继续等待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685665" y="1044575"/>
            <a:ext cx="4229735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；控制字：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方式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输出；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方式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39185" y="3510280"/>
            <a:ext cx="4775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；检查PB</a:t>
            </a:r>
            <a:r>
              <a:rPr lang="zh-CN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列线，如果有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，表示有键按下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24463" y="178911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4463" y="178911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有键按下，延时</a:t>
            </a:r>
            <a:r>
              <a:rPr lang="en-US" altLang="zh-CN" sz="1600" dirty="0"/>
              <a:t>20ms</a:t>
            </a:r>
            <a:r>
              <a:rPr lang="zh-CN" altLang="en-US" sz="1600" dirty="0"/>
              <a:t>，消除抖动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CX,	16EAH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DELAY:	LOOP	DELAY           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;  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每次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CX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减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，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CX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为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时（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20ms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）退出循环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再查列，是否有键按下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WAIT_PRES	</a:t>
            </a:r>
            <a:r>
              <a:rPr lang="en-US" altLang="zh-CN" sz="1600" dirty="0"/>
              <a:t>;</a:t>
            </a:r>
            <a:r>
              <a:rPr lang="zh-CN" altLang="en-US" sz="1600" dirty="0"/>
              <a:t>已松开，等待键按下</a:t>
            </a:r>
          </a:p>
          <a:p>
            <a:pPr>
              <a:buNone/>
            </a:pPr>
            <a:r>
              <a:rPr lang="en-US" altLang="zh-CN" sz="1600" dirty="0"/>
              <a:t>					</a:t>
            </a:r>
            <a:r>
              <a:rPr lang="zh-CN" altLang="en-US" sz="1600" dirty="0"/>
              <a:t>（</a:t>
            </a:r>
            <a:r>
              <a:rPr lang="zh-CN" altLang="en-US" sz="1600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这种情况是干扰，不是可靠的按键动作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</a:rPr>
              <a:t>	</a:t>
            </a:r>
            <a:r>
              <a:rPr lang="en-US" altLang="zh-CN" sz="1600" dirty="0"/>
              <a:t>;</a:t>
            </a:r>
            <a:r>
              <a:rPr lang="zh-CN" altLang="en-US" sz="1600" dirty="0"/>
              <a:t>有键按下，确定是哪个键按下，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逐行扫描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AL,	0FEH   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 ;第1行（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PA</a:t>
            </a:r>
            <a:r>
              <a:rPr lang="en-US" altLang="zh-CN" sz="1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）置0，其他行置1，读列值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CL,	AL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NEXT_ROW: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PORT_A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OUT	DX,	AL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PORT_B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JNE	ENCODE     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;如果不为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，表示已读到按键值！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多键按下时，读的是哪个？</a:t>
            </a:r>
            <a:endParaRPr lang="zh-CN" altLang="en-US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ROL	CL,	1	</a:t>
            </a:r>
            <a:r>
              <a:rPr lang="en-US" altLang="zh-CN" sz="1600" dirty="0"/>
              <a:t>;</a:t>
            </a:r>
            <a:r>
              <a:rPr lang="zh-CN" altLang="en-US" sz="1600" b="1" dirty="0">
                <a:solidFill>
                  <a:srgbClr val="00B050"/>
                </a:solidFill>
              </a:rPr>
              <a:t>使下行输出</a:t>
            </a:r>
            <a:r>
              <a:rPr lang="en-US" altLang="zh-CN" sz="1600" b="1" dirty="0">
                <a:solidFill>
                  <a:srgbClr val="00B050"/>
                </a:solidFill>
              </a:rPr>
              <a:t>0 </a:t>
            </a:r>
            <a:r>
              <a:rPr lang="zh-CN" altLang="en-US" sz="1600" b="1" dirty="0">
                <a:solidFill>
                  <a:srgbClr val="00B050"/>
                </a:solidFill>
              </a:rPr>
              <a:t>，左移</a:t>
            </a:r>
            <a:r>
              <a:rPr lang="en-US" altLang="zh-CN" sz="1600" b="1" dirty="0">
                <a:solidFill>
                  <a:srgbClr val="00B050"/>
                </a:solidFill>
              </a:rPr>
              <a:t>1</a:t>
            </a:r>
            <a:r>
              <a:rPr lang="zh-CN" altLang="en-US" sz="1600" b="1" dirty="0">
                <a:solidFill>
                  <a:srgbClr val="00B050"/>
                </a:solidFill>
              </a:rPr>
              <a:t>位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AL,	CL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JMP	NEXT_ROW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25988" y="3387408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3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5988" y="3387408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b="0" dirty="0">
                <a:effectLst/>
                <a:ea typeface="+mn-ea"/>
              </a:rPr>
              <a:t>;</a:t>
            </a:r>
            <a:r>
              <a:rPr lang="zh-CN" altLang="en-US" sz="1600" b="0" dirty="0">
                <a:effectLst/>
                <a:ea typeface="+mn-ea"/>
              </a:rPr>
              <a:t>对按键的行列值编码</a:t>
            </a:r>
            <a:endParaRPr lang="en-US" altLang="zh-CN" sz="1600" b="0" dirty="0"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ENCODE:	MOV	BX,	000FH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    </a:t>
            </a:r>
            <a:r>
              <a:rPr lang="zh-CN" alt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；端口</a:t>
            </a:r>
            <a:r>
              <a:rPr lang="en-US" altLang="zh-CN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B</a:t>
            </a:r>
            <a:r>
              <a:rPr lang="zh-CN" alt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的值，包括行和列的信息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NEXT_TRY: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   </a:t>
            </a:r>
            <a:r>
              <a:rPr lang="en-US" altLang="zh-CN" sz="1600" b="0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TABLE[BX]   </a:t>
            </a:r>
            <a:r>
              <a:rPr lang="zh-CN" altLang="en-US" sz="160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；从表格最高地址开始搜索</a:t>
            </a:r>
            <a:endParaRPr lang="zh-CN" altLang="en-US" sz="1600" b="0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DONE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DEC	BX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JNS	NEXT_TRY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	1	</a:t>
            </a:r>
            <a:r>
              <a:rPr lang="en-US" altLang="zh-CN" sz="1600" dirty="0"/>
              <a:t>;AH=1</a:t>
            </a:r>
            <a:r>
              <a:rPr lang="zh-CN" altLang="en-US" sz="1600" dirty="0"/>
              <a:t>，表示出错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JMP	EXIT		</a:t>
            </a:r>
            <a:r>
              <a:rPr lang="en-US" altLang="zh-CN" sz="1600" dirty="0"/>
              <a:t>;</a:t>
            </a:r>
            <a:r>
              <a:rPr lang="zh-CN" altLang="en-US" sz="1600" dirty="0"/>
              <a:t>退出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DONE:	MOV	AL,	BL	</a:t>
            </a:r>
            <a:r>
              <a:rPr lang="en-US" altLang="zh-CN" sz="1600" dirty="0"/>
              <a:t>;BL</a:t>
            </a:r>
            <a:r>
              <a:rPr lang="zh-CN" altLang="en-US" sz="1600" dirty="0"/>
              <a:t>为按键对应的编码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AH,	0	</a:t>
            </a:r>
            <a:r>
              <a:rPr lang="en-US" altLang="zh-CN" sz="1600" dirty="0"/>
              <a:t>;AH=0</a:t>
            </a:r>
            <a:r>
              <a:rPr lang="zh-CN" altLang="en-US" sz="1600" dirty="0"/>
              <a:t>，表示读到有效键值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EXIT:	HLT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CODE	ENDS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END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10:08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2398" y="488791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398" y="488791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050030" y="5021580"/>
          <a:ext cx="4537710" cy="120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r:id="rId5" imgW="4533900" imgH="1200150" progId="Paint.Picture">
                  <p:embed/>
                </p:oleObj>
              </mc:Choice>
              <mc:Fallback>
                <p:oleObj r:id="rId5" imgW="4533900" imgH="1200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0030" y="5021580"/>
                        <a:ext cx="4537710" cy="1201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占位符 27649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8458200" cy="5943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altLang="zh-CN" sz="2400" dirty="0">
              <a:effectLst/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buNone/>
            </a:pPr>
            <a:r>
              <a:rPr lang="en-US" altLang="zh-CN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6.4  8255A</a:t>
            </a:r>
            <a:r>
              <a:rPr lang="zh-CN" altLang="en-US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的方式</a:t>
            </a:r>
            <a:r>
              <a:rPr lang="en-US" altLang="zh-CN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及其应用</a:t>
            </a:r>
          </a:p>
          <a:p>
            <a:pPr>
              <a:buNone/>
            </a:pPr>
            <a:endParaRPr lang="en-US" altLang="zh-CN" b="1" dirty="0">
              <a:solidFill>
                <a:srgbClr val="C00000"/>
              </a:solidFill>
              <a:effectLst/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一、特点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方式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是一种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选通输入</a:t>
            </a:r>
            <a:r>
              <a:rPr lang="en-US" altLang="zh-CN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输出方式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或叫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应答方式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，因此，需设置专用的联络信号线或应答信号线，以便对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进行联络。这种方式通常用于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查询（条件）传送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或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中断传送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。数据的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输入输出都有锁存功能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PA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PB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为数据口，而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口的大部分引脚分配作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专用（固定）的联络信号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口引脚，用户不能再指定作其他作用。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③ 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各联络信号线之间有固定的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时序关系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，传送数据时，要严格按照时序进行。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占位符 28673"/>
          <p:cNvSpPr>
            <a:spLocks noGrp="1"/>
          </p:cNvSpPr>
          <p:nvPr>
            <p:ph type="body" idx="1"/>
          </p:nvPr>
        </p:nvSpPr>
        <p:spPr>
          <a:xfrm>
            <a:off x="609600" y="381000"/>
            <a:ext cx="8305800" cy="6477000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④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输入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输出操作过程中，产生固定的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状态字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，这些状态信息可作为查询或中断请求之用。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状态字从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口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⑤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单向传送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。一次初始化只能设置在一个方向上传送，不能同时作两个方向的传送。</a:t>
            </a:r>
            <a:endParaRPr lang="zh-CN" altLang="en-US" sz="2400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marL="609600" indent="-609600">
              <a:lnSpc>
                <a:spcPct val="120000"/>
              </a:lnSpc>
              <a:buNone/>
            </a:pPr>
            <a:endParaRPr lang="en-US" altLang="zh-CN" sz="2800" b="1" dirty="0">
              <a:solidFill>
                <a:srgbClr val="C00000"/>
              </a:solidFill>
              <a:effectLst/>
              <a:latin typeface="宋体" panose="02010600030101010101" pitchFamily="2" charset="-122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二、方式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下联络信号线的定义及其时序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）联络信号的定义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    因为输入是从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设备向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送数据进来，所以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设备应先把数据准备好，并送到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，然后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再从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读取数据。这个传递过程中需要使用一些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联络信号线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。所以当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口为输入时，各指定了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口的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根线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作为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与外设及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之间应答信号，如图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9.8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所示。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</a:p>
        </p:txBody>
      </p:sp>
      <p:sp>
        <p:nvSpPr>
          <p:cNvPr id="28675" name="直接连接符 28674"/>
          <p:cNvSpPr/>
          <p:nvPr/>
        </p:nvSpPr>
        <p:spPr>
          <a:xfrm>
            <a:off x="5724525" y="908050"/>
            <a:ext cx="86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29697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29699" name="矩形 29698"/>
          <p:cNvSpPr/>
          <p:nvPr/>
        </p:nvSpPr>
        <p:spPr>
          <a:xfrm>
            <a:off x="228600" y="404813"/>
            <a:ext cx="8304213" cy="1479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Strobe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：外设给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“输入选通”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当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接收到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信号，则将端口数据送到输入缓冲器中（等待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读取）</a:t>
            </a:r>
          </a:p>
        </p:txBody>
      </p:sp>
      <p:sp>
        <p:nvSpPr>
          <p:cNvPr id="29701" name="矩形 29700"/>
          <p:cNvSpPr/>
          <p:nvPr/>
        </p:nvSpPr>
        <p:spPr>
          <a:xfrm>
            <a:off x="685800" y="2895600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2" name="矩形 29701"/>
          <p:cNvSpPr/>
          <p:nvPr/>
        </p:nvSpPr>
        <p:spPr>
          <a:xfrm>
            <a:off x="1447800" y="4191000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29703" name="矩形 29702"/>
          <p:cNvSpPr/>
          <p:nvPr/>
        </p:nvSpPr>
        <p:spPr>
          <a:xfrm>
            <a:off x="2209800" y="34290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04" name="矩形 29703"/>
          <p:cNvSpPr/>
          <p:nvPr/>
        </p:nvSpPr>
        <p:spPr>
          <a:xfrm>
            <a:off x="2209800" y="37338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05" name="矩形 29704"/>
          <p:cNvSpPr/>
          <p:nvPr/>
        </p:nvSpPr>
        <p:spPr>
          <a:xfrm>
            <a:off x="2209800" y="46482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06" name="直接连接符 29705"/>
          <p:cNvSpPr/>
          <p:nvPr/>
        </p:nvSpPr>
        <p:spPr>
          <a:xfrm>
            <a:off x="1600200" y="4495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7" name="直接连接符 29706"/>
          <p:cNvSpPr/>
          <p:nvPr/>
        </p:nvSpPr>
        <p:spPr>
          <a:xfrm flipH="1">
            <a:off x="1600200" y="480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8" name="直接连接符 29707"/>
          <p:cNvSpPr/>
          <p:nvPr/>
        </p:nvSpPr>
        <p:spPr>
          <a:xfrm flipH="1">
            <a:off x="1752600" y="3886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9" name="直接连接符 29708"/>
          <p:cNvSpPr/>
          <p:nvPr/>
        </p:nvSpPr>
        <p:spPr>
          <a:xfrm>
            <a:off x="1752600" y="3886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0" name="矩形 29709"/>
          <p:cNvSpPr/>
          <p:nvPr/>
        </p:nvSpPr>
        <p:spPr>
          <a:xfrm>
            <a:off x="1066800" y="3124200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11" name="直接连接符 29710"/>
          <p:cNvSpPr/>
          <p:nvPr/>
        </p:nvSpPr>
        <p:spPr>
          <a:xfrm>
            <a:off x="1524000" y="3733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2" name="矩形 29711"/>
          <p:cNvSpPr/>
          <p:nvPr/>
        </p:nvSpPr>
        <p:spPr>
          <a:xfrm>
            <a:off x="2057400" y="2971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29713" name="矩形 29712"/>
          <p:cNvSpPr/>
          <p:nvPr/>
        </p:nvSpPr>
        <p:spPr>
          <a:xfrm>
            <a:off x="2133600" y="51816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29714" name="直接连接符 29713"/>
          <p:cNvSpPr/>
          <p:nvPr/>
        </p:nvSpPr>
        <p:spPr>
          <a:xfrm>
            <a:off x="29718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5" name="直接连接符 29714"/>
          <p:cNvSpPr/>
          <p:nvPr/>
        </p:nvSpPr>
        <p:spPr>
          <a:xfrm>
            <a:off x="2971800" y="3200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直接连接符 29715"/>
          <p:cNvSpPr/>
          <p:nvPr/>
        </p:nvSpPr>
        <p:spPr>
          <a:xfrm flipV="1">
            <a:off x="2971800" y="2971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直接连接符 29716"/>
          <p:cNvSpPr/>
          <p:nvPr/>
        </p:nvSpPr>
        <p:spPr>
          <a:xfrm>
            <a:off x="2971800" y="32004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直接连接符 29717"/>
          <p:cNvSpPr/>
          <p:nvPr/>
        </p:nvSpPr>
        <p:spPr>
          <a:xfrm flipH="1" flipV="1">
            <a:off x="2819400" y="31242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9" name="直接连接符 29718"/>
          <p:cNvSpPr/>
          <p:nvPr/>
        </p:nvSpPr>
        <p:spPr>
          <a:xfrm flipV="1">
            <a:off x="2819400" y="29718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直接连接符 29719"/>
          <p:cNvSpPr/>
          <p:nvPr/>
        </p:nvSpPr>
        <p:spPr>
          <a:xfrm flipH="1">
            <a:off x="2819400" y="35814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1" name="直接连接符 29720"/>
          <p:cNvSpPr/>
          <p:nvPr/>
        </p:nvSpPr>
        <p:spPr>
          <a:xfrm flipH="1">
            <a:off x="2819400" y="3886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22" name="直接连接符 29721"/>
          <p:cNvSpPr/>
          <p:nvPr/>
        </p:nvSpPr>
        <p:spPr>
          <a:xfrm flipH="1">
            <a:off x="2819400" y="48006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23" name="直接连接符 29722"/>
          <p:cNvSpPr/>
          <p:nvPr/>
        </p:nvSpPr>
        <p:spPr>
          <a:xfrm flipH="1">
            <a:off x="2819400" y="5410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9724" name="直接连接符 29723"/>
          <p:cNvSpPr/>
          <p:nvPr/>
        </p:nvSpPr>
        <p:spPr>
          <a:xfrm flipH="1">
            <a:off x="3200400" y="5334000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5" name="椭圆 29724"/>
          <p:cNvSpPr/>
          <p:nvPr/>
        </p:nvSpPr>
        <p:spPr>
          <a:xfrm>
            <a:off x="533400" y="53340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6" name="直接连接符 29725"/>
          <p:cNvSpPr/>
          <p:nvPr/>
        </p:nvSpPr>
        <p:spPr>
          <a:xfrm>
            <a:off x="152400" y="54102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9727" name="组合 29726"/>
          <p:cNvGrpSpPr/>
          <p:nvPr/>
        </p:nvGrpSpPr>
        <p:grpSpPr>
          <a:xfrm>
            <a:off x="0" y="5029200"/>
            <a:ext cx="685800" cy="381000"/>
            <a:chOff x="0" y="0"/>
            <a:chExt cx="432" cy="240"/>
          </a:xfrm>
        </p:grpSpPr>
        <p:sp>
          <p:nvSpPr>
            <p:cNvPr id="29728" name="矩形 29727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29" name="直接连接符 29728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30" name="矩形 29729"/>
          <p:cNvSpPr/>
          <p:nvPr/>
        </p:nvSpPr>
        <p:spPr>
          <a:xfrm>
            <a:off x="3657600" y="51816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31" name="矩形 29730"/>
          <p:cNvSpPr/>
          <p:nvPr/>
        </p:nvSpPr>
        <p:spPr>
          <a:xfrm>
            <a:off x="2971800" y="4953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32" name="矩形 29731"/>
          <p:cNvSpPr/>
          <p:nvPr/>
        </p:nvSpPr>
        <p:spPr>
          <a:xfrm>
            <a:off x="37338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3" name="矩形 29732"/>
          <p:cNvSpPr/>
          <p:nvPr/>
        </p:nvSpPr>
        <p:spPr>
          <a:xfrm>
            <a:off x="3733800" y="37338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4" name="矩形 29733"/>
          <p:cNvSpPr/>
          <p:nvPr/>
        </p:nvSpPr>
        <p:spPr>
          <a:xfrm>
            <a:off x="3733800" y="3429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5" name="直接连接符 29734"/>
          <p:cNvSpPr/>
          <p:nvPr/>
        </p:nvSpPr>
        <p:spPr>
          <a:xfrm>
            <a:off x="3810000" y="3429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6" name="矩形 29735"/>
          <p:cNvSpPr/>
          <p:nvPr/>
        </p:nvSpPr>
        <p:spPr>
          <a:xfrm>
            <a:off x="3657600" y="2971800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8   （外设）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9737" name="矩形 29736"/>
          <p:cNvSpPr/>
          <p:nvPr/>
        </p:nvSpPr>
        <p:spPr>
          <a:xfrm>
            <a:off x="762000" y="22860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9739" name="矩形 29738"/>
          <p:cNvSpPr/>
          <p:nvPr/>
        </p:nvSpPr>
        <p:spPr>
          <a:xfrm>
            <a:off x="5410200" y="2895600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0" name="矩形 29739"/>
          <p:cNvSpPr/>
          <p:nvPr/>
        </p:nvSpPr>
        <p:spPr>
          <a:xfrm>
            <a:off x="6172200" y="4191000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29741" name="矩形 29740"/>
          <p:cNvSpPr/>
          <p:nvPr/>
        </p:nvSpPr>
        <p:spPr>
          <a:xfrm>
            <a:off x="6934200" y="34290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42" name="矩形 29741"/>
          <p:cNvSpPr/>
          <p:nvPr/>
        </p:nvSpPr>
        <p:spPr>
          <a:xfrm>
            <a:off x="6934200" y="37338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43" name="矩形 29742"/>
          <p:cNvSpPr/>
          <p:nvPr/>
        </p:nvSpPr>
        <p:spPr>
          <a:xfrm>
            <a:off x="6934200" y="46482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44" name="直接连接符 29743"/>
          <p:cNvSpPr/>
          <p:nvPr/>
        </p:nvSpPr>
        <p:spPr>
          <a:xfrm>
            <a:off x="6324600" y="4495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5" name="直接连接符 29744"/>
          <p:cNvSpPr/>
          <p:nvPr/>
        </p:nvSpPr>
        <p:spPr>
          <a:xfrm flipH="1">
            <a:off x="6324600" y="480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6" name="直接连接符 29745"/>
          <p:cNvSpPr/>
          <p:nvPr/>
        </p:nvSpPr>
        <p:spPr>
          <a:xfrm flipH="1">
            <a:off x="6477000" y="3886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7" name="直接连接符 29746"/>
          <p:cNvSpPr/>
          <p:nvPr/>
        </p:nvSpPr>
        <p:spPr>
          <a:xfrm>
            <a:off x="6477000" y="3886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48" name="矩形 29747"/>
          <p:cNvSpPr/>
          <p:nvPr/>
        </p:nvSpPr>
        <p:spPr>
          <a:xfrm>
            <a:off x="5791200" y="3124200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49" name="直接连接符 29748"/>
          <p:cNvSpPr/>
          <p:nvPr/>
        </p:nvSpPr>
        <p:spPr>
          <a:xfrm>
            <a:off x="6248400" y="3733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50" name="矩形 29749"/>
          <p:cNvSpPr/>
          <p:nvPr/>
        </p:nvSpPr>
        <p:spPr>
          <a:xfrm>
            <a:off x="6781800" y="2971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29751" name="直接连接符 29750"/>
          <p:cNvSpPr/>
          <p:nvPr/>
        </p:nvSpPr>
        <p:spPr>
          <a:xfrm>
            <a:off x="76962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2" name="直接连接符 29751"/>
          <p:cNvSpPr/>
          <p:nvPr/>
        </p:nvSpPr>
        <p:spPr>
          <a:xfrm>
            <a:off x="7696200" y="3200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3" name="直接连接符 29752"/>
          <p:cNvSpPr/>
          <p:nvPr/>
        </p:nvSpPr>
        <p:spPr>
          <a:xfrm flipV="1">
            <a:off x="7696200" y="2971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4" name="直接连接符 29753"/>
          <p:cNvSpPr/>
          <p:nvPr/>
        </p:nvSpPr>
        <p:spPr>
          <a:xfrm>
            <a:off x="7696200" y="32004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5" name="直接连接符 29754"/>
          <p:cNvSpPr/>
          <p:nvPr/>
        </p:nvSpPr>
        <p:spPr>
          <a:xfrm flipH="1" flipV="1">
            <a:off x="7543800" y="31242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6" name="直接连接符 29755"/>
          <p:cNvSpPr/>
          <p:nvPr/>
        </p:nvSpPr>
        <p:spPr>
          <a:xfrm flipV="1">
            <a:off x="7543800" y="29718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7" name="直接连接符 29756"/>
          <p:cNvSpPr/>
          <p:nvPr/>
        </p:nvSpPr>
        <p:spPr>
          <a:xfrm flipH="1">
            <a:off x="7543800" y="35814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58" name="直接连接符 29757"/>
          <p:cNvSpPr/>
          <p:nvPr/>
        </p:nvSpPr>
        <p:spPr>
          <a:xfrm flipH="1">
            <a:off x="7543800" y="3886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59" name="直接连接符 29758"/>
          <p:cNvSpPr/>
          <p:nvPr/>
        </p:nvSpPr>
        <p:spPr>
          <a:xfrm flipH="1">
            <a:off x="7543800" y="48006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60" name="椭圆 29759"/>
          <p:cNvSpPr/>
          <p:nvPr/>
        </p:nvSpPr>
        <p:spPr>
          <a:xfrm>
            <a:off x="5257800" y="53340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1" name="直接连接符 29760"/>
          <p:cNvSpPr/>
          <p:nvPr/>
        </p:nvSpPr>
        <p:spPr>
          <a:xfrm>
            <a:off x="4724400" y="54102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9762" name="组合 29761"/>
          <p:cNvGrpSpPr/>
          <p:nvPr/>
        </p:nvGrpSpPr>
        <p:grpSpPr>
          <a:xfrm>
            <a:off x="4572000" y="4953000"/>
            <a:ext cx="685800" cy="381000"/>
            <a:chOff x="0" y="0"/>
            <a:chExt cx="432" cy="240"/>
          </a:xfrm>
        </p:grpSpPr>
        <p:sp>
          <p:nvSpPr>
            <p:cNvPr id="29763" name="矩形 29762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64" name="直接连接符 29763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65" name="矩形 29764"/>
          <p:cNvSpPr/>
          <p:nvPr/>
        </p:nvSpPr>
        <p:spPr>
          <a:xfrm>
            <a:off x="7696200" y="4953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66" name="矩形 29765"/>
          <p:cNvSpPr/>
          <p:nvPr/>
        </p:nvSpPr>
        <p:spPr>
          <a:xfrm>
            <a:off x="84582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7" name="矩形 29766"/>
          <p:cNvSpPr/>
          <p:nvPr/>
        </p:nvSpPr>
        <p:spPr>
          <a:xfrm>
            <a:off x="8458200" y="37338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8" name="矩形 29767"/>
          <p:cNvSpPr/>
          <p:nvPr/>
        </p:nvSpPr>
        <p:spPr>
          <a:xfrm>
            <a:off x="8458200" y="3429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9" name="直接连接符 29768"/>
          <p:cNvSpPr/>
          <p:nvPr/>
        </p:nvSpPr>
        <p:spPr>
          <a:xfrm>
            <a:off x="8534400" y="3429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0" name="矩形 29769"/>
          <p:cNvSpPr/>
          <p:nvPr/>
        </p:nvSpPr>
        <p:spPr>
          <a:xfrm>
            <a:off x="8382000" y="2971800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8     （外设）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9771" name="矩形 29770"/>
          <p:cNvSpPr/>
          <p:nvPr/>
        </p:nvSpPr>
        <p:spPr>
          <a:xfrm>
            <a:off x="5410200" y="23622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9772" name="直接连接符 29771"/>
          <p:cNvSpPr/>
          <p:nvPr/>
        </p:nvSpPr>
        <p:spPr>
          <a:xfrm>
            <a:off x="322263" y="503555"/>
            <a:ext cx="504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30721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0723" name="矩形 30722"/>
          <p:cNvSpPr/>
          <p:nvPr/>
        </p:nvSpPr>
        <p:spPr>
          <a:xfrm>
            <a:off x="230187" y="272609"/>
            <a:ext cx="8304213" cy="245541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IBF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外设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的回答信号“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输入缓冲器满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。此信号有效时，标识前一数据还未被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读走，外设不能向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送数据。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Pct val="8500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该信号由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信号置位，而在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RD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信号上升沿复位，标识数据已取走，可以输送下一数据。</a:t>
            </a:r>
          </a:p>
        </p:txBody>
      </p:sp>
      <p:sp>
        <p:nvSpPr>
          <p:cNvPr id="30725" name="矩形 30724"/>
          <p:cNvSpPr/>
          <p:nvPr/>
        </p:nvSpPr>
        <p:spPr>
          <a:xfrm>
            <a:off x="685800" y="320484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6" name="矩形 30725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0727" name="矩形 30726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28" name="矩形 30727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0729" name="矩形 30728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730" name="直接连接符 30729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直接连接符 30730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2" name="直接连接符 30731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3" name="直接连接符 30732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4" name="矩形 30733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35" name="直接连接符 30734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6" name="矩形 30735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0737" name="矩形 30736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30738" name="直接连接符 30737"/>
          <p:cNvSpPr/>
          <p:nvPr/>
        </p:nvSpPr>
        <p:spPr>
          <a:xfrm>
            <a:off x="29718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9" name="直接连接符 30738"/>
          <p:cNvSpPr/>
          <p:nvPr/>
        </p:nvSpPr>
        <p:spPr>
          <a:xfrm>
            <a:off x="29718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0" name="直接连接符 30739"/>
          <p:cNvSpPr/>
          <p:nvPr/>
        </p:nvSpPr>
        <p:spPr>
          <a:xfrm flipV="1">
            <a:off x="29718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1" name="直接连接符 30740"/>
          <p:cNvSpPr/>
          <p:nvPr/>
        </p:nvSpPr>
        <p:spPr>
          <a:xfrm>
            <a:off x="29718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2" name="直接连接符 30741"/>
          <p:cNvSpPr/>
          <p:nvPr/>
        </p:nvSpPr>
        <p:spPr>
          <a:xfrm flipH="1" flipV="1">
            <a:off x="28194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3" name="直接连接符 30742"/>
          <p:cNvSpPr/>
          <p:nvPr/>
        </p:nvSpPr>
        <p:spPr>
          <a:xfrm flipV="1">
            <a:off x="28194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4" name="直接连接符 30743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5" name="直接连接符 30744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46" name="直接连接符 30745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47" name="直接连接符 30746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748" name="直接连接符 30747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9" name="椭圆 30748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0" name="直接连接符 30749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51" name="组合 30750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0752" name="矩形 30751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3" name="直接连接符 30752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54" name="矩形 30753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55" name="矩形 30754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56" name="矩形 30755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7" name="矩形 30756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8" name="矩形 30757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9" name="直接连接符 30758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60" name="矩形 30759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61" name="矩形 30760"/>
          <p:cNvSpPr/>
          <p:nvPr/>
        </p:nvSpPr>
        <p:spPr>
          <a:xfrm>
            <a:off x="762000" y="270700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方式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输入（端口</a:t>
            </a:r>
            <a:r>
              <a:rPr lang="en-US" altLang="zh-CN" sz="2000" dirty="0"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0763" name="矩形 30762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64" name="矩形 30763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0765" name="矩形 30764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66" name="矩形 30765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67" name="矩形 30766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68" name="直接连接符 30767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69" name="直接连接符 30768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0" name="直接连接符 30769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1" name="直接连接符 30770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72" name="矩形 30771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73" name="直接连接符 30772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74" name="矩形 30773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0775" name="直接连接符 30774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6" name="直接连接符 30775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7" name="直接连接符 30776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8" name="直接连接符 30777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9" name="直接连接符 30778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0" name="直接连接符 30779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1" name="直接连接符 30780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82" name="直接连接符 30781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83" name="直接连接符 30782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84" name="椭圆 30783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5" name="直接连接符 30784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86" name="组合 30785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0787" name="矩形 30786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88" name="直接连接符 30787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89" name="矩形 30788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90" name="矩形 30789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1" name="矩形 30790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2" name="矩形 30791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3" name="直接连接符 30792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94" name="矩形 30793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95" name="矩形 30794"/>
          <p:cNvSpPr/>
          <p:nvPr/>
        </p:nvSpPr>
        <p:spPr>
          <a:xfrm>
            <a:off x="5410200" y="270700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方式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输入（端口</a:t>
            </a:r>
            <a:r>
              <a:rPr lang="en-US" altLang="zh-CN" sz="2000" dirty="0"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31745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1747" name="矩形 31746"/>
          <p:cNvSpPr/>
          <p:nvPr/>
        </p:nvSpPr>
        <p:spPr>
          <a:xfrm>
            <a:off x="228600" y="404813"/>
            <a:ext cx="8304213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的中断请求信号。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信号产生的条件：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都为高电平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			代表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有数据待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endParaRPr lang="zh-CN" altLang="en-US" sz="2400" dirty="0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信号复位：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RD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信号下降沿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	代表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数据已经被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中断得到响应</a:t>
            </a:r>
          </a:p>
        </p:txBody>
      </p:sp>
      <p:sp>
        <p:nvSpPr>
          <p:cNvPr id="31749" name="矩形 31748"/>
          <p:cNvSpPr/>
          <p:nvPr/>
        </p:nvSpPr>
        <p:spPr>
          <a:xfrm>
            <a:off x="6858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50" name="矩形 31749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1751" name="矩形 31750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52" name="矩形 31751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753" name="矩形 31752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54" name="直接连接符 31753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5" name="直接连接符 31754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6" name="直接连接符 31755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7" name="直接连接符 31756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8" name="矩形 31757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59" name="直接连接符 31758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0" name="矩形 31759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1761" name="矩形 31760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31762" name="直接连接符 31761"/>
          <p:cNvSpPr/>
          <p:nvPr/>
        </p:nvSpPr>
        <p:spPr>
          <a:xfrm>
            <a:off x="29718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3" name="直接连接符 31762"/>
          <p:cNvSpPr/>
          <p:nvPr/>
        </p:nvSpPr>
        <p:spPr>
          <a:xfrm>
            <a:off x="29718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4" name="直接连接符 31763"/>
          <p:cNvSpPr/>
          <p:nvPr/>
        </p:nvSpPr>
        <p:spPr>
          <a:xfrm flipV="1">
            <a:off x="29718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5" name="直接连接符 31764"/>
          <p:cNvSpPr/>
          <p:nvPr/>
        </p:nvSpPr>
        <p:spPr>
          <a:xfrm>
            <a:off x="29718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6" name="直接连接符 31765"/>
          <p:cNvSpPr/>
          <p:nvPr/>
        </p:nvSpPr>
        <p:spPr>
          <a:xfrm flipH="1" flipV="1">
            <a:off x="28194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7" name="直接连接符 31766"/>
          <p:cNvSpPr/>
          <p:nvPr/>
        </p:nvSpPr>
        <p:spPr>
          <a:xfrm flipV="1">
            <a:off x="28194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8" name="直接连接符 31767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9" name="直接连接符 31768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770" name="直接连接符 31769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771" name="直接连接符 31770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1772" name="直接连接符 31771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73" name="椭圆 31772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74" name="直接连接符 31773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1775" name="组合 31774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1776" name="矩形 31775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1777" name="直接连接符 31776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778" name="矩形 31777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79" name="矩形 31778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80" name="矩形 31779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1" name="矩形 31780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2" name="矩形 31781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3" name="直接连接符 31782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84" name="矩形 31783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85" name="矩形 31784"/>
          <p:cNvSpPr/>
          <p:nvPr/>
        </p:nvSpPr>
        <p:spPr>
          <a:xfrm>
            <a:off x="762000" y="25749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1787" name="矩形 31786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88" name="矩形 31787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1789" name="矩形 31788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90" name="矩形 31789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91" name="矩形 31790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92" name="直接连接符 31791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3" name="直接连接符 31792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4" name="直接连接符 31793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5" name="直接连接符 31794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6" name="矩形 31795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797" name="直接连接符 31796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8" name="矩形 31797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1799" name="直接连接符 31798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0" name="直接连接符 31799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1" name="直接连接符 31800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2" name="直接连接符 31801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3" name="直接连接符 31802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4" name="直接连接符 31803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5" name="直接连接符 31804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806" name="直接连接符 31805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807" name="直接连接符 31806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808" name="椭圆 31807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09" name="直接连接符 31808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1810" name="组合 31809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1811" name="矩形 31810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1812" name="直接连接符 31811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813" name="矩形 31812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814" name="矩形 31813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5" name="矩形 31814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6" name="矩形 31815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7" name="直接连接符 31816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18" name="矩形 31817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819" name="矩形 31818"/>
          <p:cNvSpPr/>
          <p:nvPr/>
        </p:nvSpPr>
        <p:spPr>
          <a:xfrm>
            <a:off x="5410200" y="26511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32769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2771" name="矩形 32770"/>
          <p:cNvSpPr/>
          <p:nvPr/>
        </p:nvSpPr>
        <p:spPr>
          <a:xfrm>
            <a:off x="228600" y="404813"/>
            <a:ext cx="8304213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的中断请求信号。</a:t>
            </a:r>
          </a:p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没有外部引脚，用按位置位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复位命令来设置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INTE A      PC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INTE B</a:t>
            </a:r>
          </a:p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注意：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这种情况下，用按位置位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复位命令改变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时，和外部引脚状态没有关联，仅和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相关！！</a:t>
            </a:r>
          </a:p>
        </p:txBody>
      </p:sp>
      <p:sp>
        <p:nvSpPr>
          <p:cNvPr id="32772" name="矩形 32771"/>
          <p:cNvSpPr/>
          <p:nvPr/>
        </p:nvSpPr>
        <p:spPr>
          <a:xfrm>
            <a:off x="6858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3" name="矩形 32772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2774" name="矩形 32773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75" name="矩形 32774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776" name="矩形 32775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77" name="直接连接符 32776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8" name="直接连接符 32777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9" name="直接连接符 32778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0" name="直接连接符 32779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1" name="矩形 32780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82" name="直接连接符 32781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3" name="矩形 32782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2784" name="矩形 32783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grpSp>
        <p:nvGrpSpPr>
          <p:cNvPr id="32785" name="组合 32784"/>
          <p:cNvGrpSpPr/>
          <p:nvPr/>
        </p:nvGrpSpPr>
        <p:grpSpPr>
          <a:xfrm>
            <a:off x="2819400" y="3260725"/>
            <a:ext cx="838200" cy="304800"/>
            <a:chOff x="0" y="0"/>
            <a:chExt cx="1320" cy="480"/>
          </a:xfrm>
        </p:grpSpPr>
        <p:sp>
          <p:nvSpPr>
            <p:cNvPr id="32786" name="直接连接符 32785"/>
            <p:cNvSpPr/>
            <p:nvPr/>
          </p:nvSpPr>
          <p:spPr>
            <a:xfrm>
              <a:off x="240" y="120"/>
              <a:ext cx="1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直接连接符 32786"/>
            <p:cNvSpPr/>
            <p:nvPr/>
          </p:nvSpPr>
          <p:spPr>
            <a:xfrm>
              <a:off x="240" y="360"/>
              <a:ext cx="1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直接连接符 32787"/>
            <p:cNvSpPr/>
            <p:nvPr/>
          </p:nvSpPr>
          <p:spPr>
            <a:xfrm flipV="1">
              <a:off x="240" y="0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9" name="直接连接符 32788"/>
            <p:cNvSpPr/>
            <p:nvPr/>
          </p:nvSpPr>
          <p:spPr>
            <a:xfrm>
              <a:off x="240" y="360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0" name="直接连接符 32789"/>
            <p:cNvSpPr/>
            <p:nvPr/>
          </p:nvSpPr>
          <p:spPr>
            <a:xfrm flipH="1" flipV="1">
              <a:off x="0" y="240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1" name="直接连接符 32790"/>
            <p:cNvSpPr/>
            <p:nvPr/>
          </p:nvSpPr>
          <p:spPr>
            <a:xfrm flipV="1">
              <a:off x="0" y="0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792" name="直接连接符 32791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93" name="直接连接符 32792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794" name="直接连接符 32793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795" name="直接连接符 32794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2796" name="直接连接符 32795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7" name="椭圆 32796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98" name="直接连接符 32797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2799" name="组合 32798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2800" name="矩形 32799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801" name="直接连接符 32800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02" name="矩形 32801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3" name="矩形 32802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4" name="矩形 32803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5" name="矩形 32804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6" name="矩形 32805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7" name="直接连接符 32806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08" name="矩形 32807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9" name="矩形 32808"/>
          <p:cNvSpPr/>
          <p:nvPr/>
        </p:nvSpPr>
        <p:spPr>
          <a:xfrm>
            <a:off x="762000" y="25749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2811" name="矩形 32810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12" name="矩形 32811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2813" name="矩形 32812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14" name="矩形 32813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5" name="矩形 32814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16" name="直接连接符 32815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7" name="直接连接符 32816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8" name="直接连接符 32817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9" name="直接连接符 32818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20" name="矩形 32819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21" name="直接连接符 32820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22" name="矩形 32821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2823" name="直接连接符 32822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4" name="直接连接符 32823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5" name="直接连接符 32824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6" name="直接连接符 32825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7" name="直接连接符 32826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8" name="直接连接符 32827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9" name="直接连接符 32828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30" name="直接连接符 32829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831" name="直接连接符 32830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832" name="椭圆 32831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33" name="直接连接符 32832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2834" name="组合 32833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2835" name="矩形 32834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836" name="直接连接符 32835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37" name="矩形 32836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38" name="矩形 32837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39" name="矩形 32838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40" name="矩形 32839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41" name="直接连接符 32840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42" name="矩形 32841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43" name="矩形 32842"/>
          <p:cNvSpPr/>
          <p:nvPr/>
        </p:nvSpPr>
        <p:spPr>
          <a:xfrm>
            <a:off x="5410200" y="26511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占位符 33793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1295400"/>
          </a:xfrm>
        </p:spPr>
        <p:txBody>
          <a:bodyPr/>
          <a:lstStyle/>
          <a:p>
            <a:pPr>
              <a:buNone/>
            </a:pP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  <a:endParaRPr lang="zh-CN" altLang="en-US" sz="2400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   方式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的工作时序如图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9.9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和表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9.3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所示。其信号交接过程如下：</a:t>
            </a:r>
          </a:p>
        </p:txBody>
      </p:sp>
      <p:sp>
        <p:nvSpPr>
          <p:cNvPr id="33795" name="直接连接符 33794"/>
          <p:cNvSpPr/>
          <p:nvPr/>
        </p:nvSpPr>
        <p:spPr>
          <a:xfrm>
            <a:off x="1981200" y="22098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6" name="直接连接符 33795"/>
          <p:cNvSpPr/>
          <p:nvPr/>
        </p:nvSpPr>
        <p:spPr>
          <a:xfrm>
            <a:off x="3124200" y="22098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直接连接符 33796"/>
          <p:cNvSpPr/>
          <p:nvPr/>
        </p:nvSpPr>
        <p:spPr>
          <a:xfrm>
            <a:off x="3352800" y="26670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直接连接符 33797"/>
          <p:cNvSpPr/>
          <p:nvPr/>
        </p:nvSpPr>
        <p:spPr>
          <a:xfrm flipV="1">
            <a:off x="4419600" y="22098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直接连接符 33798"/>
          <p:cNvSpPr/>
          <p:nvPr/>
        </p:nvSpPr>
        <p:spPr>
          <a:xfrm>
            <a:off x="4648200" y="2209800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直接连接符 33799"/>
          <p:cNvSpPr/>
          <p:nvPr/>
        </p:nvSpPr>
        <p:spPr>
          <a:xfrm>
            <a:off x="1981200" y="3352800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直接连接符 33800"/>
          <p:cNvSpPr/>
          <p:nvPr/>
        </p:nvSpPr>
        <p:spPr>
          <a:xfrm flipV="1">
            <a:off x="3733800" y="2895600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2" name="直接连接符 33801"/>
          <p:cNvSpPr/>
          <p:nvPr/>
        </p:nvSpPr>
        <p:spPr>
          <a:xfrm>
            <a:off x="4038600" y="2895600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3" name="直接连接符 33802"/>
          <p:cNvSpPr/>
          <p:nvPr/>
        </p:nvSpPr>
        <p:spPr>
          <a:xfrm>
            <a:off x="7315200" y="28956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4" name="直接连接符 33803"/>
          <p:cNvSpPr/>
          <p:nvPr/>
        </p:nvSpPr>
        <p:spPr>
          <a:xfrm>
            <a:off x="7543800" y="3352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5" name="直接连接符 33804"/>
          <p:cNvSpPr/>
          <p:nvPr/>
        </p:nvSpPr>
        <p:spPr>
          <a:xfrm>
            <a:off x="1981200" y="3962400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6" name="直接连接符 33805"/>
          <p:cNvSpPr/>
          <p:nvPr/>
        </p:nvSpPr>
        <p:spPr>
          <a:xfrm flipH="1">
            <a:off x="3200400" y="19050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7" name="直接连接符 33806"/>
          <p:cNvSpPr/>
          <p:nvPr/>
        </p:nvSpPr>
        <p:spPr>
          <a:xfrm>
            <a:off x="4572000" y="1905000"/>
            <a:ext cx="0" cy="434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8" name="直接连接符 33807"/>
          <p:cNvSpPr/>
          <p:nvPr/>
        </p:nvSpPr>
        <p:spPr>
          <a:xfrm>
            <a:off x="3886200" y="2819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9" name="直接连接符 33808"/>
          <p:cNvSpPr/>
          <p:nvPr/>
        </p:nvSpPr>
        <p:spPr>
          <a:xfrm flipV="1">
            <a:off x="4953000" y="3505200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0" name="直接连接符 33809"/>
          <p:cNvSpPr/>
          <p:nvPr/>
        </p:nvSpPr>
        <p:spPr>
          <a:xfrm>
            <a:off x="5105400" y="35052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1" name="直接连接符 33810"/>
          <p:cNvSpPr/>
          <p:nvPr/>
        </p:nvSpPr>
        <p:spPr>
          <a:xfrm>
            <a:off x="6096000" y="3505200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2" name="直接连接符 33811"/>
          <p:cNvSpPr/>
          <p:nvPr/>
        </p:nvSpPr>
        <p:spPr>
          <a:xfrm>
            <a:off x="6248400" y="3962400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3" name="直接连接符 33812"/>
          <p:cNvSpPr/>
          <p:nvPr/>
        </p:nvSpPr>
        <p:spPr>
          <a:xfrm>
            <a:off x="5029200" y="34290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4" name="直接连接符 33813"/>
          <p:cNvSpPr/>
          <p:nvPr/>
        </p:nvSpPr>
        <p:spPr>
          <a:xfrm>
            <a:off x="6172200" y="34290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5" name="直接连接符 33814"/>
          <p:cNvSpPr/>
          <p:nvPr/>
        </p:nvSpPr>
        <p:spPr>
          <a:xfrm>
            <a:off x="7391400" y="25146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6" name="直接连接符 33815"/>
          <p:cNvSpPr/>
          <p:nvPr/>
        </p:nvSpPr>
        <p:spPr>
          <a:xfrm>
            <a:off x="1981200" y="4267200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7" name="直接连接符 33816"/>
          <p:cNvSpPr/>
          <p:nvPr/>
        </p:nvSpPr>
        <p:spPr>
          <a:xfrm>
            <a:off x="5334000" y="4267200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8" name="直接连接符 33817"/>
          <p:cNvSpPr/>
          <p:nvPr/>
        </p:nvSpPr>
        <p:spPr>
          <a:xfrm>
            <a:off x="5638800" y="47244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9" name="直接连接符 33818"/>
          <p:cNvSpPr/>
          <p:nvPr/>
        </p:nvSpPr>
        <p:spPr>
          <a:xfrm flipV="1">
            <a:off x="6629400" y="42672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0" name="直接连接符 33819"/>
          <p:cNvSpPr/>
          <p:nvPr/>
        </p:nvSpPr>
        <p:spPr>
          <a:xfrm>
            <a:off x="6858000" y="4267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1" name="直接连接符 33820"/>
          <p:cNvSpPr/>
          <p:nvPr/>
        </p:nvSpPr>
        <p:spPr>
          <a:xfrm>
            <a:off x="6781800" y="3200400"/>
            <a:ext cx="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3822" name="组合 33821"/>
          <p:cNvGrpSpPr/>
          <p:nvPr/>
        </p:nvGrpSpPr>
        <p:grpSpPr>
          <a:xfrm>
            <a:off x="2438400" y="4876800"/>
            <a:ext cx="2667000" cy="381000"/>
            <a:chOff x="0" y="0"/>
            <a:chExt cx="960" cy="240"/>
          </a:xfrm>
        </p:grpSpPr>
        <p:sp>
          <p:nvSpPr>
            <p:cNvPr id="33823" name="直接连接符 33822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4" name="直接连接符 33823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5" name="直接连接符 33824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6" name="直接连接符 33825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3827" name="组合 33826"/>
          <p:cNvGrpSpPr/>
          <p:nvPr/>
        </p:nvGrpSpPr>
        <p:grpSpPr>
          <a:xfrm>
            <a:off x="5105400" y="4876800"/>
            <a:ext cx="152400" cy="381000"/>
            <a:chOff x="0" y="0"/>
            <a:chExt cx="96" cy="240"/>
          </a:xfrm>
        </p:grpSpPr>
        <p:sp>
          <p:nvSpPr>
            <p:cNvPr id="33828" name="直接连接符 33827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9" name="直接连接符 33828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30" name="直接连接符 33829"/>
          <p:cNvSpPr/>
          <p:nvPr/>
        </p:nvSpPr>
        <p:spPr>
          <a:xfrm>
            <a:off x="5257800" y="5105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3831" name="直接连接符 33830"/>
          <p:cNvSpPr/>
          <p:nvPr/>
        </p:nvSpPr>
        <p:spPr>
          <a:xfrm flipH="1">
            <a:off x="1905000" y="51054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3832" name="直接连接符 33831"/>
          <p:cNvSpPr/>
          <p:nvPr/>
        </p:nvSpPr>
        <p:spPr>
          <a:xfrm>
            <a:off x="2667000" y="4648200"/>
            <a:ext cx="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33" name="直接连接符 33832"/>
          <p:cNvSpPr/>
          <p:nvPr/>
        </p:nvSpPr>
        <p:spPr>
          <a:xfrm>
            <a:off x="2667000" y="60198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4" name="矩形 33833"/>
          <p:cNvSpPr/>
          <p:nvPr/>
        </p:nvSpPr>
        <p:spPr>
          <a:xfrm>
            <a:off x="3124200" y="54102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ps</a:t>
            </a:r>
          </a:p>
        </p:txBody>
      </p:sp>
      <p:sp>
        <p:nvSpPr>
          <p:cNvPr id="33835" name="矩形 33834"/>
          <p:cNvSpPr/>
          <p:nvPr/>
        </p:nvSpPr>
        <p:spPr>
          <a:xfrm>
            <a:off x="3352800" y="16764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ST</a:t>
            </a:r>
          </a:p>
        </p:txBody>
      </p:sp>
      <p:sp>
        <p:nvSpPr>
          <p:cNvPr id="33836" name="直接连接符 33835"/>
          <p:cNvSpPr/>
          <p:nvPr/>
        </p:nvSpPr>
        <p:spPr>
          <a:xfrm>
            <a:off x="3200400" y="2286000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7" name="直接连接符 33836"/>
          <p:cNvSpPr/>
          <p:nvPr/>
        </p:nvSpPr>
        <p:spPr>
          <a:xfrm>
            <a:off x="32004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8" name="矩形 33837"/>
          <p:cNvSpPr/>
          <p:nvPr/>
        </p:nvSpPr>
        <p:spPr>
          <a:xfrm>
            <a:off x="3276600" y="2514600"/>
            <a:ext cx="533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STB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39" name="直接连接符 33838"/>
          <p:cNvSpPr/>
          <p:nvPr/>
        </p:nvSpPr>
        <p:spPr>
          <a:xfrm>
            <a:off x="4038600" y="35814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40" name="矩形 33839"/>
          <p:cNvSpPr/>
          <p:nvPr/>
        </p:nvSpPr>
        <p:spPr>
          <a:xfrm>
            <a:off x="3962400" y="31242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SIT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41" name="直接连接符 33840"/>
          <p:cNvSpPr/>
          <p:nvPr/>
        </p:nvSpPr>
        <p:spPr>
          <a:xfrm>
            <a:off x="5486400" y="36576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42" name="直接连接符 33841"/>
          <p:cNvSpPr/>
          <p:nvPr/>
        </p:nvSpPr>
        <p:spPr>
          <a:xfrm>
            <a:off x="5486400" y="3962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3" name="矩形 33842"/>
          <p:cNvSpPr/>
          <p:nvPr/>
        </p:nvSpPr>
        <p:spPr>
          <a:xfrm>
            <a:off x="5562600" y="3429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RIT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44" name="直接连接符 33843"/>
          <p:cNvSpPr/>
          <p:nvPr/>
        </p:nvSpPr>
        <p:spPr>
          <a:xfrm>
            <a:off x="6781800" y="34290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5" name="矩形 33844"/>
          <p:cNvSpPr/>
          <p:nvPr/>
        </p:nvSpPr>
        <p:spPr>
          <a:xfrm>
            <a:off x="6781800" y="2895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RIB</a:t>
            </a:r>
          </a:p>
        </p:txBody>
      </p:sp>
      <p:sp>
        <p:nvSpPr>
          <p:cNvPr id="33846" name="直接连接符 33845"/>
          <p:cNvSpPr/>
          <p:nvPr/>
        </p:nvSpPr>
        <p:spPr>
          <a:xfrm>
            <a:off x="5105400" y="44958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47" name="直接连接符 33846"/>
          <p:cNvSpPr/>
          <p:nvPr/>
        </p:nvSpPr>
        <p:spPr>
          <a:xfrm>
            <a:off x="4572000" y="4724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8" name="矩形 33847"/>
          <p:cNvSpPr/>
          <p:nvPr/>
        </p:nvSpPr>
        <p:spPr>
          <a:xfrm>
            <a:off x="4572000" y="4191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PH</a:t>
            </a:r>
          </a:p>
        </p:txBody>
      </p:sp>
      <p:grpSp>
        <p:nvGrpSpPr>
          <p:cNvPr id="33849" name="组合 33848"/>
          <p:cNvGrpSpPr/>
          <p:nvPr/>
        </p:nvGrpSpPr>
        <p:grpSpPr>
          <a:xfrm>
            <a:off x="1295400" y="2057400"/>
            <a:ext cx="609600" cy="457200"/>
            <a:chOff x="0" y="0"/>
            <a:chExt cx="384" cy="288"/>
          </a:xfrm>
        </p:grpSpPr>
        <p:sp>
          <p:nvSpPr>
            <p:cNvPr id="33850" name="矩形 33849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STB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3851" name="直接连接符 33850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3852" name="组合 33851"/>
          <p:cNvGrpSpPr/>
          <p:nvPr/>
        </p:nvGrpSpPr>
        <p:grpSpPr>
          <a:xfrm>
            <a:off x="1295400" y="4191000"/>
            <a:ext cx="457200" cy="457200"/>
            <a:chOff x="0" y="0"/>
            <a:chExt cx="384" cy="288"/>
          </a:xfrm>
        </p:grpSpPr>
        <p:sp>
          <p:nvSpPr>
            <p:cNvPr id="33853" name="矩形 3385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3854" name="直接连接符 3385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55" name="矩形 33854"/>
          <p:cNvSpPr/>
          <p:nvPr/>
        </p:nvSpPr>
        <p:spPr>
          <a:xfrm>
            <a:off x="1066800" y="30480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6" name="矩形 33855"/>
          <p:cNvSpPr/>
          <p:nvPr/>
        </p:nvSpPr>
        <p:spPr>
          <a:xfrm>
            <a:off x="1066800" y="35814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7" name="矩形 33856"/>
          <p:cNvSpPr/>
          <p:nvPr/>
        </p:nvSpPr>
        <p:spPr>
          <a:xfrm>
            <a:off x="1143000" y="4495800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8" name="矩形 33857"/>
          <p:cNvSpPr/>
          <p:nvPr/>
        </p:nvSpPr>
        <p:spPr>
          <a:xfrm>
            <a:off x="1981200" y="6248400"/>
            <a:ext cx="4114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9.9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输入时工作时序图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9" name="任意多边形 33858"/>
          <p:cNvSpPr/>
          <p:nvPr/>
        </p:nvSpPr>
        <p:spPr>
          <a:xfrm>
            <a:off x="6781800" y="3068638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0" name="任意多边形 33859"/>
          <p:cNvSpPr/>
          <p:nvPr/>
        </p:nvSpPr>
        <p:spPr>
          <a:xfrm>
            <a:off x="4572000" y="2362200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1" name="任意多边形 33860"/>
          <p:cNvSpPr/>
          <p:nvPr/>
        </p:nvSpPr>
        <p:spPr>
          <a:xfrm>
            <a:off x="2921000" y="2286000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2" name="矩形 33861"/>
          <p:cNvSpPr/>
          <p:nvPr/>
        </p:nvSpPr>
        <p:spPr>
          <a:xfrm>
            <a:off x="107950" y="205867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3863" name="矩形 33862"/>
          <p:cNvSpPr/>
          <p:nvPr/>
        </p:nvSpPr>
        <p:spPr>
          <a:xfrm>
            <a:off x="107950" y="314610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3864" name="矩形 33863"/>
          <p:cNvSpPr/>
          <p:nvPr/>
        </p:nvSpPr>
        <p:spPr>
          <a:xfrm>
            <a:off x="107950" y="374777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3865" name="矩形 33864"/>
          <p:cNvSpPr/>
          <p:nvPr/>
        </p:nvSpPr>
        <p:spPr>
          <a:xfrm>
            <a:off x="107950" y="4221163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3866" name="任意多边形 33865"/>
          <p:cNvSpPr/>
          <p:nvPr/>
        </p:nvSpPr>
        <p:spPr>
          <a:xfrm>
            <a:off x="5459413" y="3729038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7239D01-77B1-480B-A2DF-13011002BCBD}"/>
              </a:ext>
            </a:extLst>
          </p:cNvPr>
          <p:cNvSpPr/>
          <p:nvPr/>
        </p:nvSpPr>
        <p:spPr>
          <a:xfrm>
            <a:off x="107504" y="493449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占位符 34817"/>
          <p:cNvSpPr>
            <a:spLocks noGrp="1"/>
          </p:cNvSpPr>
          <p:nvPr>
            <p:ph type="body" idx="1"/>
          </p:nvPr>
        </p:nvSpPr>
        <p:spPr>
          <a:xfrm>
            <a:off x="533400" y="381000"/>
            <a:ext cx="8610600" cy="254508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数据输入时，外设处于主动地位，当外设准备好数据并放到数据线上后，首先发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信号，由它把数据输入到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的下降沿约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300ns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，数据已锁存到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的缓冲器后，引起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变高，表示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的“输入缓冲器满”，禁止输入新数据。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表</a:t>
            </a:r>
            <a:r>
              <a:rPr lang="en-US" altLang="zh-CN" sz="2000">
                <a:effectLst/>
                <a:latin typeface="宋体" panose="02010600030101010101" pitchFamily="2" charset="-122"/>
              </a:rPr>
              <a:t>9.3  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方式</a:t>
            </a:r>
            <a:r>
              <a:rPr lang="en-US" altLang="zh-CN" sz="2000"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输入工作时序表</a:t>
            </a:r>
          </a:p>
        </p:txBody>
      </p:sp>
      <p:graphicFrame>
        <p:nvGraphicFramePr>
          <p:cNvPr id="34819" name="表格 34818"/>
          <p:cNvGraphicFramePr/>
          <p:nvPr>
            <p:custDataLst>
              <p:tags r:id="rId1"/>
            </p:custDataLst>
          </p:nvPr>
        </p:nvGraphicFramePr>
        <p:xfrm>
          <a:off x="1073785" y="2843213"/>
          <a:ext cx="7010400" cy="3925888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符号</a:t>
                      </a: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参数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8255A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单位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MIN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MAX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脉冲宽度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500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endParaRPr lang="zh-CN" altLang="en-US" sz="2000" b="1" baseline="-25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STB=0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至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IBF=1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SIT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STB=1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INTR=1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 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RIB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RD=1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IBF=0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RIT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RD=0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INTR=0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400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PS</a:t>
                      </a:r>
                      <a:endParaRPr lang="zh-CN" altLang="en-US" sz="2000" baseline="-25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数据提前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无效的时间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PH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数据保持时间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180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占位符 35841"/>
          <p:cNvSpPr>
            <a:spLocks noGrp="1"/>
          </p:cNvSpPr>
          <p:nvPr>
            <p:ph type="body" idx="1"/>
          </p:nvPr>
        </p:nvSpPr>
        <p:spPr>
          <a:xfrm>
            <a:off x="323850" y="452120"/>
            <a:ext cx="8839200" cy="59213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5843" name="直接连接符 35842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直接连接符 35843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直接连接符 35844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直接连接符 35845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直接连接符 35846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8" name="直接连接符 35847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9" name="直接连接符 35848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0" name="直接连接符 35849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1" name="直接连接符 35850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2" name="直接连接符 35851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3" name="直接连接符 35852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4" name="直接连接符 35853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5" name="直接连接符 35854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6" name="直接连接符 35855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7" name="直接连接符 35856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8" name="直接连接符 35857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9" name="直接连接符 35858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0" name="直接连接符 35859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1" name="直接连接符 35860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2" name="直接连接符 35861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3" name="直接连接符 35862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4" name="直接连接符 35863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5" name="直接连接符 35864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6" name="直接连接符 35865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7" name="直接连接符 35866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8" name="直接连接符 35867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9" name="直接连接符 35868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5870" name="组合 35869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5871" name="直接连接符 35870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2" name="直接连接符 35871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3" name="直接连接符 35872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4" name="直接连接符 35873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5875" name="组合 35874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5876" name="直接连接符 35875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7" name="直接连接符 35876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78" name="直接连接符 35877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79" name="直接连接符 35878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80" name="直接连接符 35879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1" name="直接连接符 35880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5882" name="组合 35881"/>
          <p:cNvGrpSpPr/>
          <p:nvPr/>
        </p:nvGrpSpPr>
        <p:grpSpPr>
          <a:xfrm>
            <a:off x="1363663" y="1044575"/>
            <a:ext cx="609600" cy="457200"/>
            <a:chOff x="0" y="0"/>
            <a:chExt cx="384" cy="288"/>
          </a:xfrm>
        </p:grpSpPr>
        <p:sp>
          <p:nvSpPr>
            <p:cNvPr id="35883" name="矩形 3588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STB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5884" name="直接连接符 3588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5885" name="组合 35884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5886" name="矩形 35885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5887" name="直接连接符 35886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88" name="矩形 35887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5889" name="矩形 35888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5890" name="矩形 35889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5891" name="任意多边形 35890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2" name="任意多边形 35891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3" name="任意多边形 35892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4" name="矩形 35893"/>
          <p:cNvSpPr/>
          <p:nvPr/>
        </p:nvSpPr>
        <p:spPr>
          <a:xfrm>
            <a:off x="176213" y="106870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5895" name="矩形 35894"/>
          <p:cNvSpPr/>
          <p:nvPr/>
        </p:nvSpPr>
        <p:spPr>
          <a:xfrm>
            <a:off x="176213" y="2156143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5896" name="矩形 35895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5897" name="矩形 35896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5898" name="任意多边形 35897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9" name="矩形 35898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数据输入时，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外设处于主动地位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，当外设准备好数据并放到数据线上后，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首先发</a:t>
            </a:r>
            <a:r>
              <a:rPr lang="en-US" altLang="zh-CN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信号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，由它把数据输入到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35900" name="直接连接符 35899"/>
          <p:cNvSpPr/>
          <p:nvPr/>
        </p:nvSpPr>
        <p:spPr>
          <a:xfrm>
            <a:off x="3492500" y="55895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2603701-4E7D-4BE4-A6D9-D20FDD8EB989}"/>
              </a:ext>
            </a:extLst>
          </p:cNvPr>
          <p:cNvSpPr/>
          <p:nvPr/>
        </p:nvSpPr>
        <p:spPr>
          <a:xfrm>
            <a:off x="179512" y="3933056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  <p:bldP spid="35899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文本占位符 36865"/>
          <p:cNvSpPr>
            <a:spLocks noGrp="1"/>
          </p:cNvSpPr>
          <p:nvPr>
            <p:ph type="body" idx="1"/>
          </p:nvPr>
        </p:nvSpPr>
        <p:spPr>
          <a:xfrm>
            <a:off x="304800" y="536575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6867" name="直接连接符 36866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8" name="直接连接符 36867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直接连接符 36868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0" name="直接连接符 36869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1" name="直接连接符 36870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2" name="直接连接符 36871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3" name="直接连接符 36872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4" name="直接连接符 36873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5" name="直接连接符 36874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6" name="直接连接符 36875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7" name="直接连接符 36876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8" name="直接连接符 36877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9" name="直接连接符 36878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0" name="直接连接符 36879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1" name="直接连接符 36880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2" name="直接连接符 36881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3" name="直接连接符 36882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4" name="直接连接符 36883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5" name="直接连接符 36884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6" name="直接连接符 36885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7" name="直接连接符 36886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8" name="直接连接符 36887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9" name="直接连接符 36888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0" name="直接连接符 36889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1" name="直接连接符 36890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2" name="直接连接符 36891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3" name="直接连接符 36892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6894" name="组合 36893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6895" name="直接连接符 36894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6" name="直接连接符 36895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7" name="直接连接符 36896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8" name="直接连接符 36897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99" name="组合 36898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6900" name="直接连接符 36899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1" name="直接连接符 36900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02" name="直接连接符 36901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903" name="直接连接符 36902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904" name="直接连接符 36903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5" name="直接连接符 36904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6906" name="组合 36905"/>
          <p:cNvGrpSpPr/>
          <p:nvPr/>
        </p:nvGrpSpPr>
        <p:grpSpPr>
          <a:xfrm>
            <a:off x="1363663" y="1044575"/>
            <a:ext cx="609600" cy="457200"/>
            <a:chOff x="0" y="0"/>
            <a:chExt cx="384" cy="288"/>
          </a:xfrm>
        </p:grpSpPr>
        <p:sp>
          <p:nvSpPr>
            <p:cNvPr id="36907" name="矩形 36906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STB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6908" name="直接连接符 36907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909" name="组合 36908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6910" name="矩形 36909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6911" name="直接连接符 36910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12" name="矩形 36911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6913" name="矩形 36912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6914" name="矩形 36913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6915" name="任意多边形 36914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16" name="任意多边形 36915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17" name="任意多边形 36916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918" name="矩形 36917"/>
          <p:cNvSpPr/>
          <p:nvPr/>
        </p:nvSpPr>
        <p:spPr>
          <a:xfrm>
            <a:off x="176213" y="104457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6919" name="矩形 36918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6920" name="矩形 36919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6921" name="矩形 36920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6922" name="任意多边形 36921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23" name="矩形 36922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的下降沿约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300ns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，数据已锁存到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的缓冲器后，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引起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变高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，表示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“输入缓冲器满”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，禁止输入新数据。</a:t>
            </a:r>
          </a:p>
        </p:txBody>
      </p:sp>
      <p:sp>
        <p:nvSpPr>
          <p:cNvPr id="36924" name="直接连接符 36923"/>
          <p:cNvSpPr/>
          <p:nvPr/>
        </p:nvSpPr>
        <p:spPr>
          <a:xfrm>
            <a:off x="1116013" y="51577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6C3CB2-5DBA-4D60-8429-795277C7367C}"/>
              </a:ext>
            </a:extLst>
          </p:cNvPr>
          <p:cNvSpPr/>
          <p:nvPr/>
        </p:nvSpPr>
        <p:spPr>
          <a:xfrm>
            <a:off x="179512" y="3933056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C79E546-E511-40BE-8E41-36FE2576E804}"/>
              </a:ext>
            </a:extLst>
          </p:cNvPr>
          <p:cNvSpPr/>
          <p:nvPr/>
        </p:nvSpPr>
        <p:spPr>
          <a:xfrm>
            <a:off x="3341986" y="1610361"/>
            <a:ext cx="533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STB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/>
      <p:bldP spid="3692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占位符 37889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7891" name="直接连接符 37890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" name="直接连接符 37891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3" name="直接连接符 37892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4" name="直接连接符 37893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5" name="直接连接符 37894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6" name="直接连接符 37895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7" name="直接连接符 37896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8" name="直接连接符 37897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9" name="直接连接符 37898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0" name="直接连接符 37899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1" name="直接连接符 37900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2" name="直接连接符 37901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3" name="直接连接符 37902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4" name="直接连接符 37903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5" name="直接连接符 37904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6" name="直接连接符 37905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7" name="直接连接符 37906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8" name="直接连接符 37907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9" name="直接连接符 37908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0" name="直接连接符 37909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1" name="直接连接符 37910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2" name="直接连接符 37911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3" name="直接连接符 37912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4" name="直接连接符 37913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5" name="直接连接符 37914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6" name="直接连接符 37915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7" name="直接连接符 37916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7918" name="组合 37917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7919" name="直接连接符 37918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0" name="直接连接符 37919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1" name="直接连接符 37920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直接连接符 37921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23" name="组合 37922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7924" name="直接连接符 37923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5" name="直接连接符 37924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26" name="直接连接符 37925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27" name="直接连接符 37926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28" name="直接连接符 37927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29" name="直接连接符 37928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30" name="矩形 37929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1" name="直接连接符 37930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7932" name="组合 37931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7933" name="矩形 3793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7934" name="直接连接符 3793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35" name="矩形 37934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6" name="矩形 37935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7" name="矩形 37936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8" name="任意多边形 37937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任意多边形 37938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任意多边形 37939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矩形 37940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7942" name="矩形 37941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7943" name="矩形 37942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7944" name="矩形 37943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7945" name="任意多边形 37944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矩形 37945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③ 在STB的上升沿约300ns后，在中断允许（INTE=1）的情况下IBF的高电平产生中断请求，使INTR上升变高，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楷体_GB2312" panose="02010609030101010101" pitchFamily="49" charset="-122"/>
              </a:rPr>
              <a:t>通知CPU，接口中已有数据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，请求CPU读取。</a:t>
            </a:r>
          </a:p>
          <a:p>
            <a:pPr lvl="0">
              <a:lnSpc>
                <a:spcPct val="120000"/>
              </a:lnSpc>
              <a:buNone/>
            </a:pPr>
            <a:endParaRPr lang="zh-CN" altLang="en-US" sz="2400" b="1" dirty="0">
              <a:effectLst/>
              <a:ea typeface="楷体_GB2312" panose="02010609030101010101" pitchFamily="49" charset="-122"/>
            </a:endParaRPr>
          </a:p>
        </p:txBody>
      </p:sp>
      <p:sp>
        <p:nvSpPr>
          <p:cNvPr id="37947" name="直接连接符 37946"/>
          <p:cNvSpPr/>
          <p:nvPr/>
        </p:nvSpPr>
        <p:spPr>
          <a:xfrm>
            <a:off x="1116013" y="51577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26C07B7D-D9C1-4A07-B3BB-3BA6740FEDB8}"/>
              </a:ext>
            </a:extLst>
          </p:cNvPr>
          <p:cNvSpPr/>
          <p:nvPr/>
        </p:nvSpPr>
        <p:spPr>
          <a:xfrm>
            <a:off x="4106863" y="2566036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83BE272-24E1-42A0-95CC-D11B4D7C6963}"/>
              </a:ext>
            </a:extLst>
          </p:cNvPr>
          <p:cNvSpPr/>
          <p:nvPr/>
        </p:nvSpPr>
        <p:spPr>
          <a:xfrm>
            <a:off x="4030663" y="2108836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SIT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37946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占位符 38913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8915" name="直接连接符 38914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6" name="直接连接符 38915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7" name="直接连接符 38916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8" name="直接连接符 38917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9" name="直接连接符 38918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0" name="直接连接符 38919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1" name="直接连接符 38920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2" name="直接连接符 38921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3" name="直接连接符 38922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4" name="直接连接符 38923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直接连接符 38924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6" name="直接连接符 38925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7" name="直接连接符 38926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8" name="直接连接符 38927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9" name="直接连接符 38928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0" name="直接连接符 38929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1" name="直接连接符 38930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2" name="直接连接符 38931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3" name="直接连接符 38932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4" name="直接连接符 38933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5" name="直接连接符 38934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6" name="直接连接符 38935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7" name="直接连接符 38936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8" name="直接连接符 38937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9" name="直接连接符 38938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0" name="直接连接符 38939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1" name="直接连接符 38940"/>
          <p:cNvSpPr/>
          <p:nvPr/>
        </p:nvSpPr>
        <p:spPr>
          <a:xfrm>
            <a:off x="6850062" y="2128839"/>
            <a:ext cx="1588" cy="1731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8942" name="组合 38941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8943" name="直接连接符 38942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4" name="直接连接符 38943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5" name="直接连接符 38944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6" name="直接连接符 38945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47" name="组合 38946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8948" name="直接连接符 38947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9" name="直接连接符 38948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50" name="直接连接符 38949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51" name="直接连接符 38950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52" name="直接连接符 38951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53" name="直接连接符 38952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54" name="矩形 38953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8955" name="直接连接符 38954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8956" name="组合 38955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8957" name="矩形 38956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8958" name="直接连接符 38957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59" name="矩形 38958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8960" name="矩形 38959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8961" name="矩形 38960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8962" name="任意多边形 38961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3" name="任意多边形 38962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4" name="任意多边形 38963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5" name="矩形 38964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8966" name="矩形 38965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8967" name="矩形 38966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8968" name="矩形 38967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8969" name="任意多边形 38968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70" name="矩形 38969"/>
          <p:cNvSpPr>
            <a:spLocks noGrp="1"/>
          </p:cNvSpPr>
          <p:nvPr/>
        </p:nvSpPr>
        <p:spPr>
          <a:xfrm>
            <a:off x="323850" y="5013325"/>
            <a:ext cx="8610600" cy="1368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④ CPU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得知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INTR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信号有效之后，执行读操作时，</a:t>
            </a:r>
            <a:r>
              <a:rPr lang="en-US" altLang="zh-CN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RD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信号的下降沿使</a:t>
            </a:r>
            <a:r>
              <a:rPr lang="en-US" altLang="zh-CN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INTR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复位，撤消中断请求，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为下一次中断请求作好准备。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RD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信号的上升沿后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300ns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，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IBF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信号无效，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楷体_GB2312" panose="02010609030101010101" pitchFamily="49" charset="-122"/>
              </a:rPr>
              <a:t>表示数据已读走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A4FCE7B0-5B0F-4CFC-AB4A-2A9A8EC3DF8E}"/>
              </a:ext>
            </a:extLst>
          </p:cNvPr>
          <p:cNvSpPr/>
          <p:nvPr/>
        </p:nvSpPr>
        <p:spPr>
          <a:xfrm>
            <a:off x="5527674" y="3094039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17EDB11-AEC8-4B30-BA81-EF9A77D5B4F0}"/>
              </a:ext>
            </a:extLst>
          </p:cNvPr>
          <p:cNvSpPr/>
          <p:nvPr/>
        </p:nvSpPr>
        <p:spPr>
          <a:xfrm>
            <a:off x="5603874" y="2560639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RIT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任意多边形 39985">
            <a:extLst>
              <a:ext uri="{FF2B5EF4-FFF2-40B4-BE49-F238E27FC236}">
                <a16:creationId xmlns:a16="http://schemas.microsoft.com/office/drawing/2014/main" id="{7C5B0566-8460-4FA8-BC67-4EDDE24745FE}"/>
              </a:ext>
            </a:extLst>
          </p:cNvPr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A975AF88-0AC9-4B4F-A4B8-4633CBE6B959}"/>
              </a:ext>
            </a:extLst>
          </p:cNvPr>
          <p:cNvSpPr/>
          <p:nvPr/>
        </p:nvSpPr>
        <p:spPr>
          <a:xfrm>
            <a:off x="6827992" y="2360612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2B7206E-2385-40CF-A3EB-1D124DC7D905}"/>
              </a:ext>
            </a:extLst>
          </p:cNvPr>
          <p:cNvSpPr/>
          <p:nvPr/>
        </p:nvSpPr>
        <p:spPr>
          <a:xfrm>
            <a:off x="6827992" y="1827212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RIB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/>
      <p:bldP spid="38970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文本占位符 39937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9939" name="直接连接符 39938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0" name="直接连接符 39939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1" name="直接连接符 39940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2" name="直接连接符 39941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3" name="直接连接符 39942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4" name="直接连接符 39943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5" name="直接连接符 39944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6" name="直接连接符 39945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7" name="直接连接符 39946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8" name="直接连接符 39947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9" name="直接连接符 39948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0" name="直接连接符 39949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1" name="直接连接符 39950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2" name="直接连接符 39951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3" name="直接连接符 39952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4" name="直接连接符 39953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5" name="直接连接符 39954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6" name="直接连接符 39955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7" name="直接连接符 39956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8" name="直接连接符 39957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9" name="直接连接符 39958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0" name="直接连接符 39959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1" name="直接连接符 39960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2" name="直接连接符 39961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3" name="直接连接符 39962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4" name="直接连接符 39963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5" name="直接连接符 39964"/>
          <p:cNvSpPr/>
          <p:nvPr/>
        </p:nvSpPr>
        <p:spPr>
          <a:xfrm>
            <a:off x="6840537" y="2870199"/>
            <a:ext cx="11113" cy="990601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9966" name="组合 39965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9967" name="直接连接符 39966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8" name="直接连接符 39967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直接连接符 39968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0" name="直接连接符 39969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71" name="组合 39970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9972" name="直接连接符 39971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3" name="直接连接符 39972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74" name="直接连接符 39973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75" name="直接连接符 39974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76" name="直接连接符 39975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7" name="直接连接符 39976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8" name="矩形 39977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79" name="直接连接符 39978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9980" name="组合 39979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9981" name="矩形 39980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9982" name="直接连接符 39981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83" name="矩形 39982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4" name="矩形 39983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5" name="矩形 39984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6" name="任意多边形 39985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7" name="任意多边形 39986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8" name="任意多边形 39987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9" name="矩形 39988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9990" name="矩形 39989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9991" name="矩形 39990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9992" name="矩形 39991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9993" name="任意多边形 39992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994" name="组合 39993"/>
          <p:cNvGrpSpPr/>
          <p:nvPr/>
        </p:nvGrpSpPr>
        <p:grpSpPr>
          <a:xfrm>
            <a:off x="1979613" y="5086350"/>
            <a:ext cx="7010400" cy="1524000"/>
            <a:chOff x="0" y="0"/>
            <a:chExt cx="4416" cy="960"/>
          </a:xfrm>
        </p:grpSpPr>
        <p:sp>
          <p:nvSpPr>
            <p:cNvPr id="39995" name="矩形 39994"/>
            <p:cNvSpPr/>
            <p:nvPr/>
          </p:nvSpPr>
          <p:spPr>
            <a:xfrm>
              <a:off x="0" y="288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  <p:grpSp>
          <p:nvGrpSpPr>
            <p:cNvPr id="39996" name="组合 39995"/>
            <p:cNvGrpSpPr/>
            <p:nvPr/>
          </p:nvGrpSpPr>
          <p:grpSpPr>
            <a:xfrm flipH="1">
              <a:off x="528" y="384"/>
              <a:ext cx="1296" cy="192"/>
              <a:chOff x="0" y="0"/>
              <a:chExt cx="1296" cy="192"/>
            </a:xfrm>
          </p:grpSpPr>
          <p:sp>
            <p:nvSpPr>
              <p:cNvPr id="39997" name="直接连接符 39996"/>
              <p:cNvSpPr/>
              <p:nvPr/>
            </p:nvSpPr>
            <p:spPr>
              <a:xfrm>
                <a:off x="0" y="48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98" name="直接连接符 39997"/>
              <p:cNvSpPr/>
              <p:nvPr/>
            </p:nvSpPr>
            <p:spPr>
              <a:xfrm>
                <a:off x="0" y="144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99" name="直接连接符 39998"/>
              <p:cNvSpPr/>
              <p:nvPr/>
            </p:nvSpPr>
            <p:spPr>
              <a:xfrm>
                <a:off x="0" y="144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0" name="直接连接符 39999"/>
              <p:cNvSpPr/>
              <p:nvPr/>
            </p:nvSpPr>
            <p:spPr>
              <a:xfrm flipH="1" flipV="1">
                <a:off x="1200" y="0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40001" name="矩形 40000"/>
            <p:cNvSpPr/>
            <p:nvPr/>
          </p:nvSpPr>
          <p:spPr>
            <a:xfrm>
              <a:off x="1920" y="288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8255A</a:t>
              </a:r>
            </a:p>
          </p:txBody>
        </p:sp>
        <p:sp>
          <p:nvSpPr>
            <p:cNvPr id="40002" name="矩形 40001"/>
            <p:cNvSpPr/>
            <p:nvPr/>
          </p:nvSpPr>
          <p:spPr>
            <a:xfrm>
              <a:off x="3840" y="240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设备</a:t>
              </a:r>
            </a:p>
          </p:txBody>
        </p:sp>
        <p:grpSp>
          <p:nvGrpSpPr>
            <p:cNvPr id="40003" name="组合 40002"/>
            <p:cNvGrpSpPr/>
            <p:nvPr/>
          </p:nvGrpSpPr>
          <p:grpSpPr>
            <a:xfrm flipH="1">
              <a:off x="2448" y="384"/>
              <a:ext cx="1296" cy="192"/>
              <a:chOff x="0" y="0"/>
              <a:chExt cx="1296" cy="192"/>
            </a:xfrm>
          </p:grpSpPr>
          <p:sp>
            <p:nvSpPr>
              <p:cNvPr id="40004" name="直接连接符 40003"/>
              <p:cNvSpPr/>
              <p:nvPr/>
            </p:nvSpPr>
            <p:spPr>
              <a:xfrm>
                <a:off x="0" y="48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5" name="直接连接符 40004"/>
              <p:cNvSpPr/>
              <p:nvPr/>
            </p:nvSpPr>
            <p:spPr>
              <a:xfrm>
                <a:off x="0" y="144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6" name="直接连接符 40005"/>
              <p:cNvSpPr/>
              <p:nvPr/>
            </p:nvSpPr>
            <p:spPr>
              <a:xfrm>
                <a:off x="0" y="144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7" name="直接连接符 40006"/>
              <p:cNvSpPr/>
              <p:nvPr/>
            </p:nvSpPr>
            <p:spPr>
              <a:xfrm flipH="1" flipV="1">
                <a:off x="1200" y="0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40008" name="矩形 40007"/>
            <p:cNvSpPr/>
            <p:nvPr/>
          </p:nvSpPr>
          <p:spPr>
            <a:xfrm>
              <a:off x="2736" y="0"/>
              <a:ext cx="76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①      STB</a:t>
              </a:r>
            </a:p>
          </p:txBody>
        </p:sp>
        <p:sp>
          <p:nvSpPr>
            <p:cNvPr id="40009" name="矩形 40008"/>
            <p:cNvSpPr/>
            <p:nvPr/>
          </p:nvSpPr>
          <p:spPr>
            <a:xfrm>
              <a:off x="624" y="0"/>
              <a:ext cx="100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③       INTR</a:t>
              </a:r>
            </a:p>
          </p:txBody>
        </p:sp>
        <p:sp>
          <p:nvSpPr>
            <p:cNvPr id="40010" name="矩形 40009"/>
            <p:cNvSpPr/>
            <p:nvPr/>
          </p:nvSpPr>
          <p:spPr>
            <a:xfrm>
              <a:off x="2736" y="528"/>
              <a:ext cx="81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②       IBF</a:t>
              </a:r>
            </a:p>
          </p:txBody>
        </p:sp>
        <p:sp>
          <p:nvSpPr>
            <p:cNvPr id="40011" name="矩形 40010"/>
            <p:cNvSpPr/>
            <p:nvPr/>
          </p:nvSpPr>
          <p:spPr>
            <a:xfrm>
              <a:off x="672" y="528"/>
              <a:ext cx="81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④      RD</a:t>
              </a:r>
            </a:p>
          </p:txBody>
        </p:sp>
        <p:sp>
          <p:nvSpPr>
            <p:cNvPr id="40012" name="直接连接符 40011"/>
            <p:cNvSpPr/>
            <p:nvPr/>
          </p:nvSpPr>
          <p:spPr>
            <a:xfrm>
              <a:off x="1152" y="62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0013" name="直接连接符 40012"/>
            <p:cNvSpPr/>
            <p:nvPr/>
          </p:nvSpPr>
          <p:spPr>
            <a:xfrm>
              <a:off x="3168" y="9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40014" name="文本框 40013"/>
          <p:cNvSpPr txBox="1"/>
          <p:nvPr/>
        </p:nvSpPr>
        <p:spPr>
          <a:xfrm>
            <a:off x="252413" y="4510088"/>
            <a:ext cx="8567737" cy="822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数据从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设备发出，通过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，送到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的整个过程有如下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步：</a:t>
            </a:r>
            <a:endParaRPr lang="zh-CN" altLang="en-US" sz="2400">
              <a:latin typeface="Garamond" panose="02020404030301010803" pitchFamily="18" charset="0"/>
            </a:endParaRPr>
          </a:p>
        </p:txBody>
      </p:sp>
      <p:sp>
        <p:nvSpPr>
          <p:cNvPr id="40015" name="文本框 40014"/>
          <p:cNvSpPr txBox="1"/>
          <p:nvPr/>
        </p:nvSpPr>
        <p:spPr>
          <a:xfrm>
            <a:off x="252413" y="5373688"/>
            <a:ext cx="1728787" cy="8239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rPr>
              <a:t>方式一数据输入过程：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07070" y="643382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194DF3"/>
                </a:solidFill>
              </a:rPr>
              <a:t>OK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C47E5A-1E8E-4342-99A4-2A37F9AAA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此外，</a:t>
            </a:r>
            <a:r>
              <a:rPr lang="en-US" altLang="zh-CN" dirty="0"/>
              <a:t>8255</a:t>
            </a:r>
            <a:r>
              <a:rPr lang="zh-CN" altLang="en-US" dirty="0"/>
              <a:t>还有方式</a:t>
            </a:r>
            <a:r>
              <a:rPr lang="en-US" altLang="zh-CN" dirty="0"/>
              <a:t>2</a:t>
            </a:r>
            <a:r>
              <a:rPr lang="zh-CN" altLang="en-US" dirty="0"/>
              <a:t>，为：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双向总线</a:t>
            </a:r>
            <a:r>
              <a:rPr lang="en-US" altLang="zh-CN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endParaRPr lang="en-US" altLang="zh-CN" dirty="0">
              <a:solidFill>
                <a:srgbClr val="194DF3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/>
              <a:t>与方式</a:t>
            </a:r>
            <a:r>
              <a:rPr lang="en-US" altLang="zh-CN" dirty="0"/>
              <a:t>1</a:t>
            </a:r>
            <a:r>
              <a:rPr lang="zh-CN" altLang="en-US" dirty="0"/>
              <a:t>一旦设定只能作为输入或输出不同，方式</a:t>
            </a:r>
            <a:r>
              <a:rPr lang="en-US" altLang="zh-CN" dirty="0"/>
              <a:t>2</a:t>
            </a:r>
            <a:r>
              <a:rPr lang="zh-CN" altLang="en-US" dirty="0"/>
              <a:t>可输入也可输出</a:t>
            </a:r>
            <a:r>
              <a:rPr lang="en-US" altLang="zh-CN" dirty="0"/>
              <a:t>——</a:t>
            </a:r>
            <a:r>
              <a:rPr lang="zh-CN" altLang="en-US" dirty="0"/>
              <a:t>双向传输</a:t>
            </a:r>
            <a:endParaRPr lang="en-US" altLang="zh-CN" dirty="0"/>
          </a:p>
          <a:p>
            <a:r>
              <a:rPr lang="zh-CN" altLang="en-US" dirty="0"/>
              <a:t>只有</a:t>
            </a:r>
            <a:r>
              <a:rPr lang="en-US" altLang="zh-CN" dirty="0"/>
              <a:t>PA</a:t>
            </a:r>
            <a:r>
              <a:rPr lang="zh-CN" altLang="en-US" dirty="0"/>
              <a:t>口具有方式</a:t>
            </a:r>
            <a:r>
              <a:rPr lang="en-US" altLang="zh-CN" dirty="0"/>
              <a:t>2</a:t>
            </a:r>
            <a:r>
              <a:rPr lang="zh-CN" altLang="en-US" dirty="0"/>
              <a:t>功能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更加复杂，不作为考核内容，感兴趣的自学。</a:t>
            </a:r>
          </a:p>
        </p:txBody>
      </p:sp>
    </p:spTree>
    <p:extLst>
      <p:ext uri="{BB962C8B-B14F-4D97-AF65-F5344CB8AC3E}">
        <p14:creationId xmlns:p14="http://schemas.microsoft.com/office/powerpoint/2010/main" val="649563238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085,&quot;width&quot;:303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51bb6703-98f2-47f2-b253-e21b8c8833c1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6237</Words>
  <Application>Microsoft Office PowerPoint</Application>
  <PresentationFormat>全屏显示(4:3)</PresentationFormat>
  <Paragraphs>874</Paragraphs>
  <Slides>86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86</vt:i4>
      </vt:variant>
    </vt:vector>
  </HeadingPairs>
  <TitlesOfParts>
    <vt:vector size="105" baseType="lpstr">
      <vt:lpstr>仿宋_GB2312</vt:lpstr>
      <vt:lpstr>黑体</vt:lpstr>
      <vt:lpstr>华文仿宋</vt:lpstr>
      <vt:lpstr>华文楷体</vt:lpstr>
      <vt:lpstr>楷体_GB2312</vt:lpstr>
      <vt:lpstr>宋体</vt:lpstr>
      <vt:lpstr>微软雅黑</vt:lpstr>
      <vt:lpstr>Arial</vt:lpstr>
      <vt:lpstr>Calibri</vt:lpstr>
      <vt:lpstr>Cambria Math</vt:lpstr>
      <vt:lpstr>Garamond</vt:lpstr>
      <vt:lpstr>Times New Roman</vt:lpstr>
      <vt:lpstr>Verdana</vt:lpstr>
      <vt:lpstr>Wingdings</vt:lpstr>
      <vt:lpstr>Office 主题</vt:lpstr>
      <vt:lpstr>Equation</vt:lpstr>
      <vt:lpstr>Visio</vt:lpstr>
      <vt:lpstr>Bitmap Image</vt:lpstr>
      <vt:lpstr>Microsoft Word Picture</vt:lpstr>
      <vt:lpstr>PowerPoint 演示文稿</vt:lpstr>
      <vt:lpstr>本章主要内容： §6.1  I/O接口 §6.2  8255A的工作原理 §6.3  8255A的应用举例 </vt:lpstr>
      <vt:lpstr>PowerPoint 演示文稿</vt:lpstr>
      <vt:lpstr>§6.1  I/O接口</vt:lpstr>
      <vt:lpstr>6.1.1  I/O接口的功能</vt:lpstr>
      <vt:lpstr>计算机与外设间的信息交换存在的问题</vt:lpstr>
      <vt:lpstr>2. I/O接口的功能</vt:lpstr>
      <vt:lpstr>PowerPoint 演示文稿</vt:lpstr>
      <vt:lpstr>§6.1  I/O接口</vt:lpstr>
      <vt:lpstr>6.1.2  I/O端口及其寻址方式</vt:lpstr>
      <vt:lpstr>PowerPoint 演示文稿</vt:lpstr>
      <vt:lpstr>PowerPoint 演示文稿</vt:lpstr>
      <vt:lpstr>PowerPoint 演示文稿</vt:lpstr>
      <vt:lpstr>PowerPoint 演示文稿</vt:lpstr>
      <vt:lpstr>2. I/O端口的寻址方法</vt:lpstr>
      <vt:lpstr>PowerPoint 演示文稿</vt:lpstr>
      <vt:lpstr>§6.1  I/O接口</vt:lpstr>
      <vt:lpstr>6.1.3  CPU与外设间的数据传送方式</vt:lpstr>
      <vt:lpstr>1. 程序控制方式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2) 条件式输出</vt:lpstr>
      <vt:lpstr>2. 中断方式</vt:lpstr>
      <vt:lpstr>PowerPoint 演示文稿</vt:lpstr>
      <vt:lpstr>3. DMA方式</vt:lpstr>
      <vt:lpstr>PowerPoint 演示文稿</vt:lpstr>
      <vt:lpstr>§6.1  I/O接口</vt:lpstr>
      <vt:lpstr>6.1.4  PC机的I/O地址分配</vt:lpstr>
      <vt:lpstr>PowerPoint 演示文稿</vt:lpstr>
      <vt:lpstr>§6.2  8255A的工作原理</vt:lpstr>
      <vt:lpstr>§6.2  8255A的工作原理</vt:lpstr>
      <vt:lpstr>PowerPoint 演示文稿</vt:lpstr>
      <vt:lpstr>6.2.1  8255A的结构和功能</vt:lpstr>
      <vt:lpstr>1. 数据端口A、B和C</vt:lpstr>
      <vt:lpstr>2. A组和B组控制逻辑</vt:lpstr>
      <vt:lpstr>3. 数据总线缓冲器</vt:lpstr>
      <vt:lpstr>4. 读/写控制逻辑</vt:lpstr>
      <vt:lpstr>PowerPoint 演示文稿</vt:lpstr>
      <vt:lpstr>PowerPoint 演示文稿</vt:lpstr>
      <vt:lpstr>PowerPoint 演示文稿</vt:lpstr>
      <vt:lpstr>PowerPoint 演示文稿</vt:lpstr>
      <vt:lpstr>§6.2  8255A的工作原理</vt:lpstr>
      <vt:lpstr>PowerPoint 演示文稿</vt:lpstr>
      <vt:lpstr>PowerPoint 演示文稿</vt:lpstr>
      <vt:lpstr>§6.2  8255A的工作原理</vt:lpstr>
      <vt:lpstr>PowerPoint 演示文稿</vt:lpstr>
      <vt:lpstr>PowerPoint 演示文稿</vt:lpstr>
      <vt:lpstr>§6.3  8255A的应用举例</vt:lpstr>
      <vt:lpstr>§6.3  8255A的应用举例</vt:lpstr>
      <vt:lpstr>6.3.1  基本输入输出应用举例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七段LED显示原理</vt:lpstr>
      <vt:lpstr>PowerPoint 演示文稿</vt:lpstr>
      <vt:lpstr>§6.3  8255A的应用举例</vt:lpstr>
      <vt:lpstr>6.3.2  键盘接口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6-1 I/O接口</dc:title>
  <dc:creator>冯周</dc:creator>
  <cp:lastModifiedBy>Hong Zhang</cp:lastModifiedBy>
  <cp:revision>385</cp:revision>
  <cp:lastPrinted>2113-01-01T00:00:00Z</cp:lastPrinted>
  <dcterms:created xsi:type="dcterms:W3CDTF">2113-01-01T00:00:00Z</dcterms:created>
  <dcterms:modified xsi:type="dcterms:W3CDTF">2024-04-15T05:18:27Z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2052-11.1.0.10938</vt:lpwstr>
  </property>
  <property fmtid="{D5CDD505-2E9C-101B-9397-08002B2CF9AE}" pid="4" name="ICV">
    <vt:lpwstr>1EA5EAFF1BAE4A34A9DD7E1C7EFCC1D4</vt:lpwstr>
  </property>
</Properties>
</file>
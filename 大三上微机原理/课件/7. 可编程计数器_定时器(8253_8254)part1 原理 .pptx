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  <p:sldMasterId id="2147483666" r:id="rId2"/>
  </p:sldMasterIdLst>
  <p:sldIdLst>
    <p:sldId id="256" r:id="rId3"/>
    <p:sldId id="257" r:id="rId4"/>
    <p:sldId id="323" r:id="rId5"/>
    <p:sldId id="322" r:id="rId6"/>
    <p:sldId id="324" r:id="rId7"/>
    <p:sldId id="325" r:id="rId8"/>
    <p:sldId id="326" r:id="rId9"/>
    <p:sldId id="327" r:id="rId10"/>
    <p:sldId id="328" r:id="rId11"/>
    <p:sldId id="331" r:id="rId12"/>
    <p:sldId id="332" r:id="rId13"/>
    <p:sldId id="333" r:id="rId14"/>
    <p:sldId id="334" r:id="rId15"/>
    <p:sldId id="335" r:id="rId16"/>
    <p:sldId id="336" r:id="rId17"/>
    <p:sldId id="337" r:id="rId18"/>
    <p:sldId id="338" r:id="rId19"/>
    <p:sldId id="340" r:id="rId20"/>
    <p:sldId id="339" r:id="rId21"/>
    <p:sldId id="342" r:id="rId22"/>
    <p:sldId id="343" r:id="rId23"/>
    <p:sldId id="341" r:id="rId24"/>
    <p:sldId id="383" r:id="rId25"/>
    <p:sldId id="346" r:id="rId26"/>
    <p:sldId id="347" r:id="rId27"/>
    <p:sldId id="345" r:id="rId28"/>
    <p:sldId id="349" r:id="rId29"/>
    <p:sldId id="350" r:id="rId30"/>
    <p:sldId id="348" r:id="rId31"/>
    <p:sldId id="384" r:id="rId32"/>
    <p:sldId id="352" r:id="rId33"/>
    <p:sldId id="351" r:id="rId34"/>
    <p:sldId id="354" r:id="rId35"/>
    <p:sldId id="355" r:id="rId36"/>
    <p:sldId id="385" r:id="rId37"/>
    <p:sldId id="356" r:id="rId38"/>
    <p:sldId id="398" r:id="rId3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0">
          <p15:clr>
            <a:srgbClr val="A4A3A4"/>
          </p15:clr>
        </p15:guide>
        <p15:guide id="2" pos="269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E6E60A"/>
    <a:srgbClr val="33CCCC"/>
    <a:srgbClr val="E86308"/>
    <a:srgbClr val="DDDDDD"/>
    <a:srgbClr val="F91515"/>
    <a:srgbClr val="FF1F1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>
      <p:cViewPr varScale="1">
        <p:scale>
          <a:sx n="63" d="100"/>
          <a:sy n="63" d="100"/>
        </p:scale>
        <p:origin x="1372" y="52"/>
      </p:cViewPr>
      <p:guideLst>
        <p:guide orient="horz" pos="2210"/>
        <p:guide pos="269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049">
            <a:extLst>
              <a:ext uri="{FF2B5EF4-FFF2-40B4-BE49-F238E27FC236}">
                <a16:creationId xmlns:a16="http://schemas.microsoft.com/office/drawing/2014/main" id="{53B18182-6FB4-431E-B4B5-0223673CB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32131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rgbClr val="00214A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endParaRPr lang="zh-CN" altLang="en-US"/>
          </a:p>
        </p:txBody>
      </p:sp>
      <p:pic>
        <p:nvPicPr>
          <p:cNvPr id="4" name="图片 2050">
            <a:extLst>
              <a:ext uri="{FF2B5EF4-FFF2-40B4-BE49-F238E27FC236}">
                <a16:creationId xmlns:a16="http://schemas.microsoft.com/office/drawing/2014/main" id="{894A8772-277C-4FB2-9F5C-CB317BCC7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850" y="-57150"/>
            <a:ext cx="9290050" cy="691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2052">
            <a:extLst>
              <a:ext uri="{FF2B5EF4-FFF2-40B4-BE49-F238E27FC236}">
                <a16:creationId xmlns:a16="http://schemas.microsoft.com/office/drawing/2014/main" id="{A8BB3E18-8ED2-455A-A6DA-F64085914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12725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endParaRPr lang="en-US" altLang="zh-CN" sz="2000" b="1">
              <a:solidFill>
                <a:schemeClr val="bg2"/>
              </a:solidFill>
              <a:latin typeface="Verdana" panose="020B0604030504040204" pitchFamily="34" charset="0"/>
            </a:endParaRPr>
          </a:p>
        </p:txBody>
      </p:sp>
      <p:sp>
        <p:nvSpPr>
          <p:cNvPr id="6" name="圆角矩形 2053">
            <a:extLst>
              <a:ext uri="{FF2B5EF4-FFF2-40B4-BE49-F238E27FC236}">
                <a16:creationId xmlns:a16="http://schemas.microsoft.com/office/drawing/2014/main" id="{A3BDB7F1-3686-4CBE-AD05-FD9E8CCD1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590800"/>
            <a:ext cx="7543800" cy="914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5B94E1"/>
              </a:gs>
              <a:gs pos="50000">
                <a:srgbClr val="2A4468"/>
              </a:gs>
              <a:gs pos="100000">
                <a:srgbClr val="5B94E1"/>
              </a:gs>
            </a:gsLst>
            <a:lin ang="0" scaled="1"/>
          </a:gradFill>
          <a:ln w="7620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 latinLnBrk="1"/>
            <a:endParaRPr lang="ko-KR" altLang="en-US" sz="4000" b="1">
              <a:solidFill>
                <a:schemeClr val="bg1"/>
              </a:solidFill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7" name="文本框 2057">
            <a:extLst>
              <a:ext uri="{FF2B5EF4-FFF2-40B4-BE49-F238E27FC236}">
                <a16:creationId xmlns:a16="http://schemas.microsoft.com/office/drawing/2014/main" id="{05F8D629-BC6A-44D2-AF94-6EFAE375CC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486400"/>
            <a:ext cx="312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zh-CN" altLang="en-US" sz="2400" b="1">
                <a:solidFill>
                  <a:schemeClr val="tx2"/>
                </a:solidFill>
                <a:latin typeface="Lucida Sans Unicode" panose="020B0602030504020204" pitchFamily="34" charset="0"/>
                <a:ea typeface="仿宋_GB2312" pitchFamily="49" charset="-122"/>
              </a:rPr>
              <a:t>华中科技大学控制系</a:t>
            </a:r>
          </a:p>
        </p:txBody>
      </p:sp>
      <p:pic>
        <p:nvPicPr>
          <p:cNvPr id="8" name="图片 6">
            <a:extLst>
              <a:ext uri="{FF2B5EF4-FFF2-40B4-BE49-F238E27FC236}">
                <a16:creationId xmlns:a16="http://schemas.microsoft.com/office/drawing/2014/main" id="{93DDC9B4-96AF-47DF-9BE9-0E0E3A78F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5257800"/>
            <a:ext cx="96837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副标题 2051"/>
          <p:cNvSpPr>
            <a:spLocks noGrp="1"/>
          </p:cNvSpPr>
          <p:nvPr>
            <p:ph type="subTitle" idx="1"/>
          </p:nvPr>
        </p:nvSpPr>
        <p:spPr>
          <a:xfrm>
            <a:off x="1371600" y="3962400"/>
            <a:ext cx="6324600" cy="381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ctr">
              <a:buNone/>
              <a:defRPr sz="1800"/>
            </a:lvl1pPr>
            <a:lvl2pPr marL="457200" lvl="1" indent="0" algn="ctr">
              <a:buNone/>
              <a:defRPr sz="18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800"/>
            </a:lvl4pPr>
            <a:lvl5pPr marL="1828800" lvl="4" indent="0" algn="ctr">
              <a:buNone/>
              <a:defRPr sz="1800"/>
            </a:lvl5pPr>
          </a:lstStyle>
          <a:p>
            <a:pPr lvl="0"/>
            <a:r>
              <a:rPr lang="en-US" altLang="zh-CN" noProof="1"/>
              <a:t>Click to edit Master subtitle style</a:t>
            </a:r>
          </a:p>
        </p:txBody>
      </p:sp>
      <p:sp>
        <p:nvSpPr>
          <p:cNvPr id="9" name="日期占位符 2054">
            <a:extLst>
              <a:ext uri="{FF2B5EF4-FFF2-40B4-BE49-F238E27FC236}">
                <a16:creationId xmlns:a16="http://schemas.microsoft.com/office/drawing/2014/main" id="{B4024F46-CE48-4D5D-856C-EBC3D687AD4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420688" y="6248400"/>
            <a:ext cx="2133600" cy="152400"/>
          </a:xfrm>
          <a:prstGeom prst="rect">
            <a:avLst/>
          </a:prstGeom>
        </p:spPr>
        <p:txBody>
          <a:bodyPr anchor="t"/>
          <a:lstStyle>
            <a:lvl1pPr>
              <a:defRPr sz="1400" noProof="1">
                <a:effectLst>
                  <a:outerShdw blurRad="38100" dist="38100" dir="2700000">
                    <a:srgbClr val="C0C0C0"/>
                  </a:outerShdw>
                </a:effectLst>
                <a:ea typeface="Gulim" pitchFamily="34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页脚占位符 2055">
            <a:extLst>
              <a:ext uri="{FF2B5EF4-FFF2-40B4-BE49-F238E27FC236}">
                <a16:creationId xmlns:a16="http://schemas.microsoft.com/office/drawing/2014/main" id="{F3D54A93-8B54-4521-A7D4-4A8602428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3888" y="6248400"/>
            <a:ext cx="2895600" cy="152400"/>
          </a:xfrm>
          <a:prstGeom prst="rect">
            <a:avLst/>
          </a:prstGeom>
        </p:spPr>
        <p:txBody>
          <a:bodyPr anchor="t"/>
          <a:lstStyle>
            <a:lvl1pPr algn="ctr">
              <a:defRPr sz="1400" noProof="1">
                <a:effectLst>
                  <a:outerShdw blurRad="38100" dist="38100" dir="2700000">
                    <a:srgbClr val="C0C0C0"/>
                  </a:outerShdw>
                </a:effectLst>
                <a:ea typeface="Gulim" pitchFamily="34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1" name="灯片编号占位符 2056">
            <a:extLst>
              <a:ext uri="{FF2B5EF4-FFF2-40B4-BE49-F238E27FC236}">
                <a16:creationId xmlns:a16="http://schemas.microsoft.com/office/drawing/2014/main" id="{F9CF503E-676B-48A7-A004-CF0463E08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73838" y="6248400"/>
            <a:ext cx="2133600" cy="152400"/>
          </a:xfrm>
        </p:spPr>
        <p:txBody>
          <a:bodyPr anchor="t"/>
          <a:lstStyle>
            <a:lvl1pPr algn="r">
              <a:defRPr sz="1400">
                <a:effectLst>
                  <a:outerShdw blurRad="38100" dist="38100" dir="2700000">
                    <a:srgbClr val="C0C0C0"/>
                  </a:outerShdw>
                </a:effectLst>
                <a:ea typeface="Gulim" pitchFamily="34" charset="-127"/>
              </a:defRPr>
            </a:lvl1pPr>
          </a:lstStyle>
          <a:p>
            <a:pPr>
              <a:defRPr/>
            </a:pPr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75638046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0CADB1C4-550F-4CD4-8750-61ADF289F7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0EE8B2-8388-4BA4-9070-1F22DEF4B14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868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18CBE4A3-3906-4B0D-B2EB-D350880F75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43C5D3-4A32-4DE6-B31C-A2510C25196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695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2504" cy="495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371600"/>
            <a:ext cx="4032504" cy="495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80423658-0D34-4DB3-B345-5645C554E3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26F19F-95FA-42DB-9722-CA424848133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4632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灯片编号占位符 1026">
            <a:extLst>
              <a:ext uri="{FF2B5EF4-FFF2-40B4-BE49-F238E27FC236}">
                <a16:creationId xmlns:a16="http://schemas.microsoft.com/office/drawing/2014/main" id="{1B3D7BCF-8053-42A5-9CCA-731090668C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068500-717B-4537-9F4C-9DA505B7B8D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69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灯片编号占位符 1026">
            <a:extLst>
              <a:ext uri="{FF2B5EF4-FFF2-40B4-BE49-F238E27FC236}">
                <a16:creationId xmlns:a16="http://schemas.microsoft.com/office/drawing/2014/main" id="{D4775FF3-388B-4C4E-9562-71A37ECEE4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F8C275-2E66-4665-8F7C-E1780CB4705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966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026">
            <a:extLst>
              <a:ext uri="{FF2B5EF4-FFF2-40B4-BE49-F238E27FC236}">
                <a16:creationId xmlns:a16="http://schemas.microsoft.com/office/drawing/2014/main" id="{9BEB3B59-89C0-456E-8C13-CCD000B1C5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8C3B36-6B73-49CF-8E1C-51C3F5A8B94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962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4A8AF4DD-706F-47AF-ACE6-0308A2D12B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C48297-7E95-473C-8F02-8BE381C351D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45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70A6FE62-AF85-41F3-B10F-286EFD7B2A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A4C98A-2657-4632-BBF5-83DA8C90460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510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64450008-CAE8-45B1-8AAA-0E86BE91A5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423696-62D0-4CB4-B0BC-2E927F338F6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885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43700" y="222250"/>
            <a:ext cx="2095500" cy="61023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2250"/>
            <a:ext cx="6165022" cy="61023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B697FB13-C648-4746-9D8C-2552C56E6E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E3FF20-50CE-4B2E-B7A0-18A49BBC7BD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6614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22250"/>
            <a:ext cx="8382000" cy="61023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灯片编号占位符 1026">
            <a:extLst>
              <a:ext uri="{FF2B5EF4-FFF2-40B4-BE49-F238E27FC236}">
                <a16:creationId xmlns:a16="http://schemas.microsoft.com/office/drawing/2014/main" id="{E397FB9C-68BA-4BD1-BAA6-5EA52D5A4F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CB3928-1FC4-44E9-A246-C3095B6C366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0975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049">
            <a:extLst>
              <a:ext uri="{FF2B5EF4-FFF2-40B4-BE49-F238E27FC236}">
                <a16:creationId xmlns:a16="http://schemas.microsoft.com/office/drawing/2014/main" id="{C1D3B978-572A-4585-858E-BBC20D2EF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32131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rgbClr val="00214A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endParaRPr lang="zh-CN" altLang="en-US"/>
          </a:p>
        </p:txBody>
      </p:sp>
      <p:pic>
        <p:nvPicPr>
          <p:cNvPr id="4" name="图片 2050">
            <a:extLst>
              <a:ext uri="{FF2B5EF4-FFF2-40B4-BE49-F238E27FC236}">
                <a16:creationId xmlns:a16="http://schemas.microsoft.com/office/drawing/2014/main" id="{37D6573B-1905-4C4C-B909-B99FB825E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850" y="-57150"/>
            <a:ext cx="9290050" cy="691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2052">
            <a:extLst>
              <a:ext uri="{FF2B5EF4-FFF2-40B4-BE49-F238E27FC236}">
                <a16:creationId xmlns:a16="http://schemas.microsoft.com/office/drawing/2014/main" id="{42127185-6087-43CD-884B-661847906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12725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endParaRPr lang="en-US" altLang="zh-CN" sz="2000" b="1">
              <a:solidFill>
                <a:schemeClr val="bg2"/>
              </a:solidFill>
              <a:latin typeface="Verdana" panose="020B0604030504040204" pitchFamily="34" charset="0"/>
            </a:endParaRPr>
          </a:p>
        </p:txBody>
      </p:sp>
      <p:sp>
        <p:nvSpPr>
          <p:cNvPr id="6" name="圆角矩形 2053">
            <a:extLst>
              <a:ext uri="{FF2B5EF4-FFF2-40B4-BE49-F238E27FC236}">
                <a16:creationId xmlns:a16="http://schemas.microsoft.com/office/drawing/2014/main" id="{6DB1BBDD-86EA-48B3-960D-558C3D63C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590800"/>
            <a:ext cx="7543800" cy="914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5B94E1"/>
              </a:gs>
              <a:gs pos="50000">
                <a:srgbClr val="2A4468"/>
              </a:gs>
              <a:gs pos="100000">
                <a:srgbClr val="5B94E1"/>
              </a:gs>
            </a:gsLst>
            <a:lin ang="0" scaled="1"/>
          </a:gradFill>
          <a:ln w="7620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 latinLnBrk="1"/>
            <a:endParaRPr lang="ko-KR" altLang="en-US" sz="4000" b="1">
              <a:solidFill>
                <a:schemeClr val="bg1"/>
              </a:solidFill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7" name="文本框 2057">
            <a:extLst>
              <a:ext uri="{FF2B5EF4-FFF2-40B4-BE49-F238E27FC236}">
                <a16:creationId xmlns:a16="http://schemas.microsoft.com/office/drawing/2014/main" id="{76FDB1C0-69CC-43F0-9B51-2B54DF920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486400"/>
            <a:ext cx="312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zh-CN" altLang="en-US" sz="2400" b="1">
                <a:solidFill>
                  <a:schemeClr val="tx2"/>
                </a:solidFill>
                <a:latin typeface="Lucida Sans Unicode" panose="020B0602030504020204" pitchFamily="34" charset="0"/>
                <a:ea typeface="仿宋_GB2312" pitchFamily="49" charset="-122"/>
              </a:rPr>
              <a:t>华中科技大学控制系</a:t>
            </a:r>
          </a:p>
        </p:txBody>
      </p:sp>
      <p:pic>
        <p:nvPicPr>
          <p:cNvPr id="8" name="图片 6">
            <a:extLst>
              <a:ext uri="{FF2B5EF4-FFF2-40B4-BE49-F238E27FC236}">
                <a16:creationId xmlns:a16="http://schemas.microsoft.com/office/drawing/2014/main" id="{C12697D0-2D7A-48B8-B92A-27D9E2E28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5257800"/>
            <a:ext cx="96837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副标题 2051"/>
          <p:cNvSpPr>
            <a:spLocks noGrp="1"/>
          </p:cNvSpPr>
          <p:nvPr>
            <p:ph type="subTitle" idx="1"/>
          </p:nvPr>
        </p:nvSpPr>
        <p:spPr>
          <a:xfrm>
            <a:off x="1371600" y="3962400"/>
            <a:ext cx="6324600" cy="381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ctr">
              <a:buNone/>
              <a:defRPr sz="1800"/>
            </a:lvl1pPr>
            <a:lvl2pPr marL="457200" lvl="1" indent="0" algn="ctr">
              <a:buNone/>
              <a:defRPr sz="18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800"/>
            </a:lvl4pPr>
            <a:lvl5pPr marL="1828800" lvl="4" indent="0" algn="ctr">
              <a:buNone/>
              <a:defRPr sz="1800"/>
            </a:lvl5pPr>
          </a:lstStyle>
          <a:p>
            <a:pPr lvl="0"/>
            <a:r>
              <a:rPr lang="en-US" altLang="zh-CN" noProof="1"/>
              <a:t>Click to edit Master subtitle style</a:t>
            </a:r>
          </a:p>
        </p:txBody>
      </p:sp>
      <p:sp>
        <p:nvSpPr>
          <p:cNvPr id="9" name="日期占位符 2054">
            <a:extLst>
              <a:ext uri="{FF2B5EF4-FFF2-40B4-BE49-F238E27FC236}">
                <a16:creationId xmlns:a16="http://schemas.microsoft.com/office/drawing/2014/main" id="{35EC583C-A4BC-4443-A2B8-6AC9BCF9B5E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420688" y="6248400"/>
            <a:ext cx="2133600" cy="152400"/>
          </a:xfrm>
          <a:prstGeom prst="rect">
            <a:avLst/>
          </a:prstGeom>
        </p:spPr>
        <p:txBody>
          <a:bodyPr anchor="t"/>
          <a:lstStyle>
            <a:lvl1pPr>
              <a:defRPr sz="1400" noProof="1">
                <a:effectLst>
                  <a:outerShdw blurRad="38100" dist="38100" dir="2700000">
                    <a:srgbClr val="C0C0C0"/>
                  </a:outerShdw>
                </a:effectLst>
                <a:ea typeface="Gulim" pitchFamily="34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页脚占位符 2055">
            <a:extLst>
              <a:ext uri="{FF2B5EF4-FFF2-40B4-BE49-F238E27FC236}">
                <a16:creationId xmlns:a16="http://schemas.microsoft.com/office/drawing/2014/main" id="{CAB24EA7-D0E8-46E2-AD7E-3AA278030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3888" y="6248400"/>
            <a:ext cx="2895600" cy="152400"/>
          </a:xfrm>
          <a:prstGeom prst="rect">
            <a:avLst/>
          </a:prstGeom>
        </p:spPr>
        <p:txBody>
          <a:bodyPr anchor="t"/>
          <a:lstStyle>
            <a:lvl1pPr algn="ctr">
              <a:defRPr sz="1400" noProof="1">
                <a:effectLst>
                  <a:outerShdw blurRad="38100" dist="38100" dir="2700000">
                    <a:srgbClr val="C0C0C0"/>
                  </a:outerShdw>
                </a:effectLst>
                <a:ea typeface="Gulim" pitchFamily="34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1" name="灯片编号占位符 2056">
            <a:extLst>
              <a:ext uri="{FF2B5EF4-FFF2-40B4-BE49-F238E27FC236}">
                <a16:creationId xmlns:a16="http://schemas.microsoft.com/office/drawing/2014/main" id="{026499A2-7C9A-4156-990A-CB2122CF1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73838" y="6248400"/>
            <a:ext cx="2133600" cy="152400"/>
          </a:xfrm>
        </p:spPr>
        <p:txBody>
          <a:bodyPr anchor="t"/>
          <a:lstStyle>
            <a:lvl1pPr algn="r">
              <a:defRPr sz="1400">
                <a:effectLst>
                  <a:outerShdw blurRad="38100" dist="38100" dir="2700000">
                    <a:srgbClr val="C0C0C0"/>
                  </a:outerShdw>
                </a:effectLst>
                <a:ea typeface="Gulim" pitchFamily="34" charset="-127"/>
              </a:defRPr>
            </a:lvl1pPr>
          </a:lstStyle>
          <a:p>
            <a:pPr>
              <a:defRPr/>
            </a:pPr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52664080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936D6FED-0A0B-427E-B33B-D1FD28C5A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8932C2-0356-4406-9B69-7886A907307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34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BC69A4FE-E748-46C3-8CE8-DD9BA20A67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1D5D4-D6C0-4E17-8E48-CA924C63889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2159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2504" cy="495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371600"/>
            <a:ext cx="4032504" cy="495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BEE98E55-66A4-4C08-9EB4-516CE49C83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81DA6E-A7C2-4121-914E-597B465FBAC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98220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灯片编号占位符 1026">
            <a:extLst>
              <a:ext uri="{FF2B5EF4-FFF2-40B4-BE49-F238E27FC236}">
                <a16:creationId xmlns:a16="http://schemas.microsoft.com/office/drawing/2014/main" id="{8567AA77-05B6-481A-81FD-1021F977DA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FEAE49-A7D1-4B20-8BC3-F401491F4E3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08220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灯片编号占位符 1026">
            <a:extLst>
              <a:ext uri="{FF2B5EF4-FFF2-40B4-BE49-F238E27FC236}">
                <a16:creationId xmlns:a16="http://schemas.microsoft.com/office/drawing/2014/main" id="{323504A9-4592-481F-80CF-D3C154FE2B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65C644-277B-4F05-9F24-482ED2B774B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6799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026">
            <a:extLst>
              <a:ext uri="{FF2B5EF4-FFF2-40B4-BE49-F238E27FC236}">
                <a16:creationId xmlns:a16="http://schemas.microsoft.com/office/drawing/2014/main" id="{2F2B2639-1400-468F-B1F6-4EC43DD835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AD5A9A-42A5-47DC-BE0F-6B532A351BB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153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33713584-72E2-4694-B4BA-F25BB56FF6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A7EBBE-7D8D-4F13-B1B2-E4AFF51797B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4133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CA0FB791-5C1F-4FB9-B90B-7F9399838C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9E2482-2FC9-4619-A843-57A45A33EB9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7344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CB249297-E721-4E5D-A619-A1AE904E33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62F0E8-9F48-434F-A190-0E49D23EE61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8759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43700" y="222250"/>
            <a:ext cx="2095500" cy="61023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2250"/>
            <a:ext cx="6165022" cy="61023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C58D5EF9-9189-445D-B432-C0C8D362E7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CD6E08-606F-408B-9AB0-327167AE51D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0771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22250"/>
            <a:ext cx="8382000" cy="61023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灯片编号占位符 1026">
            <a:extLst>
              <a:ext uri="{FF2B5EF4-FFF2-40B4-BE49-F238E27FC236}">
                <a16:creationId xmlns:a16="http://schemas.microsoft.com/office/drawing/2014/main" id="{CA169D3D-6627-48C5-B517-93C773EED9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EB9BB8-CE96-4EB4-9A8A-CB7EC0145EA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937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025">
            <a:extLst>
              <a:ext uri="{FF2B5EF4-FFF2-40B4-BE49-F238E27FC236}">
                <a16:creationId xmlns:a16="http://schemas.microsoft.com/office/drawing/2014/main" id="{AB7BBC64-9B83-4E24-89F2-E07E22363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灯片编号占位符 1026">
            <a:extLst>
              <a:ext uri="{FF2B5EF4-FFF2-40B4-BE49-F238E27FC236}">
                <a16:creationId xmlns:a16="http://schemas.microsoft.com/office/drawing/2014/main" id="{22C83588-2EBD-43E0-B379-3EC5A37C3D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0" y="6527800"/>
            <a:ext cx="1143000" cy="330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noProof="1" dirty="0"/>
            </a:lvl1pPr>
          </a:lstStyle>
          <a:p>
            <a:pPr>
              <a:defRPr/>
            </a:pPr>
            <a:fld id="{68D22783-5B32-4F8D-809A-5EF9DC03134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28" name="文本框 1027">
            <a:extLst>
              <a:ext uri="{FF2B5EF4-FFF2-40B4-BE49-F238E27FC236}">
                <a16:creationId xmlns:a16="http://schemas.microsoft.com/office/drawing/2014/main" id="{4CDB726F-FB6B-464B-B1C7-628844279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6583363"/>
            <a:ext cx="1905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b="1">
                <a:solidFill>
                  <a:schemeClr val="bg1"/>
                </a:solidFill>
                <a:latin typeface="Verdana" panose="020B0604030504040204" pitchFamily="34" charset="0"/>
              </a:rPr>
              <a:t>COMPANY LOGO</a:t>
            </a:r>
          </a:p>
        </p:txBody>
      </p:sp>
      <p:sp>
        <p:nvSpPr>
          <p:cNvPr id="1029" name="未知">
            <a:extLst>
              <a:ext uri="{FF2B5EF4-FFF2-40B4-BE49-F238E27FC236}">
                <a16:creationId xmlns:a16="http://schemas.microsoft.com/office/drawing/2014/main" id="{4C8E5420-52EE-4D6A-BFE0-AF9927225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" y="963613"/>
            <a:ext cx="9140825" cy="461962"/>
          </a:xfrm>
          <a:custGeom>
            <a:avLst/>
            <a:gdLst>
              <a:gd name="T0" fmla="*/ 0 w 5764"/>
              <a:gd name="T1" fmla="*/ 290 h 291"/>
              <a:gd name="T2" fmla="*/ 1 w 5764"/>
              <a:gd name="T3" fmla="*/ 193 h 291"/>
              <a:gd name="T4" fmla="*/ 1833 w 5764"/>
              <a:gd name="T5" fmla="*/ 25 h 291"/>
              <a:gd name="T6" fmla="*/ 3966 w 5764"/>
              <a:gd name="T7" fmla="*/ 41 h 291"/>
              <a:gd name="T8" fmla="*/ 5760 w 5764"/>
              <a:gd name="T9" fmla="*/ 184 h 291"/>
              <a:gd name="T10" fmla="*/ 5764 w 5764"/>
              <a:gd name="T11" fmla="*/ 291 h 291"/>
              <a:gd name="T12" fmla="*/ 0 w 5764"/>
              <a:gd name="T13" fmla="*/ 290 h 2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764" h="291">
                <a:moveTo>
                  <a:pt x="0" y="290"/>
                </a:moveTo>
                <a:lnTo>
                  <a:pt x="1" y="193"/>
                </a:lnTo>
                <a:cubicBezTo>
                  <a:pt x="305" y="150"/>
                  <a:pt x="1172" y="50"/>
                  <a:pt x="1833" y="25"/>
                </a:cubicBezTo>
                <a:cubicBezTo>
                  <a:pt x="2494" y="0"/>
                  <a:pt x="3312" y="15"/>
                  <a:pt x="3966" y="41"/>
                </a:cubicBezTo>
                <a:cubicBezTo>
                  <a:pt x="4620" y="68"/>
                  <a:pt x="5460" y="142"/>
                  <a:pt x="5760" y="184"/>
                </a:cubicBezTo>
                <a:lnTo>
                  <a:pt x="5764" y="291"/>
                </a:lnTo>
                <a:lnTo>
                  <a:pt x="0" y="29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/>
          </a:p>
        </p:txBody>
      </p:sp>
      <p:sp>
        <p:nvSpPr>
          <p:cNvPr id="1030" name="文本占位符 1029">
            <a:extLst>
              <a:ext uri="{FF2B5EF4-FFF2-40B4-BE49-F238E27FC236}">
                <a16:creationId xmlns:a16="http://schemas.microsoft.com/office/drawing/2014/main" id="{A87B32C7-5F37-4513-A50C-8C1E840DCCC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371600"/>
            <a:ext cx="8229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31" name="圆角矩形 1030">
            <a:extLst>
              <a:ext uri="{FF2B5EF4-FFF2-40B4-BE49-F238E27FC236}">
                <a16:creationId xmlns:a16="http://schemas.microsoft.com/office/drawing/2014/main" id="{DB3B23DA-457E-4CE3-BD1E-76CC36C03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8600"/>
            <a:ext cx="8229600" cy="685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5B94E1"/>
              </a:gs>
              <a:gs pos="50000">
                <a:srgbClr val="2A4468"/>
              </a:gs>
              <a:gs pos="100000">
                <a:srgbClr val="5B94E1"/>
              </a:gs>
            </a:gsLst>
            <a:lin ang="0" scaled="1"/>
          </a:gradFill>
          <a:ln w="57150" cmpd="thinThick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 latinLnBrk="1"/>
            <a:endParaRPr lang="ko-KR" altLang="en-US" sz="4000" b="1">
              <a:solidFill>
                <a:schemeClr val="bg1"/>
              </a:solidFill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1032" name="直接连接符 1031">
            <a:extLst>
              <a:ext uri="{FF2B5EF4-FFF2-40B4-BE49-F238E27FC236}">
                <a16:creationId xmlns:a16="http://schemas.microsoft.com/office/drawing/2014/main" id="{AB1B7A19-FF9F-4325-9CFB-D4B317F6B25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400800"/>
            <a:ext cx="84582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3" name="标题 1032">
            <a:extLst>
              <a:ext uri="{FF2B5EF4-FFF2-40B4-BE49-F238E27FC236}">
                <a16:creationId xmlns:a16="http://schemas.microsoft.com/office/drawing/2014/main" id="{8F5AA021-7F3B-4DBB-9BA2-C7D6A6160B5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22250"/>
            <a:ext cx="8382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690" r:id="rId2"/>
    <p:sldLayoutId id="2147483689" r:id="rId3"/>
    <p:sldLayoutId id="2147483688" r:id="rId4"/>
    <p:sldLayoutId id="2147483687" r:id="rId5"/>
    <p:sldLayoutId id="2147483686" r:id="rId6"/>
    <p:sldLayoutId id="2147483685" r:id="rId7"/>
    <p:sldLayoutId id="2147483684" r:id="rId8"/>
    <p:sldLayoutId id="2147483683" r:id="rId9"/>
    <p:sldLayoutId id="2147483682" r:id="rId10"/>
    <p:sldLayoutId id="2147483681" r:id="rId11"/>
    <p:sldLayoutId id="214748368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2pPr>
      <a:lvl3pPr marL="914400" lvl="2" indent="0" algn="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3pPr>
      <a:lvl4pPr marL="1371600" lvl="3" indent="0" algn="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4pPr>
      <a:lvl5pPr marL="1828800" lvl="4" indent="0" algn="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5pPr>
      <a:lvl6pPr marL="2286000" lvl="5" indent="0" algn="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6pPr>
      <a:lvl7pPr marL="2743200" lvl="6" indent="0" algn="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7pPr>
      <a:lvl8pPr marL="3200400" lvl="7" indent="0" algn="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8pPr>
      <a:lvl9pPr marL="3657600" lvl="8" indent="0" algn="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1025">
            <a:extLst>
              <a:ext uri="{FF2B5EF4-FFF2-40B4-BE49-F238E27FC236}">
                <a16:creationId xmlns:a16="http://schemas.microsoft.com/office/drawing/2014/main" id="{7EBE3D5B-830A-4AB1-827A-FBFD7C536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灯片编号占位符 1026">
            <a:extLst>
              <a:ext uri="{FF2B5EF4-FFF2-40B4-BE49-F238E27FC236}">
                <a16:creationId xmlns:a16="http://schemas.microsoft.com/office/drawing/2014/main" id="{C8F41D84-69D0-42FB-A2AC-1FE8367F9C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0" y="6527800"/>
            <a:ext cx="1143000" cy="330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noProof="1" dirty="0"/>
            </a:lvl1pPr>
          </a:lstStyle>
          <a:p>
            <a:pPr>
              <a:defRPr/>
            </a:pPr>
            <a:fld id="{DA3B52A2-0B2F-41B6-848F-24F68772E43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2052" name="文本框 1027">
            <a:extLst>
              <a:ext uri="{FF2B5EF4-FFF2-40B4-BE49-F238E27FC236}">
                <a16:creationId xmlns:a16="http://schemas.microsoft.com/office/drawing/2014/main" id="{9D29A0B0-8EBD-435D-B7E7-CB85F5D15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6583363"/>
            <a:ext cx="1905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b="1">
                <a:solidFill>
                  <a:schemeClr val="bg1"/>
                </a:solidFill>
                <a:latin typeface="Verdana" panose="020B0604030504040204" pitchFamily="34" charset="0"/>
              </a:rPr>
              <a:t>COMPANY LOGO</a:t>
            </a:r>
          </a:p>
        </p:txBody>
      </p:sp>
      <p:sp>
        <p:nvSpPr>
          <p:cNvPr id="2053" name="未知">
            <a:extLst>
              <a:ext uri="{FF2B5EF4-FFF2-40B4-BE49-F238E27FC236}">
                <a16:creationId xmlns:a16="http://schemas.microsoft.com/office/drawing/2014/main" id="{5EF9C9A5-23D2-4EB2-BB2D-0E0E4A0BC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" y="963613"/>
            <a:ext cx="9140825" cy="461962"/>
          </a:xfrm>
          <a:custGeom>
            <a:avLst/>
            <a:gdLst>
              <a:gd name="T0" fmla="*/ 0 w 5764"/>
              <a:gd name="T1" fmla="*/ 290 h 291"/>
              <a:gd name="T2" fmla="*/ 1 w 5764"/>
              <a:gd name="T3" fmla="*/ 193 h 291"/>
              <a:gd name="T4" fmla="*/ 1833 w 5764"/>
              <a:gd name="T5" fmla="*/ 25 h 291"/>
              <a:gd name="T6" fmla="*/ 3966 w 5764"/>
              <a:gd name="T7" fmla="*/ 41 h 291"/>
              <a:gd name="T8" fmla="*/ 5760 w 5764"/>
              <a:gd name="T9" fmla="*/ 184 h 291"/>
              <a:gd name="T10" fmla="*/ 5764 w 5764"/>
              <a:gd name="T11" fmla="*/ 291 h 291"/>
              <a:gd name="T12" fmla="*/ 0 w 5764"/>
              <a:gd name="T13" fmla="*/ 290 h 2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764" h="291">
                <a:moveTo>
                  <a:pt x="0" y="290"/>
                </a:moveTo>
                <a:lnTo>
                  <a:pt x="1" y="193"/>
                </a:lnTo>
                <a:cubicBezTo>
                  <a:pt x="305" y="150"/>
                  <a:pt x="1172" y="50"/>
                  <a:pt x="1833" y="25"/>
                </a:cubicBezTo>
                <a:cubicBezTo>
                  <a:pt x="2494" y="0"/>
                  <a:pt x="3312" y="15"/>
                  <a:pt x="3966" y="41"/>
                </a:cubicBezTo>
                <a:cubicBezTo>
                  <a:pt x="4620" y="68"/>
                  <a:pt x="5460" y="142"/>
                  <a:pt x="5760" y="184"/>
                </a:cubicBezTo>
                <a:lnTo>
                  <a:pt x="5764" y="291"/>
                </a:lnTo>
                <a:lnTo>
                  <a:pt x="0" y="29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/>
          </a:p>
        </p:txBody>
      </p:sp>
      <p:sp>
        <p:nvSpPr>
          <p:cNvPr id="2054" name="文本占位符 1029">
            <a:extLst>
              <a:ext uri="{FF2B5EF4-FFF2-40B4-BE49-F238E27FC236}">
                <a16:creationId xmlns:a16="http://schemas.microsoft.com/office/drawing/2014/main" id="{4C426504-EE35-452C-ADA7-05537E7ED2E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371600"/>
            <a:ext cx="8229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055" name="圆角矩形 1030">
            <a:extLst>
              <a:ext uri="{FF2B5EF4-FFF2-40B4-BE49-F238E27FC236}">
                <a16:creationId xmlns:a16="http://schemas.microsoft.com/office/drawing/2014/main" id="{9DA9239B-D1B2-47F1-B2CE-D259B9FC0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8600"/>
            <a:ext cx="8229600" cy="685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5B94E1"/>
              </a:gs>
              <a:gs pos="50000">
                <a:srgbClr val="2A4468"/>
              </a:gs>
              <a:gs pos="100000">
                <a:srgbClr val="5B94E1"/>
              </a:gs>
            </a:gsLst>
            <a:lin ang="0" scaled="1"/>
          </a:gradFill>
          <a:ln w="57150" cmpd="thinThick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 latinLnBrk="1"/>
            <a:endParaRPr lang="ko-KR" altLang="en-US" sz="4000" b="1">
              <a:solidFill>
                <a:schemeClr val="bg1"/>
              </a:solidFill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2056" name="直接连接符 1031">
            <a:extLst>
              <a:ext uri="{FF2B5EF4-FFF2-40B4-BE49-F238E27FC236}">
                <a16:creationId xmlns:a16="http://schemas.microsoft.com/office/drawing/2014/main" id="{5B13CD66-7814-41D3-ACEB-929E0A6A9B5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400800"/>
            <a:ext cx="84582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7" name="标题 1032">
            <a:extLst>
              <a:ext uri="{FF2B5EF4-FFF2-40B4-BE49-F238E27FC236}">
                <a16:creationId xmlns:a16="http://schemas.microsoft.com/office/drawing/2014/main" id="{70481091-3283-4482-9305-31CAEF501A7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22250"/>
            <a:ext cx="8382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1" r:id="rId2"/>
    <p:sldLayoutId id="2147483700" r:id="rId3"/>
    <p:sldLayoutId id="2147483699" r:id="rId4"/>
    <p:sldLayoutId id="2147483698" r:id="rId5"/>
    <p:sldLayoutId id="2147483697" r:id="rId6"/>
    <p:sldLayoutId id="2147483696" r:id="rId7"/>
    <p:sldLayoutId id="2147483695" r:id="rId8"/>
    <p:sldLayoutId id="2147483694" r:id="rId9"/>
    <p:sldLayoutId id="2147483693" r:id="rId10"/>
    <p:sldLayoutId id="2147483692" r:id="rId11"/>
    <p:sldLayoutId id="2147483691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2pPr>
      <a:lvl3pPr marL="914400" lvl="2" indent="0" algn="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3pPr>
      <a:lvl4pPr marL="1371600" lvl="3" indent="0" algn="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4pPr>
      <a:lvl5pPr marL="1828800" lvl="4" indent="0" algn="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5pPr>
      <a:lvl6pPr marL="2286000" lvl="5" indent="0" algn="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6pPr>
      <a:lvl7pPr marL="2743200" lvl="6" indent="0" algn="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7pPr>
      <a:lvl8pPr marL="3200400" lvl="7" indent="0" algn="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8pPr>
      <a:lvl9pPr marL="3657600" lvl="8" indent="0" algn="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6145">
            <a:extLst>
              <a:ext uri="{FF2B5EF4-FFF2-40B4-BE49-F238E27FC236}">
                <a16:creationId xmlns:a16="http://schemas.microsoft.com/office/drawing/2014/main" id="{4C83EEA3-A1B2-4000-B502-1605D4FB80ED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491489" y="2287269"/>
            <a:ext cx="8595360" cy="1470024"/>
          </a:xfrm>
          <a:extLst/>
        </p:spPr>
        <p:txBody>
          <a:bodyPr>
            <a:scene3d>
              <a:camera prst="orthographicFront"/>
              <a:lightRig rig="threePt" dir="t"/>
            </a:scene3d>
          </a:bodyPr>
          <a:lstStyle>
            <a:lvl1pPr lvl="0">
              <a:defRPr sz="3200" b="1"/>
            </a:lvl1pPr>
          </a:lstStyle>
          <a:p>
            <a:pPr>
              <a:defRPr/>
            </a:pPr>
            <a:r>
              <a:rPr lang="zh-CN" altLang="en-US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</a:rPr>
              <a:t>第</a:t>
            </a:r>
            <a:r>
              <a:rPr lang="en-US" altLang="zh-CN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</a:rPr>
              <a:t>7</a:t>
            </a:r>
            <a:r>
              <a:rPr lang="zh-CN" altLang="en-US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</a:rPr>
              <a:t>章 可编程计数器</a:t>
            </a:r>
            <a:r>
              <a:rPr lang="en-US" altLang="zh-CN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</a:rPr>
              <a:t>/</a:t>
            </a:r>
            <a:r>
              <a:rPr lang="zh-CN" altLang="en-US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</a:rPr>
              <a:t>定时器</a:t>
            </a:r>
            <a:r>
              <a:rPr lang="en-US" altLang="zh-CN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</a:rPr>
              <a:t>8253</a:t>
            </a:r>
          </a:p>
        </p:txBody>
      </p:sp>
      <p:sp>
        <p:nvSpPr>
          <p:cNvPr id="5122" name="副标题 6146">
            <a:extLst>
              <a:ext uri="{FF2B5EF4-FFF2-40B4-BE49-F238E27FC236}">
                <a16:creationId xmlns:a16="http://schemas.microsoft.com/office/drawing/2014/main" id="{D569AF06-E87A-49D6-B09E-C87160B421F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part1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7169">
            <a:extLst>
              <a:ext uri="{FF2B5EF4-FFF2-40B4-BE49-F238E27FC236}">
                <a16:creationId xmlns:a16="http://schemas.microsoft.com/office/drawing/2014/main" id="{22AC0087-0F85-4498-B33C-26DC94564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836613"/>
            <a:ext cx="7777163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chemeClr val="hlink"/>
                </a:solidFill>
                <a:latin typeface="宋体" panose="02010600030101010101" pitchFamily="2" charset="-122"/>
              </a:rPr>
              <a:t>1 概述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一、定时与计数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计数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：某时间间隔内，统计事件（脉冲）发生的次数；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定时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：提供时间基准，时间到则产生信号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定时和计数本质上是一致的</a:t>
            </a:r>
            <a:r>
              <a:rPr lang="zh-CN" altLang="en-US" sz="2400" b="1">
                <a:latin typeface="Arial" panose="020B0604020202020204" pitchFamily="34" charset="0"/>
                <a:ea typeface="楷体_GB2312" pitchFamily="49" charset="-122"/>
              </a:rPr>
              <a:t>——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当计数的脉冲周期为固定和已知的，则计数器可用作定时器。</a:t>
            </a: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内核就是一个加法器/减法器。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通常讲：计数是</a:t>
            </a: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对事件个数进行统计（</a:t>
            </a:r>
            <a:r>
              <a:rPr lang="zh-CN" altLang="en-US" sz="2000" b="1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手机计步功能</a:t>
            </a: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，定时是指</a:t>
            </a: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计数脉冲周期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恒定的情况下产生的时间基准。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000" b="1">
                <a:solidFill>
                  <a:srgbClr val="8AFB3D"/>
                </a:solidFill>
                <a:latin typeface="仿宋_GB2312" pitchFamily="49" charset="-122"/>
                <a:ea typeface="仿宋_GB2312" pitchFamily="49" charset="-122"/>
              </a:rPr>
              <a:t>*  </a:t>
            </a:r>
            <a:r>
              <a:rPr lang="zh-CN" altLang="en-US" sz="2000" b="1">
                <a:solidFill>
                  <a:srgbClr val="F91515"/>
                </a:solidFill>
                <a:latin typeface="仿宋_GB2312" pitchFamily="49" charset="-122"/>
                <a:ea typeface="仿宋_GB2312" pitchFamily="49" charset="-122"/>
              </a:rPr>
              <a:t>例：</a:t>
            </a:r>
            <a:r>
              <a:rPr lang="zh-CN" altLang="en-US" sz="2000" b="1">
                <a:solidFill>
                  <a:schemeClr val="folHlink"/>
                </a:solidFill>
                <a:latin typeface="仿宋_GB2312" pitchFamily="49" charset="-122"/>
                <a:ea typeface="仿宋_GB2312" pitchFamily="49" charset="-122"/>
              </a:rPr>
              <a:t>如需要测定某脉冲信号的频率（周期），则可利用两个定时/计数器，一个作为</a:t>
            </a:r>
            <a:r>
              <a:rPr lang="zh-CN" altLang="en-US" sz="2000" b="1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定时器</a:t>
            </a:r>
            <a:r>
              <a:rPr lang="zh-CN" altLang="en-US" sz="2000" b="1">
                <a:solidFill>
                  <a:schemeClr val="folHlink"/>
                </a:solidFill>
                <a:latin typeface="仿宋_GB2312" pitchFamily="49" charset="-122"/>
                <a:ea typeface="仿宋_GB2312" pitchFamily="49" charset="-122"/>
              </a:rPr>
              <a:t>，一个作为</a:t>
            </a:r>
            <a:r>
              <a:rPr lang="zh-CN" altLang="en-US" sz="2000" b="1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计数器</a:t>
            </a:r>
            <a:r>
              <a:rPr lang="zh-CN" altLang="en-US" sz="2000" b="1">
                <a:solidFill>
                  <a:schemeClr val="folHlink"/>
                </a:solidFill>
                <a:latin typeface="仿宋_GB2312" pitchFamily="49" charset="-122"/>
                <a:ea typeface="仿宋_GB2312" pitchFamily="49" charset="-122"/>
              </a:rPr>
              <a:t>，统计在确定时间内被测信号的脉冲数来决定信号的频率（称作</a:t>
            </a:r>
            <a:r>
              <a:rPr lang="zh-CN" altLang="en-US" sz="2000" b="1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测频法</a:t>
            </a:r>
            <a:r>
              <a:rPr lang="zh-CN" altLang="en-US" sz="2000" b="1">
                <a:solidFill>
                  <a:schemeClr val="folHlink"/>
                </a:solidFill>
                <a:latin typeface="仿宋_GB2312" pitchFamily="49" charset="-122"/>
                <a:ea typeface="仿宋_GB2312" pitchFamily="49" charset="-122"/>
              </a:rPr>
              <a:t>）</a:t>
            </a:r>
            <a:r>
              <a:rPr lang="zh-CN" altLang="en-US" sz="2000" b="1">
                <a:solidFill>
                  <a:srgbClr val="F91515"/>
                </a:solidFill>
                <a:latin typeface="仿宋_GB2312" pitchFamily="49" charset="-122"/>
                <a:ea typeface="仿宋_GB2312" pitchFamily="49" charset="-122"/>
              </a:rPr>
              <a:t>。</a:t>
            </a:r>
            <a:endParaRPr lang="zh-CN" altLang="en-US" sz="2400" b="1">
              <a:solidFill>
                <a:srgbClr val="F91515"/>
              </a:solidFill>
              <a:latin typeface="仿宋_GB2312" pitchFamily="49" charset="-122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7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矩形 8193">
            <a:extLst>
              <a:ext uri="{FF2B5EF4-FFF2-40B4-BE49-F238E27FC236}">
                <a16:creationId xmlns:a16="http://schemas.microsoft.com/office/drawing/2014/main" id="{8C3975D2-7AE2-4F43-AC8D-D6D657E5B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763588"/>
            <a:ext cx="7993063" cy="554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二、定时的基本方法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1）软件定时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用周期执行软件指令的方法实现定时(延时)。</a:t>
            </a:r>
            <a:r>
              <a:rPr lang="zh-CN" altLang="en-US" sz="2400" b="1">
                <a:latin typeface="Arial" panose="020B0604020202020204" pitchFamily="34" charset="0"/>
                <a:ea typeface="楷体_GB2312" pitchFamily="49" charset="-122"/>
              </a:rPr>
              <a:t>—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NOP指令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特点：通用性差，精度差，CPU效率低。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		但是简单方便，成本低，多用于短延时。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2）不可编程硬件定时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采用中小规模芯片构成定时电路。如555电路。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特点：CPU效率高，定时值不易改变，精度不高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3）可编程硬件定时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采用可编程计数器构成，软件可改变定时值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特点：CPU效率高，定时值修改方便。应用最广泛。     </a:t>
            </a:r>
          </a:p>
        </p:txBody>
      </p:sp>
      <p:sp>
        <p:nvSpPr>
          <p:cNvPr id="8195" name="Text Box 2">
            <a:extLst>
              <a:ext uri="{FF2B5EF4-FFF2-40B4-BE49-F238E27FC236}">
                <a16:creationId xmlns:a16="http://schemas.microsoft.com/office/drawing/2014/main" id="{D3C6FFF1-01BA-42C9-B49B-EFC40118C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300" y="3284538"/>
            <a:ext cx="5867400" cy="2581275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170" tIns="0" rIns="90170" bIns="46990" anchor="ctr">
            <a:spAutoFit/>
          </a:bodyPr>
          <a:lstStyle/>
          <a:p>
            <a:pPr algn="just" fontAlgn="ctr">
              <a:spcBef>
                <a:spcPct val="20000"/>
              </a:spcBef>
            </a:pPr>
            <a:r>
              <a:rPr lang="zh-CN" altLang="en-US" sz="3200" b="1">
                <a:solidFill>
                  <a:srgbClr val="FFFF00"/>
                </a:solidFill>
              </a:rPr>
              <a:t>软件定时举例：</a:t>
            </a:r>
            <a:r>
              <a:rPr lang="zh-CN" altLang="en-US" sz="3200" b="1"/>
              <a:t>   </a:t>
            </a:r>
          </a:p>
          <a:p>
            <a:pPr algn="just" fontAlgn="ctr">
              <a:spcBef>
                <a:spcPct val="20000"/>
              </a:spcBef>
            </a:pPr>
            <a:r>
              <a:rPr lang="en-US" altLang="zh-CN" sz="2800" b="1"/>
              <a:t>                           MOV     CX ,  100</a:t>
            </a:r>
          </a:p>
          <a:p>
            <a:pPr algn="just" fontAlgn="ctr">
              <a:spcBef>
                <a:spcPct val="20000"/>
              </a:spcBef>
            </a:pPr>
            <a:r>
              <a:rPr lang="en-US" altLang="zh-CN" sz="2800" b="1"/>
              <a:t>             CONT:  NOP</a:t>
            </a:r>
          </a:p>
          <a:p>
            <a:pPr algn="just" fontAlgn="ctr">
              <a:spcBef>
                <a:spcPct val="20000"/>
              </a:spcBef>
            </a:pPr>
            <a:r>
              <a:rPr lang="en-US" altLang="zh-CN" sz="2800" b="1"/>
              <a:t>                           NOP</a:t>
            </a:r>
          </a:p>
          <a:p>
            <a:pPr algn="just" fontAlgn="ctr">
              <a:spcBef>
                <a:spcPct val="20000"/>
              </a:spcBef>
            </a:pPr>
            <a:r>
              <a:rPr lang="en-US" altLang="zh-CN" sz="2800" b="1"/>
              <a:t>                           LOOP    CONT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4" dur="500"/>
                                        <p:tgtEl>
                                          <p:spTgt spid="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9" dur="500"/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4" dur="500"/>
                                        <p:tgtEl>
                                          <p:spTgt spid="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9" dur="500"/>
                                        <p:tgtEl>
                                          <p:spTgt spid="8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4" dur="500"/>
                                        <p:tgtEl>
                                          <p:spTgt spid="8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9" dur="500"/>
                                        <p:tgtEl>
                                          <p:spTgt spid="81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4" dur="500"/>
                                        <p:tgtEl>
                                          <p:spTgt spid="81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9" dur="500"/>
                                        <p:tgtEl>
                                          <p:spTgt spid="81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uiExpand="1" build="p"/>
      <p:bldP spid="8195" grpId="0" bldLvl="0" animBg="1"/>
      <p:bldP spid="8195" grpId="1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矩形 9217">
            <a:extLst>
              <a:ext uri="{FF2B5EF4-FFF2-40B4-BE49-F238E27FC236}">
                <a16:creationId xmlns:a16="http://schemas.microsoft.com/office/drawing/2014/main" id="{D7B30074-6284-4D02-A11B-ED20F9E55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620713"/>
            <a:ext cx="77724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endParaRPr lang="zh-CN" altLang="en-US" sz="24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三、定时/计数器基本原理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1）内部逻辑</a:t>
            </a:r>
          </a:p>
        </p:txBody>
      </p:sp>
      <p:pic>
        <p:nvPicPr>
          <p:cNvPr id="8194" name="图片 9218">
            <a:extLst>
              <a:ext uri="{FF2B5EF4-FFF2-40B4-BE49-F238E27FC236}">
                <a16:creationId xmlns:a16="http://schemas.microsoft.com/office/drawing/2014/main" id="{8C372A07-4415-4FCE-9F34-4961FF4E7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205038"/>
            <a:ext cx="554355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矩形 9219">
            <a:extLst>
              <a:ext uri="{FF2B5EF4-FFF2-40B4-BE49-F238E27FC236}">
                <a16:creationId xmlns:a16="http://schemas.microsoft.com/office/drawing/2014/main" id="{68107ED0-D73A-47B4-B157-E734FBFB8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2060575"/>
            <a:ext cx="1944688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接口</a:t>
            </a:r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：</a:t>
            </a:r>
          </a:p>
          <a:p>
            <a:pPr algn="r"/>
            <a:r>
              <a:rPr lang="en-US" altLang="zh-CN" sz="2200">
                <a:latin typeface="楷体_GB2312" pitchFamily="49" charset="-122"/>
                <a:ea typeface="楷体_GB2312" pitchFamily="49" charset="-122"/>
              </a:rPr>
              <a:t>AB</a:t>
            </a:r>
            <a:r>
              <a:rPr lang="zh-CN" altLang="en-US" sz="2200"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200">
                <a:latin typeface="楷体_GB2312" pitchFamily="49" charset="-122"/>
                <a:ea typeface="楷体_GB2312" pitchFamily="49" charset="-122"/>
              </a:rPr>
              <a:t>DB</a:t>
            </a:r>
            <a:r>
              <a:rPr lang="zh-CN" altLang="en-US" sz="2200"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200">
                <a:latin typeface="楷体_GB2312" pitchFamily="49" charset="-122"/>
                <a:ea typeface="楷体_GB2312" pitchFamily="49" charset="-122"/>
              </a:rPr>
              <a:t>CB</a:t>
            </a:r>
          </a:p>
        </p:txBody>
      </p:sp>
      <p:sp>
        <p:nvSpPr>
          <p:cNvPr id="8196" name="矩形 9220">
            <a:extLst>
              <a:ext uri="{FF2B5EF4-FFF2-40B4-BE49-F238E27FC236}">
                <a16:creationId xmlns:a16="http://schemas.microsoft.com/office/drawing/2014/main" id="{528517F6-7911-4EE9-A55A-14F742D70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2924175"/>
            <a:ext cx="17272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内部部件</a:t>
            </a:r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：</a:t>
            </a:r>
          </a:p>
          <a:p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  计数器</a:t>
            </a:r>
          </a:p>
          <a:p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  寄存器</a:t>
            </a:r>
            <a:endParaRPr lang="zh-CN" altLang="en-US" sz="22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197" name="矩形 9221">
            <a:extLst>
              <a:ext uri="{FF2B5EF4-FFF2-40B4-BE49-F238E27FC236}">
                <a16:creationId xmlns:a16="http://schemas.microsoft.com/office/drawing/2014/main" id="{CCD5ED0E-5FFD-4B66-8A85-4633D8C14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4292600"/>
            <a:ext cx="244792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外部接口</a:t>
            </a:r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：</a:t>
            </a:r>
          </a:p>
          <a:p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  时钟信号</a:t>
            </a:r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CLK</a:t>
            </a:r>
          </a:p>
          <a:p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输出信号</a:t>
            </a:r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OUT</a:t>
            </a:r>
          </a:p>
          <a:p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门控信号</a:t>
            </a:r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GATE</a:t>
            </a:r>
            <a:endParaRPr lang="en-US" altLang="zh-CN" sz="220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矩形 10241">
            <a:extLst>
              <a:ext uri="{FF2B5EF4-FFF2-40B4-BE49-F238E27FC236}">
                <a16:creationId xmlns:a16="http://schemas.microsoft.com/office/drawing/2014/main" id="{49D9395B-CFCF-4220-9E5B-8F8987195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620713"/>
            <a:ext cx="77724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endParaRPr lang="zh-CN" altLang="en-US" sz="24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三、定时/计数器基本原理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2）工作过程</a:t>
            </a:r>
          </a:p>
        </p:txBody>
      </p:sp>
      <p:pic>
        <p:nvPicPr>
          <p:cNvPr id="9218" name="图片 10242">
            <a:extLst>
              <a:ext uri="{FF2B5EF4-FFF2-40B4-BE49-F238E27FC236}">
                <a16:creationId xmlns:a16="http://schemas.microsoft.com/office/drawing/2014/main" id="{2217B10D-DFB6-4379-B68C-48A75C803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205038"/>
            <a:ext cx="554355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矩形 10243">
            <a:extLst>
              <a:ext uri="{FF2B5EF4-FFF2-40B4-BE49-F238E27FC236}">
                <a16:creationId xmlns:a16="http://schemas.microsoft.com/office/drawing/2014/main" id="{3C0E85BB-45E9-48DB-B9CC-7B71CA5A7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2492375"/>
            <a:ext cx="277177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2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对</a:t>
            </a:r>
            <a:r>
              <a:rPr lang="en-US" altLang="zh-CN" sz="22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CLK</a:t>
            </a:r>
            <a:r>
              <a:rPr lang="zh-CN" altLang="en-US" sz="22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输入的脉冲进行计数（加或减）</a:t>
            </a:r>
          </a:p>
        </p:txBody>
      </p:sp>
      <p:sp>
        <p:nvSpPr>
          <p:cNvPr id="9220" name="矩形 10244">
            <a:extLst>
              <a:ext uri="{FF2B5EF4-FFF2-40B4-BE49-F238E27FC236}">
                <a16:creationId xmlns:a16="http://schemas.microsoft.com/office/drawing/2014/main" id="{8013BBBD-9A82-4F03-87B5-2DF94AB54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3357563"/>
            <a:ext cx="273685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2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当脉冲数达到预设的计数初值，则从</a:t>
            </a:r>
            <a:r>
              <a:rPr lang="en-US" altLang="zh-CN" sz="22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OUT</a:t>
            </a:r>
            <a:r>
              <a:rPr lang="zh-CN" altLang="en-US" sz="22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脚输出脉冲信号</a:t>
            </a:r>
            <a:r>
              <a:rPr lang="en-US" altLang="zh-CN" sz="2200">
                <a:solidFill>
                  <a:schemeClr val="tx2"/>
                </a:solidFill>
                <a:ea typeface="楷体_GB2312" pitchFamily="49" charset="-122"/>
              </a:rPr>
              <a:t>——</a:t>
            </a:r>
            <a:r>
              <a:rPr lang="zh-CN" altLang="en-US" sz="22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定时功能</a:t>
            </a:r>
          </a:p>
        </p:txBody>
      </p:sp>
      <p:sp>
        <p:nvSpPr>
          <p:cNvPr id="9221" name="矩形 10245">
            <a:extLst>
              <a:ext uri="{FF2B5EF4-FFF2-40B4-BE49-F238E27FC236}">
                <a16:creationId xmlns:a16="http://schemas.microsoft.com/office/drawing/2014/main" id="{A853846C-22A5-4965-89EA-EA186E1EB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5013325"/>
            <a:ext cx="2736850" cy="10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20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门控信号</a:t>
            </a:r>
            <a:r>
              <a:rPr lang="en-US" altLang="zh-CN" sz="220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GATE</a:t>
            </a:r>
            <a:r>
              <a:rPr lang="zh-CN" altLang="en-US" sz="220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控制计数暂停或重新启动</a:t>
            </a:r>
            <a:r>
              <a:rPr lang="en-US" altLang="zh-CN" sz="2200">
                <a:solidFill>
                  <a:schemeClr val="hlink"/>
                </a:solidFill>
                <a:ea typeface="楷体_GB2312" pitchFamily="49" charset="-122"/>
              </a:rPr>
              <a:t>——</a:t>
            </a:r>
            <a:r>
              <a:rPr lang="zh-CN" altLang="en-US" sz="220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计数功能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矩形 11265">
            <a:extLst>
              <a:ext uri="{FF2B5EF4-FFF2-40B4-BE49-F238E27FC236}">
                <a16:creationId xmlns:a16="http://schemas.microsoft.com/office/drawing/2014/main" id="{9F60E968-3892-452C-9CDB-DC9024B95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68325"/>
            <a:ext cx="77724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endParaRPr lang="zh-CN" altLang="en-US" sz="24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四、可编程定时/计数器8253和8254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1）Intel 8253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内部3个独立的16位计数器通道，每个计数器器有6种工作方式，可按2进制或10进制（BCD码）格式计数，最高时钟频率2MHz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2）Intel 8254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   Intel 8253 的增强版本，与8253引脚兼容，增强之处在于：最大时钟频率达5MHz， 8254-2可达10MHz；</a:t>
            </a:r>
          </a:p>
          <a:p>
            <a:pPr eaLnBrk="1" hangingPunct="1"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          具有读回（Read Back）功能，可同时锁定</a:t>
            </a:r>
          </a:p>
          <a:p>
            <a:pPr eaLnBrk="1" hangingPunct="1"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          3个计数器值和状态，8253每次只能锁定一</a:t>
            </a:r>
          </a:p>
          <a:p>
            <a:pPr eaLnBrk="1" hangingPunct="1"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          个计数器值。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1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1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1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1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12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矩形 12289">
            <a:extLst>
              <a:ext uri="{FF2B5EF4-FFF2-40B4-BE49-F238E27FC236}">
                <a16:creationId xmlns:a16="http://schemas.microsoft.com/office/drawing/2014/main" id="{48E1BA4D-CA96-4D52-BA4A-B996D337D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765175"/>
            <a:ext cx="7777163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chemeClr val="hlink"/>
                </a:solidFill>
                <a:latin typeface="宋体" panose="02010600030101010101" pitchFamily="2" charset="-122"/>
              </a:rPr>
              <a:t>2  8253的工作原理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一、8253的引脚信号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endParaRPr lang="zh-CN" altLang="en-US" sz="24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1266" name="组合 12290">
            <a:extLst>
              <a:ext uri="{FF2B5EF4-FFF2-40B4-BE49-F238E27FC236}">
                <a16:creationId xmlns:a16="http://schemas.microsoft.com/office/drawing/2014/main" id="{C49E02C6-FC56-4D08-9A74-AAC77C991D51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1916113"/>
            <a:ext cx="5954713" cy="4429125"/>
            <a:chOff x="0" y="0"/>
            <a:chExt cx="3751" cy="2790"/>
          </a:xfrm>
        </p:grpSpPr>
        <p:sp>
          <p:nvSpPr>
            <p:cNvPr id="11267" name="文本框 12291">
              <a:extLst>
                <a:ext uri="{FF2B5EF4-FFF2-40B4-BE49-F238E27FC236}">
                  <a16:creationId xmlns:a16="http://schemas.microsoft.com/office/drawing/2014/main" id="{CABEC292-9642-4E66-A4A4-A46BD56A28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5" y="0"/>
              <a:ext cx="830" cy="279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tIns="0" bIns="0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/>
              <a:endParaRPr lang="zh-CN" altLang="en-US" sz="1600"/>
            </a:p>
            <a:p>
              <a:pPr algn="just"/>
              <a:r>
                <a:rPr lang="en-US" altLang="zh-CN" sz="1600"/>
                <a:t>8 </a:t>
              </a:r>
            </a:p>
            <a:p>
              <a:pPr algn="just">
                <a:buFont typeface="Arial" panose="020B0604020202020204" pitchFamily="34" charset="0"/>
                <a:buAutoNum type="arabicPlain" startAt="7"/>
              </a:pPr>
              <a:r>
                <a:rPr lang="en-US" altLang="zh-CN" sz="1600"/>
                <a:t>           9</a:t>
              </a:r>
            </a:p>
            <a:p>
              <a:pPr algn="just">
                <a:buFont typeface="Arial" panose="020B0604020202020204" pitchFamily="34" charset="0"/>
                <a:buAutoNum type="arabicPlain" startAt="6"/>
              </a:pPr>
              <a:r>
                <a:rPr lang="en-US" altLang="zh-CN" sz="1600"/>
                <a:t>          11</a:t>
              </a:r>
            </a:p>
            <a:p>
              <a:pPr algn="just">
                <a:buFont typeface="Arial" panose="020B0604020202020204" pitchFamily="34" charset="0"/>
                <a:buAutoNum type="arabicPlain" startAt="5"/>
              </a:pPr>
              <a:r>
                <a:rPr lang="en-US" altLang="zh-CN" sz="1600"/>
                <a:t>          10 </a:t>
              </a:r>
            </a:p>
            <a:p>
              <a:pPr algn="just"/>
              <a:r>
                <a:rPr lang="en-US" altLang="zh-CN" sz="1600"/>
                <a:t>4</a:t>
              </a:r>
            </a:p>
            <a:p>
              <a:pPr algn="just"/>
              <a:r>
                <a:rPr lang="en-US" altLang="zh-CN" sz="1600"/>
                <a:t>3               15</a:t>
              </a:r>
            </a:p>
            <a:p>
              <a:pPr algn="just"/>
              <a:r>
                <a:rPr lang="en-US" altLang="zh-CN" sz="1600"/>
                <a:t>2               14</a:t>
              </a:r>
            </a:p>
            <a:p>
              <a:pPr algn="just"/>
              <a:r>
                <a:rPr lang="en-US" altLang="zh-CN" sz="1600"/>
                <a:t>1               13</a:t>
              </a:r>
            </a:p>
            <a:p>
              <a:pPr algn="just"/>
              <a:endParaRPr lang="en-US" altLang="zh-CN" sz="1600"/>
            </a:p>
            <a:p>
              <a:pPr algn="just"/>
              <a:r>
                <a:rPr lang="en-US" altLang="zh-CN" sz="1600"/>
                <a:t>22</a:t>
              </a:r>
            </a:p>
            <a:p>
              <a:pPr algn="just"/>
              <a:r>
                <a:rPr lang="en-US" altLang="zh-CN" sz="1600"/>
                <a:t>23</a:t>
              </a:r>
            </a:p>
            <a:p>
              <a:pPr algn="just"/>
              <a:r>
                <a:rPr lang="en-US" altLang="zh-CN" sz="1600"/>
                <a:t>19</a:t>
              </a:r>
            </a:p>
            <a:p>
              <a:pPr algn="just"/>
              <a:r>
                <a:rPr lang="en-US" altLang="zh-CN" sz="1600"/>
                <a:t>20             18</a:t>
              </a:r>
            </a:p>
            <a:p>
              <a:pPr algn="just"/>
              <a:r>
                <a:rPr lang="en-US" altLang="zh-CN" sz="1600"/>
                <a:t>21             16</a:t>
              </a:r>
            </a:p>
            <a:p>
              <a:pPr algn="just"/>
              <a:r>
                <a:rPr lang="en-US" altLang="zh-CN" sz="1600"/>
                <a:t>24             17</a:t>
              </a:r>
            </a:p>
            <a:p>
              <a:pPr algn="just"/>
              <a:r>
                <a:rPr lang="en-US" altLang="zh-CN" sz="1600"/>
                <a:t>12</a:t>
              </a:r>
            </a:p>
            <a:p>
              <a:pPr algn="just"/>
              <a:endParaRPr lang="zh-CN" altLang="en-US" sz="1600"/>
            </a:p>
          </p:txBody>
        </p:sp>
        <p:sp>
          <p:nvSpPr>
            <p:cNvPr id="11268" name="左大括号 12292">
              <a:extLst>
                <a:ext uri="{FF2B5EF4-FFF2-40B4-BE49-F238E27FC236}">
                  <a16:creationId xmlns:a16="http://schemas.microsoft.com/office/drawing/2014/main" id="{3C7BB4BF-0A24-491B-B772-9575519AFE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" y="182"/>
              <a:ext cx="109" cy="1140"/>
            </a:xfrm>
            <a:prstGeom prst="leftBrace">
              <a:avLst>
                <a:gd name="adj1" fmla="val 868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>
              <a:spAutoFit/>
            </a:bodyPr>
            <a:lstStyle/>
            <a:p>
              <a:pPr algn="just" eaLnBrk="0" hangingPunct="0"/>
              <a:endParaRPr lang="zh-CN" altLang="en-US" sz="1600"/>
            </a:p>
            <a:p>
              <a:pPr algn="just" eaLnBrk="0" hangingPunct="0"/>
              <a:endParaRPr lang="zh-CN" altLang="en-US" sz="1600"/>
            </a:p>
            <a:p>
              <a:pPr algn="just" eaLnBrk="0" hangingPunct="0"/>
              <a:endParaRPr lang="zh-CN" altLang="en-US" sz="1600"/>
            </a:p>
            <a:p>
              <a:pPr algn="just" eaLnBrk="0" hangingPunct="0"/>
              <a:endParaRPr lang="zh-CN" altLang="en-US" sz="1600"/>
            </a:p>
            <a:p>
              <a:pPr algn="just" eaLnBrk="0" hangingPunct="0"/>
              <a:endParaRPr lang="zh-CN" altLang="en-US" sz="1600"/>
            </a:p>
            <a:p>
              <a:pPr algn="just" eaLnBrk="0" hangingPunct="0"/>
              <a:endParaRPr lang="zh-CN" altLang="en-US" sz="1600"/>
            </a:p>
            <a:p>
              <a:pPr algn="just" eaLnBrk="0" hangingPunct="0"/>
              <a:endParaRPr lang="zh-CN" altLang="en-US" sz="1600"/>
            </a:p>
          </p:txBody>
        </p:sp>
        <p:grpSp>
          <p:nvGrpSpPr>
            <p:cNvPr id="11269" name="组合 12293">
              <a:extLst>
                <a:ext uri="{FF2B5EF4-FFF2-40B4-BE49-F238E27FC236}">
                  <a16:creationId xmlns:a16="http://schemas.microsoft.com/office/drawing/2014/main" id="{349542BB-D374-4891-986D-5DE334137D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6" y="130"/>
              <a:ext cx="587" cy="154"/>
              <a:chOff x="0" y="0"/>
              <a:chExt cx="587" cy="154"/>
            </a:xfrm>
          </p:grpSpPr>
          <p:sp>
            <p:nvSpPr>
              <p:cNvPr id="11270" name="直接连接符 12294">
                <a:extLst>
                  <a:ext uri="{FF2B5EF4-FFF2-40B4-BE49-F238E27FC236}">
                    <a16:creationId xmlns:a16="http://schemas.microsoft.com/office/drawing/2014/main" id="{06C5F14D-75AF-4413-A396-40AEC7D50F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" y="52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1" name="文本框 12295">
                <a:extLst>
                  <a:ext uri="{FF2B5EF4-FFF2-40B4-BE49-F238E27FC236}">
                    <a16:creationId xmlns:a16="http://schemas.microsoft.com/office/drawing/2014/main" id="{0396BDD8-DACA-430C-8230-9CD5133145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27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D0</a:t>
                </a:r>
              </a:p>
            </p:txBody>
          </p:sp>
        </p:grpSp>
        <p:grpSp>
          <p:nvGrpSpPr>
            <p:cNvPr id="11272" name="组合 12296">
              <a:extLst>
                <a:ext uri="{FF2B5EF4-FFF2-40B4-BE49-F238E27FC236}">
                  <a16:creationId xmlns:a16="http://schemas.microsoft.com/office/drawing/2014/main" id="{72706860-6F09-4862-95A4-A554180066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6" y="304"/>
              <a:ext cx="587" cy="154"/>
              <a:chOff x="0" y="0"/>
              <a:chExt cx="587" cy="154"/>
            </a:xfrm>
          </p:grpSpPr>
          <p:sp>
            <p:nvSpPr>
              <p:cNvPr id="11273" name="直接连接符 12297">
                <a:extLst>
                  <a:ext uri="{FF2B5EF4-FFF2-40B4-BE49-F238E27FC236}">
                    <a16:creationId xmlns:a16="http://schemas.microsoft.com/office/drawing/2014/main" id="{F1517C96-5E09-432B-8937-01BC19C727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" y="52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4" name="文本框 12298">
                <a:extLst>
                  <a:ext uri="{FF2B5EF4-FFF2-40B4-BE49-F238E27FC236}">
                    <a16:creationId xmlns:a16="http://schemas.microsoft.com/office/drawing/2014/main" id="{4DF42A0D-1F09-45F7-A95E-B560B83947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27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D1</a:t>
                </a:r>
              </a:p>
            </p:txBody>
          </p:sp>
        </p:grpSp>
        <p:grpSp>
          <p:nvGrpSpPr>
            <p:cNvPr id="11275" name="组合 12299">
              <a:extLst>
                <a:ext uri="{FF2B5EF4-FFF2-40B4-BE49-F238E27FC236}">
                  <a16:creationId xmlns:a16="http://schemas.microsoft.com/office/drawing/2014/main" id="{5E8AC972-5167-4FFA-B2A9-E7B2D89EC6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1" y="481"/>
              <a:ext cx="587" cy="154"/>
              <a:chOff x="0" y="0"/>
              <a:chExt cx="587" cy="154"/>
            </a:xfrm>
          </p:grpSpPr>
          <p:sp>
            <p:nvSpPr>
              <p:cNvPr id="11276" name="直接连接符 12300">
                <a:extLst>
                  <a:ext uri="{FF2B5EF4-FFF2-40B4-BE49-F238E27FC236}">
                    <a16:creationId xmlns:a16="http://schemas.microsoft.com/office/drawing/2014/main" id="{13038922-FAFB-4C94-B989-6DE62AF756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" y="52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7" name="文本框 12301">
                <a:extLst>
                  <a:ext uri="{FF2B5EF4-FFF2-40B4-BE49-F238E27FC236}">
                    <a16:creationId xmlns:a16="http://schemas.microsoft.com/office/drawing/2014/main" id="{79DFDD25-30C6-46A2-B404-BFDDDE805B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27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D2</a:t>
                </a:r>
              </a:p>
            </p:txBody>
          </p:sp>
        </p:grpSp>
        <p:grpSp>
          <p:nvGrpSpPr>
            <p:cNvPr id="11278" name="组合 12302">
              <a:extLst>
                <a:ext uri="{FF2B5EF4-FFF2-40B4-BE49-F238E27FC236}">
                  <a16:creationId xmlns:a16="http://schemas.microsoft.com/office/drawing/2014/main" id="{AE4EE9E5-4F48-4E24-B30A-DC76D90F11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1" y="636"/>
              <a:ext cx="587" cy="154"/>
              <a:chOff x="0" y="0"/>
              <a:chExt cx="587" cy="154"/>
            </a:xfrm>
          </p:grpSpPr>
          <p:sp>
            <p:nvSpPr>
              <p:cNvPr id="11279" name="直接连接符 12303">
                <a:extLst>
                  <a:ext uri="{FF2B5EF4-FFF2-40B4-BE49-F238E27FC236}">
                    <a16:creationId xmlns:a16="http://schemas.microsoft.com/office/drawing/2014/main" id="{3E548D94-9A0B-4DAA-899C-86CE6E44D2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" y="52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0" name="文本框 12304">
                <a:extLst>
                  <a:ext uri="{FF2B5EF4-FFF2-40B4-BE49-F238E27FC236}">
                    <a16:creationId xmlns:a16="http://schemas.microsoft.com/office/drawing/2014/main" id="{5A06EE94-547C-4191-A73F-44F9D944DD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27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D3</a:t>
                </a:r>
              </a:p>
            </p:txBody>
          </p:sp>
        </p:grpSp>
        <p:grpSp>
          <p:nvGrpSpPr>
            <p:cNvPr id="11281" name="组合 12305">
              <a:extLst>
                <a:ext uri="{FF2B5EF4-FFF2-40B4-BE49-F238E27FC236}">
                  <a16:creationId xmlns:a16="http://schemas.microsoft.com/office/drawing/2014/main" id="{DAD82409-62B4-4394-A776-5C9D62A688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1" y="795"/>
              <a:ext cx="587" cy="154"/>
              <a:chOff x="0" y="0"/>
              <a:chExt cx="587" cy="154"/>
            </a:xfrm>
          </p:grpSpPr>
          <p:sp>
            <p:nvSpPr>
              <p:cNvPr id="11282" name="直接连接符 12306">
                <a:extLst>
                  <a:ext uri="{FF2B5EF4-FFF2-40B4-BE49-F238E27FC236}">
                    <a16:creationId xmlns:a16="http://schemas.microsoft.com/office/drawing/2014/main" id="{FDBEC6FE-E414-4F8D-911A-31C47100E2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" y="52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3" name="文本框 12307">
                <a:extLst>
                  <a:ext uri="{FF2B5EF4-FFF2-40B4-BE49-F238E27FC236}">
                    <a16:creationId xmlns:a16="http://schemas.microsoft.com/office/drawing/2014/main" id="{AA45BC68-2380-4F71-8C76-417BE80534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27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D4</a:t>
                </a:r>
              </a:p>
            </p:txBody>
          </p:sp>
        </p:grpSp>
        <p:grpSp>
          <p:nvGrpSpPr>
            <p:cNvPr id="11284" name="组合 12308">
              <a:extLst>
                <a:ext uri="{FF2B5EF4-FFF2-40B4-BE49-F238E27FC236}">
                  <a16:creationId xmlns:a16="http://schemas.microsoft.com/office/drawing/2014/main" id="{B32CEF2B-3143-48B8-A268-4CC6108147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1" y="950"/>
              <a:ext cx="587" cy="154"/>
              <a:chOff x="0" y="0"/>
              <a:chExt cx="587" cy="154"/>
            </a:xfrm>
          </p:grpSpPr>
          <p:sp>
            <p:nvSpPr>
              <p:cNvPr id="11285" name="直接连接符 12309">
                <a:extLst>
                  <a:ext uri="{FF2B5EF4-FFF2-40B4-BE49-F238E27FC236}">
                    <a16:creationId xmlns:a16="http://schemas.microsoft.com/office/drawing/2014/main" id="{83DC2C2E-7D3D-4CF8-9FA8-26B4E29E55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" y="52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6" name="文本框 12310">
                <a:extLst>
                  <a:ext uri="{FF2B5EF4-FFF2-40B4-BE49-F238E27FC236}">
                    <a16:creationId xmlns:a16="http://schemas.microsoft.com/office/drawing/2014/main" id="{AA59C512-1C4F-4EFC-87C2-E58B17648B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27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D5</a:t>
                </a:r>
              </a:p>
            </p:txBody>
          </p:sp>
        </p:grpSp>
        <p:grpSp>
          <p:nvGrpSpPr>
            <p:cNvPr id="11287" name="组合 12311">
              <a:extLst>
                <a:ext uri="{FF2B5EF4-FFF2-40B4-BE49-F238E27FC236}">
                  <a16:creationId xmlns:a16="http://schemas.microsoft.com/office/drawing/2014/main" id="{6500D09C-8960-4B1B-A897-269A7F2EBC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1" y="1094"/>
              <a:ext cx="587" cy="154"/>
              <a:chOff x="0" y="0"/>
              <a:chExt cx="587" cy="154"/>
            </a:xfrm>
          </p:grpSpPr>
          <p:sp>
            <p:nvSpPr>
              <p:cNvPr id="11288" name="直接连接符 12312">
                <a:extLst>
                  <a:ext uri="{FF2B5EF4-FFF2-40B4-BE49-F238E27FC236}">
                    <a16:creationId xmlns:a16="http://schemas.microsoft.com/office/drawing/2014/main" id="{53E71FAB-0037-4DDF-8CC2-4EBDC8083D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" y="52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9" name="文本框 12313">
                <a:extLst>
                  <a:ext uri="{FF2B5EF4-FFF2-40B4-BE49-F238E27FC236}">
                    <a16:creationId xmlns:a16="http://schemas.microsoft.com/office/drawing/2014/main" id="{68015EAC-40B3-4BD7-AA1A-509E12722F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27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D6</a:t>
                </a:r>
              </a:p>
            </p:txBody>
          </p:sp>
        </p:grpSp>
        <p:grpSp>
          <p:nvGrpSpPr>
            <p:cNvPr id="11290" name="组合 12314">
              <a:extLst>
                <a:ext uri="{FF2B5EF4-FFF2-40B4-BE49-F238E27FC236}">
                  <a16:creationId xmlns:a16="http://schemas.microsoft.com/office/drawing/2014/main" id="{77973394-A0FA-45D6-A651-13816E38ED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1" y="1238"/>
              <a:ext cx="587" cy="154"/>
              <a:chOff x="0" y="0"/>
              <a:chExt cx="587" cy="154"/>
            </a:xfrm>
          </p:grpSpPr>
          <p:sp>
            <p:nvSpPr>
              <p:cNvPr id="11291" name="直接连接符 12315">
                <a:extLst>
                  <a:ext uri="{FF2B5EF4-FFF2-40B4-BE49-F238E27FC236}">
                    <a16:creationId xmlns:a16="http://schemas.microsoft.com/office/drawing/2014/main" id="{F6026F46-44A7-4690-AFA1-DBE4FA375B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" y="52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2" name="文本框 12316">
                <a:extLst>
                  <a:ext uri="{FF2B5EF4-FFF2-40B4-BE49-F238E27FC236}">
                    <a16:creationId xmlns:a16="http://schemas.microsoft.com/office/drawing/2014/main" id="{D71248A0-4EC9-47B8-875F-785C42C3DF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27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D7</a:t>
                </a:r>
              </a:p>
            </p:txBody>
          </p:sp>
        </p:grpSp>
        <p:grpSp>
          <p:nvGrpSpPr>
            <p:cNvPr id="11293" name="组合 12317">
              <a:extLst>
                <a:ext uri="{FF2B5EF4-FFF2-40B4-BE49-F238E27FC236}">
                  <a16:creationId xmlns:a16="http://schemas.microsoft.com/office/drawing/2014/main" id="{28344603-8269-4266-A46B-F565878CC9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6" y="315"/>
              <a:ext cx="775" cy="154"/>
              <a:chOff x="0" y="0"/>
              <a:chExt cx="775" cy="154"/>
            </a:xfrm>
          </p:grpSpPr>
          <p:sp>
            <p:nvSpPr>
              <p:cNvPr id="11294" name="直接连接符 12318">
                <a:extLst>
                  <a:ext uri="{FF2B5EF4-FFF2-40B4-BE49-F238E27FC236}">
                    <a16:creationId xmlns:a16="http://schemas.microsoft.com/office/drawing/2014/main" id="{D09F77D5-A06F-4282-95F7-BC9F837497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59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5" name="文本框 12319">
                <a:extLst>
                  <a:ext uri="{FF2B5EF4-FFF2-40B4-BE49-F238E27FC236}">
                    <a16:creationId xmlns:a16="http://schemas.microsoft.com/office/drawing/2014/main" id="{A9869D3B-B200-4A80-A0A2-44B6A3D032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" y="0"/>
                <a:ext cx="435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CLK0</a:t>
                </a:r>
              </a:p>
            </p:txBody>
          </p:sp>
        </p:grpSp>
        <p:grpSp>
          <p:nvGrpSpPr>
            <p:cNvPr id="11296" name="组合 12320">
              <a:extLst>
                <a:ext uri="{FF2B5EF4-FFF2-40B4-BE49-F238E27FC236}">
                  <a16:creationId xmlns:a16="http://schemas.microsoft.com/office/drawing/2014/main" id="{DAAA5181-2FF4-4D44-98A3-5ACF2364CA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3" y="496"/>
              <a:ext cx="860" cy="154"/>
              <a:chOff x="0" y="0"/>
              <a:chExt cx="860" cy="154"/>
            </a:xfrm>
          </p:grpSpPr>
          <p:sp>
            <p:nvSpPr>
              <p:cNvPr id="11297" name="直接连接符 12321">
                <a:extLst>
                  <a:ext uri="{FF2B5EF4-FFF2-40B4-BE49-F238E27FC236}">
                    <a16:creationId xmlns:a16="http://schemas.microsoft.com/office/drawing/2014/main" id="{C793DA44-8799-4BE9-8B31-A6FB6F25E6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59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8" name="文本框 12322">
                <a:extLst>
                  <a:ext uri="{FF2B5EF4-FFF2-40B4-BE49-F238E27FC236}">
                    <a16:creationId xmlns:a16="http://schemas.microsoft.com/office/drawing/2014/main" id="{9113CF28-7269-4AA5-9657-5C7FB83BFD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" y="0"/>
                <a:ext cx="520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GATE0</a:t>
                </a:r>
              </a:p>
            </p:txBody>
          </p:sp>
        </p:grpSp>
        <p:grpSp>
          <p:nvGrpSpPr>
            <p:cNvPr id="11299" name="组合 12323">
              <a:extLst>
                <a:ext uri="{FF2B5EF4-FFF2-40B4-BE49-F238E27FC236}">
                  <a16:creationId xmlns:a16="http://schemas.microsoft.com/office/drawing/2014/main" id="{4275F265-6241-4B9C-801A-6971A8DB4E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3" y="662"/>
              <a:ext cx="782" cy="154"/>
              <a:chOff x="0" y="0"/>
              <a:chExt cx="782" cy="154"/>
            </a:xfrm>
          </p:grpSpPr>
          <p:sp>
            <p:nvSpPr>
              <p:cNvPr id="11300" name="直接连接符 12324">
                <a:extLst>
                  <a:ext uri="{FF2B5EF4-FFF2-40B4-BE49-F238E27FC236}">
                    <a16:creationId xmlns:a16="http://schemas.microsoft.com/office/drawing/2014/main" id="{AFF1C5F2-E8D5-4E7C-A8A7-7C18F79B08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59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1" name="文本框 12325">
                <a:extLst>
                  <a:ext uri="{FF2B5EF4-FFF2-40B4-BE49-F238E27FC236}">
                    <a16:creationId xmlns:a16="http://schemas.microsoft.com/office/drawing/2014/main" id="{7D473ADF-4F36-4D1B-98DE-AB510752DA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" y="0"/>
                <a:ext cx="44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OUT0</a:t>
                </a:r>
              </a:p>
            </p:txBody>
          </p:sp>
        </p:grpSp>
        <p:grpSp>
          <p:nvGrpSpPr>
            <p:cNvPr id="11302" name="组合 12326">
              <a:extLst>
                <a:ext uri="{FF2B5EF4-FFF2-40B4-BE49-F238E27FC236}">
                  <a16:creationId xmlns:a16="http://schemas.microsoft.com/office/drawing/2014/main" id="{F9B92004-C940-484B-96FB-CC4FC8CC8B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1" y="928"/>
              <a:ext cx="775" cy="154"/>
              <a:chOff x="0" y="0"/>
              <a:chExt cx="775" cy="154"/>
            </a:xfrm>
          </p:grpSpPr>
          <p:sp>
            <p:nvSpPr>
              <p:cNvPr id="11303" name="直接连接符 12327">
                <a:extLst>
                  <a:ext uri="{FF2B5EF4-FFF2-40B4-BE49-F238E27FC236}">
                    <a16:creationId xmlns:a16="http://schemas.microsoft.com/office/drawing/2014/main" id="{65312E22-1549-434D-BB22-5F08E79301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59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4" name="文本框 12328">
                <a:extLst>
                  <a:ext uri="{FF2B5EF4-FFF2-40B4-BE49-F238E27FC236}">
                    <a16:creationId xmlns:a16="http://schemas.microsoft.com/office/drawing/2014/main" id="{364D1C8B-2CAF-4942-A30E-D01CCF0EDF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" y="0"/>
                <a:ext cx="435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CLK1</a:t>
                </a:r>
              </a:p>
            </p:txBody>
          </p:sp>
        </p:grpSp>
        <p:grpSp>
          <p:nvGrpSpPr>
            <p:cNvPr id="11305" name="组合 12329">
              <a:extLst>
                <a:ext uri="{FF2B5EF4-FFF2-40B4-BE49-F238E27FC236}">
                  <a16:creationId xmlns:a16="http://schemas.microsoft.com/office/drawing/2014/main" id="{41DABF1D-BE5C-4F02-85A2-BDFA352882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1" y="1094"/>
              <a:ext cx="860" cy="154"/>
              <a:chOff x="0" y="0"/>
              <a:chExt cx="860" cy="154"/>
            </a:xfrm>
          </p:grpSpPr>
          <p:sp>
            <p:nvSpPr>
              <p:cNvPr id="11306" name="直接连接符 12330">
                <a:extLst>
                  <a:ext uri="{FF2B5EF4-FFF2-40B4-BE49-F238E27FC236}">
                    <a16:creationId xmlns:a16="http://schemas.microsoft.com/office/drawing/2014/main" id="{C619D13F-1528-4715-9CCF-97EBD6C7FD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59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7" name="文本框 12331">
                <a:extLst>
                  <a:ext uri="{FF2B5EF4-FFF2-40B4-BE49-F238E27FC236}">
                    <a16:creationId xmlns:a16="http://schemas.microsoft.com/office/drawing/2014/main" id="{078C3FFD-FBDA-4F21-AF0B-406DEB1570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" y="0"/>
                <a:ext cx="520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GATE1</a:t>
                </a:r>
              </a:p>
            </p:txBody>
          </p:sp>
        </p:grpSp>
        <p:grpSp>
          <p:nvGrpSpPr>
            <p:cNvPr id="11308" name="组合 12332">
              <a:extLst>
                <a:ext uri="{FF2B5EF4-FFF2-40B4-BE49-F238E27FC236}">
                  <a16:creationId xmlns:a16="http://schemas.microsoft.com/office/drawing/2014/main" id="{07A3DAB1-A636-4A1B-930A-CE35FF5A5F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1" y="1260"/>
              <a:ext cx="782" cy="154"/>
              <a:chOff x="0" y="0"/>
              <a:chExt cx="782" cy="154"/>
            </a:xfrm>
          </p:grpSpPr>
          <p:sp>
            <p:nvSpPr>
              <p:cNvPr id="11309" name="直接连接符 12333">
                <a:extLst>
                  <a:ext uri="{FF2B5EF4-FFF2-40B4-BE49-F238E27FC236}">
                    <a16:creationId xmlns:a16="http://schemas.microsoft.com/office/drawing/2014/main" id="{075F7140-E277-4378-A6BE-7B55CDF775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59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10" name="文本框 12334">
                <a:extLst>
                  <a:ext uri="{FF2B5EF4-FFF2-40B4-BE49-F238E27FC236}">
                    <a16:creationId xmlns:a16="http://schemas.microsoft.com/office/drawing/2014/main" id="{069D1BCF-E73A-4CE7-8780-C3686F152A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" y="0"/>
                <a:ext cx="44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OUT1</a:t>
                </a:r>
              </a:p>
            </p:txBody>
          </p:sp>
        </p:grpSp>
        <p:grpSp>
          <p:nvGrpSpPr>
            <p:cNvPr id="11311" name="组合 12335">
              <a:extLst>
                <a:ext uri="{FF2B5EF4-FFF2-40B4-BE49-F238E27FC236}">
                  <a16:creationId xmlns:a16="http://schemas.microsoft.com/office/drawing/2014/main" id="{4B6D32E6-5942-4E94-BBCA-D8BC97A942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6" y="1995"/>
              <a:ext cx="775" cy="154"/>
              <a:chOff x="0" y="0"/>
              <a:chExt cx="775" cy="154"/>
            </a:xfrm>
          </p:grpSpPr>
          <p:sp>
            <p:nvSpPr>
              <p:cNvPr id="11312" name="直接连接符 12336">
                <a:extLst>
                  <a:ext uri="{FF2B5EF4-FFF2-40B4-BE49-F238E27FC236}">
                    <a16:creationId xmlns:a16="http://schemas.microsoft.com/office/drawing/2014/main" id="{7E7D4D39-1899-43E5-8608-13A1684FF8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59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13" name="文本框 12337">
                <a:extLst>
                  <a:ext uri="{FF2B5EF4-FFF2-40B4-BE49-F238E27FC236}">
                    <a16:creationId xmlns:a16="http://schemas.microsoft.com/office/drawing/2014/main" id="{9036CF93-627E-4427-86E2-D463B8A2FA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" y="0"/>
                <a:ext cx="435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CLK2</a:t>
                </a:r>
              </a:p>
            </p:txBody>
          </p:sp>
        </p:grpSp>
        <p:grpSp>
          <p:nvGrpSpPr>
            <p:cNvPr id="11314" name="组合 12338">
              <a:extLst>
                <a:ext uri="{FF2B5EF4-FFF2-40B4-BE49-F238E27FC236}">
                  <a16:creationId xmlns:a16="http://schemas.microsoft.com/office/drawing/2014/main" id="{E2AA276B-9C68-43F8-A57A-1B944B3C39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1" y="2172"/>
              <a:ext cx="860" cy="154"/>
              <a:chOff x="0" y="0"/>
              <a:chExt cx="860" cy="154"/>
            </a:xfrm>
          </p:grpSpPr>
          <p:sp>
            <p:nvSpPr>
              <p:cNvPr id="11315" name="直接连接符 12339">
                <a:extLst>
                  <a:ext uri="{FF2B5EF4-FFF2-40B4-BE49-F238E27FC236}">
                    <a16:creationId xmlns:a16="http://schemas.microsoft.com/office/drawing/2014/main" id="{53D43E2A-9124-4AF3-BF1D-6A09704A2F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59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16" name="文本框 12340">
                <a:extLst>
                  <a:ext uri="{FF2B5EF4-FFF2-40B4-BE49-F238E27FC236}">
                    <a16:creationId xmlns:a16="http://schemas.microsoft.com/office/drawing/2014/main" id="{F21EB202-18BF-486E-844B-71F50F00EB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" y="0"/>
                <a:ext cx="520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GATE2</a:t>
                </a:r>
              </a:p>
            </p:txBody>
          </p:sp>
        </p:grpSp>
        <p:grpSp>
          <p:nvGrpSpPr>
            <p:cNvPr id="11317" name="组合 12341">
              <a:extLst>
                <a:ext uri="{FF2B5EF4-FFF2-40B4-BE49-F238E27FC236}">
                  <a16:creationId xmlns:a16="http://schemas.microsoft.com/office/drawing/2014/main" id="{3517C11D-C73A-4CF7-B2ED-958B9FF529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2" y="2338"/>
              <a:ext cx="782" cy="154"/>
              <a:chOff x="0" y="0"/>
              <a:chExt cx="782" cy="154"/>
            </a:xfrm>
          </p:grpSpPr>
          <p:sp>
            <p:nvSpPr>
              <p:cNvPr id="11318" name="直接连接符 12342">
                <a:extLst>
                  <a:ext uri="{FF2B5EF4-FFF2-40B4-BE49-F238E27FC236}">
                    <a16:creationId xmlns:a16="http://schemas.microsoft.com/office/drawing/2014/main" id="{DCACE1D8-AAE6-4258-A37C-369795B170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59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19" name="文本框 12343">
                <a:extLst>
                  <a:ext uri="{FF2B5EF4-FFF2-40B4-BE49-F238E27FC236}">
                    <a16:creationId xmlns:a16="http://schemas.microsoft.com/office/drawing/2014/main" id="{D633F9B1-B602-4A4C-9B02-045E00EC70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" y="0"/>
                <a:ext cx="44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OUT2</a:t>
                </a:r>
              </a:p>
            </p:txBody>
          </p:sp>
        </p:grpSp>
        <p:grpSp>
          <p:nvGrpSpPr>
            <p:cNvPr id="11320" name="组合 12344">
              <a:extLst>
                <a:ext uri="{FF2B5EF4-FFF2-40B4-BE49-F238E27FC236}">
                  <a16:creationId xmlns:a16="http://schemas.microsoft.com/office/drawing/2014/main" id="{A87DFCA7-3D12-4088-B18D-32B64ABBB7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3" y="1541"/>
              <a:ext cx="609" cy="165"/>
              <a:chOff x="0" y="0"/>
              <a:chExt cx="609" cy="165"/>
            </a:xfrm>
          </p:grpSpPr>
          <p:sp>
            <p:nvSpPr>
              <p:cNvPr id="11321" name="直接连接符 12345">
                <a:extLst>
                  <a:ext uri="{FF2B5EF4-FFF2-40B4-BE49-F238E27FC236}">
                    <a16:creationId xmlns:a16="http://schemas.microsoft.com/office/drawing/2014/main" id="{9DDF4E3C-D979-4C16-B6E5-8E9505A682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" y="63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2" name="文本框 12346">
                <a:extLst>
                  <a:ext uri="{FF2B5EF4-FFF2-40B4-BE49-F238E27FC236}">
                    <a16:creationId xmlns:a16="http://schemas.microsoft.com/office/drawing/2014/main" id="{A01A6BA4-3E24-4390-810A-EA8FA4B3D7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11"/>
                <a:ext cx="293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RD</a:t>
                </a:r>
              </a:p>
            </p:txBody>
          </p:sp>
          <p:sp>
            <p:nvSpPr>
              <p:cNvPr id="11323" name="直接连接符 12347">
                <a:extLst>
                  <a:ext uri="{FF2B5EF4-FFF2-40B4-BE49-F238E27FC236}">
                    <a16:creationId xmlns:a16="http://schemas.microsoft.com/office/drawing/2014/main" id="{61529952-6686-4FE9-BB73-AEBC1FADF7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" y="0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324" name="组合 12348">
              <a:extLst>
                <a:ext uri="{FF2B5EF4-FFF2-40B4-BE49-F238E27FC236}">
                  <a16:creationId xmlns:a16="http://schemas.microsoft.com/office/drawing/2014/main" id="{350179B5-3411-4D0D-A0EE-F48BF72DD0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9" y="1718"/>
              <a:ext cx="609" cy="165"/>
              <a:chOff x="0" y="0"/>
              <a:chExt cx="609" cy="165"/>
            </a:xfrm>
          </p:grpSpPr>
          <p:sp>
            <p:nvSpPr>
              <p:cNvPr id="11325" name="直接连接符 12349">
                <a:extLst>
                  <a:ext uri="{FF2B5EF4-FFF2-40B4-BE49-F238E27FC236}">
                    <a16:creationId xmlns:a16="http://schemas.microsoft.com/office/drawing/2014/main" id="{693C2D64-E9CC-4C24-B5B2-F2F6B65706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" y="63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6" name="文本框 12350">
                <a:extLst>
                  <a:ext uri="{FF2B5EF4-FFF2-40B4-BE49-F238E27FC236}">
                    <a16:creationId xmlns:a16="http://schemas.microsoft.com/office/drawing/2014/main" id="{ADDE67C9-49EF-4394-81F3-3B7F1980C7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11"/>
                <a:ext cx="32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WR</a:t>
                </a:r>
              </a:p>
            </p:txBody>
          </p:sp>
          <p:sp>
            <p:nvSpPr>
              <p:cNvPr id="11327" name="直接连接符 12351">
                <a:extLst>
                  <a:ext uri="{FF2B5EF4-FFF2-40B4-BE49-F238E27FC236}">
                    <a16:creationId xmlns:a16="http://schemas.microsoft.com/office/drawing/2014/main" id="{0D41A1FD-1CF0-4446-85A7-2AD2D6B907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" y="0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328" name="组合 12352">
              <a:extLst>
                <a:ext uri="{FF2B5EF4-FFF2-40B4-BE49-F238E27FC236}">
                  <a16:creationId xmlns:a16="http://schemas.microsoft.com/office/drawing/2014/main" id="{5FE12CBC-6A1B-419A-B38F-3B4ED83161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1" y="1873"/>
              <a:ext cx="564" cy="155"/>
              <a:chOff x="0" y="0"/>
              <a:chExt cx="587" cy="128"/>
            </a:xfrm>
          </p:grpSpPr>
          <p:sp>
            <p:nvSpPr>
              <p:cNvPr id="11329" name="直接连接符 12353">
                <a:extLst>
                  <a:ext uri="{FF2B5EF4-FFF2-40B4-BE49-F238E27FC236}">
                    <a16:creationId xmlns:a16="http://schemas.microsoft.com/office/drawing/2014/main" id="{24378E14-1B26-488E-AC9C-86D3BEBA28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" y="52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30" name="文本框 12354">
                <a:extLst>
                  <a:ext uri="{FF2B5EF4-FFF2-40B4-BE49-F238E27FC236}">
                    <a16:creationId xmlns:a16="http://schemas.microsoft.com/office/drawing/2014/main" id="{1F2EFB83-B134-42D8-8117-8AB12D8307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283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A0</a:t>
                </a:r>
              </a:p>
            </p:txBody>
          </p:sp>
        </p:grpSp>
        <p:grpSp>
          <p:nvGrpSpPr>
            <p:cNvPr id="11331" name="组合 12355">
              <a:extLst>
                <a:ext uri="{FF2B5EF4-FFF2-40B4-BE49-F238E27FC236}">
                  <a16:creationId xmlns:a16="http://schemas.microsoft.com/office/drawing/2014/main" id="{0C138D04-88EE-4411-B8FA-46EBE41FC1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1" y="2010"/>
              <a:ext cx="564" cy="154"/>
              <a:chOff x="0" y="0"/>
              <a:chExt cx="587" cy="127"/>
            </a:xfrm>
          </p:grpSpPr>
          <p:sp>
            <p:nvSpPr>
              <p:cNvPr id="11332" name="直接连接符 12356">
                <a:extLst>
                  <a:ext uri="{FF2B5EF4-FFF2-40B4-BE49-F238E27FC236}">
                    <a16:creationId xmlns:a16="http://schemas.microsoft.com/office/drawing/2014/main" id="{5B2CC4F4-F22D-4E80-89B5-1A32F8707F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" y="52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33" name="文本框 12357">
                <a:extLst>
                  <a:ext uri="{FF2B5EF4-FFF2-40B4-BE49-F238E27FC236}">
                    <a16:creationId xmlns:a16="http://schemas.microsoft.com/office/drawing/2014/main" id="{2F4CDB69-B175-44A3-96A7-1F5BAB6FC1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283" cy="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A1</a:t>
                </a:r>
              </a:p>
            </p:txBody>
          </p:sp>
        </p:grpSp>
        <p:grpSp>
          <p:nvGrpSpPr>
            <p:cNvPr id="11334" name="组合 12358">
              <a:extLst>
                <a:ext uri="{FF2B5EF4-FFF2-40B4-BE49-F238E27FC236}">
                  <a16:creationId xmlns:a16="http://schemas.microsoft.com/office/drawing/2014/main" id="{23243215-ED92-440A-95F6-DC05F47600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5" y="2198"/>
              <a:ext cx="609" cy="165"/>
              <a:chOff x="0" y="0"/>
              <a:chExt cx="609" cy="165"/>
            </a:xfrm>
          </p:grpSpPr>
          <p:sp>
            <p:nvSpPr>
              <p:cNvPr id="11335" name="直接连接符 12359">
                <a:extLst>
                  <a:ext uri="{FF2B5EF4-FFF2-40B4-BE49-F238E27FC236}">
                    <a16:creationId xmlns:a16="http://schemas.microsoft.com/office/drawing/2014/main" id="{927A74CB-5CE0-4FA4-925B-1B3EEBE70D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" y="63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36" name="文本框 12360">
                <a:extLst>
                  <a:ext uri="{FF2B5EF4-FFF2-40B4-BE49-F238E27FC236}">
                    <a16:creationId xmlns:a16="http://schemas.microsoft.com/office/drawing/2014/main" id="{4400D7C1-E34B-45FC-81B7-2E6194A1B7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11"/>
                <a:ext cx="27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CS</a:t>
                </a:r>
              </a:p>
            </p:txBody>
          </p:sp>
          <p:sp>
            <p:nvSpPr>
              <p:cNvPr id="11337" name="直接连接符 12361">
                <a:extLst>
                  <a:ext uri="{FF2B5EF4-FFF2-40B4-BE49-F238E27FC236}">
                    <a16:creationId xmlns:a16="http://schemas.microsoft.com/office/drawing/2014/main" id="{276B1D16-AE4A-4870-95AC-7AEB1AB647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" y="0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338" name="组合 12362">
              <a:extLst>
                <a:ext uri="{FF2B5EF4-FFF2-40B4-BE49-F238E27FC236}">
                  <a16:creationId xmlns:a16="http://schemas.microsoft.com/office/drawing/2014/main" id="{085DCCE6-272D-4F96-AE8D-46D2C8E8B0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2" y="2342"/>
              <a:ext cx="564" cy="154"/>
              <a:chOff x="0" y="0"/>
              <a:chExt cx="587" cy="127"/>
            </a:xfrm>
          </p:grpSpPr>
          <p:sp>
            <p:nvSpPr>
              <p:cNvPr id="11339" name="直接连接符 12363">
                <a:extLst>
                  <a:ext uri="{FF2B5EF4-FFF2-40B4-BE49-F238E27FC236}">
                    <a16:creationId xmlns:a16="http://schemas.microsoft.com/office/drawing/2014/main" id="{6A89DEA9-C834-4534-985A-671E3BE6A0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" y="52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40" name="文本框 12364">
                <a:extLst>
                  <a:ext uri="{FF2B5EF4-FFF2-40B4-BE49-F238E27FC236}">
                    <a16:creationId xmlns:a16="http://schemas.microsoft.com/office/drawing/2014/main" id="{6641E510-F438-43F1-B264-4F2BAA7DBB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339" cy="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en-US" altLang="zh-CN" sz="1600"/>
                  <a:t>V</a:t>
                </a:r>
                <a:r>
                  <a:rPr lang="en-US" altLang="zh-CN" sz="1600" baseline="-25000"/>
                  <a:t>CC</a:t>
                </a:r>
              </a:p>
            </p:txBody>
          </p:sp>
        </p:grpSp>
        <p:grpSp>
          <p:nvGrpSpPr>
            <p:cNvPr id="11341" name="组合 12365">
              <a:extLst>
                <a:ext uri="{FF2B5EF4-FFF2-40B4-BE49-F238E27FC236}">
                  <a16:creationId xmlns:a16="http://schemas.microsoft.com/office/drawing/2014/main" id="{8C4F9624-E2F3-4B0D-B24C-B35E833DB8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1" y="2467"/>
              <a:ext cx="564" cy="154"/>
              <a:chOff x="0" y="0"/>
              <a:chExt cx="587" cy="128"/>
            </a:xfrm>
          </p:grpSpPr>
          <p:sp>
            <p:nvSpPr>
              <p:cNvPr id="11342" name="直接连接符 12366">
                <a:extLst>
                  <a:ext uri="{FF2B5EF4-FFF2-40B4-BE49-F238E27FC236}">
                    <a16:creationId xmlns:a16="http://schemas.microsoft.com/office/drawing/2014/main" id="{092345C6-4645-48B7-8F66-9CBB798749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" y="59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43" name="文本框 12367">
                <a:extLst>
                  <a:ext uri="{FF2B5EF4-FFF2-40B4-BE49-F238E27FC236}">
                    <a16:creationId xmlns:a16="http://schemas.microsoft.com/office/drawing/2014/main" id="{348BE7DE-EB38-4D5D-9822-82FB247EA8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25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zh-CN" altLang="en-US" sz="1600"/>
                  <a:t>地</a:t>
                </a:r>
                <a:endParaRPr lang="zh-CN" altLang="en-US" sz="1600" baseline="-25000"/>
              </a:p>
            </p:txBody>
          </p:sp>
        </p:grpSp>
        <p:sp>
          <p:nvSpPr>
            <p:cNvPr id="11344" name="文本框 12368">
              <a:extLst>
                <a:ext uri="{FF2B5EF4-FFF2-40B4-BE49-F238E27FC236}">
                  <a16:creationId xmlns:a16="http://schemas.microsoft.com/office/drawing/2014/main" id="{6DA92DCC-EB43-4617-819E-9C5A1FDA9D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" y="662"/>
              <a:ext cx="54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/>
            <a:p>
              <a:pPr algn="just" eaLnBrk="0" hangingPunct="0"/>
              <a:r>
                <a:rPr lang="zh-CN" altLang="en-US"/>
                <a:t>数据线</a:t>
              </a:r>
            </a:p>
          </p:txBody>
        </p:sp>
        <p:sp>
          <p:nvSpPr>
            <p:cNvPr id="11345" name="左大括号 12369">
              <a:extLst>
                <a:ext uri="{FF2B5EF4-FFF2-40B4-BE49-F238E27FC236}">
                  <a16:creationId xmlns:a16="http://schemas.microsoft.com/office/drawing/2014/main" id="{F7E30C4F-A00D-4E78-A0E1-DBDB938228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" y="1596"/>
              <a:ext cx="122" cy="915"/>
            </a:xfrm>
            <a:prstGeom prst="leftBrace">
              <a:avLst>
                <a:gd name="adj1" fmla="val 625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tIns="0" bIns="0">
              <a:spAutoFit/>
            </a:bodyPr>
            <a:lstStyle/>
            <a:p>
              <a:pPr algn="just" eaLnBrk="0" hangingPunct="0"/>
              <a:endParaRPr lang="zh-CN" altLang="en-US">
                <a:solidFill>
                  <a:schemeClr val="bg1"/>
                </a:solidFill>
              </a:endParaRPr>
            </a:p>
            <a:p>
              <a:pPr algn="just" eaLnBrk="0" hangingPunct="0"/>
              <a:endParaRPr lang="zh-CN" altLang="en-US">
                <a:solidFill>
                  <a:schemeClr val="bg1"/>
                </a:solidFill>
              </a:endParaRPr>
            </a:p>
            <a:p>
              <a:pPr algn="just" eaLnBrk="0" hangingPunct="0"/>
              <a:endParaRPr lang="zh-CN" altLang="en-US">
                <a:solidFill>
                  <a:schemeClr val="bg1"/>
                </a:solidFill>
              </a:endParaRPr>
            </a:p>
            <a:p>
              <a:pPr algn="just" eaLnBrk="0" hangingPunct="0"/>
              <a:endParaRPr lang="zh-CN" altLang="en-US">
                <a:solidFill>
                  <a:schemeClr val="bg1"/>
                </a:solidFill>
              </a:endParaRPr>
            </a:p>
            <a:p>
              <a:pPr algn="just" eaLnBrk="0" hangingPunct="0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346" name="文本框 12370">
              <a:extLst>
                <a:ext uri="{FF2B5EF4-FFF2-40B4-BE49-F238E27FC236}">
                  <a16:creationId xmlns:a16="http://schemas.microsoft.com/office/drawing/2014/main" id="{0FB3D76D-AC9A-4F86-A55B-4BDB663850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958"/>
              <a:ext cx="548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>
              <a:spAutoFit/>
            </a:bodyPr>
            <a:lstStyle/>
            <a:p>
              <a:pPr algn="just" eaLnBrk="0" hangingPunct="0"/>
              <a:r>
                <a:rPr lang="zh-CN" altLang="en-US"/>
                <a:t>控制线</a:t>
              </a:r>
            </a:p>
            <a:p>
              <a:pPr algn="just" eaLnBrk="0" hangingPunct="0"/>
              <a:r>
                <a:rPr lang="zh-CN" altLang="en-US"/>
                <a:t>地址线</a:t>
              </a:r>
            </a:p>
          </p:txBody>
        </p:sp>
        <p:grpSp>
          <p:nvGrpSpPr>
            <p:cNvPr id="11347" name="组合 12371">
              <a:extLst>
                <a:ext uri="{FF2B5EF4-FFF2-40B4-BE49-F238E27FC236}">
                  <a16:creationId xmlns:a16="http://schemas.microsoft.com/office/drawing/2014/main" id="{10AFE69F-AE78-48A5-BA22-932D1E22AE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7" y="379"/>
              <a:ext cx="744" cy="370"/>
              <a:chOff x="0" y="0"/>
              <a:chExt cx="744" cy="370"/>
            </a:xfrm>
          </p:grpSpPr>
          <p:sp>
            <p:nvSpPr>
              <p:cNvPr id="11348" name="文本框 12372">
                <a:extLst>
                  <a:ext uri="{FF2B5EF4-FFF2-40B4-BE49-F238E27FC236}">
                    <a16:creationId xmlns:a16="http://schemas.microsoft.com/office/drawing/2014/main" id="{A23572DA-59D1-44FC-9706-7825DF77E9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" y="102"/>
                <a:ext cx="620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zh-CN" altLang="en-US"/>
                  <a:t>计数器</a:t>
                </a:r>
                <a:r>
                  <a:rPr lang="en-US" altLang="zh-CN"/>
                  <a:t>0</a:t>
                </a:r>
              </a:p>
            </p:txBody>
          </p:sp>
          <p:sp>
            <p:nvSpPr>
              <p:cNvPr id="11349" name="右大括号 12373">
                <a:extLst>
                  <a:ext uri="{FF2B5EF4-FFF2-40B4-BE49-F238E27FC236}">
                    <a16:creationId xmlns:a16="http://schemas.microsoft.com/office/drawing/2014/main" id="{BF5D8091-DA24-4C8D-9C95-C7178DD19E1D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0" y="0"/>
                <a:ext cx="122" cy="370"/>
              </a:xfrm>
              <a:prstGeom prst="rightBrace">
                <a:avLst>
                  <a:gd name="adj1" fmla="val 25175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0" bIns="0">
                <a:spAutoFit/>
              </a:bodyPr>
              <a:lstStyle/>
              <a:p>
                <a:pPr algn="just" eaLnBrk="0" hangingPunct="0"/>
                <a:endParaRPr lang="zh-CN" altLang="en-US">
                  <a:solidFill>
                    <a:schemeClr val="bg1"/>
                  </a:solidFill>
                </a:endParaRPr>
              </a:p>
              <a:p>
                <a:pPr algn="just" eaLnBrk="0" hangingPunct="0"/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350" name="组合 12374">
              <a:extLst>
                <a:ext uri="{FF2B5EF4-FFF2-40B4-BE49-F238E27FC236}">
                  <a16:creationId xmlns:a16="http://schemas.microsoft.com/office/drawing/2014/main" id="{478BEDDB-BC21-47B2-A86F-6D89147F15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1" y="998"/>
              <a:ext cx="744" cy="370"/>
              <a:chOff x="0" y="0"/>
              <a:chExt cx="744" cy="370"/>
            </a:xfrm>
          </p:grpSpPr>
          <p:sp>
            <p:nvSpPr>
              <p:cNvPr id="11351" name="文本框 12375">
                <a:extLst>
                  <a:ext uri="{FF2B5EF4-FFF2-40B4-BE49-F238E27FC236}">
                    <a16:creationId xmlns:a16="http://schemas.microsoft.com/office/drawing/2014/main" id="{7AA0C708-4C38-48E6-B98C-B7F6FBB81A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" y="102"/>
                <a:ext cx="620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zh-CN" altLang="en-US"/>
                  <a:t>计数器</a:t>
                </a:r>
                <a:r>
                  <a:rPr lang="en-US" altLang="zh-CN"/>
                  <a:t>1</a:t>
                </a:r>
              </a:p>
            </p:txBody>
          </p:sp>
          <p:sp>
            <p:nvSpPr>
              <p:cNvPr id="11352" name="右大括号 12376">
                <a:extLst>
                  <a:ext uri="{FF2B5EF4-FFF2-40B4-BE49-F238E27FC236}">
                    <a16:creationId xmlns:a16="http://schemas.microsoft.com/office/drawing/2014/main" id="{97526F63-3B0B-4C92-AE6F-A7AC21F175A4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0" y="0"/>
                <a:ext cx="122" cy="370"/>
              </a:xfrm>
              <a:prstGeom prst="rightBrace">
                <a:avLst>
                  <a:gd name="adj1" fmla="val 25175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0" bIns="0">
                <a:spAutoFit/>
              </a:bodyPr>
              <a:lstStyle/>
              <a:p>
                <a:pPr algn="just" eaLnBrk="0" hangingPunct="0"/>
                <a:endParaRPr lang="zh-CN" altLang="en-US">
                  <a:solidFill>
                    <a:schemeClr val="bg1"/>
                  </a:solidFill>
                </a:endParaRPr>
              </a:p>
              <a:p>
                <a:pPr algn="just" eaLnBrk="0" hangingPunct="0"/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353" name="组合 12377">
              <a:extLst>
                <a:ext uri="{FF2B5EF4-FFF2-40B4-BE49-F238E27FC236}">
                  <a16:creationId xmlns:a16="http://schemas.microsoft.com/office/drawing/2014/main" id="{FDC1FF8A-16C7-47C7-8681-6EE18A8A97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9" y="2054"/>
              <a:ext cx="744" cy="370"/>
              <a:chOff x="0" y="0"/>
              <a:chExt cx="744" cy="370"/>
            </a:xfrm>
          </p:grpSpPr>
          <p:sp>
            <p:nvSpPr>
              <p:cNvPr id="11354" name="文本框 12378">
                <a:extLst>
                  <a:ext uri="{FF2B5EF4-FFF2-40B4-BE49-F238E27FC236}">
                    <a16:creationId xmlns:a16="http://schemas.microsoft.com/office/drawing/2014/main" id="{7B0B55BB-4AF9-4E02-960D-8F8BD8F01A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" y="102"/>
                <a:ext cx="620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>
                <a:spAutoFit/>
              </a:bodyPr>
              <a:lstStyle/>
              <a:p>
                <a:pPr algn="just" eaLnBrk="0" hangingPunct="0"/>
                <a:r>
                  <a:rPr lang="zh-CN" altLang="en-US"/>
                  <a:t>计数器</a:t>
                </a:r>
                <a:r>
                  <a:rPr lang="en-US" altLang="zh-CN"/>
                  <a:t>2</a:t>
                </a:r>
              </a:p>
            </p:txBody>
          </p:sp>
          <p:sp>
            <p:nvSpPr>
              <p:cNvPr id="11355" name="右大括号 12379">
                <a:extLst>
                  <a:ext uri="{FF2B5EF4-FFF2-40B4-BE49-F238E27FC236}">
                    <a16:creationId xmlns:a16="http://schemas.microsoft.com/office/drawing/2014/main" id="{1A01BF61-7D4A-424D-80EF-D49BB637F9B1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0" y="0"/>
                <a:ext cx="122" cy="370"/>
              </a:xfrm>
              <a:prstGeom prst="rightBrace">
                <a:avLst>
                  <a:gd name="adj1" fmla="val 25175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0" bIns="0">
                <a:spAutoFit/>
              </a:bodyPr>
              <a:lstStyle/>
              <a:p>
                <a:pPr algn="just" eaLnBrk="0" hangingPunct="0"/>
                <a:endParaRPr lang="zh-CN" altLang="en-US">
                  <a:solidFill>
                    <a:schemeClr val="bg1"/>
                  </a:solidFill>
                </a:endParaRPr>
              </a:p>
              <a:p>
                <a:pPr algn="just" eaLnBrk="0" hangingPunct="0"/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2381" name="矩形 12380">
            <a:extLst>
              <a:ext uri="{FF2B5EF4-FFF2-40B4-BE49-F238E27FC236}">
                <a16:creationId xmlns:a16="http://schemas.microsoft.com/office/drawing/2014/main" id="{511BA817-CF7A-42D2-91B3-A681B8426EEE}"/>
              </a:ext>
            </a:extLst>
          </p:cNvPr>
          <p:cNvSpPr/>
          <p:nvPr/>
        </p:nvSpPr>
        <p:spPr>
          <a:xfrm>
            <a:off x="6372225" y="1989138"/>
            <a:ext cx="2771775" cy="3441700"/>
          </a:xfrm>
          <a:prstGeom prst="rect">
            <a:avLst/>
          </a:prstGeom>
          <a:solidFill>
            <a:srgbClr val="00808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>
                <a:srgbClr val="FFCCCC"/>
              </a:buClr>
              <a:buSzPct val="120000"/>
              <a:buFont typeface="Wingdings" panose="05000000000000000000" pitchFamily="2" charset="2"/>
              <a:buNone/>
              <a:defRPr/>
            </a:pPr>
            <a:r>
              <a:rPr lang="zh-CN" altLang="en-US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地址总线：</a:t>
            </a:r>
          </a:p>
          <a:p>
            <a:pPr algn="just">
              <a:lnSpc>
                <a:spcPct val="130000"/>
              </a:lnSpc>
              <a:buClr>
                <a:srgbClr val="FFCCCC"/>
              </a:buClr>
              <a:buSzPct val="120000"/>
              <a:buFont typeface="Wingdings" panose="05000000000000000000" pitchFamily="2" charset="2"/>
              <a:buNone/>
              <a:defRPr/>
            </a:pPr>
            <a:r>
              <a:rPr lang="en-US" altLang="zh-CN" sz="2100" b="1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A1</a:t>
            </a:r>
            <a:r>
              <a:rPr lang="zh-CN" altLang="en-US" sz="2100" b="1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和</a:t>
            </a:r>
            <a:r>
              <a:rPr lang="en-US" altLang="zh-CN" sz="2100" b="1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A0</a:t>
            </a:r>
            <a:r>
              <a:rPr lang="zh-CN" altLang="en-US" sz="2100" b="1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的组合选择</a:t>
            </a:r>
            <a:r>
              <a:rPr lang="en-US" altLang="zh-CN" sz="2100" b="1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8253</a:t>
            </a:r>
            <a:r>
              <a:rPr lang="zh-CN" altLang="en-US" sz="2100" b="1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的计数器和控制寄存器</a:t>
            </a:r>
          </a:p>
          <a:p>
            <a:pPr algn="just">
              <a:lnSpc>
                <a:spcPct val="130000"/>
              </a:lnSpc>
              <a:buClr>
                <a:srgbClr val="FFCCCC"/>
              </a:buClr>
              <a:buSzPct val="120000"/>
              <a:buFont typeface="Wingdings" panose="05000000000000000000" pitchFamily="2" charset="2"/>
              <a:buNone/>
              <a:defRPr/>
            </a:pPr>
            <a:r>
              <a:rPr lang="en-US" altLang="zh-CN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A</a:t>
            </a:r>
            <a:r>
              <a:rPr lang="en-US" altLang="zh-CN" sz="2100" b="1" baseline="-25000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1</a:t>
            </a:r>
            <a:r>
              <a:rPr lang="en-US" altLang="zh-CN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A</a:t>
            </a:r>
            <a:r>
              <a:rPr lang="en-US" altLang="zh-CN" sz="2100" b="1" baseline="-25000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0</a:t>
            </a:r>
            <a:r>
              <a:rPr lang="en-US" altLang="zh-CN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=00    </a:t>
            </a:r>
            <a:r>
              <a:rPr lang="zh-CN" altLang="en-US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计数器</a:t>
            </a:r>
            <a:r>
              <a:rPr lang="en-US" altLang="zh-CN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0</a:t>
            </a:r>
          </a:p>
          <a:p>
            <a:pPr algn="just">
              <a:lnSpc>
                <a:spcPct val="130000"/>
              </a:lnSpc>
              <a:buClr>
                <a:srgbClr val="FFCCCC"/>
              </a:buClr>
              <a:buSzPct val="120000"/>
              <a:buFont typeface="Wingdings" panose="05000000000000000000" pitchFamily="2" charset="2"/>
              <a:buNone/>
              <a:defRPr/>
            </a:pPr>
            <a:r>
              <a:rPr lang="en-US" altLang="zh-CN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A</a:t>
            </a:r>
            <a:r>
              <a:rPr lang="en-US" altLang="zh-CN" sz="2100" b="1" baseline="-25000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1</a:t>
            </a:r>
            <a:r>
              <a:rPr lang="en-US" altLang="zh-CN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A</a:t>
            </a:r>
            <a:r>
              <a:rPr lang="en-US" altLang="zh-CN" sz="2100" b="1" baseline="-25000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0</a:t>
            </a:r>
            <a:r>
              <a:rPr lang="en-US" altLang="zh-CN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=01    </a:t>
            </a:r>
            <a:r>
              <a:rPr lang="zh-CN" altLang="en-US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计数器</a:t>
            </a:r>
            <a:r>
              <a:rPr lang="en-US" altLang="zh-CN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1</a:t>
            </a:r>
          </a:p>
          <a:p>
            <a:pPr algn="just">
              <a:lnSpc>
                <a:spcPct val="130000"/>
              </a:lnSpc>
              <a:defRPr/>
            </a:pPr>
            <a:r>
              <a:rPr lang="en-US" altLang="zh-CN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A</a:t>
            </a:r>
            <a:r>
              <a:rPr lang="en-US" altLang="zh-CN" sz="2100" b="1" baseline="-25000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1</a:t>
            </a:r>
            <a:r>
              <a:rPr lang="en-US" altLang="zh-CN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A</a:t>
            </a:r>
            <a:r>
              <a:rPr lang="en-US" altLang="zh-CN" sz="2100" b="1" baseline="-25000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0</a:t>
            </a:r>
            <a:r>
              <a:rPr lang="en-US" altLang="zh-CN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=10    </a:t>
            </a:r>
            <a:r>
              <a:rPr lang="zh-CN" altLang="en-US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计数器</a:t>
            </a:r>
            <a:r>
              <a:rPr lang="en-US" altLang="zh-CN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2 </a:t>
            </a:r>
          </a:p>
          <a:p>
            <a:pPr algn="just">
              <a:lnSpc>
                <a:spcPct val="130000"/>
              </a:lnSpc>
              <a:defRPr/>
            </a:pPr>
            <a:r>
              <a:rPr lang="en-US" altLang="zh-CN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A</a:t>
            </a:r>
            <a:r>
              <a:rPr lang="en-US" altLang="zh-CN" sz="2100" b="1" baseline="-25000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1</a:t>
            </a:r>
            <a:r>
              <a:rPr lang="en-US" altLang="zh-CN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A</a:t>
            </a:r>
            <a:r>
              <a:rPr lang="en-US" altLang="zh-CN" sz="2100" b="1" baseline="-25000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0</a:t>
            </a:r>
            <a:r>
              <a:rPr lang="en-US" altLang="zh-CN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=11  </a:t>
            </a:r>
            <a:r>
              <a:rPr lang="zh-CN" altLang="en-US" sz="21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+mn-ea"/>
              </a:rPr>
              <a:t>控制寄存器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12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build="p"/>
      <p:bldP spid="1238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矩形 13313">
            <a:extLst>
              <a:ext uri="{FF2B5EF4-FFF2-40B4-BE49-F238E27FC236}">
                <a16:creationId xmlns:a16="http://schemas.microsoft.com/office/drawing/2014/main" id="{E0D2CCB0-DF4C-4D7C-B9E3-D5C023942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836613"/>
            <a:ext cx="7777163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chemeClr val="hlink"/>
                </a:solidFill>
                <a:latin typeface="宋体" panose="02010600030101010101" pitchFamily="2" charset="-122"/>
              </a:rPr>
              <a:t>2  8253的工作原理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二、8253的内部结构</a:t>
            </a:r>
          </a:p>
        </p:txBody>
      </p:sp>
      <p:grpSp>
        <p:nvGrpSpPr>
          <p:cNvPr id="12290" name="组合 13314">
            <a:extLst>
              <a:ext uri="{FF2B5EF4-FFF2-40B4-BE49-F238E27FC236}">
                <a16:creationId xmlns:a16="http://schemas.microsoft.com/office/drawing/2014/main" id="{9A825759-D0CC-439A-A2A5-E562FB1E43F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71550" y="2106613"/>
            <a:ext cx="7324725" cy="4275137"/>
            <a:chOff x="0" y="0"/>
            <a:chExt cx="4614" cy="2693"/>
          </a:xfrm>
        </p:grpSpPr>
        <p:sp>
          <p:nvSpPr>
            <p:cNvPr id="12291" name="矩形 13315">
              <a:extLst>
                <a:ext uri="{FF2B5EF4-FFF2-40B4-BE49-F238E27FC236}">
                  <a16:creationId xmlns:a16="http://schemas.microsoft.com/office/drawing/2014/main" id="{FE4BBCE7-6C5F-4E35-8750-0C486420C12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6" y="0"/>
              <a:ext cx="4608" cy="2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292" name="矩形 13316">
              <a:extLst>
                <a:ext uri="{FF2B5EF4-FFF2-40B4-BE49-F238E27FC236}">
                  <a16:creationId xmlns:a16="http://schemas.microsoft.com/office/drawing/2014/main" id="{C41412C1-F487-4975-BE38-B613908F08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" y="34"/>
              <a:ext cx="3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293" name="未知">
              <a:extLst>
                <a:ext uri="{FF2B5EF4-FFF2-40B4-BE49-F238E27FC236}">
                  <a16:creationId xmlns:a16="http://schemas.microsoft.com/office/drawing/2014/main" id="{E3C12F37-7892-4E7E-8C8E-C3964CC36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" y="1426"/>
              <a:ext cx="868" cy="116"/>
            </a:xfrm>
            <a:custGeom>
              <a:avLst/>
              <a:gdLst>
                <a:gd name="T0" fmla="*/ 868 w 868"/>
                <a:gd name="T1" fmla="*/ 0 h 116"/>
                <a:gd name="T2" fmla="*/ 868 w 868"/>
                <a:gd name="T3" fmla="*/ 116 h 116"/>
                <a:gd name="T4" fmla="*/ 0 w 868"/>
                <a:gd name="T5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68" h="116">
                  <a:moveTo>
                    <a:pt x="868" y="0"/>
                  </a:moveTo>
                  <a:lnTo>
                    <a:pt x="868" y="116"/>
                  </a:lnTo>
                  <a:lnTo>
                    <a:pt x="0" y="116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294" name="矩形 13318">
              <a:extLst>
                <a:ext uri="{FF2B5EF4-FFF2-40B4-BE49-F238E27FC236}">
                  <a16:creationId xmlns:a16="http://schemas.microsoft.com/office/drawing/2014/main" id="{9271D03A-88FD-432E-B7A9-80CF39068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" y="39"/>
              <a:ext cx="684" cy="523"/>
            </a:xfrm>
            <a:prstGeom prst="rect">
              <a:avLst/>
            </a:prstGeom>
            <a:noFill/>
            <a:ln w="2698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295" name="矩形 13319">
              <a:extLst>
                <a:ext uri="{FF2B5EF4-FFF2-40B4-BE49-F238E27FC236}">
                  <a16:creationId xmlns:a16="http://schemas.microsoft.com/office/drawing/2014/main" id="{6A38FFB5-08E8-4F11-B62C-FE80F5474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" y="90"/>
              <a:ext cx="24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  <a:latin typeface="宋体" panose="02010600030101010101" pitchFamily="2" charset="-122"/>
                </a:rPr>
                <a:t>数据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296" name="矩形 13320">
              <a:extLst>
                <a:ext uri="{FF2B5EF4-FFF2-40B4-BE49-F238E27FC236}">
                  <a16:creationId xmlns:a16="http://schemas.microsoft.com/office/drawing/2014/main" id="{ABE982DB-45EA-4CA3-B329-45357F7165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" y="85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297" name="矩形 13321">
              <a:extLst>
                <a:ext uri="{FF2B5EF4-FFF2-40B4-BE49-F238E27FC236}">
                  <a16:creationId xmlns:a16="http://schemas.microsoft.com/office/drawing/2014/main" id="{BE475DBC-2EF2-42EE-A546-632E4A495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" y="250"/>
              <a:ext cx="24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  <a:latin typeface="宋体" panose="02010600030101010101" pitchFamily="2" charset="-122"/>
                </a:rPr>
                <a:t>总线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298" name="矩形 13322">
              <a:extLst>
                <a:ext uri="{FF2B5EF4-FFF2-40B4-BE49-F238E27FC236}">
                  <a16:creationId xmlns:a16="http://schemas.microsoft.com/office/drawing/2014/main" id="{69FAF0DE-840A-44DE-847C-68074F685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" y="245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299" name="矩形 13323">
              <a:extLst>
                <a:ext uri="{FF2B5EF4-FFF2-40B4-BE49-F238E27FC236}">
                  <a16:creationId xmlns:a16="http://schemas.microsoft.com/office/drawing/2014/main" id="{767B7AEB-97CD-4936-85AC-99F970347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" y="409"/>
              <a:ext cx="3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  <a:latin typeface="宋体" panose="02010600030101010101" pitchFamily="2" charset="-122"/>
                </a:rPr>
                <a:t>缓冲器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00" name="矩形 13324">
              <a:extLst>
                <a:ext uri="{FF2B5EF4-FFF2-40B4-BE49-F238E27FC236}">
                  <a16:creationId xmlns:a16="http://schemas.microsoft.com/office/drawing/2014/main" id="{A4679992-7B78-4A1A-A340-D423BD6171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" y="404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01" name="未知">
              <a:extLst>
                <a:ext uri="{FF2B5EF4-FFF2-40B4-BE49-F238E27FC236}">
                  <a16:creationId xmlns:a16="http://schemas.microsoft.com/office/drawing/2014/main" id="{87986612-7F18-4202-A217-D56FCC79A8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0" y="572"/>
              <a:ext cx="40" cy="108"/>
            </a:xfrm>
            <a:custGeom>
              <a:avLst/>
              <a:gdLst>
                <a:gd name="T0" fmla="*/ 21 w 40"/>
                <a:gd name="T1" fmla="*/ 0 h 108"/>
                <a:gd name="T2" fmla="*/ 0 w 40"/>
                <a:gd name="T3" fmla="*/ 108 h 108"/>
                <a:gd name="T4" fmla="*/ 40 w 40"/>
                <a:gd name="T5" fmla="*/ 108 h 108"/>
                <a:gd name="T6" fmla="*/ 21 w 40"/>
                <a:gd name="T7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08">
                  <a:moveTo>
                    <a:pt x="21" y="0"/>
                  </a:moveTo>
                  <a:lnTo>
                    <a:pt x="0" y="108"/>
                  </a:lnTo>
                  <a:lnTo>
                    <a:pt x="40" y="108"/>
                  </a:lnTo>
                  <a:lnTo>
                    <a:pt x="21" y="0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02" name="直接连接符 13326">
              <a:extLst>
                <a:ext uri="{FF2B5EF4-FFF2-40B4-BE49-F238E27FC236}">
                  <a16:creationId xmlns:a16="http://schemas.microsoft.com/office/drawing/2014/main" id="{8B4B1355-5369-42F3-8044-42F8A11753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0" y="654"/>
              <a:ext cx="1" cy="286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3" name="矩形 13327">
              <a:extLst>
                <a:ext uri="{FF2B5EF4-FFF2-40B4-BE49-F238E27FC236}">
                  <a16:creationId xmlns:a16="http://schemas.microsoft.com/office/drawing/2014/main" id="{37B0CF49-8622-4A45-94C1-018BEC445F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" y="873"/>
              <a:ext cx="684" cy="523"/>
            </a:xfrm>
            <a:prstGeom prst="rect">
              <a:avLst/>
            </a:prstGeom>
            <a:noFill/>
            <a:ln w="2698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304" name="矩形 13328">
              <a:extLst>
                <a:ext uri="{FF2B5EF4-FFF2-40B4-BE49-F238E27FC236}">
                  <a16:creationId xmlns:a16="http://schemas.microsoft.com/office/drawing/2014/main" id="{F01EF9A1-68DE-4D31-B879-CF13E2325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" y="979"/>
              <a:ext cx="12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  <a:latin typeface="宋体" panose="02010600030101010101" pitchFamily="2" charset="-122"/>
                </a:rPr>
                <a:t>读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05" name="矩形 13329">
              <a:extLst>
                <a:ext uri="{FF2B5EF4-FFF2-40B4-BE49-F238E27FC236}">
                  <a16:creationId xmlns:a16="http://schemas.microsoft.com/office/drawing/2014/main" id="{609B131A-A7FF-47B9-A706-5D25F4C96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974"/>
              <a:ext cx="3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/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06" name="矩形 13330">
              <a:extLst>
                <a:ext uri="{FF2B5EF4-FFF2-40B4-BE49-F238E27FC236}">
                  <a16:creationId xmlns:a16="http://schemas.microsoft.com/office/drawing/2014/main" id="{DE6A7B18-2173-47A5-83EF-E9AF6EBA6F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8" y="979"/>
              <a:ext cx="12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  <a:latin typeface="宋体" panose="02010600030101010101" pitchFamily="2" charset="-122"/>
                </a:rPr>
                <a:t>写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07" name="矩形 13331">
              <a:extLst>
                <a:ext uri="{FF2B5EF4-FFF2-40B4-BE49-F238E27FC236}">
                  <a16:creationId xmlns:a16="http://schemas.microsoft.com/office/drawing/2014/main" id="{9B80108B-9FDB-46E4-9729-7DA4E2D72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8" y="974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08" name="矩形 13332">
              <a:extLst>
                <a:ext uri="{FF2B5EF4-FFF2-40B4-BE49-F238E27FC236}">
                  <a16:creationId xmlns:a16="http://schemas.microsoft.com/office/drawing/2014/main" id="{991E2999-AA5E-4204-AA88-9E64FDC382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" y="1136"/>
              <a:ext cx="24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  <a:latin typeface="宋体" panose="02010600030101010101" pitchFamily="2" charset="-122"/>
                </a:rPr>
                <a:t>逻辑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09" name="矩形 13333">
              <a:extLst>
                <a:ext uri="{FF2B5EF4-FFF2-40B4-BE49-F238E27FC236}">
                  <a16:creationId xmlns:a16="http://schemas.microsoft.com/office/drawing/2014/main" id="{1044D996-4FAE-484D-B7D6-0F779D2BD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" y="1131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10" name="未知">
              <a:extLst>
                <a:ext uri="{FF2B5EF4-FFF2-40B4-BE49-F238E27FC236}">
                  <a16:creationId xmlns:a16="http://schemas.microsoft.com/office/drawing/2014/main" id="{CA32D007-9AE2-48D8-B536-42E36A283E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8" y="270"/>
              <a:ext cx="494" cy="86"/>
            </a:xfrm>
            <a:custGeom>
              <a:avLst/>
              <a:gdLst>
                <a:gd name="T0" fmla="*/ 0 w 494"/>
                <a:gd name="T1" fmla="*/ 42 h 86"/>
                <a:gd name="T2" fmla="*/ 99 w 494"/>
                <a:gd name="T3" fmla="*/ 86 h 86"/>
                <a:gd name="T4" fmla="*/ 99 w 494"/>
                <a:gd name="T5" fmla="*/ 65 h 86"/>
                <a:gd name="T6" fmla="*/ 396 w 494"/>
                <a:gd name="T7" fmla="*/ 65 h 86"/>
                <a:gd name="T8" fmla="*/ 396 w 494"/>
                <a:gd name="T9" fmla="*/ 86 h 86"/>
                <a:gd name="T10" fmla="*/ 494 w 494"/>
                <a:gd name="T11" fmla="*/ 42 h 86"/>
                <a:gd name="T12" fmla="*/ 396 w 494"/>
                <a:gd name="T13" fmla="*/ 0 h 86"/>
                <a:gd name="T14" fmla="*/ 396 w 494"/>
                <a:gd name="T15" fmla="*/ 21 h 86"/>
                <a:gd name="T16" fmla="*/ 99 w 494"/>
                <a:gd name="T17" fmla="*/ 21 h 86"/>
                <a:gd name="T18" fmla="*/ 99 w 494"/>
                <a:gd name="T19" fmla="*/ 0 h 86"/>
                <a:gd name="T20" fmla="*/ 0 w 494"/>
                <a:gd name="T21" fmla="*/ 42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4" h="86">
                  <a:moveTo>
                    <a:pt x="0" y="42"/>
                  </a:moveTo>
                  <a:lnTo>
                    <a:pt x="99" y="86"/>
                  </a:lnTo>
                  <a:lnTo>
                    <a:pt x="99" y="65"/>
                  </a:lnTo>
                  <a:lnTo>
                    <a:pt x="396" y="65"/>
                  </a:lnTo>
                  <a:lnTo>
                    <a:pt x="396" y="86"/>
                  </a:lnTo>
                  <a:lnTo>
                    <a:pt x="494" y="42"/>
                  </a:lnTo>
                  <a:lnTo>
                    <a:pt x="396" y="0"/>
                  </a:lnTo>
                  <a:lnTo>
                    <a:pt x="396" y="21"/>
                  </a:lnTo>
                  <a:lnTo>
                    <a:pt x="99" y="21"/>
                  </a:lnTo>
                  <a:lnTo>
                    <a:pt x="99" y="0"/>
                  </a:lnTo>
                  <a:lnTo>
                    <a:pt x="0" y="42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11" name="未知">
              <a:extLst>
                <a:ext uri="{FF2B5EF4-FFF2-40B4-BE49-F238E27FC236}">
                  <a16:creationId xmlns:a16="http://schemas.microsoft.com/office/drawing/2014/main" id="{E48F53D5-E7E0-4A61-9B57-989A7DF1F3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" y="270"/>
              <a:ext cx="494" cy="86"/>
            </a:xfrm>
            <a:custGeom>
              <a:avLst/>
              <a:gdLst>
                <a:gd name="T0" fmla="*/ 0 w 494"/>
                <a:gd name="T1" fmla="*/ 42 h 86"/>
                <a:gd name="T2" fmla="*/ 99 w 494"/>
                <a:gd name="T3" fmla="*/ 86 h 86"/>
                <a:gd name="T4" fmla="*/ 99 w 494"/>
                <a:gd name="T5" fmla="*/ 65 h 86"/>
                <a:gd name="T6" fmla="*/ 396 w 494"/>
                <a:gd name="T7" fmla="*/ 65 h 86"/>
                <a:gd name="T8" fmla="*/ 396 w 494"/>
                <a:gd name="T9" fmla="*/ 86 h 86"/>
                <a:gd name="T10" fmla="*/ 494 w 494"/>
                <a:gd name="T11" fmla="*/ 42 h 86"/>
                <a:gd name="T12" fmla="*/ 396 w 494"/>
                <a:gd name="T13" fmla="*/ 0 h 86"/>
                <a:gd name="T14" fmla="*/ 396 w 494"/>
                <a:gd name="T15" fmla="*/ 21 h 86"/>
                <a:gd name="T16" fmla="*/ 99 w 494"/>
                <a:gd name="T17" fmla="*/ 21 h 86"/>
                <a:gd name="T18" fmla="*/ 99 w 494"/>
                <a:gd name="T19" fmla="*/ 0 h 86"/>
                <a:gd name="T20" fmla="*/ 0 w 494"/>
                <a:gd name="T21" fmla="*/ 42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4" h="86">
                  <a:moveTo>
                    <a:pt x="0" y="42"/>
                  </a:moveTo>
                  <a:lnTo>
                    <a:pt x="99" y="86"/>
                  </a:lnTo>
                  <a:lnTo>
                    <a:pt x="99" y="65"/>
                  </a:lnTo>
                  <a:lnTo>
                    <a:pt x="396" y="65"/>
                  </a:lnTo>
                  <a:lnTo>
                    <a:pt x="396" y="86"/>
                  </a:lnTo>
                  <a:lnTo>
                    <a:pt x="494" y="42"/>
                  </a:lnTo>
                  <a:lnTo>
                    <a:pt x="396" y="0"/>
                  </a:lnTo>
                  <a:lnTo>
                    <a:pt x="396" y="21"/>
                  </a:lnTo>
                  <a:lnTo>
                    <a:pt x="99" y="21"/>
                  </a:lnTo>
                  <a:lnTo>
                    <a:pt x="99" y="0"/>
                  </a:lnTo>
                  <a:lnTo>
                    <a:pt x="0" y="42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12" name="未知">
              <a:extLst>
                <a:ext uri="{FF2B5EF4-FFF2-40B4-BE49-F238E27FC236}">
                  <a16:creationId xmlns:a16="http://schemas.microsoft.com/office/drawing/2014/main" id="{EF51942A-2E73-45E8-A903-B896484018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2" y="270"/>
              <a:ext cx="495" cy="86"/>
            </a:xfrm>
            <a:custGeom>
              <a:avLst/>
              <a:gdLst>
                <a:gd name="T0" fmla="*/ 0 w 495"/>
                <a:gd name="T1" fmla="*/ 42 h 86"/>
                <a:gd name="T2" fmla="*/ 100 w 495"/>
                <a:gd name="T3" fmla="*/ 86 h 86"/>
                <a:gd name="T4" fmla="*/ 100 w 495"/>
                <a:gd name="T5" fmla="*/ 65 h 86"/>
                <a:gd name="T6" fmla="*/ 397 w 495"/>
                <a:gd name="T7" fmla="*/ 65 h 86"/>
                <a:gd name="T8" fmla="*/ 397 w 495"/>
                <a:gd name="T9" fmla="*/ 86 h 86"/>
                <a:gd name="T10" fmla="*/ 495 w 495"/>
                <a:gd name="T11" fmla="*/ 42 h 86"/>
                <a:gd name="T12" fmla="*/ 397 w 495"/>
                <a:gd name="T13" fmla="*/ 0 h 86"/>
                <a:gd name="T14" fmla="*/ 397 w 495"/>
                <a:gd name="T15" fmla="*/ 21 h 86"/>
                <a:gd name="T16" fmla="*/ 100 w 495"/>
                <a:gd name="T17" fmla="*/ 21 h 86"/>
                <a:gd name="T18" fmla="*/ 100 w 495"/>
                <a:gd name="T19" fmla="*/ 0 h 86"/>
                <a:gd name="T20" fmla="*/ 0 w 495"/>
                <a:gd name="T21" fmla="*/ 42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5" h="86">
                  <a:moveTo>
                    <a:pt x="0" y="42"/>
                  </a:moveTo>
                  <a:lnTo>
                    <a:pt x="100" y="86"/>
                  </a:lnTo>
                  <a:lnTo>
                    <a:pt x="100" y="65"/>
                  </a:lnTo>
                  <a:lnTo>
                    <a:pt x="397" y="65"/>
                  </a:lnTo>
                  <a:lnTo>
                    <a:pt x="397" y="86"/>
                  </a:lnTo>
                  <a:lnTo>
                    <a:pt x="495" y="42"/>
                  </a:lnTo>
                  <a:lnTo>
                    <a:pt x="397" y="0"/>
                  </a:lnTo>
                  <a:lnTo>
                    <a:pt x="397" y="21"/>
                  </a:lnTo>
                  <a:lnTo>
                    <a:pt x="100" y="21"/>
                  </a:lnTo>
                  <a:lnTo>
                    <a:pt x="100" y="0"/>
                  </a:lnTo>
                  <a:lnTo>
                    <a:pt x="0" y="42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13" name="矩形 13337">
              <a:extLst>
                <a:ext uri="{FF2B5EF4-FFF2-40B4-BE49-F238E27FC236}">
                  <a16:creationId xmlns:a16="http://schemas.microsoft.com/office/drawing/2014/main" id="{EC0ED378-CEDF-497D-BEC0-E7D0CF0A5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9" y="39"/>
              <a:ext cx="682" cy="523"/>
            </a:xfrm>
            <a:prstGeom prst="rect">
              <a:avLst/>
            </a:prstGeom>
            <a:noFill/>
            <a:ln w="2698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314" name="矩形 13338">
              <a:extLst>
                <a:ext uri="{FF2B5EF4-FFF2-40B4-BE49-F238E27FC236}">
                  <a16:creationId xmlns:a16="http://schemas.microsoft.com/office/drawing/2014/main" id="{B1CA55E4-E523-44D3-8DA1-CDFA54783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227"/>
              <a:ext cx="3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  <a:latin typeface="宋体" panose="02010600030101010101" pitchFamily="2" charset="-122"/>
                </a:rPr>
                <a:t>计数器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15" name="矩形 13339">
              <a:extLst>
                <a:ext uri="{FF2B5EF4-FFF2-40B4-BE49-F238E27FC236}">
                  <a16:creationId xmlns:a16="http://schemas.microsoft.com/office/drawing/2014/main" id="{ECA64584-4F76-4EDD-8FEA-86B6FF926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8" y="222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16" name="矩形 13340">
              <a:extLst>
                <a:ext uri="{FF2B5EF4-FFF2-40B4-BE49-F238E27FC236}">
                  <a16:creationId xmlns:a16="http://schemas.microsoft.com/office/drawing/2014/main" id="{2F426E42-DA3B-4900-8A2B-9D0E0E5953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8" y="37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17" name="矩形 13341">
              <a:extLst>
                <a:ext uri="{FF2B5EF4-FFF2-40B4-BE49-F238E27FC236}">
                  <a16:creationId xmlns:a16="http://schemas.microsoft.com/office/drawing/2014/main" id="{6B0FFB72-C241-476D-8083-EED42B82BC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9" y="373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18" name="矩形 13342">
              <a:extLst>
                <a:ext uri="{FF2B5EF4-FFF2-40B4-BE49-F238E27FC236}">
                  <a16:creationId xmlns:a16="http://schemas.microsoft.com/office/drawing/2014/main" id="{C90EA4DA-D055-40CC-B7AC-951892D46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" y="1725"/>
              <a:ext cx="684" cy="523"/>
            </a:xfrm>
            <a:prstGeom prst="rect">
              <a:avLst/>
            </a:prstGeom>
            <a:noFill/>
            <a:ln w="2698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319" name="矩形 13343">
              <a:extLst>
                <a:ext uri="{FF2B5EF4-FFF2-40B4-BE49-F238E27FC236}">
                  <a16:creationId xmlns:a16="http://schemas.microsoft.com/office/drawing/2014/main" id="{0C3577B5-13B8-4D3F-ABF2-D7C9781B7A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" y="1833"/>
              <a:ext cx="3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  <a:latin typeface="宋体" panose="02010600030101010101" pitchFamily="2" charset="-122"/>
                </a:rPr>
                <a:t>控制字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20" name="矩形 13344">
              <a:extLst>
                <a:ext uri="{FF2B5EF4-FFF2-40B4-BE49-F238E27FC236}">
                  <a16:creationId xmlns:a16="http://schemas.microsoft.com/office/drawing/2014/main" id="{C1317F38-6402-4DA6-A188-FEDD508E1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" y="1828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21" name="矩形 13345">
              <a:extLst>
                <a:ext uri="{FF2B5EF4-FFF2-40B4-BE49-F238E27FC236}">
                  <a16:creationId xmlns:a16="http://schemas.microsoft.com/office/drawing/2014/main" id="{E5344FC3-3507-47EB-AB2E-510DEE42D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" y="1990"/>
              <a:ext cx="3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  <a:latin typeface="宋体" panose="02010600030101010101" pitchFamily="2" charset="-122"/>
                </a:rPr>
                <a:t>寄存器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22" name="矩形 13346">
              <a:extLst>
                <a:ext uri="{FF2B5EF4-FFF2-40B4-BE49-F238E27FC236}">
                  <a16:creationId xmlns:a16="http://schemas.microsoft.com/office/drawing/2014/main" id="{77ECEF0F-DEC4-4B12-866F-82F39A92DB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" y="1985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23" name="未知">
              <a:extLst>
                <a:ext uri="{FF2B5EF4-FFF2-40B4-BE49-F238E27FC236}">
                  <a16:creationId xmlns:a16="http://schemas.microsoft.com/office/drawing/2014/main" id="{CA53E53C-8D33-4991-9091-249236D5F5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8" y="1972"/>
              <a:ext cx="494" cy="87"/>
            </a:xfrm>
            <a:custGeom>
              <a:avLst/>
              <a:gdLst>
                <a:gd name="T0" fmla="*/ 0 w 494"/>
                <a:gd name="T1" fmla="*/ 42 h 87"/>
                <a:gd name="T2" fmla="*/ 99 w 494"/>
                <a:gd name="T3" fmla="*/ 87 h 87"/>
                <a:gd name="T4" fmla="*/ 99 w 494"/>
                <a:gd name="T5" fmla="*/ 65 h 87"/>
                <a:gd name="T6" fmla="*/ 396 w 494"/>
                <a:gd name="T7" fmla="*/ 65 h 87"/>
                <a:gd name="T8" fmla="*/ 396 w 494"/>
                <a:gd name="T9" fmla="*/ 87 h 87"/>
                <a:gd name="T10" fmla="*/ 494 w 494"/>
                <a:gd name="T11" fmla="*/ 42 h 87"/>
                <a:gd name="T12" fmla="*/ 396 w 494"/>
                <a:gd name="T13" fmla="*/ 0 h 87"/>
                <a:gd name="T14" fmla="*/ 396 w 494"/>
                <a:gd name="T15" fmla="*/ 21 h 87"/>
                <a:gd name="T16" fmla="*/ 99 w 494"/>
                <a:gd name="T17" fmla="*/ 21 h 87"/>
                <a:gd name="T18" fmla="*/ 99 w 494"/>
                <a:gd name="T19" fmla="*/ 0 h 87"/>
                <a:gd name="T20" fmla="*/ 0 w 494"/>
                <a:gd name="T21" fmla="*/ 42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4" h="87">
                  <a:moveTo>
                    <a:pt x="0" y="42"/>
                  </a:moveTo>
                  <a:lnTo>
                    <a:pt x="99" y="87"/>
                  </a:lnTo>
                  <a:lnTo>
                    <a:pt x="99" y="65"/>
                  </a:lnTo>
                  <a:lnTo>
                    <a:pt x="396" y="65"/>
                  </a:lnTo>
                  <a:lnTo>
                    <a:pt x="396" y="87"/>
                  </a:lnTo>
                  <a:lnTo>
                    <a:pt x="494" y="42"/>
                  </a:lnTo>
                  <a:lnTo>
                    <a:pt x="396" y="0"/>
                  </a:lnTo>
                  <a:lnTo>
                    <a:pt x="396" y="21"/>
                  </a:lnTo>
                  <a:lnTo>
                    <a:pt x="99" y="21"/>
                  </a:lnTo>
                  <a:lnTo>
                    <a:pt x="99" y="0"/>
                  </a:lnTo>
                  <a:lnTo>
                    <a:pt x="0" y="42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24" name="矩形 13348">
              <a:extLst>
                <a:ext uri="{FF2B5EF4-FFF2-40B4-BE49-F238E27FC236}">
                  <a16:creationId xmlns:a16="http://schemas.microsoft.com/office/drawing/2014/main" id="{C4649F2B-6C12-42B7-851C-EB4B82066B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9" y="873"/>
              <a:ext cx="682" cy="523"/>
            </a:xfrm>
            <a:prstGeom prst="rect">
              <a:avLst/>
            </a:prstGeom>
            <a:noFill/>
            <a:ln w="2698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325" name="矩形 13349">
              <a:extLst>
                <a:ext uri="{FF2B5EF4-FFF2-40B4-BE49-F238E27FC236}">
                  <a16:creationId xmlns:a16="http://schemas.microsoft.com/office/drawing/2014/main" id="{B9E60039-3531-44DC-A838-C8E8B0A4B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1061"/>
              <a:ext cx="3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  <a:latin typeface="宋体" panose="02010600030101010101" pitchFamily="2" charset="-122"/>
                </a:rPr>
                <a:t>计数器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26" name="矩形 13350">
              <a:extLst>
                <a:ext uri="{FF2B5EF4-FFF2-40B4-BE49-F238E27FC236}">
                  <a16:creationId xmlns:a16="http://schemas.microsoft.com/office/drawing/2014/main" id="{BACA487E-97E2-4D97-8C54-F1E5C6688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8" y="1056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27" name="矩形 13351">
              <a:extLst>
                <a:ext uri="{FF2B5EF4-FFF2-40B4-BE49-F238E27FC236}">
                  <a16:creationId xmlns:a16="http://schemas.microsoft.com/office/drawing/2014/main" id="{CAB4A1DF-D22E-42A6-A6BC-A794C4631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8" y="1205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28" name="矩形 13352">
              <a:extLst>
                <a:ext uri="{FF2B5EF4-FFF2-40B4-BE49-F238E27FC236}">
                  <a16:creationId xmlns:a16="http://schemas.microsoft.com/office/drawing/2014/main" id="{772FBA2D-6B99-4DA4-BE76-9950382D3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9" y="1205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29" name="矩形 13353">
              <a:extLst>
                <a:ext uri="{FF2B5EF4-FFF2-40B4-BE49-F238E27FC236}">
                  <a16:creationId xmlns:a16="http://schemas.microsoft.com/office/drawing/2014/main" id="{4F245EDC-5CBD-4CE1-9624-FE66E1FB5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9" y="1725"/>
              <a:ext cx="682" cy="523"/>
            </a:xfrm>
            <a:prstGeom prst="rect">
              <a:avLst/>
            </a:prstGeom>
            <a:noFill/>
            <a:ln w="2698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330" name="矩形 13354">
              <a:extLst>
                <a:ext uri="{FF2B5EF4-FFF2-40B4-BE49-F238E27FC236}">
                  <a16:creationId xmlns:a16="http://schemas.microsoft.com/office/drawing/2014/main" id="{1D43FF9A-6616-4E51-93D7-0BA20E1CBF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1915"/>
              <a:ext cx="3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  <a:latin typeface="宋体" panose="02010600030101010101" pitchFamily="2" charset="-122"/>
                </a:rPr>
                <a:t>计数器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31" name="矩形 13355">
              <a:extLst>
                <a:ext uri="{FF2B5EF4-FFF2-40B4-BE49-F238E27FC236}">
                  <a16:creationId xmlns:a16="http://schemas.microsoft.com/office/drawing/2014/main" id="{FBEBEF65-1D05-41A5-B6BD-A60B799733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8" y="1910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32" name="矩形 13356">
              <a:extLst>
                <a:ext uri="{FF2B5EF4-FFF2-40B4-BE49-F238E27FC236}">
                  <a16:creationId xmlns:a16="http://schemas.microsoft.com/office/drawing/2014/main" id="{6647C66E-63D6-4391-9471-224396A9A3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8" y="2059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2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33" name="矩形 13357">
              <a:extLst>
                <a:ext uri="{FF2B5EF4-FFF2-40B4-BE49-F238E27FC236}">
                  <a16:creationId xmlns:a16="http://schemas.microsoft.com/office/drawing/2014/main" id="{18A17D4B-221A-4DF4-9182-CADBBAA7B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9" y="2059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34" name="未知">
              <a:extLst>
                <a:ext uri="{FF2B5EF4-FFF2-40B4-BE49-F238E27FC236}">
                  <a16:creationId xmlns:a16="http://schemas.microsoft.com/office/drawing/2014/main" id="{860D0BA7-2CE9-40DD-9F93-26A10BA71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1" y="2248"/>
              <a:ext cx="1838" cy="183"/>
            </a:xfrm>
            <a:custGeom>
              <a:avLst/>
              <a:gdLst>
                <a:gd name="T0" fmla="*/ 0 w 1838"/>
                <a:gd name="T1" fmla="*/ 0 h 183"/>
                <a:gd name="T2" fmla="*/ 0 w 1838"/>
                <a:gd name="T3" fmla="*/ 183 h 183"/>
                <a:gd name="T4" fmla="*/ 1838 w 1838"/>
                <a:gd name="T5" fmla="*/ 183 h 183"/>
                <a:gd name="T6" fmla="*/ 1838 w 1838"/>
                <a:gd name="T7" fmla="*/ 98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38" h="183">
                  <a:moveTo>
                    <a:pt x="0" y="0"/>
                  </a:moveTo>
                  <a:lnTo>
                    <a:pt x="0" y="183"/>
                  </a:lnTo>
                  <a:lnTo>
                    <a:pt x="1838" y="183"/>
                  </a:lnTo>
                  <a:lnTo>
                    <a:pt x="1838" y="98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35" name="未知">
              <a:extLst>
                <a:ext uri="{FF2B5EF4-FFF2-40B4-BE49-F238E27FC236}">
                  <a16:creationId xmlns:a16="http://schemas.microsoft.com/office/drawing/2014/main" id="{E5BCEFD2-2AAD-4E14-9574-C275F24326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9" y="2268"/>
              <a:ext cx="40" cy="108"/>
            </a:xfrm>
            <a:custGeom>
              <a:avLst/>
              <a:gdLst>
                <a:gd name="T0" fmla="*/ 21 w 40"/>
                <a:gd name="T1" fmla="*/ 0 h 108"/>
                <a:gd name="T2" fmla="*/ 0 w 40"/>
                <a:gd name="T3" fmla="*/ 108 h 108"/>
                <a:gd name="T4" fmla="*/ 40 w 40"/>
                <a:gd name="T5" fmla="*/ 108 h 108"/>
                <a:gd name="T6" fmla="*/ 21 w 40"/>
                <a:gd name="T7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08">
                  <a:moveTo>
                    <a:pt x="21" y="0"/>
                  </a:moveTo>
                  <a:lnTo>
                    <a:pt x="0" y="108"/>
                  </a:lnTo>
                  <a:lnTo>
                    <a:pt x="40" y="108"/>
                  </a:lnTo>
                  <a:lnTo>
                    <a:pt x="21" y="0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36" name="未知">
              <a:extLst>
                <a:ext uri="{FF2B5EF4-FFF2-40B4-BE49-F238E27FC236}">
                  <a16:creationId xmlns:a16="http://schemas.microsoft.com/office/drawing/2014/main" id="{AB9E27BE-3D32-4832-9B2B-5260134EB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5" y="623"/>
              <a:ext cx="607" cy="1808"/>
            </a:xfrm>
            <a:custGeom>
              <a:avLst/>
              <a:gdLst>
                <a:gd name="T0" fmla="*/ 0 w 607"/>
                <a:gd name="T1" fmla="*/ 1808 h 1808"/>
                <a:gd name="T2" fmla="*/ 0 w 607"/>
                <a:gd name="T3" fmla="*/ 159 h 1808"/>
                <a:gd name="T4" fmla="*/ 607 w 607"/>
                <a:gd name="T5" fmla="*/ 159 h 1808"/>
                <a:gd name="T6" fmla="*/ 607 w 607"/>
                <a:gd name="T7" fmla="*/ 0 h 18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7" h="1808">
                  <a:moveTo>
                    <a:pt x="0" y="1808"/>
                  </a:moveTo>
                  <a:lnTo>
                    <a:pt x="0" y="159"/>
                  </a:lnTo>
                  <a:lnTo>
                    <a:pt x="607" y="159"/>
                  </a:lnTo>
                  <a:lnTo>
                    <a:pt x="607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37" name="未知">
              <a:extLst>
                <a:ext uri="{FF2B5EF4-FFF2-40B4-BE49-F238E27FC236}">
                  <a16:creationId xmlns:a16="http://schemas.microsoft.com/office/drawing/2014/main" id="{5C73CEBB-532D-4BFD-8628-E73A0EEA3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1" y="562"/>
              <a:ext cx="38" cy="108"/>
            </a:xfrm>
            <a:custGeom>
              <a:avLst/>
              <a:gdLst>
                <a:gd name="T0" fmla="*/ 19 w 38"/>
                <a:gd name="T1" fmla="*/ 0 h 108"/>
                <a:gd name="T2" fmla="*/ 0 w 38"/>
                <a:gd name="T3" fmla="*/ 108 h 108"/>
                <a:gd name="T4" fmla="*/ 38 w 38"/>
                <a:gd name="T5" fmla="*/ 108 h 108"/>
                <a:gd name="T6" fmla="*/ 19 w 38"/>
                <a:gd name="T7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08">
                  <a:moveTo>
                    <a:pt x="19" y="0"/>
                  </a:moveTo>
                  <a:lnTo>
                    <a:pt x="0" y="108"/>
                  </a:lnTo>
                  <a:lnTo>
                    <a:pt x="38" y="108"/>
                  </a:lnTo>
                  <a:lnTo>
                    <a:pt x="19" y="0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38" name="未知">
              <a:extLst>
                <a:ext uri="{FF2B5EF4-FFF2-40B4-BE49-F238E27FC236}">
                  <a16:creationId xmlns:a16="http://schemas.microsoft.com/office/drawing/2014/main" id="{E93A4FCD-2AD2-417A-8E08-133A41A4D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1" y="1406"/>
              <a:ext cx="38" cy="108"/>
            </a:xfrm>
            <a:custGeom>
              <a:avLst/>
              <a:gdLst>
                <a:gd name="T0" fmla="*/ 19 w 38"/>
                <a:gd name="T1" fmla="*/ 0 h 108"/>
                <a:gd name="T2" fmla="*/ 0 w 38"/>
                <a:gd name="T3" fmla="*/ 108 h 108"/>
                <a:gd name="T4" fmla="*/ 38 w 38"/>
                <a:gd name="T5" fmla="*/ 108 h 108"/>
                <a:gd name="T6" fmla="*/ 19 w 38"/>
                <a:gd name="T7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08">
                  <a:moveTo>
                    <a:pt x="19" y="0"/>
                  </a:moveTo>
                  <a:lnTo>
                    <a:pt x="0" y="108"/>
                  </a:lnTo>
                  <a:lnTo>
                    <a:pt x="38" y="108"/>
                  </a:lnTo>
                  <a:lnTo>
                    <a:pt x="19" y="0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39" name="未知">
              <a:extLst>
                <a:ext uri="{FF2B5EF4-FFF2-40B4-BE49-F238E27FC236}">
                  <a16:creationId xmlns:a16="http://schemas.microsoft.com/office/drawing/2014/main" id="{5D89482E-BF59-4118-8221-C16C2C7B6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5" y="1498"/>
              <a:ext cx="607" cy="127"/>
            </a:xfrm>
            <a:custGeom>
              <a:avLst/>
              <a:gdLst>
                <a:gd name="T0" fmla="*/ 0 w 607"/>
                <a:gd name="T1" fmla="*/ 127 h 127"/>
                <a:gd name="T2" fmla="*/ 607 w 607"/>
                <a:gd name="T3" fmla="*/ 127 h 127"/>
                <a:gd name="T4" fmla="*/ 607 w 607"/>
                <a:gd name="T5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07" h="127">
                  <a:moveTo>
                    <a:pt x="0" y="127"/>
                  </a:moveTo>
                  <a:lnTo>
                    <a:pt x="607" y="127"/>
                  </a:lnTo>
                  <a:lnTo>
                    <a:pt x="607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40" name="未知">
              <a:extLst>
                <a:ext uri="{FF2B5EF4-FFF2-40B4-BE49-F238E27FC236}">
                  <a16:creationId xmlns:a16="http://schemas.microsoft.com/office/drawing/2014/main" id="{07179225-523F-4117-84B1-8EC9F593F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8" y="1972"/>
              <a:ext cx="496" cy="87"/>
            </a:xfrm>
            <a:custGeom>
              <a:avLst/>
              <a:gdLst>
                <a:gd name="T0" fmla="*/ 0 w 496"/>
                <a:gd name="T1" fmla="*/ 42 h 87"/>
                <a:gd name="T2" fmla="*/ 98 w 496"/>
                <a:gd name="T3" fmla="*/ 87 h 87"/>
                <a:gd name="T4" fmla="*/ 98 w 496"/>
                <a:gd name="T5" fmla="*/ 65 h 87"/>
                <a:gd name="T6" fmla="*/ 395 w 496"/>
                <a:gd name="T7" fmla="*/ 65 h 87"/>
                <a:gd name="T8" fmla="*/ 395 w 496"/>
                <a:gd name="T9" fmla="*/ 87 h 87"/>
                <a:gd name="T10" fmla="*/ 496 w 496"/>
                <a:gd name="T11" fmla="*/ 42 h 87"/>
                <a:gd name="T12" fmla="*/ 395 w 496"/>
                <a:gd name="T13" fmla="*/ 0 h 87"/>
                <a:gd name="T14" fmla="*/ 395 w 496"/>
                <a:gd name="T15" fmla="*/ 21 h 87"/>
                <a:gd name="T16" fmla="*/ 98 w 496"/>
                <a:gd name="T17" fmla="*/ 21 h 87"/>
                <a:gd name="T18" fmla="*/ 98 w 496"/>
                <a:gd name="T19" fmla="*/ 0 h 87"/>
                <a:gd name="T20" fmla="*/ 0 w 496"/>
                <a:gd name="T21" fmla="*/ 42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6" h="87">
                  <a:moveTo>
                    <a:pt x="0" y="42"/>
                  </a:moveTo>
                  <a:lnTo>
                    <a:pt x="98" y="87"/>
                  </a:lnTo>
                  <a:lnTo>
                    <a:pt x="98" y="65"/>
                  </a:lnTo>
                  <a:lnTo>
                    <a:pt x="395" y="65"/>
                  </a:lnTo>
                  <a:lnTo>
                    <a:pt x="395" y="87"/>
                  </a:lnTo>
                  <a:lnTo>
                    <a:pt x="496" y="42"/>
                  </a:lnTo>
                  <a:lnTo>
                    <a:pt x="395" y="0"/>
                  </a:lnTo>
                  <a:lnTo>
                    <a:pt x="395" y="21"/>
                  </a:lnTo>
                  <a:lnTo>
                    <a:pt x="98" y="21"/>
                  </a:lnTo>
                  <a:lnTo>
                    <a:pt x="98" y="0"/>
                  </a:lnTo>
                  <a:lnTo>
                    <a:pt x="0" y="42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41" name="未知">
              <a:extLst>
                <a:ext uri="{FF2B5EF4-FFF2-40B4-BE49-F238E27FC236}">
                  <a16:creationId xmlns:a16="http://schemas.microsoft.com/office/drawing/2014/main" id="{ABE4E4FE-8C1B-4ED4-A198-3698ED72D6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8" y="1092"/>
              <a:ext cx="496" cy="87"/>
            </a:xfrm>
            <a:custGeom>
              <a:avLst/>
              <a:gdLst>
                <a:gd name="T0" fmla="*/ 0 w 496"/>
                <a:gd name="T1" fmla="*/ 44 h 87"/>
                <a:gd name="T2" fmla="*/ 98 w 496"/>
                <a:gd name="T3" fmla="*/ 87 h 87"/>
                <a:gd name="T4" fmla="*/ 98 w 496"/>
                <a:gd name="T5" fmla="*/ 66 h 87"/>
                <a:gd name="T6" fmla="*/ 395 w 496"/>
                <a:gd name="T7" fmla="*/ 66 h 87"/>
                <a:gd name="T8" fmla="*/ 395 w 496"/>
                <a:gd name="T9" fmla="*/ 87 h 87"/>
                <a:gd name="T10" fmla="*/ 496 w 496"/>
                <a:gd name="T11" fmla="*/ 44 h 87"/>
                <a:gd name="T12" fmla="*/ 395 w 496"/>
                <a:gd name="T13" fmla="*/ 0 h 87"/>
                <a:gd name="T14" fmla="*/ 395 w 496"/>
                <a:gd name="T15" fmla="*/ 23 h 87"/>
                <a:gd name="T16" fmla="*/ 98 w 496"/>
                <a:gd name="T17" fmla="*/ 23 h 87"/>
                <a:gd name="T18" fmla="*/ 98 w 496"/>
                <a:gd name="T19" fmla="*/ 0 h 87"/>
                <a:gd name="T20" fmla="*/ 0 w 496"/>
                <a:gd name="T21" fmla="*/ 44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6" h="87">
                  <a:moveTo>
                    <a:pt x="0" y="44"/>
                  </a:moveTo>
                  <a:lnTo>
                    <a:pt x="98" y="87"/>
                  </a:lnTo>
                  <a:lnTo>
                    <a:pt x="98" y="66"/>
                  </a:lnTo>
                  <a:lnTo>
                    <a:pt x="395" y="66"/>
                  </a:lnTo>
                  <a:lnTo>
                    <a:pt x="395" y="87"/>
                  </a:lnTo>
                  <a:lnTo>
                    <a:pt x="496" y="44"/>
                  </a:lnTo>
                  <a:lnTo>
                    <a:pt x="395" y="0"/>
                  </a:lnTo>
                  <a:lnTo>
                    <a:pt x="395" y="23"/>
                  </a:lnTo>
                  <a:lnTo>
                    <a:pt x="98" y="23"/>
                  </a:lnTo>
                  <a:lnTo>
                    <a:pt x="98" y="0"/>
                  </a:lnTo>
                  <a:lnTo>
                    <a:pt x="0" y="44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42" name="未知">
              <a:extLst>
                <a:ext uri="{FF2B5EF4-FFF2-40B4-BE49-F238E27FC236}">
                  <a16:creationId xmlns:a16="http://schemas.microsoft.com/office/drawing/2014/main" id="{E7CAD25C-0EB9-4CB1-A093-1A68D90A4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0" y="943"/>
              <a:ext cx="144" cy="30"/>
            </a:xfrm>
            <a:custGeom>
              <a:avLst/>
              <a:gdLst>
                <a:gd name="T0" fmla="*/ 144 w 144"/>
                <a:gd name="T1" fmla="*/ 15 h 30"/>
                <a:gd name="T2" fmla="*/ 0 w 144"/>
                <a:gd name="T3" fmla="*/ 30 h 30"/>
                <a:gd name="T4" fmla="*/ 0 w 144"/>
                <a:gd name="T5" fmla="*/ 0 h 30"/>
                <a:gd name="T6" fmla="*/ 144 w 144"/>
                <a:gd name="T7" fmla="*/ 1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4" h="30">
                  <a:moveTo>
                    <a:pt x="144" y="15"/>
                  </a:moveTo>
                  <a:lnTo>
                    <a:pt x="0" y="30"/>
                  </a:lnTo>
                  <a:lnTo>
                    <a:pt x="0" y="0"/>
                  </a:lnTo>
                  <a:lnTo>
                    <a:pt x="144" y="15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43" name="直接连接符 13367">
              <a:extLst>
                <a:ext uri="{FF2B5EF4-FFF2-40B4-BE49-F238E27FC236}">
                  <a16:creationId xmlns:a16="http://schemas.microsoft.com/office/drawing/2014/main" id="{9F32EEE4-5F47-492B-8C38-4E314A7280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3" y="956"/>
              <a:ext cx="37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4" name="未知">
              <a:extLst>
                <a:ext uri="{FF2B5EF4-FFF2-40B4-BE49-F238E27FC236}">
                  <a16:creationId xmlns:a16="http://schemas.microsoft.com/office/drawing/2014/main" id="{6CCC2B44-DD78-4968-B38B-21C27E460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0" y="1058"/>
              <a:ext cx="144" cy="31"/>
            </a:xfrm>
            <a:custGeom>
              <a:avLst/>
              <a:gdLst>
                <a:gd name="T0" fmla="*/ 144 w 144"/>
                <a:gd name="T1" fmla="*/ 16 h 31"/>
                <a:gd name="T2" fmla="*/ 0 w 144"/>
                <a:gd name="T3" fmla="*/ 31 h 31"/>
                <a:gd name="T4" fmla="*/ 0 w 144"/>
                <a:gd name="T5" fmla="*/ 0 h 31"/>
                <a:gd name="T6" fmla="*/ 144 w 144"/>
                <a:gd name="T7" fmla="*/ 1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4" h="31">
                  <a:moveTo>
                    <a:pt x="144" y="16"/>
                  </a:moveTo>
                  <a:lnTo>
                    <a:pt x="0" y="31"/>
                  </a:lnTo>
                  <a:lnTo>
                    <a:pt x="0" y="0"/>
                  </a:lnTo>
                  <a:lnTo>
                    <a:pt x="144" y="16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45" name="直接连接符 13369">
              <a:extLst>
                <a:ext uri="{FF2B5EF4-FFF2-40B4-BE49-F238E27FC236}">
                  <a16:creationId xmlns:a16="http://schemas.microsoft.com/office/drawing/2014/main" id="{879E9B84-9FE2-4A89-A492-704E2E2818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3" y="1073"/>
              <a:ext cx="37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6" name="未知">
              <a:extLst>
                <a:ext uri="{FF2B5EF4-FFF2-40B4-BE49-F238E27FC236}">
                  <a16:creationId xmlns:a16="http://schemas.microsoft.com/office/drawing/2014/main" id="{A23AAEEA-7C67-45F2-9D11-B492F9CDDD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0" y="1174"/>
              <a:ext cx="144" cy="31"/>
            </a:xfrm>
            <a:custGeom>
              <a:avLst/>
              <a:gdLst>
                <a:gd name="T0" fmla="*/ 144 w 144"/>
                <a:gd name="T1" fmla="*/ 16 h 31"/>
                <a:gd name="T2" fmla="*/ 0 w 144"/>
                <a:gd name="T3" fmla="*/ 31 h 31"/>
                <a:gd name="T4" fmla="*/ 0 w 144"/>
                <a:gd name="T5" fmla="*/ 0 h 31"/>
                <a:gd name="T6" fmla="*/ 144 w 144"/>
                <a:gd name="T7" fmla="*/ 1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4" h="31">
                  <a:moveTo>
                    <a:pt x="144" y="16"/>
                  </a:moveTo>
                  <a:lnTo>
                    <a:pt x="0" y="31"/>
                  </a:lnTo>
                  <a:lnTo>
                    <a:pt x="0" y="0"/>
                  </a:lnTo>
                  <a:lnTo>
                    <a:pt x="144" y="16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47" name="直接连接符 13371">
              <a:extLst>
                <a:ext uri="{FF2B5EF4-FFF2-40B4-BE49-F238E27FC236}">
                  <a16:creationId xmlns:a16="http://schemas.microsoft.com/office/drawing/2014/main" id="{768C9DC7-6824-45FC-92DE-889595ADEB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3" y="1189"/>
              <a:ext cx="37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8" name="未知">
              <a:extLst>
                <a:ext uri="{FF2B5EF4-FFF2-40B4-BE49-F238E27FC236}">
                  <a16:creationId xmlns:a16="http://schemas.microsoft.com/office/drawing/2014/main" id="{FED04F14-B7DB-4627-83FC-6E156CFFE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0" y="1290"/>
              <a:ext cx="144" cy="31"/>
            </a:xfrm>
            <a:custGeom>
              <a:avLst/>
              <a:gdLst>
                <a:gd name="T0" fmla="*/ 144 w 144"/>
                <a:gd name="T1" fmla="*/ 16 h 31"/>
                <a:gd name="T2" fmla="*/ 0 w 144"/>
                <a:gd name="T3" fmla="*/ 31 h 31"/>
                <a:gd name="T4" fmla="*/ 0 w 144"/>
                <a:gd name="T5" fmla="*/ 0 h 31"/>
                <a:gd name="T6" fmla="*/ 144 w 144"/>
                <a:gd name="T7" fmla="*/ 1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4" h="31">
                  <a:moveTo>
                    <a:pt x="144" y="16"/>
                  </a:moveTo>
                  <a:lnTo>
                    <a:pt x="0" y="31"/>
                  </a:lnTo>
                  <a:lnTo>
                    <a:pt x="0" y="0"/>
                  </a:lnTo>
                  <a:lnTo>
                    <a:pt x="144" y="16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49" name="直接连接符 13373">
              <a:extLst>
                <a:ext uri="{FF2B5EF4-FFF2-40B4-BE49-F238E27FC236}">
                  <a16:creationId xmlns:a16="http://schemas.microsoft.com/office/drawing/2014/main" id="{7F51068E-F72D-4846-9517-CB69D5BC33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3" y="1305"/>
              <a:ext cx="37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50" name="椭圆 13374">
              <a:extLst>
                <a:ext uri="{FF2B5EF4-FFF2-40B4-BE49-F238E27FC236}">
                  <a16:creationId xmlns:a16="http://schemas.microsoft.com/office/drawing/2014/main" id="{00705C2F-168F-4486-BFCD-313F6730AF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1" y="1395"/>
              <a:ext cx="53" cy="39"/>
            </a:xfrm>
            <a:prstGeom prst="ellips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351" name="未知">
              <a:extLst>
                <a:ext uri="{FF2B5EF4-FFF2-40B4-BE49-F238E27FC236}">
                  <a16:creationId xmlns:a16="http://schemas.microsoft.com/office/drawing/2014/main" id="{B742E183-31E2-424B-A7FC-E62D6AE33B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3" y="1802"/>
              <a:ext cx="141" cy="29"/>
            </a:xfrm>
            <a:custGeom>
              <a:avLst/>
              <a:gdLst>
                <a:gd name="T0" fmla="*/ 0 w 141"/>
                <a:gd name="T1" fmla="*/ 15 h 29"/>
                <a:gd name="T2" fmla="*/ 141 w 141"/>
                <a:gd name="T3" fmla="*/ 29 h 29"/>
                <a:gd name="T4" fmla="*/ 141 w 141"/>
                <a:gd name="T5" fmla="*/ 0 h 29"/>
                <a:gd name="T6" fmla="*/ 0 w 141"/>
                <a:gd name="T7" fmla="*/ 1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1" h="29">
                  <a:moveTo>
                    <a:pt x="0" y="15"/>
                  </a:moveTo>
                  <a:lnTo>
                    <a:pt x="141" y="29"/>
                  </a:lnTo>
                  <a:lnTo>
                    <a:pt x="141" y="0"/>
                  </a:lnTo>
                  <a:lnTo>
                    <a:pt x="0" y="15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52" name="未知">
              <a:extLst>
                <a:ext uri="{FF2B5EF4-FFF2-40B4-BE49-F238E27FC236}">
                  <a16:creationId xmlns:a16="http://schemas.microsoft.com/office/drawing/2014/main" id="{1B0412D6-7589-4F01-990A-FC382FC29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1123"/>
              <a:ext cx="240" cy="695"/>
            </a:xfrm>
            <a:custGeom>
              <a:avLst/>
              <a:gdLst>
                <a:gd name="T0" fmla="*/ 0 w 240"/>
                <a:gd name="T1" fmla="*/ 0 h 695"/>
                <a:gd name="T2" fmla="*/ 240 w 240"/>
                <a:gd name="T3" fmla="*/ 0 h 695"/>
                <a:gd name="T4" fmla="*/ 240 w 240"/>
                <a:gd name="T5" fmla="*/ 695 h 695"/>
                <a:gd name="T6" fmla="*/ 60 w 240"/>
                <a:gd name="T7" fmla="*/ 695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0" h="695">
                  <a:moveTo>
                    <a:pt x="0" y="0"/>
                  </a:moveTo>
                  <a:lnTo>
                    <a:pt x="240" y="0"/>
                  </a:lnTo>
                  <a:lnTo>
                    <a:pt x="240" y="695"/>
                  </a:lnTo>
                  <a:lnTo>
                    <a:pt x="60" y="695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53" name="未知">
              <a:extLst>
                <a:ext uri="{FF2B5EF4-FFF2-40B4-BE49-F238E27FC236}">
                  <a16:creationId xmlns:a16="http://schemas.microsoft.com/office/drawing/2014/main" id="{999413E7-ECBE-43CD-9A1A-BE28FF9DED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1" y="131"/>
              <a:ext cx="141" cy="31"/>
            </a:xfrm>
            <a:custGeom>
              <a:avLst/>
              <a:gdLst>
                <a:gd name="T0" fmla="*/ 0 w 141"/>
                <a:gd name="T1" fmla="*/ 15 h 31"/>
                <a:gd name="T2" fmla="*/ 141 w 141"/>
                <a:gd name="T3" fmla="*/ 31 h 31"/>
                <a:gd name="T4" fmla="*/ 141 w 141"/>
                <a:gd name="T5" fmla="*/ 0 h 31"/>
                <a:gd name="T6" fmla="*/ 0 w 141"/>
                <a:gd name="T7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1" h="31">
                  <a:moveTo>
                    <a:pt x="0" y="15"/>
                  </a:moveTo>
                  <a:lnTo>
                    <a:pt x="141" y="31"/>
                  </a:lnTo>
                  <a:lnTo>
                    <a:pt x="141" y="0"/>
                  </a:lnTo>
                  <a:lnTo>
                    <a:pt x="0" y="15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54" name="直接连接符 13378">
              <a:extLst>
                <a:ext uri="{FF2B5EF4-FFF2-40B4-BE49-F238E27FC236}">
                  <a16:creationId xmlns:a16="http://schemas.microsoft.com/office/drawing/2014/main" id="{7DBF257D-3563-4E62-814C-817E5310BA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8" y="146"/>
              <a:ext cx="37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55" name="未知">
              <a:extLst>
                <a:ext uri="{FF2B5EF4-FFF2-40B4-BE49-F238E27FC236}">
                  <a16:creationId xmlns:a16="http://schemas.microsoft.com/office/drawing/2014/main" id="{0874FD88-F3A9-4C38-AD56-6799894E0E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1" y="289"/>
              <a:ext cx="141" cy="30"/>
            </a:xfrm>
            <a:custGeom>
              <a:avLst/>
              <a:gdLst>
                <a:gd name="T0" fmla="*/ 0 w 141"/>
                <a:gd name="T1" fmla="*/ 15 h 30"/>
                <a:gd name="T2" fmla="*/ 141 w 141"/>
                <a:gd name="T3" fmla="*/ 30 h 30"/>
                <a:gd name="T4" fmla="*/ 141 w 141"/>
                <a:gd name="T5" fmla="*/ 0 h 30"/>
                <a:gd name="T6" fmla="*/ 0 w 141"/>
                <a:gd name="T7" fmla="*/ 1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1" h="30">
                  <a:moveTo>
                    <a:pt x="0" y="15"/>
                  </a:moveTo>
                  <a:lnTo>
                    <a:pt x="141" y="30"/>
                  </a:lnTo>
                  <a:lnTo>
                    <a:pt x="141" y="0"/>
                  </a:lnTo>
                  <a:lnTo>
                    <a:pt x="0" y="15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56" name="直接连接符 13380">
              <a:extLst>
                <a:ext uri="{FF2B5EF4-FFF2-40B4-BE49-F238E27FC236}">
                  <a16:creationId xmlns:a16="http://schemas.microsoft.com/office/drawing/2014/main" id="{2DA51FCC-13E2-4F48-8906-31965165B3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8" y="302"/>
              <a:ext cx="37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57" name="未知">
              <a:extLst>
                <a:ext uri="{FF2B5EF4-FFF2-40B4-BE49-F238E27FC236}">
                  <a16:creationId xmlns:a16="http://schemas.microsoft.com/office/drawing/2014/main" id="{438779A2-4FE5-4FE5-B45D-EF37993AC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3" y="448"/>
              <a:ext cx="143" cy="29"/>
            </a:xfrm>
            <a:custGeom>
              <a:avLst/>
              <a:gdLst>
                <a:gd name="T0" fmla="*/ 143 w 143"/>
                <a:gd name="T1" fmla="*/ 15 h 29"/>
                <a:gd name="T2" fmla="*/ 0 w 143"/>
                <a:gd name="T3" fmla="*/ 29 h 29"/>
                <a:gd name="T4" fmla="*/ 0 w 143"/>
                <a:gd name="T5" fmla="*/ 0 h 29"/>
                <a:gd name="T6" fmla="*/ 143 w 143"/>
                <a:gd name="T7" fmla="*/ 1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3" h="29">
                  <a:moveTo>
                    <a:pt x="143" y="15"/>
                  </a:moveTo>
                  <a:lnTo>
                    <a:pt x="0" y="29"/>
                  </a:lnTo>
                  <a:lnTo>
                    <a:pt x="0" y="0"/>
                  </a:lnTo>
                  <a:lnTo>
                    <a:pt x="143" y="15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58" name="直接连接符 13382">
              <a:extLst>
                <a:ext uri="{FF2B5EF4-FFF2-40B4-BE49-F238E27FC236}">
                  <a16:creationId xmlns:a16="http://schemas.microsoft.com/office/drawing/2014/main" id="{BB89BA23-BD18-4128-B0E3-DD036AAEBD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5" y="461"/>
              <a:ext cx="37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59" name="未知">
              <a:extLst>
                <a:ext uri="{FF2B5EF4-FFF2-40B4-BE49-F238E27FC236}">
                  <a16:creationId xmlns:a16="http://schemas.microsoft.com/office/drawing/2014/main" id="{90D2FE69-3F39-45E0-876A-B5350C59C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1" y="963"/>
              <a:ext cx="141" cy="31"/>
            </a:xfrm>
            <a:custGeom>
              <a:avLst/>
              <a:gdLst>
                <a:gd name="T0" fmla="*/ 0 w 141"/>
                <a:gd name="T1" fmla="*/ 16 h 31"/>
                <a:gd name="T2" fmla="*/ 141 w 141"/>
                <a:gd name="T3" fmla="*/ 31 h 31"/>
                <a:gd name="T4" fmla="*/ 141 w 141"/>
                <a:gd name="T5" fmla="*/ 0 h 31"/>
                <a:gd name="T6" fmla="*/ 0 w 141"/>
                <a:gd name="T7" fmla="*/ 1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1" h="31">
                  <a:moveTo>
                    <a:pt x="0" y="16"/>
                  </a:moveTo>
                  <a:lnTo>
                    <a:pt x="141" y="31"/>
                  </a:lnTo>
                  <a:lnTo>
                    <a:pt x="141" y="0"/>
                  </a:lnTo>
                  <a:lnTo>
                    <a:pt x="0" y="16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60" name="直接连接符 13384">
              <a:extLst>
                <a:ext uri="{FF2B5EF4-FFF2-40B4-BE49-F238E27FC236}">
                  <a16:creationId xmlns:a16="http://schemas.microsoft.com/office/drawing/2014/main" id="{239FE858-8FDD-4D09-81A6-0469FD099B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8" y="978"/>
              <a:ext cx="37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61" name="未知">
              <a:extLst>
                <a:ext uri="{FF2B5EF4-FFF2-40B4-BE49-F238E27FC236}">
                  <a16:creationId xmlns:a16="http://schemas.microsoft.com/office/drawing/2014/main" id="{1D29164B-D1BC-4807-94D7-C3E27E88F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1" y="1122"/>
              <a:ext cx="141" cy="31"/>
            </a:xfrm>
            <a:custGeom>
              <a:avLst/>
              <a:gdLst>
                <a:gd name="T0" fmla="*/ 0 w 141"/>
                <a:gd name="T1" fmla="*/ 14 h 31"/>
                <a:gd name="T2" fmla="*/ 141 w 141"/>
                <a:gd name="T3" fmla="*/ 31 h 31"/>
                <a:gd name="T4" fmla="*/ 141 w 141"/>
                <a:gd name="T5" fmla="*/ 0 h 31"/>
                <a:gd name="T6" fmla="*/ 0 w 141"/>
                <a:gd name="T7" fmla="*/ 1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1" h="31">
                  <a:moveTo>
                    <a:pt x="0" y="14"/>
                  </a:moveTo>
                  <a:lnTo>
                    <a:pt x="141" y="31"/>
                  </a:lnTo>
                  <a:lnTo>
                    <a:pt x="141" y="0"/>
                  </a:lnTo>
                  <a:lnTo>
                    <a:pt x="0" y="14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62" name="直接连接符 13386">
              <a:extLst>
                <a:ext uri="{FF2B5EF4-FFF2-40B4-BE49-F238E27FC236}">
                  <a16:creationId xmlns:a16="http://schemas.microsoft.com/office/drawing/2014/main" id="{3E13A2F5-A951-4609-82AA-B640C4EDDE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8" y="1136"/>
              <a:ext cx="37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63" name="未知">
              <a:extLst>
                <a:ext uri="{FF2B5EF4-FFF2-40B4-BE49-F238E27FC236}">
                  <a16:creationId xmlns:a16="http://schemas.microsoft.com/office/drawing/2014/main" id="{7FF82AE8-647C-4D8A-9590-1B4504F6A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3" y="1280"/>
              <a:ext cx="143" cy="31"/>
            </a:xfrm>
            <a:custGeom>
              <a:avLst/>
              <a:gdLst>
                <a:gd name="T0" fmla="*/ 143 w 143"/>
                <a:gd name="T1" fmla="*/ 15 h 31"/>
                <a:gd name="T2" fmla="*/ 0 w 143"/>
                <a:gd name="T3" fmla="*/ 31 h 31"/>
                <a:gd name="T4" fmla="*/ 0 w 143"/>
                <a:gd name="T5" fmla="*/ 0 h 31"/>
                <a:gd name="T6" fmla="*/ 143 w 143"/>
                <a:gd name="T7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3" h="31">
                  <a:moveTo>
                    <a:pt x="143" y="15"/>
                  </a:moveTo>
                  <a:lnTo>
                    <a:pt x="0" y="31"/>
                  </a:lnTo>
                  <a:lnTo>
                    <a:pt x="0" y="0"/>
                  </a:lnTo>
                  <a:lnTo>
                    <a:pt x="143" y="15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64" name="直接连接符 13388">
              <a:extLst>
                <a:ext uri="{FF2B5EF4-FFF2-40B4-BE49-F238E27FC236}">
                  <a16:creationId xmlns:a16="http://schemas.microsoft.com/office/drawing/2014/main" id="{BD0F9A7A-4876-4FB2-A98B-67EAB089B0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5" y="1295"/>
              <a:ext cx="37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65" name="未知">
              <a:extLst>
                <a:ext uri="{FF2B5EF4-FFF2-40B4-BE49-F238E27FC236}">
                  <a16:creationId xmlns:a16="http://schemas.microsoft.com/office/drawing/2014/main" id="{EC7AA30C-B4B1-4920-85EF-BF0C635BF5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1" y="1826"/>
              <a:ext cx="141" cy="31"/>
            </a:xfrm>
            <a:custGeom>
              <a:avLst/>
              <a:gdLst>
                <a:gd name="T0" fmla="*/ 0 w 141"/>
                <a:gd name="T1" fmla="*/ 17 h 31"/>
                <a:gd name="T2" fmla="*/ 141 w 141"/>
                <a:gd name="T3" fmla="*/ 31 h 31"/>
                <a:gd name="T4" fmla="*/ 141 w 141"/>
                <a:gd name="T5" fmla="*/ 0 h 31"/>
                <a:gd name="T6" fmla="*/ 0 w 141"/>
                <a:gd name="T7" fmla="*/ 17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1" h="31">
                  <a:moveTo>
                    <a:pt x="0" y="17"/>
                  </a:moveTo>
                  <a:lnTo>
                    <a:pt x="141" y="31"/>
                  </a:lnTo>
                  <a:lnTo>
                    <a:pt x="141" y="0"/>
                  </a:lnTo>
                  <a:lnTo>
                    <a:pt x="0" y="17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66" name="直接连接符 13390">
              <a:extLst>
                <a:ext uri="{FF2B5EF4-FFF2-40B4-BE49-F238E27FC236}">
                  <a16:creationId xmlns:a16="http://schemas.microsoft.com/office/drawing/2014/main" id="{1AFA768B-2219-4E93-B81C-554E00FDAC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8" y="1841"/>
              <a:ext cx="37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67" name="未知">
              <a:extLst>
                <a:ext uri="{FF2B5EF4-FFF2-40B4-BE49-F238E27FC236}">
                  <a16:creationId xmlns:a16="http://schemas.microsoft.com/office/drawing/2014/main" id="{B6737104-852A-4D75-8B8B-2D3B01C9DC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1" y="1985"/>
              <a:ext cx="141" cy="31"/>
            </a:xfrm>
            <a:custGeom>
              <a:avLst/>
              <a:gdLst>
                <a:gd name="T0" fmla="*/ 0 w 141"/>
                <a:gd name="T1" fmla="*/ 16 h 31"/>
                <a:gd name="T2" fmla="*/ 141 w 141"/>
                <a:gd name="T3" fmla="*/ 31 h 31"/>
                <a:gd name="T4" fmla="*/ 141 w 141"/>
                <a:gd name="T5" fmla="*/ 0 h 31"/>
                <a:gd name="T6" fmla="*/ 0 w 141"/>
                <a:gd name="T7" fmla="*/ 1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1" h="31">
                  <a:moveTo>
                    <a:pt x="0" y="16"/>
                  </a:moveTo>
                  <a:lnTo>
                    <a:pt x="141" y="31"/>
                  </a:lnTo>
                  <a:lnTo>
                    <a:pt x="141" y="0"/>
                  </a:lnTo>
                  <a:lnTo>
                    <a:pt x="0" y="16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68" name="直接连接符 13392">
              <a:extLst>
                <a:ext uri="{FF2B5EF4-FFF2-40B4-BE49-F238E27FC236}">
                  <a16:creationId xmlns:a16="http://schemas.microsoft.com/office/drawing/2014/main" id="{89A0F306-0C82-4375-BDEB-B205988028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8" y="2000"/>
              <a:ext cx="37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69" name="未知">
              <a:extLst>
                <a:ext uri="{FF2B5EF4-FFF2-40B4-BE49-F238E27FC236}">
                  <a16:creationId xmlns:a16="http://schemas.microsoft.com/office/drawing/2014/main" id="{F0B3C71C-4A24-4BFF-8209-02906D7EB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3" y="2144"/>
              <a:ext cx="143" cy="31"/>
            </a:xfrm>
            <a:custGeom>
              <a:avLst/>
              <a:gdLst>
                <a:gd name="T0" fmla="*/ 143 w 143"/>
                <a:gd name="T1" fmla="*/ 16 h 31"/>
                <a:gd name="T2" fmla="*/ 0 w 143"/>
                <a:gd name="T3" fmla="*/ 31 h 31"/>
                <a:gd name="T4" fmla="*/ 0 w 143"/>
                <a:gd name="T5" fmla="*/ 0 h 31"/>
                <a:gd name="T6" fmla="*/ 143 w 143"/>
                <a:gd name="T7" fmla="*/ 1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3" h="31">
                  <a:moveTo>
                    <a:pt x="143" y="16"/>
                  </a:moveTo>
                  <a:lnTo>
                    <a:pt x="0" y="31"/>
                  </a:lnTo>
                  <a:lnTo>
                    <a:pt x="0" y="0"/>
                  </a:lnTo>
                  <a:lnTo>
                    <a:pt x="143" y="16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2370" name="直接连接符 13394">
              <a:extLst>
                <a:ext uri="{FF2B5EF4-FFF2-40B4-BE49-F238E27FC236}">
                  <a16:creationId xmlns:a16="http://schemas.microsoft.com/office/drawing/2014/main" id="{83B39119-2CFD-4D27-B729-7194B986FC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5" y="2158"/>
              <a:ext cx="37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71" name="矩形 13395">
              <a:extLst>
                <a:ext uri="{FF2B5EF4-FFF2-40B4-BE49-F238E27FC236}">
                  <a16:creationId xmlns:a16="http://schemas.microsoft.com/office/drawing/2014/main" id="{5A56A418-F975-45FC-93B8-6C9C522770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60"/>
              <a:ext cx="453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372" name="矩形 13396">
              <a:extLst>
                <a:ext uri="{FF2B5EF4-FFF2-40B4-BE49-F238E27FC236}">
                  <a16:creationId xmlns:a16="http://schemas.microsoft.com/office/drawing/2014/main" id="{00E56C5F-CBD5-412F-AEC8-8CF691A432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64"/>
              <a:ext cx="24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CLK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73" name="矩形 13397">
              <a:extLst>
                <a:ext uri="{FF2B5EF4-FFF2-40B4-BE49-F238E27FC236}">
                  <a16:creationId xmlns:a16="http://schemas.microsoft.com/office/drawing/2014/main" id="{52AB405D-EEB3-4BCB-B5A3-8E8C474B8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" y="121"/>
              <a:ext cx="4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000">
                  <a:solidFill>
                    <a:srgbClr val="000000"/>
                  </a:solidFill>
                </a:rPr>
                <a:t>0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74" name="矩形 13398">
              <a:extLst>
                <a:ext uri="{FF2B5EF4-FFF2-40B4-BE49-F238E27FC236}">
                  <a16:creationId xmlns:a16="http://schemas.microsoft.com/office/drawing/2014/main" id="{CCFBDB24-00AC-4E2A-8BA8-2736BB7EF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4" y="64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75" name="矩形 13399">
              <a:extLst>
                <a:ext uri="{FF2B5EF4-FFF2-40B4-BE49-F238E27FC236}">
                  <a16:creationId xmlns:a16="http://schemas.microsoft.com/office/drawing/2014/main" id="{9EC6F264-58C7-4DDE-B667-B6703D8AED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234"/>
              <a:ext cx="567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376" name="矩形 13400">
              <a:extLst>
                <a:ext uri="{FF2B5EF4-FFF2-40B4-BE49-F238E27FC236}">
                  <a16:creationId xmlns:a16="http://schemas.microsoft.com/office/drawing/2014/main" id="{261AE27B-600B-4AC3-94FE-A72611DCC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237"/>
              <a:ext cx="32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GATE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77" name="矩形 13401">
              <a:extLst>
                <a:ext uri="{FF2B5EF4-FFF2-40B4-BE49-F238E27FC236}">
                  <a16:creationId xmlns:a16="http://schemas.microsoft.com/office/drawing/2014/main" id="{10523574-53A4-4789-9A95-913A29EA10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6" y="294"/>
              <a:ext cx="4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000">
                  <a:solidFill>
                    <a:srgbClr val="000000"/>
                  </a:solidFill>
                </a:rPr>
                <a:t>0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78" name="矩形 13402">
              <a:extLst>
                <a:ext uri="{FF2B5EF4-FFF2-40B4-BE49-F238E27FC236}">
                  <a16:creationId xmlns:a16="http://schemas.microsoft.com/office/drawing/2014/main" id="{EB842F83-F121-4B10-8F06-11FE09E8E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0" y="237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79" name="矩形 13403">
              <a:extLst>
                <a:ext uri="{FF2B5EF4-FFF2-40B4-BE49-F238E27FC236}">
                  <a16:creationId xmlns:a16="http://schemas.microsoft.com/office/drawing/2014/main" id="{5F0D4C56-76F2-413D-817D-F3E517B7BC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388"/>
              <a:ext cx="567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380" name="矩形 13404">
              <a:extLst>
                <a:ext uri="{FF2B5EF4-FFF2-40B4-BE49-F238E27FC236}">
                  <a16:creationId xmlns:a16="http://schemas.microsoft.com/office/drawing/2014/main" id="{DA96CEFD-5415-4E21-A076-481F62D222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391"/>
              <a:ext cx="24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OUT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81" name="矩形 13405">
              <a:extLst>
                <a:ext uri="{FF2B5EF4-FFF2-40B4-BE49-F238E27FC236}">
                  <a16:creationId xmlns:a16="http://schemas.microsoft.com/office/drawing/2014/main" id="{8BEEDBF3-D2F7-4B52-A242-DA0CB34EEA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9" y="448"/>
              <a:ext cx="4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000">
                  <a:solidFill>
                    <a:srgbClr val="000000"/>
                  </a:solidFill>
                </a:rPr>
                <a:t>0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82" name="矩形 13406">
              <a:extLst>
                <a:ext uri="{FF2B5EF4-FFF2-40B4-BE49-F238E27FC236}">
                  <a16:creationId xmlns:a16="http://schemas.microsoft.com/office/drawing/2014/main" id="{0733E62E-5EF9-4D2D-8230-27A5A3DD2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" y="391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83" name="矩形 13407">
              <a:extLst>
                <a:ext uri="{FF2B5EF4-FFF2-40B4-BE49-F238E27FC236}">
                  <a16:creationId xmlns:a16="http://schemas.microsoft.com/office/drawing/2014/main" id="{EA88A956-290E-446C-B148-801DAD20E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893"/>
              <a:ext cx="479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384" name="矩形 13408">
              <a:extLst>
                <a:ext uri="{FF2B5EF4-FFF2-40B4-BE49-F238E27FC236}">
                  <a16:creationId xmlns:a16="http://schemas.microsoft.com/office/drawing/2014/main" id="{28D56646-1DB2-42D6-81A0-FE18AE4F5D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896"/>
              <a:ext cx="24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CLK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85" name="矩形 13409">
              <a:extLst>
                <a:ext uri="{FF2B5EF4-FFF2-40B4-BE49-F238E27FC236}">
                  <a16:creationId xmlns:a16="http://schemas.microsoft.com/office/drawing/2014/main" id="{5EABD05C-1907-4215-A39C-9F7044692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" y="953"/>
              <a:ext cx="4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000">
                  <a:solidFill>
                    <a:srgbClr val="000000"/>
                  </a:solidFill>
                </a:rPr>
                <a:t>1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86" name="矩形 13410">
              <a:extLst>
                <a:ext uri="{FF2B5EF4-FFF2-40B4-BE49-F238E27FC236}">
                  <a16:creationId xmlns:a16="http://schemas.microsoft.com/office/drawing/2014/main" id="{9689FF17-AEC6-43F9-9334-1066D6102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4" y="896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87" name="矩形 13411">
              <a:extLst>
                <a:ext uri="{FF2B5EF4-FFF2-40B4-BE49-F238E27FC236}">
                  <a16:creationId xmlns:a16="http://schemas.microsoft.com/office/drawing/2014/main" id="{71158216-C088-4E63-BBD0-1AA8A8869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1068"/>
              <a:ext cx="567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388" name="矩形 13412">
              <a:extLst>
                <a:ext uri="{FF2B5EF4-FFF2-40B4-BE49-F238E27FC236}">
                  <a16:creationId xmlns:a16="http://schemas.microsoft.com/office/drawing/2014/main" id="{347AC039-C9FE-44EF-ADDC-ADDE91B80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1071"/>
              <a:ext cx="32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GATE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89" name="矩形 13413">
              <a:extLst>
                <a:ext uri="{FF2B5EF4-FFF2-40B4-BE49-F238E27FC236}">
                  <a16:creationId xmlns:a16="http://schemas.microsoft.com/office/drawing/2014/main" id="{DC3C7E48-1FBB-40DE-A84C-268F022CB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6" y="1128"/>
              <a:ext cx="4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000">
                  <a:solidFill>
                    <a:srgbClr val="000000"/>
                  </a:solidFill>
                </a:rPr>
                <a:t>1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90" name="矩形 13414">
              <a:extLst>
                <a:ext uri="{FF2B5EF4-FFF2-40B4-BE49-F238E27FC236}">
                  <a16:creationId xmlns:a16="http://schemas.microsoft.com/office/drawing/2014/main" id="{5A3DF794-4C0C-4A2F-A409-04A1B4EF94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0" y="1071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91" name="矩形 13415">
              <a:extLst>
                <a:ext uri="{FF2B5EF4-FFF2-40B4-BE49-F238E27FC236}">
                  <a16:creationId xmlns:a16="http://schemas.microsoft.com/office/drawing/2014/main" id="{A1F29C90-E02E-4057-B5D6-BE65C8D92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1220"/>
              <a:ext cx="567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392" name="矩形 13416">
              <a:extLst>
                <a:ext uri="{FF2B5EF4-FFF2-40B4-BE49-F238E27FC236}">
                  <a16:creationId xmlns:a16="http://schemas.microsoft.com/office/drawing/2014/main" id="{0A5E622C-4154-4A5C-A561-AD8E37BDA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1223"/>
              <a:ext cx="24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OUT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93" name="矩形 13417">
              <a:extLst>
                <a:ext uri="{FF2B5EF4-FFF2-40B4-BE49-F238E27FC236}">
                  <a16:creationId xmlns:a16="http://schemas.microsoft.com/office/drawing/2014/main" id="{AF6EC88E-517A-4755-96BA-A755129091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9" y="1280"/>
              <a:ext cx="4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000">
                  <a:solidFill>
                    <a:srgbClr val="000000"/>
                  </a:solidFill>
                </a:rPr>
                <a:t>1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94" name="矩形 13418">
              <a:extLst>
                <a:ext uri="{FF2B5EF4-FFF2-40B4-BE49-F238E27FC236}">
                  <a16:creationId xmlns:a16="http://schemas.microsoft.com/office/drawing/2014/main" id="{950E7621-EFFF-4412-BCD3-88EA2EDFA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" y="1223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95" name="矩形 13419">
              <a:extLst>
                <a:ext uri="{FF2B5EF4-FFF2-40B4-BE49-F238E27FC236}">
                  <a16:creationId xmlns:a16="http://schemas.microsoft.com/office/drawing/2014/main" id="{B4E2ED54-D37B-45C5-92D3-4ADE44B7F2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1758"/>
              <a:ext cx="680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396" name="矩形 13420">
              <a:extLst>
                <a:ext uri="{FF2B5EF4-FFF2-40B4-BE49-F238E27FC236}">
                  <a16:creationId xmlns:a16="http://schemas.microsoft.com/office/drawing/2014/main" id="{4BDE7150-E589-4827-9E81-79E2E4B67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1761"/>
              <a:ext cx="24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CLK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97" name="矩形 13421">
              <a:extLst>
                <a:ext uri="{FF2B5EF4-FFF2-40B4-BE49-F238E27FC236}">
                  <a16:creationId xmlns:a16="http://schemas.microsoft.com/office/drawing/2014/main" id="{32961E24-8364-4264-BF18-08F2CB247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" y="1818"/>
              <a:ext cx="4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000">
                  <a:solidFill>
                    <a:srgbClr val="000000"/>
                  </a:solidFill>
                </a:rPr>
                <a:t>2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398" name="矩形 13422">
              <a:extLst>
                <a:ext uri="{FF2B5EF4-FFF2-40B4-BE49-F238E27FC236}">
                  <a16:creationId xmlns:a16="http://schemas.microsoft.com/office/drawing/2014/main" id="{93FA6E14-DD22-404C-9836-1E3B2D13C5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4" y="1761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399" name="矩形 13423">
              <a:extLst>
                <a:ext uri="{FF2B5EF4-FFF2-40B4-BE49-F238E27FC236}">
                  <a16:creationId xmlns:a16="http://schemas.microsoft.com/office/drawing/2014/main" id="{3ABA9CF7-7BA9-4997-9AE3-D6DA5F865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1931"/>
              <a:ext cx="567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400" name="矩形 13424">
              <a:extLst>
                <a:ext uri="{FF2B5EF4-FFF2-40B4-BE49-F238E27FC236}">
                  <a16:creationId xmlns:a16="http://schemas.microsoft.com/office/drawing/2014/main" id="{3969E47A-022F-4C67-871D-BE380F428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1934"/>
              <a:ext cx="32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GATE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401" name="矩形 13425">
              <a:extLst>
                <a:ext uri="{FF2B5EF4-FFF2-40B4-BE49-F238E27FC236}">
                  <a16:creationId xmlns:a16="http://schemas.microsoft.com/office/drawing/2014/main" id="{4BBE6598-BD1B-4CD4-B40C-ECD2D70DA9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6" y="1991"/>
              <a:ext cx="4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000">
                  <a:solidFill>
                    <a:srgbClr val="000000"/>
                  </a:solidFill>
                </a:rPr>
                <a:t>2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402" name="矩形 13426">
              <a:extLst>
                <a:ext uri="{FF2B5EF4-FFF2-40B4-BE49-F238E27FC236}">
                  <a16:creationId xmlns:a16="http://schemas.microsoft.com/office/drawing/2014/main" id="{F4BBECAD-8BFC-4F1C-8516-4A75345216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0" y="1934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403" name="矩形 13427">
              <a:extLst>
                <a:ext uri="{FF2B5EF4-FFF2-40B4-BE49-F238E27FC236}">
                  <a16:creationId xmlns:a16="http://schemas.microsoft.com/office/drawing/2014/main" id="{1E23BDF7-B41A-4F4C-A10A-6244C0333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2085"/>
              <a:ext cx="567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404" name="矩形 13428">
              <a:extLst>
                <a:ext uri="{FF2B5EF4-FFF2-40B4-BE49-F238E27FC236}">
                  <a16:creationId xmlns:a16="http://schemas.microsoft.com/office/drawing/2014/main" id="{F11BDE26-158D-4DCA-A4FC-D221D78C85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" y="2088"/>
              <a:ext cx="24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OUT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405" name="矩形 13429">
              <a:extLst>
                <a:ext uri="{FF2B5EF4-FFF2-40B4-BE49-F238E27FC236}">
                  <a16:creationId xmlns:a16="http://schemas.microsoft.com/office/drawing/2014/main" id="{BB3B8A70-A772-49B6-8FC6-DDE9E7C34D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9" y="2145"/>
              <a:ext cx="4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000">
                  <a:solidFill>
                    <a:srgbClr val="000000"/>
                  </a:solidFill>
                </a:rPr>
                <a:t>2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406" name="矩形 13430">
              <a:extLst>
                <a:ext uri="{FF2B5EF4-FFF2-40B4-BE49-F238E27FC236}">
                  <a16:creationId xmlns:a16="http://schemas.microsoft.com/office/drawing/2014/main" id="{34A8C8FA-0022-4B63-B035-9826C5BB2F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" y="2088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407" name="矩形 13431">
              <a:extLst>
                <a:ext uri="{FF2B5EF4-FFF2-40B4-BE49-F238E27FC236}">
                  <a16:creationId xmlns:a16="http://schemas.microsoft.com/office/drawing/2014/main" id="{A63A1012-75BC-4739-BA65-4DDA34E61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34"/>
              <a:ext cx="448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408" name="矩形 13432">
              <a:extLst>
                <a:ext uri="{FF2B5EF4-FFF2-40B4-BE49-F238E27FC236}">
                  <a16:creationId xmlns:a16="http://schemas.microsoft.com/office/drawing/2014/main" id="{60A675BE-7CB1-428F-8E33-1E6239CDE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" y="237"/>
              <a:ext cx="8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D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409" name="矩形 13433">
              <a:extLst>
                <a:ext uri="{FF2B5EF4-FFF2-40B4-BE49-F238E27FC236}">
                  <a16:creationId xmlns:a16="http://schemas.microsoft.com/office/drawing/2014/main" id="{DE05AF18-B208-483A-B19E-E19614A9CB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" y="294"/>
              <a:ext cx="4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000">
                  <a:solidFill>
                    <a:srgbClr val="000000"/>
                  </a:solidFill>
                </a:rPr>
                <a:t>7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410" name="矩形 13434">
              <a:extLst>
                <a:ext uri="{FF2B5EF4-FFF2-40B4-BE49-F238E27FC236}">
                  <a16:creationId xmlns:a16="http://schemas.microsoft.com/office/drawing/2014/main" id="{B0586690-7387-47B0-8B28-D88021785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" y="237"/>
              <a:ext cx="15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~D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411" name="矩形 13435">
              <a:extLst>
                <a:ext uri="{FF2B5EF4-FFF2-40B4-BE49-F238E27FC236}">
                  <a16:creationId xmlns:a16="http://schemas.microsoft.com/office/drawing/2014/main" id="{67721EB3-FDFA-4C6B-A3CB-876EDDE0CD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" y="294"/>
              <a:ext cx="4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000">
                  <a:solidFill>
                    <a:srgbClr val="000000"/>
                  </a:solidFill>
                </a:rPr>
                <a:t>0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412" name="矩形 13436">
              <a:extLst>
                <a:ext uri="{FF2B5EF4-FFF2-40B4-BE49-F238E27FC236}">
                  <a16:creationId xmlns:a16="http://schemas.microsoft.com/office/drawing/2014/main" id="{AC09F9D8-0586-4A05-AC9E-B3A97FE0C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" y="237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413" name="矩形 13437">
              <a:extLst>
                <a:ext uri="{FF2B5EF4-FFF2-40B4-BE49-F238E27FC236}">
                  <a16:creationId xmlns:a16="http://schemas.microsoft.com/office/drawing/2014/main" id="{D9B397F7-F871-4030-BAFD-37A2133FA1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" y="888"/>
              <a:ext cx="275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414" name="矩形 13438">
              <a:extLst>
                <a:ext uri="{FF2B5EF4-FFF2-40B4-BE49-F238E27FC236}">
                  <a16:creationId xmlns:a16="http://schemas.microsoft.com/office/drawing/2014/main" id="{8E76569B-51EC-4973-B209-AD68CC60C2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" y="891"/>
              <a:ext cx="1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RD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415" name="矩形 13439">
              <a:extLst>
                <a:ext uri="{FF2B5EF4-FFF2-40B4-BE49-F238E27FC236}">
                  <a16:creationId xmlns:a16="http://schemas.microsoft.com/office/drawing/2014/main" id="{34EAF4B0-3DAA-4589-B81D-061DDA019E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" y="891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416" name="直接连接符 13440">
              <a:extLst>
                <a:ext uri="{FF2B5EF4-FFF2-40B4-BE49-F238E27FC236}">
                  <a16:creationId xmlns:a16="http://schemas.microsoft.com/office/drawing/2014/main" id="{428EAAEA-CC4C-4758-B99E-B6869BAB56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" y="894"/>
              <a:ext cx="220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17" name="矩形 13441">
              <a:extLst>
                <a:ext uri="{FF2B5EF4-FFF2-40B4-BE49-F238E27FC236}">
                  <a16:creationId xmlns:a16="http://schemas.microsoft.com/office/drawing/2014/main" id="{F798FA35-EF6B-4EFC-8E5B-6FAFB395CB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" y="1015"/>
              <a:ext cx="275" cy="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418" name="矩形 13442">
              <a:extLst>
                <a:ext uri="{FF2B5EF4-FFF2-40B4-BE49-F238E27FC236}">
                  <a16:creationId xmlns:a16="http://schemas.microsoft.com/office/drawing/2014/main" id="{F982DFCC-DADA-4791-8A2B-1963F8A08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" y="1019"/>
              <a:ext cx="19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WR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419" name="矩形 13443">
              <a:extLst>
                <a:ext uri="{FF2B5EF4-FFF2-40B4-BE49-F238E27FC236}">
                  <a16:creationId xmlns:a16="http://schemas.microsoft.com/office/drawing/2014/main" id="{A5E429B7-1F77-4868-AC7C-514C256B60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" y="1019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420" name="直接连接符 13444">
              <a:extLst>
                <a:ext uri="{FF2B5EF4-FFF2-40B4-BE49-F238E27FC236}">
                  <a16:creationId xmlns:a16="http://schemas.microsoft.com/office/drawing/2014/main" id="{1D5E9A30-A7CC-41A7-AD20-578D3DC268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" y="1022"/>
              <a:ext cx="220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21" name="矩形 13445">
              <a:extLst>
                <a:ext uri="{FF2B5EF4-FFF2-40B4-BE49-F238E27FC236}">
                  <a16:creationId xmlns:a16="http://schemas.microsoft.com/office/drawing/2014/main" id="{0F1B1532-A58A-466D-8EC5-79112F9658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" y="1123"/>
              <a:ext cx="261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422" name="矩形 13446">
              <a:extLst>
                <a:ext uri="{FF2B5EF4-FFF2-40B4-BE49-F238E27FC236}">
                  <a16:creationId xmlns:a16="http://schemas.microsoft.com/office/drawing/2014/main" id="{4B564D19-5197-4E89-A3ED-870177287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" y="1127"/>
              <a:ext cx="8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A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423" name="矩形 13447">
              <a:extLst>
                <a:ext uri="{FF2B5EF4-FFF2-40B4-BE49-F238E27FC236}">
                  <a16:creationId xmlns:a16="http://schemas.microsoft.com/office/drawing/2014/main" id="{4C98A27A-598D-4F09-BAF0-5651FF2791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" y="1184"/>
              <a:ext cx="4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000">
                  <a:solidFill>
                    <a:srgbClr val="000000"/>
                  </a:solidFill>
                </a:rPr>
                <a:t>0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424" name="矩形 13448">
              <a:extLst>
                <a:ext uri="{FF2B5EF4-FFF2-40B4-BE49-F238E27FC236}">
                  <a16:creationId xmlns:a16="http://schemas.microsoft.com/office/drawing/2014/main" id="{29D82979-17D4-4A85-AE98-9C8A80445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" y="1127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425" name="矩形 13449">
              <a:extLst>
                <a:ext uri="{FF2B5EF4-FFF2-40B4-BE49-F238E27FC236}">
                  <a16:creationId xmlns:a16="http://schemas.microsoft.com/office/drawing/2014/main" id="{FC9ECECE-E03B-4299-A80B-DD31CE9705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" y="1239"/>
              <a:ext cx="261" cy="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426" name="矩形 13450">
              <a:extLst>
                <a:ext uri="{FF2B5EF4-FFF2-40B4-BE49-F238E27FC236}">
                  <a16:creationId xmlns:a16="http://schemas.microsoft.com/office/drawing/2014/main" id="{450C1DE8-1272-4920-8FCE-8BF8AAAB3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" y="1244"/>
              <a:ext cx="8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A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427" name="矩形 13451">
              <a:extLst>
                <a:ext uri="{FF2B5EF4-FFF2-40B4-BE49-F238E27FC236}">
                  <a16:creationId xmlns:a16="http://schemas.microsoft.com/office/drawing/2014/main" id="{097B86BD-0C0F-409C-9DD1-20AC0E2754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" y="1301"/>
              <a:ext cx="4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000">
                  <a:solidFill>
                    <a:srgbClr val="000000"/>
                  </a:solidFill>
                </a:rPr>
                <a:t>1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428" name="矩形 13452">
              <a:extLst>
                <a:ext uri="{FF2B5EF4-FFF2-40B4-BE49-F238E27FC236}">
                  <a16:creationId xmlns:a16="http://schemas.microsoft.com/office/drawing/2014/main" id="{751C7B3E-0EF0-435E-8FC4-CA9ECD444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" y="1244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429" name="矩形 13453">
              <a:extLst>
                <a:ext uri="{FF2B5EF4-FFF2-40B4-BE49-F238E27FC236}">
                  <a16:creationId xmlns:a16="http://schemas.microsoft.com/office/drawing/2014/main" id="{C492BCC5-93EE-410C-97F5-E314AE65A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" y="1472"/>
              <a:ext cx="275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430" name="矩形 13454">
              <a:extLst>
                <a:ext uri="{FF2B5EF4-FFF2-40B4-BE49-F238E27FC236}">
                  <a16:creationId xmlns:a16="http://schemas.microsoft.com/office/drawing/2014/main" id="{ED994ECF-CC6E-46EC-B68F-2F5D3FA774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" y="1473"/>
              <a:ext cx="14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>
                  <a:solidFill>
                    <a:srgbClr val="000000"/>
                  </a:solidFill>
                </a:rPr>
                <a:t>CS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2431" name="矩形 13455">
              <a:extLst>
                <a:ext uri="{FF2B5EF4-FFF2-40B4-BE49-F238E27FC236}">
                  <a16:creationId xmlns:a16="http://schemas.microsoft.com/office/drawing/2014/main" id="{7B41AE51-66E1-4BE0-9E08-02FBB730DB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" y="1473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432" name="直接连接符 13456">
              <a:extLst>
                <a:ext uri="{FF2B5EF4-FFF2-40B4-BE49-F238E27FC236}">
                  <a16:creationId xmlns:a16="http://schemas.microsoft.com/office/drawing/2014/main" id="{5D4C2EDF-A0E3-405C-8A97-76E148A966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" y="1476"/>
              <a:ext cx="220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33" name="矩形 13457">
              <a:extLst>
                <a:ext uri="{FF2B5EF4-FFF2-40B4-BE49-F238E27FC236}">
                  <a16:creationId xmlns:a16="http://schemas.microsoft.com/office/drawing/2014/main" id="{47841293-FBF7-4BBC-A613-5C371C8A0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36"/>
              <a:ext cx="109" cy="2484"/>
            </a:xfrm>
            <a:prstGeom prst="rect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434" name="矩形 13458">
              <a:extLst>
                <a:ext uri="{FF2B5EF4-FFF2-40B4-BE49-F238E27FC236}">
                  <a16:creationId xmlns:a16="http://schemas.microsoft.com/office/drawing/2014/main" id="{A35DAA7A-A2AD-4F66-BEB4-29285D8028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3" y="2518"/>
              <a:ext cx="719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435" name="矩形 13459">
              <a:extLst>
                <a:ext uri="{FF2B5EF4-FFF2-40B4-BE49-F238E27FC236}">
                  <a16:creationId xmlns:a16="http://schemas.microsoft.com/office/drawing/2014/main" id="{2E98F705-A446-4ADA-9CC3-D634E4158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0" y="2536"/>
              <a:ext cx="4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  <a:latin typeface="宋体" panose="02010600030101010101" pitchFamily="2" charset="-122"/>
                </a:rPr>
                <a:t>内部总线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436" name="矩形 13460">
              <a:extLst>
                <a:ext uri="{FF2B5EF4-FFF2-40B4-BE49-F238E27FC236}">
                  <a16:creationId xmlns:a16="http://schemas.microsoft.com/office/drawing/2014/main" id="{71DB7C2C-CE6F-4DEB-AFED-BBB9B8F30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1" y="2531"/>
              <a:ext cx="3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500">
                  <a:solidFill>
                    <a:srgbClr val="000000"/>
                  </a:solidFill>
                </a:rPr>
                <a:t> 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矩形 14337">
            <a:extLst>
              <a:ext uri="{FF2B5EF4-FFF2-40B4-BE49-F238E27FC236}">
                <a16:creationId xmlns:a16="http://schemas.microsoft.com/office/drawing/2014/main" id="{36896906-8F60-449A-9A73-26D78D72608A}"/>
              </a:ext>
            </a:extLst>
          </p:cNvPr>
          <p:cNvSpPr/>
          <p:nvPr/>
        </p:nvSpPr>
        <p:spPr>
          <a:xfrm>
            <a:off x="755650" y="765175"/>
            <a:ext cx="8388350" cy="54006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u="none" kern="1200" baseline="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2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algn="ctr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noProof="1">
                <a:solidFill>
                  <a:schemeClr val="hlink"/>
                </a:solidFill>
                <a:latin typeface="宋体" panose="02010600030101010101" pitchFamily="2" charset="-122"/>
                <a:sym typeface="+mn-ea"/>
              </a:rPr>
              <a:t>2  8253的工作原理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2400" noProof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二、8253的内部结构（续）</a:t>
            </a:r>
            <a:endParaRPr lang="zh-CN" altLang="en-US" sz="2400" noProof="1">
              <a:solidFill>
                <a:srgbClr val="FFFF00"/>
              </a:solidFill>
              <a:latin typeface="楷体_GB2312" pitchFamily="49" charset="-122"/>
              <a:ea typeface="楷体_GB2312" pitchFamily="49" charset="-122"/>
              <a:sym typeface="+mn-ea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1）数据总线缓冲器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   由8位双向三态缓冲器构成，是8253和CPU交换数据的通道。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2）读写控制逻辑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   CS：片选信号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   RD：读信号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   WR：写信号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   A1A0：端口选择信号，同CPU地址总线相连。用于选通8253  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         内部的计数器0（</a:t>
            </a:r>
            <a:r>
              <a:rPr lang="zh-CN" altLang="en-US" sz="220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A1A0=00</a:t>
            </a: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）、计数器1（</a:t>
            </a:r>
            <a:r>
              <a:rPr lang="zh-CN" altLang="en-US" sz="220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A1A0=00</a:t>
            </a: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）、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         计数器2（</a:t>
            </a:r>
            <a:r>
              <a:rPr lang="zh-CN" altLang="en-US" sz="220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A1A0=00</a:t>
            </a: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）和控制通道（</a:t>
            </a:r>
            <a:r>
              <a:rPr lang="zh-CN" altLang="en-US" sz="220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A1A0=00</a:t>
            </a: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）</a:t>
            </a:r>
          </a:p>
        </p:txBody>
      </p:sp>
      <p:sp>
        <p:nvSpPr>
          <p:cNvPr id="13314" name="直接连接符 14338">
            <a:extLst>
              <a:ext uri="{FF2B5EF4-FFF2-40B4-BE49-F238E27FC236}">
                <a16:creationId xmlns:a16="http://schemas.microsoft.com/office/drawing/2014/main" id="{657B2319-305C-42A4-857E-A10271187B24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2225" y="3492500"/>
            <a:ext cx="217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5" name="直接连接符 14339">
            <a:extLst>
              <a:ext uri="{FF2B5EF4-FFF2-40B4-BE49-F238E27FC236}">
                <a16:creationId xmlns:a16="http://schemas.microsoft.com/office/drawing/2014/main" id="{26F451BC-51D0-437B-BB75-80242423C325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2225" y="3946525"/>
            <a:ext cx="217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6" name="直接连接符 14340">
            <a:extLst>
              <a:ext uri="{FF2B5EF4-FFF2-40B4-BE49-F238E27FC236}">
                <a16:creationId xmlns:a16="http://schemas.microsoft.com/office/drawing/2014/main" id="{4ED9E512-7900-4952-AEE1-A23E5459683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1113" y="4427538"/>
            <a:ext cx="2174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43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143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500"/>
                                        <p:tgtEl>
                                          <p:spTgt spid="143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7" dur="500"/>
                                        <p:tgtEl>
                                          <p:spTgt spid="143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矩形 15361">
            <a:extLst>
              <a:ext uri="{FF2B5EF4-FFF2-40B4-BE49-F238E27FC236}">
                <a16:creationId xmlns:a16="http://schemas.microsoft.com/office/drawing/2014/main" id="{F83D9355-5E92-4A74-ADF5-D9B54345C00D}"/>
              </a:ext>
            </a:extLst>
          </p:cNvPr>
          <p:cNvSpPr/>
          <p:nvPr/>
        </p:nvSpPr>
        <p:spPr>
          <a:xfrm>
            <a:off x="684213" y="260350"/>
            <a:ext cx="7777162" cy="54006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u="none" kern="1200" baseline="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2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algn="ctr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noProof="1">
                <a:solidFill>
                  <a:srgbClr val="FFFF00"/>
                </a:solidFill>
                <a:latin typeface="宋体" panose="02010600030101010101" pitchFamily="2" charset="-122"/>
                <a:sym typeface="+mn-ea"/>
              </a:rPr>
              <a:t>2  8253的工作原理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2400" noProof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二、8253的内部结构（续）</a:t>
            </a:r>
            <a:endParaRPr lang="zh-CN" altLang="en-US" sz="2400" noProof="1">
              <a:solidFill>
                <a:srgbClr val="FFFF00"/>
              </a:solidFill>
              <a:latin typeface="楷体_GB2312" pitchFamily="49" charset="-122"/>
              <a:ea typeface="楷体_GB2312" pitchFamily="49" charset="-122"/>
              <a:sym typeface="+mn-ea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2）读写逻辑（续）：8253输入信号组合的功能表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   </a:t>
            </a:r>
          </a:p>
        </p:txBody>
      </p:sp>
      <p:graphicFrame>
        <p:nvGraphicFramePr>
          <p:cNvPr id="15363" name="内容占位符 15362">
            <a:extLst>
              <a:ext uri="{FF2B5EF4-FFF2-40B4-BE49-F238E27FC236}">
                <a16:creationId xmlns:a16="http://schemas.microsoft.com/office/drawing/2014/main" id="{61AAC774-D7DC-4C60-B5B9-DBA85346986B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971550" y="1989138"/>
          <a:ext cx="6840538" cy="4416425"/>
        </p:xfrm>
        <a:graphic>
          <a:graphicData uri="http://schemas.openxmlformats.org/drawingml/2006/table">
            <a:tbl>
              <a:tblPr/>
              <a:tblGrid>
                <a:gridCol w="1089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9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2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92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76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0">
                          <a:ea typeface="仿宋_GB2312" pitchFamily="49" charset="-122"/>
                        </a:rPr>
                        <a:t>CS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0">
                          <a:ea typeface="仿宋_GB2312" pitchFamily="49" charset="-122"/>
                        </a:rPr>
                        <a:t>RD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0">
                          <a:ea typeface="仿宋_GB2312" pitchFamily="49" charset="-122"/>
                        </a:rPr>
                        <a:t>WR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0">
                          <a:ea typeface="仿宋_GB2312" pitchFamily="49" charset="-122"/>
                        </a:rPr>
                        <a:t>A</a:t>
                      </a:r>
                      <a:r>
                        <a:rPr lang="en-US" altLang="zh-CN" sz="2000" b="0" baseline="-25000">
                          <a:ea typeface="仿宋_GB2312" pitchFamily="49" charset="-122"/>
                        </a:rPr>
                        <a:t>1  </a:t>
                      </a:r>
                      <a:r>
                        <a:rPr lang="en-US" altLang="zh-CN" sz="2000" b="0">
                          <a:ea typeface="仿宋_GB2312" pitchFamily="49" charset="-122"/>
                        </a:rPr>
                        <a:t>A</a:t>
                      </a:r>
                      <a:r>
                        <a:rPr lang="en-US" altLang="zh-CN" sz="2000" b="0" baseline="-25000">
                          <a:ea typeface="仿宋_GB2312" pitchFamily="49" charset="-122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b="0" dirty="0">
                          <a:ea typeface="仿宋_GB2312" pitchFamily="49" charset="-122"/>
                        </a:rPr>
                        <a:t>       </a:t>
                      </a:r>
                      <a:r>
                        <a:rPr lang="zh-CN" altLang="en-US" sz="2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功    能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rgbClr val="00FFFF"/>
                          </a:solidFill>
                          <a:ea typeface="仿宋_GB2312" pitchFamily="49" charset="-122"/>
                        </a:rPr>
                        <a:t>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rgbClr val="FF33CC"/>
                          </a:solidFill>
                          <a:ea typeface="仿宋_GB2312" pitchFamily="49" charset="-122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0   0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写入计数器0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rgbClr val="00FFFF"/>
                          </a:solidFill>
                          <a:ea typeface="仿宋_GB2312" pitchFamily="49" charset="-122"/>
                        </a:rPr>
                        <a:t>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rgbClr val="FF33CC"/>
                          </a:solidFill>
                          <a:ea typeface="仿宋_GB2312" pitchFamily="49" charset="-122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0   1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写入计数器1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rgbClr val="00FFFF"/>
                          </a:solidFill>
                          <a:ea typeface="仿宋_GB2312" pitchFamily="49" charset="-122"/>
                        </a:rPr>
                        <a:t>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rgbClr val="FF33CC"/>
                          </a:solidFill>
                          <a:ea typeface="仿宋_GB2312" pitchFamily="49" charset="-122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1   0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写入计数器2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rgbClr val="00FFFF"/>
                          </a:solidFill>
                          <a:ea typeface="仿宋_GB2312" pitchFamily="49" charset="-122"/>
                        </a:rPr>
                        <a:t>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rgbClr val="FF33CC"/>
                          </a:solidFill>
                          <a:ea typeface="仿宋_GB2312" pitchFamily="49" charset="-122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1   1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写入控制字寄存器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rgbClr val="00FFFF"/>
                          </a:solidFill>
                          <a:ea typeface="仿宋_GB2312" pitchFamily="49" charset="-122"/>
                        </a:rPr>
                        <a:t>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rgbClr val="FF33CC"/>
                          </a:solidFill>
                          <a:ea typeface="仿宋_GB2312" pitchFamily="49" charset="-122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0   0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读计数器0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8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rgbClr val="00FFFF"/>
                          </a:solidFill>
                          <a:ea typeface="仿宋_GB2312" pitchFamily="49" charset="-122"/>
                        </a:rPr>
                        <a:t>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rgbClr val="FF33CC"/>
                          </a:solidFill>
                          <a:ea typeface="仿宋_GB2312" pitchFamily="49" charset="-122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0   1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读计数器1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8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rgbClr val="00FFFF"/>
                          </a:solidFill>
                          <a:ea typeface="仿宋_GB2312" pitchFamily="49" charset="-122"/>
                        </a:rPr>
                        <a:t>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rgbClr val="FF33CC"/>
                          </a:solidFill>
                          <a:ea typeface="仿宋_GB2312" pitchFamily="49" charset="-122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1   0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读计数器2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8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rgbClr val="00FFFF"/>
                          </a:solidFill>
                          <a:ea typeface="仿宋_GB2312" pitchFamily="49" charset="-122"/>
                        </a:rPr>
                        <a:t>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rgbClr val="FF33CC"/>
                          </a:solidFill>
                          <a:ea typeface="仿宋_GB2312" pitchFamily="49" charset="-122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1   1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无操作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8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1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×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×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× ×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禁止使用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68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× ×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无操作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矩形 16385">
            <a:extLst>
              <a:ext uri="{FF2B5EF4-FFF2-40B4-BE49-F238E27FC236}">
                <a16:creationId xmlns:a16="http://schemas.microsoft.com/office/drawing/2014/main" id="{78D38DD0-04CF-4BF0-AD9F-CADFCE77B0F2}"/>
              </a:ext>
            </a:extLst>
          </p:cNvPr>
          <p:cNvSpPr/>
          <p:nvPr/>
        </p:nvSpPr>
        <p:spPr>
          <a:xfrm>
            <a:off x="684213" y="260350"/>
            <a:ext cx="7777162" cy="46815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u="none" kern="1200" baseline="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2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algn="ctr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noProof="1">
                <a:solidFill>
                  <a:srgbClr val="FFFF00"/>
                </a:solidFill>
                <a:latin typeface="宋体" panose="02010600030101010101" pitchFamily="2" charset="-122"/>
                <a:sym typeface="+mn-ea"/>
              </a:rPr>
              <a:t>2  8253的工作原理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2400" noProof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二、8253的内部结构（续）</a:t>
            </a:r>
            <a:endParaRPr lang="zh-CN" altLang="en-US" sz="2400" noProof="1">
              <a:solidFill>
                <a:srgbClr val="FFFF00"/>
              </a:solidFill>
              <a:latin typeface="楷体_GB2312" pitchFamily="49" charset="-122"/>
              <a:ea typeface="楷体_GB2312" pitchFamily="49" charset="-122"/>
              <a:sym typeface="+mn-ea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3）计数器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latin typeface="楷体_GB2312" pitchFamily="49" charset="-122"/>
                <a:ea typeface="楷体_GB2312" pitchFamily="49" charset="-122"/>
                <a:sym typeface="+mn-ea"/>
              </a:rPr>
              <a:t>3个独立计数器通道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latin typeface="楷体_GB2312" pitchFamily="49" charset="-122"/>
                <a:ea typeface="楷体_GB2312" pitchFamily="49" charset="-122"/>
                <a:sym typeface="+mn-ea"/>
              </a:rPr>
              <a:t>每计数器通道包含：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latin typeface="楷体_GB2312" pitchFamily="49" charset="-122"/>
                <a:ea typeface="楷体_GB2312" pitchFamily="49" charset="-122"/>
                <a:sym typeface="+mn-ea"/>
              </a:rPr>
              <a:t>8位控制寄存器、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16位计数初值寄存器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16位输出锁存器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16位计数器电路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endParaRPr lang="zh-CN" altLang="en-US" sz="2200" noProof="1">
              <a:effectLst>
                <a:outerShdw blurRad="38100" dist="38100" dir="2700000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  <a:sym typeface="+mn-ea"/>
            </a:endParaRPr>
          </a:p>
        </p:txBody>
      </p:sp>
      <p:graphicFrame>
        <p:nvGraphicFramePr>
          <p:cNvPr id="15362" name="内容占位符 16386">
            <a:extLst>
              <a:ext uri="{FF2B5EF4-FFF2-40B4-BE49-F238E27FC236}">
                <a16:creationId xmlns:a16="http://schemas.microsoft.com/office/drawing/2014/main" id="{760E1C07-06B8-466A-8C2A-25E0F9F52887}"/>
              </a:ext>
            </a:extLst>
          </p:cNvPr>
          <p:cNvGraphicFramePr>
            <a:graphicFrameLocks noGrp="1" noChangeAspect="1"/>
          </p:cNvGraphicFramePr>
          <p:nvPr>
            <p:ph idx="4294967295"/>
          </p:nvPr>
        </p:nvGraphicFramePr>
        <p:xfrm>
          <a:off x="3348038" y="1739900"/>
          <a:ext cx="5616575" cy="439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r:id="rId3" imgW="4096871" imgH="3209365" progId="Word.Picture.8">
                  <p:embed/>
                </p:oleObj>
              </mc:Choice>
              <mc:Fallback>
                <p:oleObj r:id="rId3" imgW="4096871" imgH="3209365" progId="Word.Picture.8">
                  <p:embed/>
                  <p:pic>
                    <p:nvPicPr>
                      <p:cNvPr id="0" name="内容占位符 1638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1739900"/>
                        <a:ext cx="5616575" cy="439420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009999"/>
                          </a:gs>
                          <a:gs pos="100000">
                            <a:srgbClr val="004747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6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163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矩形 17409">
            <a:extLst>
              <a:ext uri="{FF2B5EF4-FFF2-40B4-BE49-F238E27FC236}">
                <a16:creationId xmlns:a16="http://schemas.microsoft.com/office/drawing/2014/main" id="{8FA0B31C-6AE5-445D-840E-B27F4A42B6AD}"/>
              </a:ext>
            </a:extLst>
          </p:cNvPr>
          <p:cNvSpPr/>
          <p:nvPr/>
        </p:nvSpPr>
        <p:spPr>
          <a:xfrm>
            <a:off x="611188" y="260350"/>
            <a:ext cx="7777162" cy="46815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u="none" kern="1200" baseline="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2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algn="ctr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noProof="1">
                <a:solidFill>
                  <a:srgbClr val="FFFF00"/>
                </a:solidFill>
                <a:latin typeface="宋体" panose="02010600030101010101" pitchFamily="2" charset="-122"/>
                <a:sym typeface="+mn-ea"/>
              </a:rPr>
              <a:t>2  8253的工作原理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2400" noProof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二、8253的内部结构（续）</a:t>
            </a:r>
            <a:endParaRPr lang="zh-CN" altLang="en-US" sz="2400" noProof="1">
              <a:solidFill>
                <a:srgbClr val="FFFF00"/>
              </a:solidFill>
              <a:latin typeface="楷体_GB2312" pitchFamily="49" charset="-122"/>
              <a:ea typeface="楷体_GB2312" pitchFamily="49" charset="-122"/>
              <a:sym typeface="+mn-ea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3）计数器（续）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latin typeface="楷体_GB2312" pitchFamily="49" charset="-122"/>
                <a:ea typeface="楷体_GB2312" pitchFamily="49" charset="-122"/>
                <a:sym typeface="+mn-ea"/>
              </a:rPr>
              <a:t>由于8253外部数据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latin typeface="楷体_GB2312" pitchFamily="49" charset="-122"/>
                <a:ea typeface="楷体_GB2312" pitchFamily="49" charset="-122"/>
                <a:sym typeface="+mn-ea"/>
              </a:rPr>
              <a:t>总线为8位，所以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latin typeface="楷体_GB2312" pitchFamily="49" charset="-122"/>
                <a:ea typeface="楷体_GB2312" pitchFamily="49" charset="-122"/>
                <a:sym typeface="+mn-ea"/>
              </a:rPr>
              <a:t>内部的16位寄存器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latin typeface="楷体_GB2312" pitchFamily="49" charset="-122"/>
                <a:ea typeface="楷体_GB2312" pitchFamily="49" charset="-122"/>
                <a:sym typeface="+mn-ea"/>
              </a:rPr>
              <a:t>和计数器均由两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latin typeface="楷体_GB2312" pitchFamily="49" charset="-122"/>
                <a:ea typeface="楷体_GB2312" pitchFamily="49" charset="-122"/>
                <a:sym typeface="+mn-ea"/>
              </a:rPr>
              <a:t>个8位组成，需要分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latin typeface="楷体_GB2312" pitchFamily="49" charset="-122"/>
                <a:ea typeface="楷体_GB2312" pitchFamily="49" charset="-122"/>
                <a:sym typeface="+mn-ea"/>
              </a:rPr>
              <a:t>两次存取。</a:t>
            </a:r>
            <a:endParaRPr lang="zh-CN" altLang="en-US" sz="2200" noProof="1">
              <a:solidFill>
                <a:srgbClr val="FFFF00"/>
              </a:solidFill>
              <a:effectLst>
                <a:outerShdw blurRad="38100" dist="38100" dir="2700000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  <a:sym typeface="+mn-ea"/>
            </a:endParaRPr>
          </a:p>
        </p:txBody>
      </p:sp>
      <p:graphicFrame>
        <p:nvGraphicFramePr>
          <p:cNvPr id="16386" name="内容占位符 17410">
            <a:extLst>
              <a:ext uri="{FF2B5EF4-FFF2-40B4-BE49-F238E27FC236}">
                <a16:creationId xmlns:a16="http://schemas.microsoft.com/office/drawing/2014/main" id="{D1348991-BB6D-416D-9520-97BE292DC470}"/>
              </a:ext>
            </a:extLst>
          </p:cNvPr>
          <p:cNvGraphicFramePr>
            <a:graphicFrameLocks noGrp="1" noChangeAspect="1"/>
          </p:cNvGraphicFramePr>
          <p:nvPr>
            <p:ph idx="4294967295"/>
          </p:nvPr>
        </p:nvGraphicFramePr>
        <p:xfrm>
          <a:off x="3400425" y="1844675"/>
          <a:ext cx="5616575" cy="439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r:id="rId3" imgW="4096871" imgH="3209365" progId="Word.Picture.8">
                  <p:embed/>
                </p:oleObj>
              </mc:Choice>
              <mc:Fallback>
                <p:oleObj r:id="rId3" imgW="4096871" imgH="3209365" progId="Word.Picture.8">
                  <p:embed/>
                  <p:pic>
                    <p:nvPicPr>
                      <p:cNvPr id="0" name="内容占位符 1741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0425" y="1844675"/>
                        <a:ext cx="5616575" cy="439420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009999"/>
                          </a:gs>
                          <a:gs pos="100000">
                            <a:srgbClr val="004747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7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7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74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174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矩形 18433">
            <a:extLst>
              <a:ext uri="{FF2B5EF4-FFF2-40B4-BE49-F238E27FC236}">
                <a16:creationId xmlns:a16="http://schemas.microsoft.com/office/drawing/2014/main" id="{5BF1FE45-06D9-4B69-A51F-A4C3DDEAB944}"/>
              </a:ext>
            </a:extLst>
          </p:cNvPr>
          <p:cNvSpPr/>
          <p:nvPr/>
        </p:nvSpPr>
        <p:spPr>
          <a:xfrm>
            <a:off x="684213" y="260350"/>
            <a:ext cx="7848600" cy="5905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u="none" kern="1200" baseline="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2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algn="ctr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noProof="1">
                <a:solidFill>
                  <a:srgbClr val="FFFF00"/>
                </a:solidFill>
                <a:latin typeface="宋体" panose="02010600030101010101" pitchFamily="2" charset="-122"/>
                <a:sym typeface="+mn-ea"/>
              </a:rPr>
              <a:t>2  8253的工作原理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2400" noProof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二、8253的内部结构（续）</a:t>
            </a:r>
            <a:endParaRPr lang="zh-CN" altLang="en-US" sz="2400" noProof="1">
              <a:solidFill>
                <a:srgbClr val="FFFF00"/>
              </a:solidFill>
              <a:latin typeface="楷体_GB2312" pitchFamily="49" charset="-122"/>
              <a:ea typeface="楷体_GB2312" pitchFamily="49" charset="-122"/>
              <a:sym typeface="+mn-ea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3）计数器（续）---工作原理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noProof="1">
                <a:effectLst>
                  <a:outerShdw blurRad="38100" dist="38100" dir="2700000">
                    <a:srgbClr val="C0C0C0"/>
                  </a:outerShdw>
                </a:effectLst>
                <a:sym typeface="+mn-ea"/>
              </a:rPr>
              <a:t>          </a:t>
            </a:r>
            <a:r>
              <a:rPr lang="zh-CN" altLang="en-US" sz="2400" noProof="1">
                <a:latin typeface="楷体_GB2312" pitchFamily="49" charset="-122"/>
                <a:ea typeface="楷体_GB2312" pitchFamily="49" charset="-122"/>
                <a:sym typeface="+mn-ea"/>
              </a:rPr>
              <a:t>计数器对输入到CLK引脚上的脉冲按</a:t>
            </a:r>
            <a:r>
              <a:rPr lang="zh-CN" altLang="en-US" sz="2400" noProof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2进制</a:t>
            </a:r>
            <a:r>
              <a:rPr lang="zh-CN" altLang="en-US" sz="2400" noProof="1">
                <a:latin typeface="楷体_GB2312" pitchFamily="49" charset="-122"/>
                <a:ea typeface="楷体_GB2312" pitchFamily="49" charset="-122"/>
                <a:sym typeface="+mn-ea"/>
              </a:rPr>
              <a:t>或</a:t>
            </a:r>
            <a:r>
              <a:rPr lang="zh-CN" altLang="en-US" sz="2400" noProof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10进制(BCD码)</a:t>
            </a:r>
            <a:r>
              <a:rPr lang="zh-CN" altLang="en-US" sz="2400" noProof="1">
                <a:latin typeface="楷体_GB2312" pitchFamily="49" charset="-122"/>
                <a:ea typeface="楷体_GB2312" pitchFamily="49" charset="-122"/>
                <a:sym typeface="+mn-ea"/>
              </a:rPr>
              <a:t>格式进行计数，计数采用</a:t>
            </a:r>
            <a:r>
              <a:rPr lang="zh-CN" altLang="en-US" sz="2400" noProof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倒计数法（递减）</a:t>
            </a:r>
            <a:r>
              <a:rPr lang="zh-CN" altLang="en-US" sz="2400" noProof="1">
                <a:latin typeface="楷体_GB2312" pitchFamily="49" charset="-122"/>
                <a:ea typeface="楷体_GB2312" pitchFamily="49" charset="-122"/>
                <a:sym typeface="+mn-ea"/>
              </a:rPr>
              <a:t>。</a:t>
            </a:r>
          </a:p>
          <a:p>
            <a:pPr>
              <a:defRPr/>
            </a:pPr>
            <a:r>
              <a:rPr lang="zh-CN" altLang="en-US" sz="2400" noProof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工作过程：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latin typeface="楷体_GB2312" pitchFamily="49" charset="-122"/>
                <a:ea typeface="楷体_GB2312" pitchFamily="49" charset="-122"/>
                <a:sym typeface="+mn-ea"/>
              </a:rPr>
              <a:t>   </a:t>
            </a:r>
            <a:r>
              <a:rPr lang="zh-CN" altLang="en-US" sz="2400" noProof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预置初值 → 把初值装入计数器电路 → CLK脉冲到来则递减计数 → 当计数器值减为0时 → OUT输出脉冲信号。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solidFill>
                  <a:srgbClr val="FF1F1F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       注意</a:t>
            </a:r>
            <a:r>
              <a:rPr lang="zh-CN" altLang="en-US" sz="2400" noProof="1">
                <a:latin typeface="楷体_GB2312" pitchFamily="49" charset="-122"/>
                <a:ea typeface="楷体_GB2312" pitchFamily="49" charset="-122"/>
                <a:sym typeface="+mn-ea"/>
              </a:rPr>
              <a:t>：计数过程受</a:t>
            </a:r>
            <a:r>
              <a:rPr lang="zh-CN" altLang="en-US" sz="2400" noProof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GATE引脚</a:t>
            </a:r>
            <a:r>
              <a:rPr lang="zh-CN" altLang="en-US" sz="2400" noProof="1">
                <a:latin typeface="楷体_GB2312" pitchFamily="49" charset="-122"/>
                <a:ea typeface="楷体_GB2312" pitchFamily="49" charset="-122"/>
                <a:sym typeface="+mn-ea"/>
              </a:rPr>
              <a:t>上的门控信号控制，决定是否允许计数，控制形式与工作方式设置有关。</a:t>
            </a:r>
          </a:p>
          <a:p>
            <a:pPr>
              <a:defRPr/>
            </a:pPr>
            <a:r>
              <a:rPr lang="zh-CN" altLang="en-US" sz="2400" noProof="1">
                <a:latin typeface="楷体_GB2312" pitchFamily="49" charset="-122"/>
                <a:ea typeface="楷体_GB2312" pitchFamily="49" charset="-122"/>
                <a:sym typeface="+mn-ea"/>
              </a:rPr>
              <a:t>用作定时器时的计数器初值计算方法：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latin typeface="楷体_GB2312" pitchFamily="49" charset="-122"/>
                <a:ea typeface="楷体_GB2312" pitchFamily="49" charset="-122"/>
                <a:sym typeface="+mn-ea"/>
              </a:rPr>
              <a:t>   </a:t>
            </a:r>
            <a:r>
              <a:rPr lang="zh-CN" altLang="en-US" sz="2400" noProof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定时时间＝时钟脉冲周期Tc×预置的计数初值n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8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8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8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8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84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184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矩形 19457">
            <a:extLst>
              <a:ext uri="{FF2B5EF4-FFF2-40B4-BE49-F238E27FC236}">
                <a16:creationId xmlns:a16="http://schemas.microsoft.com/office/drawing/2014/main" id="{B0FBD4EA-67D6-40CA-9433-49577A017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31788"/>
            <a:ext cx="7848600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二、8253的内部结构（续）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4）控制字寄存器: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8253内部有计数器通道都</a:t>
            </a: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具有独立的控制字寄存器，但只有一个控制端口地址传送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18434" name="直接连接符 19458">
            <a:extLst>
              <a:ext uri="{FF2B5EF4-FFF2-40B4-BE49-F238E27FC236}">
                <a16:creationId xmlns:a16="http://schemas.microsoft.com/office/drawing/2014/main" id="{A8BE100B-C03E-4449-8299-87151C082DA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5013325"/>
            <a:ext cx="73025" cy="7143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5" name="直接连接符 19459">
            <a:extLst>
              <a:ext uri="{FF2B5EF4-FFF2-40B4-BE49-F238E27FC236}">
                <a16:creationId xmlns:a16="http://schemas.microsoft.com/office/drawing/2014/main" id="{B0E7014B-72B7-477C-8CD0-EBED811F7FC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5849938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8436" name="组合 19460">
            <a:extLst>
              <a:ext uri="{FF2B5EF4-FFF2-40B4-BE49-F238E27FC236}">
                <a16:creationId xmlns:a16="http://schemas.microsoft.com/office/drawing/2014/main" id="{56BD77B6-E7F7-4D05-8EF7-BE5612ADC19A}"/>
              </a:ext>
            </a:extLst>
          </p:cNvPr>
          <p:cNvGrpSpPr>
            <a:grpSpLocks/>
          </p:cNvGrpSpPr>
          <p:nvPr/>
        </p:nvGrpSpPr>
        <p:grpSpPr bwMode="auto">
          <a:xfrm>
            <a:off x="815975" y="1673225"/>
            <a:ext cx="5627688" cy="1008063"/>
            <a:chOff x="0" y="0"/>
            <a:chExt cx="3545" cy="635"/>
          </a:xfrm>
        </p:grpSpPr>
        <p:sp>
          <p:nvSpPr>
            <p:cNvPr id="18437" name="矩形 19461">
              <a:extLst>
                <a:ext uri="{FF2B5EF4-FFF2-40B4-BE49-F238E27FC236}">
                  <a16:creationId xmlns:a16="http://schemas.microsoft.com/office/drawing/2014/main" id="{F2D9BA6A-21A2-4851-88E6-D6B52A2BB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363"/>
              <a:ext cx="499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None/>
              </a:pPr>
              <a:r>
                <a:rPr lang="en-US" altLang="zh-CN" sz="2000" b="1">
                  <a:latin typeface="Verdana" panose="020B0604030504040204" pitchFamily="34" charset="0"/>
                </a:rPr>
                <a:t>BCD</a:t>
              </a:r>
            </a:p>
          </p:txBody>
        </p:sp>
        <p:sp>
          <p:nvSpPr>
            <p:cNvPr id="18438" name="矩形 19462">
              <a:extLst>
                <a:ext uri="{FF2B5EF4-FFF2-40B4-BE49-F238E27FC236}">
                  <a16:creationId xmlns:a16="http://schemas.microsoft.com/office/drawing/2014/main" id="{572B982E-83D6-44A2-BBAC-2C92062D3F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5" y="363"/>
              <a:ext cx="1111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None/>
              </a:pPr>
              <a:r>
                <a:rPr lang="en-US" altLang="zh-CN" sz="2000" b="1">
                  <a:latin typeface="Verdana" panose="020B0604030504040204" pitchFamily="34" charset="0"/>
                </a:rPr>
                <a:t>M</a:t>
              </a:r>
              <a:r>
                <a:rPr lang="en-US" altLang="zh-CN" sz="2000" b="1" baseline="-25000">
                  <a:latin typeface="Verdana" panose="020B0604030504040204" pitchFamily="34" charset="0"/>
                </a:rPr>
                <a:t>2</a:t>
              </a:r>
              <a:r>
                <a:rPr lang="en-US" altLang="zh-CN" sz="2000" b="1">
                  <a:latin typeface="Verdana" panose="020B0604030504040204" pitchFamily="34" charset="0"/>
                </a:rPr>
                <a:t>   M</a:t>
              </a:r>
              <a:r>
                <a:rPr lang="en-US" altLang="zh-CN" sz="2000" b="1" baseline="-25000">
                  <a:latin typeface="Verdana" panose="020B0604030504040204" pitchFamily="34" charset="0"/>
                </a:rPr>
                <a:t>1</a:t>
              </a:r>
              <a:r>
                <a:rPr lang="en-US" altLang="zh-CN" sz="2000" b="1">
                  <a:latin typeface="Verdana" panose="020B0604030504040204" pitchFamily="34" charset="0"/>
                </a:rPr>
                <a:t>  M</a:t>
              </a:r>
              <a:r>
                <a:rPr lang="en-US" altLang="zh-CN" sz="2000" b="1" baseline="-25000">
                  <a:latin typeface="Verdana" panose="020B0604030504040204" pitchFamily="34" charset="0"/>
                </a:rPr>
                <a:t>0</a:t>
              </a:r>
            </a:p>
          </p:txBody>
        </p:sp>
        <p:sp>
          <p:nvSpPr>
            <p:cNvPr id="18439" name="矩形 19463">
              <a:extLst>
                <a:ext uri="{FF2B5EF4-FFF2-40B4-BE49-F238E27FC236}">
                  <a16:creationId xmlns:a16="http://schemas.microsoft.com/office/drawing/2014/main" id="{DE80823B-CAB8-4B6D-9F5A-04496DC6A8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" y="363"/>
              <a:ext cx="967" cy="272"/>
            </a:xfrm>
            <a:prstGeom prst="rect">
              <a:avLst/>
            </a:prstGeom>
            <a:noFill/>
            <a:ln w="28575">
              <a:solidFill>
                <a:srgbClr val="FF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None/>
              </a:pPr>
              <a:r>
                <a:rPr lang="en-US" altLang="zh-CN" sz="2000" b="1">
                  <a:latin typeface="Verdana" panose="020B0604030504040204" pitchFamily="34" charset="0"/>
                </a:rPr>
                <a:t>RL</a:t>
              </a:r>
              <a:r>
                <a:rPr lang="en-US" altLang="zh-CN" sz="2000" b="1" baseline="-25000">
                  <a:latin typeface="Verdana" panose="020B0604030504040204" pitchFamily="34" charset="0"/>
                </a:rPr>
                <a:t>1</a:t>
              </a:r>
              <a:r>
                <a:rPr lang="en-US" altLang="zh-CN" sz="2000" b="1">
                  <a:latin typeface="Verdana" panose="020B0604030504040204" pitchFamily="34" charset="0"/>
                </a:rPr>
                <a:t>    RL</a:t>
              </a:r>
              <a:r>
                <a:rPr lang="en-US" altLang="zh-CN" sz="2000" b="1" baseline="-25000">
                  <a:latin typeface="Verdana" panose="020B0604030504040204" pitchFamily="34" charset="0"/>
                </a:rPr>
                <a:t>0</a:t>
              </a:r>
            </a:p>
          </p:txBody>
        </p:sp>
        <p:sp>
          <p:nvSpPr>
            <p:cNvPr id="18440" name="矩形 19464">
              <a:extLst>
                <a:ext uri="{FF2B5EF4-FFF2-40B4-BE49-F238E27FC236}">
                  <a16:creationId xmlns:a16="http://schemas.microsoft.com/office/drawing/2014/main" id="{3E3556B7-5874-480C-AD05-BE707173DB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"/>
              <a:ext cx="968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None/>
              </a:pPr>
              <a:r>
                <a:rPr lang="en-US" altLang="zh-CN" sz="2000" b="1">
                  <a:solidFill>
                    <a:srgbClr val="33CCCC"/>
                  </a:solidFill>
                  <a:latin typeface="Verdana" panose="020B0604030504040204" pitchFamily="34" charset="0"/>
                </a:rPr>
                <a:t>SC</a:t>
              </a:r>
              <a:r>
                <a:rPr lang="en-US" altLang="zh-CN" sz="2000" b="1" baseline="-25000">
                  <a:solidFill>
                    <a:srgbClr val="33CCCC"/>
                  </a:solidFill>
                  <a:latin typeface="Verdana" panose="020B0604030504040204" pitchFamily="34" charset="0"/>
                </a:rPr>
                <a:t>1</a:t>
              </a:r>
              <a:r>
                <a:rPr lang="en-US" altLang="zh-CN" sz="2000" b="1">
                  <a:solidFill>
                    <a:srgbClr val="33CCCC"/>
                  </a:solidFill>
                  <a:latin typeface="Verdana" panose="020B0604030504040204" pitchFamily="34" charset="0"/>
                </a:rPr>
                <a:t>    SC</a:t>
              </a:r>
              <a:r>
                <a:rPr lang="en-US" altLang="zh-CN" sz="2000" b="1" baseline="-25000">
                  <a:solidFill>
                    <a:srgbClr val="33CCCC"/>
                  </a:solidFill>
                  <a:latin typeface="Verdana" panose="020B0604030504040204" pitchFamily="34" charset="0"/>
                </a:rPr>
                <a:t>0</a:t>
              </a:r>
            </a:p>
          </p:txBody>
        </p:sp>
        <p:sp>
          <p:nvSpPr>
            <p:cNvPr id="18441" name="直接连接符 19465">
              <a:extLst>
                <a:ext uri="{FF2B5EF4-FFF2-40B4-BE49-F238E27FC236}">
                  <a16:creationId xmlns:a16="http://schemas.microsoft.com/office/drawing/2014/main" id="{74FBEAC3-BF1D-4088-8C96-0852BC2894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363"/>
              <a:ext cx="354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2" name="直接连接符 19466">
              <a:extLst>
                <a:ext uri="{FF2B5EF4-FFF2-40B4-BE49-F238E27FC236}">
                  <a16:creationId xmlns:a16="http://schemas.microsoft.com/office/drawing/2014/main" id="{53BCF509-1331-4EB9-A12D-7DB959551F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635"/>
              <a:ext cx="354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3" name="直接连接符 19467">
              <a:extLst>
                <a:ext uri="{FF2B5EF4-FFF2-40B4-BE49-F238E27FC236}">
                  <a16:creationId xmlns:a16="http://schemas.microsoft.com/office/drawing/2014/main" id="{EC18B4F4-08C0-4B19-B30B-E229667CB8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363"/>
              <a:ext cx="0" cy="27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4" name="直接连接符 19468">
              <a:extLst>
                <a:ext uri="{FF2B5EF4-FFF2-40B4-BE49-F238E27FC236}">
                  <a16:creationId xmlns:a16="http://schemas.microsoft.com/office/drawing/2014/main" id="{8D728876-BCCB-4381-9800-33A3DF467B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8" y="363"/>
              <a:ext cx="0" cy="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5" name="直接连接符 19469">
              <a:extLst>
                <a:ext uri="{FF2B5EF4-FFF2-40B4-BE49-F238E27FC236}">
                  <a16:creationId xmlns:a16="http://schemas.microsoft.com/office/drawing/2014/main" id="{7D33717A-874D-4EFF-B88D-6F65E7AB95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5" y="363"/>
              <a:ext cx="0" cy="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6" name="直接连接符 19470">
              <a:extLst>
                <a:ext uri="{FF2B5EF4-FFF2-40B4-BE49-F238E27FC236}">
                  <a16:creationId xmlns:a16="http://schemas.microsoft.com/office/drawing/2014/main" id="{2B2C2844-6660-449F-9789-8431EBDE15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6" y="363"/>
              <a:ext cx="0" cy="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7" name="直接连接符 19471">
              <a:extLst>
                <a:ext uri="{FF2B5EF4-FFF2-40B4-BE49-F238E27FC236}">
                  <a16:creationId xmlns:a16="http://schemas.microsoft.com/office/drawing/2014/main" id="{B2C9F114-44B9-4DD7-9241-598C12DD5B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5" y="363"/>
              <a:ext cx="0" cy="27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8" name="文本框 19472">
              <a:extLst>
                <a:ext uri="{FF2B5EF4-FFF2-40B4-BE49-F238E27FC236}">
                  <a16:creationId xmlns:a16="http://schemas.microsoft.com/office/drawing/2014/main" id="{611E2DF7-765C-418A-8B46-BFECA3B52A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" y="0"/>
              <a:ext cx="340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40000"/>
                </a:lnSpc>
                <a:spcBef>
                  <a:spcPct val="50000"/>
                </a:spcBef>
              </a:pPr>
              <a:r>
                <a:rPr lang="en-US" altLang="zh-CN" sz="2000">
                  <a:latin typeface="Arial" panose="020B0604020202020204" pitchFamily="34" charset="0"/>
                  <a:ea typeface="仿宋_GB2312" pitchFamily="49" charset="-122"/>
                </a:rPr>
                <a:t>D</a:t>
              </a:r>
              <a:r>
                <a:rPr lang="en-US" altLang="zh-CN" sz="2000" baseline="-25000">
                  <a:latin typeface="Arial" panose="020B0604020202020204" pitchFamily="34" charset="0"/>
                  <a:ea typeface="仿宋_GB2312" pitchFamily="49" charset="-122"/>
                </a:rPr>
                <a:t>7          </a:t>
              </a:r>
              <a:r>
                <a:rPr lang="en-US" altLang="zh-CN" sz="2000">
                  <a:latin typeface="Arial" panose="020B0604020202020204" pitchFamily="34" charset="0"/>
                  <a:ea typeface="仿宋_GB2312" pitchFamily="49" charset="-122"/>
                </a:rPr>
                <a:t>D</a:t>
              </a:r>
              <a:r>
                <a:rPr lang="en-US" altLang="zh-CN" sz="2000" baseline="-25000">
                  <a:latin typeface="Arial" panose="020B0604020202020204" pitchFamily="34" charset="0"/>
                  <a:ea typeface="仿宋_GB2312" pitchFamily="49" charset="-122"/>
                </a:rPr>
                <a:t>6          </a:t>
              </a:r>
              <a:r>
                <a:rPr lang="en-US" altLang="zh-CN" sz="2000">
                  <a:latin typeface="Arial" panose="020B0604020202020204" pitchFamily="34" charset="0"/>
                  <a:ea typeface="仿宋_GB2312" pitchFamily="49" charset="-122"/>
                </a:rPr>
                <a:t>D</a:t>
              </a:r>
              <a:r>
                <a:rPr lang="en-US" altLang="zh-CN" sz="2000" baseline="-25000">
                  <a:latin typeface="Arial" panose="020B0604020202020204" pitchFamily="34" charset="0"/>
                  <a:ea typeface="仿宋_GB2312" pitchFamily="49" charset="-122"/>
                </a:rPr>
                <a:t>5         </a:t>
              </a:r>
              <a:r>
                <a:rPr lang="en-US" altLang="zh-CN" sz="2000">
                  <a:latin typeface="Arial" panose="020B0604020202020204" pitchFamily="34" charset="0"/>
                  <a:ea typeface="仿宋_GB2312" pitchFamily="49" charset="-122"/>
                </a:rPr>
                <a:t>D</a:t>
              </a:r>
              <a:r>
                <a:rPr lang="en-US" altLang="zh-CN" sz="2000" baseline="-25000">
                  <a:latin typeface="Arial" panose="020B0604020202020204" pitchFamily="34" charset="0"/>
                  <a:ea typeface="仿宋_GB2312" pitchFamily="49" charset="-122"/>
                </a:rPr>
                <a:t>4           </a:t>
              </a:r>
              <a:r>
                <a:rPr lang="en-US" altLang="zh-CN" sz="2000">
                  <a:latin typeface="Arial" panose="020B0604020202020204" pitchFamily="34" charset="0"/>
                  <a:ea typeface="仿宋_GB2312" pitchFamily="49" charset="-122"/>
                </a:rPr>
                <a:t>D</a:t>
              </a:r>
              <a:r>
                <a:rPr lang="en-US" altLang="zh-CN" sz="2000" baseline="-25000">
                  <a:latin typeface="Arial" panose="020B0604020202020204" pitchFamily="34" charset="0"/>
                  <a:ea typeface="仿宋_GB2312" pitchFamily="49" charset="-122"/>
                </a:rPr>
                <a:t>3       </a:t>
              </a:r>
              <a:r>
                <a:rPr lang="en-US" altLang="zh-CN" sz="2000">
                  <a:latin typeface="Arial" panose="020B0604020202020204" pitchFamily="34" charset="0"/>
                  <a:ea typeface="仿宋_GB2312" pitchFamily="49" charset="-122"/>
                </a:rPr>
                <a:t>D</a:t>
              </a:r>
              <a:r>
                <a:rPr lang="en-US" altLang="zh-CN" sz="2000" baseline="-25000">
                  <a:latin typeface="Arial" panose="020B0604020202020204" pitchFamily="34" charset="0"/>
                  <a:ea typeface="仿宋_GB2312" pitchFamily="49" charset="-122"/>
                </a:rPr>
                <a:t>2       </a:t>
              </a:r>
              <a:r>
                <a:rPr lang="en-US" altLang="zh-CN" sz="2000">
                  <a:latin typeface="Arial" panose="020B0604020202020204" pitchFamily="34" charset="0"/>
                  <a:ea typeface="仿宋_GB2312" pitchFamily="49" charset="-122"/>
                </a:rPr>
                <a:t>D</a:t>
              </a:r>
              <a:r>
                <a:rPr lang="en-US" altLang="zh-CN" sz="2000" baseline="-25000">
                  <a:latin typeface="Arial" panose="020B0604020202020204" pitchFamily="34" charset="0"/>
                  <a:ea typeface="仿宋_GB2312" pitchFamily="49" charset="-122"/>
                </a:rPr>
                <a:t>1         </a:t>
              </a:r>
              <a:r>
                <a:rPr lang="en-US" altLang="zh-CN" sz="2000">
                  <a:latin typeface="Arial" panose="020B0604020202020204" pitchFamily="34" charset="0"/>
                  <a:ea typeface="仿宋_GB2312" pitchFamily="49" charset="-122"/>
                </a:rPr>
                <a:t>D</a:t>
              </a:r>
              <a:r>
                <a:rPr lang="en-US" altLang="zh-CN" sz="2000" baseline="-25000">
                  <a:latin typeface="Arial" panose="020B0604020202020204" pitchFamily="34" charset="0"/>
                  <a:ea typeface="仿宋_GB2312" pitchFamily="49" charset="-122"/>
                </a:rPr>
                <a:t>0</a:t>
              </a:r>
            </a:p>
          </p:txBody>
        </p:sp>
      </p:grpSp>
      <p:grpSp>
        <p:nvGrpSpPr>
          <p:cNvPr id="18449" name="组合 19473">
            <a:extLst>
              <a:ext uri="{FF2B5EF4-FFF2-40B4-BE49-F238E27FC236}">
                <a16:creationId xmlns:a16="http://schemas.microsoft.com/office/drawing/2014/main" id="{BCDF22E1-7F12-4C1B-ABB5-F3A1BEFE0604}"/>
              </a:ext>
            </a:extLst>
          </p:cNvPr>
          <p:cNvGrpSpPr>
            <a:grpSpLocks/>
          </p:cNvGrpSpPr>
          <p:nvPr/>
        </p:nvGrpSpPr>
        <p:grpSpPr bwMode="auto">
          <a:xfrm>
            <a:off x="6011863" y="2681288"/>
            <a:ext cx="2376487" cy="784225"/>
            <a:chOff x="0" y="0"/>
            <a:chExt cx="1497" cy="494"/>
          </a:xfrm>
        </p:grpSpPr>
        <p:sp>
          <p:nvSpPr>
            <p:cNvPr id="18450" name="文本框 19474">
              <a:extLst>
                <a:ext uri="{FF2B5EF4-FFF2-40B4-BE49-F238E27FC236}">
                  <a16:creationId xmlns:a16="http://schemas.microsoft.com/office/drawing/2014/main" id="{0272B331-3A26-4C37-B9B6-D52784329A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90"/>
              <a:ext cx="1089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latin typeface="Arial" panose="020B0604020202020204" pitchFamily="34" charset="0"/>
                  <a:ea typeface="仿宋_GB2312" pitchFamily="49" charset="-122"/>
                </a:rPr>
                <a:t>1  BCD</a:t>
              </a:r>
              <a:r>
                <a:rPr lang="zh-CN" altLang="en-US">
                  <a:latin typeface="Arial" panose="020B0604020202020204" pitchFamily="34" charset="0"/>
                  <a:ea typeface="仿宋_GB2312" pitchFamily="49" charset="-122"/>
                </a:rPr>
                <a:t>码计数</a:t>
              </a:r>
              <a:r>
                <a:rPr lang="en-US" altLang="zh-CN">
                  <a:latin typeface="Arial" panose="020B0604020202020204" pitchFamily="34" charset="0"/>
                  <a:ea typeface="仿宋_GB2312" pitchFamily="49" charset="-122"/>
                </a:rPr>
                <a:t>0  </a:t>
              </a:r>
              <a:r>
                <a:rPr lang="zh-CN" altLang="en-US">
                  <a:latin typeface="Arial" panose="020B0604020202020204" pitchFamily="34" charset="0"/>
                  <a:ea typeface="仿宋_GB2312" pitchFamily="49" charset="-122"/>
                </a:rPr>
                <a:t>二进制计数</a:t>
              </a:r>
            </a:p>
          </p:txBody>
        </p:sp>
        <p:sp>
          <p:nvSpPr>
            <p:cNvPr id="18451" name="直接连接符 19475">
              <a:extLst>
                <a:ext uri="{FF2B5EF4-FFF2-40B4-BE49-F238E27FC236}">
                  <a16:creationId xmlns:a16="http://schemas.microsoft.com/office/drawing/2014/main" id="{D8200BE3-8DE2-4E60-8B07-70C05C0EC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31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2" name="直接连接符 19476">
              <a:extLst>
                <a:ext uri="{FF2B5EF4-FFF2-40B4-BE49-F238E27FC236}">
                  <a16:creationId xmlns:a16="http://schemas.microsoft.com/office/drawing/2014/main" id="{25791E5F-9127-41CE-999F-84CE6E89BF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317"/>
              <a:ext cx="4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453" name="文本框 19477">
            <a:extLst>
              <a:ext uri="{FF2B5EF4-FFF2-40B4-BE49-F238E27FC236}">
                <a16:creationId xmlns:a16="http://schemas.microsoft.com/office/drawing/2014/main" id="{311771E0-A6D2-435C-A94F-BCD30D0002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3500438"/>
            <a:ext cx="302418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000 </a:t>
            </a:r>
            <a:r>
              <a:rPr lang="en-US" altLang="zh-CN" sz="2000">
                <a:latin typeface="Arial" panose="020B0604020202020204" pitchFamily="34" charset="0"/>
                <a:ea typeface="仿宋_GB2312" pitchFamily="49" charset="-122"/>
              </a:rPr>
              <a:t> </a:t>
            </a:r>
            <a:r>
              <a:rPr lang="zh-CN" altLang="en-US" sz="2000">
                <a:latin typeface="Arial" panose="020B0604020202020204" pitchFamily="34" charset="0"/>
                <a:ea typeface="仿宋_GB2312" pitchFamily="49" charset="-122"/>
              </a:rPr>
              <a:t>方式</a:t>
            </a:r>
            <a:r>
              <a:rPr lang="en-US" altLang="zh-CN" sz="2000">
                <a:latin typeface="Arial" panose="020B0604020202020204" pitchFamily="34" charset="0"/>
                <a:ea typeface="仿宋_GB2312" pitchFamily="49" charset="-122"/>
              </a:rPr>
              <a:t>0   </a:t>
            </a:r>
            <a:r>
              <a:rPr lang="en-US" altLang="zh-CN" sz="20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001</a:t>
            </a:r>
            <a:r>
              <a:rPr lang="en-US" altLang="zh-CN" sz="2000">
                <a:latin typeface="Arial" panose="020B0604020202020204" pitchFamily="34" charset="0"/>
                <a:ea typeface="仿宋_GB2312" pitchFamily="49" charset="-122"/>
              </a:rPr>
              <a:t>  </a:t>
            </a:r>
            <a:r>
              <a:rPr lang="zh-CN" altLang="en-US" sz="2000">
                <a:latin typeface="Arial" panose="020B0604020202020204" pitchFamily="34" charset="0"/>
                <a:ea typeface="仿宋_GB2312" pitchFamily="49" charset="-122"/>
              </a:rPr>
              <a:t>方式</a:t>
            </a:r>
            <a:r>
              <a:rPr lang="en-US" altLang="zh-CN" sz="2000">
                <a:latin typeface="Arial" panose="020B0604020202020204" pitchFamily="34" charset="0"/>
                <a:ea typeface="仿宋_GB2312" pitchFamily="49" charset="-122"/>
              </a:rPr>
              <a:t>1 </a:t>
            </a:r>
            <a:r>
              <a:rPr lang="en-US" altLang="zh-CN" sz="20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X10</a:t>
            </a:r>
            <a:r>
              <a:rPr lang="en-US" altLang="zh-CN" sz="2000">
                <a:latin typeface="Arial" panose="020B0604020202020204" pitchFamily="34" charset="0"/>
                <a:ea typeface="仿宋_GB2312" pitchFamily="49" charset="-122"/>
              </a:rPr>
              <a:t>  </a:t>
            </a:r>
            <a:r>
              <a:rPr lang="zh-CN" altLang="en-US" sz="2000">
                <a:latin typeface="Arial" panose="020B0604020202020204" pitchFamily="34" charset="0"/>
                <a:ea typeface="仿宋_GB2312" pitchFamily="49" charset="-122"/>
              </a:rPr>
              <a:t>方式</a:t>
            </a:r>
            <a:r>
              <a:rPr lang="en-US" altLang="zh-CN" sz="2000">
                <a:latin typeface="Arial" panose="020B0604020202020204" pitchFamily="34" charset="0"/>
                <a:ea typeface="仿宋_GB2312" pitchFamily="49" charset="-122"/>
              </a:rPr>
              <a:t>2   </a:t>
            </a:r>
            <a:r>
              <a:rPr lang="en-US" altLang="zh-CN" sz="20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X11</a:t>
            </a:r>
            <a:r>
              <a:rPr lang="en-US" altLang="zh-CN" sz="2000">
                <a:latin typeface="Arial" panose="020B0604020202020204" pitchFamily="34" charset="0"/>
                <a:ea typeface="仿宋_GB2312" pitchFamily="49" charset="-122"/>
              </a:rPr>
              <a:t>  </a:t>
            </a:r>
            <a:r>
              <a:rPr lang="zh-CN" altLang="en-US" sz="2000">
                <a:latin typeface="Arial" panose="020B0604020202020204" pitchFamily="34" charset="0"/>
                <a:ea typeface="仿宋_GB2312" pitchFamily="49" charset="-122"/>
              </a:rPr>
              <a:t>方式</a:t>
            </a:r>
            <a:r>
              <a:rPr lang="en-US" altLang="zh-CN" sz="2000">
                <a:latin typeface="Arial" panose="020B0604020202020204" pitchFamily="34" charset="0"/>
                <a:ea typeface="仿宋_GB2312" pitchFamily="49" charset="-122"/>
              </a:rPr>
              <a:t>3 </a:t>
            </a:r>
            <a:r>
              <a:rPr lang="en-US" altLang="zh-CN" sz="20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100</a:t>
            </a:r>
            <a:r>
              <a:rPr lang="en-US" altLang="zh-CN" sz="2000">
                <a:latin typeface="Arial" panose="020B0604020202020204" pitchFamily="34" charset="0"/>
                <a:ea typeface="仿宋_GB2312" pitchFamily="49" charset="-122"/>
              </a:rPr>
              <a:t>  </a:t>
            </a:r>
            <a:r>
              <a:rPr lang="zh-CN" altLang="en-US" sz="2000">
                <a:latin typeface="Arial" panose="020B0604020202020204" pitchFamily="34" charset="0"/>
                <a:ea typeface="仿宋_GB2312" pitchFamily="49" charset="-122"/>
              </a:rPr>
              <a:t>方式</a:t>
            </a:r>
            <a:r>
              <a:rPr lang="en-US" altLang="zh-CN" sz="2000">
                <a:latin typeface="Arial" panose="020B0604020202020204" pitchFamily="34" charset="0"/>
                <a:ea typeface="仿宋_GB2312" pitchFamily="49" charset="-122"/>
              </a:rPr>
              <a:t>4   </a:t>
            </a:r>
            <a:r>
              <a:rPr lang="en-US" altLang="zh-CN" sz="20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101  </a:t>
            </a:r>
            <a:r>
              <a:rPr lang="zh-CN" altLang="en-US" sz="2000">
                <a:latin typeface="Arial" panose="020B0604020202020204" pitchFamily="34" charset="0"/>
                <a:ea typeface="仿宋_GB2312" pitchFamily="49" charset="-122"/>
              </a:rPr>
              <a:t>方式</a:t>
            </a:r>
            <a:r>
              <a:rPr lang="en-US" altLang="zh-CN" sz="2000">
                <a:latin typeface="Arial" panose="020B0604020202020204" pitchFamily="34" charset="0"/>
                <a:ea typeface="仿宋_GB2312" pitchFamily="49" charset="-122"/>
              </a:rPr>
              <a:t>5</a:t>
            </a:r>
          </a:p>
        </p:txBody>
      </p:sp>
      <p:grpSp>
        <p:nvGrpSpPr>
          <p:cNvPr id="18454" name="组合 19478">
            <a:extLst>
              <a:ext uri="{FF2B5EF4-FFF2-40B4-BE49-F238E27FC236}">
                <a16:creationId xmlns:a16="http://schemas.microsoft.com/office/drawing/2014/main" id="{EEFF7BEF-6D3F-441A-90BB-0A237A396EF0}"/>
              </a:ext>
            </a:extLst>
          </p:cNvPr>
          <p:cNvGrpSpPr>
            <a:grpSpLocks/>
          </p:cNvGrpSpPr>
          <p:nvPr/>
        </p:nvGrpSpPr>
        <p:grpSpPr bwMode="auto">
          <a:xfrm>
            <a:off x="5435600" y="3500438"/>
            <a:ext cx="73025" cy="936625"/>
            <a:chOff x="0" y="0"/>
            <a:chExt cx="91" cy="878"/>
          </a:xfrm>
        </p:grpSpPr>
        <p:sp>
          <p:nvSpPr>
            <p:cNvPr id="18455" name="直接连接符 19479">
              <a:extLst>
                <a:ext uri="{FF2B5EF4-FFF2-40B4-BE49-F238E27FC236}">
                  <a16:creationId xmlns:a16="http://schemas.microsoft.com/office/drawing/2014/main" id="{25785030-16C8-4291-8175-630D5A9E54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" y="0"/>
              <a:ext cx="45" cy="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6" name="直接连接符 19480">
              <a:extLst>
                <a:ext uri="{FF2B5EF4-FFF2-40B4-BE49-F238E27FC236}">
                  <a16:creationId xmlns:a16="http://schemas.microsoft.com/office/drawing/2014/main" id="{A4F6570E-C002-4A26-8643-01C15280B5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45"/>
              <a:ext cx="0" cy="79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7" name="直接连接符 19481">
              <a:extLst>
                <a:ext uri="{FF2B5EF4-FFF2-40B4-BE49-F238E27FC236}">
                  <a16:creationId xmlns:a16="http://schemas.microsoft.com/office/drawing/2014/main" id="{8F8E0E67-8292-4CB1-9CAC-7C5B199902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833"/>
              <a:ext cx="91" cy="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458" name="直接连接符 19482">
            <a:extLst>
              <a:ext uri="{FF2B5EF4-FFF2-40B4-BE49-F238E27FC236}">
                <a16:creationId xmlns:a16="http://schemas.microsoft.com/office/drawing/2014/main" id="{578EB090-C17E-4C3B-A13C-AE7301D9025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4300" y="2681288"/>
            <a:ext cx="71438" cy="14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9" name="直接连接符 19483">
            <a:extLst>
              <a:ext uri="{FF2B5EF4-FFF2-40B4-BE49-F238E27FC236}">
                <a16:creationId xmlns:a16="http://schemas.microsoft.com/office/drawing/2014/main" id="{15884E25-7B74-4A96-BF43-1B9C11FF35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80063" y="2681288"/>
            <a:ext cx="71437" cy="14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60" name="直接连接符 19484">
            <a:extLst>
              <a:ext uri="{FF2B5EF4-FFF2-40B4-BE49-F238E27FC236}">
                <a16:creationId xmlns:a16="http://schemas.microsoft.com/office/drawing/2014/main" id="{3C97C43F-E237-410F-906C-CA73698DAF5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5738" y="2824163"/>
            <a:ext cx="15843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61" name="直接连接符 19485">
            <a:extLst>
              <a:ext uri="{FF2B5EF4-FFF2-40B4-BE49-F238E27FC236}">
                <a16:creationId xmlns:a16="http://schemas.microsoft.com/office/drawing/2014/main" id="{00C553C9-39D5-418E-B815-AF66BB00CB4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7900" y="2824163"/>
            <a:ext cx="0" cy="1181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62" name="直接连接符 19486">
            <a:extLst>
              <a:ext uri="{FF2B5EF4-FFF2-40B4-BE49-F238E27FC236}">
                <a16:creationId xmlns:a16="http://schemas.microsoft.com/office/drawing/2014/main" id="{7E70823B-28F6-46FE-B1F5-207DD15C505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7900" y="4005263"/>
            <a:ext cx="5762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8463" name="组合 19487">
            <a:extLst>
              <a:ext uri="{FF2B5EF4-FFF2-40B4-BE49-F238E27FC236}">
                <a16:creationId xmlns:a16="http://schemas.microsoft.com/office/drawing/2014/main" id="{B1D3F277-24AC-484B-BE86-B468C3087839}"/>
              </a:ext>
            </a:extLst>
          </p:cNvPr>
          <p:cNvGrpSpPr>
            <a:grpSpLocks/>
          </p:cNvGrpSpPr>
          <p:nvPr/>
        </p:nvGrpSpPr>
        <p:grpSpPr bwMode="auto">
          <a:xfrm>
            <a:off x="4138613" y="4581525"/>
            <a:ext cx="5005387" cy="1311275"/>
            <a:chOff x="0" y="0"/>
            <a:chExt cx="2813" cy="826"/>
          </a:xfrm>
        </p:grpSpPr>
        <p:sp>
          <p:nvSpPr>
            <p:cNvPr id="18464" name="文本框 19488">
              <a:extLst>
                <a:ext uri="{FF2B5EF4-FFF2-40B4-BE49-F238E27FC236}">
                  <a16:creationId xmlns:a16="http://schemas.microsoft.com/office/drawing/2014/main" id="{DB689C60-C3CC-4016-AD1D-7A4BD2C39C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" y="0"/>
              <a:ext cx="2767" cy="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Arial" panose="020B0604020202020204" pitchFamily="34" charset="0"/>
                  <a:ea typeface="仿宋_GB2312" pitchFamily="49" charset="-122"/>
                </a:rPr>
                <a:t>00  </a:t>
              </a:r>
              <a:r>
                <a:rPr lang="zh-CN" altLang="en-US" sz="2000">
                  <a:latin typeface="Arial" panose="020B0604020202020204" pitchFamily="34" charset="0"/>
                  <a:ea typeface="仿宋_GB2312" pitchFamily="49" charset="-122"/>
                </a:rPr>
                <a:t>计数器锁存，供</a:t>
              </a:r>
              <a:r>
                <a:rPr lang="en-US" altLang="zh-CN" sz="2000">
                  <a:latin typeface="Arial" panose="020B0604020202020204" pitchFamily="34" charset="0"/>
                  <a:ea typeface="仿宋_GB2312" pitchFamily="49" charset="-122"/>
                </a:rPr>
                <a:t>CPU</a:t>
              </a:r>
              <a:r>
                <a:rPr lang="zh-CN" altLang="en-US" sz="2000">
                  <a:latin typeface="Arial" panose="020B0604020202020204" pitchFamily="34" charset="0"/>
                  <a:ea typeface="仿宋_GB2312" pitchFamily="49" charset="-122"/>
                </a:rPr>
                <a:t>读                      </a:t>
              </a:r>
              <a:r>
                <a:rPr lang="en-US" altLang="zh-CN" sz="2000">
                  <a:latin typeface="Arial" panose="020B0604020202020204" pitchFamily="34" charset="0"/>
                  <a:ea typeface="仿宋_GB2312" pitchFamily="49" charset="-122"/>
                </a:rPr>
                <a:t>01  </a:t>
              </a:r>
              <a:r>
                <a:rPr lang="zh-CN" altLang="en-US" sz="2000">
                  <a:latin typeface="Arial" panose="020B0604020202020204" pitchFamily="34" charset="0"/>
                  <a:ea typeface="仿宋_GB2312" pitchFamily="49" charset="-122"/>
                </a:rPr>
                <a:t>只读</a:t>
              </a:r>
              <a:r>
                <a:rPr lang="en-US" altLang="zh-CN" sz="2000">
                  <a:latin typeface="Arial" panose="020B0604020202020204" pitchFamily="34" charset="0"/>
                  <a:ea typeface="仿宋_GB2312" pitchFamily="49" charset="-122"/>
                </a:rPr>
                <a:t>/</a:t>
              </a:r>
              <a:r>
                <a:rPr lang="zh-CN" altLang="en-US" sz="2000">
                  <a:latin typeface="Arial" panose="020B0604020202020204" pitchFamily="34" charset="0"/>
                  <a:ea typeface="仿宋_GB2312" pitchFamily="49" charset="-122"/>
                </a:rPr>
                <a:t>写计数器低字节                         </a:t>
              </a:r>
              <a:r>
                <a:rPr lang="en-US" altLang="zh-CN" sz="2000">
                  <a:latin typeface="Arial" panose="020B0604020202020204" pitchFamily="34" charset="0"/>
                  <a:ea typeface="仿宋_GB2312" pitchFamily="49" charset="-122"/>
                </a:rPr>
                <a:t>10  </a:t>
              </a:r>
              <a:r>
                <a:rPr lang="zh-CN" altLang="en-US" sz="2000">
                  <a:latin typeface="Arial" panose="020B0604020202020204" pitchFamily="34" charset="0"/>
                  <a:ea typeface="仿宋_GB2312" pitchFamily="49" charset="-122"/>
                </a:rPr>
                <a:t>只读</a:t>
              </a:r>
              <a:r>
                <a:rPr lang="en-US" altLang="zh-CN" sz="2000">
                  <a:latin typeface="Arial" panose="020B0604020202020204" pitchFamily="34" charset="0"/>
                  <a:ea typeface="仿宋_GB2312" pitchFamily="49" charset="-122"/>
                </a:rPr>
                <a:t>/</a:t>
              </a:r>
              <a:r>
                <a:rPr lang="zh-CN" altLang="en-US" sz="2000">
                  <a:latin typeface="Arial" panose="020B0604020202020204" pitchFamily="34" charset="0"/>
                  <a:ea typeface="仿宋_GB2312" pitchFamily="49" charset="-122"/>
                </a:rPr>
                <a:t>写计数器高字节                         </a:t>
              </a:r>
              <a:r>
                <a:rPr lang="en-US" altLang="zh-CN" sz="2000">
                  <a:latin typeface="Arial" panose="020B0604020202020204" pitchFamily="34" charset="0"/>
                  <a:ea typeface="仿宋_GB2312" pitchFamily="49" charset="-122"/>
                </a:rPr>
                <a:t>11  </a:t>
              </a:r>
              <a:r>
                <a:rPr lang="zh-CN" altLang="en-US" sz="2000">
                  <a:latin typeface="Arial" panose="020B0604020202020204" pitchFamily="34" charset="0"/>
                  <a:ea typeface="仿宋_GB2312" pitchFamily="49" charset="-122"/>
                </a:rPr>
                <a:t>先读</a:t>
              </a:r>
              <a:r>
                <a:rPr lang="en-US" altLang="zh-CN" sz="2000">
                  <a:latin typeface="Arial" panose="020B0604020202020204" pitchFamily="34" charset="0"/>
                  <a:ea typeface="仿宋_GB2312" pitchFamily="49" charset="-122"/>
                </a:rPr>
                <a:t>/</a:t>
              </a:r>
              <a:r>
                <a:rPr lang="zh-CN" altLang="en-US" sz="2000">
                  <a:latin typeface="Arial" panose="020B0604020202020204" pitchFamily="34" charset="0"/>
                  <a:ea typeface="仿宋_GB2312" pitchFamily="49" charset="-122"/>
                </a:rPr>
                <a:t>写计数器低字节，后读</a:t>
              </a:r>
              <a:r>
                <a:rPr lang="en-US" altLang="zh-CN" sz="2000">
                  <a:latin typeface="Arial" panose="020B0604020202020204" pitchFamily="34" charset="0"/>
                  <a:ea typeface="仿宋_GB2312" pitchFamily="49" charset="-122"/>
                </a:rPr>
                <a:t>/</a:t>
              </a:r>
              <a:r>
                <a:rPr lang="zh-CN" altLang="en-US" sz="2000">
                  <a:latin typeface="Arial" panose="020B0604020202020204" pitchFamily="34" charset="0"/>
                  <a:ea typeface="仿宋_GB2312" pitchFamily="49" charset="-122"/>
                </a:rPr>
                <a:t>写高字节</a:t>
              </a:r>
            </a:p>
          </p:txBody>
        </p:sp>
        <p:grpSp>
          <p:nvGrpSpPr>
            <p:cNvPr id="18465" name="组合 19489">
              <a:extLst>
                <a:ext uri="{FF2B5EF4-FFF2-40B4-BE49-F238E27FC236}">
                  <a16:creationId xmlns:a16="http://schemas.microsoft.com/office/drawing/2014/main" id="{D4B388C9-9F2A-4EF4-83FD-7AE5600BE2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90"/>
              <a:ext cx="45" cy="545"/>
              <a:chOff x="0" y="0"/>
              <a:chExt cx="45" cy="545"/>
            </a:xfrm>
          </p:grpSpPr>
          <p:sp>
            <p:nvSpPr>
              <p:cNvPr id="18466" name="直接连接符 19490">
                <a:extLst>
                  <a:ext uri="{FF2B5EF4-FFF2-40B4-BE49-F238E27FC236}">
                    <a16:creationId xmlns:a16="http://schemas.microsoft.com/office/drawing/2014/main" id="{790977F6-9FFD-40E4-9A03-513252EB1A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0" y="0"/>
                <a:ext cx="45" cy="4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7" name="直接连接符 19491">
                <a:extLst>
                  <a:ext uri="{FF2B5EF4-FFF2-40B4-BE49-F238E27FC236}">
                    <a16:creationId xmlns:a16="http://schemas.microsoft.com/office/drawing/2014/main" id="{6757ABE9-B73B-4596-B150-2FF422C5E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46"/>
                <a:ext cx="0" cy="45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8" name="直接连接符 19492">
                <a:extLst>
                  <a:ext uri="{FF2B5EF4-FFF2-40B4-BE49-F238E27FC236}">
                    <a16:creationId xmlns:a16="http://schemas.microsoft.com/office/drawing/2014/main" id="{A5DFB919-B31A-4E77-8A33-A7C28D3DC0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499"/>
                <a:ext cx="45" cy="4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8469" name="直接连接符 19493">
            <a:extLst>
              <a:ext uri="{FF2B5EF4-FFF2-40B4-BE49-F238E27FC236}">
                <a16:creationId xmlns:a16="http://schemas.microsoft.com/office/drawing/2014/main" id="{D3CE6156-05DC-472C-BA93-AC46498A2A5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2681288"/>
            <a:ext cx="161925" cy="14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70" name="直接连接符 19494">
            <a:extLst>
              <a:ext uri="{FF2B5EF4-FFF2-40B4-BE49-F238E27FC236}">
                <a16:creationId xmlns:a16="http://schemas.microsoft.com/office/drawing/2014/main" id="{2760DA83-419E-45DC-85BF-E732BEDE45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08400" y="2681288"/>
            <a:ext cx="160338" cy="14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71" name="直接连接符 19495">
            <a:extLst>
              <a:ext uri="{FF2B5EF4-FFF2-40B4-BE49-F238E27FC236}">
                <a16:creationId xmlns:a16="http://schemas.microsoft.com/office/drawing/2014/main" id="{BEC71D54-87DB-4606-99BF-E50AEFD0ABDC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2824163"/>
            <a:ext cx="1223962" cy="1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72" name="直接连接符 19496">
            <a:extLst>
              <a:ext uri="{FF2B5EF4-FFF2-40B4-BE49-F238E27FC236}">
                <a16:creationId xmlns:a16="http://schemas.microsoft.com/office/drawing/2014/main" id="{CF955FEC-7022-4A41-973C-4215394B496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3575" y="2824163"/>
            <a:ext cx="0" cy="23336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73" name="直接连接符 19497">
            <a:extLst>
              <a:ext uri="{FF2B5EF4-FFF2-40B4-BE49-F238E27FC236}">
                <a16:creationId xmlns:a16="http://schemas.microsoft.com/office/drawing/2014/main" id="{D51B9817-C074-4B2C-AB7D-4106068B1B0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3575" y="5157788"/>
            <a:ext cx="9366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8474" name="组合 19498">
            <a:extLst>
              <a:ext uri="{FF2B5EF4-FFF2-40B4-BE49-F238E27FC236}">
                <a16:creationId xmlns:a16="http://schemas.microsoft.com/office/drawing/2014/main" id="{E57F10FA-EBC3-4430-B7B4-8F4822CD800F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2681288"/>
            <a:ext cx="2376488" cy="3597275"/>
            <a:chOff x="0" y="0"/>
            <a:chExt cx="1497" cy="2640"/>
          </a:xfrm>
        </p:grpSpPr>
        <p:grpSp>
          <p:nvGrpSpPr>
            <p:cNvPr id="18475" name="组合 19499">
              <a:extLst>
                <a:ext uri="{FF2B5EF4-FFF2-40B4-BE49-F238E27FC236}">
                  <a16:creationId xmlns:a16="http://schemas.microsoft.com/office/drawing/2014/main" id="{E9C54F82-5D14-45D0-9FBC-7826213E97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8" y="1678"/>
              <a:ext cx="1179" cy="962"/>
              <a:chOff x="0" y="0"/>
              <a:chExt cx="1179" cy="962"/>
            </a:xfrm>
          </p:grpSpPr>
          <p:sp>
            <p:nvSpPr>
              <p:cNvPr id="18476" name="文本框 19500">
                <a:extLst>
                  <a:ext uri="{FF2B5EF4-FFF2-40B4-BE49-F238E27FC236}">
                    <a16:creationId xmlns:a16="http://schemas.microsoft.com/office/drawing/2014/main" id="{1FFE3A83-0A5B-4B9C-9893-5D8385140E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" y="0"/>
                <a:ext cx="1134" cy="9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solidFill>
                      <a:srgbClr val="33CCCC"/>
                    </a:solidFill>
                    <a:latin typeface="Arial" panose="020B0604020202020204" pitchFamily="34" charset="0"/>
                    <a:ea typeface="仿宋_GB2312" pitchFamily="49" charset="-122"/>
                  </a:rPr>
                  <a:t>00</a:t>
                </a:r>
                <a:r>
                  <a:rPr lang="en-US" altLang="zh-CN" sz="2000">
                    <a:latin typeface="Arial" panose="020B0604020202020204" pitchFamily="34" charset="0"/>
                    <a:ea typeface="仿宋_GB2312" pitchFamily="49" charset="-122"/>
                  </a:rPr>
                  <a:t>  </a:t>
                </a:r>
                <a:r>
                  <a:rPr lang="zh-CN" altLang="en-US" sz="2000">
                    <a:latin typeface="Arial" panose="020B0604020202020204" pitchFamily="34" charset="0"/>
                    <a:ea typeface="仿宋_GB2312" pitchFamily="49" charset="-122"/>
                  </a:rPr>
                  <a:t>选择通道</a:t>
                </a:r>
                <a:r>
                  <a:rPr lang="en-US" altLang="zh-CN" sz="2000">
                    <a:latin typeface="Arial" panose="020B0604020202020204" pitchFamily="34" charset="0"/>
                    <a:ea typeface="仿宋_GB2312" pitchFamily="49" charset="-122"/>
                  </a:rPr>
                  <a:t>0 </a:t>
                </a:r>
                <a:r>
                  <a:rPr lang="en-US" altLang="zh-CN" sz="2000">
                    <a:solidFill>
                      <a:srgbClr val="33CCCC"/>
                    </a:solidFill>
                    <a:latin typeface="Arial" panose="020B0604020202020204" pitchFamily="34" charset="0"/>
                    <a:ea typeface="仿宋_GB2312" pitchFamily="49" charset="-122"/>
                  </a:rPr>
                  <a:t>01 </a:t>
                </a:r>
                <a:r>
                  <a:rPr lang="en-US" altLang="zh-CN" sz="2000">
                    <a:latin typeface="Arial" panose="020B0604020202020204" pitchFamily="34" charset="0"/>
                    <a:ea typeface="仿宋_GB2312" pitchFamily="49" charset="-122"/>
                  </a:rPr>
                  <a:t> </a:t>
                </a:r>
                <a:r>
                  <a:rPr lang="zh-CN" altLang="en-US" sz="2000">
                    <a:latin typeface="Arial" panose="020B0604020202020204" pitchFamily="34" charset="0"/>
                    <a:ea typeface="仿宋_GB2312" pitchFamily="49" charset="-122"/>
                  </a:rPr>
                  <a:t>选择通道</a:t>
                </a:r>
                <a:r>
                  <a:rPr lang="en-US" altLang="zh-CN" sz="2000">
                    <a:latin typeface="Arial" panose="020B0604020202020204" pitchFamily="34" charset="0"/>
                    <a:ea typeface="仿宋_GB2312" pitchFamily="49" charset="-122"/>
                  </a:rPr>
                  <a:t>1 </a:t>
                </a:r>
                <a:r>
                  <a:rPr lang="en-US" altLang="zh-CN" sz="2000">
                    <a:solidFill>
                      <a:srgbClr val="33CCCC"/>
                    </a:solidFill>
                    <a:latin typeface="Arial" panose="020B0604020202020204" pitchFamily="34" charset="0"/>
                    <a:ea typeface="仿宋_GB2312" pitchFamily="49" charset="-122"/>
                  </a:rPr>
                  <a:t>10 </a:t>
                </a:r>
                <a:r>
                  <a:rPr lang="en-US" altLang="zh-CN" sz="2000">
                    <a:latin typeface="Arial" panose="020B0604020202020204" pitchFamily="34" charset="0"/>
                    <a:ea typeface="仿宋_GB2312" pitchFamily="49" charset="-122"/>
                  </a:rPr>
                  <a:t> </a:t>
                </a:r>
                <a:r>
                  <a:rPr lang="zh-CN" altLang="en-US" sz="2000">
                    <a:latin typeface="Arial" panose="020B0604020202020204" pitchFamily="34" charset="0"/>
                    <a:ea typeface="仿宋_GB2312" pitchFamily="49" charset="-122"/>
                  </a:rPr>
                  <a:t>选择通道</a:t>
                </a:r>
                <a:r>
                  <a:rPr lang="en-US" altLang="zh-CN" sz="2000">
                    <a:latin typeface="Arial" panose="020B0604020202020204" pitchFamily="34" charset="0"/>
                    <a:ea typeface="仿宋_GB2312" pitchFamily="49" charset="-122"/>
                  </a:rPr>
                  <a:t>2 </a:t>
                </a:r>
                <a:r>
                  <a:rPr lang="en-US" altLang="zh-CN" sz="2000">
                    <a:solidFill>
                      <a:srgbClr val="33CCCC"/>
                    </a:solidFill>
                    <a:latin typeface="Arial" panose="020B0604020202020204" pitchFamily="34" charset="0"/>
                    <a:ea typeface="仿宋_GB2312" pitchFamily="49" charset="-122"/>
                  </a:rPr>
                  <a:t>11 </a:t>
                </a:r>
                <a:r>
                  <a:rPr lang="en-US" altLang="zh-CN" sz="2000">
                    <a:latin typeface="Arial" panose="020B0604020202020204" pitchFamily="34" charset="0"/>
                    <a:ea typeface="仿宋_GB2312" pitchFamily="49" charset="-122"/>
                  </a:rPr>
                  <a:t> </a:t>
                </a:r>
                <a:r>
                  <a:rPr lang="zh-CN" altLang="en-US" sz="2000">
                    <a:latin typeface="Arial" panose="020B0604020202020204" pitchFamily="34" charset="0"/>
                    <a:ea typeface="仿宋_GB2312" pitchFamily="49" charset="-122"/>
                  </a:rPr>
                  <a:t>无效 </a:t>
                </a:r>
              </a:p>
            </p:txBody>
          </p:sp>
          <p:grpSp>
            <p:nvGrpSpPr>
              <p:cNvPr id="18477" name="组合 19501">
                <a:extLst>
                  <a:ext uri="{FF2B5EF4-FFF2-40B4-BE49-F238E27FC236}">
                    <a16:creationId xmlns:a16="http://schemas.microsoft.com/office/drawing/2014/main" id="{7C272F00-12F5-4631-B870-4A2B461C6E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15"/>
                <a:ext cx="45" cy="545"/>
                <a:chOff x="0" y="0"/>
                <a:chExt cx="45" cy="545"/>
              </a:xfrm>
            </p:grpSpPr>
            <p:sp>
              <p:nvSpPr>
                <p:cNvPr id="18478" name="直接连接符 19502">
                  <a:extLst>
                    <a:ext uri="{FF2B5EF4-FFF2-40B4-BE49-F238E27FC236}">
                      <a16:creationId xmlns:a16="http://schemas.microsoft.com/office/drawing/2014/main" id="{E44233FA-467B-4E5D-9CCB-A11C7BE2A3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0" y="0"/>
                  <a:ext cx="45" cy="4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479" name="直接连接符 19503">
                  <a:extLst>
                    <a:ext uri="{FF2B5EF4-FFF2-40B4-BE49-F238E27FC236}">
                      <a16:creationId xmlns:a16="http://schemas.microsoft.com/office/drawing/2014/main" id="{3E24BAE1-7AB3-4477-AC49-ACCCA57D48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0" y="46"/>
                  <a:ext cx="0" cy="45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480" name="直接连接符 19504">
                  <a:extLst>
                    <a:ext uri="{FF2B5EF4-FFF2-40B4-BE49-F238E27FC236}">
                      <a16:creationId xmlns:a16="http://schemas.microsoft.com/office/drawing/2014/main" id="{D96C8128-7729-4BA9-862A-A09A36897F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0" y="499"/>
                  <a:ext cx="45" cy="4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8481" name="直接连接符 19505">
              <a:extLst>
                <a:ext uri="{FF2B5EF4-FFF2-40B4-BE49-F238E27FC236}">
                  <a16:creationId xmlns:a16="http://schemas.microsoft.com/office/drawing/2014/main" id="{C6DB13A9-E6AA-4CAF-BC7C-F27B3B3ACE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" y="0"/>
              <a:ext cx="91" cy="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2" name="直接连接符 19506">
              <a:extLst>
                <a:ext uri="{FF2B5EF4-FFF2-40B4-BE49-F238E27FC236}">
                  <a16:creationId xmlns:a16="http://schemas.microsoft.com/office/drawing/2014/main" id="{F2C98DA7-BDD6-4E5C-8306-3473883A63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53" y="0"/>
              <a:ext cx="45" cy="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3" name="直接连接符 19507">
              <a:extLst>
                <a:ext uri="{FF2B5EF4-FFF2-40B4-BE49-F238E27FC236}">
                  <a16:creationId xmlns:a16="http://schemas.microsoft.com/office/drawing/2014/main" id="{B63568A1-CCE8-400B-ADAE-4F90C54B36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" y="90"/>
              <a:ext cx="8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4" name="直接连接符 19508">
              <a:extLst>
                <a:ext uri="{FF2B5EF4-FFF2-40B4-BE49-F238E27FC236}">
                  <a16:creationId xmlns:a16="http://schemas.microsoft.com/office/drawing/2014/main" id="{98A8B73C-A5DD-4175-AF13-135CE352C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4" y="90"/>
              <a:ext cx="0" cy="10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5" name="直接连接符 19509">
              <a:extLst>
                <a:ext uri="{FF2B5EF4-FFF2-40B4-BE49-F238E27FC236}">
                  <a16:creationId xmlns:a16="http://schemas.microsoft.com/office/drawing/2014/main" id="{67244B29-486B-402C-A9A2-EB292F04AD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0" y="1134"/>
              <a:ext cx="5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6" name="直接连接符 19510">
              <a:extLst>
                <a:ext uri="{FF2B5EF4-FFF2-40B4-BE49-F238E27FC236}">
                  <a16:creationId xmlns:a16="http://schemas.microsoft.com/office/drawing/2014/main" id="{78E96E57-2255-413F-AB23-B58260BAE7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134"/>
              <a:ext cx="0" cy="9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7" name="直接连接符 19511">
              <a:extLst>
                <a:ext uri="{FF2B5EF4-FFF2-40B4-BE49-F238E27FC236}">
                  <a16:creationId xmlns:a16="http://schemas.microsoft.com/office/drawing/2014/main" id="{0AF63E23-AFD0-44BA-AD06-6F1472F099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041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矩形 20481">
            <a:extLst>
              <a:ext uri="{FF2B5EF4-FFF2-40B4-BE49-F238E27FC236}">
                <a16:creationId xmlns:a16="http://schemas.microsoft.com/office/drawing/2014/main" id="{5B411A7B-8D9D-4CA6-952B-E1F128529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88913"/>
            <a:ext cx="7848600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28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三、初始化编程步骤和门控信号的功能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endParaRPr lang="zh-CN" altLang="en-US" sz="2800" b="1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1）初始化编程步骤：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24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① 写入控制字</a:t>
            </a:r>
          </a:p>
          <a:p>
            <a:pPr lvl="2" eaLnBrk="1" hangingPunct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</a:pPr>
            <a:r>
              <a:rPr lang="zh-CN" altLang="en-US" sz="2200">
                <a:latin typeface="楷体_GB2312" pitchFamily="49" charset="-122"/>
                <a:ea typeface="楷体_GB2312" pitchFamily="49" charset="-122"/>
              </a:rPr>
              <a:t>向控制字寄存器写入一个控制字，</a:t>
            </a:r>
            <a:r>
              <a:rPr lang="zh-CN" altLang="en-US" sz="22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选定计数器通道，规定该计数器的工作方式和计数格式</a:t>
            </a:r>
            <a:r>
              <a:rPr lang="zh-CN" altLang="en-US" sz="2200"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lvl="2" eaLnBrk="1" hangingPunct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</a:pPr>
            <a:r>
              <a:rPr lang="zh-CN" altLang="en-US" sz="2200">
                <a:latin typeface="楷体_GB2312" pitchFamily="49" charset="-122"/>
                <a:ea typeface="楷体_GB2312" pitchFamily="49" charset="-122"/>
              </a:rPr>
              <a:t>写入控制字还起到复位作用，使输出端OUT变为规定的初始状态，并使计数器电路清0。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  ② 写入计数初值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8位或16位，当写入16位初值时顺序为：</a:t>
            </a: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先低8位，后高8位。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endParaRPr lang="zh-CN" altLang="en-US" sz="2400" b="1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0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0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204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204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500"/>
                                        <p:tgtEl>
                                          <p:spTgt spid="204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矩形 21505">
            <a:extLst>
              <a:ext uri="{FF2B5EF4-FFF2-40B4-BE49-F238E27FC236}">
                <a16:creationId xmlns:a16="http://schemas.microsoft.com/office/drawing/2014/main" id="{317CF84F-A3DD-404E-9186-65562820B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88913"/>
            <a:ext cx="7848600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28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三、初始化编程步骤和门控信号的功能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1）初始化编程步骤</a:t>
            </a:r>
            <a:r>
              <a:rPr lang="zh-CN" altLang="en-US" sz="2800" b="1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——</a:t>
            </a:r>
            <a:r>
              <a:rPr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举例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</a:pPr>
            <a:r>
              <a:rPr lang="zh-CN" altLang="en-US" sz="28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【例如】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某微机系统的8253的3个计数器的端口地址分别为3F0H、3F2H和3F4H，控制字寄存器的端口地址为3F6H，要求8253的通道0工作于方式3，计数初值n＝1234H，则初始化程序为：</a:t>
            </a:r>
          </a:p>
          <a:p>
            <a:pPr lvl="2" eaLnBrk="1" hangingPunct="1">
              <a:spcBef>
                <a:spcPct val="20000"/>
              </a:spcBef>
              <a:buClr>
                <a:schemeClr val="tx1"/>
              </a:buClr>
            </a:pPr>
            <a:r>
              <a:rPr lang="zh-CN" altLang="en-US" sz="2000">
                <a:latin typeface="Arial" panose="020B0604020202020204" pitchFamily="34" charset="0"/>
              </a:rPr>
              <a:t>MOV	AL,	00110111B   ;控制字：通道0，读写高  </a:t>
            </a:r>
          </a:p>
          <a:p>
            <a:pPr lvl="2" eaLnBrk="1" hangingPunct="1">
              <a:spcBef>
                <a:spcPct val="20000"/>
              </a:spcBef>
              <a:buClr>
                <a:schemeClr val="tx1"/>
              </a:buClr>
            </a:pPr>
            <a:r>
              <a:rPr lang="zh-CN" altLang="en-US" sz="2000">
                <a:latin typeface="Arial" panose="020B0604020202020204" pitchFamily="34" charset="0"/>
              </a:rPr>
              <a:t>                                                ;低字节，方式3，BCD码计数</a:t>
            </a:r>
          </a:p>
          <a:p>
            <a:pPr lvl="2" eaLnBrk="1" hangingPunct="1">
              <a:spcBef>
                <a:spcPct val="20000"/>
              </a:spcBef>
              <a:buClr>
                <a:schemeClr val="tx1"/>
              </a:buClr>
            </a:pPr>
            <a:r>
              <a:rPr lang="zh-CN" altLang="en-US" sz="2000">
                <a:latin typeface="Arial" panose="020B0604020202020204" pitchFamily="34" charset="0"/>
              </a:rPr>
              <a:t>MOV	DX,	3F6H		;指向控制口</a:t>
            </a:r>
          </a:p>
          <a:p>
            <a:pPr lvl="2" eaLnBrk="1" hangingPunct="1">
              <a:spcBef>
                <a:spcPct val="20000"/>
              </a:spcBef>
              <a:buClr>
                <a:schemeClr val="tx1"/>
              </a:buClr>
            </a:pPr>
            <a:r>
              <a:rPr lang="zh-CN" altLang="en-US" sz="2000">
                <a:solidFill>
                  <a:srgbClr val="FF0000"/>
                </a:solidFill>
                <a:latin typeface="Arial" panose="020B0604020202020204" pitchFamily="34" charset="0"/>
              </a:rPr>
              <a:t>OUT</a:t>
            </a:r>
            <a:r>
              <a:rPr lang="zh-CN" altLang="en-US" sz="2000">
                <a:latin typeface="Arial" panose="020B0604020202020204" pitchFamily="34" charset="0"/>
              </a:rPr>
              <a:t>	DX,	AL		;送控制字</a:t>
            </a:r>
          </a:p>
          <a:p>
            <a:pPr lvl="2" eaLnBrk="1" hangingPunct="1">
              <a:spcBef>
                <a:spcPct val="20000"/>
              </a:spcBef>
              <a:buClr>
                <a:schemeClr val="tx1"/>
              </a:buClr>
            </a:pPr>
            <a:r>
              <a:rPr lang="zh-CN" altLang="en-US" sz="2000">
                <a:latin typeface="Arial" panose="020B0604020202020204" pitchFamily="34" charset="0"/>
              </a:rPr>
              <a:t>MOV	AL,	34H		;计数值低字节</a:t>
            </a:r>
          </a:p>
          <a:p>
            <a:pPr lvl="2" eaLnBrk="1" hangingPunct="1">
              <a:spcBef>
                <a:spcPct val="20000"/>
              </a:spcBef>
              <a:buClr>
                <a:schemeClr val="tx1"/>
              </a:buClr>
            </a:pPr>
            <a:r>
              <a:rPr lang="zh-CN" altLang="en-US" sz="2000">
                <a:latin typeface="Arial" panose="020B0604020202020204" pitchFamily="34" charset="0"/>
              </a:rPr>
              <a:t>MOV	DX,	3F0H		;指向计数器0端口</a:t>
            </a:r>
          </a:p>
          <a:p>
            <a:pPr lvl="2" eaLnBrk="1" hangingPunct="1">
              <a:spcBef>
                <a:spcPct val="20000"/>
              </a:spcBef>
              <a:buClr>
                <a:schemeClr val="tx1"/>
              </a:buClr>
            </a:pPr>
            <a:r>
              <a:rPr lang="zh-CN" altLang="en-US" sz="2000">
                <a:solidFill>
                  <a:srgbClr val="FF0000"/>
                </a:solidFill>
                <a:latin typeface="Arial" panose="020B0604020202020204" pitchFamily="34" charset="0"/>
              </a:rPr>
              <a:t>OUT</a:t>
            </a:r>
            <a:r>
              <a:rPr lang="zh-CN" altLang="en-US" sz="2000">
                <a:latin typeface="Arial" panose="020B0604020202020204" pitchFamily="34" charset="0"/>
              </a:rPr>
              <a:t>	DX,	AL		;先写入低字节</a:t>
            </a:r>
          </a:p>
          <a:p>
            <a:pPr lvl="2" eaLnBrk="1" hangingPunct="1">
              <a:spcBef>
                <a:spcPct val="20000"/>
              </a:spcBef>
              <a:buClr>
                <a:schemeClr val="tx1"/>
              </a:buClr>
            </a:pPr>
            <a:r>
              <a:rPr lang="zh-CN" altLang="en-US" sz="2000">
                <a:latin typeface="Arial" panose="020B0604020202020204" pitchFamily="34" charset="0"/>
              </a:rPr>
              <a:t>MOV	AL,	12H		;计数值高字节</a:t>
            </a:r>
          </a:p>
          <a:p>
            <a:pPr lvl="2" eaLnBrk="1" hangingPunct="1">
              <a:spcBef>
                <a:spcPct val="20000"/>
              </a:spcBef>
              <a:buClr>
                <a:schemeClr val="tx1"/>
              </a:buClr>
            </a:pPr>
            <a:r>
              <a:rPr lang="zh-CN" altLang="en-US" sz="2000">
                <a:solidFill>
                  <a:srgbClr val="FF0000"/>
                </a:solidFill>
                <a:latin typeface="Arial" panose="020B0604020202020204" pitchFamily="34" charset="0"/>
              </a:rPr>
              <a:t>OUT</a:t>
            </a:r>
            <a:r>
              <a:rPr lang="zh-CN" altLang="en-US" sz="2000">
                <a:latin typeface="Arial" panose="020B0604020202020204" pitchFamily="34" charset="0"/>
              </a:rPr>
              <a:t>	DX,	AL		;后写入高字节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9" dur="500"/>
                                        <p:tgtEl>
                                          <p:spTgt spid="215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215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500"/>
                                        <p:tgtEl>
                                          <p:spTgt spid="215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8" dur="500"/>
                                        <p:tgtEl>
                                          <p:spTgt spid="215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1" dur="500"/>
                                        <p:tgtEl>
                                          <p:spTgt spid="215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4" dur="500"/>
                                        <p:tgtEl>
                                          <p:spTgt spid="2150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矩形 22529">
            <a:extLst>
              <a:ext uri="{FF2B5EF4-FFF2-40B4-BE49-F238E27FC236}">
                <a16:creationId xmlns:a16="http://schemas.microsoft.com/office/drawing/2014/main" id="{57382790-0172-4163-BCA7-42923D8E6358}"/>
              </a:ext>
            </a:extLst>
          </p:cNvPr>
          <p:cNvSpPr/>
          <p:nvPr/>
        </p:nvSpPr>
        <p:spPr>
          <a:xfrm>
            <a:off x="684213" y="188913"/>
            <a:ext cx="7848600" cy="5905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 u="none" kern="1200" baseline="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2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noProof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三、初始化编程步骤和门控信号的功能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noProof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2） 门控信号控制功能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noProof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   </a:t>
            </a:r>
            <a:endParaRPr lang="zh-CN" altLang="en-US" noProof="1">
              <a:effectLst>
                <a:outerShdw blurRad="38100" dist="38100" dir="2700000">
                  <a:srgbClr val="C0C0C0"/>
                </a:outerShdw>
              </a:effectLst>
              <a:sym typeface="+mn-ea"/>
            </a:endParaRPr>
          </a:p>
        </p:txBody>
      </p:sp>
      <p:graphicFrame>
        <p:nvGraphicFramePr>
          <p:cNvPr id="22531" name="内容占位符 22530">
            <a:extLst>
              <a:ext uri="{FF2B5EF4-FFF2-40B4-BE49-F238E27FC236}">
                <a16:creationId xmlns:a16="http://schemas.microsoft.com/office/drawing/2014/main" id="{4A434956-4690-418C-A39F-B2EEECEA8C78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323850" y="1628775"/>
          <a:ext cx="8640763" cy="4138642"/>
        </p:xfrm>
        <a:graphic>
          <a:graphicData uri="http://schemas.openxmlformats.org/drawingml/2006/table">
            <a:tbl>
              <a:tblPr/>
              <a:tblGrid>
                <a:gridCol w="1427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6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27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工作方式</a:t>
                      </a:r>
                    </a:p>
                  </a:txBody>
                  <a:tcPr marL="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GATE为低电平或下降沿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GATE为上升沿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2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GATE为高电平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55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方式0</a:t>
                      </a:r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禁止计数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000">
                          <a:solidFill>
                            <a:srgbClr val="FF0066"/>
                          </a:solidFill>
                          <a:ea typeface="仿宋_GB2312" pitchFamily="49" charset="-122"/>
                        </a:rPr>
                        <a:t>——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允许计数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379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方式1</a:t>
                      </a:r>
                    </a:p>
                    <a:p>
                      <a:pPr marL="0" lvl="0" indent="0">
                        <a:buNone/>
                      </a:pPr>
                      <a:endParaRPr lang="zh-CN" altLang="en-US" sz="2000" dirty="0">
                        <a:ea typeface="仿宋_GB2312" pitchFamily="49" charset="-122"/>
                      </a:endParaRPr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——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从初值开始计数，下一个时钟后输出变为低电平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                        </a:t>
                      </a:r>
                    </a:p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——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79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方式2</a:t>
                      </a:r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禁止计数，使OUT变高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从初值开始计数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允许计数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284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方式3</a:t>
                      </a:r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禁止计数，使OUT变高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从初值开始计数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允许计数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20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方式4</a:t>
                      </a:r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禁止计数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000">
                          <a:solidFill>
                            <a:srgbClr val="FF0066"/>
                          </a:solidFill>
                          <a:ea typeface="仿宋_GB2312" pitchFamily="49" charset="-122"/>
                        </a:rPr>
                        <a:t>——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允许计数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1127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方式5</a:t>
                      </a:r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——  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仿宋_GB2312" pitchFamily="49" charset="-122"/>
                        </a:rPr>
                        <a:t>从初值开始计数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000">
                          <a:ea typeface="仿宋_GB2312" pitchFamily="49" charset="-122"/>
                        </a:rPr>
                        <a:t>——</a:t>
                      </a: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矩形 23553">
            <a:extLst>
              <a:ext uri="{FF2B5EF4-FFF2-40B4-BE49-F238E27FC236}">
                <a16:creationId xmlns:a16="http://schemas.microsoft.com/office/drawing/2014/main" id="{EB45A1AE-3CE0-4E4E-8665-52BB5EFD1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88913"/>
            <a:ext cx="7848600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四、8253的工作方式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5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1） 1．方式0</a:t>
            </a:r>
            <a:r>
              <a:rPr lang="zh-CN" altLang="en-US" sz="2500" b="1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——</a:t>
            </a:r>
            <a:r>
              <a:rPr lang="zh-CN" altLang="en-US" sz="25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计数结束中断方式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300" b="1">
                <a:latin typeface="楷体_GB2312" pitchFamily="49" charset="-122"/>
                <a:ea typeface="楷体_GB2312" pitchFamily="49" charset="-122"/>
              </a:rPr>
              <a:t>①初始化后，输出端OUT变为低电平。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300" b="1">
                <a:latin typeface="楷体_GB2312" pitchFamily="49" charset="-122"/>
                <a:ea typeface="楷体_GB2312" pitchFamily="49" charset="-122"/>
              </a:rPr>
              <a:t>②时钟CLK下降沿计数。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300" b="1">
                <a:latin typeface="楷体_GB2312" pitchFamily="49" charset="-122"/>
                <a:ea typeface="楷体_GB2312" pitchFamily="49" charset="-122"/>
              </a:rPr>
              <a:t>③在WRn的上升沿，n写入计数器初值寄存器。在WRn上升沿后的下一个时钟脉冲的下降沿时，才把初值装入的实际计数器中，开始计数。</a:t>
            </a:r>
            <a:r>
              <a:rPr lang="zh-CN" altLang="en-US" sz="23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有不大于一个时钟周期的延迟。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300" b="1">
                <a:latin typeface="楷体_GB2312" pitchFamily="49" charset="-122"/>
                <a:ea typeface="楷体_GB2312" pitchFamily="49" charset="-122"/>
              </a:rPr>
              <a:t>④经过</a:t>
            </a:r>
            <a:r>
              <a:rPr lang="zh-CN" altLang="en-US" sz="23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n～n+1个脉冲</a:t>
            </a:r>
            <a:r>
              <a:rPr lang="zh-CN" altLang="en-US" sz="2300" b="1">
                <a:latin typeface="楷体_GB2312" pitchFamily="49" charset="-122"/>
                <a:ea typeface="楷体_GB2312" pitchFamily="49" charset="-122"/>
              </a:rPr>
              <a:t>的时间后，计数器减为0，OUT引脚由低电平变成高电平。该信号可以接到8259A的中断请求输入端，</a:t>
            </a:r>
            <a:r>
              <a:rPr lang="zh-CN" altLang="en-US" sz="23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向CPU发中断请求信号</a:t>
            </a:r>
            <a:r>
              <a:rPr lang="zh-CN" altLang="en-US" sz="2300" b="1"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300" b="1">
                <a:latin typeface="楷体_GB2312" pitchFamily="49" charset="-122"/>
                <a:ea typeface="楷体_GB2312" pitchFamily="49" charset="-122"/>
              </a:rPr>
              <a:t>⑤方式0进行计数时，</a:t>
            </a:r>
            <a:r>
              <a:rPr lang="zh-CN" altLang="en-US" sz="23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计数器只计一遍</a:t>
            </a:r>
            <a:r>
              <a:rPr lang="zh-CN" altLang="en-US" sz="2300" b="1">
                <a:latin typeface="楷体_GB2312" pitchFamily="49" charset="-122"/>
                <a:ea typeface="楷体_GB2312" pitchFamily="49" charset="-122"/>
              </a:rPr>
              <a:t>。当计数完成后OUT引脚一直维持高电平，直到计数器再被初始化。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300" b="1">
                <a:latin typeface="楷体_GB2312" pitchFamily="49" charset="-122"/>
                <a:ea typeface="楷体_GB2312" pitchFamily="49" charset="-122"/>
              </a:rPr>
              <a:t>⑥ GATE门控：高电平允许计数，变为低时停止计数，变为高后继续在原来基础上计数。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矩形 24577">
            <a:extLst>
              <a:ext uri="{FF2B5EF4-FFF2-40B4-BE49-F238E27FC236}">
                <a16:creationId xmlns:a16="http://schemas.microsoft.com/office/drawing/2014/main" id="{AC9DC43B-F58F-429B-AB93-95F00D95D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88913"/>
            <a:ext cx="7848600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四、8253的工作方式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5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1） 1．方式0</a:t>
            </a:r>
            <a:r>
              <a:rPr lang="zh-CN" altLang="en-US" sz="2500" b="1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——</a:t>
            </a:r>
            <a:r>
              <a:rPr lang="zh-CN" altLang="en-US" sz="25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计数结束中断方式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5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     (Interrupt on Terminal Count)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endParaRPr lang="zh-CN" altLang="en-US" sz="2800" b="1">
              <a:solidFill>
                <a:srgbClr val="FFFF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21F73632-5C2A-4D9D-9355-9BAD2FDD7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59632" y="2276872"/>
            <a:ext cx="5911850" cy="3665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矩形 25601">
            <a:extLst>
              <a:ext uri="{FF2B5EF4-FFF2-40B4-BE49-F238E27FC236}">
                <a16:creationId xmlns:a16="http://schemas.microsoft.com/office/drawing/2014/main" id="{57EAD1B9-5D38-4E3A-9A61-286B9F567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88913"/>
            <a:ext cx="7848600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四、8253的工作方式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5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2） 方式1</a:t>
            </a:r>
            <a:r>
              <a:rPr lang="zh-CN" altLang="en-US" sz="2500" b="1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——</a:t>
            </a:r>
            <a:r>
              <a:rPr lang="zh-CN" altLang="en-US" sz="25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可编程单稳态输出方式(续)</a:t>
            </a:r>
          </a:p>
        </p:txBody>
      </p:sp>
      <p:sp>
        <p:nvSpPr>
          <p:cNvPr id="25603" name="文本框 25602">
            <a:extLst>
              <a:ext uri="{FF2B5EF4-FFF2-40B4-BE49-F238E27FC236}">
                <a16:creationId xmlns:a16="http://schemas.microsoft.com/office/drawing/2014/main" id="{FC03E9FE-B1CB-49B2-9196-3D47B2879B68}"/>
              </a:ext>
            </a:extLst>
          </p:cNvPr>
          <p:cNvSpPr txBox="1"/>
          <p:nvPr/>
        </p:nvSpPr>
        <p:spPr>
          <a:xfrm>
            <a:off x="550863" y="1130300"/>
            <a:ext cx="8353425" cy="5353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>
              <a:lnSpc>
                <a:spcPct val="140000"/>
              </a:lnSpc>
              <a:spcBef>
                <a:spcPct val="1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1.当CPU用控制字设定某计数器工作于方式1时，该计数器的输出OUT立即变为</a:t>
            </a:r>
            <a:r>
              <a:rPr lang="zh-CN" altLang="en-US" sz="220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高电平</a:t>
            </a: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。</a:t>
            </a:r>
          </a:p>
          <a:p>
            <a:pPr marL="342900" indent="-342900">
              <a:lnSpc>
                <a:spcPct val="140000"/>
              </a:lnSpc>
              <a:spcBef>
                <a:spcPct val="1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2.在这种方式下，在CPU装入计数值n后，无论GATE是高电平还是低电平，都不进行减1计数，必须等到</a:t>
            </a:r>
            <a:r>
              <a:rPr lang="zh-CN" altLang="en-US" sz="220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GATE由低电平向高电平跳变</a:t>
            </a: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，形成一个上升沿后，才能在</a:t>
            </a:r>
            <a:r>
              <a:rPr lang="zh-CN" altLang="en-US" sz="220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下一个时钟脉冲的下降沿</a:t>
            </a: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，将n装入计数器的执行部件，同时，输出端OUT由高电平向低电平跳变。</a:t>
            </a:r>
          </a:p>
          <a:p>
            <a:pPr marL="342900" indent="-342900">
              <a:lnSpc>
                <a:spcPct val="140000"/>
              </a:lnSpc>
              <a:spcBef>
                <a:spcPct val="1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3.以后，每来一个时钟脉冲，计数器就开始减1操作。</a:t>
            </a:r>
          </a:p>
          <a:p>
            <a:pPr marL="342900" indent="-342900">
              <a:lnSpc>
                <a:spcPct val="140000"/>
              </a:lnSpc>
              <a:spcBef>
                <a:spcPct val="1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4</a:t>
            </a:r>
            <a:r>
              <a:rPr lang="zh-CN" altLang="en-US" sz="2200" noProof="1">
                <a:solidFill>
                  <a:srgbClr val="FFCC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.</a:t>
            </a:r>
            <a:r>
              <a:rPr lang="zh-CN" altLang="en-US" sz="220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当计数器的值减为零时，输出端OUT产生由低到高的正跳变</a:t>
            </a: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。这样，就可在OUT引脚上得到一个负的单脉冲，</a:t>
            </a:r>
            <a:r>
              <a:rPr lang="zh-CN" altLang="en-US" sz="2200" noProof="1">
                <a:solidFill>
                  <a:srgbClr val="F91515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单脉冲的宽度</a:t>
            </a: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可由程序来控制，它</a:t>
            </a:r>
            <a:r>
              <a:rPr lang="zh-CN" altLang="en-US" sz="2200" noProof="1">
                <a:solidFill>
                  <a:srgbClr val="F91515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等于时钟脉冲的宽度乘以计数值n</a:t>
            </a: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矩形 26625">
            <a:extLst>
              <a:ext uri="{FF2B5EF4-FFF2-40B4-BE49-F238E27FC236}">
                <a16:creationId xmlns:a16="http://schemas.microsoft.com/office/drawing/2014/main" id="{0DC5B1D4-06BA-4851-8517-42CDD6CBC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88913"/>
            <a:ext cx="7848600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四、8253的工作方式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5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2） 方式1</a:t>
            </a:r>
            <a:r>
              <a:rPr lang="zh-CN" altLang="en-US" sz="2500" b="1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——</a:t>
            </a:r>
            <a:r>
              <a:rPr lang="zh-CN" altLang="en-US" sz="25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可编程单稳态输出方式（续）</a:t>
            </a:r>
          </a:p>
        </p:txBody>
      </p:sp>
      <p:sp>
        <p:nvSpPr>
          <p:cNvPr id="26627" name="文本框 26626">
            <a:extLst>
              <a:ext uri="{FF2B5EF4-FFF2-40B4-BE49-F238E27FC236}">
                <a16:creationId xmlns:a16="http://schemas.microsoft.com/office/drawing/2014/main" id="{D0038B1E-9E78-44EE-9103-F916BD1884B5}"/>
              </a:ext>
            </a:extLst>
          </p:cNvPr>
          <p:cNvSpPr txBox="1"/>
          <p:nvPr/>
        </p:nvSpPr>
        <p:spPr>
          <a:xfrm>
            <a:off x="395288" y="1628775"/>
            <a:ext cx="8353425" cy="290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>
              <a:lnSpc>
                <a:spcPct val="140000"/>
              </a:lnSpc>
              <a:spcBef>
                <a:spcPct val="1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200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5.在计数过程中，若GATE产生负跳变，不会影响计数过程的进行。但若在计数器回零前，GATE又产生从低到高的正跳变，则8253又将初值n装入计数器执行部件，重新开始计数，其结果会使输出的单脉冲宽度加宽。因此，</a:t>
            </a:r>
            <a:r>
              <a:rPr lang="zh-CN" altLang="en-US" sz="220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sym typeface="+mn-ea"/>
              </a:rPr>
              <a:t>只要计数器没有回零，利用GATE的上升沿可以多次触发计数器从n开始重新计数，直到计数器减为0时，OUT才回到高电平。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矩形 27649">
            <a:extLst>
              <a:ext uri="{FF2B5EF4-FFF2-40B4-BE49-F238E27FC236}">
                <a16:creationId xmlns:a16="http://schemas.microsoft.com/office/drawing/2014/main" id="{6EB0EAF3-2855-4F10-970B-6CCA7FC6E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88913"/>
            <a:ext cx="7848600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四、8253的工作方式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5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2） 方式1</a:t>
            </a:r>
            <a:r>
              <a:rPr lang="zh-CN" altLang="en-US" sz="2500" b="1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——</a:t>
            </a:r>
            <a:r>
              <a:rPr lang="zh-CN" altLang="en-US" sz="25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可编程单稳态输出方式</a:t>
            </a:r>
            <a:r>
              <a:rPr lang="zh-CN" altLang="en-US" sz="2500" b="1">
                <a:latin typeface="楷体_GB2312" pitchFamily="49" charset="-122"/>
                <a:ea typeface="楷体_GB2312" pitchFamily="49" charset="-122"/>
              </a:rPr>
              <a:t>(Programmable One-short) </a:t>
            </a: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F2B3E5AA-7EB5-480D-992A-9C77D8CDE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59632" y="2348880"/>
            <a:ext cx="5867400" cy="3176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矩形 28673">
            <a:extLst>
              <a:ext uri="{FF2B5EF4-FFF2-40B4-BE49-F238E27FC236}">
                <a16:creationId xmlns:a16="http://schemas.microsoft.com/office/drawing/2014/main" id="{47DFEEE4-FCCF-4049-AA37-F6DCB35C2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88913"/>
            <a:ext cx="7848600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四、8253的工作方式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5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方式0 VS 方式1</a:t>
            </a:r>
          </a:p>
        </p:txBody>
      </p:sp>
      <p:sp>
        <p:nvSpPr>
          <p:cNvPr id="28675" name="文本框 28674">
            <a:extLst>
              <a:ext uri="{FF2B5EF4-FFF2-40B4-BE49-F238E27FC236}">
                <a16:creationId xmlns:a16="http://schemas.microsoft.com/office/drawing/2014/main" id="{4B1080B8-24CD-4155-B915-5F3170B81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844675"/>
            <a:ext cx="7272337" cy="3600450"/>
          </a:xfrm>
          <a:prstGeom prst="rect">
            <a:avLst/>
          </a:prstGeom>
          <a:gradFill rotWithShape="1">
            <a:gsLst>
              <a:gs pos="0">
                <a:srgbClr val="339966"/>
              </a:gs>
              <a:gs pos="50000">
                <a:srgbClr val="18472F"/>
              </a:gs>
              <a:gs pos="100000">
                <a:srgbClr val="339966"/>
              </a:gs>
            </a:gsLst>
            <a:lin ang="5400000" scaled="1"/>
          </a:gra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zh-CN" altLang="en-US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方式</a:t>
            </a:r>
            <a:r>
              <a:rPr lang="en-US" altLang="zh-CN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和方式</a:t>
            </a:r>
            <a:r>
              <a:rPr lang="en-US" altLang="zh-CN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的比较：</a:t>
            </a:r>
          </a:p>
          <a:p>
            <a:endParaRPr lang="zh-CN" altLang="en-US" sz="2400">
              <a:solidFill>
                <a:srgbClr val="DDDDDD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相同点：</a:t>
            </a:r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都是单次计数</a:t>
            </a:r>
          </a:p>
          <a:p>
            <a:r>
              <a:rPr lang="zh-CN" altLang="en-US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不同点：</a:t>
            </a:r>
            <a:r>
              <a:rPr lang="en-US" altLang="zh-CN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、启动方式不同</a:t>
            </a:r>
          </a:p>
          <a:p>
            <a:r>
              <a:rPr lang="zh-CN" altLang="en-US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		方式</a:t>
            </a:r>
            <a:r>
              <a:rPr lang="en-US" altLang="zh-CN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由软件启动，方式</a:t>
            </a:r>
            <a:r>
              <a:rPr lang="en-US" altLang="zh-CN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由硬件启动</a:t>
            </a:r>
          </a:p>
          <a:p>
            <a:r>
              <a:rPr lang="zh-CN" altLang="en-US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	  </a:t>
            </a:r>
            <a:r>
              <a:rPr lang="en-US" altLang="zh-CN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GATE</a:t>
            </a:r>
            <a:r>
              <a:rPr lang="zh-CN" altLang="en-US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信号影响不同</a:t>
            </a:r>
          </a:p>
          <a:p>
            <a:r>
              <a:rPr lang="zh-CN" altLang="en-US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		方式</a:t>
            </a:r>
            <a:r>
              <a:rPr lang="en-US" altLang="zh-CN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在原基础上计数，方式</a:t>
            </a:r>
            <a:r>
              <a:rPr lang="en-US" altLang="zh-CN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重新计数</a:t>
            </a:r>
          </a:p>
          <a:p>
            <a:r>
              <a:rPr lang="zh-CN" altLang="en-US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	  </a:t>
            </a:r>
            <a:r>
              <a:rPr lang="en-US" altLang="zh-CN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OUT</a:t>
            </a:r>
            <a:r>
              <a:rPr lang="zh-CN" altLang="en-US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信号的初始状态不同</a:t>
            </a:r>
          </a:p>
          <a:p>
            <a:r>
              <a:rPr lang="zh-CN" altLang="en-US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		方式</a:t>
            </a:r>
            <a:r>
              <a:rPr lang="en-US" altLang="zh-CN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低电平，方式</a:t>
            </a:r>
            <a:r>
              <a:rPr lang="en-US" altLang="zh-CN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高电平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0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44" dur="500" autoRev="1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" dur="500" autoRev="1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6" dur="500" autoRev="1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0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48" dur="500" autoRev="1" fill="hold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" dur="500" autoRev="1" fill="hold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0" dur="500" autoRev="1" fill="hold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0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54" dur="500" autoRev="1" fill="hold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5" dur="500" autoRev="1" fill="hold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6" dur="500" autoRev="1" fill="hold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0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58" dur="500" autoRev="1" fill="hold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9" dur="500" autoRev="1" fill="hold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0" dur="500" autoRev="1" fill="hold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0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64" dur="500" autoRev="1" fill="hold"/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5" dur="500" autoRev="1" fill="hold"/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6" dur="500" autoRev="1" fill="hold"/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0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68" dur="500" autoRev="1" fill="hold"/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9" dur="500" autoRev="1" fill="hold"/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0" dur="500" autoRev="1" fill="hold"/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allAtOnce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矩形 29697">
            <a:extLst>
              <a:ext uri="{FF2B5EF4-FFF2-40B4-BE49-F238E27FC236}">
                <a16:creationId xmlns:a16="http://schemas.microsoft.com/office/drawing/2014/main" id="{4899C111-5D3B-464B-8D00-E5258255A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88913"/>
            <a:ext cx="7848600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四、8253的工作方式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5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3） 方式2 </a:t>
            </a:r>
            <a:r>
              <a:rPr lang="zh-CN" altLang="en-US" sz="2500" b="1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—</a:t>
            </a:r>
            <a:r>
              <a:rPr lang="zh-CN" altLang="en-US" sz="25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比率发生器(Rate Generator) </a:t>
            </a:r>
          </a:p>
        </p:txBody>
      </p:sp>
      <p:sp>
        <p:nvSpPr>
          <p:cNvPr id="28674" name="文本框 29698">
            <a:extLst>
              <a:ext uri="{FF2B5EF4-FFF2-40B4-BE49-F238E27FC236}">
                <a16:creationId xmlns:a16="http://schemas.microsoft.com/office/drawing/2014/main" id="{0C8754FA-CB9F-4BEC-A3F1-18D92692D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263650"/>
            <a:ext cx="8748712" cy="497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10000"/>
              </a:spcBef>
              <a:buClr>
                <a:srgbClr val="FFFF00"/>
              </a:buClr>
            </a:pP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1. 当输入控制字后，OUT端输出高电平。</a:t>
            </a: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buClr>
                <a:srgbClr val="FFFF00"/>
              </a:buClr>
            </a:pP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2. 如果GATE为高电平，则在写入计数值后的下一个时钟脉冲时，将计数值装入执行部件。</a:t>
            </a: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buClr>
                <a:srgbClr val="FFFF00"/>
              </a:buClr>
            </a:pP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3. 此后，计数器随着时钟脉冲的输入而递减计数。</a:t>
            </a:r>
            <a:r>
              <a:rPr lang="zh-CN" altLang="en-US" sz="22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当计数值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减为1</a:t>
            </a:r>
            <a:r>
              <a:rPr lang="zh-CN" altLang="en-US" sz="22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时，OUT端由高电平变为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低电平</a:t>
            </a:r>
            <a:r>
              <a:rPr lang="zh-CN" altLang="en-US" sz="22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，待计数器的值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减为0</a:t>
            </a:r>
            <a:r>
              <a:rPr lang="zh-CN" altLang="en-US" sz="22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时，OUT引脚又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回到高电平</a:t>
            </a:r>
            <a:r>
              <a:rPr lang="zh-CN" altLang="en-US" sz="22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，即低电乎的持续时间等于一个输入时钟周期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。与此同时，还将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计数初值重新装入计数器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，开始一个新的计数过程，并由此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循环计数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。</a:t>
            </a: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buClr>
                <a:srgbClr val="FFFF00"/>
              </a:buClr>
            </a:pP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4. 如果装入计数器的初值为n，那么在OUT引脚上，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每隔n个时钟脉冲就产生一个负脉冲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，其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宽度与时钟脉冲的周期相同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，频率为输入时钟脉冲频率的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n分之一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。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矩形 30721">
            <a:extLst>
              <a:ext uri="{FF2B5EF4-FFF2-40B4-BE49-F238E27FC236}">
                <a16:creationId xmlns:a16="http://schemas.microsoft.com/office/drawing/2014/main" id="{F0CB99BD-6F6F-4D61-9CCB-CB2CB9476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88913"/>
            <a:ext cx="7848600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四、8253的工作方式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5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3） 方式2 </a:t>
            </a:r>
            <a:r>
              <a:rPr lang="zh-CN" altLang="en-US" sz="2500" b="1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—</a:t>
            </a:r>
            <a:r>
              <a:rPr lang="zh-CN" altLang="en-US" sz="25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比率发生器(Rate Generator) </a:t>
            </a:r>
          </a:p>
        </p:txBody>
      </p:sp>
      <p:sp>
        <p:nvSpPr>
          <p:cNvPr id="29698" name="文本框 30722">
            <a:extLst>
              <a:ext uri="{FF2B5EF4-FFF2-40B4-BE49-F238E27FC236}">
                <a16:creationId xmlns:a16="http://schemas.microsoft.com/office/drawing/2014/main" id="{51EE0553-4DB6-4FED-80CD-A4AB1E9A0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628775"/>
            <a:ext cx="8281987" cy="307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50000"/>
              </a:spcBef>
              <a:buClr>
                <a:srgbClr val="FFFF00"/>
              </a:buClr>
            </a:pP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5. 任何时候都可由CPU重新写入新的计数值，不影响当前计数过程的进行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。一个计数周期结束后，8253将按新写入的计数值n进行计数。</a:t>
            </a:r>
          </a:p>
          <a:p>
            <a:pPr eaLnBrk="1" hangingPunct="1">
              <a:lnSpc>
                <a:spcPct val="140000"/>
              </a:lnSpc>
              <a:spcBef>
                <a:spcPct val="50000"/>
              </a:spcBef>
              <a:buClr>
                <a:srgbClr val="FFFF00"/>
              </a:buClr>
            </a:pP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6. 当GATE变为</a:t>
            </a:r>
            <a:r>
              <a:rPr lang="zh-CN" altLang="en-US" sz="2200" b="1">
                <a:latin typeface="Arial" panose="020B0604020202020204" pitchFamily="34" charset="0"/>
                <a:ea typeface="仿宋_GB2312" pitchFamily="49" charset="-122"/>
              </a:rPr>
              <a:t>低电平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时，使OUT变为高电平，</a:t>
            </a:r>
            <a:r>
              <a:rPr lang="zh-CN" altLang="en-US" sz="2200" b="1">
                <a:latin typeface="Arial" panose="020B0604020202020204" pitchFamily="34" charset="0"/>
                <a:ea typeface="仿宋_GB2312" pitchFamily="49" charset="-122"/>
              </a:rPr>
              <a:t>禁止计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数；当</a:t>
            </a:r>
            <a:r>
              <a:rPr lang="zh-CN" altLang="en-US" sz="22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GATE端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上升沿</a:t>
            </a:r>
            <a:r>
              <a:rPr lang="zh-CN" altLang="en-US" sz="2200" b="1">
                <a:latin typeface="Arial" panose="020B0604020202020204" pitchFamily="34" charset="0"/>
                <a:ea typeface="仿宋_GB2312" pitchFamily="49" charset="-122"/>
              </a:rPr>
              <a:t>产生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，则把预置的计数初值装入计数器，从初值开始递减计数，并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循环进行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矩形 31745">
            <a:extLst>
              <a:ext uri="{FF2B5EF4-FFF2-40B4-BE49-F238E27FC236}">
                <a16:creationId xmlns:a16="http://schemas.microsoft.com/office/drawing/2014/main" id="{02BF0C91-4D7F-4457-870E-8961CB428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88913"/>
            <a:ext cx="7848600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四、8253的工作方式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5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3） 方式2 </a:t>
            </a:r>
            <a:r>
              <a:rPr lang="zh-CN" altLang="en-US" sz="2500" b="1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—</a:t>
            </a:r>
            <a:r>
              <a:rPr lang="zh-CN" altLang="en-US" sz="25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比率发生器(Rate Generator)</a:t>
            </a:r>
            <a:r>
              <a:rPr lang="zh-CN" altLang="en-US" sz="25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FE71D78D-A8E7-4730-8DB1-158E14F53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9033" y="2276872"/>
            <a:ext cx="7512050" cy="2866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矩形 32769">
            <a:extLst>
              <a:ext uri="{FF2B5EF4-FFF2-40B4-BE49-F238E27FC236}">
                <a16:creationId xmlns:a16="http://schemas.microsoft.com/office/drawing/2014/main" id="{968A6603-5BD8-4368-804D-744FD52A6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88913"/>
            <a:ext cx="7848600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四、8253的工作方式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5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4） 方式3 </a:t>
            </a:r>
            <a:r>
              <a:rPr lang="zh-CN" altLang="en-US" sz="2500" b="1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—</a:t>
            </a:r>
            <a:r>
              <a:rPr lang="zh-CN" altLang="en-US" sz="25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方波发生器(Square Wave Generator)</a:t>
            </a:r>
            <a:r>
              <a:rPr lang="zh-CN" altLang="en-US" sz="25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endParaRPr lang="zh-CN" altLang="en-US" sz="2500" b="1">
              <a:solidFill>
                <a:srgbClr val="FFFF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1746" name="文本框 32770">
            <a:extLst>
              <a:ext uri="{FF2B5EF4-FFF2-40B4-BE49-F238E27FC236}">
                <a16:creationId xmlns:a16="http://schemas.microsoft.com/office/drawing/2014/main" id="{DDDCB625-C7A7-4149-AE45-F81D4DCA0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349500"/>
            <a:ext cx="8532812" cy="337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buClr>
                <a:srgbClr val="FFFF00"/>
              </a:buClr>
            </a:pP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1.  当输入控制字后，OUT端输出变为</a:t>
            </a:r>
            <a:r>
              <a:rPr lang="zh-CN" altLang="en-US" sz="22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高电平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。</a:t>
            </a:r>
          </a:p>
          <a:p>
            <a:pPr eaLnBrk="1" hangingPunct="1">
              <a:lnSpc>
                <a:spcPct val="140000"/>
              </a:lnSpc>
              <a:buClr>
                <a:srgbClr val="FFFF00"/>
              </a:buClr>
            </a:pP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2.  如果GATE为高电平，则在写入计数值后的下一个时钟脉冲时，将计数值装入执行部件，并开始计数。</a:t>
            </a:r>
          </a:p>
          <a:p>
            <a:pPr eaLnBrk="1" hangingPunct="1">
              <a:lnSpc>
                <a:spcPct val="140000"/>
              </a:lnSpc>
              <a:buClr>
                <a:srgbClr val="FFFF00"/>
              </a:buClr>
            </a:pP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3.  如果</a:t>
            </a:r>
            <a:r>
              <a:rPr lang="zh-CN" altLang="en-US" sz="22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写入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计数器的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初值为偶数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，则当8253进行计数时，每输入一个时钟脉冲，均使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计数值减2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。</a:t>
            </a:r>
          </a:p>
          <a:p>
            <a:pPr eaLnBrk="1" hangingPunct="1">
              <a:lnSpc>
                <a:spcPct val="140000"/>
              </a:lnSpc>
              <a:buClr>
                <a:srgbClr val="FFFF00"/>
              </a:buClr>
            </a:pPr>
            <a:r>
              <a:rPr lang="zh-CN" altLang="en-US" sz="2200" b="1">
                <a:latin typeface="Arial" panose="020B0604020202020204" pitchFamily="34" charset="0"/>
                <a:ea typeface="仿宋_GB2312" pitchFamily="49" charset="-122"/>
              </a:rPr>
              <a:t>4.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  计数值减为0时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，</a:t>
            </a:r>
            <a:r>
              <a:rPr lang="zh-CN" altLang="en-US" sz="22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OUT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输出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变成低电平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，同时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自动重新装入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初值重新计数，开始下一轮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循环计数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；</a:t>
            </a:r>
          </a:p>
        </p:txBody>
      </p:sp>
      <p:sp>
        <p:nvSpPr>
          <p:cNvPr id="31747" name="文本框 32771">
            <a:extLst>
              <a:ext uri="{FF2B5EF4-FFF2-40B4-BE49-F238E27FC236}">
                <a16:creationId xmlns:a16="http://schemas.microsoft.com/office/drawing/2014/main" id="{2288CE37-482E-4C1F-9DAA-FDA842514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320800"/>
            <a:ext cx="88931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       方式</a:t>
            </a:r>
            <a:r>
              <a:rPr lang="en-US" altLang="zh-CN" sz="2200">
                <a:latin typeface="Arial" panose="020B0604020202020204" pitchFamily="34" charset="0"/>
                <a:ea typeface="仿宋_GB2312" pitchFamily="49" charset="-122"/>
              </a:rPr>
              <a:t>3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和方式</a:t>
            </a:r>
            <a:r>
              <a:rPr lang="en-US" altLang="zh-CN" sz="2200">
                <a:latin typeface="Arial" panose="020B0604020202020204" pitchFamily="34" charset="0"/>
                <a:ea typeface="仿宋_GB2312" pitchFamily="49" charset="-122"/>
              </a:rPr>
              <a:t>2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的工作相类似，但从输出端得到的不是序列负脉冲，而是对称的方波或基本对称的矩形波。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矩形 33793">
            <a:extLst>
              <a:ext uri="{FF2B5EF4-FFF2-40B4-BE49-F238E27FC236}">
                <a16:creationId xmlns:a16="http://schemas.microsoft.com/office/drawing/2014/main" id="{88AF2492-0213-4BBF-B957-F1A5F4B5E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88913"/>
            <a:ext cx="7848600" cy="590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四、8253的工作方式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5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4） 方式3 </a:t>
            </a:r>
            <a:r>
              <a:rPr lang="zh-CN" altLang="en-US" sz="2500" b="1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—</a:t>
            </a:r>
            <a:r>
              <a:rPr lang="zh-CN" altLang="en-US" sz="25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方波发生器(Square Wave Generator)</a:t>
            </a:r>
            <a:r>
              <a:rPr lang="zh-CN" altLang="en-US" sz="25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endParaRPr lang="zh-CN" altLang="en-US" sz="2500" b="1">
              <a:solidFill>
                <a:srgbClr val="FFFF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2770" name="文本框 33794">
            <a:extLst>
              <a:ext uri="{FF2B5EF4-FFF2-40B4-BE49-F238E27FC236}">
                <a16:creationId xmlns:a16="http://schemas.microsoft.com/office/drawing/2014/main" id="{333C190D-8B74-4AD1-8567-21A7EBEA7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700" y="1143000"/>
            <a:ext cx="8750300" cy="536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FFFF00"/>
              </a:buClr>
            </a:pP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5. 如果写入计数器的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初值为奇数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，则当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OUT为高电平时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，第一个时钟脉冲使计数器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减1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，以后每来一个时钟脉冲，都使计数器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减2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，当计数值减为0时，输出端OUT由高电平变为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低电平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，同时自动重新装入计数初值继续进行计数。这时第一个时钟脉冲使计数器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减3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，以后每个时钟脉冲都使计数器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减2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，计数值减为0时，OUT端又回到高电平。</a:t>
            </a:r>
            <a:r>
              <a:rPr lang="zh-CN" altLang="en-US" sz="2200" b="1">
                <a:solidFill>
                  <a:srgbClr val="8AFB3D"/>
                </a:solidFill>
                <a:latin typeface="Arial" panose="020B0604020202020204" pitchFamily="34" charset="0"/>
                <a:ea typeface="仿宋_GB2312" pitchFamily="49" charset="-122"/>
              </a:rPr>
              <a:t>口诀：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高电平减1减2；低电平减3减2；高低电平之和等于n</a:t>
            </a:r>
          </a:p>
          <a:p>
            <a:pPr eaLnBrk="1" hangingPunct="1">
              <a:lnSpc>
                <a:spcPct val="120000"/>
              </a:lnSpc>
              <a:buClr>
                <a:srgbClr val="FFFF00"/>
              </a:buClr>
            </a:pP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6. 在计数过程中，若GATE变成低电平时，就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迫使OUT变为高电平，并禁止计数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，当GATE回到高电平时，重新从初值n开始进行计数。</a:t>
            </a:r>
          </a:p>
          <a:p>
            <a:pPr eaLnBrk="1" hangingPunct="1">
              <a:lnSpc>
                <a:spcPct val="120000"/>
              </a:lnSpc>
              <a:buClr>
                <a:srgbClr val="FFFF00"/>
              </a:buClr>
            </a:pP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7. 如果希望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改变输出方波的周期</a:t>
            </a:r>
            <a:r>
              <a:rPr lang="zh-CN" altLang="en-US" sz="22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，CPU</a:t>
            </a:r>
            <a:r>
              <a:rPr lang="zh-CN" altLang="en-US" sz="22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可在任何时侯重新装入新的计数初值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，在下一个计数周期就可按新的计数值计数，从而改变方波的周期。</a:t>
            </a:r>
          </a:p>
          <a:p>
            <a:pPr eaLnBrk="1" hangingPunct="1">
              <a:lnSpc>
                <a:spcPct val="120000"/>
              </a:lnSpc>
              <a:buClr>
                <a:srgbClr val="FFFF00"/>
              </a:buClr>
            </a:pP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8. 从OUT端输出的方波频率都等于时钟脉冲的频率除以计数初值。</a:t>
            </a:r>
          </a:p>
          <a:p>
            <a:pPr eaLnBrk="1" hangingPunct="1">
              <a:lnSpc>
                <a:spcPct val="120000"/>
              </a:lnSpc>
              <a:buClr>
                <a:srgbClr val="FFFF00"/>
              </a:buClr>
            </a:pPr>
            <a:endParaRPr lang="zh-CN" altLang="en-US" sz="2200">
              <a:latin typeface="Arial" panose="020B0604020202020204" pitchFamily="34" charset="0"/>
              <a:ea typeface="仿宋_GB2312" pitchFamily="49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矩形 34817">
            <a:extLst>
              <a:ext uri="{FF2B5EF4-FFF2-40B4-BE49-F238E27FC236}">
                <a16:creationId xmlns:a16="http://schemas.microsoft.com/office/drawing/2014/main" id="{EB297E1A-F410-4E35-AD26-564990863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88913"/>
            <a:ext cx="7848600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四、8253的工作方式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500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4） 方式3 </a:t>
            </a:r>
            <a:r>
              <a:rPr lang="zh-CN" altLang="en-US" sz="2500" b="1">
                <a:solidFill>
                  <a:schemeClr val="folHlink"/>
                </a:solidFill>
                <a:latin typeface="Arial" panose="020B0604020202020204" pitchFamily="34" charset="0"/>
                <a:ea typeface="楷体_GB2312" pitchFamily="49" charset="-122"/>
              </a:rPr>
              <a:t>—</a:t>
            </a:r>
            <a:r>
              <a:rPr lang="zh-CN" altLang="en-US" sz="2500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方波发生器(</a:t>
            </a:r>
            <a:r>
              <a:rPr lang="zh-CN" altLang="en-US" sz="25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Square Wave Generator)</a:t>
            </a:r>
            <a:r>
              <a:rPr lang="zh-CN" altLang="en-US" sz="25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endParaRPr lang="zh-CN" altLang="en-US" sz="2500" b="1">
              <a:solidFill>
                <a:srgbClr val="FFFF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3795" name="文本框 1">
            <a:extLst>
              <a:ext uri="{FF2B5EF4-FFF2-40B4-BE49-F238E27FC236}">
                <a16:creationId xmlns:a16="http://schemas.microsoft.com/office/drawing/2014/main" id="{81647CEC-07ED-47F6-93F2-DD9405D2B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4113" y="1255713"/>
            <a:ext cx="7497762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b="1">
                <a:latin typeface="Arial" panose="020B0604020202020204" pitchFamily="34" charset="0"/>
                <a:ea typeface="黑体" panose="02010609060101010101" pitchFamily="49" charset="-122"/>
              </a:rPr>
              <a:t>9. </a:t>
            </a:r>
            <a:r>
              <a:rPr lang="zh-CN" altLang="en-US" b="1">
                <a:solidFill>
                  <a:srgbClr val="FF0066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注意</a:t>
            </a:r>
            <a:r>
              <a:rPr lang="zh-CN" altLang="en-US">
                <a:latin typeface="Arial" panose="020B0604020202020204" pitchFamily="34" charset="0"/>
                <a:ea typeface="仿宋_GB2312" pitchFamily="49" charset="-122"/>
              </a:rPr>
              <a:t>：当写入的计数初值为偶数时，输出完全对称的方波，</a:t>
            </a:r>
          </a:p>
          <a:p>
            <a:pPr eaLnBrk="0" hangingPunct="0"/>
            <a:r>
              <a:rPr lang="zh-CN" altLang="en-US">
                <a:latin typeface="Arial" panose="020B0604020202020204" pitchFamily="34" charset="0"/>
                <a:ea typeface="仿宋_GB2312" pitchFamily="49" charset="-122"/>
              </a:rPr>
              <a:t>写入初值为奇数时，其输出波形的高电平宽度比低电平多一个时钟周期。 </a:t>
            </a:r>
            <a:endParaRPr lang="zh-CN" altLang="en-US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D21F2DF6-F594-4726-9B78-2D981977D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1187" y="2708920"/>
            <a:ext cx="7771432" cy="235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矩形 35841">
            <a:extLst>
              <a:ext uri="{FF2B5EF4-FFF2-40B4-BE49-F238E27FC236}">
                <a16:creationId xmlns:a16="http://schemas.microsoft.com/office/drawing/2014/main" id="{01560CA6-D4B8-4A87-8706-28CE192C3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60350"/>
            <a:ext cx="7848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四、8253的工作方式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5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方式2 VS 方式3</a:t>
            </a:r>
          </a:p>
        </p:txBody>
      </p:sp>
      <p:sp>
        <p:nvSpPr>
          <p:cNvPr id="35843" name="文本框 35842">
            <a:extLst>
              <a:ext uri="{FF2B5EF4-FFF2-40B4-BE49-F238E27FC236}">
                <a16:creationId xmlns:a16="http://schemas.microsoft.com/office/drawing/2014/main" id="{B64D9AAD-9C13-4FB4-AEA6-3B711617B4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773238"/>
            <a:ext cx="7272337" cy="2447925"/>
          </a:xfrm>
          <a:prstGeom prst="rect">
            <a:avLst/>
          </a:prstGeom>
          <a:gradFill rotWithShape="1">
            <a:gsLst>
              <a:gs pos="0">
                <a:srgbClr val="339966"/>
              </a:gs>
              <a:gs pos="50000">
                <a:srgbClr val="18472F"/>
              </a:gs>
              <a:gs pos="100000">
                <a:srgbClr val="339966"/>
              </a:gs>
            </a:gsLst>
            <a:lin ang="5400000" scaled="1"/>
          </a:gra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zh-CN" altLang="en-US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方式</a:t>
            </a:r>
            <a:r>
              <a:rPr lang="en-US" altLang="zh-CN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和方式</a:t>
            </a:r>
            <a:r>
              <a:rPr lang="en-US" altLang="zh-CN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的比较：</a:t>
            </a:r>
          </a:p>
          <a:p>
            <a:endParaRPr lang="zh-CN" altLang="en-US" sz="2400">
              <a:solidFill>
                <a:srgbClr val="DDDDDD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相同点：</a:t>
            </a:r>
            <a:r>
              <a:rPr lang="zh-CN" altLang="en-US" sz="24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都是多次计数，自动重装计数初始值</a:t>
            </a:r>
          </a:p>
          <a:p>
            <a:r>
              <a:rPr lang="zh-CN" altLang="en-US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不同点：输出形式不同</a:t>
            </a:r>
          </a:p>
          <a:p>
            <a:r>
              <a:rPr lang="zh-CN" altLang="en-US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		方式</a:t>
            </a:r>
            <a:r>
              <a:rPr lang="en-US" altLang="zh-CN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en-US" altLang="zh-CN" sz="2400">
                <a:solidFill>
                  <a:srgbClr val="DDDDDD"/>
                </a:solidFill>
                <a:ea typeface="楷体_GB2312" pitchFamily="49" charset="-122"/>
              </a:rPr>
              <a:t>——</a:t>
            </a:r>
            <a:r>
              <a:rPr lang="zh-CN" altLang="en-US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连续脉冲</a:t>
            </a:r>
          </a:p>
          <a:p>
            <a:r>
              <a:rPr lang="zh-CN" altLang="en-US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		方式</a:t>
            </a:r>
            <a:r>
              <a:rPr lang="en-US" altLang="zh-CN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en-US" altLang="zh-CN" sz="2400">
                <a:solidFill>
                  <a:srgbClr val="DDDDDD"/>
                </a:solidFill>
                <a:ea typeface="楷体_GB2312" pitchFamily="49" charset="-122"/>
              </a:rPr>
              <a:t>——</a:t>
            </a:r>
            <a:r>
              <a:rPr lang="zh-CN" altLang="en-US" sz="2400">
                <a:solidFill>
                  <a:srgbClr val="DDDDDD"/>
                </a:solidFill>
                <a:latin typeface="楷体_GB2312" pitchFamily="49" charset="-122"/>
                <a:ea typeface="楷体_GB2312" pitchFamily="49" charset="-122"/>
              </a:rPr>
              <a:t>连续方波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0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32" dur="500" autoRev="1" fill="hold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" dur="500" autoRev="1" fill="hold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" dur="500" autoRev="1" fill="hold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0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36" dur="500" autoRev="1" fill="hold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" dur="500" autoRev="1" fill="hold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" dur="500" autoRev="1" fill="hold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0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40" dur="500" autoRev="1" fill="hold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" dur="500" autoRev="1" fill="hold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2" dur="500" autoRev="1" fill="hold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allAtOnce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直接连接符 36865">
            <a:extLst>
              <a:ext uri="{FF2B5EF4-FFF2-40B4-BE49-F238E27FC236}">
                <a16:creationId xmlns:a16="http://schemas.microsoft.com/office/drawing/2014/main" id="{5A477343-6122-4362-9A59-CD28EBDF4352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2938" y="4005263"/>
            <a:ext cx="73025" cy="7143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42" name="直接连接符 36866">
            <a:extLst>
              <a:ext uri="{FF2B5EF4-FFF2-40B4-BE49-F238E27FC236}">
                <a16:creationId xmlns:a16="http://schemas.microsoft.com/office/drawing/2014/main" id="{85610D3D-6907-4B51-A1C8-7906750EB41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4797425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43" name="文本框 36867">
            <a:extLst>
              <a:ext uri="{FF2B5EF4-FFF2-40B4-BE49-F238E27FC236}">
                <a16:creationId xmlns:a16="http://schemas.microsoft.com/office/drawing/2014/main" id="{27A17D35-B818-47B0-865E-F527B6DDD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889000"/>
            <a:ext cx="8712200" cy="536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6575" indent="-536575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FFFF00"/>
              </a:buClr>
            </a:pP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1.    当对8253写入控制宇，进入工作方式4后，OUT端输出为</a:t>
            </a:r>
            <a:r>
              <a:rPr lang="zh-CN" altLang="en-US" sz="22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高电平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。</a:t>
            </a:r>
          </a:p>
          <a:p>
            <a:pPr eaLnBrk="1" hangingPunct="1">
              <a:lnSpc>
                <a:spcPct val="120000"/>
              </a:lnSpc>
              <a:buClr>
                <a:srgbClr val="FFFF00"/>
              </a:buClr>
            </a:pP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2.    如果GATE为高电平，那么，写入计数初值后，在下一个时钟脉冲后沿将自动把计数初值装入执行部件，并开始计数。</a:t>
            </a:r>
          </a:p>
          <a:p>
            <a:pPr eaLnBrk="1" hangingPunct="1">
              <a:lnSpc>
                <a:spcPct val="120000"/>
              </a:lnSpc>
              <a:buClr>
                <a:srgbClr val="FFFF00"/>
              </a:buClr>
            </a:pP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3.    当计数值成为0时，OUT端输出变低，经过一个时钟周期后，又回到高电平，形成一个负脉冲。</a:t>
            </a:r>
          </a:p>
          <a:p>
            <a:pPr eaLnBrk="1" hangingPunct="1">
              <a:lnSpc>
                <a:spcPct val="120000"/>
              </a:lnSpc>
              <a:buClr>
                <a:srgbClr val="FFFF00"/>
              </a:buClr>
            </a:pP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4.    用这种方法装入的计数</a:t>
            </a:r>
            <a:r>
              <a:rPr lang="zh-CN" altLang="en-US" sz="22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初值n仅一次有效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，若要继续进行计数，必须重新装入计数初值。</a:t>
            </a:r>
          </a:p>
          <a:p>
            <a:pPr eaLnBrk="1" hangingPunct="1">
              <a:lnSpc>
                <a:spcPct val="120000"/>
              </a:lnSpc>
              <a:buClr>
                <a:srgbClr val="FFFF00"/>
              </a:buClr>
            </a:pP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5.    若在计数过程中写入一个新的计数值，则在现行计数周期内不受影响，但当计数值回0后，将按新的计数初值进行计数，同样也只计一次。</a:t>
            </a:r>
          </a:p>
          <a:p>
            <a:pPr eaLnBrk="1" hangingPunct="1">
              <a:lnSpc>
                <a:spcPct val="120000"/>
              </a:lnSpc>
              <a:buClr>
                <a:srgbClr val="FFFF00"/>
              </a:buClr>
            </a:pP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6.    如果在计数的过程中GATE变为低电平，则停止计数，当GATE变为高电平后，又重新将初值装入计数器，从初值开始计数，直至计数器的值减为0时，从OUT端输出一个负脉冲。</a:t>
            </a:r>
          </a:p>
        </p:txBody>
      </p:sp>
      <p:sp>
        <p:nvSpPr>
          <p:cNvPr id="35844" name="矩形 36868">
            <a:extLst>
              <a:ext uri="{FF2B5EF4-FFF2-40B4-BE49-F238E27FC236}">
                <a16:creationId xmlns:a16="http://schemas.microsoft.com/office/drawing/2014/main" id="{B75F6CE5-02B2-4D11-8616-861227FCF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60350"/>
            <a:ext cx="43926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/>
          <a:p>
            <a:r>
              <a:rPr lang="en-US" altLang="zh-CN" sz="24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5</a:t>
            </a:r>
            <a:r>
              <a:rPr lang="zh-CN" altLang="en-US" sz="24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．方式</a:t>
            </a:r>
            <a:r>
              <a:rPr lang="en-US" altLang="zh-CN" sz="24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4——</a:t>
            </a:r>
            <a:r>
              <a:rPr lang="zh-CN" altLang="en-US" sz="24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软件触发选通</a:t>
            </a:r>
            <a:r>
              <a:rPr lang="en-US" altLang="zh-CN" sz="240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zh-CN" altLang="en-US" sz="240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续</a:t>
            </a:r>
            <a:r>
              <a:rPr lang="en-US" altLang="zh-CN" sz="240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直接连接符 37889">
            <a:extLst>
              <a:ext uri="{FF2B5EF4-FFF2-40B4-BE49-F238E27FC236}">
                <a16:creationId xmlns:a16="http://schemas.microsoft.com/office/drawing/2014/main" id="{26D8B7D3-88BA-4215-B858-472533C5D48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2938" y="4005263"/>
            <a:ext cx="73025" cy="7143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66" name="直接连接符 37890">
            <a:extLst>
              <a:ext uri="{FF2B5EF4-FFF2-40B4-BE49-F238E27FC236}">
                <a16:creationId xmlns:a16="http://schemas.microsoft.com/office/drawing/2014/main" id="{D59721D6-4822-4D79-BA4D-4F14EFDC0BF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4797425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67" name="矩形 37891">
            <a:extLst>
              <a:ext uri="{FF2B5EF4-FFF2-40B4-BE49-F238E27FC236}">
                <a16:creationId xmlns:a16="http://schemas.microsoft.com/office/drawing/2014/main" id="{731F46F1-F194-49CE-98E6-EC7CDDACB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33375"/>
            <a:ext cx="85328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/>
          <a:p>
            <a:r>
              <a:rPr lang="en-US" altLang="zh-CN" sz="24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5</a:t>
            </a:r>
            <a:r>
              <a:rPr lang="zh-CN" altLang="en-US" sz="24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．方式</a:t>
            </a:r>
            <a:r>
              <a:rPr lang="en-US" altLang="zh-CN" sz="24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4——</a:t>
            </a:r>
            <a:r>
              <a:rPr lang="zh-CN" altLang="en-US" sz="24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软件触发选通</a:t>
            </a:r>
            <a:r>
              <a:rPr lang="en-US" altLang="zh-CN" sz="240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(Software Triggered Strobe)</a:t>
            </a: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D4A6B5E7-7D8E-41FD-970E-300BCDC34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87624" y="1672905"/>
            <a:ext cx="6578600" cy="3512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直接连接符 38913">
            <a:extLst>
              <a:ext uri="{FF2B5EF4-FFF2-40B4-BE49-F238E27FC236}">
                <a16:creationId xmlns:a16="http://schemas.microsoft.com/office/drawing/2014/main" id="{B6C7D5C1-7601-46D1-AD8A-3EA75D3E775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2938" y="4005263"/>
            <a:ext cx="73025" cy="7143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0" name="直接连接符 38914">
            <a:extLst>
              <a:ext uri="{FF2B5EF4-FFF2-40B4-BE49-F238E27FC236}">
                <a16:creationId xmlns:a16="http://schemas.microsoft.com/office/drawing/2014/main" id="{DE55B3A0-4983-4249-A21C-4C67D6295D9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4797425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1" name="文本框 38915">
            <a:extLst>
              <a:ext uri="{FF2B5EF4-FFF2-40B4-BE49-F238E27FC236}">
                <a16:creationId xmlns:a16="http://schemas.microsoft.com/office/drawing/2014/main" id="{B6BC225F-2419-43B0-BA74-BF28D6A83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052513"/>
            <a:ext cx="8569325" cy="504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  <a:buClr>
                <a:srgbClr val="FFFF00"/>
              </a:buClr>
            </a:pP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1. 编程进入工作方式5后，OUT端输出高电平。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Clr>
                <a:srgbClr val="FFFF00"/>
              </a:buClr>
            </a:pP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2. 当装入计数值n后，不管GATE是高电平还是低电平，减1计数器都不会工作。一定要等到从GATE引脚上输入一个从</a:t>
            </a:r>
            <a:r>
              <a:rPr lang="zh-CN" altLang="en-US" sz="22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低到高的正跳变信号时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，才能在下一个时钟</a:t>
            </a:r>
            <a:r>
              <a:rPr lang="zh-CN" altLang="en-US" sz="22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脉冲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后沿把计数初值装入执行部件，并开始减1计数。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Clr>
                <a:srgbClr val="FFFF00"/>
              </a:buClr>
            </a:pP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3. 当计数器的值减为0时，输出端OUT产生一个宽度为一个时钟周期的负脉冲，然后OUT又回到高电平。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Clr>
                <a:srgbClr val="FFFF00"/>
              </a:buClr>
            </a:pP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4. 计数器回0后，8253又</a:t>
            </a:r>
            <a:r>
              <a:rPr lang="zh-CN" altLang="en-US" sz="22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自动将计数值n装入执行部件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，但并不开始计数，要等到GATE端输入正跳变后，才又开始减1计数。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Clr>
                <a:srgbClr val="FFFF00"/>
              </a:buClr>
            </a:pP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5. </a:t>
            </a:r>
            <a:r>
              <a:rPr lang="zh-CN" altLang="en-US" sz="22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计数器在计数过程中，不受门控信号GATE电平的影响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，但只要计数器未回0，</a:t>
            </a:r>
            <a:r>
              <a:rPr lang="zh-CN" altLang="en-US" sz="22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GATE的上升沿却能多次触发计数器</a:t>
            </a:r>
            <a:r>
              <a:rPr lang="zh-CN" altLang="en-US" sz="2200">
                <a:latin typeface="Arial" panose="020B0604020202020204" pitchFamily="34" charset="0"/>
                <a:ea typeface="仿宋_GB2312" pitchFamily="49" charset="-122"/>
              </a:rPr>
              <a:t>，使它重新从计数初值n开始计数，直到计数值减为0时，才输出一个负脉冲。</a:t>
            </a:r>
          </a:p>
        </p:txBody>
      </p:sp>
      <p:sp>
        <p:nvSpPr>
          <p:cNvPr id="37892" name="矩形 38916">
            <a:extLst>
              <a:ext uri="{FF2B5EF4-FFF2-40B4-BE49-F238E27FC236}">
                <a16:creationId xmlns:a16="http://schemas.microsoft.com/office/drawing/2014/main" id="{927B9F40-62B8-4EEC-8BF7-5F4994670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33375"/>
            <a:ext cx="85328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/>
          <a:p>
            <a:r>
              <a:rPr lang="en-US" altLang="zh-CN" sz="24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6</a:t>
            </a:r>
            <a:r>
              <a:rPr lang="zh-CN" altLang="en-US" sz="24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．方式</a:t>
            </a:r>
            <a:r>
              <a:rPr lang="en-US" altLang="zh-CN" sz="24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5 — </a:t>
            </a:r>
            <a:r>
              <a:rPr lang="zh-CN" altLang="en-US" sz="2400" b="1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硬件触发选通</a:t>
            </a:r>
            <a:r>
              <a:rPr lang="en-US" altLang="zh-CN" sz="240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(Hardware Triggered Strobe) </a:t>
            </a: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直接连接符 39937">
            <a:extLst>
              <a:ext uri="{FF2B5EF4-FFF2-40B4-BE49-F238E27FC236}">
                <a16:creationId xmlns:a16="http://schemas.microsoft.com/office/drawing/2014/main" id="{340B3DF6-9CED-4B9C-9E92-C6BBB55A913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2938" y="4005263"/>
            <a:ext cx="73025" cy="7143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14" name="直接连接符 39938">
            <a:extLst>
              <a:ext uri="{FF2B5EF4-FFF2-40B4-BE49-F238E27FC236}">
                <a16:creationId xmlns:a16="http://schemas.microsoft.com/office/drawing/2014/main" id="{0D8C87B1-AD30-451D-8800-3C878D1BA7B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4797425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15" name="矩形 39939">
            <a:extLst>
              <a:ext uri="{FF2B5EF4-FFF2-40B4-BE49-F238E27FC236}">
                <a16:creationId xmlns:a16="http://schemas.microsoft.com/office/drawing/2014/main" id="{D4F9B60F-0126-45E7-A40F-9607D6C70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33375"/>
            <a:ext cx="83534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/>
          <a:p>
            <a:r>
              <a:rPr lang="en-US" altLang="zh-CN" sz="2400" b="1">
                <a:solidFill>
                  <a:srgbClr val="FFFF00"/>
                </a:solidFill>
                <a:latin typeface="Arial" panose="020B0604020202020204" pitchFamily="34" charset="0"/>
                <a:ea typeface="仿宋_GB2312" pitchFamily="49" charset="-122"/>
              </a:rPr>
              <a:t>6</a:t>
            </a:r>
            <a:r>
              <a:rPr lang="zh-CN" altLang="en-US" sz="2400" b="1">
                <a:solidFill>
                  <a:srgbClr val="FFFF00"/>
                </a:solidFill>
                <a:latin typeface="Arial" panose="020B0604020202020204" pitchFamily="34" charset="0"/>
                <a:ea typeface="仿宋_GB2312" pitchFamily="49" charset="-122"/>
              </a:rPr>
              <a:t>．方式</a:t>
            </a:r>
            <a:r>
              <a:rPr lang="en-US" altLang="zh-CN" sz="2400" b="1">
                <a:solidFill>
                  <a:srgbClr val="FFFF00"/>
                </a:solidFill>
                <a:latin typeface="Arial" panose="020B0604020202020204" pitchFamily="34" charset="0"/>
                <a:ea typeface="仿宋_GB2312" pitchFamily="49" charset="-122"/>
              </a:rPr>
              <a:t>5——</a:t>
            </a:r>
            <a:r>
              <a:rPr lang="zh-CN" altLang="en-US" sz="2400" b="1">
                <a:solidFill>
                  <a:srgbClr val="FFFF00"/>
                </a:solidFill>
                <a:latin typeface="Arial" panose="020B0604020202020204" pitchFamily="34" charset="0"/>
                <a:ea typeface="仿宋_GB2312" pitchFamily="49" charset="-122"/>
              </a:rPr>
              <a:t>硬件触发选通（续）</a:t>
            </a:r>
            <a:endParaRPr lang="zh-CN" altLang="en-US" sz="2000">
              <a:solidFill>
                <a:srgbClr val="FFFF00"/>
              </a:solidFill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38916" name="文本框 39940">
            <a:extLst>
              <a:ext uri="{FF2B5EF4-FFF2-40B4-BE49-F238E27FC236}">
                <a16:creationId xmlns:a16="http://schemas.microsoft.com/office/drawing/2014/main" id="{689AE46F-AC6C-49C9-95D4-943C66492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981075"/>
            <a:ext cx="8353425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zh-CN" altLang="en-US" sz="2000">
                <a:latin typeface="Arial" panose="020B0604020202020204" pitchFamily="34" charset="0"/>
                <a:ea typeface="仿宋_GB2312" pitchFamily="49" charset="-122"/>
              </a:rPr>
              <a:t>6.  如果在计数过程中写入新的计数值，但没有触发脉冲，则计数过程不受影响。当计数器的值减为0后，GATE端又输入正跳变触发脉冲时，将按新写入的初值进行计数。 </a:t>
            </a: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7168D4DE-C5BE-4146-A2AC-2ED58F22C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16409" y="2708920"/>
            <a:ext cx="7111181" cy="293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矩形 41985">
            <a:extLst>
              <a:ext uri="{FF2B5EF4-FFF2-40B4-BE49-F238E27FC236}">
                <a16:creationId xmlns:a16="http://schemas.microsoft.com/office/drawing/2014/main" id="{472467FD-FFB2-434C-9A8C-565D7C376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88913"/>
            <a:ext cx="7848600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四、8253的工作方式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5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方式4 VS 方式5</a:t>
            </a:r>
          </a:p>
        </p:txBody>
      </p:sp>
      <p:sp>
        <p:nvSpPr>
          <p:cNvPr id="41987" name="文本框 41986">
            <a:extLst>
              <a:ext uri="{FF2B5EF4-FFF2-40B4-BE49-F238E27FC236}">
                <a16:creationId xmlns:a16="http://schemas.microsoft.com/office/drawing/2014/main" id="{61A28247-2066-4340-B41D-893367F92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" y="1844675"/>
            <a:ext cx="7993063" cy="3960813"/>
          </a:xfrm>
          <a:prstGeom prst="rect">
            <a:avLst/>
          </a:prstGeom>
          <a:gradFill rotWithShape="1">
            <a:gsLst>
              <a:gs pos="0">
                <a:srgbClr val="339966"/>
              </a:gs>
              <a:gs pos="50000">
                <a:srgbClr val="18472F"/>
              </a:gs>
              <a:gs pos="100000">
                <a:srgbClr val="339966"/>
              </a:gs>
            </a:gsLst>
            <a:lin ang="5400000" scaled="1"/>
          </a:gra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zh-CN" altLang="en-US" sz="240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方式</a:t>
            </a:r>
            <a:r>
              <a:rPr lang="en-US" altLang="zh-CN" sz="240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40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和方式</a:t>
            </a:r>
            <a:r>
              <a:rPr lang="en-US" altLang="zh-CN" sz="240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40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的比较：</a:t>
            </a:r>
          </a:p>
          <a:p>
            <a:endParaRPr lang="zh-CN" altLang="en-US" sz="2400"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240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相同点：</a:t>
            </a:r>
            <a:r>
              <a:rPr lang="zh-CN" altLang="en-US" sz="24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单次计数，输出单脉冲（负脉冲），</a:t>
            </a:r>
          </a:p>
          <a:p>
            <a:r>
              <a:rPr lang="zh-CN" altLang="en-US" sz="24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	  脉冲宽度不可调（</a:t>
            </a:r>
            <a:r>
              <a:rPr lang="en-US" altLang="zh-CN" sz="24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个时钟宽度）</a:t>
            </a:r>
          </a:p>
          <a:p>
            <a:r>
              <a:rPr lang="zh-CN" altLang="en-US" sz="240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不同点：启动方式不同</a:t>
            </a:r>
          </a:p>
          <a:p>
            <a:r>
              <a:rPr lang="zh-CN" altLang="en-US" sz="240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		方式</a:t>
            </a:r>
            <a:r>
              <a:rPr lang="en-US" altLang="zh-CN" sz="240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en-US" altLang="zh-CN" sz="2400">
                <a:solidFill>
                  <a:schemeClr val="bg2"/>
                </a:solidFill>
                <a:ea typeface="楷体_GB2312" pitchFamily="49" charset="-122"/>
              </a:rPr>
              <a:t>——</a:t>
            </a:r>
            <a:r>
              <a:rPr lang="zh-CN" altLang="en-US" sz="240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软件启动</a:t>
            </a:r>
          </a:p>
          <a:p>
            <a:r>
              <a:rPr lang="zh-CN" altLang="en-US" sz="240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		方式</a:t>
            </a:r>
            <a:r>
              <a:rPr lang="en-US" altLang="zh-CN" sz="240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en-US" altLang="zh-CN" sz="2400">
                <a:solidFill>
                  <a:schemeClr val="bg2"/>
                </a:solidFill>
                <a:ea typeface="楷体_GB2312" pitchFamily="49" charset="-122"/>
              </a:rPr>
              <a:t>——</a:t>
            </a:r>
            <a:r>
              <a:rPr lang="zh-CN" altLang="en-US" sz="240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硬件启动（</a:t>
            </a:r>
            <a:r>
              <a:rPr lang="en-US" altLang="zh-CN" sz="240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GATE</a:t>
            </a:r>
            <a:r>
              <a:rPr lang="zh-CN" altLang="en-US" sz="240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控制）</a:t>
            </a:r>
          </a:p>
          <a:p>
            <a:r>
              <a:rPr lang="zh-CN" altLang="en-US" sz="240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	  计数过程中</a:t>
            </a:r>
            <a:r>
              <a:rPr lang="en-US" altLang="zh-CN" sz="240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GATE</a:t>
            </a:r>
            <a:r>
              <a:rPr lang="zh-CN" altLang="en-US" sz="240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的影响方式不同</a:t>
            </a:r>
          </a:p>
          <a:p>
            <a:r>
              <a:rPr lang="zh-CN" altLang="en-US" sz="240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		方式</a:t>
            </a:r>
            <a:r>
              <a:rPr lang="en-US" altLang="zh-CN" sz="240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en-US" altLang="zh-CN" sz="2400">
                <a:solidFill>
                  <a:schemeClr val="bg2"/>
                </a:solidFill>
                <a:ea typeface="楷体_GB2312" pitchFamily="49" charset="-122"/>
              </a:rPr>
              <a:t>——</a:t>
            </a:r>
            <a:r>
              <a:rPr lang="en-US" altLang="zh-CN" sz="240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GATE</a:t>
            </a:r>
            <a:r>
              <a:rPr lang="zh-CN" altLang="en-US" sz="240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低电平停止，高电平重新计数</a:t>
            </a:r>
          </a:p>
          <a:p>
            <a:r>
              <a:rPr lang="zh-CN" altLang="en-US" sz="240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		方式</a:t>
            </a:r>
            <a:r>
              <a:rPr lang="en-US" altLang="zh-CN" sz="240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en-US" altLang="zh-CN" sz="2400">
                <a:solidFill>
                  <a:schemeClr val="bg2"/>
                </a:solidFill>
                <a:ea typeface="楷体_GB2312" pitchFamily="49" charset="-122"/>
              </a:rPr>
              <a:t>——</a:t>
            </a:r>
            <a:r>
              <a:rPr lang="en-US" altLang="zh-CN" sz="240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GATE</a:t>
            </a:r>
            <a:r>
              <a:rPr lang="zh-CN" altLang="en-US" sz="240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上升沿触发重新计数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0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48" dur="500" autoRev="1" fill="hold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" dur="500" autoRev="1" fill="hold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0" dur="500" autoRev="1" fill="hold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0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52" dur="500" autoRev="1" fill="hold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" dur="500" autoRev="1" fill="hold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" dur="500" autoRev="1" fill="hold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0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56" dur="500" autoRev="1" fill="hold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7" dur="500" autoRev="1" fill="hold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8" dur="500" autoRev="1" fill="hold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0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62" dur="500" autoRev="1" fill="hold"/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3" dur="500" autoRev="1" fill="hold"/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4" dur="500" autoRev="1" fill="hold"/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0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66" dur="500" autoRev="1" fill="hold"/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7" dur="500" autoRev="1" fill="hold"/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8" dur="500" autoRev="1" fill="hold"/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0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70" dur="500" autoRev="1" fill="hold"/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1" dur="500" autoRev="1" fill="hold"/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2" dur="500" autoRev="1" fill="hold"/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allAtOnce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直接连接符 43009">
            <a:extLst>
              <a:ext uri="{FF2B5EF4-FFF2-40B4-BE49-F238E27FC236}">
                <a16:creationId xmlns:a16="http://schemas.microsoft.com/office/drawing/2014/main" id="{D50C86D9-09AB-458F-B0E0-9651C0100299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2938" y="4005263"/>
            <a:ext cx="73025" cy="7143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86" name="直接连接符 43010">
            <a:extLst>
              <a:ext uri="{FF2B5EF4-FFF2-40B4-BE49-F238E27FC236}">
                <a16:creationId xmlns:a16="http://schemas.microsoft.com/office/drawing/2014/main" id="{71C11B2C-9B97-4706-B616-1B460A90A35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4797425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87" name="矩形 43011">
            <a:extLst>
              <a:ext uri="{FF2B5EF4-FFF2-40B4-BE49-F238E27FC236}">
                <a16:creationId xmlns:a16="http://schemas.microsoft.com/office/drawing/2014/main" id="{B6A4064B-EF63-4799-B2C1-61A3DEEDC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54000"/>
            <a:ext cx="40322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/>
          <a:p>
            <a:r>
              <a:rPr lang="en-US" altLang="zh-CN" sz="2400" b="1">
                <a:solidFill>
                  <a:srgbClr val="FFFF00"/>
                </a:solidFill>
                <a:latin typeface="Arial" panose="020B0604020202020204" pitchFamily="34" charset="0"/>
                <a:ea typeface="仿宋_GB2312" pitchFamily="49" charset="-122"/>
              </a:rPr>
              <a:t>7</a:t>
            </a:r>
            <a:r>
              <a:rPr lang="zh-CN" altLang="en-US" sz="2400" b="1">
                <a:solidFill>
                  <a:srgbClr val="FFFF00"/>
                </a:solidFill>
                <a:latin typeface="Arial" panose="020B0604020202020204" pitchFamily="34" charset="0"/>
                <a:ea typeface="仿宋_GB2312" pitchFamily="49" charset="-122"/>
              </a:rPr>
              <a:t>．各种方式的主要特点</a:t>
            </a:r>
            <a:endParaRPr lang="zh-CN" altLang="en-US" sz="2000">
              <a:solidFill>
                <a:srgbClr val="FFFF00"/>
              </a:solidFill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41988" name="文本框 43012">
            <a:extLst>
              <a:ext uri="{FF2B5EF4-FFF2-40B4-BE49-F238E27FC236}">
                <a16:creationId xmlns:a16="http://schemas.microsoft.com/office/drawing/2014/main" id="{229EB64B-A37D-4956-A050-D59BCDAB8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357563"/>
            <a:ext cx="8424862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buFont typeface="Arial" panose="020B0604020202020204" pitchFamily="34" charset="0"/>
              <a:buAutoNum type="circleNumDbPlain" startAt="5"/>
            </a:pPr>
            <a:r>
              <a:rPr lang="zh-CN" altLang="en-US" sz="20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方式</a:t>
            </a:r>
            <a:r>
              <a:rPr lang="en-US" altLang="zh-CN" sz="20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4</a:t>
            </a:r>
            <a:r>
              <a:rPr lang="zh-CN" altLang="en-US" sz="20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、方式</a:t>
            </a:r>
            <a:r>
              <a:rPr lang="en-US" altLang="zh-CN" sz="20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5</a:t>
            </a:r>
            <a:r>
              <a:rPr lang="zh-CN" altLang="en-US" sz="2000" b="1">
                <a:latin typeface="Arial" panose="020B0604020202020204" pitchFamily="34" charset="0"/>
                <a:ea typeface="仿宋_GB2312" pitchFamily="49" charset="-122"/>
              </a:rPr>
              <a:t>：</a:t>
            </a:r>
            <a:r>
              <a:rPr lang="zh-CN" altLang="en-US" sz="2000">
                <a:latin typeface="Arial" panose="020B0604020202020204" pitchFamily="34" charset="0"/>
                <a:ea typeface="仿宋_GB2312" pitchFamily="49" charset="-122"/>
              </a:rPr>
              <a:t>波形相同，都在计数器回</a:t>
            </a:r>
            <a:r>
              <a:rPr lang="en-US" altLang="zh-CN" sz="2000">
                <a:latin typeface="Arial" panose="020B0604020202020204" pitchFamily="34" charset="0"/>
                <a:ea typeface="仿宋_GB2312" pitchFamily="49" charset="-122"/>
              </a:rPr>
              <a:t>0</a:t>
            </a:r>
            <a:r>
              <a:rPr lang="zh-CN" altLang="en-US" sz="2000">
                <a:latin typeface="Arial" panose="020B0604020202020204" pitchFamily="34" charset="0"/>
                <a:ea typeface="仿宋_GB2312" pitchFamily="49" charset="-122"/>
              </a:rPr>
              <a:t>后，从</a:t>
            </a:r>
            <a:r>
              <a:rPr lang="en-US" altLang="zh-CN" sz="2000">
                <a:latin typeface="Arial" panose="020B0604020202020204" pitchFamily="34" charset="0"/>
                <a:ea typeface="仿宋_GB2312" pitchFamily="49" charset="-122"/>
              </a:rPr>
              <a:t>OUT</a:t>
            </a:r>
            <a:r>
              <a:rPr lang="zh-CN" altLang="en-US" sz="2000">
                <a:latin typeface="Arial" panose="020B0604020202020204" pitchFamily="34" charset="0"/>
                <a:ea typeface="仿宋_GB2312" pitchFamily="49" charset="-122"/>
              </a:rPr>
              <a:t>端输出一个负脉冲，其宽度等于一个时钟周期。但方式</a:t>
            </a:r>
            <a:r>
              <a:rPr lang="en-US" altLang="zh-CN" sz="2000">
                <a:latin typeface="Arial" panose="020B0604020202020204" pitchFamily="34" charset="0"/>
                <a:ea typeface="仿宋_GB2312" pitchFamily="49" charset="-122"/>
              </a:rPr>
              <a:t>4</a:t>
            </a:r>
            <a:r>
              <a:rPr lang="zh-CN" altLang="en-US" sz="2000">
                <a:latin typeface="Arial" panose="020B0604020202020204" pitchFamily="34" charset="0"/>
                <a:ea typeface="仿宋_GB2312" pitchFamily="49" charset="-122"/>
              </a:rPr>
              <a:t>由软件</a:t>
            </a:r>
            <a:r>
              <a:rPr lang="en-US" altLang="zh-CN" sz="2000">
                <a:latin typeface="Arial" panose="020B0604020202020204" pitchFamily="34" charset="0"/>
                <a:ea typeface="仿宋_GB2312" pitchFamily="49" charset="-122"/>
              </a:rPr>
              <a:t>(</a:t>
            </a:r>
            <a:r>
              <a:rPr lang="zh-CN" altLang="en-US" sz="2000">
                <a:latin typeface="Arial" panose="020B0604020202020204" pitchFamily="34" charset="0"/>
                <a:ea typeface="仿宋_GB2312" pitchFamily="49" charset="-122"/>
              </a:rPr>
              <a:t>设置计数值</a:t>
            </a:r>
            <a:r>
              <a:rPr lang="en-US" altLang="zh-CN" sz="2000">
                <a:latin typeface="Arial" panose="020B0604020202020204" pitchFamily="34" charset="0"/>
                <a:ea typeface="仿宋_GB2312" pitchFamily="49" charset="-122"/>
              </a:rPr>
              <a:t>)</a:t>
            </a:r>
            <a:r>
              <a:rPr lang="zh-CN" altLang="en-US" sz="2000">
                <a:latin typeface="Arial" panose="020B0604020202020204" pitchFamily="34" charset="0"/>
                <a:ea typeface="仿宋_GB2312" pitchFamily="49" charset="-122"/>
              </a:rPr>
              <a:t>触发计数，而方式</a:t>
            </a:r>
            <a:r>
              <a:rPr lang="en-US" altLang="zh-CN" sz="2000">
                <a:latin typeface="Arial" panose="020B0604020202020204" pitchFamily="34" charset="0"/>
                <a:ea typeface="仿宋_GB2312" pitchFamily="49" charset="-122"/>
              </a:rPr>
              <a:t>5</a:t>
            </a:r>
            <a:r>
              <a:rPr lang="zh-CN" altLang="en-US" sz="2000">
                <a:latin typeface="Arial" panose="020B0604020202020204" pitchFamily="34" charset="0"/>
                <a:ea typeface="仿宋_GB2312" pitchFamily="49" charset="-122"/>
              </a:rPr>
              <a:t>由硬件</a:t>
            </a:r>
            <a:r>
              <a:rPr lang="en-US" altLang="zh-CN" sz="2000">
                <a:latin typeface="Arial" panose="020B0604020202020204" pitchFamily="34" charset="0"/>
                <a:ea typeface="仿宋_GB2312" pitchFamily="49" charset="-122"/>
              </a:rPr>
              <a:t>(</a:t>
            </a:r>
            <a:r>
              <a:rPr lang="zh-CN" altLang="en-US" sz="2000">
                <a:latin typeface="Arial" panose="020B0604020202020204" pitchFamily="34" charset="0"/>
                <a:ea typeface="仿宋_GB2312" pitchFamily="49" charset="-122"/>
              </a:rPr>
              <a:t>门控信号</a:t>
            </a:r>
            <a:r>
              <a:rPr lang="en-US" altLang="zh-CN" sz="2000">
                <a:latin typeface="Arial" panose="020B0604020202020204" pitchFamily="34" charset="0"/>
                <a:ea typeface="仿宋_GB2312" pitchFamily="49" charset="-122"/>
              </a:rPr>
              <a:t>GATE)</a:t>
            </a:r>
            <a:r>
              <a:rPr lang="zh-CN" altLang="en-US" sz="2000">
                <a:latin typeface="Arial" panose="020B0604020202020204" pitchFamily="34" charset="0"/>
                <a:ea typeface="仿宋_GB2312" pitchFamily="49" charset="-122"/>
              </a:rPr>
              <a:t>触发计数。</a:t>
            </a:r>
          </a:p>
          <a:p>
            <a:pPr eaLnBrk="1" hangingPunct="1">
              <a:lnSpc>
                <a:spcPct val="140000"/>
              </a:lnSpc>
              <a:buFont typeface="Arial" panose="020B0604020202020204" pitchFamily="34" charset="0"/>
              <a:buAutoNum type="circleNumDbPlain" startAt="5"/>
            </a:pPr>
            <a:r>
              <a:rPr lang="zh-CN" altLang="en-US" sz="20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这</a:t>
            </a:r>
            <a:r>
              <a:rPr lang="en-US" altLang="zh-CN" sz="20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6</a:t>
            </a:r>
            <a:r>
              <a:rPr lang="zh-CN" altLang="en-US" sz="20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种工作</a:t>
            </a:r>
            <a:r>
              <a:rPr lang="zh-CN" altLang="en-US" sz="2000">
                <a:latin typeface="Arial" panose="020B0604020202020204" pitchFamily="34" charset="0"/>
                <a:ea typeface="仿宋_GB2312" pitchFamily="49" charset="-122"/>
              </a:rPr>
              <a:t>方式中，方式0、1和4，计数初值装进计数器后，仅一次有效。如果要通道再次按此方式工作，必须重新装入计数值。对于方式2、3和5，在减1计数到0值后，8353会自动将计数值重装进计数器。</a:t>
            </a:r>
          </a:p>
        </p:txBody>
      </p:sp>
      <p:sp>
        <p:nvSpPr>
          <p:cNvPr id="41989" name="文本框 43013">
            <a:extLst>
              <a:ext uri="{FF2B5EF4-FFF2-40B4-BE49-F238E27FC236}">
                <a16:creationId xmlns:a16="http://schemas.microsoft.com/office/drawing/2014/main" id="{2BC00D5D-E473-4944-82F7-CC4705134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765175"/>
            <a:ext cx="8353425" cy="265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buFont typeface="Arial" panose="020B0604020202020204" pitchFamily="34" charset="0"/>
              <a:buAutoNum type="circleNumDbPlain"/>
            </a:pPr>
            <a:r>
              <a:rPr lang="zh-CN" altLang="en-US" sz="20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方式</a:t>
            </a:r>
            <a:r>
              <a:rPr lang="en-US" altLang="zh-CN" sz="20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0</a:t>
            </a:r>
            <a:r>
              <a:rPr lang="zh-CN" altLang="en-US" sz="2000" b="1">
                <a:latin typeface="Arial" panose="020B0604020202020204" pitchFamily="34" charset="0"/>
                <a:ea typeface="仿宋_GB2312" pitchFamily="49" charset="-122"/>
              </a:rPr>
              <a:t>：</a:t>
            </a:r>
            <a:r>
              <a:rPr lang="zh-CN" altLang="en-US" sz="2000">
                <a:latin typeface="Arial" panose="020B0604020202020204" pitchFamily="34" charset="0"/>
                <a:ea typeface="仿宋_GB2312" pitchFamily="49" charset="-122"/>
              </a:rPr>
              <a:t>在写入控制字后，输出端即变低，计数结束后，输出端由低变高，</a:t>
            </a:r>
            <a:r>
              <a:rPr lang="zh-CN" altLang="en-US" sz="2000" b="1">
                <a:solidFill>
                  <a:srgbClr val="FF1F1F"/>
                </a:solidFill>
                <a:latin typeface="Arial" panose="020B0604020202020204" pitchFamily="34" charset="0"/>
                <a:ea typeface="仿宋_GB2312" pitchFamily="49" charset="-122"/>
              </a:rPr>
              <a:t>常用该输出信号作为中断源</a:t>
            </a:r>
            <a:r>
              <a:rPr lang="zh-CN" altLang="en-US" sz="2000">
                <a:latin typeface="Arial" panose="020B0604020202020204" pitchFamily="34" charset="0"/>
                <a:ea typeface="仿宋_GB2312" pitchFamily="49" charset="-122"/>
              </a:rPr>
              <a:t>。也可实现定时或对外部事件进行计数。</a:t>
            </a:r>
            <a:r>
              <a:rPr lang="zh-CN" altLang="en-US" sz="20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其余</a:t>
            </a:r>
            <a:r>
              <a:rPr lang="en-US" altLang="zh-CN" sz="20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5</a:t>
            </a:r>
            <a:r>
              <a:rPr lang="zh-CN" altLang="en-US" sz="20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种方式写入控制字后，输出均变高。</a:t>
            </a:r>
          </a:p>
          <a:p>
            <a:pPr eaLnBrk="1" hangingPunct="1">
              <a:lnSpc>
                <a:spcPct val="140000"/>
              </a:lnSpc>
              <a:buFont typeface="Arial" panose="020B0604020202020204" pitchFamily="34" charset="0"/>
              <a:buAutoNum type="circleNumDbPlain"/>
            </a:pPr>
            <a:r>
              <a:rPr lang="zh-CN" altLang="en-US" sz="20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方式</a:t>
            </a:r>
            <a:r>
              <a:rPr lang="en-US" altLang="zh-CN" sz="20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1</a:t>
            </a:r>
            <a:r>
              <a:rPr lang="zh-CN" altLang="en-US" sz="2000" b="1">
                <a:latin typeface="Arial" panose="020B0604020202020204" pitchFamily="34" charset="0"/>
                <a:ea typeface="仿宋_GB2312" pitchFamily="49" charset="-122"/>
              </a:rPr>
              <a:t>：</a:t>
            </a:r>
            <a:r>
              <a:rPr lang="zh-CN" altLang="en-US" sz="2000">
                <a:latin typeface="Arial" panose="020B0604020202020204" pitchFamily="34" charset="0"/>
                <a:ea typeface="仿宋_GB2312" pitchFamily="49" charset="-122"/>
              </a:rPr>
              <a:t>用来产生</a:t>
            </a:r>
            <a:r>
              <a:rPr lang="zh-CN" altLang="en-US" sz="200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单脉冲（脉冲宽度可变）</a:t>
            </a:r>
            <a:r>
              <a:rPr lang="zh-CN" altLang="en-US" sz="2000">
                <a:latin typeface="Arial" panose="020B0604020202020204" pitchFamily="34" charset="0"/>
                <a:ea typeface="仿宋_GB2312" pitchFamily="49" charset="-122"/>
              </a:rPr>
              <a:t>，硬件控制（</a:t>
            </a:r>
            <a:r>
              <a:rPr lang="en-US" altLang="zh-CN" sz="2000">
                <a:latin typeface="Arial" panose="020B0604020202020204" pitchFamily="34" charset="0"/>
                <a:ea typeface="仿宋_GB2312" pitchFamily="49" charset="-122"/>
              </a:rPr>
              <a:t>GATE</a:t>
            </a:r>
            <a:r>
              <a:rPr lang="zh-CN" altLang="en-US" sz="2000">
                <a:latin typeface="Arial" panose="020B0604020202020204" pitchFamily="34" charset="0"/>
                <a:ea typeface="仿宋_GB2312" pitchFamily="49" charset="-122"/>
              </a:rPr>
              <a:t>）启动。</a:t>
            </a:r>
          </a:p>
          <a:p>
            <a:pPr eaLnBrk="1" hangingPunct="1">
              <a:lnSpc>
                <a:spcPct val="140000"/>
              </a:lnSpc>
              <a:buFont typeface="Arial" panose="020B0604020202020204" pitchFamily="34" charset="0"/>
              <a:buAutoNum type="circleNumDbPlain"/>
            </a:pPr>
            <a:r>
              <a:rPr lang="zh-CN" altLang="en-US" sz="20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方式</a:t>
            </a:r>
            <a:r>
              <a:rPr lang="en-US" altLang="zh-CN" sz="20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2</a:t>
            </a:r>
            <a:r>
              <a:rPr lang="zh-CN" altLang="en-US" sz="2000">
                <a:latin typeface="Arial" panose="020B0604020202020204" pitchFamily="34" charset="0"/>
                <a:ea typeface="仿宋_GB2312" pitchFamily="49" charset="-122"/>
              </a:rPr>
              <a:t>：用来产生序列负脉冲，每个负脉冲宽度与</a:t>
            </a:r>
            <a:r>
              <a:rPr lang="en-US" altLang="zh-CN" sz="2000">
                <a:latin typeface="Arial" panose="020B0604020202020204" pitchFamily="34" charset="0"/>
                <a:ea typeface="仿宋_GB2312" pitchFamily="49" charset="-122"/>
              </a:rPr>
              <a:t>CLK</a:t>
            </a:r>
            <a:r>
              <a:rPr lang="zh-CN" altLang="en-US" sz="2000">
                <a:latin typeface="Arial" panose="020B0604020202020204" pitchFamily="34" charset="0"/>
                <a:ea typeface="仿宋_GB2312" pitchFamily="49" charset="-122"/>
              </a:rPr>
              <a:t>脉冲的周期相同。</a:t>
            </a:r>
          </a:p>
          <a:p>
            <a:pPr eaLnBrk="1" hangingPunct="1">
              <a:lnSpc>
                <a:spcPct val="140000"/>
              </a:lnSpc>
              <a:buFont typeface="Arial" panose="020B0604020202020204" pitchFamily="34" charset="0"/>
              <a:buAutoNum type="circleNumDbPlain"/>
            </a:pPr>
            <a:r>
              <a:rPr lang="zh-CN" altLang="en-US" sz="20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方式</a:t>
            </a:r>
            <a:r>
              <a:rPr lang="en-US" altLang="zh-CN" sz="2000" b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3</a:t>
            </a:r>
            <a:r>
              <a:rPr lang="zh-CN" altLang="en-US" sz="2000" b="1">
                <a:latin typeface="Arial" panose="020B0604020202020204" pitchFamily="34" charset="0"/>
                <a:ea typeface="仿宋_GB2312" pitchFamily="49" charset="-122"/>
              </a:rPr>
              <a:t>：</a:t>
            </a:r>
            <a:r>
              <a:rPr lang="zh-CN" altLang="en-US" sz="2000">
                <a:latin typeface="Arial" panose="020B0604020202020204" pitchFamily="34" charset="0"/>
                <a:ea typeface="仿宋_GB2312" pitchFamily="49" charset="-122"/>
              </a:rPr>
              <a:t>产生连续方波。方式</a:t>
            </a:r>
            <a:r>
              <a:rPr lang="en-US" altLang="zh-CN" sz="2000">
                <a:latin typeface="Arial" panose="020B0604020202020204" pitchFamily="34" charset="0"/>
                <a:ea typeface="仿宋_GB2312" pitchFamily="49" charset="-122"/>
              </a:rPr>
              <a:t>2</a:t>
            </a:r>
            <a:r>
              <a:rPr lang="zh-CN" altLang="en-US" sz="2000">
                <a:latin typeface="Arial" panose="020B0604020202020204" pitchFamily="34" charset="0"/>
                <a:ea typeface="仿宋_GB2312" pitchFamily="49" charset="-122"/>
              </a:rPr>
              <a:t>和方式</a:t>
            </a:r>
            <a:r>
              <a:rPr lang="en-US" altLang="zh-CN" sz="2000">
                <a:latin typeface="Arial" panose="020B0604020202020204" pitchFamily="34" charset="0"/>
                <a:ea typeface="仿宋_GB2312" pitchFamily="49" charset="-122"/>
              </a:rPr>
              <a:t>3</a:t>
            </a:r>
            <a:r>
              <a:rPr lang="zh-CN" altLang="en-US" sz="2000">
                <a:latin typeface="Arial" panose="020B0604020202020204" pitchFamily="34" charset="0"/>
                <a:ea typeface="仿宋_GB2312" pitchFamily="49" charset="-122"/>
              </a:rPr>
              <a:t>都实现对时钟脉冲进行</a:t>
            </a:r>
            <a:r>
              <a:rPr lang="en-US" altLang="zh-CN" sz="2000">
                <a:latin typeface="Arial" panose="020B0604020202020204" pitchFamily="34" charset="0"/>
                <a:ea typeface="仿宋_GB2312" pitchFamily="49" charset="-122"/>
              </a:rPr>
              <a:t>n</a:t>
            </a:r>
            <a:r>
              <a:rPr lang="zh-CN" altLang="en-US" sz="2000">
                <a:latin typeface="Arial" panose="020B0604020202020204" pitchFamily="34" charset="0"/>
                <a:ea typeface="仿宋_GB2312" pitchFamily="49" charset="-122"/>
              </a:rPr>
              <a:t>分频。</a:t>
            </a:r>
          </a:p>
        </p:txBody>
      </p:sp>
      <p:sp>
        <p:nvSpPr>
          <p:cNvPr id="41990" name="文本框 1">
            <a:extLst>
              <a:ext uri="{FF2B5EF4-FFF2-40B4-BE49-F238E27FC236}">
                <a16:creationId xmlns:a16="http://schemas.microsoft.com/office/drawing/2014/main" id="{04B20E29-0C1F-4B11-AD59-2AC7A42F5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6350" y="6432550"/>
            <a:ext cx="9318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latin typeface="Arial" panose="020B0604020202020204" pitchFamily="34" charset="0"/>
                <a:ea typeface="仿宋_GB2312" pitchFamily="49" charset="-122"/>
              </a:rPr>
              <a:t>接</a:t>
            </a:r>
            <a:r>
              <a:rPr lang="en-US" altLang="zh-CN">
                <a:latin typeface="Arial" panose="020B0604020202020204" pitchFamily="34" charset="0"/>
                <a:ea typeface="仿宋_GB2312" pitchFamily="49" charset="-122"/>
              </a:rPr>
              <a:t>part2</a:t>
            </a: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直接连接符 43009">
            <a:extLst>
              <a:ext uri="{FF2B5EF4-FFF2-40B4-BE49-F238E27FC236}">
                <a16:creationId xmlns:a16="http://schemas.microsoft.com/office/drawing/2014/main" id="{BB392003-7945-4995-83F7-1EF138C2234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2938" y="4005263"/>
            <a:ext cx="73025" cy="7143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0" name="直接连接符 43010">
            <a:extLst>
              <a:ext uri="{FF2B5EF4-FFF2-40B4-BE49-F238E27FC236}">
                <a16:creationId xmlns:a16="http://schemas.microsoft.com/office/drawing/2014/main" id="{4B06E8E7-4960-44FE-90CC-CA5305764AB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4797425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1" name="矩形 43011">
            <a:extLst>
              <a:ext uri="{FF2B5EF4-FFF2-40B4-BE49-F238E27FC236}">
                <a16:creationId xmlns:a16="http://schemas.microsoft.com/office/drawing/2014/main" id="{3A299B70-892A-47AD-8C5D-EB7A01C2D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54000"/>
            <a:ext cx="40322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/>
          <a:p>
            <a:r>
              <a:rPr lang="en-US" altLang="zh-CN" sz="2400" b="1">
                <a:solidFill>
                  <a:srgbClr val="FFFF00"/>
                </a:solidFill>
                <a:latin typeface="Arial" panose="020B0604020202020204" pitchFamily="34" charset="0"/>
                <a:ea typeface="仿宋_GB2312" pitchFamily="49" charset="-122"/>
              </a:rPr>
              <a:t>7</a:t>
            </a:r>
            <a:r>
              <a:rPr lang="zh-CN" altLang="en-US" sz="2400" b="1">
                <a:solidFill>
                  <a:srgbClr val="FFFF00"/>
                </a:solidFill>
                <a:latin typeface="Arial" panose="020B0604020202020204" pitchFamily="34" charset="0"/>
                <a:ea typeface="仿宋_GB2312" pitchFamily="49" charset="-122"/>
              </a:rPr>
              <a:t>．各种方式的主要特点</a:t>
            </a:r>
            <a:endParaRPr lang="zh-CN" altLang="en-US" sz="2000">
              <a:solidFill>
                <a:srgbClr val="FFFF00"/>
              </a:solidFill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43012" name="文本框 1">
            <a:extLst>
              <a:ext uri="{FF2B5EF4-FFF2-40B4-BE49-F238E27FC236}">
                <a16:creationId xmlns:a16="http://schemas.microsoft.com/office/drawing/2014/main" id="{0287DFBE-5B52-4F65-86AA-553BCB782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6350" y="6432550"/>
            <a:ext cx="9318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latin typeface="Arial" panose="020B0604020202020204" pitchFamily="34" charset="0"/>
                <a:ea typeface="仿宋_GB2312" pitchFamily="49" charset="-122"/>
              </a:rPr>
              <a:t>接</a:t>
            </a:r>
            <a:r>
              <a:rPr lang="en-US" altLang="zh-CN">
                <a:latin typeface="Arial" panose="020B0604020202020204" pitchFamily="34" charset="0"/>
                <a:ea typeface="仿宋_GB2312" pitchFamily="49" charset="-122"/>
              </a:rPr>
              <a:t>part2</a:t>
            </a:r>
          </a:p>
        </p:txBody>
      </p:sp>
      <p:sp>
        <p:nvSpPr>
          <p:cNvPr id="2" name="文本框 43012">
            <a:extLst>
              <a:ext uri="{FF2B5EF4-FFF2-40B4-BE49-F238E27FC236}">
                <a16:creationId xmlns:a16="http://schemas.microsoft.com/office/drawing/2014/main" id="{AB4AB9D2-8457-4F83-AC5F-A281ED067CDE}"/>
              </a:ext>
            </a:extLst>
          </p:cNvPr>
          <p:cNvSpPr txBox="1"/>
          <p:nvPr/>
        </p:nvSpPr>
        <p:spPr>
          <a:xfrm>
            <a:off x="360363" y="1362075"/>
            <a:ext cx="8424862" cy="2676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457200" indent="-457200">
              <a:lnSpc>
                <a:spcPct val="140000"/>
              </a:lnSpc>
              <a:buFont typeface="+mj-ea"/>
              <a:buAutoNum type="circleNumDbPlain" startAt="7"/>
              <a:defRPr/>
            </a:pPr>
            <a:r>
              <a:rPr lang="zh-CN" altLang="en-US" sz="2000" b="1" noProof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启动方式：</a:t>
            </a:r>
            <a:r>
              <a:rPr lang="zh-CN" altLang="en-US" sz="2000" noProof="1">
                <a:latin typeface="Arial" panose="020B0604020202020204" pitchFamily="34" charset="0"/>
                <a:ea typeface="仿宋_GB2312" pitchFamily="49" charset="-122"/>
              </a:rPr>
              <a:t>软件启动：</a:t>
            </a:r>
            <a:r>
              <a:rPr lang="zh-CN" altLang="en-US" sz="2000" noProof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方式</a:t>
            </a:r>
            <a:r>
              <a:rPr lang="en-US" altLang="zh-CN" sz="2000" noProof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0</a:t>
            </a:r>
            <a:r>
              <a:rPr lang="zh-CN" altLang="en-US" sz="2000" noProof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、</a:t>
            </a:r>
            <a:r>
              <a:rPr lang="en-US" altLang="zh-CN" sz="2000" noProof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2</a:t>
            </a:r>
            <a:r>
              <a:rPr lang="zh-CN" altLang="en-US" sz="2000" noProof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、</a:t>
            </a:r>
            <a:r>
              <a:rPr lang="en-US" altLang="zh-CN" sz="2000" noProof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3</a:t>
            </a:r>
            <a:r>
              <a:rPr lang="zh-CN" altLang="en-US" sz="2000" noProof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、</a:t>
            </a:r>
            <a:r>
              <a:rPr lang="en-US" altLang="zh-CN" sz="2000" noProof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4</a:t>
            </a:r>
            <a:r>
              <a:rPr lang="zh-CN" altLang="en-US" sz="2000" noProof="1">
                <a:latin typeface="Arial" panose="020B0604020202020204" pitchFamily="34" charset="0"/>
                <a:ea typeface="仿宋_GB2312" pitchFamily="49" charset="-122"/>
              </a:rPr>
              <a:t>；硬件启动：方式</a:t>
            </a:r>
            <a:r>
              <a:rPr lang="en-US" altLang="zh-CN" sz="2000" noProof="1">
                <a:latin typeface="Arial" panose="020B0604020202020204" pitchFamily="34" charset="0"/>
                <a:ea typeface="仿宋_GB2312" pitchFamily="49" charset="-122"/>
              </a:rPr>
              <a:t>1</a:t>
            </a:r>
            <a:r>
              <a:rPr lang="zh-CN" altLang="en-US" sz="2000" noProof="1">
                <a:latin typeface="Arial" panose="020B0604020202020204" pitchFamily="34" charset="0"/>
                <a:ea typeface="仿宋_GB2312" pitchFamily="49" charset="-122"/>
              </a:rPr>
              <a:t>、</a:t>
            </a:r>
            <a:r>
              <a:rPr lang="en-US" altLang="zh-CN" sz="2000" noProof="1">
                <a:latin typeface="Arial" panose="020B0604020202020204" pitchFamily="34" charset="0"/>
                <a:ea typeface="仿宋_GB2312" pitchFamily="49" charset="-122"/>
              </a:rPr>
              <a:t>5</a:t>
            </a:r>
            <a:r>
              <a:rPr lang="zh-CN" altLang="en-US" sz="2000" noProof="1">
                <a:latin typeface="Arial" panose="020B0604020202020204" pitchFamily="34" charset="0"/>
                <a:ea typeface="仿宋_GB2312" pitchFamily="49" charset="-122"/>
              </a:rPr>
              <a:t>。</a:t>
            </a:r>
            <a:endParaRPr lang="zh-CN" altLang="en-US" sz="2000" noProof="1">
              <a:solidFill>
                <a:srgbClr val="FF0000"/>
              </a:solidFill>
              <a:latin typeface="Arial" panose="020B0604020202020204" pitchFamily="34" charset="0"/>
              <a:ea typeface="仿宋_GB2312" pitchFamily="49" charset="-122"/>
            </a:endParaRPr>
          </a:p>
          <a:p>
            <a:pPr marL="457200" indent="-457200">
              <a:lnSpc>
                <a:spcPct val="140000"/>
              </a:lnSpc>
              <a:buFont typeface="+mj-ea"/>
              <a:buAutoNum type="circleNumDbPlain" startAt="8"/>
              <a:defRPr/>
            </a:pPr>
            <a:r>
              <a:rPr lang="zh-CN" altLang="en-US" sz="2000" b="1" noProof="1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信号类型：</a:t>
            </a:r>
          </a:p>
          <a:p>
            <a:pPr>
              <a:lnSpc>
                <a:spcPct val="140000"/>
              </a:lnSpc>
              <a:defRPr/>
            </a:pPr>
            <a:r>
              <a:rPr lang="zh-CN" altLang="en-US" sz="2000" noProof="1">
                <a:latin typeface="Arial" panose="020B0604020202020204" pitchFamily="34" charset="0"/>
                <a:ea typeface="仿宋_GB2312" pitchFamily="49" charset="-122"/>
              </a:rPr>
              <a:t>           </a:t>
            </a:r>
            <a:r>
              <a:rPr lang="zh-CN" altLang="en-US" sz="2000" b="1" noProof="1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仿宋_GB2312" pitchFamily="49" charset="-122"/>
              </a:rPr>
              <a:t>高电平中断信号</a:t>
            </a:r>
            <a:r>
              <a:rPr lang="zh-CN" altLang="en-US" sz="2000" noProof="1">
                <a:latin typeface="Arial" panose="020B0604020202020204" pitchFamily="34" charset="0"/>
                <a:ea typeface="仿宋_GB2312" pitchFamily="49" charset="-122"/>
              </a:rPr>
              <a:t>：方式</a:t>
            </a:r>
            <a:r>
              <a:rPr lang="en-US" altLang="zh-CN" sz="2000" noProof="1">
                <a:latin typeface="Arial" panose="020B0604020202020204" pitchFamily="34" charset="0"/>
                <a:ea typeface="仿宋_GB2312" pitchFamily="49" charset="-122"/>
              </a:rPr>
              <a:t>0</a:t>
            </a:r>
            <a:endParaRPr lang="zh-CN" altLang="en-US" sz="2000" noProof="1">
              <a:solidFill>
                <a:srgbClr val="FF0000"/>
              </a:solidFill>
              <a:latin typeface="Arial" panose="020B0604020202020204" pitchFamily="34" charset="0"/>
              <a:ea typeface="仿宋_GB2312" pitchFamily="49" charset="-122"/>
            </a:endParaRPr>
          </a:p>
          <a:p>
            <a:pPr>
              <a:lnSpc>
                <a:spcPct val="140000"/>
              </a:lnSpc>
              <a:defRPr/>
            </a:pPr>
            <a:r>
              <a:rPr lang="zh-CN" altLang="en-US" sz="2000" noProof="1">
                <a:latin typeface="Arial" panose="020B0604020202020204" pitchFamily="34" charset="0"/>
                <a:ea typeface="仿宋_GB2312" pitchFamily="49" charset="-122"/>
              </a:rPr>
              <a:t>           </a:t>
            </a:r>
            <a:r>
              <a:rPr lang="zh-CN" altLang="en-US" sz="2000" b="1" noProof="1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仿宋_GB2312" pitchFamily="49" charset="-122"/>
              </a:rPr>
              <a:t>单脉冲</a:t>
            </a:r>
            <a:r>
              <a:rPr lang="zh-CN" altLang="en-US" sz="2000" noProof="1">
                <a:latin typeface="Arial" panose="020B0604020202020204" pitchFamily="34" charset="0"/>
                <a:ea typeface="仿宋_GB2312" pitchFamily="49" charset="-122"/>
              </a:rPr>
              <a:t>：方式</a:t>
            </a:r>
            <a:r>
              <a:rPr lang="en-US" altLang="zh-CN" sz="2000" noProof="1">
                <a:latin typeface="Arial" panose="020B0604020202020204" pitchFamily="34" charset="0"/>
                <a:ea typeface="仿宋_GB2312" pitchFamily="49" charset="-122"/>
              </a:rPr>
              <a:t>1</a:t>
            </a:r>
            <a:r>
              <a:rPr lang="zh-CN" altLang="en-US" sz="2000" noProof="1">
                <a:latin typeface="Arial" panose="020B0604020202020204" pitchFamily="34" charset="0"/>
                <a:ea typeface="仿宋_GB2312" pitchFamily="49" charset="-122"/>
              </a:rPr>
              <a:t>（可变脉宽）；方式</a:t>
            </a:r>
            <a:r>
              <a:rPr lang="en-US" altLang="zh-CN" sz="2000" noProof="1">
                <a:latin typeface="Arial" panose="020B0604020202020204" pitchFamily="34" charset="0"/>
                <a:ea typeface="仿宋_GB2312" pitchFamily="49" charset="-122"/>
              </a:rPr>
              <a:t>4</a:t>
            </a:r>
            <a:r>
              <a:rPr lang="zh-CN" altLang="en-US" sz="2000" noProof="1">
                <a:latin typeface="Arial" panose="020B0604020202020204" pitchFamily="34" charset="0"/>
                <a:ea typeface="仿宋_GB2312" pitchFamily="49" charset="-122"/>
              </a:rPr>
              <a:t>、</a:t>
            </a:r>
            <a:r>
              <a:rPr lang="en-US" altLang="zh-CN" sz="2000" noProof="1">
                <a:latin typeface="Arial" panose="020B0604020202020204" pitchFamily="34" charset="0"/>
                <a:ea typeface="仿宋_GB2312" pitchFamily="49" charset="-122"/>
              </a:rPr>
              <a:t>5</a:t>
            </a:r>
            <a:r>
              <a:rPr lang="zh-CN" altLang="en-US" sz="2000" noProof="1">
                <a:latin typeface="Arial" panose="020B0604020202020204" pitchFamily="34" charset="0"/>
                <a:ea typeface="仿宋_GB2312" pitchFamily="49" charset="-122"/>
              </a:rPr>
              <a:t>（固定脉宽）</a:t>
            </a:r>
          </a:p>
          <a:p>
            <a:pPr>
              <a:lnSpc>
                <a:spcPct val="140000"/>
              </a:lnSpc>
              <a:defRPr/>
            </a:pPr>
            <a:r>
              <a:rPr lang="zh-CN" altLang="en-US" sz="2000" noProof="1">
                <a:latin typeface="Arial" panose="020B0604020202020204" pitchFamily="34" charset="0"/>
                <a:ea typeface="仿宋_GB2312" pitchFamily="49" charset="-122"/>
              </a:rPr>
              <a:t>           </a:t>
            </a:r>
            <a:r>
              <a:rPr lang="zh-CN" altLang="en-US" sz="2000" b="1" noProof="1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仿宋_GB2312" pitchFamily="49" charset="-122"/>
              </a:rPr>
              <a:t>连续脉冲</a:t>
            </a:r>
            <a:r>
              <a:rPr lang="zh-CN" altLang="en-US" sz="2000" noProof="1">
                <a:latin typeface="Arial" panose="020B0604020202020204" pitchFamily="34" charset="0"/>
                <a:ea typeface="仿宋_GB2312" pitchFamily="49" charset="-122"/>
              </a:rPr>
              <a:t>：方式</a:t>
            </a:r>
            <a:r>
              <a:rPr lang="en-US" altLang="zh-CN" sz="2000" noProof="1">
                <a:latin typeface="Arial" panose="020B0604020202020204" pitchFamily="34" charset="0"/>
                <a:ea typeface="仿宋_GB2312" pitchFamily="49" charset="-122"/>
              </a:rPr>
              <a:t>2</a:t>
            </a:r>
            <a:r>
              <a:rPr lang="zh-CN" altLang="en-US" sz="2000" noProof="1">
                <a:latin typeface="Arial" panose="020B0604020202020204" pitchFamily="34" charset="0"/>
                <a:ea typeface="仿宋_GB2312" pitchFamily="49" charset="-122"/>
              </a:rPr>
              <a:t>（占空比</a:t>
            </a:r>
            <a:r>
              <a:rPr lang="en-US" altLang="zh-CN" sz="2000" noProof="1">
                <a:latin typeface="Arial" panose="020B0604020202020204" pitchFamily="34" charset="0"/>
                <a:ea typeface="仿宋_GB2312" pitchFamily="49" charset="-122"/>
              </a:rPr>
              <a:t>1</a:t>
            </a:r>
            <a:r>
              <a:rPr lang="zh-CN" altLang="en-US" sz="2000" noProof="1">
                <a:latin typeface="Arial" panose="020B0604020202020204" pitchFamily="34" charset="0"/>
                <a:ea typeface="仿宋_GB2312" pitchFamily="49" charset="-122"/>
              </a:rPr>
              <a:t>个周期）；方式</a:t>
            </a:r>
            <a:r>
              <a:rPr lang="en-US" altLang="zh-CN" sz="2000" noProof="1">
                <a:latin typeface="Arial" panose="020B0604020202020204" pitchFamily="34" charset="0"/>
                <a:ea typeface="仿宋_GB2312" pitchFamily="49" charset="-122"/>
              </a:rPr>
              <a:t>3</a:t>
            </a:r>
            <a:r>
              <a:rPr lang="zh-CN" altLang="en-US" sz="2000" noProof="1">
                <a:latin typeface="Arial" panose="020B0604020202020204" pitchFamily="34" charset="0"/>
                <a:ea typeface="仿宋_GB2312" pitchFamily="49" charset="-122"/>
              </a:rPr>
              <a:t>（占空比约</a:t>
            </a:r>
            <a:r>
              <a:rPr lang="en-US" altLang="zh-CN" sz="2000" noProof="1">
                <a:latin typeface="Arial" panose="020B0604020202020204" pitchFamily="34" charset="0"/>
                <a:ea typeface="仿宋_GB2312" pitchFamily="49" charset="-122"/>
              </a:rPr>
              <a:t>50%</a:t>
            </a:r>
            <a:r>
              <a:rPr lang="zh-CN" altLang="en-US" sz="2000" noProof="1">
                <a:latin typeface="Arial" panose="020B0604020202020204" pitchFamily="34" charset="0"/>
                <a:ea typeface="仿宋_GB2312" pitchFamily="49" charset="-122"/>
              </a:rPr>
              <a:t>）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AutoNum type="circleNumDbPlain" startAt="5"/>
              <a:defRPr/>
            </a:pPr>
            <a:endParaRPr lang="zh-CN" altLang="en-US" sz="2000" noProof="1"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80FF35-DE0A-431B-971A-9F6270AED49A}"/>
              </a:ext>
            </a:extLst>
          </p:cNvPr>
          <p:cNvSpPr/>
          <p:nvPr/>
        </p:nvSpPr>
        <p:spPr>
          <a:xfrm>
            <a:off x="1475656" y="4489683"/>
            <a:ext cx="5775940" cy="7829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zh-CN" altLang="en-US" sz="3600" b="1" noProof="1">
                <a:solidFill>
                  <a:srgbClr val="CC0000"/>
                </a:solidFill>
                <a:latin typeface="Arial" panose="020B0604020202020204" pitchFamily="34" charset="0"/>
                <a:ea typeface="仿宋_GB2312" pitchFamily="49" charset="-122"/>
              </a:rPr>
              <a:t>注：</a:t>
            </a:r>
            <a:r>
              <a:rPr lang="zh-CN" altLang="en-US" sz="3600" b="1" noProof="1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rPr>
              <a:t>考试只考</a:t>
            </a:r>
            <a:r>
              <a:rPr lang="zh-CN" altLang="en-US" sz="3600" b="1" noProof="1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仿宋_GB2312" pitchFamily="49" charset="-122"/>
              </a:rPr>
              <a:t>方式</a:t>
            </a:r>
            <a:r>
              <a:rPr lang="en-US" altLang="zh-CN" sz="3600" b="1" noProof="1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仿宋_GB2312" pitchFamily="49" charset="-122"/>
              </a:rPr>
              <a:t>0</a:t>
            </a:r>
            <a:r>
              <a:rPr lang="zh-CN" altLang="en-US" sz="3600" b="1" noProof="1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rPr>
              <a:t>和</a:t>
            </a:r>
            <a:r>
              <a:rPr lang="zh-CN" altLang="en-US" sz="3600" b="1" noProof="1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仿宋_GB2312" pitchFamily="49" charset="-122"/>
              </a:rPr>
              <a:t>方式</a:t>
            </a:r>
            <a:r>
              <a:rPr lang="en-US" altLang="zh-CN" sz="3600" b="1" noProof="1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仿宋_GB2312" pitchFamily="49" charset="-122"/>
              </a:rPr>
              <a:t>3</a:t>
            </a:r>
            <a:endParaRPr lang="zh-CN" altLang="en-US" sz="3600" b="1" noProof="1">
              <a:solidFill>
                <a:schemeClr val="tx1">
                  <a:lumMod val="60000"/>
                  <a:lumOff val="40000"/>
                </a:schemeClr>
              </a:solidFill>
              <a:latin typeface="Arial" panose="020B0604020202020204" pitchFamily="34" charset="0"/>
              <a:ea typeface="仿宋_GB2312" pitchFamily="49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&amp;&amp;微机原理课件模板_2">
  <a:themeElements>
    <a:clrScheme name="">
      <a:dk1>
        <a:srgbClr val="0047A0"/>
      </a:dk1>
      <a:lt1>
        <a:srgbClr val="FFFFFF"/>
      </a:lt1>
      <a:dk2>
        <a:srgbClr val="333333"/>
      </a:dk2>
      <a:lt2>
        <a:srgbClr val="DDDDDD"/>
      </a:lt2>
      <a:accent1>
        <a:srgbClr val="A5ADAC"/>
      </a:accent1>
      <a:accent2>
        <a:srgbClr val="009999"/>
      </a:accent2>
      <a:accent3>
        <a:srgbClr val="FFFFFF"/>
      </a:accent3>
      <a:accent4>
        <a:srgbClr val="003C89"/>
      </a:accent4>
      <a:accent5>
        <a:srgbClr val="CFD3D2"/>
      </a:accent5>
      <a:accent6>
        <a:srgbClr val="008989"/>
      </a:accent6>
      <a:hlink>
        <a:srgbClr val="669900"/>
      </a:hlink>
      <a:folHlink>
        <a:srgbClr val="0066CC"/>
      </a:folHlink>
    </a:clrScheme>
    <a:fontScheme name="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&amp;&amp;微机原理课件模板_2 1">
        <a:dk1>
          <a:srgbClr val="1F6493"/>
        </a:dk1>
        <a:lt1>
          <a:srgbClr val="FFFFFF"/>
        </a:lt1>
        <a:dk2>
          <a:srgbClr val="000000"/>
        </a:dk2>
        <a:lt2>
          <a:srgbClr val="B2B2B2"/>
        </a:lt2>
        <a:accent1>
          <a:srgbClr val="C09870"/>
        </a:accent1>
        <a:accent2>
          <a:srgbClr val="6EBB47"/>
        </a:accent2>
        <a:accent3>
          <a:srgbClr val="FFFFFF"/>
        </a:accent3>
        <a:accent4>
          <a:srgbClr val="19547D"/>
        </a:accent4>
        <a:accent5>
          <a:srgbClr val="DCCABB"/>
        </a:accent5>
        <a:accent6>
          <a:srgbClr val="63A93F"/>
        </a:accent6>
        <a:hlink>
          <a:srgbClr val="3197BB"/>
        </a:hlink>
        <a:folHlink>
          <a:srgbClr val="8055D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&amp;&amp;微机原理课件模板_2 2">
        <a:dk1>
          <a:srgbClr val="004386"/>
        </a:dk1>
        <a:lt1>
          <a:srgbClr val="FFFFFF"/>
        </a:lt1>
        <a:dk2>
          <a:srgbClr val="003366"/>
        </a:dk2>
        <a:lt2>
          <a:srgbClr val="D6E1E2"/>
        </a:lt2>
        <a:accent1>
          <a:srgbClr val="33A6BD"/>
        </a:accent1>
        <a:accent2>
          <a:srgbClr val="CC9900"/>
        </a:accent2>
        <a:accent3>
          <a:srgbClr val="FFFFFF"/>
        </a:accent3>
        <a:accent4>
          <a:srgbClr val="003872"/>
        </a:accent4>
        <a:accent5>
          <a:srgbClr val="ADD0DB"/>
        </a:accent5>
        <a:accent6>
          <a:srgbClr val="B98A00"/>
        </a:accent6>
        <a:hlink>
          <a:srgbClr val="1481B8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&amp;&amp;微机原理课件模板_2 3">
        <a:dk1>
          <a:srgbClr val="0047A0"/>
        </a:dk1>
        <a:lt1>
          <a:srgbClr val="FFFFFF"/>
        </a:lt1>
        <a:dk2>
          <a:srgbClr val="333333"/>
        </a:dk2>
        <a:lt2>
          <a:srgbClr val="DDDDDD"/>
        </a:lt2>
        <a:accent1>
          <a:srgbClr val="A5ADAC"/>
        </a:accent1>
        <a:accent2>
          <a:srgbClr val="009999"/>
        </a:accent2>
        <a:accent3>
          <a:srgbClr val="FFFFFF"/>
        </a:accent3>
        <a:accent4>
          <a:srgbClr val="003B88"/>
        </a:accent4>
        <a:accent5>
          <a:srgbClr val="CFD3D2"/>
        </a:accent5>
        <a:accent6>
          <a:srgbClr val="008A8A"/>
        </a:accent6>
        <a:hlink>
          <a:srgbClr val="6699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&amp;&amp;微机原理课件模板_2">
  <a:themeElements>
    <a:clrScheme name="">
      <a:dk1>
        <a:srgbClr val="0047A0"/>
      </a:dk1>
      <a:lt1>
        <a:srgbClr val="FFFFFF"/>
      </a:lt1>
      <a:dk2>
        <a:srgbClr val="333333"/>
      </a:dk2>
      <a:lt2>
        <a:srgbClr val="DDDDDD"/>
      </a:lt2>
      <a:accent1>
        <a:srgbClr val="A5ADAC"/>
      </a:accent1>
      <a:accent2>
        <a:srgbClr val="009999"/>
      </a:accent2>
      <a:accent3>
        <a:srgbClr val="FFFFFF"/>
      </a:accent3>
      <a:accent4>
        <a:srgbClr val="003C89"/>
      </a:accent4>
      <a:accent5>
        <a:srgbClr val="CFD3D2"/>
      </a:accent5>
      <a:accent6>
        <a:srgbClr val="008989"/>
      </a:accent6>
      <a:hlink>
        <a:srgbClr val="669900"/>
      </a:hlink>
      <a:folHlink>
        <a:srgbClr val="0066CC"/>
      </a:folHlink>
    </a:clrScheme>
    <a:fontScheme name="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&amp;&amp;微机原理课件模板_2 1">
        <a:dk1>
          <a:srgbClr val="1F6493"/>
        </a:dk1>
        <a:lt1>
          <a:srgbClr val="FFFFFF"/>
        </a:lt1>
        <a:dk2>
          <a:srgbClr val="000000"/>
        </a:dk2>
        <a:lt2>
          <a:srgbClr val="B2B2B2"/>
        </a:lt2>
        <a:accent1>
          <a:srgbClr val="C09870"/>
        </a:accent1>
        <a:accent2>
          <a:srgbClr val="6EBB47"/>
        </a:accent2>
        <a:accent3>
          <a:srgbClr val="FFFFFF"/>
        </a:accent3>
        <a:accent4>
          <a:srgbClr val="19547D"/>
        </a:accent4>
        <a:accent5>
          <a:srgbClr val="DCCABB"/>
        </a:accent5>
        <a:accent6>
          <a:srgbClr val="63A93F"/>
        </a:accent6>
        <a:hlink>
          <a:srgbClr val="3197BB"/>
        </a:hlink>
        <a:folHlink>
          <a:srgbClr val="8055D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&amp;&amp;微机原理课件模板_2 2">
        <a:dk1>
          <a:srgbClr val="004386"/>
        </a:dk1>
        <a:lt1>
          <a:srgbClr val="FFFFFF"/>
        </a:lt1>
        <a:dk2>
          <a:srgbClr val="003366"/>
        </a:dk2>
        <a:lt2>
          <a:srgbClr val="D6E1E2"/>
        </a:lt2>
        <a:accent1>
          <a:srgbClr val="33A6BD"/>
        </a:accent1>
        <a:accent2>
          <a:srgbClr val="CC9900"/>
        </a:accent2>
        <a:accent3>
          <a:srgbClr val="FFFFFF"/>
        </a:accent3>
        <a:accent4>
          <a:srgbClr val="003872"/>
        </a:accent4>
        <a:accent5>
          <a:srgbClr val="ADD0DB"/>
        </a:accent5>
        <a:accent6>
          <a:srgbClr val="B98A00"/>
        </a:accent6>
        <a:hlink>
          <a:srgbClr val="1481B8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&amp;&amp;微机原理课件模板_2 3">
        <a:dk1>
          <a:srgbClr val="0047A0"/>
        </a:dk1>
        <a:lt1>
          <a:srgbClr val="FFFFFF"/>
        </a:lt1>
        <a:dk2>
          <a:srgbClr val="333333"/>
        </a:dk2>
        <a:lt2>
          <a:srgbClr val="DDDDDD"/>
        </a:lt2>
        <a:accent1>
          <a:srgbClr val="A5ADAC"/>
        </a:accent1>
        <a:accent2>
          <a:srgbClr val="009999"/>
        </a:accent2>
        <a:accent3>
          <a:srgbClr val="FFFFFF"/>
        </a:accent3>
        <a:accent4>
          <a:srgbClr val="003B88"/>
        </a:accent4>
        <a:accent5>
          <a:srgbClr val="CFD3D2"/>
        </a:accent5>
        <a:accent6>
          <a:srgbClr val="008A8A"/>
        </a:accent6>
        <a:hlink>
          <a:srgbClr val="6699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Designs\Network Blitz.pot</Template>
  <TotalTime>11</TotalTime>
  <Pages>0</Pages>
  <Words>3774</Words>
  <Characters>0</Characters>
  <Application>Microsoft Office PowerPoint</Application>
  <DocSecurity>0</DocSecurity>
  <PresentationFormat>全屏显示(4:3)</PresentationFormat>
  <Lines>0</Lines>
  <Paragraphs>466</Paragraphs>
  <Slides>37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0" baseType="lpstr">
      <vt:lpstr>Gulim</vt:lpstr>
      <vt:lpstr>仿宋_GB2312</vt:lpstr>
      <vt:lpstr>黑体</vt:lpstr>
      <vt:lpstr>楷体_GB2312</vt:lpstr>
      <vt:lpstr>宋体</vt:lpstr>
      <vt:lpstr>Arial</vt:lpstr>
      <vt:lpstr>Lucida Sans Unicode</vt:lpstr>
      <vt:lpstr>Times New Roman</vt:lpstr>
      <vt:lpstr>Verdana</vt:lpstr>
      <vt:lpstr>Wingdings</vt:lpstr>
      <vt:lpstr>&amp;&amp;微机原理课件模板_2</vt:lpstr>
      <vt:lpstr>1_&amp;&amp;微机原理课件模板_2</vt:lpstr>
      <vt:lpstr>Microsoft Word Picture</vt:lpstr>
      <vt:lpstr>第7章 可编程计数器/定时器8253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>cyber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第七章  并行接口</dc:title>
  <dc:subject/>
  <dc:creator>guo</dc:creator>
  <cp:keywords/>
  <dc:description/>
  <cp:lastModifiedBy>Hong Zhang</cp:lastModifiedBy>
  <cp:revision>311</cp:revision>
  <dcterms:created xsi:type="dcterms:W3CDTF">2001-11-02T06:54:01Z</dcterms:created>
  <dcterms:modified xsi:type="dcterms:W3CDTF">2021-11-10T03:47:28Z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2052-11.1.0.9662</vt:lpwstr>
  </property>
</Properties>
</file>
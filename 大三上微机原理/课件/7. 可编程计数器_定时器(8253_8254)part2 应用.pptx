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7"/>
  </p:notesMasterIdLst>
  <p:handoutMasterIdLst>
    <p:handoutMasterId r:id="rId38"/>
  </p:handoutMasterIdLst>
  <p:sldIdLst>
    <p:sldId id="574" r:id="rId3"/>
    <p:sldId id="606" r:id="rId4"/>
    <p:sldId id="609" r:id="rId5"/>
    <p:sldId id="735" r:id="rId6"/>
    <p:sldId id="610" r:id="rId7"/>
    <p:sldId id="611" r:id="rId8"/>
    <p:sldId id="612" r:id="rId9"/>
    <p:sldId id="613" r:id="rId10"/>
    <p:sldId id="614" r:id="rId11"/>
    <p:sldId id="615" r:id="rId12"/>
    <p:sldId id="616" r:id="rId13"/>
    <p:sldId id="617" r:id="rId14"/>
    <p:sldId id="618" r:id="rId15"/>
    <p:sldId id="619" r:id="rId16"/>
    <p:sldId id="620" r:id="rId17"/>
    <p:sldId id="621" r:id="rId18"/>
    <p:sldId id="622" r:id="rId19"/>
    <p:sldId id="623" r:id="rId20"/>
    <p:sldId id="624" r:id="rId21"/>
    <p:sldId id="625" r:id="rId22"/>
    <p:sldId id="626" r:id="rId23"/>
    <p:sldId id="630" r:id="rId24"/>
    <p:sldId id="631" r:id="rId25"/>
    <p:sldId id="632" r:id="rId26"/>
    <p:sldId id="633" r:id="rId27"/>
    <p:sldId id="634" r:id="rId28"/>
    <p:sldId id="635" r:id="rId29"/>
    <p:sldId id="636" r:id="rId30"/>
    <p:sldId id="637" r:id="rId31"/>
    <p:sldId id="638" r:id="rId32"/>
    <p:sldId id="639" r:id="rId33"/>
    <p:sldId id="640" r:id="rId34"/>
    <p:sldId id="641" r:id="rId35"/>
    <p:sldId id="642" r:id="rId36"/>
  </p:sldIdLst>
  <p:sldSz cx="9144000" cy="6858000" type="screen4x3"/>
  <p:notesSz cx="6858000" cy="9144000"/>
  <p:defaultTextStyle>
    <a:defPPr>
      <a:defRPr lang="zh-CN"/>
    </a:defPPr>
    <a:lvl1pPr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just" rtl="0" fontAlgn="base">
      <a:spcBef>
        <a:spcPct val="0"/>
      </a:spcBef>
      <a:spcAft>
        <a:spcPct val="0"/>
      </a:spcAft>
      <a:buClr>
        <a:srgbClr val="B4B9BE"/>
      </a:buClr>
      <a:buFont typeface="Wingdings" panose="05000000000000000000" pitchFamily="2" charset="2"/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2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DF3"/>
    <a:srgbClr val="FF6600"/>
    <a:srgbClr val="FF0000"/>
    <a:srgbClr val="00FF00"/>
    <a:srgbClr val="FFFF00"/>
    <a:srgbClr val="B4B9BE"/>
    <a:srgbClr val="33CCFF"/>
    <a:srgbClr val="FF66FF"/>
    <a:srgbClr val="00CC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9" autoAdjust="0"/>
    <p:restoredTop sz="94687" autoAdjust="0"/>
  </p:normalViewPr>
  <p:slideViewPr>
    <p:cSldViewPr>
      <p:cViewPr varScale="1">
        <p:scale>
          <a:sx n="63" d="100"/>
          <a:sy n="63" d="100"/>
        </p:scale>
        <p:origin x="1188" y="60"/>
      </p:cViewPr>
      <p:guideLst>
        <p:guide orient="horz" pos="2160"/>
        <p:guide pos="29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50"/>
    </p:cViewPr>
  </p:sorterViewPr>
  <p:notesViewPr>
    <p:cSldViewPr>
      <p:cViewPr varScale="1">
        <p:scale>
          <a:sx n="75" d="100"/>
          <a:sy n="75" d="100"/>
        </p:scale>
        <p:origin x="-1734" y="-90"/>
      </p:cViewPr>
      <p:guideLst>
        <p:guide orient="horz" pos="2880"/>
        <p:guide pos="221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5566480-087B-4B20-8CCE-C8E40CACD8B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buClrTx/>
              <a:buFontTx/>
              <a:buNone/>
              <a:defRPr sz="1200" smtClean="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BBD8278-9B0A-47F7-8E21-A52343469978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BD8278-9B0A-47F7-8E21-A52343469978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</p:spTree>
  </p:cSld>
  <p:clrMapOvr>
    <a:masterClrMapping/>
  </p:clrMapOvr>
  <p:transition spd="slow">
    <p:pull dir="ru"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04850" y="1784350"/>
            <a:ext cx="7772400" cy="2898775"/>
          </a:xfrm>
        </p:spPr>
        <p:txBody>
          <a:bodyPr/>
          <a:lstStyle>
            <a:lvl1pPr>
              <a:defRPr sz="5400">
                <a:latin typeface="华文琥珀" panose="02010800040101010101" pitchFamily="2" charset="-122"/>
                <a:ea typeface="华文琥珀" panose="02010800040101010101" pitchFamily="2" charset="-122"/>
              </a:defRPr>
            </a:lvl1pPr>
          </a:lstStyle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章 </a:t>
            </a:r>
            <a:br>
              <a:rPr lang="en-US" altLang="zh-CN" dirty="0"/>
            </a:br>
            <a:r>
              <a:rPr lang="zh-CN" altLang="en-US" dirty="0"/>
              <a:t>可编程计数器</a:t>
            </a:r>
            <a:r>
              <a:rPr lang="en-US" altLang="zh-CN" dirty="0"/>
              <a:t>/</a:t>
            </a:r>
            <a:r>
              <a:rPr lang="zh-CN" altLang="en-US" dirty="0"/>
              <a:t>定时器</a:t>
            </a:r>
            <a:br>
              <a:rPr lang="en-US" altLang="zh-CN" dirty="0"/>
            </a:br>
            <a:r>
              <a:rPr lang="en-US" altLang="zh-CN" dirty="0"/>
              <a:t>8253/8254</a:t>
            </a:r>
            <a:r>
              <a:rPr lang="zh-CN" altLang="en-US" dirty="0"/>
              <a:t>及其应用</a:t>
            </a:r>
          </a:p>
        </p:txBody>
      </p:sp>
    </p:spTree>
  </p:cSld>
  <p:clrMapOvr>
    <a:masterClrMapping/>
  </p:clrMapOvr>
  <p:transition spd="slow">
    <p:pull dir="ru"/>
  </p:transition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22250"/>
            <a:ext cx="8382000" cy="610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457200" y="6527800"/>
            <a:ext cx="1143000" cy="330200"/>
          </a:xfrm>
        </p:spPr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slow">
    <p:wipe dir="d"/>
  </p:transition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7110D-8940-4C98-AD45-78AD80C3E1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996098"/>
            <a:ext cx="3048001" cy="18619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ransition spd="slow">
    <p:wipe dir="d"/>
  </p:transition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7.%20&#21487;&#32534;&#31243;&#35745;&#25968;&#22120;_&#23450;&#26102;&#22120;(8253_8254)part1.ppt" TargetMode="Externa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0400" y="3562350"/>
            <a:ext cx="7772400" cy="2800351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br>
              <a:rPr lang="zh-CN" altLang="en-US" dirty="0">
                <a:solidFill>
                  <a:srgbClr val="FFC000"/>
                </a:solidFill>
                <a:latin typeface="+mn-lt"/>
                <a:ea typeface="黑体" panose="02010609060101010101" pitchFamily="2" charset="-122"/>
              </a:rPr>
            </a:br>
            <a:endParaRPr lang="zh-CN" altLang="en-US" dirty="0">
              <a:solidFill>
                <a:srgbClr val="FFC000"/>
              </a:solidFill>
              <a:latin typeface="+mn-lt"/>
              <a:ea typeface="黑体" panose="02010609060101010101" pitchFamily="2" charset="-122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393700" y="850900"/>
            <a:ext cx="8051800" cy="511175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defPPr>
              <a:defRPr lang="zh-CN"/>
            </a:defPPr>
            <a:lvl1pPr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just" rtl="0" fontAlgn="base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第</a:t>
            </a:r>
            <a: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  <a:t>7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章</a:t>
            </a:r>
            <a:b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</a:b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可编程计数器</a:t>
            </a:r>
            <a:r>
              <a:rPr lang="en-US" sz="4000" b="1" dirty="0">
                <a:effectLst/>
                <a:ea typeface="+mn-ea"/>
                <a:cs typeface="Times New Roman" panose="02020603050405020304" pitchFamily="18" charset="0"/>
              </a:rPr>
              <a:t>/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定时器</a:t>
            </a:r>
            <a:b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</a:br>
            <a:r>
              <a:rPr lang="en-US" sz="4000" b="1" dirty="0">
                <a:effectLst/>
                <a:ea typeface="+mn-ea"/>
                <a:cs typeface="Times New Roman" panose="02020603050405020304" pitchFamily="18" charset="0"/>
              </a:rPr>
              <a:t>8253/8254</a:t>
            </a:r>
            <a:r>
              <a:rPr lang="zh-CN" altLang="en-US" sz="4000" b="1" dirty="0">
                <a:effectLst/>
                <a:ea typeface="+mn-ea"/>
                <a:cs typeface="Times New Roman" panose="02020603050405020304" pitchFamily="18" charset="0"/>
              </a:rPr>
              <a:t>及其应用</a:t>
            </a:r>
          </a:p>
          <a:p>
            <a:pPr algn="ctr"/>
            <a:r>
              <a:rPr lang="en-US" altLang="zh-CN" sz="4000" b="1" dirty="0">
                <a:effectLst/>
                <a:ea typeface="+mn-ea"/>
                <a:cs typeface="Times New Roman" panose="02020603050405020304" pitchFamily="18" charset="0"/>
              </a:rPr>
              <a:t>Timer/Counter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455766" y="155478"/>
            <a:ext cx="3441280" cy="695422"/>
            <a:chOff x="5707269" y="0"/>
            <a:chExt cx="3441280" cy="69542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9544" y="0"/>
              <a:ext cx="3439005" cy="695422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7269" y="56229"/>
              <a:ext cx="839807" cy="63919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21550" y="2051050"/>
            <a:ext cx="7830870" cy="23391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ts val="1800"/>
              </a:spcBef>
              <a:buClr>
                <a:srgbClr val="FF0000"/>
              </a:buClr>
            </a:pPr>
            <a:r>
              <a:rPr kumimoji="1" lang="zh-CN" altLang="en-US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本章主要内容</a:t>
            </a:r>
            <a:r>
              <a:rPr kumimoji="1" lang="en-US" altLang="zh-CN" sz="3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1800"/>
              </a:spcBef>
              <a:buClr>
                <a:srgbClr val="FF0000"/>
              </a:buClr>
            </a:pPr>
            <a:r>
              <a:rPr kumimoji="1" lang="en-US" altLang="zh-CN" sz="36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1" lang="en-US" altLang="zh-CN" sz="40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§7.1  8253</a:t>
            </a:r>
            <a:r>
              <a:rPr kumimoji="1" lang="zh-CN" altLang="en-US" sz="40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的工作原理</a:t>
            </a:r>
            <a:endParaRPr kumimoji="1" lang="en-US" altLang="zh-CN" sz="4000" b="1" dirty="0"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Clr>
                <a:srgbClr val="FF0000"/>
              </a:buClr>
            </a:pPr>
            <a:r>
              <a:rPr kumimoji="1" lang="en-US" altLang="zh-CN" sz="40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§7.2  8253/8254</a:t>
            </a:r>
            <a:r>
              <a:rPr kumimoji="1" lang="zh-CN" altLang="en-US" sz="4000" b="1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的应用举例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050" y="2286745"/>
            <a:ext cx="7875588" cy="2610290"/>
          </a:xfrm>
        </p:spPr>
        <p:txBody>
          <a:bodyPr/>
          <a:lstStyle/>
          <a:p>
            <a:pPr algn="ctr">
              <a:spcBef>
                <a:spcPts val="2400"/>
              </a:spcBef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pres?slideindex=1&amp;slidetitle="/>
              </a:rPr>
              <a:t>参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pres?slideindex=1&amp;slidetitle="/>
              </a:rPr>
              <a:t>part1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60525" y="776605"/>
            <a:ext cx="4640580" cy="70675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4000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7.1  8253</a:t>
            </a:r>
            <a:r>
              <a:rPr lang="zh-CN" altLang="en-US" sz="4000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的工作原理</a:t>
            </a:r>
          </a:p>
        </p:txBody>
      </p:sp>
    </p:spTree>
  </p:cSld>
  <p:clrMapOvr>
    <a:masterClrMapping/>
  </p:clrMapOvr>
  <p:transition spd="slow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050" y="2286745"/>
            <a:ext cx="7875588" cy="261029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7.2.1  8253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定时功能的应用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7.2.2  8253/8254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计数功能的应用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7.2.3  8253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PC/XT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机中的应用</a:t>
            </a:r>
            <a:endParaRPr lang="en-US" sz="4000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71065" y="776605"/>
            <a:ext cx="3619500" cy="706755"/>
          </a:xfrm>
          <a:prstGeom prst="rect">
            <a:avLst/>
          </a:prstGeom>
          <a:noFill/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4000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7.2  8253</a:t>
            </a:r>
            <a:r>
              <a:rPr lang="zh-CN" altLang="en-US" sz="4000" b="1" dirty="0">
                <a:solidFill>
                  <a:srgbClr val="194DF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Times New Roman" panose="02020603050405020304" pitchFamily="18" charset="0"/>
                <a:sym typeface="+mn-ea"/>
              </a:rPr>
              <a:t>的应用</a:t>
            </a:r>
          </a:p>
        </p:txBody>
      </p:sp>
    </p:spTree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6525" y="413665"/>
            <a:ext cx="8229600" cy="7191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7.2.1  8253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定时功能的应用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1268760"/>
            <a:ext cx="8372475" cy="50673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定时器实际上也是进行减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计数，用统计计数脉冲个数的方法定时，要求计数脉冲具有固定间隔。计数时允许输入间隔不等的脉冲信号。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>
              <a:spcBef>
                <a:spcPts val="1800"/>
              </a:spcBef>
              <a:buNone/>
            </a:pPr>
            <a:r>
              <a:rPr lang="en-US" altLang="zh-C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产生各种定时波形</a:t>
            </a:r>
            <a:endParaRPr lang="en-US" altLang="zh-C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系统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基地址为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310H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，时钟频率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要让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个计数通道实现如下功能：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0">
              <a:spcBef>
                <a:spcPts val="0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）通道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，输出占空比约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2kHz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方波；</a:t>
            </a:r>
          </a:p>
          <a:p>
            <a:pPr marL="228600" indent="0">
              <a:spcBef>
                <a:spcPts val="0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）通道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，产生宽度为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480μs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的单脉冲；</a:t>
            </a:r>
          </a:p>
          <a:p>
            <a:pPr marL="228600" indent="0">
              <a:spcBef>
                <a:spcPts val="0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）通道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，硬件触发，输出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周期宽度的单脉冲，时间常数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试设计电路，并编写各通道初始化程序。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2545" y="2334260"/>
            <a:ext cx="6563360" cy="3416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41312" y="458670"/>
            <a:ext cx="8505825" cy="1511300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硬件电路设计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 indent="-17970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个端口地址分别为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310H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312H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314H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316H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705" indent="-17970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个通道的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连一起，均由频率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时钟驱动。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250" y="673100"/>
            <a:ext cx="8372475" cy="5626100"/>
          </a:xfrm>
        </p:spPr>
        <p:txBody>
          <a:bodyPr/>
          <a:lstStyle/>
          <a:p>
            <a:pPr algn="just">
              <a:buNone/>
            </a:pP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软件设计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设为方式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，若输出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2kHz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连续方波，时间常数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=1MHz/2kHz=500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控制字为：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00110111B</a:t>
            </a: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设为方式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，构成单稳态电路，由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的正跳变触发。若单脉冲宽度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480μs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，应取时间常数：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=480μs/1μs=480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控制字为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01110011B</a:t>
            </a:r>
          </a:p>
          <a:p>
            <a:pPr marL="358775" indent="-358775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工作于方式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的正跳变触发计数，计到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时输出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个负脉冲。已知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控制字为：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10011011B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845" y="1359535"/>
            <a:ext cx="7067550" cy="4522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984250"/>
            <a:ext cx="8372475" cy="5505450"/>
          </a:xfrm>
        </p:spPr>
        <p:txBody>
          <a:bodyPr/>
          <a:lstStyle/>
          <a:p>
            <a:pPr marL="441325" indent="-441325"/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初始化程序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316H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；控制口地址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00110111B	</a:t>
            </a:r>
          </a:p>
          <a:p>
            <a:pPr>
              <a:buNone/>
            </a:pP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控制字，先读写低字节，方式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；写入方式字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310H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口地址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；低字节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；先写入低字节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；高字节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；后写入高字节</a:t>
            </a:r>
          </a:p>
          <a:p>
            <a:pPr>
              <a:buFont typeface="Calibri" panose="020F0502020204030204" charset="0"/>
              <a:buChar char="⁻"/>
            </a:pP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strips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939800"/>
            <a:ext cx="8372475" cy="5549900"/>
          </a:xfrm>
        </p:spPr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初始化程序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316H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；控制口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01110011B	</a:t>
            </a:r>
          </a:p>
          <a:p>
            <a:pPr>
              <a:buNone/>
            </a:pP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方式字，先读写低字节，方式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312H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口地址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；低字节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；高字节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762000"/>
            <a:ext cx="8372475" cy="5594350"/>
          </a:xfrm>
        </p:spPr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初始化程序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316H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10011011B	</a:t>
            </a:r>
          </a:p>
          <a:p>
            <a:pPr>
              <a:buNone/>
            </a:pP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控制字，只读写低字节，方式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314H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口地址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26H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；低字节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；只写入低字节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150" y="1223755"/>
            <a:ext cx="8372475" cy="217805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7.3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发光管的点亮和熄灭，要求点亮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，熄灭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，再重复。画出硬件图并编写初始化程序。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各端口地址为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D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~D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相连，以选中奇地址口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62255" indent="-26225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，高电平点亮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，低电平熄灭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2700" y="3517900"/>
            <a:ext cx="6134100" cy="30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82600" y="495300"/>
            <a:ext cx="8229600" cy="67468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控制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LED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的点亮或熄灭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5120" y="6051550"/>
            <a:ext cx="103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7.10</a:t>
            </a:r>
            <a:endParaRPr lang="zh-CN" altLang="en-US" b="1" dirty="0">
              <a:solidFill>
                <a:srgbClr val="0070C0"/>
              </a:solidFill>
              <a:effectLst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683695"/>
            <a:ext cx="8372475" cy="5600700"/>
          </a:xfrm>
        </p:spPr>
        <p:txBody>
          <a:bodyPr/>
          <a:lstStyle/>
          <a:p>
            <a:pPr marL="358775" indent="-358775"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编程使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输出周期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秒、占空比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1∶1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的方波，便能使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间隔交替点亮和熄灭。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若将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2MHz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时钟加到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输出的脉冲周期最大为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0.5μs×65536 = 32768μs=32.768ms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，达不到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秒。可用几个通道级连的方案来解决。即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2MHz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时钟信号，置通道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。计数初值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=5000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端得到负脉冲序列，其频率为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2MHz/5000=400Hz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，周期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2.5ms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再把它输入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，并设通道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为方式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。为了使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输出周期为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秒（频率为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1/20=0.05Hz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）的方波，应取时间常数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=400Hz/0.05Hz=8000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1530" y="1719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初始化程序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5" y="1088740"/>
            <a:ext cx="8328025" cy="55562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00110101B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控制字，先读写低字节后高字节，方式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87H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；计数初值低字节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；计数初值高字节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81H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01110111B		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；通道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控制字，先读写低字节，后高，方式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87H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；计数初值低字节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83H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；计数初值高字节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83H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493785"/>
            <a:ext cx="7653338" cy="2634205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7.2.1  8253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定时功能的应用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7.2.2  8253/8254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计数功能的应用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7.2.3  8253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PC/XT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机中的应用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0" y="673100"/>
            <a:ext cx="8229600" cy="674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7.2.2  8253/8254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计数功能的应用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1828800"/>
            <a:ext cx="8372475" cy="4660900"/>
          </a:xfrm>
        </p:spPr>
        <p:txBody>
          <a:bodyPr/>
          <a:lstStyle/>
          <a:p>
            <a:pPr marL="441325" indent="-441325"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自动化工厂流水线上产品数量的统计，用到一种自动计数系统，可用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8254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芯片来实现。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下面是该计数系统的硬件电路设计和控制软件编写的方法。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cover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540" y="503675"/>
            <a:ext cx="8229600" cy="67468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硬件电路设计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45" y="1538790"/>
            <a:ext cx="8229600" cy="4525963"/>
          </a:xfrm>
        </p:spPr>
        <p:txBody>
          <a:bodyPr/>
          <a:lstStyle/>
          <a:p>
            <a:pPr marL="441325" indent="-441325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 CPU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的通道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进行计数。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片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中断控制器管理中断请求</a:t>
            </a:r>
          </a:p>
          <a:p>
            <a:pPr marL="441325" indent="-441325"/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电路还包含：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个红外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发光二极管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个复合型光电晶体管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个施密特触发器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74LS14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3" panose="05040102010807070707" pitchFamily="18" charset="2"/>
              <a:buChar char="u"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图中画出了计数器部分，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8086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系统总线信号与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的引脚相连，未画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3429000"/>
            <a:ext cx="8461375" cy="3111500"/>
          </a:xfrm>
        </p:spPr>
        <p:txBody>
          <a:bodyPr/>
          <a:lstStyle/>
          <a:p>
            <a:pPr marL="262255" indent="-26225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地址总线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相连保证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偶地址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始终允许计数器工作；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请求中断。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无工件通过时，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光照到光电管上使其导通，集电极变低电平，经施密特触发器整形后使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有工件通过时，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光被挡住，光电管截止，集电极为高电平，使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。工件通过后，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又回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255" indent="-26225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每通过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个工件，</a:t>
            </a:r>
            <a:r>
              <a:rPr 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4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就输入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正脉冲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，用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对此脉冲计数，就可统计出工件个数。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350" y="450850"/>
            <a:ext cx="8645960" cy="284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7863288" y="495300"/>
            <a:ext cx="1015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7.11</a:t>
            </a:r>
            <a:endParaRPr lang="zh-CN" altLang="en-US" b="1" dirty="0">
              <a:solidFill>
                <a:srgbClr val="0070C0"/>
              </a:solidFill>
              <a:effectLst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strips dir="r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545" y="143635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 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初始化编程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1088740"/>
            <a:ext cx="8372475" cy="5327650"/>
          </a:xfrm>
        </p:spPr>
        <p:txBody>
          <a:bodyPr/>
          <a:lstStyle/>
          <a:p>
            <a:pPr marL="358775" indent="-35877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设为方式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计数，先读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写低字节，控制字为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01110001B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若选计数初值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n=499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个脉冲，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将输出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个正跳变。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它作用于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4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端后，将向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发中断请求，由中断服务程序让工件总数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358775" indent="-35877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中断服务程序执行完后返回主程序，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程序应把初值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499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再次装入计数器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，才能继续计数。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设端口地址为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F0H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F4H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F6H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，初始化程序：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01110001B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0F6H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0F2H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；先写入计数值低字节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0F2H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；后写入高字节</a:t>
            </a:r>
          </a:p>
          <a:p>
            <a:pPr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strips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 </a:t>
            </a:r>
            <a:r>
              <a:rPr lang="zh-CN" alt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计数值的读取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1493785"/>
            <a:ext cx="8229600" cy="4525963"/>
          </a:xfrm>
        </p:spPr>
        <p:txBody>
          <a:bodyPr>
            <a:normAutofit lnSpcReduction="10000"/>
          </a:bodyPr>
          <a:lstStyle/>
          <a:p>
            <a:pPr marL="358775" indent="-358775">
              <a:buFont typeface="Wingdings" panose="05000000000000000000" pitchFamily="2" charset="2"/>
              <a:buChar char="l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计数功能时，常要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读取它的现行计数值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例如，流水线上工件自动装箱时，装满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个后就移走箱子，开始下次装箱。可用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对进箱工件计数。从初值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n=999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开始，每进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个工件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，减为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时向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发中断请求，通知控制系统移走箱子。</a:t>
            </a:r>
          </a:p>
          <a:p>
            <a:pPr marL="358775" indent="-358775" algn="just">
              <a:buFont typeface="Wingdings" panose="05000000000000000000" pitchFamily="2" charset="2"/>
              <a:buChar char="l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若在未装满箱子时，想了解箱中已装了多少工件，可先读取计数器现行值，再用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减去现行值，就可求得已入箱的工件数。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buFont typeface="Wingdings" panose="05000000000000000000" pitchFamily="2" charset="2"/>
              <a:buChar char="l"/>
            </a:pP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读现行值时仍在计数，数值不稳定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，会导致错误的读数。为此，必须在读数前终止计数，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或锁存计数器输出端现行值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strips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225" y="511175"/>
            <a:ext cx="8372475" cy="5689600"/>
          </a:xfrm>
        </p:spPr>
        <p:txBody>
          <a:bodyPr/>
          <a:lstStyle/>
          <a:p>
            <a:pPr algn="just">
              <a:buNone/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读计数器现行值的两种方法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硬件暂停：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在读数前用外部硬件切断计数脉冲信号，或者使门控信号变为低电平，迫使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停止计数。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缺点：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需硬件电路配合，切断外部事件源或禁止正常计数过程，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干扰了计数过程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，不宜采用。</a:t>
            </a:r>
            <a:endParaRPr lang="en-US" altLang="zh-CN" sz="26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软件锁存：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每个计数通道中都有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位输出锁存器，可先用锁存命令锁存现行计数值，然后将它读出。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锁存：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送锁存控制字，其中的</a:t>
            </a:r>
            <a:r>
              <a:rPr lang="en-US" altLang="zh-CN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600" b="1" baseline="-25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b="1" baseline="-25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位指定要锁存的计数器号，</a:t>
            </a:r>
            <a:r>
              <a:rPr lang="en-US" altLang="zh-CN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=00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，低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位清</a:t>
            </a:r>
            <a:r>
              <a:rPr 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读取：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初始化编程时已置为先读写低字节，后高字节。在写入的锁存命令执行后，只要执行</a:t>
            </a:r>
            <a:r>
              <a:rPr lang="en-US" altLang="zh-CN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</a:t>
            </a:r>
            <a:r>
              <a:rPr lang="en-US" altLang="zh-CN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6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指令就可读取计数值。</a:t>
            </a:r>
          </a:p>
          <a:p>
            <a:pPr algn="just">
              <a:buNone/>
            </a:pPr>
            <a:endParaRPr lang="zh-CN" altLang="en-US" sz="2600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370" y="2091690"/>
            <a:ext cx="7067550" cy="4522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503675"/>
            <a:ext cx="8089900" cy="5422900"/>
          </a:xfrm>
        </p:spPr>
        <p:txBody>
          <a:bodyPr>
            <a:normAutofit/>
          </a:bodyPr>
          <a:lstStyle/>
          <a:p>
            <a:pPr marL="358775" indent="-358775"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7.4   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对计数器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发锁存命令，然后读出计数值存进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01000000B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；锁存计数器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命令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0F6H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；控制口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；发锁存命令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0F2H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；读取计数器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的低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；保存低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；读取计数器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的高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XCHG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；将计数值置于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</a:p>
          <a:p>
            <a:pPr marL="358775" indent="-358775" algn="just">
              <a:buFont typeface="Wingdings 3" panose="05040102010807070707" pitchFamily="18" charset="2"/>
              <a:buChar char="u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锁存命令发出后，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锁存的计数值将保持到读出为止。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读出后，锁存状态即自动解除，输出锁存器的值又将随计数器的值而变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85" y="1583795"/>
            <a:ext cx="7653338" cy="2680320"/>
          </a:xfrm>
        </p:spPr>
        <p:txBody>
          <a:bodyPr/>
          <a:lstStyle/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7.2.1  8253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定时功能的应用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7.2.2  8253/8254 </a:t>
            </a:r>
            <a:r>
              <a:rPr lang="zh-C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计数功能的应用</a:t>
            </a:r>
            <a:endParaRPr lang="en-US" altLang="zh-C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7.2.3  8253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PC/XT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机中的应用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None/>
            </a:pPr>
            <a:endParaRPr lang="en-US" dirty="0">
              <a:solidFill>
                <a:srgbClr val="00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8713" y="14363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7.2.3  8253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PC/XT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机中的应用（</a:t>
            </a:r>
            <a:r>
              <a:rPr lang="zh-CN" altLang="en-US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自学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1162050"/>
            <a:ext cx="8372475" cy="111125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硬件电路</a:t>
            </a:r>
          </a:p>
          <a:p>
            <a:pPr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机中用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定时器，图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7.14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为连线图：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2406650"/>
            <a:ext cx="7390626" cy="420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549900" y="6096000"/>
            <a:ext cx="103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7.14</a:t>
            </a:r>
            <a:endParaRPr lang="zh-CN" altLang="en-US" b="1" dirty="0">
              <a:solidFill>
                <a:srgbClr val="0070C0"/>
              </a:solidFill>
              <a:effectLst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graphicFrame>
        <p:nvGraphicFramePr>
          <p:cNvPr id="8" name="对象 7"/>
          <p:cNvGraphicFramePr/>
          <p:nvPr/>
        </p:nvGraphicFramePr>
        <p:xfrm>
          <a:off x="4214495" y="3503930"/>
          <a:ext cx="4238625" cy="2014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4" imgW="4235450" imgH="2012950" progId="Paint.Picture">
                  <p:embed/>
                </p:oleObj>
              </mc:Choice>
              <mc:Fallback>
                <p:oleObj r:id="rId4" imgW="4235450" imgH="20129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14495" y="3503930"/>
                        <a:ext cx="4238625" cy="2014855"/>
                      </a:xfrm>
                      <a:prstGeom prst="rect">
                        <a:avLst/>
                      </a:prstGeom>
                      <a:ln w="50800" cmpd="sng">
                        <a:solidFill>
                          <a:srgbClr val="194DF3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540" y="413665"/>
            <a:ext cx="8320088" cy="59563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三个计数器的功能</a:t>
            </a:r>
            <a:endParaRPr lang="en-US" altLang="zh-CN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）计数器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0—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实时时钟</a:t>
            </a:r>
          </a:p>
          <a:p>
            <a:pPr marL="358775" indent="-358775" algn="just"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用作定时器，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处于常开状态，开机初始化后就一直计数，提供系统时间基准。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初始化时选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方式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，二进制计数。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初值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=65536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形成方波，频率为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8775" indent="-358775">
              <a:spcBef>
                <a:spcPts val="0"/>
              </a:spcBef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f/n=1.19318MHz/65536=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18.2Hz</a:t>
            </a:r>
          </a:p>
          <a:p>
            <a:pPr marL="358775" indent="-358775">
              <a:spcBef>
                <a:spcPts val="0"/>
              </a:spcBef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8284A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时钟产生器的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2.39636MHz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信号经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分频获得（</a:t>
            </a:r>
            <a:r>
              <a:rPr lang="en-US" altLang="zh-CN" sz="26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</a:t>
            </a:r>
            <a:r>
              <a:rPr lang="zh-CN" altLang="en-US" sz="26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触发器</a:t>
            </a:r>
            <a:r>
              <a:rPr lang="en-US" altLang="zh-CN" sz="2600" b="1" dirty="0">
                <a:solidFill>
                  <a:srgbClr val="194DF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U21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 algn="just"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此方波经系统总线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IRQ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8259A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，使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每秒产生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18.2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中断（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55ms</a:t>
            </a:r>
            <a:r>
              <a:rPr lang="en-US" altLang="zh-CN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以此为时间基准，在中断服务程序中对中断次数计数，就可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形成实时时钟，例如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中断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次即为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5.5s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。适用于对时间精度要求不是很高的场合。</a:t>
            </a:r>
          </a:p>
          <a:p>
            <a:pPr>
              <a:spcBef>
                <a:spcPts val="0"/>
              </a:spcBef>
              <a:buNone/>
            </a:pP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sh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1" y="762000"/>
            <a:ext cx="8089900" cy="5556250"/>
          </a:xfrm>
        </p:spPr>
        <p:txBody>
          <a:bodyPr>
            <a:normAutofit/>
          </a:bodyPr>
          <a:lstStyle/>
          <a:p>
            <a:pPr marL="441325" indent="-441325"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位计数器对中断次数计数，每次中断后计数器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，计数器计满后进位时，表示产生了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65536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次中断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，所经过的时间为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65536/18.2 </a:t>
            </a:r>
            <a:r>
              <a:rPr lang="en-US" sz="2600" b="1" dirty="0">
                <a:solidFill>
                  <a:srgbClr val="FF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≈</a:t>
            </a:r>
            <a:r>
              <a:rPr lang="en-US" sz="2600" b="1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3600s=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小时</a:t>
            </a:r>
          </a:p>
          <a:p>
            <a:pPr marL="441325" indent="-441325">
              <a:spcBef>
                <a:spcPts val="60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进行初始化的程序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00110110B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；控制字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先读写低字节</a:t>
            </a:r>
            <a:r>
              <a:rPr lang="en-US" altLang="zh-CN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二进制计数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43H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0000H		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；预置计数值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n=65536</a:t>
            </a:r>
            <a:endParaRPr lang="zh-CN" altLang="en-US"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40H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；先写低字节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40H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；后写高字节</a:t>
            </a:r>
          </a:p>
          <a:p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49250" y="584200"/>
                <a:ext cx="8372475" cy="586105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）计数器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1—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动态</a:t>
                </a:r>
                <a:r>
                  <a:rPr 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zh-CN" altLang="en-US" sz="28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刷新定时器</a:t>
                </a:r>
              </a:p>
              <a:p>
                <a:pPr marL="441325" indent="-441325"/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GATE</a:t>
                </a:r>
                <a:r>
                  <a:rPr lang="en-US" sz="26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也接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+5V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，计数器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也常开，它定时向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 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控制器提供动态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刷新请求信号。</a:t>
                </a:r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 algn="just"/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初始化时选方式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，计数初值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</a:t>
                </a:r>
                <a:r>
                  <a:rPr lang="en-US" sz="26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输出序列负脉冲，频率为</a:t>
                </a:r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 algn="ctr">
                  <a:buNone/>
                </a:pP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1.19318MHz/18 = 66.2878kHz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（周期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15.09μs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 algn="just"/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该负脉冲上升沿使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触发器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U73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置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，从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端输出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DRQ</a:t>
                </a:r>
                <a:r>
                  <a:rPr lang="en-US" sz="26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信号，送到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控制器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8237A-5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DREQ</a:t>
                </a:r>
                <a:r>
                  <a:rPr lang="en-US" sz="26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端，作通道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请求信号。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8237A-5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的回答信号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600" b="1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  <m:t>𝑫𝑨𝑪𝑲</m:t>
                            </m:r>
                          </m:e>
                        </m:acc>
                      </m:e>
                      <m:sub>
                        <m:r>
                          <a:rPr lang="en-US" altLang="zh-CN" sz="2600" b="1" i="1" smtClean="0">
                            <a:latin typeface="Cambria Math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𝑩𝑹𝑫</m:t>
                        </m:r>
                      </m:e>
                    </m:acc>
                  </m:oMath>
                </a14:m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>
                  <a:spcBef>
                    <a:spcPts val="0"/>
                  </a:spcBef>
                  <a:buNone/>
                </a:pP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使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触发器清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41325" indent="-441325" algn="just"/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通道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执行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操作时将对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刷新。这样，每隔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15.09μs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向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8237A-5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提出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次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请求，由它实施对</a:t>
                </a:r>
                <a:r>
                  <a:rPr lang="en-US" altLang="zh-CN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</a:t>
                </a:r>
                <a:r>
                  <a:rPr lang="zh-CN" alt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的刷新。</a:t>
                </a:r>
              </a:p>
              <a:p>
                <a:endParaRPr lang="zh-CN" altLang="en-US" sz="2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445" y="593090"/>
                <a:ext cx="8372475" cy="5861050"/>
              </a:xfrm>
              <a:blipFill rotWithShape="1">
                <a:blip r:embed="rId2"/>
                <a:stretch>
                  <a:fillRect l="-1456" t="-1353" r="-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681605" y="2484120"/>
            <a:ext cx="765175" cy="0"/>
          </a:xfrm>
          <a:prstGeom prst="line">
            <a:avLst/>
          </a:prstGeom>
          <a:ln w="381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376680" y="3338830"/>
            <a:ext cx="6300470" cy="0"/>
          </a:xfrm>
          <a:prstGeom prst="line">
            <a:avLst/>
          </a:prstGeom>
          <a:ln w="381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146800" y="1628775"/>
            <a:ext cx="2295525" cy="0"/>
          </a:xfrm>
          <a:prstGeom prst="line">
            <a:avLst/>
          </a:prstGeom>
          <a:ln w="381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070610" y="2033270"/>
            <a:ext cx="4536440" cy="635"/>
          </a:xfrm>
          <a:prstGeom prst="line">
            <a:avLst/>
          </a:prstGeom>
          <a:ln w="38100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初始化计数器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的程序为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01010101B	</a:t>
            </a:r>
          </a:p>
          <a:p>
            <a:pPr>
              <a:buNone/>
            </a:pP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；控制字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，只写低字节，方式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43H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AL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18H		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；预置初值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BCD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28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41H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8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；送入低字节</a:t>
            </a:r>
          </a:p>
          <a:p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3700" y="584200"/>
            <a:ext cx="8372475" cy="5867400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）计数器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2—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扬声器音调控制</a:t>
            </a: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工作于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方式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，计数初值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n=533H=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1331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，从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输出的方波频率为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1.19318MHz/1331=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896Hz</a:t>
            </a:r>
            <a:endParaRPr lang="en-US" altLang="zh-CN" sz="2600" b="1" dirty="0"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6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+5V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，而是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受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。当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时允许计数，使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端输出方波。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该方波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信号相与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使扬声器发声。</a:t>
            </a:r>
            <a:r>
              <a:rPr lang="zh-CN" alt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发声频率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由预置初值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决定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发声时长受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控制，只有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才允许发声。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控制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的电平</a:t>
            </a:r>
            <a:r>
              <a:rPr lang="en-US" altLang="zh-CN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就可形成各种音调的声音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还控制其它设备，在控制扬声器发声程序中，还要保护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端口的原状态。</a:t>
            </a:r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340100"/>
            <a:ext cx="7998376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762000"/>
            <a:ext cx="8372475" cy="57277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对计数器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初始化，使扬声器发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896Hz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的单一频率声音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10110110B	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；控制字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，先写低字节，方式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，二进制计数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43H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533H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；预置初值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n=533H</a:t>
            </a:r>
            <a:endParaRPr lang="zh-CN" altLang="en-US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；先送出低字节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42H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；后高字节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PORT_B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；取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8255A 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当前值</a:t>
            </a:r>
            <a:endParaRPr lang="en-US" altLang="zh-CN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口地址为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endParaRPr lang="zh-CN" altLang="en-US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  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；保存该端口的值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	  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03H	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PB1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PB0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均置</a:t>
            </a: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  PORT_B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</a:t>
            </a:r>
            <a:r>
              <a:rPr lang="zh-CN" altLang="en-US" sz="2400" b="1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；接通扬声器</a:t>
            </a:r>
          </a:p>
          <a:p>
            <a:pPr>
              <a:spcBef>
                <a:spcPts val="0"/>
              </a:spcBef>
              <a:buNone/>
            </a:pP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ll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505" y="17190"/>
            <a:ext cx="8229600" cy="1143000"/>
          </a:xfrm>
        </p:spPr>
        <p:txBody>
          <a:bodyPr/>
          <a:lstStyle/>
          <a:p>
            <a:pPr algn="l"/>
            <a:r>
              <a:rPr lang="en-US" altLang="zh-CN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PC/XT</a:t>
            </a:r>
            <a:r>
              <a:rPr lang="zh-CN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机中的扬声器接口电路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0212" y="942135"/>
            <a:ext cx="8372475" cy="240085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扬声器能产生一定音调的声响，进行报警和提示，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也可编程来控制加到扬声器上的信号频率，奏出乐曲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PC/XT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的扬声器接口电路中，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是音频信号源，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作控制器，驱动器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75477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增大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输出信号的驱动能力，低通滤波器将脉冲信号转换成近正弦波的音频信号，去驱动扬声器发声。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340100"/>
            <a:ext cx="7998376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546775" y="6383634"/>
            <a:ext cx="382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图</a:t>
            </a:r>
            <a:r>
              <a:rPr lang="en-US" altLang="zh-CN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7.15 </a:t>
            </a:r>
            <a:r>
              <a:rPr lang="zh-CN" altLang="en-US" b="1" dirty="0">
                <a:solidFill>
                  <a:srgbClr val="0070C0"/>
                </a:solidFill>
                <a:effectLst/>
                <a:ea typeface="+mn-ea"/>
                <a:cs typeface="Times New Roman" panose="02020603050405020304" pitchFamily="18" charset="0"/>
              </a:rPr>
              <a:t>扬声器接口电路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ll dir="l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6535" y="458670"/>
            <a:ext cx="8372475" cy="59055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加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1.19318MHz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时钟，</a:t>
            </a:r>
            <a:r>
              <a:rPr lang="zh-CN" alt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可根据要求的声音频率算出定时常数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，编程让计数器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输出指定频率波形。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，作计数器门控信号，允许或禁止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接与门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U87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输出才能通过与门加到驱动器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75477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端，产生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1/2W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驱动功率，再经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低通滤波器滤除高次谐波后，送扬声器发声。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时波形不能通过与门，扬声器不发声。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zh-CN" alt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电平的设置，可控制扬声器发声时间的长短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。当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=11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时扬声器能连续发声。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T/C 2OUT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）同时送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读取来了解计数器输出状态。驱动器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的输出端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8255A-5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，供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了解加到扬声器的信号状态。</a:t>
            </a: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ll dir="l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673100"/>
            <a:ext cx="8372475" cy="5816600"/>
          </a:xfrm>
        </p:spPr>
        <p:txBody>
          <a:bodyPr/>
          <a:lstStyle/>
          <a:p>
            <a:pPr marL="441325" indent="-441325" algn="just"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7.5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根据图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介绍的扬声器接口电路，编写一个产生指定频率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的音频信号的通用发声程序。</a:t>
            </a:r>
            <a:endParaRPr lang="en-US" altLang="zh-C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首先把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8253-5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编程为工作方式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。由于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CLK2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=1.19318MHz =1193180Hz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，为使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输出频率为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的方波，必须向计数器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写入初值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，其值为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n=f</a:t>
            </a:r>
            <a:r>
              <a:rPr lang="en-US" sz="2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CLK2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/f=1193180/f=1234DEH/f</a:t>
            </a:r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1325" indent="-441325" algn="just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应为</a:t>
            </a:r>
            <a:r>
              <a:rPr lang="zh-CN" altLang="en-US" sz="2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人耳能听到的音频，范围约为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20Hz~ 20000Hz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，可以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进制数先存入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寄存器。程序中求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时要用字除法，即先将被除数的高字节（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）送到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，低字节（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34DEH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）送到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，再除以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中的数，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中的商就是初值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endParaRPr lang="zh-CN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wipe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1530" y="593685"/>
            <a:ext cx="8586787" cy="546735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能产生频率为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的通用发声程序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10110110B	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；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控制字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通道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，先写低字节，方式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，二进制计数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43H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；写入控制字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DX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0012H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；被除数高位（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位数除以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         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位的数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34DEH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；被除数低位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	DI	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；求计数初值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AX=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；送出低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42H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；送出高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	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；读入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8255A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端口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的内容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AH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；保护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口的原状态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	AL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03H		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；使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baseline="-25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，其余不变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61H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；接通扬声器，使它发声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pull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5763" y="539750"/>
            <a:ext cx="8372475" cy="594995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扬声器发声的另一种方法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5242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先置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，然后连续改变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8255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输出，也能使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U87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送出一定频率的方波。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52425" algn="just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先使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置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，再编程使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输出的电平在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之间来回变化。因为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8253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工作于方式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GATE=0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时，输出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恒为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这样就允许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产生的方波通过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U87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输出。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425" indent="-352425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实现这种发声方案的程序如下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（见例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3.94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；读入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口状态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	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11111100B	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，使</a:t>
            </a:r>
            <a:r>
              <a:rPr lang="en-US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2400" b="1" baseline="-25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endParaRPr lang="zh-CN" altLang="en-US" sz="24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BEEP: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	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02H	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；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400" b="1" baseline="-25000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1→0</a:t>
            </a:r>
            <a:r>
              <a:rPr lang="zh-CN" alt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，由</a:t>
            </a:r>
            <a:r>
              <a:rPr lang="en-US" sz="2400" b="1" dirty="0">
                <a:solidFill>
                  <a:srgbClr val="194DF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0→1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61H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CX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320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		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；延时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JMP	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BEEP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43C44-8928-4233-B013-489688498913}" type="datetime10">
              <a:rPr lang="zh-CN" altLang="en-US" smtClean="0"/>
              <a:t>08:52</a:t>
            </a:fld>
            <a:endParaRPr lang="zh-CN" altLang="en-US"/>
          </a:p>
        </p:txBody>
      </p:sp>
    </p:spTree>
  </p:cSld>
  <p:clrMapOvr>
    <a:masterClrMapping/>
  </p:clrMapOvr>
  <p:transition spd="slow">
    <p:newsflash/>
  </p:transition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2409</Words>
  <Application>Microsoft Office PowerPoint</Application>
  <PresentationFormat>全屏显示(4:3)</PresentationFormat>
  <Paragraphs>266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黑体</vt:lpstr>
      <vt:lpstr>华文琥珀</vt:lpstr>
      <vt:lpstr>宋体</vt:lpstr>
      <vt:lpstr>Arial</vt:lpstr>
      <vt:lpstr>Calibri</vt:lpstr>
      <vt:lpstr>Cambria Math</vt:lpstr>
      <vt:lpstr>Times New Roman</vt:lpstr>
      <vt:lpstr>Wingdings</vt:lpstr>
      <vt:lpstr>Wingdings 3</vt:lpstr>
      <vt:lpstr>自定义设计方案</vt:lpstr>
      <vt:lpstr>Office 主题</vt:lpstr>
      <vt:lpstr>Bitmap Image</vt:lpstr>
      <vt:lpstr> </vt:lpstr>
      <vt:lpstr>PowerPoint 演示文稿</vt:lpstr>
      <vt:lpstr>PowerPoint 演示文稿</vt:lpstr>
      <vt:lpstr>PowerPoint 演示文稿</vt:lpstr>
      <vt:lpstr>7.2.1  8253定时功能的应用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控制LED的点亮或熄灭</vt:lpstr>
      <vt:lpstr>PowerPoint 演示文稿</vt:lpstr>
      <vt:lpstr>初始化程序</vt:lpstr>
      <vt:lpstr>PowerPoint 演示文稿</vt:lpstr>
      <vt:lpstr>7.2.2  8253/8254 计数功能的应用</vt:lpstr>
      <vt:lpstr>1.  硬件电路设计</vt:lpstr>
      <vt:lpstr>PowerPoint 演示文稿</vt:lpstr>
      <vt:lpstr>2.  初始化编程</vt:lpstr>
      <vt:lpstr>3.  计数值的读取</vt:lpstr>
      <vt:lpstr>PowerPoint 演示文稿</vt:lpstr>
      <vt:lpstr>PowerPoint 演示文稿</vt:lpstr>
      <vt:lpstr>PowerPoint 演示文稿</vt:lpstr>
      <vt:lpstr>7.2.3  8253在PC/XT机中的应用（自学）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PC/XT机中的扬声器接口电路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 8253的原理</dc:title>
  <dc:creator>冯周</dc:creator>
  <cp:lastModifiedBy>Hong Zhang</cp:lastModifiedBy>
  <cp:revision>500</cp:revision>
  <dcterms:created xsi:type="dcterms:W3CDTF">2003-06-02T09:23:00Z</dcterms:created>
  <dcterms:modified xsi:type="dcterms:W3CDTF">2023-04-17T01:06:40Z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